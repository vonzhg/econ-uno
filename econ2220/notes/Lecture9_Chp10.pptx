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slideLayouts/slideLayout23.xml" ContentType="application/vnd.openxmlformats-officedocument.presentationml.slideLayout+xml"/>
  <Override PartName="/ppt/theme/theme10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00" r:id="rId2"/>
    <p:sldMasterId id="2147483704" r:id="rId3"/>
    <p:sldMasterId id="2147483708" r:id="rId4"/>
    <p:sldMasterId id="2147483711" r:id="rId5"/>
    <p:sldMasterId id="2147483714" r:id="rId6"/>
    <p:sldMasterId id="2147483717" r:id="rId7"/>
    <p:sldMasterId id="2147483719" r:id="rId8"/>
    <p:sldMasterId id="2147483811" r:id="rId9"/>
    <p:sldMasterId id="2147483853" r:id="rId10"/>
    <p:sldMasterId id="2147483855" r:id="rId11"/>
    <p:sldMasterId id="2147483859" r:id="rId12"/>
    <p:sldMasterId id="2147483862" r:id="rId13"/>
    <p:sldMasterId id="2147483866" r:id="rId14"/>
  </p:sldMasterIdLst>
  <p:notesMasterIdLst>
    <p:notesMasterId r:id="rId42"/>
  </p:notesMasterIdLst>
  <p:handoutMasterIdLst>
    <p:handoutMasterId r:id="rId43"/>
  </p:handoutMasterIdLst>
  <p:sldIdLst>
    <p:sldId id="314" r:id="rId15"/>
    <p:sldId id="263" r:id="rId16"/>
    <p:sldId id="264" r:id="rId17"/>
    <p:sldId id="310" r:id="rId18"/>
    <p:sldId id="311" r:id="rId19"/>
    <p:sldId id="267" r:id="rId20"/>
    <p:sldId id="268" r:id="rId21"/>
    <p:sldId id="312" r:id="rId22"/>
    <p:sldId id="270" r:id="rId23"/>
    <p:sldId id="313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e" initials="K" lastIdx="11" clrIdx="0"/>
  <p:cmAuthor id="1" name="Bonilla, Edgar" initials="EB" lastIdx="4" clrIdx="1"/>
  <p:cmAuthor id="2" name="Solina Lindahl" initials="SL" lastIdx="9" clrIdx="2"/>
  <p:cmAuthor id="3" name="hbadmin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6"/>
    <p:restoredTop sz="90978" autoAdjust="0"/>
  </p:normalViewPr>
  <p:slideViewPr>
    <p:cSldViewPr>
      <p:cViewPr varScale="1">
        <p:scale>
          <a:sx n="92" d="100"/>
          <a:sy n="92" d="100"/>
        </p:scale>
        <p:origin x="38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-3800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presProps" Target="presProps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5E654B-031E-496D-8293-570D4BA107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57841B7-DD31-4A08-84C8-7D826052AA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Since households and firms are mutually interdependent</a:t>
          </a:r>
          <a:r>
            <a:rPr lang="en-US" b="1"/>
            <a:t> (recall the circular flow), booms and busts involve chain reactions.</a:t>
          </a:r>
          <a:endParaRPr lang="en-US"/>
        </a:p>
      </dgm:t>
    </dgm:pt>
    <dgm:pt modelId="{99B8493D-2D6D-4C0B-BA27-47804CC5DE20}" type="parTrans" cxnId="{DECE95DB-CC8F-4F83-A3DF-6A7F823E412A}">
      <dgm:prSet/>
      <dgm:spPr/>
      <dgm:t>
        <a:bodyPr/>
        <a:lstStyle/>
        <a:p>
          <a:endParaRPr lang="en-US"/>
        </a:p>
      </dgm:t>
    </dgm:pt>
    <dgm:pt modelId="{6C19885A-719F-439A-B0B6-E9FE7781CCD1}" type="sibTrans" cxnId="{DECE95DB-CC8F-4F83-A3DF-6A7F823E412A}">
      <dgm:prSet/>
      <dgm:spPr/>
      <dgm:t>
        <a:bodyPr/>
        <a:lstStyle/>
        <a:p>
          <a:endParaRPr lang="en-US"/>
        </a:p>
      </dgm:t>
    </dgm:pt>
    <dgm:pt modelId="{90CAF14B-914B-4E44-B39C-56B4760A5F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multiplier helps us understand the extent of the chain reactions.</a:t>
          </a:r>
          <a:endParaRPr lang="en-US"/>
        </a:p>
      </dgm:t>
    </dgm:pt>
    <dgm:pt modelId="{753A9229-3406-4A54-BBDA-02525CE5AC32}" type="parTrans" cxnId="{6FCE671F-6D7D-4578-8BCF-47FC6A843B95}">
      <dgm:prSet/>
      <dgm:spPr/>
      <dgm:t>
        <a:bodyPr/>
        <a:lstStyle/>
        <a:p>
          <a:endParaRPr lang="en-US"/>
        </a:p>
      </dgm:t>
    </dgm:pt>
    <dgm:pt modelId="{5EE2884F-A33E-4346-A544-8316922EDBAD}" type="sibTrans" cxnId="{6FCE671F-6D7D-4578-8BCF-47FC6A843B95}">
      <dgm:prSet/>
      <dgm:spPr/>
      <dgm:t>
        <a:bodyPr/>
        <a:lstStyle/>
        <a:p>
          <a:endParaRPr lang="en-US"/>
        </a:p>
      </dgm:t>
    </dgm:pt>
    <dgm:pt modelId="{DCD6C94C-ED75-4B6E-A234-371898E16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Basically, we want to understand how much extra income and spending are created from an initial change in spending.</a:t>
          </a:r>
          <a:endParaRPr lang="en-US"/>
        </a:p>
      </dgm:t>
    </dgm:pt>
    <dgm:pt modelId="{0A86287F-0397-4181-9856-6C2CE961A7C1}" type="parTrans" cxnId="{A68660FA-A58E-4DA1-A4F1-CA4ECABB81C8}">
      <dgm:prSet/>
      <dgm:spPr/>
      <dgm:t>
        <a:bodyPr/>
        <a:lstStyle/>
        <a:p>
          <a:endParaRPr lang="en-US"/>
        </a:p>
      </dgm:t>
    </dgm:pt>
    <dgm:pt modelId="{29F594DA-1EDC-438E-B290-FBFAA9CCE589}" type="sibTrans" cxnId="{A68660FA-A58E-4DA1-A4F1-CA4ECABB81C8}">
      <dgm:prSet/>
      <dgm:spPr/>
      <dgm:t>
        <a:bodyPr/>
        <a:lstStyle/>
        <a:p>
          <a:endParaRPr lang="en-US"/>
        </a:p>
      </dgm:t>
    </dgm:pt>
    <dgm:pt modelId="{29C01BE9-24E1-440E-A20C-67868DF0EE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Example: if UNMC is building a new $1 billion hospital, how much does this affect the economy?</a:t>
          </a:r>
          <a:endParaRPr lang="en-US"/>
        </a:p>
      </dgm:t>
    </dgm:pt>
    <dgm:pt modelId="{A6812F50-9FFD-4D6B-BFDE-C5000B5E68E3}" type="parTrans" cxnId="{DBB06438-F742-4B61-A7DE-DF70FD74B317}">
      <dgm:prSet/>
      <dgm:spPr/>
      <dgm:t>
        <a:bodyPr/>
        <a:lstStyle/>
        <a:p>
          <a:endParaRPr lang="en-US"/>
        </a:p>
      </dgm:t>
    </dgm:pt>
    <dgm:pt modelId="{45521542-689C-4146-AC57-A2F735773AB8}" type="sibTrans" cxnId="{DBB06438-F742-4B61-A7DE-DF70FD74B317}">
      <dgm:prSet/>
      <dgm:spPr/>
      <dgm:t>
        <a:bodyPr/>
        <a:lstStyle/>
        <a:p>
          <a:endParaRPr lang="en-US"/>
        </a:p>
      </dgm:t>
    </dgm:pt>
    <dgm:pt modelId="{9667AB89-5F6E-4BC9-BD39-DFE298BFE51A}" type="pres">
      <dgm:prSet presAssocID="{665E654B-031E-496D-8293-570D4BA10708}" presName="root" presStyleCnt="0">
        <dgm:presLayoutVars>
          <dgm:dir/>
          <dgm:resizeHandles val="exact"/>
        </dgm:presLayoutVars>
      </dgm:prSet>
      <dgm:spPr/>
    </dgm:pt>
    <dgm:pt modelId="{13D3D4F8-508E-4E79-B99D-EEB1449FAFEB}" type="pres">
      <dgm:prSet presAssocID="{957841B7-DD31-4A08-84C8-7D826052AABF}" presName="compNode" presStyleCnt="0"/>
      <dgm:spPr/>
    </dgm:pt>
    <dgm:pt modelId="{73931657-8868-4371-985B-6C4503CE1449}" type="pres">
      <dgm:prSet presAssocID="{957841B7-DD31-4A08-84C8-7D826052AABF}" presName="bgRect" presStyleLbl="bgShp" presStyleIdx="0" presStyleCnt="3"/>
      <dgm:spPr/>
    </dgm:pt>
    <dgm:pt modelId="{B998842F-E533-42F5-9F8A-209709A1EC8B}" type="pres">
      <dgm:prSet presAssocID="{957841B7-DD31-4A08-84C8-7D826052AA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75FA0F3-38C4-4854-959F-472C52369466}" type="pres">
      <dgm:prSet presAssocID="{957841B7-DD31-4A08-84C8-7D826052AABF}" presName="spaceRect" presStyleCnt="0"/>
      <dgm:spPr/>
    </dgm:pt>
    <dgm:pt modelId="{EDAFEB62-F5B8-43D7-89D5-0ED89D301649}" type="pres">
      <dgm:prSet presAssocID="{957841B7-DD31-4A08-84C8-7D826052AABF}" presName="parTx" presStyleLbl="revTx" presStyleIdx="0" presStyleCnt="4">
        <dgm:presLayoutVars>
          <dgm:chMax val="0"/>
          <dgm:chPref val="0"/>
        </dgm:presLayoutVars>
      </dgm:prSet>
      <dgm:spPr/>
    </dgm:pt>
    <dgm:pt modelId="{EA33FEC5-9863-4C72-94C2-0A2C98D2BA26}" type="pres">
      <dgm:prSet presAssocID="{6C19885A-719F-439A-B0B6-E9FE7781CCD1}" presName="sibTrans" presStyleCnt="0"/>
      <dgm:spPr/>
    </dgm:pt>
    <dgm:pt modelId="{A2E1784F-8A43-40F4-AB25-92046D08F82C}" type="pres">
      <dgm:prSet presAssocID="{90CAF14B-914B-4E44-B39C-56B4760A5FEC}" presName="compNode" presStyleCnt="0"/>
      <dgm:spPr/>
    </dgm:pt>
    <dgm:pt modelId="{2CD8DCEA-4626-41F8-BDD6-7D5F9CC1ACF9}" type="pres">
      <dgm:prSet presAssocID="{90CAF14B-914B-4E44-B39C-56B4760A5FEC}" presName="bgRect" presStyleLbl="bgShp" presStyleIdx="1" presStyleCnt="3"/>
      <dgm:spPr/>
    </dgm:pt>
    <dgm:pt modelId="{7C4E1C8C-5D55-40B4-A52B-231F2A35C817}" type="pres">
      <dgm:prSet presAssocID="{90CAF14B-914B-4E44-B39C-56B4760A5F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AF20779D-BFD0-43DB-8982-958DF5E3583A}" type="pres">
      <dgm:prSet presAssocID="{90CAF14B-914B-4E44-B39C-56B4760A5FEC}" presName="spaceRect" presStyleCnt="0"/>
      <dgm:spPr/>
    </dgm:pt>
    <dgm:pt modelId="{DE5B4F4C-72F8-40F3-9861-A046B640661D}" type="pres">
      <dgm:prSet presAssocID="{90CAF14B-914B-4E44-B39C-56B4760A5FEC}" presName="parTx" presStyleLbl="revTx" presStyleIdx="1" presStyleCnt="4">
        <dgm:presLayoutVars>
          <dgm:chMax val="0"/>
          <dgm:chPref val="0"/>
        </dgm:presLayoutVars>
      </dgm:prSet>
      <dgm:spPr/>
    </dgm:pt>
    <dgm:pt modelId="{E4A20B4E-D0E6-429D-B6B2-9546AC338F02}" type="pres">
      <dgm:prSet presAssocID="{5EE2884F-A33E-4346-A544-8316922EDBAD}" presName="sibTrans" presStyleCnt="0"/>
      <dgm:spPr/>
    </dgm:pt>
    <dgm:pt modelId="{EC42566C-A632-4FDF-A754-2B673A7C444B}" type="pres">
      <dgm:prSet presAssocID="{DCD6C94C-ED75-4B6E-A234-371898E1637B}" presName="compNode" presStyleCnt="0"/>
      <dgm:spPr/>
    </dgm:pt>
    <dgm:pt modelId="{8857F497-0556-4296-8AC2-E30DC1CDC68E}" type="pres">
      <dgm:prSet presAssocID="{DCD6C94C-ED75-4B6E-A234-371898E1637B}" presName="bgRect" presStyleLbl="bgShp" presStyleIdx="2" presStyleCnt="3"/>
      <dgm:spPr/>
    </dgm:pt>
    <dgm:pt modelId="{54880E01-5813-4000-9EDC-332765333673}" type="pres">
      <dgm:prSet presAssocID="{DCD6C94C-ED75-4B6E-A234-371898E163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D57707A-55F4-4C4F-8F48-A5151D417E0E}" type="pres">
      <dgm:prSet presAssocID="{DCD6C94C-ED75-4B6E-A234-371898E1637B}" presName="spaceRect" presStyleCnt="0"/>
      <dgm:spPr/>
    </dgm:pt>
    <dgm:pt modelId="{8990C140-53DC-42E4-B348-AAD606C9BB30}" type="pres">
      <dgm:prSet presAssocID="{DCD6C94C-ED75-4B6E-A234-371898E1637B}" presName="parTx" presStyleLbl="revTx" presStyleIdx="2" presStyleCnt="4">
        <dgm:presLayoutVars>
          <dgm:chMax val="0"/>
          <dgm:chPref val="0"/>
        </dgm:presLayoutVars>
      </dgm:prSet>
      <dgm:spPr/>
    </dgm:pt>
    <dgm:pt modelId="{BA85F640-C7C2-48EC-AAE6-C7DCB5A0FA2D}" type="pres">
      <dgm:prSet presAssocID="{DCD6C94C-ED75-4B6E-A234-371898E1637B}" presName="desTx" presStyleLbl="revTx" presStyleIdx="3" presStyleCnt="4">
        <dgm:presLayoutVars/>
      </dgm:prSet>
      <dgm:spPr/>
    </dgm:pt>
  </dgm:ptLst>
  <dgm:cxnLst>
    <dgm:cxn modelId="{6FCE671F-6D7D-4578-8BCF-47FC6A843B95}" srcId="{665E654B-031E-496D-8293-570D4BA10708}" destId="{90CAF14B-914B-4E44-B39C-56B4760A5FEC}" srcOrd="1" destOrd="0" parTransId="{753A9229-3406-4A54-BBDA-02525CE5AC32}" sibTransId="{5EE2884F-A33E-4346-A544-8316922EDBAD}"/>
    <dgm:cxn modelId="{DBB06438-F742-4B61-A7DE-DF70FD74B317}" srcId="{DCD6C94C-ED75-4B6E-A234-371898E1637B}" destId="{29C01BE9-24E1-440E-A20C-67868DF0EE85}" srcOrd="0" destOrd="0" parTransId="{A6812F50-9FFD-4D6B-BFDE-C5000B5E68E3}" sibTransId="{45521542-689C-4146-AC57-A2F735773AB8}"/>
    <dgm:cxn modelId="{5F4A1363-559A-40CC-90F1-51BDB420F237}" type="presOf" srcId="{957841B7-DD31-4A08-84C8-7D826052AABF}" destId="{EDAFEB62-F5B8-43D7-89D5-0ED89D301649}" srcOrd="0" destOrd="0" presId="urn:microsoft.com/office/officeart/2018/2/layout/IconVerticalSolidList"/>
    <dgm:cxn modelId="{49C0AAC1-29C2-4636-856E-DAE1C8A17D4D}" type="presOf" srcId="{DCD6C94C-ED75-4B6E-A234-371898E1637B}" destId="{8990C140-53DC-42E4-B348-AAD606C9BB30}" srcOrd="0" destOrd="0" presId="urn:microsoft.com/office/officeart/2018/2/layout/IconVerticalSolidList"/>
    <dgm:cxn modelId="{5DD276CF-EB5D-4695-9606-0E8DFC64D84B}" type="presOf" srcId="{90CAF14B-914B-4E44-B39C-56B4760A5FEC}" destId="{DE5B4F4C-72F8-40F3-9861-A046B640661D}" srcOrd="0" destOrd="0" presId="urn:microsoft.com/office/officeart/2018/2/layout/IconVerticalSolidList"/>
    <dgm:cxn modelId="{DECE95DB-CC8F-4F83-A3DF-6A7F823E412A}" srcId="{665E654B-031E-496D-8293-570D4BA10708}" destId="{957841B7-DD31-4A08-84C8-7D826052AABF}" srcOrd="0" destOrd="0" parTransId="{99B8493D-2D6D-4C0B-BA27-47804CC5DE20}" sibTransId="{6C19885A-719F-439A-B0B6-E9FE7781CCD1}"/>
    <dgm:cxn modelId="{FC4732EC-E49A-4067-AA4D-C13F596AB22F}" type="presOf" srcId="{665E654B-031E-496D-8293-570D4BA10708}" destId="{9667AB89-5F6E-4BC9-BD39-DFE298BFE51A}" srcOrd="0" destOrd="0" presId="urn:microsoft.com/office/officeart/2018/2/layout/IconVerticalSolidList"/>
    <dgm:cxn modelId="{A68660FA-A58E-4DA1-A4F1-CA4ECABB81C8}" srcId="{665E654B-031E-496D-8293-570D4BA10708}" destId="{DCD6C94C-ED75-4B6E-A234-371898E1637B}" srcOrd="2" destOrd="0" parTransId="{0A86287F-0397-4181-9856-6C2CE961A7C1}" sibTransId="{29F594DA-1EDC-438E-B290-FBFAA9CCE589}"/>
    <dgm:cxn modelId="{98F198FE-11F3-4584-8330-CE433C989F9E}" type="presOf" srcId="{29C01BE9-24E1-440E-A20C-67868DF0EE85}" destId="{BA85F640-C7C2-48EC-AAE6-C7DCB5A0FA2D}" srcOrd="0" destOrd="0" presId="urn:microsoft.com/office/officeart/2018/2/layout/IconVerticalSolidList"/>
    <dgm:cxn modelId="{7DDC937F-8063-41F4-9920-FCE8C4403BB8}" type="presParOf" srcId="{9667AB89-5F6E-4BC9-BD39-DFE298BFE51A}" destId="{13D3D4F8-508E-4E79-B99D-EEB1449FAFEB}" srcOrd="0" destOrd="0" presId="urn:microsoft.com/office/officeart/2018/2/layout/IconVerticalSolidList"/>
    <dgm:cxn modelId="{51B52BEB-659C-407C-88C8-1E20095A221C}" type="presParOf" srcId="{13D3D4F8-508E-4E79-B99D-EEB1449FAFEB}" destId="{73931657-8868-4371-985B-6C4503CE1449}" srcOrd="0" destOrd="0" presId="urn:microsoft.com/office/officeart/2018/2/layout/IconVerticalSolidList"/>
    <dgm:cxn modelId="{B5F8710C-FFA5-4461-A50A-56E4EAEF0047}" type="presParOf" srcId="{13D3D4F8-508E-4E79-B99D-EEB1449FAFEB}" destId="{B998842F-E533-42F5-9F8A-209709A1EC8B}" srcOrd="1" destOrd="0" presId="urn:microsoft.com/office/officeart/2018/2/layout/IconVerticalSolidList"/>
    <dgm:cxn modelId="{EFCCDBFD-9273-47A2-B212-603E83D430B6}" type="presParOf" srcId="{13D3D4F8-508E-4E79-B99D-EEB1449FAFEB}" destId="{C75FA0F3-38C4-4854-959F-472C52369466}" srcOrd="2" destOrd="0" presId="urn:microsoft.com/office/officeart/2018/2/layout/IconVerticalSolidList"/>
    <dgm:cxn modelId="{F47B3CD9-8E56-49E2-AF79-E2E771A6E38D}" type="presParOf" srcId="{13D3D4F8-508E-4E79-B99D-EEB1449FAFEB}" destId="{EDAFEB62-F5B8-43D7-89D5-0ED89D301649}" srcOrd="3" destOrd="0" presId="urn:microsoft.com/office/officeart/2018/2/layout/IconVerticalSolidList"/>
    <dgm:cxn modelId="{ADEDC029-ABB2-4693-9965-C0383A8F8D77}" type="presParOf" srcId="{9667AB89-5F6E-4BC9-BD39-DFE298BFE51A}" destId="{EA33FEC5-9863-4C72-94C2-0A2C98D2BA26}" srcOrd="1" destOrd="0" presId="urn:microsoft.com/office/officeart/2018/2/layout/IconVerticalSolidList"/>
    <dgm:cxn modelId="{E767A082-E7A4-4966-919D-ADED3459B68F}" type="presParOf" srcId="{9667AB89-5F6E-4BC9-BD39-DFE298BFE51A}" destId="{A2E1784F-8A43-40F4-AB25-92046D08F82C}" srcOrd="2" destOrd="0" presId="urn:microsoft.com/office/officeart/2018/2/layout/IconVerticalSolidList"/>
    <dgm:cxn modelId="{C144B63B-FEC3-46F8-9C41-78DB259C479F}" type="presParOf" srcId="{A2E1784F-8A43-40F4-AB25-92046D08F82C}" destId="{2CD8DCEA-4626-41F8-BDD6-7D5F9CC1ACF9}" srcOrd="0" destOrd="0" presId="urn:microsoft.com/office/officeart/2018/2/layout/IconVerticalSolidList"/>
    <dgm:cxn modelId="{759F2BC7-67A1-4A68-9262-8F870A50F37D}" type="presParOf" srcId="{A2E1784F-8A43-40F4-AB25-92046D08F82C}" destId="{7C4E1C8C-5D55-40B4-A52B-231F2A35C817}" srcOrd="1" destOrd="0" presId="urn:microsoft.com/office/officeart/2018/2/layout/IconVerticalSolidList"/>
    <dgm:cxn modelId="{37CFCDC6-0BB7-4CE8-ACD8-EE5F6A54D3F3}" type="presParOf" srcId="{A2E1784F-8A43-40F4-AB25-92046D08F82C}" destId="{AF20779D-BFD0-43DB-8982-958DF5E3583A}" srcOrd="2" destOrd="0" presId="urn:microsoft.com/office/officeart/2018/2/layout/IconVerticalSolidList"/>
    <dgm:cxn modelId="{B0B814F0-F4D8-4A46-A53E-48EDEB77FC0B}" type="presParOf" srcId="{A2E1784F-8A43-40F4-AB25-92046D08F82C}" destId="{DE5B4F4C-72F8-40F3-9861-A046B640661D}" srcOrd="3" destOrd="0" presId="urn:microsoft.com/office/officeart/2018/2/layout/IconVerticalSolidList"/>
    <dgm:cxn modelId="{9D32E445-2575-4EDD-89A6-2C32DADDDE13}" type="presParOf" srcId="{9667AB89-5F6E-4BC9-BD39-DFE298BFE51A}" destId="{E4A20B4E-D0E6-429D-B6B2-9546AC338F02}" srcOrd="3" destOrd="0" presId="urn:microsoft.com/office/officeart/2018/2/layout/IconVerticalSolidList"/>
    <dgm:cxn modelId="{E17D7FDF-AAF0-479A-B43E-07F5A667FFDD}" type="presParOf" srcId="{9667AB89-5F6E-4BC9-BD39-DFE298BFE51A}" destId="{EC42566C-A632-4FDF-A754-2B673A7C444B}" srcOrd="4" destOrd="0" presId="urn:microsoft.com/office/officeart/2018/2/layout/IconVerticalSolidList"/>
    <dgm:cxn modelId="{D1B9FC3F-4EF3-4D35-A874-B1A6244A7EDC}" type="presParOf" srcId="{EC42566C-A632-4FDF-A754-2B673A7C444B}" destId="{8857F497-0556-4296-8AC2-E30DC1CDC68E}" srcOrd="0" destOrd="0" presId="urn:microsoft.com/office/officeart/2018/2/layout/IconVerticalSolidList"/>
    <dgm:cxn modelId="{D6845C8E-8FD0-4930-A66A-F72B2763FB6D}" type="presParOf" srcId="{EC42566C-A632-4FDF-A754-2B673A7C444B}" destId="{54880E01-5813-4000-9EDC-332765333673}" srcOrd="1" destOrd="0" presId="urn:microsoft.com/office/officeart/2018/2/layout/IconVerticalSolidList"/>
    <dgm:cxn modelId="{EB8675F6-93E3-462D-8435-F8D9F9468A47}" type="presParOf" srcId="{EC42566C-A632-4FDF-A754-2B673A7C444B}" destId="{0D57707A-55F4-4C4F-8F48-A5151D417E0E}" srcOrd="2" destOrd="0" presId="urn:microsoft.com/office/officeart/2018/2/layout/IconVerticalSolidList"/>
    <dgm:cxn modelId="{75807DDF-E6ED-4AFD-AD34-5A1AB50BDF5B}" type="presParOf" srcId="{EC42566C-A632-4FDF-A754-2B673A7C444B}" destId="{8990C140-53DC-42E4-B348-AAD606C9BB30}" srcOrd="3" destOrd="0" presId="urn:microsoft.com/office/officeart/2018/2/layout/IconVerticalSolidList"/>
    <dgm:cxn modelId="{2D93F4CB-D3EF-4901-A486-EC6EAC5165C7}" type="presParOf" srcId="{EC42566C-A632-4FDF-A754-2B673A7C444B}" destId="{BA85F640-C7C2-48EC-AAE6-C7DCB5A0FA2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31657-8868-4371-985B-6C4503CE1449}">
      <dsp:nvSpPr>
        <dsp:cNvPr id="0" name=""/>
        <dsp:cNvSpPr/>
      </dsp:nvSpPr>
      <dsp:spPr>
        <a:xfrm>
          <a:off x="0" y="567"/>
          <a:ext cx="8839200" cy="13277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98842F-E533-42F5-9F8A-209709A1EC8B}">
      <dsp:nvSpPr>
        <dsp:cNvPr id="0" name=""/>
        <dsp:cNvSpPr/>
      </dsp:nvSpPr>
      <dsp:spPr>
        <a:xfrm>
          <a:off x="401639" y="299307"/>
          <a:ext cx="730253" cy="7302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FEB62-F5B8-43D7-89D5-0ED89D301649}">
      <dsp:nvSpPr>
        <dsp:cNvPr id="0" name=""/>
        <dsp:cNvSpPr/>
      </dsp:nvSpPr>
      <dsp:spPr>
        <a:xfrm>
          <a:off x="1533531" y="567"/>
          <a:ext cx="7305668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/>
            <a:t>Since households and firms are mutually interdependent</a:t>
          </a:r>
          <a:r>
            <a:rPr lang="en-US" sz="1600" b="1" kern="1200"/>
            <a:t> (recall the circular flow), booms and busts involve chain reactions.</a:t>
          </a:r>
          <a:endParaRPr lang="en-US" sz="1600" kern="1200"/>
        </a:p>
      </dsp:txBody>
      <dsp:txXfrm>
        <a:off x="1533531" y="567"/>
        <a:ext cx="7305668" cy="1327732"/>
      </dsp:txXfrm>
    </dsp:sp>
    <dsp:sp modelId="{2CD8DCEA-4626-41F8-BDD6-7D5F9CC1ACF9}">
      <dsp:nvSpPr>
        <dsp:cNvPr id="0" name=""/>
        <dsp:cNvSpPr/>
      </dsp:nvSpPr>
      <dsp:spPr>
        <a:xfrm>
          <a:off x="0" y="1660233"/>
          <a:ext cx="8839200" cy="13277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E1C8C-5D55-40B4-A52B-231F2A35C817}">
      <dsp:nvSpPr>
        <dsp:cNvPr id="0" name=""/>
        <dsp:cNvSpPr/>
      </dsp:nvSpPr>
      <dsp:spPr>
        <a:xfrm>
          <a:off x="401639" y="1958973"/>
          <a:ext cx="730253" cy="7302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B4F4C-72F8-40F3-9861-A046B640661D}">
      <dsp:nvSpPr>
        <dsp:cNvPr id="0" name=""/>
        <dsp:cNvSpPr/>
      </dsp:nvSpPr>
      <dsp:spPr>
        <a:xfrm>
          <a:off x="1533531" y="1660233"/>
          <a:ext cx="7305668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multiplier helps us understand the extent of the chain reactions.</a:t>
          </a:r>
          <a:endParaRPr lang="en-US" sz="1600" kern="1200"/>
        </a:p>
      </dsp:txBody>
      <dsp:txXfrm>
        <a:off x="1533531" y="1660233"/>
        <a:ext cx="7305668" cy="1327732"/>
      </dsp:txXfrm>
    </dsp:sp>
    <dsp:sp modelId="{8857F497-0556-4296-8AC2-E30DC1CDC68E}">
      <dsp:nvSpPr>
        <dsp:cNvPr id="0" name=""/>
        <dsp:cNvSpPr/>
      </dsp:nvSpPr>
      <dsp:spPr>
        <a:xfrm>
          <a:off x="0" y="3319899"/>
          <a:ext cx="8839200" cy="13277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80E01-5813-4000-9EDC-332765333673}">
      <dsp:nvSpPr>
        <dsp:cNvPr id="0" name=""/>
        <dsp:cNvSpPr/>
      </dsp:nvSpPr>
      <dsp:spPr>
        <a:xfrm>
          <a:off x="401639" y="3618639"/>
          <a:ext cx="730253" cy="7302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0C140-53DC-42E4-B348-AAD606C9BB30}">
      <dsp:nvSpPr>
        <dsp:cNvPr id="0" name=""/>
        <dsp:cNvSpPr/>
      </dsp:nvSpPr>
      <dsp:spPr>
        <a:xfrm>
          <a:off x="1533531" y="3319899"/>
          <a:ext cx="3977640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/>
            <a:t>Basically, we want to understand how much extra income and spending are created from an initial change in spending.</a:t>
          </a:r>
          <a:endParaRPr lang="en-US" sz="1600" kern="1200"/>
        </a:p>
      </dsp:txBody>
      <dsp:txXfrm>
        <a:off x="1533531" y="3319899"/>
        <a:ext cx="3977640" cy="1327732"/>
      </dsp:txXfrm>
    </dsp:sp>
    <dsp:sp modelId="{BA85F640-C7C2-48EC-AAE6-C7DCB5A0FA2D}">
      <dsp:nvSpPr>
        <dsp:cNvPr id="0" name=""/>
        <dsp:cNvSpPr/>
      </dsp:nvSpPr>
      <dsp:spPr>
        <a:xfrm>
          <a:off x="5511171" y="3319899"/>
          <a:ext cx="3328028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Example: if UNMC is building a new $1 billion hospital, how much does this affect the economy?</a:t>
          </a:r>
          <a:endParaRPr lang="en-US" sz="1200" kern="1200"/>
        </a:p>
      </dsp:txBody>
      <dsp:txXfrm>
        <a:off x="5511171" y="3319899"/>
        <a:ext cx="3328028" cy="1327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7D7A8-C652-304E-B365-B25232E336F2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D5F51-2719-624B-AA3D-8BBD63EA2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7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7F735-3B07-40E0-90B2-09F3232ABD28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470D8-1F41-4A2B-8AFF-DD19730E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55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72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AP Photo/Paula Sakuma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6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A594AA-3819-401E-963F-31006EA8D53E}" type="slidenum">
              <a:rPr lang="en-US">
                <a:solidFill>
                  <a:prstClr val="black"/>
                </a:solidFill>
                <a:latin typeface="Calibri"/>
              </a:rPr>
              <a:pPr/>
              <a:t>16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0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04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05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9D3FB49-2012-47F1-88F7-43AE1B3402D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16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A594AA-3819-401E-963F-31006EA8D53E}" type="slidenum">
              <a:rPr lang="en-US">
                <a:solidFill>
                  <a:prstClr val="black"/>
                </a:solidFill>
                <a:latin typeface="Calibri"/>
              </a:rPr>
              <a:pPr/>
              <a:t>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0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04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05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9D3FB49-2012-47F1-88F7-43AE1B3402D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20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A594AA-3819-401E-963F-31006EA8D53E}" type="slidenum">
              <a:rPr lang="en-US">
                <a:solidFill>
                  <a:prstClr val="black"/>
                </a:solidFill>
                <a:latin typeface="Calibri"/>
              </a:rPr>
              <a:pPr/>
              <a:t>21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0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904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05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9D3FB49-2012-47F1-88F7-43AE1B3402D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21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58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EC4F15-5D74-4AB9-840C-E6914F8377A5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27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940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krugman.blogs.nytimes.com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hyperlink" Target="http://www.gregmankiw.blogspot.com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freakonomics.com/blog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://research.stlouisfed.org/fred2/" TargetMode="External"/><Relationship Id="rId4" Type="http://schemas.openxmlformats.org/officeDocument/2006/relationships/hyperlink" Target="http://marginalrevolution.com/" TargetMode="External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3844364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886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542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2015 Worth Publishers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7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520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926553203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763" y="5410200"/>
            <a:ext cx="9136063" cy="14478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anchor="ctr">
            <a:normAutofit/>
          </a:bodyPr>
          <a:lstStyle/>
          <a:p>
            <a:pPr algn="r">
              <a:defRPr/>
            </a:pPr>
            <a:endParaRPr lang="en-US" sz="6000" spc="50" dirty="0">
              <a:latin typeface="Candar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5580102"/>
            <a:ext cx="243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6600" b="1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/>
                <a:ea typeface="Tahoma" pitchFamily="34" charset="0"/>
                <a:cs typeface="Tw Cen MT"/>
              </a:rPr>
              <a:t>11(26)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18306" y="5981184"/>
            <a:ext cx="13589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kern="0" cap="all" spc="300" dirty="0">
                <a:solidFill>
                  <a:schemeClr val="bg1">
                    <a:lumMod val="75000"/>
                  </a:schemeClr>
                </a:solidFill>
                <a:latin typeface="Tw Cen MT"/>
                <a:ea typeface="+mj-ea"/>
                <a:cs typeface="Tw Cen MT"/>
              </a:rPr>
              <a:t>Chapter</a:t>
            </a:r>
            <a:endParaRPr lang="en-US" sz="2000" b="1" kern="0" cap="all" spc="300" dirty="0">
              <a:solidFill>
                <a:schemeClr val="bg1">
                  <a:lumMod val="75000"/>
                </a:schemeClr>
              </a:solidFill>
              <a:latin typeface="Tw Cen MT"/>
              <a:ea typeface="+mj-ea"/>
              <a:cs typeface="Tw Cen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-15356"/>
            <a:ext cx="769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400" b="1" i="0" kern="0" cap="small" spc="4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itchFamily="34" charset="0"/>
              </a:rPr>
              <a:t>Slides by Solina Lindahl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378226" y="5486400"/>
            <a:ext cx="7772400" cy="14478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5400" b="1" i="0" u="none" strike="noStrike" kern="1200" cap="none" spc="100" baseline="0" smtClean="0">
                <a:solidFill>
                  <a:srgbClr val="FF3300"/>
                </a:solidFill>
                <a:effectLst/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4400" b="1" kern="0" spc="500" dirty="0">
                <a:latin typeface="Tw Cen MT"/>
                <a:cs typeface="Tw Cen MT"/>
              </a:rPr>
              <a:t>Income</a:t>
            </a:r>
            <a:r>
              <a:rPr lang="en-US" sz="4400" b="1" kern="0" spc="500" baseline="0" dirty="0">
                <a:latin typeface="Tw Cen MT"/>
                <a:cs typeface="Tw Cen MT"/>
              </a:rPr>
              <a:t> and </a:t>
            </a:r>
          </a:p>
          <a:p>
            <a:r>
              <a:rPr lang="en-US" sz="4400" b="1" kern="0" spc="500" baseline="0" dirty="0">
                <a:latin typeface="Tw Cen MT"/>
                <a:cs typeface="Tw Cen MT"/>
              </a:rPr>
              <a:t>Expenditure</a:t>
            </a:r>
            <a:endParaRPr lang="en-US" sz="4400" b="1" kern="0" spc="500" dirty="0"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422087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60198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0" y="1490246"/>
            <a:ext cx="9144000" cy="338554"/>
          </a:xfrm>
          <a:prstGeom prst="rect">
            <a:avLst/>
          </a:prstGeom>
          <a:solidFill>
            <a:srgbClr val="CCFF33">
              <a:alpha val="4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b="0" i="0" spc="300" dirty="0">
                <a:solidFill>
                  <a:srgbClr val="F79646"/>
                </a:solidFill>
                <a:latin typeface="+mn-lt"/>
              </a:rPr>
              <a:t>SOME GOOD BLOGS AND OTHER SITES TO GET THE JUICES FLOWING: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7391400" cy="784225"/>
          </a:xfrm>
          <a:prstGeom prst="rect">
            <a:avLst/>
          </a:prstGeom>
          <a:noFill/>
          <a:effectLst/>
        </p:spPr>
        <p:txBody>
          <a:bodyPr/>
          <a:lstStyle>
            <a:lvl1pPr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FOOD FOR</a:t>
            </a:r>
            <a:r>
              <a:rPr lang="en-US" sz="4800" b="0" baseline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 </a:t>
            </a: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THOUGHT….</a:t>
            </a:r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2724150" cy="51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5213" y="3048000"/>
            <a:ext cx="2998787" cy="53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0400" y="2971800"/>
            <a:ext cx="2686050" cy="65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15" name="Picture 14" descr="Screen Shot 2014-12-20 at 8.46.54 PM.png">
            <a:hlinkClick r:id="rId8"/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4" y="2971800"/>
            <a:ext cx="2692400" cy="59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Screen Shot 2014-12-20 at 8.49.18 PM.png">
            <a:hlinkClick r:id="rId10"/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4343400"/>
            <a:ext cx="2336800" cy="841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60000">
            <a:off x="8016447" y="97714"/>
            <a:ext cx="787093" cy="1328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517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3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5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These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AEB94A-9A28-46F6-B1E3-A1FF8FD4E0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13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6293393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52625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40984043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59308934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167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6719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4BACC6">
                    <a:lumMod val="75000"/>
                  </a:srgbClr>
                </a:solidFill>
              </a:rPr>
              <a:t>ECONOMICS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214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473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49224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72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865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17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3489" y="0"/>
            <a:ext cx="1140511" cy="7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8659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86185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6299959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2527753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839276619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53536" y="-76200"/>
            <a:ext cx="943896" cy="99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ight Arrow 8">
            <a:hlinkClick r:id="" action="ppaction://noaction"/>
          </p:cNvPr>
          <p:cNvSpPr/>
          <p:nvPr/>
        </p:nvSpPr>
        <p:spPr>
          <a:xfrm>
            <a:off x="0" y="5952053"/>
            <a:ext cx="1143000" cy="905947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1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</a:t>
            </a:r>
            <a:r>
              <a:rPr lang="en-US" sz="11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</a:t>
            </a: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6895" y="6209547"/>
            <a:ext cx="634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hlinkClick r:id="" action="ppaction://noaction"/>
              </a:rPr>
              <a:t>To Video</a:t>
            </a:r>
            <a:endParaRPr lang="en-US" sz="1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371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ABB6EB-A417-44F4-A17E-A78750F4F63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422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5961766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7535812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slide" Target="../slides/slide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3.xml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slide" Target="../slides/slid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slide" Target="../slides/slide2.xml"/><Relationship Id="rId4" Type="http://schemas.openxmlformats.org/officeDocument/2006/relationships/slide" Target="../slides/slide3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3.xml"/><Relationship Id="rId4" Type="http://schemas.openxmlformats.org/officeDocument/2006/relationships/slide" Target="../slides/slide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slide" Target="../slides/slide2.xml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slide" Target="../slides/slide2.xml"/><Relationship Id="rId4" Type="http://schemas.openxmlformats.org/officeDocument/2006/relationships/image" Target="../media/image1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" Target="../slides/slide2.xml"/><Relationship Id="rId5" Type="http://schemas.openxmlformats.org/officeDocument/2006/relationships/image" Target="../media/image14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6.png"/><Relationship Id="rId4" Type="http://schemas.openxmlformats.org/officeDocument/2006/relationships/slide" Target="../slides/slid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</a:t>
            </a:r>
            <a:r>
              <a:rPr lang="en-US" sz="800" b="1" dirty="0">
                <a:latin typeface="Candara" pitchFamily="34" charset="0"/>
                <a:hlinkClick r:id="rId3" action="ppaction://hlinksldjump"/>
              </a:rPr>
              <a:t>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APPLICATION VIDEO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8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9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746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22" r:id="rId3"/>
    <p:sldLayoutId id="2147483741" r:id="rId4"/>
    <p:sldLayoutId id="2147483787" r:id="rId5"/>
    <p:sldLayoutId id="2147483810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870" r:id="rId4"/>
    <p:sldLayoutId id="2147483871" r:id="rId5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PRACTICE QUESTION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3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5">
              <a:lumMod val="40000"/>
              <a:lumOff val="6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BUSINESS</a:t>
            </a:r>
            <a:r>
              <a:rPr lang="en-US" sz="3200" b="0" spc="60" baseline="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 CASE</a:t>
            </a:r>
            <a:endParaRPr lang="en-US" sz="3200" b="0" spc="60" dirty="0">
              <a:ln w="9000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1" name="Right Arrow 10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bg2">
              <a:lumMod val="9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DISCUSS</a:t>
            </a:r>
          </a:p>
        </p:txBody>
      </p:sp>
    </p:spTree>
    <p:extLst>
      <p:ext uri="{BB962C8B-B14F-4D97-AF65-F5344CB8AC3E}">
        <p14:creationId xmlns:p14="http://schemas.microsoft.com/office/powerpoint/2010/main" val="399945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869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355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0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228600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248348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747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889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6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41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392043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589723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640391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667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4809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8912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067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5">
              <a:lumMod val="20000"/>
              <a:lumOff val="80000"/>
              <a:alpha val="4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127000" cmpd="sng">
            <a:solidFill>
              <a:schemeClr val="tx2">
                <a:lumMod val="20000"/>
                <a:lumOff val="80000"/>
                <a:alpha val="71000"/>
              </a:scheme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00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4400" b="1" kern="1200" spc="-200" baseline="0">
          <a:solidFill>
            <a:schemeClr val="accent6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Practice</a:t>
            </a:r>
          </a:p>
        </p:txBody>
      </p:sp>
      <p:pic>
        <p:nvPicPr>
          <p:cNvPr id="12292" name="Picture 11" descr="Pencil_8160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042" y="47416"/>
            <a:ext cx="224895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9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0600" y="120650"/>
            <a:ext cx="8153400" cy="94615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i="1" kern="1200" baseline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Take a look…..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33"/>
            <a:ext cx="990600" cy="110474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6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32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Application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4184" y="304800"/>
            <a:ext cx="160981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09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3.xml"/><Relationship Id="rId7" Type="http://schemas.openxmlformats.org/officeDocument/2006/relationships/slide" Target="slide2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25.xml"/><Relationship Id="rId5" Type="http://schemas.openxmlformats.org/officeDocument/2006/relationships/slide" Target="slide24.xml"/><Relationship Id="rId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sz="2800" dirty="0"/>
              <a:t>Economics 2220</a:t>
            </a:r>
            <a:br>
              <a:rPr lang="en-US" sz="2800" dirty="0"/>
            </a:br>
            <a:r>
              <a:rPr lang="en-US" dirty="0"/>
              <a:t>Principles Of Macroeconomics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r>
              <a:rPr lang="en-US" sz="2400" dirty="0"/>
              <a:t>Professor Zhigang Feng</a:t>
            </a:r>
          </a:p>
          <a:p>
            <a:endParaRPr lang="en-US" sz="2400" dirty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286000" y="3124200"/>
            <a:ext cx="5410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</a:pPr>
            <a:r>
              <a:rPr lang="en-US" sz="2400" u="sng" dirty="0"/>
              <a:t>Lecture 9: </a:t>
            </a:r>
          </a:p>
          <a:p>
            <a:pPr marL="228600" indent="-228600">
              <a:spcBef>
                <a:spcPct val="50000"/>
              </a:spcBef>
            </a:pPr>
            <a:r>
              <a:rPr lang="en-US" sz="2400" u="sng" dirty="0"/>
              <a:t>Macroeconomic Relation</a:t>
            </a:r>
          </a:p>
          <a:p>
            <a:pPr marL="228600" indent="-228600">
              <a:spcBef>
                <a:spcPct val="50000"/>
              </a:spcBef>
              <a:buFontTx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87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754563"/>
          </a:xfrm>
        </p:spPr>
        <p:txBody>
          <a:bodyPr/>
          <a:lstStyle/>
          <a:p>
            <a:pPr marL="461963" indent="-342900"/>
            <a:r>
              <a:rPr lang="en-US" sz="2200" b="0" dirty="0"/>
              <a:t>The nature of the </a:t>
            </a:r>
            <a:r>
              <a:rPr lang="en-US" sz="2200" dirty="0">
                <a:hlinkClick r:id="rId2" action="ppaction://hlinksldjump"/>
              </a:rPr>
              <a:t>multiplier</a:t>
            </a:r>
            <a:r>
              <a:rPr lang="en-US" sz="2200" dirty="0"/>
              <a:t>, </a:t>
            </a:r>
            <a:r>
              <a:rPr lang="en-US" sz="2200" b="0" dirty="0"/>
              <a:t>which shows how initial changes in spending lead to further changes</a:t>
            </a:r>
          </a:p>
          <a:p>
            <a:pPr marL="461963" indent="-342900"/>
            <a:r>
              <a:rPr lang="en-US" sz="2200" b="0" dirty="0"/>
              <a:t>The meaning of the </a:t>
            </a:r>
            <a:r>
              <a:rPr lang="en-US" sz="2200" dirty="0">
                <a:hlinkClick r:id="rId3" action="ppaction://hlinksldjump"/>
              </a:rPr>
              <a:t>aggregate consumption function</a:t>
            </a:r>
            <a:r>
              <a:rPr lang="en-US" sz="2200" dirty="0"/>
              <a:t>, </a:t>
            </a:r>
            <a:r>
              <a:rPr lang="en-US" sz="2200" b="0" dirty="0"/>
              <a:t>which shows how current disposable income affects consumer spending</a:t>
            </a:r>
          </a:p>
          <a:p>
            <a:pPr marL="461963" indent="-342900"/>
            <a:r>
              <a:rPr lang="en-US" sz="2200" b="0" dirty="0"/>
              <a:t>How </a:t>
            </a:r>
            <a:r>
              <a:rPr lang="en-US" sz="2200" dirty="0">
                <a:hlinkClick r:id="rId4" action="ppaction://hlinksldjump"/>
              </a:rPr>
              <a:t>expected future income and aggregate wealth </a:t>
            </a:r>
            <a:r>
              <a:rPr lang="en-US" sz="2200" b="0" dirty="0"/>
              <a:t>affect consumer spending</a:t>
            </a:r>
          </a:p>
          <a:p>
            <a:pPr marL="461963" indent="-342900"/>
            <a:r>
              <a:rPr lang="en-US" sz="2200" b="0" dirty="0"/>
              <a:t>The </a:t>
            </a:r>
            <a:r>
              <a:rPr lang="en-US" sz="2200" dirty="0">
                <a:hlinkClick r:id="rId5" action="ppaction://hlinksldjump"/>
              </a:rPr>
              <a:t>determinants of investment spending </a:t>
            </a:r>
            <a:r>
              <a:rPr lang="en-US" sz="2200" b="0" dirty="0"/>
              <a:t>and the distinction between </a:t>
            </a:r>
            <a:r>
              <a:rPr lang="en-US" sz="2200" dirty="0">
                <a:hlinkClick r:id="rId6" action="ppaction://hlinksldjump"/>
              </a:rPr>
              <a:t>planned investment spending </a:t>
            </a:r>
            <a:r>
              <a:rPr lang="en-US" sz="2200" b="0" dirty="0"/>
              <a:t>and </a:t>
            </a:r>
            <a:r>
              <a:rPr lang="en-US" sz="2200" dirty="0">
                <a:hlinkClick r:id="rId7" action="ppaction://hlinksldjump"/>
              </a:rPr>
              <a:t>unplanned inventory investment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8" action="ppaction://hlinksldjump"/>
              </a:rPr>
              <a:t>To First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8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79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spc="0"/>
              <a:t>THE MULTIPLIER: AN INFORMAL 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D6B0EF-DAA4-BBFC-68EE-86CEE8B8ED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456564"/>
              </p:ext>
            </p:extLst>
          </p:nvPr>
        </p:nvGraphicFramePr>
        <p:xfrm>
          <a:off x="228600" y="9906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548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76200" y="685800"/>
                <a:ext cx="8915400" cy="63246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800" dirty="0"/>
                  <a:t>A lot depends on how much consumers spend when they receive more income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Marginal propensity to consumer, or MPC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𝑴𝑷𝑪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𝑪𝒐𝒏𝒔𝒖𝒎𝒆𝒓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𝒔𝒑𝒆𝒏𝒅𝒊𝒏𝒈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𝑫𝒊𝒔𝒑𝒐𝒔𝒂𝒃𝒍𝒆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𝒊𝒏𝒄𝒐𝒎𝒆</m:t>
                        </m:r>
                      </m:den>
                    </m:f>
                  </m:oMath>
                </a14:m>
                <a:endParaRPr lang="en-US" sz="2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40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(where </a:t>
                </a:r>
                <a:r>
                  <a:rPr lang="en-US" sz="2400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Δ</a:t>
                </a:r>
                <a:r>
                  <a:rPr lang="en-US" sz="240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= change)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4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For example, if consumer spending goes up by $6 and disposable income goes up by $10, MPC = $6/10 = 0.6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800" dirty="0"/>
                  <a:t>Whatever is not spent is saved, so: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Marginal propensity to save, or MPS </a:t>
                </a:r>
                <a:r>
                  <a:rPr lang="en-US" sz="2800" dirty="0"/>
                  <a:t>= </a:t>
                </a:r>
                <a:r>
                  <a:rPr lang="en-US" sz="2800" b="0" dirty="0"/>
                  <a:t>the fraction of an additional dollar of disposable income that is saved.</a:t>
                </a:r>
              </a:p>
              <a:p>
                <a:pPr algn="ctr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800" dirty="0"/>
                  <a:t>MPS = 1 - MPC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685800"/>
                <a:ext cx="8915400" cy="6324600"/>
              </a:xfrm>
              <a:blipFill>
                <a:blip r:embed="rId2"/>
                <a:stretch>
                  <a:fillRect l="-1436" t="-1061" r="-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41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MULTIPLIER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839200" cy="5334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2800" b="0" dirty="0"/>
                  <a:t>Each $1 increase in aggregate spending raises both real GDP and disposable income by $1—and causes people to spend money.  </a:t>
                </a:r>
                <a:r>
                  <a:rPr lang="en-US" sz="2800" dirty="0">
                    <a:solidFill>
                      <a:srgbClr val="990033"/>
                    </a:solidFill>
                  </a:rPr>
                  <a:t>How much?</a:t>
                </a:r>
              </a:p>
              <a:p>
                <a:pPr lvl="1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2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If investment spending rises by $100 billion, this will lead to a second-round increase of MPC × $100 billion. It is followed by a third-round increase in consumer spending of MPC × MPC × $100 billion, and so on up to: </a:t>
                </a:r>
              </a:p>
              <a:p>
                <a:pPr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2400" dirty="0"/>
                  <a:t>Total increase in real GDP = (1 + </a:t>
                </a:r>
                <a:r>
                  <a:rPr lang="en-US" sz="2400" i="1" dirty="0"/>
                  <a:t>MPC </a:t>
                </a:r>
                <a:r>
                  <a:rPr lang="en-US" sz="2400" dirty="0"/>
                  <a:t>+ </a:t>
                </a:r>
                <a:r>
                  <a:rPr lang="en-US" sz="2400" i="1" dirty="0"/>
                  <a:t>MPC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+ </a:t>
                </a:r>
                <a:r>
                  <a:rPr lang="en-US" sz="2400" i="1" dirty="0"/>
                  <a:t>MPC</a:t>
                </a:r>
                <a:r>
                  <a:rPr lang="en-US" sz="2400" baseline="30000" dirty="0"/>
                  <a:t>3</a:t>
                </a:r>
                <a:r>
                  <a:rPr lang="en-US" sz="2400" dirty="0"/>
                  <a:t> + . . .) × $100 billion OR</a:t>
                </a:r>
              </a:p>
              <a:p>
                <a:pPr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𝑴𝑷𝑪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400" dirty="0"/>
                  <a:t> × $100 billion</a:t>
                </a:r>
                <a:endParaRPr lang="en-US" sz="2400" i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2400" dirty="0"/>
                  <a:t>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839200" cy="5334000"/>
              </a:xfrm>
              <a:blipFill>
                <a:blip r:embed="rId2"/>
                <a:stretch>
                  <a:fillRect l="-1448" t="-1143" r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72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5060950"/>
          </a:xfrm>
        </p:spPr>
        <p:txBody>
          <a:bodyPr>
            <a:noAutofit/>
          </a:bodyPr>
          <a:lstStyle/>
          <a:p>
            <a:r>
              <a:rPr lang="en-US" sz="2800" b="0" dirty="0"/>
              <a:t>With a partner, answer the following:</a:t>
            </a:r>
          </a:p>
          <a:p>
            <a:r>
              <a:rPr lang="en-US" sz="2800" b="0" dirty="0"/>
              <a:t>Suppose that the </a:t>
            </a:r>
            <a:r>
              <a:rPr lang="en-US" sz="2800" dirty="0"/>
              <a:t>marginal propensity to save </a:t>
            </a:r>
            <a:r>
              <a:rPr lang="en-US" sz="2800" b="0" dirty="0"/>
              <a:t>in an economy is equal to </a:t>
            </a:r>
            <a:r>
              <a:rPr lang="en-US" sz="2800" dirty="0"/>
              <a:t>0.2.</a:t>
            </a:r>
            <a:r>
              <a:rPr lang="en-US" sz="2800" b="0" dirty="0"/>
              <a:t> Suppose that the level of </a:t>
            </a:r>
            <a:r>
              <a:rPr lang="en-US" sz="2800" dirty="0"/>
              <a:t>investment spending increases by $200</a:t>
            </a:r>
            <a:r>
              <a:rPr lang="en-US" sz="2800" b="0" dirty="0"/>
              <a:t> this year. </a:t>
            </a:r>
          </a:p>
          <a:p>
            <a:r>
              <a:rPr lang="en-US" sz="2800" b="0" dirty="0"/>
              <a:t>Trace out the total increase in real GDP, showing the </a:t>
            </a:r>
            <a:r>
              <a:rPr lang="en-US" sz="2800" dirty="0"/>
              <a:t>increase in consumer spending </a:t>
            </a:r>
            <a:r>
              <a:rPr lang="en-US" sz="2800" b="0" dirty="0"/>
              <a:t>for at least the </a:t>
            </a:r>
            <a:r>
              <a:rPr lang="en-US" sz="2800" dirty="0"/>
              <a:t>second, third, and fourth round of spending </a:t>
            </a:r>
            <a:r>
              <a:rPr lang="en-US" sz="2800" b="0" dirty="0"/>
              <a:t>and</a:t>
            </a:r>
            <a:r>
              <a:rPr lang="en-US" sz="2800" dirty="0"/>
              <a:t> the overall increase in real GDP.</a:t>
            </a:r>
            <a:endParaRPr lang="en-US" sz="28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(Assume that in this economy there is no government sector, no taxes, and no transfers and that the aggregate price level and the interest rate are fixed.)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318" y="6383179"/>
            <a:ext cx="86947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answer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522477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990600"/>
            <a:ext cx="8458200" cy="1403350"/>
          </a:xfrm>
        </p:spPr>
        <p:txBody>
          <a:bodyPr>
            <a:normAutofit/>
          </a:bodyPr>
          <a:lstStyle/>
          <a:p>
            <a:r>
              <a:rPr lang="en-US" sz="3200" dirty="0"/>
              <a:t>(Answer to question on previous slide)</a:t>
            </a:r>
          </a:p>
          <a:p>
            <a:r>
              <a:rPr lang="en-US" sz="2800" dirty="0"/>
              <a:t>Since </a:t>
            </a:r>
            <a:r>
              <a:rPr lang="en-US" sz="2800" i="1" dirty="0"/>
              <a:t>MPS</a:t>
            </a:r>
            <a:r>
              <a:rPr lang="en-US" sz="2800" dirty="0"/>
              <a:t> = 0.2, we know that </a:t>
            </a:r>
            <a:r>
              <a:rPr lang="en-US" sz="2800" i="1" dirty="0"/>
              <a:t>MPC</a:t>
            </a:r>
            <a:r>
              <a:rPr lang="en-US" sz="2800" dirty="0"/>
              <a:t> = 0.8.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2396924"/>
            <a:ext cx="9067800" cy="246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01990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MULTIPLIER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495800" y="914400"/>
                <a:ext cx="4419600" cy="4800600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0" dirty="0"/>
                  <a:t>If </a:t>
                </a:r>
                <a:r>
                  <a:rPr lang="en-US" sz="2400" b="0" dirty="0">
                    <a:latin typeface="Lucida Grande"/>
                    <a:ea typeface="Lucida Grande"/>
                    <a:cs typeface="Lucida Grande"/>
                  </a:rPr>
                  <a:t>Δ</a:t>
                </a:r>
                <a:r>
                  <a:rPr lang="en-US" sz="2400" b="0" dirty="0"/>
                  <a:t>AAS = autonomous change in aggregate spending and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b="0" dirty="0">
                    <a:latin typeface="Lucida Grande"/>
                    <a:ea typeface="Lucida Grande"/>
                    <a:cs typeface="Lucida Grande"/>
                  </a:rPr>
                  <a:t>Δ</a:t>
                </a:r>
                <a:r>
                  <a:rPr lang="en-US" sz="2400" b="0" dirty="0"/>
                  <a:t>Y = change in real GDP</a:t>
                </a:r>
              </a:p>
              <a:p>
                <a:pPr>
                  <a:spcAft>
                    <a:spcPts val="600"/>
                  </a:spcAft>
                </a:pPr>
                <a:endParaRPr lang="en-US" sz="2400" dirty="0"/>
              </a:p>
              <a:p>
                <a:r>
                  <a:rPr lang="en-US" sz="2400" dirty="0">
                    <a:latin typeface="Lucida Grande"/>
                    <a:ea typeface="Lucida Grande"/>
                    <a:cs typeface="Lucida Grande"/>
                  </a:rPr>
                  <a:t>      Δ</a:t>
                </a:r>
                <a:r>
                  <a:rPr lang="en-US" sz="2400" dirty="0"/>
                  <a:t>Y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𝑴𝑷𝑪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400" dirty="0"/>
                  <a:t> x </a:t>
                </a:r>
                <a:r>
                  <a:rPr lang="en-US" sz="2400" dirty="0">
                    <a:latin typeface="Lucida Grande"/>
                    <a:ea typeface="Lucida Grande"/>
                    <a:cs typeface="Lucida Grande"/>
                  </a:rPr>
                  <a:t>Δ</a:t>
                </a:r>
                <a:r>
                  <a:rPr lang="en-US" sz="2400" dirty="0"/>
                  <a:t>AAS</a:t>
                </a:r>
              </a:p>
              <a:p>
                <a:r>
                  <a:rPr lang="en-US" sz="2400" dirty="0"/>
                  <a:t>         	     </a:t>
                </a:r>
              </a:p>
              <a:p>
                <a:r>
                  <a:rPr lang="en-US" sz="2400" b="0" dirty="0"/>
                  <a:t>And 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multiplier = </a:t>
                </a:r>
                <a:r>
                  <a:rPr lang="en-US" sz="2400" u="sng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	  </a:t>
                </a:r>
                <a:r>
                  <a:rPr lang="en-US" sz="2400" u="sng" dirty="0">
                    <a:solidFill>
                      <a:schemeClr val="accent6">
                        <a:lumMod val="75000"/>
                      </a:schemeClr>
                    </a:solidFill>
                    <a:latin typeface="Lucida Grande"/>
                    <a:ea typeface="Lucida Grande"/>
                    <a:cs typeface="Lucida Grande"/>
                  </a:rPr>
                  <a:t>Δ</a:t>
                </a:r>
                <a:r>
                  <a:rPr lang="en-US" sz="2400" u="sng" dirty="0">
                    <a:solidFill>
                      <a:schemeClr val="accent6">
                        <a:lumMod val="75000"/>
                      </a:schemeClr>
                    </a:solidFill>
                  </a:rPr>
                  <a:t>Y 	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=  </a:t>
                </a:r>
                <a:r>
                  <a:rPr lang="en-US" sz="2400" u="sng" dirty="0">
                    <a:solidFill>
                      <a:schemeClr val="accent6">
                        <a:lumMod val="75000"/>
                      </a:schemeClr>
                    </a:solidFill>
                  </a:rPr>
                  <a:t>    1</a:t>
                </a:r>
                <a:r>
                  <a:rPr lang="en-US" sz="2400" b="0" u="sng" dirty="0">
                    <a:solidFill>
                      <a:schemeClr val="accent6">
                        <a:lumMod val="75000"/>
                      </a:schemeClr>
                    </a:solidFill>
                  </a:rPr>
                  <a:t>   </a:t>
                </a:r>
                <a:r>
                  <a:rPr lang="en-US" sz="2400" b="0" u="sng" dirty="0">
                    <a:solidFill>
                      <a:schemeClr val="bg1"/>
                    </a:solidFill>
                  </a:rPr>
                  <a:t>.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  </a:t>
                </a:r>
              </a:p>
              <a:p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Lucida Grande"/>
                    <a:ea typeface="Lucida Grande"/>
                    <a:cs typeface="Lucida Grande"/>
                  </a:rPr>
                  <a:t>      	Δ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AAS    1-MPC</a:t>
                </a:r>
                <a:endParaRPr 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95800" y="914400"/>
                <a:ext cx="4419600" cy="4800600"/>
              </a:xfrm>
              <a:blipFill>
                <a:blip r:embed="rId3"/>
                <a:stretch>
                  <a:fillRect l="-2207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78" y="914400"/>
            <a:ext cx="412969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95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Holding everything else constant in an economy, the larger the </a:t>
            </a:r>
            <a:r>
              <a:rPr lang="en-US" sz="3200" i="1" dirty="0"/>
              <a:t>MPS, </a:t>
            </a:r>
            <a:r>
              <a:rPr lang="en-US" sz="3200" dirty="0"/>
              <a:t>the:</a:t>
            </a:r>
          </a:p>
          <a:p>
            <a:pPr marL="744538" indent="-744538">
              <a:buFont typeface="+mj-lt"/>
              <a:buAutoNum type="alphaLcParenR"/>
            </a:pPr>
            <a:r>
              <a:rPr lang="en-US" sz="3200" dirty="0"/>
              <a:t>smaller the value of the multiplier.</a:t>
            </a:r>
          </a:p>
          <a:p>
            <a:pPr marL="744538" indent="-744538">
              <a:buFont typeface="+mj-lt"/>
              <a:buAutoNum type="alphaLcParenR"/>
            </a:pPr>
            <a:r>
              <a:rPr lang="en-US" sz="3200" dirty="0"/>
              <a:t>larger the value of the multiplier.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80274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28956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entury Gothic"/>
                <a:cs typeface="Century Gothic"/>
              </a:rPr>
              <a:t>SAND STATE SLUMP</a:t>
            </a:r>
          </a:p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rPr>
              <a:t>Florida, Arizona, California and Nevada were hit harder by the housing bust because the (especially deep) construction slump spread throughout the economy- and incomes fell everywhere.</a:t>
            </a:r>
          </a:p>
        </p:txBody>
      </p:sp>
      <p:pic>
        <p:nvPicPr>
          <p:cNvPr id="4" name="Picture 3" descr="Screen Shot 2015-04-03 at 3.17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9400" y="3200400"/>
            <a:ext cx="4572000" cy="34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50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CONSUMER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14800"/>
            <a:ext cx="9144000" cy="1981200"/>
          </a:xfrm>
          <a:solidFill>
            <a:schemeClr val="bg1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en-US" sz="2800" dirty="0"/>
              <a:t>Households are constantly confronted with choices—not just about what to consume but also about how much to spend. And </a:t>
            </a:r>
            <a:r>
              <a:rPr lang="en-US" sz="2800" dirty="0">
                <a:solidFill>
                  <a:srgbClr val="990033"/>
                </a:solidFill>
              </a:rPr>
              <a:t>that depends mostly on income.</a:t>
            </a:r>
          </a:p>
        </p:txBody>
      </p:sp>
    </p:spTree>
    <p:extLst>
      <p:ext uri="{BB962C8B-B14F-4D97-AF65-F5344CB8AC3E}">
        <p14:creationId xmlns:p14="http://schemas.microsoft.com/office/powerpoint/2010/main" val="2293473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r>
              <a:rPr lang="en-US" sz="3600" spc="0" dirty="0"/>
              <a:t>CURRENT DISPOSABLE INCOME  AND CONSUMER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191000"/>
            <a:ext cx="8839200" cy="1828800"/>
          </a:xfrm>
        </p:spPr>
        <p:txBody>
          <a:bodyPr>
            <a:noAutofit/>
          </a:bodyPr>
          <a:lstStyle/>
          <a:p>
            <a:r>
              <a:rPr lang="en-US" i="1" dirty="0">
                <a:solidFill>
                  <a:srgbClr val="990033"/>
                </a:solidFill>
              </a:rPr>
              <a:t>Current disposable income</a:t>
            </a:r>
            <a:r>
              <a:rPr lang="en-US" sz="2800" i="1" dirty="0">
                <a:solidFill>
                  <a:srgbClr val="990033"/>
                </a:solidFill>
              </a:rPr>
              <a:t>: </a:t>
            </a:r>
            <a:r>
              <a:rPr lang="en-US" sz="2800" b="0" dirty="0"/>
              <a:t>income after taxes are paid and government transfers are received. </a:t>
            </a:r>
            <a:r>
              <a:rPr lang="en-US" sz="2800" dirty="0"/>
              <a:t>2013: average household disposable income = $45,826 and average household consumer spending = $42,495</a:t>
            </a:r>
          </a:p>
          <a:p>
            <a:endParaRPr lang="en-US" dirty="0"/>
          </a:p>
        </p:txBody>
      </p:sp>
      <p:pic>
        <p:nvPicPr>
          <p:cNvPr id="5" name="Picture 4" descr="Screen Shot 2015-04-03 at 7.24.38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1143000"/>
            <a:ext cx="4724400" cy="308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3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THE CONSUMPTION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839200" cy="52578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i="1" dirty="0">
                <a:solidFill>
                  <a:srgbClr val="990033"/>
                </a:solidFill>
              </a:rPr>
              <a:t>Consumption function: </a:t>
            </a:r>
            <a:r>
              <a:rPr lang="en-US" sz="3000" b="0" dirty="0"/>
              <a:t>an equation showing how an individual household’s consumer spending varies with the household’s disposable income.</a:t>
            </a:r>
          </a:p>
          <a:p>
            <a:pPr algn="ctr">
              <a:spcBef>
                <a:spcPts val="120"/>
              </a:spcBef>
              <a:spcAft>
                <a:spcPts val="1200"/>
              </a:spcAft>
            </a:pPr>
            <a:r>
              <a:rPr lang="en-US" i="1" dirty="0">
                <a:solidFill>
                  <a:srgbClr val="0070C0"/>
                </a:solidFill>
              </a:rPr>
              <a:t>c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0070C0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+ </a:t>
            </a:r>
            <a:r>
              <a:rPr lang="en-US" i="1" dirty="0">
                <a:solidFill>
                  <a:srgbClr val="0070C0"/>
                </a:solidFill>
              </a:rPr>
              <a:t>MPC </a:t>
            </a:r>
            <a:r>
              <a:rPr lang="en-US" dirty="0">
                <a:solidFill>
                  <a:srgbClr val="0070C0"/>
                </a:solidFill>
              </a:rPr>
              <a:t>× </a:t>
            </a:r>
            <a:r>
              <a:rPr lang="en-US" i="1" dirty="0">
                <a:solidFill>
                  <a:srgbClr val="0070C0"/>
                </a:solidFill>
              </a:rPr>
              <a:t>yd</a:t>
            </a:r>
          </a:p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b="0" i="1" dirty="0"/>
              <a:t>Where </a:t>
            </a:r>
          </a:p>
          <a:p>
            <a:pPr lvl="1">
              <a:spcBef>
                <a:spcPts val="120"/>
              </a:spcBef>
              <a:spcAft>
                <a:spcPts val="1200"/>
              </a:spcAft>
            </a:pPr>
            <a:r>
              <a:rPr lang="en-US" sz="3200" i="1" dirty="0">
                <a:solidFill>
                  <a:srgbClr val="0070C0"/>
                </a:solidFill>
              </a:rPr>
              <a:t>c</a:t>
            </a:r>
            <a:r>
              <a:rPr lang="en-US" b="0" i="1" dirty="0"/>
              <a:t> = a household’s consumer spending </a:t>
            </a:r>
          </a:p>
          <a:p>
            <a:pPr lvl="1">
              <a:spcBef>
                <a:spcPts val="120"/>
              </a:spcBef>
              <a:spcAft>
                <a:spcPts val="1200"/>
              </a:spcAft>
            </a:pPr>
            <a:r>
              <a:rPr lang="en-US" sz="3200" i="1" dirty="0">
                <a:solidFill>
                  <a:srgbClr val="0070C0"/>
                </a:solidFill>
              </a:rPr>
              <a:t>yd</a:t>
            </a:r>
            <a:r>
              <a:rPr lang="en-US" b="0" i="1" dirty="0"/>
              <a:t> = household disposable income</a:t>
            </a:r>
          </a:p>
          <a:p>
            <a:pPr lvl="1">
              <a:spcBef>
                <a:spcPts val="120"/>
              </a:spcBef>
              <a:spcAft>
                <a:spcPts val="1200"/>
              </a:spcAft>
            </a:pPr>
            <a:r>
              <a:rPr lang="en-US" sz="3200" i="1" dirty="0">
                <a:solidFill>
                  <a:srgbClr val="0070C0"/>
                </a:solidFill>
              </a:rPr>
              <a:t>MPC</a:t>
            </a:r>
            <a:r>
              <a:rPr lang="en-US" b="0" i="1" dirty="0"/>
              <a:t> = marginal propensity to consume</a:t>
            </a:r>
          </a:p>
          <a:p>
            <a:pPr lvl="1">
              <a:spcBef>
                <a:spcPts val="120"/>
              </a:spcBef>
              <a:spcAft>
                <a:spcPts val="1200"/>
              </a:spcAft>
            </a:pPr>
            <a:r>
              <a:rPr lang="en-US" sz="3200" i="1" dirty="0">
                <a:solidFill>
                  <a:srgbClr val="0070C0"/>
                </a:solidFill>
              </a:rPr>
              <a:t>a</a:t>
            </a:r>
            <a:r>
              <a:rPr lang="en-US" b="0" i="1" dirty="0"/>
              <a:t> = a constant, autonomous consumer spending—what a family would spend even with zero income</a:t>
            </a:r>
          </a:p>
        </p:txBody>
      </p:sp>
    </p:spTree>
    <p:extLst>
      <p:ext uri="{BB962C8B-B14F-4D97-AF65-F5344CB8AC3E}">
        <p14:creationId xmlns:p14="http://schemas.microsoft.com/office/powerpoint/2010/main" val="368299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THE CONSUMPTION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dirty="0"/>
              <a:t>Recall, </a:t>
            </a:r>
          </a:p>
          <a:p>
            <a:pPr algn="ctr"/>
            <a:r>
              <a:rPr lang="en-US" b="0" i="1" dirty="0"/>
              <a:t>MPC </a:t>
            </a:r>
            <a:r>
              <a:rPr lang="en-US" b="0" dirty="0"/>
              <a:t>= </a:t>
            </a:r>
            <a:r>
              <a:rPr lang="el-GR" b="0" dirty="0"/>
              <a:t>Δ</a:t>
            </a:r>
            <a:r>
              <a:rPr lang="en-US" b="0" i="1" dirty="0"/>
              <a:t>c/</a:t>
            </a:r>
            <a:r>
              <a:rPr lang="el-GR" b="0" dirty="0"/>
              <a:t>Δ</a:t>
            </a:r>
            <a:r>
              <a:rPr lang="en-US" b="0" i="1" dirty="0"/>
              <a:t>yd</a:t>
            </a:r>
          </a:p>
          <a:p>
            <a:pPr algn="ctr"/>
            <a:endParaRPr lang="en-US" b="0" i="1" dirty="0"/>
          </a:p>
          <a:p>
            <a:pPr algn="ctr"/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Multiplying both sides of the equation by Δyd, we get:</a:t>
            </a:r>
          </a:p>
          <a:p>
            <a:pPr algn="ctr"/>
            <a:endParaRPr lang="en-US" sz="28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b="0" i="1" dirty="0"/>
              <a:t>MPC </a:t>
            </a:r>
            <a:r>
              <a:rPr lang="en-US" b="0" dirty="0"/>
              <a:t>× </a:t>
            </a:r>
            <a:r>
              <a:rPr lang="el-GR" b="0" dirty="0"/>
              <a:t>Δ</a:t>
            </a:r>
            <a:r>
              <a:rPr lang="en-US" b="0" i="1" dirty="0"/>
              <a:t>yd = </a:t>
            </a:r>
            <a:r>
              <a:rPr lang="el-GR" b="0" dirty="0"/>
              <a:t>Δ</a:t>
            </a:r>
            <a:r>
              <a:rPr lang="en-US" b="0" i="1" dirty="0"/>
              <a:t>c</a:t>
            </a:r>
          </a:p>
          <a:p>
            <a:pPr algn="ctr"/>
            <a:endParaRPr lang="en-US" b="0" i="1" dirty="0"/>
          </a:p>
          <a:p>
            <a:r>
              <a:rPr lang="en-US" sz="3500" dirty="0">
                <a:solidFill>
                  <a:srgbClr val="0070C0"/>
                </a:solidFill>
              </a:rPr>
              <a:t>In other words, when </a:t>
            </a:r>
            <a:r>
              <a:rPr lang="en-US" sz="3500" i="1" dirty="0">
                <a:solidFill>
                  <a:srgbClr val="0070C0"/>
                </a:solidFill>
              </a:rPr>
              <a:t>yd</a:t>
            </a:r>
            <a:r>
              <a:rPr lang="en-US" sz="3500" dirty="0">
                <a:solidFill>
                  <a:srgbClr val="0070C0"/>
                </a:solidFill>
              </a:rPr>
              <a:t> goes up by $1, </a:t>
            </a:r>
            <a:r>
              <a:rPr lang="en-US" sz="3500" i="1" dirty="0">
                <a:solidFill>
                  <a:srgbClr val="0070C0"/>
                </a:solidFill>
              </a:rPr>
              <a:t>c</a:t>
            </a:r>
            <a:r>
              <a:rPr lang="en-US" sz="3500" dirty="0">
                <a:solidFill>
                  <a:srgbClr val="0070C0"/>
                </a:solidFill>
              </a:rPr>
              <a:t> goes up by </a:t>
            </a:r>
            <a:r>
              <a:rPr lang="en-US" sz="3500" i="1" dirty="0">
                <a:solidFill>
                  <a:srgbClr val="0070C0"/>
                </a:solidFill>
              </a:rPr>
              <a:t>MPC</a:t>
            </a:r>
            <a:r>
              <a:rPr lang="en-US" sz="3500" dirty="0">
                <a:solidFill>
                  <a:srgbClr val="0070C0"/>
                </a:solidFill>
              </a:rPr>
              <a:t> × $1.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19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Suppose when Sue’s disposable income is $10,000, she spends $8,000, and when her disposable income is $20,000, she spends $14,000. Sue’s autonomous consumer spending is equal to __________ and her </a:t>
            </a:r>
            <a:r>
              <a:rPr lang="en-US" sz="2800" i="1" dirty="0"/>
              <a:t>MPS </a:t>
            </a:r>
            <a:r>
              <a:rPr lang="en-US" sz="2800" dirty="0"/>
              <a:t>is equal to __________.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$0; 0.2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$2,000; 0.2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$0; 0.4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$2,000; 0.4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01606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6" name="Rectangle 23"/>
          <p:cNvSpPr>
            <a:spLocks noChangeArrowheads="1"/>
          </p:cNvSpPr>
          <p:nvPr/>
        </p:nvSpPr>
        <p:spPr bwMode="auto">
          <a:xfrm>
            <a:off x="6096000" y="2057400"/>
            <a:ext cx="28634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Consumption function, </a:t>
            </a: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cf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1" name="Rectangle 54"/>
          <p:cNvSpPr>
            <a:spLocks noChangeArrowheads="1"/>
          </p:cNvSpPr>
          <p:nvPr/>
        </p:nvSpPr>
        <p:spPr bwMode="auto">
          <a:xfrm>
            <a:off x="2063750" y="6196013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3" name="Line 56"/>
          <p:cNvSpPr>
            <a:spLocks noChangeShapeType="1"/>
          </p:cNvSpPr>
          <p:nvPr/>
        </p:nvSpPr>
        <p:spPr bwMode="auto">
          <a:xfrm flipV="1">
            <a:off x="2290763" y="2590799"/>
            <a:ext cx="5102225" cy="2711450"/>
          </a:xfrm>
          <a:prstGeom prst="line">
            <a:avLst/>
          </a:prstGeom>
          <a:noFill/>
          <a:ln w="571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0" name="Freeform 75"/>
          <p:cNvSpPr>
            <a:spLocks/>
          </p:cNvSpPr>
          <p:nvPr/>
        </p:nvSpPr>
        <p:spPr bwMode="auto">
          <a:xfrm>
            <a:off x="2290763" y="1219200"/>
            <a:ext cx="6424612" cy="4916488"/>
          </a:xfrm>
          <a:custGeom>
            <a:avLst/>
            <a:gdLst>
              <a:gd name="T0" fmla="*/ 6425121 w 2433"/>
              <a:gd name="T1" fmla="*/ 4917682 h 1871"/>
              <a:gd name="T2" fmla="*/ 0 w 2433"/>
              <a:gd name="T3" fmla="*/ 4917682 h 1871"/>
              <a:gd name="T4" fmla="*/ 0 w 2433"/>
              <a:gd name="T5" fmla="*/ 0 h 1871"/>
              <a:gd name="T6" fmla="*/ 0 60000 65536"/>
              <a:gd name="T7" fmla="*/ 0 60000 65536"/>
              <a:gd name="T8" fmla="*/ 0 60000 65536"/>
              <a:gd name="T9" fmla="*/ 0 w 2433"/>
              <a:gd name="T10" fmla="*/ 0 h 1871"/>
              <a:gd name="T11" fmla="*/ 2433 w 2433"/>
              <a:gd name="T12" fmla="*/ 1871 h 18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" h="1871">
                <a:moveTo>
                  <a:pt x="2433" y="1871"/>
                </a:moveTo>
                <a:lnTo>
                  <a:pt x="0" y="1871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6" name="Freeform 99"/>
          <p:cNvSpPr>
            <a:spLocks/>
          </p:cNvSpPr>
          <p:nvPr/>
        </p:nvSpPr>
        <p:spPr bwMode="auto">
          <a:xfrm>
            <a:off x="3048001" y="3584575"/>
            <a:ext cx="1554162" cy="377825"/>
          </a:xfrm>
          <a:custGeom>
            <a:avLst/>
            <a:gdLst>
              <a:gd name="T0" fmla="*/ 2091531 w 335"/>
              <a:gd name="T1" fmla="*/ 279210 h 61"/>
              <a:gd name="T2" fmla="*/ 1991637 w 335"/>
              <a:gd name="T3" fmla="*/ 378485 h 61"/>
              <a:gd name="T4" fmla="*/ 99894 w 335"/>
              <a:gd name="T5" fmla="*/ 378485 h 61"/>
              <a:gd name="T6" fmla="*/ 0 w 335"/>
              <a:gd name="T7" fmla="*/ 279210 h 61"/>
              <a:gd name="T8" fmla="*/ 0 w 335"/>
              <a:gd name="T9" fmla="*/ 99275 h 61"/>
              <a:gd name="T10" fmla="*/ 99894 w 335"/>
              <a:gd name="T11" fmla="*/ 0 h 61"/>
              <a:gd name="T12" fmla="*/ 1991637 w 335"/>
              <a:gd name="T13" fmla="*/ 0 h 61"/>
              <a:gd name="T14" fmla="*/ 2091531 w 335"/>
              <a:gd name="T15" fmla="*/ 99275 h 61"/>
              <a:gd name="T16" fmla="*/ 2091531 w 335"/>
              <a:gd name="T17" fmla="*/ 279210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5"/>
              <a:gd name="T28" fmla="*/ 0 h 61"/>
              <a:gd name="T29" fmla="*/ 335 w 335"/>
              <a:gd name="T30" fmla="*/ 61 h 6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5" h="61">
                <a:moveTo>
                  <a:pt x="335" y="45"/>
                </a:moveTo>
                <a:cubicBezTo>
                  <a:pt x="335" y="54"/>
                  <a:pt x="328" y="61"/>
                  <a:pt x="319" y="61"/>
                </a:cubicBezTo>
                <a:cubicBezTo>
                  <a:pt x="16" y="61"/>
                  <a:pt x="16" y="61"/>
                  <a:pt x="16" y="61"/>
                </a:cubicBezTo>
                <a:cubicBezTo>
                  <a:pt x="7" y="61"/>
                  <a:pt x="0" y="54"/>
                  <a:pt x="0" y="4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8"/>
                  <a:pt x="7" y="0"/>
                  <a:pt x="16" y="0"/>
                </a:cubicBezTo>
                <a:cubicBezTo>
                  <a:pt x="319" y="0"/>
                  <a:pt x="319" y="0"/>
                  <a:pt x="319" y="0"/>
                </a:cubicBezTo>
                <a:cubicBezTo>
                  <a:pt x="328" y="0"/>
                  <a:pt x="335" y="8"/>
                  <a:pt x="335" y="16"/>
                </a:cubicBezTo>
                <a:lnTo>
                  <a:pt x="335" y="4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7" name="Rectangle 45"/>
          <p:cNvSpPr>
            <a:spLocks noChangeArrowheads="1"/>
          </p:cNvSpPr>
          <p:nvPr/>
        </p:nvSpPr>
        <p:spPr bwMode="auto">
          <a:xfrm>
            <a:off x="461963" y="1227346"/>
            <a:ext cx="18288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Household consumer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</a:t>
            </a:r>
          </a:p>
        </p:txBody>
      </p:sp>
      <p:sp>
        <p:nvSpPr>
          <p:cNvPr id="489518" name="Rectangle 46"/>
          <p:cNvSpPr>
            <a:spLocks noChangeArrowheads="1"/>
          </p:cNvSpPr>
          <p:nvPr/>
        </p:nvSpPr>
        <p:spPr bwMode="auto">
          <a:xfrm>
            <a:off x="4118480" y="6248400"/>
            <a:ext cx="411112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Household disposable income,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yd</a:t>
            </a:r>
          </a:p>
        </p:txBody>
      </p:sp>
      <p:sp>
        <p:nvSpPr>
          <p:cNvPr id="489520" name="Rectangle 48"/>
          <p:cNvSpPr>
            <a:spLocks noChangeArrowheads="1"/>
          </p:cNvSpPr>
          <p:nvPr/>
        </p:nvSpPr>
        <p:spPr bwMode="auto">
          <a:xfrm>
            <a:off x="3048001" y="3584575"/>
            <a:ext cx="1524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Slope = MPC</a:t>
            </a:r>
            <a:endParaRPr lang="en-US" sz="1600" i="1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25" name="Rectangle 53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THE CONSUMPTION FUNCTION</a:t>
            </a:r>
          </a:p>
        </p:txBody>
      </p:sp>
      <p:sp>
        <p:nvSpPr>
          <p:cNvPr id="54" name="Freeform 99"/>
          <p:cNvSpPr>
            <a:spLocks/>
          </p:cNvSpPr>
          <p:nvPr/>
        </p:nvSpPr>
        <p:spPr bwMode="auto">
          <a:xfrm>
            <a:off x="3581400" y="2013620"/>
            <a:ext cx="1905000" cy="377825"/>
          </a:xfrm>
          <a:custGeom>
            <a:avLst/>
            <a:gdLst>
              <a:gd name="T0" fmla="*/ 2091531 w 335"/>
              <a:gd name="T1" fmla="*/ 279210 h 61"/>
              <a:gd name="T2" fmla="*/ 1991637 w 335"/>
              <a:gd name="T3" fmla="*/ 378485 h 61"/>
              <a:gd name="T4" fmla="*/ 99894 w 335"/>
              <a:gd name="T5" fmla="*/ 378485 h 61"/>
              <a:gd name="T6" fmla="*/ 0 w 335"/>
              <a:gd name="T7" fmla="*/ 279210 h 61"/>
              <a:gd name="T8" fmla="*/ 0 w 335"/>
              <a:gd name="T9" fmla="*/ 99275 h 61"/>
              <a:gd name="T10" fmla="*/ 99894 w 335"/>
              <a:gd name="T11" fmla="*/ 0 h 61"/>
              <a:gd name="T12" fmla="*/ 1991637 w 335"/>
              <a:gd name="T13" fmla="*/ 0 h 61"/>
              <a:gd name="T14" fmla="*/ 2091531 w 335"/>
              <a:gd name="T15" fmla="*/ 99275 h 61"/>
              <a:gd name="T16" fmla="*/ 2091531 w 335"/>
              <a:gd name="T17" fmla="*/ 279210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5"/>
              <a:gd name="T28" fmla="*/ 0 h 61"/>
              <a:gd name="T29" fmla="*/ 335 w 335"/>
              <a:gd name="T30" fmla="*/ 61 h 6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5" h="61">
                <a:moveTo>
                  <a:pt x="335" y="45"/>
                </a:moveTo>
                <a:cubicBezTo>
                  <a:pt x="335" y="54"/>
                  <a:pt x="328" y="61"/>
                  <a:pt x="319" y="61"/>
                </a:cubicBezTo>
                <a:cubicBezTo>
                  <a:pt x="16" y="61"/>
                  <a:pt x="16" y="61"/>
                  <a:pt x="16" y="61"/>
                </a:cubicBezTo>
                <a:cubicBezTo>
                  <a:pt x="7" y="61"/>
                  <a:pt x="0" y="54"/>
                  <a:pt x="0" y="4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8"/>
                  <a:pt x="7" y="0"/>
                  <a:pt x="16" y="0"/>
                </a:cubicBezTo>
                <a:cubicBezTo>
                  <a:pt x="319" y="0"/>
                  <a:pt x="319" y="0"/>
                  <a:pt x="319" y="0"/>
                </a:cubicBezTo>
                <a:cubicBezTo>
                  <a:pt x="328" y="0"/>
                  <a:pt x="335" y="8"/>
                  <a:pt x="335" y="16"/>
                </a:cubicBezTo>
                <a:lnTo>
                  <a:pt x="335" y="4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" name="Rectangle 48"/>
          <p:cNvSpPr>
            <a:spLocks noChangeArrowheads="1"/>
          </p:cNvSpPr>
          <p:nvPr/>
        </p:nvSpPr>
        <p:spPr bwMode="auto">
          <a:xfrm>
            <a:off x="3603121" y="2015068"/>
            <a:ext cx="206901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 = a + MPC x yd</a:t>
            </a:r>
            <a:endParaRPr lang="en-US" sz="1600" i="1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429001" y="4800600"/>
            <a:ext cx="1981199" cy="0"/>
          </a:xfrm>
          <a:prstGeom prst="straightConnector1">
            <a:avLst/>
          </a:prstGeom>
          <a:ln w="19050">
            <a:solidFill>
              <a:srgbClr val="990033"/>
            </a:solidFill>
            <a:bevel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5410199" y="3733800"/>
            <a:ext cx="1" cy="1066800"/>
          </a:xfrm>
          <a:prstGeom prst="straightConnector1">
            <a:avLst/>
          </a:prstGeom>
          <a:ln w="19050">
            <a:solidFill>
              <a:srgbClr val="990033"/>
            </a:solidFill>
            <a:bevel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0" y="38100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∆c = MPC × ∆yd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1326" y="4800600"/>
            <a:ext cx="70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∆yd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878640" y="2391445"/>
            <a:ext cx="1217360" cy="8089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7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83" grpId="0" animBg="1"/>
      <p:bldP spid="489516" grpId="0" animBg="1"/>
      <p:bldP spid="489520" grpId="0"/>
      <p:bldP spid="54" grpId="0" animBg="1"/>
      <p:bldP spid="55" grpId="0"/>
      <p:bldP spid="7" grpId="0"/>
      <p:bldP spid="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HOW WELL DO THE DATA FIT THE THEORY?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8392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Pretty well.  Here’s 2013. Autonomous spending is around $19,343 and MPC = 0.50.</a:t>
            </a:r>
          </a:p>
        </p:txBody>
      </p:sp>
      <p:pic>
        <p:nvPicPr>
          <p:cNvPr id="5" name="Picture 4" descr="Screen Shot 2015-04-03 at 7.33.3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600" y="2286000"/>
            <a:ext cx="6400800" cy="417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9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AGGREGATE CONSUMPTION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4648200"/>
          </a:xfrm>
        </p:spPr>
        <p:txBody>
          <a:bodyPr/>
          <a:lstStyle/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i="1" dirty="0">
                <a:solidFill>
                  <a:srgbClr val="990033"/>
                </a:solidFill>
              </a:rPr>
              <a:t>Aggregate consumption function: </a:t>
            </a:r>
            <a:r>
              <a:rPr lang="en-US" sz="2800" b="0" dirty="0"/>
              <a:t>the relationship for the economy as a whole between aggregate disposable income and aggregate consumer spending.</a:t>
            </a:r>
          </a:p>
          <a:p>
            <a:pPr algn="ctr">
              <a:spcBef>
                <a:spcPts val="168"/>
              </a:spcBef>
              <a:spcAft>
                <a:spcPts val="1200"/>
              </a:spcAft>
            </a:pPr>
            <a:r>
              <a:rPr lang="en-US" i="1" dirty="0"/>
              <a:t>C </a:t>
            </a:r>
            <a:r>
              <a:rPr lang="en-US" dirty="0"/>
              <a:t>= </a:t>
            </a:r>
            <a:r>
              <a:rPr lang="en-US" i="1" dirty="0"/>
              <a:t>A </a:t>
            </a:r>
            <a:r>
              <a:rPr lang="en-US" dirty="0"/>
              <a:t>+ </a:t>
            </a:r>
            <a:r>
              <a:rPr lang="en-US" i="1" dirty="0"/>
              <a:t>MPC </a:t>
            </a:r>
            <a:r>
              <a:rPr lang="en-US" dirty="0"/>
              <a:t>× </a:t>
            </a:r>
            <a:r>
              <a:rPr lang="en-US" i="1" dirty="0"/>
              <a:t>YD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b="0" i="1" dirty="0"/>
              <a:t>Same form as consumption function, just aggregate.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0160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060950"/>
          </a:xfrm>
        </p:spPr>
        <p:txBody>
          <a:bodyPr>
            <a:noAutofit/>
          </a:bodyPr>
          <a:lstStyle/>
          <a:p>
            <a:r>
              <a:rPr lang="en-US" sz="2800" dirty="0"/>
              <a:t>Assume aggregate consumer spending equals $5,000 when aggregate disposable income is zero, and when disposable income increases from $300 to $400, consumer spending increases by $70. What is the equation for the aggregate consumption function?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i="1" dirty="0"/>
              <a:t>C</a:t>
            </a:r>
            <a:r>
              <a:rPr lang="en-US" sz="2800" dirty="0"/>
              <a:t> = 5,000 + 70</a:t>
            </a:r>
            <a:r>
              <a:rPr lang="en-US" sz="2800" i="1" dirty="0"/>
              <a:t>YD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i="1" dirty="0"/>
              <a:t>C</a:t>
            </a:r>
            <a:r>
              <a:rPr lang="en-US" sz="2800" dirty="0"/>
              <a:t> = 500 + 0.7</a:t>
            </a:r>
            <a:r>
              <a:rPr lang="en-US" sz="2800" i="1" dirty="0"/>
              <a:t>YD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i="1" dirty="0"/>
              <a:t>C</a:t>
            </a:r>
            <a:r>
              <a:rPr lang="en-US" sz="2800" dirty="0"/>
              <a:t> = 5,000 + 0.7</a:t>
            </a:r>
            <a:r>
              <a:rPr lang="en-US" sz="2800" i="1" dirty="0"/>
              <a:t>YD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i="1" dirty="0"/>
              <a:t>C</a:t>
            </a:r>
            <a:r>
              <a:rPr lang="en-US" sz="2800" dirty="0"/>
              <a:t> = 5,000 + 7</a:t>
            </a:r>
            <a:r>
              <a:rPr lang="en-US" sz="2800" i="1" dirty="0"/>
              <a:t>YD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39895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6" name="Rectangle 23"/>
          <p:cNvSpPr>
            <a:spLocks noChangeArrowheads="1"/>
          </p:cNvSpPr>
          <p:nvPr/>
        </p:nvSpPr>
        <p:spPr bwMode="auto">
          <a:xfrm>
            <a:off x="7422743" y="2452688"/>
            <a:ext cx="1461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consumption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function, </a:t>
            </a: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CF</a:t>
            </a:r>
            <a:r>
              <a:rPr lang="en-US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i="1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1" name="Rectangle 54"/>
          <p:cNvSpPr>
            <a:spLocks noChangeArrowheads="1"/>
          </p:cNvSpPr>
          <p:nvPr/>
        </p:nvSpPr>
        <p:spPr bwMode="auto">
          <a:xfrm>
            <a:off x="1906587" y="6362701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3" name="Line 56"/>
          <p:cNvSpPr>
            <a:spLocks noChangeShapeType="1"/>
          </p:cNvSpPr>
          <p:nvPr/>
        </p:nvSpPr>
        <p:spPr bwMode="auto">
          <a:xfrm flipV="1">
            <a:off x="2133600" y="2757487"/>
            <a:ext cx="5102225" cy="2711450"/>
          </a:xfrm>
          <a:prstGeom prst="line">
            <a:avLst/>
          </a:prstGeom>
          <a:noFill/>
          <a:ln w="571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0" name="Freeform 75"/>
          <p:cNvSpPr>
            <a:spLocks/>
          </p:cNvSpPr>
          <p:nvPr/>
        </p:nvSpPr>
        <p:spPr bwMode="auto">
          <a:xfrm>
            <a:off x="2133600" y="1385888"/>
            <a:ext cx="6424612" cy="4916488"/>
          </a:xfrm>
          <a:custGeom>
            <a:avLst/>
            <a:gdLst>
              <a:gd name="T0" fmla="*/ 6425121 w 2433"/>
              <a:gd name="T1" fmla="*/ 4917682 h 1871"/>
              <a:gd name="T2" fmla="*/ 0 w 2433"/>
              <a:gd name="T3" fmla="*/ 4917682 h 1871"/>
              <a:gd name="T4" fmla="*/ 0 w 2433"/>
              <a:gd name="T5" fmla="*/ 0 h 1871"/>
              <a:gd name="T6" fmla="*/ 0 60000 65536"/>
              <a:gd name="T7" fmla="*/ 0 60000 65536"/>
              <a:gd name="T8" fmla="*/ 0 60000 65536"/>
              <a:gd name="T9" fmla="*/ 0 w 2433"/>
              <a:gd name="T10" fmla="*/ 0 h 1871"/>
              <a:gd name="T11" fmla="*/ 2433 w 2433"/>
              <a:gd name="T12" fmla="*/ 1871 h 18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" h="1871">
                <a:moveTo>
                  <a:pt x="2433" y="1871"/>
                </a:moveTo>
                <a:lnTo>
                  <a:pt x="0" y="1871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7" name="Rectangle 45"/>
          <p:cNvSpPr>
            <a:spLocks noChangeArrowheads="1"/>
          </p:cNvSpPr>
          <p:nvPr/>
        </p:nvSpPr>
        <p:spPr bwMode="auto">
          <a:xfrm>
            <a:off x="304800" y="1394034"/>
            <a:ext cx="1828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Consumer</a:t>
            </a:r>
          </a:p>
          <a:p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spending, </a:t>
            </a:r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C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8" name="Rectangle 46"/>
          <p:cNvSpPr>
            <a:spLocks noChangeArrowheads="1"/>
          </p:cNvSpPr>
          <p:nvPr/>
        </p:nvSpPr>
        <p:spPr bwMode="auto">
          <a:xfrm>
            <a:off x="4262437" y="6415088"/>
            <a:ext cx="3810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Disposable income,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YD</a:t>
            </a:r>
          </a:p>
        </p:txBody>
      </p:sp>
      <p:sp>
        <p:nvSpPr>
          <p:cNvPr id="489525" name="Rectangle 53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IN THE AGGREGATE CONSUMPTION FUNCTION</a:t>
            </a:r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auto">
          <a:xfrm flipV="1">
            <a:off x="2128837" y="1843088"/>
            <a:ext cx="5102225" cy="2711450"/>
          </a:xfrm>
          <a:prstGeom prst="line">
            <a:avLst/>
          </a:prstGeom>
          <a:noFill/>
          <a:ln w="571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7386637" y="1385888"/>
            <a:ext cx="1461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consumption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function, </a:t>
            </a: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CF</a:t>
            </a:r>
            <a:r>
              <a:rPr lang="en-US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i="1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62237" y="1233488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Century Gothic"/>
                <a:cs typeface="Century Gothic"/>
              </a:rPr>
              <a:t>An upward shift of the</a:t>
            </a:r>
          </a:p>
          <a:p>
            <a:r>
              <a:rPr lang="en-US" b="1" dirty="0">
                <a:solidFill>
                  <a:prstClr val="black"/>
                </a:solidFill>
                <a:latin typeface="Century Gothic"/>
                <a:cs typeface="Century Gothic"/>
              </a:rPr>
              <a:t>aggregate consumption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22800" y="4482049"/>
            <a:ext cx="3920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If consumers expect higher aggregate income or wealth? Consumption increases </a:t>
            </a:r>
            <a:r>
              <a:rPr lang="en-US" sz="2000" b="1" i="1" u="sng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at all income levels</a:t>
            </a:r>
            <a:r>
              <a:rPr lang="en-US" sz="20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 now.</a:t>
            </a:r>
          </a:p>
        </p:txBody>
      </p:sp>
    </p:spTree>
    <p:extLst>
      <p:ext uri="{BB962C8B-B14F-4D97-AF65-F5344CB8AC3E}">
        <p14:creationId xmlns:p14="http://schemas.microsoft.com/office/powerpoint/2010/main" val="19133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12454 L -3.05556E-6 0.0023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83" grpId="0" animBg="1"/>
      <p:bldP spid="489483" grpId="1" animBg="1"/>
      <p:bldP spid="18" grpId="0" animBg="1"/>
      <p:bldP spid="18" grpId="1" animBg="1"/>
      <p:bldP spid="19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6" name="Rectangle 23"/>
          <p:cNvSpPr>
            <a:spLocks noChangeArrowheads="1"/>
          </p:cNvSpPr>
          <p:nvPr/>
        </p:nvSpPr>
        <p:spPr bwMode="auto">
          <a:xfrm>
            <a:off x="7579906" y="2286000"/>
            <a:ext cx="1461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consumption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function, </a:t>
            </a: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CF</a:t>
            </a:r>
            <a:r>
              <a:rPr lang="en-US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i="1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1" name="Rectangle 54"/>
          <p:cNvSpPr>
            <a:spLocks noChangeArrowheads="1"/>
          </p:cNvSpPr>
          <p:nvPr/>
        </p:nvSpPr>
        <p:spPr bwMode="auto">
          <a:xfrm>
            <a:off x="2063750" y="6196013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483" name="Line 56"/>
          <p:cNvSpPr>
            <a:spLocks noChangeShapeType="1"/>
          </p:cNvSpPr>
          <p:nvPr/>
        </p:nvSpPr>
        <p:spPr bwMode="auto">
          <a:xfrm flipV="1">
            <a:off x="2290763" y="2590799"/>
            <a:ext cx="5102225" cy="2711450"/>
          </a:xfrm>
          <a:prstGeom prst="line">
            <a:avLst/>
          </a:prstGeom>
          <a:noFill/>
          <a:ln w="571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89500" name="Freeform 75"/>
          <p:cNvSpPr>
            <a:spLocks/>
          </p:cNvSpPr>
          <p:nvPr/>
        </p:nvSpPr>
        <p:spPr bwMode="auto">
          <a:xfrm>
            <a:off x="2290763" y="1219200"/>
            <a:ext cx="6424612" cy="4916488"/>
          </a:xfrm>
          <a:custGeom>
            <a:avLst/>
            <a:gdLst>
              <a:gd name="T0" fmla="*/ 6425121 w 2433"/>
              <a:gd name="T1" fmla="*/ 4917682 h 1871"/>
              <a:gd name="T2" fmla="*/ 0 w 2433"/>
              <a:gd name="T3" fmla="*/ 4917682 h 1871"/>
              <a:gd name="T4" fmla="*/ 0 w 2433"/>
              <a:gd name="T5" fmla="*/ 0 h 1871"/>
              <a:gd name="T6" fmla="*/ 0 60000 65536"/>
              <a:gd name="T7" fmla="*/ 0 60000 65536"/>
              <a:gd name="T8" fmla="*/ 0 60000 65536"/>
              <a:gd name="T9" fmla="*/ 0 w 2433"/>
              <a:gd name="T10" fmla="*/ 0 h 1871"/>
              <a:gd name="T11" fmla="*/ 2433 w 2433"/>
              <a:gd name="T12" fmla="*/ 1871 h 18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" h="1871">
                <a:moveTo>
                  <a:pt x="2433" y="1871"/>
                </a:moveTo>
                <a:lnTo>
                  <a:pt x="0" y="1871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7" name="Rectangle 45"/>
          <p:cNvSpPr>
            <a:spLocks noChangeArrowheads="1"/>
          </p:cNvSpPr>
          <p:nvPr/>
        </p:nvSpPr>
        <p:spPr bwMode="auto">
          <a:xfrm>
            <a:off x="461963" y="1227346"/>
            <a:ext cx="1828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Consumer</a:t>
            </a:r>
          </a:p>
          <a:p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spending, </a:t>
            </a:r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C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89518" name="Rectangle 46"/>
          <p:cNvSpPr>
            <a:spLocks noChangeArrowheads="1"/>
          </p:cNvSpPr>
          <p:nvPr/>
        </p:nvSpPr>
        <p:spPr bwMode="auto">
          <a:xfrm>
            <a:off x="4419600" y="6248400"/>
            <a:ext cx="3810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Disposable income, 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YD</a:t>
            </a:r>
          </a:p>
        </p:txBody>
      </p:sp>
      <p:sp>
        <p:nvSpPr>
          <p:cNvPr id="489525" name="Rectangle 53"/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IN THE AGGREGATE CONSUMPTION FUNCTION</a:t>
            </a:r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auto">
          <a:xfrm flipV="1">
            <a:off x="2286000" y="3232150"/>
            <a:ext cx="5102225" cy="2711450"/>
          </a:xfrm>
          <a:prstGeom prst="line">
            <a:avLst/>
          </a:prstGeom>
          <a:noFill/>
          <a:ln w="571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7543800" y="3283803"/>
            <a:ext cx="1461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consumption 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function, </a:t>
            </a: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CF</a:t>
            </a:r>
            <a:r>
              <a:rPr lang="en-US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i="1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4600" y="1066800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entury Gothic"/>
                <a:cs typeface="Century Gothic"/>
              </a:rPr>
              <a:t>A Downward shift of the</a:t>
            </a:r>
          </a:p>
          <a:p>
            <a:r>
              <a:rPr lang="en-US" sz="2400" b="1" dirty="0">
                <a:solidFill>
                  <a:prstClr val="black"/>
                </a:solidFill>
                <a:latin typeface="Century Gothic"/>
                <a:cs typeface="Century Gothic"/>
              </a:rPr>
              <a:t>aggregate consumption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1905000"/>
            <a:ext cx="3920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If consumers expect lower aggregate income or wealth? Consumption decreases </a:t>
            </a:r>
            <a:r>
              <a:rPr lang="en-US" sz="2000" b="1" i="1" u="sng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at all income levels</a:t>
            </a:r>
            <a:r>
              <a:rPr lang="en-US" sz="20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 now.</a:t>
            </a:r>
          </a:p>
        </p:txBody>
      </p:sp>
    </p:spTree>
    <p:extLst>
      <p:ext uri="{BB962C8B-B14F-4D97-AF65-F5344CB8AC3E}">
        <p14:creationId xmlns:p14="http://schemas.microsoft.com/office/powerpoint/2010/main" val="213274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1 -0.0912 L 0.00261 -1.48148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83" grpId="0" animBg="1"/>
      <p:bldP spid="489483" grpId="1" animBg="1"/>
      <p:bldP spid="18" grpId="0" animBg="1"/>
      <p:bldP spid="18" grpId="1" animBg="1"/>
      <p:bldP spid="19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AGGREGATE CONSUMPTION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causes shifts?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changes in expected future disposable income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changes in aggregate wealth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2590800"/>
            <a:ext cx="8991600" cy="3513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" y="59436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  <a:latin typeface="Century Gothic"/>
                <a:cs typeface="Century Gothic"/>
              </a:rPr>
              <a:t>Did the aggregate consumption function shift after WWII?  It looks that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9600" y="6324600"/>
            <a:ext cx="3581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Source: Bureau of Economic Analysis</a:t>
            </a:r>
          </a:p>
        </p:txBody>
      </p:sp>
    </p:spTree>
    <p:extLst>
      <p:ext uri="{BB962C8B-B14F-4D97-AF65-F5344CB8AC3E}">
        <p14:creationId xmlns:p14="http://schemas.microsoft.com/office/powerpoint/2010/main" val="59110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INVESTMENT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839200" cy="4648200"/>
          </a:xfrm>
        </p:spPr>
        <p:txBody>
          <a:bodyPr>
            <a:normAutofit/>
          </a:bodyPr>
          <a:lstStyle/>
          <a:p>
            <a:r>
              <a:rPr lang="en-US" sz="2800" dirty="0"/>
              <a:t>Small yet powerful: </a:t>
            </a:r>
            <a:r>
              <a:rPr lang="en-US" sz="2800" b="0" dirty="0"/>
              <a:t>Although much smaller than consumer spending, </a:t>
            </a:r>
            <a:r>
              <a:rPr lang="en-US" sz="2800" dirty="0">
                <a:solidFill>
                  <a:srgbClr val="0070C0"/>
                </a:solidFill>
              </a:rPr>
              <a:t>investment spending tends  to drive the booms and busts in the business cycle. </a:t>
            </a:r>
            <a:r>
              <a:rPr lang="en-US" sz="2800" i="1" dirty="0">
                <a:solidFill>
                  <a:srgbClr val="595959"/>
                </a:solidFill>
              </a:rPr>
              <a:t>Shown here: 6 recent recessions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Here are six recent recessions:</a:t>
            </a:r>
          </a:p>
          <a:p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73200" y="2696853"/>
            <a:ext cx="5994400" cy="385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236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WHAT DRIVES (PLANNED) INVESTMENT SPENDING?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3886200" cy="4648200"/>
          </a:xfrm>
        </p:spPr>
        <p:txBody>
          <a:bodyPr>
            <a:normAutofit/>
          </a:bodyPr>
          <a:lstStyle/>
          <a:p>
            <a:r>
              <a:rPr lang="en-US" sz="2800" i="1" dirty="0">
                <a:solidFill>
                  <a:srgbClr val="990033"/>
                </a:solidFill>
              </a:rPr>
              <a:t>Planned investment spending:</a:t>
            </a:r>
            <a:r>
              <a:rPr lang="en-US" sz="2800" dirty="0"/>
              <a:t> </a:t>
            </a:r>
            <a:r>
              <a:rPr lang="en-US" sz="2800" b="0" dirty="0"/>
              <a:t>the investment spending that businesses intend to undertake during a given period.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9400" y="1335171"/>
            <a:ext cx="5715000" cy="5522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 rot="21426678">
            <a:off x="3739178" y="2065541"/>
            <a:ext cx="343093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b="1" i="1" dirty="0">
                <a:solidFill>
                  <a:srgbClr val="0070C0"/>
                </a:solidFill>
                <a:latin typeface="Century Gothic"/>
                <a:cs typeface="Century Gothic"/>
              </a:rPr>
              <a:t>The interest rate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b="1" i="1" dirty="0">
                <a:solidFill>
                  <a:srgbClr val="0070C0"/>
                </a:solidFill>
                <a:latin typeface="Century Gothic"/>
                <a:cs typeface="Century Gothic"/>
              </a:rPr>
              <a:t>Expected future real GDP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b="1" i="1" dirty="0">
                <a:solidFill>
                  <a:srgbClr val="0070C0"/>
                </a:solidFill>
                <a:latin typeface="Century Gothic"/>
                <a:cs typeface="Century Gothic"/>
              </a:rPr>
              <a:t>Current level of production capacity</a:t>
            </a:r>
          </a:p>
          <a:p>
            <a:pPr marL="457200" indent="-457200">
              <a:spcAft>
                <a:spcPts val="1200"/>
              </a:spcAft>
              <a:buFont typeface="Arial" pitchFamily="34" charset="0"/>
              <a:buChar char="•"/>
            </a:pPr>
            <a:endParaRPr lang="en-US" sz="3600" b="1" i="1" dirty="0">
              <a:solidFill>
                <a:srgbClr val="990033"/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1541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>
            <a:noAutofit/>
          </a:bodyPr>
          <a:lstStyle/>
          <a:p>
            <a:r>
              <a:rPr lang="en-US" sz="4000" spc="0" dirty="0"/>
              <a:t>THE INTEREST RATE AND INVESTMENT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2133600"/>
          </a:xfrm>
        </p:spPr>
        <p:txBody>
          <a:bodyPr>
            <a:normAutofit/>
          </a:bodyPr>
          <a:lstStyle/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sz="2800" dirty="0"/>
              <a:t>Interest rates are often the cost of investment projects. 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sz="2400" dirty="0">
                <a:solidFill>
                  <a:srgbClr val="0070C0"/>
                </a:solidFill>
              </a:rPr>
              <a:t>When interest rates are low, more loans are undertaken and investment rises (other things equal).</a:t>
            </a:r>
          </a:p>
        </p:txBody>
      </p:sp>
      <p:pic>
        <p:nvPicPr>
          <p:cNvPr id="5" name="Picture 4" descr="Screen Shot 2015-04-03 at 10.04.0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564" y="3112462"/>
            <a:ext cx="8147636" cy="336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64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52600"/>
          </a:xfrm>
        </p:spPr>
        <p:txBody>
          <a:bodyPr>
            <a:noAutofit/>
          </a:bodyPr>
          <a:lstStyle/>
          <a:p>
            <a:r>
              <a:rPr lang="en-US" sz="3600" spc="0" dirty="0"/>
              <a:t>EXPECTED FUTURE REAL GDP, PRODUCTION CAPACITY, AND INVESTMENT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81200"/>
            <a:ext cx="8839200" cy="4648200"/>
          </a:xfrm>
        </p:spPr>
        <p:txBody>
          <a:bodyPr/>
          <a:lstStyle/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dirty="0"/>
              <a:t>If your firm has extra capacity and doesn’t expect sales to increase, its investment will be lower.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r>
              <a:rPr lang="en-US" dirty="0"/>
              <a:t>According to the </a:t>
            </a:r>
            <a:r>
              <a:rPr lang="en-US" i="1" dirty="0">
                <a:solidFill>
                  <a:srgbClr val="990033"/>
                </a:solidFill>
              </a:rPr>
              <a:t>accelerator principle: 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sz="2400" i="1" dirty="0">
                <a:solidFill>
                  <a:srgbClr val="595959"/>
                </a:solidFill>
              </a:rPr>
              <a:t>A higher rate of growth in real GDP leads to higher planned investment spending.</a:t>
            </a:r>
          </a:p>
          <a:p>
            <a:pPr lvl="1">
              <a:spcBef>
                <a:spcPts val="168"/>
              </a:spcBef>
              <a:spcAft>
                <a:spcPts val="1200"/>
              </a:spcAft>
            </a:pPr>
            <a:r>
              <a:rPr lang="en-US" sz="2400" i="1" dirty="0">
                <a:solidFill>
                  <a:srgbClr val="595959"/>
                </a:solidFill>
              </a:rPr>
              <a:t>A lower growth rate of real GDP leads to lower planned investment spending.</a:t>
            </a:r>
          </a:p>
          <a:p>
            <a:pPr>
              <a:spcBef>
                <a:spcPts val="168"/>
              </a:spcBef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28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Autofit/>
          </a:bodyPr>
          <a:lstStyle/>
          <a:p>
            <a:r>
              <a:rPr lang="en-US" sz="3600" spc="0" dirty="0"/>
              <a:t>INVENTORIES AND UNPLANNED INVESTMENT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i="1" dirty="0">
                <a:solidFill>
                  <a:srgbClr val="990033"/>
                </a:solidFill>
              </a:rPr>
              <a:t>Inventories:</a:t>
            </a:r>
            <a:r>
              <a:rPr lang="en-US" sz="2800" dirty="0"/>
              <a:t> </a:t>
            </a:r>
            <a:r>
              <a:rPr lang="en-US" sz="2800" b="0" dirty="0"/>
              <a:t>stocks of goods held to satisfy future sales.</a:t>
            </a:r>
          </a:p>
          <a:p>
            <a:r>
              <a:rPr lang="en-US" sz="2800" i="1" dirty="0">
                <a:solidFill>
                  <a:srgbClr val="990033"/>
                </a:solidFill>
              </a:rPr>
              <a:t>Inventory investment: </a:t>
            </a:r>
            <a:r>
              <a:rPr lang="en-US" sz="2800" b="0" dirty="0"/>
              <a:t>the value of the change in total inventories held in the economy during a given period.</a:t>
            </a:r>
          </a:p>
          <a:p>
            <a:r>
              <a:rPr lang="en-US" sz="2800" i="1" dirty="0">
                <a:solidFill>
                  <a:srgbClr val="990033"/>
                </a:solidFill>
              </a:rPr>
              <a:t>Unplanned inventory investment: </a:t>
            </a:r>
            <a:r>
              <a:rPr lang="en-US" sz="2800" b="0" dirty="0"/>
              <a:t>unplanned changes in inventories occurring when actual sales are more or less than businesses expected.</a:t>
            </a:r>
          </a:p>
          <a:p>
            <a:r>
              <a:rPr lang="en-US" sz="2800" i="1" dirty="0">
                <a:solidFill>
                  <a:srgbClr val="990033"/>
                </a:solidFill>
              </a:rPr>
              <a:t>Actual investment spending: </a:t>
            </a:r>
            <a:r>
              <a:rPr lang="en-US" sz="2800" b="0" dirty="0"/>
              <a:t>the sum of planned investment spending and unplanned inventory investment.</a:t>
            </a:r>
          </a:p>
          <a:p>
            <a:r>
              <a:rPr lang="en-US" sz="2800" i="1" dirty="0">
                <a:solidFill>
                  <a:srgbClr val="0070C0"/>
                </a:solidFill>
              </a:rPr>
              <a:t>So in any period:    </a:t>
            </a:r>
            <a:r>
              <a:rPr lang="en-US" sz="2800" i="1" dirty="0"/>
              <a:t>I </a:t>
            </a:r>
            <a:r>
              <a:rPr lang="en-US" sz="2800" dirty="0"/>
              <a:t>= </a:t>
            </a:r>
            <a:r>
              <a:rPr lang="en-US" sz="2800" i="1" dirty="0"/>
              <a:t>I</a:t>
            </a:r>
            <a:r>
              <a:rPr lang="en-US" sz="2800" i="1" baseline="-25000" dirty="0"/>
              <a:t>Unplanned</a:t>
            </a:r>
            <a:r>
              <a:rPr lang="en-US" sz="2800" i="1" dirty="0"/>
              <a:t> </a:t>
            </a:r>
            <a:r>
              <a:rPr lang="en-US" sz="2800" dirty="0"/>
              <a:t>+ </a:t>
            </a:r>
            <a:r>
              <a:rPr lang="en-US" sz="2800" i="1" dirty="0"/>
              <a:t>I</a:t>
            </a:r>
            <a:r>
              <a:rPr lang="en-US" sz="2800" i="1" baseline="-25000" dirty="0"/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223034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5ad1a792e7828ca492521aea17b12f2931c3dea"/>
</p:tagLst>
</file>

<file path=ppt/theme/theme1.xml><?xml version="1.0" encoding="utf-8"?>
<a:theme xmlns:a="http://schemas.openxmlformats.org/drawingml/2006/main" name="4e Krugman_Dynamic PPTs_Ch05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Newest 2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Custom 1">
      <a:majorFont>
        <a:latin typeface="Garamon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1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2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1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Krugman 3e Pitfalls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Krugman 3e practic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newer Krugman 3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Krugman 3e business cas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newer Krugman 3e theme</Template>
  <TotalTime>9613</TotalTime>
  <Words>1463</Words>
  <Application>Microsoft Macintosh PowerPoint</Application>
  <PresentationFormat>On-screen Show (4:3)</PresentationFormat>
  <Paragraphs>175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27</vt:i4>
      </vt:variant>
    </vt:vector>
  </HeadingPairs>
  <TitlesOfParts>
    <vt:vector size="51" baseType="lpstr">
      <vt:lpstr>Arial</vt:lpstr>
      <vt:lpstr>Calibri</vt:lpstr>
      <vt:lpstr>Cambria Math</vt:lpstr>
      <vt:lpstr>Candara</vt:lpstr>
      <vt:lpstr>Century Gothic</vt:lpstr>
      <vt:lpstr>Gill Sans</vt:lpstr>
      <vt:lpstr>Lucida Grande</vt:lpstr>
      <vt:lpstr>Tw Cen MT</vt:lpstr>
      <vt:lpstr>Verdana</vt:lpstr>
      <vt:lpstr>Wingdings</vt:lpstr>
      <vt:lpstr>4e Krugman_Dynamic PPTs_Ch05</vt:lpstr>
      <vt:lpstr>6_Custom Design</vt:lpstr>
      <vt:lpstr>1_Newest 2e theme</vt:lpstr>
      <vt:lpstr>10_Stone ppt Theme1</vt:lpstr>
      <vt:lpstr>11_Stone ppt Theme1</vt:lpstr>
      <vt:lpstr>12_Stone ppt Theme1</vt:lpstr>
      <vt:lpstr>7_Custom Design</vt:lpstr>
      <vt:lpstr>11_Krugman 3e main content</vt:lpstr>
      <vt:lpstr>3_Krugman 3e main content</vt:lpstr>
      <vt:lpstr>Krugman 3e Pitfalls</vt:lpstr>
      <vt:lpstr>Krugman 3e main content</vt:lpstr>
      <vt:lpstr>Krugman 3e practice</vt:lpstr>
      <vt:lpstr>newer Krugman 3e theme</vt:lpstr>
      <vt:lpstr>Krugman 3e business case</vt:lpstr>
      <vt:lpstr>Economics 2220 Principles Of Macroeconomics</vt:lpstr>
      <vt:lpstr>PowerPoint Presentation</vt:lpstr>
      <vt:lpstr>THE MULTIPLIER: AN INFORMAL INTRODUCTION</vt:lpstr>
      <vt:lpstr>THE MPC</vt:lpstr>
      <vt:lpstr>THE MULTIPLIER EFFECT</vt:lpstr>
      <vt:lpstr>PowerPoint Presentation</vt:lpstr>
      <vt:lpstr>PowerPoint Presentation</vt:lpstr>
      <vt:lpstr>THE MULTIPLIER</vt:lpstr>
      <vt:lpstr>PowerPoint Presentation</vt:lpstr>
      <vt:lpstr>PowerPoint Presentation</vt:lpstr>
      <vt:lpstr>CONSUMER SPENDING</vt:lpstr>
      <vt:lpstr>CURRENT DISPOSABLE INCOME  AND CONSUMER SPENDING</vt:lpstr>
      <vt:lpstr>THE CONSUMPTION FUNCTION</vt:lpstr>
      <vt:lpstr>THE CONSUMPTION FUNCTION</vt:lpstr>
      <vt:lpstr>PowerPoint Presentation</vt:lpstr>
      <vt:lpstr>THE CONSUMPTION FUNCTION</vt:lpstr>
      <vt:lpstr>HOW WELL DO THE DATA FIT THE THEORY?</vt:lpstr>
      <vt:lpstr>AGGREGATE CONSUMPTION FUNCTION</vt:lpstr>
      <vt:lpstr>PowerPoint Presentation</vt:lpstr>
      <vt:lpstr>SHIFTS IN THE AGGREGATE CONSUMPTION FUNCTION</vt:lpstr>
      <vt:lpstr>SHIFTS IN THE AGGREGATE CONSUMPTION FUNCTION</vt:lpstr>
      <vt:lpstr>SHIFTS OF THE AGGREGATE CONSUMPTION FUNCTION</vt:lpstr>
      <vt:lpstr>INVESTMENT SPENDING</vt:lpstr>
      <vt:lpstr>WHAT DRIVES (PLANNED) INVESTMENT SPENDING?</vt:lpstr>
      <vt:lpstr>THE INTEREST RATE AND INVESTMENT SPENDING</vt:lpstr>
      <vt:lpstr>EXPECTED FUTURE REAL GDP, PRODUCTION CAPACITY, AND INVESTMENT SPENDING</vt:lpstr>
      <vt:lpstr>INVENTORIES AND UNPLANNED INVESTMENT SPENDING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Solina Lindahl</dc:creator>
  <cp:keywords/>
  <dc:description/>
  <cp:lastModifiedBy>Zhigang Feng</cp:lastModifiedBy>
  <cp:revision>432</cp:revision>
  <dcterms:created xsi:type="dcterms:W3CDTF">2012-07-21T02:43:21Z</dcterms:created>
  <dcterms:modified xsi:type="dcterms:W3CDTF">2025-03-25T13:17:09Z</dcterms:modified>
  <cp:category/>
</cp:coreProperties>
</file>