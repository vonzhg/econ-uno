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  <p:sldMasterId id="2147483700" r:id="rId2"/>
    <p:sldMasterId id="2147483704" r:id="rId3"/>
    <p:sldMasterId id="2147483708" r:id="rId4"/>
    <p:sldMasterId id="2147483711" r:id="rId5"/>
    <p:sldMasterId id="2147483714" r:id="rId6"/>
    <p:sldMasterId id="2147483717" r:id="rId7"/>
    <p:sldMasterId id="2147483719" r:id="rId8"/>
    <p:sldMasterId id="2147483738" r:id="rId9"/>
  </p:sldMasterIdLst>
  <p:notesMasterIdLst>
    <p:notesMasterId r:id="rId46"/>
  </p:notesMasterIdLst>
  <p:handoutMasterIdLst>
    <p:handoutMasterId r:id="rId47"/>
  </p:handoutMasterIdLst>
  <p:sldIdLst>
    <p:sldId id="300" r:id="rId10"/>
    <p:sldId id="259" r:id="rId11"/>
    <p:sldId id="261" r:id="rId12"/>
    <p:sldId id="262" r:id="rId13"/>
    <p:sldId id="263" r:id="rId14"/>
    <p:sldId id="302" r:id="rId15"/>
    <p:sldId id="293" r:id="rId16"/>
    <p:sldId id="265" r:id="rId17"/>
    <p:sldId id="266" r:id="rId18"/>
    <p:sldId id="267" r:id="rId19"/>
    <p:sldId id="270" r:id="rId20"/>
    <p:sldId id="268" r:id="rId21"/>
    <p:sldId id="269" r:id="rId22"/>
    <p:sldId id="271" r:id="rId23"/>
    <p:sldId id="272" r:id="rId24"/>
    <p:sldId id="274" r:id="rId25"/>
    <p:sldId id="275" r:id="rId26"/>
    <p:sldId id="295" r:id="rId27"/>
    <p:sldId id="277" r:id="rId28"/>
    <p:sldId id="279" r:id="rId29"/>
    <p:sldId id="280" r:id="rId30"/>
    <p:sldId id="282" r:id="rId31"/>
    <p:sldId id="283" r:id="rId32"/>
    <p:sldId id="284" r:id="rId33"/>
    <p:sldId id="296" r:id="rId34"/>
    <p:sldId id="285" r:id="rId35"/>
    <p:sldId id="286" r:id="rId36"/>
    <p:sldId id="287" r:id="rId37"/>
    <p:sldId id="301" r:id="rId38"/>
    <p:sldId id="288" r:id="rId39"/>
    <p:sldId id="289" r:id="rId40"/>
    <p:sldId id="290" r:id="rId41"/>
    <p:sldId id="298" r:id="rId42"/>
    <p:sldId id="299" r:id="rId43"/>
    <p:sldId id="303" r:id="rId44"/>
    <p:sldId id="278" r:id="rId45"/>
  </p:sldIdLst>
  <p:sldSz cx="9144000" cy="6858000" type="screen4x3"/>
  <p:notesSz cx="6858000" cy="9144000"/>
  <p:custDataLst>
    <p:tags r:id="rId4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e" initials="K" lastIdx="11" clrIdx="0"/>
  <p:cmAuthor id="1" name="Bonilla, Edgar" initials="EB" lastIdx="4" clrIdx="1"/>
  <p:cmAuthor id="2" name="Solina Lindahl" initials="SL" lastIdx="9" clrIdx="2"/>
  <p:cmAuthor id="3" name="hbadmin" initials="h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30"/>
    <p:restoredTop sz="90925" autoAdjust="0"/>
  </p:normalViewPr>
  <p:slideViewPr>
    <p:cSldViewPr>
      <p:cViewPr varScale="1">
        <p:scale>
          <a:sx n="90" d="100"/>
          <a:sy n="90" d="100"/>
        </p:scale>
        <p:origin x="2056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-3800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handoutMaster" Target="handoutMasters/handoutMaster1.xml"/><Relationship Id="rId50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tags" Target="tags/tag1.xml"/><Relationship Id="rId8" Type="http://schemas.openxmlformats.org/officeDocument/2006/relationships/slideMaster" Target="slideMasters/slideMaster8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7D7A8-C652-304E-B365-B25232E336F2}" type="datetimeFigureOut">
              <a:rPr lang="en-US" smtClean="0"/>
              <a:t>2/23/23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D5F51-2719-624B-AA3D-8BBD63EA2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971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7F735-3B07-40E0-90B2-09F3232ABD28}" type="datetimeFigureOut">
              <a:rPr lang="en-US" smtClean="0"/>
              <a:t>2/23/23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470D8-1F41-4A2B-8AFF-DD19730E7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551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8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28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11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Image sources: Library of Congress and Wikimedia commons</a:t>
            </a: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463F280-73E2-42BB-AF4C-29C886F36C6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source: Library of Congress and Wikimedia commons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88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Images of WPA programs</a:t>
            </a:r>
            <a:r>
              <a:rPr lang="en-US" baseline="0" dirty="0"/>
              <a:t> used during the Great Depression </a:t>
            </a:r>
            <a:r>
              <a:rPr lang="en-US" dirty="0"/>
              <a:t>Image sources: Library of Congress and Wikimedia commons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57B56-F843-45CA-9B8E-92F802DE3B4D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74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85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54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vimeo.com</a:t>
            </a:r>
            <a:r>
              <a:rPr lang="en-US" dirty="0"/>
              <a:t>/9222135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E3FA2-5415-4C0F-94F4-CD846E1EA39B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463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hyperlink" Target="http://krugman.blogs.nytimes.com/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hyperlink" Target="http://www.gregmankiw.blogspot.com/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://www.freakonomics.com/blog/" TargetMode="Externa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hyperlink" Target="http://research.stlouisfed.org/fred2/" TargetMode="External"/><Relationship Id="rId4" Type="http://schemas.openxmlformats.org/officeDocument/2006/relationships/hyperlink" Target="http://marginalrevolution.com/" TargetMode="External"/><Relationship Id="rId9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entury Gothic"/>
                <a:cs typeface="Century Gothic"/>
              </a:defRPr>
            </a:lvl1pPr>
            <a:lvl2pPr>
              <a:defRPr sz="2800" baseline="0">
                <a:latin typeface="Century Gothic"/>
                <a:cs typeface="Century Gothic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03844364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220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0886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5" name="Picture 4" descr="Screen Shot 2014-12-20 at 5.27.50 PM.png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925592"/>
            <a:ext cx="3985858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3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/>
              <a:t>ECONOMICS</a:t>
            </a:r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85422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9614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3050879557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4763" y="5410200"/>
            <a:ext cx="9136063" cy="1447800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txBody>
          <a:bodyPr anchor="ctr">
            <a:normAutofit/>
          </a:bodyPr>
          <a:lstStyle/>
          <a:p>
            <a:pPr algn="r">
              <a:defRPr/>
            </a:pPr>
            <a:endParaRPr lang="en-US" sz="6000" spc="50" dirty="0">
              <a:latin typeface="Candar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2680" y="5533935"/>
            <a:ext cx="243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200" b="1" spc="-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/>
                <a:ea typeface="Tahoma" pitchFamily="34" charset="0"/>
                <a:cs typeface="Tw Cen MT"/>
              </a:rPr>
              <a:t>6(21)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418306" y="5981184"/>
            <a:ext cx="1358900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kern="0" cap="all" spc="300" dirty="0">
                <a:solidFill>
                  <a:schemeClr val="bg1">
                    <a:lumMod val="75000"/>
                  </a:schemeClr>
                </a:solidFill>
                <a:latin typeface="Tw Cen MT"/>
                <a:ea typeface="+mj-ea"/>
                <a:cs typeface="Tw Cen MT"/>
              </a:rPr>
              <a:t>Chapter</a:t>
            </a:r>
            <a:endParaRPr lang="en-US" sz="2000" b="1" kern="0" cap="all" spc="300" dirty="0">
              <a:solidFill>
                <a:schemeClr val="bg1">
                  <a:lumMod val="75000"/>
                </a:schemeClr>
              </a:solidFill>
              <a:latin typeface="Tw Cen MT"/>
              <a:ea typeface="+mj-ea"/>
              <a:cs typeface="Tw Cen M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-15356"/>
            <a:ext cx="7696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1400" b="1" i="0" kern="0" cap="small" spc="4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itchFamily="34" charset="0"/>
              </a:rPr>
              <a:t>Slides by Solina Lindahl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295400" y="5321905"/>
            <a:ext cx="7772400" cy="14478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5400" b="1" i="0" u="none" strike="noStrike" kern="1200" cap="none" spc="100" baseline="0" smtClean="0">
                <a:solidFill>
                  <a:srgbClr val="FF3300"/>
                </a:solidFill>
                <a:effectLst/>
                <a:latin typeface="Candara" pitchFamily="34" charset="0"/>
                <a:ea typeface="+mj-ea"/>
                <a:cs typeface="+mj-cs"/>
              </a:defRPr>
            </a:lvl1pPr>
          </a:lstStyle>
          <a:p>
            <a:r>
              <a:rPr lang="en-US" sz="4800" b="1" kern="0" spc="500" dirty="0">
                <a:latin typeface="Tw Cen MT"/>
                <a:cs typeface="Tw Cen MT"/>
              </a:rPr>
              <a:t>Macroeconomics: The Big Picture</a:t>
            </a:r>
          </a:p>
        </p:txBody>
      </p:sp>
    </p:spTree>
    <p:extLst>
      <p:ext uri="{BB962C8B-B14F-4D97-AF65-F5344CB8AC3E}">
        <p14:creationId xmlns:p14="http://schemas.microsoft.com/office/powerpoint/2010/main" val="422087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0" y="6019800"/>
            <a:ext cx="9144000" cy="0"/>
          </a:xfrm>
          <a:prstGeom prst="line">
            <a:avLst/>
          </a:prstGeom>
          <a:ln w="57150" cmpd="sng">
            <a:solidFill>
              <a:srgbClr val="F8EF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57150" cmpd="sng">
            <a:solidFill>
              <a:srgbClr val="F8EF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0" y="1490246"/>
            <a:ext cx="9144000" cy="338554"/>
          </a:xfrm>
          <a:prstGeom prst="rect">
            <a:avLst/>
          </a:prstGeom>
          <a:solidFill>
            <a:srgbClr val="CCFF33">
              <a:alpha val="4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 b="0" i="0" spc="300" dirty="0">
                <a:solidFill>
                  <a:srgbClr val="F79646"/>
                </a:solidFill>
                <a:latin typeface="+mn-lt"/>
              </a:rPr>
              <a:t>SOME GOOD BLOGS AND OTHER SITES TO GET THE JUICES FLOWING: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7391400" cy="784225"/>
          </a:xfrm>
          <a:prstGeom prst="rect">
            <a:avLst/>
          </a:prstGeom>
          <a:noFill/>
          <a:effectLst/>
        </p:spPr>
        <p:txBody>
          <a:bodyPr/>
          <a:lstStyle>
            <a:lvl1pPr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r>
              <a:rPr lang="en-US" sz="4800" b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FOOD FOR</a:t>
            </a:r>
            <a:r>
              <a:rPr lang="en-US" sz="4800" b="0" baseline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 </a:t>
            </a:r>
            <a:r>
              <a:rPr lang="en-US" sz="4800" b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THOUGHT….</a:t>
            </a:r>
          </a:p>
        </p:txBody>
      </p:sp>
      <p:pic>
        <p:nvPicPr>
          <p:cNvPr id="7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29200" y="4572000"/>
            <a:ext cx="2724150" cy="51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45213" y="3048000"/>
            <a:ext cx="2998787" cy="53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0400" y="2971800"/>
            <a:ext cx="2686050" cy="657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15" name="Picture 14" descr="Screen Shot 2014-12-20 at 8.46.54 PM.png">
            <a:hlinkClick r:id="rId8"/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74" y="2971800"/>
            <a:ext cx="2692400" cy="592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 descr="Screen Shot 2014-12-20 at 8.49.18 PM.png">
            <a:hlinkClick r:id="rId10"/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00" y="4343400"/>
            <a:ext cx="2336800" cy="8416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60000">
            <a:off x="8016447" y="97714"/>
            <a:ext cx="787093" cy="1328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517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2813" indent="-5715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120015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 marL="137160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 marL="17145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 marL="21717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4496" y="6028188"/>
            <a:ext cx="1143000" cy="856979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0" y="1219200"/>
            <a:ext cx="9144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3200400" cy="1676400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95250" y="95250"/>
            <a:ext cx="304799" cy="2667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33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CA9293-4BC0-4D3B-A856-6B5A9EDBB9E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These notes are incomplete without having attended lectures</a:t>
            </a:r>
          </a:p>
        </p:txBody>
      </p:sp>
    </p:spTree>
    <p:extLst>
      <p:ext uri="{BB962C8B-B14F-4D97-AF65-F5344CB8AC3E}">
        <p14:creationId xmlns:p14="http://schemas.microsoft.com/office/powerpoint/2010/main" val="2375121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entury Gothic"/>
                <a:cs typeface="Century Gothic"/>
              </a:defRPr>
            </a:lvl1pPr>
            <a:lvl2pPr>
              <a:defRPr sz="3200" baseline="0">
                <a:latin typeface="Century Gothic"/>
                <a:cs typeface="Century Gothic"/>
              </a:defRPr>
            </a:lvl2pPr>
            <a:lvl3pPr>
              <a:defRPr sz="2800" baseline="0">
                <a:latin typeface="Century Gothic"/>
                <a:cs typeface="Century Gothic"/>
              </a:defRPr>
            </a:lvl3pPr>
            <a:lvl4pPr>
              <a:defRPr sz="2400" baseline="0">
                <a:latin typeface="Century Gothic"/>
                <a:cs typeface="Century Gothic"/>
              </a:defRPr>
            </a:lvl4pPr>
            <a:lvl5pPr>
              <a:defRPr sz="2400" baseline="0"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06293393"/>
      </p:ext>
    </p:extLst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9852625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40984043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912159916"/>
      </p:ext>
    </p:extLst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entury Gothic"/>
                <a:cs typeface="Century Gothic"/>
              </a:defRPr>
            </a:lvl1pPr>
            <a:lvl2pPr>
              <a:defRPr sz="3200" baseline="0">
                <a:latin typeface="Century Gothic"/>
                <a:cs typeface="Century Gothic"/>
              </a:defRPr>
            </a:lvl2pPr>
            <a:lvl3pPr>
              <a:defRPr sz="2800" baseline="0">
                <a:latin typeface="Century Gothic"/>
                <a:cs typeface="Century Gothic"/>
              </a:defRPr>
            </a:lvl3pPr>
            <a:lvl4pPr>
              <a:defRPr sz="2400" baseline="0">
                <a:latin typeface="Century Gothic"/>
                <a:cs typeface="Century Gothic"/>
              </a:defRPr>
            </a:lvl4pPr>
            <a:lvl5pPr>
              <a:defRPr sz="2400" baseline="0"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359308934"/>
      </p:ext>
    </p:extLst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8443429"/>
      </p:ext>
    </p:extLst>
  </p:cSld>
  <p:clrMapOvr>
    <a:masterClrMapping/>
  </p:clrMapOvr>
  <p:transition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767197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15240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4BACC6">
                    <a:lumMod val="75000"/>
                  </a:srgbClr>
                </a:solidFill>
              </a:rPr>
              <a:t>ECONOMICS</a:t>
            </a: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3214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58062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15240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4BACC6">
                    <a:lumMod val="75000"/>
                  </a:srgbClr>
                </a:solidFill>
              </a:rPr>
              <a:t>ECONOMICS</a:t>
            </a: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8773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29047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slide" Target="../slides/slide2.xml"/><Relationship Id="rId4" Type="http://schemas.openxmlformats.org/officeDocument/2006/relationships/slide" Target="../slides/slide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.xml"/><Relationship Id="rId3" Type="http://schemas.openxmlformats.org/officeDocument/2006/relationships/slideLayout" Target="../slideLayouts/slideLayout5.xml"/><Relationship Id="rId7" Type="http://schemas.openxmlformats.org/officeDocument/2006/relationships/slide" Target="../slides/slid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slide" Target="../slides/slide2.xml"/><Relationship Id="rId4" Type="http://schemas.openxmlformats.org/officeDocument/2006/relationships/slide" Target="../slides/slide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slide" Target="../slides/slide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slide" Target="../slides/slide2.xml"/><Relationship Id="rId4" Type="http://schemas.openxmlformats.org/officeDocument/2006/relationships/slide" Target="../slides/slide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Relationship Id="rId5" Type="http://schemas.openxmlformats.org/officeDocument/2006/relationships/slide" Target="../slides/slide2.xml"/><Relationship Id="rId4" Type="http://schemas.openxmlformats.org/officeDocument/2006/relationships/slide" Target="../slides/slide3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slide" Target="../slides/slide2.xml"/><Relationship Id="rId4" Type="http://schemas.openxmlformats.org/officeDocument/2006/relationships/slide" Target="../slides/slide3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slide" Target="../slides/slide2.xml"/><Relationship Id="rId4" Type="http://schemas.openxmlformats.org/officeDocument/2006/relationships/slide" Target="../slides/slid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30388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</a:t>
            </a:r>
            <a:r>
              <a:rPr lang="en-US" sz="800" b="1" dirty="0">
                <a:latin typeface="Candara" pitchFamily="34" charset="0"/>
                <a:hlinkClick r:id="rId4" action="ppaction://hlinksldjump"/>
              </a:rPr>
              <a:t>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rgbClr val="CBF577">
              <a:alpha val="66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APPLICATION VIDEO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37" r:id="rId2"/>
  </p:sldLayoutIdLst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hlinkClick r:id="rId7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8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7468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22" r:id="rId3"/>
    <p:sldLayoutId id="2147483723" r:id="rId4"/>
    <p:sldLayoutId id="2147483724" r:id="rId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400" b="0" kern="1200" spc="0" baseline="0"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  <a:latin typeface="Century Gothic"/>
          <a:ea typeface="+mj-ea"/>
          <a:cs typeface="Century Gothic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41" r:id="rId4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Candara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rgbClr val="CBF577">
              <a:alpha val="66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PRACTICE QUESTION</a:t>
            </a:r>
          </a:p>
        </p:txBody>
      </p:sp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5">
              <a:lumMod val="40000"/>
              <a:lumOff val="60000"/>
              <a:alpha val="66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BUSINESS</a:t>
            </a:r>
            <a:r>
              <a:rPr lang="en-US" sz="3200" b="0" spc="60" baseline="0" dirty="0">
                <a:ln w="90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 CASE</a:t>
            </a:r>
            <a:endParaRPr lang="en-US" sz="3200" b="0" spc="60" dirty="0">
              <a:ln w="9000" cmpd="sng">
                <a:noFill/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13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11" name="Right Arrow 10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bg2">
              <a:lumMod val="90000"/>
              <a:alpha val="66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DISCUSS</a:t>
            </a:r>
          </a:p>
        </p:txBody>
      </p:sp>
    </p:spTree>
    <p:extLst>
      <p:ext uri="{BB962C8B-B14F-4D97-AF65-F5344CB8AC3E}">
        <p14:creationId xmlns:p14="http://schemas.microsoft.com/office/powerpoint/2010/main" val="399945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3558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6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15240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410234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 txBox="1">
            <a:spLocks/>
          </p:cNvSpPr>
          <p:nvPr/>
        </p:nvSpPr>
        <p:spPr>
          <a:xfrm>
            <a:off x="3854173" y="152400"/>
            <a:ext cx="2853083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b="1" i="1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IN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3263367" y="381000"/>
            <a:ext cx="474870" cy="48591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6225" dir="6960000" sx="122000" sy="122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F79646">
                  <a:lumMod val="75000"/>
                </a:srgbClr>
              </a:solidFill>
              <a:latin typeface="Verdana"/>
              <a:cs typeface="Verdana"/>
            </a:endParaRPr>
          </a:p>
        </p:txBody>
      </p:sp>
      <p:sp>
        <p:nvSpPr>
          <p:cNvPr id="4" name="Isosceles Triangle 3"/>
          <p:cNvSpPr/>
          <p:nvPr/>
        </p:nvSpPr>
        <p:spPr>
          <a:xfrm rot="5400000">
            <a:off x="3379193" y="400748"/>
            <a:ext cx="337086" cy="381002"/>
          </a:xfrm>
          <a:prstGeom prst="triangle">
            <a:avLst>
              <a:gd name="adj" fmla="val 4997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9271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12700" y="2413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66800" y="6553200"/>
            <a:ext cx="7543800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06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i="0" kern="1200" cap="all" spc="-200" baseline="0">
          <a:solidFill>
            <a:schemeClr val="accent5">
              <a:lumMod val="75000"/>
            </a:schemeClr>
          </a:solidFill>
          <a:latin typeface="Verdana"/>
          <a:ea typeface="+mj-ea"/>
          <a:cs typeface="Verdana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15240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410234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 txBox="1">
            <a:spLocks/>
          </p:cNvSpPr>
          <p:nvPr/>
        </p:nvSpPr>
        <p:spPr>
          <a:xfrm>
            <a:off x="3854173" y="152400"/>
            <a:ext cx="2853083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b="1" i="1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IN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3263367" y="381000"/>
            <a:ext cx="474870" cy="48591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6225" dir="6960000" sx="122000" sy="122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F79646">
                  <a:lumMod val="75000"/>
                </a:srgbClr>
              </a:solidFill>
              <a:latin typeface="Verdana"/>
              <a:cs typeface="Verdana"/>
            </a:endParaRPr>
          </a:p>
        </p:txBody>
      </p:sp>
      <p:sp>
        <p:nvSpPr>
          <p:cNvPr id="4" name="Isosceles Triangle 3"/>
          <p:cNvSpPr/>
          <p:nvPr/>
        </p:nvSpPr>
        <p:spPr>
          <a:xfrm rot="5400000">
            <a:off x="3379193" y="400748"/>
            <a:ext cx="337086" cy="381002"/>
          </a:xfrm>
          <a:prstGeom prst="triangle">
            <a:avLst>
              <a:gd name="adj" fmla="val 4997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9271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12700" y="2413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66800" y="6553200"/>
            <a:ext cx="7543800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569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i="0" kern="1200" cap="all" spc="-200" baseline="0">
          <a:solidFill>
            <a:schemeClr val="accent5">
              <a:lumMod val="75000"/>
            </a:schemeClr>
          </a:solidFill>
          <a:latin typeface="Verdana"/>
          <a:ea typeface="+mj-ea"/>
          <a:cs typeface="Verdana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13.xml"/><Relationship Id="rId7" Type="http://schemas.openxmlformats.org/officeDocument/2006/relationships/slide" Target="slide28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0.xml"/><Relationship Id="rId6" Type="http://schemas.openxmlformats.org/officeDocument/2006/relationships/slide" Target="slide26.xml"/><Relationship Id="rId5" Type="http://schemas.openxmlformats.org/officeDocument/2006/relationships/slide" Target="slide22.xml"/><Relationship Id="rId10" Type="http://schemas.openxmlformats.org/officeDocument/2006/relationships/slide" Target="slide36.xml"/><Relationship Id="rId4" Type="http://schemas.openxmlformats.org/officeDocument/2006/relationships/slide" Target="slide19.xml"/><Relationship Id="rId9" Type="http://schemas.openxmlformats.org/officeDocument/2006/relationships/slide" Target="slide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http://www.bls.gov/" TargetMode="Externa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ls.gov/" TargetMode="Externa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://www.american.com/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sj.com/video/series/daniela-hernandez/inflation-brain-why-you-seesaw-between-splurging-and-penny-pinching/38E64AFC-EB4E-43A1-89BB-5E524EEA5CDB" TargetMode="Externa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.com/9222135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/>
          <a:lstStyle/>
          <a:p>
            <a:r>
              <a:rPr lang="en-US" sz="2800" dirty="0"/>
              <a:t>Economics 2220</a:t>
            </a:r>
            <a:br>
              <a:rPr lang="en-US" sz="2800" dirty="0"/>
            </a:br>
            <a:r>
              <a:rPr lang="en-US" dirty="0"/>
              <a:t>Principles Of Macroeconomics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r>
              <a:rPr lang="en-US" sz="2400" dirty="0"/>
              <a:t>Professor Zhigang Feng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2514600" y="3327737"/>
            <a:ext cx="52959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spcBef>
                <a:spcPct val="50000"/>
              </a:spcBef>
              <a:buFontTx/>
              <a:buNone/>
            </a:pPr>
            <a:r>
              <a:rPr lang="en-US" sz="2400" u="sng" dirty="0"/>
              <a:t>Lecture 5: </a:t>
            </a:r>
          </a:p>
          <a:p>
            <a:pPr marL="228600" indent="-228600">
              <a:spcBef>
                <a:spcPct val="50000"/>
              </a:spcBef>
              <a:buFontTx/>
              <a:buNone/>
            </a:pPr>
            <a:r>
              <a:rPr lang="en-US" sz="2400" u="sng" dirty="0"/>
              <a:t>Macroeconomics: The Big Picture</a:t>
            </a:r>
          </a:p>
        </p:txBody>
      </p:sp>
    </p:spTree>
    <p:extLst>
      <p:ext uri="{BB962C8B-B14F-4D97-AF65-F5344CB8AC3E}">
        <p14:creationId xmlns:p14="http://schemas.microsoft.com/office/powerpoint/2010/main" val="283048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114800"/>
          </a:xfrm>
        </p:spPr>
        <p:txBody>
          <a:bodyPr/>
          <a:lstStyle/>
          <a:p>
            <a:pPr marL="569913" indent="-403225"/>
            <a:r>
              <a:rPr lang="en-US" sz="2400" b="0" dirty="0"/>
              <a:t>What makes </a:t>
            </a:r>
            <a:r>
              <a:rPr lang="en-US" sz="2400" dirty="0">
                <a:hlinkClick r:id="rId2" action="ppaction://hlinksldjump"/>
              </a:rPr>
              <a:t>macroeconomics</a:t>
            </a:r>
            <a:r>
              <a:rPr lang="en-US" sz="2400" b="0" dirty="0"/>
              <a:t> different from </a:t>
            </a:r>
            <a:r>
              <a:rPr lang="en-US" sz="2400" dirty="0">
                <a:hlinkClick r:id="rId2" action="ppaction://hlinksldjump"/>
              </a:rPr>
              <a:t>microeconomics</a:t>
            </a:r>
            <a:endParaRPr lang="en-US" sz="2400" dirty="0"/>
          </a:p>
          <a:p>
            <a:pPr marL="569913" indent="-403225"/>
            <a:r>
              <a:rPr lang="en-US" sz="2400" b="0" dirty="0"/>
              <a:t>What a </a:t>
            </a:r>
            <a:r>
              <a:rPr lang="en-US" sz="2400" dirty="0">
                <a:hlinkClick r:id="rId3" action="ppaction://hlinksldjump"/>
              </a:rPr>
              <a:t>business cycle </a:t>
            </a:r>
            <a:r>
              <a:rPr lang="en-US" sz="2400" b="0" dirty="0"/>
              <a:t>is and why policy makers seek to </a:t>
            </a:r>
            <a:r>
              <a:rPr lang="en-US" sz="2400" dirty="0">
                <a:hlinkClick r:id="rId4" action="ppaction://hlinksldjump"/>
              </a:rPr>
              <a:t>diminish the severity</a:t>
            </a:r>
            <a:r>
              <a:rPr lang="en-US" sz="2400" b="0" dirty="0">
                <a:hlinkClick r:id="rId4" action="ppaction://hlinksldjump"/>
              </a:rPr>
              <a:t> </a:t>
            </a:r>
            <a:r>
              <a:rPr lang="en-US" sz="2400" b="0" dirty="0"/>
              <a:t>of business cycles</a:t>
            </a:r>
          </a:p>
          <a:p>
            <a:pPr marL="569913" indent="-403225"/>
            <a:r>
              <a:rPr lang="en-US" sz="2400" b="0" dirty="0"/>
              <a:t>How </a:t>
            </a:r>
            <a:r>
              <a:rPr lang="en-US" sz="2400" dirty="0">
                <a:hlinkClick r:id="rId5" action="ppaction://hlinksldjump"/>
              </a:rPr>
              <a:t>long-run economic growth </a:t>
            </a:r>
            <a:r>
              <a:rPr lang="en-US" sz="2400" b="0" dirty="0"/>
              <a:t>determines a country’s standard of living</a:t>
            </a:r>
          </a:p>
          <a:p>
            <a:pPr marL="569913" indent="-403225"/>
            <a:r>
              <a:rPr lang="en-US" sz="2400" b="0" dirty="0"/>
              <a:t>The meaning of </a:t>
            </a:r>
            <a:r>
              <a:rPr lang="en-US" sz="2400" dirty="0">
                <a:hlinkClick r:id="rId6" action="ppaction://hlinksldjump"/>
              </a:rPr>
              <a:t>inflation </a:t>
            </a:r>
            <a:r>
              <a:rPr lang="en-US" sz="2400" b="0" dirty="0">
                <a:hlinkClick r:id="rId6" action="ppaction://hlinksldjump"/>
              </a:rPr>
              <a:t>and </a:t>
            </a:r>
            <a:r>
              <a:rPr lang="en-US" sz="2400" dirty="0">
                <a:hlinkClick r:id="rId6" action="ppaction://hlinksldjump"/>
              </a:rPr>
              <a:t>deflation </a:t>
            </a:r>
            <a:r>
              <a:rPr lang="en-US" sz="2400" b="0" dirty="0"/>
              <a:t>and why </a:t>
            </a:r>
            <a:r>
              <a:rPr lang="en-US" sz="2400" dirty="0">
                <a:hlinkClick r:id="rId7" action="ppaction://hlinksldjump"/>
              </a:rPr>
              <a:t>price stability </a:t>
            </a:r>
            <a:r>
              <a:rPr lang="en-US" sz="2400" b="0" dirty="0"/>
              <a:t>is preferred</a:t>
            </a:r>
          </a:p>
          <a:p>
            <a:pPr marL="569913" indent="-403225"/>
            <a:r>
              <a:rPr lang="en-US" sz="2400" b="0" dirty="0"/>
              <a:t>The importance of </a:t>
            </a:r>
            <a:r>
              <a:rPr lang="en-US" sz="2400" dirty="0">
                <a:hlinkClick r:id="rId8" action="ppaction://hlinksldjump"/>
              </a:rPr>
              <a:t>open-economy macroeconomics </a:t>
            </a:r>
            <a:r>
              <a:rPr lang="en-US" sz="2400" b="0" dirty="0"/>
              <a:t>and how economies interact through </a:t>
            </a:r>
            <a:r>
              <a:rPr lang="en-US" sz="2400" dirty="0">
                <a:hlinkClick r:id="rId9" action="ppaction://hlinksldjump"/>
              </a:rPr>
              <a:t>trade deficits </a:t>
            </a:r>
            <a:r>
              <a:rPr lang="en-US" sz="2400" b="0" dirty="0">
                <a:hlinkClick r:id="rId9" action="ppaction://hlinksldjump"/>
              </a:rPr>
              <a:t>and </a:t>
            </a:r>
            <a:r>
              <a:rPr lang="en-US" sz="2400" dirty="0">
                <a:hlinkClick r:id="rId9" action="ppaction://hlinksldjump"/>
              </a:rPr>
              <a:t>trade surpluses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126413" y="6210300"/>
            <a:ext cx="6350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  <a:hlinkClick r:id="rId10" action="ppaction://hlinksldjump"/>
              </a:rPr>
              <a:t>To Video</a:t>
            </a:r>
            <a:endParaRPr 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To First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17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90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With a partner (and without technology), discuss and decide what you think is the (approximate) current annual inflation rate.</a:t>
            </a:r>
          </a:p>
          <a:p>
            <a:r>
              <a:rPr lang="en-US" sz="3200" dirty="0">
                <a:hlinkClick r:id="rId2"/>
              </a:rPr>
              <a:t>http://www.bls.gov/</a:t>
            </a:r>
            <a:r>
              <a:rPr lang="en-US" sz="32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83180" y="6307666"/>
            <a:ext cx="105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To Next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Active </a:t>
            </a: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3" action="ppaction://hlinksldjump"/>
              </a:rPr>
              <a:t>Learning</a:t>
            </a: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706470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01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With a partner (and without technology), discuss and decide what you think is the (approximate) current U.S. unemployment rate.</a:t>
            </a:r>
          </a:p>
          <a:p>
            <a:r>
              <a:rPr lang="en-US" sz="3200" dirty="0">
                <a:hlinkClick r:id="rId2"/>
              </a:rPr>
              <a:t>http://www.bls.gov/</a:t>
            </a:r>
            <a:r>
              <a:rPr lang="en-US" sz="32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83181" y="6307666"/>
            <a:ext cx="105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To Next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Active Learning</a:t>
            </a: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184786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spc="0" dirty="0"/>
              <a:t>THE ORIGINS OF MACROECONOMICS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8600" y="990600"/>
            <a:ext cx="8839200" cy="5105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Hoover’s failure to understand what caused the Great Depression (or how it could be tamed) was common at the time.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i="1" dirty="0">
                <a:solidFill>
                  <a:srgbClr val="0070C0"/>
                </a:solidFill>
              </a:rPr>
              <a:t>Microeconomics was well-developed; macroeconomics was not.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The effort to </a:t>
            </a:r>
            <a:r>
              <a:rPr lang="en-US" dirty="0">
                <a:solidFill>
                  <a:srgbClr val="990033"/>
                </a:solidFill>
              </a:rPr>
              <a:t>understand economic slumps and find ways to prevent them </a:t>
            </a:r>
            <a:r>
              <a:rPr lang="en-US" dirty="0"/>
              <a:t>is at the core of macroeconomics.</a:t>
            </a:r>
          </a:p>
        </p:txBody>
      </p:sp>
    </p:spTree>
    <p:extLst>
      <p:ext uri="{BB962C8B-B14F-4D97-AF65-F5344CB8AC3E}">
        <p14:creationId xmlns:p14="http://schemas.microsoft.com/office/powerpoint/2010/main" val="2492674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spc="0" dirty="0"/>
              <a:t>THE ORIGINS OF MACROECONOMICS</a:t>
            </a:r>
          </a:p>
        </p:txBody>
      </p:sp>
      <p:pic>
        <p:nvPicPr>
          <p:cNvPr id="5" name="Picture 4" descr="A picture containing text, monitor, person, indoor&#10;&#10;Description automatically generated">
            <a:extLst>
              <a:ext uri="{FF2B5EF4-FFF2-40B4-BE49-F238E27FC236}">
                <a16:creationId xmlns:a16="http://schemas.microsoft.com/office/drawing/2014/main" id="{5AFD3F82-C22E-E84A-A013-BF96CBEDB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3873152" cy="3124200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DFE0ACE3-34DE-3541-BA11-AAD92C544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057399"/>
            <a:ext cx="3913756" cy="405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5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r>
              <a:rPr lang="en-US" b="0" spc="0" dirty="0">
                <a:solidFill>
                  <a:schemeClr val="accent3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/>
                <a:cs typeface="Century Gothic"/>
              </a:rPr>
              <a:t>THE</a:t>
            </a:r>
            <a:r>
              <a:rPr lang="en-US" spc="0" dirty="0"/>
              <a:t> </a:t>
            </a:r>
            <a:r>
              <a:rPr lang="en-US" b="0" spc="0" dirty="0">
                <a:solidFill>
                  <a:schemeClr val="accent3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/>
                <a:cs typeface="Century Gothic"/>
              </a:rPr>
              <a:t>BUSINESS</a:t>
            </a:r>
            <a:r>
              <a:rPr lang="en-US" spc="0" dirty="0"/>
              <a:t> </a:t>
            </a:r>
            <a:r>
              <a:rPr lang="en-US" b="0" spc="0" dirty="0">
                <a:solidFill>
                  <a:schemeClr val="accent3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/>
                <a:cs typeface="Century Gothic"/>
              </a:rPr>
              <a:t>CYCLE</a:t>
            </a:r>
            <a:endParaRPr lang="en-US" spc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876800"/>
            <a:ext cx="9144000" cy="1371600"/>
          </a:xfrm>
          <a:solidFill>
            <a:schemeClr val="bg1">
              <a:alpha val="85000"/>
            </a:schemeClr>
          </a:solidFill>
        </p:spPr>
        <p:txBody>
          <a:bodyPr>
            <a:noAutofit/>
          </a:bodyPr>
          <a:lstStyle/>
          <a:p>
            <a:r>
              <a:rPr lang="en-US" sz="2800" b="0" dirty="0">
                <a:latin typeface="Century Gothic"/>
                <a:cs typeface="Century Gothic"/>
              </a:rPr>
              <a:t>During the Great Depression, “Hoovervilles” sprang up across America, named after the economically clueless President Herbert Hoover.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05400" y="2616804"/>
            <a:ext cx="1142999" cy="156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8988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Nature of Macroeconomics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839200" cy="914400"/>
          </a:xfrm>
        </p:spPr>
        <p:txBody>
          <a:bodyPr/>
          <a:lstStyle/>
          <a:p>
            <a:r>
              <a:rPr lang="en-US" dirty="0"/>
              <a:t>Macroeconomic Questions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8666818" cy="39869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875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Autofit/>
          </a:bodyPr>
          <a:lstStyle/>
          <a:p>
            <a:r>
              <a:rPr lang="en-US" sz="3600" spc="0" dirty="0"/>
              <a:t>MACROECONOMICS: THE WHOLE IS GREATER THAN</a:t>
            </a:r>
            <a:r>
              <a:rPr lang="en-US" sz="3600" dirty="0"/>
              <a:t> </a:t>
            </a:r>
            <a:r>
              <a:rPr lang="en-US" sz="3600" spc="0" dirty="0"/>
              <a:t>THE SUM OF ITS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54102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An example</a:t>
            </a:r>
          </a:p>
          <a:p>
            <a:r>
              <a:rPr lang="en-US" i="1" dirty="0">
                <a:solidFill>
                  <a:srgbClr val="990033"/>
                </a:solidFill>
              </a:rPr>
              <a:t>Paradox of thrift: </a:t>
            </a:r>
            <a:r>
              <a:rPr lang="en-US" b="0" dirty="0"/>
              <a:t>When families and businesses are </a:t>
            </a:r>
            <a:r>
              <a:rPr lang="en-US" dirty="0"/>
              <a:t>worried about the possibility of economic hard times,</a:t>
            </a:r>
            <a:r>
              <a:rPr lang="en-US" b="0" dirty="0"/>
              <a:t> they prepare by </a:t>
            </a:r>
            <a:r>
              <a:rPr lang="en-US" dirty="0">
                <a:solidFill>
                  <a:srgbClr val="0070C0"/>
                </a:solidFill>
              </a:rPr>
              <a:t>cutting their spending.</a:t>
            </a:r>
            <a:r>
              <a:rPr lang="en-US" b="0" dirty="0"/>
              <a:t> </a:t>
            </a:r>
            <a:r>
              <a:rPr lang="en-US" dirty="0">
                <a:solidFill>
                  <a:srgbClr val="990033"/>
                </a:solidFill>
              </a:rPr>
              <a:t>This reduction in spending depresses the economy as consumers spend less and businesses react by laying off workers. </a:t>
            </a:r>
            <a:r>
              <a:rPr lang="en-US" b="0" dirty="0"/>
              <a:t>As a result, families and businesses may end up </a:t>
            </a:r>
            <a:r>
              <a:rPr lang="en-US" dirty="0"/>
              <a:t>worse off</a:t>
            </a:r>
            <a:r>
              <a:rPr lang="en-US" b="0" dirty="0"/>
              <a:t> than if they hadn’t tried to act responsibly by cutting their spending.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801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MACROECONOMICS: THEORY AND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067800" cy="50292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Pre-1930s conventional wisdom </a:t>
            </a:r>
          </a:p>
          <a:p>
            <a:r>
              <a:rPr lang="en-US" i="1" dirty="0">
                <a:solidFill>
                  <a:srgbClr val="990033"/>
                </a:solidFill>
              </a:rPr>
              <a:t>Self-regulating economy:  </a:t>
            </a:r>
            <a:r>
              <a:rPr lang="en-US" b="0" dirty="0"/>
              <a:t>Problems such as unemployment are resolved without government intervention through the working of the invisible hand.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Post-1930s conventional wisdom </a:t>
            </a:r>
          </a:p>
          <a:p>
            <a:r>
              <a:rPr lang="en-US" i="1" dirty="0">
                <a:solidFill>
                  <a:srgbClr val="990033"/>
                </a:solidFill>
              </a:rPr>
              <a:t>Keynesian economics: </a:t>
            </a:r>
            <a:r>
              <a:rPr lang="en-US" b="0" dirty="0"/>
              <a:t>Economic slumps are caused by inadequate spending, and they can be mitigated by government intervention.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237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>
            <a:noAutofit/>
          </a:bodyPr>
          <a:lstStyle/>
          <a:p>
            <a:r>
              <a:rPr lang="en-US" sz="3600" spc="0" dirty="0"/>
              <a:t>COMPARING THE GREAT RECESSION TO THE GREAT DEPRESSION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067800" cy="990600"/>
          </a:xfrm>
        </p:spPr>
        <p:txBody>
          <a:bodyPr>
            <a:noAutofit/>
          </a:bodyPr>
          <a:lstStyle/>
          <a:p>
            <a:r>
              <a:rPr lang="en-US" sz="2000" b="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Measures of economic activity and world industrial production during the Great Depression and the Great Recession</a:t>
            </a: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D9F093E2-7455-46CD-3B96-DA14C956A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76399"/>
            <a:ext cx="8534400" cy="499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776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MACROECONOMICS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839200" cy="3962400"/>
          </a:xfrm>
        </p:spPr>
        <p:txBody>
          <a:bodyPr>
            <a:normAutofit/>
          </a:bodyPr>
          <a:lstStyle/>
          <a:p>
            <a:r>
              <a:rPr lang="en-US" dirty="0"/>
              <a:t>“The long run is a misleading guide to current affairs. In the long run we are all dead. Economists set themselves too easy, too useless a task if in tempestuous seasons they can only tell us that when the storm is past the ocean is flat again.”</a:t>
            </a:r>
          </a:p>
          <a:p>
            <a:pPr algn="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-John Maynard Keynes, 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Tract on Monetary Reform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(1923) Ch. 3</a:t>
            </a:r>
          </a:p>
        </p:txBody>
      </p:sp>
      <p:pic>
        <p:nvPicPr>
          <p:cNvPr id="5" name="Picture 4" descr="Cowen_UN12_PH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5200" y="4572000"/>
            <a:ext cx="1905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63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THE BUSINESS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8991600" cy="1447800"/>
          </a:xfrm>
          <a:solidFill>
            <a:schemeClr val="bg1">
              <a:alpha val="65000"/>
            </a:schemeClr>
          </a:solidFill>
        </p:spPr>
        <p:txBody>
          <a:bodyPr>
            <a:noAutofit/>
          </a:bodyPr>
          <a:lstStyle/>
          <a:p>
            <a:r>
              <a:rPr lang="en-US" dirty="0"/>
              <a:t>Since the 1930s, the U.S. (and most national governments) uses tools to improve the economy.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159014"/>
            <a:ext cx="7006336" cy="4669722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52400" y="2286000"/>
            <a:ext cx="8610600" cy="990600"/>
          </a:xfrm>
          <a:prstGeom prst="rect">
            <a:avLst/>
          </a:prstGeom>
          <a:solidFill>
            <a:schemeClr val="bg1">
              <a:alpha val="73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solidFill>
                  <a:srgbClr val="990033"/>
                </a:solidFill>
                <a:latin typeface="Century Gothic"/>
                <a:cs typeface="Century Gothic"/>
              </a:rPr>
              <a:t>Monetary policy: </a:t>
            </a:r>
            <a:r>
              <a:rPr lang="en-US" sz="2400" b="0" dirty="0">
                <a:latin typeface="Century Gothic"/>
                <a:cs typeface="Century Gothic"/>
              </a:rPr>
              <a:t>uses changes in the </a:t>
            </a:r>
            <a:r>
              <a:rPr lang="en-US" sz="2400" dirty="0">
                <a:solidFill>
                  <a:srgbClr val="0070C0"/>
                </a:solidFill>
                <a:latin typeface="Century Gothic"/>
                <a:cs typeface="Century Gothic"/>
              </a:rPr>
              <a:t>quantity of money </a:t>
            </a:r>
            <a:r>
              <a:rPr lang="en-US" sz="2400" b="0" dirty="0">
                <a:latin typeface="Century Gothic"/>
                <a:cs typeface="Century Gothic"/>
              </a:rPr>
              <a:t>to alter interest rates and </a:t>
            </a:r>
            <a:r>
              <a:rPr lang="en-US" sz="2400" dirty="0">
                <a:solidFill>
                  <a:srgbClr val="990033"/>
                </a:solidFill>
                <a:latin typeface="Century Gothic"/>
                <a:cs typeface="Century Gothic"/>
              </a:rPr>
              <a:t>affect overall spending.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5486400"/>
            <a:ext cx="8001000" cy="914400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solidFill>
                  <a:srgbClr val="990033"/>
                </a:solidFill>
                <a:latin typeface="Century Gothic"/>
                <a:cs typeface="Century Gothic"/>
              </a:rPr>
              <a:t>Fiscal policy: </a:t>
            </a:r>
            <a:r>
              <a:rPr lang="en-US" sz="2400" b="0" dirty="0">
                <a:latin typeface="Century Gothic"/>
                <a:cs typeface="Century Gothic"/>
              </a:rPr>
              <a:t>uses changes in </a:t>
            </a:r>
            <a:r>
              <a:rPr lang="en-US" sz="2400" dirty="0">
                <a:solidFill>
                  <a:srgbClr val="0070C0"/>
                </a:solidFill>
                <a:latin typeface="Century Gothic"/>
                <a:cs typeface="Century Gothic"/>
              </a:rPr>
              <a:t>government spending </a:t>
            </a:r>
            <a:r>
              <a:rPr lang="en-US" sz="2400" b="0" dirty="0">
                <a:latin typeface="Century Gothic"/>
                <a:cs typeface="Century Gothic"/>
              </a:rPr>
              <a:t>and taxes to </a:t>
            </a:r>
            <a:r>
              <a:rPr lang="en-US" sz="2400" dirty="0">
                <a:solidFill>
                  <a:srgbClr val="990033"/>
                </a:solidFill>
                <a:latin typeface="Century Gothic"/>
                <a:cs typeface="Century Gothic"/>
              </a:rPr>
              <a:t>affect overall spending.</a:t>
            </a:r>
          </a:p>
        </p:txBody>
      </p:sp>
    </p:spTree>
    <p:extLst>
      <p:ext uri="{BB962C8B-B14F-4D97-AF65-F5344CB8AC3E}">
        <p14:creationId xmlns:p14="http://schemas.microsoft.com/office/powerpoint/2010/main" val="139501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838200"/>
          </a:xfrm>
          <a:noFill/>
        </p:spPr>
        <p:txBody>
          <a:bodyPr/>
          <a:lstStyle/>
          <a:p>
            <a:pPr algn="l" eaLnBrk="1" hangingPunct="1">
              <a:defRPr/>
            </a:pPr>
            <a:r>
              <a:rPr lang="en-US" sz="4400" spc="0" dirty="0"/>
              <a:t>IMAGES OF THE DEPRESSION</a:t>
            </a:r>
          </a:p>
        </p:txBody>
      </p:sp>
      <p:pic>
        <p:nvPicPr>
          <p:cNvPr id="6" name="Content Placeholder 5" descr="GD man walking.gif"/>
          <p:cNvPicPr>
            <a:picLocks noGrp="1" noChangeAspect="1"/>
          </p:cNvPicPr>
          <p:nvPr>
            <p:ph idx="429496729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0" y="1219200"/>
            <a:ext cx="3886200" cy="5029200"/>
          </a:xfrm>
        </p:spPr>
      </p:pic>
      <p:pic>
        <p:nvPicPr>
          <p:cNvPr id="7" name="Picture 6" descr="800px-Dust_Bowl_-_Dallas,_South_Dakota_1936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400" y="9144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bank run Union Bank.gif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400" y="914400"/>
            <a:ext cx="7315200" cy="561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gd50.gif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1" y="900111"/>
            <a:ext cx="7490882" cy="5737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gd37.gif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9592" y="914400"/>
            <a:ext cx="7449312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Content Placeholder 7" descr="gd45.gif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38400" y="1143000"/>
            <a:ext cx="4114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24613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0" dirty="0"/>
              <a:t>GROWTH INTERRUPTED, 1985–2014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574" y="5029200"/>
            <a:ext cx="8839200" cy="838200"/>
          </a:xfrm>
        </p:spPr>
        <p:txBody>
          <a:bodyPr>
            <a:normAutofit/>
          </a:bodyPr>
          <a:lstStyle/>
          <a:p>
            <a:pPr algn="ctr"/>
            <a:r>
              <a:rPr lang="en-US" sz="1600" b="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Source: Federal Reserve Bank of St. Louis (Shaded areas are recessions)</a:t>
            </a:r>
          </a:p>
        </p:txBody>
      </p:sp>
      <p:pic>
        <p:nvPicPr>
          <p:cNvPr id="5" name="Picture 4" descr="Screen Shot 2015-03-30 at 9.00.1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19200"/>
            <a:ext cx="9144000" cy="384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83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CHARTING THE BUSINESS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46482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i="1" dirty="0">
                <a:solidFill>
                  <a:srgbClr val="990033"/>
                </a:solidFill>
              </a:rPr>
              <a:t>Recessions (contractions): </a:t>
            </a:r>
            <a:r>
              <a:rPr lang="en-US" b="0" dirty="0"/>
              <a:t>periods of economic downturn, when output and employment are falling.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i="1" dirty="0">
                <a:solidFill>
                  <a:srgbClr val="990033"/>
                </a:solidFill>
              </a:rPr>
              <a:t>Expansions (recoveries): </a:t>
            </a:r>
            <a:r>
              <a:rPr lang="en-US" b="0" dirty="0"/>
              <a:t>periods of economic upturn, when output and employment are rising.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i="1" dirty="0">
                <a:solidFill>
                  <a:srgbClr val="990033"/>
                </a:solidFill>
              </a:rPr>
              <a:t>Business cycle: </a:t>
            </a:r>
            <a:r>
              <a:rPr lang="en-US" b="0" dirty="0"/>
              <a:t>the short-run alternation between recessions and expansions.</a:t>
            </a:r>
          </a:p>
        </p:txBody>
      </p:sp>
    </p:spTree>
    <p:extLst>
      <p:ext uri="{BB962C8B-B14F-4D97-AF65-F5344CB8AC3E}">
        <p14:creationId xmlns:p14="http://schemas.microsoft.com/office/powerpoint/2010/main" val="599652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THE BUSINESS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791200"/>
          </a:xfrm>
        </p:spPr>
        <p:txBody>
          <a:bodyPr>
            <a:noAutofit/>
          </a:bodyPr>
          <a:lstStyle/>
          <a:p>
            <a:r>
              <a:rPr lang="en-US" sz="2800" b="0" dirty="0"/>
              <a:t>The point at which the economy turns from expansion to recession is a </a:t>
            </a:r>
            <a:r>
              <a:rPr lang="en-US" sz="2800" i="1" dirty="0">
                <a:solidFill>
                  <a:srgbClr val="990033"/>
                </a:solidFill>
              </a:rPr>
              <a:t>business-cycle peak.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  <a:p>
            <a:r>
              <a:rPr lang="en-US" sz="2800" b="0" dirty="0"/>
              <a:t>The point at which the economy turns from recession to expansion is a </a:t>
            </a:r>
            <a:r>
              <a:rPr lang="en-US" sz="2800" i="1" dirty="0">
                <a:solidFill>
                  <a:srgbClr val="990033"/>
                </a:solidFill>
              </a:rPr>
              <a:t>business-cycle trough.</a:t>
            </a:r>
          </a:p>
          <a:p>
            <a:endParaRPr lang="en-US" sz="2800" dirty="0"/>
          </a:p>
        </p:txBody>
      </p:sp>
      <p:pic>
        <p:nvPicPr>
          <p:cNvPr id="5" name="Picture 4" descr="Screen Shot 2015-03-30 at 9.03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00" y="1981200"/>
            <a:ext cx="4648200" cy="346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45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alpha val="82000"/>
            </a:schemeClr>
          </a:solidFill>
        </p:spPr>
        <p:txBody>
          <a:bodyPr>
            <a:normAutofit/>
          </a:bodyPr>
          <a:lstStyle/>
          <a:p>
            <a:r>
              <a:rPr lang="en-US" sz="4000" b="0" spc="0" dirty="0">
                <a:solidFill>
                  <a:schemeClr val="accent3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/>
                <a:cs typeface="Century Gothic"/>
              </a:rPr>
              <a:t>THE</a:t>
            </a:r>
            <a:r>
              <a:rPr lang="en-US" sz="4000" spc="0" dirty="0"/>
              <a:t> </a:t>
            </a:r>
            <a:r>
              <a:rPr lang="en-US" sz="4000" b="0" spc="0" dirty="0">
                <a:solidFill>
                  <a:schemeClr val="accent3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/>
                <a:cs typeface="Century Gothic"/>
              </a:rPr>
              <a:t>PAIN</a:t>
            </a:r>
            <a:r>
              <a:rPr lang="en-US" sz="4000" spc="0" dirty="0"/>
              <a:t> </a:t>
            </a:r>
            <a:r>
              <a:rPr lang="en-US" sz="4000" b="0" spc="0" dirty="0">
                <a:solidFill>
                  <a:schemeClr val="accent3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/>
                <a:cs typeface="Century Gothic"/>
              </a:rPr>
              <a:t>OF</a:t>
            </a:r>
            <a:r>
              <a:rPr lang="en-US" sz="4000" spc="0" dirty="0"/>
              <a:t> </a:t>
            </a:r>
            <a:r>
              <a:rPr lang="en-US" sz="4000" b="0" spc="0" dirty="0">
                <a:solidFill>
                  <a:schemeClr val="accent3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/>
                <a:cs typeface="Century Gothic"/>
              </a:rPr>
              <a:t>RECESSION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3272" y="5334000"/>
            <a:ext cx="9177272" cy="1447800"/>
          </a:xfrm>
          <a:solidFill>
            <a:schemeClr val="bg1">
              <a:alpha val="84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b="0" dirty="0">
                <a:latin typeface="Century Gothic"/>
                <a:cs typeface="Century Gothic"/>
              </a:rPr>
              <a:t>The most important effect of a recession is its effect on the ability of workers to find and hold jobs.</a:t>
            </a:r>
          </a:p>
          <a:p>
            <a:endParaRPr lang="en-US" b="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6685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TAMING THE BUSINESS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2057400"/>
          </a:xfrm>
        </p:spPr>
        <p:txBody>
          <a:bodyPr>
            <a:normAutofit/>
          </a:bodyPr>
          <a:lstStyle/>
          <a:p>
            <a:r>
              <a:rPr lang="en-US" sz="2800" b="0" dirty="0"/>
              <a:t>The business cycle is a main concern of modern policy makers: they try to smooth out the business cycle. They haven’t been completely successful.</a:t>
            </a:r>
          </a:p>
        </p:txBody>
      </p:sp>
      <p:pic>
        <p:nvPicPr>
          <p:cNvPr id="5" name="Picture 4" descr="Screen Shot 2015-03-30 at 9.16.3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800" y="2126928"/>
            <a:ext cx="6477000" cy="4507037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066800" y="6324600"/>
            <a:ext cx="7391400" cy="30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b="1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b="1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Source: Bureau of Labor Statistics (Shaded areas are recessions)</a:t>
            </a:r>
          </a:p>
        </p:txBody>
      </p:sp>
    </p:spTree>
    <p:extLst>
      <p:ext uri="{BB962C8B-B14F-4D97-AF65-F5344CB8AC3E}">
        <p14:creationId xmlns:p14="http://schemas.microsoft.com/office/powerpoint/2010/main" val="714699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use of taxes and government spending to change the overall level of spending in an economy is called: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3200" dirty="0"/>
              <a:t>monetary policy.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3200" dirty="0"/>
              <a:t>fiscal policy.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3200" dirty="0"/>
              <a:t>either monetary or fiscal policy depending upon what is happening to the interest 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3181" y="6307666"/>
            <a:ext cx="105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To Next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Active Learning</a:t>
            </a: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19658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038600"/>
            <a:ext cx="8915400" cy="2317750"/>
          </a:xfrm>
        </p:spPr>
        <p:txBody>
          <a:bodyPr>
            <a:noAutofit/>
          </a:bodyPr>
          <a:lstStyle/>
          <a:p>
            <a:r>
              <a:rPr lang="en-US" sz="2800" dirty="0"/>
              <a:t>Do you think the government is right to begin massive spending programs during deep recessions?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2800" dirty="0"/>
              <a:t>Yes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2800" dirty="0"/>
              <a:t>No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536679"/>
            <a:ext cx="1906288" cy="23495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06288" y="1286588"/>
            <a:ext cx="2023147" cy="2752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5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4914" y="1375160"/>
            <a:ext cx="2029086" cy="2664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9000" y="1843728"/>
            <a:ext cx="2095500" cy="1638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7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000" y="1274298"/>
            <a:ext cx="1930758" cy="1830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83181" y="6307666"/>
            <a:ext cx="105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To Next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Active Learning</a:t>
            </a: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244982"/>
      </p:ext>
    </p:extLst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LONG-RUN ECONOMIC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839200" cy="4648200"/>
          </a:xfrm>
        </p:spPr>
        <p:txBody>
          <a:bodyPr>
            <a:normAutofit/>
          </a:bodyPr>
          <a:lstStyle/>
          <a:p>
            <a:r>
              <a:rPr lang="en-US" sz="2800" dirty="0"/>
              <a:t>Long-run economic growth </a:t>
            </a:r>
            <a:r>
              <a:rPr lang="en-US" sz="2800" b="0" dirty="0"/>
              <a:t>is the sustained upward trend in the economy’s output over time.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990600" y="6167735"/>
            <a:ext cx="777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7F7F7F"/>
                </a:solidFill>
                <a:latin typeface="Century Gothic"/>
                <a:cs typeface="Century Gothic"/>
              </a:rPr>
              <a:t>Source: </a:t>
            </a:r>
            <a:r>
              <a:rPr lang="en-US" sz="1200" dirty="0">
                <a:solidFill>
                  <a:srgbClr val="7F7F7F"/>
                </a:solidFill>
                <a:latin typeface="Century Gothic"/>
                <a:cs typeface="Century Gothic"/>
              </a:rPr>
              <a:t>W. Michael Cox and Richard Alm, “How Are We Doing?” </a:t>
            </a:r>
            <a:r>
              <a:rPr lang="en-US" sz="1200" i="1" dirty="0">
                <a:solidFill>
                  <a:srgbClr val="7F7F7F"/>
                </a:solidFill>
                <a:latin typeface="Century Gothic"/>
                <a:cs typeface="Century Gothic"/>
              </a:rPr>
              <a:t>The American </a:t>
            </a:r>
            <a:r>
              <a:rPr lang="en-US" sz="1200" dirty="0">
                <a:solidFill>
                  <a:srgbClr val="7F7F7F"/>
                </a:solidFill>
                <a:latin typeface="Century Gothic"/>
                <a:cs typeface="Century Gothic"/>
              </a:rPr>
              <a:t>(July/August 2008). </a:t>
            </a:r>
            <a:r>
              <a:rPr lang="en-US" sz="1200" dirty="0">
                <a:solidFill>
                  <a:srgbClr val="7F7F7F"/>
                </a:solidFill>
                <a:latin typeface="Century Gothic"/>
                <a:cs typeface="Century Gothic"/>
                <a:hlinkClick r:id="rId2"/>
              </a:rPr>
              <a:t>http://www.american.com/</a:t>
            </a:r>
            <a:r>
              <a:rPr lang="en-US" sz="1200" dirty="0">
                <a:solidFill>
                  <a:srgbClr val="7F7F7F"/>
                </a:solidFill>
                <a:latin typeface="Century Gothic"/>
                <a:cs typeface="Century Gothic"/>
              </a:rPr>
              <a:t> archive/2008/july-august-magazine-contents/how-are-we-doing</a:t>
            </a:r>
          </a:p>
        </p:txBody>
      </p:sp>
      <p:pic>
        <p:nvPicPr>
          <p:cNvPr id="6" name="Picture 5" descr="Screen Shot 2015-03-31 at 8.40.16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001407"/>
            <a:ext cx="9144000" cy="417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59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GROWTH, THE LONG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814512"/>
          </a:xfrm>
        </p:spPr>
        <p:txBody>
          <a:bodyPr>
            <a:noAutofit/>
          </a:bodyPr>
          <a:lstStyle/>
          <a:p>
            <a:r>
              <a:rPr lang="en-US" sz="2400" dirty="0"/>
              <a:t>Americans have become able to afford many more material goods over time thanks to long-run economic growth.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5400" y="6167735"/>
            <a:ext cx="6934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Sources: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Angus Maddison, 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Statisticson World Population, GDP, and Per Capita GDP, 1–2008AD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,http://www.ggdc.net/MADDISON/oriindex.htm; Bureau of Economic Analysis.</a:t>
            </a:r>
          </a:p>
        </p:txBody>
      </p:sp>
      <p:pic>
        <p:nvPicPr>
          <p:cNvPr id="6" name="Picture 5" descr="Screen Shot 2015-03-31 at 8.38.4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5250" y="1600200"/>
            <a:ext cx="6048550" cy="449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644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GROWTH, THE LONG VIEW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13185" y="1524000"/>
            <a:ext cx="5354415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87634" y="914400"/>
            <a:ext cx="5975192" cy="5638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457200"/>
          </a:xfrm>
          <a:solidFill>
            <a:schemeClr val="bg1">
              <a:alpha val="87000"/>
            </a:schemeClr>
          </a:solidFill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2800" dirty="0"/>
              <a:t>Long-run growth is a relatively modern phenomenon.</a:t>
            </a:r>
          </a:p>
        </p:txBody>
      </p:sp>
    </p:spTree>
    <p:extLst>
      <p:ext uri="{BB962C8B-B14F-4D97-AF65-F5344CB8AC3E}">
        <p14:creationId xmlns:p14="http://schemas.microsoft.com/office/powerpoint/2010/main" val="273525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19800" y="3704350"/>
            <a:ext cx="3327400" cy="31536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810000"/>
            <a:ext cx="3468055" cy="312420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4839234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entury Gothic"/>
                <a:cs typeface="Century Gothic"/>
              </a:rPr>
              <a:t>A TALE OF TWO COUNTRIES</a:t>
            </a:r>
          </a:p>
          <a:p>
            <a:r>
              <a:rPr lang="en-US" sz="2800" dirty="0">
                <a:latin typeface="Century Gothic"/>
                <a:cs typeface="Century Gothic"/>
              </a:rPr>
              <a:t>Canada and Argentina began the 20</a:t>
            </a:r>
            <a:r>
              <a:rPr lang="en-US" sz="2800" baseline="30000" dirty="0">
                <a:latin typeface="Century Gothic"/>
                <a:cs typeface="Century Gothic"/>
              </a:rPr>
              <a:t>th</a:t>
            </a:r>
            <a:r>
              <a:rPr lang="en-US" sz="2800" dirty="0">
                <a:latin typeface="Century Gothic"/>
                <a:cs typeface="Century Gothic"/>
              </a:rPr>
              <a:t> century looking like twins…</a:t>
            </a:r>
          </a:p>
          <a:p>
            <a:r>
              <a:rPr lang="en-US" sz="2800" dirty="0">
                <a:latin typeface="Century Gothic"/>
                <a:cs typeface="Century Gothic"/>
              </a:rPr>
              <a:t>Political instability and high inflation slowed Argentina down.</a:t>
            </a:r>
          </a:p>
          <a:p>
            <a:r>
              <a:rPr lang="en-US" sz="2800" dirty="0">
                <a:latin typeface="Century Gothic"/>
                <a:cs typeface="Century Gothic"/>
              </a:rPr>
              <a:t>Now Canada’s standard of living is on par with the U.S., 3x as high as Argentina</a:t>
            </a:r>
          </a:p>
        </p:txBody>
      </p:sp>
    </p:spTree>
    <p:extLst>
      <p:ext uri="{BB962C8B-B14F-4D97-AF65-F5344CB8AC3E}">
        <p14:creationId xmlns:p14="http://schemas.microsoft.com/office/powerpoint/2010/main" val="2263383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reen Shot 2015-03-31 at 8.54.4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967631"/>
            <a:ext cx="6553200" cy="35855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INFLATION AND DEFLATION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8839200" cy="1676400"/>
          </a:xfrm>
        </p:spPr>
        <p:txBody>
          <a:bodyPr>
            <a:noAutofit/>
          </a:bodyPr>
          <a:lstStyle/>
          <a:p>
            <a:r>
              <a:rPr lang="en-US" sz="2800" b="0" dirty="0"/>
              <a:t>A rising overall level of prices is </a:t>
            </a:r>
            <a:r>
              <a:rPr lang="en-US" sz="2800" i="1" dirty="0">
                <a:solidFill>
                  <a:srgbClr val="990033"/>
                </a:solidFill>
              </a:rPr>
              <a:t>inflation.</a:t>
            </a:r>
          </a:p>
          <a:p>
            <a:r>
              <a:rPr lang="en-US" sz="2800" b="0" dirty="0"/>
              <a:t>A falling overall level of prices is </a:t>
            </a:r>
            <a:r>
              <a:rPr lang="en-US" sz="2800" i="1" dirty="0">
                <a:solidFill>
                  <a:srgbClr val="990033"/>
                </a:solidFill>
              </a:rPr>
              <a:t>deflation.</a:t>
            </a:r>
          </a:p>
          <a:p>
            <a:r>
              <a:rPr lang="en-US" sz="2800" b="0" dirty="0"/>
              <a:t>The economy has </a:t>
            </a:r>
            <a:r>
              <a:rPr lang="en-US" sz="2800" i="1" dirty="0">
                <a:solidFill>
                  <a:srgbClr val="990033"/>
                </a:solidFill>
              </a:rPr>
              <a:t>price stability </a:t>
            </a:r>
            <a:r>
              <a:rPr lang="en-US" sz="2800" b="0" dirty="0"/>
              <a:t>when the overall level of prices changes slowly or not at all.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2057400" y="6168031"/>
            <a:ext cx="26632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/>
                <a:cs typeface="Century Gothic"/>
              </a:rPr>
              <a:t>Source: Bureau of Labor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1499" y="2907268"/>
            <a:ext cx="75015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/>
                <a:cs typeface="Century Gothic"/>
              </a:rPr>
              <a:t>Rising Prices offset most of the rise in average wages.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20753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THE CAUSES OF INFLATION AND DEFLATION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839200" cy="46482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b="0" dirty="0"/>
              <a:t>In the </a:t>
            </a:r>
            <a:r>
              <a:rPr lang="en-US" dirty="0">
                <a:solidFill>
                  <a:srgbClr val="0070C0"/>
                </a:solidFill>
              </a:rPr>
              <a:t>short run, </a:t>
            </a:r>
            <a:r>
              <a:rPr lang="en-US" b="0" dirty="0"/>
              <a:t>movements in </a:t>
            </a:r>
            <a:r>
              <a:rPr lang="en-US" dirty="0">
                <a:solidFill>
                  <a:srgbClr val="0070C0"/>
                </a:solidFill>
              </a:rPr>
              <a:t>inflation</a:t>
            </a:r>
            <a:r>
              <a:rPr lang="en-US" b="0" dirty="0"/>
              <a:t> are </a:t>
            </a:r>
            <a:r>
              <a:rPr lang="en-US" dirty="0">
                <a:solidFill>
                  <a:srgbClr val="0070C0"/>
                </a:solidFill>
              </a:rPr>
              <a:t>closely related to the business cycle. 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When the economy is depressed and jobs are hard to find, inflation tends to fall; when the economy is booming, inflation tends to rise.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b="0" dirty="0"/>
              <a:t>In the </a:t>
            </a:r>
            <a:r>
              <a:rPr lang="en-US" dirty="0">
                <a:solidFill>
                  <a:srgbClr val="990033"/>
                </a:solidFill>
              </a:rPr>
              <a:t>long run,</a:t>
            </a:r>
            <a:r>
              <a:rPr lang="en-US" b="0" dirty="0">
                <a:solidFill>
                  <a:srgbClr val="990033"/>
                </a:solidFill>
              </a:rPr>
              <a:t> </a:t>
            </a:r>
            <a:r>
              <a:rPr lang="en-US" b="0" dirty="0"/>
              <a:t>the overall level of </a:t>
            </a:r>
            <a:r>
              <a:rPr lang="en-US" dirty="0">
                <a:solidFill>
                  <a:srgbClr val="990033"/>
                </a:solidFill>
              </a:rPr>
              <a:t>prices</a:t>
            </a:r>
            <a:r>
              <a:rPr lang="en-US" b="0" dirty="0"/>
              <a:t> is mainly determined by </a:t>
            </a:r>
            <a:r>
              <a:rPr lang="en-US" dirty="0">
                <a:solidFill>
                  <a:srgbClr val="990033"/>
                </a:solidFill>
              </a:rPr>
              <a:t>changes</a:t>
            </a:r>
            <a:r>
              <a:rPr lang="en-US" b="0" dirty="0"/>
              <a:t> in the </a:t>
            </a:r>
            <a:r>
              <a:rPr lang="en-US" dirty="0">
                <a:solidFill>
                  <a:srgbClr val="990033"/>
                </a:solidFill>
              </a:rPr>
              <a:t>money supply.</a:t>
            </a:r>
          </a:p>
        </p:txBody>
      </p:sp>
    </p:spTree>
    <p:extLst>
      <p:ext uri="{BB962C8B-B14F-4D97-AF65-F5344CB8AC3E}">
        <p14:creationId xmlns:p14="http://schemas.microsoft.com/office/powerpoint/2010/main" val="287947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THE PAIN OF INFLATION AND DEFLATION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402" y="1371600"/>
            <a:ext cx="8991600" cy="5181600"/>
          </a:xfrm>
        </p:spPr>
        <p:txBody>
          <a:bodyPr>
            <a:noAutofit/>
          </a:bodyPr>
          <a:lstStyle/>
          <a:p>
            <a:r>
              <a:rPr lang="en-US" sz="2800" dirty="0"/>
              <a:t>Both inflation </a:t>
            </a:r>
            <a:r>
              <a:rPr lang="en-US" sz="2800" i="1" dirty="0"/>
              <a:t>and</a:t>
            </a:r>
            <a:r>
              <a:rPr lang="en-US" sz="2800" dirty="0"/>
              <a:t> deflation are problematic. </a:t>
            </a:r>
          </a:p>
          <a:p>
            <a:pPr marL="627062" lvl="1" indent="-457200">
              <a:buFont typeface="Wingdings" charset="2"/>
              <a:buChar char="§"/>
            </a:pPr>
            <a:r>
              <a:rPr lang="en-US" dirty="0">
                <a:solidFill>
                  <a:srgbClr val="990033"/>
                </a:solidFill>
              </a:rPr>
              <a:t>Inflation</a:t>
            </a:r>
            <a:r>
              <a:rPr lang="en-US" b="0" dirty="0"/>
              <a:t> </a:t>
            </a:r>
            <a:r>
              <a:rPr lang="en-US" dirty="0">
                <a:solidFill>
                  <a:srgbClr val="990033"/>
                </a:solidFill>
              </a:rPr>
              <a:t>discourages people from holding onto cash </a:t>
            </a:r>
            <a:r>
              <a:rPr lang="en-US" b="0" dirty="0"/>
              <a:t>(because cash loses value if prices are rising).  In extreme cases, </a:t>
            </a:r>
            <a:r>
              <a:rPr lang="en-US" dirty="0"/>
              <a:t>people stop using cash altogether.</a:t>
            </a:r>
          </a:p>
          <a:p>
            <a:pPr marL="627062" lvl="1" indent="-457200">
              <a:buFont typeface="Wingdings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Deflation</a:t>
            </a:r>
            <a:r>
              <a:rPr lang="en-US" b="0" dirty="0"/>
              <a:t> can cause the reverse problem. Since cash gains value if the price level is falling, </a:t>
            </a:r>
            <a:r>
              <a:rPr lang="en-US" dirty="0">
                <a:solidFill>
                  <a:srgbClr val="0070C0"/>
                </a:solidFill>
              </a:rPr>
              <a:t>holding on to it is more attractive than investing in new factories and other productive assets.</a:t>
            </a:r>
            <a:r>
              <a:rPr lang="en-US" b="0" dirty="0"/>
              <a:t>  This can </a:t>
            </a:r>
            <a:r>
              <a:rPr lang="en-US" dirty="0"/>
              <a:t>deepen a recession.</a:t>
            </a:r>
          </a:p>
        </p:txBody>
      </p:sp>
    </p:spTree>
    <p:extLst>
      <p:ext uri="{BB962C8B-B14F-4D97-AF65-F5344CB8AC3E}">
        <p14:creationId xmlns:p14="http://schemas.microsoft.com/office/powerpoint/2010/main" val="7759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1BDFFB-4DAE-4D9C-AB8F-CCB724FD0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708" y="2734476"/>
            <a:ext cx="5083031" cy="38687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D27B84-9059-47B2-B508-FACE73296A4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8" y="-10523"/>
            <a:ext cx="4114800" cy="6705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FB6B68-0160-4069-BE39-934441A935C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-38876"/>
            <a:ext cx="5018567" cy="297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84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INTERNATIONAL IMBALANCES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1816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The United States is an </a:t>
            </a:r>
            <a:r>
              <a:rPr lang="en-US" sz="2800" i="1" dirty="0">
                <a:solidFill>
                  <a:srgbClr val="990033"/>
                </a:solidFill>
              </a:rPr>
              <a:t>open economy: </a:t>
            </a:r>
            <a:r>
              <a:rPr lang="en-US" sz="2800" b="0" dirty="0"/>
              <a:t>it trades goods and services with other countries.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solidFill>
                  <a:srgbClr val="0070C0"/>
                </a:solidFill>
              </a:rPr>
              <a:t>In 2013, the United States ran a big </a:t>
            </a:r>
            <a:r>
              <a:rPr lang="en-US" sz="2800" i="1" dirty="0">
                <a:solidFill>
                  <a:srgbClr val="990033"/>
                </a:solidFill>
              </a:rPr>
              <a:t>trade deficit.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i="1" dirty="0">
                <a:solidFill>
                  <a:srgbClr val="990033"/>
                </a:solidFill>
              </a:rPr>
              <a:t>Trade deficit:  </a:t>
            </a:r>
            <a:r>
              <a:rPr lang="en-US" sz="2800" b="0" dirty="0"/>
              <a:t>the value of goods and services bought from foreigners is more than the value of goods and services sold to them.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i="1" dirty="0">
                <a:solidFill>
                  <a:srgbClr val="990033"/>
                </a:solidFill>
              </a:rPr>
              <a:t>Trade surplus: </a:t>
            </a:r>
            <a:r>
              <a:rPr lang="en-US" sz="2800" b="0" dirty="0"/>
              <a:t>the value of goods and services bought from foreigners is less than the value of the goods and services sold to them. </a:t>
            </a:r>
          </a:p>
        </p:txBody>
      </p:sp>
    </p:spTree>
    <p:extLst>
      <p:ext uri="{BB962C8B-B14F-4D97-AF65-F5344CB8AC3E}">
        <p14:creationId xmlns:p14="http://schemas.microsoft.com/office/powerpoint/2010/main" val="2279527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0" dirty="0"/>
              <a:t>WHAT CAUSES TRADE IMBALANCES?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44" y="838200"/>
            <a:ext cx="9118356" cy="2362200"/>
          </a:xfrm>
        </p:spPr>
        <p:txBody>
          <a:bodyPr>
            <a:noAutofit/>
          </a:bodyPr>
          <a:lstStyle/>
          <a:p>
            <a:r>
              <a:rPr lang="en-US" sz="2400" dirty="0"/>
              <a:t>In a later chapter we’ll learn the surprising answer: the determinants of the overall balance between exports and imports lie in 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decisions about savings and investment spending. </a:t>
            </a:r>
            <a:r>
              <a:rPr lang="en-US" sz="2400" dirty="0">
                <a:solidFill>
                  <a:srgbClr val="990033"/>
                </a:solidFill>
              </a:rPr>
              <a:t>Countries with high investment spending relative to savings run trade deficits;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countries with low investment spending relative to savings run trade surpluses.</a:t>
            </a:r>
          </a:p>
        </p:txBody>
      </p:sp>
      <p:pic>
        <p:nvPicPr>
          <p:cNvPr id="6" name="Picture 5" descr="Screen Shot 2015-03-31 at 9.01.2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3124200"/>
            <a:ext cx="5105400" cy="35469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21875" y="5666601"/>
            <a:ext cx="23601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Source: CIA World </a:t>
            </a:r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Factbook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1511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This year the value of a country’s imports is equal to $1.2 billion, and the value of its exports is equal to $1.3 billion. This country is running a: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3200" dirty="0"/>
              <a:t>trade surplus.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3200" dirty="0"/>
              <a:t>trade deficit.</a:t>
            </a:r>
          </a:p>
        </p:txBody>
      </p:sp>
    </p:spTree>
    <p:extLst>
      <p:ext uri="{BB962C8B-B14F-4D97-AF65-F5344CB8AC3E}">
        <p14:creationId xmlns:p14="http://schemas.microsoft.com/office/powerpoint/2010/main" val="157385008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3-31 at 10.36.2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330223"/>
            <a:ext cx="5334000" cy="3527777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914400"/>
            <a:ext cx="9142086" cy="2667000"/>
          </a:xfrm>
          <a:noFill/>
        </p:spPr>
        <p:txBody>
          <a:bodyPr>
            <a:normAutofit fontScale="925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entury Gothic"/>
                <a:cs typeface="Century Gothic"/>
              </a:rPr>
              <a:t>SPAIN’S COSTLY SURPLUS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Century Gothic"/>
                <a:cs typeface="Century Gothic"/>
              </a:rPr>
              <a:t>Giving up the Peseta for the Euro (and closer union with Europe) in 1999 had benefits… and costs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Century Gothic"/>
                <a:cs typeface="Century Gothic"/>
              </a:rPr>
              <a:t>Did the influx of foreign investment afterward lead to the housing boom (and bust) that brought down Spain?	</a:t>
            </a:r>
          </a:p>
        </p:txBody>
      </p:sp>
      <p:sp>
        <p:nvSpPr>
          <p:cNvPr id="5" name="Rectangle 4"/>
          <p:cNvSpPr/>
          <p:nvPr/>
        </p:nvSpPr>
        <p:spPr>
          <a:xfrm>
            <a:off x="2895600" y="3505200"/>
            <a:ext cx="5141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953735"/>
                </a:solidFill>
                <a:latin typeface="Century Gothic"/>
                <a:cs typeface="Century Gothic"/>
              </a:rPr>
              <a:t>Spain’s Current Account Balance, 1999-2013</a:t>
            </a:r>
          </a:p>
        </p:txBody>
      </p:sp>
    </p:spTree>
    <p:extLst>
      <p:ext uri="{BB962C8B-B14F-4D97-AF65-F5344CB8AC3E}">
        <p14:creationId xmlns:p14="http://schemas.microsoft.com/office/powerpoint/2010/main" val="1116534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3-31 at 10.42.43 A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3987463"/>
            <a:ext cx="4191000" cy="28848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35814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THE DECLINE OF MONTGOMERY WARD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600" dirty="0">
                <a:solidFill>
                  <a:srgbClr val="000000"/>
                </a:solidFill>
                <a:latin typeface="Century Gothic"/>
              </a:rPr>
              <a:t>(THE IMPORTANCE OF UNDERSTANDING THE MACROECONOMY)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latin typeface="Century Gothic"/>
              </a:rPr>
              <a:t>1930’s: </a:t>
            </a:r>
            <a:r>
              <a:rPr lang="en-US" sz="2800" b="0" dirty="0">
                <a:latin typeface="Century Gothic"/>
              </a:rPr>
              <a:t>Montgomery Ward survived the Depressions by cutting costs and hoarding cash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latin typeface="Century Gothic"/>
              </a:rPr>
              <a:t>1940’s: </a:t>
            </a:r>
            <a:r>
              <a:rPr lang="en-US" sz="2800" b="0" dirty="0">
                <a:latin typeface="Century Gothic"/>
              </a:rPr>
              <a:t>Expecting a similar environment post WWII, they repeated the strategy… and didn’t open a new store until 1959… far too late to stop their decline</a:t>
            </a:r>
          </a:p>
        </p:txBody>
      </p:sp>
    </p:spTree>
    <p:extLst>
      <p:ext uri="{BB962C8B-B14F-4D97-AF65-F5344CB8AC3E}">
        <p14:creationId xmlns:p14="http://schemas.microsoft.com/office/powerpoint/2010/main" val="856611448"/>
      </p:ext>
    </p:extLst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5B5F9-455B-A1F9-3B57-F4BD3FCB6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0B9FC-3200-F62C-D61C-D7B4C6262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EAF9A-723D-95D5-C94B-F2491712C9AF}"/>
              </a:ext>
            </a:extLst>
          </p:cNvPr>
          <p:cNvSpPr txBox="1"/>
          <p:nvPr/>
        </p:nvSpPr>
        <p:spPr>
          <a:xfrm>
            <a:off x="2171700" y="2697479"/>
            <a:ext cx="46577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https://www.wsj.com/video/series/daniela-hernandez/inflation-brain-why-you-seesaw-between-splurging-and-penny-pinching/38E64AFC-EB4E-43A1-89BB-5E524EEA5CDB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468498"/>
      </p:ext>
    </p:extLst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" y="990600"/>
            <a:ext cx="9067800" cy="1371600"/>
          </a:xfrm>
        </p:spPr>
        <p:txBody>
          <a:bodyPr/>
          <a:lstStyle/>
          <a:p>
            <a:r>
              <a:rPr lang="en-US" sz="2400" b="0" dirty="0">
                <a:latin typeface="Century Gothic"/>
              </a:rPr>
              <a:t>You might not understand everything mentioned in </a:t>
            </a:r>
            <a:r>
              <a:rPr lang="en-US" sz="2400" b="0" dirty="0">
                <a:latin typeface="Century Gothic"/>
                <a:hlinkClick r:id="rId3"/>
              </a:rPr>
              <a:t>this</a:t>
            </a:r>
            <a:r>
              <a:rPr lang="en-US" sz="2400" b="0" dirty="0">
                <a:latin typeface="Century Gothic"/>
              </a:rPr>
              <a:t> epic economist rap battle YET…but you will enjoy it and get a taste for the philosophical debates about stabilization policy within macroeconomics. (6:28 minutes)</a:t>
            </a:r>
          </a:p>
        </p:txBody>
      </p:sp>
      <p:pic>
        <p:nvPicPr>
          <p:cNvPr id="16386" name="Picture 2">
            <a:hlinkClick r:id="rId3"/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84400" y="2971800"/>
            <a:ext cx="3757612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118786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5ad1a792e7828ca492521aea17b12f2931c3dea"/>
</p:tagLst>
</file>

<file path=ppt/theme/theme1.xml><?xml version="1.0" encoding="utf-8"?>
<a:theme xmlns:a="http://schemas.openxmlformats.org/drawingml/2006/main" name="4e Krugman_Dynamic PPTs_Ch05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Newest 2e them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Custom 1">
      <a:majorFont>
        <a:latin typeface="Garamon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1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2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1_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2_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newer Krugman 3e theme</Template>
  <TotalTime>4954</TotalTime>
  <Words>1638</Words>
  <Application>Microsoft Macintosh PowerPoint</Application>
  <PresentationFormat>On-screen Show (4:3)</PresentationFormat>
  <Paragraphs>145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36</vt:i4>
      </vt:variant>
    </vt:vector>
  </HeadingPairs>
  <TitlesOfParts>
    <vt:vector size="53" baseType="lpstr">
      <vt:lpstr>Arial</vt:lpstr>
      <vt:lpstr>Calibri</vt:lpstr>
      <vt:lpstr>Candara</vt:lpstr>
      <vt:lpstr>Century Gothic</vt:lpstr>
      <vt:lpstr>Gill Sans</vt:lpstr>
      <vt:lpstr>Tw Cen MT</vt:lpstr>
      <vt:lpstr>Verdana</vt:lpstr>
      <vt:lpstr>Wingdings</vt:lpstr>
      <vt:lpstr>4e Krugman_Dynamic PPTs_Ch05</vt:lpstr>
      <vt:lpstr>6_Custom Design</vt:lpstr>
      <vt:lpstr>1_Newest 2e theme</vt:lpstr>
      <vt:lpstr>10_Stone ppt Theme1</vt:lpstr>
      <vt:lpstr>11_Stone ppt Theme1</vt:lpstr>
      <vt:lpstr>12_Stone ppt Theme1</vt:lpstr>
      <vt:lpstr>7_Custom Design</vt:lpstr>
      <vt:lpstr>11_Krugman 3e main content</vt:lpstr>
      <vt:lpstr>12_Krugman 3e main content</vt:lpstr>
      <vt:lpstr>Economics 2220 Principles Of Macroeconomics</vt:lpstr>
      <vt:lpstr>PowerPoint Presentation</vt:lpstr>
      <vt:lpstr>PowerPoint Presentation</vt:lpstr>
      <vt:lpstr>PowerPoint Presentation</vt:lpstr>
      <vt:lpstr>THE ORIGINS OF MACROECONOMICS</vt:lpstr>
      <vt:lpstr>THE ORIGINS OF MACROECONOMICS</vt:lpstr>
      <vt:lpstr>THE BUSINESS CYCLE</vt:lpstr>
      <vt:lpstr>The Nature of Macroeconomics</vt:lpstr>
      <vt:lpstr>MACROECONOMICS: THE WHOLE IS GREATER THAN THE SUM OF ITS PARTS</vt:lpstr>
      <vt:lpstr>MACROECONOMICS: THEORY AND POLICY</vt:lpstr>
      <vt:lpstr>COMPARING THE GREAT RECESSION TO THE GREAT DEPRESSION</vt:lpstr>
      <vt:lpstr>MACROECONOMICS</vt:lpstr>
      <vt:lpstr>THE BUSINESS CYCLE</vt:lpstr>
      <vt:lpstr>IMAGES OF THE DEPRESSION</vt:lpstr>
      <vt:lpstr>GROWTH INTERRUPTED, 1985–2014</vt:lpstr>
      <vt:lpstr>CHARTING THE BUSINESS CYCLE</vt:lpstr>
      <vt:lpstr>THE BUSINESS CYCLE</vt:lpstr>
      <vt:lpstr>THE PAIN OF RECESSION</vt:lpstr>
      <vt:lpstr>TAMING THE BUSINESS CYCLE</vt:lpstr>
      <vt:lpstr>PowerPoint Presentation</vt:lpstr>
      <vt:lpstr>PowerPoint Presentation</vt:lpstr>
      <vt:lpstr>LONG-RUN ECONOMIC GROWTH</vt:lpstr>
      <vt:lpstr>GROWTH, THE LONG VIEW</vt:lpstr>
      <vt:lpstr>GROWTH, THE LONG VIEW</vt:lpstr>
      <vt:lpstr>PowerPoint Presentation</vt:lpstr>
      <vt:lpstr>INFLATION AND DEFLATION</vt:lpstr>
      <vt:lpstr>THE CAUSES OF INFLATION AND DEFLATION</vt:lpstr>
      <vt:lpstr>THE PAIN OF INFLATION AND DEFLATION</vt:lpstr>
      <vt:lpstr>PowerPoint Presentation</vt:lpstr>
      <vt:lpstr>INTERNATIONAL IMBALANCES</vt:lpstr>
      <vt:lpstr>WHAT CAUSES TRADE IMBALANCES?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Solina Lindahl</dc:creator>
  <cp:lastModifiedBy>Zhigang Feng</cp:lastModifiedBy>
  <cp:revision>189</cp:revision>
  <dcterms:created xsi:type="dcterms:W3CDTF">2012-07-21T02:43:21Z</dcterms:created>
  <dcterms:modified xsi:type="dcterms:W3CDTF">2023-02-23T19:13:53Z</dcterms:modified>
</cp:coreProperties>
</file>