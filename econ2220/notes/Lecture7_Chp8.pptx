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theme/theme7.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8.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9.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00" r:id="rId2"/>
    <p:sldMasterId id="2147483704" r:id="rId3"/>
    <p:sldMasterId id="2147483708" r:id="rId4"/>
    <p:sldMasterId id="2147483711" r:id="rId5"/>
    <p:sldMasterId id="2147483714" r:id="rId6"/>
    <p:sldMasterId id="2147483717" r:id="rId7"/>
    <p:sldMasterId id="2147483719" r:id="rId8"/>
    <p:sldMasterId id="2147483811" r:id="rId9"/>
    <p:sldMasterId id="2147483842" r:id="rId10"/>
  </p:sldMasterIdLst>
  <p:notesMasterIdLst>
    <p:notesMasterId r:id="rId60"/>
  </p:notesMasterIdLst>
  <p:handoutMasterIdLst>
    <p:handoutMasterId r:id="rId61"/>
  </p:handoutMasterIdLst>
  <p:sldIdLst>
    <p:sldId id="324" r:id="rId11"/>
    <p:sldId id="262" r:id="rId12"/>
    <p:sldId id="325" r:id="rId13"/>
    <p:sldId id="326" r:id="rId14"/>
    <p:sldId id="265" r:id="rId15"/>
    <p:sldId id="266" r:id="rId16"/>
    <p:sldId id="267" r:id="rId17"/>
    <p:sldId id="268" r:id="rId18"/>
    <p:sldId id="308" r:id="rId19"/>
    <p:sldId id="270" r:id="rId20"/>
    <p:sldId id="271" r:id="rId21"/>
    <p:sldId id="272" r:id="rId22"/>
    <p:sldId id="309" r:id="rId23"/>
    <p:sldId id="274" r:id="rId24"/>
    <p:sldId id="310" r:id="rId25"/>
    <p:sldId id="311" r:id="rId26"/>
    <p:sldId id="312" r:id="rId27"/>
    <p:sldId id="313" r:id="rId28"/>
    <p:sldId id="278" r:id="rId29"/>
    <p:sldId id="314" r:id="rId30"/>
    <p:sldId id="280" r:id="rId31"/>
    <p:sldId id="315" r:id="rId32"/>
    <p:sldId id="282" r:id="rId33"/>
    <p:sldId id="316" r:id="rId34"/>
    <p:sldId id="284" r:id="rId35"/>
    <p:sldId id="318" r:id="rId36"/>
    <p:sldId id="286" r:id="rId37"/>
    <p:sldId id="319" r:id="rId38"/>
    <p:sldId id="320" r:id="rId39"/>
    <p:sldId id="287" r:id="rId40"/>
    <p:sldId id="288" r:id="rId41"/>
    <p:sldId id="289" r:id="rId42"/>
    <p:sldId id="290" r:id="rId43"/>
    <p:sldId id="291" r:id="rId44"/>
    <p:sldId id="292" r:id="rId45"/>
    <p:sldId id="322" r:id="rId46"/>
    <p:sldId id="321" r:id="rId47"/>
    <p:sldId id="296" r:id="rId48"/>
    <p:sldId id="297" r:id="rId49"/>
    <p:sldId id="295" r:id="rId50"/>
    <p:sldId id="298" r:id="rId51"/>
    <p:sldId id="299" r:id="rId52"/>
    <p:sldId id="300" r:id="rId53"/>
    <p:sldId id="301" r:id="rId54"/>
    <p:sldId id="323" r:id="rId55"/>
    <p:sldId id="303" r:id="rId56"/>
    <p:sldId id="304" r:id="rId57"/>
    <p:sldId id="305" r:id="rId58"/>
    <p:sldId id="306" r:id="rId59"/>
  </p:sldIdLst>
  <p:sldSz cx="9144000" cy="6858000" type="screen4x3"/>
  <p:notesSz cx="6858000" cy="9144000"/>
  <p:custDataLst>
    <p:tags r:id="rId6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11" clrIdx="0"/>
  <p:cmAuthor id="1" name="Bonilla, Edgar" initials="EB" lastIdx="4" clrIdx="1"/>
  <p:cmAuthor id="2" name="Solina Lindahl" initials="SL" lastIdx="9" clrIdx="2"/>
  <p:cmAuthor id="3" name="hbadmin" initials="h"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DF9509-3C9E-F243-A5D9-7E526A0E0C58}" v="4" dt="2026-02-24T16:14:36.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60"/>
    <p:restoredTop sz="90977" autoAdjust="0"/>
  </p:normalViewPr>
  <p:slideViewPr>
    <p:cSldViewPr>
      <p:cViewPr varScale="1">
        <p:scale>
          <a:sx n="94" d="100"/>
          <a:sy n="94" d="100"/>
        </p:scale>
        <p:origin x="1328" y="184"/>
      </p:cViewPr>
      <p:guideLst>
        <p:guide orient="horz" pos="2160"/>
        <p:guide pos="2880"/>
      </p:guideLst>
    </p:cSldViewPr>
  </p:slideViewPr>
  <p:notesTextViewPr>
    <p:cViewPr>
      <p:scale>
        <a:sx n="1" d="1"/>
        <a:sy n="1" d="1"/>
      </p:scale>
      <p:origin x="0" y="0"/>
    </p:cViewPr>
  </p:notesTextViewPr>
  <p:notesViewPr>
    <p:cSldViewPr snapToGrid="0" snapToObjects="1">
      <p:cViewPr varScale="1">
        <p:scale>
          <a:sx n="89" d="100"/>
          <a:sy n="89" d="100"/>
        </p:scale>
        <p:origin x="-38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slide" Target="slides/slide43.xml"/><Relationship Id="rId58" Type="http://schemas.openxmlformats.org/officeDocument/2006/relationships/slide" Target="slides/slide48.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handoutMaster" Target="handoutMasters/handoutMaster1.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Master" Target="slideMasters/slideMaster8.xml"/><Relationship Id="rId51" Type="http://schemas.openxmlformats.org/officeDocument/2006/relationships/slide" Target="slides/slide4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igang Feng" userId="5e8ed788b3896709" providerId="LiveId" clId="{90DD35B2-EABA-5749-ADF0-1076D96956E0}"/>
    <pc:docChg chg="modSld">
      <pc:chgData name="Zhigang Feng" userId="5e8ed788b3896709" providerId="LiveId" clId="{90DD35B2-EABA-5749-ADF0-1076D96956E0}" dt="2026-02-24T16:14:36.084" v="3" actId="1037"/>
      <pc:docMkLst>
        <pc:docMk/>
      </pc:docMkLst>
      <pc:sldChg chg="addSp delSp modSp modAnim">
        <pc:chgData name="Zhigang Feng" userId="5e8ed788b3896709" providerId="LiveId" clId="{90DD35B2-EABA-5749-ADF0-1076D96956E0}" dt="2026-02-24T16:14:36.084" v="3" actId="1037"/>
        <pc:sldMkLst>
          <pc:docMk/>
          <pc:sldMk cId="107415114" sldId="288"/>
        </pc:sldMkLst>
        <pc:picChg chg="add del mod">
          <ac:chgData name="Zhigang Feng" userId="5e8ed788b3896709" providerId="LiveId" clId="{90DD35B2-EABA-5749-ADF0-1076D96956E0}" dt="2026-02-24T16:14:36.084" v="3" actId="1037"/>
          <ac:picMkLst>
            <pc:docMk/>
            <pc:sldMk cId="107415114" sldId="288"/>
            <ac:picMk id="5" creationId="{00000000-0000-0000-0000-000000000000}"/>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ata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7.svg"/><Relationship Id="rId1" Type="http://schemas.openxmlformats.org/officeDocument/2006/relationships/image" Target="../media/image26.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571BBC-8CFF-40E0-9DF7-3015E87E0D8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1944B71-4751-44A6-8D26-6B4988C94D90}">
      <dgm:prSet/>
      <dgm:spPr/>
      <dgm:t>
        <a:bodyPr/>
        <a:lstStyle/>
        <a:p>
          <a:r>
            <a:rPr lang="en-US"/>
            <a:t>Increase in physical capital</a:t>
          </a:r>
        </a:p>
      </dgm:t>
    </dgm:pt>
    <dgm:pt modelId="{DD069717-5DD7-48B9-B530-94400E73FA0F}" type="parTrans" cxnId="{6ED7A4D2-64C3-4F33-9DAD-A96D4B1A6DC7}">
      <dgm:prSet/>
      <dgm:spPr/>
      <dgm:t>
        <a:bodyPr/>
        <a:lstStyle/>
        <a:p>
          <a:endParaRPr lang="en-US"/>
        </a:p>
      </dgm:t>
    </dgm:pt>
    <dgm:pt modelId="{8E8C58EF-58EF-40ED-9B28-65D4032F8B05}" type="sibTrans" cxnId="{6ED7A4D2-64C3-4F33-9DAD-A96D4B1A6DC7}">
      <dgm:prSet/>
      <dgm:spPr/>
      <dgm:t>
        <a:bodyPr/>
        <a:lstStyle/>
        <a:p>
          <a:endParaRPr lang="en-US"/>
        </a:p>
      </dgm:t>
    </dgm:pt>
    <dgm:pt modelId="{7814C13B-9EB6-4551-AD01-462BF58A7D4A}">
      <dgm:prSet/>
      <dgm:spPr/>
      <dgm:t>
        <a:bodyPr/>
        <a:lstStyle/>
        <a:p>
          <a:r>
            <a:rPr lang="en-US" i="1"/>
            <a:t>Physical capital: </a:t>
          </a:r>
          <a:r>
            <a:rPr lang="en-US" b="0"/>
            <a:t>human-made resources, such as buildings and machines</a:t>
          </a:r>
          <a:endParaRPr lang="en-US"/>
        </a:p>
      </dgm:t>
    </dgm:pt>
    <dgm:pt modelId="{DCF5F780-3414-4755-B240-42E4143099AB}" type="parTrans" cxnId="{BE0BC4F2-9951-448E-9112-44DB75583CEF}">
      <dgm:prSet/>
      <dgm:spPr/>
      <dgm:t>
        <a:bodyPr/>
        <a:lstStyle/>
        <a:p>
          <a:endParaRPr lang="en-US"/>
        </a:p>
      </dgm:t>
    </dgm:pt>
    <dgm:pt modelId="{58F87EDB-971C-46C8-9F87-CDD6B1FCCEAD}" type="sibTrans" cxnId="{BE0BC4F2-9951-448E-9112-44DB75583CEF}">
      <dgm:prSet/>
      <dgm:spPr/>
      <dgm:t>
        <a:bodyPr/>
        <a:lstStyle/>
        <a:p>
          <a:endParaRPr lang="en-US"/>
        </a:p>
      </dgm:t>
    </dgm:pt>
    <dgm:pt modelId="{175A32B6-F0C1-4B47-9D46-A0231A9A4508}" type="pres">
      <dgm:prSet presAssocID="{05571BBC-8CFF-40E0-9DF7-3015E87E0D88}" presName="root" presStyleCnt="0">
        <dgm:presLayoutVars>
          <dgm:dir/>
          <dgm:resizeHandles val="exact"/>
        </dgm:presLayoutVars>
      </dgm:prSet>
      <dgm:spPr/>
    </dgm:pt>
    <dgm:pt modelId="{C1F7B571-B93C-40AD-8189-3280DCE6C8F3}" type="pres">
      <dgm:prSet presAssocID="{71944B71-4751-44A6-8D26-6B4988C94D90}" presName="compNode" presStyleCnt="0"/>
      <dgm:spPr/>
    </dgm:pt>
    <dgm:pt modelId="{E8BD3A63-14C0-4942-84B5-3270C553ABAA}" type="pres">
      <dgm:prSet presAssocID="{71944B71-4751-44A6-8D26-6B4988C94D90}" presName="bgRect" presStyleLbl="bgShp" presStyleIdx="0" presStyleCnt="2"/>
      <dgm:spPr/>
    </dgm:pt>
    <dgm:pt modelId="{8560365C-97F1-48D3-B6BF-5B897D225562}" type="pres">
      <dgm:prSet presAssocID="{71944B71-4751-44A6-8D26-6B4988C94D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2DC5F6B0-DD9F-48C3-B629-544FA4DD6FDA}" type="pres">
      <dgm:prSet presAssocID="{71944B71-4751-44A6-8D26-6B4988C94D90}" presName="spaceRect" presStyleCnt="0"/>
      <dgm:spPr/>
    </dgm:pt>
    <dgm:pt modelId="{4D6B22B6-9D4A-424D-A09B-C013D084F47B}" type="pres">
      <dgm:prSet presAssocID="{71944B71-4751-44A6-8D26-6B4988C94D90}" presName="parTx" presStyleLbl="revTx" presStyleIdx="0" presStyleCnt="2">
        <dgm:presLayoutVars>
          <dgm:chMax val="0"/>
          <dgm:chPref val="0"/>
        </dgm:presLayoutVars>
      </dgm:prSet>
      <dgm:spPr/>
    </dgm:pt>
    <dgm:pt modelId="{9C40C3F9-3188-4DE6-B5A9-3182076AE7E7}" type="pres">
      <dgm:prSet presAssocID="{8E8C58EF-58EF-40ED-9B28-65D4032F8B05}" presName="sibTrans" presStyleCnt="0"/>
      <dgm:spPr/>
    </dgm:pt>
    <dgm:pt modelId="{2E340CB3-D9D7-4BF4-8408-3A0CCA00F44D}" type="pres">
      <dgm:prSet presAssocID="{7814C13B-9EB6-4551-AD01-462BF58A7D4A}" presName="compNode" presStyleCnt="0"/>
      <dgm:spPr/>
    </dgm:pt>
    <dgm:pt modelId="{885613FA-BE04-41AE-89F1-C24214613A4C}" type="pres">
      <dgm:prSet presAssocID="{7814C13B-9EB6-4551-AD01-462BF58A7D4A}" presName="bgRect" presStyleLbl="bgShp" presStyleIdx="1" presStyleCnt="2"/>
      <dgm:spPr/>
    </dgm:pt>
    <dgm:pt modelId="{F07FC401-7133-4A5E-927A-2003BF779C60}" type="pres">
      <dgm:prSet presAssocID="{7814C13B-9EB6-4551-AD01-462BF58A7D4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ity"/>
        </a:ext>
      </dgm:extLst>
    </dgm:pt>
    <dgm:pt modelId="{0DDD6356-4F4F-4DB3-BE99-67952D7E9F6C}" type="pres">
      <dgm:prSet presAssocID="{7814C13B-9EB6-4551-AD01-462BF58A7D4A}" presName="spaceRect" presStyleCnt="0"/>
      <dgm:spPr/>
    </dgm:pt>
    <dgm:pt modelId="{293C25E4-D1F2-42B3-8225-EE495A65788C}" type="pres">
      <dgm:prSet presAssocID="{7814C13B-9EB6-4551-AD01-462BF58A7D4A}" presName="parTx" presStyleLbl="revTx" presStyleIdx="1" presStyleCnt="2">
        <dgm:presLayoutVars>
          <dgm:chMax val="0"/>
          <dgm:chPref val="0"/>
        </dgm:presLayoutVars>
      </dgm:prSet>
      <dgm:spPr/>
    </dgm:pt>
  </dgm:ptLst>
  <dgm:cxnLst>
    <dgm:cxn modelId="{4932ACC4-EFA0-43FE-8207-EDE8AEE5431A}" type="presOf" srcId="{05571BBC-8CFF-40E0-9DF7-3015E87E0D88}" destId="{175A32B6-F0C1-4B47-9D46-A0231A9A4508}" srcOrd="0" destOrd="0" presId="urn:microsoft.com/office/officeart/2018/2/layout/IconVerticalSolidList"/>
    <dgm:cxn modelId="{6ED7A4D2-64C3-4F33-9DAD-A96D4B1A6DC7}" srcId="{05571BBC-8CFF-40E0-9DF7-3015E87E0D88}" destId="{71944B71-4751-44A6-8D26-6B4988C94D90}" srcOrd="0" destOrd="0" parTransId="{DD069717-5DD7-48B9-B530-94400E73FA0F}" sibTransId="{8E8C58EF-58EF-40ED-9B28-65D4032F8B05}"/>
    <dgm:cxn modelId="{19DD2BD5-7DB7-4501-8BB1-F2326A47F84A}" type="presOf" srcId="{7814C13B-9EB6-4551-AD01-462BF58A7D4A}" destId="{293C25E4-D1F2-42B3-8225-EE495A65788C}" srcOrd="0" destOrd="0" presId="urn:microsoft.com/office/officeart/2018/2/layout/IconVerticalSolidList"/>
    <dgm:cxn modelId="{9BA39ADD-4243-44C4-B528-68352EC41B98}" type="presOf" srcId="{71944B71-4751-44A6-8D26-6B4988C94D90}" destId="{4D6B22B6-9D4A-424D-A09B-C013D084F47B}" srcOrd="0" destOrd="0" presId="urn:microsoft.com/office/officeart/2018/2/layout/IconVerticalSolidList"/>
    <dgm:cxn modelId="{BE0BC4F2-9951-448E-9112-44DB75583CEF}" srcId="{05571BBC-8CFF-40E0-9DF7-3015E87E0D88}" destId="{7814C13B-9EB6-4551-AD01-462BF58A7D4A}" srcOrd="1" destOrd="0" parTransId="{DCF5F780-3414-4755-B240-42E4143099AB}" sibTransId="{58F87EDB-971C-46C8-9F87-CDD6B1FCCEAD}"/>
    <dgm:cxn modelId="{A69F0666-3827-4CAA-9BCB-60D7F77B1D0C}" type="presParOf" srcId="{175A32B6-F0C1-4B47-9D46-A0231A9A4508}" destId="{C1F7B571-B93C-40AD-8189-3280DCE6C8F3}" srcOrd="0" destOrd="0" presId="urn:microsoft.com/office/officeart/2018/2/layout/IconVerticalSolidList"/>
    <dgm:cxn modelId="{125A0118-DC84-46F7-BA12-30A738C6B762}" type="presParOf" srcId="{C1F7B571-B93C-40AD-8189-3280DCE6C8F3}" destId="{E8BD3A63-14C0-4942-84B5-3270C553ABAA}" srcOrd="0" destOrd="0" presId="urn:microsoft.com/office/officeart/2018/2/layout/IconVerticalSolidList"/>
    <dgm:cxn modelId="{0C6ECF8D-96AE-4985-89D7-023986A01D4D}" type="presParOf" srcId="{C1F7B571-B93C-40AD-8189-3280DCE6C8F3}" destId="{8560365C-97F1-48D3-B6BF-5B897D225562}" srcOrd="1" destOrd="0" presId="urn:microsoft.com/office/officeart/2018/2/layout/IconVerticalSolidList"/>
    <dgm:cxn modelId="{49194C91-E635-44CF-895A-3C6CC48F3AC2}" type="presParOf" srcId="{C1F7B571-B93C-40AD-8189-3280DCE6C8F3}" destId="{2DC5F6B0-DD9F-48C3-B629-544FA4DD6FDA}" srcOrd="2" destOrd="0" presId="urn:microsoft.com/office/officeart/2018/2/layout/IconVerticalSolidList"/>
    <dgm:cxn modelId="{423A1000-A697-44C1-A19C-45158310E7B6}" type="presParOf" srcId="{C1F7B571-B93C-40AD-8189-3280DCE6C8F3}" destId="{4D6B22B6-9D4A-424D-A09B-C013D084F47B}" srcOrd="3" destOrd="0" presId="urn:microsoft.com/office/officeart/2018/2/layout/IconVerticalSolidList"/>
    <dgm:cxn modelId="{422DC0C8-8D0E-4998-B501-1D62555F36C2}" type="presParOf" srcId="{175A32B6-F0C1-4B47-9D46-A0231A9A4508}" destId="{9C40C3F9-3188-4DE6-B5A9-3182076AE7E7}" srcOrd="1" destOrd="0" presId="urn:microsoft.com/office/officeart/2018/2/layout/IconVerticalSolidList"/>
    <dgm:cxn modelId="{5EEC45BE-B43A-46F1-B24C-6C8FCF6E8B1D}" type="presParOf" srcId="{175A32B6-F0C1-4B47-9D46-A0231A9A4508}" destId="{2E340CB3-D9D7-4BF4-8408-3A0CCA00F44D}" srcOrd="2" destOrd="0" presId="urn:microsoft.com/office/officeart/2018/2/layout/IconVerticalSolidList"/>
    <dgm:cxn modelId="{4A534CE0-649F-48D9-9B5F-DA92329A198E}" type="presParOf" srcId="{2E340CB3-D9D7-4BF4-8408-3A0CCA00F44D}" destId="{885613FA-BE04-41AE-89F1-C24214613A4C}" srcOrd="0" destOrd="0" presId="urn:microsoft.com/office/officeart/2018/2/layout/IconVerticalSolidList"/>
    <dgm:cxn modelId="{4E1BD565-F3B4-4F9E-AC6A-A7D296617C5C}" type="presParOf" srcId="{2E340CB3-D9D7-4BF4-8408-3A0CCA00F44D}" destId="{F07FC401-7133-4A5E-927A-2003BF779C60}" srcOrd="1" destOrd="0" presId="urn:microsoft.com/office/officeart/2018/2/layout/IconVerticalSolidList"/>
    <dgm:cxn modelId="{ECD47474-D6B8-487E-9742-0FDD3EADCC86}" type="presParOf" srcId="{2E340CB3-D9D7-4BF4-8408-3A0CCA00F44D}" destId="{0DDD6356-4F4F-4DB3-BE99-67952D7E9F6C}" srcOrd="2" destOrd="0" presId="urn:microsoft.com/office/officeart/2018/2/layout/IconVerticalSolidList"/>
    <dgm:cxn modelId="{F5A49266-B5AF-4DC0-B4B4-BBAFDA903435}" type="presParOf" srcId="{2E340CB3-D9D7-4BF4-8408-3A0CCA00F44D}" destId="{293C25E4-D1F2-42B3-8225-EE495A65788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E7AEBA-0FC2-4F74-8AFA-8C6C9D2C928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EB581A0-9311-4B31-8AC5-AF062697180C}">
      <dgm:prSet/>
      <dgm:spPr/>
      <dgm:t>
        <a:bodyPr/>
        <a:lstStyle/>
        <a:p>
          <a:r>
            <a:rPr lang="en-US" b="1"/>
            <a:t>Increase in human capital</a:t>
          </a:r>
          <a:endParaRPr lang="en-US"/>
        </a:p>
      </dgm:t>
    </dgm:pt>
    <dgm:pt modelId="{CFC26820-3649-4F43-BCF5-01FC68DB0D37}" type="parTrans" cxnId="{BB8F1F08-2C7E-4F8B-AD79-FEE41BB2C4D3}">
      <dgm:prSet/>
      <dgm:spPr/>
      <dgm:t>
        <a:bodyPr/>
        <a:lstStyle/>
        <a:p>
          <a:endParaRPr lang="en-US"/>
        </a:p>
      </dgm:t>
    </dgm:pt>
    <dgm:pt modelId="{13CDE5CC-9D82-452F-9FB4-2EAA4B03A31F}" type="sibTrans" cxnId="{BB8F1F08-2C7E-4F8B-AD79-FEE41BB2C4D3}">
      <dgm:prSet/>
      <dgm:spPr/>
      <dgm:t>
        <a:bodyPr/>
        <a:lstStyle/>
        <a:p>
          <a:endParaRPr lang="en-US"/>
        </a:p>
      </dgm:t>
    </dgm:pt>
    <dgm:pt modelId="{6198F739-DADB-4F3E-BA6D-35FAFE595316}">
      <dgm:prSet/>
      <dgm:spPr/>
      <dgm:t>
        <a:bodyPr/>
        <a:lstStyle/>
        <a:p>
          <a:r>
            <a:rPr lang="en-US" b="1" i="1"/>
            <a:t>Human capital:</a:t>
          </a:r>
          <a:r>
            <a:rPr lang="en-US" b="0"/>
            <a:t> the improvement in labor created by the education and knowledge embodied in the workforce.</a:t>
          </a:r>
          <a:endParaRPr lang="en-US"/>
        </a:p>
      </dgm:t>
    </dgm:pt>
    <dgm:pt modelId="{8FCBC4FD-9731-44A1-BFBE-03729394740F}" type="parTrans" cxnId="{318BCE45-C4C6-42EC-A238-D7C97DCDF483}">
      <dgm:prSet/>
      <dgm:spPr/>
      <dgm:t>
        <a:bodyPr/>
        <a:lstStyle/>
        <a:p>
          <a:endParaRPr lang="en-US"/>
        </a:p>
      </dgm:t>
    </dgm:pt>
    <dgm:pt modelId="{E84BC50F-5BDE-4773-8CFC-0AE5AD199379}" type="sibTrans" cxnId="{318BCE45-C4C6-42EC-A238-D7C97DCDF483}">
      <dgm:prSet/>
      <dgm:spPr/>
      <dgm:t>
        <a:bodyPr/>
        <a:lstStyle/>
        <a:p>
          <a:endParaRPr lang="en-US"/>
        </a:p>
      </dgm:t>
    </dgm:pt>
    <dgm:pt modelId="{3FD3FB1F-531B-49D2-9A32-C5DDDBBB8AC9}" type="pres">
      <dgm:prSet presAssocID="{46E7AEBA-0FC2-4F74-8AFA-8C6C9D2C928A}" presName="root" presStyleCnt="0">
        <dgm:presLayoutVars>
          <dgm:dir/>
          <dgm:resizeHandles val="exact"/>
        </dgm:presLayoutVars>
      </dgm:prSet>
      <dgm:spPr/>
    </dgm:pt>
    <dgm:pt modelId="{A4BB4619-76DC-452D-A9EF-3B0B57A10B0B}" type="pres">
      <dgm:prSet presAssocID="{FEB581A0-9311-4B31-8AC5-AF062697180C}" presName="compNode" presStyleCnt="0"/>
      <dgm:spPr/>
    </dgm:pt>
    <dgm:pt modelId="{A55B4189-5DB8-40F0-95A4-634FC7AB130B}" type="pres">
      <dgm:prSet presAssocID="{FEB581A0-9311-4B31-8AC5-AF062697180C}" presName="bgRect" presStyleLbl="bgShp" presStyleIdx="0" presStyleCnt="2"/>
      <dgm:spPr/>
    </dgm:pt>
    <dgm:pt modelId="{E831AC04-AEAA-4FA7-8336-918F9FC5A20A}" type="pres">
      <dgm:prSet presAssocID="{FEB581A0-9311-4B31-8AC5-AF062697180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pward trend"/>
        </a:ext>
      </dgm:extLst>
    </dgm:pt>
    <dgm:pt modelId="{8B82F512-36F8-42F9-B78D-9A0F8954B918}" type="pres">
      <dgm:prSet presAssocID="{FEB581A0-9311-4B31-8AC5-AF062697180C}" presName="spaceRect" presStyleCnt="0"/>
      <dgm:spPr/>
    </dgm:pt>
    <dgm:pt modelId="{5DDF32A2-044A-4339-9C82-E7E5E79CDFB0}" type="pres">
      <dgm:prSet presAssocID="{FEB581A0-9311-4B31-8AC5-AF062697180C}" presName="parTx" presStyleLbl="revTx" presStyleIdx="0" presStyleCnt="2">
        <dgm:presLayoutVars>
          <dgm:chMax val="0"/>
          <dgm:chPref val="0"/>
        </dgm:presLayoutVars>
      </dgm:prSet>
      <dgm:spPr/>
    </dgm:pt>
    <dgm:pt modelId="{9DBF9FC0-11AB-4E81-A315-76F68F1665B2}" type="pres">
      <dgm:prSet presAssocID="{13CDE5CC-9D82-452F-9FB4-2EAA4B03A31F}" presName="sibTrans" presStyleCnt="0"/>
      <dgm:spPr/>
    </dgm:pt>
    <dgm:pt modelId="{52050C65-833F-4502-8143-402868C09F68}" type="pres">
      <dgm:prSet presAssocID="{6198F739-DADB-4F3E-BA6D-35FAFE595316}" presName="compNode" presStyleCnt="0"/>
      <dgm:spPr/>
    </dgm:pt>
    <dgm:pt modelId="{30943671-8C9E-4E4C-8D06-0CA2946ED28A}" type="pres">
      <dgm:prSet presAssocID="{6198F739-DADB-4F3E-BA6D-35FAFE595316}" presName="bgRect" presStyleLbl="bgShp" presStyleIdx="1" presStyleCnt="2"/>
      <dgm:spPr/>
    </dgm:pt>
    <dgm:pt modelId="{B1173627-D8E9-4F63-A9CE-B5A72594FBF0}" type="pres">
      <dgm:prSet presAssocID="{6198F739-DADB-4F3E-BA6D-35FAFE59531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13EB3C12-C243-4522-9FD4-713EC2DF3279}" type="pres">
      <dgm:prSet presAssocID="{6198F739-DADB-4F3E-BA6D-35FAFE595316}" presName="spaceRect" presStyleCnt="0"/>
      <dgm:spPr/>
    </dgm:pt>
    <dgm:pt modelId="{862C7F6A-274A-4105-B833-8D721E7827E1}" type="pres">
      <dgm:prSet presAssocID="{6198F739-DADB-4F3E-BA6D-35FAFE595316}" presName="parTx" presStyleLbl="revTx" presStyleIdx="1" presStyleCnt="2">
        <dgm:presLayoutVars>
          <dgm:chMax val="0"/>
          <dgm:chPref val="0"/>
        </dgm:presLayoutVars>
      </dgm:prSet>
      <dgm:spPr/>
    </dgm:pt>
  </dgm:ptLst>
  <dgm:cxnLst>
    <dgm:cxn modelId="{BB8F1F08-2C7E-4F8B-AD79-FEE41BB2C4D3}" srcId="{46E7AEBA-0FC2-4F74-8AFA-8C6C9D2C928A}" destId="{FEB581A0-9311-4B31-8AC5-AF062697180C}" srcOrd="0" destOrd="0" parTransId="{CFC26820-3649-4F43-BCF5-01FC68DB0D37}" sibTransId="{13CDE5CC-9D82-452F-9FB4-2EAA4B03A31F}"/>
    <dgm:cxn modelId="{318BCE45-C4C6-42EC-A238-D7C97DCDF483}" srcId="{46E7AEBA-0FC2-4F74-8AFA-8C6C9D2C928A}" destId="{6198F739-DADB-4F3E-BA6D-35FAFE595316}" srcOrd="1" destOrd="0" parTransId="{8FCBC4FD-9731-44A1-BFBE-03729394740F}" sibTransId="{E84BC50F-5BDE-4773-8CFC-0AE5AD199379}"/>
    <dgm:cxn modelId="{6A6B5156-340D-46F5-9FB2-C6DCD7CBAAC8}" type="presOf" srcId="{46E7AEBA-0FC2-4F74-8AFA-8C6C9D2C928A}" destId="{3FD3FB1F-531B-49D2-9A32-C5DDDBBB8AC9}" srcOrd="0" destOrd="0" presId="urn:microsoft.com/office/officeart/2018/2/layout/IconVerticalSolidList"/>
    <dgm:cxn modelId="{6DD32C86-3857-4010-BDA3-649C9A30C9C6}" type="presOf" srcId="{6198F739-DADB-4F3E-BA6D-35FAFE595316}" destId="{862C7F6A-274A-4105-B833-8D721E7827E1}" srcOrd="0" destOrd="0" presId="urn:microsoft.com/office/officeart/2018/2/layout/IconVerticalSolidList"/>
    <dgm:cxn modelId="{FEF4DDA0-6991-4383-A028-947710FBE59C}" type="presOf" srcId="{FEB581A0-9311-4B31-8AC5-AF062697180C}" destId="{5DDF32A2-044A-4339-9C82-E7E5E79CDFB0}" srcOrd="0" destOrd="0" presId="urn:microsoft.com/office/officeart/2018/2/layout/IconVerticalSolidList"/>
    <dgm:cxn modelId="{FB7F0ABB-F7E1-45E8-98FE-A996F1AF7C25}" type="presParOf" srcId="{3FD3FB1F-531B-49D2-9A32-C5DDDBBB8AC9}" destId="{A4BB4619-76DC-452D-A9EF-3B0B57A10B0B}" srcOrd="0" destOrd="0" presId="urn:microsoft.com/office/officeart/2018/2/layout/IconVerticalSolidList"/>
    <dgm:cxn modelId="{38108909-B213-44B8-AFFD-D0D1DA8E0A6C}" type="presParOf" srcId="{A4BB4619-76DC-452D-A9EF-3B0B57A10B0B}" destId="{A55B4189-5DB8-40F0-95A4-634FC7AB130B}" srcOrd="0" destOrd="0" presId="urn:microsoft.com/office/officeart/2018/2/layout/IconVerticalSolidList"/>
    <dgm:cxn modelId="{FD0B2D2E-912F-4A3F-9B8B-04027F995E14}" type="presParOf" srcId="{A4BB4619-76DC-452D-A9EF-3B0B57A10B0B}" destId="{E831AC04-AEAA-4FA7-8336-918F9FC5A20A}" srcOrd="1" destOrd="0" presId="urn:microsoft.com/office/officeart/2018/2/layout/IconVerticalSolidList"/>
    <dgm:cxn modelId="{5928F236-EE29-45D0-BEA3-B3A0B88FFA86}" type="presParOf" srcId="{A4BB4619-76DC-452D-A9EF-3B0B57A10B0B}" destId="{8B82F512-36F8-42F9-B78D-9A0F8954B918}" srcOrd="2" destOrd="0" presId="urn:microsoft.com/office/officeart/2018/2/layout/IconVerticalSolidList"/>
    <dgm:cxn modelId="{E67B280B-0AE9-4D66-8169-71470DBA1922}" type="presParOf" srcId="{A4BB4619-76DC-452D-A9EF-3B0B57A10B0B}" destId="{5DDF32A2-044A-4339-9C82-E7E5E79CDFB0}" srcOrd="3" destOrd="0" presId="urn:microsoft.com/office/officeart/2018/2/layout/IconVerticalSolidList"/>
    <dgm:cxn modelId="{FFE15E93-7980-4ED1-84FD-0FEE3DFF84C4}" type="presParOf" srcId="{3FD3FB1F-531B-49D2-9A32-C5DDDBBB8AC9}" destId="{9DBF9FC0-11AB-4E81-A315-76F68F1665B2}" srcOrd="1" destOrd="0" presId="urn:microsoft.com/office/officeart/2018/2/layout/IconVerticalSolidList"/>
    <dgm:cxn modelId="{95EE4BA3-214D-422F-B937-5174DB8D09AC}" type="presParOf" srcId="{3FD3FB1F-531B-49D2-9A32-C5DDDBBB8AC9}" destId="{52050C65-833F-4502-8143-402868C09F68}" srcOrd="2" destOrd="0" presId="urn:microsoft.com/office/officeart/2018/2/layout/IconVerticalSolidList"/>
    <dgm:cxn modelId="{90648104-CF8C-492B-95CB-761383CDE963}" type="presParOf" srcId="{52050C65-833F-4502-8143-402868C09F68}" destId="{30943671-8C9E-4E4C-8D06-0CA2946ED28A}" srcOrd="0" destOrd="0" presId="urn:microsoft.com/office/officeart/2018/2/layout/IconVerticalSolidList"/>
    <dgm:cxn modelId="{AABFC5B8-82BC-40D8-80B8-BA6A4C57C7DA}" type="presParOf" srcId="{52050C65-833F-4502-8143-402868C09F68}" destId="{B1173627-D8E9-4F63-A9CE-B5A72594FBF0}" srcOrd="1" destOrd="0" presId="urn:microsoft.com/office/officeart/2018/2/layout/IconVerticalSolidList"/>
    <dgm:cxn modelId="{135D6043-14C5-48B6-ACB1-9E7464C753AA}" type="presParOf" srcId="{52050C65-833F-4502-8143-402868C09F68}" destId="{13EB3C12-C243-4522-9FD4-713EC2DF3279}" srcOrd="2" destOrd="0" presId="urn:microsoft.com/office/officeart/2018/2/layout/IconVerticalSolidList"/>
    <dgm:cxn modelId="{6F849C48-AB95-4FCD-92ED-0B7E7ADB93B1}" type="presParOf" srcId="{52050C65-833F-4502-8143-402868C09F68}" destId="{862C7F6A-274A-4105-B833-8D721E7827E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3B03FE-F3AF-4B8B-9D8A-0A3D88CA4A5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1FE582FE-B2C0-4DFA-A19A-23AB8A764997}">
      <dgm:prSet/>
      <dgm:spPr/>
      <dgm:t>
        <a:bodyPr/>
        <a:lstStyle/>
        <a:p>
          <a:r>
            <a:rPr lang="en-US" b="1"/>
            <a:t>Increases in total factor productivity are crucial for growth.</a:t>
          </a:r>
          <a:endParaRPr lang="en-US"/>
        </a:p>
      </dgm:t>
    </dgm:pt>
    <dgm:pt modelId="{1F2B180A-D8D8-4B57-9C4D-155029EC0AAA}" type="parTrans" cxnId="{AB6CB9E8-B53F-42F0-B159-AD3E1891D853}">
      <dgm:prSet/>
      <dgm:spPr/>
      <dgm:t>
        <a:bodyPr/>
        <a:lstStyle/>
        <a:p>
          <a:endParaRPr lang="en-US"/>
        </a:p>
      </dgm:t>
    </dgm:pt>
    <dgm:pt modelId="{3DAB18CE-F906-4DF2-8A41-418762E719B5}" type="sibTrans" cxnId="{AB6CB9E8-B53F-42F0-B159-AD3E1891D853}">
      <dgm:prSet/>
      <dgm:spPr/>
      <dgm:t>
        <a:bodyPr/>
        <a:lstStyle/>
        <a:p>
          <a:endParaRPr lang="en-US"/>
        </a:p>
      </dgm:t>
    </dgm:pt>
    <dgm:pt modelId="{ACD837CC-163E-46CD-9FBC-1BC2A061DB39}">
      <dgm:prSet/>
      <dgm:spPr/>
      <dgm:t>
        <a:bodyPr/>
        <a:lstStyle/>
        <a:p>
          <a:r>
            <a:rPr lang="en-US" b="0" dirty="0"/>
            <a:t>And </a:t>
          </a:r>
          <a:r>
            <a:rPr lang="en-US" b="1" dirty="0"/>
            <a:t>increases in total factor productivity </a:t>
          </a:r>
          <a:r>
            <a:rPr lang="en-US" b="0" dirty="0"/>
            <a:t>likely measure the economic effects of </a:t>
          </a:r>
          <a:r>
            <a:rPr lang="en-US" b="1" dirty="0"/>
            <a:t>technological progress.</a:t>
          </a:r>
        </a:p>
        <a:p>
          <a:endParaRPr lang="en-US" dirty="0"/>
        </a:p>
      </dgm:t>
    </dgm:pt>
    <dgm:pt modelId="{460C0F73-9327-43DE-9A64-FEBBFE1E782F}" type="parTrans" cxnId="{AF09FA21-C7B6-42D0-A102-AC966ED9C062}">
      <dgm:prSet/>
      <dgm:spPr/>
      <dgm:t>
        <a:bodyPr/>
        <a:lstStyle/>
        <a:p>
          <a:endParaRPr lang="en-US"/>
        </a:p>
      </dgm:t>
    </dgm:pt>
    <dgm:pt modelId="{4CE4EEF6-5392-4356-B8D4-3A1CB35BAEB2}" type="sibTrans" cxnId="{AF09FA21-C7B6-42D0-A102-AC966ED9C062}">
      <dgm:prSet/>
      <dgm:spPr/>
      <dgm:t>
        <a:bodyPr/>
        <a:lstStyle/>
        <a:p>
          <a:endParaRPr lang="en-US"/>
        </a:p>
      </dgm:t>
    </dgm:pt>
    <dgm:pt modelId="{B17ED40C-6864-44F9-9BD3-E35B9BA0F88D}">
      <dgm:prSet/>
      <dgm:spPr/>
      <dgm:t>
        <a:bodyPr/>
        <a:lstStyle/>
        <a:p>
          <a:r>
            <a:rPr lang="en-US" b="0"/>
            <a:t>So </a:t>
          </a:r>
          <a:r>
            <a:rPr lang="en-US" b="1"/>
            <a:t>technological change is crucial to economic growth.</a:t>
          </a:r>
          <a:endParaRPr lang="en-US"/>
        </a:p>
      </dgm:t>
    </dgm:pt>
    <dgm:pt modelId="{1795938F-34B1-42E6-B934-6E72B9129E4B}" type="parTrans" cxnId="{4A946EAB-C358-41AB-8BC0-891D04C2F84A}">
      <dgm:prSet/>
      <dgm:spPr/>
      <dgm:t>
        <a:bodyPr/>
        <a:lstStyle/>
        <a:p>
          <a:endParaRPr lang="en-US"/>
        </a:p>
      </dgm:t>
    </dgm:pt>
    <dgm:pt modelId="{8AC13C0A-9A1E-46C0-AE28-5FB38C3202E6}" type="sibTrans" cxnId="{4A946EAB-C358-41AB-8BC0-891D04C2F84A}">
      <dgm:prSet/>
      <dgm:spPr/>
      <dgm:t>
        <a:bodyPr/>
        <a:lstStyle/>
        <a:p>
          <a:endParaRPr lang="en-US"/>
        </a:p>
      </dgm:t>
    </dgm:pt>
    <dgm:pt modelId="{545D0B6F-7C88-D842-87AD-6769A8CF0AB8}" type="pres">
      <dgm:prSet presAssocID="{743B03FE-F3AF-4B8B-9D8A-0A3D88CA4A55}" presName="vert0" presStyleCnt="0">
        <dgm:presLayoutVars>
          <dgm:dir/>
          <dgm:animOne val="branch"/>
          <dgm:animLvl val="lvl"/>
        </dgm:presLayoutVars>
      </dgm:prSet>
      <dgm:spPr/>
    </dgm:pt>
    <dgm:pt modelId="{D86A11E3-D996-7443-882E-2572BE1298CD}" type="pres">
      <dgm:prSet presAssocID="{1FE582FE-B2C0-4DFA-A19A-23AB8A764997}" presName="thickLine" presStyleLbl="alignNode1" presStyleIdx="0" presStyleCnt="3"/>
      <dgm:spPr/>
    </dgm:pt>
    <dgm:pt modelId="{4950AA32-8DD0-F34A-BB28-E99FFFBD0420}" type="pres">
      <dgm:prSet presAssocID="{1FE582FE-B2C0-4DFA-A19A-23AB8A764997}" presName="horz1" presStyleCnt="0"/>
      <dgm:spPr/>
    </dgm:pt>
    <dgm:pt modelId="{B984AE8C-1903-0644-9969-BB9631CBB3B4}" type="pres">
      <dgm:prSet presAssocID="{1FE582FE-B2C0-4DFA-A19A-23AB8A764997}" presName="tx1" presStyleLbl="revTx" presStyleIdx="0" presStyleCnt="3"/>
      <dgm:spPr/>
    </dgm:pt>
    <dgm:pt modelId="{301041D8-242F-604C-AC42-6ABB757F847A}" type="pres">
      <dgm:prSet presAssocID="{1FE582FE-B2C0-4DFA-A19A-23AB8A764997}" presName="vert1" presStyleCnt="0"/>
      <dgm:spPr/>
    </dgm:pt>
    <dgm:pt modelId="{C0718236-CB8C-3A4A-9C42-967EDD52DB77}" type="pres">
      <dgm:prSet presAssocID="{ACD837CC-163E-46CD-9FBC-1BC2A061DB39}" presName="thickLine" presStyleLbl="alignNode1" presStyleIdx="1" presStyleCnt="3"/>
      <dgm:spPr/>
    </dgm:pt>
    <dgm:pt modelId="{C0EDDA8D-0E82-4E4D-85B7-6E7B7DE023C6}" type="pres">
      <dgm:prSet presAssocID="{ACD837CC-163E-46CD-9FBC-1BC2A061DB39}" presName="horz1" presStyleCnt="0"/>
      <dgm:spPr/>
    </dgm:pt>
    <dgm:pt modelId="{AD50F172-8060-7846-8614-6946FE8A2CF8}" type="pres">
      <dgm:prSet presAssocID="{ACD837CC-163E-46CD-9FBC-1BC2A061DB39}" presName="tx1" presStyleLbl="revTx" presStyleIdx="1" presStyleCnt="3"/>
      <dgm:spPr/>
    </dgm:pt>
    <dgm:pt modelId="{8538D576-2209-8D44-9A13-B844CFF51136}" type="pres">
      <dgm:prSet presAssocID="{ACD837CC-163E-46CD-9FBC-1BC2A061DB39}" presName="vert1" presStyleCnt="0"/>
      <dgm:spPr/>
    </dgm:pt>
    <dgm:pt modelId="{43BC5A1E-3FAD-1F45-8983-21B59DF4789B}" type="pres">
      <dgm:prSet presAssocID="{B17ED40C-6864-44F9-9BD3-E35B9BA0F88D}" presName="thickLine" presStyleLbl="alignNode1" presStyleIdx="2" presStyleCnt="3"/>
      <dgm:spPr/>
    </dgm:pt>
    <dgm:pt modelId="{E4A1A9F8-484A-5949-938E-4DE79B6F3E93}" type="pres">
      <dgm:prSet presAssocID="{B17ED40C-6864-44F9-9BD3-E35B9BA0F88D}" presName="horz1" presStyleCnt="0"/>
      <dgm:spPr/>
    </dgm:pt>
    <dgm:pt modelId="{8161CF99-7A06-7345-86B0-2176C2D349E1}" type="pres">
      <dgm:prSet presAssocID="{B17ED40C-6864-44F9-9BD3-E35B9BA0F88D}" presName="tx1" presStyleLbl="revTx" presStyleIdx="2" presStyleCnt="3"/>
      <dgm:spPr/>
    </dgm:pt>
    <dgm:pt modelId="{88AA9C0A-C517-E14E-8B44-ADD9DA84DDE8}" type="pres">
      <dgm:prSet presAssocID="{B17ED40C-6864-44F9-9BD3-E35B9BA0F88D}" presName="vert1" presStyleCnt="0"/>
      <dgm:spPr/>
    </dgm:pt>
  </dgm:ptLst>
  <dgm:cxnLst>
    <dgm:cxn modelId="{9285A804-D90E-A244-94FA-E54C8DE2F122}" type="presOf" srcId="{B17ED40C-6864-44F9-9BD3-E35B9BA0F88D}" destId="{8161CF99-7A06-7345-86B0-2176C2D349E1}" srcOrd="0" destOrd="0" presId="urn:microsoft.com/office/officeart/2008/layout/LinedList"/>
    <dgm:cxn modelId="{AF09FA21-C7B6-42D0-A102-AC966ED9C062}" srcId="{743B03FE-F3AF-4B8B-9D8A-0A3D88CA4A55}" destId="{ACD837CC-163E-46CD-9FBC-1BC2A061DB39}" srcOrd="1" destOrd="0" parTransId="{460C0F73-9327-43DE-9A64-FEBBFE1E782F}" sibTransId="{4CE4EEF6-5392-4356-B8D4-3A1CB35BAEB2}"/>
    <dgm:cxn modelId="{AEFA8840-AA94-3947-8C80-EB4744BD4B4A}" type="presOf" srcId="{743B03FE-F3AF-4B8B-9D8A-0A3D88CA4A55}" destId="{545D0B6F-7C88-D842-87AD-6769A8CF0AB8}" srcOrd="0" destOrd="0" presId="urn:microsoft.com/office/officeart/2008/layout/LinedList"/>
    <dgm:cxn modelId="{D7F0E170-3E59-9346-8207-CF05564699DB}" type="presOf" srcId="{ACD837CC-163E-46CD-9FBC-1BC2A061DB39}" destId="{AD50F172-8060-7846-8614-6946FE8A2CF8}" srcOrd="0" destOrd="0" presId="urn:microsoft.com/office/officeart/2008/layout/LinedList"/>
    <dgm:cxn modelId="{4A946EAB-C358-41AB-8BC0-891D04C2F84A}" srcId="{743B03FE-F3AF-4B8B-9D8A-0A3D88CA4A55}" destId="{B17ED40C-6864-44F9-9BD3-E35B9BA0F88D}" srcOrd="2" destOrd="0" parTransId="{1795938F-34B1-42E6-B934-6E72B9129E4B}" sibTransId="{8AC13C0A-9A1E-46C0-AE28-5FB38C3202E6}"/>
    <dgm:cxn modelId="{66792ECB-1952-8A4E-934C-8F8F49182135}" type="presOf" srcId="{1FE582FE-B2C0-4DFA-A19A-23AB8A764997}" destId="{B984AE8C-1903-0644-9969-BB9631CBB3B4}" srcOrd="0" destOrd="0" presId="urn:microsoft.com/office/officeart/2008/layout/LinedList"/>
    <dgm:cxn modelId="{AB6CB9E8-B53F-42F0-B159-AD3E1891D853}" srcId="{743B03FE-F3AF-4B8B-9D8A-0A3D88CA4A55}" destId="{1FE582FE-B2C0-4DFA-A19A-23AB8A764997}" srcOrd="0" destOrd="0" parTransId="{1F2B180A-D8D8-4B57-9C4D-155029EC0AAA}" sibTransId="{3DAB18CE-F906-4DF2-8A41-418762E719B5}"/>
    <dgm:cxn modelId="{5936C9A3-BAE5-454A-8ECD-9D0BB544A312}" type="presParOf" srcId="{545D0B6F-7C88-D842-87AD-6769A8CF0AB8}" destId="{D86A11E3-D996-7443-882E-2572BE1298CD}" srcOrd="0" destOrd="0" presId="urn:microsoft.com/office/officeart/2008/layout/LinedList"/>
    <dgm:cxn modelId="{9C4F190B-8A22-6340-992A-C7EA49052A27}" type="presParOf" srcId="{545D0B6F-7C88-D842-87AD-6769A8CF0AB8}" destId="{4950AA32-8DD0-F34A-BB28-E99FFFBD0420}" srcOrd="1" destOrd="0" presId="urn:microsoft.com/office/officeart/2008/layout/LinedList"/>
    <dgm:cxn modelId="{E6F69265-2C31-DA4D-810A-D0D6B5FD8853}" type="presParOf" srcId="{4950AA32-8DD0-F34A-BB28-E99FFFBD0420}" destId="{B984AE8C-1903-0644-9969-BB9631CBB3B4}" srcOrd="0" destOrd="0" presId="urn:microsoft.com/office/officeart/2008/layout/LinedList"/>
    <dgm:cxn modelId="{981ED597-815B-2546-BAB8-97FF05DFC52E}" type="presParOf" srcId="{4950AA32-8DD0-F34A-BB28-E99FFFBD0420}" destId="{301041D8-242F-604C-AC42-6ABB757F847A}" srcOrd="1" destOrd="0" presId="urn:microsoft.com/office/officeart/2008/layout/LinedList"/>
    <dgm:cxn modelId="{B25E1D51-C2F2-A845-8813-C788BB952573}" type="presParOf" srcId="{545D0B6F-7C88-D842-87AD-6769A8CF0AB8}" destId="{C0718236-CB8C-3A4A-9C42-967EDD52DB77}" srcOrd="2" destOrd="0" presId="urn:microsoft.com/office/officeart/2008/layout/LinedList"/>
    <dgm:cxn modelId="{CB159CA9-E802-9044-94CA-CAB4D5F34112}" type="presParOf" srcId="{545D0B6F-7C88-D842-87AD-6769A8CF0AB8}" destId="{C0EDDA8D-0E82-4E4D-85B7-6E7B7DE023C6}" srcOrd="3" destOrd="0" presId="urn:microsoft.com/office/officeart/2008/layout/LinedList"/>
    <dgm:cxn modelId="{5187AAA3-E7C2-0045-A7FF-041E402196AC}" type="presParOf" srcId="{C0EDDA8D-0E82-4E4D-85B7-6E7B7DE023C6}" destId="{AD50F172-8060-7846-8614-6946FE8A2CF8}" srcOrd="0" destOrd="0" presId="urn:microsoft.com/office/officeart/2008/layout/LinedList"/>
    <dgm:cxn modelId="{968D98A9-C491-6143-8002-81B24DF3F70D}" type="presParOf" srcId="{C0EDDA8D-0E82-4E4D-85B7-6E7B7DE023C6}" destId="{8538D576-2209-8D44-9A13-B844CFF51136}" srcOrd="1" destOrd="0" presId="urn:microsoft.com/office/officeart/2008/layout/LinedList"/>
    <dgm:cxn modelId="{D7E960A1-4EE9-6E4B-A626-73F9277C5326}" type="presParOf" srcId="{545D0B6F-7C88-D842-87AD-6769A8CF0AB8}" destId="{43BC5A1E-3FAD-1F45-8983-21B59DF4789B}" srcOrd="4" destOrd="0" presId="urn:microsoft.com/office/officeart/2008/layout/LinedList"/>
    <dgm:cxn modelId="{3B6052A0-2CAF-924C-B4DC-4BFBA7AC771E}" type="presParOf" srcId="{545D0B6F-7C88-D842-87AD-6769A8CF0AB8}" destId="{E4A1A9F8-484A-5949-938E-4DE79B6F3E93}" srcOrd="5" destOrd="0" presId="urn:microsoft.com/office/officeart/2008/layout/LinedList"/>
    <dgm:cxn modelId="{9EE4C5EF-CED3-BC40-85AF-23B971BC2D9B}" type="presParOf" srcId="{E4A1A9F8-484A-5949-938E-4DE79B6F3E93}" destId="{8161CF99-7A06-7345-86B0-2176C2D349E1}" srcOrd="0" destOrd="0" presId="urn:microsoft.com/office/officeart/2008/layout/LinedList"/>
    <dgm:cxn modelId="{20C37CF9-973F-5C4A-983F-BAC579D26848}" type="presParOf" srcId="{E4A1A9F8-484A-5949-938E-4DE79B6F3E93}" destId="{88AA9C0A-C517-E14E-8B44-ADD9DA84DDE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43F169-6518-4757-854B-3285D89F8CF3}" type="doc">
      <dgm:prSet loTypeId="urn:microsoft.com/office/officeart/2005/8/layout/hierarchy2" loCatId="hierarchy" qsTypeId="urn:microsoft.com/office/officeart/2005/8/quickstyle/simple2" qsCatId="simple" csTypeId="urn:microsoft.com/office/officeart/2005/8/colors/accent1_2" csCatId="accent1"/>
      <dgm:spPr/>
      <dgm:t>
        <a:bodyPr/>
        <a:lstStyle/>
        <a:p>
          <a:endParaRPr lang="en-US"/>
        </a:p>
      </dgm:t>
    </dgm:pt>
    <dgm:pt modelId="{1AE10B5C-6B94-41D6-A55C-67131AFE0250}">
      <dgm:prSet/>
      <dgm:spPr/>
      <dgm:t>
        <a:bodyPr/>
        <a:lstStyle/>
        <a:p>
          <a:r>
            <a:rPr lang="en-US"/>
            <a:t>There is consensus in economics that government action is needed to deal with climate change. </a:t>
          </a:r>
        </a:p>
      </dgm:t>
    </dgm:pt>
    <dgm:pt modelId="{C5B3C3B7-44F5-43C9-8127-E0DDF1318083}" type="parTrans" cxnId="{82617966-BA4F-40E4-A73C-6C0C756D7B72}">
      <dgm:prSet/>
      <dgm:spPr/>
      <dgm:t>
        <a:bodyPr/>
        <a:lstStyle/>
        <a:p>
          <a:endParaRPr lang="en-US"/>
        </a:p>
      </dgm:t>
    </dgm:pt>
    <dgm:pt modelId="{C8CD9587-70F6-45BF-B756-47D416349697}" type="sibTrans" cxnId="{82617966-BA4F-40E4-A73C-6C0C756D7B72}">
      <dgm:prSet/>
      <dgm:spPr/>
      <dgm:t>
        <a:bodyPr/>
        <a:lstStyle/>
        <a:p>
          <a:endParaRPr lang="en-US"/>
        </a:p>
      </dgm:t>
    </dgm:pt>
    <dgm:pt modelId="{6074A93E-8FCD-463E-9545-FEB644A9A3D9}">
      <dgm:prSet/>
      <dgm:spPr/>
      <dgm:t>
        <a:bodyPr/>
        <a:lstStyle/>
        <a:p>
          <a:r>
            <a:rPr lang="en-US"/>
            <a:t>Economists prefer market-based incentives, in the form of:</a:t>
          </a:r>
        </a:p>
      </dgm:t>
    </dgm:pt>
    <dgm:pt modelId="{91094B51-3059-4788-AD53-7B8F8C0E49D3}" type="parTrans" cxnId="{4BAB13D8-76DA-4377-827F-B0C3078B2A3F}">
      <dgm:prSet/>
      <dgm:spPr/>
      <dgm:t>
        <a:bodyPr/>
        <a:lstStyle/>
        <a:p>
          <a:endParaRPr lang="en-US"/>
        </a:p>
      </dgm:t>
    </dgm:pt>
    <dgm:pt modelId="{0205292D-719E-4DC2-8DDF-726B0C2658B2}" type="sibTrans" cxnId="{4BAB13D8-76DA-4377-827F-B0C3078B2A3F}">
      <dgm:prSet/>
      <dgm:spPr/>
      <dgm:t>
        <a:bodyPr/>
        <a:lstStyle/>
        <a:p>
          <a:endParaRPr lang="en-US"/>
        </a:p>
      </dgm:t>
    </dgm:pt>
    <dgm:pt modelId="{54C5E5D8-A70A-4930-9320-3C7B86E9BCE2}">
      <dgm:prSet/>
      <dgm:spPr/>
      <dgm:t>
        <a:bodyPr/>
        <a:lstStyle/>
        <a:p>
          <a:r>
            <a:rPr lang="en-US"/>
            <a:t>Carbon tax (a tax per unit of carbon emitted) or</a:t>
          </a:r>
        </a:p>
      </dgm:t>
    </dgm:pt>
    <dgm:pt modelId="{FBCB20C7-90B9-4A37-9D57-388771CE0DB2}" type="parTrans" cxnId="{0ED0D463-57C6-4884-975C-2B61A2C61802}">
      <dgm:prSet/>
      <dgm:spPr/>
      <dgm:t>
        <a:bodyPr/>
        <a:lstStyle/>
        <a:p>
          <a:endParaRPr lang="en-US"/>
        </a:p>
      </dgm:t>
    </dgm:pt>
    <dgm:pt modelId="{790A3A91-63A3-41C6-9F73-4D52238770EC}" type="sibTrans" cxnId="{0ED0D463-57C6-4884-975C-2B61A2C61802}">
      <dgm:prSet/>
      <dgm:spPr/>
      <dgm:t>
        <a:bodyPr/>
        <a:lstStyle/>
        <a:p>
          <a:endParaRPr lang="en-US"/>
        </a:p>
      </dgm:t>
    </dgm:pt>
    <dgm:pt modelId="{0C9FA16F-B756-4055-B80B-35C747E0FAB4}">
      <dgm:prSet/>
      <dgm:spPr/>
      <dgm:t>
        <a:bodyPr/>
        <a:lstStyle/>
        <a:p>
          <a:r>
            <a:rPr lang="en-US"/>
            <a:t>Cap and trade system in which the total amount of emissions is capped and producers must buy licenses to emit greenhouse gases. </a:t>
          </a:r>
        </a:p>
      </dgm:t>
    </dgm:pt>
    <dgm:pt modelId="{6EC250AC-E52F-4D7E-9DF5-7B2917E6E326}" type="parTrans" cxnId="{EE76FFE5-A8E4-4935-AE99-58C0C7E49CD4}">
      <dgm:prSet/>
      <dgm:spPr/>
      <dgm:t>
        <a:bodyPr/>
        <a:lstStyle/>
        <a:p>
          <a:endParaRPr lang="en-US"/>
        </a:p>
      </dgm:t>
    </dgm:pt>
    <dgm:pt modelId="{546D4C7A-CCE0-4942-B251-C3B48663B8FB}" type="sibTrans" cxnId="{EE76FFE5-A8E4-4935-AE99-58C0C7E49CD4}">
      <dgm:prSet/>
      <dgm:spPr/>
      <dgm:t>
        <a:bodyPr/>
        <a:lstStyle/>
        <a:p>
          <a:endParaRPr lang="en-US"/>
        </a:p>
      </dgm:t>
    </dgm:pt>
    <dgm:pt modelId="{8701E0D7-CFD4-486E-BE00-77290CBA7D8F}">
      <dgm:prSet/>
      <dgm:spPr/>
      <dgm:t>
        <a:bodyPr/>
        <a:lstStyle/>
        <a:p>
          <a:r>
            <a:rPr lang="en-US" i="1"/>
            <a:t>How much </a:t>
          </a:r>
          <a:r>
            <a:rPr lang="en-US"/>
            <a:t>action is appropriate?  We are uncertain about how fast climate change is happening and what impact the solutions will have.</a:t>
          </a:r>
        </a:p>
      </dgm:t>
    </dgm:pt>
    <dgm:pt modelId="{37263CDA-3A57-4B2A-BDE7-C67A45B23F41}" type="parTrans" cxnId="{177FFF97-D1E4-4D7A-88E7-3F80221A08B2}">
      <dgm:prSet/>
      <dgm:spPr/>
      <dgm:t>
        <a:bodyPr/>
        <a:lstStyle/>
        <a:p>
          <a:endParaRPr lang="en-US"/>
        </a:p>
      </dgm:t>
    </dgm:pt>
    <dgm:pt modelId="{B45FE85C-957C-4511-8731-D1FA40EC29B0}" type="sibTrans" cxnId="{177FFF97-D1E4-4D7A-88E7-3F80221A08B2}">
      <dgm:prSet/>
      <dgm:spPr/>
      <dgm:t>
        <a:bodyPr/>
        <a:lstStyle/>
        <a:p>
          <a:endParaRPr lang="en-US"/>
        </a:p>
      </dgm:t>
    </dgm:pt>
    <dgm:pt modelId="{17C63389-394D-9943-A6FE-F8BC0B9266EC}" type="pres">
      <dgm:prSet presAssocID="{C543F169-6518-4757-854B-3285D89F8CF3}" presName="diagram" presStyleCnt="0">
        <dgm:presLayoutVars>
          <dgm:chPref val="1"/>
          <dgm:dir/>
          <dgm:animOne val="branch"/>
          <dgm:animLvl val="lvl"/>
          <dgm:resizeHandles val="exact"/>
        </dgm:presLayoutVars>
      </dgm:prSet>
      <dgm:spPr/>
    </dgm:pt>
    <dgm:pt modelId="{1080E983-649E-8F4E-BF61-6B0DBE9503ED}" type="pres">
      <dgm:prSet presAssocID="{1AE10B5C-6B94-41D6-A55C-67131AFE0250}" presName="root1" presStyleCnt="0"/>
      <dgm:spPr/>
    </dgm:pt>
    <dgm:pt modelId="{85D0D64A-20EA-3543-B1E4-6C84C1FBCF32}" type="pres">
      <dgm:prSet presAssocID="{1AE10B5C-6B94-41D6-A55C-67131AFE0250}" presName="LevelOneTextNode" presStyleLbl="node0" presStyleIdx="0" presStyleCnt="3">
        <dgm:presLayoutVars>
          <dgm:chPref val="3"/>
        </dgm:presLayoutVars>
      </dgm:prSet>
      <dgm:spPr/>
    </dgm:pt>
    <dgm:pt modelId="{A6D9C779-A5E5-3447-AE34-EEC489882656}" type="pres">
      <dgm:prSet presAssocID="{1AE10B5C-6B94-41D6-A55C-67131AFE0250}" presName="level2hierChild" presStyleCnt="0"/>
      <dgm:spPr/>
    </dgm:pt>
    <dgm:pt modelId="{1A1F8B82-F9E9-C14E-946D-14610DD98497}" type="pres">
      <dgm:prSet presAssocID="{6074A93E-8FCD-463E-9545-FEB644A9A3D9}" presName="root1" presStyleCnt="0"/>
      <dgm:spPr/>
    </dgm:pt>
    <dgm:pt modelId="{3AE93A2F-289D-FE42-A64B-9E3D827EBFAE}" type="pres">
      <dgm:prSet presAssocID="{6074A93E-8FCD-463E-9545-FEB644A9A3D9}" presName="LevelOneTextNode" presStyleLbl="node0" presStyleIdx="1" presStyleCnt="3">
        <dgm:presLayoutVars>
          <dgm:chPref val="3"/>
        </dgm:presLayoutVars>
      </dgm:prSet>
      <dgm:spPr/>
    </dgm:pt>
    <dgm:pt modelId="{B8D15B30-0747-C34D-8ECB-4D50D31C250B}" type="pres">
      <dgm:prSet presAssocID="{6074A93E-8FCD-463E-9545-FEB644A9A3D9}" presName="level2hierChild" presStyleCnt="0"/>
      <dgm:spPr/>
    </dgm:pt>
    <dgm:pt modelId="{AAB2EBB9-111B-9E49-8848-10636BDD9BBF}" type="pres">
      <dgm:prSet presAssocID="{FBCB20C7-90B9-4A37-9D57-388771CE0DB2}" presName="conn2-1" presStyleLbl="parChTrans1D2" presStyleIdx="0" presStyleCnt="2"/>
      <dgm:spPr/>
    </dgm:pt>
    <dgm:pt modelId="{F4E842CB-C1CD-B241-BCF4-C55AB9F5E222}" type="pres">
      <dgm:prSet presAssocID="{FBCB20C7-90B9-4A37-9D57-388771CE0DB2}" presName="connTx" presStyleLbl="parChTrans1D2" presStyleIdx="0" presStyleCnt="2"/>
      <dgm:spPr/>
    </dgm:pt>
    <dgm:pt modelId="{A731CF20-B7C6-9C4A-983B-42A3E739198A}" type="pres">
      <dgm:prSet presAssocID="{54C5E5D8-A70A-4930-9320-3C7B86E9BCE2}" presName="root2" presStyleCnt="0"/>
      <dgm:spPr/>
    </dgm:pt>
    <dgm:pt modelId="{DC294350-CBBA-FE40-BD41-0DEB83F9E460}" type="pres">
      <dgm:prSet presAssocID="{54C5E5D8-A70A-4930-9320-3C7B86E9BCE2}" presName="LevelTwoTextNode" presStyleLbl="node2" presStyleIdx="0" presStyleCnt="2">
        <dgm:presLayoutVars>
          <dgm:chPref val="3"/>
        </dgm:presLayoutVars>
      </dgm:prSet>
      <dgm:spPr/>
    </dgm:pt>
    <dgm:pt modelId="{D08D4E75-A511-5C45-83AA-B4A90E71FA59}" type="pres">
      <dgm:prSet presAssocID="{54C5E5D8-A70A-4930-9320-3C7B86E9BCE2}" presName="level3hierChild" presStyleCnt="0"/>
      <dgm:spPr/>
    </dgm:pt>
    <dgm:pt modelId="{4428AA7B-65F8-7942-8692-FF7497BAF65F}" type="pres">
      <dgm:prSet presAssocID="{6EC250AC-E52F-4D7E-9DF5-7B2917E6E326}" presName="conn2-1" presStyleLbl="parChTrans1D2" presStyleIdx="1" presStyleCnt="2"/>
      <dgm:spPr/>
    </dgm:pt>
    <dgm:pt modelId="{43FF079C-7C44-0E44-AD37-F62BB8A0DDAC}" type="pres">
      <dgm:prSet presAssocID="{6EC250AC-E52F-4D7E-9DF5-7B2917E6E326}" presName="connTx" presStyleLbl="parChTrans1D2" presStyleIdx="1" presStyleCnt="2"/>
      <dgm:spPr/>
    </dgm:pt>
    <dgm:pt modelId="{0933682E-A9E4-D545-BC9E-E785D05218A1}" type="pres">
      <dgm:prSet presAssocID="{0C9FA16F-B756-4055-B80B-35C747E0FAB4}" presName="root2" presStyleCnt="0"/>
      <dgm:spPr/>
    </dgm:pt>
    <dgm:pt modelId="{B6CBFAEE-5539-8748-B47D-AC2133D9F485}" type="pres">
      <dgm:prSet presAssocID="{0C9FA16F-B756-4055-B80B-35C747E0FAB4}" presName="LevelTwoTextNode" presStyleLbl="node2" presStyleIdx="1" presStyleCnt="2">
        <dgm:presLayoutVars>
          <dgm:chPref val="3"/>
        </dgm:presLayoutVars>
      </dgm:prSet>
      <dgm:spPr/>
    </dgm:pt>
    <dgm:pt modelId="{00BFC93A-CB9C-3945-8021-1837936551CF}" type="pres">
      <dgm:prSet presAssocID="{0C9FA16F-B756-4055-B80B-35C747E0FAB4}" presName="level3hierChild" presStyleCnt="0"/>
      <dgm:spPr/>
    </dgm:pt>
    <dgm:pt modelId="{FFF54C54-14B2-1343-A5F4-F0E1F9015899}" type="pres">
      <dgm:prSet presAssocID="{8701E0D7-CFD4-486E-BE00-77290CBA7D8F}" presName="root1" presStyleCnt="0"/>
      <dgm:spPr/>
    </dgm:pt>
    <dgm:pt modelId="{01EE3C13-69C6-3C4A-8B76-2FE6EFBC0A5A}" type="pres">
      <dgm:prSet presAssocID="{8701E0D7-CFD4-486E-BE00-77290CBA7D8F}" presName="LevelOneTextNode" presStyleLbl="node0" presStyleIdx="2" presStyleCnt="3">
        <dgm:presLayoutVars>
          <dgm:chPref val="3"/>
        </dgm:presLayoutVars>
      </dgm:prSet>
      <dgm:spPr/>
    </dgm:pt>
    <dgm:pt modelId="{BEBD77C9-970E-CB4A-BF1F-332126265E03}" type="pres">
      <dgm:prSet presAssocID="{8701E0D7-CFD4-486E-BE00-77290CBA7D8F}" presName="level2hierChild" presStyleCnt="0"/>
      <dgm:spPr/>
    </dgm:pt>
  </dgm:ptLst>
  <dgm:cxnLst>
    <dgm:cxn modelId="{2B959322-DF54-194D-81E7-20C2D75707C5}" type="presOf" srcId="{6EC250AC-E52F-4D7E-9DF5-7B2917E6E326}" destId="{4428AA7B-65F8-7942-8692-FF7497BAF65F}" srcOrd="0" destOrd="0" presId="urn:microsoft.com/office/officeart/2005/8/layout/hierarchy2"/>
    <dgm:cxn modelId="{1EDAD055-5172-D444-AC63-F4530F833646}" type="presOf" srcId="{FBCB20C7-90B9-4A37-9D57-388771CE0DB2}" destId="{F4E842CB-C1CD-B241-BCF4-C55AB9F5E222}" srcOrd="1" destOrd="0" presId="urn:microsoft.com/office/officeart/2005/8/layout/hierarchy2"/>
    <dgm:cxn modelId="{4FE17A5A-BEED-E54B-BC31-9E8DF05DC1D6}" type="presOf" srcId="{C543F169-6518-4757-854B-3285D89F8CF3}" destId="{17C63389-394D-9943-A6FE-F8BC0B9266EC}" srcOrd="0" destOrd="0" presId="urn:microsoft.com/office/officeart/2005/8/layout/hierarchy2"/>
    <dgm:cxn modelId="{0ED0D463-57C6-4884-975C-2B61A2C61802}" srcId="{6074A93E-8FCD-463E-9545-FEB644A9A3D9}" destId="{54C5E5D8-A70A-4930-9320-3C7B86E9BCE2}" srcOrd="0" destOrd="0" parTransId="{FBCB20C7-90B9-4A37-9D57-388771CE0DB2}" sibTransId="{790A3A91-63A3-41C6-9F73-4D52238770EC}"/>
    <dgm:cxn modelId="{82617966-BA4F-40E4-A73C-6C0C756D7B72}" srcId="{C543F169-6518-4757-854B-3285D89F8CF3}" destId="{1AE10B5C-6B94-41D6-A55C-67131AFE0250}" srcOrd="0" destOrd="0" parTransId="{C5B3C3B7-44F5-43C9-8127-E0DDF1318083}" sibTransId="{C8CD9587-70F6-45BF-B756-47D416349697}"/>
    <dgm:cxn modelId="{40BFDA82-B9AD-044A-BE31-A7367A453C56}" type="presOf" srcId="{1AE10B5C-6B94-41D6-A55C-67131AFE0250}" destId="{85D0D64A-20EA-3543-B1E4-6C84C1FBCF32}" srcOrd="0" destOrd="0" presId="urn:microsoft.com/office/officeart/2005/8/layout/hierarchy2"/>
    <dgm:cxn modelId="{D5FB5988-32BB-DF4D-B5DA-01C8BB1597E3}" type="presOf" srcId="{6EC250AC-E52F-4D7E-9DF5-7B2917E6E326}" destId="{43FF079C-7C44-0E44-AD37-F62BB8A0DDAC}" srcOrd="1" destOrd="0" presId="urn:microsoft.com/office/officeart/2005/8/layout/hierarchy2"/>
    <dgm:cxn modelId="{2D7B4890-EEED-AC4F-9DE9-71FC232953A4}" type="presOf" srcId="{0C9FA16F-B756-4055-B80B-35C747E0FAB4}" destId="{B6CBFAEE-5539-8748-B47D-AC2133D9F485}" srcOrd="0" destOrd="0" presId="urn:microsoft.com/office/officeart/2005/8/layout/hierarchy2"/>
    <dgm:cxn modelId="{177FFF97-D1E4-4D7A-88E7-3F80221A08B2}" srcId="{C543F169-6518-4757-854B-3285D89F8CF3}" destId="{8701E0D7-CFD4-486E-BE00-77290CBA7D8F}" srcOrd="2" destOrd="0" parTransId="{37263CDA-3A57-4B2A-BDE7-C67A45B23F41}" sibTransId="{B45FE85C-957C-4511-8731-D1FA40EC29B0}"/>
    <dgm:cxn modelId="{95CE28D3-A116-5E4F-8D29-2376B641189E}" type="presOf" srcId="{FBCB20C7-90B9-4A37-9D57-388771CE0DB2}" destId="{AAB2EBB9-111B-9E49-8848-10636BDD9BBF}" srcOrd="0" destOrd="0" presId="urn:microsoft.com/office/officeart/2005/8/layout/hierarchy2"/>
    <dgm:cxn modelId="{4BAB13D8-76DA-4377-827F-B0C3078B2A3F}" srcId="{C543F169-6518-4757-854B-3285D89F8CF3}" destId="{6074A93E-8FCD-463E-9545-FEB644A9A3D9}" srcOrd="1" destOrd="0" parTransId="{91094B51-3059-4788-AD53-7B8F8C0E49D3}" sibTransId="{0205292D-719E-4DC2-8DDF-726B0C2658B2}"/>
    <dgm:cxn modelId="{98DF37D9-98A9-AC4E-80D2-7B9CBC33579E}" type="presOf" srcId="{8701E0D7-CFD4-486E-BE00-77290CBA7D8F}" destId="{01EE3C13-69C6-3C4A-8B76-2FE6EFBC0A5A}" srcOrd="0" destOrd="0" presId="urn:microsoft.com/office/officeart/2005/8/layout/hierarchy2"/>
    <dgm:cxn modelId="{BD6E02E3-3D80-C94F-BC98-63C6C27D0E44}" type="presOf" srcId="{54C5E5D8-A70A-4930-9320-3C7B86E9BCE2}" destId="{DC294350-CBBA-FE40-BD41-0DEB83F9E460}" srcOrd="0" destOrd="0" presId="urn:microsoft.com/office/officeart/2005/8/layout/hierarchy2"/>
    <dgm:cxn modelId="{EE76FFE5-A8E4-4935-AE99-58C0C7E49CD4}" srcId="{6074A93E-8FCD-463E-9545-FEB644A9A3D9}" destId="{0C9FA16F-B756-4055-B80B-35C747E0FAB4}" srcOrd="1" destOrd="0" parTransId="{6EC250AC-E52F-4D7E-9DF5-7B2917E6E326}" sibTransId="{546D4C7A-CCE0-4942-B251-C3B48663B8FB}"/>
    <dgm:cxn modelId="{C99D02EA-593D-4E46-B52D-99BC4A06058F}" type="presOf" srcId="{6074A93E-8FCD-463E-9545-FEB644A9A3D9}" destId="{3AE93A2F-289D-FE42-A64B-9E3D827EBFAE}" srcOrd="0" destOrd="0" presId="urn:microsoft.com/office/officeart/2005/8/layout/hierarchy2"/>
    <dgm:cxn modelId="{8D836B8B-241A-884D-96E3-B2E821162379}" type="presParOf" srcId="{17C63389-394D-9943-A6FE-F8BC0B9266EC}" destId="{1080E983-649E-8F4E-BF61-6B0DBE9503ED}" srcOrd="0" destOrd="0" presId="urn:microsoft.com/office/officeart/2005/8/layout/hierarchy2"/>
    <dgm:cxn modelId="{BDF70DBE-DE32-D044-BCF0-A9D11D0E632D}" type="presParOf" srcId="{1080E983-649E-8F4E-BF61-6B0DBE9503ED}" destId="{85D0D64A-20EA-3543-B1E4-6C84C1FBCF32}" srcOrd="0" destOrd="0" presId="urn:microsoft.com/office/officeart/2005/8/layout/hierarchy2"/>
    <dgm:cxn modelId="{50DB683B-95A3-2743-BF59-A655976A9181}" type="presParOf" srcId="{1080E983-649E-8F4E-BF61-6B0DBE9503ED}" destId="{A6D9C779-A5E5-3447-AE34-EEC489882656}" srcOrd="1" destOrd="0" presId="urn:microsoft.com/office/officeart/2005/8/layout/hierarchy2"/>
    <dgm:cxn modelId="{FA312F1D-5F7F-1F4D-85C8-391D9B8807CD}" type="presParOf" srcId="{17C63389-394D-9943-A6FE-F8BC0B9266EC}" destId="{1A1F8B82-F9E9-C14E-946D-14610DD98497}" srcOrd="1" destOrd="0" presId="urn:microsoft.com/office/officeart/2005/8/layout/hierarchy2"/>
    <dgm:cxn modelId="{377D98BD-8BDB-1C44-94CE-8C6859F03727}" type="presParOf" srcId="{1A1F8B82-F9E9-C14E-946D-14610DD98497}" destId="{3AE93A2F-289D-FE42-A64B-9E3D827EBFAE}" srcOrd="0" destOrd="0" presId="urn:microsoft.com/office/officeart/2005/8/layout/hierarchy2"/>
    <dgm:cxn modelId="{24D552EF-96FE-CA42-B43B-A187432142C0}" type="presParOf" srcId="{1A1F8B82-F9E9-C14E-946D-14610DD98497}" destId="{B8D15B30-0747-C34D-8ECB-4D50D31C250B}" srcOrd="1" destOrd="0" presId="urn:microsoft.com/office/officeart/2005/8/layout/hierarchy2"/>
    <dgm:cxn modelId="{94E9E241-25FC-964B-B91D-E47903352B91}" type="presParOf" srcId="{B8D15B30-0747-C34D-8ECB-4D50D31C250B}" destId="{AAB2EBB9-111B-9E49-8848-10636BDD9BBF}" srcOrd="0" destOrd="0" presId="urn:microsoft.com/office/officeart/2005/8/layout/hierarchy2"/>
    <dgm:cxn modelId="{E38633C8-1CA4-0648-8DB3-65A912FA201D}" type="presParOf" srcId="{AAB2EBB9-111B-9E49-8848-10636BDD9BBF}" destId="{F4E842CB-C1CD-B241-BCF4-C55AB9F5E222}" srcOrd="0" destOrd="0" presId="urn:microsoft.com/office/officeart/2005/8/layout/hierarchy2"/>
    <dgm:cxn modelId="{97172356-C95F-BE47-92A6-A1E25F3608B8}" type="presParOf" srcId="{B8D15B30-0747-C34D-8ECB-4D50D31C250B}" destId="{A731CF20-B7C6-9C4A-983B-42A3E739198A}" srcOrd="1" destOrd="0" presId="urn:microsoft.com/office/officeart/2005/8/layout/hierarchy2"/>
    <dgm:cxn modelId="{7AD0465F-BABB-624B-9CD7-D4050B2E72B3}" type="presParOf" srcId="{A731CF20-B7C6-9C4A-983B-42A3E739198A}" destId="{DC294350-CBBA-FE40-BD41-0DEB83F9E460}" srcOrd="0" destOrd="0" presId="urn:microsoft.com/office/officeart/2005/8/layout/hierarchy2"/>
    <dgm:cxn modelId="{915BAC1F-3694-5348-BC21-200600F84871}" type="presParOf" srcId="{A731CF20-B7C6-9C4A-983B-42A3E739198A}" destId="{D08D4E75-A511-5C45-83AA-B4A90E71FA59}" srcOrd="1" destOrd="0" presId="urn:microsoft.com/office/officeart/2005/8/layout/hierarchy2"/>
    <dgm:cxn modelId="{BA913A1A-2255-9040-B8A3-736076ECE7AA}" type="presParOf" srcId="{B8D15B30-0747-C34D-8ECB-4D50D31C250B}" destId="{4428AA7B-65F8-7942-8692-FF7497BAF65F}" srcOrd="2" destOrd="0" presId="urn:microsoft.com/office/officeart/2005/8/layout/hierarchy2"/>
    <dgm:cxn modelId="{21A8C55E-4FC4-FB46-9758-264D8EBA91BD}" type="presParOf" srcId="{4428AA7B-65F8-7942-8692-FF7497BAF65F}" destId="{43FF079C-7C44-0E44-AD37-F62BB8A0DDAC}" srcOrd="0" destOrd="0" presId="urn:microsoft.com/office/officeart/2005/8/layout/hierarchy2"/>
    <dgm:cxn modelId="{C85B29AA-2C19-3D4D-BE06-9CA168F9AEE3}" type="presParOf" srcId="{B8D15B30-0747-C34D-8ECB-4D50D31C250B}" destId="{0933682E-A9E4-D545-BC9E-E785D05218A1}" srcOrd="3" destOrd="0" presId="urn:microsoft.com/office/officeart/2005/8/layout/hierarchy2"/>
    <dgm:cxn modelId="{7CB24855-2B4E-E54B-93CB-E2AE283E906C}" type="presParOf" srcId="{0933682E-A9E4-D545-BC9E-E785D05218A1}" destId="{B6CBFAEE-5539-8748-B47D-AC2133D9F485}" srcOrd="0" destOrd="0" presId="urn:microsoft.com/office/officeart/2005/8/layout/hierarchy2"/>
    <dgm:cxn modelId="{6C90AD0F-E580-E447-810D-760E02B68BCB}" type="presParOf" srcId="{0933682E-A9E4-D545-BC9E-E785D05218A1}" destId="{00BFC93A-CB9C-3945-8021-1837936551CF}" srcOrd="1" destOrd="0" presId="urn:microsoft.com/office/officeart/2005/8/layout/hierarchy2"/>
    <dgm:cxn modelId="{5A43E566-3BD8-1C44-A8B8-3D4BF41BB295}" type="presParOf" srcId="{17C63389-394D-9943-A6FE-F8BC0B9266EC}" destId="{FFF54C54-14B2-1343-A5F4-F0E1F9015899}" srcOrd="2" destOrd="0" presId="urn:microsoft.com/office/officeart/2005/8/layout/hierarchy2"/>
    <dgm:cxn modelId="{800421FA-4AA3-E245-8799-FA021B868D52}" type="presParOf" srcId="{FFF54C54-14B2-1343-A5F4-F0E1F9015899}" destId="{01EE3C13-69C6-3C4A-8B76-2FE6EFBC0A5A}" srcOrd="0" destOrd="0" presId="urn:microsoft.com/office/officeart/2005/8/layout/hierarchy2"/>
    <dgm:cxn modelId="{1AAA91B7-D364-F542-8728-48C9AC8701BA}" type="presParOf" srcId="{FFF54C54-14B2-1343-A5F4-F0E1F9015899}" destId="{BEBD77C9-970E-CB4A-BF1F-332126265E03}"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BD3A63-14C0-4942-84B5-3270C553ABAA}">
      <dsp:nvSpPr>
        <dsp:cNvPr id="0" name=""/>
        <dsp:cNvSpPr/>
      </dsp:nvSpPr>
      <dsp:spPr>
        <a:xfrm>
          <a:off x="0" y="755332"/>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60365C-97F1-48D3-B6BF-5B897D225562}">
      <dsp:nvSpPr>
        <dsp:cNvPr id="0" name=""/>
        <dsp:cNvSpPr/>
      </dsp:nvSpPr>
      <dsp:spPr>
        <a:xfrm>
          <a:off x="421824" y="1069086"/>
          <a:ext cx="766953" cy="7669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6B22B6-9D4A-424D-A09B-C013D084F47B}">
      <dsp:nvSpPr>
        <dsp:cNvPr id="0" name=""/>
        <dsp:cNvSpPr/>
      </dsp:nvSpPr>
      <dsp:spPr>
        <a:xfrm>
          <a:off x="1610601" y="755332"/>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kern="1200"/>
            <a:t>Increase in physical capital</a:t>
          </a:r>
        </a:p>
      </dsp:txBody>
      <dsp:txXfrm>
        <a:off x="1610601" y="755332"/>
        <a:ext cx="7228598" cy="1394460"/>
      </dsp:txXfrm>
    </dsp:sp>
    <dsp:sp modelId="{885613FA-BE04-41AE-89F1-C24214613A4C}">
      <dsp:nvSpPr>
        <dsp:cNvPr id="0" name=""/>
        <dsp:cNvSpPr/>
      </dsp:nvSpPr>
      <dsp:spPr>
        <a:xfrm>
          <a:off x="0" y="2498407"/>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7FC401-7133-4A5E-927A-2003BF779C60}">
      <dsp:nvSpPr>
        <dsp:cNvPr id="0" name=""/>
        <dsp:cNvSpPr/>
      </dsp:nvSpPr>
      <dsp:spPr>
        <a:xfrm>
          <a:off x="421824" y="2812161"/>
          <a:ext cx="766953" cy="7669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3C25E4-D1F2-42B3-8225-EE495A65788C}">
      <dsp:nvSpPr>
        <dsp:cNvPr id="0" name=""/>
        <dsp:cNvSpPr/>
      </dsp:nvSpPr>
      <dsp:spPr>
        <a:xfrm>
          <a:off x="1610601" y="2498407"/>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i="1" kern="1200"/>
            <a:t>Physical capital: </a:t>
          </a:r>
          <a:r>
            <a:rPr lang="en-US" sz="2500" b="0" kern="1200"/>
            <a:t>human-made resources, such as buildings and machines</a:t>
          </a:r>
          <a:endParaRPr lang="en-US" sz="2500" kern="1200"/>
        </a:p>
      </dsp:txBody>
      <dsp:txXfrm>
        <a:off x="1610601" y="2498407"/>
        <a:ext cx="7228598" cy="13944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5B4189-5DB8-40F0-95A4-634FC7AB130B}">
      <dsp:nvSpPr>
        <dsp:cNvPr id="0" name=""/>
        <dsp:cNvSpPr/>
      </dsp:nvSpPr>
      <dsp:spPr>
        <a:xfrm>
          <a:off x="0" y="755332"/>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31AC04-AEAA-4FA7-8336-918F9FC5A20A}">
      <dsp:nvSpPr>
        <dsp:cNvPr id="0" name=""/>
        <dsp:cNvSpPr/>
      </dsp:nvSpPr>
      <dsp:spPr>
        <a:xfrm>
          <a:off x="421824" y="1069086"/>
          <a:ext cx="766953" cy="7669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DDF32A2-044A-4339-9C82-E7E5E79CDFB0}">
      <dsp:nvSpPr>
        <dsp:cNvPr id="0" name=""/>
        <dsp:cNvSpPr/>
      </dsp:nvSpPr>
      <dsp:spPr>
        <a:xfrm>
          <a:off x="1610601" y="755332"/>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b="1" kern="1200"/>
            <a:t>Increase in human capital</a:t>
          </a:r>
          <a:endParaRPr lang="en-US" sz="2500" kern="1200"/>
        </a:p>
      </dsp:txBody>
      <dsp:txXfrm>
        <a:off x="1610601" y="755332"/>
        <a:ext cx="7228598" cy="1394460"/>
      </dsp:txXfrm>
    </dsp:sp>
    <dsp:sp modelId="{30943671-8C9E-4E4C-8D06-0CA2946ED28A}">
      <dsp:nvSpPr>
        <dsp:cNvPr id="0" name=""/>
        <dsp:cNvSpPr/>
      </dsp:nvSpPr>
      <dsp:spPr>
        <a:xfrm>
          <a:off x="0" y="2498407"/>
          <a:ext cx="8839200" cy="139446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173627-D8E9-4F63-A9CE-B5A72594FBF0}">
      <dsp:nvSpPr>
        <dsp:cNvPr id="0" name=""/>
        <dsp:cNvSpPr/>
      </dsp:nvSpPr>
      <dsp:spPr>
        <a:xfrm>
          <a:off x="421824" y="2812161"/>
          <a:ext cx="766953" cy="7669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2C7F6A-274A-4105-B833-8D721E7827E1}">
      <dsp:nvSpPr>
        <dsp:cNvPr id="0" name=""/>
        <dsp:cNvSpPr/>
      </dsp:nvSpPr>
      <dsp:spPr>
        <a:xfrm>
          <a:off x="1610601" y="2498407"/>
          <a:ext cx="7228598" cy="1394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80" tIns="147580" rIns="147580" bIns="147580" numCol="1" spcCol="1270" anchor="ctr" anchorCtr="0">
          <a:noAutofit/>
        </a:bodyPr>
        <a:lstStyle/>
        <a:p>
          <a:pPr marL="0" lvl="0" indent="0" algn="l" defTabSz="1111250">
            <a:lnSpc>
              <a:spcPct val="90000"/>
            </a:lnSpc>
            <a:spcBef>
              <a:spcPct val="0"/>
            </a:spcBef>
            <a:spcAft>
              <a:spcPct val="35000"/>
            </a:spcAft>
            <a:buNone/>
          </a:pPr>
          <a:r>
            <a:rPr lang="en-US" sz="2500" b="1" i="1" kern="1200"/>
            <a:t>Human capital:</a:t>
          </a:r>
          <a:r>
            <a:rPr lang="en-US" sz="2500" b="0" kern="1200"/>
            <a:t> the improvement in labor created by the education and knowledge embodied in the workforce.</a:t>
          </a:r>
          <a:endParaRPr lang="en-US" sz="2500" kern="1200"/>
        </a:p>
      </dsp:txBody>
      <dsp:txXfrm>
        <a:off x="1610601" y="2498407"/>
        <a:ext cx="7228598" cy="1394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6A11E3-D996-7443-882E-2572BE1298CD}">
      <dsp:nvSpPr>
        <dsp:cNvPr id="0" name=""/>
        <dsp:cNvSpPr/>
      </dsp:nvSpPr>
      <dsp:spPr>
        <a:xfrm>
          <a:off x="0" y="2269"/>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84AE8C-1903-0644-9969-BB9631CBB3B4}">
      <dsp:nvSpPr>
        <dsp:cNvPr id="0" name=""/>
        <dsp:cNvSpPr/>
      </dsp:nvSpPr>
      <dsp:spPr>
        <a:xfrm>
          <a:off x="0" y="2269"/>
          <a:ext cx="8839200" cy="1547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1" kern="1200"/>
            <a:t>Increases in total factor productivity are crucial for growth.</a:t>
          </a:r>
          <a:endParaRPr lang="en-US" sz="2800" kern="1200"/>
        </a:p>
      </dsp:txBody>
      <dsp:txXfrm>
        <a:off x="0" y="2269"/>
        <a:ext cx="8839200" cy="1547886"/>
      </dsp:txXfrm>
    </dsp:sp>
    <dsp:sp modelId="{C0718236-CB8C-3A4A-9C42-967EDD52DB77}">
      <dsp:nvSpPr>
        <dsp:cNvPr id="0" name=""/>
        <dsp:cNvSpPr/>
      </dsp:nvSpPr>
      <dsp:spPr>
        <a:xfrm>
          <a:off x="0" y="1550156"/>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D50F172-8060-7846-8614-6946FE8A2CF8}">
      <dsp:nvSpPr>
        <dsp:cNvPr id="0" name=""/>
        <dsp:cNvSpPr/>
      </dsp:nvSpPr>
      <dsp:spPr>
        <a:xfrm>
          <a:off x="0" y="1550156"/>
          <a:ext cx="8839200" cy="1547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kern="1200" dirty="0"/>
            <a:t>And </a:t>
          </a:r>
          <a:r>
            <a:rPr lang="en-US" sz="2800" b="1" kern="1200" dirty="0"/>
            <a:t>increases in total factor productivity </a:t>
          </a:r>
          <a:r>
            <a:rPr lang="en-US" sz="2800" b="0" kern="1200" dirty="0"/>
            <a:t>likely measure the economic effects of </a:t>
          </a:r>
          <a:r>
            <a:rPr lang="en-US" sz="2800" b="1" kern="1200" dirty="0"/>
            <a:t>technological progress.</a:t>
          </a:r>
        </a:p>
        <a:p>
          <a:pPr marL="0" lvl="0" indent="0" algn="l" defTabSz="1244600">
            <a:lnSpc>
              <a:spcPct val="90000"/>
            </a:lnSpc>
            <a:spcBef>
              <a:spcPct val="0"/>
            </a:spcBef>
            <a:spcAft>
              <a:spcPct val="35000"/>
            </a:spcAft>
            <a:buNone/>
          </a:pPr>
          <a:endParaRPr lang="en-US" sz="2800" kern="1200" dirty="0"/>
        </a:p>
      </dsp:txBody>
      <dsp:txXfrm>
        <a:off x="0" y="1550156"/>
        <a:ext cx="8839200" cy="1547886"/>
      </dsp:txXfrm>
    </dsp:sp>
    <dsp:sp modelId="{43BC5A1E-3FAD-1F45-8983-21B59DF4789B}">
      <dsp:nvSpPr>
        <dsp:cNvPr id="0" name=""/>
        <dsp:cNvSpPr/>
      </dsp:nvSpPr>
      <dsp:spPr>
        <a:xfrm>
          <a:off x="0" y="3098043"/>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61CF99-7A06-7345-86B0-2176C2D349E1}">
      <dsp:nvSpPr>
        <dsp:cNvPr id="0" name=""/>
        <dsp:cNvSpPr/>
      </dsp:nvSpPr>
      <dsp:spPr>
        <a:xfrm>
          <a:off x="0" y="3098043"/>
          <a:ext cx="8839200" cy="15478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b="0" kern="1200"/>
            <a:t>So </a:t>
          </a:r>
          <a:r>
            <a:rPr lang="en-US" sz="2800" b="1" kern="1200"/>
            <a:t>technological change is crucial to economic growth.</a:t>
          </a:r>
          <a:endParaRPr lang="en-US" sz="2800" kern="1200"/>
        </a:p>
      </dsp:txBody>
      <dsp:txXfrm>
        <a:off x="0" y="3098043"/>
        <a:ext cx="8839200" cy="154788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0D64A-20EA-3543-B1E4-6C84C1FBCF32}">
      <dsp:nvSpPr>
        <dsp:cNvPr id="0" name=""/>
        <dsp:cNvSpPr/>
      </dsp:nvSpPr>
      <dsp:spPr>
        <a:xfrm>
          <a:off x="1042392" y="2269"/>
          <a:ext cx="2814339" cy="14071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There is consensus in economics that government action is needed to deal with climate change. </a:t>
          </a:r>
        </a:p>
      </dsp:txBody>
      <dsp:txXfrm>
        <a:off x="1083607" y="43484"/>
        <a:ext cx="2731909" cy="1324739"/>
      </dsp:txXfrm>
    </dsp:sp>
    <dsp:sp modelId="{3AE93A2F-289D-FE42-A64B-9E3D827EBFAE}">
      <dsp:nvSpPr>
        <dsp:cNvPr id="0" name=""/>
        <dsp:cNvSpPr/>
      </dsp:nvSpPr>
      <dsp:spPr>
        <a:xfrm>
          <a:off x="1042392" y="1620515"/>
          <a:ext cx="2814339" cy="14071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Economists prefer market-based incentives, in the form of:</a:t>
          </a:r>
        </a:p>
      </dsp:txBody>
      <dsp:txXfrm>
        <a:off x="1083607" y="1661730"/>
        <a:ext cx="2731909" cy="1324739"/>
      </dsp:txXfrm>
    </dsp:sp>
    <dsp:sp modelId="{AAB2EBB9-111B-9E49-8848-10636BDD9BBF}">
      <dsp:nvSpPr>
        <dsp:cNvPr id="0" name=""/>
        <dsp:cNvSpPr/>
      </dsp:nvSpPr>
      <dsp:spPr>
        <a:xfrm rot="19457599">
          <a:off x="3726425" y="1892292"/>
          <a:ext cx="1386348" cy="54492"/>
        </a:xfrm>
        <a:custGeom>
          <a:avLst/>
          <a:gdLst/>
          <a:ahLst/>
          <a:cxnLst/>
          <a:rect l="0" t="0" r="0" b="0"/>
          <a:pathLst>
            <a:path>
              <a:moveTo>
                <a:pt x="0" y="27246"/>
              </a:moveTo>
              <a:lnTo>
                <a:pt x="1386348"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4941" y="1884879"/>
        <a:ext cx="69317" cy="69317"/>
      </dsp:txXfrm>
    </dsp:sp>
    <dsp:sp modelId="{DC294350-CBBA-FE40-BD41-0DEB83F9E460}">
      <dsp:nvSpPr>
        <dsp:cNvPr id="0" name=""/>
        <dsp:cNvSpPr/>
      </dsp:nvSpPr>
      <dsp:spPr>
        <a:xfrm>
          <a:off x="4982467" y="811392"/>
          <a:ext cx="2814339" cy="14071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Carbon tax (a tax per unit of carbon emitted) or</a:t>
          </a:r>
        </a:p>
      </dsp:txBody>
      <dsp:txXfrm>
        <a:off x="5023682" y="852607"/>
        <a:ext cx="2731909" cy="1324739"/>
      </dsp:txXfrm>
    </dsp:sp>
    <dsp:sp modelId="{4428AA7B-65F8-7942-8692-FF7497BAF65F}">
      <dsp:nvSpPr>
        <dsp:cNvPr id="0" name=""/>
        <dsp:cNvSpPr/>
      </dsp:nvSpPr>
      <dsp:spPr>
        <a:xfrm rot="2142401">
          <a:off x="3726425" y="2701415"/>
          <a:ext cx="1386348" cy="54492"/>
        </a:xfrm>
        <a:custGeom>
          <a:avLst/>
          <a:gdLst/>
          <a:ahLst/>
          <a:cxnLst/>
          <a:rect l="0" t="0" r="0" b="0"/>
          <a:pathLst>
            <a:path>
              <a:moveTo>
                <a:pt x="0" y="27246"/>
              </a:moveTo>
              <a:lnTo>
                <a:pt x="1386348" y="272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4941" y="2694002"/>
        <a:ext cx="69317" cy="69317"/>
      </dsp:txXfrm>
    </dsp:sp>
    <dsp:sp modelId="{B6CBFAEE-5539-8748-B47D-AC2133D9F485}">
      <dsp:nvSpPr>
        <dsp:cNvPr id="0" name=""/>
        <dsp:cNvSpPr/>
      </dsp:nvSpPr>
      <dsp:spPr>
        <a:xfrm>
          <a:off x="4982467" y="2429637"/>
          <a:ext cx="2814339" cy="14071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Cap and trade system in which the total amount of emissions is capped and producers must buy licenses to emit greenhouse gases. </a:t>
          </a:r>
        </a:p>
      </dsp:txBody>
      <dsp:txXfrm>
        <a:off x="5023682" y="2470852"/>
        <a:ext cx="2731909" cy="1324739"/>
      </dsp:txXfrm>
    </dsp:sp>
    <dsp:sp modelId="{01EE3C13-69C6-3C4A-8B76-2FE6EFBC0A5A}">
      <dsp:nvSpPr>
        <dsp:cNvPr id="0" name=""/>
        <dsp:cNvSpPr/>
      </dsp:nvSpPr>
      <dsp:spPr>
        <a:xfrm>
          <a:off x="1042392" y="3238760"/>
          <a:ext cx="2814339" cy="1407169"/>
        </a:xfrm>
        <a:prstGeom prst="roundRect">
          <a:avLst>
            <a:gd name="adj" fmla="val 100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i="1" kern="1200"/>
            <a:t>How much </a:t>
          </a:r>
          <a:r>
            <a:rPr lang="en-US" sz="1600" kern="1200"/>
            <a:t>action is appropriate?  We are uncertain about how fast climate change is happening and what impact the solutions will have.</a:t>
          </a:r>
        </a:p>
      </dsp:txBody>
      <dsp:txXfrm>
        <a:off x="1083607" y="3279975"/>
        <a:ext cx="2731909" cy="132473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D7D7A8-C652-304E-B365-B25232E336F2}" type="datetimeFigureOut">
              <a:rPr lang="en-US" smtClean="0"/>
              <a:t>2/24/26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D5F51-2719-624B-AA3D-8BBD63EA2CE0}" type="slidenum">
              <a:rPr lang="en-US" smtClean="0"/>
              <a:t>‹#›</a:t>
            </a:fld>
            <a:endParaRPr lang="en-US"/>
          </a:p>
        </p:txBody>
      </p:sp>
    </p:spTree>
    <p:extLst>
      <p:ext uri="{BB962C8B-B14F-4D97-AF65-F5344CB8AC3E}">
        <p14:creationId xmlns:p14="http://schemas.microsoft.com/office/powerpoint/2010/main" val="1615597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7F735-3B07-40E0-90B2-09F3232ABD28}" type="datetimeFigureOut">
              <a:rPr lang="en-US" smtClean="0"/>
              <a:t>2/24/26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470D8-1F41-4A2B-8AFF-DD19730E7B38}" type="slidenum">
              <a:rPr lang="en-US" smtClean="0"/>
              <a:t>‹#›</a:t>
            </a:fld>
            <a:endParaRPr lang="en-US"/>
          </a:p>
        </p:txBody>
      </p:sp>
    </p:spTree>
    <p:extLst>
      <p:ext uri="{BB962C8B-B14F-4D97-AF65-F5344CB8AC3E}">
        <p14:creationId xmlns:p14="http://schemas.microsoft.com/office/powerpoint/2010/main" val="41347551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5D9F-55F3-F4E6-C4BC-0223F81EC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706FF-140F-93C3-241A-70AF5C47F2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9E6BF-7DE3-B9A7-3D2F-3468F692C29D}"/>
              </a:ext>
            </a:extLst>
          </p:cNvPr>
          <p:cNvSpPr>
            <a:spLocks noGrp="1"/>
          </p:cNvSpPr>
          <p:nvPr>
            <p:ph type="body" idx="1"/>
          </p:nvPr>
        </p:nvSpPr>
        <p:spPr/>
        <p:txBody>
          <a:bodyPr/>
          <a:lstStyle/>
          <a:p>
            <a:r>
              <a:rPr lang="en-US" dirty="0"/>
              <a:t>http://www.ted.com/talks/hans_rosling_asia_s_rise_how_and_when.html</a:t>
            </a:r>
          </a:p>
          <a:p>
            <a:endParaRPr lang="en-US" dirty="0"/>
          </a:p>
        </p:txBody>
      </p:sp>
      <p:sp>
        <p:nvSpPr>
          <p:cNvPr id="4" name="Slide Number Placeholder 3">
            <a:extLst>
              <a:ext uri="{FF2B5EF4-FFF2-40B4-BE49-F238E27FC236}">
                <a16:creationId xmlns:a16="http://schemas.microsoft.com/office/drawing/2014/main" id="{CAF24B83-31ED-1142-7F88-361BBAB0A688}"/>
              </a:ext>
            </a:extLst>
          </p:cNvPr>
          <p:cNvSpPr>
            <a:spLocks noGrp="1"/>
          </p:cNvSpPr>
          <p:nvPr>
            <p:ph type="sldNum" sz="quarter" idx="10"/>
          </p:nvPr>
        </p:nvSpPr>
        <p:spPr/>
        <p:txBody>
          <a:bodyPr/>
          <a:lstStyle/>
          <a:p>
            <a:fld id="{3FB25343-7080-4A40-9DE0-C66DFC09A2A5}" type="slidenum">
              <a:rPr lang="en-US" smtClean="0"/>
              <a:t>4</a:t>
            </a:fld>
            <a:endParaRPr lang="en-US" dirty="0"/>
          </a:p>
        </p:txBody>
      </p:sp>
    </p:spTree>
    <p:extLst>
      <p:ext uri="{BB962C8B-B14F-4D97-AF65-F5344CB8AC3E}">
        <p14:creationId xmlns:p14="http://schemas.microsoft.com/office/powerpoint/2010/main" val="1492626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a:p>
        </p:txBody>
      </p:sp>
      <p:sp>
        <p:nvSpPr>
          <p:cNvPr id="4" name="Slide Number Placeholder 3"/>
          <p:cNvSpPr>
            <a:spLocks noGrp="1"/>
          </p:cNvSpPr>
          <p:nvPr>
            <p:ph type="sldNum" sz="quarter" idx="5"/>
          </p:nvPr>
        </p:nvSpPr>
        <p:spPr/>
        <p:txBody>
          <a:bodyPr/>
          <a:lstStyle/>
          <a:p>
            <a:pPr>
              <a:defRPr/>
            </a:pPr>
            <a:fld id="{E35ED398-7FEF-4610-A536-FCB013578247}" type="slidenum">
              <a:rPr lang="en-US" smtClean="0"/>
              <a:pPr>
                <a:defRPr/>
              </a:pPr>
              <a:t>9</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credit:</a:t>
            </a:r>
            <a:r>
              <a:rPr lang="en-US" baseline="0" dirty="0"/>
              <a:t> </a:t>
            </a:r>
            <a:r>
              <a:rPr lang="en-US" baseline="0" dirty="0" err="1"/>
              <a:t>Sipra</a:t>
            </a:r>
            <a:r>
              <a:rPr lang="en-US" baseline="0" dirty="0"/>
              <a:t> Das/The India Today Group/Getty images</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13</a:t>
            </a:fld>
            <a:endParaRPr lang="en-US"/>
          </a:p>
        </p:txBody>
      </p:sp>
    </p:spTree>
    <p:extLst>
      <p:ext uri="{BB962C8B-B14F-4D97-AF65-F5344CB8AC3E}">
        <p14:creationId xmlns:p14="http://schemas.microsoft.com/office/powerpoint/2010/main" val="2154312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credits:</a:t>
            </a:r>
            <a:r>
              <a:rPr lang="en-US" baseline="0" dirty="0"/>
              <a:t> </a:t>
            </a:r>
            <a:r>
              <a:rPr lang="en-US" sz="1300" b="0" i="0" u="none" strike="noStrike" kern="1200" baseline="0" dirty="0" err="1">
                <a:solidFill>
                  <a:schemeClr val="tx1"/>
                </a:solidFill>
                <a:latin typeface="+mn-lt"/>
                <a:ea typeface="+mn-ea"/>
                <a:cs typeface="+mn-cs"/>
              </a:rPr>
              <a:t>Prisma</a:t>
            </a:r>
            <a:r>
              <a:rPr lang="en-US" sz="1300" b="0" i="0" u="none" strike="noStrike" kern="1200" baseline="0" dirty="0">
                <a:solidFill>
                  <a:schemeClr val="tx1"/>
                </a:solidFill>
                <a:latin typeface="+mn-lt"/>
                <a:ea typeface="+mn-ea"/>
                <a:cs typeface="+mn-cs"/>
              </a:rPr>
              <a:t>/UIG via Getty Images (left picture) </a:t>
            </a:r>
            <a:r>
              <a:rPr lang="en-US" sz="1300" b="0" i="0" u="none" strike="noStrike" kern="1200" baseline="0" dirty="0" err="1">
                <a:solidFill>
                  <a:schemeClr val="tx1"/>
                </a:solidFill>
                <a:latin typeface="+mn-lt"/>
                <a:ea typeface="+mn-ea"/>
                <a:cs typeface="+mn-cs"/>
              </a:rPr>
              <a:t>Kaband</a:t>
            </a:r>
            <a:r>
              <a:rPr lang="en-US" sz="1300" b="0" i="0" u="none" strike="noStrike" kern="1200" baseline="0" dirty="0">
                <a:solidFill>
                  <a:schemeClr val="tx1"/>
                </a:solidFill>
                <a:latin typeface="+mn-lt"/>
                <a:ea typeface="+mn-ea"/>
                <a:cs typeface="+mn-cs"/>
              </a:rPr>
              <a:t>/</a:t>
            </a:r>
            <a:r>
              <a:rPr lang="en-US" sz="1300" b="0" i="0" u="none" strike="noStrike" kern="1200" baseline="0" dirty="0" err="1">
                <a:solidFill>
                  <a:schemeClr val="tx1"/>
                </a:solidFill>
                <a:latin typeface="+mn-lt"/>
                <a:ea typeface="+mn-ea"/>
                <a:cs typeface="+mn-cs"/>
              </a:rPr>
              <a:t>Shutterstock</a:t>
            </a:r>
            <a:r>
              <a:rPr lang="en-US" sz="1300" b="0" i="0" u="none" strike="noStrike" kern="1200" baseline="0" dirty="0">
                <a:solidFill>
                  <a:schemeClr val="tx1"/>
                </a:solidFill>
                <a:latin typeface="+mn-lt"/>
                <a:ea typeface="+mn-ea"/>
                <a:cs typeface="+mn-cs"/>
              </a:rPr>
              <a:t> (</a:t>
            </a:r>
            <a:r>
              <a:rPr lang="en-US" sz="1300" b="0" i="0" u="none" strike="noStrike" kern="1200" baseline="0">
                <a:solidFill>
                  <a:schemeClr val="tx1"/>
                </a:solidFill>
                <a:latin typeface="+mn-lt"/>
                <a:ea typeface="+mn-ea"/>
                <a:cs typeface="+mn-cs"/>
              </a:rPr>
              <a:t>right picture)</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solidFill>
                  <a:prstClr val="black"/>
                </a:solidFill>
                <a:latin typeface="Calibri"/>
              </a:rPr>
              <a:pPr/>
              <a:t>17</a:t>
            </a:fld>
            <a:endParaRPr lang="en-US">
              <a:solidFill>
                <a:prstClr val="black"/>
              </a:solidFill>
              <a:latin typeface="Calibri"/>
            </a:endParaRPr>
          </a:p>
        </p:txBody>
      </p:sp>
    </p:spTree>
    <p:extLst>
      <p:ext uri="{BB962C8B-B14F-4D97-AF65-F5344CB8AC3E}">
        <p14:creationId xmlns:p14="http://schemas.microsoft.com/office/powerpoint/2010/main" val="108564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solidFill>
                  <a:prstClr val="black"/>
                </a:solidFill>
                <a:latin typeface="Calibri"/>
              </a:rPr>
              <a:pPr/>
              <a:t>18</a:t>
            </a:fld>
            <a:endParaRPr lang="en-US">
              <a:solidFill>
                <a:prstClr val="black"/>
              </a:solidFill>
              <a:latin typeface="Calibri"/>
            </a:endParaRPr>
          </a:p>
        </p:txBody>
      </p:sp>
    </p:spTree>
    <p:extLst>
      <p:ext uri="{BB962C8B-B14F-4D97-AF65-F5344CB8AC3E}">
        <p14:creationId xmlns:p14="http://schemas.microsoft.com/office/powerpoint/2010/main" val="2521977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20</a:t>
            </a:fld>
            <a:endParaRPr lang="en-US"/>
          </a:p>
        </p:txBody>
      </p:sp>
    </p:spTree>
    <p:extLst>
      <p:ext uri="{BB962C8B-B14F-4D97-AF65-F5344CB8AC3E}">
        <p14:creationId xmlns:p14="http://schemas.microsoft.com/office/powerpoint/2010/main" val="4128010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C66821-06F4-44EA-8DEB-3A1AC4A4D3C6}" type="slidenum">
              <a:rPr lang="en-US"/>
              <a:pPr/>
              <a:t>21</a:t>
            </a:fld>
            <a:endParaRPr lang="en-US" dirty="0"/>
          </a:p>
        </p:txBody>
      </p:sp>
      <p:sp>
        <p:nvSpPr>
          <p:cNvPr id="364546" name="Rectangle 2"/>
          <p:cNvSpPr>
            <a:spLocks noGrp="1" noRot="1" noChangeAspect="1" noChangeArrowheads="1" noTextEdit="1"/>
          </p:cNvSpPr>
          <p:nvPr>
            <p:ph type="sldImg"/>
          </p:nvPr>
        </p:nvSpPr>
        <p:spPr>
          <a:ln/>
        </p:spPr>
      </p:sp>
      <p:sp>
        <p:nvSpPr>
          <p:cNvPr id="3645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22</a:t>
            </a:fld>
            <a:endParaRPr lang="en-US"/>
          </a:p>
        </p:txBody>
      </p:sp>
    </p:spTree>
    <p:extLst>
      <p:ext uri="{BB962C8B-B14F-4D97-AF65-F5344CB8AC3E}">
        <p14:creationId xmlns:p14="http://schemas.microsoft.com/office/powerpoint/2010/main" val="3855773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C66821-06F4-44EA-8DEB-3A1AC4A4D3C6}" type="slidenum">
              <a:rPr lang="en-US"/>
              <a:pPr/>
              <a:t>23</a:t>
            </a:fld>
            <a:endParaRPr lang="en-US" dirty="0"/>
          </a:p>
        </p:txBody>
      </p:sp>
      <p:sp>
        <p:nvSpPr>
          <p:cNvPr id="364546" name="Rectangle 2"/>
          <p:cNvSpPr>
            <a:spLocks noGrp="1" noRot="1" noChangeAspect="1" noChangeArrowheads="1" noTextEdit="1"/>
          </p:cNvSpPr>
          <p:nvPr>
            <p:ph type="sldImg"/>
          </p:nvPr>
        </p:nvSpPr>
        <p:spPr>
          <a:ln/>
        </p:spPr>
      </p:sp>
      <p:sp>
        <p:nvSpPr>
          <p:cNvPr id="3645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Slide Image Placeholder 1"/>
          <p:cNvSpPr>
            <a:spLocks noGrp="1" noRot="1" noChangeAspect="1" noTextEdit="1"/>
          </p:cNvSpPr>
          <p:nvPr>
            <p:ph type="sldImg"/>
          </p:nvPr>
        </p:nvSpPr>
        <p:spPr>
          <a:ln/>
        </p:spPr>
      </p:sp>
      <p:sp>
        <p:nvSpPr>
          <p:cNvPr id="1525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a:p>
            <a:endParaRPr lang="en-US" dirty="0">
              <a:latin typeface="Arial" pitchFamily="34" charset="0"/>
            </a:endParaRPr>
          </a:p>
        </p:txBody>
      </p:sp>
      <p:sp>
        <p:nvSpPr>
          <p:cNvPr id="1525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1"/>
                </a:solidFill>
                <a:latin typeface="Times New Roman" pitchFamily="18" charset="0"/>
              </a:defRPr>
            </a:lvl1pPr>
            <a:lvl2pPr marL="742950" indent="-285750" eaLnBrk="0" hangingPunct="0">
              <a:defRPr sz="2400">
                <a:solidFill>
                  <a:schemeClr val="bg1"/>
                </a:solidFill>
                <a:latin typeface="Times New Roman" pitchFamily="18" charset="0"/>
              </a:defRPr>
            </a:lvl2pPr>
            <a:lvl3pPr marL="1143000" indent="-228600" eaLnBrk="0" hangingPunct="0">
              <a:defRPr sz="2400">
                <a:solidFill>
                  <a:schemeClr val="bg1"/>
                </a:solidFill>
                <a:latin typeface="Times New Roman" pitchFamily="18" charset="0"/>
              </a:defRPr>
            </a:lvl3pPr>
            <a:lvl4pPr marL="1600200" indent="-228600" eaLnBrk="0" hangingPunct="0">
              <a:defRPr sz="2400">
                <a:solidFill>
                  <a:schemeClr val="bg1"/>
                </a:solidFill>
                <a:latin typeface="Times New Roman" pitchFamily="18" charset="0"/>
              </a:defRPr>
            </a:lvl4pPr>
            <a:lvl5pPr marL="2057400" indent="-228600" eaLnBrk="0" hangingPunct="0">
              <a:defRPr sz="2400">
                <a:solidFill>
                  <a:schemeClr val="bg1"/>
                </a:solidFill>
                <a:latin typeface="Times New Roman" pitchFamily="18" charset="0"/>
              </a:defRPr>
            </a:lvl5pPr>
            <a:lvl6pPr marL="2514600" indent="-228600" eaLnBrk="0" fontAlgn="base" hangingPunct="0">
              <a:spcBef>
                <a:spcPct val="0"/>
              </a:spcBef>
              <a:spcAft>
                <a:spcPct val="0"/>
              </a:spcAft>
              <a:defRPr sz="2400">
                <a:solidFill>
                  <a:schemeClr val="bg1"/>
                </a:solidFill>
                <a:latin typeface="Times New Roman" pitchFamily="18" charset="0"/>
              </a:defRPr>
            </a:lvl6pPr>
            <a:lvl7pPr marL="2971800" indent="-228600" eaLnBrk="0" fontAlgn="base" hangingPunct="0">
              <a:spcBef>
                <a:spcPct val="0"/>
              </a:spcBef>
              <a:spcAft>
                <a:spcPct val="0"/>
              </a:spcAft>
              <a:defRPr sz="2400">
                <a:solidFill>
                  <a:schemeClr val="bg1"/>
                </a:solidFill>
                <a:latin typeface="Times New Roman" pitchFamily="18" charset="0"/>
              </a:defRPr>
            </a:lvl7pPr>
            <a:lvl8pPr marL="3429000" indent="-228600" eaLnBrk="0" fontAlgn="base" hangingPunct="0">
              <a:spcBef>
                <a:spcPct val="0"/>
              </a:spcBef>
              <a:spcAft>
                <a:spcPct val="0"/>
              </a:spcAft>
              <a:defRPr sz="2400">
                <a:solidFill>
                  <a:schemeClr val="bg1"/>
                </a:solidFill>
                <a:latin typeface="Times New Roman" pitchFamily="18" charset="0"/>
              </a:defRPr>
            </a:lvl8pPr>
            <a:lvl9pPr marL="3886200" indent="-228600" eaLnBrk="0" fontAlgn="base" hangingPunct="0">
              <a:spcBef>
                <a:spcPct val="0"/>
              </a:spcBef>
              <a:spcAft>
                <a:spcPct val="0"/>
              </a:spcAft>
              <a:defRPr sz="2400">
                <a:solidFill>
                  <a:schemeClr val="bg1"/>
                </a:solidFill>
                <a:latin typeface="Times New Roman" pitchFamily="18" charset="0"/>
              </a:defRPr>
            </a:lvl9pPr>
          </a:lstStyle>
          <a:p>
            <a:pPr eaLnBrk="1" hangingPunct="1"/>
            <a:fld id="{21EC5DBC-B765-4FCC-827C-D51325376180}" type="slidenum">
              <a:rPr lang="en-US" sz="1200" smtClean="0">
                <a:solidFill>
                  <a:prstClr val="black"/>
                </a:solidFill>
                <a:latin typeface="Arial" pitchFamily="34" charset="0"/>
              </a:rPr>
              <a:pPr eaLnBrk="1" hangingPunct="1"/>
              <a:t>29</a:t>
            </a:fld>
            <a:endParaRPr lang="en-US" sz="1200" dirty="0">
              <a:solidFill>
                <a:prstClr val="black"/>
              </a:solidFill>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latin typeface="Arial" pitchFamily="34" charset="0"/>
            </a:endParaRPr>
          </a:p>
        </p:txBody>
      </p:sp>
      <p:sp>
        <p:nvSpPr>
          <p:cNvPr id="1433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bg1"/>
                </a:solidFill>
                <a:latin typeface="Times New Roman" pitchFamily="18" charset="0"/>
              </a:defRPr>
            </a:lvl1pPr>
            <a:lvl2pPr marL="742950" indent="-285750" eaLnBrk="0" hangingPunct="0">
              <a:defRPr sz="2400">
                <a:solidFill>
                  <a:schemeClr val="bg1"/>
                </a:solidFill>
                <a:latin typeface="Times New Roman" pitchFamily="18" charset="0"/>
              </a:defRPr>
            </a:lvl2pPr>
            <a:lvl3pPr marL="1143000" indent="-228600" eaLnBrk="0" hangingPunct="0">
              <a:defRPr sz="2400">
                <a:solidFill>
                  <a:schemeClr val="bg1"/>
                </a:solidFill>
                <a:latin typeface="Times New Roman" pitchFamily="18" charset="0"/>
              </a:defRPr>
            </a:lvl3pPr>
            <a:lvl4pPr marL="1600200" indent="-228600" eaLnBrk="0" hangingPunct="0">
              <a:defRPr sz="2400">
                <a:solidFill>
                  <a:schemeClr val="bg1"/>
                </a:solidFill>
                <a:latin typeface="Times New Roman" pitchFamily="18" charset="0"/>
              </a:defRPr>
            </a:lvl4pPr>
            <a:lvl5pPr marL="2057400" indent="-228600" eaLnBrk="0" hangingPunct="0">
              <a:defRPr sz="2400">
                <a:solidFill>
                  <a:schemeClr val="bg1"/>
                </a:solidFill>
                <a:latin typeface="Times New Roman" pitchFamily="18" charset="0"/>
              </a:defRPr>
            </a:lvl5pPr>
            <a:lvl6pPr marL="2514600" indent="-228600" eaLnBrk="0" fontAlgn="base" hangingPunct="0">
              <a:spcBef>
                <a:spcPct val="0"/>
              </a:spcBef>
              <a:spcAft>
                <a:spcPct val="0"/>
              </a:spcAft>
              <a:defRPr sz="2400">
                <a:solidFill>
                  <a:schemeClr val="bg1"/>
                </a:solidFill>
                <a:latin typeface="Times New Roman" pitchFamily="18" charset="0"/>
              </a:defRPr>
            </a:lvl6pPr>
            <a:lvl7pPr marL="2971800" indent="-228600" eaLnBrk="0" fontAlgn="base" hangingPunct="0">
              <a:spcBef>
                <a:spcPct val="0"/>
              </a:spcBef>
              <a:spcAft>
                <a:spcPct val="0"/>
              </a:spcAft>
              <a:defRPr sz="2400">
                <a:solidFill>
                  <a:schemeClr val="bg1"/>
                </a:solidFill>
                <a:latin typeface="Times New Roman" pitchFamily="18" charset="0"/>
              </a:defRPr>
            </a:lvl7pPr>
            <a:lvl8pPr marL="3429000" indent="-228600" eaLnBrk="0" fontAlgn="base" hangingPunct="0">
              <a:spcBef>
                <a:spcPct val="0"/>
              </a:spcBef>
              <a:spcAft>
                <a:spcPct val="0"/>
              </a:spcAft>
              <a:defRPr sz="2400">
                <a:solidFill>
                  <a:schemeClr val="bg1"/>
                </a:solidFill>
                <a:latin typeface="Times New Roman" pitchFamily="18" charset="0"/>
              </a:defRPr>
            </a:lvl8pPr>
            <a:lvl9pPr marL="3886200" indent="-228600" eaLnBrk="0" fontAlgn="base" hangingPunct="0">
              <a:spcBef>
                <a:spcPct val="0"/>
              </a:spcBef>
              <a:spcAft>
                <a:spcPct val="0"/>
              </a:spcAft>
              <a:defRPr sz="2400">
                <a:solidFill>
                  <a:schemeClr val="bg1"/>
                </a:solidFill>
                <a:latin typeface="Times New Roman" pitchFamily="18" charset="0"/>
              </a:defRPr>
            </a:lvl9pPr>
          </a:lstStyle>
          <a:p>
            <a:pPr eaLnBrk="1" hangingPunct="1"/>
            <a:fld id="{096B63DF-B8E2-4111-8023-F520BDE41208}" type="slidenum">
              <a:rPr lang="en-US" sz="1200" smtClean="0">
                <a:solidFill>
                  <a:schemeClr val="tx1"/>
                </a:solidFill>
                <a:latin typeface="Arial" pitchFamily="34" charset="0"/>
              </a:rPr>
              <a:pPr eaLnBrk="1" hangingPunct="1"/>
              <a:t>35</a:t>
            </a:fld>
            <a:endParaRPr lang="en-US" sz="1200" dirty="0">
              <a:solidFill>
                <a:schemeClr val="tx1"/>
              </a:solidFill>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a:solidFill>
                  <a:schemeClr val="tx1"/>
                </a:solidFill>
                <a:latin typeface="+mn-lt"/>
                <a:ea typeface="+mn-ea"/>
                <a:cs typeface="+mn-cs"/>
              </a:rPr>
              <a:t>SEOUL plaza</a:t>
            </a:r>
          </a:p>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a:solidFill>
                  <a:schemeClr val="tx1"/>
                </a:solidFill>
                <a:latin typeface="+mn-lt"/>
                <a:ea typeface="+mn-ea"/>
                <a:cs typeface="+mn-cs"/>
              </a:rPr>
              <a:t>All </a:t>
            </a:r>
            <a:r>
              <a:rPr lang="en-US" sz="1300" kern="1200" dirty="0">
                <a:solidFill>
                  <a:schemeClr val="tx1"/>
                </a:solidFill>
                <a:latin typeface="+mn-lt"/>
                <a:ea typeface="+mn-ea"/>
                <a:cs typeface="+mn-cs"/>
              </a:rPr>
              <a:t>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37</a:t>
            </a:fld>
            <a:endParaRPr lang="en-US"/>
          </a:p>
        </p:txBody>
      </p:sp>
    </p:spTree>
    <p:extLst>
      <p:ext uri="{BB962C8B-B14F-4D97-AF65-F5344CB8AC3E}">
        <p14:creationId xmlns:p14="http://schemas.microsoft.com/office/powerpoint/2010/main" val="1493911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http://www.ted.com/talks/hans_rosling_asia_s_rise_how_and_when.html</a:t>
            </a:r>
          </a:p>
          <a:p>
            <a:endParaRPr lang="en-US" dirty="0"/>
          </a:p>
        </p:txBody>
      </p:sp>
      <p:sp>
        <p:nvSpPr>
          <p:cNvPr id="4" name="Slide Number Placeholder 3"/>
          <p:cNvSpPr>
            <a:spLocks noGrp="1"/>
          </p:cNvSpPr>
          <p:nvPr>
            <p:ph type="sldNum" sz="quarter" idx="10"/>
          </p:nvPr>
        </p:nvSpPr>
        <p:spPr/>
        <p:txBody>
          <a:bodyPr/>
          <a:lstStyle/>
          <a:p>
            <a:fld id="{3FB25343-7080-4A40-9DE0-C66DFC09A2A5}" type="slidenum">
              <a:rPr lang="en-US" smtClean="0"/>
              <a:t>42</a:t>
            </a:fld>
            <a:endParaRPr lang="en-US" dirty="0"/>
          </a:p>
        </p:txBody>
      </p:sp>
    </p:spTree>
    <p:extLst>
      <p:ext uri="{BB962C8B-B14F-4D97-AF65-F5344CB8AC3E}">
        <p14:creationId xmlns:p14="http://schemas.microsoft.com/office/powerpoint/2010/main" val="2090332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gregmankiw.blogspot.com/" TargetMode="External"/><Relationship Id="rId1" Type="http://schemas.openxmlformats.org/officeDocument/2006/relationships/slideMaster" Target="../slideMasters/slideMaster3.xml"/><Relationship Id="rId6" Type="http://schemas.openxmlformats.org/officeDocument/2006/relationships/hyperlink" Target="http://www.freakonomics.com/blog/"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57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a:prstGeom prst="rect">
            <a:avLst/>
          </a:prstGeo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50518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2925592"/>
            <a:ext cx="3985858" cy="3924300"/>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85422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2215079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5206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926553203"/>
      </p:ext>
    </p:extLst>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10200"/>
            <a:ext cx="9136063" cy="1447800"/>
          </a:xfrm>
          <a:prstGeom prst="rect">
            <a:avLst/>
          </a:prstGeom>
          <a:solidFill>
            <a:schemeClr val="tx1">
              <a:alpha val="81000"/>
            </a:schemeClr>
          </a:solidFill>
        </p:spPr>
        <p:txBody>
          <a:bodyPr anchor="ctr">
            <a:normAutofit/>
          </a:bodyPr>
          <a:lstStyle/>
          <a:p>
            <a:pPr algn="r">
              <a:defRPr/>
            </a:pPr>
            <a:endParaRPr lang="en-US" sz="6000" spc="50" dirty="0">
              <a:latin typeface="Candara" pitchFamily="34" charset="0"/>
              <a:ea typeface="Tahoma" pitchFamily="34" charset="0"/>
              <a:cs typeface="Tahoma" pitchFamily="34" charset="0"/>
            </a:endParaRPr>
          </a:p>
        </p:txBody>
      </p:sp>
      <p:sp>
        <p:nvSpPr>
          <p:cNvPr id="6" name="TextBox 5"/>
          <p:cNvSpPr txBox="1"/>
          <p:nvPr/>
        </p:nvSpPr>
        <p:spPr>
          <a:xfrm>
            <a:off x="506896" y="5410200"/>
            <a:ext cx="2438400" cy="1323439"/>
          </a:xfrm>
          <a:prstGeom prst="rect">
            <a:avLst/>
          </a:prstGeom>
          <a:noFill/>
        </p:spPr>
        <p:txBody>
          <a:bodyPr wrap="square">
            <a:spAutoFit/>
          </a:bodyPr>
          <a:lstStyle/>
          <a:p>
            <a:pPr>
              <a:defRPr/>
            </a:pPr>
            <a:r>
              <a:rPr lang="en-US" sz="8000" b="1" spc="-300" dirty="0">
                <a:solidFill>
                  <a:schemeClr val="bg1"/>
                </a:solidFill>
                <a:effectLst>
                  <a:outerShdw blurRad="38100" dist="38100" dir="2700000" algn="tl">
                    <a:srgbClr val="000000">
                      <a:alpha val="43137"/>
                    </a:srgbClr>
                  </a:outerShdw>
                </a:effectLst>
                <a:latin typeface="Tw Cen MT"/>
                <a:ea typeface="Tahoma" pitchFamily="34" charset="0"/>
                <a:cs typeface="Tw Cen MT"/>
              </a:rPr>
              <a:t>9(24)</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295400" y="5321905"/>
            <a:ext cx="7772400" cy="1447800"/>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4800" b="1" kern="0" spc="500" dirty="0">
                <a:latin typeface="Tw Cen MT"/>
                <a:cs typeface="Tw Cen MT"/>
              </a:rPr>
              <a:t>Long-Run Economic Growth</a:t>
            </a:r>
          </a:p>
        </p:txBody>
      </p:sp>
    </p:spTree>
    <p:extLst>
      <p:ext uri="{BB962C8B-B14F-4D97-AF65-F5344CB8AC3E}">
        <p14:creationId xmlns:p14="http://schemas.microsoft.com/office/powerpoint/2010/main" val="422087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477207"/>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3AD01E9B-529C-430A-8EB0-85153EDC4AF0}" type="slidenum">
              <a:rPr lang="en-US"/>
              <a:pPr/>
              <a:t>‹#›</a:t>
            </a:fld>
            <a:endParaRPr lang="en-US"/>
          </a:p>
        </p:txBody>
      </p:sp>
    </p:spTree>
    <p:extLst>
      <p:ext uri="{BB962C8B-B14F-4D97-AF65-F5344CB8AC3E}">
        <p14:creationId xmlns:p14="http://schemas.microsoft.com/office/powerpoint/2010/main" val="1635569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obj">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4921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64880216"/>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0"/>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dirty="0">
                <a:solidFill>
                  <a:srgbClr val="4BACC6">
                    <a:lumMod val="75000"/>
                  </a:srgbClr>
                </a:solidFill>
              </a:rPr>
              <a:t>ECONOMICS</a:t>
            </a: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321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solidFill>
                <a:prstClr val="black"/>
              </a:solidFill>
              <a:latin typeface="Calibri"/>
            </a:endParaRPr>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F4F44DE6-8B77-400C-8F66-8B96B952C9BA}" type="slidenum">
              <a:rPr lang="en-US" smtClean="0">
                <a:solidFill>
                  <a:prstClr val="black">
                    <a:tint val="75000"/>
                  </a:prstClr>
                </a:solidFill>
                <a:latin typeface="Calibri"/>
              </a:rPr>
              <a:pPr/>
              <a:t>‹#›</a:t>
            </a:fld>
            <a:endParaRPr lang="en-US" dirty="0">
              <a:solidFill>
                <a:prstClr val="black">
                  <a:tint val="75000"/>
                </a:prstClr>
              </a:solidFill>
              <a:latin typeface="Calibri"/>
            </a:endParaRPr>
          </a:p>
        </p:txBody>
      </p:sp>
    </p:spTree>
    <p:extLst>
      <p:ext uri="{BB962C8B-B14F-4D97-AF65-F5344CB8AC3E}">
        <p14:creationId xmlns:p14="http://schemas.microsoft.com/office/powerpoint/2010/main" val="8044739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8492248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obj">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791721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88636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080011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4535034"/>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426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714981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Only">
    <p:bg>
      <p:bgPr>
        <a:blipFill dpi="0" rotWithShape="1">
          <a:blip r:embed="rId2"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FF0000"/>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3"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EEECE1"/>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4"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dirty="0">
              <a:solidFill>
                <a:prstClr val="black"/>
              </a:solidFill>
              <a:latin typeface="Calibri"/>
            </a:endParaRPr>
          </a:p>
        </p:txBody>
      </p:sp>
      <p:sp>
        <p:nvSpPr>
          <p:cNvPr id="5" name="Footer Placeholder 3"/>
          <p:cNvSpPr>
            <a:spLocks noGrp="1"/>
          </p:cNvSpPr>
          <p:nvPr>
            <p:ph type="ftr" sz="quarter" idx="11"/>
          </p:nvPr>
        </p:nvSpPr>
        <p:spPr/>
        <p:txBody>
          <a:bodyPr/>
          <a:lstStyle>
            <a:lvl1pPr>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4"/>
          <p:cNvSpPr>
            <a:spLocks noGrp="1"/>
          </p:cNvSpPr>
          <p:nvPr>
            <p:ph type="sldNum" sz="quarter" idx="12"/>
          </p:nvPr>
        </p:nvSpPr>
        <p:spPr>
          <a:xfrm>
            <a:off x="8686800" y="6629400"/>
            <a:ext cx="457200" cy="228600"/>
          </a:xfrm>
          <a:prstGeom prst="rect">
            <a:avLst/>
          </a:prstGeom>
        </p:spPr>
        <p:txBody>
          <a:bodyPr/>
          <a:lstStyle>
            <a:lvl1pPr>
              <a:defRPr/>
            </a:lvl1pPr>
          </a:lstStyle>
          <a:p>
            <a:pPr>
              <a:defRPr/>
            </a:pPr>
            <a:fld id="{25953E17-FB6D-406B-8817-9F3E6FC94864}"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141066595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90600" y="-31750"/>
            <a:ext cx="8153400" cy="946150"/>
          </a:xfrm>
          <a:noFill/>
        </p:spPr>
        <p:txBody>
          <a:bodyPr/>
          <a:lstStyle>
            <a:lvl1pPr algn="l">
              <a:defRPr sz="4000" baseline="0">
                <a:solidFill>
                  <a:schemeClr val="accent6">
                    <a:lumMod val="75000"/>
                  </a:schemeClr>
                </a:solidFill>
                <a:effectLst>
                  <a:outerShdw blurRad="38100" dist="38100" dir="2700000" algn="tl">
                    <a:srgbClr val="000000">
                      <a:alpha val="43137"/>
                    </a:srgbClr>
                  </a:outerShdw>
                </a:effectLst>
              </a:defRPr>
            </a:lvl1pPr>
          </a:lstStyle>
          <a:p>
            <a:r>
              <a:rPr lang="en-US" dirty="0"/>
              <a:t>Take a look…..</a:t>
            </a:r>
          </a:p>
        </p:txBody>
      </p:sp>
      <p:sp>
        <p:nvSpPr>
          <p:cNvPr id="3" name="Date Placeholder 2"/>
          <p:cNvSpPr>
            <a:spLocks noGrp="1"/>
          </p:cNvSpPr>
          <p:nvPr>
            <p:ph type="dt" sz="half" idx="10"/>
          </p:nvPr>
        </p:nvSpPr>
        <p:spPr>
          <a:xfrm>
            <a:off x="457200" y="6356350"/>
            <a:ext cx="381000" cy="365125"/>
          </a:xfrm>
          <a:prstGeom prst="rect">
            <a:avLst/>
          </a:prstGeom>
        </p:spPr>
        <p:txBody>
          <a:bodyPr/>
          <a:lstStyle/>
          <a:p>
            <a:pPr>
              <a:defRPr/>
            </a:pPr>
            <a:endParaRPr lang="en-US" dirty="0">
              <a:solidFill>
                <a:prstClr val="black"/>
              </a:solidFill>
              <a:latin typeface="Calibri"/>
            </a:endParaRPr>
          </a:p>
        </p:txBody>
      </p:sp>
      <p:sp>
        <p:nvSpPr>
          <p:cNvPr id="4" name="Footer Placeholder 3"/>
          <p:cNvSpPr>
            <a:spLocks noGrp="1"/>
          </p:cNvSpPr>
          <p:nvPr>
            <p:ph type="ftr" sz="quarter" idx="11"/>
          </p:nvPr>
        </p:nvSpPr>
        <p:spPr/>
        <p:txBody>
          <a:body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5" name="Slide Number Placeholder 4"/>
          <p:cNvSpPr>
            <a:spLocks noGrp="1"/>
          </p:cNvSpPr>
          <p:nvPr>
            <p:ph type="sldNum" sz="quarter" idx="12"/>
          </p:nvPr>
        </p:nvSpPr>
        <p:spPr>
          <a:xfrm>
            <a:off x="8153400" y="6400800"/>
            <a:ext cx="457200" cy="228600"/>
          </a:xfrm>
          <a:prstGeom prst="rect">
            <a:avLst/>
          </a:prstGeom>
        </p:spPr>
        <p:txBody>
          <a:bodyPr/>
          <a:lstStyle/>
          <a:p>
            <a:pPr>
              <a:defRPr/>
            </a:pPr>
            <a:fld id="{397979CC-4B86-46FB-8E31-C36FC5A7CF61}" type="slidenum">
              <a:rPr lang="en-US" smtClean="0">
                <a:solidFill>
                  <a:prstClr val="black"/>
                </a:solidFill>
                <a:latin typeface="Calibri"/>
              </a:rPr>
              <a:pPr>
                <a:defRPr/>
              </a:pPr>
              <a:t>‹#›</a:t>
            </a:fld>
            <a:endParaRPr lang="en-US" dirty="0">
              <a:solidFill>
                <a:prstClr val="black"/>
              </a:solidFill>
              <a:latin typeface="Calibri"/>
            </a:endParaRPr>
          </a:p>
        </p:txBody>
      </p:sp>
      <p:pic>
        <p:nvPicPr>
          <p:cNvPr id="9" name="Picture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1133"/>
            <a:ext cx="990600" cy="1104743"/>
          </a:xfrm>
          <a:prstGeom prst="rect">
            <a:avLst/>
          </a:prstGeom>
        </p:spPr>
      </p:pic>
      <p:pic>
        <p:nvPicPr>
          <p:cNvPr id="6" name="Picture 5"/>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Tree>
    <p:extLst>
      <p:ext uri="{BB962C8B-B14F-4D97-AF65-F5344CB8AC3E}">
        <p14:creationId xmlns:p14="http://schemas.microsoft.com/office/powerpoint/2010/main" val="1794062107"/>
      </p:ext>
    </p:extLst>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 Target="../slides/slide2.xml"/><Relationship Id="rId5" Type="http://schemas.openxmlformats.org/officeDocument/2006/relationships/slide" Target="../slides/slide44.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 Target="../slides/slide44.xml"/><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slide" Target="../slides/slide2.xml"/><Relationship Id="rId4" Type="http://schemas.openxmlformats.org/officeDocument/2006/relationships/slide" Target="../slides/slide4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slide" Target="../slides/slide44.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5" Type="http://schemas.openxmlformats.org/officeDocument/2006/relationships/slide" Target="../slides/slide2.xml"/><Relationship Id="rId4" Type="http://schemas.openxmlformats.org/officeDocument/2006/relationships/slide" Target="../slides/slide4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7.xml"/><Relationship Id="rId1" Type="http://schemas.openxmlformats.org/officeDocument/2006/relationships/slideLayout" Target="../slideLayouts/slideLayout22.xml"/><Relationship Id="rId5" Type="http://schemas.openxmlformats.org/officeDocument/2006/relationships/slide" Target="../slides/slide2.xml"/><Relationship Id="rId4" Type="http://schemas.openxmlformats.org/officeDocument/2006/relationships/slide" Target="../slides/slide44.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24.xml"/><Relationship Id="rId1" Type="http://schemas.openxmlformats.org/officeDocument/2006/relationships/slideLayout" Target="../slideLayouts/slideLayout23.xml"/><Relationship Id="rId5" Type="http://schemas.openxmlformats.org/officeDocument/2006/relationships/slide" Target="../slides/slide2.xml"/><Relationship Id="rId4" Type="http://schemas.openxmlformats.org/officeDocument/2006/relationships/slide" Target="../slides/slide44.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10.xml.rels><?xml version="1.0" encoding="UTF-8" standalone="yes"?>
<Relationships xmlns="http://schemas.openxmlformats.org/package/2006/relationships"><Relationship Id="rId8" Type="http://schemas.openxmlformats.org/officeDocument/2006/relationships/slide" Target="../slides/slide2.xml"/><Relationship Id="rId3" Type="http://schemas.openxmlformats.org/officeDocument/2006/relationships/slideLayout" Target="../slideLayouts/slideLayout29.xml"/><Relationship Id="rId7" Type="http://schemas.openxmlformats.org/officeDocument/2006/relationships/theme" Target="../theme/theme10.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6" action="ppaction://hlinksldjump"/>
              </a:rPr>
              <a:t>Back to Table of content</a:t>
            </a:r>
            <a:r>
              <a:rPr lang="en-US" sz="800" b="1" dirty="0">
                <a:latin typeface="Candara" pitchFamily="34" charset="0"/>
                <a:hlinkClick r:id="rId5" action="ppaction://hlinksldjump"/>
              </a:rPr>
              <a:t>s</a:t>
            </a:r>
            <a:endParaRPr lang="en-US" sz="800" b="1" dirty="0">
              <a:latin typeface="Candara" pitchFamily="34" charset="0"/>
            </a:endParaRPr>
          </a:p>
          <a:p>
            <a:endParaRPr lang="en-US" sz="100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sldLayoutIdLst>
    <p:sldLayoutId id="2147483694" r:id="rId1"/>
    <p:sldLayoutId id="2147483786" r:id="rId2"/>
    <p:sldLayoutId id="2147483802" r:id="rId3"/>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9"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22" r:id="rId3"/>
    <p:sldLayoutId id="2147483741" r:id="rId4"/>
    <p:sldLayoutId id="2147483787" r:id="rId5"/>
    <p:sldLayoutId id="2147483810"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849" r:id="rId4"/>
    <p:sldLayoutId id="2147483850" r:id="rId5"/>
    <p:sldLayoutId id="2147483851" r:id="rId6"/>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2" r:id="rId1"/>
    <p:sldLayoutId id="2147483713"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15" r:id="rId1"/>
    <p:sldLayoutId id="2147483716"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0"/>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0"/>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228600"/>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248348"/>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7747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889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extLst>
      <p:ext uri="{BB962C8B-B14F-4D97-AF65-F5344CB8AC3E}">
        <p14:creationId xmlns:p14="http://schemas.microsoft.com/office/powerpoint/2010/main" val="2096068277"/>
      </p:ext>
    </p:extLst>
  </p:cSld>
  <p:clrMap bg1="lt1" tx1="dk1" bg2="lt2" tx2="dk2" accent1="accent1" accent2="accent2" accent3="accent3" accent4="accent4" accent5="accent5" accent6="accent6" hlink="hlink" folHlink="folHlink"/>
  <p:sldLayoutIdLst>
    <p:sldLayoutId id="2147483720" r:id="rId1"/>
    <p:sldLayoutId id="2147483841"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392043"/>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392043"/>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589723"/>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640391"/>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11667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480943"/>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489126294"/>
      </p:ext>
    </p:extLst>
  </p:cSld>
  <p:clrMap bg1="lt1" tx1="dk1" bg2="lt2" tx2="dk2" accent1="accent1" accent2="accent2" accent3="accent3" accent4="accent4" accent5="accent5" accent6="accent6" hlink="hlink" folHlink="folHlink"/>
  <p:sldLayoutIdLst>
    <p:sldLayoutId id="2147483812" r:id="rId1"/>
    <p:sldLayoutId id="2147483813" r:id="rId2"/>
  </p:sldLayoutIdLst>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8"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52557452"/>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48.xml"/><Relationship Id="rId3" Type="http://schemas.openxmlformats.org/officeDocument/2006/relationships/slide" Target="slide7.xml"/><Relationship Id="rId7" Type="http://schemas.openxmlformats.org/officeDocument/2006/relationships/slide" Target="slide16.xml"/><Relationship Id="rId12" Type="http://schemas.openxmlformats.org/officeDocument/2006/relationships/slide" Target="slide43.xml"/><Relationship Id="rId2" Type="http://schemas.openxmlformats.org/officeDocument/2006/relationships/slide" Target="slide5.xml"/><Relationship Id="rId1" Type="http://schemas.openxmlformats.org/officeDocument/2006/relationships/slideLayout" Target="../slideLayouts/slideLayout12.xml"/><Relationship Id="rId6" Type="http://schemas.openxmlformats.org/officeDocument/2006/relationships/slide" Target="slide15.xml"/><Relationship Id="rId11" Type="http://schemas.openxmlformats.org/officeDocument/2006/relationships/slide" Target="slide40.xml"/><Relationship Id="rId5" Type="http://schemas.openxmlformats.org/officeDocument/2006/relationships/slide" Target="slide14.xml"/><Relationship Id="rId15" Type="http://schemas.openxmlformats.org/officeDocument/2006/relationships/slide" Target="slide6.xml"/><Relationship Id="rId10" Type="http://schemas.openxmlformats.org/officeDocument/2006/relationships/slide" Target="slide36.xml"/><Relationship Id="rId4" Type="http://schemas.openxmlformats.org/officeDocument/2006/relationships/slide" Target="slide8.xml"/><Relationship Id="rId9" Type="http://schemas.openxmlformats.org/officeDocument/2006/relationships/slide" Target="slide30.xml"/><Relationship Id="rId14" Type="http://schemas.openxmlformats.org/officeDocument/2006/relationships/slide" Target="slide42.xml"/></Relationships>
</file>

<file path=ppt/slides/_rels/slide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hyperlink" Target="http://www.ted.com/talks/hans_rosling_asia_s_rise_how_and_when.html"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hyperlink" Target="http://www.ggdc.net/maddison" TargetMode="External"/><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hyperlink" Target="http://www.ggdc.net/maddison"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logs.worldbank.org/en/opendata/world-bank-country-classifications-by-income-level-for-2024-2025"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22.emf"/><Relationship Id="rId5" Type="http://schemas.openxmlformats.org/officeDocument/2006/relationships/oleObject" Target="../embeddings/oleObject2.bin"/><Relationship Id="rId4" Type="http://schemas.openxmlformats.org/officeDocument/2006/relationships/image" Target="../media/image21.emf"/></Relationships>
</file>

<file path=ppt/slides/_rels/slide10.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4.xml"/><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hyperlink" Target="http://www.ted.com/talks/hans_rosling_asia_s_rise_how_and_when.htm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dirty="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a:t>Professor Zhigang Feng</a:t>
            </a:r>
            <a:endParaRPr lang="en-US" sz="2400" dirty="0"/>
          </a:p>
        </p:txBody>
      </p:sp>
      <p:sp>
        <p:nvSpPr>
          <p:cNvPr id="2052" name="Text Box 4"/>
          <p:cNvSpPr txBox="1">
            <a:spLocks noChangeArrowheads="1"/>
          </p:cNvSpPr>
          <p:nvPr/>
        </p:nvSpPr>
        <p:spPr bwMode="auto">
          <a:xfrm>
            <a:off x="2819400" y="3276600"/>
            <a:ext cx="4648200" cy="1169551"/>
          </a:xfrm>
          <a:prstGeom prst="rect">
            <a:avLst/>
          </a:prstGeom>
          <a:noFill/>
          <a:ln w="9525">
            <a:noFill/>
            <a:miter lim="800000"/>
            <a:headEnd/>
            <a:tailEnd/>
          </a:ln>
          <a:effectLst/>
        </p:spPr>
        <p:txBody>
          <a:bodyPr>
            <a:spAutoFit/>
          </a:bodyPr>
          <a:lstStyle/>
          <a:p>
            <a:pPr marL="228600" indent="-228600">
              <a:spcBef>
                <a:spcPct val="50000"/>
              </a:spcBef>
            </a:pPr>
            <a:r>
              <a:rPr lang="en-US" sz="2800" u="sng" dirty="0"/>
              <a:t>Lecture 7: </a:t>
            </a:r>
          </a:p>
          <a:p>
            <a:pPr marL="228600" indent="-228600">
              <a:spcBef>
                <a:spcPct val="50000"/>
              </a:spcBef>
            </a:pPr>
            <a:r>
              <a:rPr lang="en-US" sz="2800" u="sng" dirty="0"/>
              <a:t>Economic Growth</a:t>
            </a:r>
          </a:p>
        </p:txBody>
      </p:sp>
    </p:spTree>
    <p:extLst>
      <p:ext uri="{BB962C8B-B14F-4D97-AF65-F5344CB8AC3E}">
        <p14:creationId xmlns:p14="http://schemas.microsoft.com/office/powerpoint/2010/main" val="3523440290"/>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295400"/>
            <a:ext cx="9144000" cy="4678363"/>
          </a:xfrm>
        </p:spPr>
        <p:txBody>
          <a:bodyPr/>
          <a:lstStyle/>
          <a:p>
            <a:pPr marL="393700" indent="-276225"/>
            <a:r>
              <a:rPr lang="en-US" sz="2200" b="0" dirty="0"/>
              <a:t>Why long-run economic growth is measured as the increase in </a:t>
            </a:r>
            <a:r>
              <a:rPr lang="en-US" sz="2200" dirty="0">
                <a:hlinkClick r:id="rId2" action="ppaction://hlinksldjump"/>
              </a:rPr>
              <a:t>real GDP per capita</a:t>
            </a:r>
            <a:r>
              <a:rPr lang="en-US" sz="2200" b="0" dirty="0"/>
              <a:t>, how real GDP per capita has </a:t>
            </a:r>
            <a:r>
              <a:rPr lang="en-US" sz="2200" dirty="0">
                <a:hlinkClick r:id="rId3" action="ppaction://hlinksldjump"/>
              </a:rPr>
              <a:t>changed over time</a:t>
            </a:r>
            <a:r>
              <a:rPr lang="en-US" sz="2200" b="0" dirty="0"/>
              <a:t>, and </a:t>
            </a:r>
            <a:r>
              <a:rPr lang="en-US" sz="2200" dirty="0">
                <a:hlinkClick r:id="rId4" action="ppaction://hlinksldjump"/>
              </a:rPr>
              <a:t>how it varies across countries</a:t>
            </a:r>
            <a:endParaRPr lang="en-US" sz="2200" dirty="0"/>
          </a:p>
          <a:p>
            <a:pPr marL="393700" indent="-276225"/>
            <a:r>
              <a:rPr lang="en-US" sz="2200" b="0" dirty="0"/>
              <a:t>Why </a:t>
            </a:r>
            <a:r>
              <a:rPr lang="en-US" sz="2200" dirty="0">
                <a:hlinkClick r:id="rId5" action="ppaction://hlinksldjump"/>
              </a:rPr>
              <a:t>productivity</a:t>
            </a:r>
            <a:r>
              <a:rPr lang="en-US" sz="2200" dirty="0"/>
              <a:t> </a:t>
            </a:r>
            <a:r>
              <a:rPr lang="en-US" sz="2200" b="0" dirty="0"/>
              <a:t>is the key to long-run economic growth and how productivity is driven by </a:t>
            </a:r>
            <a:r>
              <a:rPr lang="en-US" sz="2200" dirty="0">
                <a:hlinkClick r:id="rId6" action="ppaction://hlinksldjump"/>
              </a:rPr>
              <a:t>physical capital</a:t>
            </a:r>
            <a:r>
              <a:rPr lang="en-US" sz="2200" dirty="0"/>
              <a:t>, </a:t>
            </a:r>
            <a:r>
              <a:rPr lang="en-US" sz="2200" dirty="0">
                <a:hlinkClick r:id="rId7" action="ppaction://hlinksldjump"/>
              </a:rPr>
              <a:t>human capital</a:t>
            </a:r>
            <a:r>
              <a:rPr lang="en-US" sz="2200" dirty="0"/>
              <a:t>, </a:t>
            </a:r>
            <a:r>
              <a:rPr lang="en-US" sz="2200" b="0" dirty="0"/>
              <a:t>and </a:t>
            </a:r>
            <a:r>
              <a:rPr lang="en-US" sz="2200" dirty="0">
                <a:hlinkClick r:id="rId8" action="ppaction://hlinksldjump"/>
              </a:rPr>
              <a:t>technological progress</a:t>
            </a:r>
            <a:endParaRPr lang="en-US" sz="2200" dirty="0"/>
          </a:p>
          <a:p>
            <a:pPr marL="393700" indent="-276225"/>
            <a:r>
              <a:rPr lang="en-US" sz="2200" b="0" dirty="0"/>
              <a:t>The factors that explain why long run growth rates </a:t>
            </a:r>
            <a:r>
              <a:rPr lang="en-US" sz="2200" dirty="0">
                <a:hlinkClick r:id="rId9" action="ppaction://hlinksldjump"/>
              </a:rPr>
              <a:t>differ so much among countries</a:t>
            </a:r>
            <a:endParaRPr lang="en-US" sz="2200" dirty="0"/>
          </a:p>
          <a:p>
            <a:pPr marL="393700" indent="-276225"/>
            <a:r>
              <a:rPr lang="en-US" sz="2200" dirty="0">
                <a:hlinkClick r:id="rId10" action="ppaction://hlinksldjump"/>
              </a:rPr>
              <a:t>How growth has varied </a:t>
            </a:r>
            <a:r>
              <a:rPr lang="en-US" sz="2200" b="0" dirty="0"/>
              <a:t>among several important regions of the world and why the </a:t>
            </a:r>
            <a:r>
              <a:rPr lang="en-US" sz="2200" dirty="0">
                <a:hlinkClick r:id="rId11" action="ppaction://hlinksldjump"/>
              </a:rPr>
              <a:t>convergence hypothesis </a:t>
            </a:r>
            <a:r>
              <a:rPr lang="en-US" sz="2200" b="0" dirty="0"/>
              <a:t>applies to economically advanced countries</a:t>
            </a:r>
          </a:p>
          <a:p>
            <a:pPr marL="393700" indent="-276225"/>
            <a:r>
              <a:rPr lang="en-US" sz="2200" b="0" dirty="0"/>
              <a:t>The question of </a:t>
            </a:r>
            <a:r>
              <a:rPr lang="en-US" sz="2200" dirty="0">
                <a:hlinkClick r:id="rId12" action="ppaction://hlinksldjump"/>
              </a:rPr>
              <a:t>sustainability</a:t>
            </a:r>
            <a:r>
              <a:rPr lang="en-US" sz="2200" dirty="0"/>
              <a:t> </a:t>
            </a:r>
            <a:r>
              <a:rPr lang="en-US" sz="2200" b="0" dirty="0"/>
              <a:t>and the </a:t>
            </a:r>
            <a:r>
              <a:rPr lang="en-US" sz="2200" dirty="0">
                <a:hlinkClick r:id="rId13" action="ppaction://hlinksldjump"/>
              </a:rPr>
              <a:t>challenges to growth </a:t>
            </a:r>
            <a:r>
              <a:rPr lang="en-US" sz="2200" b="0" dirty="0"/>
              <a:t>posed by scarcity of natural resources and environmental degradation</a:t>
            </a:r>
            <a:endParaRPr lang="en-US" sz="2200" dirty="0"/>
          </a:p>
        </p:txBody>
      </p:sp>
      <p:sp>
        <p:nvSpPr>
          <p:cNvPr id="4" name="TextBox 3"/>
          <p:cNvSpPr txBox="1"/>
          <p:nvPr/>
        </p:nvSpPr>
        <p:spPr>
          <a:xfrm>
            <a:off x="8126413" y="6210300"/>
            <a:ext cx="635000" cy="460375"/>
          </a:xfrm>
          <a:prstGeom prst="rect">
            <a:avLst/>
          </a:prstGeom>
          <a:noFill/>
        </p:spPr>
        <p:txBody>
          <a:bodyPr>
            <a:spAutoFit/>
          </a:bodyPr>
          <a:lstStyle/>
          <a:p>
            <a:pPr fontAlgn="auto">
              <a:spcBef>
                <a:spcPts val="0"/>
              </a:spcBef>
              <a:spcAft>
                <a:spcPts val="0"/>
              </a:spcAft>
              <a:defRPr/>
            </a:pPr>
            <a:r>
              <a:rPr lang="en-US" sz="1200" b="1" dirty="0">
                <a:solidFill>
                  <a:schemeClr val="bg1"/>
                </a:solidFill>
                <a:effectLst>
                  <a:outerShdw blurRad="38100" dist="38100" dir="2700000" algn="tl">
                    <a:srgbClr val="000000">
                      <a:alpha val="43137"/>
                    </a:srgbClr>
                  </a:outerShdw>
                </a:effectLst>
                <a:latin typeface="+mn-lt"/>
                <a:cs typeface="+mn-cs"/>
                <a:hlinkClick r:id="rId14" action="ppaction://hlinksldjump"/>
              </a:rPr>
              <a:t>To Video</a:t>
            </a:r>
            <a:endParaRPr lang="en-US" sz="1200" b="1" dirty="0">
              <a:solidFill>
                <a:schemeClr val="bg1"/>
              </a:solidFill>
              <a:effectLst>
                <a:outerShdw blurRad="38100" dist="38100" dir="2700000" algn="tl">
                  <a:srgbClr val="000000">
                    <a:alpha val="43137"/>
                  </a:srgbClr>
                </a:outerShdw>
              </a:effectLst>
              <a:latin typeface="+mn-lt"/>
              <a:cs typeface="+mn-cs"/>
            </a:endParaRP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5"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5"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701432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BA759-24E5-8170-FC7E-E80E1B84073D}"/>
            </a:ext>
          </a:extLst>
        </p:cNvPr>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FF9C368-F50B-9F39-D4B9-45DFC1D3B5FB}"/>
              </a:ext>
            </a:extLst>
          </p:cNvPr>
          <p:cNvSpPr>
            <a:spLocks noGrp="1"/>
          </p:cNvSpPr>
          <p:nvPr>
            <p:ph idx="1"/>
          </p:nvPr>
        </p:nvSpPr>
        <p:spPr/>
        <p:txBody>
          <a:bodyPr/>
          <a:lstStyle/>
          <a:p>
            <a:endParaRPr lang="en-US"/>
          </a:p>
        </p:txBody>
      </p:sp>
      <p:pic>
        <p:nvPicPr>
          <p:cNvPr id="6146" name="Picture 2">
            <a:extLst>
              <a:ext uri="{FF2B5EF4-FFF2-40B4-BE49-F238E27FC236}">
                <a16:creationId xmlns:a16="http://schemas.microsoft.com/office/drawing/2014/main" id="{EEE0DB8B-55B2-8919-BCF8-AF80B800F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5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530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64CB2-33E3-3EF0-BE0C-E15DFD5D32F5}"/>
            </a:ext>
          </a:extLst>
        </p:cNvPr>
        <p:cNvGrpSpPr/>
        <p:nvPr/>
      </p:nvGrpSpPr>
      <p:grpSpPr>
        <a:xfrm>
          <a:off x="0" y="0"/>
          <a:ext cx="0" cy="0"/>
          <a:chOff x="0" y="0"/>
          <a:chExt cx="0" cy="0"/>
        </a:xfrm>
      </p:grpSpPr>
      <p:pic>
        <p:nvPicPr>
          <p:cNvPr id="3074" name="Picture 2">
            <a:hlinkClick r:id="rId3"/>
            <a:extLst>
              <a:ext uri="{FF2B5EF4-FFF2-40B4-BE49-F238E27FC236}">
                <a16:creationId xmlns:a16="http://schemas.microsoft.com/office/drawing/2014/main" id="{64393A3A-2197-73EC-A4E0-6DA612540619}"/>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362200" y="3048000"/>
            <a:ext cx="3406191" cy="2667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a:extLst>
              <a:ext uri="{FF2B5EF4-FFF2-40B4-BE49-F238E27FC236}">
                <a16:creationId xmlns:a16="http://schemas.microsoft.com/office/drawing/2014/main" id="{FD50DDD1-47C3-124C-1A8B-5AE41DF3C349}"/>
              </a:ext>
            </a:extLst>
          </p:cNvPr>
          <p:cNvSpPr/>
          <p:nvPr/>
        </p:nvSpPr>
        <p:spPr>
          <a:xfrm>
            <a:off x="228600" y="990600"/>
            <a:ext cx="8686800" cy="1938992"/>
          </a:xfrm>
          <a:prstGeom prst="rect">
            <a:avLst/>
          </a:prstGeom>
        </p:spPr>
        <p:txBody>
          <a:bodyPr wrap="square">
            <a:spAutoFit/>
          </a:bodyPr>
          <a:lstStyle/>
          <a:p>
            <a:r>
              <a:rPr lang="en-US" sz="2400" b="1" dirty="0">
                <a:latin typeface="Century Gothic"/>
                <a:cs typeface="Century Gothic"/>
              </a:rPr>
              <a:t>At TEDIndia, TED favorite Hans Rosling gives another lively and humorous talk </a:t>
            </a:r>
            <a:r>
              <a:rPr lang="en-US" sz="2400" b="1" dirty="0">
                <a:latin typeface="Century Gothic"/>
                <a:cs typeface="Century Gothic"/>
                <a:hlinkClick r:id="rId3"/>
              </a:rPr>
              <a:t>here</a:t>
            </a:r>
            <a:r>
              <a:rPr lang="en-US" sz="2400" b="1" dirty="0">
                <a:latin typeface="Century Gothic"/>
                <a:cs typeface="Century Gothic"/>
              </a:rPr>
              <a:t> and graphs global economic growth since 1858.  He also predicts the exact date that India and China will outstrip the United States.  (15:50 minutes)</a:t>
            </a:r>
          </a:p>
        </p:txBody>
      </p:sp>
    </p:spTree>
    <p:extLst>
      <p:ext uri="{BB962C8B-B14F-4D97-AF65-F5344CB8AC3E}">
        <p14:creationId xmlns:p14="http://schemas.microsoft.com/office/powerpoint/2010/main" val="2331578200"/>
      </p:ext>
    </p:extLst>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4000" spc="0" dirty="0"/>
              <a:t>COMPARING ECONOMIES ACROSS TIME AND SPACE</a:t>
            </a:r>
          </a:p>
        </p:txBody>
      </p:sp>
      <p:pic>
        <p:nvPicPr>
          <p:cNvPr id="6" name="Picture 5" descr="Screen Shot 2015-04-02 at 7.45.58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8200" y="1219200"/>
            <a:ext cx="7473901" cy="5450811"/>
          </a:xfrm>
          <a:prstGeom prst="rect">
            <a:avLst/>
          </a:prstGeom>
        </p:spPr>
      </p:pic>
      <p:sp>
        <p:nvSpPr>
          <p:cNvPr id="3" name="Content Placeholder 2"/>
          <p:cNvSpPr>
            <a:spLocks noGrp="1"/>
          </p:cNvSpPr>
          <p:nvPr>
            <p:ph idx="1"/>
          </p:nvPr>
        </p:nvSpPr>
        <p:spPr>
          <a:xfrm>
            <a:off x="2438400" y="1524000"/>
            <a:ext cx="5562600" cy="1447800"/>
          </a:xfrm>
        </p:spPr>
        <p:txBody>
          <a:bodyPr>
            <a:noAutofit/>
          </a:bodyPr>
          <a:lstStyle/>
          <a:p>
            <a:r>
              <a:rPr lang="en-US" sz="2400" i="1" dirty="0">
                <a:solidFill>
                  <a:srgbClr val="990033"/>
                </a:solidFill>
              </a:rPr>
              <a:t>Real GDP per capita</a:t>
            </a:r>
            <a:r>
              <a:rPr lang="en-US" sz="2000" b="0" i="1" dirty="0">
                <a:solidFill>
                  <a:srgbClr val="990033"/>
                </a:solidFill>
              </a:rPr>
              <a:t> </a:t>
            </a:r>
            <a:r>
              <a:rPr lang="en-US" sz="2000" b="0" dirty="0"/>
              <a:t>(real GDP divided by the population size) </a:t>
            </a:r>
            <a:r>
              <a:rPr lang="en-US" sz="2400" dirty="0"/>
              <a:t>is the key statistic.</a:t>
            </a:r>
            <a:endParaRPr lang="en-US" sz="1600" dirty="0"/>
          </a:p>
        </p:txBody>
      </p:sp>
      <p:sp>
        <p:nvSpPr>
          <p:cNvPr id="5" name="Rectangle 4"/>
          <p:cNvSpPr/>
          <p:nvPr/>
        </p:nvSpPr>
        <p:spPr>
          <a:xfrm>
            <a:off x="914400" y="6213902"/>
            <a:ext cx="7552266" cy="415498"/>
          </a:xfrm>
          <a:prstGeom prst="rect">
            <a:avLst/>
          </a:prstGeom>
        </p:spPr>
        <p:txBody>
          <a:bodyPr wrap="square">
            <a:spAutoFit/>
          </a:bodyPr>
          <a:lstStyle/>
          <a:p>
            <a:r>
              <a:rPr lang="en-US" sz="1050" i="1" dirty="0">
                <a:solidFill>
                  <a:schemeClr val="tx1">
                    <a:lumMod val="65000"/>
                    <a:lumOff val="35000"/>
                  </a:schemeClr>
                </a:solidFill>
                <a:latin typeface="Century Gothic"/>
                <a:cs typeface="Century Gothic"/>
              </a:rPr>
              <a:t>Sources: Angus Maddison, Statistics on World Population, GDP, and Per Capita GDP, 1–2008AD, </a:t>
            </a:r>
            <a:r>
              <a:rPr lang="en-US" sz="1050" i="1" dirty="0">
                <a:solidFill>
                  <a:schemeClr val="tx1">
                    <a:lumMod val="65000"/>
                    <a:lumOff val="35000"/>
                  </a:schemeClr>
                </a:solidFill>
                <a:latin typeface="Century Gothic"/>
                <a:cs typeface="Century Gothic"/>
                <a:hlinkClick r:id="rId3"/>
              </a:rPr>
              <a:t>http://www.ggdc.net/maddison</a:t>
            </a:r>
            <a:r>
              <a:rPr lang="en-US" sz="1050" i="1" dirty="0">
                <a:solidFill>
                  <a:schemeClr val="tx1">
                    <a:lumMod val="65000"/>
                    <a:lumOff val="35000"/>
                  </a:schemeClr>
                </a:solidFill>
                <a:latin typeface="Century Gothic"/>
                <a:cs typeface="Century Gothic"/>
              </a:rPr>
              <a:t>; International Monetary Fund.</a:t>
            </a:r>
          </a:p>
        </p:txBody>
      </p:sp>
    </p:spTree>
    <p:extLst>
      <p:ext uri="{BB962C8B-B14F-4D97-AF65-F5344CB8AC3E}">
        <p14:creationId xmlns:p14="http://schemas.microsoft.com/office/powerpoint/2010/main" val="15277614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458200" cy="5060950"/>
          </a:xfrm>
        </p:spPr>
        <p:txBody>
          <a:bodyPr>
            <a:noAutofit/>
          </a:bodyPr>
          <a:lstStyle/>
          <a:p>
            <a:r>
              <a:rPr lang="en-US" sz="2800" dirty="0"/>
              <a:t>Suppose real GDP for Macronesia is $200 million in 2010. Furthermore, suppose population in Macronesia is 100,000 in 2010. If population increases to 105,000 in 2011 while GDP increases by 5%, then it must be true that real GDP per capita in Macronesia in 2011:</a:t>
            </a:r>
          </a:p>
          <a:p>
            <a:pPr marL="514350" indent="-514350">
              <a:buFont typeface="+mj-lt"/>
              <a:buAutoNum type="alphaLcParenR"/>
            </a:pPr>
            <a:r>
              <a:rPr lang="en-US" sz="2800" dirty="0"/>
              <a:t>increased.</a:t>
            </a:r>
          </a:p>
          <a:p>
            <a:pPr marL="514350" indent="-514350">
              <a:buFont typeface="+mj-lt"/>
              <a:buAutoNum type="alphaLcParenR"/>
            </a:pPr>
            <a:r>
              <a:rPr lang="en-US" sz="2800" dirty="0"/>
              <a:t>decreased.</a:t>
            </a:r>
          </a:p>
          <a:p>
            <a:pPr marL="514350" indent="-514350">
              <a:buFont typeface="+mj-lt"/>
              <a:buAutoNum type="alphaLcParenR"/>
            </a:pPr>
            <a:r>
              <a:rPr lang="en-US" sz="2800" dirty="0"/>
              <a:t>stayed constant.</a:t>
            </a:r>
          </a:p>
          <a:p>
            <a:pPr marL="514350" indent="-514350">
              <a:buFont typeface="+mj-lt"/>
              <a:buAutoNum type="alphaLcParenR"/>
            </a:pPr>
            <a:r>
              <a:rPr lang="en-US" sz="2800" dirty="0"/>
              <a:t>may have increased, decreased, or remained constant.</a:t>
            </a: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296383395"/>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U.S. REAL GDP PER CAPITA</a:t>
            </a:r>
          </a:p>
        </p:txBody>
      </p:sp>
      <p:sp>
        <p:nvSpPr>
          <p:cNvPr id="5" name="Content Placeholder 4"/>
          <p:cNvSpPr>
            <a:spLocks noGrp="1"/>
          </p:cNvSpPr>
          <p:nvPr>
            <p:ph idx="1"/>
          </p:nvPr>
        </p:nvSpPr>
        <p:spPr/>
        <p:txBody>
          <a:bodyPr/>
          <a:lstStyle/>
          <a:p>
            <a:r>
              <a:rPr lang="en-US" dirty="0"/>
              <a:t>The U.S. economy produces more than seven times as much per person as in 1900.</a:t>
            </a:r>
          </a:p>
        </p:txBody>
      </p:sp>
      <p:sp>
        <p:nvSpPr>
          <p:cNvPr id="6" name="Rectangle 5"/>
          <p:cNvSpPr/>
          <p:nvPr/>
        </p:nvSpPr>
        <p:spPr>
          <a:xfrm>
            <a:off x="685800" y="6039324"/>
            <a:ext cx="7696200" cy="461665"/>
          </a:xfrm>
          <a:prstGeom prst="rect">
            <a:avLst/>
          </a:prstGeom>
        </p:spPr>
        <p:txBody>
          <a:bodyPr wrap="square">
            <a:spAutoFit/>
          </a:bodyPr>
          <a:lstStyle/>
          <a:p>
            <a:r>
              <a:rPr lang="en-US" sz="1200" dirty="0">
                <a:solidFill>
                  <a:schemeClr val="tx1">
                    <a:lumMod val="65000"/>
                    <a:lumOff val="35000"/>
                  </a:schemeClr>
                </a:solidFill>
                <a:latin typeface="Century Gothic"/>
                <a:cs typeface="Century Gothic"/>
              </a:rPr>
              <a:t>Sources: Angus Maddison, </a:t>
            </a:r>
            <a:r>
              <a:rPr lang="en-US" sz="1200" i="1" dirty="0">
                <a:solidFill>
                  <a:schemeClr val="tx1">
                    <a:lumMod val="65000"/>
                    <a:lumOff val="35000"/>
                  </a:schemeClr>
                </a:solidFill>
                <a:latin typeface="Century Gothic"/>
                <a:cs typeface="Century Gothic"/>
              </a:rPr>
              <a:t>Statistics on World Population, GDP, and Per Capita GDP, 1–2008AD,</a:t>
            </a:r>
            <a:r>
              <a:rPr lang="en-US" sz="1200" dirty="0">
                <a:solidFill>
                  <a:schemeClr val="tx1">
                    <a:lumMod val="65000"/>
                    <a:lumOff val="35000"/>
                  </a:schemeClr>
                </a:solidFill>
                <a:latin typeface="Century Gothic"/>
                <a:cs typeface="Century Gothic"/>
              </a:rPr>
              <a:t> </a:t>
            </a:r>
            <a:r>
              <a:rPr lang="en-US" sz="1200" dirty="0">
                <a:solidFill>
                  <a:schemeClr val="tx1">
                    <a:lumMod val="65000"/>
                    <a:lumOff val="35000"/>
                  </a:schemeClr>
                </a:solidFill>
                <a:latin typeface="Century Gothic"/>
                <a:cs typeface="Century Gothic"/>
                <a:hlinkClick r:id="rId2"/>
              </a:rPr>
              <a:t>http://www.ggdc.net/maddison</a:t>
            </a:r>
            <a:r>
              <a:rPr lang="en-US" sz="1200" dirty="0">
                <a:solidFill>
                  <a:schemeClr val="tx1">
                    <a:lumMod val="65000"/>
                    <a:lumOff val="35000"/>
                  </a:schemeClr>
                </a:solidFill>
                <a:latin typeface="Century Gothic"/>
                <a:cs typeface="Century Gothic"/>
              </a:rPr>
              <a:t>; Bureau of Economic Analysis.</a:t>
            </a:r>
          </a:p>
        </p:txBody>
      </p:sp>
      <p:pic>
        <p:nvPicPr>
          <p:cNvPr id="23554" name="Picture 2" descr="C:\Users\solina\Dropbox\Krugman 3e Dynamic PPTs\Krugman 3e material\Images_High Res\CH24\CH24\Krug3e_table_24_01.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057400" y="2209800"/>
            <a:ext cx="4632960" cy="353060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92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pc="0" dirty="0"/>
              <a:t>INCOMES AROUND THE WORLD, 20</a:t>
            </a:r>
            <a:r>
              <a:rPr lang="en-US" altLang="zh-CN" sz="3600" spc="0" dirty="0"/>
              <a:t>2</a:t>
            </a:r>
            <a:r>
              <a:rPr lang="en-US" sz="3600" spc="0" dirty="0"/>
              <a:t>3</a:t>
            </a:r>
          </a:p>
        </p:txBody>
      </p:sp>
      <p:sp>
        <p:nvSpPr>
          <p:cNvPr id="3" name="Content Placeholder 2"/>
          <p:cNvSpPr>
            <a:spLocks noGrp="1"/>
          </p:cNvSpPr>
          <p:nvPr>
            <p:ph idx="1"/>
          </p:nvPr>
        </p:nvSpPr>
        <p:spPr>
          <a:xfrm>
            <a:off x="0" y="914400"/>
            <a:ext cx="8839200" cy="990600"/>
          </a:xfrm>
          <a:solidFill>
            <a:schemeClr val="bg1"/>
          </a:solidFill>
        </p:spPr>
        <p:txBody>
          <a:bodyPr>
            <a:normAutofit lnSpcReduction="10000"/>
          </a:bodyPr>
          <a:lstStyle/>
          <a:p>
            <a:r>
              <a:rPr lang="en-US" sz="2000" dirty="0"/>
              <a:t>The United States has grown quickly, while some nations have stalled. </a:t>
            </a:r>
          </a:p>
          <a:p>
            <a:r>
              <a:rPr lang="en-US" sz="2000" dirty="0"/>
              <a:t>50% of the world’s population lives in countries whose standard of living is lower than the United States’ in 1900.</a:t>
            </a:r>
          </a:p>
        </p:txBody>
      </p:sp>
      <p:sp>
        <p:nvSpPr>
          <p:cNvPr id="5" name="Rectangle 4"/>
          <p:cNvSpPr/>
          <p:nvPr/>
        </p:nvSpPr>
        <p:spPr>
          <a:xfrm>
            <a:off x="-31086" y="6324600"/>
            <a:ext cx="2926686"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International Monetary Fund</a:t>
            </a:r>
          </a:p>
        </p:txBody>
      </p:sp>
      <p:pic>
        <p:nvPicPr>
          <p:cNvPr id="7" name="Picture 6" descr="A map of the world&#10;&#10;AI-generated content may be incorrect.">
            <a:hlinkClick r:id="rId2"/>
            <a:extLst>
              <a:ext uri="{FF2B5EF4-FFF2-40B4-BE49-F238E27FC236}">
                <a16:creationId xmlns:a16="http://schemas.microsoft.com/office/drawing/2014/main" id="{FC6A3F45-3589-D223-0565-B65AFBF85E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86" y="1905000"/>
            <a:ext cx="9022686" cy="4878934"/>
          </a:xfrm>
          <a:prstGeom prst="rect">
            <a:avLst/>
          </a:prstGeom>
        </p:spPr>
      </p:pic>
    </p:spTree>
    <p:extLst>
      <p:ext uri="{BB962C8B-B14F-4D97-AF65-F5344CB8AC3E}">
        <p14:creationId xmlns:p14="http://schemas.microsoft.com/office/powerpoint/2010/main" val="1366274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pPr>
              <a:defRPr/>
            </a:pPr>
            <a:r>
              <a:rPr lang="en-US" sz="4000" dirty="0"/>
              <a:t>THE RULE OF 70: THE MAGIC OF COMPOUNDING</a:t>
            </a:r>
          </a:p>
        </p:txBody>
      </p:sp>
      <p:sp>
        <p:nvSpPr>
          <p:cNvPr id="3" name="Content Placeholder 2"/>
          <p:cNvSpPr>
            <a:spLocks noGrp="1"/>
          </p:cNvSpPr>
          <p:nvPr>
            <p:ph idx="1"/>
          </p:nvPr>
        </p:nvSpPr>
        <p:spPr>
          <a:xfrm>
            <a:off x="152400" y="1371600"/>
            <a:ext cx="8839200" cy="4648200"/>
          </a:xfrm>
        </p:spPr>
        <p:txBody>
          <a:bodyPr>
            <a:noAutofit/>
          </a:bodyPr>
          <a:lstStyle/>
          <a:p>
            <a:r>
              <a:rPr lang="en-US" sz="2800" dirty="0"/>
              <a:t>Even small differences in growth rates get magnified over time.</a:t>
            </a:r>
          </a:p>
          <a:p>
            <a:r>
              <a:rPr lang="en-US" sz="2800" dirty="0"/>
              <a:t>The </a:t>
            </a:r>
            <a:r>
              <a:rPr lang="en-US" sz="2800" i="1" dirty="0">
                <a:solidFill>
                  <a:srgbClr val="990033"/>
                </a:solidFill>
              </a:rPr>
              <a:t>rule of 70:</a:t>
            </a:r>
          </a:p>
          <a:p>
            <a:endParaRPr lang="en-US" sz="2800" dirty="0"/>
          </a:p>
          <a:p>
            <a:pPr lvl="1" indent="-401638"/>
            <a:endParaRPr lang="en-US" sz="2400" dirty="0"/>
          </a:p>
          <a:p>
            <a:pPr marL="58738" lvl="1" indent="-3175"/>
            <a:r>
              <a:rPr lang="en-US" sz="2400" dirty="0"/>
              <a:t>Example:  If real GDP per capita is growing at an annual growth rate of 3.5%, it will double in:</a:t>
            </a:r>
          </a:p>
          <a:p>
            <a:pPr lvl="1" indent="-401638"/>
            <a:endParaRPr lang="en-US" sz="2400" dirty="0"/>
          </a:p>
          <a:p>
            <a:pPr lvl="1" indent="-401638">
              <a:buFont typeface="Wingdings" pitchFamily="2" charset="2"/>
              <a:buNone/>
            </a:pPr>
            <a:endParaRPr lang="en-US" sz="2400" dirty="0"/>
          </a:p>
          <a:p>
            <a:pPr marL="58738" lvl="1" indent="-3175"/>
            <a:r>
              <a:rPr lang="en-US" sz="2400" dirty="0">
                <a:solidFill>
                  <a:srgbClr val="0070C0"/>
                </a:solidFill>
              </a:rPr>
              <a:t>The moral?  Small improvements in growth add up fast  (the power of compounding).</a:t>
            </a:r>
            <a:r>
              <a:rPr lang="en-US" sz="2400" dirty="0"/>
              <a:t>	</a:t>
            </a:r>
          </a:p>
          <a:p>
            <a:pPr>
              <a:buFont typeface="Arial" charset="0"/>
              <a:buNone/>
            </a:pPr>
            <a:endParaRPr lang="en-US" sz="2800" dirty="0"/>
          </a:p>
        </p:txBody>
      </p:sp>
      <p:graphicFrame>
        <p:nvGraphicFramePr>
          <p:cNvPr id="219139" name="Object 3"/>
          <p:cNvGraphicFramePr>
            <a:graphicFrameLocks noChangeAspect="1"/>
          </p:cNvGraphicFramePr>
          <p:nvPr>
            <p:extLst>
              <p:ext uri="{D42A27DB-BD31-4B8C-83A1-F6EECF244321}">
                <p14:modId xmlns:p14="http://schemas.microsoft.com/office/powerpoint/2010/main" val="2994429109"/>
              </p:ext>
            </p:extLst>
          </p:nvPr>
        </p:nvGraphicFramePr>
        <p:xfrm>
          <a:off x="958850" y="2630488"/>
          <a:ext cx="7107238" cy="1103312"/>
        </p:xfrm>
        <a:graphic>
          <a:graphicData uri="http://schemas.openxmlformats.org/presentationml/2006/ole">
            <mc:AlternateContent xmlns:mc="http://schemas.openxmlformats.org/markup-compatibility/2006">
              <mc:Choice xmlns:v="urn:schemas-microsoft-com:vml" Requires="v">
                <p:oleObj name="Equation" r:id="rId3" imgW="2806700" imgH="457200" progId="Equation.3">
                  <p:embed/>
                </p:oleObj>
              </mc:Choice>
              <mc:Fallback>
                <p:oleObj name="Equation" r:id="rId3" imgW="2806700" imgH="457200" progId="Equation.3">
                  <p:embed/>
                  <p:pic>
                    <p:nvPicPr>
                      <p:cNvPr id="219139" name="Object 3"/>
                      <p:cNvPicPr>
                        <a:picLocks noChangeAspect="1" noChangeArrowheads="1"/>
                      </p:cNvPicPr>
                      <p:nvPr/>
                    </p:nvPicPr>
                    <p:blipFill>
                      <a:blip r:embed="rId4"/>
                      <a:srcRect/>
                      <a:stretch>
                        <a:fillRect/>
                      </a:stretch>
                    </p:blipFill>
                    <p:spPr bwMode="auto">
                      <a:xfrm>
                        <a:off x="958850" y="2630488"/>
                        <a:ext cx="7107238" cy="1103312"/>
                      </a:xfrm>
                      <a:prstGeom prst="rect">
                        <a:avLst/>
                      </a:prstGeom>
                      <a:noFill/>
                      <a:ln>
                        <a:noFill/>
                      </a:ln>
                    </p:spPr>
                  </p:pic>
                </p:oleObj>
              </mc:Fallback>
            </mc:AlternateContent>
          </a:graphicData>
        </a:graphic>
      </p:graphicFrame>
      <p:graphicFrame>
        <p:nvGraphicFramePr>
          <p:cNvPr id="219141" name="Object 5"/>
          <p:cNvGraphicFramePr>
            <a:graphicFrameLocks noChangeAspect="1"/>
          </p:cNvGraphicFramePr>
          <p:nvPr>
            <p:extLst>
              <p:ext uri="{D42A27DB-BD31-4B8C-83A1-F6EECF244321}">
                <p14:modId xmlns:p14="http://schemas.microsoft.com/office/powerpoint/2010/main" val="4152289981"/>
              </p:ext>
            </p:extLst>
          </p:nvPr>
        </p:nvGraphicFramePr>
        <p:xfrm>
          <a:off x="3140075" y="4495800"/>
          <a:ext cx="2570163" cy="1055688"/>
        </p:xfrm>
        <a:graphic>
          <a:graphicData uri="http://schemas.openxmlformats.org/presentationml/2006/ole">
            <mc:AlternateContent xmlns:mc="http://schemas.openxmlformats.org/markup-compatibility/2006">
              <mc:Choice xmlns:v="urn:schemas-microsoft-com:vml" Requires="v">
                <p:oleObj name="Equation" r:id="rId5" imgW="990600" imgH="419100" progId="Equation.3">
                  <p:embed/>
                </p:oleObj>
              </mc:Choice>
              <mc:Fallback>
                <p:oleObj name="Equation" r:id="rId5" imgW="990600" imgH="419100" progId="Equation.3">
                  <p:embed/>
                  <p:pic>
                    <p:nvPicPr>
                      <p:cNvPr id="219141" name="Object 5"/>
                      <p:cNvPicPr>
                        <a:picLocks noChangeAspect="1" noChangeArrowheads="1"/>
                      </p:cNvPicPr>
                      <p:nvPr/>
                    </p:nvPicPr>
                    <p:blipFill>
                      <a:blip r:embed="rId6"/>
                      <a:srcRect/>
                      <a:stretch>
                        <a:fillRect/>
                      </a:stretch>
                    </p:blipFill>
                    <p:spPr bwMode="auto">
                      <a:xfrm>
                        <a:off x="3140075" y="4495800"/>
                        <a:ext cx="2570163" cy="105568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28107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par>
                                <p:cTn id="12" presetID="9" presetClass="entr" presetSubtype="0" fill="hold" nodeType="withEffect">
                                  <p:stCondLst>
                                    <p:cond delay="0"/>
                                  </p:stCondLst>
                                  <p:childTnLst>
                                    <p:set>
                                      <p:cBhvr>
                                        <p:cTn id="13" dur="1" fill="hold">
                                          <p:stCondLst>
                                            <p:cond delay="0"/>
                                          </p:stCondLst>
                                        </p:cTn>
                                        <p:tgtEl>
                                          <p:spTgt spid="219139"/>
                                        </p:tgtEl>
                                        <p:attrNameLst>
                                          <p:attrName>style.visibility</p:attrName>
                                        </p:attrNameLst>
                                      </p:cBhvr>
                                      <p:to>
                                        <p:strVal val="visible"/>
                                      </p:to>
                                    </p:set>
                                    <p:animEffect transition="in" filter="dissolve">
                                      <p:cBhvr>
                                        <p:cTn id="14" dur="500"/>
                                        <p:tgtEl>
                                          <p:spTgt spid="219139"/>
                                        </p:tgtEl>
                                      </p:cBhvr>
                                    </p:animEffec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childTnLst>
                          </p:cTn>
                        </p:par>
                        <p:par>
                          <p:cTn id="19" fill="hold" nodeType="afterGroup">
                            <p:stCondLst>
                              <p:cond delay="3000"/>
                            </p:stCondLst>
                            <p:childTnLst>
                              <p:par>
                                <p:cTn id="20" presetID="9" presetClass="entr" presetSubtype="0" fill="hold" nodeType="afterEffect">
                                  <p:stCondLst>
                                    <p:cond delay="0"/>
                                  </p:stCondLst>
                                  <p:childTnLst>
                                    <p:set>
                                      <p:cBhvr>
                                        <p:cTn id="21" dur="1" fill="hold">
                                          <p:stCondLst>
                                            <p:cond delay="0"/>
                                          </p:stCondLst>
                                        </p:cTn>
                                        <p:tgtEl>
                                          <p:spTgt spid="219141"/>
                                        </p:tgtEl>
                                        <p:attrNameLst>
                                          <p:attrName>style.visibility</p:attrName>
                                        </p:attrNameLst>
                                      </p:cBhvr>
                                      <p:to>
                                        <p:strVal val="visible"/>
                                      </p:to>
                                    </p:set>
                                    <p:animEffect transition="in" filter="dissolve">
                                      <p:cBhvr>
                                        <p:cTn id="22" dur="500"/>
                                        <p:tgtEl>
                                          <p:spTgt spid="219141"/>
                                        </p:tgtEl>
                                      </p:cBhvr>
                                    </p:animEffect>
                                  </p:childTnLst>
                                </p:cTn>
                              </p:par>
                            </p:childTnLst>
                          </p:cTn>
                        </p:par>
                        <p:par>
                          <p:cTn id="23" fill="hold" nodeType="withGroup">
                            <p:stCondLst>
                              <p:cond delay="3500"/>
                            </p:stCondLst>
                            <p:childTnLst>
                              <p:par>
                                <p:cTn id="24" presetID="10" presetClass="entr" presetSubtype="0" fill="hold" grpId="0" nodeType="after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8839200" cy="5060950"/>
          </a:xfrm>
        </p:spPr>
        <p:txBody>
          <a:bodyPr>
            <a:noAutofit/>
          </a:bodyPr>
          <a:lstStyle/>
          <a:p>
            <a:r>
              <a:rPr lang="en-US" sz="2400" dirty="0"/>
              <a:t>Suppose that real GDP per capita grows at 2% per year. How many years will it take for real GDP per capita to approximately double? It will take:</a:t>
            </a:r>
          </a:p>
          <a:p>
            <a:pPr marL="742950" indent="-742950">
              <a:buFont typeface="+mj-lt"/>
              <a:buAutoNum type="alphaLcParenR"/>
            </a:pPr>
            <a:r>
              <a:rPr lang="en-US" sz="2400" dirty="0"/>
              <a:t>70 years because of the rule of 70.</a:t>
            </a:r>
          </a:p>
          <a:p>
            <a:pPr marL="742950" indent="-742950">
              <a:buFont typeface="+mj-lt"/>
              <a:buAutoNum type="alphaLcParenR"/>
            </a:pPr>
            <a:r>
              <a:rPr lang="en-US" sz="2400" dirty="0"/>
              <a:t>140 years, because the rule of 70 states that a variable will double in 70 years if the variable has an annual growth rate of 1%; therefore, a variable growing at 2% will take twice as long to double.</a:t>
            </a:r>
          </a:p>
          <a:p>
            <a:pPr marL="742950" indent="-742950">
              <a:buFont typeface="+mj-lt"/>
              <a:buAutoNum type="alphaLcParenR"/>
            </a:pPr>
            <a:r>
              <a:rPr lang="en-US" sz="2400" dirty="0"/>
              <a:t>35 years, because 70/2 = 35</a:t>
            </a:r>
          </a:p>
          <a:p>
            <a:pPr marL="742950" indent="-742950">
              <a:buFont typeface="+mj-lt"/>
              <a:buAutoNum type="alphaLcParenR"/>
            </a:pPr>
            <a:r>
              <a:rPr lang="en-US" sz="2400" dirty="0"/>
              <a:t>50 years, since at 2% per year it takes 50 years to reach 100% more than the initial real GDP per capita.</a:t>
            </a: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50555737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8458200" cy="5060950"/>
          </a:xfrm>
        </p:spPr>
        <p:txBody>
          <a:bodyPr>
            <a:noAutofit/>
          </a:bodyPr>
          <a:lstStyle/>
          <a:p>
            <a:r>
              <a:rPr lang="en-US" sz="2400" dirty="0"/>
              <a:t>Let's figure out how long it will take for the average Indian to be as wealthy as the average Western European is today. </a:t>
            </a:r>
            <a:r>
              <a:rPr lang="en-US" sz="2400" i="1" dirty="0"/>
              <a:t>Note that all numbers are adjusted for inflation</a:t>
            </a:r>
            <a:r>
              <a:rPr lang="en-US" sz="2400" dirty="0"/>
              <a:t>. </a:t>
            </a:r>
            <a:r>
              <a:rPr lang="en-US" sz="2400" dirty="0">
                <a:solidFill>
                  <a:schemeClr val="accent2"/>
                </a:solidFill>
              </a:rPr>
              <a:t>India's GDP per capita is $3,000, and let’s assume real output per person grows at 5% per year. Using the rule of 70, how many years will it take for India to reach Italy's current level of GDP per capita, about $24,000 per year?</a:t>
            </a:r>
            <a:r>
              <a:rPr lang="en-US" sz="2400" dirty="0"/>
              <a:t>	</a:t>
            </a:r>
          </a:p>
          <a:p>
            <a:pPr marL="742950" indent="-742950">
              <a:buFont typeface="+mj-lt"/>
              <a:buAutoNum type="alphaLcParenR"/>
            </a:pPr>
            <a:r>
              <a:rPr lang="en-US" sz="2400" dirty="0"/>
              <a:t>42 years</a:t>
            </a:r>
          </a:p>
          <a:p>
            <a:pPr marL="742950" indent="-742950">
              <a:buFont typeface="+mj-lt"/>
              <a:buAutoNum type="alphaLcParenR"/>
            </a:pPr>
            <a:r>
              <a:rPr lang="en-US" sz="2400" dirty="0"/>
              <a:t>14 years</a:t>
            </a:r>
          </a:p>
          <a:p>
            <a:pPr marL="742950" indent="-742950">
              <a:buFont typeface="+mj-lt"/>
              <a:buAutoNum type="alphaLcParenR"/>
            </a:pPr>
            <a:r>
              <a:rPr lang="en-US" sz="2400" dirty="0"/>
              <a:t>28 years</a:t>
            </a:r>
          </a:p>
          <a:p>
            <a:pPr marL="742950" indent="-742950">
              <a:buFont typeface="+mj-lt"/>
              <a:buAutoNum type="alphaLcParenR"/>
            </a:pPr>
            <a:r>
              <a:rPr lang="en-US" sz="2400" dirty="0"/>
              <a:t>12 years</a:t>
            </a:r>
          </a:p>
        </p:txBody>
      </p:sp>
      <p:sp>
        <p:nvSpPr>
          <p:cNvPr id="6" name="Rectangle 5"/>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162913647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762000"/>
          </a:xfrm>
        </p:spPr>
        <p:txBody>
          <a:bodyPr>
            <a:normAutofit/>
          </a:bodyPr>
          <a:lstStyle/>
          <a:p>
            <a:r>
              <a:rPr lang="en-US" sz="3600" spc="0" dirty="0"/>
              <a:t>COMPARING RECENT GROWTH RATES</a:t>
            </a:r>
          </a:p>
        </p:txBody>
      </p:sp>
      <p:sp>
        <p:nvSpPr>
          <p:cNvPr id="3" name="Content Placeholder 2"/>
          <p:cNvSpPr>
            <a:spLocks noGrp="1"/>
          </p:cNvSpPr>
          <p:nvPr>
            <p:ph idx="1"/>
          </p:nvPr>
        </p:nvSpPr>
        <p:spPr>
          <a:xfrm>
            <a:off x="304800" y="762000"/>
            <a:ext cx="8839200" cy="838200"/>
          </a:xfrm>
        </p:spPr>
        <p:txBody>
          <a:bodyPr>
            <a:noAutofit/>
          </a:bodyPr>
          <a:lstStyle/>
          <a:p>
            <a:r>
              <a:rPr lang="en-US" sz="2400" dirty="0"/>
              <a:t>China, India and Ireland saw impressive growth.  Zimbabwe, once the breadbasket of Africa, collapsed.</a:t>
            </a:r>
          </a:p>
        </p:txBody>
      </p:sp>
      <p:pic>
        <p:nvPicPr>
          <p:cNvPr id="5" name="Picture 4" descr="Screen Shot 2015-04-02 at 8.00.37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81000" y="1600200"/>
            <a:ext cx="8438933" cy="4552582"/>
          </a:xfrm>
          <a:prstGeom prst="rect">
            <a:avLst/>
          </a:prstGeom>
        </p:spPr>
      </p:pic>
    </p:spTree>
    <p:extLst>
      <p:ext uri="{BB962C8B-B14F-4D97-AF65-F5344CB8AC3E}">
        <p14:creationId xmlns:p14="http://schemas.microsoft.com/office/powerpoint/2010/main" val="2794681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296434"/>
            <a:ext cx="9144000" cy="1637766"/>
          </a:xfrm>
          <a:solidFill>
            <a:schemeClr val="bg1">
              <a:alpha val="84000"/>
            </a:schemeClr>
          </a:solidFill>
        </p:spPr>
        <p:txBody>
          <a:bodyPr>
            <a:noAutofit/>
          </a:bodyPr>
          <a:lstStyle/>
          <a:p>
            <a:r>
              <a:rPr lang="en-US" sz="2400" dirty="0">
                <a:latin typeface="Century Gothic"/>
                <a:cs typeface="Century Gothic"/>
              </a:rPr>
              <a:t>India’s high rate of economic growth since 1980 has raised living standards and led to the emergence of a rapidly growing middle class.  Will </a:t>
            </a:r>
            <a:r>
              <a:rPr lang="en-US" sz="2400" dirty="0">
                <a:solidFill>
                  <a:srgbClr val="990033"/>
                </a:solidFill>
                <a:latin typeface="Century Gothic"/>
                <a:cs typeface="Century Gothic"/>
              </a:rPr>
              <a:t>lack of education and infrastructure </a:t>
            </a:r>
            <a:r>
              <a:rPr lang="en-US" sz="2400" dirty="0">
                <a:latin typeface="Century Gothic"/>
                <a:cs typeface="Century Gothic"/>
              </a:rPr>
              <a:t>hold back future growth?</a:t>
            </a:r>
          </a:p>
        </p:txBody>
      </p:sp>
      <p:sp>
        <p:nvSpPr>
          <p:cNvPr id="5" name="TextBox 4"/>
          <p:cNvSpPr txBox="1"/>
          <p:nvPr/>
        </p:nvSpPr>
        <p:spPr>
          <a:xfrm>
            <a:off x="0" y="76200"/>
            <a:ext cx="9144000" cy="707886"/>
          </a:xfrm>
          <a:prstGeom prst="rect">
            <a:avLst/>
          </a:prstGeom>
          <a:solidFill>
            <a:schemeClr val="tx1">
              <a:alpha val="26000"/>
            </a:schemeClr>
          </a:solidFill>
        </p:spPr>
        <p:txBody>
          <a:bodyPr wrap="square" rtlCol="0">
            <a:spAutoFit/>
          </a:bodyPr>
          <a:lstStyle/>
          <a:p>
            <a:endParaRPr lang="en-US" sz="2000" dirty="0"/>
          </a:p>
          <a:p>
            <a:endParaRPr lang="en-US" sz="2000" dirty="0"/>
          </a:p>
        </p:txBody>
      </p:sp>
    </p:spTree>
    <p:extLst>
      <p:ext uri="{BB962C8B-B14F-4D97-AF65-F5344CB8AC3E}">
        <p14:creationId xmlns:p14="http://schemas.microsoft.com/office/powerpoint/2010/main" val="284812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pc="0" dirty="0"/>
              <a:t>THE SOURCES OF LONG-RUN GROWTH</a:t>
            </a:r>
          </a:p>
        </p:txBody>
      </p:sp>
      <p:sp>
        <p:nvSpPr>
          <p:cNvPr id="3" name="Content Placeholder 2"/>
          <p:cNvSpPr>
            <a:spLocks noGrp="1"/>
          </p:cNvSpPr>
          <p:nvPr>
            <p:ph idx="1"/>
          </p:nvPr>
        </p:nvSpPr>
        <p:spPr/>
        <p:txBody>
          <a:bodyPr>
            <a:normAutofit/>
          </a:bodyPr>
          <a:lstStyle/>
          <a:p>
            <a:r>
              <a:rPr lang="en-US" dirty="0">
                <a:solidFill>
                  <a:srgbClr val="0070C0"/>
                </a:solidFill>
              </a:rPr>
              <a:t>The crucial importance of productivity</a:t>
            </a:r>
          </a:p>
          <a:p>
            <a:r>
              <a:rPr lang="en-US" i="1" dirty="0">
                <a:solidFill>
                  <a:srgbClr val="990033"/>
                </a:solidFill>
              </a:rPr>
              <a:t>Labor productivity </a:t>
            </a:r>
            <a:r>
              <a:rPr lang="en-US" sz="2800" b="0" i="1" dirty="0"/>
              <a:t>(often referred to simply as productivity)</a:t>
            </a:r>
            <a:r>
              <a:rPr lang="en-US" sz="2800" dirty="0"/>
              <a:t>: </a:t>
            </a:r>
            <a:r>
              <a:rPr lang="en-US" sz="2800" b="0" dirty="0"/>
              <a:t>output per worker</a:t>
            </a:r>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133600" y="3124200"/>
            <a:ext cx="4572000" cy="32735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47700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3700" spc="0"/>
              <a:t>EXPLAINING GROWTH IN PRODUCTIVITY</a:t>
            </a:r>
          </a:p>
        </p:txBody>
      </p:sp>
      <p:graphicFrame>
        <p:nvGraphicFramePr>
          <p:cNvPr id="5" name="Content Placeholder 2">
            <a:extLst>
              <a:ext uri="{FF2B5EF4-FFF2-40B4-BE49-F238E27FC236}">
                <a16:creationId xmlns:a16="http://schemas.microsoft.com/office/drawing/2014/main" id="{12924E16-7C5E-D88B-3DD9-008EE9B49133}"/>
              </a:ext>
            </a:extLst>
          </p:cNvPr>
          <p:cNvGraphicFramePr>
            <a:graphicFrameLocks noGrp="1"/>
          </p:cNvGraphicFramePr>
          <p:nvPr>
            <p:ph idx="1"/>
            <p:extLst>
              <p:ext uri="{D42A27DB-BD31-4B8C-83A1-F6EECF244321}">
                <p14:modId xmlns:p14="http://schemas.microsoft.com/office/powerpoint/2010/main" val="799404367"/>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8337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3700" spc="0"/>
              <a:t>EXPLAINING GROWTH IN PRODUCTIVITY</a:t>
            </a:r>
          </a:p>
        </p:txBody>
      </p:sp>
      <p:graphicFrame>
        <p:nvGraphicFramePr>
          <p:cNvPr id="5" name="Content Placeholder 2">
            <a:extLst>
              <a:ext uri="{FF2B5EF4-FFF2-40B4-BE49-F238E27FC236}">
                <a16:creationId xmlns:a16="http://schemas.microsoft.com/office/drawing/2014/main" id="{5C70D248-B147-3662-3268-EE4E4BBB7643}"/>
              </a:ext>
            </a:extLst>
          </p:cNvPr>
          <p:cNvGraphicFramePr>
            <a:graphicFrameLocks noGrp="1"/>
          </p:cNvGraphicFramePr>
          <p:nvPr>
            <p:ph idx="1"/>
            <p:extLst>
              <p:ext uri="{D42A27DB-BD31-4B8C-83A1-F6EECF244321}">
                <p14:modId xmlns:p14="http://schemas.microsoft.com/office/powerpoint/2010/main" val="981138382"/>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692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90600"/>
          </a:xfrm>
        </p:spPr>
        <p:txBody>
          <a:bodyPr>
            <a:normAutofit fontScale="90000"/>
          </a:bodyPr>
          <a:lstStyle/>
          <a:p>
            <a:r>
              <a:rPr lang="en-US" dirty="0"/>
              <a:t>EXPLAINING GROWTH IN PRODUCTIVITY</a:t>
            </a:r>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3746" y="2057400"/>
            <a:ext cx="5119146" cy="4791712"/>
          </a:xfrm>
          <a:prstGeom prst="rect">
            <a:avLst/>
          </a:prstGeom>
        </p:spPr>
      </p:pic>
      <p:pic>
        <p:nvPicPr>
          <p:cNvPr id="6"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071491" y="2057400"/>
            <a:ext cx="4072509" cy="4800600"/>
          </a:xfrm>
          <a:prstGeom prst="rect">
            <a:avLst/>
          </a:prstGeom>
        </p:spPr>
      </p:pic>
      <p:sp>
        <p:nvSpPr>
          <p:cNvPr id="3" name="Content Placeholder 2"/>
          <p:cNvSpPr>
            <a:spLocks noGrp="1"/>
          </p:cNvSpPr>
          <p:nvPr>
            <p:ph idx="1"/>
          </p:nvPr>
        </p:nvSpPr>
        <p:spPr>
          <a:xfrm>
            <a:off x="0" y="1066800"/>
            <a:ext cx="9144000" cy="1981200"/>
          </a:xfrm>
        </p:spPr>
        <p:txBody>
          <a:bodyPr>
            <a:normAutofit/>
          </a:bodyPr>
          <a:lstStyle/>
          <a:p>
            <a:r>
              <a:rPr lang="en-US" sz="2800" i="1" dirty="0">
                <a:solidFill>
                  <a:srgbClr val="990033"/>
                </a:solidFill>
              </a:rPr>
              <a:t>Technological progress</a:t>
            </a:r>
            <a:r>
              <a:rPr lang="en-US" sz="2800" b="0" i="1" dirty="0">
                <a:solidFill>
                  <a:srgbClr val="990033"/>
                </a:solidFill>
              </a:rPr>
              <a:t>: </a:t>
            </a:r>
            <a:r>
              <a:rPr lang="en-US" sz="2800" b="0" dirty="0"/>
              <a:t>an advance in the technical means of production in goods &amp; services.</a:t>
            </a:r>
            <a:endParaRPr lang="en-US" sz="2800" dirty="0"/>
          </a:p>
          <a:p>
            <a:endParaRPr lang="en-US" sz="2400" dirty="0"/>
          </a:p>
        </p:txBody>
      </p:sp>
    </p:spTree>
    <p:extLst>
      <p:ext uri="{BB962C8B-B14F-4D97-AF65-F5344CB8AC3E}">
        <p14:creationId xmlns:p14="http://schemas.microsoft.com/office/powerpoint/2010/main" val="135871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5" presetClass="emph" presetSubtype="0" fill="hold" nodeType="clickEffect">
                                  <p:stCondLst>
                                    <p:cond delay="0"/>
                                  </p:stCondLst>
                                  <p:childTnLst>
                                    <p:animClr clrSpc="hsl" dir="cw">
                                      <p:cBhvr override="childStyle">
                                        <p:cTn id="11" dur="500" fill="hold"/>
                                        <p:tgtEl>
                                          <p:spTgt spid="5"/>
                                        </p:tgtEl>
                                        <p:attrNameLst>
                                          <p:attrName>style.color</p:attrName>
                                        </p:attrNameLst>
                                      </p:cBhvr>
                                      <p:by>
                                        <p:hsl h="0" s="-70588" l="0"/>
                                      </p:by>
                                    </p:animClr>
                                    <p:animClr clrSpc="hsl" dir="cw">
                                      <p:cBhvr>
                                        <p:cTn id="12" dur="500" fill="hold"/>
                                        <p:tgtEl>
                                          <p:spTgt spid="5"/>
                                        </p:tgtEl>
                                        <p:attrNameLst>
                                          <p:attrName>fillcolor</p:attrName>
                                        </p:attrNameLst>
                                      </p:cBhvr>
                                      <p:by>
                                        <p:hsl h="0" s="-70588" l="0"/>
                                      </p:by>
                                    </p:animClr>
                                    <p:animClr clrSpc="hsl" dir="cw">
                                      <p:cBhvr>
                                        <p:cTn id="13" dur="500" fill="hold"/>
                                        <p:tgtEl>
                                          <p:spTgt spid="5"/>
                                        </p:tgtEl>
                                        <p:attrNameLst>
                                          <p:attrName>stroke.color</p:attrName>
                                        </p:attrNameLst>
                                      </p:cBhvr>
                                      <p:by>
                                        <p:hsl h="0" s="-70588" l="0"/>
                                      </p:by>
                                    </p:animClr>
                                    <p:set>
                                      <p:cBhvr>
                                        <p:cTn id="14" dur="500" fill="hold"/>
                                        <p:tgtEl>
                                          <p:spTgt spid="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3">
            <a:alphaModFix amt="52000"/>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19200"/>
          </a:xfrm>
          <a:solidFill>
            <a:schemeClr val="bg1">
              <a:alpha val="59000"/>
            </a:schemeClr>
          </a:solidFill>
        </p:spPr>
        <p:txBody>
          <a:bodyPr>
            <a:noAutofit/>
          </a:bodyPr>
          <a:lstStyle/>
          <a:p>
            <a:r>
              <a:rPr lang="en-US" sz="4000" dirty="0"/>
              <a:t>THE AGGREGATE PRODUCTION FUNCTION</a:t>
            </a:r>
          </a:p>
        </p:txBody>
      </p:sp>
      <p:sp>
        <p:nvSpPr>
          <p:cNvPr id="3" name="Content Placeholder 2"/>
          <p:cNvSpPr>
            <a:spLocks noGrp="1"/>
          </p:cNvSpPr>
          <p:nvPr>
            <p:ph idx="1"/>
          </p:nvPr>
        </p:nvSpPr>
        <p:spPr>
          <a:xfrm>
            <a:off x="11238" y="3733800"/>
            <a:ext cx="9132762" cy="3124200"/>
          </a:xfrm>
          <a:solidFill>
            <a:schemeClr val="bg1">
              <a:alpha val="79000"/>
            </a:schemeClr>
          </a:solidFill>
        </p:spPr>
        <p:txBody>
          <a:bodyPr>
            <a:normAutofit/>
          </a:bodyPr>
          <a:lstStyle/>
          <a:p>
            <a:pPr>
              <a:spcBef>
                <a:spcPts val="0"/>
              </a:spcBef>
              <a:spcAft>
                <a:spcPts val="1200"/>
              </a:spcAft>
            </a:pPr>
            <a:r>
              <a:rPr lang="en-US" sz="2800" dirty="0"/>
              <a:t>How much does output change when we change inputs?</a:t>
            </a:r>
          </a:p>
          <a:p>
            <a:pPr>
              <a:spcBef>
                <a:spcPts val="0"/>
              </a:spcBef>
              <a:spcAft>
                <a:spcPts val="1200"/>
              </a:spcAft>
            </a:pPr>
            <a:r>
              <a:rPr lang="en-US" sz="2800" i="1" dirty="0">
                <a:solidFill>
                  <a:srgbClr val="990033"/>
                </a:solidFill>
              </a:rPr>
              <a:t>Aggregate production function: </a:t>
            </a:r>
            <a:r>
              <a:rPr lang="en-US" sz="2400" b="0" dirty="0"/>
              <a:t>a hypothetical function that shows how productivity (real GDP per worker) depends on the quantities of physical capital per worker and human capital per worker as well as the state of technology.</a:t>
            </a:r>
          </a:p>
        </p:txBody>
      </p:sp>
    </p:spTree>
    <p:extLst>
      <p:ext uri="{BB962C8B-B14F-4D97-AF65-F5344CB8AC3E}">
        <p14:creationId xmlns:p14="http://schemas.microsoft.com/office/powerpoint/2010/main" val="256864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3600" spc="0" dirty="0"/>
              <a:t>ACCOUNTING FOR GROWTH: THE AGGREGATE PRODUCTION FUNCTION</a:t>
            </a:r>
          </a:p>
        </p:txBody>
      </p:sp>
      <p:sp>
        <p:nvSpPr>
          <p:cNvPr id="3" name="Content Placeholder 2"/>
          <p:cNvSpPr>
            <a:spLocks noGrp="1"/>
          </p:cNvSpPr>
          <p:nvPr>
            <p:ph idx="1"/>
          </p:nvPr>
        </p:nvSpPr>
        <p:spPr>
          <a:xfrm>
            <a:off x="228600" y="1524000"/>
            <a:ext cx="8839200" cy="5029200"/>
          </a:xfrm>
        </p:spPr>
        <p:txBody>
          <a:bodyPr>
            <a:normAutofit/>
          </a:bodyPr>
          <a:lstStyle/>
          <a:p>
            <a:pPr>
              <a:spcBef>
                <a:spcPts val="0"/>
              </a:spcBef>
              <a:spcAft>
                <a:spcPts val="1800"/>
              </a:spcAft>
            </a:pPr>
            <a:r>
              <a:rPr lang="en-US" sz="2800" dirty="0"/>
              <a:t>But can we be more specific?  How much does output change when we change inputs?</a:t>
            </a:r>
          </a:p>
          <a:p>
            <a:pPr>
              <a:spcBef>
                <a:spcPts val="0"/>
              </a:spcBef>
              <a:spcAft>
                <a:spcPts val="1800"/>
              </a:spcAft>
            </a:pPr>
            <a:r>
              <a:rPr lang="en-US" sz="2400" i="1" dirty="0">
                <a:solidFill>
                  <a:schemeClr val="tx1">
                    <a:lumMod val="65000"/>
                    <a:lumOff val="35000"/>
                  </a:schemeClr>
                </a:solidFill>
              </a:rPr>
              <a:t>For instance, China and India may have a production function like this (Brookings Institution estimates):</a:t>
            </a:r>
          </a:p>
          <a:p>
            <a:pPr>
              <a:spcBef>
                <a:spcPts val="0"/>
              </a:spcBef>
              <a:spcAft>
                <a:spcPts val="1800"/>
              </a:spcAft>
            </a:pPr>
            <a:r>
              <a:rPr lang="en-US" sz="2800" dirty="0"/>
              <a:t>GDP per worker = </a:t>
            </a:r>
            <a:r>
              <a:rPr lang="en-US" sz="2800" i="1" dirty="0"/>
              <a:t>T </a:t>
            </a:r>
            <a:r>
              <a:rPr lang="en-US" sz="2800" dirty="0"/>
              <a:t>× (physical capital per worker)</a:t>
            </a:r>
            <a:r>
              <a:rPr lang="en-US" sz="2800" baseline="30000" dirty="0"/>
              <a:t>0.4</a:t>
            </a:r>
            <a:r>
              <a:rPr lang="en-US" sz="2800" dirty="0"/>
              <a:t> × (human capital per worker)</a:t>
            </a:r>
            <a:r>
              <a:rPr lang="en-US" sz="2800" baseline="30000" dirty="0"/>
              <a:t>0.6</a:t>
            </a:r>
            <a:endParaRPr lang="en-US" sz="2800" dirty="0"/>
          </a:p>
          <a:p>
            <a:pPr>
              <a:spcBef>
                <a:spcPts val="0"/>
              </a:spcBef>
              <a:spcAft>
                <a:spcPts val="1800"/>
              </a:spcAft>
            </a:pPr>
            <a:r>
              <a:rPr lang="en-US" sz="2800" i="1" dirty="0">
                <a:solidFill>
                  <a:srgbClr val="0070C0"/>
                </a:solidFill>
              </a:rPr>
              <a:t>If China had more physical capital than India, that would explain its quicker growth.</a:t>
            </a:r>
            <a:endParaRPr lang="en-US" sz="2800" i="1" baseline="30000" dirty="0">
              <a:solidFill>
                <a:srgbClr val="0070C0"/>
              </a:solidFill>
            </a:endParaRPr>
          </a:p>
        </p:txBody>
      </p:sp>
    </p:spTree>
    <p:extLst>
      <p:ext uri="{BB962C8B-B14F-4D97-AF65-F5344CB8AC3E}">
        <p14:creationId xmlns:p14="http://schemas.microsoft.com/office/powerpoint/2010/main" val="361668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4299656"/>
            <a:ext cx="3733800" cy="2558344"/>
          </a:xfrm>
          <a:prstGeom prst="rect">
            <a:avLst/>
          </a:prstGeom>
        </p:spPr>
      </p:pic>
      <p:sp>
        <p:nvSpPr>
          <p:cNvPr id="2" name="Title 1"/>
          <p:cNvSpPr>
            <a:spLocks noGrp="1"/>
          </p:cNvSpPr>
          <p:nvPr>
            <p:ph type="title"/>
          </p:nvPr>
        </p:nvSpPr>
        <p:spPr>
          <a:xfrm>
            <a:off x="0" y="152400"/>
            <a:ext cx="9144000" cy="838200"/>
          </a:xfrm>
        </p:spPr>
        <p:txBody>
          <a:bodyPr>
            <a:noAutofit/>
          </a:bodyPr>
          <a:lstStyle/>
          <a:p>
            <a:r>
              <a:rPr lang="en-US" sz="4000" dirty="0"/>
              <a:t>THE AGGREGATE PRODUCTION FUNCTION</a:t>
            </a:r>
          </a:p>
        </p:txBody>
      </p:sp>
      <p:sp>
        <p:nvSpPr>
          <p:cNvPr id="3" name="Content Placeholder 2"/>
          <p:cNvSpPr>
            <a:spLocks noGrp="1"/>
          </p:cNvSpPr>
          <p:nvPr>
            <p:ph idx="1"/>
          </p:nvPr>
        </p:nvSpPr>
        <p:spPr>
          <a:xfrm>
            <a:off x="4808" y="1219200"/>
            <a:ext cx="8986792" cy="4191000"/>
          </a:xfrm>
        </p:spPr>
        <p:txBody>
          <a:bodyPr>
            <a:normAutofit/>
          </a:bodyPr>
          <a:lstStyle/>
          <a:p>
            <a:pPr>
              <a:spcAft>
                <a:spcPts val="1800"/>
              </a:spcAft>
            </a:pPr>
            <a:r>
              <a:rPr lang="en-US" dirty="0"/>
              <a:t>There are some well-known patterns.</a:t>
            </a:r>
          </a:p>
          <a:p>
            <a:pPr>
              <a:spcAft>
                <a:spcPts val="1800"/>
              </a:spcAft>
            </a:pPr>
            <a:r>
              <a:rPr lang="en-US" i="1" dirty="0">
                <a:solidFill>
                  <a:srgbClr val="990033"/>
                </a:solidFill>
              </a:rPr>
              <a:t>Diminishing returns to physical capital: </a:t>
            </a:r>
            <a:r>
              <a:rPr lang="en-US" sz="2800" b="0" dirty="0"/>
              <a:t>holding the amount of human capital per worker and the state of technology fixed, </a:t>
            </a:r>
            <a:r>
              <a:rPr lang="en-US" sz="2800" dirty="0">
                <a:solidFill>
                  <a:srgbClr val="0070C0"/>
                </a:solidFill>
              </a:rPr>
              <a:t>each successive increase in the amount of physical capital per worker leads to a smaller increase in productivity.</a:t>
            </a:r>
          </a:p>
        </p:txBody>
      </p:sp>
      <p:sp>
        <p:nvSpPr>
          <p:cNvPr id="6" name="TextBox 5"/>
          <p:cNvSpPr txBox="1"/>
          <p:nvPr/>
        </p:nvSpPr>
        <p:spPr>
          <a:xfrm>
            <a:off x="3657600" y="4743272"/>
            <a:ext cx="5486400" cy="1200328"/>
          </a:xfrm>
          <a:prstGeom prst="rect">
            <a:avLst/>
          </a:prstGeom>
          <a:noFill/>
        </p:spPr>
        <p:txBody>
          <a:bodyPr wrap="square" rtlCol="0">
            <a:spAutoFit/>
          </a:bodyPr>
          <a:lstStyle/>
          <a:p>
            <a:r>
              <a:rPr lang="en-US" sz="2400" b="1" i="1" dirty="0">
                <a:solidFill>
                  <a:schemeClr val="tx1">
                    <a:lumMod val="50000"/>
                    <a:lumOff val="50000"/>
                  </a:schemeClr>
                </a:solidFill>
                <a:latin typeface="Century Gothic"/>
                <a:cs typeface="Century Gothic"/>
              </a:rPr>
              <a:t>A second computer improves his productivity, but not by as much as the first computer did.</a:t>
            </a:r>
          </a:p>
        </p:txBody>
      </p:sp>
    </p:spTree>
    <p:extLst>
      <p:ext uri="{BB962C8B-B14F-4D97-AF65-F5344CB8AC3E}">
        <p14:creationId xmlns:p14="http://schemas.microsoft.com/office/powerpoint/2010/main" val="1912672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 name="Freeform 32"/>
          <p:cNvSpPr/>
          <p:nvPr/>
        </p:nvSpPr>
        <p:spPr>
          <a:xfrm>
            <a:off x="2455333" y="3250738"/>
            <a:ext cx="4783667" cy="2032462"/>
          </a:xfrm>
          <a:custGeom>
            <a:avLst/>
            <a:gdLst>
              <a:gd name="connsiteX0" fmla="*/ 0 w 4783667"/>
              <a:gd name="connsiteY0" fmla="*/ 2032462 h 2032462"/>
              <a:gd name="connsiteX1" fmla="*/ 1049867 w 4783667"/>
              <a:gd name="connsiteY1" fmla="*/ 1007995 h 2032462"/>
              <a:gd name="connsiteX2" fmla="*/ 2413000 w 4783667"/>
              <a:gd name="connsiteY2" fmla="*/ 389929 h 2032462"/>
              <a:gd name="connsiteX3" fmla="*/ 4114800 w 4783667"/>
              <a:gd name="connsiteY3" fmla="*/ 51262 h 2032462"/>
              <a:gd name="connsiteX4" fmla="*/ 4783667 w 4783667"/>
              <a:gd name="connsiteY4" fmla="*/ 8929 h 2032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3667" h="2032462">
                <a:moveTo>
                  <a:pt x="0" y="2032462"/>
                </a:moveTo>
                <a:cubicBezTo>
                  <a:pt x="323850" y="1657106"/>
                  <a:pt x="647700" y="1281750"/>
                  <a:pt x="1049867" y="1007995"/>
                </a:cubicBezTo>
                <a:cubicBezTo>
                  <a:pt x="1452034" y="734240"/>
                  <a:pt x="1902178" y="549384"/>
                  <a:pt x="2413000" y="389929"/>
                </a:cubicBezTo>
                <a:cubicBezTo>
                  <a:pt x="2923822" y="230474"/>
                  <a:pt x="3719689" y="114762"/>
                  <a:pt x="4114800" y="51262"/>
                </a:cubicBezTo>
                <a:cubicBezTo>
                  <a:pt x="4509911" y="-12238"/>
                  <a:pt x="4659489" y="-3771"/>
                  <a:pt x="4783667" y="8929"/>
                </a:cubicBezTo>
              </a:path>
            </a:pathLst>
          </a:cu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a:cs typeface="Century Gothic"/>
            </a:endParaRPr>
          </a:p>
        </p:txBody>
      </p:sp>
      <p:sp>
        <p:nvSpPr>
          <p:cNvPr id="363526" name="Rectangle 6"/>
          <p:cNvSpPr>
            <a:spLocks noGrp="1" noRot="1" noChangeArrowheads="1"/>
          </p:cNvSpPr>
          <p:nvPr>
            <p:ph type="title"/>
          </p:nvPr>
        </p:nvSpPr>
        <p:spPr>
          <a:xfrm>
            <a:off x="0" y="0"/>
            <a:ext cx="9144000" cy="1143000"/>
          </a:xfrm>
        </p:spPr>
        <p:txBody>
          <a:bodyPr>
            <a:noAutofit/>
          </a:bodyPr>
          <a:lstStyle/>
          <a:p>
            <a:r>
              <a:rPr lang="en-US" sz="3600" spc="0" dirty="0"/>
              <a:t>ACCOUNTING FOR GROWTH: THE AGGREGATE PRODUCTION FUNCTION</a:t>
            </a:r>
          </a:p>
        </p:txBody>
      </p:sp>
      <p:cxnSp>
        <p:nvCxnSpPr>
          <p:cNvPr id="363529" name="Straight Connector 86"/>
          <p:cNvCxnSpPr>
            <a:cxnSpLocks noChangeShapeType="1"/>
          </p:cNvCxnSpPr>
          <p:nvPr/>
        </p:nvCxnSpPr>
        <p:spPr bwMode="auto">
          <a:xfrm>
            <a:off x="2438400" y="3310465"/>
            <a:ext cx="41148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363530" name="Line 10"/>
          <p:cNvSpPr>
            <a:spLocks noChangeShapeType="1"/>
          </p:cNvSpPr>
          <p:nvPr/>
        </p:nvSpPr>
        <p:spPr bwMode="auto">
          <a:xfrm flipV="1">
            <a:off x="2438400" y="1371600"/>
            <a:ext cx="0" cy="39227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latin typeface="Century Gothic"/>
              <a:cs typeface="Century Gothic"/>
            </a:endParaRPr>
          </a:p>
        </p:txBody>
      </p:sp>
      <p:sp>
        <p:nvSpPr>
          <p:cNvPr id="363531" name="Line 11"/>
          <p:cNvSpPr>
            <a:spLocks noChangeShapeType="1"/>
          </p:cNvSpPr>
          <p:nvPr/>
        </p:nvSpPr>
        <p:spPr bwMode="auto">
          <a:xfrm flipH="1">
            <a:off x="2438400" y="5300663"/>
            <a:ext cx="51006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latin typeface="Century Gothic"/>
              <a:cs typeface="Century Gothic"/>
            </a:endParaRPr>
          </a:p>
        </p:txBody>
      </p:sp>
      <p:cxnSp>
        <p:nvCxnSpPr>
          <p:cNvPr id="363532" name="Straight Connector 86"/>
          <p:cNvCxnSpPr>
            <a:cxnSpLocks noChangeShapeType="1"/>
          </p:cNvCxnSpPr>
          <p:nvPr/>
        </p:nvCxnSpPr>
        <p:spPr bwMode="auto">
          <a:xfrm>
            <a:off x="2438400" y="3657600"/>
            <a:ext cx="24384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3" name="Straight Connector 86"/>
          <p:cNvCxnSpPr>
            <a:cxnSpLocks noChangeShapeType="1"/>
          </p:cNvCxnSpPr>
          <p:nvPr/>
        </p:nvCxnSpPr>
        <p:spPr bwMode="auto">
          <a:xfrm>
            <a:off x="2438400" y="4267200"/>
            <a:ext cx="10668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6" name="Straight Connector 86"/>
          <p:cNvCxnSpPr>
            <a:cxnSpLocks noChangeShapeType="1"/>
          </p:cNvCxnSpPr>
          <p:nvPr/>
        </p:nvCxnSpPr>
        <p:spPr bwMode="auto">
          <a:xfrm>
            <a:off x="3505200" y="4267200"/>
            <a:ext cx="0" cy="10668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7" name="Straight Connector 86"/>
          <p:cNvCxnSpPr>
            <a:cxnSpLocks noChangeShapeType="1"/>
          </p:cNvCxnSpPr>
          <p:nvPr/>
        </p:nvCxnSpPr>
        <p:spPr bwMode="auto">
          <a:xfrm>
            <a:off x="4876800" y="3657600"/>
            <a:ext cx="0" cy="16002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8" name="Straight Connector 86"/>
          <p:cNvCxnSpPr>
            <a:cxnSpLocks noChangeShapeType="1"/>
          </p:cNvCxnSpPr>
          <p:nvPr/>
        </p:nvCxnSpPr>
        <p:spPr bwMode="auto">
          <a:xfrm>
            <a:off x="6553200" y="3352800"/>
            <a:ext cx="0" cy="19812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363539" name="Rectangle 19"/>
          <p:cNvSpPr>
            <a:spLocks noChangeArrowheads="1"/>
          </p:cNvSpPr>
          <p:nvPr/>
        </p:nvSpPr>
        <p:spPr bwMode="auto">
          <a:xfrm>
            <a:off x="1600200" y="3124200"/>
            <a:ext cx="762000"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r">
              <a:lnSpc>
                <a:spcPct val="100000"/>
              </a:lnSpc>
              <a:spcBef>
                <a:spcPct val="0"/>
              </a:spcBef>
            </a:pPr>
            <a:r>
              <a:rPr lang="en-US" sz="1600" dirty="0">
                <a:latin typeface="Century Gothic"/>
                <a:cs typeface="Century Gothic"/>
              </a:rPr>
              <a:t>$60,000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50,000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30,000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2000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0</a:t>
            </a:r>
          </a:p>
          <a:p>
            <a:pPr marL="1588" indent="-1588" algn="r"/>
            <a:endParaRPr lang="en-US" sz="1600" dirty="0">
              <a:latin typeface="Century Gothic"/>
              <a:cs typeface="Century Gothic"/>
            </a:endParaRPr>
          </a:p>
        </p:txBody>
      </p:sp>
      <p:sp>
        <p:nvSpPr>
          <p:cNvPr id="363540" name="Rectangle 20"/>
          <p:cNvSpPr>
            <a:spLocks noChangeArrowheads="1"/>
          </p:cNvSpPr>
          <p:nvPr/>
        </p:nvSpPr>
        <p:spPr bwMode="auto">
          <a:xfrm>
            <a:off x="1295400" y="1219200"/>
            <a:ext cx="10668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ctr">
              <a:spcBef>
                <a:spcPct val="0"/>
              </a:spcBef>
            </a:pPr>
            <a:r>
              <a:rPr lang="en-US" sz="1600" dirty="0">
                <a:solidFill>
                  <a:srgbClr val="000000"/>
                </a:solidFill>
                <a:latin typeface="Century Gothic"/>
                <a:cs typeface="Century Gothic"/>
              </a:rPr>
              <a:t>Real GDP per worker</a:t>
            </a:r>
            <a:endParaRPr lang="en-US" sz="1600" dirty="0">
              <a:latin typeface="Century Gothic"/>
              <a:cs typeface="Century Gothic"/>
            </a:endParaRPr>
          </a:p>
        </p:txBody>
      </p:sp>
      <p:sp>
        <p:nvSpPr>
          <p:cNvPr id="363541" name="Rectangle 21"/>
          <p:cNvSpPr>
            <a:spLocks noChangeArrowheads="1"/>
          </p:cNvSpPr>
          <p:nvPr/>
        </p:nvSpPr>
        <p:spPr bwMode="auto">
          <a:xfrm>
            <a:off x="3200400" y="5334000"/>
            <a:ext cx="5105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dirty="0">
                <a:latin typeface="Century Gothic"/>
                <a:cs typeface="Century Gothic"/>
              </a:rPr>
              <a:t>$20,000                 50,000                             80,000</a:t>
            </a:r>
          </a:p>
        </p:txBody>
      </p:sp>
      <p:sp>
        <p:nvSpPr>
          <p:cNvPr id="363542" name="Rectangle 22"/>
          <p:cNvSpPr>
            <a:spLocks noChangeArrowheads="1"/>
          </p:cNvSpPr>
          <p:nvPr/>
        </p:nvSpPr>
        <p:spPr bwMode="auto">
          <a:xfrm>
            <a:off x="6629400" y="5562600"/>
            <a:ext cx="187483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588" indent="-1588">
              <a:spcBef>
                <a:spcPct val="0"/>
              </a:spcBef>
            </a:pPr>
            <a:r>
              <a:rPr lang="en-US" sz="1600" dirty="0">
                <a:solidFill>
                  <a:srgbClr val="000000"/>
                </a:solidFill>
                <a:latin typeface="Century Gothic"/>
                <a:cs typeface="Century Gothic"/>
              </a:rPr>
              <a:t>Physical capital per worker (2000 dollars)</a:t>
            </a:r>
            <a:endParaRPr lang="en-US" sz="1600" dirty="0">
              <a:latin typeface="Century Gothic"/>
              <a:cs typeface="Century Gothic"/>
            </a:endParaRPr>
          </a:p>
        </p:txBody>
      </p:sp>
      <p:grpSp>
        <p:nvGrpSpPr>
          <p:cNvPr id="363546" name="Group 26"/>
          <p:cNvGrpSpPr>
            <a:grpSpLocks/>
          </p:cNvGrpSpPr>
          <p:nvPr/>
        </p:nvGrpSpPr>
        <p:grpSpPr bwMode="auto">
          <a:xfrm>
            <a:off x="-1" y="3200401"/>
            <a:ext cx="1628775" cy="1032931"/>
            <a:chOff x="2718" y="1105"/>
            <a:chExt cx="1026" cy="480"/>
          </a:xfrm>
        </p:grpSpPr>
        <p:sp>
          <p:nvSpPr>
            <p:cNvPr id="363543" name="Freeform 123"/>
            <p:cNvSpPr>
              <a:spLocks/>
            </p:cNvSpPr>
            <p:nvPr/>
          </p:nvSpPr>
          <p:spPr bwMode="auto">
            <a:xfrm>
              <a:off x="2718" y="1105"/>
              <a:ext cx="1026" cy="480"/>
            </a:xfrm>
            <a:custGeom>
              <a:avLst/>
              <a:gdLst>
                <a:gd name="T0" fmla="*/ 267 w 267"/>
                <a:gd name="T1" fmla="*/ 82 h 98"/>
                <a:gd name="T2" fmla="*/ 251 w 267"/>
                <a:gd name="T3" fmla="*/ 98 h 98"/>
                <a:gd name="T4" fmla="*/ 16 w 267"/>
                <a:gd name="T5" fmla="*/ 98 h 98"/>
                <a:gd name="T6" fmla="*/ 0 w 267"/>
                <a:gd name="T7" fmla="*/ 82 h 98"/>
                <a:gd name="T8" fmla="*/ 0 w 267"/>
                <a:gd name="T9" fmla="*/ 16 h 98"/>
                <a:gd name="T10" fmla="*/ 16 w 267"/>
                <a:gd name="T11" fmla="*/ 0 h 98"/>
                <a:gd name="T12" fmla="*/ 251 w 267"/>
                <a:gd name="T13" fmla="*/ 0 h 98"/>
                <a:gd name="T14" fmla="*/ 267 w 267"/>
                <a:gd name="T15" fmla="*/ 16 h 98"/>
                <a:gd name="T16" fmla="*/ 267 w 267"/>
                <a:gd name="T17" fmla="*/ 82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7"/>
                <a:gd name="T28" fmla="*/ 0 h 98"/>
                <a:gd name="T29" fmla="*/ 267 w 267"/>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7" h="98">
                  <a:moveTo>
                    <a:pt x="267" y="82"/>
                  </a:moveTo>
                  <a:cubicBezTo>
                    <a:pt x="267" y="90"/>
                    <a:pt x="259" y="98"/>
                    <a:pt x="251" y="98"/>
                  </a:cubicBezTo>
                  <a:cubicBezTo>
                    <a:pt x="16" y="98"/>
                    <a:pt x="16" y="98"/>
                    <a:pt x="16" y="98"/>
                  </a:cubicBezTo>
                  <a:cubicBezTo>
                    <a:pt x="7" y="98"/>
                    <a:pt x="0" y="90"/>
                    <a:pt x="0" y="82"/>
                  </a:cubicBezTo>
                  <a:cubicBezTo>
                    <a:pt x="0" y="16"/>
                    <a:pt x="0" y="16"/>
                    <a:pt x="0" y="16"/>
                  </a:cubicBezTo>
                  <a:cubicBezTo>
                    <a:pt x="0" y="8"/>
                    <a:pt x="7" y="0"/>
                    <a:pt x="16" y="0"/>
                  </a:cubicBezTo>
                  <a:cubicBezTo>
                    <a:pt x="251" y="0"/>
                    <a:pt x="251" y="0"/>
                    <a:pt x="251" y="0"/>
                  </a:cubicBezTo>
                  <a:cubicBezTo>
                    <a:pt x="259" y="0"/>
                    <a:pt x="267" y="8"/>
                    <a:pt x="267" y="16"/>
                  </a:cubicBezTo>
                  <a:lnTo>
                    <a:pt x="267" y="82"/>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aseline="-25000" dirty="0">
                <a:latin typeface="Century Gothic"/>
                <a:ea typeface="MS PGothic" pitchFamily="34" charset="-128"/>
                <a:cs typeface="Century Gothic"/>
              </a:endParaRPr>
            </a:p>
          </p:txBody>
        </p:sp>
        <p:sp>
          <p:nvSpPr>
            <p:cNvPr id="363544" name="Rectangle 124"/>
            <p:cNvSpPr>
              <a:spLocks noChangeArrowheads="1"/>
            </p:cNvSpPr>
            <p:nvPr/>
          </p:nvSpPr>
          <p:spPr bwMode="auto">
            <a:xfrm>
              <a:off x="2784" y="1152"/>
              <a:ext cx="960" cy="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i="1" dirty="0">
                  <a:latin typeface="Century Gothic"/>
                  <a:cs typeface="Century Gothic"/>
                </a:rPr>
                <a:t>1.  The increase in real GDP per worker becomes smaller . . .</a:t>
              </a:r>
            </a:p>
          </p:txBody>
        </p:sp>
      </p:grpSp>
      <p:sp>
        <p:nvSpPr>
          <p:cNvPr id="363547" name="Line 27"/>
          <p:cNvSpPr>
            <a:spLocks noChangeShapeType="1"/>
          </p:cNvSpPr>
          <p:nvPr/>
        </p:nvSpPr>
        <p:spPr bwMode="auto">
          <a:xfrm flipV="1">
            <a:off x="2133600" y="3352800"/>
            <a:ext cx="0" cy="2286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sp>
        <p:nvSpPr>
          <p:cNvPr id="363548" name="Line 28"/>
          <p:cNvSpPr>
            <a:spLocks noChangeShapeType="1"/>
          </p:cNvSpPr>
          <p:nvPr/>
        </p:nvSpPr>
        <p:spPr bwMode="auto">
          <a:xfrm flipV="1">
            <a:off x="2133600" y="3810000"/>
            <a:ext cx="0" cy="3048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sp>
        <p:nvSpPr>
          <p:cNvPr id="363549" name="Line 29"/>
          <p:cNvSpPr>
            <a:spLocks noChangeShapeType="1"/>
          </p:cNvSpPr>
          <p:nvPr/>
        </p:nvSpPr>
        <p:spPr bwMode="auto">
          <a:xfrm rot="5400000" flipH="1" flipV="1">
            <a:off x="4267200" y="5257800"/>
            <a:ext cx="0" cy="4572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sp>
        <p:nvSpPr>
          <p:cNvPr id="363550" name="Line 30"/>
          <p:cNvSpPr>
            <a:spLocks noChangeShapeType="1"/>
          </p:cNvSpPr>
          <p:nvPr/>
        </p:nvSpPr>
        <p:spPr bwMode="auto">
          <a:xfrm rot="5400000" flipH="1" flipV="1">
            <a:off x="6061364" y="5105400"/>
            <a:ext cx="0" cy="762000"/>
          </a:xfrm>
          <a:prstGeom prst="line">
            <a:avLst/>
          </a:prstGeom>
          <a:noFill/>
          <a:ln w="254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grpSp>
        <p:nvGrpSpPr>
          <p:cNvPr id="363551" name="Group 31"/>
          <p:cNvGrpSpPr>
            <a:grpSpLocks/>
          </p:cNvGrpSpPr>
          <p:nvPr/>
        </p:nvGrpSpPr>
        <p:grpSpPr bwMode="auto">
          <a:xfrm>
            <a:off x="4038600" y="5715000"/>
            <a:ext cx="1700213" cy="762000"/>
            <a:chOff x="2718" y="1105"/>
            <a:chExt cx="1071" cy="383"/>
          </a:xfrm>
        </p:grpSpPr>
        <p:sp>
          <p:nvSpPr>
            <p:cNvPr id="363552" name="Freeform 123"/>
            <p:cNvSpPr>
              <a:spLocks/>
            </p:cNvSpPr>
            <p:nvPr/>
          </p:nvSpPr>
          <p:spPr bwMode="auto">
            <a:xfrm>
              <a:off x="2718" y="1105"/>
              <a:ext cx="1071" cy="383"/>
            </a:xfrm>
            <a:custGeom>
              <a:avLst/>
              <a:gdLst>
                <a:gd name="T0" fmla="*/ 267 w 267"/>
                <a:gd name="T1" fmla="*/ 82 h 98"/>
                <a:gd name="T2" fmla="*/ 251 w 267"/>
                <a:gd name="T3" fmla="*/ 98 h 98"/>
                <a:gd name="T4" fmla="*/ 16 w 267"/>
                <a:gd name="T5" fmla="*/ 98 h 98"/>
                <a:gd name="T6" fmla="*/ 0 w 267"/>
                <a:gd name="T7" fmla="*/ 82 h 98"/>
                <a:gd name="T8" fmla="*/ 0 w 267"/>
                <a:gd name="T9" fmla="*/ 16 h 98"/>
                <a:gd name="T10" fmla="*/ 16 w 267"/>
                <a:gd name="T11" fmla="*/ 0 h 98"/>
                <a:gd name="T12" fmla="*/ 251 w 267"/>
                <a:gd name="T13" fmla="*/ 0 h 98"/>
                <a:gd name="T14" fmla="*/ 267 w 267"/>
                <a:gd name="T15" fmla="*/ 16 h 98"/>
                <a:gd name="T16" fmla="*/ 267 w 267"/>
                <a:gd name="T17" fmla="*/ 82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7"/>
                <a:gd name="T28" fmla="*/ 0 h 98"/>
                <a:gd name="T29" fmla="*/ 267 w 267"/>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7" h="98">
                  <a:moveTo>
                    <a:pt x="267" y="82"/>
                  </a:moveTo>
                  <a:cubicBezTo>
                    <a:pt x="267" y="90"/>
                    <a:pt x="259" y="98"/>
                    <a:pt x="251" y="98"/>
                  </a:cubicBezTo>
                  <a:cubicBezTo>
                    <a:pt x="16" y="98"/>
                    <a:pt x="16" y="98"/>
                    <a:pt x="16" y="98"/>
                  </a:cubicBezTo>
                  <a:cubicBezTo>
                    <a:pt x="7" y="98"/>
                    <a:pt x="0" y="90"/>
                    <a:pt x="0" y="82"/>
                  </a:cubicBezTo>
                  <a:cubicBezTo>
                    <a:pt x="0" y="16"/>
                    <a:pt x="0" y="16"/>
                    <a:pt x="0" y="16"/>
                  </a:cubicBezTo>
                  <a:cubicBezTo>
                    <a:pt x="0" y="8"/>
                    <a:pt x="7" y="0"/>
                    <a:pt x="16" y="0"/>
                  </a:cubicBezTo>
                  <a:cubicBezTo>
                    <a:pt x="251" y="0"/>
                    <a:pt x="251" y="0"/>
                    <a:pt x="251" y="0"/>
                  </a:cubicBezTo>
                  <a:cubicBezTo>
                    <a:pt x="259" y="0"/>
                    <a:pt x="267" y="8"/>
                    <a:pt x="267" y="16"/>
                  </a:cubicBezTo>
                  <a:lnTo>
                    <a:pt x="267" y="82"/>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aseline="-25000" dirty="0">
                <a:latin typeface="Century Gothic"/>
                <a:ea typeface="MS PGothic" pitchFamily="34" charset="-128"/>
                <a:cs typeface="Century Gothic"/>
              </a:endParaRPr>
            </a:p>
          </p:txBody>
        </p:sp>
        <p:sp>
          <p:nvSpPr>
            <p:cNvPr id="363553" name="Rectangle 124"/>
            <p:cNvSpPr>
              <a:spLocks noChangeArrowheads="1"/>
            </p:cNvSpPr>
            <p:nvPr/>
          </p:nvSpPr>
          <p:spPr bwMode="auto">
            <a:xfrm>
              <a:off x="2784" y="1152"/>
              <a:ext cx="960"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i="1" dirty="0">
                  <a:latin typeface="Century Gothic"/>
                  <a:cs typeface="Century Gothic"/>
                </a:rPr>
                <a:t>2. as physical capital per worker rises…</a:t>
              </a:r>
            </a:p>
          </p:txBody>
        </p:sp>
      </p:grpSp>
      <p:sp>
        <p:nvSpPr>
          <p:cNvPr id="363554" name="Rectangle 34"/>
          <p:cNvSpPr>
            <a:spLocks noChangeArrowheads="1"/>
          </p:cNvSpPr>
          <p:nvPr/>
        </p:nvSpPr>
        <p:spPr bwMode="auto">
          <a:xfrm>
            <a:off x="3581400" y="4343400"/>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A</a:t>
            </a:r>
          </a:p>
        </p:txBody>
      </p:sp>
      <p:sp>
        <p:nvSpPr>
          <p:cNvPr id="363555" name="Rectangle 35"/>
          <p:cNvSpPr>
            <a:spLocks noChangeArrowheads="1"/>
          </p:cNvSpPr>
          <p:nvPr/>
        </p:nvSpPr>
        <p:spPr bwMode="auto">
          <a:xfrm>
            <a:off x="4953000" y="3733800"/>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B</a:t>
            </a:r>
          </a:p>
        </p:txBody>
      </p:sp>
      <p:sp>
        <p:nvSpPr>
          <p:cNvPr id="363556" name="Rectangle 36"/>
          <p:cNvSpPr>
            <a:spLocks noChangeArrowheads="1"/>
          </p:cNvSpPr>
          <p:nvPr/>
        </p:nvSpPr>
        <p:spPr bwMode="auto">
          <a:xfrm>
            <a:off x="6629400" y="3429000"/>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C</a:t>
            </a:r>
          </a:p>
        </p:txBody>
      </p:sp>
      <p:sp>
        <p:nvSpPr>
          <p:cNvPr id="363557" name="Oval 37"/>
          <p:cNvSpPr>
            <a:spLocks noChangeArrowheads="1"/>
          </p:cNvSpPr>
          <p:nvPr/>
        </p:nvSpPr>
        <p:spPr bwMode="auto">
          <a:xfrm>
            <a:off x="3454401" y="4233332"/>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63558" name="Oval 38"/>
          <p:cNvSpPr>
            <a:spLocks noChangeArrowheads="1"/>
          </p:cNvSpPr>
          <p:nvPr/>
        </p:nvSpPr>
        <p:spPr bwMode="auto">
          <a:xfrm>
            <a:off x="6502401" y="3268133"/>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63559" name="Oval 39"/>
          <p:cNvSpPr>
            <a:spLocks noChangeArrowheads="1"/>
          </p:cNvSpPr>
          <p:nvPr/>
        </p:nvSpPr>
        <p:spPr bwMode="auto">
          <a:xfrm>
            <a:off x="4826001" y="3606801"/>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Tree>
    <p:extLst>
      <p:ext uri="{BB962C8B-B14F-4D97-AF65-F5344CB8AC3E}">
        <p14:creationId xmlns:p14="http://schemas.microsoft.com/office/powerpoint/2010/main" val="33138578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63548"/>
                                        </p:tgtEl>
                                        <p:attrNameLst>
                                          <p:attrName>style.visibility</p:attrName>
                                        </p:attrNameLst>
                                      </p:cBhvr>
                                      <p:to>
                                        <p:strVal val="visible"/>
                                      </p:to>
                                    </p:set>
                                    <p:animEffect transition="in" filter="wipe(down)">
                                      <p:cBhvr>
                                        <p:cTn id="11" dur="500"/>
                                        <p:tgtEl>
                                          <p:spTgt spid="363548"/>
                                        </p:tgtEl>
                                      </p:cBhvr>
                                    </p:animEffect>
                                  </p:childTnLst>
                                </p:cTn>
                              </p:par>
                            </p:childTnLst>
                          </p:cTn>
                        </p:par>
                        <p:par>
                          <p:cTn id="12" fill="hold" nodeType="afterGroup">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363547"/>
                                        </p:tgtEl>
                                        <p:attrNameLst>
                                          <p:attrName>style.visibility</p:attrName>
                                        </p:attrNameLst>
                                      </p:cBhvr>
                                      <p:to>
                                        <p:strVal val="visible"/>
                                      </p:to>
                                    </p:set>
                                    <p:animEffect transition="in" filter="wipe(down)">
                                      <p:cBhvr>
                                        <p:cTn id="15" dur="500"/>
                                        <p:tgtEl>
                                          <p:spTgt spid="363547"/>
                                        </p:tgtEl>
                                      </p:cBhvr>
                                    </p:animEffect>
                                  </p:childTnLst>
                                </p:cTn>
                              </p:par>
                            </p:childTnLst>
                          </p:cTn>
                        </p:par>
                        <p:par>
                          <p:cTn id="16" fill="hold" nodeType="withGroup">
                            <p:stCondLst>
                              <p:cond delay="1500"/>
                            </p:stCondLst>
                            <p:childTnLst>
                              <p:par>
                                <p:cTn id="17" presetID="10" presetClass="entr" presetSubtype="0" fill="hold" nodeType="afterEffect">
                                  <p:stCondLst>
                                    <p:cond delay="0"/>
                                  </p:stCondLst>
                                  <p:childTnLst>
                                    <p:set>
                                      <p:cBhvr>
                                        <p:cTn id="18" dur="1" fill="hold">
                                          <p:stCondLst>
                                            <p:cond delay="0"/>
                                          </p:stCondLst>
                                        </p:cTn>
                                        <p:tgtEl>
                                          <p:spTgt spid="363546"/>
                                        </p:tgtEl>
                                        <p:attrNameLst>
                                          <p:attrName>style.visibility</p:attrName>
                                        </p:attrNameLst>
                                      </p:cBhvr>
                                      <p:to>
                                        <p:strVal val="visible"/>
                                      </p:to>
                                    </p:set>
                                    <p:animEffect transition="in" filter="fade">
                                      <p:cBhvr>
                                        <p:cTn id="19" dur="500"/>
                                        <p:tgtEl>
                                          <p:spTgt spid="363546"/>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63549"/>
                                        </p:tgtEl>
                                        <p:attrNameLst>
                                          <p:attrName>style.visibility</p:attrName>
                                        </p:attrNameLst>
                                      </p:cBhvr>
                                      <p:to>
                                        <p:strVal val="visible"/>
                                      </p:to>
                                    </p:set>
                                    <p:animEffect transition="in" filter="wipe(left)">
                                      <p:cBhvr>
                                        <p:cTn id="23" dur="500"/>
                                        <p:tgtEl>
                                          <p:spTgt spid="363549"/>
                                        </p:tgtEl>
                                      </p:cBhvr>
                                    </p:animEffect>
                                  </p:childTnLst>
                                </p:cTn>
                              </p:par>
                            </p:childTnLst>
                          </p:cTn>
                        </p:par>
                        <p:par>
                          <p:cTn id="24" fill="hold" nodeType="afterGroup">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363550"/>
                                        </p:tgtEl>
                                        <p:attrNameLst>
                                          <p:attrName>style.visibility</p:attrName>
                                        </p:attrNameLst>
                                      </p:cBhvr>
                                      <p:to>
                                        <p:strVal val="visible"/>
                                      </p:to>
                                    </p:set>
                                    <p:animEffect transition="in" filter="wipe(left)">
                                      <p:cBhvr>
                                        <p:cTn id="27" dur="500"/>
                                        <p:tgtEl>
                                          <p:spTgt spid="363550"/>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63551"/>
                                        </p:tgtEl>
                                        <p:attrNameLst>
                                          <p:attrName>style.visibility</p:attrName>
                                        </p:attrNameLst>
                                      </p:cBhvr>
                                      <p:to>
                                        <p:strVal val="visible"/>
                                      </p:to>
                                    </p:set>
                                    <p:animEffect transition="in" filter="fade">
                                      <p:cBhvr>
                                        <p:cTn id="31" dur="500"/>
                                        <p:tgtEl>
                                          <p:spTgt spid="363551"/>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63533"/>
                                        </p:tgtEl>
                                        <p:attrNameLst>
                                          <p:attrName>style.visibility</p:attrName>
                                        </p:attrNameLst>
                                      </p:cBhvr>
                                      <p:to>
                                        <p:strVal val="visible"/>
                                      </p:to>
                                    </p:set>
                                    <p:animEffect transition="in" filter="fade">
                                      <p:cBhvr>
                                        <p:cTn id="35" dur="500"/>
                                        <p:tgtEl>
                                          <p:spTgt spid="363533"/>
                                        </p:tgtEl>
                                      </p:cBhvr>
                                    </p:animEffect>
                                  </p:childTnLst>
                                </p:cTn>
                              </p:par>
                              <p:par>
                                <p:cTn id="36" presetID="10" presetClass="entr" presetSubtype="0" fill="hold" nodeType="withEffect">
                                  <p:stCondLst>
                                    <p:cond delay="0"/>
                                  </p:stCondLst>
                                  <p:childTnLst>
                                    <p:set>
                                      <p:cBhvr>
                                        <p:cTn id="37" dur="1" fill="hold">
                                          <p:stCondLst>
                                            <p:cond delay="0"/>
                                          </p:stCondLst>
                                        </p:cTn>
                                        <p:tgtEl>
                                          <p:spTgt spid="363536"/>
                                        </p:tgtEl>
                                        <p:attrNameLst>
                                          <p:attrName>style.visibility</p:attrName>
                                        </p:attrNameLst>
                                      </p:cBhvr>
                                      <p:to>
                                        <p:strVal val="visible"/>
                                      </p:to>
                                    </p:set>
                                    <p:animEffect transition="in" filter="fade">
                                      <p:cBhvr>
                                        <p:cTn id="38" dur="500"/>
                                        <p:tgtEl>
                                          <p:spTgt spid="36353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63554"/>
                                        </p:tgtEl>
                                        <p:attrNameLst>
                                          <p:attrName>style.visibility</p:attrName>
                                        </p:attrNameLst>
                                      </p:cBhvr>
                                      <p:to>
                                        <p:strVal val="visible"/>
                                      </p:to>
                                    </p:set>
                                    <p:animEffect transition="in" filter="fade">
                                      <p:cBhvr>
                                        <p:cTn id="41" dur="500"/>
                                        <p:tgtEl>
                                          <p:spTgt spid="36355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3557"/>
                                        </p:tgtEl>
                                        <p:attrNameLst>
                                          <p:attrName>style.visibility</p:attrName>
                                        </p:attrNameLst>
                                      </p:cBhvr>
                                      <p:to>
                                        <p:strVal val="visible"/>
                                      </p:to>
                                    </p:set>
                                    <p:animEffect transition="in" filter="fade">
                                      <p:cBhvr>
                                        <p:cTn id="44" dur="500"/>
                                        <p:tgtEl>
                                          <p:spTgt spid="363557"/>
                                        </p:tgtEl>
                                      </p:cBhvr>
                                    </p:animEffect>
                                  </p:childTnLst>
                                </p:cTn>
                              </p:par>
                            </p:childTnLst>
                          </p:cTn>
                        </p:par>
                        <p:par>
                          <p:cTn id="45" fill="hold">
                            <p:stCondLst>
                              <p:cond delay="4000"/>
                            </p:stCondLst>
                            <p:childTnLst>
                              <p:par>
                                <p:cTn id="46" presetID="10" presetClass="entr" presetSubtype="0" fill="hold" nodeType="afterEffect">
                                  <p:stCondLst>
                                    <p:cond delay="0"/>
                                  </p:stCondLst>
                                  <p:childTnLst>
                                    <p:set>
                                      <p:cBhvr>
                                        <p:cTn id="47" dur="1" fill="hold">
                                          <p:stCondLst>
                                            <p:cond delay="0"/>
                                          </p:stCondLst>
                                        </p:cTn>
                                        <p:tgtEl>
                                          <p:spTgt spid="363532"/>
                                        </p:tgtEl>
                                        <p:attrNameLst>
                                          <p:attrName>style.visibility</p:attrName>
                                        </p:attrNameLst>
                                      </p:cBhvr>
                                      <p:to>
                                        <p:strVal val="visible"/>
                                      </p:to>
                                    </p:set>
                                    <p:animEffect transition="in" filter="fade">
                                      <p:cBhvr>
                                        <p:cTn id="48" dur="500"/>
                                        <p:tgtEl>
                                          <p:spTgt spid="3635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3559"/>
                                        </p:tgtEl>
                                        <p:attrNameLst>
                                          <p:attrName>style.visibility</p:attrName>
                                        </p:attrNameLst>
                                      </p:cBhvr>
                                      <p:to>
                                        <p:strVal val="visible"/>
                                      </p:to>
                                    </p:set>
                                    <p:animEffect transition="in" filter="fade">
                                      <p:cBhvr>
                                        <p:cTn id="51" dur="500"/>
                                        <p:tgtEl>
                                          <p:spTgt spid="363559"/>
                                        </p:tgtEl>
                                      </p:cBhvr>
                                    </p:animEffect>
                                  </p:childTnLst>
                                </p:cTn>
                              </p:par>
                              <p:par>
                                <p:cTn id="52" presetID="10" presetClass="entr" presetSubtype="0" fill="hold" nodeType="withEffect">
                                  <p:stCondLst>
                                    <p:cond delay="0"/>
                                  </p:stCondLst>
                                  <p:childTnLst>
                                    <p:set>
                                      <p:cBhvr>
                                        <p:cTn id="53" dur="1" fill="hold">
                                          <p:stCondLst>
                                            <p:cond delay="0"/>
                                          </p:stCondLst>
                                        </p:cTn>
                                        <p:tgtEl>
                                          <p:spTgt spid="363537"/>
                                        </p:tgtEl>
                                        <p:attrNameLst>
                                          <p:attrName>style.visibility</p:attrName>
                                        </p:attrNameLst>
                                      </p:cBhvr>
                                      <p:to>
                                        <p:strVal val="visible"/>
                                      </p:to>
                                    </p:set>
                                    <p:animEffect transition="in" filter="fade">
                                      <p:cBhvr>
                                        <p:cTn id="54" dur="500"/>
                                        <p:tgtEl>
                                          <p:spTgt spid="3635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63555"/>
                                        </p:tgtEl>
                                        <p:attrNameLst>
                                          <p:attrName>style.visibility</p:attrName>
                                        </p:attrNameLst>
                                      </p:cBhvr>
                                      <p:to>
                                        <p:strVal val="visible"/>
                                      </p:to>
                                    </p:set>
                                    <p:animEffect transition="in" filter="fade">
                                      <p:cBhvr>
                                        <p:cTn id="57" dur="500"/>
                                        <p:tgtEl>
                                          <p:spTgt spid="363555"/>
                                        </p:tgtEl>
                                      </p:cBhvr>
                                    </p:animEffect>
                                  </p:childTnLst>
                                </p:cTn>
                              </p:par>
                            </p:childTnLst>
                          </p:cTn>
                        </p:par>
                        <p:par>
                          <p:cTn id="58" fill="hold">
                            <p:stCondLst>
                              <p:cond delay="4500"/>
                            </p:stCondLst>
                            <p:childTnLst>
                              <p:par>
                                <p:cTn id="59" presetID="10" presetClass="entr" presetSubtype="0" fill="hold" nodeType="afterEffect">
                                  <p:stCondLst>
                                    <p:cond delay="0"/>
                                  </p:stCondLst>
                                  <p:childTnLst>
                                    <p:set>
                                      <p:cBhvr>
                                        <p:cTn id="60" dur="1" fill="hold">
                                          <p:stCondLst>
                                            <p:cond delay="0"/>
                                          </p:stCondLst>
                                        </p:cTn>
                                        <p:tgtEl>
                                          <p:spTgt spid="363529"/>
                                        </p:tgtEl>
                                        <p:attrNameLst>
                                          <p:attrName>style.visibility</p:attrName>
                                        </p:attrNameLst>
                                      </p:cBhvr>
                                      <p:to>
                                        <p:strVal val="visible"/>
                                      </p:to>
                                    </p:set>
                                    <p:animEffect transition="in" filter="fade">
                                      <p:cBhvr>
                                        <p:cTn id="61" dur="500"/>
                                        <p:tgtEl>
                                          <p:spTgt spid="3635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63558"/>
                                        </p:tgtEl>
                                        <p:attrNameLst>
                                          <p:attrName>style.visibility</p:attrName>
                                        </p:attrNameLst>
                                      </p:cBhvr>
                                      <p:to>
                                        <p:strVal val="visible"/>
                                      </p:to>
                                    </p:set>
                                    <p:animEffect transition="in" filter="fade">
                                      <p:cBhvr>
                                        <p:cTn id="64" dur="500"/>
                                        <p:tgtEl>
                                          <p:spTgt spid="363558"/>
                                        </p:tgtEl>
                                      </p:cBhvr>
                                    </p:animEffect>
                                  </p:childTnLst>
                                </p:cTn>
                              </p:par>
                              <p:par>
                                <p:cTn id="65" presetID="10" presetClass="entr" presetSubtype="0" fill="hold" nodeType="withEffect">
                                  <p:stCondLst>
                                    <p:cond delay="0"/>
                                  </p:stCondLst>
                                  <p:childTnLst>
                                    <p:set>
                                      <p:cBhvr>
                                        <p:cTn id="66" dur="1" fill="hold">
                                          <p:stCondLst>
                                            <p:cond delay="0"/>
                                          </p:stCondLst>
                                        </p:cTn>
                                        <p:tgtEl>
                                          <p:spTgt spid="363538"/>
                                        </p:tgtEl>
                                        <p:attrNameLst>
                                          <p:attrName>style.visibility</p:attrName>
                                        </p:attrNameLst>
                                      </p:cBhvr>
                                      <p:to>
                                        <p:strVal val="visible"/>
                                      </p:to>
                                    </p:set>
                                    <p:animEffect transition="in" filter="fade">
                                      <p:cBhvr>
                                        <p:cTn id="67" dur="500"/>
                                        <p:tgtEl>
                                          <p:spTgt spid="36353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63556"/>
                                        </p:tgtEl>
                                        <p:attrNameLst>
                                          <p:attrName>style.visibility</p:attrName>
                                        </p:attrNameLst>
                                      </p:cBhvr>
                                      <p:to>
                                        <p:strVal val="visible"/>
                                      </p:to>
                                    </p:set>
                                    <p:animEffect transition="in" filter="fade">
                                      <p:cBhvr>
                                        <p:cTn id="70" dur="500"/>
                                        <p:tgtEl>
                                          <p:spTgt spid="363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3547" grpId="0" animBg="1"/>
      <p:bldP spid="363548" grpId="0" animBg="1"/>
      <p:bldP spid="363549" grpId="0" animBg="1"/>
      <p:bldP spid="363550" grpId="0" animBg="1"/>
      <p:bldP spid="363554" grpId="0"/>
      <p:bldP spid="363555" grpId="0"/>
      <p:bldP spid="363556" grpId="0"/>
      <p:bldP spid="363557" grpId="0" animBg="1"/>
      <p:bldP spid="363558" grpId="0" animBg="1"/>
      <p:bldP spid="36355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197725" y="4595199"/>
            <a:ext cx="1946275" cy="2262801"/>
          </a:xfrm>
          <a:prstGeom prst="rect">
            <a:avLst/>
          </a:prstGeom>
        </p:spPr>
      </p:pic>
      <p:sp>
        <p:nvSpPr>
          <p:cNvPr id="2" name="Title 1"/>
          <p:cNvSpPr>
            <a:spLocks noGrp="1"/>
          </p:cNvSpPr>
          <p:nvPr>
            <p:ph type="title"/>
          </p:nvPr>
        </p:nvSpPr>
        <p:spPr/>
        <p:txBody>
          <a:bodyPr>
            <a:normAutofit fontScale="90000"/>
          </a:bodyPr>
          <a:lstStyle/>
          <a:p>
            <a:r>
              <a:rPr lang="en-US" dirty="0"/>
              <a:t>TECHNOLOGY AND PRODUCTIVITY</a:t>
            </a:r>
          </a:p>
        </p:txBody>
      </p:sp>
      <p:sp>
        <p:nvSpPr>
          <p:cNvPr id="3" name="Content Placeholder 2"/>
          <p:cNvSpPr>
            <a:spLocks noGrp="1"/>
          </p:cNvSpPr>
          <p:nvPr>
            <p:ph idx="1"/>
          </p:nvPr>
        </p:nvSpPr>
        <p:spPr>
          <a:xfrm>
            <a:off x="76200" y="762000"/>
            <a:ext cx="8839200" cy="5334000"/>
          </a:xfrm>
        </p:spPr>
        <p:txBody>
          <a:bodyPr>
            <a:normAutofit lnSpcReduction="10000"/>
          </a:bodyPr>
          <a:lstStyle/>
          <a:p>
            <a:pPr>
              <a:spcAft>
                <a:spcPts val="1800"/>
              </a:spcAft>
            </a:pPr>
            <a:r>
              <a:rPr lang="en-US" b="0" dirty="0"/>
              <a:t>So additional amounts of physical capital are less productive </a:t>
            </a:r>
            <a:r>
              <a:rPr lang="en-US" i="1" dirty="0">
                <a:solidFill>
                  <a:schemeClr val="tx1">
                    <a:lumMod val="65000"/>
                    <a:lumOff val="35000"/>
                  </a:schemeClr>
                </a:solidFill>
              </a:rPr>
              <a:t>when the amount of human capital per worker and the technology are held fixed. </a:t>
            </a:r>
          </a:p>
          <a:p>
            <a:pPr>
              <a:spcAft>
                <a:spcPts val="1800"/>
              </a:spcAft>
            </a:pPr>
            <a:r>
              <a:rPr lang="en-US" dirty="0">
                <a:solidFill>
                  <a:srgbClr val="0070C0"/>
                </a:solidFill>
              </a:rPr>
              <a:t>But this assumes all other things equal.</a:t>
            </a:r>
          </a:p>
          <a:p>
            <a:pPr>
              <a:spcAft>
                <a:spcPts val="1800"/>
              </a:spcAft>
            </a:pPr>
            <a:r>
              <a:rPr lang="en-US" dirty="0">
                <a:solidFill>
                  <a:srgbClr val="990033"/>
                </a:solidFill>
              </a:rPr>
              <a:t>Diminishing returns may disappear </a:t>
            </a:r>
            <a:r>
              <a:rPr lang="en-US" b="0" dirty="0"/>
              <a:t>if we </a:t>
            </a:r>
            <a:r>
              <a:rPr lang="en-US" dirty="0">
                <a:solidFill>
                  <a:srgbClr val="0070C0"/>
                </a:solidFill>
              </a:rPr>
              <a:t>increase the amount of human capital per worker </a:t>
            </a:r>
            <a:r>
              <a:rPr lang="en-US" b="0" dirty="0"/>
              <a:t>or</a:t>
            </a:r>
            <a:r>
              <a:rPr lang="en-US" dirty="0">
                <a:solidFill>
                  <a:srgbClr val="990033"/>
                </a:solidFill>
              </a:rPr>
              <a:t> </a:t>
            </a:r>
            <a:r>
              <a:rPr lang="en-US" dirty="0">
                <a:solidFill>
                  <a:schemeClr val="tx1">
                    <a:lumMod val="65000"/>
                    <a:lumOff val="35000"/>
                  </a:schemeClr>
                </a:solidFill>
              </a:rPr>
              <a:t>improve the technology </a:t>
            </a:r>
            <a:r>
              <a:rPr lang="en-US" dirty="0">
                <a:solidFill>
                  <a:srgbClr val="990033"/>
                </a:solidFill>
              </a:rPr>
              <a:t>or both </a:t>
            </a:r>
            <a:r>
              <a:rPr lang="en-US" b="0" dirty="0"/>
              <a:t>as the amount of physical capital per worker is increased.</a:t>
            </a:r>
            <a:endParaRPr lang="en-US" dirty="0"/>
          </a:p>
        </p:txBody>
      </p:sp>
    </p:spTree>
    <p:extLst>
      <p:ext uri="{BB962C8B-B14F-4D97-AF65-F5344CB8AC3E}">
        <p14:creationId xmlns:p14="http://schemas.microsoft.com/office/powerpoint/2010/main" val="2943716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reeform 7"/>
          <p:cNvSpPr/>
          <p:nvPr/>
        </p:nvSpPr>
        <p:spPr>
          <a:xfrm>
            <a:off x="2302933" y="3461717"/>
            <a:ext cx="4783667" cy="2032462"/>
          </a:xfrm>
          <a:custGeom>
            <a:avLst/>
            <a:gdLst>
              <a:gd name="connsiteX0" fmla="*/ 0 w 4783667"/>
              <a:gd name="connsiteY0" fmla="*/ 2032462 h 2032462"/>
              <a:gd name="connsiteX1" fmla="*/ 1049867 w 4783667"/>
              <a:gd name="connsiteY1" fmla="*/ 1007995 h 2032462"/>
              <a:gd name="connsiteX2" fmla="*/ 2413000 w 4783667"/>
              <a:gd name="connsiteY2" fmla="*/ 389929 h 2032462"/>
              <a:gd name="connsiteX3" fmla="*/ 4114800 w 4783667"/>
              <a:gd name="connsiteY3" fmla="*/ 51262 h 2032462"/>
              <a:gd name="connsiteX4" fmla="*/ 4783667 w 4783667"/>
              <a:gd name="connsiteY4" fmla="*/ 8929 h 2032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3667" h="2032462">
                <a:moveTo>
                  <a:pt x="0" y="2032462"/>
                </a:moveTo>
                <a:cubicBezTo>
                  <a:pt x="323850" y="1657106"/>
                  <a:pt x="647700" y="1281750"/>
                  <a:pt x="1049867" y="1007995"/>
                </a:cubicBezTo>
                <a:cubicBezTo>
                  <a:pt x="1452034" y="734240"/>
                  <a:pt x="1902178" y="549384"/>
                  <a:pt x="2413000" y="389929"/>
                </a:cubicBezTo>
                <a:cubicBezTo>
                  <a:pt x="2923822" y="230474"/>
                  <a:pt x="3719689" y="114762"/>
                  <a:pt x="4114800" y="51262"/>
                </a:cubicBezTo>
                <a:cubicBezTo>
                  <a:pt x="4509911" y="-12238"/>
                  <a:pt x="4659489" y="-3771"/>
                  <a:pt x="4783667" y="8929"/>
                </a:cubicBezTo>
              </a:path>
            </a:pathLst>
          </a:custGeom>
          <a:noFill/>
          <a:ln w="3810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a:cs typeface="Century Gothic"/>
            </a:endParaRPr>
          </a:p>
        </p:txBody>
      </p:sp>
      <p:sp>
        <p:nvSpPr>
          <p:cNvPr id="363526" name="Rectangle 6"/>
          <p:cNvSpPr>
            <a:spLocks noGrp="1" noRot="1" noChangeArrowheads="1"/>
          </p:cNvSpPr>
          <p:nvPr>
            <p:ph type="title"/>
          </p:nvPr>
        </p:nvSpPr>
        <p:spPr>
          <a:xfrm>
            <a:off x="0" y="0"/>
            <a:ext cx="9144000" cy="838200"/>
          </a:xfrm>
        </p:spPr>
        <p:txBody>
          <a:bodyPr>
            <a:normAutofit/>
          </a:bodyPr>
          <a:lstStyle/>
          <a:p>
            <a:r>
              <a:rPr lang="en-US" sz="4000" spc="0" dirty="0"/>
              <a:t>TOTAL FACTOR PRODUCTIVITY</a:t>
            </a:r>
          </a:p>
        </p:txBody>
      </p:sp>
      <p:cxnSp>
        <p:nvCxnSpPr>
          <p:cNvPr id="363529" name="Straight Connector 86"/>
          <p:cNvCxnSpPr>
            <a:cxnSpLocks noChangeShapeType="1"/>
          </p:cNvCxnSpPr>
          <p:nvPr/>
        </p:nvCxnSpPr>
        <p:spPr bwMode="auto">
          <a:xfrm>
            <a:off x="2286000" y="3512977"/>
            <a:ext cx="41148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363530" name="Line 10"/>
          <p:cNvSpPr>
            <a:spLocks noChangeShapeType="1"/>
          </p:cNvSpPr>
          <p:nvPr/>
        </p:nvSpPr>
        <p:spPr bwMode="auto">
          <a:xfrm flipV="1">
            <a:off x="2286000" y="1582579"/>
            <a:ext cx="0" cy="392271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latin typeface="Century Gothic"/>
              <a:cs typeface="Century Gothic"/>
            </a:endParaRPr>
          </a:p>
        </p:txBody>
      </p:sp>
      <p:sp>
        <p:nvSpPr>
          <p:cNvPr id="363531" name="Line 11"/>
          <p:cNvSpPr>
            <a:spLocks noChangeShapeType="1"/>
          </p:cNvSpPr>
          <p:nvPr/>
        </p:nvSpPr>
        <p:spPr bwMode="auto">
          <a:xfrm flipH="1">
            <a:off x="2286000" y="5511642"/>
            <a:ext cx="5100638"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dirty="0">
              <a:latin typeface="Century Gothic"/>
              <a:cs typeface="Century Gothic"/>
            </a:endParaRPr>
          </a:p>
        </p:txBody>
      </p:sp>
      <p:cxnSp>
        <p:nvCxnSpPr>
          <p:cNvPr id="363532" name="Straight Connector 86"/>
          <p:cNvCxnSpPr>
            <a:cxnSpLocks noChangeShapeType="1"/>
          </p:cNvCxnSpPr>
          <p:nvPr/>
        </p:nvCxnSpPr>
        <p:spPr bwMode="auto">
          <a:xfrm>
            <a:off x="2286000" y="3868579"/>
            <a:ext cx="24384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3" name="Straight Connector 86"/>
          <p:cNvCxnSpPr>
            <a:cxnSpLocks noChangeShapeType="1"/>
          </p:cNvCxnSpPr>
          <p:nvPr/>
        </p:nvCxnSpPr>
        <p:spPr bwMode="auto">
          <a:xfrm>
            <a:off x="2286000" y="4478179"/>
            <a:ext cx="10668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6" name="Straight Connector 86"/>
          <p:cNvCxnSpPr>
            <a:cxnSpLocks noChangeShapeType="1"/>
          </p:cNvCxnSpPr>
          <p:nvPr/>
        </p:nvCxnSpPr>
        <p:spPr bwMode="auto">
          <a:xfrm>
            <a:off x="3352800" y="4478179"/>
            <a:ext cx="0" cy="10668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7" name="Straight Connector 86"/>
          <p:cNvCxnSpPr>
            <a:cxnSpLocks noChangeShapeType="1"/>
          </p:cNvCxnSpPr>
          <p:nvPr/>
        </p:nvCxnSpPr>
        <p:spPr bwMode="auto">
          <a:xfrm>
            <a:off x="4715933" y="3868579"/>
            <a:ext cx="0" cy="16002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cxnSp>
        <p:nvCxnSpPr>
          <p:cNvPr id="363538" name="Straight Connector 86"/>
          <p:cNvCxnSpPr>
            <a:cxnSpLocks noChangeShapeType="1"/>
          </p:cNvCxnSpPr>
          <p:nvPr/>
        </p:nvCxnSpPr>
        <p:spPr bwMode="auto">
          <a:xfrm>
            <a:off x="6400800" y="3563779"/>
            <a:ext cx="0" cy="198120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363539" name="Rectangle 19"/>
          <p:cNvSpPr>
            <a:spLocks noChangeArrowheads="1"/>
          </p:cNvSpPr>
          <p:nvPr/>
        </p:nvSpPr>
        <p:spPr bwMode="auto">
          <a:xfrm>
            <a:off x="1447800" y="3335179"/>
            <a:ext cx="762000" cy="256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gn="r">
              <a:lnSpc>
                <a:spcPct val="100000"/>
              </a:lnSpc>
              <a:spcBef>
                <a:spcPct val="0"/>
              </a:spcBef>
            </a:pPr>
            <a:r>
              <a:rPr lang="en-US" sz="1600" dirty="0">
                <a:latin typeface="Century Gothic"/>
                <a:cs typeface="Century Gothic"/>
              </a:rPr>
              <a:t>60,000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50,000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30,000</a:t>
            </a: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0"/>
              </a:spcBef>
            </a:pPr>
            <a:endParaRPr lang="en-US" sz="1600" dirty="0">
              <a:latin typeface="Century Gothic"/>
              <a:cs typeface="Century Gothic"/>
            </a:endParaRPr>
          </a:p>
          <a:p>
            <a:pPr marL="1588" indent="-1588" algn="r">
              <a:lnSpc>
                <a:spcPct val="100000"/>
              </a:lnSpc>
              <a:spcBef>
                <a:spcPct val="20000"/>
              </a:spcBef>
            </a:pPr>
            <a:endParaRPr lang="en-US" sz="1600" dirty="0">
              <a:latin typeface="Century Gothic"/>
              <a:cs typeface="Century Gothic"/>
            </a:endParaRPr>
          </a:p>
          <a:p>
            <a:pPr marL="1588" indent="-1588" algn="r">
              <a:lnSpc>
                <a:spcPct val="100000"/>
              </a:lnSpc>
              <a:spcBef>
                <a:spcPct val="0"/>
              </a:spcBef>
            </a:pPr>
            <a:r>
              <a:rPr lang="en-US" sz="1600" dirty="0">
                <a:latin typeface="Century Gothic"/>
                <a:cs typeface="Century Gothic"/>
              </a:rPr>
              <a:t>0</a:t>
            </a:r>
          </a:p>
          <a:p>
            <a:pPr marL="1588" indent="-1588" algn="r"/>
            <a:endParaRPr lang="en-US" sz="1600" dirty="0">
              <a:latin typeface="Century Gothic"/>
              <a:cs typeface="Century Gothic"/>
            </a:endParaRPr>
          </a:p>
        </p:txBody>
      </p:sp>
      <p:sp>
        <p:nvSpPr>
          <p:cNvPr id="363540" name="Rectangle 20"/>
          <p:cNvSpPr>
            <a:spLocks noChangeArrowheads="1"/>
          </p:cNvSpPr>
          <p:nvPr/>
        </p:nvSpPr>
        <p:spPr bwMode="auto">
          <a:xfrm>
            <a:off x="152400" y="1125379"/>
            <a:ext cx="25146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588" indent="-1588" algn="ctr">
              <a:spcBef>
                <a:spcPct val="0"/>
              </a:spcBef>
            </a:pPr>
            <a:r>
              <a:rPr lang="en-US" sz="1600" dirty="0">
                <a:solidFill>
                  <a:srgbClr val="000000"/>
                </a:solidFill>
                <a:latin typeface="Century Gothic"/>
                <a:cs typeface="Century Gothic"/>
              </a:rPr>
              <a:t>Real GDP per worker </a:t>
            </a:r>
          </a:p>
          <a:p>
            <a:pPr marL="1588" indent="-1588" algn="ctr">
              <a:spcBef>
                <a:spcPct val="0"/>
              </a:spcBef>
            </a:pPr>
            <a:r>
              <a:rPr lang="en-US" sz="1600" dirty="0">
                <a:solidFill>
                  <a:srgbClr val="000000"/>
                </a:solidFill>
                <a:latin typeface="Century Gothic"/>
                <a:cs typeface="Century Gothic"/>
              </a:rPr>
              <a:t>(constant dollars)</a:t>
            </a:r>
            <a:endParaRPr lang="en-US" sz="1600" dirty="0">
              <a:latin typeface="Century Gothic"/>
              <a:cs typeface="Century Gothic"/>
            </a:endParaRPr>
          </a:p>
        </p:txBody>
      </p:sp>
      <p:sp>
        <p:nvSpPr>
          <p:cNvPr id="363541" name="Rectangle 21"/>
          <p:cNvSpPr>
            <a:spLocks noChangeArrowheads="1"/>
          </p:cNvSpPr>
          <p:nvPr/>
        </p:nvSpPr>
        <p:spPr bwMode="auto">
          <a:xfrm>
            <a:off x="3048000" y="5544979"/>
            <a:ext cx="5105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dirty="0">
                <a:latin typeface="Century Gothic"/>
                <a:cs typeface="Century Gothic"/>
              </a:rPr>
              <a:t>$20,000                 50,000                             80,000</a:t>
            </a:r>
          </a:p>
        </p:txBody>
      </p:sp>
      <p:sp>
        <p:nvSpPr>
          <p:cNvPr id="363542" name="Rectangle 22"/>
          <p:cNvSpPr>
            <a:spLocks noChangeArrowheads="1"/>
          </p:cNvSpPr>
          <p:nvPr/>
        </p:nvSpPr>
        <p:spPr bwMode="auto">
          <a:xfrm>
            <a:off x="6426201" y="5890736"/>
            <a:ext cx="248919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588" indent="-1588">
              <a:spcBef>
                <a:spcPct val="0"/>
              </a:spcBef>
            </a:pPr>
            <a:r>
              <a:rPr lang="en-US" sz="1600" dirty="0">
                <a:solidFill>
                  <a:srgbClr val="000000"/>
                </a:solidFill>
                <a:latin typeface="Century Gothic"/>
                <a:cs typeface="Century Gothic"/>
              </a:rPr>
              <a:t>Physical capital per worker </a:t>
            </a:r>
          </a:p>
          <a:p>
            <a:pPr marL="1588" indent="-1588">
              <a:spcBef>
                <a:spcPct val="0"/>
              </a:spcBef>
            </a:pPr>
            <a:r>
              <a:rPr lang="en-US" sz="1600" dirty="0">
                <a:solidFill>
                  <a:srgbClr val="000000"/>
                </a:solidFill>
                <a:latin typeface="Century Gothic"/>
                <a:cs typeface="Century Gothic"/>
              </a:rPr>
              <a:t>(constant dollars)</a:t>
            </a:r>
            <a:endParaRPr lang="en-US" sz="1600" dirty="0">
              <a:latin typeface="Century Gothic"/>
              <a:cs typeface="Century Gothic"/>
            </a:endParaRPr>
          </a:p>
        </p:txBody>
      </p:sp>
      <p:sp>
        <p:nvSpPr>
          <p:cNvPr id="363554" name="Rectangle 34"/>
          <p:cNvSpPr>
            <a:spLocks noChangeArrowheads="1"/>
          </p:cNvSpPr>
          <p:nvPr/>
        </p:nvSpPr>
        <p:spPr bwMode="auto">
          <a:xfrm>
            <a:off x="3429000" y="4554379"/>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A</a:t>
            </a:r>
          </a:p>
        </p:txBody>
      </p:sp>
      <p:sp>
        <p:nvSpPr>
          <p:cNvPr id="363555" name="Rectangle 35"/>
          <p:cNvSpPr>
            <a:spLocks noChangeArrowheads="1"/>
          </p:cNvSpPr>
          <p:nvPr/>
        </p:nvSpPr>
        <p:spPr bwMode="auto">
          <a:xfrm>
            <a:off x="4800600" y="3944779"/>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B</a:t>
            </a:r>
          </a:p>
        </p:txBody>
      </p:sp>
      <p:sp>
        <p:nvSpPr>
          <p:cNvPr id="363556" name="Rectangle 36"/>
          <p:cNvSpPr>
            <a:spLocks noChangeArrowheads="1"/>
          </p:cNvSpPr>
          <p:nvPr/>
        </p:nvSpPr>
        <p:spPr bwMode="auto">
          <a:xfrm>
            <a:off x="6477000" y="3639979"/>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C</a:t>
            </a:r>
          </a:p>
        </p:txBody>
      </p:sp>
      <p:sp>
        <p:nvSpPr>
          <p:cNvPr id="363557" name="Oval 37"/>
          <p:cNvSpPr>
            <a:spLocks noChangeArrowheads="1"/>
          </p:cNvSpPr>
          <p:nvPr/>
        </p:nvSpPr>
        <p:spPr bwMode="auto">
          <a:xfrm>
            <a:off x="3302001" y="4444311"/>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63558" name="Oval 38"/>
          <p:cNvSpPr>
            <a:spLocks noChangeArrowheads="1"/>
          </p:cNvSpPr>
          <p:nvPr/>
        </p:nvSpPr>
        <p:spPr bwMode="auto">
          <a:xfrm>
            <a:off x="6350001" y="3479112"/>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63559" name="Oval 39"/>
          <p:cNvSpPr>
            <a:spLocks noChangeArrowheads="1"/>
          </p:cNvSpPr>
          <p:nvPr/>
        </p:nvSpPr>
        <p:spPr bwMode="auto">
          <a:xfrm>
            <a:off x="4673601" y="3817780"/>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10" name="Freeform 9"/>
          <p:cNvSpPr/>
          <p:nvPr/>
        </p:nvSpPr>
        <p:spPr>
          <a:xfrm>
            <a:off x="2319867" y="1582580"/>
            <a:ext cx="4614333" cy="3886200"/>
          </a:xfrm>
          <a:custGeom>
            <a:avLst/>
            <a:gdLst>
              <a:gd name="connsiteX0" fmla="*/ 0 w 3979333"/>
              <a:gd name="connsiteY0" fmla="*/ 2641600 h 2641600"/>
              <a:gd name="connsiteX1" fmla="*/ 347133 w 3979333"/>
              <a:gd name="connsiteY1" fmla="*/ 1684867 h 2641600"/>
              <a:gd name="connsiteX2" fmla="*/ 1752600 w 3979333"/>
              <a:gd name="connsiteY2" fmla="*/ 711200 h 2641600"/>
              <a:gd name="connsiteX3" fmla="*/ 3979333 w 3979333"/>
              <a:gd name="connsiteY3" fmla="*/ 0 h 2641600"/>
            </a:gdLst>
            <a:ahLst/>
            <a:cxnLst>
              <a:cxn ang="0">
                <a:pos x="connsiteX0" y="connsiteY0"/>
              </a:cxn>
              <a:cxn ang="0">
                <a:pos x="connsiteX1" y="connsiteY1"/>
              </a:cxn>
              <a:cxn ang="0">
                <a:pos x="connsiteX2" y="connsiteY2"/>
              </a:cxn>
              <a:cxn ang="0">
                <a:pos x="connsiteX3" y="connsiteY3"/>
              </a:cxn>
            </a:cxnLst>
            <a:rect l="l" t="t" r="r" b="b"/>
            <a:pathLst>
              <a:path w="3979333" h="2641600">
                <a:moveTo>
                  <a:pt x="0" y="2641600"/>
                </a:moveTo>
                <a:cubicBezTo>
                  <a:pt x="27516" y="2324100"/>
                  <a:pt x="55033" y="2006600"/>
                  <a:pt x="347133" y="1684867"/>
                </a:cubicBezTo>
                <a:cubicBezTo>
                  <a:pt x="639233" y="1363134"/>
                  <a:pt x="1147233" y="992011"/>
                  <a:pt x="1752600" y="711200"/>
                </a:cubicBezTo>
                <a:cubicBezTo>
                  <a:pt x="2357967" y="430389"/>
                  <a:pt x="3534833" y="121355"/>
                  <a:pt x="3979333" y="0"/>
                </a:cubicBezTo>
              </a:path>
            </a:pathLst>
          </a:custGeom>
          <a:noFill/>
          <a:ln w="38100">
            <a:solidFill>
              <a:srgbClr val="9900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entury Gothic"/>
              <a:cs typeface="Century Gothic"/>
            </a:endParaRPr>
          </a:p>
        </p:txBody>
      </p:sp>
      <p:grpSp>
        <p:nvGrpSpPr>
          <p:cNvPr id="43" name="Group 31"/>
          <p:cNvGrpSpPr>
            <a:grpSpLocks/>
          </p:cNvGrpSpPr>
          <p:nvPr/>
        </p:nvGrpSpPr>
        <p:grpSpPr bwMode="auto">
          <a:xfrm>
            <a:off x="5029200" y="2573180"/>
            <a:ext cx="1419225" cy="892025"/>
            <a:chOff x="3792" y="1008"/>
            <a:chExt cx="894" cy="449"/>
          </a:xfrm>
        </p:grpSpPr>
        <p:sp>
          <p:nvSpPr>
            <p:cNvPr id="44" name="Freeform 123"/>
            <p:cNvSpPr>
              <a:spLocks/>
            </p:cNvSpPr>
            <p:nvPr/>
          </p:nvSpPr>
          <p:spPr bwMode="auto">
            <a:xfrm>
              <a:off x="3792" y="1008"/>
              <a:ext cx="832" cy="445"/>
            </a:xfrm>
            <a:custGeom>
              <a:avLst/>
              <a:gdLst>
                <a:gd name="T0" fmla="*/ 267 w 267"/>
                <a:gd name="T1" fmla="*/ 82 h 98"/>
                <a:gd name="T2" fmla="*/ 251 w 267"/>
                <a:gd name="T3" fmla="*/ 98 h 98"/>
                <a:gd name="T4" fmla="*/ 16 w 267"/>
                <a:gd name="T5" fmla="*/ 98 h 98"/>
                <a:gd name="T6" fmla="*/ 0 w 267"/>
                <a:gd name="T7" fmla="*/ 82 h 98"/>
                <a:gd name="T8" fmla="*/ 0 w 267"/>
                <a:gd name="T9" fmla="*/ 16 h 98"/>
                <a:gd name="T10" fmla="*/ 16 w 267"/>
                <a:gd name="T11" fmla="*/ 0 h 98"/>
                <a:gd name="T12" fmla="*/ 251 w 267"/>
                <a:gd name="T13" fmla="*/ 0 h 98"/>
                <a:gd name="T14" fmla="*/ 267 w 267"/>
                <a:gd name="T15" fmla="*/ 16 h 98"/>
                <a:gd name="T16" fmla="*/ 267 w 267"/>
                <a:gd name="T17" fmla="*/ 82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7"/>
                <a:gd name="T28" fmla="*/ 0 h 98"/>
                <a:gd name="T29" fmla="*/ 267 w 267"/>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7" h="98">
                  <a:moveTo>
                    <a:pt x="267" y="82"/>
                  </a:moveTo>
                  <a:cubicBezTo>
                    <a:pt x="267" y="90"/>
                    <a:pt x="259" y="98"/>
                    <a:pt x="251" y="98"/>
                  </a:cubicBezTo>
                  <a:cubicBezTo>
                    <a:pt x="16" y="98"/>
                    <a:pt x="16" y="98"/>
                    <a:pt x="16" y="98"/>
                  </a:cubicBezTo>
                  <a:cubicBezTo>
                    <a:pt x="7" y="98"/>
                    <a:pt x="0" y="90"/>
                    <a:pt x="0" y="82"/>
                  </a:cubicBezTo>
                  <a:cubicBezTo>
                    <a:pt x="0" y="16"/>
                    <a:pt x="0" y="16"/>
                    <a:pt x="0" y="16"/>
                  </a:cubicBezTo>
                  <a:cubicBezTo>
                    <a:pt x="0" y="8"/>
                    <a:pt x="7" y="0"/>
                    <a:pt x="16" y="0"/>
                  </a:cubicBezTo>
                  <a:cubicBezTo>
                    <a:pt x="251" y="0"/>
                    <a:pt x="251" y="0"/>
                    <a:pt x="251" y="0"/>
                  </a:cubicBezTo>
                  <a:cubicBezTo>
                    <a:pt x="259" y="0"/>
                    <a:pt x="267" y="8"/>
                    <a:pt x="267" y="16"/>
                  </a:cubicBezTo>
                  <a:lnTo>
                    <a:pt x="267" y="82"/>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baseline="-25000" dirty="0">
                <a:latin typeface="Century Gothic"/>
                <a:ea typeface="MS PGothic" pitchFamily="34" charset="-128"/>
                <a:cs typeface="Century Gothic"/>
              </a:endParaRPr>
            </a:p>
          </p:txBody>
        </p:sp>
        <p:sp>
          <p:nvSpPr>
            <p:cNvPr id="45" name="Rectangle 124"/>
            <p:cNvSpPr>
              <a:spLocks noChangeArrowheads="1"/>
            </p:cNvSpPr>
            <p:nvPr/>
          </p:nvSpPr>
          <p:spPr bwMode="auto">
            <a:xfrm>
              <a:off x="3840" y="1023"/>
              <a:ext cx="846"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r>
                <a:rPr lang="en-US" sz="1400" i="1" dirty="0">
                  <a:latin typeface="Century Gothic"/>
                  <a:cs typeface="Century Gothic"/>
                </a:rPr>
                <a:t>Rising total factor productivity shifts curve up</a:t>
              </a:r>
            </a:p>
          </p:txBody>
        </p:sp>
      </p:grpSp>
      <p:sp>
        <p:nvSpPr>
          <p:cNvPr id="46" name="Line 32"/>
          <p:cNvSpPr>
            <a:spLocks noChangeShapeType="1"/>
          </p:cNvSpPr>
          <p:nvPr/>
        </p:nvSpPr>
        <p:spPr bwMode="auto">
          <a:xfrm flipV="1">
            <a:off x="4876800" y="2618899"/>
            <a:ext cx="0" cy="1097280"/>
          </a:xfrm>
          <a:prstGeom prst="line">
            <a:avLst/>
          </a:prstGeom>
          <a:noFill/>
          <a:ln w="317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latin typeface="Century Gothic"/>
              <a:cs typeface="Century Gothic"/>
            </a:endParaRPr>
          </a:p>
        </p:txBody>
      </p:sp>
      <p:cxnSp>
        <p:nvCxnSpPr>
          <p:cNvPr id="47" name="Straight Connector 86"/>
          <p:cNvCxnSpPr>
            <a:cxnSpLocks noChangeShapeType="1"/>
          </p:cNvCxnSpPr>
          <p:nvPr/>
        </p:nvCxnSpPr>
        <p:spPr bwMode="auto">
          <a:xfrm>
            <a:off x="6400800" y="1811179"/>
            <a:ext cx="0" cy="164592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48" name="Rectangle 36"/>
          <p:cNvSpPr>
            <a:spLocks noChangeArrowheads="1"/>
          </p:cNvSpPr>
          <p:nvPr/>
        </p:nvSpPr>
        <p:spPr bwMode="auto">
          <a:xfrm>
            <a:off x="6477000" y="1887382"/>
            <a:ext cx="1524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marL="1588" indent="-1588">
              <a:lnSpc>
                <a:spcPct val="100000"/>
              </a:lnSpc>
              <a:spcBef>
                <a:spcPct val="0"/>
              </a:spcBef>
            </a:pPr>
            <a:r>
              <a:rPr lang="en-US" sz="1600" b="1" dirty="0">
                <a:latin typeface="Century Gothic"/>
                <a:cs typeface="Century Gothic"/>
              </a:rPr>
              <a:t>D</a:t>
            </a:r>
          </a:p>
        </p:txBody>
      </p:sp>
      <p:sp>
        <p:nvSpPr>
          <p:cNvPr id="49" name="Oval 38"/>
          <p:cNvSpPr>
            <a:spLocks noChangeArrowheads="1"/>
          </p:cNvSpPr>
          <p:nvPr/>
        </p:nvSpPr>
        <p:spPr bwMode="auto">
          <a:xfrm>
            <a:off x="6350001" y="1726515"/>
            <a:ext cx="91440" cy="91440"/>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cxnSp>
        <p:nvCxnSpPr>
          <p:cNvPr id="50" name="Straight Connector 86"/>
          <p:cNvCxnSpPr>
            <a:cxnSpLocks noChangeShapeType="1"/>
          </p:cNvCxnSpPr>
          <p:nvPr/>
        </p:nvCxnSpPr>
        <p:spPr bwMode="auto">
          <a:xfrm>
            <a:off x="2286000" y="1768847"/>
            <a:ext cx="4114800" cy="0"/>
          </a:xfrm>
          <a:prstGeom prst="line">
            <a:avLst/>
          </a:prstGeom>
          <a:noFill/>
          <a:ln w="22225" cap="rnd">
            <a:solidFill>
              <a:srgbClr val="9C9C9C"/>
            </a:solidFill>
            <a:prstDash val="sysDot"/>
            <a:round/>
            <a:headEnd/>
            <a:tailEnd type="none" w="med" len="lg"/>
          </a:ln>
          <a:extLst>
            <a:ext uri="{909E8E84-426E-40DD-AFC4-6F175D3DCCD1}">
              <a14:hiddenFill xmlns:a14="http://schemas.microsoft.com/office/drawing/2010/main">
                <a:noFill/>
              </a14:hiddenFill>
            </a:ext>
          </a:extLst>
        </p:spPr>
      </p:cxnSp>
      <p:sp>
        <p:nvSpPr>
          <p:cNvPr id="51" name="Rectangle 19"/>
          <p:cNvSpPr>
            <a:spLocks noChangeArrowheads="1"/>
          </p:cNvSpPr>
          <p:nvPr/>
        </p:nvSpPr>
        <p:spPr bwMode="auto">
          <a:xfrm>
            <a:off x="1219200" y="1658779"/>
            <a:ext cx="9906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1588" indent="-1588" algn="r">
              <a:lnSpc>
                <a:spcPct val="100000"/>
              </a:lnSpc>
              <a:spcBef>
                <a:spcPct val="0"/>
              </a:spcBef>
            </a:pPr>
            <a:r>
              <a:rPr lang="en-US" sz="1600" dirty="0">
                <a:latin typeface="Century Gothic"/>
                <a:cs typeface="Century Gothic"/>
              </a:rPr>
              <a:t>$120,000</a:t>
            </a:r>
          </a:p>
        </p:txBody>
      </p:sp>
    </p:spTree>
    <p:extLst>
      <p:ext uri="{BB962C8B-B14F-4D97-AF65-F5344CB8AC3E}">
        <p14:creationId xmlns:p14="http://schemas.microsoft.com/office/powerpoint/2010/main" val="38557309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ipe(down)">
                                      <p:cBhvr>
                                        <p:cTn id="10" dur="500"/>
                                        <p:tgtEl>
                                          <p:spTgt spid="4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43"/>
                                        </p:tgtEl>
                                        <p:attrNameLst>
                                          <p:attrName>style.visibility</p:attrName>
                                        </p:attrNameLst>
                                      </p:cBhvr>
                                      <p:to>
                                        <p:strVal val="visible"/>
                                      </p:to>
                                    </p:set>
                                    <p:animEffect transition="in" filter="fade">
                                      <p:cBhvr>
                                        <p:cTn id="14" dur="500"/>
                                        <p:tgtEl>
                                          <p:spTgt spid="43"/>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fade">
                                      <p:cBhvr>
                                        <p:cTn id="22" dur="500"/>
                                        <p:tgtEl>
                                          <p:spTgt spid="5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500"/>
                                        <p:tgtEl>
                                          <p:spTgt spid="4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fade">
                                      <p:cBhvr>
                                        <p:cTn id="2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46" grpId="0" animBg="1"/>
      <p:bldP spid="48" grpId="0"/>
      <p:bldP spid="49"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GROWTH ACCOUNTING</a:t>
            </a:r>
          </a:p>
        </p:txBody>
      </p:sp>
      <p:sp>
        <p:nvSpPr>
          <p:cNvPr id="3" name="Content Placeholder 2"/>
          <p:cNvSpPr>
            <a:spLocks noGrp="1"/>
          </p:cNvSpPr>
          <p:nvPr>
            <p:ph idx="1"/>
          </p:nvPr>
        </p:nvSpPr>
        <p:spPr>
          <a:xfrm>
            <a:off x="152400" y="762000"/>
            <a:ext cx="8839200" cy="5486400"/>
          </a:xfrm>
        </p:spPr>
        <p:txBody>
          <a:bodyPr>
            <a:noAutofit/>
          </a:bodyPr>
          <a:lstStyle/>
          <a:p>
            <a:pPr>
              <a:spcAft>
                <a:spcPts val="1800"/>
              </a:spcAft>
            </a:pPr>
            <a:r>
              <a:rPr lang="en-US" sz="2800" dirty="0"/>
              <a:t>How do we tell what caused the growth (and help develop future policy)?</a:t>
            </a:r>
          </a:p>
          <a:p>
            <a:pPr>
              <a:spcAft>
                <a:spcPts val="1800"/>
              </a:spcAft>
            </a:pPr>
            <a:r>
              <a:rPr lang="en-US" sz="2800" i="1" dirty="0">
                <a:solidFill>
                  <a:srgbClr val="990033"/>
                </a:solidFill>
              </a:rPr>
              <a:t>Growth accounting: </a:t>
            </a:r>
            <a:r>
              <a:rPr lang="en-US" sz="2400" b="0" dirty="0"/>
              <a:t>estimates of the contribution of each major factor in the aggregate production function to economic growth.</a:t>
            </a:r>
          </a:p>
          <a:p>
            <a:pPr>
              <a:spcAft>
                <a:spcPts val="1800"/>
              </a:spcAft>
            </a:pPr>
            <a:r>
              <a:rPr lang="en-US" sz="2800" i="1" dirty="0">
                <a:solidFill>
                  <a:srgbClr val="990033"/>
                </a:solidFill>
              </a:rPr>
              <a:t>Total factor productivity: </a:t>
            </a:r>
            <a:r>
              <a:rPr lang="en-US" sz="2400" b="0" dirty="0"/>
              <a:t>the amount of output that can be produced with a given amount of factor inputs. </a:t>
            </a:r>
          </a:p>
          <a:p>
            <a:pPr>
              <a:spcAft>
                <a:spcPts val="1800"/>
              </a:spcAft>
            </a:pPr>
            <a:r>
              <a:rPr lang="en-US" sz="2800" b="0" dirty="0"/>
              <a:t>(When total factor productivity increases, the economy can produce </a:t>
            </a:r>
            <a:r>
              <a:rPr lang="en-US" sz="2800" dirty="0">
                <a:solidFill>
                  <a:schemeClr val="accent6">
                    <a:lumMod val="75000"/>
                  </a:schemeClr>
                </a:solidFill>
              </a:rPr>
              <a:t>more output </a:t>
            </a:r>
            <a:r>
              <a:rPr lang="en-US" sz="2800" b="0" dirty="0"/>
              <a:t>with the </a:t>
            </a:r>
            <a:r>
              <a:rPr lang="en-US" sz="2800" dirty="0">
                <a:solidFill>
                  <a:schemeClr val="accent6">
                    <a:lumMod val="75000"/>
                  </a:schemeClr>
                </a:solidFill>
              </a:rPr>
              <a:t>same</a:t>
            </a:r>
            <a:r>
              <a:rPr lang="en-US" sz="2800" dirty="0"/>
              <a:t> </a:t>
            </a:r>
            <a:r>
              <a:rPr lang="en-US" sz="2800" dirty="0">
                <a:solidFill>
                  <a:schemeClr val="accent6">
                    <a:lumMod val="75000"/>
                  </a:schemeClr>
                </a:solidFill>
              </a:rPr>
              <a:t>quantity</a:t>
            </a:r>
            <a:r>
              <a:rPr lang="en-US" sz="2800" dirty="0"/>
              <a:t> of </a:t>
            </a:r>
            <a:r>
              <a:rPr lang="en-US" sz="2800" dirty="0">
                <a:solidFill>
                  <a:schemeClr val="accent6">
                    <a:lumMod val="75000"/>
                  </a:schemeClr>
                </a:solidFill>
              </a:rPr>
              <a:t>physical</a:t>
            </a:r>
            <a:r>
              <a:rPr lang="en-US" sz="2800" dirty="0"/>
              <a:t> </a:t>
            </a:r>
            <a:r>
              <a:rPr lang="en-US" sz="2800" dirty="0">
                <a:solidFill>
                  <a:schemeClr val="accent6">
                    <a:lumMod val="75000"/>
                  </a:schemeClr>
                </a:solidFill>
              </a:rPr>
              <a:t>capital, human capital, and labor.)</a:t>
            </a:r>
          </a:p>
          <a:p>
            <a:pPr>
              <a:spcAft>
                <a:spcPts val="1800"/>
              </a:spcAft>
            </a:pPr>
            <a:endParaRPr lang="en-US" sz="2800" dirty="0"/>
          </a:p>
        </p:txBody>
      </p:sp>
    </p:spTree>
    <p:extLst>
      <p:ext uri="{BB962C8B-B14F-4D97-AF65-F5344CB8AC3E}">
        <p14:creationId xmlns:p14="http://schemas.microsoft.com/office/powerpoint/2010/main" val="4137782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r>
              <a:rPr lang="en-US" sz="4100" spc="0"/>
              <a:t>TECHNOLOGY AND PRODUCTIVITY</a:t>
            </a:r>
          </a:p>
        </p:txBody>
      </p:sp>
      <p:graphicFrame>
        <p:nvGraphicFramePr>
          <p:cNvPr id="5" name="Content Placeholder 2">
            <a:extLst>
              <a:ext uri="{FF2B5EF4-FFF2-40B4-BE49-F238E27FC236}">
                <a16:creationId xmlns:a16="http://schemas.microsoft.com/office/drawing/2014/main" id="{656E342A-887E-7B26-A7E5-4E6C83E5AE6E}"/>
              </a:ext>
            </a:extLst>
          </p:cNvPr>
          <p:cNvGraphicFramePr>
            <a:graphicFrameLocks noGrp="1"/>
          </p:cNvGraphicFramePr>
          <p:nvPr>
            <p:ph idx="1"/>
            <p:extLst>
              <p:ext uri="{D42A27DB-BD31-4B8C-83A1-F6EECF244321}">
                <p14:modId xmlns:p14="http://schemas.microsoft.com/office/powerpoint/2010/main" val="1301880687"/>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67561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4000"/>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WHAT ABOUT NATURAL RESOURCES?</a:t>
            </a:r>
          </a:p>
        </p:txBody>
      </p:sp>
      <p:sp>
        <p:nvSpPr>
          <p:cNvPr id="3" name="Content Placeholder 2"/>
          <p:cNvSpPr>
            <a:spLocks noGrp="1"/>
          </p:cNvSpPr>
          <p:nvPr>
            <p:ph idx="1"/>
          </p:nvPr>
        </p:nvSpPr>
        <p:spPr>
          <a:xfrm>
            <a:off x="0" y="4800600"/>
            <a:ext cx="9144000" cy="1371600"/>
          </a:xfrm>
          <a:solidFill>
            <a:schemeClr val="bg1">
              <a:alpha val="70000"/>
            </a:schemeClr>
          </a:solidFill>
        </p:spPr>
        <p:txBody>
          <a:bodyPr>
            <a:normAutofit/>
          </a:bodyPr>
          <a:lstStyle/>
          <a:p>
            <a:r>
              <a:rPr lang="en-US" sz="2800" b="0" dirty="0"/>
              <a:t>In the modern world, </a:t>
            </a:r>
            <a:r>
              <a:rPr lang="en-US" sz="2800" dirty="0">
                <a:solidFill>
                  <a:schemeClr val="accent3">
                    <a:lumMod val="75000"/>
                  </a:schemeClr>
                </a:solidFill>
              </a:rPr>
              <a:t>human or physical capital matter more</a:t>
            </a:r>
            <a:r>
              <a:rPr lang="en-US" sz="2800" b="0" dirty="0"/>
              <a:t> than natural resources for the great majority of countries.</a:t>
            </a:r>
          </a:p>
        </p:txBody>
      </p:sp>
    </p:spTree>
    <p:extLst>
      <p:ext uri="{BB962C8B-B14F-4D97-AF65-F5344CB8AC3E}">
        <p14:creationId xmlns:p14="http://schemas.microsoft.com/office/powerpoint/2010/main" val="2147946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latin typeface="Century Gothic"/>
                <a:cs typeface="Century Gothic"/>
              </a:rPr>
              <a:t>Economist </a:t>
            </a:r>
            <a:r>
              <a:rPr lang="en-US" sz="2800" dirty="0">
                <a:solidFill>
                  <a:srgbClr val="0070C0"/>
                </a:solidFill>
                <a:latin typeface="Century Gothic"/>
                <a:cs typeface="Century Gothic"/>
              </a:rPr>
              <a:t>Robert Gordon </a:t>
            </a:r>
            <a:r>
              <a:rPr lang="en-US" sz="2800" dirty="0">
                <a:latin typeface="Century Gothic"/>
                <a:cs typeface="Century Gothic"/>
              </a:rPr>
              <a:t>argues that new information technologies won’t create as much growth as the five big innovations: </a:t>
            </a:r>
          </a:p>
          <a:p>
            <a:pPr marL="914400" lvl="1" indent="-457200">
              <a:buFont typeface="+mj-lt"/>
              <a:buAutoNum type="arabicPeriod"/>
            </a:pPr>
            <a:r>
              <a:rPr lang="en-US" i="1" dirty="0">
                <a:solidFill>
                  <a:schemeClr val="tx1">
                    <a:lumMod val="50000"/>
                    <a:lumOff val="50000"/>
                  </a:schemeClr>
                </a:solidFill>
                <a:latin typeface="Century Gothic"/>
                <a:cs typeface="Century Gothic"/>
              </a:rPr>
              <a:t>Electricity</a:t>
            </a:r>
          </a:p>
          <a:p>
            <a:pPr marL="914400" lvl="1" indent="-457200">
              <a:buFont typeface="+mj-lt"/>
              <a:buAutoNum type="arabicPeriod"/>
            </a:pPr>
            <a:r>
              <a:rPr lang="en-US" i="1" dirty="0">
                <a:solidFill>
                  <a:schemeClr val="tx1">
                    <a:lumMod val="50000"/>
                    <a:lumOff val="50000"/>
                  </a:schemeClr>
                </a:solidFill>
                <a:latin typeface="Century Gothic"/>
                <a:cs typeface="Century Gothic"/>
              </a:rPr>
              <a:t>The internal combustion engine</a:t>
            </a:r>
          </a:p>
          <a:p>
            <a:pPr marL="914400" lvl="1" indent="-457200">
              <a:buFont typeface="+mj-lt"/>
              <a:buAutoNum type="arabicPeriod"/>
            </a:pPr>
            <a:r>
              <a:rPr lang="en-US" i="1" dirty="0">
                <a:solidFill>
                  <a:schemeClr val="tx1">
                    <a:lumMod val="50000"/>
                    <a:lumOff val="50000"/>
                  </a:schemeClr>
                </a:solidFill>
                <a:latin typeface="Century Gothic"/>
                <a:cs typeface="Century Gothic"/>
              </a:rPr>
              <a:t>Running water and central heating</a:t>
            </a:r>
          </a:p>
          <a:p>
            <a:pPr marL="914400" lvl="1" indent="-457200">
              <a:buFont typeface="+mj-lt"/>
              <a:buAutoNum type="arabicPeriod"/>
            </a:pPr>
            <a:r>
              <a:rPr lang="en-US" i="1" dirty="0">
                <a:solidFill>
                  <a:schemeClr val="tx1">
                    <a:lumMod val="50000"/>
                    <a:lumOff val="50000"/>
                  </a:schemeClr>
                </a:solidFill>
                <a:latin typeface="Century Gothic"/>
                <a:cs typeface="Century Gothic"/>
              </a:rPr>
              <a:t>Modern chemistry</a:t>
            </a:r>
          </a:p>
          <a:p>
            <a:pPr marL="914400" lvl="1" indent="-457200">
              <a:buFont typeface="+mj-lt"/>
              <a:buAutoNum type="arabicPeriod"/>
            </a:pPr>
            <a:r>
              <a:rPr lang="en-US" i="1" dirty="0">
                <a:solidFill>
                  <a:schemeClr val="tx1">
                    <a:lumMod val="50000"/>
                    <a:lumOff val="50000"/>
                  </a:schemeClr>
                </a:solidFill>
                <a:latin typeface="Century Gothic"/>
                <a:cs typeface="Century Gothic"/>
              </a:rPr>
              <a:t>Mass communication, movies, and telephones</a:t>
            </a:r>
          </a:p>
        </p:txBody>
      </p:sp>
      <p:sp>
        <p:nvSpPr>
          <p:cNvPr id="2" name="Title 1"/>
          <p:cNvSpPr>
            <a:spLocks noGrp="1"/>
          </p:cNvSpPr>
          <p:nvPr>
            <p:ph type="title" idx="4294967295"/>
          </p:nvPr>
        </p:nvSpPr>
        <p:spPr>
          <a:xfrm>
            <a:off x="0" y="685800"/>
            <a:ext cx="9144000" cy="838200"/>
          </a:xfrm>
        </p:spPr>
        <p:txBody>
          <a:bodyPr>
            <a:normAutofit fontScale="90000"/>
          </a:bodyPr>
          <a:lstStyle/>
          <a:p>
            <a:r>
              <a:rPr lang="en-US" spc="0" dirty="0">
                <a:solidFill>
                  <a:schemeClr val="accent6">
                    <a:lumMod val="75000"/>
                  </a:schemeClr>
                </a:solidFill>
                <a:latin typeface="Century Gothic"/>
                <a:cs typeface="Century Gothic"/>
              </a:rPr>
              <a:t>Is the end of economic growth in sight?</a:t>
            </a:r>
          </a:p>
        </p:txBody>
      </p:sp>
      <p:sp>
        <p:nvSpPr>
          <p:cNvPr id="6" name="Content Placeholder 2"/>
          <p:cNvSpPr txBox="1">
            <a:spLocks/>
          </p:cNvSpPr>
          <p:nvPr/>
        </p:nvSpPr>
        <p:spPr>
          <a:xfrm>
            <a:off x="76200" y="5943600"/>
            <a:ext cx="8839200" cy="685800"/>
          </a:xfrm>
          <a:prstGeom prst="rect">
            <a:avLst/>
          </a:prstGeom>
        </p:spPr>
        <p:txBody>
          <a:bodyPr vert="horz" lIns="91440" tIns="45720" rIns="91440" bIns="45720" rtlCol="0">
            <a:normAutofit/>
          </a:bodyPr>
          <a:lst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latin typeface="Century Gothic"/>
                <a:cs typeface="Century Gothic"/>
              </a:rPr>
              <a:t>Is it too soon to tell?</a:t>
            </a:r>
            <a:endParaRPr lang="en-US" sz="2400" i="1" dirty="0">
              <a:solidFill>
                <a:srgbClr val="990033"/>
              </a:solidFill>
              <a:latin typeface="Century Gothic"/>
              <a:cs typeface="Century Gothic"/>
            </a:endParaRPr>
          </a:p>
        </p:txBody>
      </p:sp>
    </p:spTree>
    <p:extLst>
      <p:ext uri="{BB962C8B-B14F-4D97-AF65-F5344CB8AC3E}">
        <p14:creationId xmlns:p14="http://schemas.microsoft.com/office/powerpoint/2010/main" val="2483840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10234"/>
            <a:ext cx="8839200" cy="799566"/>
          </a:xfrm>
        </p:spPr>
        <p:txBody>
          <a:bodyPr>
            <a:normAutofit/>
          </a:bodyPr>
          <a:lstStyle/>
          <a:p>
            <a:r>
              <a:rPr lang="en-US" sz="2800" dirty="0">
                <a:latin typeface="Century Gothic"/>
                <a:cs typeface="Century Gothic"/>
              </a:rPr>
              <a:t>Robert Gordon’s predictions vs. data</a:t>
            </a:r>
          </a:p>
        </p:txBody>
      </p:sp>
      <p:sp>
        <p:nvSpPr>
          <p:cNvPr id="2" name="Title 1"/>
          <p:cNvSpPr>
            <a:spLocks noGrp="1"/>
          </p:cNvSpPr>
          <p:nvPr>
            <p:ph type="title" idx="4294967295"/>
          </p:nvPr>
        </p:nvSpPr>
        <p:spPr>
          <a:xfrm>
            <a:off x="0" y="685800"/>
            <a:ext cx="9144000" cy="838200"/>
          </a:xfrm>
        </p:spPr>
        <p:txBody>
          <a:bodyPr>
            <a:normAutofit fontScale="90000"/>
          </a:bodyPr>
          <a:lstStyle/>
          <a:p>
            <a:r>
              <a:rPr lang="en-US" spc="0" dirty="0">
                <a:solidFill>
                  <a:schemeClr val="accent6">
                    <a:lumMod val="75000"/>
                  </a:schemeClr>
                </a:solidFill>
                <a:latin typeface="Century Gothic"/>
                <a:cs typeface="Century Gothic"/>
              </a:rPr>
              <a:t>Is the end of economic growth in sight?</a:t>
            </a:r>
          </a:p>
        </p:txBody>
      </p:sp>
      <p:pic>
        <p:nvPicPr>
          <p:cNvPr id="5" name="Picture 4" descr="Screen Shot 2015-04-02 at 8.41.13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371600" y="2133600"/>
            <a:ext cx="6553200" cy="4410507"/>
          </a:xfrm>
          <a:prstGeom prst="rect">
            <a:avLst/>
          </a:prstGeom>
        </p:spPr>
      </p:pic>
    </p:spTree>
    <p:extLst>
      <p:ext uri="{BB962C8B-B14F-4D97-AF65-F5344CB8AC3E}">
        <p14:creationId xmlns:p14="http://schemas.microsoft.com/office/powerpoint/2010/main" val="38891943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2707" name="Picture 2" descr="Cowen_fig_6_06.jpg"/>
          <p:cNvPicPr>
            <a:picLocks noChangeAspect="1"/>
          </p:cNvPicPr>
          <p:nvPr/>
        </p:nvPicPr>
        <p:blipFill>
          <a:blip r:embed="rId3">
            <a:clrChange>
              <a:clrFrom>
                <a:srgbClr val="0D0D0D"/>
              </a:clrFrom>
              <a:clrTo>
                <a:srgbClr val="0D0D0D">
                  <a:alpha val="0"/>
                </a:srgbClr>
              </a:clrTo>
            </a:clrChange>
            <a:extLst>
              <a:ext uri="{28A0092B-C50C-407E-A947-70E740481C1C}">
                <a14:useLocalDpi xmlns:a14="http://schemas.microsoft.com/office/drawing/2010/main"/>
              </a:ext>
            </a:extLst>
          </a:blip>
          <a:srcRect/>
          <a:stretch>
            <a:fillRect/>
          </a:stretch>
        </p:blipFill>
        <p:spPr bwMode="auto">
          <a:xfrm>
            <a:off x="1905000" y="0"/>
            <a:ext cx="52578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Box 3"/>
          <p:cNvSpPr txBox="1">
            <a:spLocks noChangeArrowheads="1"/>
          </p:cNvSpPr>
          <p:nvPr/>
        </p:nvSpPr>
        <p:spPr bwMode="auto">
          <a:xfrm>
            <a:off x="5715000" y="1981200"/>
            <a:ext cx="3429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bg1"/>
                </a:solidFill>
                <a:latin typeface="Times New Roman" pitchFamily="18" charset="0"/>
              </a:defRPr>
            </a:lvl1pPr>
            <a:lvl2pPr marL="742950" indent="-285750" eaLnBrk="0" hangingPunct="0">
              <a:defRPr sz="2400">
                <a:solidFill>
                  <a:schemeClr val="bg1"/>
                </a:solidFill>
                <a:latin typeface="Times New Roman" pitchFamily="18" charset="0"/>
              </a:defRPr>
            </a:lvl2pPr>
            <a:lvl3pPr marL="1143000" indent="-228600" eaLnBrk="0" hangingPunct="0">
              <a:defRPr sz="2400">
                <a:solidFill>
                  <a:schemeClr val="bg1"/>
                </a:solidFill>
                <a:latin typeface="Times New Roman" pitchFamily="18" charset="0"/>
              </a:defRPr>
            </a:lvl3pPr>
            <a:lvl4pPr marL="1600200" indent="-228600" eaLnBrk="0" hangingPunct="0">
              <a:defRPr sz="2400">
                <a:solidFill>
                  <a:schemeClr val="bg1"/>
                </a:solidFill>
                <a:latin typeface="Times New Roman" pitchFamily="18" charset="0"/>
              </a:defRPr>
            </a:lvl4pPr>
            <a:lvl5pPr marL="2057400" indent="-228600" eaLnBrk="0" hangingPunct="0">
              <a:defRPr sz="2400">
                <a:solidFill>
                  <a:schemeClr val="bg1"/>
                </a:solidFill>
                <a:latin typeface="Times New Roman" pitchFamily="18" charset="0"/>
              </a:defRPr>
            </a:lvl5pPr>
            <a:lvl6pPr marL="2514600" indent="-228600" eaLnBrk="0" fontAlgn="base" hangingPunct="0">
              <a:spcBef>
                <a:spcPct val="0"/>
              </a:spcBef>
              <a:spcAft>
                <a:spcPct val="0"/>
              </a:spcAft>
              <a:defRPr sz="2400">
                <a:solidFill>
                  <a:schemeClr val="bg1"/>
                </a:solidFill>
                <a:latin typeface="Times New Roman" pitchFamily="18" charset="0"/>
              </a:defRPr>
            </a:lvl6pPr>
            <a:lvl7pPr marL="2971800" indent="-228600" eaLnBrk="0" fontAlgn="base" hangingPunct="0">
              <a:spcBef>
                <a:spcPct val="0"/>
              </a:spcBef>
              <a:spcAft>
                <a:spcPct val="0"/>
              </a:spcAft>
              <a:defRPr sz="2400">
                <a:solidFill>
                  <a:schemeClr val="bg1"/>
                </a:solidFill>
                <a:latin typeface="Times New Roman" pitchFamily="18" charset="0"/>
              </a:defRPr>
            </a:lvl7pPr>
            <a:lvl8pPr marL="3429000" indent="-228600" eaLnBrk="0" fontAlgn="base" hangingPunct="0">
              <a:spcBef>
                <a:spcPct val="0"/>
              </a:spcBef>
              <a:spcAft>
                <a:spcPct val="0"/>
              </a:spcAft>
              <a:defRPr sz="2400">
                <a:solidFill>
                  <a:schemeClr val="bg1"/>
                </a:solidFill>
                <a:latin typeface="Times New Roman" pitchFamily="18" charset="0"/>
              </a:defRPr>
            </a:lvl8pPr>
            <a:lvl9pPr marL="3886200" indent="-228600" eaLnBrk="0" fontAlgn="base" hangingPunct="0">
              <a:spcBef>
                <a:spcPct val="0"/>
              </a:spcBef>
              <a:spcAft>
                <a:spcPct val="0"/>
              </a:spcAft>
              <a:defRPr sz="2400">
                <a:solidFill>
                  <a:schemeClr val="bg1"/>
                </a:solidFill>
                <a:latin typeface="Times New Roman" pitchFamily="18" charset="0"/>
              </a:defRPr>
            </a:lvl9pPr>
          </a:lstStyle>
          <a:p>
            <a:pPr eaLnBrk="1" hangingPunct="1"/>
            <a:r>
              <a:rPr lang="en-US" sz="3200" dirty="0">
                <a:solidFill>
                  <a:prstClr val="white"/>
                </a:solidFill>
                <a:latin typeface="Gill Sans MT"/>
                <a:cs typeface="Gill Sans MT"/>
              </a:rPr>
              <a:t>What economic growth looks like at night</a:t>
            </a:r>
          </a:p>
        </p:txBody>
      </p:sp>
    </p:spTree>
    <p:extLst>
      <p:ext uri="{BB962C8B-B14F-4D97-AF65-F5344CB8AC3E}">
        <p14:creationId xmlns:p14="http://schemas.microsoft.com/office/powerpoint/2010/main" val="344204644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WHY GROWTH RATES DIFFER</a:t>
            </a:r>
          </a:p>
        </p:txBody>
      </p:sp>
      <p:sp>
        <p:nvSpPr>
          <p:cNvPr id="3" name="Content Placeholder 2"/>
          <p:cNvSpPr>
            <a:spLocks noGrp="1"/>
          </p:cNvSpPr>
          <p:nvPr>
            <p:ph idx="1"/>
          </p:nvPr>
        </p:nvSpPr>
        <p:spPr>
          <a:xfrm>
            <a:off x="228600" y="1219200"/>
            <a:ext cx="8839200" cy="1981200"/>
          </a:xfrm>
        </p:spPr>
        <p:txBody>
          <a:bodyPr>
            <a:normAutofit/>
          </a:bodyPr>
          <a:lstStyle/>
          <a:p>
            <a:r>
              <a:rPr lang="en-US" dirty="0">
                <a:solidFill>
                  <a:srgbClr val="0070C0"/>
                </a:solidFill>
              </a:rPr>
              <a:t>Savings and investment spending</a:t>
            </a:r>
          </a:p>
          <a:p>
            <a:r>
              <a:rPr lang="en-US" dirty="0">
                <a:solidFill>
                  <a:srgbClr val="0070C0"/>
                </a:solidFill>
              </a:rPr>
              <a:t>Education</a:t>
            </a:r>
          </a:p>
          <a:p>
            <a:r>
              <a:rPr lang="en-US" dirty="0">
                <a:solidFill>
                  <a:srgbClr val="0070C0"/>
                </a:solidFill>
              </a:rPr>
              <a:t>Research and development</a:t>
            </a:r>
          </a:p>
          <a:p>
            <a:endParaRPr lang="en-US" dirty="0">
              <a:solidFill>
                <a:srgbClr val="0070C0"/>
              </a:solidFill>
            </a:endParaRP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952527"/>
            <a:ext cx="3048000" cy="2286000"/>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19400" y="3952527"/>
            <a:ext cx="3048000" cy="2286000"/>
          </a:xfrm>
          <a:prstGeom prst="rect">
            <a:avLst/>
          </a:prstGeom>
          <a:ln>
            <a:noFill/>
          </a:ln>
          <a:effectLst>
            <a:outerShdw blurRad="292100" dist="139700" dir="2700000" algn="tl" rotWithShape="0">
              <a:srgbClr val="333333">
                <a:alpha val="65000"/>
              </a:srgbClr>
            </a:outerShdw>
          </a:effectLst>
        </p:spPr>
      </p:pic>
      <p:pic>
        <p:nvPicPr>
          <p:cNvPr id="25602" name="Picture 2" descr="http://www.sxc.hu/pic/l/s/sq/squidonius/520800_36813827.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861875" y="3952527"/>
            <a:ext cx="3282125" cy="2286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2699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25602"/>
                                        </p:tgtEl>
                                        <p:attrNameLst>
                                          <p:attrName>style.visibility</p:attrName>
                                        </p:attrNameLst>
                                      </p:cBhvr>
                                      <p:to>
                                        <p:strVal val="visible"/>
                                      </p:to>
                                    </p:set>
                                    <p:animEffect transition="in" filter="fade">
                                      <p:cBhvr>
                                        <p:cTn id="29"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12157"/>
            <a:ext cx="9144000" cy="6870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0" y="0"/>
            <a:ext cx="9144000" cy="685800"/>
          </a:xfrm>
        </p:spPr>
        <p:txBody>
          <a:bodyPr>
            <a:noAutofit/>
          </a:bodyPr>
          <a:lstStyle/>
          <a:p>
            <a:r>
              <a:rPr lang="en-US" sz="4000" spc="0" dirty="0"/>
              <a:t>RESEARCH AND DEVELOPMENT</a:t>
            </a:r>
          </a:p>
        </p:txBody>
      </p:sp>
      <p:sp>
        <p:nvSpPr>
          <p:cNvPr id="3" name="Content Placeholder 2"/>
          <p:cNvSpPr>
            <a:spLocks noGrp="1"/>
          </p:cNvSpPr>
          <p:nvPr>
            <p:ph idx="1"/>
          </p:nvPr>
        </p:nvSpPr>
        <p:spPr>
          <a:xfrm>
            <a:off x="0" y="685800"/>
            <a:ext cx="9144000" cy="990600"/>
          </a:xfrm>
          <a:solidFill>
            <a:schemeClr val="bg1">
              <a:alpha val="55000"/>
            </a:schemeClr>
          </a:solidFill>
        </p:spPr>
        <p:txBody>
          <a:bodyPr>
            <a:normAutofit lnSpcReduction="10000"/>
          </a:bodyPr>
          <a:lstStyle/>
          <a:p>
            <a:r>
              <a:rPr lang="en-US" i="1" dirty="0">
                <a:solidFill>
                  <a:srgbClr val="990033"/>
                </a:solidFill>
              </a:rPr>
              <a:t>Research and development (R&amp;D): </a:t>
            </a:r>
            <a:r>
              <a:rPr lang="en-US" sz="2800" b="0" dirty="0"/>
              <a:t>spending to create and implement new technologies</a:t>
            </a:r>
            <a:endParaRPr lang="en-US" dirty="0"/>
          </a:p>
        </p:txBody>
      </p:sp>
      <p:sp>
        <p:nvSpPr>
          <p:cNvPr id="6" name="Rectangle 5"/>
          <p:cNvSpPr/>
          <p:nvPr/>
        </p:nvSpPr>
        <p:spPr>
          <a:xfrm>
            <a:off x="0" y="5475982"/>
            <a:ext cx="9144000" cy="1077218"/>
          </a:xfrm>
          <a:prstGeom prst="rect">
            <a:avLst/>
          </a:prstGeom>
          <a:solidFill>
            <a:schemeClr val="tx1">
              <a:alpha val="73000"/>
            </a:schemeClr>
          </a:solidFill>
        </p:spPr>
        <p:txBody>
          <a:bodyPr wrap="square">
            <a:spAutoFit/>
          </a:bodyPr>
          <a:lstStyle/>
          <a:p>
            <a:r>
              <a:rPr lang="en-US" sz="3200" dirty="0">
                <a:solidFill>
                  <a:srgbClr val="FFFFFF"/>
                </a:solidFill>
                <a:latin typeface="Century Gothic"/>
                <a:cs typeface="Century Gothic"/>
              </a:rPr>
              <a:t>Thomas Edison: inventor of light bulb…. And research and development.</a:t>
            </a:r>
          </a:p>
        </p:txBody>
      </p:sp>
    </p:spTree>
    <p:extLst>
      <p:ext uri="{BB962C8B-B14F-4D97-AF65-F5344CB8AC3E}">
        <p14:creationId xmlns:p14="http://schemas.microsoft.com/office/powerpoint/2010/main" val="107415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Shot 2015-04-02 at 8.51.59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09600" y="1828800"/>
            <a:ext cx="7696200" cy="4730388"/>
          </a:xfrm>
          <a:prstGeom prst="rect">
            <a:avLst/>
          </a:prstGeom>
        </p:spPr>
      </p:pic>
      <p:sp>
        <p:nvSpPr>
          <p:cNvPr id="2" name="Title 1"/>
          <p:cNvSpPr>
            <a:spLocks noGrp="1"/>
          </p:cNvSpPr>
          <p:nvPr>
            <p:ph type="title"/>
          </p:nvPr>
        </p:nvSpPr>
        <p:spPr>
          <a:xfrm>
            <a:off x="0" y="0"/>
            <a:ext cx="9144000" cy="762000"/>
          </a:xfrm>
        </p:spPr>
        <p:txBody>
          <a:bodyPr>
            <a:normAutofit/>
          </a:bodyPr>
          <a:lstStyle/>
          <a:p>
            <a:r>
              <a:rPr lang="en-US" sz="3600" spc="0" dirty="0"/>
              <a:t>CHINA’S STUDENTS ARE CATCHING UP</a:t>
            </a:r>
          </a:p>
        </p:txBody>
      </p:sp>
      <p:sp>
        <p:nvSpPr>
          <p:cNvPr id="3" name="Content Placeholder 2"/>
          <p:cNvSpPr>
            <a:spLocks noGrp="1"/>
          </p:cNvSpPr>
          <p:nvPr>
            <p:ph idx="1"/>
          </p:nvPr>
        </p:nvSpPr>
        <p:spPr>
          <a:xfrm>
            <a:off x="33698" y="762000"/>
            <a:ext cx="8839200" cy="979830"/>
          </a:xfrm>
        </p:spPr>
        <p:txBody>
          <a:bodyPr>
            <a:normAutofit/>
          </a:bodyPr>
          <a:lstStyle/>
          <a:p>
            <a:r>
              <a:rPr lang="en-US" sz="2800" dirty="0"/>
              <a:t>China’s success at adding human capital is one key to its spectacular long-run growth.</a:t>
            </a:r>
          </a:p>
        </p:txBody>
      </p:sp>
      <p:sp>
        <p:nvSpPr>
          <p:cNvPr id="5" name="Rectangle 4"/>
          <p:cNvSpPr/>
          <p:nvPr/>
        </p:nvSpPr>
        <p:spPr>
          <a:xfrm>
            <a:off x="762000" y="6019800"/>
            <a:ext cx="6543368" cy="430887"/>
          </a:xfrm>
          <a:prstGeom prst="rect">
            <a:avLst/>
          </a:prstGeom>
        </p:spPr>
        <p:txBody>
          <a:bodyPr wrap="square">
            <a:spAutoFit/>
          </a:bodyPr>
          <a:lstStyle/>
          <a:p>
            <a:r>
              <a:rPr lang="en-US" sz="1100" i="1" dirty="0">
                <a:solidFill>
                  <a:schemeClr val="tx1">
                    <a:lumMod val="65000"/>
                    <a:lumOff val="35000"/>
                  </a:schemeClr>
                </a:solidFill>
                <a:latin typeface="Century Gothic"/>
                <a:cs typeface="Century Gothic"/>
              </a:rPr>
              <a:t>Source: Robert Barro and Jong-Wha Lee, “A New Data Set of Educational Attainment in the World, 1950– 2010,” NBER Working Paper No. 15902 (April 2010).</a:t>
            </a:r>
          </a:p>
        </p:txBody>
      </p:sp>
    </p:spTree>
    <p:extLst>
      <p:ext uri="{BB962C8B-B14F-4D97-AF65-F5344CB8AC3E}">
        <p14:creationId xmlns:p14="http://schemas.microsoft.com/office/powerpoint/2010/main" val="2587913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latin typeface="Century Gothic"/>
                <a:cs typeface="Century Gothic"/>
              </a:rPr>
              <a:t>Is Italy’s productivity slump due to rigid labor markets, political weakness or slow information technology infrastructure?</a:t>
            </a:r>
          </a:p>
        </p:txBody>
      </p:sp>
      <p:sp>
        <p:nvSpPr>
          <p:cNvPr id="2" name="Title 1"/>
          <p:cNvSpPr>
            <a:spLocks noGrp="1"/>
          </p:cNvSpPr>
          <p:nvPr>
            <p:ph type="title" idx="4294967295"/>
          </p:nvPr>
        </p:nvSpPr>
        <p:spPr>
          <a:xfrm>
            <a:off x="-5611" y="762000"/>
            <a:ext cx="9144000" cy="838200"/>
          </a:xfrm>
        </p:spPr>
        <p:txBody>
          <a:bodyPr>
            <a:normAutofit/>
          </a:bodyPr>
          <a:lstStyle/>
          <a:p>
            <a:r>
              <a:rPr lang="en-US" spc="0" dirty="0">
                <a:solidFill>
                  <a:schemeClr val="accent6">
                    <a:lumMod val="75000"/>
                  </a:schemeClr>
                </a:solidFill>
                <a:latin typeface="Century Gothic"/>
                <a:cs typeface="Century Gothic"/>
              </a:rPr>
              <a:t>What’s the matter with </a:t>
            </a:r>
            <a:r>
              <a:rPr lang="en-US" spc="0" dirty="0" err="1">
                <a:solidFill>
                  <a:schemeClr val="accent6">
                    <a:lumMod val="75000"/>
                  </a:schemeClr>
                </a:solidFill>
                <a:latin typeface="Century Gothic"/>
                <a:cs typeface="Century Gothic"/>
              </a:rPr>
              <a:t>italy</a:t>
            </a:r>
            <a:r>
              <a:rPr lang="en-US" spc="0" dirty="0">
                <a:solidFill>
                  <a:schemeClr val="accent6">
                    <a:lumMod val="75000"/>
                  </a:schemeClr>
                </a:solidFill>
                <a:latin typeface="Century Gothic"/>
                <a:cs typeface="Century Gothic"/>
              </a:rPr>
              <a:t>?</a:t>
            </a:r>
          </a:p>
        </p:txBody>
      </p:sp>
      <p:pic>
        <p:nvPicPr>
          <p:cNvPr id="6" name="Picture 5" descr="Screen Shot 2015-04-02 at 8.58.17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828800" y="2819400"/>
            <a:ext cx="5029200" cy="3664791"/>
          </a:xfrm>
          <a:prstGeom prst="rect">
            <a:avLst/>
          </a:prstGeom>
        </p:spPr>
      </p:pic>
      <p:sp>
        <p:nvSpPr>
          <p:cNvPr id="5" name="Rectangle 4"/>
          <p:cNvSpPr/>
          <p:nvPr/>
        </p:nvSpPr>
        <p:spPr>
          <a:xfrm>
            <a:off x="304800" y="6324600"/>
            <a:ext cx="5264989" cy="307777"/>
          </a:xfrm>
          <a:prstGeom prst="rect">
            <a:avLst/>
          </a:prstGeom>
        </p:spPr>
        <p:txBody>
          <a:bodyPr wrap="none">
            <a:spAutoFit/>
          </a:bodyPr>
          <a:lstStyle/>
          <a:p>
            <a:r>
              <a:rPr lang="en-US" sz="1400" i="1" dirty="0">
                <a:solidFill>
                  <a:schemeClr val="tx1">
                    <a:lumMod val="65000"/>
                    <a:lumOff val="35000"/>
                  </a:schemeClr>
                </a:solidFill>
                <a:latin typeface="Candara" pitchFamily="34" charset="0"/>
              </a:rPr>
              <a:t>Source: The Conference Board Total Economy Database, January 2014</a:t>
            </a:r>
          </a:p>
        </p:txBody>
      </p:sp>
    </p:spTree>
    <p:extLst>
      <p:ext uri="{BB962C8B-B14F-4D97-AF65-F5344CB8AC3E}">
        <p14:creationId xmlns:p14="http://schemas.microsoft.com/office/powerpoint/2010/main" val="5467209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3600" spc="0" dirty="0"/>
              <a:t>THE ROLE OF GOVERNMENT IN PROMOTING ECONOMIC GROWTH</a:t>
            </a:r>
          </a:p>
        </p:txBody>
      </p:sp>
      <p:sp>
        <p:nvSpPr>
          <p:cNvPr id="3" name="Content Placeholder 2"/>
          <p:cNvSpPr>
            <a:spLocks noGrp="1"/>
          </p:cNvSpPr>
          <p:nvPr>
            <p:ph idx="1"/>
          </p:nvPr>
        </p:nvSpPr>
        <p:spPr>
          <a:xfrm>
            <a:off x="152400" y="1219200"/>
            <a:ext cx="8839200" cy="5638800"/>
          </a:xfrm>
        </p:spPr>
        <p:txBody>
          <a:bodyPr>
            <a:normAutofit fontScale="92500" lnSpcReduction="10000"/>
          </a:bodyPr>
          <a:lstStyle/>
          <a:p>
            <a:pPr>
              <a:spcBef>
                <a:spcPts val="0"/>
              </a:spcBef>
              <a:spcAft>
                <a:spcPts val="1200"/>
              </a:spcAft>
            </a:pPr>
            <a:r>
              <a:rPr lang="en-US" dirty="0">
                <a:solidFill>
                  <a:srgbClr val="0070C0"/>
                </a:solidFill>
              </a:rPr>
              <a:t>Government policies</a:t>
            </a:r>
          </a:p>
          <a:p>
            <a:pPr marL="971550" lvl="1" indent="-514350">
              <a:spcBef>
                <a:spcPts val="0"/>
              </a:spcBef>
              <a:spcAft>
                <a:spcPts val="1200"/>
              </a:spcAft>
              <a:buFont typeface="+mj-lt"/>
              <a:buAutoNum type="arabicPeriod"/>
            </a:pPr>
            <a:r>
              <a:rPr lang="en-US" dirty="0"/>
              <a:t>GOVERNMENT SUBSIDIES TO INFRASTRUCTURE</a:t>
            </a:r>
          </a:p>
          <a:p>
            <a:pPr lvl="2">
              <a:spcBef>
                <a:spcPts val="0"/>
              </a:spcBef>
              <a:spcAft>
                <a:spcPts val="1200"/>
              </a:spcAft>
            </a:pPr>
            <a:r>
              <a:rPr lang="en-US" sz="2800" i="1" dirty="0">
                <a:solidFill>
                  <a:srgbClr val="990033"/>
                </a:solidFill>
              </a:rPr>
              <a:t>Infrastructure:</a:t>
            </a:r>
            <a:r>
              <a:rPr lang="en-US" sz="2800" dirty="0"/>
              <a:t> </a:t>
            </a:r>
            <a:r>
              <a:rPr lang="en-US" sz="2800" b="0" dirty="0"/>
              <a:t>roads, power lines, ports, information networks, and other underpinnings for economic activity.</a:t>
            </a:r>
          </a:p>
          <a:p>
            <a:pPr marL="971550" lvl="1" indent="-514350">
              <a:spcBef>
                <a:spcPts val="0"/>
              </a:spcBef>
              <a:spcAft>
                <a:spcPts val="1200"/>
              </a:spcAft>
              <a:buFont typeface="+mj-lt"/>
              <a:buAutoNum type="arabicPeriod"/>
            </a:pPr>
            <a:r>
              <a:rPr lang="en-US" dirty="0"/>
              <a:t>GOVERNMENT SUBSIDIES TO EDUCATION</a:t>
            </a:r>
          </a:p>
          <a:p>
            <a:pPr marL="971550" lvl="1" indent="-514350">
              <a:spcBef>
                <a:spcPts val="0"/>
              </a:spcBef>
              <a:spcAft>
                <a:spcPts val="1200"/>
              </a:spcAft>
              <a:buFont typeface="+mj-lt"/>
              <a:buAutoNum type="arabicPeriod"/>
            </a:pPr>
            <a:r>
              <a:rPr lang="en-US" dirty="0"/>
              <a:t>GOVERNMENT SUBSIDIES TO R&amp;D</a:t>
            </a:r>
          </a:p>
          <a:p>
            <a:pPr marL="971550" lvl="1" indent="-514350">
              <a:spcBef>
                <a:spcPts val="0"/>
              </a:spcBef>
              <a:spcAft>
                <a:spcPts val="1200"/>
              </a:spcAft>
              <a:buFont typeface="+mj-lt"/>
              <a:buAutoNum type="arabicPeriod"/>
            </a:pPr>
            <a:r>
              <a:rPr lang="en-US" dirty="0"/>
              <a:t>MAINTAINING A WELL-FUNCTIONING FINANCIAL SYSTEM</a:t>
            </a:r>
          </a:p>
          <a:p>
            <a:pPr>
              <a:spcBef>
                <a:spcPts val="0"/>
              </a:spcBef>
              <a:spcAft>
                <a:spcPts val="1200"/>
              </a:spcAft>
            </a:pPr>
            <a:r>
              <a:rPr lang="en-US" dirty="0">
                <a:solidFill>
                  <a:srgbClr val="0070C0"/>
                </a:solidFill>
              </a:rPr>
              <a:t>Protection of property rights</a:t>
            </a:r>
          </a:p>
          <a:p>
            <a:pPr>
              <a:spcBef>
                <a:spcPts val="0"/>
              </a:spcBef>
              <a:spcAft>
                <a:spcPts val="1200"/>
              </a:spcAft>
            </a:pPr>
            <a:r>
              <a:rPr lang="en-US" dirty="0">
                <a:solidFill>
                  <a:srgbClr val="0070C0"/>
                </a:solidFill>
              </a:rPr>
              <a:t>Political stability and good governance</a:t>
            </a:r>
          </a:p>
        </p:txBody>
      </p:sp>
    </p:spTree>
    <p:extLst>
      <p:ext uri="{BB962C8B-B14F-4D97-AF65-F5344CB8AC3E}">
        <p14:creationId xmlns:p14="http://schemas.microsoft.com/office/powerpoint/2010/main" val="87036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800px-Aqueduct-segovia.jpg"/>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838200"/>
            <a:ext cx="9144000"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0" y="5029200"/>
            <a:ext cx="9144000" cy="1292225"/>
          </a:xfrm>
          <a:prstGeom prst="rect">
            <a:avLst/>
          </a:prstGeom>
          <a:solidFill>
            <a:schemeClr val="accent3">
              <a:lumMod val="20000"/>
              <a:lumOff val="80000"/>
            </a:schemeClr>
          </a:solidFill>
          <a:ln>
            <a:noFill/>
          </a:ln>
        </p:spPr>
        <p:txBody>
          <a:bodyPr>
            <a:spAutoFit/>
          </a:bodyPr>
          <a:lstStyle>
            <a:lvl1pPr eaLnBrk="0" hangingPunct="0">
              <a:defRPr sz="2400">
                <a:solidFill>
                  <a:schemeClr val="bg1"/>
                </a:solidFill>
                <a:latin typeface="Times New Roman" pitchFamily="18" charset="0"/>
              </a:defRPr>
            </a:lvl1pPr>
            <a:lvl2pPr marL="742950" indent="-285750" eaLnBrk="0" hangingPunct="0">
              <a:defRPr sz="2400">
                <a:solidFill>
                  <a:schemeClr val="bg1"/>
                </a:solidFill>
                <a:latin typeface="Times New Roman" pitchFamily="18" charset="0"/>
              </a:defRPr>
            </a:lvl2pPr>
            <a:lvl3pPr marL="1143000" indent="-228600" eaLnBrk="0" hangingPunct="0">
              <a:defRPr sz="2400">
                <a:solidFill>
                  <a:schemeClr val="bg1"/>
                </a:solidFill>
                <a:latin typeface="Times New Roman" pitchFamily="18" charset="0"/>
              </a:defRPr>
            </a:lvl3pPr>
            <a:lvl4pPr marL="1600200" indent="-228600" eaLnBrk="0" hangingPunct="0">
              <a:defRPr sz="2400">
                <a:solidFill>
                  <a:schemeClr val="bg1"/>
                </a:solidFill>
                <a:latin typeface="Times New Roman" pitchFamily="18" charset="0"/>
              </a:defRPr>
            </a:lvl4pPr>
            <a:lvl5pPr marL="2057400" indent="-228600" eaLnBrk="0" hangingPunct="0">
              <a:defRPr sz="2400">
                <a:solidFill>
                  <a:schemeClr val="bg1"/>
                </a:solidFill>
                <a:latin typeface="Times New Roman" pitchFamily="18" charset="0"/>
              </a:defRPr>
            </a:lvl5pPr>
            <a:lvl6pPr marL="2514600" indent="-228600" eaLnBrk="0" fontAlgn="base" hangingPunct="0">
              <a:spcBef>
                <a:spcPct val="0"/>
              </a:spcBef>
              <a:spcAft>
                <a:spcPct val="0"/>
              </a:spcAft>
              <a:defRPr sz="2400">
                <a:solidFill>
                  <a:schemeClr val="bg1"/>
                </a:solidFill>
                <a:latin typeface="Times New Roman" pitchFamily="18" charset="0"/>
              </a:defRPr>
            </a:lvl6pPr>
            <a:lvl7pPr marL="2971800" indent="-228600" eaLnBrk="0" fontAlgn="base" hangingPunct="0">
              <a:spcBef>
                <a:spcPct val="0"/>
              </a:spcBef>
              <a:spcAft>
                <a:spcPct val="0"/>
              </a:spcAft>
              <a:defRPr sz="2400">
                <a:solidFill>
                  <a:schemeClr val="bg1"/>
                </a:solidFill>
                <a:latin typeface="Times New Roman" pitchFamily="18" charset="0"/>
              </a:defRPr>
            </a:lvl7pPr>
            <a:lvl8pPr marL="3429000" indent="-228600" eaLnBrk="0" fontAlgn="base" hangingPunct="0">
              <a:spcBef>
                <a:spcPct val="0"/>
              </a:spcBef>
              <a:spcAft>
                <a:spcPct val="0"/>
              </a:spcAft>
              <a:defRPr sz="2400">
                <a:solidFill>
                  <a:schemeClr val="bg1"/>
                </a:solidFill>
                <a:latin typeface="Times New Roman" pitchFamily="18" charset="0"/>
              </a:defRPr>
            </a:lvl8pPr>
            <a:lvl9pPr marL="3886200" indent="-228600" eaLnBrk="0" fontAlgn="base" hangingPunct="0">
              <a:spcBef>
                <a:spcPct val="0"/>
              </a:spcBef>
              <a:spcAft>
                <a:spcPct val="0"/>
              </a:spcAft>
              <a:defRPr sz="2400">
                <a:solidFill>
                  <a:schemeClr val="bg1"/>
                </a:solidFill>
                <a:latin typeface="Times New Roman" pitchFamily="18" charset="0"/>
              </a:defRPr>
            </a:lvl9pPr>
          </a:lstStyle>
          <a:p>
            <a:pPr eaLnBrk="1" hangingPunct="1"/>
            <a:r>
              <a:rPr lang="en-US" sz="2000" b="1" dirty="0">
                <a:solidFill>
                  <a:schemeClr val="accent2"/>
                </a:solidFill>
                <a:latin typeface="Century Gothic"/>
                <a:cs typeface="Century Gothic"/>
              </a:rPr>
              <a:t>Roman aqueducts: ushering in an era of economic growth.</a:t>
            </a:r>
          </a:p>
          <a:p>
            <a:pPr eaLnBrk="1" hangingPunct="1"/>
            <a:r>
              <a:rPr lang="en-US" sz="2000" b="1" dirty="0">
                <a:solidFill>
                  <a:schemeClr val="accent2"/>
                </a:solidFill>
                <a:latin typeface="Century Gothic"/>
                <a:cs typeface="Century Gothic"/>
              </a:rPr>
              <a:t>Aqueducts were sophisticated feats of engineering that enabled population and industry to thrive.</a:t>
            </a:r>
          </a:p>
          <a:p>
            <a:pPr algn="r" eaLnBrk="1" hangingPunct="1"/>
            <a:r>
              <a:rPr lang="en-US" sz="1800" b="1" i="1" dirty="0">
                <a:solidFill>
                  <a:schemeClr val="tx1"/>
                </a:solidFill>
                <a:latin typeface="Century Gothic"/>
                <a:cs typeface="Century Gothic"/>
              </a:rPr>
              <a:t>Roman Aqueduct in Segovia, Spain, built in second century A.D./C.E.</a:t>
            </a:r>
            <a:endParaRPr lang="en-US" sz="2000" b="1" i="1" dirty="0">
              <a:solidFill>
                <a:schemeClr val="tx1"/>
              </a:solidFill>
              <a:latin typeface="Century Gothic"/>
              <a:cs typeface="Century Gothic"/>
            </a:endParaRPr>
          </a:p>
        </p:txBody>
      </p:sp>
      <p:sp>
        <p:nvSpPr>
          <p:cNvPr id="5" name="Title 4"/>
          <p:cNvSpPr>
            <a:spLocks noGrp="1"/>
          </p:cNvSpPr>
          <p:nvPr>
            <p:ph type="title"/>
          </p:nvPr>
        </p:nvSpPr>
        <p:spPr/>
        <p:txBody>
          <a:bodyPr>
            <a:normAutofit/>
          </a:bodyPr>
          <a:lstStyle/>
          <a:p>
            <a:r>
              <a:rPr lang="en-US" sz="4000" spc="0" dirty="0"/>
              <a:t>INFRASTRUCTURE</a:t>
            </a:r>
          </a:p>
        </p:txBody>
      </p:sp>
    </p:spTree>
    <p:extLst>
      <p:ext uri="{BB962C8B-B14F-4D97-AF65-F5344CB8AC3E}">
        <p14:creationId xmlns:p14="http://schemas.microsoft.com/office/powerpoint/2010/main" val="42127946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257800"/>
            <a:ext cx="9144000" cy="1600200"/>
          </a:xfrm>
          <a:solidFill>
            <a:schemeClr val="tx1">
              <a:alpha val="58000"/>
            </a:schemeClr>
          </a:solidFill>
        </p:spPr>
        <p:txBody>
          <a:bodyPr>
            <a:noAutofit/>
          </a:bodyPr>
          <a:lstStyle/>
          <a:p>
            <a:r>
              <a:rPr lang="en-US" sz="2800" dirty="0">
                <a:solidFill>
                  <a:srgbClr val="FFFFFF"/>
                </a:solidFill>
                <a:latin typeface="Century Gothic"/>
                <a:cs typeface="Century Gothic"/>
              </a:rPr>
              <a:t>There are many theories- but it’s clear Britain fell behind the United States and Germany largely due to barriers to education.</a:t>
            </a:r>
            <a:endParaRPr lang="en-US" sz="2800" i="1" dirty="0">
              <a:solidFill>
                <a:srgbClr val="FFFFFF"/>
              </a:solidFill>
              <a:latin typeface="Century Gothic"/>
              <a:cs typeface="Century Gothic"/>
            </a:endParaRPr>
          </a:p>
        </p:txBody>
      </p:sp>
      <p:sp>
        <p:nvSpPr>
          <p:cNvPr id="2" name="Title 1"/>
          <p:cNvSpPr>
            <a:spLocks noGrp="1"/>
          </p:cNvSpPr>
          <p:nvPr>
            <p:ph type="title" idx="4294967295"/>
          </p:nvPr>
        </p:nvSpPr>
        <p:spPr>
          <a:xfrm>
            <a:off x="0" y="762000"/>
            <a:ext cx="9144000" cy="838200"/>
          </a:xfrm>
          <a:solidFill>
            <a:schemeClr val="tx1">
              <a:alpha val="40000"/>
            </a:schemeClr>
          </a:solidFill>
        </p:spPr>
        <p:txBody>
          <a:bodyPr>
            <a:normAutofit/>
          </a:bodyPr>
          <a:lstStyle/>
          <a:p>
            <a:r>
              <a:rPr lang="en-US" spc="0" dirty="0">
                <a:solidFill>
                  <a:srgbClr val="E46C0A"/>
                </a:solidFill>
                <a:latin typeface="Century Gothic"/>
                <a:cs typeface="Century Gothic"/>
              </a:rPr>
              <a:t>Why did </a:t>
            </a:r>
            <a:r>
              <a:rPr lang="en-US" spc="0" dirty="0" err="1">
                <a:solidFill>
                  <a:srgbClr val="E46C0A"/>
                </a:solidFill>
                <a:latin typeface="Century Gothic"/>
                <a:cs typeface="Century Gothic"/>
              </a:rPr>
              <a:t>britain</a:t>
            </a:r>
            <a:r>
              <a:rPr lang="en-US" spc="0" dirty="0">
                <a:solidFill>
                  <a:srgbClr val="E46C0A"/>
                </a:solidFill>
                <a:latin typeface="Century Gothic"/>
                <a:cs typeface="Century Gothic"/>
              </a:rPr>
              <a:t> fall behind?</a:t>
            </a:r>
          </a:p>
        </p:txBody>
      </p:sp>
    </p:spTree>
    <p:extLst>
      <p:ext uri="{BB962C8B-B14F-4D97-AF65-F5344CB8AC3E}">
        <p14:creationId xmlns:p14="http://schemas.microsoft.com/office/powerpoint/2010/main" val="1445910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9144000" cy="6858000"/>
          </a:xfrm>
          <a:prstGeom prst="rect">
            <a:avLst/>
          </a:prstGeom>
          <a:solidFill>
            <a:schemeClr val="tx1">
              <a:alpha val="60000"/>
            </a:schemeClr>
          </a:solidFill>
        </p:spPr>
      </p:pic>
      <p:sp>
        <p:nvSpPr>
          <p:cNvPr id="2" name="Title 1"/>
          <p:cNvSpPr>
            <a:spLocks noGrp="1"/>
          </p:cNvSpPr>
          <p:nvPr>
            <p:ph type="title"/>
          </p:nvPr>
        </p:nvSpPr>
        <p:spPr>
          <a:solidFill>
            <a:schemeClr val="bg1">
              <a:alpha val="65000"/>
            </a:schemeClr>
          </a:solidFill>
        </p:spPr>
        <p:txBody>
          <a:bodyPr>
            <a:normAutofit/>
          </a:bodyPr>
          <a:lstStyle/>
          <a:p>
            <a:r>
              <a:rPr lang="en-US" sz="3600" dirty="0"/>
              <a:t>WHAT CAUSED EAST ASIA’S MIRACLE? </a:t>
            </a:r>
          </a:p>
        </p:txBody>
      </p:sp>
      <p:sp>
        <p:nvSpPr>
          <p:cNvPr id="3" name="Content Placeholder 2"/>
          <p:cNvSpPr>
            <a:spLocks noGrp="1"/>
          </p:cNvSpPr>
          <p:nvPr>
            <p:ph idx="1"/>
          </p:nvPr>
        </p:nvSpPr>
        <p:spPr>
          <a:xfrm>
            <a:off x="0" y="4114800"/>
            <a:ext cx="9143999" cy="2743200"/>
          </a:xfrm>
          <a:solidFill>
            <a:schemeClr val="tx1">
              <a:alpha val="76000"/>
            </a:schemeClr>
          </a:solidFill>
        </p:spPr>
        <p:txBody>
          <a:bodyPr>
            <a:noAutofit/>
          </a:bodyPr>
          <a:lstStyle/>
          <a:p>
            <a:pPr>
              <a:spcBef>
                <a:spcPts val="168"/>
              </a:spcBef>
              <a:spcAft>
                <a:spcPts val="1200"/>
              </a:spcAft>
            </a:pPr>
            <a:r>
              <a:rPr lang="en-US" sz="2800" b="0" dirty="0">
                <a:solidFill>
                  <a:schemeClr val="bg1"/>
                </a:solidFill>
              </a:rPr>
              <a:t>Very high savings rates that allow business to borrow and add more physical capital per worker. </a:t>
            </a:r>
          </a:p>
          <a:p>
            <a:pPr>
              <a:spcBef>
                <a:spcPts val="168"/>
              </a:spcBef>
              <a:spcAft>
                <a:spcPts val="1200"/>
              </a:spcAft>
            </a:pPr>
            <a:r>
              <a:rPr lang="en-US" sz="2800" b="0" dirty="0">
                <a:solidFill>
                  <a:schemeClr val="bg1"/>
                </a:solidFill>
              </a:rPr>
              <a:t>Very good basic education has permitted a rapid improvement in human capital. </a:t>
            </a:r>
          </a:p>
          <a:p>
            <a:pPr>
              <a:spcBef>
                <a:spcPts val="168"/>
              </a:spcBef>
              <a:spcAft>
                <a:spcPts val="1200"/>
              </a:spcAft>
            </a:pPr>
            <a:r>
              <a:rPr lang="en-US" sz="2800" b="0" dirty="0">
                <a:solidFill>
                  <a:schemeClr val="bg1"/>
                </a:solidFill>
              </a:rPr>
              <a:t>Substantial technological progress.</a:t>
            </a:r>
          </a:p>
        </p:txBody>
      </p:sp>
    </p:spTree>
    <p:extLst>
      <p:ext uri="{BB962C8B-B14F-4D97-AF65-F5344CB8AC3E}">
        <p14:creationId xmlns:p14="http://schemas.microsoft.com/office/powerpoint/2010/main" val="1204353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oAutofit/>
          </a:bodyPr>
          <a:lstStyle/>
          <a:p>
            <a:r>
              <a:rPr lang="en-US" sz="3600" spc="0" dirty="0"/>
              <a:t>SUCCESS, DISAPPOINTMENT AND FAILURE</a:t>
            </a:r>
          </a:p>
        </p:txBody>
      </p:sp>
      <p:sp>
        <p:nvSpPr>
          <p:cNvPr id="3" name="Content Placeholder 2"/>
          <p:cNvSpPr>
            <a:spLocks noGrp="1"/>
          </p:cNvSpPr>
          <p:nvPr>
            <p:ph idx="1"/>
          </p:nvPr>
        </p:nvSpPr>
        <p:spPr>
          <a:xfrm>
            <a:off x="152400" y="762000"/>
            <a:ext cx="8991600" cy="2514600"/>
          </a:xfrm>
        </p:spPr>
        <p:txBody>
          <a:bodyPr>
            <a:noAutofit/>
          </a:bodyPr>
          <a:lstStyle/>
          <a:p>
            <a:pPr>
              <a:spcBef>
                <a:spcPts val="0"/>
              </a:spcBef>
              <a:spcAft>
                <a:spcPts val="600"/>
              </a:spcAft>
            </a:pPr>
            <a:r>
              <a:rPr lang="en-US" sz="2400" dirty="0"/>
              <a:t>What’s holding Argentina (and other Latin American nations) back?</a:t>
            </a:r>
          </a:p>
          <a:p>
            <a:pPr lvl="1">
              <a:spcBef>
                <a:spcPts val="0"/>
              </a:spcBef>
              <a:spcAft>
                <a:spcPts val="600"/>
              </a:spcAft>
            </a:pPr>
            <a:r>
              <a:rPr lang="en-US" sz="2400" b="0" dirty="0"/>
              <a:t>Irresponsible government action that eroded savings through high inflation</a:t>
            </a:r>
          </a:p>
          <a:p>
            <a:pPr lvl="1">
              <a:spcBef>
                <a:spcPts val="0"/>
              </a:spcBef>
              <a:spcAft>
                <a:spcPts val="600"/>
              </a:spcAft>
            </a:pPr>
            <a:r>
              <a:rPr lang="en-US" sz="2400" b="0" dirty="0"/>
              <a:t>Lack of emphasis on education</a:t>
            </a:r>
          </a:p>
          <a:p>
            <a:pPr lvl="1">
              <a:spcBef>
                <a:spcPts val="0"/>
              </a:spcBef>
              <a:spcAft>
                <a:spcPts val="600"/>
              </a:spcAft>
            </a:pPr>
            <a:r>
              <a:rPr lang="en-US" sz="2400" b="0" dirty="0"/>
              <a:t>Political instability</a:t>
            </a:r>
          </a:p>
          <a:p>
            <a:pPr marL="914400" lvl="1" indent="-457200">
              <a:spcBef>
                <a:spcPts val="0"/>
              </a:spcBef>
              <a:spcAft>
                <a:spcPts val="600"/>
              </a:spcAft>
              <a:buBlip>
                <a:blip r:embed="rId2"/>
              </a:buBlip>
            </a:pPr>
            <a:endParaRPr lang="en-US" sz="2400" dirty="0"/>
          </a:p>
        </p:txBody>
      </p:sp>
      <p:pic>
        <p:nvPicPr>
          <p:cNvPr id="7" name="Picture 6" descr="Screen Shot 2015-04-02 at 11.12.10 AM.png"/>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752600" y="3415009"/>
            <a:ext cx="5334000" cy="3442991"/>
          </a:xfrm>
          <a:prstGeom prst="rect">
            <a:avLst/>
          </a:prstGeom>
        </p:spPr>
      </p:pic>
      <p:sp>
        <p:nvSpPr>
          <p:cNvPr id="6" name="Rectangle 5"/>
          <p:cNvSpPr/>
          <p:nvPr/>
        </p:nvSpPr>
        <p:spPr>
          <a:xfrm>
            <a:off x="1600200" y="6516320"/>
            <a:ext cx="1943738" cy="307777"/>
          </a:xfrm>
          <a:prstGeom prst="rect">
            <a:avLst/>
          </a:prstGeom>
        </p:spPr>
        <p:txBody>
          <a:bodyPr wrap="none">
            <a:spAutoFit/>
          </a:bodyPr>
          <a:lstStyle/>
          <a:p>
            <a:r>
              <a:rPr lang="en-US" sz="1400" i="1" dirty="0">
                <a:solidFill>
                  <a:schemeClr val="tx1">
                    <a:lumMod val="65000"/>
                    <a:lumOff val="35000"/>
                  </a:schemeClr>
                </a:solidFill>
                <a:latin typeface="Century Gothic"/>
                <a:cs typeface="Century Gothic"/>
              </a:rPr>
              <a:t>Source: World Bank.</a:t>
            </a:r>
          </a:p>
        </p:txBody>
      </p:sp>
    </p:spTree>
    <p:extLst>
      <p:ext uri="{BB962C8B-B14F-4D97-AF65-F5344CB8AC3E}">
        <p14:creationId xmlns:p14="http://schemas.microsoft.com/office/powerpoint/2010/main" val="29369188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AFRICA’S TROUBLES AND PROMISE</a:t>
            </a:r>
          </a:p>
        </p:txBody>
      </p:sp>
      <p:sp>
        <p:nvSpPr>
          <p:cNvPr id="3" name="Content Placeholder 2"/>
          <p:cNvSpPr>
            <a:spLocks noGrp="1"/>
          </p:cNvSpPr>
          <p:nvPr>
            <p:ph idx="1"/>
          </p:nvPr>
        </p:nvSpPr>
        <p:spPr>
          <a:xfrm>
            <a:off x="0" y="1143000"/>
            <a:ext cx="5334000" cy="5715000"/>
          </a:xfrm>
          <a:solidFill>
            <a:schemeClr val="bg1">
              <a:alpha val="49000"/>
            </a:schemeClr>
          </a:solidFill>
        </p:spPr>
        <p:txBody>
          <a:bodyPr>
            <a:normAutofit/>
          </a:bodyPr>
          <a:lstStyle/>
          <a:p>
            <a:r>
              <a:rPr lang="en-US" sz="2800" dirty="0"/>
              <a:t>What’s holding much of Africa back?</a:t>
            </a:r>
          </a:p>
          <a:p>
            <a:pPr lvl="1"/>
            <a:r>
              <a:rPr lang="en-US" sz="2400" dirty="0"/>
              <a:t>Government corruption</a:t>
            </a:r>
          </a:p>
          <a:p>
            <a:pPr lvl="1"/>
            <a:r>
              <a:rPr lang="en-US" sz="2400" dirty="0"/>
              <a:t>Civil wars &amp; political instability</a:t>
            </a:r>
          </a:p>
          <a:p>
            <a:pPr lvl="1"/>
            <a:r>
              <a:rPr lang="en-US" sz="2400" dirty="0"/>
              <a:t>Unfavorable geography</a:t>
            </a:r>
          </a:p>
          <a:p>
            <a:r>
              <a:rPr lang="en-US" sz="2800" dirty="0"/>
              <a:t>A big question: </a:t>
            </a:r>
            <a:r>
              <a:rPr lang="en-US" sz="2800" dirty="0">
                <a:solidFill>
                  <a:srgbClr val="0070C0"/>
                </a:solidFill>
              </a:rPr>
              <a:t>Is Africa poor because its politics are unstable?  Or vice versa?</a:t>
            </a:r>
          </a:p>
          <a:p>
            <a:r>
              <a:rPr lang="en-US" sz="2400" i="1" dirty="0">
                <a:solidFill>
                  <a:schemeClr val="tx1">
                    <a:lumMod val="75000"/>
                    <a:lumOff val="25000"/>
                  </a:schemeClr>
                </a:solidFill>
              </a:rPr>
              <a:t>Good news: Growth rates are up in </a:t>
            </a:r>
          </a:p>
          <a:p>
            <a:r>
              <a:rPr lang="en-US" sz="2400" i="1" dirty="0">
                <a:solidFill>
                  <a:schemeClr val="tx1">
                    <a:lumMod val="75000"/>
                    <a:lumOff val="25000"/>
                  </a:schemeClr>
                </a:solidFill>
              </a:rPr>
              <a:t>sub-Saharan African nations since 2011.</a:t>
            </a:r>
          </a:p>
          <a:p>
            <a:endParaRPr lang="en-US" sz="2800" dirty="0"/>
          </a:p>
        </p:txBody>
      </p:sp>
      <p:pic>
        <p:nvPicPr>
          <p:cNvPr id="6" name="Picture 2" descr="http://www.sxc.hu/pic/l/c/ca/careylj/1122589_60622189.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334000" y="2173904"/>
            <a:ext cx="3810000" cy="2550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7263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CONVERGENCE HYPOTHESIS</a:t>
            </a:r>
          </a:p>
        </p:txBody>
      </p:sp>
      <p:sp>
        <p:nvSpPr>
          <p:cNvPr id="3" name="Content Placeholder 2"/>
          <p:cNvSpPr>
            <a:spLocks noGrp="1"/>
          </p:cNvSpPr>
          <p:nvPr>
            <p:ph idx="1"/>
          </p:nvPr>
        </p:nvSpPr>
        <p:spPr>
          <a:xfrm>
            <a:off x="152400" y="838200"/>
            <a:ext cx="8839200" cy="4648200"/>
          </a:xfrm>
        </p:spPr>
        <p:txBody>
          <a:bodyPr/>
          <a:lstStyle/>
          <a:p>
            <a:r>
              <a:rPr lang="en-US" i="1" dirty="0">
                <a:solidFill>
                  <a:srgbClr val="990033"/>
                </a:solidFill>
              </a:rPr>
              <a:t>Convergence hypothesis</a:t>
            </a:r>
            <a:r>
              <a:rPr lang="en-US" b="0" i="1" dirty="0">
                <a:solidFill>
                  <a:srgbClr val="990033"/>
                </a:solidFill>
              </a:rPr>
              <a:t>:</a:t>
            </a:r>
            <a:r>
              <a:rPr lang="en-US" sz="2800" b="0" i="1" dirty="0">
                <a:solidFill>
                  <a:srgbClr val="990033"/>
                </a:solidFill>
              </a:rPr>
              <a:t> </a:t>
            </a:r>
            <a:r>
              <a:rPr lang="en-US" sz="2800" b="0" dirty="0"/>
              <a:t>international differences in real GDP per capita tend to narrow over time.</a:t>
            </a:r>
            <a:endParaRPr lang="en-US" dirty="0"/>
          </a:p>
        </p:txBody>
      </p:sp>
      <p:pic>
        <p:nvPicPr>
          <p:cNvPr id="5" name="Picture 4" descr="Screen Shot 2015-04-02 at 11.23.35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2209800"/>
            <a:ext cx="9144000" cy="4191754"/>
          </a:xfrm>
          <a:prstGeom prst="rect">
            <a:avLst/>
          </a:prstGeom>
        </p:spPr>
      </p:pic>
    </p:spTree>
    <p:extLst>
      <p:ext uri="{BB962C8B-B14F-4D97-AF65-F5344CB8AC3E}">
        <p14:creationId xmlns:p14="http://schemas.microsoft.com/office/powerpoint/2010/main" val="570283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800" dirty="0"/>
              <a:t>Economic growth can be especially fast: </a:t>
            </a:r>
          </a:p>
          <a:p>
            <a:pPr marL="514350" indent="-514350">
              <a:buFont typeface="+mj-lt"/>
              <a:buAutoNum type="alphaLcParenR"/>
            </a:pPr>
            <a:r>
              <a:rPr lang="en-US" sz="2800" dirty="0"/>
              <a:t>for countries playing catch-up with countries that already have high real GDP per capita.</a:t>
            </a:r>
          </a:p>
          <a:p>
            <a:pPr marL="514350" indent="-514350">
              <a:buFont typeface="+mj-lt"/>
              <a:buAutoNum type="alphaLcParenR"/>
            </a:pPr>
            <a:r>
              <a:rPr lang="en-US" sz="2800" dirty="0"/>
              <a:t>for relatively poor countries if the convergence hypothesis holds true.</a:t>
            </a:r>
          </a:p>
          <a:p>
            <a:pPr marL="514350" indent="-514350">
              <a:buFont typeface="+mj-lt"/>
              <a:buAutoNum type="alphaLcParenR"/>
            </a:pPr>
            <a:r>
              <a:rPr lang="en-US" sz="2800" dirty="0"/>
              <a:t>if the country is able to benefit from adopting the technological advances already used in advanced countries.</a:t>
            </a:r>
          </a:p>
          <a:p>
            <a:pPr marL="514350" indent="-514350">
              <a:buFont typeface="+mj-lt"/>
              <a:buAutoNum type="alphaLcParenR"/>
            </a:pPr>
            <a:r>
              <a:rPr lang="en-US" sz="2800" dirty="0"/>
              <a:t>Answers (a), (b), and (c) are all true.</a:t>
            </a:r>
          </a:p>
        </p:txBody>
      </p:sp>
      <p:sp>
        <p:nvSpPr>
          <p:cNvPr id="5" name="Rectangle 4"/>
          <p:cNvSpPr/>
          <p:nvPr/>
        </p:nvSpPr>
        <p:spPr>
          <a:xfrm>
            <a:off x="492719" y="6273798"/>
            <a:ext cx="184666" cy="246221"/>
          </a:xfrm>
          <a:prstGeom prst="rect">
            <a:avLst/>
          </a:prstGeom>
        </p:spPr>
        <p:txBody>
          <a:bodyPr wrap="none">
            <a:spAutoFit/>
          </a:bodyPr>
          <a:lstStyle/>
          <a:p>
            <a:pPr algn="ctr" fontAlgn="auto">
              <a:spcBef>
                <a:spcPts val="0"/>
              </a:spcBef>
              <a:spcAft>
                <a:spcPts val="0"/>
              </a:spcAft>
              <a:defRPr/>
            </a:pP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922205052"/>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hlinkClick r:id="rId3"/>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362200" y="3048000"/>
            <a:ext cx="3406191" cy="26670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28600" y="990600"/>
            <a:ext cx="8686800" cy="1938992"/>
          </a:xfrm>
          <a:prstGeom prst="rect">
            <a:avLst/>
          </a:prstGeom>
        </p:spPr>
        <p:txBody>
          <a:bodyPr wrap="square">
            <a:spAutoFit/>
          </a:bodyPr>
          <a:lstStyle/>
          <a:p>
            <a:r>
              <a:rPr lang="en-US" sz="2400" b="1" dirty="0">
                <a:latin typeface="Century Gothic"/>
                <a:cs typeface="Century Gothic"/>
              </a:rPr>
              <a:t>At TEDIndia, TED favorite Hans Rosling gives another lively and humorous talk </a:t>
            </a:r>
            <a:r>
              <a:rPr lang="en-US" sz="2400" b="1" dirty="0">
                <a:latin typeface="Century Gothic"/>
                <a:cs typeface="Century Gothic"/>
                <a:hlinkClick r:id="rId3"/>
              </a:rPr>
              <a:t>here</a:t>
            </a:r>
            <a:r>
              <a:rPr lang="en-US" sz="2400" b="1" dirty="0">
                <a:latin typeface="Century Gothic"/>
                <a:cs typeface="Century Gothic"/>
              </a:rPr>
              <a:t> and graphs global economic growth since 1858.  He also predicts the exact date that India and China will outstrip the United States.  (15:50 minutes)</a:t>
            </a:r>
          </a:p>
        </p:txBody>
      </p:sp>
    </p:spTree>
    <p:extLst>
      <p:ext uri="{BB962C8B-B14F-4D97-AF65-F5344CB8AC3E}">
        <p14:creationId xmlns:p14="http://schemas.microsoft.com/office/powerpoint/2010/main" val="1995228680"/>
      </p:ext>
    </p:extLst>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0" dirty="0"/>
              <a:t>IS WORLD GROWTH SUSTAINABLE?</a:t>
            </a:r>
          </a:p>
        </p:txBody>
      </p:sp>
      <p:sp>
        <p:nvSpPr>
          <p:cNvPr id="3" name="Content Placeholder 2"/>
          <p:cNvSpPr>
            <a:spLocks noGrp="1"/>
          </p:cNvSpPr>
          <p:nvPr>
            <p:ph idx="1"/>
          </p:nvPr>
        </p:nvSpPr>
        <p:spPr>
          <a:xfrm>
            <a:off x="76200" y="762000"/>
            <a:ext cx="8839200" cy="5562600"/>
          </a:xfrm>
        </p:spPr>
        <p:txBody>
          <a:bodyPr>
            <a:normAutofit fontScale="92500" lnSpcReduction="20000"/>
          </a:bodyPr>
          <a:lstStyle/>
          <a:p>
            <a:pPr>
              <a:spcBef>
                <a:spcPts val="0"/>
              </a:spcBef>
              <a:spcAft>
                <a:spcPts val="1800"/>
              </a:spcAft>
            </a:pPr>
            <a:r>
              <a:rPr lang="en-US" i="1" dirty="0">
                <a:solidFill>
                  <a:srgbClr val="990033"/>
                </a:solidFill>
              </a:rPr>
              <a:t>Sustainable long-run economic growth: </a:t>
            </a:r>
            <a:r>
              <a:rPr lang="en-US" sz="3000" b="0" dirty="0"/>
              <a:t>long-run growth that can continue in the face of the limited supply of natural resources and the impact of growth on the environment.</a:t>
            </a:r>
            <a:endParaRPr lang="en-US" b="0" dirty="0"/>
          </a:p>
          <a:p>
            <a:pPr>
              <a:spcBef>
                <a:spcPts val="0"/>
              </a:spcBef>
              <a:spcAft>
                <a:spcPts val="1800"/>
              </a:spcAft>
            </a:pPr>
            <a:r>
              <a:rPr lang="en-US" dirty="0">
                <a:solidFill>
                  <a:srgbClr val="0070C0"/>
                </a:solidFill>
              </a:rPr>
              <a:t>What is the impact of limited natural resources on long-run economic growth? Three important questions:</a:t>
            </a:r>
          </a:p>
          <a:p>
            <a:pPr lvl="1">
              <a:spcBef>
                <a:spcPts val="0"/>
              </a:spcBef>
              <a:spcAft>
                <a:spcPts val="1800"/>
              </a:spcAft>
            </a:pPr>
            <a:r>
              <a:rPr lang="en-US" i="1" dirty="0">
                <a:solidFill>
                  <a:schemeClr val="tx1">
                    <a:lumMod val="75000"/>
                    <a:lumOff val="25000"/>
                  </a:schemeClr>
                </a:solidFill>
              </a:rPr>
              <a:t>How large are the supplies of key natural resources?</a:t>
            </a:r>
          </a:p>
          <a:p>
            <a:pPr lvl="1">
              <a:spcBef>
                <a:spcPts val="0"/>
              </a:spcBef>
              <a:spcAft>
                <a:spcPts val="1800"/>
              </a:spcAft>
            </a:pPr>
            <a:r>
              <a:rPr lang="en-US" i="1" dirty="0">
                <a:solidFill>
                  <a:schemeClr val="tx1">
                    <a:lumMod val="75000"/>
                    <a:lumOff val="25000"/>
                  </a:schemeClr>
                </a:solidFill>
              </a:rPr>
              <a:t>How effective will technology be at finding alternatives to natural resources?</a:t>
            </a:r>
          </a:p>
          <a:p>
            <a:pPr lvl="1">
              <a:spcBef>
                <a:spcPts val="0"/>
              </a:spcBef>
              <a:spcAft>
                <a:spcPts val="1800"/>
              </a:spcAft>
            </a:pPr>
            <a:r>
              <a:rPr lang="en-US" i="1" dirty="0">
                <a:solidFill>
                  <a:schemeClr val="tx1">
                    <a:lumMod val="75000"/>
                    <a:lumOff val="25000"/>
                  </a:schemeClr>
                </a:solidFill>
              </a:rPr>
              <a:t>Can long-run economic growth continue in the face of resource scarcity? </a:t>
            </a:r>
          </a:p>
        </p:txBody>
      </p:sp>
    </p:spTree>
    <p:extLst>
      <p:ext uri="{BB962C8B-B14F-4D97-AF65-F5344CB8AC3E}">
        <p14:creationId xmlns:p14="http://schemas.microsoft.com/office/powerpoint/2010/main" val="234476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spc="0" dirty="0"/>
              <a:t>NATURAL RESOURCES AND GROWTH, REVISITED</a:t>
            </a:r>
          </a:p>
        </p:txBody>
      </p:sp>
      <p:sp>
        <p:nvSpPr>
          <p:cNvPr id="3" name="Content Placeholder 2"/>
          <p:cNvSpPr>
            <a:spLocks noGrp="1"/>
          </p:cNvSpPr>
          <p:nvPr>
            <p:ph idx="1"/>
          </p:nvPr>
        </p:nvSpPr>
        <p:spPr>
          <a:xfrm>
            <a:off x="0" y="990600"/>
            <a:ext cx="9067800" cy="4648200"/>
          </a:xfrm>
        </p:spPr>
        <p:txBody>
          <a:bodyPr/>
          <a:lstStyle/>
          <a:p>
            <a:pPr marL="0" lvl="1"/>
            <a:r>
              <a:rPr lang="en-US" i="1" dirty="0">
                <a:solidFill>
                  <a:srgbClr val="0070C0"/>
                </a:solidFill>
              </a:rPr>
              <a:t>How large are the supplies of key natural resources?</a:t>
            </a:r>
          </a:p>
          <a:p>
            <a:pPr marL="457200" lvl="2"/>
            <a:r>
              <a:rPr lang="en-US" i="1" dirty="0">
                <a:solidFill>
                  <a:schemeClr val="tx1">
                    <a:lumMod val="75000"/>
                    <a:lumOff val="25000"/>
                  </a:schemeClr>
                </a:solidFill>
              </a:rPr>
              <a:t>Geologists are figuring it out.</a:t>
            </a:r>
          </a:p>
          <a:p>
            <a:pPr marL="0" lvl="1"/>
            <a:endParaRPr lang="en-US" i="1" dirty="0">
              <a:solidFill>
                <a:schemeClr val="tx1">
                  <a:lumMod val="75000"/>
                  <a:lumOff val="25000"/>
                </a:schemeClr>
              </a:solidFill>
            </a:endParaRPr>
          </a:p>
          <a:p>
            <a:endParaRPr lang="en-US" dirty="0"/>
          </a:p>
        </p:txBody>
      </p:sp>
      <p:pic>
        <p:nvPicPr>
          <p:cNvPr id="6" name="Picture 5" descr="Screen Shot 2015-04-02 at 11.27.29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739292" y="2362200"/>
            <a:ext cx="5219438" cy="4495800"/>
          </a:xfrm>
          <a:prstGeom prst="rect">
            <a:avLst/>
          </a:prstGeom>
        </p:spPr>
      </p:pic>
      <p:sp>
        <p:nvSpPr>
          <p:cNvPr id="5" name="Rectangle 4"/>
          <p:cNvSpPr/>
          <p:nvPr/>
        </p:nvSpPr>
        <p:spPr>
          <a:xfrm>
            <a:off x="1745527" y="6400800"/>
            <a:ext cx="3359873"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Energy Information Administration.</a:t>
            </a:r>
          </a:p>
        </p:txBody>
      </p:sp>
    </p:spTree>
    <p:extLst>
      <p:ext uri="{BB962C8B-B14F-4D97-AF65-F5344CB8AC3E}">
        <p14:creationId xmlns:p14="http://schemas.microsoft.com/office/powerpoint/2010/main" val="35240975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a:solidFill>
            <a:schemeClr val="bg1">
              <a:alpha val="53000"/>
            </a:schemeClr>
          </a:solidFill>
        </p:spPr>
        <p:txBody>
          <a:bodyPr>
            <a:normAutofit fontScale="90000"/>
          </a:bodyPr>
          <a:lstStyle/>
          <a:p>
            <a:r>
              <a:rPr lang="en-US" spc="0" dirty="0"/>
              <a:t>NATURAL RESOURCES AND GROWTH, REVISITED</a:t>
            </a:r>
          </a:p>
        </p:txBody>
      </p:sp>
      <p:sp>
        <p:nvSpPr>
          <p:cNvPr id="3" name="Content Placeholder 2"/>
          <p:cNvSpPr>
            <a:spLocks noGrp="1"/>
          </p:cNvSpPr>
          <p:nvPr>
            <p:ph idx="1"/>
          </p:nvPr>
        </p:nvSpPr>
        <p:spPr>
          <a:xfrm>
            <a:off x="0" y="5486400"/>
            <a:ext cx="9121692" cy="1447800"/>
          </a:xfrm>
          <a:solidFill>
            <a:schemeClr val="bg1">
              <a:alpha val="55000"/>
            </a:schemeClr>
          </a:solidFill>
        </p:spPr>
        <p:txBody>
          <a:bodyPr>
            <a:normAutofit/>
          </a:bodyPr>
          <a:lstStyle/>
          <a:p>
            <a:pPr marL="0" lvl="1"/>
            <a:r>
              <a:rPr lang="en-US" i="1" dirty="0">
                <a:solidFill>
                  <a:srgbClr val="0070C0"/>
                </a:solidFill>
              </a:rPr>
              <a:t>How effective will technology be at finding alternatives to natural resources?</a:t>
            </a:r>
          </a:p>
          <a:p>
            <a:pPr marL="457200" lvl="2"/>
            <a:r>
              <a:rPr lang="en-US" i="1" dirty="0">
                <a:solidFill>
                  <a:schemeClr val="tx1">
                    <a:lumMod val="75000"/>
                    <a:lumOff val="25000"/>
                  </a:schemeClr>
                </a:solidFill>
              </a:rPr>
              <a:t>Engineers are figuring it out.</a:t>
            </a:r>
          </a:p>
          <a:p>
            <a:pPr marL="0" lvl="1"/>
            <a:endParaRPr lang="en-US" i="1" dirty="0">
              <a:solidFill>
                <a:srgbClr val="0070C0"/>
              </a:solidFill>
            </a:endParaRPr>
          </a:p>
          <a:p>
            <a:pPr marL="0" lvl="1"/>
            <a:endParaRPr lang="en-US" i="1" dirty="0">
              <a:solidFill>
                <a:srgbClr val="0070C0"/>
              </a:solidFill>
            </a:endParaRPr>
          </a:p>
          <a:p>
            <a:endParaRPr lang="en-US" sz="2800" dirty="0"/>
          </a:p>
        </p:txBody>
      </p:sp>
    </p:spTree>
    <p:extLst>
      <p:ext uri="{BB962C8B-B14F-4D97-AF65-F5344CB8AC3E}">
        <p14:creationId xmlns:p14="http://schemas.microsoft.com/office/powerpoint/2010/main" val="1120593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spc="0" dirty="0"/>
              <a:t>NATURAL RESOURCES AND GROWTH, REVISITED</a:t>
            </a:r>
          </a:p>
        </p:txBody>
      </p:sp>
      <p:sp>
        <p:nvSpPr>
          <p:cNvPr id="3" name="Content Placeholder 2"/>
          <p:cNvSpPr>
            <a:spLocks noGrp="1"/>
          </p:cNvSpPr>
          <p:nvPr>
            <p:ph idx="1"/>
          </p:nvPr>
        </p:nvSpPr>
        <p:spPr>
          <a:xfrm>
            <a:off x="228600" y="1219200"/>
            <a:ext cx="8839200" cy="4419600"/>
          </a:xfrm>
        </p:spPr>
        <p:txBody>
          <a:bodyPr/>
          <a:lstStyle/>
          <a:p>
            <a:r>
              <a:rPr lang="en-US" sz="2800" i="1" dirty="0">
                <a:solidFill>
                  <a:srgbClr val="0070C0"/>
                </a:solidFill>
              </a:rPr>
              <a:t>Can long-run economic growth continue in the face of resource scarcity?</a:t>
            </a:r>
            <a:endParaRPr lang="en-US" dirty="0">
              <a:solidFill>
                <a:srgbClr val="0070C0"/>
              </a:solidFill>
            </a:endParaRPr>
          </a:p>
          <a:p>
            <a:pPr lvl="1"/>
            <a:r>
              <a:rPr lang="en-US" sz="2400" i="1" dirty="0">
                <a:solidFill>
                  <a:schemeClr val="tx1">
                    <a:lumMod val="75000"/>
                    <a:lumOff val="25000"/>
                  </a:schemeClr>
                </a:solidFill>
              </a:rPr>
              <a:t>A question for economists. Resource scarcity and higher prices  don’t necessarily cost growth.</a:t>
            </a:r>
          </a:p>
        </p:txBody>
      </p:sp>
      <p:pic>
        <p:nvPicPr>
          <p:cNvPr id="8" name="Picture 7" descr="Screen Shot 2015-04-02 at 11.32.43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19200" y="2971800"/>
            <a:ext cx="6400800" cy="3881776"/>
          </a:xfrm>
          <a:prstGeom prst="rect">
            <a:avLst/>
          </a:prstGeom>
        </p:spPr>
      </p:pic>
      <p:sp>
        <p:nvSpPr>
          <p:cNvPr id="5" name="TextBox 4"/>
          <p:cNvSpPr txBox="1"/>
          <p:nvPr/>
        </p:nvSpPr>
        <p:spPr>
          <a:xfrm>
            <a:off x="1227342" y="6428601"/>
            <a:ext cx="6087858" cy="276999"/>
          </a:xfrm>
          <a:prstGeom prst="rect">
            <a:avLst/>
          </a:prstGeom>
          <a:noFill/>
        </p:spPr>
        <p:txBody>
          <a:bodyPr wrap="none" rtlCol="0">
            <a:spAutoFit/>
          </a:bodyPr>
          <a:lstStyle/>
          <a:p>
            <a:r>
              <a:rPr lang="en-US" sz="1200" i="1" dirty="0">
                <a:solidFill>
                  <a:schemeClr val="tx1">
                    <a:lumMod val="50000"/>
                    <a:lumOff val="50000"/>
                  </a:schemeClr>
                </a:solidFill>
                <a:latin typeface="Century Gothic"/>
                <a:cs typeface="Century Gothic"/>
              </a:rPr>
              <a:t>Sources: Energy Information Administration; FRED; Bureau of Economic Analysis.</a:t>
            </a:r>
          </a:p>
        </p:txBody>
      </p:sp>
    </p:spTree>
    <p:extLst>
      <p:ext uri="{BB962C8B-B14F-4D97-AF65-F5344CB8AC3E}">
        <p14:creationId xmlns:p14="http://schemas.microsoft.com/office/powerpoint/2010/main" val="40990742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rmAutofit fontScale="90000"/>
          </a:bodyPr>
          <a:lstStyle/>
          <a:p>
            <a:r>
              <a:rPr lang="en-US" spc="0" dirty="0"/>
              <a:t>ECONOMIC GROWTH AND THE ENVIRONMENT</a:t>
            </a:r>
          </a:p>
        </p:txBody>
      </p:sp>
      <p:sp>
        <p:nvSpPr>
          <p:cNvPr id="3" name="Content Placeholder 2"/>
          <p:cNvSpPr>
            <a:spLocks noGrp="1"/>
          </p:cNvSpPr>
          <p:nvPr>
            <p:ph idx="1"/>
          </p:nvPr>
        </p:nvSpPr>
        <p:spPr>
          <a:xfrm>
            <a:off x="228600" y="1066799"/>
            <a:ext cx="8839200" cy="1143001"/>
          </a:xfrm>
        </p:spPr>
        <p:txBody>
          <a:bodyPr>
            <a:normAutofit/>
          </a:bodyPr>
          <a:lstStyle/>
          <a:p>
            <a:r>
              <a:rPr lang="en-US" sz="2800" dirty="0"/>
              <a:t>Economic growth tends to increase the human impact on the environment.</a:t>
            </a:r>
          </a:p>
          <a:p>
            <a:endParaRPr lang="en-US" sz="2800" dirty="0"/>
          </a:p>
          <a:p>
            <a:endParaRPr lang="en-US" sz="2800" dirty="0"/>
          </a:p>
          <a:p>
            <a:endParaRPr lang="en-US" sz="2800" dirty="0"/>
          </a:p>
          <a:p>
            <a:endParaRPr lang="en-US" sz="2800" dirty="0"/>
          </a:p>
          <a:p>
            <a:endParaRPr lang="en-US" sz="2800" dirty="0"/>
          </a:p>
        </p:txBody>
      </p:sp>
      <p:sp>
        <p:nvSpPr>
          <p:cNvPr id="6" name="Rectangle 5"/>
          <p:cNvSpPr/>
          <p:nvPr/>
        </p:nvSpPr>
        <p:spPr>
          <a:xfrm>
            <a:off x="6934200" y="3962400"/>
            <a:ext cx="2286000" cy="646331"/>
          </a:xfrm>
          <a:prstGeom prst="rect">
            <a:avLst/>
          </a:prstGeom>
        </p:spPr>
        <p:txBody>
          <a:bodyPr wrap="square">
            <a:spAutoFit/>
          </a:bodyPr>
          <a:lstStyle/>
          <a:p>
            <a:r>
              <a:rPr lang="en-US" sz="1200" i="1" dirty="0">
                <a:solidFill>
                  <a:schemeClr val="tx1">
                    <a:lumMod val="65000"/>
                    <a:lumOff val="35000"/>
                  </a:schemeClr>
                </a:solidFill>
                <a:latin typeface="Century Gothic"/>
                <a:cs typeface="Century Gothic"/>
              </a:rPr>
              <a:t>Sources: Energy Information Administration; Bureau of Economic Analysis.</a:t>
            </a:r>
          </a:p>
        </p:txBody>
      </p:sp>
      <p:sp>
        <p:nvSpPr>
          <p:cNvPr id="7" name="Rectangle 6"/>
          <p:cNvSpPr/>
          <p:nvPr/>
        </p:nvSpPr>
        <p:spPr>
          <a:xfrm>
            <a:off x="152400" y="5798403"/>
            <a:ext cx="8610600" cy="830997"/>
          </a:xfrm>
          <a:prstGeom prst="rect">
            <a:avLst/>
          </a:prstGeom>
        </p:spPr>
        <p:txBody>
          <a:bodyPr wrap="square">
            <a:spAutoFit/>
          </a:bodyPr>
          <a:lstStyle/>
          <a:p>
            <a:r>
              <a:rPr lang="en-US" sz="2400" b="1" i="1" dirty="0">
                <a:solidFill>
                  <a:schemeClr val="tx1">
                    <a:lumMod val="75000"/>
                    <a:lumOff val="25000"/>
                  </a:schemeClr>
                </a:solidFill>
                <a:latin typeface="Century Gothic"/>
                <a:cs typeface="Century Gothic"/>
              </a:rPr>
              <a:t>Unlike resource scarcity, environmental problems don’t automatically provide incentives for changed behavior.</a:t>
            </a:r>
          </a:p>
        </p:txBody>
      </p:sp>
      <p:pic>
        <p:nvPicPr>
          <p:cNvPr id="8" name="Picture 7" descr="Screen Shot 2015-04-02 at 11.37.29 A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90248" y="2146301"/>
            <a:ext cx="5767752" cy="3644899"/>
          </a:xfrm>
          <a:prstGeom prst="rect">
            <a:avLst/>
          </a:prstGeom>
        </p:spPr>
      </p:pic>
    </p:spTree>
    <p:extLst>
      <p:ext uri="{BB962C8B-B14F-4D97-AF65-F5344CB8AC3E}">
        <p14:creationId xmlns:p14="http://schemas.microsoft.com/office/powerpoint/2010/main" val="831812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3100" spc="0"/>
              <a:t>ECONOMIC GROWTH AND THE ENVIRONMENT</a:t>
            </a:r>
          </a:p>
        </p:txBody>
      </p:sp>
      <p:graphicFrame>
        <p:nvGraphicFramePr>
          <p:cNvPr id="5" name="Content Placeholder 2">
            <a:extLst>
              <a:ext uri="{FF2B5EF4-FFF2-40B4-BE49-F238E27FC236}">
                <a16:creationId xmlns:a16="http://schemas.microsoft.com/office/drawing/2014/main" id="{8DB31E6D-A315-9017-16FD-83AAFC456317}"/>
              </a:ext>
            </a:extLst>
          </p:cNvPr>
          <p:cNvGraphicFramePr>
            <a:graphicFrameLocks noGrp="1"/>
          </p:cNvGraphicFramePr>
          <p:nvPr>
            <p:ph idx="1"/>
            <p:extLst>
              <p:ext uri="{D42A27DB-BD31-4B8C-83A1-F6EECF244321}">
                <p14:modId xmlns:p14="http://schemas.microsoft.com/office/powerpoint/2010/main" val="85334444"/>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85430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553234"/>
            <a:ext cx="9144000" cy="3390366"/>
          </a:xfrm>
          <a:solidFill>
            <a:schemeClr val="bg1">
              <a:alpha val="73000"/>
            </a:schemeClr>
          </a:solidFill>
        </p:spPr>
        <p:txBody>
          <a:bodyPr>
            <a:normAutofit/>
          </a:bodyPr>
          <a:lstStyle/>
          <a:p>
            <a:r>
              <a:rPr lang="en-US" sz="2800" dirty="0">
                <a:latin typeface="Century Gothic"/>
                <a:cs typeface="Century Gothic"/>
              </a:rPr>
              <a:t>Numerous studies find the cost of carbon reduction is smaller than expected. </a:t>
            </a:r>
          </a:p>
          <a:p>
            <a:r>
              <a:rPr lang="en-US" sz="2800" dirty="0">
                <a:latin typeface="Century Gothic"/>
                <a:cs typeface="Century Gothic"/>
              </a:rPr>
              <a:t>2014: The U.N. International Panel on Climate Change  (IPCC)  estimated  that  global measures limiting the rise in temperatures to 2 degrees centigrade would be small—around 0.06 percentage points reduction in growth each year. </a:t>
            </a:r>
            <a:endParaRPr lang="en-US" sz="2800" dirty="0">
              <a:solidFill>
                <a:srgbClr val="990033"/>
              </a:solidFill>
              <a:latin typeface="Century Gothic"/>
              <a:cs typeface="Century Gothic"/>
            </a:endParaRPr>
          </a:p>
        </p:txBody>
      </p:sp>
      <p:sp>
        <p:nvSpPr>
          <p:cNvPr id="2" name="Title 1"/>
          <p:cNvSpPr>
            <a:spLocks noGrp="1"/>
          </p:cNvSpPr>
          <p:nvPr>
            <p:ph type="title" idx="4294967295"/>
          </p:nvPr>
        </p:nvSpPr>
        <p:spPr>
          <a:xfrm>
            <a:off x="0" y="685800"/>
            <a:ext cx="9144000" cy="838200"/>
          </a:xfrm>
        </p:spPr>
        <p:txBody>
          <a:bodyPr>
            <a:normAutofit/>
          </a:bodyPr>
          <a:lstStyle/>
          <a:p>
            <a:r>
              <a:rPr lang="en-US" spc="0" dirty="0">
                <a:solidFill>
                  <a:schemeClr val="accent6">
                    <a:lumMod val="75000"/>
                  </a:schemeClr>
                </a:solidFill>
                <a:latin typeface="Century Gothic"/>
                <a:cs typeface="Century Gothic"/>
              </a:rPr>
              <a:t>THE COST OF CLIMATE PROTECTION</a:t>
            </a:r>
          </a:p>
        </p:txBody>
      </p:sp>
    </p:spTree>
    <p:extLst>
      <p:ext uri="{BB962C8B-B14F-4D97-AF65-F5344CB8AC3E}">
        <p14:creationId xmlns:p14="http://schemas.microsoft.com/office/powerpoint/2010/main" val="2646886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5ad1a792e7828ca492521aea17b12f2931c3dea"/>
</p:tagLst>
</file>

<file path=ppt/theme/theme1.xml><?xml version="1.0" encoding="utf-8"?>
<a:theme xmlns:a="http://schemas.openxmlformats.org/drawingml/2006/main" name="4e Krugman_Dynamic PPTs_Ch05">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3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newer Krugman 3e theme</Template>
  <TotalTime>7917</TotalTime>
  <Words>2506</Words>
  <Application>Microsoft Macintosh PowerPoint</Application>
  <PresentationFormat>On-screen Show (4:3)</PresentationFormat>
  <Paragraphs>255</Paragraphs>
  <Slides>49</Slides>
  <Notes>13</Notes>
  <HiddenSlides>0</HiddenSlides>
  <MMClips>0</MMClips>
  <ScaleCrop>false</ScaleCrop>
  <HeadingPairs>
    <vt:vector size="8" baseType="variant">
      <vt:variant>
        <vt:lpstr>Fonts Used</vt:lpstr>
      </vt:variant>
      <vt:variant>
        <vt:i4>10</vt:i4>
      </vt:variant>
      <vt:variant>
        <vt:lpstr>Theme</vt:lpstr>
      </vt:variant>
      <vt:variant>
        <vt:i4>10</vt:i4>
      </vt:variant>
      <vt:variant>
        <vt:lpstr>Embedded OLE Servers</vt:lpstr>
      </vt:variant>
      <vt:variant>
        <vt:i4>1</vt:i4>
      </vt:variant>
      <vt:variant>
        <vt:lpstr>Slide Titles</vt:lpstr>
      </vt:variant>
      <vt:variant>
        <vt:i4>49</vt:i4>
      </vt:variant>
    </vt:vector>
  </HeadingPairs>
  <TitlesOfParts>
    <vt:vector size="70" baseType="lpstr">
      <vt:lpstr>Arial</vt:lpstr>
      <vt:lpstr>Calibri</vt:lpstr>
      <vt:lpstr>Candara</vt:lpstr>
      <vt:lpstr>Century Gothic</vt:lpstr>
      <vt:lpstr>Gill Sans</vt:lpstr>
      <vt:lpstr>Gill Sans MT</vt:lpstr>
      <vt:lpstr>Gill Sans MT Condensed</vt:lpstr>
      <vt:lpstr>Tw Cen MT</vt:lpstr>
      <vt:lpstr>Verdana</vt:lpstr>
      <vt:lpstr>Wingdings</vt:lpstr>
      <vt:lpstr>4e Krugman_Dynamic PPTs_Ch05</vt:lpstr>
      <vt:lpstr>6_Custom Design</vt:lpstr>
      <vt:lpstr>1_Newest 2e theme</vt:lpstr>
      <vt:lpstr>10_Stone ppt Theme1</vt:lpstr>
      <vt:lpstr>11_Stone ppt Theme1</vt:lpstr>
      <vt:lpstr>12_Stone ppt Theme1</vt:lpstr>
      <vt:lpstr>7_Custom Design</vt:lpstr>
      <vt:lpstr>11_Krugman 3e main content</vt:lpstr>
      <vt:lpstr>3_Krugman 3e main content</vt:lpstr>
      <vt:lpstr>Krugman 3e main content</vt:lpstr>
      <vt:lpstr>Equation</vt:lpstr>
      <vt:lpstr>Economics 2220 Principles Of Macroeconomics</vt:lpstr>
      <vt:lpstr>PowerPoint Presentation</vt:lpstr>
      <vt:lpstr>PowerPoint Presentation</vt:lpstr>
      <vt:lpstr>PowerPoint Presentation</vt:lpstr>
      <vt:lpstr>COMPARING ECONOMIES ACROSS TIME AND SPACE</vt:lpstr>
      <vt:lpstr>PowerPoint Presentation</vt:lpstr>
      <vt:lpstr>U.S. REAL GDP PER CAPITA</vt:lpstr>
      <vt:lpstr>INCOMES AROUND THE WORLD, 2023</vt:lpstr>
      <vt:lpstr>THE RULE OF 70: THE MAGIC OF COMPOUNDING</vt:lpstr>
      <vt:lpstr>PowerPoint Presentation</vt:lpstr>
      <vt:lpstr>PowerPoint Presentation</vt:lpstr>
      <vt:lpstr>COMPARING RECENT GROWTH RATES</vt:lpstr>
      <vt:lpstr>PowerPoint Presentation</vt:lpstr>
      <vt:lpstr>THE SOURCES OF LONG-RUN GROWTH</vt:lpstr>
      <vt:lpstr>EXPLAINING GROWTH IN PRODUCTIVITY</vt:lpstr>
      <vt:lpstr>EXPLAINING GROWTH IN PRODUCTIVITY</vt:lpstr>
      <vt:lpstr>EXPLAINING GROWTH IN PRODUCTIVITY</vt:lpstr>
      <vt:lpstr>THE AGGREGATE PRODUCTION FUNCTION</vt:lpstr>
      <vt:lpstr>ACCOUNTING FOR GROWTH: THE AGGREGATE PRODUCTION FUNCTION</vt:lpstr>
      <vt:lpstr>THE AGGREGATE PRODUCTION FUNCTION</vt:lpstr>
      <vt:lpstr>ACCOUNTING FOR GROWTH: THE AGGREGATE PRODUCTION FUNCTION</vt:lpstr>
      <vt:lpstr>TECHNOLOGY AND PRODUCTIVITY</vt:lpstr>
      <vt:lpstr>TOTAL FACTOR PRODUCTIVITY</vt:lpstr>
      <vt:lpstr>GROWTH ACCOUNTING</vt:lpstr>
      <vt:lpstr>TECHNOLOGY AND PRODUCTIVITY</vt:lpstr>
      <vt:lpstr>WHAT ABOUT NATURAL RESOURCES?</vt:lpstr>
      <vt:lpstr>Is the end of economic growth in sight?</vt:lpstr>
      <vt:lpstr>Is the end of economic growth in sight?</vt:lpstr>
      <vt:lpstr>PowerPoint Presentation</vt:lpstr>
      <vt:lpstr>WHY GROWTH RATES DIFFER</vt:lpstr>
      <vt:lpstr>RESEARCH AND DEVELOPMENT</vt:lpstr>
      <vt:lpstr>CHINA’S STUDENTS ARE CATCHING UP</vt:lpstr>
      <vt:lpstr>What’s the matter with italy?</vt:lpstr>
      <vt:lpstr>THE ROLE OF GOVERNMENT IN PROMOTING ECONOMIC GROWTH</vt:lpstr>
      <vt:lpstr>INFRASTRUCTURE</vt:lpstr>
      <vt:lpstr>Why did britain fall behind?</vt:lpstr>
      <vt:lpstr>WHAT CAUSED EAST ASIA’S MIRACLE? </vt:lpstr>
      <vt:lpstr>SUCCESS, DISAPPOINTMENT AND FAILURE</vt:lpstr>
      <vt:lpstr>AFRICA’S TROUBLES AND PROMISE</vt:lpstr>
      <vt:lpstr>CONVERGENCE HYPOTHESIS</vt:lpstr>
      <vt:lpstr>PowerPoint Presentation</vt:lpstr>
      <vt:lpstr>PowerPoint Presentation</vt:lpstr>
      <vt:lpstr>IS WORLD GROWTH SUSTAINABLE?</vt:lpstr>
      <vt:lpstr>NATURAL RESOURCES AND GROWTH, REVISITED</vt:lpstr>
      <vt:lpstr>NATURAL RESOURCES AND GROWTH, REVISITED</vt:lpstr>
      <vt:lpstr>NATURAL RESOURCES AND GROWTH, REVISITED</vt:lpstr>
      <vt:lpstr>ECONOMIC GROWTH AND THE ENVIRONMENT</vt:lpstr>
      <vt:lpstr>ECONOMIC GROWTH AND THE ENVIRONMENT</vt:lpstr>
      <vt:lpstr>THE COST OF CLIMATE PROTECTION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Solina Lindahl</dc:creator>
  <cp:keywords/>
  <dc:description/>
  <cp:lastModifiedBy>Zhigang Feng</cp:lastModifiedBy>
  <cp:revision>336</cp:revision>
  <dcterms:created xsi:type="dcterms:W3CDTF">2012-07-21T02:43:21Z</dcterms:created>
  <dcterms:modified xsi:type="dcterms:W3CDTF">2026-02-24T16:14:40Z</dcterms:modified>
  <cp:category/>
</cp:coreProperties>
</file>