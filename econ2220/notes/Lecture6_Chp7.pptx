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700" r:id="rId2"/>
    <p:sldMasterId id="2147483704" r:id="rId3"/>
    <p:sldMasterId id="2147483708" r:id="rId4"/>
    <p:sldMasterId id="2147483711" r:id="rId5"/>
    <p:sldMasterId id="2147483714" r:id="rId6"/>
    <p:sldMasterId id="2147483717" r:id="rId7"/>
    <p:sldMasterId id="2147483719" r:id="rId8"/>
  </p:sldMasterIdLst>
  <p:notesMasterIdLst>
    <p:notesMasterId r:id="rId62"/>
  </p:notesMasterIdLst>
  <p:handoutMasterIdLst>
    <p:handoutMasterId r:id="rId63"/>
  </p:handoutMasterIdLst>
  <p:sldIdLst>
    <p:sldId id="323" r:id="rId9"/>
    <p:sldId id="260" r:id="rId10"/>
    <p:sldId id="263" r:id="rId11"/>
    <p:sldId id="264" r:id="rId12"/>
    <p:sldId id="308" r:id="rId13"/>
    <p:sldId id="265" r:id="rId14"/>
    <p:sldId id="267" r:id="rId15"/>
    <p:sldId id="268" r:id="rId16"/>
    <p:sldId id="307" r:id="rId17"/>
    <p:sldId id="309" r:id="rId18"/>
    <p:sldId id="310" r:id="rId19"/>
    <p:sldId id="311" r:id="rId20"/>
    <p:sldId id="278" r:id="rId21"/>
    <p:sldId id="316" r:id="rId22"/>
    <p:sldId id="273" r:id="rId23"/>
    <p:sldId id="274" r:id="rId24"/>
    <p:sldId id="275" r:id="rId25"/>
    <p:sldId id="276" r:id="rId26"/>
    <p:sldId id="277" r:id="rId27"/>
    <p:sldId id="315" r:id="rId28"/>
    <p:sldId id="314" r:id="rId29"/>
    <p:sldId id="312" r:id="rId30"/>
    <p:sldId id="317" r:id="rId31"/>
    <p:sldId id="281" r:id="rId32"/>
    <p:sldId id="280" r:id="rId33"/>
    <p:sldId id="324" r:id="rId34"/>
    <p:sldId id="325" r:id="rId35"/>
    <p:sldId id="282" r:id="rId36"/>
    <p:sldId id="283"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318" r:id="rId50"/>
    <p:sldId id="298" r:id="rId51"/>
    <p:sldId id="299" r:id="rId52"/>
    <p:sldId id="319" r:id="rId53"/>
    <p:sldId id="301" r:id="rId54"/>
    <p:sldId id="302" r:id="rId55"/>
    <p:sldId id="303" r:id="rId56"/>
    <p:sldId id="320" r:id="rId57"/>
    <p:sldId id="305" r:id="rId58"/>
    <p:sldId id="321" r:id="rId59"/>
    <p:sldId id="306" r:id="rId60"/>
    <p:sldId id="322" r:id="rId61"/>
  </p:sldIdLst>
  <p:sldSz cx="9144000" cy="6858000" type="screen4x3"/>
  <p:notesSz cx="6858000" cy="9144000"/>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initials="K" lastIdx="11" clrIdx="0"/>
  <p:cmAuthor id="1" name="Bonilla, Edgar" initials="EB" lastIdx="4" clrIdx="1"/>
  <p:cmAuthor id="2" name="Solina Lindahl" initials="SL" lastIdx="9" clrIdx="2"/>
  <p:cmAuthor id="3" name="hbadmin" initials="h"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0839" autoAdjust="0"/>
  </p:normalViewPr>
  <p:slideViewPr>
    <p:cSldViewPr>
      <p:cViewPr varScale="1">
        <p:scale>
          <a:sx n="90" d="100"/>
          <a:sy n="90" d="100"/>
        </p:scale>
        <p:origin x="1848" y="200"/>
      </p:cViewPr>
      <p:guideLst>
        <p:guide orient="horz" pos="2160"/>
        <p:guide pos="2880"/>
      </p:guideLst>
    </p:cSldViewPr>
  </p:slideViewPr>
  <p:notesTextViewPr>
    <p:cViewPr>
      <p:scale>
        <a:sx n="1" d="1"/>
        <a:sy n="1" d="1"/>
      </p:scale>
      <p:origin x="0" y="0"/>
    </p:cViewPr>
  </p:notesTextViewPr>
  <p:notesViewPr>
    <p:cSldViewPr snapToGrid="0" snapToObjects="1">
      <p:cViewPr varScale="1">
        <p:scale>
          <a:sx n="89" d="100"/>
          <a:sy n="89" d="100"/>
        </p:scale>
        <p:origin x="-38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D7D7A8-C652-304E-B365-B25232E336F2}" type="datetimeFigureOut">
              <a:rPr lang="en-US" smtClean="0"/>
              <a:t>2/28/23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D5F51-2719-624B-AA3D-8BBD63EA2CE0}" type="slidenum">
              <a:rPr lang="en-US" smtClean="0"/>
              <a:t>‹#›</a:t>
            </a:fld>
            <a:endParaRPr lang="en-US"/>
          </a:p>
        </p:txBody>
      </p:sp>
    </p:spTree>
    <p:extLst>
      <p:ext uri="{BB962C8B-B14F-4D97-AF65-F5344CB8AC3E}">
        <p14:creationId xmlns:p14="http://schemas.microsoft.com/office/powerpoint/2010/main" val="16155971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C7F735-3B07-40E0-90B2-09F3232ABD28}" type="datetimeFigureOut">
              <a:rPr lang="en-US" smtClean="0"/>
              <a:t>2/28/23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4470D8-1F41-4A2B-8AFF-DD19730E7B38}" type="slidenum">
              <a:rPr lang="en-US" smtClean="0"/>
              <a:t>‹#›</a:t>
            </a:fld>
            <a:endParaRPr lang="en-US"/>
          </a:p>
        </p:txBody>
      </p:sp>
    </p:spTree>
    <p:extLst>
      <p:ext uri="{BB962C8B-B14F-4D97-AF65-F5344CB8AC3E}">
        <p14:creationId xmlns:p14="http://schemas.microsoft.com/office/powerpoint/2010/main" val="413475513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Iain </a:t>
            </a:r>
            <a:r>
              <a:rPr lang="en-US" dirty="0" err="1"/>
              <a:t>Masterton</a:t>
            </a:r>
            <a:r>
              <a:rPr lang="en-US" dirty="0"/>
              <a:t>/</a:t>
            </a:r>
            <a:r>
              <a:rPr lang="en-US" dirty="0" err="1"/>
              <a:t>Alamy</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a:t>
            </a:fld>
            <a:endParaRPr lang="en-US"/>
          </a:p>
        </p:txBody>
      </p:sp>
    </p:spTree>
    <p:extLst>
      <p:ext uri="{BB962C8B-B14F-4D97-AF65-F5344CB8AC3E}">
        <p14:creationId xmlns:p14="http://schemas.microsoft.com/office/powerpoint/2010/main" val="3063425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7CF73FB-409F-4451-85D6-EBA6238FD309}" type="slidenum">
              <a:rPr lang="en-US" smtClean="0"/>
              <a:pPr fontAlgn="base">
                <a:spcBef>
                  <a:spcPct val="0"/>
                </a:spcBef>
                <a:spcAft>
                  <a:spcPct val="0"/>
                </a:spcAft>
                <a:defRPr/>
              </a:pPr>
              <a:t>4</a:t>
            </a:fld>
            <a:endParaRPr lang="en-US" dirty="0"/>
          </a:p>
        </p:txBody>
      </p:sp>
      <p:sp>
        <p:nvSpPr>
          <p:cNvPr id="983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83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All image credits courtesy of Morgue File and/or </a:t>
            </a:r>
            <a:r>
              <a:rPr lang="en-US" dirty="0" err="1"/>
              <a:t>FreeImages.com</a:t>
            </a:r>
            <a:r>
              <a:rPr lang="en-US" dirty="0"/>
              <a:t> unless otherwise specified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CFB8A6-2D72-44AD-8741-9D1F169429B4}" type="slidenum">
              <a:rPr lang="en-US"/>
              <a:pPr/>
              <a:t>6</a:t>
            </a:fld>
            <a:endParaRPr lang="en-US" dirty="0"/>
          </a:p>
        </p:txBody>
      </p:sp>
      <p:sp>
        <p:nvSpPr>
          <p:cNvPr id="331778" name="Rectangle 2"/>
          <p:cNvSpPr>
            <a:spLocks noGrp="1" noRot="1" noChangeAspect="1" noChangeArrowheads="1" noTextEdit="1"/>
          </p:cNvSpPr>
          <p:nvPr>
            <p:ph type="sldImg"/>
          </p:nvPr>
        </p:nvSpPr>
        <p:spPr>
          <a:ln/>
        </p:spPr>
      </p:sp>
      <p:sp>
        <p:nvSpPr>
          <p:cNvPr id="331779" name="Rectangle 3"/>
          <p:cNvSpPr>
            <a:spLocks noGrp="1" noChangeArrowheads="1"/>
          </p:cNvSpPr>
          <p:nvPr>
            <p:ph type="body" idx="1"/>
          </p:nvPr>
        </p:nvSpPr>
        <p:spPr/>
        <p:txBody>
          <a:bodyPr/>
          <a:lstStyle/>
          <a:p>
            <a:endParaRPr lang="en-US" sz="1000" dirty="0"/>
          </a:p>
          <a:p>
            <a:endParaRPr 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10"/>
          </p:nvPr>
        </p:nvSpPr>
        <p:spPr/>
        <p:txBody>
          <a:bodyPr/>
          <a:lstStyle/>
          <a:p>
            <a:fld id="{6C4470D8-1F41-4A2B-8AFF-DD19730E7B38}" type="slidenum">
              <a:rPr lang="en-US" smtClean="0"/>
              <a:t>9</a:t>
            </a:fld>
            <a:endParaRPr lang="en-US"/>
          </a:p>
        </p:txBody>
      </p:sp>
    </p:spTree>
    <p:extLst>
      <p:ext uri="{BB962C8B-B14F-4D97-AF65-F5344CB8AC3E}">
        <p14:creationId xmlns:p14="http://schemas.microsoft.com/office/powerpoint/2010/main" val="4234261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10"/>
          </p:nvPr>
        </p:nvSpPr>
        <p:spPr/>
        <p:txBody>
          <a:bodyPr/>
          <a:lstStyle/>
          <a:p>
            <a:fld id="{6C4470D8-1F41-4A2B-8AFF-DD19730E7B38}" type="slidenum">
              <a:rPr lang="en-US" smtClean="0"/>
              <a:t>10</a:t>
            </a:fld>
            <a:endParaRPr lang="en-US"/>
          </a:p>
        </p:txBody>
      </p:sp>
    </p:spTree>
    <p:extLst>
      <p:ext uri="{BB962C8B-B14F-4D97-AF65-F5344CB8AC3E}">
        <p14:creationId xmlns:p14="http://schemas.microsoft.com/office/powerpoint/2010/main" val="2486469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10"/>
          </p:nvPr>
        </p:nvSpPr>
        <p:spPr/>
        <p:txBody>
          <a:bodyPr/>
          <a:lstStyle/>
          <a:p>
            <a:fld id="{6C4470D8-1F41-4A2B-8AFF-DD19730E7B38}" type="slidenum">
              <a:rPr lang="en-US" smtClean="0"/>
              <a:t>11</a:t>
            </a:fld>
            <a:endParaRPr lang="en-US"/>
          </a:p>
        </p:txBody>
      </p:sp>
    </p:spTree>
    <p:extLst>
      <p:ext uri="{BB962C8B-B14F-4D97-AF65-F5344CB8AC3E}">
        <p14:creationId xmlns:p14="http://schemas.microsoft.com/office/powerpoint/2010/main" val="1150263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5"/>
          </p:nvPr>
        </p:nvSpPr>
        <p:spPr/>
        <p:txBody>
          <a:bodyPr/>
          <a:lstStyle/>
          <a:p>
            <a:pPr>
              <a:defRPr/>
            </a:pPr>
            <a:fld id="{E9E5E843-4D39-4FE0-B842-9992EFFAC952}" type="slidenum">
              <a:rPr lang="en-US" smtClean="0">
                <a:solidFill>
                  <a:prstClr val="black"/>
                </a:solidFill>
                <a:latin typeface="Calibri"/>
              </a:rPr>
              <a:pPr>
                <a:defRPr/>
              </a:pPr>
              <a:t>12</a:t>
            </a:fld>
            <a:endParaRPr lang="en-US" dirty="0">
              <a:solidFill>
                <a:prstClr val="black"/>
              </a:solidFill>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10"/>
          </p:nvPr>
        </p:nvSpPr>
        <p:spPr/>
        <p:txBody>
          <a:bodyPr/>
          <a:lstStyle/>
          <a:p>
            <a:fld id="{6C4470D8-1F41-4A2B-8AFF-DD19730E7B38}" type="slidenum">
              <a:rPr lang="en-US" smtClean="0"/>
              <a:t>14</a:t>
            </a:fld>
            <a:endParaRPr lang="en-US"/>
          </a:p>
        </p:txBody>
      </p:sp>
    </p:spTree>
    <p:extLst>
      <p:ext uri="{BB962C8B-B14F-4D97-AF65-F5344CB8AC3E}">
        <p14:creationId xmlns:p14="http://schemas.microsoft.com/office/powerpoint/2010/main" val="1010888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5"/>
          </p:nvPr>
        </p:nvSpPr>
        <p:spPr/>
        <p:txBody>
          <a:bodyPr/>
          <a:lstStyle/>
          <a:p>
            <a:pPr>
              <a:defRPr/>
            </a:pPr>
            <a:fld id="{13819E2A-5E24-4946-986B-8860BAF0C944}" type="slidenum">
              <a:rPr lang="en-US" smtClean="0"/>
              <a:pPr>
                <a:defRPr/>
              </a:pPr>
              <a:t>15</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dirty="0"/>
          </a:p>
        </p:txBody>
      </p:sp>
      <p:sp>
        <p:nvSpPr>
          <p:cNvPr id="4" name="Slide Number Placeholder 3"/>
          <p:cNvSpPr>
            <a:spLocks noGrp="1"/>
          </p:cNvSpPr>
          <p:nvPr>
            <p:ph type="sldNum" sz="quarter" idx="5"/>
          </p:nvPr>
        </p:nvSpPr>
        <p:spPr/>
        <p:txBody>
          <a:bodyPr/>
          <a:lstStyle/>
          <a:p>
            <a:pPr>
              <a:defRPr/>
            </a:pPr>
            <a:fld id="{C3C7A9CE-A3A1-4C69-BD9B-B3A1272E94C7}" type="slidenum">
              <a:rPr lang="en-US" smtClean="0"/>
              <a:pPr>
                <a:defRPr/>
              </a:pPr>
              <a:t>16</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3400" dirty="0"/>
              <a:t>www.bea.gov</a:t>
            </a:r>
            <a:endParaRPr lang="en-US" sz="3200" dirty="0"/>
          </a:p>
          <a:p>
            <a:pPr eaLnBrk="1" hangingPunct="1"/>
            <a:endParaRPr lang="en-US" dirty="0"/>
          </a:p>
        </p:txBody>
      </p:sp>
      <p:sp>
        <p:nvSpPr>
          <p:cNvPr id="4" name="Slide Number Placeholder 3"/>
          <p:cNvSpPr>
            <a:spLocks noGrp="1"/>
          </p:cNvSpPr>
          <p:nvPr>
            <p:ph type="sldNum" sz="quarter" idx="5"/>
          </p:nvPr>
        </p:nvSpPr>
        <p:spPr/>
        <p:txBody>
          <a:bodyPr/>
          <a:lstStyle/>
          <a:p>
            <a:pPr>
              <a:defRPr/>
            </a:pPr>
            <a:fld id="{82349274-8704-4A9D-A245-4684B4CD1AE2}" type="slidenum">
              <a:rPr lang="en-US" smtClean="0"/>
              <a:pPr>
                <a:defRPr/>
              </a:pPr>
              <a:t>18</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credit:</a:t>
            </a:r>
            <a:r>
              <a:rPr lang="en-US" baseline="0" dirty="0"/>
              <a:t> </a:t>
            </a:r>
            <a:r>
              <a:rPr lang="en-US" baseline="0" dirty="0" err="1"/>
              <a:t>Shutterstock</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solidFill>
                  <a:prstClr val="black"/>
                </a:solidFill>
                <a:latin typeface="Calibri"/>
              </a:rPr>
              <a:pPr/>
              <a:t>20</a:t>
            </a:fld>
            <a:endParaRPr lang="en-US">
              <a:solidFill>
                <a:prstClr val="black"/>
              </a:solidFill>
              <a:latin typeface="Calibri"/>
            </a:endParaRPr>
          </a:p>
        </p:txBody>
      </p:sp>
    </p:spTree>
    <p:extLst>
      <p:ext uri="{BB962C8B-B14F-4D97-AF65-F5344CB8AC3E}">
        <p14:creationId xmlns:p14="http://schemas.microsoft.com/office/powerpoint/2010/main" val="836080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10"/>
          </p:nvPr>
        </p:nvSpPr>
        <p:spPr/>
        <p:txBody>
          <a:bodyPr/>
          <a:lstStyle/>
          <a:p>
            <a:fld id="{6C4470D8-1F41-4A2B-8AFF-DD19730E7B38}" type="slidenum">
              <a:rPr lang="en-US" smtClean="0"/>
              <a:t>21</a:t>
            </a:fld>
            <a:endParaRPr lang="en-US"/>
          </a:p>
        </p:txBody>
      </p:sp>
    </p:spTree>
    <p:extLst>
      <p:ext uri="{BB962C8B-B14F-4D97-AF65-F5344CB8AC3E}">
        <p14:creationId xmlns:p14="http://schemas.microsoft.com/office/powerpoint/2010/main" val="2610921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p:txBody>
      </p:sp>
      <p:sp>
        <p:nvSpPr>
          <p:cNvPr id="4" name="Slide Number Placeholder 3"/>
          <p:cNvSpPr>
            <a:spLocks noGrp="1"/>
          </p:cNvSpPr>
          <p:nvPr>
            <p:ph type="sldNum" sz="quarter" idx="10"/>
          </p:nvPr>
        </p:nvSpPr>
        <p:spPr/>
        <p:txBody>
          <a:bodyPr/>
          <a:lstStyle/>
          <a:p>
            <a:fld id="{6C4470D8-1F41-4A2B-8AFF-DD19730E7B38}" type="slidenum">
              <a:rPr lang="en-US" smtClean="0"/>
              <a:t>22</a:t>
            </a:fld>
            <a:endParaRPr lang="en-US"/>
          </a:p>
        </p:txBody>
      </p:sp>
    </p:spTree>
    <p:extLst>
      <p:ext uri="{BB962C8B-B14F-4D97-AF65-F5344CB8AC3E}">
        <p14:creationId xmlns:p14="http://schemas.microsoft.com/office/powerpoint/2010/main" val="779064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048E65-8141-4340-8D51-DE236B97F4B8}" type="slidenum">
              <a:rPr lang="en-US"/>
              <a:pPr/>
              <a:t>24</a:t>
            </a:fld>
            <a:endParaRPr lang="en-US" dirty="0"/>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en-US" i="1"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6D9B8F-67D7-4A2C-AF8C-C71FC0C0B2C1}" type="slidenum">
              <a:rPr lang="en-US"/>
              <a:pPr/>
              <a:t>25</a:t>
            </a:fld>
            <a:endParaRPr lang="en-US" dirty="0"/>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pPr>
              <a:spcBef>
                <a:spcPct val="0"/>
              </a:spcBef>
            </a:pPr>
            <a:r>
              <a:rPr lang="en-US" dirty="0"/>
              <a:t>.</a:t>
            </a:r>
          </a:p>
        </p:txBody>
      </p:sp>
    </p:spTree>
    <p:extLst>
      <p:ext uri="{BB962C8B-B14F-4D97-AF65-F5344CB8AC3E}">
        <p14:creationId xmlns:p14="http://schemas.microsoft.com/office/powerpoint/2010/main" val="2213428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6D9B8F-67D7-4A2C-AF8C-C71FC0C0B2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pPr>
              <a:spcBef>
                <a:spcPct val="0"/>
              </a:spcBef>
            </a:pPr>
            <a:r>
              <a:rPr lang="en-US" dirty="0"/>
              <a:t>.</a:t>
            </a:r>
          </a:p>
        </p:txBody>
      </p:sp>
    </p:spTree>
    <p:extLst>
      <p:ext uri="{BB962C8B-B14F-4D97-AF65-F5344CB8AC3E}">
        <p14:creationId xmlns:p14="http://schemas.microsoft.com/office/powerpoint/2010/main" val="3927247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72332F-0701-44ED-828A-9F5CDA4526D2}" type="slidenum">
              <a:rPr lang="en-US"/>
              <a:pPr/>
              <a:t>32</a:t>
            </a:fld>
            <a:endParaRPr lang="en-US" dirty="0"/>
          </a:p>
        </p:txBody>
      </p:sp>
      <p:sp>
        <p:nvSpPr>
          <p:cNvPr id="229378" name="Rectangle 2"/>
          <p:cNvSpPr>
            <a:spLocks noGrp="1" noRot="1" noChangeAspect="1" noChangeArrowheads="1" noTextEdit="1"/>
          </p:cNvSpPr>
          <p:nvPr>
            <p:ph type="sldImg"/>
          </p:nvPr>
        </p:nvSpPr>
        <p:spPr>
          <a:ln/>
        </p:spPr>
      </p:sp>
      <p:sp>
        <p:nvSpPr>
          <p:cNvPr id="22937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Answer d. </a:t>
            </a:r>
            <a:r>
              <a:rPr lang="en-US" sz="1200" b="0" i="0" u="none" strike="noStrike" kern="1200" baseline="0" dirty="0">
                <a:solidFill>
                  <a:schemeClr val="tx1"/>
                </a:solidFill>
                <a:latin typeface="+mn-lt"/>
                <a:ea typeface="+mn-ea"/>
                <a:cs typeface="+mn-cs"/>
              </a:rPr>
              <a:t>To answer this question, it is helpful to calculate the nominal GDP for each</a:t>
            </a:r>
          </a:p>
          <a:p>
            <a:r>
              <a:rPr lang="en-US" sz="1200" b="0" i="0" u="none" strike="noStrike" kern="1200" baseline="0" dirty="0">
                <a:solidFill>
                  <a:schemeClr val="tx1"/>
                </a:solidFill>
                <a:latin typeface="+mn-lt"/>
                <a:ea typeface="+mn-ea"/>
                <a:cs typeface="+mn-cs"/>
              </a:rPr>
              <a:t>of these years. Nominal GDP in 2010 equals the sum of the product of the prices of the</a:t>
            </a:r>
          </a:p>
          <a:p>
            <a:r>
              <a:rPr lang="en-US" sz="1200" b="0" i="0" u="none" strike="noStrike" kern="1200" baseline="0" dirty="0">
                <a:solidFill>
                  <a:schemeClr val="tx1"/>
                </a:solidFill>
                <a:latin typeface="+mn-lt"/>
                <a:ea typeface="+mn-ea"/>
                <a:cs typeface="+mn-cs"/>
              </a:rPr>
              <a:t>goods produced times the quantity of the goods produced or ($10,000/tractor)(5 tractors)</a:t>
            </a:r>
          </a:p>
          <a:p>
            <a:r>
              <a:rPr lang="en-US" sz="1200" b="0" i="0" u="none" strike="noStrike" kern="1200" baseline="0" dirty="0">
                <a:solidFill>
                  <a:schemeClr val="tx1"/>
                </a:solidFill>
                <a:latin typeface="+mn-lt"/>
                <a:ea typeface="+mn-ea"/>
                <a:cs typeface="+mn-cs"/>
              </a:rPr>
              <a:t>+ ($10/pizza)(100 pizzas), or $51,000. Using the same process, nominal GDP in</a:t>
            </a:r>
          </a:p>
          <a:p>
            <a:r>
              <a:rPr lang="en-US" sz="1200" b="0" i="0" u="none" strike="noStrike" kern="1200" baseline="0" dirty="0">
                <a:solidFill>
                  <a:schemeClr val="tx1"/>
                </a:solidFill>
                <a:latin typeface="+mn-lt"/>
                <a:ea typeface="+mn-ea"/>
                <a:cs typeface="+mn-cs"/>
              </a:rPr>
              <a:t>2011 equals $61,600 and nominal GDP in 2012 equals $77,000. Thus, nominal GDP in</a:t>
            </a:r>
          </a:p>
          <a:p>
            <a:r>
              <a:rPr lang="en-US" sz="1200" b="0" i="0" u="none" strike="noStrike" kern="1200" baseline="0" dirty="0">
                <a:solidFill>
                  <a:schemeClr val="tx1"/>
                </a:solidFill>
                <a:latin typeface="+mn-lt"/>
                <a:ea typeface="+mn-ea"/>
                <a:cs typeface="+mn-cs"/>
              </a:rPr>
              <a:t>2011 is greater than nominal GDP in 2010 and less than nominal GDP in 2012.</a:t>
            </a:r>
            <a:endParaRPr lang="en-US" dirty="0"/>
          </a:p>
        </p:txBody>
      </p:sp>
      <p:sp>
        <p:nvSpPr>
          <p:cNvPr id="4" name="Slide Number Placeholder 3"/>
          <p:cNvSpPr>
            <a:spLocks noGrp="1"/>
          </p:cNvSpPr>
          <p:nvPr>
            <p:ph type="sldNum" sz="quarter" idx="10"/>
          </p:nvPr>
        </p:nvSpPr>
        <p:spPr/>
        <p:txBody>
          <a:bodyPr/>
          <a:lstStyle/>
          <a:p>
            <a:fld id="{922C847C-147F-466A-9961-624F63F04E53}" type="slidenum">
              <a:rPr lang="en-US" smtClean="0"/>
              <a:t>33</a:t>
            </a:fld>
            <a:endParaRPr lang="en-US" dirty="0"/>
          </a:p>
        </p:txBody>
      </p:sp>
    </p:spTree>
    <p:extLst>
      <p:ext uri="{BB962C8B-B14F-4D97-AF65-F5344CB8AC3E}">
        <p14:creationId xmlns:p14="http://schemas.microsoft.com/office/powerpoint/2010/main" val="3347193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To answer this question, first calculate real GDP in 2011 using 2010 as the</a:t>
            </a:r>
          </a:p>
          <a:p>
            <a:r>
              <a:rPr lang="en-US" sz="1200" b="0" i="0" u="none" strike="noStrike" kern="1200" baseline="0" dirty="0">
                <a:solidFill>
                  <a:schemeClr val="tx1"/>
                </a:solidFill>
                <a:latin typeface="+mn-lt"/>
                <a:ea typeface="+mn-ea"/>
                <a:cs typeface="+mn-cs"/>
              </a:rPr>
              <a:t>base year. Real GDP in 2011 equals the sum of the product of the quantities produced in</a:t>
            </a:r>
          </a:p>
          <a:p>
            <a:r>
              <a:rPr lang="en-US" sz="1200" b="0" i="0" u="none" strike="noStrike" kern="1200" baseline="0" dirty="0">
                <a:solidFill>
                  <a:schemeClr val="tx1"/>
                </a:solidFill>
                <a:latin typeface="+mn-lt"/>
                <a:ea typeface="+mn-ea"/>
                <a:cs typeface="+mn-cs"/>
              </a:rPr>
              <a:t>2011 times the price of the product in the base year. Thus, real GDP in 2011 using 2010</a:t>
            </a:r>
          </a:p>
          <a:p>
            <a:r>
              <a:rPr lang="en-US" sz="1200" b="0" i="0" u="none" strike="noStrike" kern="1200" baseline="0" dirty="0">
                <a:solidFill>
                  <a:schemeClr val="tx1"/>
                </a:solidFill>
                <a:latin typeface="+mn-lt"/>
                <a:ea typeface="+mn-ea"/>
                <a:cs typeface="+mn-cs"/>
              </a:rPr>
              <a:t>as the base year equals ($10,000/tractor)(5 tractors) + ($10/pizza)(80 pizzas), or</a:t>
            </a:r>
          </a:p>
          <a:p>
            <a:r>
              <a:rPr lang="en-US" sz="1200" b="0" i="0" u="none" strike="noStrike" kern="1200" baseline="0" dirty="0">
                <a:solidFill>
                  <a:schemeClr val="tx1"/>
                </a:solidFill>
                <a:latin typeface="+mn-lt"/>
                <a:ea typeface="+mn-ea"/>
                <a:cs typeface="+mn-cs"/>
              </a:rPr>
              <a:t>$50,800. Nominal GDP in 2011 equals $61,600 (see previous question), so real GDP in</a:t>
            </a:r>
          </a:p>
          <a:p>
            <a:r>
              <a:rPr lang="en-US" sz="1200" b="0" i="0" u="none" strike="noStrike" kern="1200" baseline="0" dirty="0">
                <a:solidFill>
                  <a:schemeClr val="tx1"/>
                </a:solidFill>
                <a:latin typeface="+mn-lt"/>
                <a:ea typeface="+mn-ea"/>
                <a:cs typeface="+mn-cs"/>
              </a:rPr>
              <a:t>2011 using 2010 as the base year is less than nominal GDP in 2011.</a:t>
            </a:r>
            <a:endParaRPr lang="en-US" dirty="0"/>
          </a:p>
        </p:txBody>
      </p:sp>
      <p:sp>
        <p:nvSpPr>
          <p:cNvPr id="4" name="Slide Number Placeholder 3"/>
          <p:cNvSpPr>
            <a:spLocks noGrp="1"/>
          </p:cNvSpPr>
          <p:nvPr>
            <p:ph type="sldNum" sz="quarter" idx="10"/>
          </p:nvPr>
        </p:nvSpPr>
        <p:spPr/>
        <p:txBody>
          <a:bodyPr/>
          <a:lstStyle/>
          <a:p>
            <a:fld id="{922C847C-147F-466A-9961-624F63F04E53}" type="slidenum">
              <a:rPr lang="en-US" smtClean="0"/>
              <a:t>34</a:t>
            </a:fld>
            <a:endParaRPr lang="en-US" dirty="0"/>
          </a:p>
        </p:txBody>
      </p:sp>
    </p:spTree>
    <p:extLst>
      <p:ext uri="{BB962C8B-B14F-4D97-AF65-F5344CB8AC3E}">
        <p14:creationId xmlns:p14="http://schemas.microsoft.com/office/powerpoint/2010/main" val="33471936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Answer d. </a:t>
            </a:r>
            <a:r>
              <a:rPr lang="en-US" sz="1200" b="0" i="0" u="none" strike="noStrike" kern="1200" baseline="0" dirty="0">
                <a:solidFill>
                  <a:schemeClr val="tx1"/>
                </a:solidFill>
                <a:latin typeface="+mn-lt"/>
                <a:ea typeface="+mn-ea"/>
                <a:cs typeface="+mn-cs"/>
              </a:rPr>
              <a:t>To answer this question, first compute real GDP for each year using 2011 as the</a:t>
            </a:r>
          </a:p>
          <a:p>
            <a:r>
              <a:rPr lang="en-US" sz="1200" b="0" i="0" u="none" strike="noStrike" kern="1200" baseline="0" dirty="0">
                <a:solidFill>
                  <a:schemeClr val="tx1"/>
                </a:solidFill>
                <a:latin typeface="+mn-lt"/>
                <a:ea typeface="+mn-ea"/>
                <a:cs typeface="+mn-cs"/>
              </a:rPr>
              <a:t>base year. Real GDP in 2011 will equal nominal GDP in 2011 since 2011 has been designated</a:t>
            </a:r>
          </a:p>
          <a:p>
            <a:r>
              <a:rPr lang="en-US" sz="1200" b="0" i="0" u="none" strike="noStrike" kern="1200" baseline="0" dirty="0">
                <a:solidFill>
                  <a:schemeClr val="tx1"/>
                </a:solidFill>
                <a:latin typeface="+mn-lt"/>
                <a:ea typeface="+mn-ea"/>
                <a:cs typeface="+mn-cs"/>
              </a:rPr>
              <a:t>the base year. Thus, real GDP in 2011 equals $61,600. Real GDP in 2010 using 2011</a:t>
            </a:r>
          </a:p>
          <a:p>
            <a:r>
              <a:rPr lang="en-US" sz="1200" b="0" i="0" u="none" strike="noStrike" kern="1200" baseline="0" dirty="0">
                <a:solidFill>
                  <a:schemeClr val="tx1"/>
                </a:solidFill>
                <a:latin typeface="+mn-lt"/>
                <a:ea typeface="+mn-ea"/>
                <a:cs typeface="+mn-cs"/>
              </a:rPr>
              <a:t>as the base year equals ($12,000/tractor)(5 tractors) + ($20/pizza)(100 pizzas), or</a:t>
            </a:r>
          </a:p>
          <a:p>
            <a:r>
              <a:rPr lang="en-US" sz="1200" b="0" i="0" u="none" strike="noStrike" kern="1200" baseline="0" dirty="0">
                <a:solidFill>
                  <a:schemeClr val="tx1"/>
                </a:solidFill>
                <a:latin typeface="+mn-lt"/>
                <a:ea typeface="+mn-ea"/>
                <a:cs typeface="+mn-cs"/>
              </a:rPr>
              <a:t>$62,000. Real GDP in 2012 using 2011 as the base year equals ($12,000/tractor)(5 tractors)</a:t>
            </a:r>
          </a:p>
          <a:p>
            <a:r>
              <a:rPr lang="en-US" sz="1200" b="0" i="0" u="none" strike="noStrike" kern="1200" baseline="0" dirty="0">
                <a:solidFill>
                  <a:schemeClr val="tx1"/>
                </a:solidFill>
                <a:latin typeface="+mn-lt"/>
                <a:ea typeface="+mn-ea"/>
                <a:cs typeface="+mn-cs"/>
              </a:rPr>
              <a:t>+ ($20/pizza)(100 pizzas), or $62,000.</a:t>
            </a:r>
            <a:endParaRPr lang="en-US" dirty="0"/>
          </a:p>
        </p:txBody>
      </p:sp>
      <p:sp>
        <p:nvSpPr>
          <p:cNvPr id="4" name="Slide Number Placeholder 3"/>
          <p:cNvSpPr>
            <a:spLocks noGrp="1"/>
          </p:cNvSpPr>
          <p:nvPr>
            <p:ph type="sldNum" sz="quarter" idx="10"/>
          </p:nvPr>
        </p:nvSpPr>
        <p:spPr/>
        <p:txBody>
          <a:bodyPr/>
          <a:lstStyle/>
          <a:p>
            <a:fld id="{922C847C-147F-466A-9961-624F63F04E53}" type="slidenum">
              <a:rPr lang="en-US" smtClean="0"/>
              <a:t>35</a:t>
            </a:fld>
            <a:endParaRPr lang="en-US" dirty="0"/>
          </a:p>
        </p:txBody>
      </p:sp>
    </p:spTree>
    <p:extLst>
      <p:ext uri="{BB962C8B-B14F-4D97-AF65-F5344CB8AC3E}">
        <p14:creationId xmlns:p14="http://schemas.microsoft.com/office/powerpoint/2010/main" val="3347193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9335DD-6D63-457B-96C0-AD0242EA475C}" type="slidenum">
              <a:rPr lang="en-US"/>
              <a:pPr/>
              <a:t>38</a:t>
            </a:fld>
            <a:endParaRPr lang="en-US" dirty="0"/>
          </a:p>
        </p:txBody>
      </p:sp>
      <p:sp>
        <p:nvSpPr>
          <p:cNvPr id="299010" name="Rectangle 2"/>
          <p:cNvSpPr>
            <a:spLocks noGrp="1" noRot="1" noChangeAspect="1" noChangeArrowheads="1" noTextEdit="1"/>
          </p:cNvSpPr>
          <p:nvPr>
            <p:ph type="sldImg"/>
          </p:nvPr>
        </p:nvSpPr>
        <p:spPr>
          <a:ln/>
        </p:spPr>
      </p:sp>
      <p:sp>
        <p:nvSpPr>
          <p:cNvPr id="29901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FC4736-B40E-4634-963A-D5FCA90C15CF}" type="slidenum">
              <a:rPr lang="en-US"/>
              <a:pPr/>
              <a:t>41</a:t>
            </a:fld>
            <a:endParaRPr lang="en-US" dirty="0"/>
          </a:p>
        </p:txBody>
      </p:sp>
      <p:sp>
        <p:nvSpPr>
          <p:cNvPr id="231426" name="Rectangle 2"/>
          <p:cNvSpPr>
            <a:spLocks noGrp="1" noRot="1" noChangeAspect="1" noChangeArrowheads="1" noTextEdit="1"/>
          </p:cNvSpPr>
          <p:nvPr>
            <p:ph type="sldImg"/>
          </p:nvPr>
        </p:nvSpPr>
        <p:spPr>
          <a:ln/>
        </p:spPr>
      </p:sp>
      <p:sp>
        <p:nvSpPr>
          <p:cNvPr id="23142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249B3D-9378-4FF5-9494-D40E6F9495AD}" type="slidenum">
              <a:rPr lang="en-US"/>
              <a:pPr/>
              <a:t>47</a:t>
            </a:fld>
            <a:endParaRPr lang="en-US" dirty="0"/>
          </a:p>
        </p:txBody>
      </p:sp>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6B6C49-6540-4D22-823B-8717588C0ACF}" type="slidenum">
              <a:rPr lang="en-US"/>
              <a:pPr/>
              <a:t>48</a:t>
            </a:fld>
            <a:endParaRPr lang="en-US" dirty="0"/>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BCCED5-036A-48E3-89F9-42CFAED571F3}" type="slidenum">
              <a:rPr lang="en-US"/>
              <a:pPr/>
              <a:t>50</a:t>
            </a:fld>
            <a:endParaRPr lang="en-US" dirty="0"/>
          </a:p>
        </p:txBody>
      </p:sp>
      <p:sp>
        <p:nvSpPr>
          <p:cNvPr id="356354" name="Rectangle 2"/>
          <p:cNvSpPr>
            <a:spLocks noGrp="1" noRot="1" noChangeAspect="1" noChangeArrowheads="1" noTextEdit="1"/>
          </p:cNvSpPr>
          <p:nvPr>
            <p:ph type="sldImg"/>
          </p:nvPr>
        </p:nvSpPr>
        <p:spPr>
          <a:ln/>
        </p:spPr>
      </p:sp>
      <p:sp>
        <p:nvSpPr>
          <p:cNvPr id="35635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mn-ea"/>
                <a:cs typeface="+mn-cs"/>
              </a:rPr>
              <a:t>All 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51</a:t>
            </a:fld>
            <a:endParaRPr lang="en-US"/>
          </a:p>
        </p:txBody>
      </p:sp>
    </p:spTree>
    <p:extLst>
      <p:ext uri="{BB962C8B-B14F-4D97-AF65-F5344CB8AC3E}">
        <p14:creationId xmlns:p14="http://schemas.microsoft.com/office/powerpoint/2010/main" val="24057565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http://www.youtube.com/watch?v=Ep4DWx1--sY</a:t>
            </a:r>
          </a:p>
        </p:txBody>
      </p:sp>
      <p:sp>
        <p:nvSpPr>
          <p:cNvPr id="4" name="Slide Number Placeholder 3"/>
          <p:cNvSpPr>
            <a:spLocks noGrp="1"/>
          </p:cNvSpPr>
          <p:nvPr>
            <p:ph type="sldNum" sz="quarter" idx="10"/>
          </p:nvPr>
        </p:nvSpPr>
        <p:spPr/>
        <p:txBody>
          <a:bodyPr/>
          <a:lstStyle/>
          <a:p>
            <a:pPr>
              <a:defRPr/>
            </a:pPr>
            <a:fld id="{DC0762B0-50F1-484F-86AA-155DC8874E3D}" type="slidenum">
              <a:rPr lang="en-US" smtClean="0"/>
              <a:pPr>
                <a:defRPr/>
              </a:pPr>
              <a:t>52</a:t>
            </a:fld>
            <a:endParaRPr lang="en-US" dirty="0"/>
          </a:p>
        </p:txBody>
      </p:sp>
    </p:spTree>
    <p:extLst>
      <p:ext uri="{BB962C8B-B14F-4D97-AF65-F5344CB8AC3E}">
        <p14:creationId xmlns:p14="http://schemas.microsoft.com/office/powerpoint/2010/main" val="9444951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8" Type="http://schemas.openxmlformats.org/officeDocument/2006/relationships/hyperlink" Target="http://krugman.blogs.nytimes.com/"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gregmankiw.blogspot.com/" TargetMode="External"/><Relationship Id="rId1" Type="http://schemas.openxmlformats.org/officeDocument/2006/relationships/slideMaster" Target="../slideMasters/slideMaster3.xml"/><Relationship Id="rId6" Type="http://schemas.openxmlformats.org/officeDocument/2006/relationships/hyperlink" Target="http://www.freakonomics.com/blog/"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research.stlouisfed.org/fred2/" TargetMode="External"/><Relationship Id="rId4" Type="http://schemas.openxmlformats.org/officeDocument/2006/relationships/hyperlink" Target="http://marginalrevolution.com/" TargetMode="External"/><Relationship Id="rId9"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57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a:alphaModFix amt="20000"/>
            <a:extLst>
              <a:ext uri="{28A0092B-C50C-407E-A947-70E740481C1C}">
                <a14:useLocalDpi xmlns:a14="http://schemas.microsoft.com/office/drawing/2010/main"/>
              </a:ext>
            </a:extLst>
          </a:blip>
          <a:stretch>
            <a:fillRect/>
          </a:stretch>
        </p:blipFill>
        <p:spPr>
          <a:xfrm>
            <a:off x="0" y="2925592"/>
            <a:ext cx="3985858" cy="3924300"/>
          </a:xfrm>
          <a:prstGeom prst="rect">
            <a:avLst/>
          </a:prstGeom>
        </p:spPr>
      </p:pic>
    </p:spTree>
    <p:extLst>
      <p:ext uri="{BB962C8B-B14F-4D97-AF65-F5344CB8AC3E}">
        <p14:creationId xmlns:p14="http://schemas.microsoft.com/office/powerpoint/2010/main" val="406133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85422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3050879557"/>
      </p:ext>
    </p:extLst>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a:t>
            </a:r>
            <a:endParaRPr lang="en-US" dirty="0"/>
          </a:p>
        </p:txBody>
      </p:sp>
    </p:spTree>
    <p:extLst>
      <p:ext uri="{BB962C8B-B14F-4D97-AF65-F5344CB8AC3E}">
        <p14:creationId xmlns:p14="http://schemas.microsoft.com/office/powerpoint/2010/main" val="2215079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55206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10200"/>
            <a:ext cx="9136063" cy="1447800"/>
          </a:xfrm>
          <a:prstGeom prst="rect">
            <a:avLst/>
          </a:prstGeom>
          <a:solidFill>
            <a:schemeClr val="tx1">
              <a:alpha val="81000"/>
            </a:schemeClr>
          </a:solidFill>
        </p:spPr>
        <p:txBody>
          <a:bodyPr anchor="ctr">
            <a:normAutofit/>
          </a:bodyPr>
          <a:lstStyle/>
          <a:p>
            <a:pPr algn="r">
              <a:defRPr/>
            </a:pPr>
            <a:endParaRPr lang="en-US" sz="6000" spc="50" dirty="0">
              <a:latin typeface="Candara" pitchFamily="34" charset="0"/>
              <a:ea typeface="Tahoma" pitchFamily="34" charset="0"/>
              <a:cs typeface="Tahoma" pitchFamily="34" charset="0"/>
            </a:endParaRPr>
          </a:p>
        </p:txBody>
      </p:sp>
      <p:sp>
        <p:nvSpPr>
          <p:cNvPr id="6" name="TextBox 5"/>
          <p:cNvSpPr txBox="1"/>
          <p:nvPr/>
        </p:nvSpPr>
        <p:spPr>
          <a:xfrm>
            <a:off x="472314" y="5569376"/>
            <a:ext cx="2438400" cy="1200329"/>
          </a:xfrm>
          <a:prstGeom prst="rect">
            <a:avLst/>
          </a:prstGeom>
          <a:noFill/>
        </p:spPr>
        <p:txBody>
          <a:bodyPr wrap="square">
            <a:spAutoFit/>
          </a:bodyPr>
          <a:lstStyle/>
          <a:p>
            <a:pPr>
              <a:defRPr/>
            </a:pPr>
            <a:r>
              <a:rPr lang="en-US" sz="7200" b="1" spc="-300" dirty="0">
                <a:solidFill>
                  <a:schemeClr val="bg1"/>
                </a:solidFill>
                <a:effectLst>
                  <a:outerShdw blurRad="38100" dist="38100" dir="2700000" algn="tl">
                    <a:srgbClr val="000000">
                      <a:alpha val="43137"/>
                    </a:srgbClr>
                  </a:outerShdw>
                </a:effectLst>
                <a:latin typeface="Tw Cen MT"/>
                <a:ea typeface="Tahoma" pitchFamily="34" charset="0"/>
                <a:cs typeface="Tw Cen MT"/>
              </a:rPr>
              <a:t>7(22)</a:t>
            </a:r>
          </a:p>
        </p:txBody>
      </p:sp>
      <p:sp>
        <p:nvSpPr>
          <p:cNvPr id="7" name="TextBox 6"/>
          <p:cNvSpPr txBox="1"/>
          <p:nvPr/>
        </p:nvSpPr>
        <p:spPr>
          <a:xfrm rot="16200000">
            <a:off x="-418306" y="5981184"/>
            <a:ext cx="1358900" cy="369332"/>
          </a:xfrm>
          <a:prstGeom prst="rect">
            <a:avLst/>
          </a:prstGeom>
          <a:noFill/>
        </p:spPr>
        <p:txBody>
          <a:bodyPr>
            <a:spAutoFit/>
          </a:bodyPr>
          <a:lstStyle/>
          <a:p>
            <a:pPr>
              <a:defRPr/>
            </a:pPr>
            <a:r>
              <a:rPr lang="en-US" b="1" kern="0" cap="all" spc="300" dirty="0">
                <a:solidFill>
                  <a:schemeClr val="bg1">
                    <a:lumMod val="75000"/>
                  </a:schemeClr>
                </a:solidFill>
                <a:latin typeface="Tw Cen MT"/>
                <a:ea typeface="+mj-ea"/>
                <a:cs typeface="Tw Cen MT"/>
              </a:rPr>
              <a:t>Chapter</a:t>
            </a:r>
            <a:endParaRPr lang="en-US" sz="2000" b="1" kern="0" cap="all" spc="300" dirty="0">
              <a:solidFill>
                <a:schemeClr val="bg1">
                  <a:lumMod val="75000"/>
                </a:schemeClr>
              </a:solidFill>
              <a:latin typeface="Tw Cen MT"/>
              <a:ea typeface="+mj-ea"/>
              <a:cs typeface="Tw Cen MT"/>
            </a:endParaRPr>
          </a:p>
        </p:txBody>
      </p:sp>
      <p:sp>
        <p:nvSpPr>
          <p:cNvPr id="8" name="TextBox 7"/>
          <p:cNvSpPr txBox="1"/>
          <p:nvPr/>
        </p:nvSpPr>
        <p:spPr>
          <a:xfrm>
            <a:off x="0" y="-15356"/>
            <a:ext cx="7696200" cy="307777"/>
          </a:xfrm>
          <a:prstGeom prst="rect">
            <a:avLst/>
          </a:prstGeom>
          <a:noFill/>
        </p:spPr>
        <p:txBody>
          <a:bodyPr wrap="square">
            <a:spAutoFit/>
          </a:bodyPr>
          <a:lstStyle/>
          <a:p>
            <a:pPr algn="l">
              <a:defRPr/>
            </a:pPr>
            <a:r>
              <a:rPr lang="en-US" sz="1400" b="1" i="0" kern="0" cap="small" spc="400" dirty="0">
                <a:solidFill>
                  <a:schemeClr val="tx1">
                    <a:lumMod val="50000"/>
                    <a:lumOff val="50000"/>
                  </a:schemeClr>
                </a:solidFill>
                <a:latin typeface="Tw Cen MT" pitchFamily="34" charset="0"/>
              </a:rPr>
              <a:t>Slides by Solina Lindahl</a:t>
            </a:r>
          </a:p>
        </p:txBody>
      </p:sp>
      <p:sp>
        <p:nvSpPr>
          <p:cNvPr id="12" name="Title 1"/>
          <p:cNvSpPr txBox="1">
            <a:spLocks/>
          </p:cNvSpPr>
          <p:nvPr userDrawn="1"/>
        </p:nvSpPr>
        <p:spPr>
          <a:xfrm>
            <a:off x="1295400" y="5321905"/>
            <a:ext cx="7772400" cy="1447800"/>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lang="en-US" sz="4000" b="1" kern="0" spc="500" dirty="0">
                <a:latin typeface="Tw Cen MT"/>
                <a:cs typeface="Tw Cen MT"/>
              </a:rPr>
              <a:t>GDP and the CPI: Tracking</a:t>
            </a:r>
            <a:r>
              <a:rPr lang="en-US" sz="4000" b="1" kern="0" spc="500" baseline="0" dirty="0">
                <a:latin typeface="Tw Cen MT"/>
                <a:cs typeface="Tw Cen MT"/>
              </a:rPr>
              <a:t> </a:t>
            </a:r>
          </a:p>
          <a:p>
            <a:r>
              <a:rPr lang="en-US" sz="4000" b="1" kern="0" spc="500" baseline="0" dirty="0">
                <a:latin typeface="Tw Cen MT"/>
                <a:cs typeface="Tw Cen MT"/>
              </a:rPr>
              <a:t>the </a:t>
            </a:r>
            <a:r>
              <a:rPr lang="en-US" sz="4000" b="1" kern="0" spc="500" baseline="0" dirty="0" err="1">
                <a:latin typeface="Tw Cen MT"/>
                <a:cs typeface="Tw Cen MT"/>
              </a:rPr>
              <a:t>Macroeconomy</a:t>
            </a:r>
            <a:endParaRPr lang="en-US" sz="4000" b="1" kern="0" spc="500" dirty="0">
              <a:latin typeface="Tw Cen MT"/>
              <a:cs typeface="Tw Cen MT"/>
            </a:endParaRPr>
          </a:p>
        </p:txBody>
      </p:sp>
    </p:spTree>
    <p:extLst>
      <p:ext uri="{BB962C8B-B14F-4D97-AF65-F5344CB8AC3E}">
        <p14:creationId xmlns:p14="http://schemas.microsoft.com/office/powerpoint/2010/main" val="4220870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60198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2860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sp>
        <p:nvSpPr>
          <p:cNvPr id="5" name="TextBox 9"/>
          <p:cNvSpPr txBox="1">
            <a:spLocks noChangeArrowheads="1"/>
          </p:cNvSpPr>
          <p:nvPr/>
        </p:nvSpPr>
        <p:spPr bwMode="auto">
          <a:xfrm>
            <a:off x="0" y="1490246"/>
            <a:ext cx="9144000" cy="338554"/>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1600" b="0" i="0" spc="300" dirty="0">
                <a:solidFill>
                  <a:srgbClr val="F79646"/>
                </a:solidFill>
                <a:latin typeface="+mn-lt"/>
              </a:rPr>
              <a:t>SOME GOOD BLOGS AND OTHER SITES TO GET THE JUICES FLOWING:</a:t>
            </a:r>
          </a:p>
        </p:txBody>
      </p:sp>
      <p:sp>
        <p:nvSpPr>
          <p:cNvPr id="6" name="Title 1"/>
          <p:cNvSpPr txBox="1">
            <a:spLocks/>
          </p:cNvSpPr>
          <p:nvPr/>
        </p:nvSpPr>
        <p:spPr>
          <a:xfrm>
            <a:off x="0" y="0"/>
            <a:ext cx="7391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FOOD FOR</a:t>
            </a:r>
            <a:r>
              <a:rPr lang="en-US" sz="4800" b="0" baseline="0" dirty="0">
                <a:solidFill>
                  <a:schemeClr val="accent6"/>
                </a:solidFill>
                <a:effectLst>
                  <a:innerShdw blurRad="63500" dist="50800" dir="13500000">
                    <a:prstClr val="black">
                      <a:alpha val="50000"/>
                    </a:prstClr>
                  </a:innerShdw>
                </a:effectLst>
                <a:latin typeface="Century Gothic" pitchFamily="34" charset="0"/>
                <a:cs typeface="Arial" pitchFamily="34" charset="0"/>
              </a:rPr>
              <a:t> </a:t>
            </a: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THOUGHT….</a:t>
            </a:r>
          </a:p>
        </p:txBody>
      </p:sp>
      <p:pic>
        <p:nvPicPr>
          <p:cNvPr id="7" name="Picture 2">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29200" y="4572000"/>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4"/>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45213" y="3048000"/>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200400" y="29718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15" name="Picture 14" descr="Screen Shot 2014-12-20 at 8.46.54 PM.png">
            <a:hlinkClick r:id="rId8"/>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2674" y="2971800"/>
            <a:ext cx="2692400" cy="592126"/>
          </a:xfrm>
          <a:prstGeom prst="rect">
            <a:avLst/>
          </a:prstGeom>
          <a:ln>
            <a:noFill/>
          </a:ln>
          <a:effectLst>
            <a:outerShdw blurRad="292100" dist="139700" dir="2700000" algn="tl" rotWithShape="0">
              <a:srgbClr val="333333">
                <a:alpha val="65000"/>
              </a:srgbClr>
            </a:outerShdw>
          </a:effectLst>
        </p:spPr>
      </p:pic>
      <p:pic>
        <p:nvPicPr>
          <p:cNvPr id="16" name="Picture 15" descr="Screen Shot 2014-12-20 at 8.49.18 PM.png">
            <a:hlinkClick r:id="rId10"/>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1905000" y="4343400"/>
            <a:ext cx="2336800" cy="841691"/>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960000">
            <a:off x="8016447" y="97714"/>
            <a:ext cx="787093" cy="1328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5174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912813" indent="-571500">
              <a:buClr>
                <a:schemeClr val="accent3"/>
              </a:buClr>
              <a:buFont typeface="Wingdings" charset="2"/>
              <a:buChar char="§"/>
              <a:defRPr b="1">
                <a:solidFill>
                  <a:schemeClr val="tx1"/>
                </a:solidFill>
                <a:latin typeface="Century Gothic"/>
                <a:cs typeface="Century Gothic"/>
              </a:defRPr>
            </a:lvl1pPr>
            <a:lvl2pPr marL="1200150" indent="-457200">
              <a:buClr>
                <a:schemeClr val="accent3"/>
              </a:buClr>
              <a:buFont typeface="Wingdings" charset="2"/>
              <a:buChar char="§"/>
              <a:defRPr b="1">
                <a:solidFill>
                  <a:schemeClr val="tx1"/>
                </a:solidFill>
                <a:latin typeface="Century Gothic"/>
                <a:cs typeface="Century Gothic"/>
              </a:defRPr>
            </a:lvl2pPr>
            <a:lvl3pPr marL="1371600" indent="-457200">
              <a:buClr>
                <a:schemeClr val="accent3"/>
              </a:buClr>
              <a:buFont typeface="Wingdings" charset="2"/>
              <a:buChar char="§"/>
              <a:defRPr b="1">
                <a:solidFill>
                  <a:schemeClr val="tx1"/>
                </a:solidFill>
                <a:latin typeface="Century Gothic"/>
                <a:cs typeface="Century Gothic"/>
              </a:defRPr>
            </a:lvl3pPr>
            <a:lvl4pPr marL="1714500" indent="-342900">
              <a:buClr>
                <a:schemeClr val="accent3"/>
              </a:buClr>
              <a:buFont typeface="Wingdings" charset="2"/>
              <a:buChar char="§"/>
              <a:defRPr b="1">
                <a:solidFill>
                  <a:schemeClr val="tx1"/>
                </a:solidFill>
                <a:latin typeface="Century Gothic"/>
                <a:cs typeface="Century Gothic"/>
              </a:defRPr>
            </a:lvl4pPr>
            <a:lvl5pPr marL="2171700" indent="-342900">
              <a:buClr>
                <a:schemeClr val="accent3"/>
              </a:buClr>
              <a:buFont typeface="Wingdings" charset="2"/>
              <a:buChar cha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676400"/>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7337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Note: These lecture notes are incomplete without having attended lectures</a:t>
            </a:r>
          </a:p>
        </p:txBody>
      </p:sp>
      <p:sp>
        <p:nvSpPr>
          <p:cNvPr id="6" name="Slide Number Placeholder 5"/>
          <p:cNvSpPr>
            <a:spLocks noGrp="1"/>
          </p:cNvSpPr>
          <p:nvPr>
            <p:ph type="sldNum" sz="quarter" idx="12"/>
          </p:nvPr>
        </p:nvSpPr>
        <p:spPr/>
        <p:txBody>
          <a:bodyPr/>
          <a:lstStyle>
            <a:lvl1pPr>
              <a:defRPr/>
            </a:lvl1pPr>
          </a:lstStyle>
          <a:p>
            <a:fld id="{E4606BE4-EB8E-495B-B7F8-B6AD0D6CF82D}" type="slidenum">
              <a:rPr lang="en-US"/>
              <a:pPr/>
              <a:t>‹#›</a:t>
            </a:fld>
            <a:endParaRPr lang="en-US"/>
          </a:p>
        </p:txBody>
      </p:sp>
    </p:spTree>
    <p:extLst>
      <p:ext uri="{BB962C8B-B14F-4D97-AF65-F5344CB8AC3E}">
        <p14:creationId xmlns:p14="http://schemas.microsoft.com/office/powerpoint/2010/main" val="3461869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912159916"/>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8443429"/>
      </p:ext>
    </p:extLst>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671972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0"/>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dirty="0">
                <a:solidFill>
                  <a:srgbClr val="4BACC6">
                    <a:lumMod val="75000"/>
                  </a:srgbClr>
                </a:solidFill>
              </a:rPr>
              <a:t>ECONOMICS</a:t>
            </a: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03214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lstStyle>
            <a:lvl1pPr algn="r">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58062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slide" Target="../slides/slide2.xml"/><Relationship Id="rId4" Type="http://schemas.openxmlformats.org/officeDocument/2006/relationships/slide" Target="../slides/slide46.xml"/></Relationships>
</file>

<file path=ppt/slideMasters/_rels/slideMaster2.xml.rels><?xml version="1.0" encoding="UTF-8" standalone="yes"?>
<Relationships xmlns="http://schemas.openxmlformats.org/package/2006/relationships"><Relationship Id="rId8" Type="http://schemas.openxmlformats.org/officeDocument/2006/relationships/slide" Target="../slides/slide46.xml"/><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slide" Target="../slides/slid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slide" Target="../slides/slide2.xml"/><Relationship Id="rId4" Type="http://schemas.openxmlformats.org/officeDocument/2006/relationships/slide" Target="../slides/slide4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slide" Target="../slides/slide46.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slide" Target="../slides/slide2.xml"/><Relationship Id="rId4" Type="http://schemas.openxmlformats.org/officeDocument/2006/relationships/slide" Target="../slides/slide4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7.xml"/><Relationship Id="rId1" Type="http://schemas.openxmlformats.org/officeDocument/2006/relationships/slideLayout" Target="../slideLayouts/slideLayout19.xml"/><Relationship Id="rId5" Type="http://schemas.openxmlformats.org/officeDocument/2006/relationships/slide" Target="../slides/slide2.xml"/><Relationship Id="rId4" Type="http://schemas.openxmlformats.org/officeDocument/2006/relationships/slide" Target="../slides/slide46.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slide" Target="../slides/slide2.xml"/><Relationship Id="rId4" Type="http://schemas.openxmlformats.org/officeDocument/2006/relationships/slide" Target="../slides/slide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a:t>
            </a:r>
            <a:r>
              <a:rPr lang="en-US" sz="800" b="1" dirty="0">
                <a:latin typeface="Candara" pitchFamily="34" charset="0"/>
                <a:hlinkClick r:id="rId4" action="ppaction://hlinksldjump"/>
              </a:rPr>
              <a:t>s</a:t>
            </a:r>
            <a:endParaRPr lang="en-US" sz="800" b="1" dirty="0">
              <a:latin typeface="Candara" pitchFamily="34" charset="0"/>
            </a:endParaRPr>
          </a:p>
          <a:p>
            <a:endParaRPr lang="en-US" sz="1000" dirty="0">
              <a:latin typeface="Candara" pitchFamily="34" charset="0"/>
            </a:endParaRPr>
          </a:p>
        </p:txBody>
      </p:sp>
      <p:sp>
        <p:nvSpPr>
          <p:cNvPr id="10" name="Right Arrow 9"/>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Tree>
  </p:cSld>
  <p:clrMap bg1="lt1" tx1="dk1" bg2="lt2" tx2="dk2" accent1="accent1" accent2="accent2" accent3="accent3" accent4="accent4" accent5="accent5" accent6="accent6" hlink="hlink" folHlink="folHlink"/>
  <p:sldLayoutIdLst>
    <p:sldLayoutId id="2147483694" r:id="rId1"/>
    <p:sldLayoutId id="2147483786" r:id="rId2"/>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9"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22" r:id="rId3"/>
    <p:sldLayoutId id="2147483724" r:id="rId4"/>
    <p:sldLayoutId id="2147483741" r:id="rId5"/>
    <p:sldLayoutId id="2147483787"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88" r:id="rId4"/>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PRACTICE QUESTION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0"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1" name="Right Arrow 10"/>
          <p:cNvSpPr/>
          <p:nvPr/>
        </p:nvSpPr>
        <p:spPr>
          <a:xfrm>
            <a:off x="0" y="0"/>
            <a:ext cx="8991600" cy="1161633"/>
          </a:xfrm>
          <a:prstGeom prst="rightArrow">
            <a:avLst>
              <a:gd name="adj1" fmla="val 50000"/>
              <a:gd name="adj2" fmla="val 78749"/>
            </a:avLst>
          </a:prstGeom>
          <a:solidFill>
            <a:schemeClr val="accent5">
              <a:lumMod val="40000"/>
              <a:lumOff val="6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BUSINESS</a:t>
            </a:r>
            <a:r>
              <a:rPr lang="en-US" sz="3200" b="0" spc="60" baseline="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 CASE</a:t>
            </a:r>
            <a:endPar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endParaRPr>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12" r:id="rId1"/>
    <p:sldLayoutId id="2147483713"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715" r:id="rId1"/>
    <p:sldLayoutId id="2147483716"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32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8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4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0"/>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0"/>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228600"/>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248348"/>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7747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889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Tree>
    <p:extLst>
      <p:ext uri="{BB962C8B-B14F-4D97-AF65-F5344CB8AC3E}">
        <p14:creationId xmlns:p14="http://schemas.microsoft.com/office/powerpoint/2010/main" val="2096068277"/>
      </p:ext>
    </p:extLst>
  </p:cSld>
  <p:clrMap bg1="lt1" tx1="dk1" bg2="lt2" tx2="dk2" accent1="accent1" accent2="accent2" accent3="accent3" accent4="accent4" accent5="accent5" accent6="accent6" hlink="hlink" folHlink="folHlink"/>
  <p:sldLayoutIdLst>
    <p:sldLayoutId id="2147483720" r:id="rId1"/>
    <p:sldLayoutId id="2147483721"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12.xml"/><Relationship Id="rId7" Type="http://schemas.openxmlformats.org/officeDocument/2006/relationships/slide" Target="slide45.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40.xml"/><Relationship Id="rId5" Type="http://schemas.openxmlformats.org/officeDocument/2006/relationships/slide" Target="slide32.xml"/><Relationship Id="rId4" Type="http://schemas.openxmlformats.org/officeDocument/2006/relationships/slide" Target="slide13.xml"/><Relationship Id="rId9" Type="http://schemas.openxmlformats.org/officeDocument/2006/relationships/slide" Target="slide5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3" Type="http://schemas.openxmlformats.org/officeDocument/2006/relationships/hyperlink" Target="http://www.sxc.hu/browse.phtml?f=download&amp;id=1236402&amp;redirect=photo"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www.bea.gov/"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slide" Target="slide2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slide" Target="slide34.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slide" Target="slide35.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slide" Target="slide43.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20.xml"/><Relationship Id="rId5" Type="http://schemas.openxmlformats.org/officeDocument/2006/relationships/image" Target="../media/image50.png"/><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hyperlink" Target="http://www.youtube.com/watch?v=Ep4DWx1--sY"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33400"/>
            <a:ext cx="7772400" cy="1470025"/>
          </a:xfrm>
        </p:spPr>
        <p:txBody>
          <a:bodyPr/>
          <a:lstStyle/>
          <a:p>
            <a:r>
              <a:rPr lang="en-US" sz="2800"/>
              <a:t>Economics 2220</a:t>
            </a:r>
            <a:br>
              <a:rPr lang="en-US" sz="2800" dirty="0"/>
            </a:br>
            <a:r>
              <a:rPr lang="en-US" dirty="0"/>
              <a:t>Principles Of Macroeconomics</a:t>
            </a:r>
          </a:p>
        </p:txBody>
      </p:sp>
      <p:sp>
        <p:nvSpPr>
          <p:cNvPr id="2051" name="Rectangle 3"/>
          <p:cNvSpPr>
            <a:spLocks noGrp="1" noChangeArrowheads="1"/>
          </p:cNvSpPr>
          <p:nvPr>
            <p:ph type="subTitle" idx="1"/>
          </p:nvPr>
        </p:nvSpPr>
        <p:spPr>
          <a:xfrm>
            <a:off x="1371600" y="1981200"/>
            <a:ext cx="6400800" cy="533400"/>
          </a:xfrm>
        </p:spPr>
        <p:txBody>
          <a:bodyPr/>
          <a:lstStyle/>
          <a:p>
            <a:r>
              <a:rPr lang="en-US" sz="2400" dirty="0"/>
              <a:t>Professor Zhigang Feng</a:t>
            </a:r>
          </a:p>
        </p:txBody>
      </p:sp>
      <p:sp>
        <p:nvSpPr>
          <p:cNvPr id="2052" name="Text Box 4"/>
          <p:cNvSpPr txBox="1">
            <a:spLocks noChangeArrowheads="1"/>
          </p:cNvSpPr>
          <p:nvPr/>
        </p:nvSpPr>
        <p:spPr bwMode="auto">
          <a:xfrm>
            <a:off x="2514600" y="3276600"/>
            <a:ext cx="4572000" cy="1015663"/>
          </a:xfrm>
          <a:prstGeom prst="rect">
            <a:avLst/>
          </a:prstGeom>
          <a:noFill/>
          <a:ln w="9525">
            <a:noFill/>
            <a:miter lim="800000"/>
            <a:headEnd/>
            <a:tailEnd/>
          </a:ln>
          <a:effectLst/>
        </p:spPr>
        <p:txBody>
          <a:bodyPr wrap="square">
            <a:spAutoFit/>
          </a:bodyPr>
          <a:lstStyle/>
          <a:p>
            <a:pPr marL="228600" indent="-228600">
              <a:spcBef>
                <a:spcPct val="50000"/>
              </a:spcBef>
            </a:pPr>
            <a:r>
              <a:rPr lang="en-US" sz="2400" u="sng" dirty="0"/>
              <a:t>Lecture 6: </a:t>
            </a:r>
          </a:p>
          <a:p>
            <a:pPr marL="228600" indent="-228600">
              <a:spcBef>
                <a:spcPct val="50000"/>
              </a:spcBef>
            </a:pPr>
            <a:r>
              <a:rPr lang="en-US" sz="2400" u="sng" dirty="0"/>
              <a:t>National Income Accounting</a:t>
            </a:r>
          </a:p>
        </p:txBody>
      </p:sp>
    </p:spTree>
    <p:extLst>
      <p:ext uri="{BB962C8B-B14F-4D97-AF65-F5344CB8AC3E}">
        <p14:creationId xmlns:p14="http://schemas.microsoft.com/office/powerpoint/2010/main" val="3386003679"/>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47800"/>
            <a:ext cx="8534400" cy="4678363"/>
          </a:xfrm>
        </p:spPr>
        <p:txBody>
          <a:bodyPr/>
          <a:lstStyle/>
          <a:p>
            <a:pPr marL="635000" indent="-342900"/>
            <a:r>
              <a:rPr lang="en-US" sz="2800" b="0" dirty="0"/>
              <a:t>How economists use aggregate measures to </a:t>
            </a:r>
            <a:r>
              <a:rPr lang="en-US" sz="2800" dirty="0">
                <a:hlinkClick r:id="rId2" action="ppaction://hlinksldjump"/>
              </a:rPr>
              <a:t>track the performance of the economy</a:t>
            </a:r>
            <a:endParaRPr lang="en-US" sz="2800" dirty="0"/>
          </a:p>
          <a:p>
            <a:pPr marL="635000" indent="-342900"/>
            <a:r>
              <a:rPr lang="en-US" sz="2800" b="0" dirty="0"/>
              <a:t>What </a:t>
            </a:r>
            <a:r>
              <a:rPr lang="en-US" sz="2800" dirty="0">
                <a:hlinkClick r:id="rId3" action="ppaction://hlinksldjump"/>
              </a:rPr>
              <a:t>gross domestic product, </a:t>
            </a:r>
            <a:r>
              <a:rPr lang="en-US" sz="2800" b="0" dirty="0">
                <a:hlinkClick r:id="rId3" action="ppaction://hlinksldjump"/>
              </a:rPr>
              <a:t>or </a:t>
            </a:r>
            <a:r>
              <a:rPr lang="en-US" sz="2800" dirty="0">
                <a:hlinkClick r:id="rId3" action="ppaction://hlinksldjump"/>
              </a:rPr>
              <a:t>GDP</a:t>
            </a:r>
            <a:r>
              <a:rPr lang="en-US" sz="2800" dirty="0"/>
              <a:t>, </a:t>
            </a:r>
            <a:r>
              <a:rPr lang="en-US" sz="2800" b="0" dirty="0"/>
              <a:t>is and the </a:t>
            </a:r>
            <a:r>
              <a:rPr lang="en-US" sz="2800" dirty="0">
                <a:hlinkClick r:id="rId4" action="ppaction://hlinksldjump"/>
              </a:rPr>
              <a:t>three ways of calculating it</a:t>
            </a:r>
            <a:endParaRPr lang="en-US" sz="2800" dirty="0"/>
          </a:p>
          <a:p>
            <a:pPr marL="635000" indent="-342900"/>
            <a:r>
              <a:rPr lang="en-US" sz="2800" b="0" dirty="0"/>
              <a:t>The difference between </a:t>
            </a:r>
            <a:r>
              <a:rPr lang="en-US" sz="2800" dirty="0">
                <a:hlinkClick r:id="rId5" action="ppaction://hlinksldjump"/>
              </a:rPr>
              <a:t>real GDP </a:t>
            </a:r>
            <a:r>
              <a:rPr lang="en-US" sz="2800" b="0" dirty="0">
                <a:hlinkClick r:id="rId5" action="ppaction://hlinksldjump"/>
              </a:rPr>
              <a:t>and </a:t>
            </a:r>
            <a:r>
              <a:rPr lang="en-US" sz="2800" dirty="0">
                <a:hlinkClick r:id="rId5" action="ppaction://hlinksldjump"/>
              </a:rPr>
              <a:t>nominal GDP </a:t>
            </a:r>
            <a:r>
              <a:rPr lang="en-US" sz="2800" b="0" dirty="0"/>
              <a:t>and why real GDP is the appropriate measure of real economic activity</a:t>
            </a:r>
          </a:p>
          <a:p>
            <a:pPr marL="635000" indent="-342900"/>
            <a:r>
              <a:rPr lang="en-US" sz="2800" b="0" dirty="0"/>
              <a:t>What a </a:t>
            </a:r>
            <a:r>
              <a:rPr lang="en-US" sz="2800" dirty="0">
                <a:hlinkClick r:id="rId6" action="ppaction://hlinksldjump"/>
              </a:rPr>
              <a:t>price index </a:t>
            </a:r>
            <a:r>
              <a:rPr lang="en-US" sz="2800" b="0" dirty="0"/>
              <a:t>is and how it is used to calculate the </a:t>
            </a:r>
            <a:r>
              <a:rPr lang="en-US" sz="2800" dirty="0">
                <a:hlinkClick r:id="rId7" action="ppaction://hlinksldjump"/>
              </a:rPr>
              <a:t>inflation rate</a:t>
            </a:r>
            <a:endParaRPr lang="en-US" sz="2800" dirty="0"/>
          </a:p>
        </p:txBody>
      </p:sp>
      <p:sp>
        <p:nvSpPr>
          <p:cNvPr id="4" name="Rectangle 3"/>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8" action="ppaction://hlinksldjump"/>
              </a:rPr>
              <a:t>To First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8"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5" name="TextBox 4"/>
          <p:cNvSpPr txBox="1"/>
          <p:nvPr/>
        </p:nvSpPr>
        <p:spPr>
          <a:xfrm>
            <a:off x="8126413" y="6210300"/>
            <a:ext cx="635000" cy="460375"/>
          </a:xfrm>
          <a:prstGeom prst="rect">
            <a:avLst/>
          </a:prstGeom>
          <a:noFill/>
        </p:spPr>
        <p:txBody>
          <a:bodyPr>
            <a:spAutoFit/>
          </a:bodyPr>
          <a:lstStyle/>
          <a:p>
            <a:pPr fontAlgn="auto">
              <a:spcBef>
                <a:spcPts val="0"/>
              </a:spcBef>
              <a:spcAft>
                <a:spcPts val="0"/>
              </a:spcAft>
              <a:defRPr/>
            </a:pPr>
            <a:r>
              <a:rPr lang="en-US" sz="1200" b="1" dirty="0">
                <a:solidFill>
                  <a:schemeClr val="bg1"/>
                </a:solidFill>
                <a:effectLst>
                  <a:outerShdw blurRad="38100" dist="38100" dir="2700000" algn="tl">
                    <a:srgbClr val="000000">
                      <a:alpha val="43137"/>
                    </a:srgbClr>
                  </a:outerShdw>
                </a:effectLst>
                <a:latin typeface="+mn-lt"/>
                <a:cs typeface="+mn-cs"/>
                <a:hlinkClick r:id="rId9" action="ppaction://hlinksldjump"/>
              </a:rPr>
              <a:t>To Video</a:t>
            </a:r>
            <a:endParaRPr lang="en-US" sz="1200" b="1" dirty="0">
              <a:solidFill>
                <a:schemeClr val="bg1"/>
              </a:solidFill>
              <a:effectLst>
                <a:outerShdw blurRad="38100" dist="38100" dir="2700000" algn="tl">
                  <a:srgbClr val="000000">
                    <a:alpha val="43137"/>
                  </a:srgbClr>
                </a:outerShdw>
              </a:effectLst>
              <a:latin typeface="+mn-lt"/>
              <a:cs typeface="+mn-cs"/>
            </a:endParaRPr>
          </a:p>
        </p:txBody>
      </p:sp>
    </p:spTree>
    <p:extLst>
      <p:ext uri="{BB962C8B-B14F-4D97-AF65-F5344CB8AC3E}">
        <p14:creationId xmlns:p14="http://schemas.microsoft.com/office/powerpoint/2010/main" val="643522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3"/>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38199"/>
            <a:ext cx="9144000" cy="5993659"/>
          </a:xfrm>
          <a:prstGeom prst="rect">
            <a:avLst/>
          </a:prstGeom>
        </p:spPr>
      </p:pic>
      <p:sp>
        <p:nvSpPr>
          <p:cNvPr id="2" name="Title 1"/>
          <p:cNvSpPr>
            <a:spLocks noGrp="1"/>
          </p:cNvSpPr>
          <p:nvPr>
            <p:ph type="title"/>
          </p:nvPr>
        </p:nvSpPr>
        <p:spPr/>
        <p:txBody>
          <a:bodyPr>
            <a:normAutofit/>
          </a:bodyPr>
          <a:lstStyle/>
          <a:p>
            <a:r>
              <a:rPr lang="en-US" sz="3600" spc="0" dirty="0">
                <a:solidFill>
                  <a:schemeClr val="bg1"/>
                </a:solidFill>
              </a:rPr>
              <a:t>HOW DO YOU MEASURE AN ECONOMY?</a:t>
            </a:r>
          </a:p>
        </p:txBody>
      </p:sp>
      <p:sp>
        <p:nvSpPr>
          <p:cNvPr id="3" name="Content Placeholder 2"/>
          <p:cNvSpPr>
            <a:spLocks noGrp="1"/>
          </p:cNvSpPr>
          <p:nvPr>
            <p:ph idx="1"/>
          </p:nvPr>
        </p:nvSpPr>
        <p:spPr>
          <a:xfrm>
            <a:off x="0" y="3444501"/>
            <a:ext cx="9144000" cy="3048000"/>
          </a:xfrm>
          <a:solidFill>
            <a:schemeClr val="bg1">
              <a:alpha val="67000"/>
            </a:schemeClr>
          </a:solidFill>
        </p:spPr>
        <p:txBody>
          <a:bodyPr>
            <a:noAutofit/>
          </a:bodyPr>
          <a:lstStyle/>
          <a:p>
            <a:r>
              <a:rPr lang="en-US" sz="2400" dirty="0"/>
              <a:t>How can you compare the sizes of two economies when they produce different things?</a:t>
            </a:r>
          </a:p>
          <a:p>
            <a:r>
              <a:rPr lang="en-US" sz="2400" dirty="0"/>
              <a:t>By comparing the</a:t>
            </a:r>
            <a:r>
              <a:rPr lang="en-US" sz="2400" i="1" dirty="0"/>
              <a:t> </a:t>
            </a:r>
            <a:r>
              <a:rPr lang="en-US" sz="2400" i="1" dirty="0">
                <a:solidFill>
                  <a:srgbClr val="990033"/>
                </a:solidFill>
              </a:rPr>
              <a:t>value of their production.</a:t>
            </a:r>
          </a:p>
          <a:p>
            <a:r>
              <a:rPr lang="en-US" sz="2400" dirty="0">
                <a:solidFill>
                  <a:srgbClr val="0070C0"/>
                </a:solidFill>
              </a:rPr>
              <a:t>GDP (gross domestic product) is the most important and common way to estimate an economy’s size.</a:t>
            </a:r>
          </a:p>
        </p:txBody>
      </p:sp>
      <p:pic>
        <p:nvPicPr>
          <p:cNvPr id="6" name="Picture 5" descr="Graphical user interface, application, Word, website&#10;&#10;Description automatically generated">
            <a:extLst>
              <a:ext uri="{FF2B5EF4-FFF2-40B4-BE49-F238E27FC236}">
                <a16:creationId xmlns:a16="http://schemas.microsoft.com/office/drawing/2014/main" id="{5F646266-B5BB-E03D-06B9-F34B3B61A5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964758"/>
            <a:ext cx="9144000" cy="2111811"/>
          </a:xfrm>
          <a:prstGeom prst="rect">
            <a:avLst/>
          </a:prstGeom>
        </p:spPr>
      </p:pic>
    </p:spTree>
    <p:extLst>
      <p:ext uri="{BB962C8B-B14F-4D97-AF65-F5344CB8AC3E}">
        <p14:creationId xmlns:p14="http://schemas.microsoft.com/office/powerpoint/2010/main" val="368320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6802" name="Picture 2" descr="Speedometer in mph">
            <a:hlinkClick r:id="rId3"/>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71800" y="4089880"/>
            <a:ext cx="3352800" cy="2768120"/>
          </a:xfrm>
          <a:prstGeom prst="rect">
            <a:avLst/>
          </a:prstGeom>
          <a:noFill/>
        </p:spPr>
      </p:pic>
      <p:sp>
        <p:nvSpPr>
          <p:cNvPr id="308226" name="Rectangle 2"/>
          <p:cNvSpPr>
            <a:spLocks noGrp="1" noChangeArrowheads="1"/>
          </p:cNvSpPr>
          <p:nvPr>
            <p:ph type="title"/>
          </p:nvPr>
        </p:nvSpPr>
        <p:spPr/>
        <p:txBody>
          <a:bodyPr>
            <a:normAutofit/>
          </a:bodyPr>
          <a:lstStyle/>
          <a:p>
            <a:pPr eaLnBrk="1" hangingPunct="1">
              <a:defRPr/>
            </a:pPr>
            <a:r>
              <a:rPr lang="en-US" sz="4000" spc="0" dirty="0"/>
              <a:t>THE NATIONAL ACCOUNTS</a:t>
            </a:r>
          </a:p>
        </p:txBody>
      </p:sp>
      <p:sp>
        <p:nvSpPr>
          <p:cNvPr id="308227" name="Rectangle 3"/>
          <p:cNvSpPr>
            <a:spLocks noGrp="1" noChangeArrowheads="1"/>
          </p:cNvSpPr>
          <p:nvPr>
            <p:ph idx="1"/>
          </p:nvPr>
        </p:nvSpPr>
        <p:spPr>
          <a:xfrm>
            <a:off x="0" y="685800"/>
            <a:ext cx="8839200" cy="4648200"/>
          </a:xfrm>
        </p:spPr>
        <p:txBody>
          <a:bodyPr/>
          <a:lstStyle/>
          <a:p>
            <a:pPr eaLnBrk="1" hangingPunct="1"/>
            <a:r>
              <a:rPr lang="en-US" sz="3200" dirty="0"/>
              <a:t>The national income and product accounts (NIPA)</a:t>
            </a:r>
          </a:p>
          <a:p>
            <a:pPr marL="914400" lvl="1" indent="-457200" eaLnBrk="1" hangingPunct="1">
              <a:buFont typeface="Wingdings" charset="2"/>
              <a:buChar char="§"/>
            </a:pPr>
            <a:r>
              <a:rPr lang="en-US" sz="2800" dirty="0"/>
              <a:t>measure our nation’s economic performance </a:t>
            </a:r>
          </a:p>
          <a:p>
            <a:pPr marL="914400" lvl="1" indent="-457200" eaLnBrk="1" hangingPunct="1">
              <a:buFont typeface="Wingdings" charset="2"/>
              <a:buChar char="§"/>
            </a:pPr>
            <a:r>
              <a:rPr lang="en-US" sz="2800" dirty="0"/>
              <a:t>compare American income and output to that of other nations</a:t>
            </a:r>
          </a:p>
          <a:p>
            <a:pPr marL="914400" lvl="1" indent="-457200" eaLnBrk="1" hangingPunct="1">
              <a:buFont typeface="Wingdings" charset="2"/>
              <a:buChar char="§"/>
            </a:pPr>
            <a:r>
              <a:rPr lang="en-US" sz="2800" dirty="0"/>
              <a:t>track the economy’s condition throughout the business cycle </a:t>
            </a:r>
          </a:p>
          <a:p>
            <a:pPr eaLnBrk="1" hangingPunct="1"/>
            <a:endParaRPr lang="en-US" sz="3200" dirty="0"/>
          </a:p>
        </p:txBody>
      </p:sp>
    </p:spTree>
    <p:extLst>
      <p:ext uri="{BB962C8B-B14F-4D97-AF65-F5344CB8AC3E}">
        <p14:creationId xmlns:p14="http://schemas.microsoft.com/office/powerpoint/2010/main" val="315529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8227">
                                            <p:txEl>
                                              <p:pRg st="1" end="1"/>
                                            </p:txEl>
                                          </p:spTgt>
                                        </p:tgtEl>
                                        <p:attrNameLst>
                                          <p:attrName>style.visibility</p:attrName>
                                        </p:attrNameLst>
                                      </p:cBhvr>
                                      <p:to>
                                        <p:strVal val="visible"/>
                                      </p:to>
                                    </p:set>
                                    <p:animEffect transition="in" filter="fade">
                                      <p:cBhvr>
                                        <p:cTn id="7" dur="1000"/>
                                        <p:tgtEl>
                                          <p:spTgt spid="308227">
                                            <p:txEl>
                                              <p:pRg st="1" end="1"/>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08227">
                                            <p:txEl>
                                              <p:pRg st="2" end="2"/>
                                            </p:txEl>
                                          </p:spTgt>
                                        </p:tgtEl>
                                        <p:attrNameLst>
                                          <p:attrName>style.visibility</p:attrName>
                                        </p:attrNameLst>
                                      </p:cBhvr>
                                      <p:to>
                                        <p:strVal val="visible"/>
                                      </p:to>
                                    </p:set>
                                    <p:animEffect transition="in" filter="fade">
                                      <p:cBhvr>
                                        <p:cTn id="11" dur="1000"/>
                                        <p:tgtEl>
                                          <p:spTgt spid="308227">
                                            <p:txEl>
                                              <p:pRg st="2" end="2"/>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08227">
                                            <p:txEl>
                                              <p:pRg st="3" end="3"/>
                                            </p:txEl>
                                          </p:spTgt>
                                        </p:tgtEl>
                                        <p:attrNameLst>
                                          <p:attrName>style.visibility</p:attrName>
                                        </p:attrNameLst>
                                      </p:cBhvr>
                                      <p:to>
                                        <p:strVal val="visible"/>
                                      </p:to>
                                    </p:set>
                                    <p:animEffect transition="in" filter="fade">
                                      <p:cBhvr>
                                        <p:cTn id="15" dur="1000"/>
                                        <p:tgtEl>
                                          <p:spTgt spid="3082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32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12323" name="Rectangle 3"/>
          <p:cNvSpPr>
            <a:spLocks noGrp="1" noChangeArrowheads="1"/>
          </p:cNvSpPr>
          <p:nvPr>
            <p:ph idx="1"/>
          </p:nvPr>
        </p:nvSpPr>
        <p:spPr>
          <a:xfrm>
            <a:off x="228600" y="762000"/>
            <a:ext cx="8839200" cy="5715000"/>
          </a:xfrm>
          <a:solidFill>
            <a:schemeClr val="bg1">
              <a:alpha val="35000"/>
            </a:schemeClr>
          </a:solidFill>
        </p:spPr>
        <p:txBody>
          <a:bodyPr>
            <a:noAutofit/>
          </a:bodyPr>
          <a:lstStyle/>
          <a:p>
            <a:r>
              <a:rPr lang="en-US" sz="2800" i="1" dirty="0">
                <a:solidFill>
                  <a:srgbClr val="990033"/>
                </a:solidFill>
              </a:rPr>
              <a:t>Consumer spending: </a:t>
            </a:r>
            <a:r>
              <a:rPr lang="en-US" sz="2800" b="0" dirty="0"/>
              <a:t>household spending on goods and services</a:t>
            </a:r>
          </a:p>
          <a:p>
            <a:r>
              <a:rPr lang="en-US" sz="2800" i="1" dirty="0">
                <a:solidFill>
                  <a:srgbClr val="990033"/>
                </a:solidFill>
              </a:rPr>
              <a:t>Stock:</a:t>
            </a:r>
            <a:r>
              <a:rPr lang="en-US" sz="2800" dirty="0"/>
              <a:t> </a:t>
            </a:r>
            <a:r>
              <a:rPr lang="en-US" sz="2800" b="0" dirty="0"/>
              <a:t>a share in the ownership of a company held by a shareholder. </a:t>
            </a:r>
          </a:p>
          <a:p>
            <a:r>
              <a:rPr lang="en-US" sz="2800" i="1" dirty="0">
                <a:solidFill>
                  <a:srgbClr val="990033"/>
                </a:solidFill>
              </a:rPr>
              <a:t>Bond:</a:t>
            </a:r>
            <a:r>
              <a:rPr lang="en-US" sz="2800" dirty="0"/>
              <a:t> </a:t>
            </a:r>
            <a:r>
              <a:rPr lang="en-US" sz="2800" b="0" dirty="0"/>
              <a:t>borrowing in the form of an IOU that pays interest.</a:t>
            </a:r>
          </a:p>
          <a:p>
            <a:r>
              <a:rPr lang="en-US" sz="2800" i="1" dirty="0">
                <a:solidFill>
                  <a:srgbClr val="990033"/>
                </a:solidFill>
              </a:rPr>
              <a:t>Government transfer: </a:t>
            </a:r>
            <a:r>
              <a:rPr lang="en-US" sz="2800" b="0" dirty="0"/>
              <a:t>payment by the government to individuals for which no good or service is provided in return. </a:t>
            </a:r>
            <a:endParaRPr lang="en-US" sz="2800" dirty="0"/>
          </a:p>
          <a:p>
            <a:r>
              <a:rPr lang="en-US" sz="2800" i="1" dirty="0">
                <a:solidFill>
                  <a:srgbClr val="990033"/>
                </a:solidFill>
              </a:rPr>
              <a:t>Disposable income: </a:t>
            </a:r>
            <a:r>
              <a:rPr lang="en-US" sz="2800" b="0" dirty="0"/>
              <a:t>income plus government transfers minus taxes; available to spend on consumption and to save.</a:t>
            </a:r>
          </a:p>
        </p:txBody>
      </p:sp>
      <p:sp>
        <p:nvSpPr>
          <p:cNvPr id="6" name="Rectangle 2"/>
          <p:cNvSpPr>
            <a:spLocks noGrp="1" noRot="1" noChangeArrowheads="1"/>
          </p:cNvSpPr>
          <p:nvPr>
            <p:ph type="title"/>
          </p:nvPr>
        </p:nvSpPr>
        <p:spPr/>
        <p:txBody>
          <a:bodyPr>
            <a:normAutofit/>
          </a:bodyPr>
          <a:lstStyle/>
          <a:p>
            <a:r>
              <a:rPr lang="en-US" sz="4000" spc="0" dirty="0"/>
              <a:t>THE NATIONAL ACCOUNTS</a:t>
            </a:r>
          </a:p>
        </p:txBody>
      </p:sp>
    </p:spTree>
    <p:extLst>
      <p:ext uri="{BB962C8B-B14F-4D97-AF65-F5344CB8AC3E}">
        <p14:creationId xmlns:p14="http://schemas.microsoft.com/office/powerpoint/2010/main" val="40092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Rot="1" noChangeArrowheads="1"/>
          </p:cNvSpPr>
          <p:nvPr>
            <p:ph type="title"/>
          </p:nvPr>
        </p:nvSpPr>
        <p:spPr/>
        <p:txBody>
          <a:bodyPr>
            <a:noAutofit/>
          </a:bodyPr>
          <a:lstStyle/>
          <a:p>
            <a:r>
              <a:rPr lang="en-US" sz="3400" spc="0" dirty="0"/>
              <a:t>AN EXPANDED CIRCULAR-FLOW DIAGRAM</a:t>
            </a:r>
          </a:p>
        </p:txBody>
      </p:sp>
      <p:sp>
        <p:nvSpPr>
          <p:cNvPr id="330755" name="Freeform 3"/>
          <p:cNvSpPr>
            <a:spLocks/>
          </p:cNvSpPr>
          <p:nvPr/>
        </p:nvSpPr>
        <p:spPr bwMode="auto">
          <a:xfrm>
            <a:off x="5306218" y="1219200"/>
            <a:ext cx="3304381" cy="1828800"/>
          </a:xfrm>
          <a:custGeom>
            <a:avLst/>
            <a:gdLst>
              <a:gd name="T0" fmla="*/ 0 w 328"/>
              <a:gd name="T1" fmla="*/ 0 h 291"/>
              <a:gd name="T2" fmla="*/ 218 w 328"/>
              <a:gd name="T3" fmla="*/ 0 h 291"/>
              <a:gd name="T4" fmla="*/ 328 w 328"/>
              <a:gd name="T5" fmla="*/ 110 h 291"/>
              <a:gd name="T6" fmla="*/ 328 w 328"/>
              <a:gd name="T7" fmla="*/ 291 h 291"/>
            </a:gdLst>
            <a:ahLst/>
            <a:cxnLst>
              <a:cxn ang="0">
                <a:pos x="T0" y="T1"/>
              </a:cxn>
              <a:cxn ang="0">
                <a:pos x="T2" y="T3"/>
              </a:cxn>
              <a:cxn ang="0">
                <a:pos x="T4" y="T5"/>
              </a:cxn>
              <a:cxn ang="0">
                <a:pos x="T6" y="T7"/>
              </a:cxn>
            </a:cxnLst>
            <a:rect l="0" t="0" r="r" b="b"/>
            <a:pathLst>
              <a:path w="328" h="291">
                <a:moveTo>
                  <a:pt x="0" y="0"/>
                </a:moveTo>
                <a:cubicBezTo>
                  <a:pt x="218" y="0"/>
                  <a:pt x="218" y="0"/>
                  <a:pt x="218" y="0"/>
                </a:cubicBezTo>
                <a:cubicBezTo>
                  <a:pt x="279" y="0"/>
                  <a:pt x="328" y="49"/>
                  <a:pt x="328" y="110"/>
                </a:cubicBezTo>
                <a:cubicBezTo>
                  <a:pt x="328" y="291"/>
                  <a:pt x="328" y="291"/>
                  <a:pt x="328" y="291"/>
                </a:cubicBezTo>
              </a:path>
            </a:pathLst>
          </a:custGeom>
          <a:noFill/>
          <a:ln w="90551" cap="flat">
            <a:solidFill>
              <a:srgbClr val="0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56" name="Freeform 4"/>
          <p:cNvSpPr>
            <a:spLocks/>
          </p:cNvSpPr>
          <p:nvPr/>
        </p:nvSpPr>
        <p:spPr bwMode="auto">
          <a:xfrm>
            <a:off x="5223932" y="1016001"/>
            <a:ext cx="249238" cy="406400"/>
          </a:xfrm>
          <a:custGeom>
            <a:avLst/>
            <a:gdLst>
              <a:gd name="T0" fmla="*/ 29 w 41"/>
              <a:gd name="T1" fmla="*/ 34 h 67"/>
              <a:gd name="T2" fmla="*/ 41 w 41"/>
              <a:gd name="T3" fmla="*/ 67 h 67"/>
              <a:gd name="T4" fmla="*/ 0 w 41"/>
              <a:gd name="T5" fmla="*/ 34 h 67"/>
              <a:gd name="T6" fmla="*/ 41 w 41"/>
              <a:gd name="T7" fmla="*/ 0 h 67"/>
              <a:gd name="T8" fmla="*/ 29 w 41"/>
              <a:gd name="T9" fmla="*/ 34 h 67"/>
            </a:gdLst>
            <a:ahLst/>
            <a:cxnLst>
              <a:cxn ang="0">
                <a:pos x="T0" y="T1"/>
              </a:cxn>
              <a:cxn ang="0">
                <a:pos x="T2" y="T3"/>
              </a:cxn>
              <a:cxn ang="0">
                <a:pos x="T4" y="T5"/>
              </a:cxn>
              <a:cxn ang="0">
                <a:pos x="T6" y="T7"/>
              </a:cxn>
              <a:cxn ang="0">
                <a:pos x="T8" y="T9"/>
              </a:cxn>
            </a:cxnLst>
            <a:rect l="0" t="0" r="r" b="b"/>
            <a:pathLst>
              <a:path w="41" h="67">
                <a:moveTo>
                  <a:pt x="29" y="34"/>
                </a:moveTo>
                <a:cubicBezTo>
                  <a:pt x="37" y="41"/>
                  <a:pt x="40" y="57"/>
                  <a:pt x="41" y="67"/>
                </a:cubicBezTo>
                <a:cubicBezTo>
                  <a:pt x="30" y="53"/>
                  <a:pt x="16" y="41"/>
                  <a:pt x="0" y="34"/>
                </a:cubicBezTo>
                <a:cubicBezTo>
                  <a:pt x="16" y="27"/>
                  <a:pt x="30" y="14"/>
                  <a:pt x="41" y="0"/>
                </a:cubicBezTo>
                <a:cubicBezTo>
                  <a:pt x="40" y="11"/>
                  <a:pt x="37" y="25"/>
                  <a:pt x="29" y="34"/>
                </a:cubicBezTo>
                <a:close/>
              </a:path>
            </a:pathLst>
          </a:custGeom>
          <a:solidFill>
            <a:srgbClr val="008080"/>
          </a:solidFill>
          <a:ln w="9525">
            <a:noFill/>
            <a:round/>
            <a:headEnd/>
            <a:tailEnd/>
          </a:ln>
        </p:spPr>
        <p:txBody>
          <a:bodyPr/>
          <a:lstStyle/>
          <a:p>
            <a:endParaRPr lang="en-US" dirty="0">
              <a:solidFill>
                <a:srgbClr val="0070C0"/>
              </a:solidFill>
              <a:latin typeface="Century Gothic"/>
              <a:cs typeface="Century Gothic"/>
            </a:endParaRPr>
          </a:p>
        </p:txBody>
      </p:sp>
      <p:sp>
        <p:nvSpPr>
          <p:cNvPr id="330757" name="Freeform 5"/>
          <p:cNvSpPr>
            <a:spLocks/>
          </p:cNvSpPr>
          <p:nvPr/>
        </p:nvSpPr>
        <p:spPr bwMode="auto">
          <a:xfrm>
            <a:off x="533400" y="1219200"/>
            <a:ext cx="3260544" cy="1447800"/>
          </a:xfrm>
          <a:custGeom>
            <a:avLst/>
            <a:gdLst>
              <a:gd name="T0" fmla="*/ 0 w 375"/>
              <a:gd name="T1" fmla="*/ 262 h 262"/>
              <a:gd name="T2" fmla="*/ 0 w 375"/>
              <a:gd name="T3" fmla="*/ 110 h 262"/>
              <a:gd name="T4" fmla="*/ 110 w 375"/>
              <a:gd name="T5" fmla="*/ 0 h 262"/>
              <a:gd name="T6" fmla="*/ 375 w 375"/>
              <a:gd name="T7" fmla="*/ 0 h 262"/>
            </a:gdLst>
            <a:ahLst/>
            <a:cxnLst>
              <a:cxn ang="0">
                <a:pos x="T0" y="T1"/>
              </a:cxn>
              <a:cxn ang="0">
                <a:pos x="T2" y="T3"/>
              </a:cxn>
              <a:cxn ang="0">
                <a:pos x="T4" y="T5"/>
              </a:cxn>
              <a:cxn ang="0">
                <a:pos x="T6" y="T7"/>
              </a:cxn>
            </a:cxnLst>
            <a:rect l="0" t="0" r="r" b="b"/>
            <a:pathLst>
              <a:path w="375" h="262">
                <a:moveTo>
                  <a:pt x="0" y="262"/>
                </a:moveTo>
                <a:cubicBezTo>
                  <a:pt x="0" y="110"/>
                  <a:pt x="0" y="110"/>
                  <a:pt x="0" y="110"/>
                </a:cubicBezTo>
                <a:cubicBezTo>
                  <a:pt x="0" y="49"/>
                  <a:pt x="49" y="0"/>
                  <a:pt x="110" y="0"/>
                </a:cubicBezTo>
                <a:cubicBezTo>
                  <a:pt x="375" y="0"/>
                  <a:pt x="375" y="0"/>
                  <a:pt x="375" y="0"/>
                </a:cubicBezTo>
              </a:path>
            </a:pathLst>
          </a:custGeom>
          <a:noFill/>
          <a:ln w="90551" cap="flat">
            <a:solidFill>
              <a:srgbClr val="0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58" name="Freeform 6"/>
          <p:cNvSpPr>
            <a:spLocks/>
          </p:cNvSpPr>
          <p:nvPr/>
        </p:nvSpPr>
        <p:spPr bwMode="auto">
          <a:xfrm>
            <a:off x="321734" y="2590800"/>
            <a:ext cx="407988" cy="249238"/>
          </a:xfrm>
          <a:custGeom>
            <a:avLst/>
            <a:gdLst>
              <a:gd name="T0" fmla="*/ 34 w 67"/>
              <a:gd name="T1" fmla="*/ 12 h 41"/>
              <a:gd name="T2" fmla="*/ 67 w 67"/>
              <a:gd name="T3" fmla="*/ 0 h 41"/>
              <a:gd name="T4" fmla="*/ 34 w 67"/>
              <a:gd name="T5" fmla="*/ 41 h 41"/>
              <a:gd name="T6" fmla="*/ 0 w 67"/>
              <a:gd name="T7" fmla="*/ 0 h 41"/>
              <a:gd name="T8" fmla="*/ 34 w 67"/>
              <a:gd name="T9" fmla="*/ 12 h 41"/>
            </a:gdLst>
            <a:ahLst/>
            <a:cxnLst>
              <a:cxn ang="0">
                <a:pos x="T0" y="T1"/>
              </a:cxn>
              <a:cxn ang="0">
                <a:pos x="T2" y="T3"/>
              </a:cxn>
              <a:cxn ang="0">
                <a:pos x="T4" y="T5"/>
              </a:cxn>
              <a:cxn ang="0">
                <a:pos x="T6" y="T7"/>
              </a:cxn>
              <a:cxn ang="0">
                <a:pos x="T8" y="T9"/>
              </a:cxn>
            </a:cxnLst>
            <a:rect l="0" t="0" r="r" b="b"/>
            <a:pathLst>
              <a:path w="67" h="41">
                <a:moveTo>
                  <a:pt x="34" y="12"/>
                </a:moveTo>
                <a:cubicBezTo>
                  <a:pt x="41" y="4"/>
                  <a:pt x="57" y="0"/>
                  <a:pt x="67" y="0"/>
                </a:cubicBezTo>
                <a:cubicBezTo>
                  <a:pt x="53" y="11"/>
                  <a:pt x="41" y="24"/>
                  <a:pt x="34" y="41"/>
                </a:cubicBezTo>
                <a:cubicBezTo>
                  <a:pt x="27" y="24"/>
                  <a:pt x="14" y="11"/>
                  <a:pt x="0" y="0"/>
                </a:cubicBezTo>
                <a:cubicBezTo>
                  <a:pt x="12" y="1"/>
                  <a:pt x="25" y="4"/>
                  <a:pt x="34" y="12"/>
                </a:cubicBezTo>
                <a:close/>
              </a:path>
            </a:pathLst>
          </a:custGeom>
          <a:solidFill>
            <a:srgbClr val="008080"/>
          </a:solidFill>
          <a:ln>
            <a:noFill/>
          </a:ln>
        </p:spPr>
        <p:txBody>
          <a:bodyPr/>
          <a:lstStyle/>
          <a:p>
            <a:endParaRPr lang="en-US" dirty="0">
              <a:latin typeface="Century Gothic"/>
              <a:cs typeface="Century Gothic"/>
            </a:endParaRPr>
          </a:p>
        </p:txBody>
      </p:sp>
      <p:sp>
        <p:nvSpPr>
          <p:cNvPr id="330759" name="Freeform 7"/>
          <p:cNvSpPr>
            <a:spLocks/>
          </p:cNvSpPr>
          <p:nvPr/>
        </p:nvSpPr>
        <p:spPr bwMode="auto">
          <a:xfrm>
            <a:off x="5105400" y="2154237"/>
            <a:ext cx="2590800" cy="725488"/>
          </a:xfrm>
          <a:custGeom>
            <a:avLst/>
            <a:gdLst>
              <a:gd name="T0" fmla="*/ 287 w 287"/>
              <a:gd name="T1" fmla="*/ 166 h 166"/>
              <a:gd name="T2" fmla="*/ 287 w 287"/>
              <a:gd name="T3" fmla="*/ 110 h 166"/>
              <a:gd name="T4" fmla="*/ 177 w 287"/>
              <a:gd name="T5" fmla="*/ 0 h 166"/>
              <a:gd name="T6" fmla="*/ 0 w 287"/>
              <a:gd name="T7" fmla="*/ 0 h 166"/>
            </a:gdLst>
            <a:ahLst/>
            <a:cxnLst>
              <a:cxn ang="0">
                <a:pos x="T0" y="T1"/>
              </a:cxn>
              <a:cxn ang="0">
                <a:pos x="T2" y="T3"/>
              </a:cxn>
              <a:cxn ang="0">
                <a:pos x="T4" y="T5"/>
              </a:cxn>
              <a:cxn ang="0">
                <a:pos x="T6" y="T7"/>
              </a:cxn>
            </a:cxnLst>
            <a:rect l="0" t="0" r="r" b="b"/>
            <a:pathLst>
              <a:path w="287" h="166">
                <a:moveTo>
                  <a:pt x="287" y="166"/>
                </a:moveTo>
                <a:cubicBezTo>
                  <a:pt x="287" y="110"/>
                  <a:pt x="287" y="110"/>
                  <a:pt x="287" y="110"/>
                </a:cubicBezTo>
                <a:cubicBezTo>
                  <a:pt x="287" y="49"/>
                  <a:pt x="237" y="0"/>
                  <a:pt x="177" y="0"/>
                </a:cubicBezTo>
                <a:cubicBezTo>
                  <a:pt x="0" y="0"/>
                  <a:pt x="0" y="0"/>
                  <a:pt x="0" y="0"/>
                </a:cubicBezTo>
              </a:path>
            </a:pathLst>
          </a:custGeom>
          <a:noFill/>
          <a:ln w="90551" cap="flat">
            <a:solidFill>
              <a:srgbClr val="0070C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60" name="Freeform 8"/>
          <p:cNvSpPr>
            <a:spLocks/>
          </p:cNvSpPr>
          <p:nvPr/>
        </p:nvSpPr>
        <p:spPr bwMode="auto">
          <a:xfrm>
            <a:off x="7493001" y="2798762"/>
            <a:ext cx="404813" cy="249238"/>
          </a:xfrm>
          <a:custGeom>
            <a:avLst/>
            <a:gdLst>
              <a:gd name="T0" fmla="*/ 34 w 67"/>
              <a:gd name="T1" fmla="*/ 12 h 41"/>
              <a:gd name="T2" fmla="*/ 0 w 67"/>
              <a:gd name="T3" fmla="*/ 0 h 41"/>
              <a:gd name="T4" fmla="*/ 34 w 67"/>
              <a:gd name="T5" fmla="*/ 41 h 41"/>
              <a:gd name="T6" fmla="*/ 67 w 67"/>
              <a:gd name="T7" fmla="*/ 0 h 41"/>
              <a:gd name="T8" fmla="*/ 34 w 67"/>
              <a:gd name="T9" fmla="*/ 12 h 41"/>
            </a:gdLst>
            <a:ahLst/>
            <a:cxnLst>
              <a:cxn ang="0">
                <a:pos x="T0" y="T1"/>
              </a:cxn>
              <a:cxn ang="0">
                <a:pos x="T2" y="T3"/>
              </a:cxn>
              <a:cxn ang="0">
                <a:pos x="T4" y="T5"/>
              </a:cxn>
              <a:cxn ang="0">
                <a:pos x="T6" y="T7"/>
              </a:cxn>
              <a:cxn ang="0">
                <a:pos x="T8" y="T9"/>
              </a:cxn>
            </a:cxnLst>
            <a:rect l="0" t="0" r="r" b="b"/>
            <a:pathLst>
              <a:path w="67" h="41">
                <a:moveTo>
                  <a:pt x="34" y="12"/>
                </a:moveTo>
                <a:cubicBezTo>
                  <a:pt x="26" y="4"/>
                  <a:pt x="11" y="0"/>
                  <a:pt x="0" y="0"/>
                </a:cubicBezTo>
                <a:cubicBezTo>
                  <a:pt x="15" y="11"/>
                  <a:pt x="27" y="24"/>
                  <a:pt x="34" y="41"/>
                </a:cubicBezTo>
                <a:cubicBezTo>
                  <a:pt x="41" y="24"/>
                  <a:pt x="54" y="11"/>
                  <a:pt x="67" y="0"/>
                </a:cubicBezTo>
                <a:cubicBezTo>
                  <a:pt x="56" y="1"/>
                  <a:pt x="42" y="4"/>
                  <a:pt x="34" y="12"/>
                </a:cubicBezTo>
                <a:close/>
              </a:path>
            </a:pathLst>
          </a:custGeom>
          <a:solidFill>
            <a:srgbClr val="0070C0"/>
          </a:solidFill>
          <a:ln>
            <a:noFill/>
          </a:ln>
        </p:spPr>
        <p:txBody>
          <a:bodyPr/>
          <a:lstStyle/>
          <a:p>
            <a:endParaRPr lang="en-US" dirty="0">
              <a:latin typeface="Century Gothic"/>
              <a:cs typeface="Century Gothic"/>
            </a:endParaRPr>
          </a:p>
        </p:txBody>
      </p:sp>
      <p:sp>
        <p:nvSpPr>
          <p:cNvPr id="330761" name="Freeform 9"/>
          <p:cNvSpPr>
            <a:spLocks/>
          </p:cNvSpPr>
          <p:nvPr/>
        </p:nvSpPr>
        <p:spPr bwMode="auto">
          <a:xfrm>
            <a:off x="1417340" y="4085697"/>
            <a:ext cx="2357438" cy="1087438"/>
          </a:xfrm>
          <a:custGeom>
            <a:avLst/>
            <a:gdLst>
              <a:gd name="T0" fmla="*/ 0 w 286"/>
              <a:gd name="T1" fmla="*/ 0 h 179"/>
              <a:gd name="T2" fmla="*/ 0 w 286"/>
              <a:gd name="T3" fmla="*/ 69 h 179"/>
              <a:gd name="T4" fmla="*/ 110 w 286"/>
              <a:gd name="T5" fmla="*/ 179 h 179"/>
              <a:gd name="T6" fmla="*/ 286 w 286"/>
              <a:gd name="T7" fmla="*/ 179 h 179"/>
            </a:gdLst>
            <a:ahLst/>
            <a:cxnLst>
              <a:cxn ang="0">
                <a:pos x="T0" y="T1"/>
              </a:cxn>
              <a:cxn ang="0">
                <a:pos x="T2" y="T3"/>
              </a:cxn>
              <a:cxn ang="0">
                <a:pos x="T4" y="T5"/>
              </a:cxn>
              <a:cxn ang="0">
                <a:pos x="T6" y="T7"/>
              </a:cxn>
            </a:cxnLst>
            <a:rect l="0" t="0" r="r" b="b"/>
            <a:pathLst>
              <a:path w="286" h="179">
                <a:moveTo>
                  <a:pt x="0" y="0"/>
                </a:moveTo>
                <a:cubicBezTo>
                  <a:pt x="0" y="69"/>
                  <a:pt x="0" y="69"/>
                  <a:pt x="0" y="69"/>
                </a:cubicBezTo>
                <a:cubicBezTo>
                  <a:pt x="0" y="130"/>
                  <a:pt x="50" y="179"/>
                  <a:pt x="110" y="179"/>
                </a:cubicBezTo>
                <a:cubicBezTo>
                  <a:pt x="286" y="179"/>
                  <a:pt x="286" y="179"/>
                  <a:pt x="286" y="179"/>
                </a:cubicBezTo>
              </a:path>
            </a:pathLst>
          </a:custGeom>
          <a:noFill/>
          <a:ln w="90551" cap="flat">
            <a:solidFill>
              <a:srgbClr val="FF66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62" name="Freeform 10"/>
          <p:cNvSpPr>
            <a:spLocks/>
          </p:cNvSpPr>
          <p:nvPr/>
        </p:nvSpPr>
        <p:spPr bwMode="auto">
          <a:xfrm>
            <a:off x="1193800" y="3886200"/>
            <a:ext cx="457200" cy="304800"/>
          </a:xfrm>
          <a:custGeom>
            <a:avLst/>
            <a:gdLst>
              <a:gd name="T0" fmla="*/ 33 w 67"/>
              <a:gd name="T1" fmla="*/ 29 h 41"/>
              <a:gd name="T2" fmla="*/ 67 w 67"/>
              <a:gd name="T3" fmla="*/ 41 h 41"/>
              <a:gd name="T4" fmla="*/ 33 w 67"/>
              <a:gd name="T5" fmla="*/ 0 h 41"/>
              <a:gd name="T6" fmla="*/ 0 w 67"/>
              <a:gd name="T7" fmla="*/ 41 h 41"/>
              <a:gd name="T8" fmla="*/ 33 w 67"/>
              <a:gd name="T9" fmla="*/ 29 h 41"/>
            </a:gdLst>
            <a:ahLst/>
            <a:cxnLst>
              <a:cxn ang="0">
                <a:pos x="T0" y="T1"/>
              </a:cxn>
              <a:cxn ang="0">
                <a:pos x="T2" y="T3"/>
              </a:cxn>
              <a:cxn ang="0">
                <a:pos x="T4" y="T5"/>
              </a:cxn>
              <a:cxn ang="0">
                <a:pos x="T6" y="T7"/>
              </a:cxn>
              <a:cxn ang="0">
                <a:pos x="T8" y="T9"/>
              </a:cxn>
            </a:cxnLst>
            <a:rect l="0" t="0" r="r" b="b"/>
            <a:pathLst>
              <a:path w="67" h="41">
                <a:moveTo>
                  <a:pt x="33" y="29"/>
                </a:moveTo>
                <a:cubicBezTo>
                  <a:pt x="41" y="37"/>
                  <a:pt x="56" y="40"/>
                  <a:pt x="67" y="41"/>
                </a:cubicBezTo>
                <a:cubicBezTo>
                  <a:pt x="52" y="30"/>
                  <a:pt x="40" y="16"/>
                  <a:pt x="33" y="0"/>
                </a:cubicBezTo>
                <a:cubicBezTo>
                  <a:pt x="26" y="16"/>
                  <a:pt x="13" y="30"/>
                  <a:pt x="0" y="41"/>
                </a:cubicBezTo>
                <a:cubicBezTo>
                  <a:pt x="11" y="40"/>
                  <a:pt x="25" y="37"/>
                  <a:pt x="33" y="29"/>
                </a:cubicBezTo>
                <a:close/>
              </a:path>
            </a:pathLst>
          </a:custGeom>
          <a:solidFill>
            <a:srgbClr val="FF6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763" name="Freeform 11"/>
          <p:cNvSpPr>
            <a:spLocks/>
          </p:cNvSpPr>
          <p:nvPr/>
        </p:nvSpPr>
        <p:spPr bwMode="auto">
          <a:xfrm>
            <a:off x="533400" y="3810001"/>
            <a:ext cx="2969420" cy="2514600"/>
          </a:xfrm>
          <a:custGeom>
            <a:avLst/>
            <a:gdLst>
              <a:gd name="T0" fmla="*/ 329 w 329"/>
              <a:gd name="T1" fmla="*/ 299 h 299"/>
              <a:gd name="T2" fmla="*/ 110 w 329"/>
              <a:gd name="T3" fmla="*/ 299 h 299"/>
              <a:gd name="T4" fmla="*/ 0 w 329"/>
              <a:gd name="T5" fmla="*/ 189 h 299"/>
              <a:gd name="T6" fmla="*/ 0 w 329"/>
              <a:gd name="T7" fmla="*/ 0 h 299"/>
            </a:gdLst>
            <a:ahLst/>
            <a:cxnLst>
              <a:cxn ang="0">
                <a:pos x="T0" y="T1"/>
              </a:cxn>
              <a:cxn ang="0">
                <a:pos x="T2" y="T3"/>
              </a:cxn>
              <a:cxn ang="0">
                <a:pos x="T4" y="T5"/>
              </a:cxn>
              <a:cxn ang="0">
                <a:pos x="T6" y="T7"/>
              </a:cxn>
            </a:cxnLst>
            <a:rect l="0" t="0" r="r" b="b"/>
            <a:pathLst>
              <a:path w="329" h="299">
                <a:moveTo>
                  <a:pt x="329" y="299"/>
                </a:moveTo>
                <a:cubicBezTo>
                  <a:pt x="110" y="299"/>
                  <a:pt x="110" y="299"/>
                  <a:pt x="110" y="299"/>
                </a:cubicBezTo>
                <a:cubicBezTo>
                  <a:pt x="49" y="299"/>
                  <a:pt x="0" y="250"/>
                  <a:pt x="0" y="189"/>
                </a:cubicBezTo>
                <a:cubicBezTo>
                  <a:pt x="0" y="0"/>
                  <a:pt x="0" y="0"/>
                  <a:pt x="0" y="0"/>
                </a:cubicBezTo>
              </a:path>
            </a:pathLst>
          </a:custGeom>
          <a:noFill/>
          <a:ln w="90551" cap="flat">
            <a:solidFill>
              <a:srgbClr val="CC006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64" name="Freeform 12"/>
          <p:cNvSpPr>
            <a:spLocks/>
          </p:cNvSpPr>
          <p:nvPr/>
        </p:nvSpPr>
        <p:spPr bwMode="auto">
          <a:xfrm>
            <a:off x="3408362" y="6122986"/>
            <a:ext cx="249238" cy="404813"/>
          </a:xfrm>
          <a:custGeom>
            <a:avLst/>
            <a:gdLst>
              <a:gd name="T0" fmla="*/ 12 w 41"/>
              <a:gd name="T1" fmla="*/ 33 h 67"/>
              <a:gd name="T2" fmla="*/ 0 w 41"/>
              <a:gd name="T3" fmla="*/ 0 h 67"/>
              <a:gd name="T4" fmla="*/ 41 w 41"/>
              <a:gd name="T5" fmla="*/ 33 h 67"/>
              <a:gd name="T6" fmla="*/ 0 w 41"/>
              <a:gd name="T7" fmla="*/ 67 h 67"/>
              <a:gd name="T8" fmla="*/ 12 w 41"/>
              <a:gd name="T9" fmla="*/ 33 h 67"/>
            </a:gdLst>
            <a:ahLst/>
            <a:cxnLst>
              <a:cxn ang="0">
                <a:pos x="T0" y="T1"/>
              </a:cxn>
              <a:cxn ang="0">
                <a:pos x="T2" y="T3"/>
              </a:cxn>
              <a:cxn ang="0">
                <a:pos x="T4" y="T5"/>
              </a:cxn>
              <a:cxn ang="0">
                <a:pos x="T6" y="T7"/>
              </a:cxn>
              <a:cxn ang="0">
                <a:pos x="T8" y="T9"/>
              </a:cxn>
            </a:cxnLst>
            <a:rect l="0" t="0" r="r" b="b"/>
            <a:pathLst>
              <a:path w="41" h="67">
                <a:moveTo>
                  <a:pt x="12" y="33"/>
                </a:moveTo>
                <a:cubicBezTo>
                  <a:pt x="4" y="26"/>
                  <a:pt x="1" y="10"/>
                  <a:pt x="0" y="0"/>
                </a:cubicBezTo>
                <a:cubicBezTo>
                  <a:pt x="11" y="14"/>
                  <a:pt x="25" y="26"/>
                  <a:pt x="41" y="33"/>
                </a:cubicBezTo>
                <a:cubicBezTo>
                  <a:pt x="25" y="40"/>
                  <a:pt x="11" y="53"/>
                  <a:pt x="0" y="67"/>
                </a:cubicBezTo>
                <a:cubicBezTo>
                  <a:pt x="1" y="55"/>
                  <a:pt x="4" y="42"/>
                  <a:pt x="12" y="33"/>
                </a:cubicBezTo>
                <a:close/>
              </a:path>
            </a:pathLst>
          </a:custGeom>
          <a:solidFill>
            <a:srgbClr val="CC00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765" name="Freeform 13"/>
          <p:cNvSpPr>
            <a:spLocks/>
          </p:cNvSpPr>
          <p:nvPr/>
        </p:nvSpPr>
        <p:spPr bwMode="auto">
          <a:xfrm>
            <a:off x="5105400" y="3953936"/>
            <a:ext cx="3505200" cy="2370664"/>
          </a:xfrm>
          <a:custGeom>
            <a:avLst/>
            <a:gdLst>
              <a:gd name="T0" fmla="*/ 369 w 369"/>
              <a:gd name="T1" fmla="*/ 0 h 272"/>
              <a:gd name="T2" fmla="*/ 369 w 369"/>
              <a:gd name="T3" fmla="*/ 162 h 272"/>
              <a:gd name="T4" fmla="*/ 259 w 369"/>
              <a:gd name="T5" fmla="*/ 272 h 272"/>
              <a:gd name="T6" fmla="*/ 0 w 369"/>
              <a:gd name="T7" fmla="*/ 272 h 272"/>
            </a:gdLst>
            <a:ahLst/>
            <a:cxnLst>
              <a:cxn ang="0">
                <a:pos x="T0" y="T1"/>
              </a:cxn>
              <a:cxn ang="0">
                <a:pos x="T2" y="T3"/>
              </a:cxn>
              <a:cxn ang="0">
                <a:pos x="T4" y="T5"/>
              </a:cxn>
              <a:cxn ang="0">
                <a:pos x="T6" y="T7"/>
              </a:cxn>
            </a:cxnLst>
            <a:rect l="0" t="0" r="r" b="b"/>
            <a:pathLst>
              <a:path w="369" h="272">
                <a:moveTo>
                  <a:pt x="369" y="0"/>
                </a:moveTo>
                <a:cubicBezTo>
                  <a:pt x="369" y="162"/>
                  <a:pt x="369" y="162"/>
                  <a:pt x="369" y="162"/>
                </a:cubicBezTo>
                <a:cubicBezTo>
                  <a:pt x="369" y="223"/>
                  <a:pt x="320" y="272"/>
                  <a:pt x="259" y="272"/>
                </a:cubicBezTo>
                <a:cubicBezTo>
                  <a:pt x="0" y="272"/>
                  <a:pt x="0" y="272"/>
                  <a:pt x="0" y="272"/>
                </a:cubicBezTo>
              </a:path>
            </a:pathLst>
          </a:custGeom>
          <a:noFill/>
          <a:ln w="90551" cap="flat">
            <a:solidFill>
              <a:srgbClr val="CC006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66" name="Freeform 14"/>
          <p:cNvSpPr>
            <a:spLocks/>
          </p:cNvSpPr>
          <p:nvPr/>
        </p:nvSpPr>
        <p:spPr bwMode="auto">
          <a:xfrm>
            <a:off x="8415868" y="3810000"/>
            <a:ext cx="407988" cy="249238"/>
          </a:xfrm>
          <a:custGeom>
            <a:avLst/>
            <a:gdLst>
              <a:gd name="T0" fmla="*/ 33 w 67"/>
              <a:gd name="T1" fmla="*/ 29 h 41"/>
              <a:gd name="T2" fmla="*/ 0 w 67"/>
              <a:gd name="T3" fmla="*/ 41 h 41"/>
              <a:gd name="T4" fmla="*/ 33 w 67"/>
              <a:gd name="T5" fmla="*/ 0 h 41"/>
              <a:gd name="T6" fmla="*/ 67 w 67"/>
              <a:gd name="T7" fmla="*/ 41 h 41"/>
              <a:gd name="T8" fmla="*/ 33 w 67"/>
              <a:gd name="T9" fmla="*/ 29 h 41"/>
            </a:gdLst>
            <a:ahLst/>
            <a:cxnLst>
              <a:cxn ang="0">
                <a:pos x="T0" y="T1"/>
              </a:cxn>
              <a:cxn ang="0">
                <a:pos x="T2" y="T3"/>
              </a:cxn>
              <a:cxn ang="0">
                <a:pos x="T4" y="T5"/>
              </a:cxn>
              <a:cxn ang="0">
                <a:pos x="T6" y="T7"/>
              </a:cxn>
              <a:cxn ang="0">
                <a:pos x="T8" y="T9"/>
              </a:cxn>
            </a:cxnLst>
            <a:rect l="0" t="0" r="r" b="b"/>
            <a:pathLst>
              <a:path w="67" h="41">
                <a:moveTo>
                  <a:pt x="33" y="29"/>
                </a:moveTo>
                <a:cubicBezTo>
                  <a:pt x="26" y="37"/>
                  <a:pt x="10" y="40"/>
                  <a:pt x="0" y="41"/>
                </a:cubicBezTo>
                <a:cubicBezTo>
                  <a:pt x="14" y="30"/>
                  <a:pt x="26" y="16"/>
                  <a:pt x="33" y="0"/>
                </a:cubicBezTo>
                <a:cubicBezTo>
                  <a:pt x="40" y="16"/>
                  <a:pt x="53" y="30"/>
                  <a:pt x="67" y="41"/>
                </a:cubicBezTo>
                <a:cubicBezTo>
                  <a:pt x="55" y="40"/>
                  <a:pt x="42" y="37"/>
                  <a:pt x="33" y="29"/>
                </a:cubicBezTo>
                <a:close/>
              </a:path>
            </a:pathLst>
          </a:custGeom>
          <a:solidFill>
            <a:srgbClr val="CC00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770" name="Freeform 18"/>
          <p:cNvSpPr>
            <a:spLocks/>
          </p:cNvSpPr>
          <p:nvPr/>
        </p:nvSpPr>
        <p:spPr bwMode="auto">
          <a:xfrm>
            <a:off x="1371599" y="2133600"/>
            <a:ext cx="2386245" cy="609600"/>
          </a:xfrm>
          <a:custGeom>
            <a:avLst/>
            <a:gdLst>
              <a:gd name="T0" fmla="*/ 248 w 248"/>
              <a:gd name="T1" fmla="*/ 0 h 199"/>
              <a:gd name="T2" fmla="*/ 110 w 248"/>
              <a:gd name="T3" fmla="*/ 0 h 199"/>
              <a:gd name="T4" fmla="*/ 0 w 248"/>
              <a:gd name="T5" fmla="*/ 110 h 199"/>
              <a:gd name="T6" fmla="*/ 0 w 248"/>
              <a:gd name="T7" fmla="*/ 199 h 199"/>
            </a:gdLst>
            <a:ahLst/>
            <a:cxnLst>
              <a:cxn ang="0">
                <a:pos x="T0" y="T1"/>
              </a:cxn>
              <a:cxn ang="0">
                <a:pos x="T2" y="T3"/>
              </a:cxn>
              <a:cxn ang="0">
                <a:pos x="T4" y="T5"/>
              </a:cxn>
              <a:cxn ang="0">
                <a:pos x="T6" y="T7"/>
              </a:cxn>
            </a:cxnLst>
            <a:rect l="0" t="0" r="r" b="b"/>
            <a:pathLst>
              <a:path w="248" h="199">
                <a:moveTo>
                  <a:pt x="248" y="0"/>
                </a:moveTo>
                <a:cubicBezTo>
                  <a:pt x="110" y="0"/>
                  <a:pt x="110" y="0"/>
                  <a:pt x="110" y="0"/>
                </a:cubicBezTo>
                <a:cubicBezTo>
                  <a:pt x="50" y="0"/>
                  <a:pt x="0" y="49"/>
                  <a:pt x="0" y="110"/>
                </a:cubicBezTo>
                <a:cubicBezTo>
                  <a:pt x="0" y="199"/>
                  <a:pt x="0" y="199"/>
                  <a:pt x="0" y="199"/>
                </a:cubicBezTo>
              </a:path>
            </a:pathLst>
          </a:custGeom>
          <a:noFill/>
          <a:ln w="90488" cap="flat">
            <a:solidFill>
              <a:srgbClr val="0070C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71" name="Freeform 19"/>
          <p:cNvSpPr>
            <a:spLocks/>
          </p:cNvSpPr>
          <p:nvPr/>
        </p:nvSpPr>
        <p:spPr bwMode="auto">
          <a:xfrm rot="5400000">
            <a:off x="1248570" y="2510631"/>
            <a:ext cx="249238" cy="409575"/>
          </a:xfrm>
          <a:custGeom>
            <a:avLst/>
            <a:gdLst>
              <a:gd name="T0" fmla="*/ 12 w 41"/>
              <a:gd name="T1" fmla="*/ 34 h 67"/>
              <a:gd name="T2" fmla="*/ 0 w 41"/>
              <a:gd name="T3" fmla="*/ 67 h 67"/>
              <a:gd name="T4" fmla="*/ 41 w 41"/>
              <a:gd name="T5" fmla="*/ 34 h 67"/>
              <a:gd name="T6" fmla="*/ 0 w 41"/>
              <a:gd name="T7" fmla="*/ 0 h 67"/>
              <a:gd name="T8" fmla="*/ 12 w 41"/>
              <a:gd name="T9" fmla="*/ 34 h 67"/>
            </a:gdLst>
            <a:ahLst/>
            <a:cxnLst>
              <a:cxn ang="0">
                <a:pos x="T0" y="T1"/>
              </a:cxn>
              <a:cxn ang="0">
                <a:pos x="T2" y="T3"/>
              </a:cxn>
              <a:cxn ang="0">
                <a:pos x="T4" y="T5"/>
              </a:cxn>
              <a:cxn ang="0">
                <a:pos x="T6" y="T7"/>
              </a:cxn>
              <a:cxn ang="0">
                <a:pos x="T8" y="T9"/>
              </a:cxn>
            </a:cxnLst>
            <a:rect l="0" t="0" r="r" b="b"/>
            <a:pathLst>
              <a:path w="41" h="67">
                <a:moveTo>
                  <a:pt x="12" y="34"/>
                </a:moveTo>
                <a:cubicBezTo>
                  <a:pt x="4" y="41"/>
                  <a:pt x="0" y="57"/>
                  <a:pt x="0" y="67"/>
                </a:cubicBezTo>
                <a:cubicBezTo>
                  <a:pt x="11" y="53"/>
                  <a:pt x="24" y="41"/>
                  <a:pt x="41" y="34"/>
                </a:cubicBezTo>
                <a:cubicBezTo>
                  <a:pt x="24" y="27"/>
                  <a:pt x="11" y="14"/>
                  <a:pt x="0" y="0"/>
                </a:cubicBezTo>
                <a:cubicBezTo>
                  <a:pt x="1" y="11"/>
                  <a:pt x="4" y="25"/>
                  <a:pt x="12" y="34"/>
                </a:cubicBezTo>
                <a:close/>
              </a:path>
            </a:pathLst>
          </a:custGeom>
          <a:solidFill>
            <a:srgbClr val="0070C0"/>
          </a:solidFill>
          <a:ln w="9525">
            <a:noFill/>
            <a:round/>
            <a:headEnd/>
            <a:tailEnd/>
          </a:ln>
        </p:spPr>
        <p:txBody>
          <a:bodyPr/>
          <a:lstStyle/>
          <a:p>
            <a:endParaRPr lang="en-US" dirty="0">
              <a:latin typeface="Century Gothic"/>
              <a:cs typeface="Century Gothic"/>
            </a:endParaRPr>
          </a:p>
        </p:txBody>
      </p:sp>
      <p:sp>
        <p:nvSpPr>
          <p:cNvPr id="330772" name="Freeform 20"/>
          <p:cNvSpPr>
            <a:spLocks/>
          </p:cNvSpPr>
          <p:nvPr/>
        </p:nvSpPr>
        <p:spPr bwMode="auto">
          <a:xfrm>
            <a:off x="5160962" y="4986868"/>
            <a:ext cx="249238" cy="406400"/>
          </a:xfrm>
          <a:custGeom>
            <a:avLst/>
            <a:gdLst>
              <a:gd name="T0" fmla="*/ 29 w 41"/>
              <a:gd name="T1" fmla="*/ 33 h 67"/>
              <a:gd name="T2" fmla="*/ 41 w 41"/>
              <a:gd name="T3" fmla="*/ 0 h 67"/>
              <a:gd name="T4" fmla="*/ 0 w 41"/>
              <a:gd name="T5" fmla="*/ 33 h 67"/>
              <a:gd name="T6" fmla="*/ 41 w 41"/>
              <a:gd name="T7" fmla="*/ 67 h 67"/>
              <a:gd name="T8" fmla="*/ 29 w 41"/>
              <a:gd name="T9" fmla="*/ 33 h 67"/>
            </a:gdLst>
            <a:ahLst/>
            <a:cxnLst>
              <a:cxn ang="0">
                <a:pos x="T0" y="T1"/>
              </a:cxn>
              <a:cxn ang="0">
                <a:pos x="T2" y="T3"/>
              </a:cxn>
              <a:cxn ang="0">
                <a:pos x="T4" y="T5"/>
              </a:cxn>
              <a:cxn ang="0">
                <a:pos x="T6" y="T7"/>
              </a:cxn>
              <a:cxn ang="0">
                <a:pos x="T8" y="T9"/>
              </a:cxn>
            </a:cxnLst>
            <a:rect l="0" t="0" r="r" b="b"/>
            <a:pathLst>
              <a:path w="41" h="67">
                <a:moveTo>
                  <a:pt x="29" y="33"/>
                </a:moveTo>
                <a:cubicBezTo>
                  <a:pt x="37" y="26"/>
                  <a:pt x="41" y="10"/>
                  <a:pt x="41" y="0"/>
                </a:cubicBezTo>
                <a:cubicBezTo>
                  <a:pt x="30" y="14"/>
                  <a:pt x="17" y="26"/>
                  <a:pt x="0" y="33"/>
                </a:cubicBezTo>
                <a:cubicBezTo>
                  <a:pt x="17" y="40"/>
                  <a:pt x="30" y="53"/>
                  <a:pt x="41" y="67"/>
                </a:cubicBezTo>
                <a:cubicBezTo>
                  <a:pt x="40" y="55"/>
                  <a:pt x="37" y="42"/>
                  <a:pt x="29" y="33"/>
                </a:cubicBezTo>
                <a:close/>
              </a:path>
            </a:pathLst>
          </a:custGeom>
          <a:solidFill>
            <a:srgbClr val="FF6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773" name="Freeform 21"/>
          <p:cNvSpPr>
            <a:spLocks/>
          </p:cNvSpPr>
          <p:nvPr/>
        </p:nvSpPr>
        <p:spPr bwMode="auto">
          <a:xfrm>
            <a:off x="5257800" y="4114800"/>
            <a:ext cx="990600" cy="685800"/>
          </a:xfrm>
          <a:custGeom>
            <a:avLst/>
            <a:gdLst>
              <a:gd name="T0" fmla="*/ 0 w 248"/>
              <a:gd name="T1" fmla="*/ 207 h 207"/>
              <a:gd name="T2" fmla="*/ 138 w 248"/>
              <a:gd name="T3" fmla="*/ 207 h 207"/>
              <a:gd name="T4" fmla="*/ 248 w 248"/>
              <a:gd name="T5" fmla="*/ 97 h 207"/>
              <a:gd name="T6" fmla="*/ 248 w 248"/>
              <a:gd name="T7" fmla="*/ 0 h 207"/>
            </a:gdLst>
            <a:ahLst/>
            <a:cxnLst>
              <a:cxn ang="0">
                <a:pos x="T0" y="T1"/>
              </a:cxn>
              <a:cxn ang="0">
                <a:pos x="T2" y="T3"/>
              </a:cxn>
              <a:cxn ang="0">
                <a:pos x="T4" y="T5"/>
              </a:cxn>
              <a:cxn ang="0">
                <a:pos x="T6" y="T7"/>
              </a:cxn>
            </a:cxnLst>
            <a:rect l="0" t="0" r="r" b="b"/>
            <a:pathLst>
              <a:path w="248" h="207">
                <a:moveTo>
                  <a:pt x="0" y="207"/>
                </a:moveTo>
                <a:cubicBezTo>
                  <a:pt x="138" y="207"/>
                  <a:pt x="138" y="207"/>
                  <a:pt x="138" y="207"/>
                </a:cubicBezTo>
                <a:cubicBezTo>
                  <a:pt x="198" y="207"/>
                  <a:pt x="248" y="158"/>
                  <a:pt x="248" y="97"/>
                </a:cubicBezTo>
                <a:cubicBezTo>
                  <a:pt x="248" y="0"/>
                  <a:pt x="248" y="0"/>
                  <a:pt x="248" y="0"/>
                </a:cubicBezTo>
              </a:path>
            </a:pathLst>
          </a:custGeom>
          <a:noFill/>
          <a:ln w="90551" cap="flat">
            <a:solidFill>
              <a:srgbClr val="FF66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84" name="Rectangle 32"/>
          <p:cNvSpPr>
            <a:spLocks noChangeArrowheads="1"/>
          </p:cNvSpPr>
          <p:nvPr/>
        </p:nvSpPr>
        <p:spPr bwMode="auto">
          <a:xfrm>
            <a:off x="7315200" y="3048000"/>
            <a:ext cx="1600200" cy="715089"/>
          </a:xfrm>
          <a:prstGeom prst="roundRect">
            <a:avLst/>
          </a:prstGeom>
          <a:solidFill>
            <a:schemeClr val="bg1"/>
          </a:solidFill>
          <a:ln w="76200">
            <a:solidFill>
              <a:schemeClr val="accent1">
                <a:lumMod val="40000"/>
                <a:lumOff val="60000"/>
              </a:schemeClr>
            </a:solidFill>
          </a:ln>
          <a:effectLst>
            <a:outerShdw blurRad="76200" dist="38100" dir="7800000" algn="tl" rotWithShape="0">
              <a:srgbClr val="000000">
                <a:alpha val="40000"/>
              </a:srgbClr>
            </a:outerShdw>
          </a:effectLst>
        </p:spPr>
        <p:txBody>
          <a:bodyPr wrap="square" lIns="0" tIns="0" rIns="0" bIns="0">
            <a:spAutoFit/>
          </a:bodyPr>
          <a:lstStyle/>
          <a:p>
            <a:pPr algn="ctr">
              <a:lnSpc>
                <a:spcPct val="100000"/>
              </a:lnSpc>
              <a:spcBef>
                <a:spcPct val="0"/>
              </a:spcBef>
              <a:buClrTx/>
              <a:buSzTx/>
              <a:buFontTx/>
              <a:buNone/>
            </a:pPr>
            <a:endParaRPr lang="en-US" sz="1400" dirty="0">
              <a:solidFill>
                <a:srgbClr val="000000"/>
              </a:solidFill>
              <a:latin typeface="Century Gothic"/>
              <a:cs typeface="Century Gothic"/>
            </a:endParaRPr>
          </a:p>
          <a:p>
            <a:pPr algn="ctr">
              <a:lnSpc>
                <a:spcPct val="100000"/>
              </a:lnSpc>
              <a:spcBef>
                <a:spcPct val="0"/>
              </a:spcBef>
              <a:buClrTx/>
              <a:buSzTx/>
              <a:buFontTx/>
              <a:buNone/>
            </a:pPr>
            <a:r>
              <a:rPr lang="en-US" sz="1400" dirty="0">
                <a:solidFill>
                  <a:srgbClr val="000000"/>
                </a:solidFill>
                <a:latin typeface="Century Gothic"/>
                <a:cs typeface="Century Gothic"/>
              </a:rPr>
              <a:t>Financial markets</a:t>
            </a:r>
          </a:p>
          <a:p>
            <a:pPr algn="ctr">
              <a:lnSpc>
                <a:spcPct val="100000"/>
              </a:lnSpc>
              <a:spcBef>
                <a:spcPct val="0"/>
              </a:spcBef>
              <a:buClrTx/>
              <a:buSzTx/>
              <a:buFontTx/>
              <a:buNone/>
            </a:pPr>
            <a:endParaRPr lang="en-US" sz="1400" dirty="0">
              <a:solidFill>
                <a:srgbClr val="000000"/>
              </a:solidFill>
              <a:latin typeface="Century Gothic"/>
              <a:cs typeface="Century Gothic"/>
            </a:endParaRPr>
          </a:p>
        </p:txBody>
      </p:sp>
      <p:sp>
        <p:nvSpPr>
          <p:cNvPr id="330797" name="Freeform 45"/>
          <p:cNvSpPr>
            <a:spLocks/>
          </p:cNvSpPr>
          <p:nvPr/>
        </p:nvSpPr>
        <p:spPr bwMode="auto">
          <a:xfrm flipH="1">
            <a:off x="5486400" y="2514600"/>
            <a:ext cx="838200" cy="609600"/>
          </a:xfrm>
          <a:custGeom>
            <a:avLst/>
            <a:gdLst>
              <a:gd name="T0" fmla="*/ 248 w 248"/>
              <a:gd name="T1" fmla="*/ 0 h 199"/>
              <a:gd name="T2" fmla="*/ 110 w 248"/>
              <a:gd name="T3" fmla="*/ 0 h 199"/>
              <a:gd name="T4" fmla="*/ 0 w 248"/>
              <a:gd name="T5" fmla="*/ 110 h 199"/>
              <a:gd name="T6" fmla="*/ 0 w 248"/>
              <a:gd name="T7" fmla="*/ 199 h 199"/>
            </a:gdLst>
            <a:ahLst/>
            <a:cxnLst>
              <a:cxn ang="0">
                <a:pos x="T0" y="T1"/>
              </a:cxn>
              <a:cxn ang="0">
                <a:pos x="T2" y="T3"/>
              </a:cxn>
              <a:cxn ang="0">
                <a:pos x="T4" y="T5"/>
              </a:cxn>
              <a:cxn ang="0">
                <a:pos x="T6" y="T7"/>
              </a:cxn>
            </a:cxnLst>
            <a:rect l="0" t="0" r="r" b="b"/>
            <a:pathLst>
              <a:path w="248" h="199">
                <a:moveTo>
                  <a:pt x="248" y="0"/>
                </a:moveTo>
                <a:cubicBezTo>
                  <a:pt x="110" y="0"/>
                  <a:pt x="110" y="0"/>
                  <a:pt x="110" y="0"/>
                </a:cubicBezTo>
                <a:cubicBezTo>
                  <a:pt x="50" y="0"/>
                  <a:pt x="0" y="49"/>
                  <a:pt x="0" y="110"/>
                </a:cubicBezTo>
                <a:cubicBezTo>
                  <a:pt x="0" y="199"/>
                  <a:pt x="0" y="199"/>
                  <a:pt x="0" y="199"/>
                </a:cubicBezTo>
              </a:path>
            </a:pathLst>
          </a:custGeom>
          <a:noFill/>
          <a:ln w="90488" cap="flat">
            <a:solidFill>
              <a:srgbClr val="0070C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798" name="Freeform 46"/>
          <p:cNvSpPr>
            <a:spLocks/>
          </p:cNvSpPr>
          <p:nvPr/>
        </p:nvSpPr>
        <p:spPr bwMode="auto">
          <a:xfrm flipH="1" flipV="1">
            <a:off x="5291668" y="2379134"/>
            <a:ext cx="284163" cy="255588"/>
          </a:xfrm>
          <a:custGeom>
            <a:avLst/>
            <a:gdLst>
              <a:gd name="T0" fmla="*/ 12 w 41"/>
              <a:gd name="T1" fmla="*/ 34 h 67"/>
              <a:gd name="T2" fmla="*/ 0 w 41"/>
              <a:gd name="T3" fmla="*/ 67 h 67"/>
              <a:gd name="T4" fmla="*/ 41 w 41"/>
              <a:gd name="T5" fmla="*/ 34 h 67"/>
              <a:gd name="T6" fmla="*/ 0 w 41"/>
              <a:gd name="T7" fmla="*/ 0 h 67"/>
              <a:gd name="T8" fmla="*/ 12 w 41"/>
              <a:gd name="T9" fmla="*/ 34 h 67"/>
            </a:gdLst>
            <a:ahLst/>
            <a:cxnLst>
              <a:cxn ang="0">
                <a:pos x="T0" y="T1"/>
              </a:cxn>
              <a:cxn ang="0">
                <a:pos x="T2" y="T3"/>
              </a:cxn>
              <a:cxn ang="0">
                <a:pos x="T4" y="T5"/>
              </a:cxn>
              <a:cxn ang="0">
                <a:pos x="T6" y="T7"/>
              </a:cxn>
              <a:cxn ang="0">
                <a:pos x="T8" y="T9"/>
              </a:cxn>
            </a:cxnLst>
            <a:rect l="0" t="0" r="r" b="b"/>
            <a:pathLst>
              <a:path w="41" h="67">
                <a:moveTo>
                  <a:pt x="12" y="34"/>
                </a:moveTo>
                <a:cubicBezTo>
                  <a:pt x="4" y="41"/>
                  <a:pt x="0" y="57"/>
                  <a:pt x="0" y="67"/>
                </a:cubicBezTo>
                <a:cubicBezTo>
                  <a:pt x="11" y="53"/>
                  <a:pt x="24" y="41"/>
                  <a:pt x="41" y="34"/>
                </a:cubicBezTo>
                <a:cubicBezTo>
                  <a:pt x="24" y="27"/>
                  <a:pt x="11" y="14"/>
                  <a:pt x="0" y="0"/>
                </a:cubicBezTo>
                <a:cubicBezTo>
                  <a:pt x="1" y="11"/>
                  <a:pt x="4" y="25"/>
                  <a:pt x="12" y="34"/>
                </a:cubicBezTo>
                <a:close/>
              </a:path>
            </a:pathLst>
          </a:custGeom>
          <a:solidFill>
            <a:srgbClr val="0070C0"/>
          </a:solidFill>
          <a:ln w="9525">
            <a:noFill/>
            <a:round/>
            <a:headEnd/>
            <a:tailEnd/>
          </a:ln>
        </p:spPr>
        <p:txBody>
          <a:bodyPr/>
          <a:lstStyle/>
          <a:p>
            <a:endParaRPr lang="en-US" dirty="0">
              <a:latin typeface="Century Gothic"/>
              <a:cs typeface="Century Gothic"/>
            </a:endParaRPr>
          </a:p>
        </p:txBody>
      </p:sp>
      <p:sp>
        <p:nvSpPr>
          <p:cNvPr id="330799" name="Freeform 47"/>
          <p:cNvSpPr>
            <a:spLocks/>
          </p:cNvSpPr>
          <p:nvPr/>
        </p:nvSpPr>
        <p:spPr bwMode="auto">
          <a:xfrm>
            <a:off x="936625" y="4094162"/>
            <a:ext cx="2720975" cy="1849438"/>
          </a:xfrm>
          <a:custGeom>
            <a:avLst/>
            <a:gdLst>
              <a:gd name="T0" fmla="*/ 0 w 286"/>
              <a:gd name="T1" fmla="*/ 0 h 179"/>
              <a:gd name="T2" fmla="*/ 0 w 286"/>
              <a:gd name="T3" fmla="*/ 69 h 179"/>
              <a:gd name="T4" fmla="*/ 110 w 286"/>
              <a:gd name="T5" fmla="*/ 179 h 179"/>
              <a:gd name="T6" fmla="*/ 286 w 286"/>
              <a:gd name="T7" fmla="*/ 179 h 179"/>
            </a:gdLst>
            <a:ahLst/>
            <a:cxnLst>
              <a:cxn ang="0">
                <a:pos x="T0" y="T1"/>
              </a:cxn>
              <a:cxn ang="0">
                <a:pos x="T2" y="T3"/>
              </a:cxn>
              <a:cxn ang="0">
                <a:pos x="T4" y="T5"/>
              </a:cxn>
              <a:cxn ang="0">
                <a:pos x="T6" y="T7"/>
              </a:cxn>
            </a:cxnLst>
            <a:rect l="0" t="0" r="r" b="b"/>
            <a:pathLst>
              <a:path w="286" h="179">
                <a:moveTo>
                  <a:pt x="0" y="0"/>
                </a:moveTo>
                <a:cubicBezTo>
                  <a:pt x="0" y="69"/>
                  <a:pt x="0" y="69"/>
                  <a:pt x="0" y="69"/>
                </a:cubicBezTo>
                <a:cubicBezTo>
                  <a:pt x="0" y="130"/>
                  <a:pt x="50" y="179"/>
                  <a:pt x="110" y="179"/>
                </a:cubicBezTo>
                <a:cubicBezTo>
                  <a:pt x="286" y="179"/>
                  <a:pt x="286" y="179"/>
                  <a:pt x="286" y="179"/>
                </a:cubicBezTo>
              </a:path>
            </a:pathLst>
          </a:custGeom>
          <a:noFill/>
          <a:ln w="90551" cap="flat">
            <a:solidFill>
              <a:srgbClr val="CC006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800" name="Freeform 48"/>
          <p:cNvSpPr>
            <a:spLocks/>
          </p:cNvSpPr>
          <p:nvPr/>
        </p:nvSpPr>
        <p:spPr bwMode="auto">
          <a:xfrm>
            <a:off x="704319" y="3886200"/>
            <a:ext cx="481013" cy="304800"/>
          </a:xfrm>
          <a:custGeom>
            <a:avLst/>
            <a:gdLst>
              <a:gd name="T0" fmla="*/ 33 w 67"/>
              <a:gd name="T1" fmla="*/ 29 h 41"/>
              <a:gd name="T2" fmla="*/ 67 w 67"/>
              <a:gd name="T3" fmla="*/ 41 h 41"/>
              <a:gd name="T4" fmla="*/ 33 w 67"/>
              <a:gd name="T5" fmla="*/ 0 h 41"/>
              <a:gd name="T6" fmla="*/ 0 w 67"/>
              <a:gd name="T7" fmla="*/ 41 h 41"/>
              <a:gd name="T8" fmla="*/ 33 w 67"/>
              <a:gd name="T9" fmla="*/ 29 h 41"/>
            </a:gdLst>
            <a:ahLst/>
            <a:cxnLst>
              <a:cxn ang="0">
                <a:pos x="T0" y="T1"/>
              </a:cxn>
              <a:cxn ang="0">
                <a:pos x="T2" y="T3"/>
              </a:cxn>
              <a:cxn ang="0">
                <a:pos x="T4" y="T5"/>
              </a:cxn>
              <a:cxn ang="0">
                <a:pos x="T6" y="T7"/>
              </a:cxn>
              <a:cxn ang="0">
                <a:pos x="T8" y="T9"/>
              </a:cxn>
            </a:cxnLst>
            <a:rect l="0" t="0" r="r" b="b"/>
            <a:pathLst>
              <a:path w="67" h="41">
                <a:moveTo>
                  <a:pt x="33" y="29"/>
                </a:moveTo>
                <a:cubicBezTo>
                  <a:pt x="41" y="37"/>
                  <a:pt x="56" y="40"/>
                  <a:pt x="67" y="41"/>
                </a:cubicBezTo>
                <a:cubicBezTo>
                  <a:pt x="52" y="30"/>
                  <a:pt x="40" y="16"/>
                  <a:pt x="33" y="0"/>
                </a:cubicBezTo>
                <a:cubicBezTo>
                  <a:pt x="26" y="16"/>
                  <a:pt x="13" y="30"/>
                  <a:pt x="0" y="41"/>
                </a:cubicBezTo>
                <a:cubicBezTo>
                  <a:pt x="11" y="40"/>
                  <a:pt x="25" y="37"/>
                  <a:pt x="33" y="29"/>
                </a:cubicBezTo>
                <a:close/>
              </a:path>
            </a:pathLst>
          </a:custGeom>
          <a:solidFill>
            <a:srgbClr val="CC00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801" name="Freeform 49"/>
          <p:cNvSpPr>
            <a:spLocks/>
          </p:cNvSpPr>
          <p:nvPr/>
        </p:nvSpPr>
        <p:spPr bwMode="auto">
          <a:xfrm>
            <a:off x="5334000" y="3810000"/>
            <a:ext cx="2895600" cy="2209800"/>
          </a:xfrm>
          <a:custGeom>
            <a:avLst/>
            <a:gdLst>
              <a:gd name="T0" fmla="*/ 0 w 248"/>
              <a:gd name="T1" fmla="*/ 207 h 207"/>
              <a:gd name="T2" fmla="*/ 138 w 248"/>
              <a:gd name="T3" fmla="*/ 207 h 207"/>
              <a:gd name="T4" fmla="*/ 248 w 248"/>
              <a:gd name="T5" fmla="*/ 97 h 207"/>
              <a:gd name="T6" fmla="*/ 248 w 248"/>
              <a:gd name="T7" fmla="*/ 0 h 207"/>
            </a:gdLst>
            <a:ahLst/>
            <a:cxnLst>
              <a:cxn ang="0">
                <a:pos x="T0" y="T1"/>
              </a:cxn>
              <a:cxn ang="0">
                <a:pos x="T2" y="T3"/>
              </a:cxn>
              <a:cxn ang="0">
                <a:pos x="T4" y="T5"/>
              </a:cxn>
              <a:cxn ang="0">
                <a:pos x="T6" y="T7"/>
              </a:cxn>
            </a:cxnLst>
            <a:rect l="0" t="0" r="r" b="b"/>
            <a:pathLst>
              <a:path w="248" h="207">
                <a:moveTo>
                  <a:pt x="0" y="207"/>
                </a:moveTo>
                <a:cubicBezTo>
                  <a:pt x="138" y="207"/>
                  <a:pt x="138" y="207"/>
                  <a:pt x="138" y="207"/>
                </a:cubicBezTo>
                <a:cubicBezTo>
                  <a:pt x="198" y="207"/>
                  <a:pt x="248" y="158"/>
                  <a:pt x="248" y="97"/>
                </a:cubicBezTo>
                <a:cubicBezTo>
                  <a:pt x="248" y="0"/>
                  <a:pt x="248" y="0"/>
                  <a:pt x="248" y="0"/>
                </a:cubicBezTo>
              </a:path>
            </a:pathLst>
          </a:custGeom>
          <a:noFill/>
          <a:ln w="90551" cap="flat">
            <a:solidFill>
              <a:srgbClr val="CC006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802" name="Freeform 50"/>
          <p:cNvSpPr>
            <a:spLocks/>
          </p:cNvSpPr>
          <p:nvPr/>
        </p:nvSpPr>
        <p:spPr bwMode="auto">
          <a:xfrm>
            <a:off x="5181600" y="5808134"/>
            <a:ext cx="249238" cy="406400"/>
          </a:xfrm>
          <a:custGeom>
            <a:avLst/>
            <a:gdLst>
              <a:gd name="T0" fmla="*/ 29 w 41"/>
              <a:gd name="T1" fmla="*/ 33 h 67"/>
              <a:gd name="T2" fmla="*/ 41 w 41"/>
              <a:gd name="T3" fmla="*/ 0 h 67"/>
              <a:gd name="T4" fmla="*/ 0 w 41"/>
              <a:gd name="T5" fmla="*/ 33 h 67"/>
              <a:gd name="T6" fmla="*/ 41 w 41"/>
              <a:gd name="T7" fmla="*/ 67 h 67"/>
              <a:gd name="T8" fmla="*/ 29 w 41"/>
              <a:gd name="T9" fmla="*/ 33 h 67"/>
            </a:gdLst>
            <a:ahLst/>
            <a:cxnLst>
              <a:cxn ang="0">
                <a:pos x="T0" y="T1"/>
              </a:cxn>
              <a:cxn ang="0">
                <a:pos x="T2" y="T3"/>
              </a:cxn>
              <a:cxn ang="0">
                <a:pos x="T4" y="T5"/>
              </a:cxn>
              <a:cxn ang="0">
                <a:pos x="T6" y="T7"/>
              </a:cxn>
              <a:cxn ang="0">
                <a:pos x="T8" y="T9"/>
              </a:cxn>
            </a:cxnLst>
            <a:rect l="0" t="0" r="r" b="b"/>
            <a:pathLst>
              <a:path w="41" h="67">
                <a:moveTo>
                  <a:pt x="29" y="33"/>
                </a:moveTo>
                <a:cubicBezTo>
                  <a:pt x="37" y="26"/>
                  <a:pt x="41" y="10"/>
                  <a:pt x="41" y="0"/>
                </a:cubicBezTo>
                <a:cubicBezTo>
                  <a:pt x="30" y="14"/>
                  <a:pt x="17" y="26"/>
                  <a:pt x="0" y="33"/>
                </a:cubicBezTo>
                <a:cubicBezTo>
                  <a:pt x="17" y="40"/>
                  <a:pt x="30" y="53"/>
                  <a:pt x="41" y="67"/>
                </a:cubicBezTo>
                <a:cubicBezTo>
                  <a:pt x="40" y="55"/>
                  <a:pt x="37" y="42"/>
                  <a:pt x="29" y="33"/>
                </a:cubicBezTo>
                <a:close/>
              </a:path>
            </a:pathLst>
          </a:custGeom>
          <a:solidFill>
            <a:srgbClr val="CC00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803" name="Freeform 51"/>
          <p:cNvSpPr>
            <a:spLocks/>
          </p:cNvSpPr>
          <p:nvPr/>
        </p:nvSpPr>
        <p:spPr bwMode="auto">
          <a:xfrm>
            <a:off x="5334000" y="3810000"/>
            <a:ext cx="2282825" cy="1392238"/>
          </a:xfrm>
          <a:custGeom>
            <a:avLst/>
            <a:gdLst>
              <a:gd name="T0" fmla="*/ 0 w 248"/>
              <a:gd name="T1" fmla="*/ 207 h 207"/>
              <a:gd name="T2" fmla="*/ 138 w 248"/>
              <a:gd name="T3" fmla="*/ 207 h 207"/>
              <a:gd name="T4" fmla="*/ 248 w 248"/>
              <a:gd name="T5" fmla="*/ 97 h 207"/>
              <a:gd name="T6" fmla="*/ 248 w 248"/>
              <a:gd name="T7" fmla="*/ 0 h 207"/>
            </a:gdLst>
            <a:ahLst/>
            <a:cxnLst>
              <a:cxn ang="0">
                <a:pos x="T0" y="T1"/>
              </a:cxn>
              <a:cxn ang="0">
                <a:pos x="T2" y="T3"/>
              </a:cxn>
              <a:cxn ang="0">
                <a:pos x="T4" y="T5"/>
              </a:cxn>
              <a:cxn ang="0">
                <a:pos x="T6" y="T7"/>
              </a:cxn>
            </a:cxnLst>
            <a:rect l="0" t="0" r="r" b="b"/>
            <a:pathLst>
              <a:path w="248" h="207">
                <a:moveTo>
                  <a:pt x="0" y="207"/>
                </a:moveTo>
                <a:cubicBezTo>
                  <a:pt x="138" y="207"/>
                  <a:pt x="138" y="207"/>
                  <a:pt x="138" y="207"/>
                </a:cubicBezTo>
                <a:cubicBezTo>
                  <a:pt x="198" y="207"/>
                  <a:pt x="248" y="158"/>
                  <a:pt x="248" y="97"/>
                </a:cubicBezTo>
                <a:cubicBezTo>
                  <a:pt x="248" y="0"/>
                  <a:pt x="248" y="0"/>
                  <a:pt x="248" y="0"/>
                </a:cubicBezTo>
              </a:path>
            </a:pathLst>
          </a:custGeom>
          <a:noFill/>
          <a:ln w="90551" cap="flat">
            <a:solidFill>
              <a:srgbClr val="FF66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804" name="Freeform 52"/>
          <p:cNvSpPr>
            <a:spLocks/>
          </p:cNvSpPr>
          <p:nvPr/>
        </p:nvSpPr>
        <p:spPr bwMode="auto">
          <a:xfrm rot="16200000" flipH="1" flipV="1">
            <a:off x="6100232" y="3915834"/>
            <a:ext cx="304800" cy="533400"/>
          </a:xfrm>
          <a:custGeom>
            <a:avLst/>
            <a:gdLst>
              <a:gd name="T0" fmla="*/ 29 w 41"/>
              <a:gd name="T1" fmla="*/ 33 h 67"/>
              <a:gd name="T2" fmla="*/ 41 w 41"/>
              <a:gd name="T3" fmla="*/ 0 h 67"/>
              <a:gd name="T4" fmla="*/ 0 w 41"/>
              <a:gd name="T5" fmla="*/ 33 h 67"/>
              <a:gd name="T6" fmla="*/ 41 w 41"/>
              <a:gd name="T7" fmla="*/ 67 h 67"/>
              <a:gd name="T8" fmla="*/ 29 w 41"/>
              <a:gd name="T9" fmla="*/ 33 h 67"/>
            </a:gdLst>
            <a:ahLst/>
            <a:cxnLst>
              <a:cxn ang="0">
                <a:pos x="T0" y="T1"/>
              </a:cxn>
              <a:cxn ang="0">
                <a:pos x="T2" y="T3"/>
              </a:cxn>
              <a:cxn ang="0">
                <a:pos x="T4" y="T5"/>
              </a:cxn>
              <a:cxn ang="0">
                <a:pos x="T6" y="T7"/>
              </a:cxn>
              <a:cxn ang="0">
                <a:pos x="T8" y="T9"/>
              </a:cxn>
            </a:cxnLst>
            <a:rect l="0" t="0" r="r" b="b"/>
            <a:pathLst>
              <a:path w="41" h="67">
                <a:moveTo>
                  <a:pt x="29" y="33"/>
                </a:moveTo>
                <a:cubicBezTo>
                  <a:pt x="37" y="26"/>
                  <a:pt x="41" y="10"/>
                  <a:pt x="41" y="0"/>
                </a:cubicBezTo>
                <a:cubicBezTo>
                  <a:pt x="30" y="14"/>
                  <a:pt x="17" y="26"/>
                  <a:pt x="0" y="33"/>
                </a:cubicBezTo>
                <a:cubicBezTo>
                  <a:pt x="17" y="40"/>
                  <a:pt x="30" y="53"/>
                  <a:pt x="41" y="67"/>
                </a:cubicBezTo>
                <a:cubicBezTo>
                  <a:pt x="40" y="55"/>
                  <a:pt x="37" y="42"/>
                  <a:pt x="29" y="33"/>
                </a:cubicBezTo>
                <a:close/>
              </a:path>
            </a:pathLst>
          </a:custGeom>
          <a:solidFill>
            <a:srgbClr val="FF6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805" name="Freeform 53"/>
          <p:cNvSpPr>
            <a:spLocks/>
          </p:cNvSpPr>
          <p:nvPr/>
        </p:nvSpPr>
        <p:spPr bwMode="auto">
          <a:xfrm>
            <a:off x="1701801" y="3810000"/>
            <a:ext cx="1752600" cy="1066800"/>
          </a:xfrm>
          <a:custGeom>
            <a:avLst/>
            <a:gdLst>
              <a:gd name="T0" fmla="*/ 0 w 286"/>
              <a:gd name="T1" fmla="*/ 0 h 179"/>
              <a:gd name="T2" fmla="*/ 0 w 286"/>
              <a:gd name="T3" fmla="*/ 69 h 179"/>
              <a:gd name="T4" fmla="*/ 110 w 286"/>
              <a:gd name="T5" fmla="*/ 179 h 179"/>
              <a:gd name="T6" fmla="*/ 286 w 286"/>
              <a:gd name="T7" fmla="*/ 179 h 179"/>
            </a:gdLst>
            <a:ahLst/>
            <a:cxnLst>
              <a:cxn ang="0">
                <a:pos x="T0" y="T1"/>
              </a:cxn>
              <a:cxn ang="0">
                <a:pos x="T2" y="T3"/>
              </a:cxn>
              <a:cxn ang="0">
                <a:pos x="T4" y="T5"/>
              </a:cxn>
              <a:cxn ang="0">
                <a:pos x="T6" y="T7"/>
              </a:cxn>
            </a:cxnLst>
            <a:rect l="0" t="0" r="r" b="b"/>
            <a:pathLst>
              <a:path w="286" h="179">
                <a:moveTo>
                  <a:pt x="0" y="0"/>
                </a:moveTo>
                <a:cubicBezTo>
                  <a:pt x="0" y="69"/>
                  <a:pt x="0" y="69"/>
                  <a:pt x="0" y="69"/>
                </a:cubicBezTo>
                <a:cubicBezTo>
                  <a:pt x="0" y="130"/>
                  <a:pt x="50" y="179"/>
                  <a:pt x="110" y="179"/>
                </a:cubicBezTo>
                <a:cubicBezTo>
                  <a:pt x="286" y="179"/>
                  <a:pt x="286" y="179"/>
                  <a:pt x="286" y="179"/>
                </a:cubicBezTo>
              </a:path>
            </a:pathLst>
          </a:custGeom>
          <a:noFill/>
          <a:ln w="90551"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Century Gothic"/>
              <a:cs typeface="Century Gothic"/>
            </a:endParaRPr>
          </a:p>
        </p:txBody>
      </p:sp>
      <p:sp>
        <p:nvSpPr>
          <p:cNvPr id="330806" name="Freeform 54"/>
          <p:cNvSpPr>
            <a:spLocks/>
          </p:cNvSpPr>
          <p:nvPr/>
        </p:nvSpPr>
        <p:spPr bwMode="auto">
          <a:xfrm>
            <a:off x="3378201" y="4673601"/>
            <a:ext cx="249238" cy="404813"/>
          </a:xfrm>
          <a:custGeom>
            <a:avLst/>
            <a:gdLst>
              <a:gd name="T0" fmla="*/ 12 w 41"/>
              <a:gd name="T1" fmla="*/ 33 h 67"/>
              <a:gd name="T2" fmla="*/ 0 w 41"/>
              <a:gd name="T3" fmla="*/ 0 h 67"/>
              <a:gd name="T4" fmla="*/ 41 w 41"/>
              <a:gd name="T5" fmla="*/ 33 h 67"/>
              <a:gd name="T6" fmla="*/ 0 w 41"/>
              <a:gd name="T7" fmla="*/ 67 h 67"/>
              <a:gd name="T8" fmla="*/ 12 w 41"/>
              <a:gd name="T9" fmla="*/ 33 h 67"/>
            </a:gdLst>
            <a:ahLst/>
            <a:cxnLst>
              <a:cxn ang="0">
                <a:pos x="T0" y="T1"/>
              </a:cxn>
              <a:cxn ang="0">
                <a:pos x="T2" y="T3"/>
              </a:cxn>
              <a:cxn ang="0">
                <a:pos x="T4" y="T5"/>
              </a:cxn>
              <a:cxn ang="0">
                <a:pos x="T6" y="T7"/>
              </a:cxn>
              <a:cxn ang="0">
                <a:pos x="T8" y="T9"/>
              </a:cxn>
            </a:cxnLst>
            <a:rect l="0" t="0" r="r" b="b"/>
            <a:pathLst>
              <a:path w="41" h="67">
                <a:moveTo>
                  <a:pt x="12" y="33"/>
                </a:moveTo>
                <a:cubicBezTo>
                  <a:pt x="4" y="26"/>
                  <a:pt x="1" y="10"/>
                  <a:pt x="0" y="0"/>
                </a:cubicBezTo>
                <a:cubicBezTo>
                  <a:pt x="11" y="14"/>
                  <a:pt x="25" y="26"/>
                  <a:pt x="41" y="33"/>
                </a:cubicBezTo>
                <a:cubicBezTo>
                  <a:pt x="25" y="40"/>
                  <a:pt x="11" y="53"/>
                  <a:pt x="0" y="67"/>
                </a:cubicBezTo>
                <a:cubicBezTo>
                  <a:pt x="1" y="55"/>
                  <a:pt x="4" y="42"/>
                  <a:pt x="12" y="3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30807" name="Freeform 55"/>
          <p:cNvSpPr>
            <a:spLocks/>
          </p:cNvSpPr>
          <p:nvPr/>
        </p:nvSpPr>
        <p:spPr bwMode="auto">
          <a:xfrm rot="16200000" flipV="1">
            <a:off x="4076700" y="1562100"/>
            <a:ext cx="228600" cy="304800"/>
          </a:xfrm>
          <a:custGeom>
            <a:avLst/>
            <a:gdLst>
              <a:gd name="T0" fmla="*/ 12 w 41"/>
              <a:gd name="T1" fmla="*/ 34 h 67"/>
              <a:gd name="T2" fmla="*/ 0 w 41"/>
              <a:gd name="T3" fmla="*/ 67 h 67"/>
              <a:gd name="T4" fmla="*/ 41 w 41"/>
              <a:gd name="T5" fmla="*/ 34 h 67"/>
              <a:gd name="T6" fmla="*/ 0 w 41"/>
              <a:gd name="T7" fmla="*/ 0 h 67"/>
              <a:gd name="T8" fmla="*/ 12 w 41"/>
              <a:gd name="T9" fmla="*/ 34 h 67"/>
            </a:gdLst>
            <a:ahLst/>
            <a:cxnLst>
              <a:cxn ang="0">
                <a:pos x="T0" y="T1"/>
              </a:cxn>
              <a:cxn ang="0">
                <a:pos x="T2" y="T3"/>
              </a:cxn>
              <a:cxn ang="0">
                <a:pos x="T4" y="T5"/>
              </a:cxn>
              <a:cxn ang="0">
                <a:pos x="T6" y="T7"/>
              </a:cxn>
              <a:cxn ang="0">
                <a:pos x="T8" y="T9"/>
              </a:cxn>
            </a:cxnLst>
            <a:rect l="0" t="0" r="r" b="b"/>
            <a:pathLst>
              <a:path w="41" h="67">
                <a:moveTo>
                  <a:pt x="12" y="34"/>
                </a:moveTo>
                <a:cubicBezTo>
                  <a:pt x="4" y="41"/>
                  <a:pt x="0" y="57"/>
                  <a:pt x="0" y="67"/>
                </a:cubicBezTo>
                <a:cubicBezTo>
                  <a:pt x="11" y="53"/>
                  <a:pt x="24" y="41"/>
                  <a:pt x="41" y="34"/>
                </a:cubicBezTo>
                <a:cubicBezTo>
                  <a:pt x="24" y="27"/>
                  <a:pt x="11" y="14"/>
                  <a:pt x="0" y="0"/>
                </a:cubicBezTo>
                <a:cubicBezTo>
                  <a:pt x="1" y="11"/>
                  <a:pt x="4" y="25"/>
                  <a:pt x="12" y="34"/>
                </a:cubicBezTo>
                <a:close/>
              </a:path>
            </a:pathLst>
          </a:custGeom>
          <a:solidFill>
            <a:srgbClr val="0070C0"/>
          </a:solidFill>
          <a:ln w="9525">
            <a:noFill/>
            <a:round/>
            <a:headEnd/>
            <a:tailEnd/>
          </a:ln>
        </p:spPr>
        <p:txBody>
          <a:bodyPr/>
          <a:lstStyle/>
          <a:p>
            <a:endParaRPr lang="en-US" dirty="0">
              <a:latin typeface="Century Gothic"/>
              <a:cs typeface="Century Gothic"/>
            </a:endParaRPr>
          </a:p>
        </p:txBody>
      </p:sp>
      <p:sp>
        <p:nvSpPr>
          <p:cNvPr id="330808" name="Freeform 56"/>
          <p:cNvSpPr>
            <a:spLocks/>
          </p:cNvSpPr>
          <p:nvPr/>
        </p:nvSpPr>
        <p:spPr bwMode="auto">
          <a:xfrm rot="5400000" flipH="1" flipV="1">
            <a:off x="4523581" y="1801019"/>
            <a:ext cx="249238" cy="304800"/>
          </a:xfrm>
          <a:custGeom>
            <a:avLst/>
            <a:gdLst>
              <a:gd name="T0" fmla="*/ 29 w 41"/>
              <a:gd name="T1" fmla="*/ 34 h 67"/>
              <a:gd name="T2" fmla="*/ 41 w 41"/>
              <a:gd name="T3" fmla="*/ 67 h 67"/>
              <a:gd name="T4" fmla="*/ 0 w 41"/>
              <a:gd name="T5" fmla="*/ 34 h 67"/>
              <a:gd name="T6" fmla="*/ 41 w 41"/>
              <a:gd name="T7" fmla="*/ 0 h 67"/>
              <a:gd name="T8" fmla="*/ 29 w 41"/>
              <a:gd name="T9" fmla="*/ 34 h 67"/>
            </a:gdLst>
            <a:ahLst/>
            <a:cxnLst>
              <a:cxn ang="0">
                <a:pos x="T0" y="T1"/>
              </a:cxn>
              <a:cxn ang="0">
                <a:pos x="T2" y="T3"/>
              </a:cxn>
              <a:cxn ang="0">
                <a:pos x="T4" y="T5"/>
              </a:cxn>
              <a:cxn ang="0">
                <a:pos x="T6" y="T7"/>
              </a:cxn>
              <a:cxn ang="0">
                <a:pos x="T8" y="T9"/>
              </a:cxn>
            </a:cxnLst>
            <a:rect l="0" t="0" r="r" b="b"/>
            <a:pathLst>
              <a:path w="41" h="67">
                <a:moveTo>
                  <a:pt x="29" y="34"/>
                </a:moveTo>
                <a:cubicBezTo>
                  <a:pt x="37" y="41"/>
                  <a:pt x="40" y="57"/>
                  <a:pt x="41" y="67"/>
                </a:cubicBezTo>
                <a:cubicBezTo>
                  <a:pt x="30" y="53"/>
                  <a:pt x="16" y="41"/>
                  <a:pt x="0" y="34"/>
                </a:cubicBezTo>
                <a:cubicBezTo>
                  <a:pt x="16" y="27"/>
                  <a:pt x="30" y="14"/>
                  <a:pt x="41" y="0"/>
                </a:cubicBezTo>
                <a:cubicBezTo>
                  <a:pt x="40" y="11"/>
                  <a:pt x="37" y="25"/>
                  <a:pt x="29" y="34"/>
                </a:cubicBezTo>
                <a:close/>
              </a:path>
            </a:pathLst>
          </a:custGeom>
          <a:solidFill>
            <a:srgbClr val="008080"/>
          </a:solidFill>
          <a:ln w="9525">
            <a:noFill/>
            <a:round/>
            <a:headEnd/>
            <a:tailEnd/>
          </a:ln>
        </p:spPr>
        <p:txBody>
          <a:bodyPr/>
          <a:lstStyle/>
          <a:p>
            <a:endParaRPr lang="en-US" dirty="0">
              <a:latin typeface="Century Gothic"/>
              <a:cs typeface="Century Gothic"/>
            </a:endParaRPr>
          </a:p>
        </p:txBody>
      </p:sp>
      <p:sp>
        <p:nvSpPr>
          <p:cNvPr id="330810" name="Line 58"/>
          <p:cNvSpPr>
            <a:spLocks noChangeShapeType="1"/>
          </p:cNvSpPr>
          <p:nvPr/>
        </p:nvSpPr>
        <p:spPr bwMode="auto">
          <a:xfrm>
            <a:off x="4648200" y="1600200"/>
            <a:ext cx="0" cy="381000"/>
          </a:xfrm>
          <a:prstGeom prst="line">
            <a:avLst/>
          </a:prstGeom>
          <a:noFill/>
          <a:ln w="101600">
            <a:solidFill>
              <a:srgbClr val="00808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entury Gothic"/>
              <a:cs typeface="Century Gothic"/>
            </a:endParaRPr>
          </a:p>
        </p:txBody>
      </p:sp>
      <p:sp>
        <p:nvSpPr>
          <p:cNvPr id="330811" name="Line 59"/>
          <p:cNvSpPr>
            <a:spLocks noChangeShapeType="1"/>
          </p:cNvSpPr>
          <p:nvPr/>
        </p:nvSpPr>
        <p:spPr bwMode="auto">
          <a:xfrm>
            <a:off x="4191000" y="1752600"/>
            <a:ext cx="0" cy="304800"/>
          </a:xfrm>
          <a:prstGeom prst="line">
            <a:avLst/>
          </a:prstGeom>
          <a:noFill/>
          <a:ln w="101600">
            <a:solidFill>
              <a:srgbClr val="0070C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entury Gothic"/>
              <a:cs typeface="Century Gothic"/>
            </a:endParaRPr>
          </a:p>
        </p:txBody>
      </p:sp>
      <p:sp>
        <p:nvSpPr>
          <p:cNvPr id="330812" name="Rectangle 60"/>
          <p:cNvSpPr>
            <a:spLocks noChangeArrowheads="1"/>
          </p:cNvSpPr>
          <p:nvPr/>
        </p:nvSpPr>
        <p:spPr bwMode="auto">
          <a:xfrm>
            <a:off x="131762" y="927556"/>
            <a:ext cx="390683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Government purchases of goods and services</a:t>
            </a:r>
            <a:endParaRPr lang="en-US" sz="1400" dirty="0">
              <a:latin typeface="Century Gothic"/>
              <a:cs typeface="Century Gothic"/>
            </a:endParaRPr>
          </a:p>
        </p:txBody>
      </p:sp>
      <p:sp>
        <p:nvSpPr>
          <p:cNvPr id="330813" name="Rectangle 61"/>
          <p:cNvSpPr>
            <a:spLocks noChangeArrowheads="1"/>
          </p:cNvSpPr>
          <p:nvPr/>
        </p:nvSpPr>
        <p:spPr bwMode="auto">
          <a:xfrm>
            <a:off x="5867400" y="914400"/>
            <a:ext cx="20574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Government borrowing</a:t>
            </a:r>
            <a:endParaRPr lang="en-US" sz="1400" dirty="0">
              <a:latin typeface="Century Gothic"/>
              <a:cs typeface="Century Gothic"/>
            </a:endParaRPr>
          </a:p>
        </p:txBody>
      </p:sp>
      <p:sp>
        <p:nvSpPr>
          <p:cNvPr id="330815" name="Rectangle 63"/>
          <p:cNvSpPr>
            <a:spLocks noChangeArrowheads="1"/>
          </p:cNvSpPr>
          <p:nvPr/>
        </p:nvSpPr>
        <p:spPr bwMode="auto">
          <a:xfrm>
            <a:off x="5943600" y="2222956"/>
            <a:ext cx="144087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Private savings</a:t>
            </a:r>
            <a:endParaRPr lang="en-US" sz="1400" dirty="0">
              <a:latin typeface="Century Gothic"/>
              <a:cs typeface="Century Gothic"/>
            </a:endParaRPr>
          </a:p>
        </p:txBody>
      </p:sp>
      <p:sp>
        <p:nvSpPr>
          <p:cNvPr id="330814" name="Rectangle 62"/>
          <p:cNvSpPr>
            <a:spLocks noChangeArrowheads="1"/>
          </p:cNvSpPr>
          <p:nvPr/>
        </p:nvSpPr>
        <p:spPr bwMode="auto">
          <a:xfrm>
            <a:off x="4800600" y="1676400"/>
            <a:ext cx="20574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Government transfers</a:t>
            </a:r>
            <a:endParaRPr lang="en-US" sz="1400" dirty="0">
              <a:latin typeface="Century Gothic"/>
              <a:cs typeface="Century Gothic"/>
            </a:endParaRPr>
          </a:p>
        </p:txBody>
      </p:sp>
      <p:sp>
        <p:nvSpPr>
          <p:cNvPr id="330816" name="Rectangle 64"/>
          <p:cNvSpPr>
            <a:spLocks noChangeArrowheads="1"/>
          </p:cNvSpPr>
          <p:nvPr/>
        </p:nvSpPr>
        <p:spPr bwMode="auto">
          <a:xfrm>
            <a:off x="5105400" y="2667000"/>
            <a:ext cx="1377634" cy="430887"/>
          </a:xfrm>
          <a:prstGeom prst="rect">
            <a:avLst/>
          </a:prstGeom>
          <a:noFill/>
          <a:ln>
            <a:noFill/>
          </a:ln>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Wages, profit, </a:t>
            </a:r>
          </a:p>
          <a:p>
            <a:pPr>
              <a:lnSpc>
                <a:spcPct val="100000"/>
              </a:lnSpc>
              <a:spcBef>
                <a:spcPct val="0"/>
              </a:spcBef>
              <a:buClrTx/>
              <a:buSzTx/>
              <a:buFontTx/>
              <a:buNone/>
            </a:pPr>
            <a:r>
              <a:rPr lang="en-US" sz="1400" dirty="0">
                <a:solidFill>
                  <a:srgbClr val="000000"/>
                </a:solidFill>
                <a:latin typeface="Century Gothic"/>
                <a:cs typeface="Century Gothic"/>
              </a:rPr>
              <a:t>interest, rent</a:t>
            </a:r>
            <a:endParaRPr lang="en-US" sz="1400" dirty="0">
              <a:latin typeface="Century Gothic"/>
              <a:cs typeface="Century Gothic"/>
            </a:endParaRPr>
          </a:p>
        </p:txBody>
      </p:sp>
      <p:sp>
        <p:nvSpPr>
          <p:cNvPr id="330817" name="Rectangle 65"/>
          <p:cNvSpPr>
            <a:spLocks noChangeArrowheads="1"/>
          </p:cNvSpPr>
          <p:nvPr/>
        </p:nvSpPr>
        <p:spPr bwMode="auto">
          <a:xfrm>
            <a:off x="4953000" y="4191000"/>
            <a:ext cx="1295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Wages, profit, interest, rent</a:t>
            </a:r>
            <a:endParaRPr lang="en-US" sz="1400" dirty="0">
              <a:latin typeface="Century Gothic"/>
              <a:cs typeface="Century Gothic"/>
            </a:endParaRPr>
          </a:p>
        </p:txBody>
      </p:sp>
      <p:sp>
        <p:nvSpPr>
          <p:cNvPr id="330818" name="Rectangle 66"/>
          <p:cNvSpPr>
            <a:spLocks noChangeArrowheads="1"/>
          </p:cNvSpPr>
          <p:nvPr/>
        </p:nvSpPr>
        <p:spPr bwMode="auto">
          <a:xfrm>
            <a:off x="6400800" y="4267200"/>
            <a:ext cx="11430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Borrowing and stock issues by firms</a:t>
            </a:r>
            <a:endParaRPr lang="en-US" sz="1400" dirty="0">
              <a:latin typeface="Century Gothic"/>
              <a:cs typeface="Century Gothic"/>
            </a:endParaRPr>
          </a:p>
        </p:txBody>
      </p:sp>
      <p:sp>
        <p:nvSpPr>
          <p:cNvPr id="330819" name="Rectangle 67"/>
          <p:cNvSpPr>
            <a:spLocks noChangeArrowheads="1"/>
          </p:cNvSpPr>
          <p:nvPr/>
        </p:nvSpPr>
        <p:spPr bwMode="auto">
          <a:xfrm>
            <a:off x="5791200" y="5486400"/>
            <a:ext cx="1828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Foreign borrowing and sales of stock</a:t>
            </a:r>
            <a:endParaRPr lang="en-US" sz="1400" dirty="0">
              <a:latin typeface="Century Gothic"/>
              <a:cs typeface="Century Gothic"/>
            </a:endParaRPr>
          </a:p>
        </p:txBody>
      </p:sp>
      <p:sp>
        <p:nvSpPr>
          <p:cNvPr id="330820" name="Rectangle 68"/>
          <p:cNvSpPr>
            <a:spLocks noChangeArrowheads="1"/>
          </p:cNvSpPr>
          <p:nvPr/>
        </p:nvSpPr>
        <p:spPr bwMode="auto">
          <a:xfrm>
            <a:off x="5181600" y="6416675"/>
            <a:ext cx="35052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Foreign lending and purchases of stock</a:t>
            </a:r>
            <a:endParaRPr lang="en-US" sz="1400" dirty="0">
              <a:latin typeface="Century Gothic"/>
              <a:cs typeface="Century Gothic"/>
            </a:endParaRPr>
          </a:p>
        </p:txBody>
      </p:sp>
      <p:sp>
        <p:nvSpPr>
          <p:cNvPr id="330821" name="Rectangle 69"/>
          <p:cNvSpPr>
            <a:spLocks noChangeArrowheads="1"/>
          </p:cNvSpPr>
          <p:nvPr/>
        </p:nvSpPr>
        <p:spPr bwMode="auto">
          <a:xfrm>
            <a:off x="1998043" y="5668962"/>
            <a:ext cx="16764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Exports</a:t>
            </a:r>
            <a:endParaRPr lang="en-US" sz="1400" dirty="0">
              <a:latin typeface="Century Gothic"/>
              <a:cs typeface="Century Gothic"/>
            </a:endParaRPr>
          </a:p>
        </p:txBody>
      </p:sp>
      <p:sp>
        <p:nvSpPr>
          <p:cNvPr id="330822" name="Rectangle 70"/>
          <p:cNvSpPr>
            <a:spLocks noChangeArrowheads="1"/>
          </p:cNvSpPr>
          <p:nvPr/>
        </p:nvSpPr>
        <p:spPr bwMode="auto">
          <a:xfrm>
            <a:off x="1577977" y="6400800"/>
            <a:ext cx="16764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Imports</a:t>
            </a:r>
            <a:endParaRPr lang="en-US" sz="1400" dirty="0">
              <a:latin typeface="Century Gothic"/>
              <a:cs typeface="Century Gothic"/>
            </a:endParaRPr>
          </a:p>
        </p:txBody>
      </p:sp>
      <p:sp>
        <p:nvSpPr>
          <p:cNvPr id="330823" name="Rectangle 71"/>
          <p:cNvSpPr>
            <a:spLocks noChangeArrowheads="1"/>
          </p:cNvSpPr>
          <p:nvPr/>
        </p:nvSpPr>
        <p:spPr bwMode="auto">
          <a:xfrm>
            <a:off x="2438400" y="4495800"/>
            <a:ext cx="16764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GDP</a:t>
            </a:r>
            <a:endParaRPr lang="en-US" sz="1400" dirty="0">
              <a:latin typeface="Century Gothic"/>
              <a:cs typeface="Century Gothic"/>
            </a:endParaRPr>
          </a:p>
        </p:txBody>
      </p:sp>
      <p:sp>
        <p:nvSpPr>
          <p:cNvPr id="330824" name="Rectangle 72"/>
          <p:cNvSpPr>
            <a:spLocks noChangeArrowheads="1"/>
          </p:cNvSpPr>
          <p:nvPr/>
        </p:nvSpPr>
        <p:spPr bwMode="auto">
          <a:xfrm>
            <a:off x="3532981" y="1692275"/>
            <a:ext cx="58181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Taxes</a:t>
            </a:r>
            <a:endParaRPr lang="en-US" sz="1400" dirty="0">
              <a:latin typeface="Century Gothic"/>
              <a:cs typeface="Century Gothic"/>
            </a:endParaRPr>
          </a:p>
        </p:txBody>
      </p:sp>
      <p:sp>
        <p:nvSpPr>
          <p:cNvPr id="330825" name="Rectangle 73"/>
          <p:cNvSpPr>
            <a:spLocks noChangeArrowheads="1"/>
          </p:cNvSpPr>
          <p:nvPr/>
        </p:nvSpPr>
        <p:spPr bwMode="auto">
          <a:xfrm>
            <a:off x="1600200" y="2286000"/>
            <a:ext cx="1828800" cy="215444"/>
          </a:xfrm>
          <a:prstGeom prst="rect">
            <a:avLst/>
          </a:prstGeom>
          <a:noFill/>
          <a:ln>
            <a:noFill/>
          </a:ln>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Consumer spending</a:t>
            </a:r>
            <a:endParaRPr lang="en-US" sz="1400" dirty="0">
              <a:latin typeface="Century Gothic"/>
              <a:cs typeface="Century Gothic"/>
            </a:endParaRPr>
          </a:p>
        </p:txBody>
      </p:sp>
      <p:pic>
        <p:nvPicPr>
          <p:cNvPr id="5124"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757845" y="2080372"/>
            <a:ext cx="1301835" cy="662828"/>
          </a:xfrm>
          <a:prstGeom prst="roundRect">
            <a:avLst>
              <a:gd name="adj" fmla="val 16667"/>
            </a:avLst>
          </a:prstGeom>
          <a:ln w="76200">
            <a:solidFill>
              <a:schemeClr val="accent1">
                <a:lumMod val="40000"/>
                <a:lumOff val="60000"/>
              </a:schemeClr>
            </a:solidFill>
          </a:ln>
          <a:effectLst>
            <a:outerShdw blurRad="76200" dist="38100" dir="78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pic>
        <p:nvPicPr>
          <p:cNvPr id="5126" name="Picture 6"/>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886200" y="914400"/>
            <a:ext cx="1219200" cy="653840"/>
          </a:xfrm>
          <a:prstGeom prst="roundRect">
            <a:avLst>
              <a:gd name="adj" fmla="val 16667"/>
            </a:avLst>
          </a:prstGeom>
          <a:ln w="76200">
            <a:solidFill>
              <a:schemeClr val="accent1">
                <a:lumMod val="40000"/>
                <a:lumOff val="60000"/>
              </a:schemeClr>
            </a:solidFill>
          </a:ln>
          <a:effectLst>
            <a:outerShdw blurRad="76200" dist="38100" dir="78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pic>
        <p:nvPicPr>
          <p:cNvPr id="5127" name="Picture 7"/>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3733800" y="5830476"/>
            <a:ext cx="1325880" cy="706849"/>
          </a:xfrm>
          <a:prstGeom prst="roundRect">
            <a:avLst>
              <a:gd name="adj" fmla="val 16667"/>
            </a:avLst>
          </a:prstGeom>
          <a:ln w="76200">
            <a:solidFill>
              <a:schemeClr val="accent1">
                <a:lumMod val="40000"/>
                <a:lumOff val="60000"/>
              </a:schemeClr>
            </a:solidFill>
          </a:ln>
          <a:effectLst>
            <a:outerShdw blurRad="76200" dist="38100" dir="78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pic>
        <p:nvPicPr>
          <p:cNvPr id="5128" name="Picture 8"/>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793944" y="4708525"/>
            <a:ext cx="1274284" cy="701675"/>
          </a:xfrm>
          <a:prstGeom prst="roundRect">
            <a:avLst>
              <a:gd name="adj" fmla="val 16667"/>
            </a:avLst>
          </a:prstGeom>
          <a:ln w="76200">
            <a:solidFill>
              <a:schemeClr val="accent1">
                <a:lumMod val="40000"/>
                <a:lumOff val="60000"/>
              </a:schemeClr>
            </a:solidFill>
          </a:ln>
          <a:effectLst>
            <a:outerShdw blurRad="76200" dist="38100" dir="78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
        <p:nvSpPr>
          <p:cNvPr id="330783" name="Rectangle 31"/>
          <p:cNvSpPr>
            <a:spLocks noChangeArrowheads="1"/>
          </p:cNvSpPr>
          <p:nvPr/>
        </p:nvSpPr>
        <p:spPr bwMode="auto">
          <a:xfrm rot="10817026" flipV="1">
            <a:off x="375472" y="2733778"/>
            <a:ext cx="1450975" cy="1191816"/>
          </a:xfrm>
          <a:prstGeom prst="roundRect">
            <a:avLst/>
          </a:prstGeom>
          <a:solidFill>
            <a:schemeClr val="bg1"/>
          </a:solidFill>
          <a:ln w="76200">
            <a:solidFill>
              <a:schemeClr val="accent1">
                <a:lumMod val="40000"/>
                <a:lumOff val="60000"/>
              </a:schemeClr>
            </a:solidFill>
          </a:ln>
          <a:effectLst>
            <a:outerShdw blurRad="76200" dist="38100" dir="7800000" algn="tl" rotWithShape="0">
              <a:srgbClr val="000000">
                <a:alpha val="40000"/>
              </a:srgbClr>
            </a:outerShdw>
          </a:effectLst>
        </p:spPr>
        <p:txBody>
          <a:bodyPr wrap="square" lIns="0" tIns="0" rIns="0" bIns="0">
            <a:spAutoFit/>
          </a:bodyPr>
          <a:lstStyle/>
          <a:p>
            <a:pPr algn="ctr">
              <a:spcBef>
                <a:spcPct val="0"/>
              </a:spcBef>
            </a:pPr>
            <a:endParaRPr lang="en-US" sz="1400" dirty="0">
              <a:solidFill>
                <a:srgbClr val="000000"/>
              </a:solidFill>
              <a:latin typeface="Century Gothic"/>
              <a:cs typeface="Century Gothic"/>
            </a:endParaRPr>
          </a:p>
          <a:p>
            <a:pPr algn="ctr">
              <a:spcBef>
                <a:spcPct val="0"/>
              </a:spcBef>
            </a:pPr>
            <a:r>
              <a:rPr lang="en-US" sz="1400" dirty="0">
                <a:solidFill>
                  <a:srgbClr val="000000"/>
                </a:solidFill>
                <a:latin typeface="Century Gothic"/>
                <a:cs typeface="Century Gothic"/>
              </a:rPr>
              <a:t>Markets for goods and services</a:t>
            </a:r>
          </a:p>
          <a:p>
            <a:pPr algn="ctr">
              <a:spcBef>
                <a:spcPct val="0"/>
              </a:spcBef>
            </a:pPr>
            <a:endParaRPr lang="en-US" sz="1400" dirty="0">
              <a:solidFill>
                <a:srgbClr val="000000"/>
              </a:solidFill>
              <a:latin typeface="Century Gothic"/>
              <a:cs typeface="Century Gothic"/>
            </a:endParaRPr>
          </a:p>
        </p:txBody>
      </p:sp>
      <p:sp>
        <p:nvSpPr>
          <p:cNvPr id="78" name="Rectangle 67"/>
          <p:cNvSpPr>
            <a:spLocks noChangeArrowheads="1"/>
          </p:cNvSpPr>
          <p:nvPr/>
        </p:nvSpPr>
        <p:spPr bwMode="auto">
          <a:xfrm>
            <a:off x="1752600" y="5194756"/>
            <a:ext cx="21336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Investment spending</a:t>
            </a:r>
            <a:endParaRPr lang="en-US" sz="1400" dirty="0">
              <a:latin typeface="Century Gothic"/>
              <a:cs typeface="Century Gothic"/>
            </a:endParaRPr>
          </a:p>
        </p:txBody>
      </p:sp>
      <p:sp>
        <p:nvSpPr>
          <p:cNvPr id="330794" name="Rectangle 42"/>
          <p:cNvSpPr>
            <a:spLocks noChangeArrowheads="1"/>
          </p:cNvSpPr>
          <p:nvPr/>
        </p:nvSpPr>
        <p:spPr bwMode="auto">
          <a:xfrm>
            <a:off x="5657056" y="3158068"/>
            <a:ext cx="1309748" cy="953452"/>
          </a:xfrm>
          <a:prstGeom prst="roundRect">
            <a:avLst/>
          </a:prstGeom>
          <a:solidFill>
            <a:schemeClr val="bg1"/>
          </a:solidFill>
          <a:ln w="76200">
            <a:solidFill>
              <a:schemeClr val="accent1">
                <a:lumMod val="40000"/>
                <a:lumOff val="60000"/>
              </a:schemeClr>
            </a:solidFill>
          </a:ln>
          <a:effectLst>
            <a:outerShdw blurRad="76200" dist="38100" dir="7800000" algn="tl" rotWithShape="0">
              <a:srgbClr val="000000">
                <a:alpha val="40000"/>
              </a:srgbClr>
            </a:outerShdw>
          </a:effectLst>
        </p:spPr>
        <p:txBody>
          <a:bodyPr wrap="square" lIns="0" tIns="0" rIns="0" bIns="0">
            <a:spAutoFit/>
          </a:bodyPr>
          <a:lstStyle/>
          <a:p>
            <a:pPr>
              <a:spcBef>
                <a:spcPct val="0"/>
              </a:spcBef>
            </a:pPr>
            <a:endParaRPr lang="en-US" sz="1400" dirty="0">
              <a:solidFill>
                <a:srgbClr val="000000"/>
              </a:solidFill>
              <a:latin typeface="Century Gothic"/>
              <a:cs typeface="Century Gothic"/>
            </a:endParaRPr>
          </a:p>
          <a:p>
            <a:pPr algn="ctr">
              <a:spcBef>
                <a:spcPct val="0"/>
              </a:spcBef>
            </a:pPr>
            <a:r>
              <a:rPr lang="en-US" sz="1400" dirty="0">
                <a:solidFill>
                  <a:srgbClr val="000000"/>
                </a:solidFill>
                <a:latin typeface="Century Gothic"/>
                <a:cs typeface="Century Gothic"/>
              </a:rPr>
              <a:t>Factor markets</a:t>
            </a:r>
          </a:p>
          <a:p>
            <a:pPr>
              <a:spcBef>
                <a:spcPct val="0"/>
              </a:spcBef>
            </a:pPr>
            <a:endParaRPr lang="en-US" sz="1400" dirty="0">
              <a:solidFill>
                <a:srgbClr val="000000"/>
              </a:solidFill>
              <a:latin typeface="Century Gothic"/>
              <a:cs typeface="Century Gothic"/>
            </a:endParaRPr>
          </a:p>
        </p:txBody>
      </p:sp>
    </p:spTree>
    <p:extLst>
      <p:ext uri="{BB962C8B-B14F-4D97-AF65-F5344CB8AC3E}">
        <p14:creationId xmlns:p14="http://schemas.microsoft.com/office/powerpoint/2010/main" val="56688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0825"/>
                                        </p:tgtEl>
                                        <p:attrNameLst>
                                          <p:attrName>style.visibility</p:attrName>
                                        </p:attrNameLst>
                                      </p:cBhvr>
                                      <p:to>
                                        <p:strVal val="visible"/>
                                      </p:to>
                                    </p:set>
                                    <p:animEffect transition="in" filter="fade">
                                      <p:cBhvr>
                                        <p:cTn id="7" dur="500"/>
                                        <p:tgtEl>
                                          <p:spTgt spid="330825"/>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30770"/>
                                        </p:tgtEl>
                                        <p:attrNameLst>
                                          <p:attrName>style.visibility</p:attrName>
                                        </p:attrNameLst>
                                      </p:cBhvr>
                                      <p:to>
                                        <p:strVal val="visible"/>
                                      </p:to>
                                    </p:set>
                                    <p:animEffect transition="in" filter="wipe(right)">
                                      <p:cBhvr>
                                        <p:cTn id="10" dur="500"/>
                                        <p:tgtEl>
                                          <p:spTgt spid="330770"/>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330771"/>
                                        </p:tgtEl>
                                        <p:attrNameLst>
                                          <p:attrName>style.visibility</p:attrName>
                                        </p:attrNameLst>
                                      </p:cBhvr>
                                      <p:to>
                                        <p:strVal val="visible"/>
                                      </p:to>
                                    </p:set>
                                    <p:animEffect transition="in" filter="wipe(up)">
                                      <p:cBhvr>
                                        <p:cTn id="14" dur="500"/>
                                        <p:tgtEl>
                                          <p:spTgt spid="33077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30805"/>
                                        </p:tgtEl>
                                        <p:attrNameLst>
                                          <p:attrName>style.visibility</p:attrName>
                                        </p:attrNameLst>
                                      </p:cBhvr>
                                      <p:to>
                                        <p:strVal val="visible"/>
                                      </p:to>
                                    </p:set>
                                    <p:animEffect transition="in" filter="wipe(left)">
                                      <p:cBhvr>
                                        <p:cTn id="19" dur="500"/>
                                        <p:tgtEl>
                                          <p:spTgt spid="330805"/>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330806"/>
                                        </p:tgtEl>
                                        <p:attrNameLst>
                                          <p:attrName>style.visibility</p:attrName>
                                        </p:attrNameLst>
                                      </p:cBhvr>
                                      <p:to>
                                        <p:strVal val="visible"/>
                                      </p:to>
                                    </p:set>
                                    <p:animEffect transition="in" filter="wipe(left)">
                                      <p:cBhvr>
                                        <p:cTn id="23" dur="500"/>
                                        <p:tgtEl>
                                          <p:spTgt spid="3308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0823"/>
                                        </p:tgtEl>
                                        <p:attrNameLst>
                                          <p:attrName>style.visibility</p:attrName>
                                        </p:attrNameLst>
                                      </p:cBhvr>
                                      <p:to>
                                        <p:strVal val="visible"/>
                                      </p:to>
                                    </p:set>
                                    <p:animEffect transition="in" filter="fade">
                                      <p:cBhvr>
                                        <p:cTn id="26" dur="500"/>
                                        <p:tgtEl>
                                          <p:spTgt spid="33082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30773"/>
                                        </p:tgtEl>
                                        <p:attrNameLst>
                                          <p:attrName>style.visibility</p:attrName>
                                        </p:attrNameLst>
                                      </p:cBhvr>
                                      <p:to>
                                        <p:strVal val="visible"/>
                                      </p:to>
                                    </p:set>
                                    <p:animEffect transition="in" filter="wipe(left)">
                                      <p:cBhvr>
                                        <p:cTn id="31" dur="500"/>
                                        <p:tgtEl>
                                          <p:spTgt spid="330773"/>
                                        </p:tgtEl>
                                      </p:cBhvr>
                                    </p:animEffect>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330804"/>
                                        </p:tgtEl>
                                        <p:attrNameLst>
                                          <p:attrName>style.visibility</p:attrName>
                                        </p:attrNameLst>
                                      </p:cBhvr>
                                      <p:to>
                                        <p:strVal val="visible"/>
                                      </p:to>
                                    </p:set>
                                    <p:animEffect transition="in" filter="wipe(down)">
                                      <p:cBhvr>
                                        <p:cTn id="35" dur="500"/>
                                        <p:tgtEl>
                                          <p:spTgt spid="33080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0817"/>
                                        </p:tgtEl>
                                        <p:attrNameLst>
                                          <p:attrName>style.visibility</p:attrName>
                                        </p:attrNameLst>
                                      </p:cBhvr>
                                      <p:to>
                                        <p:strVal val="visible"/>
                                      </p:to>
                                    </p:set>
                                    <p:animEffect transition="in" filter="fade">
                                      <p:cBhvr>
                                        <p:cTn id="38" dur="500"/>
                                        <p:tgtEl>
                                          <p:spTgt spid="3308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330797"/>
                                        </p:tgtEl>
                                        <p:attrNameLst>
                                          <p:attrName>style.visibility</p:attrName>
                                        </p:attrNameLst>
                                      </p:cBhvr>
                                      <p:to>
                                        <p:strVal val="visible"/>
                                      </p:to>
                                    </p:set>
                                    <p:animEffect transition="in" filter="wipe(down)">
                                      <p:cBhvr>
                                        <p:cTn id="43" dur="500"/>
                                        <p:tgtEl>
                                          <p:spTgt spid="330797"/>
                                        </p:tgtEl>
                                      </p:cBhvr>
                                    </p:animEffect>
                                  </p:childTnLst>
                                </p:cTn>
                              </p:par>
                            </p:childTnLst>
                          </p:cTn>
                        </p:par>
                        <p:par>
                          <p:cTn id="44" fill="hold">
                            <p:stCondLst>
                              <p:cond delay="500"/>
                            </p:stCondLst>
                            <p:childTnLst>
                              <p:par>
                                <p:cTn id="45" presetID="22" presetClass="entr" presetSubtype="2" fill="hold" grpId="0" nodeType="afterEffect">
                                  <p:stCondLst>
                                    <p:cond delay="0"/>
                                  </p:stCondLst>
                                  <p:childTnLst>
                                    <p:set>
                                      <p:cBhvr>
                                        <p:cTn id="46" dur="1" fill="hold">
                                          <p:stCondLst>
                                            <p:cond delay="0"/>
                                          </p:stCondLst>
                                        </p:cTn>
                                        <p:tgtEl>
                                          <p:spTgt spid="330798"/>
                                        </p:tgtEl>
                                        <p:attrNameLst>
                                          <p:attrName>style.visibility</p:attrName>
                                        </p:attrNameLst>
                                      </p:cBhvr>
                                      <p:to>
                                        <p:strVal val="visible"/>
                                      </p:to>
                                    </p:set>
                                    <p:animEffect transition="in" filter="wipe(right)">
                                      <p:cBhvr>
                                        <p:cTn id="47" dur="500"/>
                                        <p:tgtEl>
                                          <p:spTgt spid="33079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30816"/>
                                        </p:tgtEl>
                                        <p:attrNameLst>
                                          <p:attrName>style.visibility</p:attrName>
                                        </p:attrNameLst>
                                      </p:cBhvr>
                                      <p:to>
                                        <p:strVal val="visible"/>
                                      </p:to>
                                    </p:set>
                                    <p:animEffect transition="in" filter="fade">
                                      <p:cBhvr>
                                        <p:cTn id="50" dur="500"/>
                                        <p:tgtEl>
                                          <p:spTgt spid="33081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126"/>
                                        </p:tgtEl>
                                        <p:attrNameLst>
                                          <p:attrName>style.visibility</p:attrName>
                                        </p:attrNameLst>
                                      </p:cBhvr>
                                      <p:to>
                                        <p:strVal val="visible"/>
                                      </p:to>
                                    </p:set>
                                    <p:animEffect transition="in" filter="fade">
                                      <p:cBhvr>
                                        <p:cTn id="55" dur="500"/>
                                        <p:tgtEl>
                                          <p:spTgt spid="512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30811"/>
                                        </p:tgtEl>
                                        <p:attrNameLst>
                                          <p:attrName>style.visibility</p:attrName>
                                        </p:attrNameLst>
                                      </p:cBhvr>
                                      <p:to>
                                        <p:strVal val="visible"/>
                                      </p:to>
                                    </p:set>
                                    <p:animEffect transition="in" filter="wipe(down)">
                                      <p:cBhvr>
                                        <p:cTn id="60" dur="500"/>
                                        <p:tgtEl>
                                          <p:spTgt spid="330811"/>
                                        </p:tgtEl>
                                      </p:cBhvr>
                                    </p:animEffect>
                                  </p:childTnLst>
                                </p:cTn>
                              </p:par>
                            </p:childTnLst>
                          </p:cTn>
                        </p:par>
                        <p:par>
                          <p:cTn id="61" fill="hold">
                            <p:stCondLst>
                              <p:cond delay="500"/>
                            </p:stCondLst>
                            <p:childTnLst>
                              <p:par>
                                <p:cTn id="62" presetID="22" presetClass="entr" presetSubtype="4" fill="hold" grpId="0" nodeType="afterEffect">
                                  <p:stCondLst>
                                    <p:cond delay="0"/>
                                  </p:stCondLst>
                                  <p:childTnLst>
                                    <p:set>
                                      <p:cBhvr>
                                        <p:cTn id="63" dur="1" fill="hold">
                                          <p:stCondLst>
                                            <p:cond delay="0"/>
                                          </p:stCondLst>
                                        </p:cTn>
                                        <p:tgtEl>
                                          <p:spTgt spid="330807"/>
                                        </p:tgtEl>
                                        <p:attrNameLst>
                                          <p:attrName>style.visibility</p:attrName>
                                        </p:attrNameLst>
                                      </p:cBhvr>
                                      <p:to>
                                        <p:strVal val="visible"/>
                                      </p:to>
                                    </p:set>
                                    <p:animEffect transition="in" filter="wipe(down)">
                                      <p:cBhvr>
                                        <p:cTn id="64" dur="500"/>
                                        <p:tgtEl>
                                          <p:spTgt spid="33080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0824"/>
                                        </p:tgtEl>
                                        <p:attrNameLst>
                                          <p:attrName>style.visibility</p:attrName>
                                        </p:attrNameLst>
                                      </p:cBhvr>
                                      <p:to>
                                        <p:strVal val="visible"/>
                                      </p:to>
                                    </p:set>
                                    <p:animEffect transition="in" filter="fade">
                                      <p:cBhvr>
                                        <p:cTn id="67" dur="500"/>
                                        <p:tgtEl>
                                          <p:spTgt spid="33082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330810"/>
                                        </p:tgtEl>
                                        <p:attrNameLst>
                                          <p:attrName>style.visibility</p:attrName>
                                        </p:attrNameLst>
                                      </p:cBhvr>
                                      <p:to>
                                        <p:strVal val="visible"/>
                                      </p:to>
                                    </p:set>
                                    <p:animEffect transition="in" filter="wipe(up)">
                                      <p:cBhvr>
                                        <p:cTn id="72" dur="500"/>
                                        <p:tgtEl>
                                          <p:spTgt spid="330810"/>
                                        </p:tgtEl>
                                      </p:cBhvr>
                                    </p:animEffect>
                                  </p:childTnLst>
                                </p:cTn>
                              </p:par>
                            </p:childTnLst>
                          </p:cTn>
                        </p:par>
                        <p:par>
                          <p:cTn id="73" fill="hold">
                            <p:stCondLst>
                              <p:cond delay="500"/>
                            </p:stCondLst>
                            <p:childTnLst>
                              <p:par>
                                <p:cTn id="74" presetID="22" presetClass="entr" presetSubtype="1" fill="hold" grpId="0" nodeType="afterEffect">
                                  <p:stCondLst>
                                    <p:cond delay="0"/>
                                  </p:stCondLst>
                                  <p:childTnLst>
                                    <p:set>
                                      <p:cBhvr>
                                        <p:cTn id="75" dur="1" fill="hold">
                                          <p:stCondLst>
                                            <p:cond delay="0"/>
                                          </p:stCondLst>
                                        </p:cTn>
                                        <p:tgtEl>
                                          <p:spTgt spid="330808"/>
                                        </p:tgtEl>
                                        <p:attrNameLst>
                                          <p:attrName>style.visibility</p:attrName>
                                        </p:attrNameLst>
                                      </p:cBhvr>
                                      <p:to>
                                        <p:strVal val="visible"/>
                                      </p:to>
                                    </p:set>
                                    <p:animEffect transition="in" filter="wipe(up)">
                                      <p:cBhvr>
                                        <p:cTn id="76" dur="500"/>
                                        <p:tgtEl>
                                          <p:spTgt spid="33080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0814"/>
                                        </p:tgtEl>
                                        <p:attrNameLst>
                                          <p:attrName>style.visibility</p:attrName>
                                        </p:attrNameLst>
                                      </p:cBhvr>
                                      <p:to>
                                        <p:strVal val="visible"/>
                                      </p:to>
                                    </p:set>
                                    <p:animEffect transition="in" filter="fade">
                                      <p:cBhvr>
                                        <p:cTn id="79" dur="500"/>
                                        <p:tgtEl>
                                          <p:spTgt spid="330814"/>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2" fill="hold" grpId="0" nodeType="clickEffect">
                                  <p:stCondLst>
                                    <p:cond delay="0"/>
                                  </p:stCondLst>
                                  <p:childTnLst>
                                    <p:set>
                                      <p:cBhvr>
                                        <p:cTn id="83" dur="1" fill="hold">
                                          <p:stCondLst>
                                            <p:cond delay="0"/>
                                          </p:stCondLst>
                                        </p:cTn>
                                        <p:tgtEl>
                                          <p:spTgt spid="330757"/>
                                        </p:tgtEl>
                                        <p:attrNameLst>
                                          <p:attrName>style.visibility</p:attrName>
                                        </p:attrNameLst>
                                      </p:cBhvr>
                                      <p:to>
                                        <p:strVal val="visible"/>
                                      </p:to>
                                    </p:set>
                                    <p:animEffect transition="in" filter="wipe(right)">
                                      <p:cBhvr>
                                        <p:cTn id="84" dur="500"/>
                                        <p:tgtEl>
                                          <p:spTgt spid="330757"/>
                                        </p:tgtEl>
                                      </p:cBhvr>
                                    </p:animEffect>
                                  </p:childTnLst>
                                </p:cTn>
                              </p:par>
                            </p:childTnLst>
                          </p:cTn>
                        </p:par>
                        <p:par>
                          <p:cTn id="85" fill="hold">
                            <p:stCondLst>
                              <p:cond delay="500"/>
                            </p:stCondLst>
                            <p:childTnLst>
                              <p:par>
                                <p:cTn id="86" presetID="22" presetClass="entr" presetSubtype="1" fill="hold" grpId="0" nodeType="afterEffect">
                                  <p:stCondLst>
                                    <p:cond delay="0"/>
                                  </p:stCondLst>
                                  <p:childTnLst>
                                    <p:set>
                                      <p:cBhvr>
                                        <p:cTn id="87" dur="1" fill="hold">
                                          <p:stCondLst>
                                            <p:cond delay="0"/>
                                          </p:stCondLst>
                                        </p:cTn>
                                        <p:tgtEl>
                                          <p:spTgt spid="330758"/>
                                        </p:tgtEl>
                                        <p:attrNameLst>
                                          <p:attrName>style.visibility</p:attrName>
                                        </p:attrNameLst>
                                      </p:cBhvr>
                                      <p:to>
                                        <p:strVal val="visible"/>
                                      </p:to>
                                    </p:set>
                                    <p:animEffect transition="in" filter="wipe(up)">
                                      <p:cBhvr>
                                        <p:cTn id="88" dur="500"/>
                                        <p:tgtEl>
                                          <p:spTgt spid="33075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0812"/>
                                        </p:tgtEl>
                                        <p:attrNameLst>
                                          <p:attrName>style.visibility</p:attrName>
                                        </p:attrNameLst>
                                      </p:cBhvr>
                                      <p:to>
                                        <p:strVal val="visible"/>
                                      </p:to>
                                    </p:set>
                                    <p:animEffect transition="in" filter="fade">
                                      <p:cBhvr>
                                        <p:cTn id="91" dur="500"/>
                                        <p:tgtEl>
                                          <p:spTgt spid="330812"/>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30784"/>
                                        </p:tgtEl>
                                        <p:attrNameLst>
                                          <p:attrName>style.visibility</p:attrName>
                                        </p:attrNameLst>
                                      </p:cBhvr>
                                      <p:to>
                                        <p:strVal val="visible"/>
                                      </p:to>
                                    </p:set>
                                    <p:animEffect transition="in" filter="fade">
                                      <p:cBhvr>
                                        <p:cTn id="96" dur="500"/>
                                        <p:tgtEl>
                                          <p:spTgt spid="33078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2" fill="hold" grpId="0" nodeType="clickEffect">
                                  <p:stCondLst>
                                    <p:cond delay="0"/>
                                  </p:stCondLst>
                                  <p:childTnLst>
                                    <p:set>
                                      <p:cBhvr>
                                        <p:cTn id="100" dur="1" fill="hold">
                                          <p:stCondLst>
                                            <p:cond delay="0"/>
                                          </p:stCondLst>
                                        </p:cTn>
                                        <p:tgtEl>
                                          <p:spTgt spid="330755"/>
                                        </p:tgtEl>
                                        <p:attrNameLst>
                                          <p:attrName>style.visibility</p:attrName>
                                        </p:attrNameLst>
                                      </p:cBhvr>
                                      <p:to>
                                        <p:strVal val="visible"/>
                                      </p:to>
                                    </p:set>
                                    <p:animEffect transition="in" filter="wipe(right)">
                                      <p:cBhvr>
                                        <p:cTn id="101" dur="500"/>
                                        <p:tgtEl>
                                          <p:spTgt spid="330755"/>
                                        </p:tgtEl>
                                      </p:cBhvr>
                                    </p:animEffect>
                                  </p:childTnLst>
                                </p:cTn>
                              </p:par>
                            </p:childTnLst>
                          </p:cTn>
                        </p:par>
                        <p:par>
                          <p:cTn id="102" fill="hold">
                            <p:stCondLst>
                              <p:cond delay="500"/>
                            </p:stCondLst>
                            <p:childTnLst>
                              <p:par>
                                <p:cTn id="103" presetID="22" presetClass="entr" presetSubtype="2" fill="hold" grpId="0" nodeType="afterEffect">
                                  <p:stCondLst>
                                    <p:cond delay="0"/>
                                  </p:stCondLst>
                                  <p:childTnLst>
                                    <p:set>
                                      <p:cBhvr>
                                        <p:cTn id="104" dur="1" fill="hold">
                                          <p:stCondLst>
                                            <p:cond delay="0"/>
                                          </p:stCondLst>
                                        </p:cTn>
                                        <p:tgtEl>
                                          <p:spTgt spid="330756"/>
                                        </p:tgtEl>
                                        <p:attrNameLst>
                                          <p:attrName>style.visibility</p:attrName>
                                        </p:attrNameLst>
                                      </p:cBhvr>
                                      <p:to>
                                        <p:strVal val="visible"/>
                                      </p:to>
                                    </p:set>
                                    <p:animEffect transition="in" filter="wipe(right)">
                                      <p:cBhvr>
                                        <p:cTn id="105" dur="500"/>
                                        <p:tgtEl>
                                          <p:spTgt spid="33075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30813"/>
                                        </p:tgtEl>
                                        <p:attrNameLst>
                                          <p:attrName>style.visibility</p:attrName>
                                        </p:attrNameLst>
                                      </p:cBhvr>
                                      <p:to>
                                        <p:strVal val="visible"/>
                                      </p:to>
                                    </p:set>
                                    <p:animEffect transition="in" filter="fade">
                                      <p:cBhvr>
                                        <p:cTn id="108" dur="500"/>
                                        <p:tgtEl>
                                          <p:spTgt spid="330813"/>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330759"/>
                                        </p:tgtEl>
                                        <p:attrNameLst>
                                          <p:attrName>style.visibility</p:attrName>
                                        </p:attrNameLst>
                                      </p:cBhvr>
                                      <p:to>
                                        <p:strVal val="visible"/>
                                      </p:to>
                                    </p:set>
                                    <p:animEffect transition="in" filter="wipe(left)">
                                      <p:cBhvr>
                                        <p:cTn id="113" dur="500"/>
                                        <p:tgtEl>
                                          <p:spTgt spid="330759"/>
                                        </p:tgtEl>
                                      </p:cBhvr>
                                    </p:animEffect>
                                  </p:childTnLst>
                                </p:cTn>
                              </p:par>
                            </p:childTnLst>
                          </p:cTn>
                        </p:par>
                        <p:par>
                          <p:cTn id="114" fill="hold">
                            <p:stCondLst>
                              <p:cond delay="500"/>
                            </p:stCondLst>
                            <p:childTnLst>
                              <p:par>
                                <p:cTn id="115" presetID="22" presetClass="entr" presetSubtype="1" fill="hold" grpId="0" nodeType="afterEffect">
                                  <p:stCondLst>
                                    <p:cond delay="0"/>
                                  </p:stCondLst>
                                  <p:childTnLst>
                                    <p:set>
                                      <p:cBhvr>
                                        <p:cTn id="116" dur="1" fill="hold">
                                          <p:stCondLst>
                                            <p:cond delay="0"/>
                                          </p:stCondLst>
                                        </p:cTn>
                                        <p:tgtEl>
                                          <p:spTgt spid="330760"/>
                                        </p:tgtEl>
                                        <p:attrNameLst>
                                          <p:attrName>style.visibility</p:attrName>
                                        </p:attrNameLst>
                                      </p:cBhvr>
                                      <p:to>
                                        <p:strVal val="visible"/>
                                      </p:to>
                                    </p:set>
                                    <p:animEffect transition="in" filter="wipe(up)">
                                      <p:cBhvr>
                                        <p:cTn id="117" dur="500"/>
                                        <p:tgtEl>
                                          <p:spTgt spid="33076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30815"/>
                                        </p:tgtEl>
                                        <p:attrNameLst>
                                          <p:attrName>style.visibility</p:attrName>
                                        </p:attrNameLst>
                                      </p:cBhvr>
                                      <p:to>
                                        <p:strVal val="visible"/>
                                      </p:to>
                                    </p:set>
                                    <p:animEffect transition="in" filter="fade">
                                      <p:cBhvr>
                                        <p:cTn id="120" dur="500"/>
                                        <p:tgtEl>
                                          <p:spTgt spid="330815"/>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2" fill="hold" grpId="0" nodeType="clickEffect">
                                  <p:stCondLst>
                                    <p:cond delay="0"/>
                                  </p:stCondLst>
                                  <p:childTnLst>
                                    <p:set>
                                      <p:cBhvr>
                                        <p:cTn id="124" dur="1" fill="hold">
                                          <p:stCondLst>
                                            <p:cond delay="0"/>
                                          </p:stCondLst>
                                        </p:cTn>
                                        <p:tgtEl>
                                          <p:spTgt spid="330803"/>
                                        </p:tgtEl>
                                        <p:attrNameLst>
                                          <p:attrName>style.visibility</p:attrName>
                                        </p:attrNameLst>
                                      </p:cBhvr>
                                      <p:to>
                                        <p:strVal val="visible"/>
                                      </p:to>
                                    </p:set>
                                    <p:animEffect transition="in" filter="wipe(right)">
                                      <p:cBhvr>
                                        <p:cTn id="125" dur="500"/>
                                        <p:tgtEl>
                                          <p:spTgt spid="330803"/>
                                        </p:tgtEl>
                                      </p:cBhvr>
                                    </p:animEffect>
                                  </p:childTnLst>
                                </p:cTn>
                              </p:par>
                            </p:childTnLst>
                          </p:cTn>
                        </p:par>
                        <p:par>
                          <p:cTn id="126" fill="hold">
                            <p:stCondLst>
                              <p:cond delay="500"/>
                            </p:stCondLst>
                            <p:childTnLst>
                              <p:par>
                                <p:cTn id="127" presetID="22" presetClass="entr" presetSubtype="2" fill="hold" grpId="0" nodeType="afterEffect">
                                  <p:stCondLst>
                                    <p:cond delay="0"/>
                                  </p:stCondLst>
                                  <p:childTnLst>
                                    <p:set>
                                      <p:cBhvr>
                                        <p:cTn id="128" dur="1" fill="hold">
                                          <p:stCondLst>
                                            <p:cond delay="0"/>
                                          </p:stCondLst>
                                        </p:cTn>
                                        <p:tgtEl>
                                          <p:spTgt spid="330772"/>
                                        </p:tgtEl>
                                        <p:attrNameLst>
                                          <p:attrName>style.visibility</p:attrName>
                                        </p:attrNameLst>
                                      </p:cBhvr>
                                      <p:to>
                                        <p:strVal val="visible"/>
                                      </p:to>
                                    </p:set>
                                    <p:animEffect transition="in" filter="wipe(right)">
                                      <p:cBhvr>
                                        <p:cTn id="129" dur="500"/>
                                        <p:tgtEl>
                                          <p:spTgt spid="330772"/>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330818"/>
                                        </p:tgtEl>
                                        <p:attrNameLst>
                                          <p:attrName>style.visibility</p:attrName>
                                        </p:attrNameLst>
                                      </p:cBhvr>
                                      <p:to>
                                        <p:strVal val="visible"/>
                                      </p:to>
                                    </p:set>
                                    <p:animEffect transition="in" filter="fade">
                                      <p:cBhvr>
                                        <p:cTn id="132" dur="500"/>
                                        <p:tgtEl>
                                          <p:spTgt spid="330818"/>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2" fill="hold" grpId="0" nodeType="clickEffect">
                                  <p:stCondLst>
                                    <p:cond delay="0"/>
                                  </p:stCondLst>
                                  <p:childTnLst>
                                    <p:set>
                                      <p:cBhvr>
                                        <p:cTn id="136" dur="1" fill="hold">
                                          <p:stCondLst>
                                            <p:cond delay="0"/>
                                          </p:stCondLst>
                                        </p:cTn>
                                        <p:tgtEl>
                                          <p:spTgt spid="330761"/>
                                        </p:tgtEl>
                                        <p:attrNameLst>
                                          <p:attrName>style.visibility</p:attrName>
                                        </p:attrNameLst>
                                      </p:cBhvr>
                                      <p:to>
                                        <p:strVal val="visible"/>
                                      </p:to>
                                    </p:set>
                                    <p:animEffect transition="in" filter="wipe(right)">
                                      <p:cBhvr>
                                        <p:cTn id="137" dur="500"/>
                                        <p:tgtEl>
                                          <p:spTgt spid="330761"/>
                                        </p:tgtEl>
                                      </p:cBhvr>
                                    </p:animEffect>
                                  </p:childTnLst>
                                </p:cTn>
                              </p:par>
                            </p:childTnLst>
                          </p:cTn>
                        </p:par>
                        <p:par>
                          <p:cTn id="138" fill="hold">
                            <p:stCondLst>
                              <p:cond delay="500"/>
                            </p:stCondLst>
                            <p:childTnLst>
                              <p:par>
                                <p:cTn id="139" presetID="22" presetClass="entr" presetSubtype="4" fill="hold" grpId="0" nodeType="afterEffect">
                                  <p:stCondLst>
                                    <p:cond delay="0"/>
                                  </p:stCondLst>
                                  <p:childTnLst>
                                    <p:set>
                                      <p:cBhvr>
                                        <p:cTn id="140" dur="1" fill="hold">
                                          <p:stCondLst>
                                            <p:cond delay="0"/>
                                          </p:stCondLst>
                                        </p:cTn>
                                        <p:tgtEl>
                                          <p:spTgt spid="330762"/>
                                        </p:tgtEl>
                                        <p:attrNameLst>
                                          <p:attrName>style.visibility</p:attrName>
                                        </p:attrNameLst>
                                      </p:cBhvr>
                                      <p:to>
                                        <p:strVal val="visible"/>
                                      </p:to>
                                    </p:set>
                                    <p:animEffect transition="in" filter="wipe(down)">
                                      <p:cBhvr>
                                        <p:cTn id="141" dur="500"/>
                                        <p:tgtEl>
                                          <p:spTgt spid="330762"/>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78"/>
                                        </p:tgtEl>
                                        <p:attrNameLst>
                                          <p:attrName>style.visibility</p:attrName>
                                        </p:attrNameLst>
                                      </p:cBhvr>
                                      <p:to>
                                        <p:strVal val="visible"/>
                                      </p:to>
                                    </p:set>
                                    <p:animEffect transition="in" filter="fade">
                                      <p:cBhvr>
                                        <p:cTn id="144" dur="500"/>
                                        <p:tgtEl>
                                          <p:spTgt spid="78"/>
                                        </p:tgtEl>
                                      </p:cBhvr>
                                    </p:animEffec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nodeType="clickEffect">
                                  <p:stCondLst>
                                    <p:cond delay="0"/>
                                  </p:stCondLst>
                                  <p:childTnLst>
                                    <p:set>
                                      <p:cBhvr>
                                        <p:cTn id="148" dur="1" fill="hold">
                                          <p:stCondLst>
                                            <p:cond delay="0"/>
                                          </p:stCondLst>
                                        </p:cTn>
                                        <p:tgtEl>
                                          <p:spTgt spid="5127"/>
                                        </p:tgtEl>
                                        <p:attrNameLst>
                                          <p:attrName>style.visibility</p:attrName>
                                        </p:attrNameLst>
                                      </p:cBhvr>
                                      <p:to>
                                        <p:strVal val="visible"/>
                                      </p:to>
                                    </p:set>
                                    <p:animEffect transition="in" filter="fade">
                                      <p:cBhvr>
                                        <p:cTn id="149" dur="500"/>
                                        <p:tgtEl>
                                          <p:spTgt spid="5127"/>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2" fill="hold" grpId="0" nodeType="clickEffect">
                                  <p:stCondLst>
                                    <p:cond delay="0"/>
                                  </p:stCondLst>
                                  <p:childTnLst>
                                    <p:set>
                                      <p:cBhvr>
                                        <p:cTn id="153" dur="1" fill="hold">
                                          <p:stCondLst>
                                            <p:cond delay="0"/>
                                          </p:stCondLst>
                                        </p:cTn>
                                        <p:tgtEl>
                                          <p:spTgt spid="330799"/>
                                        </p:tgtEl>
                                        <p:attrNameLst>
                                          <p:attrName>style.visibility</p:attrName>
                                        </p:attrNameLst>
                                      </p:cBhvr>
                                      <p:to>
                                        <p:strVal val="visible"/>
                                      </p:to>
                                    </p:set>
                                    <p:animEffect transition="in" filter="wipe(right)">
                                      <p:cBhvr>
                                        <p:cTn id="154" dur="500"/>
                                        <p:tgtEl>
                                          <p:spTgt spid="330799"/>
                                        </p:tgtEl>
                                      </p:cBhvr>
                                    </p:animEffect>
                                  </p:childTnLst>
                                </p:cTn>
                              </p:par>
                            </p:childTnLst>
                          </p:cTn>
                        </p:par>
                        <p:par>
                          <p:cTn id="155" fill="hold">
                            <p:stCondLst>
                              <p:cond delay="500"/>
                            </p:stCondLst>
                            <p:childTnLst>
                              <p:par>
                                <p:cTn id="156" presetID="22" presetClass="entr" presetSubtype="4" fill="hold" grpId="0" nodeType="afterEffect">
                                  <p:stCondLst>
                                    <p:cond delay="0"/>
                                  </p:stCondLst>
                                  <p:childTnLst>
                                    <p:set>
                                      <p:cBhvr>
                                        <p:cTn id="157" dur="1" fill="hold">
                                          <p:stCondLst>
                                            <p:cond delay="0"/>
                                          </p:stCondLst>
                                        </p:cTn>
                                        <p:tgtEl>
                                          <p:spTgt spid="330800"/>
                                        </p:tgtEl>
                                        <p:attrNameLst>
                                          <p:attrName>style.visibility</p:attrName>
                                        </p:attrNameLst>
                                      </p:cBhvr>
                                      <p:to>
                                        <p:strVal val="visible"/>
                                      </p:to>
                                    </p:set>
                                    <p:animEffect transition="in" filter="wipe(down)">
                                      <p:cBhvr>
                                        <p:cTn id="158" dur="500"/>
                                        <p:tgtEl>
                                          <p:spTgt spid="330800"/>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330821"/>
                                        </p:tgtEl>
                                        <p:attrNameLst>
                                          <p:attrName>style.visibility</p:attrName>
                                        </p:attrNameLst>
                                      </p:cBhvr>
                                      <p:to>
                                        <p:strVal val="visible"/>
                                      </p:to>
                                    </p:set>
                                    <p:animEffect transition="in" filter="fade">
                                      <p:cBhvr>
                                        <p:cTn id="161" dur="500"/>
                                        <p:tgtEl>
                                          <p:spTgt spid="330821"/>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330763"/>
                                        </p:tgtEl>
                                        <p:attrNameLst>
                                          <p:attrName>style.visibility</p:attrName>
                                        </p:attrNameLst>
                                      </p:cBhvr>
                                      <p:to>
                                        <p:strVal val="visible"/>
                                      </p:to>
                                    </p:set>
                                    <p:animEffect transition="in" filter="wipe(left)">
                                      <p:cBhvr>
                                        <p:cTn id="166" dur="500"/>
                                        <p:tgtEl>
                                          <p:spTgt spid="330763"/>
                                        </p:tgtEl>
                                      </p:cBhvr>
                                    </p:animEffect>
                                  </p:childTnLst>
                                </p:cTn>
                              </p:par>
                            </p:childTnLst>
                          </p:cTn>
                        </p:par>
                        <p:par>
                          <p:cTn id="167" fill="hold">
                            <p:stCondLst>
                              <p:cond delay="500"/>
                            </p:stCondLst>
                            <p:childTnLst>
                              <p:par>
                                <p:cTn id="168" presetID="22" presetClass="entr" presetSubtype="8" fill="hold" grpId="0" nodeType="afterEffect">
                                  <p:stCondLst>
                                    <p:cond delay="0"/>
                                  </p:stCondLst>
                                  <p:childTnLst>
                                    <p:set>
                                      <p:cBhvr>
                                        <p:cTn id="169" dur="1" fill="hold">
                                          <p:stCondLst>
                                            <p:cond delay="0"/>
                                          </p:stCondLst>
                                        </p:cTn>
                                        <p:tgtEl>
                                          <p:spTgt spid="330764"/>
                                        </p:tgtEl>
                                        <p:attrNameLst>
                                          <p:attrName>style.visibility</p:attrName>
                                        </p:attrNameLst>
                                      </p:cBhvr>
                                      <p:to>
                                        <p:strVal val="visible"/>
                                      </p:to>
                                    </p:set>
                                    <p:animEffect transition="in" filter="wipe(left)">
                                      <p:cBhvr>
                                        <p:cTn id="170" dur="500"/>
                                        <p:tgtEl>
                                          <p:spTgt spid="330764"/>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330822"/>
                                        </p:tgtEl>
                                        <p:attrNameLst>
                                          <p:attrName>style.visibility</p:attrName>
                                        </p:attrNameLst>
                                      </p:cBhvr>
                                      <p:to>
                                        <p:strVal val="visible"/>
                                      </p:to>
                                    </p:set>
                                    <p:animEffect transition="in" filter="fade">
                                      <p:cBhvr>
                                        <p:cTn id="173" dur="500"/>
                                        <p:tgtEl>
                                          <p:spTgt spid="330822"/>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8" fill="hold" grpId="0" nodeType="clickEffect">
                                  <p:stCondLst>
                                    <p:cond delay="0"/>
                                  </p:stCondLst>
                                  <p:childTnLst>
                                    <p:set>
                                      <p:cBhvr>
                                        <p:cTn id="177" dur="1" fill="hold">
                                          <p:stCondLst>
                                            <p:cond delay="0"/>
                                          </p:stCondLst>
                                        </p:cTn>
                                        <p:tgtEl>
                                          <p:spTgt spid="330765"/>
                                        </p:tgtEl>
                                        <p:attrNameLst>
                                          <p:attrName>style.visibility</p:attrName>
                                        </p:attrNameLst>
                                      </p:cBhvr>
                                      <p:to>
                                        <p:strVal val="visible"/>
                                      </p:to>
                                    </p:set>
                                    <p:animEffect transition="in" filter="wipe(left)">
                                      <p:cBhvr>
                                        <p:cTn id="178" dur="500"/>
                                        <p:tgtEl>
                                          <p:spTgt spid="330765"/>
                                        </p:tgtEl>
                                      </p:cBhvr>
                                    </p:animEffect>
                                  </p:childTnLst>
                                </p:cTn>
                              </p:par>
                            </p:childTnLst>
                          </p:cTn>
                        </p:par>
                        <p:par>
                          <p:cTn id="179" fill="hold">
                            <p:stCondLst>
                              <p:cond delay="500"/>
                            </p:stCondLst>
                            <p:childTnLst>
                              <p:par>
                                <p:cTn id="180" presetID="22" presetClass="entr" presetSubtype="4" fill="hold" grpId="0" nodeType="afterEffect">
                                  <p:stCondLst>
                                    <p:cond delay="0"/>
                                  </p:stCondLst>
                                  <p:childTnLst>
                                    <p:set>
                                      <p:cBhvr>
                                        <p:cTn id="181" dur="1" fill="hold">
                                          <p:stCondLst>
                                            <p:cond delay="0"/>
                                          </p:stCondLst>
                                        </p:cTn>
                                        <p:tgtEl>
                                          <p:spTgt spid="330766"/>
                                        </p:tgtEl>
                                        <p:attrNameLst>
                                          <p:attrName>style.visibility</p:attrName>
                                        </p:attrNameLst>
                                      </p:cBhvr>
                                      <p:to>
                                        <p:strVal val="visible"/>
                                      </p:to>
                                    </p:set>
                                    <p:animEffect transition="in" filter="wipe(down)">
                                      <p:cBhvr>
                                        <p:cTn id="182" dur="500"/>
                                        <p:tgtEl>
                                          <p:spTgt spid="330766"/>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330820"/>
                                        </p:tgtEl>
                                        <p:attrNameLst>
                                          <p:attrName>style.visibility</p:attrName>
                                        </p:attrNameLst>
                                      </p:cBhvr>
                                      <p:to>
                                        <p:strVal val="visible"/>
                                      </p:to>
                                    </p:set>
                                    <p:animEffect transition="in" filter="fade">
                                      <p:cBhvr>
                                        <p:cTn id="185" dur="500"/>
                                        <p:tgtEl>
                                          <p:spTgt spid="330820"/>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2" fill="hold" grpId="0" nodeType="clickEffect">
                                  <p:stCondLst>
                                    <p:cond delay="0"/>
                                  </p:stCondLst>
                                  <p:childTnLst>
                                    <p:set>
                                      <p:cBhvr>
                                        <p:cTn id="189" dur="1" fill="hold">
                                          <p:stCondLst>
                                            <p:cond delay="0"/>
                                          </p:stCondLst>
                                        </p:cTn>
                                        <p:tgtEl>
                                          <p:spTgt spid="330801"/>
                                        </p:tgtEl>
                                        <p:attrNameLst>
                                          <p:attrName>style.visibility</p:attrName>
                                        </p:attrNameLst>
                                      </p:cBhvr>
                                      <p:to>
                                        <p:strVal val="visible"/>
                                      </p:to>
                                    </p:set>
                                    <p:animEffect transition="in" filter="wipe(right)">
                                      <p:cBhvr>
                                        <p:cTn id="190" dur="500"/>
                                        <p:tgtEl>
                                          <p:spTgt spid="330801"/>
                                        </p:tgtEl>
                                      </p:cBhvr>
                                    </p:animEffect>
                                  </p:childTnLst>
                                </p:cTn>
                              </p:par>
                            </p:childTnLst>
                          </p:cTn>
                        </p:par>
                        <p:par>
                          <p:cTn id="191" fill="hold">
                            <p:stCondLst>
                              <p:cond delay="500"/>
                            </p:stCondLst>
                            <p:childTnLst>
                              <p:par>
                                <p:cTn id="192" presetID="22" presetClass="entr" presetSubtype="2" fill="hold" grpId="0" nodeType="afterEffect">
                                  <p:stCondLst>
                                    <p:cond delay="0"/>
                                  </p:stCondLst>
                                  <p:childTnLst>
                                    <p:set>
                                      <p:cBhvr>
                                        <p:cTn id="193" dur="1" fill="hold">
                                          <p:stCondLst>
                                            <p:cond delay="0"/>
                                          </p:stCondLst>
                                        </p:cTn>
                                        <p:tgtEl>
                                          <p:spTgt spid="330802"/>
                                        </p:tgtEl>
                                        <p:attrNameLst>
                                          <p:attrName>style.visibility</p:attrName>
                                        </p:attrNameLst>
                                      </p:cBhvr>
                                      <p:to>
                                        <p:strVal val="visible"/>
                                      </p:to>
                                    </p:set>
                                    <p:animEffect transition="in" filter="wipe(right)">
                                      <p:cBhvr>
                                        <p:cTn id="194" dur="500"/>
                                        <p:tgtEl>
                                          <p:spTgt spid="330802"/>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330819"/>
                                        </p:tgtEl>
                                        <p:attrNameLst>
                                          <p:attrName>style.visibility</p:attrName>
                                        </p:attrNameLst>
                                      </p:cBhvr>
                                      <p:to>
                                        <p:strVal val="visible"/>
                                      </p:to>
                                    </p:set>
                                    <p:animEffect transition="in" filter="fade">
                                      <p:cBhvr>
                                        <p:cTn id="197" dur="500"/>
                                        <p:tgtEl>
                                          <p:spTgt spid="330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5" grpId="0" animBg="1"/>
      <p:bldP spid="330756" grpId="0" animBg="1"/>
      <p:bldP spid="330757" grpId="0" animBg="1"/>
      <p:bldP spid="330758" grpId="0" animBg="1"/>
      <p:bldP spid="330759" grpId="0" animBg="1"/>
      <p:bldP spid="330760" grpId="0" animBg="1"/>
      <p:bldP spid="330761" grpId="0" animBg="1"/>
      <p:bldP spid="330762" grpId="0" animBg="1"/>
      <p:bldP spid="330763" grpId="0" animBg="1"/>
      <p:bldP spid="330764" grpId="0" animBg="1"/>
      <p:bldP spid="330765" grpId="0" animBg="1"/>
      <p:bldP spid="330766" grpId="0" animBg="1"/>
      <p:bldP spid="330770" grpId="0" animBg="1"/>
      <p:bldP spid="330771" grpId="0" animBg="1"/>
      <p:bldP spid="330772" grpId="0" animBg="1"/>
      <p:bldP spid="330773" grpId="0" animBg="1"/>
      <p:bldP spid="330784" grpId="0" animBg="1"/>
      <p:bldP spid="330797" grpId="0" animBg="1"/>
      <p:bldP spid="330798" grpId="0" animBg="1"/>
      <p:bldP spid="330799" grpId="0" animBg="1"/>
      <p:bldP spid="330800" grpId="0" animBg="1"/>
      <p:bldP spid="330801" grpId="0" animBg="1"/>
      <p:bldP spid="330802" grpId="0" animBg="1"/>
      <p:bldP spid="330803" grpId="0" animBg="1"/>
      <p:bldP spid="330804" grpId="0" animBg="1"/>
      <p:bldP spid="330805" grpId="0" animBg="1"/>
      <p:bldP spid="330806" grpId="0" animBg="1"/>
      <p:bldP spid="330807" grpId="0" animBg="1"/>
      <p:bldP spid="330808" grpId="0" animBg="1"/>
      <p:bldP spid="330810" grpId="0" animBg="1"/>
      <p:bldP spid="330811" grpId="0" animBg="1"/>
      <p:bldP spid="330812" grpId="0"/>
      <p:bldP spid="330813" grpId="0"/>
      <p:bldP spid="330815" grpId="0"/>
      <p:bldP spid="330814" grpId="0"/>
      <p:bldP spid="330816" grpId="0"/>
      <p:bldP spid="330817" grpId="0"/>
      <p:bldP spid="330818" grpId="0"/>
      <p:bldP spid="330819" grpId="0"/>
      <p:bldP spid="330820" grpId="0"/>
      <p:bldP spid="330821" grpId="0"/>
      <p:bldP spid="330822" grpId="0"/>
      <p:bldP spid="330823" grpId="0"/>
      <p:bldP spid="330824" grpId="0"/>
      <p:bldP spid="330825" grpId="0"/>
      <p:bldP spid="7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Rot="1" noChangeArrowheads="1"/>
          </p:cNvSpPr>
          <p:nvPr>
            <p:ph type="title"/>
          </p:nvPr>
        </p:nvSpPr>
        <p:spPr/>
        <p:txBody>
          <a:bodyPr>
            <a:normAutofit/>
          </a:bodyPr>
          <a:lstStyle/>
          <a:p>
            <a:r>
              <a:rPr lang="en-US" sz="4000" spc="0" dirty="0"/>
              <a:t>THE NATIONAL ACCOUNTS</a:t>
            </a:r>
          </a:p>
        </p:txBody>
      </p:sp>
      <p:sp>
        <p:nvSpPr>
          <p:cNvPr id="313347" name="Rectangle 3"/>
          <p:cNvSpPr>
            <a:spLocks noGrp="1" noChangeArrowheads="1"/>
          </p:cNvSpPr>
          <p:nvPr>
            <p:ph idx="1"/>
          </p:nvPr>
        </p:nvSpPr>
        <p:spPr>
          <a:xfrm>
            <a:off x="228600" y="762000"/>
            <a:ext cx="8839200" cy="4876800"/>
          </a:xfrm>
        </p:spPr>
        <p:txBody>
          <a:bodyPr>
            <a:noAutofit/>
          </a:bodyPr>
          <a:lstStyle/>
          <a:p>
            <a:pPr>
              <a:spcBef>
                <a:spcPts val="0"/>
              </a:spcBef>
              <a:spcAft>
                <a:spcPts val="1800"/>
              </a:spcAft>
            </a:pPr>
            <a:r>
              <a:rPr lang="en-US" b="1" dirty="0"/>
              <a:t>Households don’t spend all of their disposable income. Some of it is saved in the financial markets.</a:t>
            </a:r>
          </a:p>
          <a:p>
            <a:pPr>
              <a:spcBef>
                <a:spcPts val="0"/>
              </a:spcBef>
              <a:spcAft>
                <a:spcPts val="1800"/>
              </a:spcAft>
            </a:pPr>
            <a:r>
              <a:rPr lang="en-US" i="1" dirty="0">
                <a:solidFill>
                  <a:schemeClr val="accent2"/>
                </a:solidFill>
              </a:rPr>
              <a:t>Private savings: </a:t>
            </a:r>
            <a:r>
              <a:rPr lang="en-US" b="0" dirty="0"/>
              <a:t>disposable income minus consumer spending.</a:t>
            </a:r>
          </a:p>
          <a:p>
            <a:pPr>
              <a:spcBef>
                <a:spcPts val="0"/>
              </a:spcBef>
              <a:spcAft>
                <a:spcPts val="1800"/>
              </a:spcAft>
            </a:pPr>
            <a:r>
              <a:rPr lang="en-US" i="1" dirty="0">
                <a:solidFill>
                  <a:srgbClr val="C0504D"/>
                </a:solidFill>
              </a:rPr>
              <a:t>Financial markets: </a:t>
            </a:r>
            <a:r>
              <a:rPr lang="en-US" b="0" dirty="0"/>
              <a:t>the </a:t>
            </a:r>
            <a:r>
              <a:rPr lang="en-US" dirty="0"/>
              <a:t>banking, stock, </a:t>
            </a:r>
            <a:r>
              <a:rPr lang="en-US" b="0" dirty="0"/>
              <a:t>and</a:t>
            </a:r>
            <a:r>
              <a:rPr lang="en-US" dirty="0"/>
              <a:t> bond markets,</a:t>
            </a:r>
            <a:r>
              <a:rPr lang="en-US" b="0" dirty="0"/>
              <a:t> which channel private savings and foreign lending into investment spending, government borrowing, and foreign borrowing.</a:t>
            </a:r>
          </a:p>
        </p:txBody>
      </p:sp>
    </p:spTree>
    <p:extLst>
      <p:ext uri="{BB962C8B-B14F-4D97-AF65-F5344CB8AC3E}">
        <p14:creationId xmlns:p14="http://schemas.microsoft.com/office/powerpoint/2010/main" val="3908399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Rot="1" noChangeArrowheads="1"/>
          </p:cNvSpPr>
          <p:nvPr>
            <p:ph type="title"/>
          </p:nvPr>
        </p:nvSpPr>
        <p:spPr/>
        <p:txBody>
          <a:bodyPr>
            <a:normAutofit/>
          </a:bodyPr>
          <a:lstStyle/>
          <a:p>
            <a:r>
              <a:rPr lang="en-US" sz="4000" spc="0" dirty="0"/>
              <a:t>THE NATIONAL ACCOUNTS</a:t>
            </a:r>
          </a:p>
        </p:txBody>
      </p:sp>
      <p:sp>
        <p:nvSpPr>
          <p:cNvPr id="314371" name="Rectangle 3"/>
          <p:cNvSpPr>
            <a:spLocks noGrp="1" noChangeArrowheads="1"/>
          </p:cNvSpPr>
          <p:nvPr>
            <p:ph idx="1"/>
          </p:nvPr>
        </p:nvSpPr>
        <p:spPr>
          <a:xfrm>
            <a:off x="152400" y="990600"/>
            <a:ext cx="8915400" cy="4495800"/>
          </a:xfrm>
          <a:solidFill>
            <a:schemeClr val="bg1">
              <a:alpha val="51000"/>
            </a:schemeClr>
          </a:solidFill>
        </p:spPr>
        <p:txBody>
          <a:bodyPr>
            <a:noAutofit/>
          </a:bodyPr>
          <a:lstStyle/>
          <a:p>
            <a:pPr>
              <a:spcBef>
                <a:spcPts val="0"/>
              </a:spcBef>
              <a:spcAft>
                <a:spcPts val="1800"/>
              </a:spcAft>
            </a:pPr>
            <a:r>
              <a:rPr lang="en-US" b="1" dirty="0"/>
              <a:t>The government spends and borrows for various reasons.</a:t>
            </a:r>
          </a:p>
          <a:p>
            <a:pPr>
              <a:spcBef>
                <a:spcPts val="0"/>
              </a:spcBef>
              <a:spcAft>
                <a:spcPts val="1800"/>
              </a:spcAft>
            </a:pPr>
            <a:r>
              <a:rPr lang="en-US" i="1" dirty="0">
                <a:solidFill>
                  <a:schemeClr val="accent2"/>
                </a:solidFill>
              </a:rPr>
              <a:t>Government</a:t>
            </a:r>
            <a:r>
              <a:rPr lang="en-US" i="1" dirty="0">
                <a:solidFill>
                  <a:srgbClr val="990033"/>
                </a:solidFill>
              </a:rPr>
              <a:t> </a:t>
            </a:r>
            <a:r>
              <a:rPr lang="en-US" i="1" dirty="0">
                <a:solidFill>
                  <a:schemeClr val="accent2"/>
                </a:solidFill>
              </a:rPr>
              <a:t>borrowing</a:t>
            </a:r>
            <a:r>
              <a:rPr lang="en-US" i="1" dirty="0">
                <a:solidFill>
                  <a:srgbClr val="990033"/>
                </a:solidFill>
              </a:rPr>
              <a:t>: </a:t>
            </a:r>
            <a:r>
              <a:rPr lang="en-US" b="0" dirty="0"/>
              <a:t>the total amount of funds borrowed by federal, state, and local governments in the financial markets.</a:t>
            </a:r>
            <a:endParaRPr lang="en-US" i="1" dirty="0">
              <a:solidFill>
                <a:srgbClr val="990033"/>
              </a:solidFill>
            </a:endParaRPr>
          </a:p>
          <a:p>
            <a:pPr>
              <a:spcBef>
                <a:spcPts val="0"/>
              </a:spcBef>
              <a:spcAft>
                <a:spcPts val="1800"/>
              </a:spcAft>
            </a:pPr>
            <a:r>
              <a:rPr lang="en-US" i="1" dirty="0">
                <a:solidFill>
                  <a:schemeClr val="accent2"/>
                </a:solidFill>
              </a:rPr>
              <a:t>Government</a:t>
            </a:r>
            <a:r>
              <a:rPr lang="en-US" i="1" dirty="0">
                <a:solidFill>
                  <a:srgbClr val="990033"/>
                </a:solidFill>
              </a:rPr>
              <a:t> </a:t>
            </a:r>
            <a:r>
              <a:rPr lang="en-US" i="1" dirty="0">
                <a:solidFill>
                  <a:schemeClr val="accent2"/>
                </a:solidFill>
              </a:rPr>
              <a:t>purchases</a:t>
            </a:r>
            <a:r>
              <a:rPr lang="en-US" i="1" dirty="0">
                <a:solidFill>
                  <a:srgbClr val="990033"/>
                </a:solidFill>
              </a:rPr>
              <a:t> </a:t>
            </a:r>
            <a:r>
              <a:rPr lang="en-US" i="1" dirty="0">
                <a:solidFill>
                  <a:schemeClr val="accent2"/>
                </a:solidFill>
              </a:rPr>
              <a:t>of</a:t>
            </a:r>
            <a:r>
              <a:rPr lang="en-US" i="1" dirty="0">
                <a:solidFill>
                  <a:srgbClr val="990033"/>
                </a:solidFill>
              </a:rPr>
              <a:t> </a:t>
            </a:r>
            <a:r>
              <a:rPr lang="en-US" i="1" dirty="0">
                <a:solidFill>
                  <a:schemeClr val="accent2"/>
                </a:solidFill>
              </a:rPr>
              <a:t>goods</a:t>
            </a:r>
            <a:r>
              <a:rPr lang="en-US" i="1" dirty="0">
                <a:solidFill>
                  <a:srgbClr val="990033"/>
                </a:solidFill>
              </a:rPr>
              <a:t> </a:t>
            </a:r>
            <a:r>
              <a:rPr lang="en-US" i="1" dirty="0">
                <a:solidFill>
                  <a:schemeClr val="accent2"/>
                </a:solidFill>
              </a:rPr>
              <a:t>and</a:t>
            </a:r>
            <a:r>
              <a:rPr lang="en-US" i="1" dirty="0">
                <a:solidFill>
                  <a:srgbClr val="990033"/>
                </a:solidFill>
              </a:rPr>
              <a:t> </a:t>
            </a:r>
            <a:r>
              <a:rPr lang="en-US" i="1" dirty="0">
                <a:solidFill>
                  <a:schemeClr val="accent2"/>
                </a:solidFill>
              </a:rPr>
              <a:t>services:</a:t>
            </a:r>
            <a:r>
              <a:rPr lang="en-US" i="1" dirty="0">
                <a:solidFill>
                  <a:srgbClr val="990033"/>
                </a:solidFill>
              </a:rPr>
              <a:t> </a:t>
            </a:r>
            <a:r>
              <a:rPr lang="en-US" b="0" dirty="0"/>
              <a:t>total expenditures on goods and services by federal, state, and local governments</a:t>
            </a:r>
            <a:r>
              <a:rPr lang="en-US" b="0" i="1" dirty="0"/>
              <a:t>. </a:t>
            </a:r>
          </a:p>
        </p:txBody>
      </p:sp>
    </p:spTree>
    <p:extLst>
      <p:ext uri="{BB962C8B-B14F-4D97-AF65-F5344CB8AC3E}">
        <p14:creationId xmlns:p14="http://schemas.microsoft.com/office/powerpoint/2010/main" val="146132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alphaModFix amt="4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14370" name="Rectangle 2"/>
          <p:cNvSpPr>
            <a:spLocks noGrp="1" noRot="1" noChangeArrowheads="1"/>
          </p:cNvSpPr>
          <p:nvPr>
            <p:ph type="title"/>
          </p:nvPr>
        </p:nvSpPr>
        <p:spPr/>
        <p:txBody>
          <a:bodyPr>
            <a:normAutofit/>
          </a:bodyPr>
          <a:lstStyle/>
          <a:p>
            <a:r>
              <a:rPr lang="en-US" sz="4000" spc="0" dirty="0"/>
              <a:t>THE NATIONAL ACCOUNTS</a:t>
            </a:r>
          </a:p>
        </p:txBody>
      </p:sp>
      <p:sp>
        <p:nvSpPr>
          <p:cNvPr id="314371" name="Rectangle 3"/>
          <p:cNvSpPr>
            <a:spLocks noGrp="1" noChangeArrowheads="1"/>
          </p:cNvSpPr>
          <p:nvPr>
            <p:ph idx="1"/>
          </p:nvPr>
        </p:nvSpPr>
        <p:spPr>
          <a:xfrm>
            <a:off x="0" y="1600200"/>
            <a:ext cx="9144000" cy="3886200"/>
          </a:xfrm>
          <a:solidFill>
            <a:schemeClr val="bg1">
              <a:alpha val="51000"/>
            </a:schemeClr>
          </a:solidFill>
        </p:spPr>
        <p:txBody>
          <a:bodyPr>
            <a:noAutofit/>
          </a:bodyPr>
          <a:lstStyle/>
          <a:p>
            <a:r>
              <a:rPr lang="en-US" sz="2800" b="1" dirty="0"/>
              <a:t>The government spends and borrows for various reasons.</a:t>
            </a:r>
          </a:p>
          <a:p>
            <a:r>
              <a:rPr lang="en-US" sz="2800" i="1" dirty="0">
                <a:solidFill>
                  <a:srgbClr val="990033"/>
                </a:solidFill>
              </a:rPr>
              <a:t>Government borrowing: </a:t>
            </a:r>
            <a:r>
              <a:rPr lang="en-US" sz="2800" b="0" dirty="0"/>
              <a:t>the total amount of funds borrowed by federal, state, and local governments in the financial markets.</a:t>
            </a:r>
            <a:endParaRPr lang="en-US" sz="2800" i="1" dirty="0">
              <a:solidFill>
                <a:srgbClr val="990033"/>
              </a:solidFill>
            </a:endParaRPr>
          </a:p>
          <a:p>
            <a:r>
              <a:rPr lang="en-US" sz="2800" i="1" dirty="0">
                <a:solidFill>
                  <a:srgbClr val="990033"/>
                </a:solidFill>
              </a:rPr>
              <a:t>Government purchases of goods and services: </a:t>
            </a:r>
            <a:r>
              <a:rPr lang="en-US" sz="2800" b="0" dirty="0"/>
              <a:t>total expenditures on goods and services by federal, state, and local governments</a:t>
            </a:r>
            <a:r>
              <a:rPr lang="en-US" sz="2800" b="0" i="1" dirty="0"/>
              <a:t>. </a:t>
            </a:r>
          </a:p>
        </p:txBody>
      </p:sp>
    </p:spTree>
    <p:extLst>
      <p:ext uri="{BB962C8B-B14F-4D97-AF65-F5344CB8AC3E}">
        <p14:creationId xmlns:p14="http://schemas.microsoft.com/office/powerpoint/2010/main" val="533323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alphaModFix amt="64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alpha val="59000"/>
            </a:schemeClr>
          </a:solidFill>
        </p:spPr>
        <p:txBody>
          <a:bodyPr>
            <a:normAutofit/>
          </a:bodyPr>
          <a:lstStyle/>
          <a:p>
            <a:r>
              <a:rPr lang="en-US" sz="4000" spc="0" dirty="0"/>
              <a:t>THE NATIONAL ACCOUNTS</a:t>
            </a:r>
          </a:p>
        </p:txBody>
      </p:sp>
      <p:sp>
        <p:nvSpPr>
          <p:cNvPr id="3" name="Content Placeholder 2"/>
          <p:cNvSpPr>
            <a:spLocks noGrp="1"/>
          </p:cNvSpPr>
          <p:nvPr>
            <p:ph idx="1"/>
          </p:nvPr>
        </p:nvSpPr>
        <p:spPr>
          <a:xfrm>
            <a:off x="-12700" y="3657600"/>
            <a:ext cx="9156700" cy="2209800"/>
          </a:xfrm>
          <a:solidFill>
            <a:schemeClr val="bg1">
              <a:alpha val="77000"/>
            </a:schemeClr>
          </a:solidFill>
        </p:spPr>
        <p:txBody>
          <a:bodyPr>
            <a:normAutofit/>
          </a:bodyPr>
          <a:lstStyle/>
          <a:p>
            <a:r>
              <a:rPr lang="en-US" i="1" dirty="0">
                <a:solidFill>
                  <a:srgbClr val="990033"/>
                </a:solidFill>
              </a:rPr>
              <a:t>Exports:</a:t>
            </a:r>
            <a:r>
              <a:rPr lang="en-US" b="0" dirty="0"/>
              <a:t> goods and services sold to other countries. </a:t>
            </a:r>
          </a:p>
          <a:p>
            <a:r>
              <a:rPr lang="en-US" i="1" dirty="0">
                <a:solidFill>
                  <a:srgbClr val="990033"/>
                </a:solidFill>
              </a:rPr>
              <a:t>Imports:</a:t>
            </a:r>
            <a:r>
              <a:rPr lang="en-US" b="0" dirty="0"/>
              <a:t> goods and services purchased from other countries.</a:t>
            </a:r>
          </a:p>
          <a:p>
            <a:endParaRPr lang="en-US" dirty="0"/>
          </a:p>
        </p:txBody>
      </p:sp>
    </p:spTree>
    <p:extLst>
      <p:ext uri="{BB962C8B-B14F-4D97-AF65-F5344CB8AC3E}">
        <p14:creationId xmlns:p14="http://schemas.microsoft.com/office/powerpoint/2010/main" val="296885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alphaModFix amt="6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15394" name="Rectangle 2"/>
          <p:cNvSpPr>
            <a:spLocks noGrp="1" noRot="1" noChangeArrowheads="1"/>
          </p:cNvSpPr>
          <p:nvPr>
            <p:ph type="title"/>
          </p:nvPr>
        </p:nvSpPr>
        <p:spPr>
          <a:solidFill>
            <a:schemeClr val="accent5">
              <a:lumMod val="20000"/>
              <a:lumOff val="80000"/>
              <a:alpha val="73000"/>
            </a:schemeClr>
          </a:solidFill>
        </p:spPr>
        <p:txBody>
          <a:bodyPr>
            <a:normAutofit/>
          </a:bodyPr>
          <a:lstStyle/>
          <a:p>
            <a:r>
              <a:rPr lang="en-US" sz="4000" spc="0" dirty="0"/>
              <a:t>THE NATIONAL ACCOUNTS</a:t>
            </a:r>
          </a:p>
        </p:txBody>
      </p:sp>
      <p:sp>
        <p:nvSpPr>
          <p:cNvPr id="315395" name="Rectangle 3"/>
          <p:cNvSpPr>
            <a:spLocks noGrp="1" noChangeArrowheads="1"/>
          </p:cNvSpPr>
          <p:nvPr>
            <p:ph idx="1"/>
          </p:nvPr>
        </p:nvSpPr>
        <p:spPr>
          <a:xfrm>
            <a:off x="0" y="2133600"/>
            <a:ext cx="9144000" cy="3810000"/>
          </a:xfrm>
          <a:solidFill>
            <a:schemeClr val="bg1">
              <a:alpha val="74000"/>
            </a:schemeClr>
          </a:solidFill>
        </p:spPr>
        <p:txBody>
          <a:bodyPr>
            <a:noAutofit/>
          </a:bodyPr>
          <a:lstStyle/>
          <a:p>
            <a:r>
              <a:rPr lang="en-US" i="1" dirty="0">
                <a:solidFill>
                  <a:srgbClr val="990033"/>
                </a:solidFill>
              </a:rPr>
              <a:t>Inventories: </a:t>
            </a:r>
            <a:r>
              <a:rPr lang="en-US" b="0" dirty="0"/>
              <a:t>stocks of goods and raw materials held to facilitate business operations.</a:t>
            </a:r>
          </a:p>
          <a:p>
            <a:r>
              <a:rPr lang="en-US" i="1" dirty="0">
                <a:solidFill>
                  <a:srgbClr val="990033"/>
                </a:solidFill>
              </a:rPr>
              <a:t>Investment spending: </a:t>
            </a:r>
            <a:r>
              <a:rPr lang="en-US" b="0" dirty="0"/>
              <a:t>spending on productive physical capital, such as machinery and construction of structures, and on changes to inventories.</a:t>
            </a:r>
          </a:p>
        </p:txBody>
      </p:sp>
    </p:spTree>
    <p:extLst>
      <p:ext uri="{BB962C8B-B14F-4D97-AF65-F5344CB8AC3E}">
        <p14:creationId xmlns:p14="http://schemas.microsoft.com/office/powerpoint/2010/main" val="270332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email">
            <a:alphaModFix amt="6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alpha val="63000"/>
            </a:schemeClr>
          </a:solidFill>
        </p:spPr>
        <p:txBody>
          <a:bodyPr>
            <a:normAutofit/>
          </a:bodyPr>
          <a:lstStyle/>
          <a:p>
            <a:pPr eaLnBrk="1" hangingPunct="1">
              <a:defRPr/>
            </a:pPr>
            <a:r>
              <a:rPr lang="en-US" sz="4000" spc="0" dirty="0"/>
              <a:t>WHAT IS GDP?</a:t>
            </a:r>
          </a:p>
        </p:txBody>
      </p:sp>
      <p:sp>
        <p:nvSpPr>
          <p:cNvPr id="3" name="Content Placeholder 2"/>
          <p:cNvSpPr>
            <a:spLocks noGrp="1"/>
          </p:cNvSpPr>
          <p:nvPr>
            <p:ph idx="1"/>
          </p:nvPr>
        </p:nvSpPr>
        <p:spPr>
          <a:xfrm>
            <a:off x="2438400" y="2667000"/>
            <a:ext cx="5029200" cy="4648200"/>
          </a:xfrm>
          <a:noFill/>
          <a:scene3d>
            <a:camera prst="perspectiveRelaxedModerately"/>
            <a:lightRig rig="threePt" dir="t"/>
          </a:scene3d>
        </p:spPr>
        <p:txBody>
          <a:bodyPr>
            <a:normAutofit/>
          </a:bodyPr>
          <a:lstStyle/>
          <a:p>
            <a:pPr algn="ctr" eaLnBrk="1" hangingPunct="1">
              <a:defRPr/>
            </a:pPr>
            <a:r>
              <a:rPr lang="en-US" sz="2800" dirty="0">
                <a:solidFill>
                  <a:srgbClr val="990033"/>
                </a:solidFill>
              </a:rPr>
              <a:t>Gross domestic </a:t>
            </a:r>
          </a:p>
          <a:p>
            <a:pPr algn="ctr" eaLnBrk="1" hangingPunct="1">
              <a:defRPr/>
            </a:pPr>
            <a:r>
              <a:rPr lang="en-US" sz="2800" dirty="0">
                <a:solidFill>
                  <a:srgbClr val="990033"/>
                </a:solidFill>
              </a:rPr>
              <a:t>product (GDP):  </a:t>
            </a:r>
          </a:p>
          <a:p>
            <a:pPr algn="ctr" eaLnBrk="1" hangingPunct="1">
              <a:defRPr/>
            </a:pPr>
            <a:r>
              <a:rPr lang="en-US" sz="2800" dirty="0"/>
              <a:t>the market value </a:t>
            </a:r>
          </a:p>
          <a:p>
            <a:pPr algn="ctr" eaLnBrk="1" hangingPunct="1">
              <a:defRPr/>
            </a:pPr>
            <a:r>
              <a:rPr lang="en-US" sz="2800" dirty="0"/>
              <a:t>of all final </a:t>
            </a:r>
          </a:p>
          <a:p>
            <a:pPr algn="ctr" eaLnBrk="1" hangingPunct="1">
              <a:defRPr/>
            </a:pPr>
            <a:r>
              <a:rPr lang="en-US" sz="2800" dirty="0"/>
              <a:t>goods and services</a:t>
            </a:r>
          </a:p>
          <a:p>
            <a:pPr algn="ctr" eaLnBrk="1" hangingPunct="1">
              <a:defRPr/>
            </a:pPr>
            <a:r>
              <a:rPr lang="en-US" sz="2800" dirty="0"/>
              <a:t> produced</a:t>
            </a:r>
          </a:p>
          <a:p>
            <a:pPr algn="ctr" eaLnBrk="1" hangingPunct="1">
              <a:defRPr/>
            </a:pPr>
            <a:r>
              <a:rPr lang="en-US" sz="2800" dirty="0"/>
              <a:t> within a country </a:t>
            </a:r>
          </a:p>
          <a:p>
            <a:pPr algn="ctr" eaLnBrk="1" hangingPunct="1">
              <a:defRPr/>
            </a:pPr>
            <a:r>
              <a:rPr lang="en-US" sz="2800" dirty="0"/>
              <a:t>in a year.</a:t>
            </a:r>
          </a:p>
          <a:p>
            <a:pPr algn="ctr" eaLnBrk="1" hangingPunct="1">
              <a:defRPr/>
            </a:pPr>
            <a:endParaRPr lang="en-US" sz="2800" dirty="0"/>
          </a:p>
        </p:txBody>
      </p:sp>
    </p:spTree>
    <p:extLst>
      <p:ext uri="{BB962C8B-B14F-4D97-AF65-F5344CB8AC3E}">
        <p14:creationId xmlns:p14="http://schemas.microsoft.com/office/powerpoint/2010/main" val="373360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Rot="1" noChangeArrowheads="1"/>
          </p:cNvSpPr>
          <p:nvPr>
            <p:ph type="title"/>
          </p:nvPr>
        </p:nvSpPr>
        <p:spPr>
          <a:xfrm>
            <a:off x="0" y="0"/>
            <a:ext cx="9144000" cy="1295400"/>
          </a:xfrm>
        </p:spPr>
        <p:txBody>
          <a:bodyPr>
            <a:normAutofit fontScale="90000"/>
          </a:bodyPr>
          <a:lstStyle/>
          <a:p>
            <a:r>
              <a:rPr lang="en-US" spc="0" dirty="0"/>
              <a:t>CALCULATING GROSS DOMESTIC PRODUCT</a:t>
            </a:r>
          </a:p>
        </p:txBody>
      </p:sp>
      <p:sp>
        <p:nvSpPr>
          <p:cNvPr id="317443" name="Rectangle 3"/>
          <p:cNvSpPr>
            <a:spLocks noGrp="1" noChangeArrowheads="1"/>
          </p:cNvSpPr>
          <p:nvPr>
            <p:ph idx="1"/>
          </p:nvPr>
        </p:nvSpPr>
        <p:spPr>
          <a:xfrm>
            <a:off x="25400" y="1524000"/>
            <a:ext cx="8839200" cy="4648200"/>
          </a:xfrm>
        </p:spPr>
        <p:txBody>
          <a:bodyPr>
            <a:noAutofit/>
          </a:bodyPr>
          <a:lstStyle/>
          <a:p>
            <a:pPr>
              <a:spcAft>
                <a:spcPct val="20000"/>
              </a:spcAft>
            </a:pPr>
            <a:r>
              <a:rPr lang="en-US" sz="3600" dirty="0"/>
              <a:t>GDP can be calculated three ways:</a:t>
            </a:r>
          </a:p>
          <a:p>
            <a:pPr marL="971550" lvl="1" indent="-514350">
              <a:spcAft>
                <a:spcPct val="20000"/>
              </a:spcAft>
              <a:buFont typeface="+mj-lt"/>
              <a:buAutoNum type="arabicPeriod"/>
            </a:pPr>
            <a:r>
              <a:rPr lang="en-US" sz="3200" dirty="0"/>
              <a:t>Add up the </a:t>
            </a:r>
            <a:r>
              <a:rPr lang="en-US" sz="3200" i="1" dirty="0">
                <a:solidFill>
                  <a:schemeClr val="accent2"/>
                </a:solidFill>
              </a:rPr>
              <a:t>total v</a:t>
            </a:r>
            <a:r>
              <a:rPr lang="en-US" sz="3200" b="1" i="1" dirty="0">
                <a:solidFill>
                  <a:schemeClr val="accent2"/>
                </a:solidFill>
              </a:rPr>
              <a:t>alue of all final goods and services produced</a:t>
            </a:r>
            <a:endParaRPr lang="en-US" sz="3200" dirty="0"/>
          </a:p>
          <a:p>
            <a:pPr marL="971550" lvl="1" indent="-514350">
              <a:spcAft>
                <a:spcPct val="20000"/>
              </a:spcAft>
              <a:buFont typeface="+mj-lt"/>
              <a:buAutoNum type="arabicPeriod"/>
            </a:pPr>
            <a:r>
              <a:rPr lang="en-US" sz="3200" dirty="0"/>
              <a:t>Add up all </a:t>
            </a:r>
            <a:r>
              <a:rPr lang="en-US" sz="3200" dirty="0">
                <a:solidFill>
                  <a:srgbClr val="C0504D"/>
                </a:solidFill>
              </a:rPr>
              <a:t>spending on domestically produced final goods and services. </a:t>
            </a:r>
          </a:p>
          <a:p>
            <a:pPr marL="971550" lvl="1" indent="-514350">
              <a:spcAft>
                <a:spcPct val="20000"/>
              </a:spcAft>
              <a:buFont typeface="+mj-lt"/>
              <a:buAutoNum type="arabicPeriod"/>
            </a:pPr>
            <a:r>
              <a:rPr lang="en-US" sz="3200" dirty="0"/>
              <a:t>Add up the </a:t>
            </a:r>
            <a:r>
              <a:rPr lang="en-US" sz="3200" i="1" dirty="0">
                <a:solidFill>
                  <a:srgbClr val="C0504D"/>
                </a:solidFill>
              </a:rPr>
              <a:t>total factor income earned by households </a:t>
            </a:r>
            <a:r>
              <a:rPr lang="en-US" sz="3200" dirty="0"/>
              <a:t>from firms in the economy</a:t>
            </a:r>
            <a:endParaRPr lang="en-US" sz="3200" dirty="0">
              <a:solidFill>
                <a:srgbClr val="C0504D"/>
              </a:solidFill>
            </a:endParaRPr>
          </a:p>
        </p:txBody>
      </p:sp>
    </p:spTree>
    <p:extLst>
      <p:ext uri="{BB962C8B-B14F-4D97-AF65-F5344CB8AC3E}">
        <p14:creationId xmlns:p14="http://schemas.microsoft.com/office/powerpoint/2010/main" val="981960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SPENDING = INCOME</a:t>
            </a:r>
          </a:p>
        </p:txBody>
      </p:sp>
      <p:sp>
        <p:nvSpPr>
          <p:cNvPr id="3" name="Content Placeholder 2"/>
          <p:cNvSpPr>
            <a:spLocks noGrp="1"/>
          </p:cNvSpPr>
          <p:nvPr>
            <p:ph idx="1"/>
          </p:nvPr>
        </p:nvSpPr>
        <p:spPr>
          <a:xfrm>
            <a:off x="0" y="838200"/>
            <a:ext cx="8839200" cy="4495800"/>
          </a:xfrm>
        </p:spPr>
        <p:txBody>
          <a:bodyPr/>
          <a:lstStyle/>
          <a:p>
            <a:r>
              <a:rPr lang="en-US" sz="3200" dirty="0"/>
              <a:t>It doesn’t matter HOW we measure the production, since one person’s spending is another’s income.</a:t>
            </a:r>
            <a:endParaRPr lang="en-US" sz="2800" dirty="0"/>
          </a:p>
          <a:p>
            <a:pPr lvl="1">
              <a:buNone/>
            </a:pPr>
            <a:endParaRPr lang="en-US" sz="2800" dirty="0"/>
          </a:p>
        </p:txBody>
      </p:sp>
      <p:pic>
        <p:nvPicPr>
          <p:cNvPr id="96260" name="Picture 4" descr="http://www.sxc.hu/pic/l/a/ad/adassel/1157738_90970018.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981200" y="2432050"/>
            <a:ext cx="4953000" cy="3714750"/>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0" y="6096000"/>
            <a:ext cx="8991600" cy="400110"/>
          </a:xfrm>
          <a:prstGeom prst="rect">
            <a:avLst/>
          </a:prstGeom>
          <a:noFill/>
          <a:effectLst/>
        </p:spPr>
        <p:txBody>
          <a:bodyPr wrap="square" rtlCol="0">
            <a:spAutoFit/>
          </a:bodyPr>
          <a:lstStyle/>
          <a:p>
            <a:r>
              <a:rPr lang="en-US" sz="2000" b="1" i="1" dirty="0">
                <a:solidFill>
                  <a:schemeClr val="tx1">
                    <a:lumMod val="75000"/>
                    <a:lumOff val="25000"/>
                  </a:schemeClr>
                </a:solidFill>
                <a:latin typeface="Century Gothic"/>
                <a:cs typeface="Century Gothic"/>
              </a:rPr>
              <a:t>$10 for a shave?  Barber’s income of $10 = customer’s spending of $10.</a:t>
            </a:r>
          </a:p>
        </p:txBody>
      </p:sp>
    </p:spTree>
    <p:extLst>
      <p:ext uri="{BB962C8B-B14F-4D97-AF65-F5344CB8AC3E}">
        <p14:creationId xmlns:p14="http://schemas.microsoft.com/office/powerpoint/2010/main" val="418976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fade">
                                      <p:cBhvr>
                                        <p:cTn id="7" dur="2000"/>
                                        <p:tgtEl>
                                          <p:spTgt spid="9626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sz="4000" spc="0" dirty="0"/>
              <a:t>WHAT IS GDP?</a:t>
            </a:r>
          </a:p>
        </p:txBody>
      </p:sp>
      <p:sp>
        <p:nvSpPr>
          <p:cNvPr id="3" name="Content Placeholder 2"/>
          <p:cNvSpPr>
            <a:spLocks noGrp="1"/>
          </p:cNvSpPr>
          <p:nvPr>
            <p:ph idx="1"/>
          </p:nvPr>
        </p:nvSpPr>
        <p:spPr>
          <a:xfrm>
            <a:off x="228600" y="990600"/>
            <a:ext cx="6175375" cy="4648200"/>
          </a:xfrm>
        </p:spPr>
        <p:txBody>
          <a:bodyPr>
            <a:noAutofit/>
          </a:bodyPr>
          <a:lstStyle/>
          <a:p>
            <a:pPr eaLnBrk="1" hangingPunct="1"/>
            <a:r>
              <a:rPr lang="en-US" sz="3600" dirty="0"/>
              <a:t>…Produced…</a:t>
            </a:r>
          </a:p>
          <a:p>
            <a:pPr marL="398463" lvl="1" indent="-227013" eaLnBrk="1" hangingPunct="1"/>
            <a:r>
              <a:rPr lang="en-US" sz="3200" dirty="0"/>
              <a:t>GDP measures </a:t>
            </a:r>
            <a:r>
              <a:rPr lang="en-US" sz="3200" i="1" dirty="0">
                <a:solidFill>
                  <a:srgbClr val="990033"/>
                </a:solidFill>
              </a:rPr>
              <a:t>production</a:t>
            </a:r>
            <a:r>
              <a:rPr lang="en-US" sz="3200" dirty="0">
                <a:solidFill>
                  <a:srgbClr val="990033"/>
                </a:solidFill>
              </a:rPr>
              <a:t>.</a:t>
            </a:r>
            <a:endParaRPr lang="en-US" sz="3200" i="1" dirty="0">
              <a:solidFill>
                <a:srgbClr val="990033"/>
              </a:solidFill>
            </a:endParaRPr>
          </a:p>
          <a:p>
            <a:pPr marL="398463" lvl="1" indent="-227013" eaLnBrk="1" hangingPunct="1"/>
            <a:r>
              <a:rPr lang="en-US" sz="3200" dirty="0"/>
              <a:t>Sale of </a:t>
            </a:r>
            <a:r>
              <a:rPr lang="en-US" sz="3200" i="1" dirty="0"/>
              <a:t>used</a:t>
            </a:r>
            <a:r>
              <a:rPr lang="en-US" sz="3200" dirty="0"/>
              <a:t> goods: </a:t>
            </a:r>
            <a:r>
              <a:rPr lang="en-US" sz="3200" i="1" dirty="0">
                <a:solidFill>
                  <a:srgbClr val="990033"/>
                </a:solidFill>
              </a:rPr>
              <a:t>NOT</a:t>
            </a:r>
            <a:r>
              <a:rPr lang="en-US" sz="3200" dirty="0"/>
              <a:t> included.</a:t>
            </a:r>
          </a:p>
          <a:p>
            <a:pPr marL="398463" lvl="1" indent="-227013" eaLnBrk="1" hangingPunct="1"/>
            <a:r>
              <a:rPr lang="en-US" sz="3200" dirty="0"/>
              <a:t>The sale of </a:t>
            </a:r>
            <a:r>
              <a:rPr lang="en-US" sz="3200" i="1" dirty="0"/>
              <a:t>financial assets, </a:t>
            </a:r>
            <a:r>
              <a:rPr lang="en-US" sz="3200" dirty="0"/>
              <a:t>such as stocks and bonds, are not included.</a:t>
            </a:r>
          </a:p>
          <a:p>
            <a:pPr eaLnBrk="1" hangingPunct="1">
              <a:buFont typeface="Arial" pitchFamily="34" charset="0"/>
              <a:buNone/>
            </a:pPr>
            <a:endParaRPr lang="en-US" sz="3600" dirty="0"/>
          </a:p>
        </p:txBody>
      </p:sp>
      <p:pic>
        <p:nvPicPr>
          <p:cNvPr id="5" name="Picture 4" descr="2008_0610malta10198.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03975" y="1143000"/>
            <a:ext cx="2743200" cy="37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a:spLocks noChangeArrowheads="1"/>
          </p:cNvSpPr>
          <p:nvPr/>
        </p:nvSpPr>
        <p:spPr bwMode="auto">
          <a:xfrm>
            <a:off x="6402388" y="4906962"/>
            <a:ext cx="2743200" cy="1569660"/>
          </a:xfrm>
          <a:prstGeom prst="rect">
            <a:avLst/>
          </a:prstGeom>
          <a:solidFill>
            <a:schemeClr val="accent3">
              <a:lumMod val="40000"/>
              <a:lumOff val="60000"/>
            </a:schemeClr>
          </a:solidFill>
          <a:ln>
            <a:noFill/>
          </a:ln>
        </p:spPr>
        <p:txBody>
          <a:bodyPr>
            <a:spAutoFit/>
          </a:bodyPr>
          <a:lstStyle>
            <a:lvl1pPr marL="342900" indent="-342900" eaLnBrk="0" hangingPunct="0">
              <a:defRPr>
                <a:solidFill>
                  <a:schemeClr val="tx1"/>
                </a:solidFill>
                <a:latin typeface="Arial" pitchFamily="34" charset="0"/>
              </a:defRPr>
            </a:lvl1pPr>
            <a:lvl2pPr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lvl="1" eaLnBrk="1" hangingPunct="1"/>
            <a:r>
              <a:rPr lang="en-US" sz="2400" b="1" dirty="0">
                <a:latin typeface="Century Gothic"/>
                <a:cs typeface="Century Gothic"/>
              </a:rPr>
              <a:t>This building’s value was counted when it was built.</a:t>
            </a:r>
            <a:endParaRPr lang="en-US" sz="2400" b="1" i="1" dirty="0">
              <a:solidFill>
                <a:srgbClr val="009900"/>
              </a:solidFill>
              <a:latin typeface="Century Gothic"/>
              <a:cs typeface="Century Gothic"/>
            </a:endParaRPr>
          </a:p>
        </p:txBody>
      </p:sp>
    </p:spTree>
    <p:extLst>
      <p:ext uri="{BB962C8B-B14F-4D97-AF65-F5344CB8AC3E}">
        <p14:creationId xmlns:p14="http://schemas.microsoft.com/office/powerpoint/2010/main" val="8266398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childTnLst>
                          </p:cTn>
                        </p:par>
                        <p:par>
                          <p:cTn id="8" fill="hold" nodeType="with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1000"/>
                                        <p:tgtEl>
                                          <p:spTgt spid="3">
                                            <p:txEl>
                                              <p:pRg st="2" end="2"/>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childTnLst>
                                </p:cTn>
                              </p:par>
                            </p:childTnLst>
                          </p:cTn>
                        </p:par>
                        <p:par>
                          <p:cTn id="18" fill="hold" nodeType="withGroup">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sz="4000" spc="0" dirty="0"/>
              <a:t>WHAT IS GDP?</a:t>
            </a:r>
          </a:p>
        </p:txBody>
      </p:sp>
      <p:sp>
        <p:nvSpPr>
          <p:cNvPr id="3" name="Content Placeholder 2"/>
          <p:cNvSpPr>
            <a:spLocks noGrp="1"/>
          </p:cNvSpPr>
          <p:nvPr>
            <p:ph idx="1"/>
          </p:nvPr>
        </p:nvSpPr>
        <p:spPr>
          <a:xfrm>
            <a:off x="76200" y="1066800"/>
            <a:ext cx="8839200" cy="4038600"/>
          </a:xfrm>
          <a:solidFill>
            <a:schemeClr val="bg1">
              <a:alpha val="74000"/>
            </a:schemeClr>
          </a:solidFill>
        </p:spPr>
        <p:txBody>
          <a:bodyPr>
            <a:normAutofit/>
          </a:bodyPr>
          <a:lstStyle/>
          <a:p>
            <a:pPr eaLnBrk="1" hangingPunct="1">
              <a:defRPr/>
            </a:pPr>
            <a:r>
              <a:rPr lang="en-US" i="1" dirty="0"/>
              <a:t>…Within a Country…</a:t>
            </a:r>
          </a:p>
          <a:p>
            <a:pPr marL="398463" lvl="1" indent="6350" eaLnBrk="1" hangingPunct="1">
              <a:defRPr/>
            </a:pPr>
            <a:r>
              <a:rPr lang="en-US" dirty="0">
                <a:solidFill>
                  <a:srgbClr val="990033"/>
                </a:solidFill>
              </a:rPr>
              <a:t>Only production that takes place within the borders of a country is included in GDP.</a:t>
            </a:r>
          </a:p>
          <a:p>
            <a:pPr marL="741363" lvl="1" indent="-336550" eaLnBrk="1" hangingPunct="1">
              <a:defRPr/>
            </a:pPr>
            <a:r>
              <a:rPr lang="en-US" dirty="0"/>
              <a:t>Examples:</a:t>
            </a:r>
          </a:p>
          <a:p>
            <a:pPr marL="627063" lvl="2" eaLnBrk="1" hangingPunct="1">
              <a:defRPr/>
            </a:pPr>
            <a:r>
              <a:rPr lang="en-US" sz="2800" dirty="0"/>
              <a:t>Cars produced in Mexico by American firms: </a:t>
            </a:r>
            <a:r>
              <a:rPr lang="en-US" sz="2800" i="1" dirty="0">
                <a:solidFill>
                  <a:srgbClr val="990033"/>
                </a:solidFill>
              </a:rPr>
              <a:t>NOT</a:t>
            </a:r>
            <a:r>
              <a:rPr lang="en-US" sz="2800" dirty="0">
                <a:solidFill>
                  <a:srgbClr val="990033"/>
                </a:solidFill>
              </a:rPr>
              <a:t> </a:t>
            </a:r>
            <a:r>
              <a:rPr lang="en-US" sz="2800" dirty="0"/>
              <a:t>included in the U.S. GDP.</a:t>
            </a:r>
          </a:p>
          <a:p>
            <a:pPr marL="627063" lvl="2">
              <a:defRPr/>
            </a:pPr>
            <a:r>
              <a:rPr lang="en-US" sz="2800" dirty="0"/>
              <a:t>Cars produced in the U.S. by Japanese firms </a:t>
            </a:r>
            <a:r>
              <a:rPr lang="en-US" sz="2800" i="1" dirty="0">
                <a:solidFill>
                  <a:srgbClr val="990033"/>
                </a:solidFill>
              </a:rPr>
              <a:t>ARE </a:t>
            </a:r>
            <a:r>
              <a:rPr lang="en-US" sz="2800" dirty="0"/>
              <a:t>included in the U.S. GDP.</a:t>
            </a:r>
          </a:p>
          <a:p>
            <a:pPr eaLnBrk="1" hangingPunct="1">
              <a:defRPr/>
            </a:pPr>
            <a:endParaRPr lang="en-US" dirty="0"/>
          </a:p>
        </p:txBody>
      </p:sp>
    </p:spTree>
    <p:extLst>
      <p:ext uri="{BB962C8B-B14F-4D97-AF65-F5344CB8AC3E}">
        <p14:creationId xmlns:p14="http://schemas.microsoft.com/office/powerpoint/2010/main" val="461911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nodeType="with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nodeType="with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childTnLst>
                                </p:cTn>
                              </p:par>
                            </p:childTnLst>
                          </p:cTn>
                        </p:par>
                        <p:par>
                          <p:cTn id="20" fill="hold" nodeType="with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066800"/>
            <a:ext cx="8458200" cy="5060950"/>
          </a:xfrm>
        </p:spPr>
        <p:txBody>
          <a:bodyPr>
            <a:noAutofit/>
          </a:bodyPr>
          <a:lstStyle/>
          <a:p>
            <a:r>
              <a:rPr lang="en-US" sz="2600" dirty="0"/>
              <a:t>Are the following included in U.S. GDP? (1) The price paid by a German tourist when staying at a New York hotel. (2) The price paid by an American tourist when staying at a Berlin hotel.	</a:t>
            </a:r>
          </a:p>
          <a:p>
            <a:pPr marL="742950" indent="-742950">
              <a:buFont typeface="+mj-lt"/>
              <a:buAutoNum type="alphaLcParenR"/>
            </a:pPr>
            <a:r>
              <a:rPr lang="en-US" sz="2600" dirty="0"/>
              <a:t>Both are included in U.S. GDP.</a:t>
            </a:r>
          </a:p>
          <a:p>
            <a:pPr marL="742950" indent="-742950">
              <a:buFont typeface="+mj-lt"/>
              <a:buAutoNum type="alphaLcParenR"/>
            </a:pPr>
            <a:r>
              <a:rPr lang="en-US" sz="2600" dirty="0"/>
              <a:t>Neither is included in U.S. GDP.</a:t>
            </a:r>
          </a:p>
          <a:p>
            <a:pPr marL="742950" indent="-742950">
              <a:buFont typeface="+mj-lt"/>
              <a:buAutoNum type="alphaLcParenR"/>
            </a:pPr>
            <a:r>
              <a:rPr lang="en-US" sz="2600" dirty="0"/>
              <a:t>Only the price paid by a German tourist when staying at a New York hotel is included in U.S. GDP. </a:t>
            </a:r>
          </a:p>
          <a:p>
            <a:pPr marL="742950" indent="-742950">
              <a:buFont typeface="+mj-lt"/>
              <a:buAutoNum type="alphaLcParenR"/>
            </a:pPr>
            <a:r>
              <a:rPr lang="en-US" sz="2600" dirty="0"/>
              <a:t>Only the price paid by an American tourist when staying at a Berlin hotel is included U.S. GDP.</a:t>
            </a:r>
          </a:p>
        </p:txBody>
      </p:sp>
      <p:sp>
        <p:nvSpPr>
          <p:cNvPr id="4" name="Rectangle 3"/>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477689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sz="4000" spc="0" dirty="0"/>
              <a:t>WHAT IS GDP?</a:t>
            </a:r>
          </a:p>
        </p:txBody>
      </p:sp>
      <p:sp>
        <p:nvSpPr>
          <p:cNvPr id="3" name="Content Placeholder 2"/>
          <p:cNvSpPr>
            <a:spLocks noGrp="1"/>
          </p:cNvSpPr>
          <p:nvPr>
            <p:ph idx="1"/>
          </p:nvPr>
        </p:nvSpPr>
        <p:spPr>
          <a:solidFill>
            <a:schemeClr val="bg1">
              <a:alpha val="32000"/>
            </a:schemeClr>
          </a:solidFill>
        </p:spPr>
        <p:txBody>
          <a:bodyPr/>
          <a:lstStyle/>
          <a:p>
            <a:pPr eaLnBrk="1" hangingPunct="1"/>
            <a:r>
              <a:rPr lang="en-US" sz="3600" dirty="0"/>
              <a:t>…in a </a:t>
            </a:r>
            <a:r>
              <a:rPr lang="en-US" sz="3600" i="1" dirty="0"/>
              <a:t>year</a:t>
            </a:r>
            <a:r>
              <a:rPr lang="en-US" sz="3600" dirty="0"/>
              <a:t>.</a:t>
            </a:r>
          </a:p>
          <a:p>
            <a:pPr marL="682625" lvl="1" indent="-336550" eaLnBrk="1" hangingPunct="1"/>
            <a:r>
              <a:rPr lang="en-US" sz="3400" dirty="0"/>
              <a:t>GDP is like </a:t>
            </a:r>
            <a:r>
              <a:rPr lang="en-US" sz="3400" i="1" dirty="0">
                <a:solidFill>
                  <a:srgbClr val="990033"/>
                </a:solidFill>
              </a:rPr>
              <a:t>annual income:</a:t>
            </a:r>
          </a:p>
          <a:p>
            <a:pPr lvl="2" eaLnBrk="1" hangingPunct="1"/>
            <a:r>
              <a:rPr lang="en-US" sz="3200" dirty="0"/>
              <a:t>it measures a rate of production during a given period.</a:t>
            </a:r>
          </a:p>
          <a:p>
            <a:pPr marL="682625" lvl="1" indent="-336550" eaLnBrk="1" hangingPunct="1"/>
            <a:r>
              <a:rPr lang="en-US" sz="3400" dirty="0"/>
              <a:t>For the current quarter’s GDP data, visit the U.S. Bureau of Economic Analysis </a:t>
            </a:r>
            <a:r>
              <a:rPr lang="en-US" sz="3400" dirty="0">
                <a:hlinkClick r:id="rId3"/>
              </a:rPr>
              <a:t>here</a:t>
            </a:r>
            <a:r>
              <a:rPr lang="en-US" sz="3400" dirty="0"/>
              <a:t>.</a:t>
            </a:r>
            <a:endParaRPr lang="en-US" dirty="0"/>
          </a:p>
        </p:txBody>
      </p:sp>
      <p:pic>
        <p:nvPicPr>
          <p:cNvPr id="5" name="Picture 4">
            <a:hlinkClick r:id="rId3"/>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609975" y="4724400"/>
            <a:ext cx="3130550" cy="3841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85080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nodeType="with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nodeType="with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839200" cy="4525963"/>
          </a:xfrm>
        </p:spPr>
        <p:txBody>
          <a:bodyPr>
            <a:noAutofit/>
          </a:bodyPr>
          <a:lstStyle/>
          <a:p>
            <a:r>
              <a:rPr lang="en-US" sz="2800" dirty="0">
                <a:solidFill>
                  <a:srgbClr val="0070C0"/>
                </a:solidFill>
              </a:rPr>
              <a:t>GDP: WHAT’S IN AND WHAT’S OUT</a:t>
            </a:r>
            <a:endParaRPr lang="en-US" sz="2800" b="0" i="1" dirty="0">
              <a:solidFill>
                <a:srgbClr val="0070C0"/>
              </a:solidFill>
            </a:endParaRPr>
          </a:p>
          <a:p>
            <a:r>
              <a:rPr lang="en-US" sz="2800" i="1" dirty="0">
                <a:solidFill>
                  <a:schemeClr val="accent6">
                    <a:lumMod val="75000"/>
                  </a:schemeClr>
                </a:solidFill>
              </a:rPr>
              <a:t>Included</a:t>
            </a:r>
          </a:p>
          <a:p>
            <a:pPr marL="571500" indent="-571500">
              <a:buClr>
                <a:schemeClr val="accent3"/>
              </a:buClr>
              <a:buFont typeface="Wingdings" pitchFamily="2" charset="2"/>
              <a:buChar char="§"/>
            </a:pPr>
            <a:r>
              <a:rPr lang="en-US" sz="2400" b="0" dirty="0"/>
              <a:t>Domestically produced final goods and services, including capital goods, new construction of structures, and changes to inventories</a:t>
            </a:r>
          </a:p>
          <a:p>
            <a:r>
              <a:rPr lang="en-US" sz="2800" i="1" dirty="0">
                <a:solidFill>
                  <a:schemeClr val="accent6">
                    <a:lumMod val="75000"/>
                  </a:schemeClr>
                </a:solidFill>
              </a:rPr>
              <a:t>Not Included</a:t>
            </a:r>
          </a:p>
          <a:p>
            <a:pPr marL="571500" indent="-571500">
              <a:buClr>
                <a:schemeClr val="accent3"/>
              </a:buClr>
              <a:buFont typeface="Wingdings" pitchFamily="2" charset="2"/>
              <a:buChar char="§"/>
            </a:pPr>
            <a:r>
              <a:rPr lang="en-US" sz="2400" b="0" dirty="0"/>
              <a:t>Intermediate goods and services</a:t>
            </a:r>
          </a:p>
          <a:p>
            <a:pPr marL="571500" indent="-571500">
              <a:buClr>
                <a:schemeClr val="accent3"/>
              </a:buClr>
              <a:buFont typeface="Wingdings" pitchFamily="2" charset="2"/>
              <a:buChar char="§"/>
            </a:pPr>
            <a:r>
              <a:rPr lang="en-US" sz="2400" b="0" dirty="0"/>
              <a:t>Inputs</a:t>
            </a:r>
          </a:p>
          <a:p>
            <a:pPr marL="571500" indent="-571500">
              <a:buClr>
                <a:schemeClr val="accent3"/>
              </a:buClr>
              <a:buFont typeface="Wingdings" pitchFamily="2" charset="2"/>
              <a:buChar char="§"/>
            </a:pPr>
            <a:r>
              <a:rPr lang="en-US" sz="2400" b="0" dirty="0"/>
              <a:t>Used goods</a:t>
            </a:r>
          </a:p>
          <a:p>
            <a:pPr marL="571500" indent="-571500">
              <a:buClr>
                <a:schemeClr val="accent3"/>
              </a:buClr>
              <a:buFont typeface="Wingdings" pitchFamily="2" charset="2"/>
              <a:buChar char="§"/>
            </a:pPr>
            <a:r>
              <a:rPr lang="en-US" sz="2400" b="0" dirty="0"/>
              <a:t>Financial assets, such as stocks and bonds</a:t>
            </a:r>
          </a:p>
          <a:p>
            <a:pPr marL="571500" indent="-571500">
              <a:buClr>
                <a:schemeClr val="accent3"/>
              </a:buClr>
              <a:buFont typeface="Wingdings" pitchFamily="2" charset="2"/>
              <a:buChar char="§"/>
            </a:pPr>
            <a:r>
              <a:rPr lang="en-US" sz="2400" b="0" dirty="0"/>
              <a:t>Goods and services produced outside this country</a:t>
            </a:r>
          </a:p>
        </p:txBody>
      </p:sp>
    </p:spTree>
    <p:extLst>
      <p:ext uri="{BB962C8B-B14F-4D97-AF65-F5344CB8AC3E}">
        <p14:creationId xmlns:p14="http://schemas.microsoft.com/office/powerpoint/2010/main" val="3166436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67200" y="1410234"/>
            <a:ext cx="4800600" cy="4648200"/>
          </a:xfrm>
        </p:spPr>
        <p:txBody>
          <a:bodyPr>
            <a:noAutofit/>
          </a:bodyPr>
          <a:lstStyle/>
          <a:p>
            <a:r>
              <a:rPr lang="en-US" sz="2800" dirty="0">
                <a:solidFill>
                  <a:srgbClr val="E46C0A"/>
                </a:solidFill>
                <a:latin typeface="Century Gothic"/>
                <a:cs typeface="Century Gothic"/>
              </a:rPr>
              <a:t>OUR IMPUTED LIVES</a:t>
            </a:r>
          </a:p>
          <a:p>
            <a:r>
              <a:rPr lang="en-US" sz="2800" dirty="0">
                <a:latin typeface="Century Gothic"/>
                <a:cs typeface="Century Gothic"/>
              </a:rPr>
              <a:t>Problem: GDP does not count the value of services family members provide to each other… </a:t>
            </a:r>
            <a:r>
              <a:rPr lang="en-US" sz="2800" dirty="0">
                <a:solidFill>
                  <a:schemeClr val="accent5">
                    <a:lumMod val="75000"/>
                  </a:schemeClr>
                </a:solidFill>
                <a:latin typeface="Century Gothic"/>
                <a:cs typeface="Century Gothic"/>
              </a:rPr>
              <a:t>except for the estimated value of housing “services” </a:t>
            </a:r>
            <a:r>
              <a:rPr lang="en-US" sz="2800" dirty="0">
                <a:latin typeface="Century Gothic"/>
                <a:cs typeface="Century Gothic"/>
              </a:rPr>
              <a:t>for those that own their home (instead of renting)</a:t>
            </a:r>
          </a:p>
        </p:txBody>
      </p:sp>
      <p:pic>
        <p:nvPicPr>
          <p:cNvPr id="5" name="Picture 4"/>
          <p:cNvPicPr>
            <a:picLocks noChangeAspect="1"/>
          </p:cNvPicPr>
          <p:nvPr/>
        </p:nvPicPr>
        <p:blipFill>
          <a:blip r:embed="rId3"/>
          <a:stretch>
            <a:fillRect/>
          </a:stretch>
        </p:blipFill>
        <p:spPr>
          <a:xfrm>
            <a:off x="152400" y="1447800"/>
            <a:ext cx="4059712" cy="4648200"/>
          </a:xfrm>
          <a:prstGeom prst="rect">
            <a:avLst/>
          </a:prstGeom>
        </p:spPr>
      </p:pic>
    </p:spTree>
    <p:extLst>
      <p:ext uri="{BB962C8B-B14F-4D97-AF65-F5344CB8AC3E}">
        <p14:creationId xmlns:p14="http://schemas.microsoft.com/office/powerpoint/2010/main" val="3214809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METHOD 1: VALUE ADDED</a:t>
            </a:r>
          </a:p>
        </p:txBody>
      </p:sp>
      <p:sp>
        <p:nvSpPr>
          <p:cNvPr id="3" name="Content Placeholder 2"/>
          <p:cNvSpPr>
            <a:spLocks noGrp="1"/>
          </p:cNvSpPr>
          <p:nvPr>
            <p:ph idx="1"/>
          </p:nvPr>
        </p:nvSpPr>
        <p:spPr>
          <a:xfrm>
            <a:off x="228600" y="990600"/>
            <a:ext cx="8839200" cy="1828800"/>
          </a:xfrm>
        </p:spPr>
        <p:txBody>
          <a:bodyPr/>
          <a:lstStyle/>
          <a:p>
            <a:r>
              <a:rPr lang="en-US" i="1" dirty="0">
                <a:solidFill>
                  <a:srgbClr val="990033"/>
                </a:solidFill>
              </a:rPr>
              <a:t>Value added </a:t>
            </a:r>
            <a:r>
              <a:rPr lang="en-US" b="0" dirty="0"/>
              <a:t>of a producer is the value of its sales minus the value of its purchases of intermediate goods and services.</a:t>
            </a:r>
            <a:endParaRPr lang="en-US" dirty="0"/>
          </a:p>
        </p:txBody>
      </p:sp>
      <p:pic>
        <p:nvPicPr>
          <p:cNvPr id="49154" name="Picture 2" descr="http://www.sxc.hu/pic/l/l/le/len-k-a/328341_3644.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25036" y="3505199"/>
            <a:ext cx="2618963" cy="209595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Plus 4"/>
          <p:cNvSpPr/>
          <p:nvPr/>
        </p:nvSpPr>
        <p:spPr>
          <a:xfrm>
            <a:off x="2819400" y="4114800"/>
            <a:ext cx="914400" cy="914400"/>
          </a:xfrm>
          <a:prstGeom prst="mathPlus">
            <a:avLst>
              <a:gd name="adj1" fmla="val 19076"/>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Equal 5"/>
          <p:cNvSpPr/>
          <p:nvPr/>
        </p:nvSpPr>
        <p:spPr>
          <a:xfrm>
            <a:off x="5638800" y="4191000"/>
            <a:ext cx="838200" cy="685800"/>
          </a:xfrm>
          <a:prstGeom prst="mathEqual">
            <a:avLst>
              <a:gd name="adj1" fmla="val 18232"/>
              <a:gd name="adj2" fmla="val 1599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9156" name="Picture 4" descr="http://www.sxc.hu/pic/l/a/an/andrewp001/1194944_97232850.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0" y="3544097"/>
            <a:ext cx="2844800" cy="20910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733800" y="3735050"/>
            <a:ext cx="1905000" cy="1323439"/>
          </a:xfrm>
          <a:prstGeom prst="rect">
            <a:avLst/>
          </a:prstGeom>
          <a:noFill/>
        </p:spPr>
        <p:txBody>
          <a:bodyPr wrap="square" rtlCol="0">
            <a:spAutoFit/>
          </a:bodyPr>
          <a:lstStyle/>
          <a:p>
            <a:r>
              <a:rPr lang="en-US" sz="4000" b="1" dirty="0">
                <a:latin typeface="Century Gothic"/>
                <a:cs typeface="Century Gothic"/>
              </a:rPr>
              <a:t>value </a:t>
            </a:r>
          </a:p>
          <a:p>
            <a:r>
              <a:rPr lang="en-US" sz="4000" b="1" dirty="0">
                <a:latin typeface="Century Gothic"/>
                <a:cs typeface="Century Gothic"/>
              </a:rPr>
              <a:t>added</a:t>
            </a:r>
          </a:p>
        </p:txBody>
      </p:sp>
    </p:spTree>
    <p:extLst>
      <p:ext uri="{BB962C8B-B14F-4D97-AF65-F5344CB8AC3E}">
        <p14:creationId xmlns:p14="http://schemas.microsoft.com/office/powerpoint/2010/main" val="42548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fade">
                                      <p:cBhvr>
                                        <p:cTn id="7" dur="500"/>
                                        <p:tgtEl>
                                          <p:spTgt spid="4915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9154"/>
                                        </p:tgtEl>
                                        <p:attrNameLst>
                                          <p:attrName>style.visibility</p:attrName>
                                        </p:attrNameLst>
                                      </p:cBhvr>
                                      <p:to>
                                        <p:strVal val="visible"/>
                                      </p:to>
                                    </p:set>
                                    <p:animEffect transition="in" filter="fade">
                                      <p:cBhvr>
                                        <p:cTn id="23" dur="500"/>
                                        <p:tgtEl>
                                          <p:spTgt spid="49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alphaModFix amt="61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alpha val="71000"/>
            </a:schemeClr>
          </a:solidFill>
        </p:spPr>
        <p:txBody>
          <a:bodyPr>
            <a:normAutofit/>
          </a:bodyPr>
          <a:lstStyle/>
          <a:p>
            <a:r>
              <a:rPr lang="en-US" sz="4000" dirty="0"/>
              <a:t>METHOD 2: SPENDING</a:t>
            </a:r>
            <a:endParaRPr lang="en-US" sz="4000" spc="0" dirty="0"/>
          </a:p>
        </p:txBody>
      </p:sp>
      <p:sp>
        <p:nvSpPr>
          <p:cNvPr id="3" name="Content Placeholder 2"/>
          <p:cNvSpPr>
            <a:spLocks noGrp="1"/>
          </p:cNvSpPr>
          <p:nvPr>
            <p:ph idx="1"/>
          </p:nvPr>
        </p:nvSpPr>
        <p:spPr>
          <a:xfrm>
            <a:off x="0" y="1981200"/>
            <a:ext cx="9144000" cy="3657600"/>
          </a:xfrm>
          <a:solidFill>
            <a:schemeClr val="bg1">
              <a:alpha val="78000"/>
            </a:schemeClr>
          </a:solidFill>
        </p:spPr>
        <p:txBody>
          <a:bodyPr/>
          <a:lstStyle/>
          <a:p>
            <a:r>
              <a:rPr lang="en-US" i="1" dirty="0">
                <a:solidFill>
                  <a:srgbClr val="990033"/>
                </a:solidFill>
              </a:rPr>
              <a:t>Final goods and services: </a:t>
            </a:r>
            <a:r>
              <a:rPr lang="en-US" b="0" dirty="0"/>
              <a:t>goods and services sold to the final, or end, user.</a:t>
            </a:r>
          </a:p>
          <a:p>
            <a:r>
              <a:rPr lang="en-US" i="1" dirty="0">
                <a:solidFill>
                  <a:srgbClr val="990033"/>
                </a:solidFill>
              </a:rPr>
              <a:t>Intermediate goods and services: </a:t>
            </a:r>
            <a:r>
              <a:rPr lang="en-US" b="0" dirty="0"/>
              <a:t>goods and services (bought from one firm by another firm) that are </a:t>
            </a:r>
            <a:r>
              <a:rPr lang="en-US" dirty="0"/>
              <a:t>inputs</a:t>
            </a:r>
            <a:r>
              <a:rPr lang="en-US" b="0" dirty="0"/>
              <a:t> for production of </a:t>
            </a:r>
            <a:r>
              <a:rPr lang="en-US" dirty="0"/>
              <a:t>final goods and services.</a:t>
            </a:r>
          </a:p>
          <a:p>
            <a:endParaRPr lang="en-US" dirty="0"/>
          </a:p>
        </p:txBody>
      </p:sp>
    </p:spTree>
    <p:extLst>
      <p:ext uri="{BB962C8B-B14F-4D97-AF65-F5344CB8AC3E}">
        <p14:creationId xmlns:p14="http://schemas.microsoft.com/office/powerpoint/2010/main" val="3496237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2: SPENDING</a:t>
            </a:r>
          </a:p>
        </p:txBody>
      </p:sp>
      <p:sp>
        <p:nvSpPr>
          <p:cNvPr id="3" name="Content Placeholder 2"/>
          <p:cNvSpPr>
            <a:spLocks noGrp="1"/>
          </p:cNvSpPr>
          <p:nvPr>
            <p:ph idx="1"/>
          </p:nvPr>
        </p:nvSpPr>
        <p:spPr/>
        <p:txBody>
          <a:bodyPr>
            <a:normAutofit fontScale="92500" lnSpcReduction="20000"/>
          </a:bodyPr>
          <a:lstStyle/>
          <a:p>
            <a:pPr>
              <a:spcAft>
                <a:spcPct val="20000"/>
              </a:spcAft>
            </a:pPr>
            <a:r>
              <a:rPr lang="en-US" sz="3500" dirty="0"/>
              <a:t>Add up all </a:t>
            </a:r>
            <a:r>
              <a:rPr lang="en-US" sz="3500" dirty="0">
                <a:solidFill>
                  <a:srgbClr val="C0504D"/>
                </a:solidFill>
              </a:rPr>
              <a:t>spending on domestically produced final goods and services. </a:t>
            </a:r>
          </a:p>
          <a:p>
            <a:pPr>
              <a:spcAft>
                <a:spcPct val="20000"/>
              </a:spcAft>
            </a:pPr>
            <a:r>
              <a:rPr lang="en-US" sz="3000" dirty="0"/>
              <a:t>This results in the equation  </a:t>
            </a:r>
            <a:r>
              <a:rPr lang="en-US" sz="3000" dirty="0">
                <a:solidFill>
                  <a:schemeClr val="accent3">
                    <a:lumMod val="75000"/>
                  </a:schemeClr>
                </a:solidFill>
              </a:rPr>
              <a:t>GDP = </a:t>
            </a:r>
            <a:r>
              <a:rPr lang="en-US" sz="3000" i="1" dirty="0">
                <a:solidFill>
                  <a:schemeClr val="accent3">
                    <a:lumMod val="75000"/>
                  </a:schemeClr>
                </a:solidFill>
              </a:rPr>
              <a:t>C</a:t>
            </a:r>
            <a:r>
              <a:rPr lang="en-US" sz="3000" dirty="0">
                <a:solidFill>
                  <a:schemeClr val="accent3">
                    <a:lumMod val="75000"/>
                  </a:schemeClr>
                </a:solidFill>
              </a:rPr>
              <a:t> + </a:t>
            </a:r>
            <a:r>
              <a:rPr lang="en-US" sz="3000" i="1" dirty="0">
                <a:solidFill>
                  <a:schemeClr val="accent3">
                    <a:lumMod val="75000"/>
                  </a:schemeClr>
                </a:solidFill>
              </a:rPr>
              <a:t>I</a:t>
            </a:r>
            <a:r>
              <a:rPr lang="en-US" sz="3000" dirty="0">
                <a:solidFill>
                  <a:schemeClr val="accent3">
                    <a:lumMod val="75000"/>
                  </a:schemeClr>
                </a:solidFill>
              </a:rPr>
              <a:t> + </a:t>
            </a:r>
            <a:r>
              <a:rPr lang="en-US" sz="3000" i="1" dirty="0">
                <a:solidFill>
                  <a:schemeClr val="accent3">
                    <a:lumMod val="75000"/>
                  </a:schemeClr>
                </a:solidFill>
              </a:rPr>
              <a:t>G</a:t>
            </a:r>
            <a:r>
              <a:rPr lang="en-US" sz="3000" dirty="0">
                <a:solidFill>
                  <a:schemeClr val="accent3">
                    <a:lumMod val="75000"/>
                  </a:schemeClr>
                </a:solidFill>
              </a:rPr>
              <a:t> + </a:t>
            </a:r>
            <a:r>
              <a:rPr lang="en-US" sz="3000" i="1" dirty="0">
                <a:solidFill>
                  <a:schemeClr val="accent3">
                    <a:lumMod val="75000"/>
                  </a:schemeClr>
                </a:solidFill>
              </a:rPr>
              <a:t>X</a:t>
            </a:r>
            <a:r>
              <a:rPr lang="en-US" sz="3000" dirty="0">
                <a:solidFill>
                  <a:schemeClr val="accent3">
                    <a:lumMod val="75000"/>
                  </a:schemeClr>
                </a:solidFill>
              </a:rPr>
              <a:t> – </a:t>
            </a:r>
            <a:r>
              <a:rPr lang="en-US" sz="3000" i="1" dirty="0">
                <a:solidFill>
                  <a:schemeClr val="accent3">
                    <a:lumMod val="75000"/>
                  </a:schemeClr>
                </a:solidFill>
              </a:rPr>
              <a:t>IM</a:t>
            </a:r>
            <a:r>
              <a:rPr lang="en-US" sz="3000" i="1" dirty="0"/>
              <a:t> </a:t>
            </a:r>
            <a:r>
              <a:rPr lang="en-US" sz="3000" dirty="0"/>
              <a:t>where </a:t>
            </a:r>
          </a:p>
          <a:p>
            <a:pPr lvl="1">
              <a:spcAft>
                <a:spcPct val="20000"/>
              </a:spcAft>
            </a:pPr>
            <a:r>
              <a:rPr lang="en-US" i="1" dirty="0">
                <a:solidFill>
                  <a:srgbClr val="77933C"/>
                </a:solidFill>
              </a:rPr>
              <a:t>C</a:t>
            </a:r>
            <a:r>
              <a:rPr lang="en-US" dirty="0"/>
              <a:t> = consumer spending,</a:t>
            </a:r>
          </a:p>
          <a:p>
            <a:pPr lvl="1">
              <a:spcAft>
                <a:spcPct val="20000"/>
              </a:spcAft>
            </a:pPr>
            <a:r>
              <a:rPr lang="en-US" i="1" dirty="0">
                <a:solidFill>
                  <a:srgbClr val="77933C"/>
                </a:solidFill>
              </a:rPr>
              <a:t>I</a:t>
            </a:r>
            <a:r>
              <a:rPr lang="en-US" dirty="0"/>
              <a:t> = investment spending, </a:t>
            </a:r>
          </a:p>
          <a:p>
            <a:pPr lvl="1">
              <a:spcAft>
                <a:spcPct val="20000"/>
              </a:spcAft>
            </a:pPr>
            <a:r>
              <a:rPr lang="en-US" i="1" dirty="0">
                <a:solidFill>
                  <a:srgbClr val="77933C"/>
                </a:solidFill>
              </a:rPr>
              <a:t>G</a:t>
            </a:r>
            <a:r>
              <a:rPr lang="en-US" dirty="0"/>
              <a:t> = government purchases of goods and services, </a:t>
            </a:r>
          </a:p>
          <a:p>
            <a:pPr lvl="1">
              <a:spcAft>
                <a:spcPct val="20000"/>
              </a:spcAft>
            </a:pPr>
            <a:r>
              <a:rPr lang="en-US" i="1" dirty="0">
                <a:solidFill>
                  <a:srgbClr val="77933C"/>
                </a:solidFill>
              </a:rPr>
              <a:t>X</a:t>
            </a:r>
            <a:r>
              <a:rPr lang="en-US" dirty="0"/>
              <a:t> = sales to foreigners, and </a:t>
            </a:r>
          </a:p>
          <a:p>
            <a:pPr lvl="1">
              <a:spcAft>
                <a:spcPct val="20000"/>
              </a:spcAft>
            </a:pPr>
            <a:r>
              <a:rPr lang="en-US" i="1" dirty="0">
                <a:solidFill>
                  <a:srgbClr val="77933C"/>
                </a:solidFill>
              </a:rPr>
              <a:t>IM</a:t>
            </a:r>
            <a:r>
              <a:rPr lang="en-US" dirty="0"/>
              <a:t> = imports (purchases here of foreign goods… or income that has leaked across national borders).</a:t>
            </a:r>
          </a:p>
          <a:p>
            <a:endParaRPr lang="en-US" dirty="0"/>
          </a:p>
        </p:txBody>
      </p:sp>
    </p:spTree>
    <p:extLst>
      <p:ext uri="{BB962C8B-B14F-4D97-AF65-F5344CB8AC3E}">
        <p14:creationId xmlns:p14="http://schemas.microsoft.com/office/powerpoint/2010/main" val="1402881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6" name="Rectangle 6"/>
          <p:cNvSpPr>
            <a:spLocks noGrp="1" noRot="1" noChangeArrowheads="1"/>
          </p:cNvSpPr>
          <p:nvPr>
            <p:ph type="title"/>
          </p:nvPr>
        </p:nvSpPr>
        <p:spPr>
          <a:xfrm>
            <a:off x="0" y="0"/>
            <a:ext cx="9144000" cy="685800"/>
          </a:xfrm>
        </p:spPr>
        <p:txBody>
          <a:bodyPr>
            <a:normAutofit/>
          </a:bodyPr>
          <a:lstStyle/>
          <a:p>
            <a:r>
              <a:rPr lang="en-US" sz="3600" spc="0" dirty="0"/>
              <a:t>VALUE ADDED VS. SPENDING METHOD</a:t>
            </a:r>
          </a:p>
        </p:txBody>
      </p:sp>
      <p:sp>
        <p:nvSpPr>
          <p:cNvPr id="209928" name="Line 8"/>
          <p:cNvSpPr>
            <a:spLocks noChangeShapeType="1"/>
          </p:cNvSpPr>
          <p:nvPr/>
        </p:nvSpPr>
        <p:spPr bwMode="auto">
          <a:xfrm>
            <a:off x="1524000" y="609600"/>
            <a:ext cx="0" cy="586740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i="1" dirty="0">
              <a:latin typeface="Century Gothic"/>
              <a:cs typeface="Century Gothic"/>
            </a:endParaRPr>
          </a:p>
        </p:txBody>
      </p:sp>
      <p:sp>
        <p:nvSpPr>
          <p:cNvPr id="209929" name="Line 9"/>
          <p:cNvSpPr>
            <a:spLocks noChangeShapeType="1"/>
          </p:cNvSpPr>
          <p:nvPr/>
        </p:nvSpPr>
        <p:spPr bwMode="auto">
          <a:xfrm rot="5400000" flipH="1">
            <a:off x="4533900" y="2095500"/>
            <a:ext cx="0" cy="601980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i="1" dirty="0">
              <a:latin typeface="Century Gothic"/>
              <a:cs typeface="Century Gothic"/>
            </a:endParaRPr>
          </a:p>
        </p:txBody>
      </p:sp>
      <p:sp>
        <p:nvSpPr>
          <p:cNvPr id="209930" name="Rectangle 10"/>
          <p:cNvSpPr>
            <a:spLocks noChangeArrowheads="1"/>
          </p:cNvSpPr>
          <p:nvPr/>
        </p:nvSpPr>
        <p:spPr bwMode="auto">
          <a:xfrm>
            <a:off x="713217" y="762000"/>
            <a:ext cx="758485" cy="560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lnSpc>
                <a:spcPct val="100000"/>
              </a:lnSpc>
              <a:spcBef>
                <a:spcPct val="0"/>
              </a:spcBef>
              <a:buClrTx/>
              <a:buSzTx/>
              <a:buFontTx/>
              <a:buNone/>
            </a:pPr>
            <a:r>
              <a:rPr lang="en-US" sz="1400" i="1" dirty="0">
                <a:solidFill>
                  <a:srgbClr val="000000"/>
                </a:solidFill>
                <a:latin typeface="Century Gothic"/>
                <a:cs typeface="Century Gothic"/>
              </a:rPr>
              <a:t>$20,000</a:t>
            </a: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r>
              <a:rPr lang="en-US" sz="1400" i="1" dirty="0">
                <a:solidFill>
                  <a:srgbClr val="000000"/>
                </a:solidFill>
                <a:latin typeface="Century Gothic"/>
                <a:cs typeface="Century Gothic"/>
              </a:rPr>
              <a:t>$15,000</a:t>
            </a: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r>
              <a:rPr lang="en-US" sz="1400" i="1" dirty="0">
                <a:solidFill>
                  <a:srgbClr val="000000"/>
                </a:solidFill>
                <a:latin typeface="Century Gothic"/>
                <a:cs typeface="Century Gothic"/>
              </a:rPr>
              <a:t>10,000</a:t>
            </a: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r>
              <a:rPr lang="en-US" sz="1400" i="1" dirty="0">
                <a:solidFill>
                  <a:srgbClr val="000000"/>
                </a:solidFill>
                <a:latin typeface="Century Gothic"/>
                <a:cs typeface="Century Gothic"/>
              </a:rPr>
              <a:t>5,000</a:t>
            </a: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r>
              <a:rPr lang="en-US" sz="1400" i="1" dirty="0">
                <a:solidFill>
                  <a:srgbClr val="000000"/>
                </a:solidFill>
                <a:latin typeface="Century Gothic"/>
                <a:cs typeface="Century Gothic"/>
              </a:rPr>
              <a:t>0</a:t>
            </a: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endParaRPr lang="en-US" sz="1400" i="1" dirty="0">
              <a:solidFill>
                <a:srgbClr val="000000"/>
              </a:solidFill>
              <a:latin typeface="Century Gothic"/>
              <a:cs typeface="Century Gothic"/>
            </a:endParaRPr>
          </a:p>
          <a:p>
            <a:pPr algn="r">
              <a:lnSpc>
                <a:spcPct val="100000"/>
              </a:lnSpc>
              <a:spcBef>
                <a:spcPct val="0"/>
              </a:spcBef>
              <a:buClrTx/>
              <a:buSzTx/>
              <a:buFontTx/>
              <a:buNone/>
            </a:pPr>
            <a:r>
              <a:rPr lang="en-US" sz="1400" i="1" dirty="0">
                <a:solidFill>
                  <a:srgbClr val="000000"/>
                </a:solidFill>
                <a:latin typeface="Century Gothic"/>
                <a:cs typeface="Century Gothic"/>
              </a:rPr>
              <a:t>-5,000</a:t>
            </a:r>
            <a:endParaRPr lang="en-US" sz="1400" i="1" dirty="0">
              <a:latin typeface="Century Gothic"/>
              <a:cs typeface="Century Gothic"/>
            </a:endParaRPr>
          </a:p>
        </p:txBody>
      </p:sp>
      <p:sp>
        <p:nvSpPr>
          <p:cNvPr id="209931" name="Rectangle 11"/>
          <p:cNvSpPr>
            <a:spLocks noChangeArrowheads="1"/>
          </p:cNvSpPr>
          <p:nvPr/>
        </p:nvSpPr>
        <p:spPr bwMode="auto">
          <a:xfrm>
            <a:off x="1905000" y="2590800"/>
            <a:ext cx="2362200" cy="2514600"/>
          </a:xfrm>
          <a:prstGeom prst="rect">
            <a:avLst/>
          </a:prstGeom>
          <a:solidFill>
            <a:srgbClr val="FF5050"/>
          </a:solidFill>
          <a:ln>
            <a:noFill/>
          </a:ln>
          <a:effectLst/>
          <a:extLs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i="1" dirty="0">
              <a:latin typeface="Century Gothic"/>
              <a:cs typeface="Century Gothic"/>
            </a:endParaRPr>
          </a:p>
        </p:txBody>
      </p:sp>
      <p:sp>
        <p:nvSpPr>
          <p:cNvPr id="209932" name="Rectangle 12"/>
          <p:cNvSpPr>
            <a:spLocks noChangeArrowheads="1"/>
          </p:cNvSpPr>
          <p:nvPr/>
        </p:nvSpPr>
        <p:spPr bwMode="auto">
          <a:xfrm>
            <a:off x="5029200" y="2895600"/>
            <a:ext cx="2209800" cy="2209800"/>
          </a:xfrm>
          <a:prstGeom prst="rect">
            <a:avLst/>
          </a:prstGeom>
          <a:solidFill>
            <a:srgbClr val="0070C0"/>
          </a:solidFill>
          <a:ln>
            <a:noFill/>
          </a:ln>
          <a:effectLst/>
        </p:spPr>
        <p:txBody>
          <a:bodyPr wrap="none" anchor="ctr"/>
          <a:lstStyle/>
          <a:p>
            <a:endParaRPr lang="en-US" i="1" dirty="0">
              <a:latin typeface="Century Gothic"/>
              <a:cs typeface="Century Gothic"/>
            </a:endParaRPr>
          </a:p>
        </p:txBody>
      </p:sp>
      <p:sp>
        <p:nvSpPr>
          <p:cNvPr id="209933" name="Rectangle 13"/>
          <p:cNvSpPr>
            <a:spLocks noChangeArrowheads="1"/>
          </p:cNvSpPr>
          <p:nvPr/>
        </p:nvSpPr>
        <p:spPr bwMode="auto">
          <a:xfrm>
            <a:off x="5029200" y="2362200"/>
            <a:ext cx="2209800" cy="533400"/>
          </a:xfrm>
          <a:prstGeom prst="rect">
            <a:avLst/>
          </a:prstGeom>
          <a:solidFill>
            <a:srgbClr val="FF6600"/>
          </a:solidFill>
          <a:ln>
            <a:noFill/>
          </a:ln>
          <a:effectLst/>
          <a:extLs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1588" indent="-1588" algn="ctr"/>
            <a:endParaRPr lang="en-US" i="1" dirty="0">
              <a:latin typeface="Century Gothic"/>
              <a:cs typeface="Century Gothic"/>
            </a:endParaRPr>
          </a:p>
        </p:txBody>
      </p:sp>
      <p:sp>
        <p:nvSpPr>
          <p:cNvPr id="209934" name="Rectangle 14"/>
          <p:cNvSpPr>
            <a:spLocks noChangeArrowheads="1"/>
          </p:cNvSpPr>
          <p:nvPr/>
        </p:nvSpPr>
        <p:spPr bwMode="auto">
          <a:xfrm>
            <a:off x="5029200" y="1752600"/>
            <a:ext cx="2209800" cy="609600"/>
          </a:xfrm>
          <a:prstGeom prst="rect">
            <a:avLst/>
          </a:prstGeom>
          <a:solidFill>
            <a:srgbClr val="00A6A2"/>
          </a:solidFill>
          <a:ln>
            <a:noFill/>
          </a:ln>
          <a:effectLst/>
          <a:extLs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i="1" dirty="0">
              <a:latin typeface="Century Gothic"/>
              <a:cs typeface="Century Gothic"/>
            </a:endParaRPr>
          </a:p>
        </p:txBody>
      </p:sp>
      <p:sp>
        <p:nvSpPr>
          <p:cNvPr id="209935" name="Rectangle 15"/>
          <p:cNvSpPr>
            <a:spLocks noChangeArrowheads="1"/>
          </p:cNvSpPr>
          <p:nvPr/>
        </p:nvSpPr>
        <p:spPr bwMode="auto">
          <a:xfrm>
            <a:off x="1905000" y="2057400"/>
            <a:ext cx="2362200" cy="533400"/>
          </a:xfrm>
          <a:prstGeom prst="rect">
            <a:avLst/>
          </a:prstGeom>
          <a:solidFill>
            <a:schemeClr val="accent4"/>
          </a:solidFill>
          <a:ln>
            <a:noFill/>
          </a:ln>
          <a:effectLst/>
        </p:spPr>
        <p:txBody>
          <a:bodyPr wrap="none" anchor="ctr"/>
          <a:lstStyle/>
          <a:p>
            <a:pPr marL="1588" indent="-1588" algn="ctr"/>
            <a:endParaRPr lang="en-US" i="1" dirty="0">
              <a:latin typeface="Century Gothic"/>
              <a:cs typeface="Century Gothic"/>
            </a:endParaRPr>
          </a:p>
        </p:txBody>
      </p:sp>
      <p:sp>
        <p:nvSpPr>
          <p:cNvPr id="209936" name="Rectangle 16"/>
          <p:cNvSpPr>
            <a:spLocks noChangeArrowheads="1"/>
          </p:cNvSpPr>
          <p:nvPr/>
        </p:nvSpPr>
        <p:spPr bwMode="auto">
          <a:xfrm>
            <a:off x="1905000" y="1524000"/>
            <a:ext cx="2362200" cy="533400"/>
          </a:xfrm>
          <a:prstGeom prst="rect">
            <a:avLst/>
          </a:prstGeom>
          <a:solidFill>
            <a:srgbClr val="00A6A2"/>
          </a:solidFill>
          <a:ln>
            <a:noFill/>
          </a:ln>
          <a:effectLst/>
          <a:extLs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i="1" dirty="0">
              <a:latin typeface="Century Gothic"/>
              <a:cs typeface="Century Gothic"/>
            </a:endParaRPr>
          </a:p>
        </p:txBody>
      </p:sp>
      <p:sp>
        <p:nvSpPr>
          <p:cNvPr id="209937" name="Rectangle 17"/>
          <p:cNvSpPr>
            <a:spLocks noChangeArrowheads="1"/>
          </p:cNvSpPr>
          <p:nvPr/>
        </p:nvSpPr>
        <p:spPr bwMode="auto">
          <a:xfrm>
            <a:off x="1600200" y="1611868"/>
            <a:ext cx="2971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200" i="1" dirty="0">
                <a:solidFill>
                  <a:srgbClr val="FFFFFF"/>
                </a:solidFill>
                <a:latin typeface="Century Gothic"/>
                <a:cs typeface="Century Gothic"/>
              </a:rPr>
              <a:t>Value added by government </a:t>
            </a:r>
          </a:p>
          <a:p>
            <a:pPr algn="ctr">
              <a:lnSpc>
                <a:spcPct val="100000"/>
              </a:lnSpc>
              <a:spcBef>
                <a:spcPct val="0"/>
              </a:spcBef>
              <a:buClrTx/>
              <a:buSzTx/>
              <a:buFontTx/>
              <a:buNone/>
            </a:pPr>
            <a:r>
              <a:rPr lang="en-US" sz="1200" i="1" dirty="0">
                <a:solidFill>
                  <a:srgbClr val="FFFFFF"/>
                </a:solidFill>
                <a:latin typeface="Century Gothic"/>
                <a:cs typeface="Century Gothic"/>
              </a:rPr>
              <a:t>= 12.1%</a:t>
            </a:r>
          </a:p>
        </p:txBody>
      </p:sp>
      <p:sp>
        <p:nvSpPr>
          <p:cNvPr id="209938" name="Rectangle 18"/>
          <p:cNvSpPr>
            <a:spLocks noChangeArrowheads="1"/>
          </p:cNvSpPr>
          <p:nvPr/>
        </p:nvSpPr>
        <p:spPr bwMode="auto">
          <a:xfrm>
            <a:off x="1981200" y="2133600"/>
            <a:ext cx="2209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200" i="1" dirty="0">
                <a:solidFill>
                  <a:srgbClr val="FFFFFF"/>
                </a:solidFill>
                <a:latin typeface="Century Gothic"/>
                <a:cs typeface="Century Gothic"/>
              </a:rPr>
              <a:t>Value added by households</a:t>
            </a:r>
          </a:p>
          <a:p>
            <a:pPr algn="ctr">
              <a:lnSpc>
                <a:spcPct val="100000"/>
              </a:lnSpc>
              <a:spcBef>
                <a:spcPct val="0"/>
              </a:spcBef>
              <a:buClrTx/>
              <a:buSzTx/>
              <a:buFontTx/>
              <a:buNone/>
            </a:pPr>
            <a:r>
              <a:rPr lang="en-US" sz="1200" i="1" dirty="0">
                <a:solidFill>
                  <a:srgbClr val="FFFFFF"/>
                </a:solidFill>
                <a:latin typeface="Century Gothic"/>
                <a:cs typeface="Century Gothic"/>
              </a:rPr>
              <a:t>= 12.4%</a:t>
            </a:r>
          </a:p>
        </p:txBody>
      </p:sp>
      <p:sp>
        <p:nvSpPr>
          <p:cNvPr id="209939" name="Rectangle 19"/>
          <p:cNvSpPr>
            <a:spLocks noChangeArrowheads="1"/>
          </p:cNvSpPr>
          <p:nvPr/>
        </p:nvSpPr>
        <p:spPr bwMode="auto">
          <a:xfrm>
            <a:off x="1981200" y="3581400"/>
            <a:ext cx="2209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200" i="1" dirty="0">
                <a:solidFill>
                  <a:srgbClr val="FFFFFF"/>
                </a:solidFill>
                <a:latin typeface="Century Gothic"/>
                <a:cs typeface="Century Gothic"/>
              </a:rPr>
              <a:t>Value added by business</a:t>
            </a:r>
          </a:p>
          <a:p>
            <a:pPr algn="ctr">
              <a:lnSpc>
                <a:spcPct val="100000"/>
              </a:lnSpc>
              <a:spcBef>
                <a:spcPct val="0"/>
              </a:spcBef>
              <a:buClrTx/>
              <a:buSzTx/>
              <a:buFontTx/>
              <a:buNone/>
            </a:pPr>
            <a:r>
              <a:rPr lang="en-US" sz="1200" i="1" dirty="0">
                <a:solidFill>
                  <a:srgbClr val="FFFFFF"/>
                </a:solidFill>
                <a:latin typeface="Century Gothic"/>
                <a:cs typeface="Century Gothic"/>
              </a:rPr>
              <a:t>= 75.5%</a:t>
            </a:r>
          </a:p>
        </p:txBody>
      </p:sp>
      <p:sp>
        <p:nvSpPr>
          <p:cNvPr id="209940" name="Rectangle 20"/>
          <p:cNvSpPr>
            <a:spLocks noChangeArrowheads="1"/>
          </p:cNvSpPr>
          <p:nvPr/>
        </p:nvSpPr>
        <p:spPr bwMode="auto">
          <a:xfrm>
            <a:off x="5105400" y="3581400"/>
            <a:ext cx="2209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200" i="1" dirty="0">
                <a:solidFill>
                  <a:srgbClr val="FFFFFF"/>
                </a:solidFill>
                <a:latin typeface="Century Gothic"/>
                <a:cs typeface="Century Gothic"/>
              </a:rPr>
              <a:t>Consumer spending</a:t>
            </a:r>
          </a:p>
          <a:p>
            <a:pPr algn="ctr">
              <a:lnSpc>
                <a:spcPct val="100000"/>
              </a:lnSpc>
              <a:spcBef>
                <a:spcPct val="0"/>
              </a:spcBef>
              <a:buClrTx/>
              <a:buSzTx/>
              <a:buFontTx/>
              <a:buNone/>
            </a:pPr>
            <a:r>
              <a:rPr lang="en-US" sz="1200" i="1" dirty="0">
                <a:solidFill>
                  <a:srgbClr val="FFFFFF"/>
                </a:solidFill>
                <a:latin typeface="Century Gothic"/>
                <a:cs typeface="Century Gothic"/>
              </a:rPr>
              <a:t>= 68.4%</a:t>
            </a:r>
          </a:p>
        </p:txBody>
      </p:sp>
      <p:sp>
        <p:nvSpPr>
          <p:cNvPr id="209941" name="Rectangle 21"/>
          <p:cNvSpPr>
            <a:spLocks noChangeArrowheads="1"/>
          </p:cNvSpPr>
          <p:nvPr/>
        </p:nvSpPr>
        <p:spPr bwMode="auto">
          <a:xfrm>
            <a:off x="5029200" y="2438400"/>
            <a:ext cx="2209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200" i="1" dirty="0">
                <a:solidFill>
                  <a:srgbClr val="FFFFFF"/>
                </a:solidFill>
                <a:latin typeface="Century Gothic"/>
                <a:cs typeface="Century Gothic"/>
              </a:rPr>
              <a:t>Investment spending</a:t>
            </a:r>
          </a:p>
          <a:p>
            <a:pPr algn="ctr">
              <a:lnSpc>
                <a:spcPct val="100000"/>
              </a:lnSpc>
              <a:spcBef>
                <a:spcPct val="0"/>
              </a:spcBef>
              <a:buClrTx/>
              <a:buSzTx/>
              <a:buFontTx/>
              <a:buNone/>
            </a:pPr>
            <a:r>
              <a:rPr lang="en-US" sz="1200" i="1" dirty="0">
                <a:solidFill>
                  <a:srgbClr val="FFFFFF"/>
                </a:solidFill>
                <a:latin typeface="Century Gothic"/>
                <a:cs typeface="Century Gothic"/>
              </a:rPr>
              <a:t>= 15.9%</a:t>
            </a:r>
          </a:p>
        </p:txBody>
      </p:sp>
      <p:sp>
        <p:nvSpPr>
          <p:cNvPr id="209942" name="Rectangle 22"/>
          <p:cNvSpPr>
            <a:spLocks noChangeArrowheads="1"/>
          </p:cNvSpPr>
          <p:nvPr/>
        </p:nvSpPr>
        <p:spPr bwMode="auto">
          <a:xfrm>
            <a:off x="5029200" y="1752600"/>
            <a:ext cx="22098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200" i="1" dirty="0">
                <a:solidFill>
                  <a:srgbClr val="FFFFFF"/>
                </a:solidFill>
                <a:latin typeface="Century Gothic"/>
                <a:cs typeface="Century Gothic"/>
              </a:rPr>
              <a:t>Government purchases of goods and services</a:t>
            </a:r>
          </a:p>
          <a:p>
            <a:pPr algn="ctr">
              <a:lnSpc>
                <a:spcPct val="100000"/>
              </a:lnSpc>
              <a:spcBef>
                <a:spcPct val="0"/>
              </a:spcBef>
              <a:buClrTx/>
              <a:buSzTx/>
              <a:buFontTx/>
              <a:buNone/>
            </a:pPr>
            <a:r>
              <a:rPr lang="en-US" sz="1200" i="1" dirty="0">
                <a:solidFill>
                  <a:srgbClr val="FFFFFF"/>
                </a:solidFill>
                <a:latin typeface="Century Gothic"/>
                <a:cs typeface="Century Gothic"/>
              </a:rPr>
              <a:t>= 18.6%</a:t>
            </a:r>
          </a:p>
        </p:txBody>
      </p:sp>
      <p:sp>
        <p:nvSpPr>
          <p:cNvPr id="209943" name="Rectangle 23"/>
          <p:cNvSpPr>
            <a:spLocks noChangeArrowheads="1"/>
          </p:cNvSpPr>
          <p:nvPr/>
        </p:nvSpPr>
        <p:spPr bwMode="auto">
          <a:xfrm>
            <a:off x="2286000" y="762000"/>
            <a:ext cx="4572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00000"/>
              </a:lnSpc>
              <a:spcBef>
                <a:spcPct val="0"/>
              </a:spcBef>
              <a:buClrTx/>
              <a:buSzTx/>
              <a:buFontTx/>
              <a:buNone/>
            </a:pPr>
            <a:r>
              <a:rPr lang="en-US" b="1" dirty="0">
                <a:latin typeface="Century Gothic"/>
                <a:cs typeface="Century Gothic"/>
              </a:rPr>
              <a:t>Components of GDP (billions of dollars) </a:t>
            </a:r>
          </a:p>
        </p:txBody>
      </p:sp>
      <p:sp>
        <p:nvSpPr>
          <p:cNvPr id="209944" name="Rectangle 24"/>
          <p:cNvSpPr>
            <a:spLocks noChangeArrowheads="1"/>
          </p:cNvSpPr>
          <p:nvPr/>
        </p:nvSpPr>
        <p:spPr bwMode="auto">
          <a:xfrm>
            <a:off x="7391400" y="3200400"/>
            <a:ext cx="12954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400" b="1" i="1" dirty="0">
                <a:latin typeface="Century Gothic"/>
                <a:cs typeface="Century Gothic"/>
              </a:rPr>
              <a:t>C + I + G </a:t>
            </a:r>
          </a:p>
          <a:p>
            <a:pPr algn="ctr">
              <a:lnSpc>
                <a:spcPct val="100000"/>
              </a:lnSpc>
              <a:spcBef>
                <a:spcPct val="0"/>
              </a:spcBef>
              <a:buClrTx/>
              <a:buSzTx/>
              <a:buFontTx/>
              <a:buNone/>
            </a:pPr>
            <a:r>
              <a:rPr lang="en-US" sz="1400" b="1" i="1" dirty="0">
                <a:latin typeface="Century Gothic"/>
                <a:cs typeface="Century Gothic"/>
              </a:rPr>
              <a:t>= $16,800</a:t>
            </a:r>
            <a:r>
              <a:rPr lang="en-US" b="1" i="1" dirty="0">
                <a:latin typeface="Century Gothic"/>
                <a:cs typeface="Century Gothic"/>
              </a:rPr>
              <a:t> </a:t>
            </a:r>
          </a:p>
        </p:txBody>
      </p:sp>
      <p:sp>
        <p:nvSpPr>
          <p:cNvPr id="209945" name="AutoShape 25"/>
          <p:cNvSpPr>
            <a:spLocks/>
          </p:cNvSpPr>
          <p:nvPr/>
        </p:nvSpPr>
        <p:spPr bwMode="auto">
          <a:xfrm>
            <a:off x="7239000" y="1981200"/>
            <a:ext cx="381000" cy="3352800"/>
          </a:xfrm>
          <a:prstGeom prst="rightBrace">
            <a:avLst>
              <a:gd name="adj1" fmla="val 73333"/>
              <a:gd name="adj2" fmla="val 50000"/>
            </a:avLst>
          </a:prstGeom>
          <a:noFill/>
          <a:ln w="28575">
            <a:solidFill>
              <a:schemeClr val="tx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i="1" dirty="0">
              <a:latin typeface="Century Gothic"/>
              <a:cs typeface="Century Gothic"/>
            </a:endParaRPr>
          </a:p>
        </p:txBody>
      </p:sp>
      <p:sp>
        <p:nvSpPr>
          <p:cNvPr id="209946" name="Rectangle 26" descr="Wide upward diagonal"/>
          <p:cNvSpPr>
            <a:spLocks noChangeArrowheads="1"/>
          </p:cNvSpPr>
          <p:nvPr/>
        </p:nvSpPr>
        <p:spPr bwMode="auto">
          <a:xfrm>
            <a:off x="5029200" y="5105400"/>
            <a:ext cx="2209800" cy="228600"/>
          </a:xfrm>
          <a:prstGeom prst="rect">
            <a:avLst/>
          </a:prstGeom>
          <a:pattFill prst="wdUpDiag">
            <a:fgClr>
              <a:srgbClr val="993366"/>
            </a:fgClr>
            <a:bgClr>
              <a:srgbClr val="000000"/>
            </a:bgClr>
          </a:pattFill>
          <a:ln>
            <a:noFill/>
          </a:ln>
          <a:effectLst/>
          <a:extLs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i="1" dirty="0">
              <a:latin typeface="Century Gothic"/>
              <a:cs typeface="Century Gothic"/>
            </a:endParaRPr>
          </a:p>
        </p:txBody>
      </p:sp>
      <p:sp>
        <p:nvSpPr>
          <p:cNvPr id="209947" name="Rectangle 27"/>
          <p:cNvSpPr>
            <a:spLocks noChangeArrowheads="1"/>
          </p:cNvSpPr>
          <p:nvPr/>
        </p:nvSpPr>
        <p:spPr bwMode="auto">
          <a:xfrm>
            <a:off x="4876800" y="5410200"/>
            <a:ext cx="28956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600" i="1" dirty="0">
                <a:latin typeface="Century Gothic"/>
                <a:cs typeface="Century Gothic"/>
              </a:rPr>
              <a:t>Net exports X – IM = (–3.0%)</a:t>
            </a:r>
          </a:p>
        </p:txBody>
      </p:sp>
      <p:sp>
        <p:nvSpPr>
          <p:cNvPr id="209948" name="Rectangle 28"/>
          <p:cNvSpPr>
            <a:spLocks noChangeArrowheads="1"/>
          </p:cNvSpPr>
          <p:nvPr/>
        </p:nvSpPr>
        <p:spPr bwMode="auto">
          <a:xfrm>
            <a:off x="1752600" y="5181600"/>
            <a:ext cx="28956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00000"/>
              </a:lnSpc>
              <a:spcBef>
                <a:spcPct val="0"/>
              </a:spcBef>
              <a:buClrTx/>
              <a:buSzTx/>
              <a:buFontTx/>
              <a:buNone/>
            </a:pPr>
            <a:r>
              <a:rPr lang="en-US" sz="1600" i="1" dirty="0">
                <a:latin typeface="Century Gothic"/>
                <a:cs typeface="Century Gothic"/>
              </a:rPr>
              <a:t>Value added by sector</a:t>
            </a:r>
          </a:p>
        </p:txBody>
      </p:sp>
      <p:sp>
        <p:nvSpPr>
          <p:cNvPr id="3" name="Rectangle 2"/>
          <p:cNvSpPr/>
          <p:nvPr/>
        </p:nvSpPr>
        <p:spPr>
          <a:xfrm>
            <a:off x="1638300" y="5791200"/>
            <a:ext cx="6667500" cy="830997"/>
          </a:xfrm>
          <a:prstGeom prst="rect">
            <a:avLst/>
          </a:prstGeom>
        </p:spPr>
        <p:txBody>
          <a:bodyPr wrap="square">
            <a:spAutoFit/>
          </a:bodyPr>
          <a:lstStyle/>
          <a:p>
            <a:r>
              <a:rPr lang="en-US" sz="2400" b="1" i="1" dirty="0">
                <a:solidFill>
                  <a:srgbClr val="990033"/>
                </a:solidFill>
                <a:latin typeface="Century Gothic"/>
                <a:cs typeface="Century Gothic"/>
              </a:rPr>
              <a:t>Net exports</a:t>
            </a:r>
            <a:r>
              <a:rPr lang="en-US" sz="2400" dirty="0">
                <a:solidFill>
                  <a:srgbClr val="990033"/>
                </a:solidFill>
                <a:latin typeface="Century Gothic"/>
                <a:cs typeface="Century Gothic"/>
              </a:rPr>
              <a:t>: </a:t>
            </a:r>
            <a:r>
              <a:rPr lang="en-US" sz="2400" dirty="0">
                <a:latin typeface="Century Gothic"/>
                <a:cs typeface="Century Gothic"/>
              </a:rPr>
              <a:t>the difference between the value of exports and the value of imports.</a:t>
            </a:r>
          </a:p>
        </p:txBody>
      </p:sp>
    </p:spTree>
    <p:extLst>
      <p:ext uri="{BB962C8B-B14F-4D97-AF65-F5344CB8AC3E}">
        <p14:creationId xmlns:p14="http://schemas.microsoft.com/office/powerpoint/2010/main" val="641713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09931"/>
                                        </p:tgtEl>
                                        <p:attrNameLst>
                                          <p:attrName>style.visibility</p:attrName>
                                        </p:attrNameLst>
                                      </p:cBhvr>
                                      <p:to>
                                        <p:strVal val="visible"/>
                                      </p:to>
                                    </p:set>
                                    <p:animEffect transition="in" filter="wipe(down)">
                                      <p:cBhvr>
                                        <p:cTn id="7" dur="500"/>
                                        <p:tgtEl>
                                          <p:spTgt spid="20993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9939"/>
                                        </p:tgtEl>
                                        <p:attrNameLst>
                                          <p:attrName>style.visibility</p:attrName>
                                        </p:attrNameLst>
                                      </p:cBhvr>
                                      <p:to>
                                        <p:strVal val="visible"/>
                                      </p:to>
                                    </p:set>
                                    <p:animEffect transition="in" filter="wipe(left)">
                                      <p:cBhvr>
                                        <p:cTn id="10" dur="500"/>
                                        <p:tgtEl>
                                          <p:spTgt spid="209939"/>
                                        </p:tgtEl>
                                      </p:cBhvr>
                                    </p:animEffect>
                                  </p:childTnLst>
                                </p:cTn>
                              </p:par>
                            </p:childTnLst>
                          </p:cTn>
                        </p:par>
                        <p:par>
                          <p:cTn id="11" fill="hold" nodeType="afterGroup">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209935"/>
                                        </p:tgtEl>
                                        <p:attrNameLst>
                                          <p:attrName>style.visibility</p:attrName>
                                        </p:attrNameLst>
                                      </p:cBhvr>
                                      <p:to>
                                        <p:strVal val="visible"/>
                                      </p:to>
                                    </p:set>
                                    <p:animEffect transition="in" filter="wipe(down)">
                                      <p:cBhvr>
                                        <p:cTn id="14" dur="500"/>
                                        <p:tgtEl>
                                          <p:spTgt spid="20993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09938"/>
                                        </p:tgtEl>
                                        <p:attrNameLst>
                                          <p:attrName>style.visibility</p:attrName>
                                        </p:attrNameLst>
                                      </p:cBhvr>
                                      <p:to>
                                        <p:strVal val="visible"/>
                                      </p:to>
                                    </p:set>
                                    <p:animEffect transition="in" filter="wipe(left)">
                                      <p:cBhvr>
                                        <p:cTn id="17" dur="500"/>
                                        <p:tgtEl>
                                          <p:spTgt spid="209938"/>
                                        </p:tgtEl>
                                      </p:cBhvr>
                                    </p:animEffect>
                                  </p:childTnLst>
                                </p:cTn>
                              </p:par>
                            </p:childTnLst>
                          </p:cTn>
                        </p:par>
                        <p:par>
                          <p:cTn id="18" fill="hold" nodeType="afterGroup">
                            <p:stCondLst>
                              <p:cond delay="1000"/>
                            </p:stCondLst>
                            <p:childTnLst>
                              <p:par>
                                <p:cTn id="19" presetID="22" presetClass="entr" presetSubtype="4" fill="hold" grpId="0" nodeType="afterEffect">
                                  <p:stCondLst>
                                    <p:cond delay="0"/>
                                  </p:stCondLst>
                                  <p:childTnLst>
                                    <p:set>
                                      <p:cBhvr>
                                        <p:cTn id="20" dur="1" fill="hold">
                                          <p:stCondLst>
                                            <p:cond delay="0"/>
                                          </p:stCondLst>
                                        </p:cTn>
                                        <p:tgtEl>
                                          <p:spTgt spid="209936"/>
                                        </p:tgtEl>
                                        <p:attrNameLst>
                                          <p:attrName>style.visibility</p:attrName>
                                        </p:attrNameLst>
                                      </p:cBhvr>
                                      <p:to>
                                        <p:strVal val="visible"/>
                                      </p:to>
                                    </p:set>
                                    <p:animEffect transition="in" filter="wipe(down)">
                                      <p:cBhvr>
                                        <p:cTn id="21" dur="500"/>
                                        <p:tgtEl>
                                          <p:spTgt spid="20993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09937"/>
                                        </p:tgtEl>
                                        <p:attrNameLst>
                                          <p:attrName>style.visibility</p:attrName>
                                        </p:attrNameLst>
                                      </p:cBhvr>
                                      <p:to>
                                        <p:strVal val="visible"/>
                                      </p:to>
                                    </p:set>
                                    <p:animEffect transition="in" filter="wipe(left)">
                                      <p:cBhvr>
                                        <p:cTn id="24" dur="500"/>
                                        <p:tgtEl>
                                          <p:spTgt spid="209937"/>
                                        </p:tgtEl>
                                      </p:cBhvr>
                                    </p:animEffect>
                                  </p:childTnLst>
                                </p:cTn>
                              </p:par>
                            </p:childTnLst>
                          </p:cTn>
                        </p:par>
                        <p:par>
                          <p:cTn id="25" fill="hold" nodeType="afterGroup">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209948"/>
                                        </p:tgtEl>
                                        <p:attrNameLst>
                                          <p:attrName>style.visibility</p:attrName>
                                        </p:attrNameLst>
                                      </p:cBhvr>
                                      <p:to>
                                        <p:strVal val="visible"/>
                                      </p:to>
                                    </p:set>
                                    <p:animEffect transition="in" filter="wipe(left)">
                                      <p:cBhvr>
                                        <p:cTn id="28" dur="500"/>
                                        <p:tgtEl>
                                          <p:spTgt spid="209948"/>
                                        </p:tgtEl>
                                      </p:cBhvr>
                                    </p:animEffect>
                                  </p:childTnLst>
                                </p:cTn>
                              </p:par>
                            </p:childTnLst>
                          </p:cTn>
                        </p:par>
                      </p:childTnLst>
                    </p:cTn>
                  </p:par>
                  <p:par>
                    <p:cTn id="29" fill="hold">
                      <p:stCondLst>
                        <p:cond delay="indefinite"/>
                      </p:stCondLst>
                      <p:childTnLst>
                        <p:par>
                          <p:cTn id="30" fill="hold" nodeType="after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09932"/>
                                        </p:tgtEl>
                                        <p:attrNameLst>
                                          <p:attrName>style.visibility</p:attrName>
                                        </p:attrNameLst>
                                      </p:cBhvr>
                                      <p:to>
                                        <p:strVal val="visible"/>
                                      </p:to>
                                    </p:set>
                                    <p:animEffect transition="in" filter="wipe(down)">
                                      <p:cBhvr>
                                        <p:cTn id="33" dur="500"/>
                                        <p:tgtEl>
                                          <p:spTgt spid="209932"/>
                                        </p:tgtEl>
                                      </p:cBhvr>
                                    </p:animEffect>
                                  </p:childTnLst>
                                </p:cTn>
                              </p:par>
                            </p:childTnLst>
                          </p:cTn>
                        </p:par>
                        <p:par>
                          <p:cTn id="34" fill="hold" nodeType="afterGroup">
                            <p:stCondLst>
                              <p:cond delay="500"/>
                            </p:stCondLst>
                            <p:childTnLst>
                              <p:par>
                                <p:cTn id="35" presetID="22" presetClass="entr" presetSubtype="4" fill="hold" grpId="0" nodeType="afterEffect">
                                  <p:stCondLst>
                                    <p:cond delay="0"/>
                                  </p:stCondLst>
                                  <p:childTnLst>
                                    <p:set>
                                      <p:cBhvr>
                                        <p:cTn id="36" dur="1" fill="hold">
                                          <p:stCondLst>
                                            <p:cond delay="0"/>
                                          </p:stCondLst>
                                        </p:cTn>
                                        <p:tgtEl>
                                          <p:spTgt spid="209940"/>
                                        </p:tgtEl>
                                        <p:attrNameLst>
                                          <p:attrName>style.visibility</p:attrName>
                                        </p:attrNameLst>
                                      </p:cBhvr>
                                      <p:to>
                                        <p:strVal val="visible"/>
                                      </p:to>
                                    </p:set>
                                    <p:animEffect transition="in" filter="wipe(down)">
                                      <p:cBhvr>
                                        <p:cTn id="37" dur="500"/>
                                        <p:tgtEl>
                                          <p:spTgt spid="209940"/>
                                        </p:tgtEl>
                                      </p:cBhvr>
                                    </p:animEffect>
                                  </p:childTnLst>
                                </p:cTn>
                              </p:par>
                            </p:childTnLst>
                          </p:cTn>
                        </p:par>
                        <p:par>
                          <p:cTn id="38" fill="hold" nodeType="afterGroup">
                            <p:stCondLst>
                              <p:cond delay="1000"/>
                            </p:stCondLst>
                            <p:childTnLst>
                              <p:par>
                                <p:cTn id="39" presetID="22" presetClass="entr" presetSubtype="4" fill="hold" grpId="0" nodeType="afterEffect">
                                  <p:stCondLst>
                                    <p:cond delay="0"/>
                                  </p:stCondLst>
                                  <p:childTnLst>
                                    <p:set>
                                      <p:cBhvr>
                                        <p:cTn id="40" dur="1" fill="hold">
                                          <p:stCondLst>
                                            <p:cond delay="0"/>
                                          </p:stCondLst>
                                        </p:cTn>
                                        <p:tgtEl>
                                          <p:spTgt spid="209933"/>
                                        </p:tgtEl>
                                        <p:attrNameLst>
                                          <p:attrName>style.visibility</p:attrName>
                                        </p:attrNameLst>
                                      </p:cBhvr>
                                      <p:to>
                                        <p:strVal val="visible"/>
                                      </p:to>
                                    </p:set>
                                    <p:animEffect transition="in" filter="wipe(down)">
                                      <p:cBhvr>
                                        <p:cTn id="41" dur="500"/>
                                        <p:tgtEl>
                                          <p:spTgt spid="209933"/>
                                        </p:tgtEl>
                                      </p:cBhvr>
                                    </p:animEffect>
                                  </p:childTnLst>
                                </p:cTn>
                              </p:par>
                            </p:childTnLst>
                          </p:cTn>
                        </p:par>
                        <p:par>
                          <p:cTn id="42" fill="hold" nodeType="afterGroup">
                            <p:stCondLst>
                              <p:cond delay="1500"/>
                            </p:stCondLst>
                            <p:childTnLst>
                              <p:par>
                                <p:cTn id="43" presetID="22" presetClass="entr" presetSubtype="4" fill="hold" grpId="0" nodeType="afterEffect">
                                  <p:stCondLst>
                                    <p:cond delay="0"/>
                                  </p:stCondLst>
                                  <p:childTnLst>
                                    <p:set>
                                      <p:cBhvr>
                                        <p:cTn id="44" dur="1" fill="hold">
                                          <p:stCondLst>
                                            <p:cond delay="0"/>
                                          </p:stCondLst>
                                        </p:cTn>
                                        <p:tgtEl>
                                          <p:spTgt spid="209941"/>
                                        </p:tgtEl>
                                        <p:attrNameLst>
                                          <p:attrName>style.visibility</p:attrName>
                                        </p:attrNameLst>
                                      </p:cBhvr>
                                      <p:to>
                                        <p:strVal val="visible"/>
                                      </p:to>
                                    </p:set>
                                    <p:animEffect transition="in" filter="wipe(down)">
                                      <p:cBhvr>
                                        <p:cTn id="45" dur="500"/>
                                        <p:tgtEl>
                                          <p:spTgt spid="209941"/>
                                        </p:tgtEl>
                                      </p:cBhvr>
                                    </p:animEffect>
                                  </p:childTnLst>
                                </p:cTn>
                              </p:par>
                            </p:childTnLst>
                          </p:cTn>
                        </p:par>
                        <p:par>
                          <p:cTn id="46" fill="hold" nodeType="afterGroup">
                            <p:stCondLst>
                              <p:cond delay="2000"/>
                            </p:stCondLst>
                            <p:childTnLst>
                              <p:par>
                                <p:cTn id="47" presetID="22" presetClass="entr" presetSubtype="4" fill="hold" grpId="0" nodeType="afterEffect">
                                  <p:stCondLst>
                                    <p:cond delay="0"/>
                                  </p:stCondLst>
                                  <p:childTnLst>
                                    <p:set>
                                      <p:cBhvr>
                                        <p:cTn id="48" dur="1" fill="hold">
                                          <p:stCondLst>
                                            <p:cond delay="0"/>
                                          </p:stCondLst>
                                        </p:cTn>
                                        <p:tgtEl>
                                          <p:spTgt spid="209934"/>
                                        </p:tgtEl>
                                        <p:attrNameLst>
                                          <p:attrName>style.visibility</p:attrName>
                                        </p:attrNameLst>
                                      </p:cBhvr>
                                      <p:to>
                                        <p:strVal val="visible"/>
                                      </p:to>
                                    </p:set>
                                    <p:animEffect transition="in" filter="wipe(down)">
                                      <p:cBhvr>
                                        <p:cTn id="49" dur="500"/>
                                        <p:tgtEl>
                                          <p:spTgt spid="209934"/>
                                        </p:tgtEl>
                                      </p:cBhvr>
                                    </p:animEffect>
                                  </p:childTnLst>
                                </p:cTn>
                              </p:par>
                            </p:childTnLst>
                          </p:cTn>
                        </p:par>
                        <p:par>
                          <p:cTn id="50" fill="hold" nodeType="afterGroup">
                            <p:stCondLst>
                              <p:cond delay="2500"/>
                            </p:stCondLst>
                            <p:childTnLst>
                              <p:par>
                                <p:cTn id="51" presetID="22" presetClass="entr" presetSubtype="4" fill="hold" grpId="0" nodeType="afterEffect">
                                  <p:stCondLst>
                                    <p:cond delay="0"/>
                                  </p:stCondLst>
                                  <p:childTnLst>
                                    <p:set>
                                      <p:cBhvr>
                                        <p:cTn id="52" dur="1" fill="hold">
                                          <p:stCondLst>
                                            <p:cond delay="0"/>
                                          </p:stCondLst>
                                        </p:cTn>
                                        <p:tgtEl>
                                          <p:spTgt spid="209942"/>
                                        </p:tgtEl>
                                        <p:attrNameLst>
                                          <p:attrName>style.visibility</p:attrName>
                                        </p:attrNameLst>
                                      </p:cBhvr>
                                      <p:to>
                                        <p:strVal val="visible"/>
                                      </p:to>
                                    </p:set>
                                    <p:animEffect transition="in" filter="wipe(down)">
                                      <p:cBhvr>
                                        <p:cTn id="53" dur="500"/>
                                        <p:tgtEl>
                                          <p:spTgt spid="20994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6" presetClass="entr" presetSubtype="26" fill="hold" grpId="0" nodeType="clickEffect">
                                  <p:stCondLst>
                                    <p:cond delay="0"/>
                                  </p:stCondLst>
                                  <p:childTnLst>
                                    <p:set>
                                      <p:cBhvr>
                                        <p:cTn id="57" dur="1" fill="hold">
                                          <p:stCondLst>
                                            <p:cond delay="0"/>
                                          </p:stCondLst>
                                        </p:cTn>
                                        <p:tgtEl>
                                          <p:spTgt spid="209945"/>
                                        </p:tgtEl>
                                        <p:attrNameLst>
                                          <p:attrName>style.visibility</p:attrName>
                                        </p:attrNameLst>
                                      </p:cBhvr>
                                      <p:to>
                                        <p:strVal val="visible"/>
                                      </p:to>
                                    </p:set>
                                    <p:animEffect transition="in" filter="barn(inHorizontal)">
                                      <p:cBhvr>
                                        <p:cTn id="58" dur="500"/>
                                        <p:tgtEl>
                                          <p:spTgt spid="209945"/>
                                        </p:tgtEl>
                                      </p:cBhvr>
                                    </p:animEffect>
                                  </p:childTnLst>
                                </p:cTn>
                              </p:par>
                            </p:childTnLst>
                          </p:cTn>
                        </p:par>
                        <p:par>
                          <p:cTn id="59" fill="hold" nodeType="afterGroup">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209944"/>
                                        </p:tgtEl>
                                        <p:attrNameLst>
                                          <p:attrName>style.visibility</p:attrName>
                                        </p:attrNameLst>
                                      </p:cBhvr>
                                      <p:to>
                                        <p:strVal val="visible"/>
                                      </p:to>
                                    </p:set>
                                    <p:animEffect transition="in" filter="wipe(left)">
                                      <p:cBhvr>
                                        <p:cTn id="62" dur="500"/>
                                        <p:tgtEl>
                                          <p:spTgt spid="209944"/>
                                        </p:tgtEl>
                                      </p:cBhvr>
                                    </p:animEffect>
                                  </p:childTnLst>
                                </p:cTn>
                              </p:par>
                            </p:childTnLst>
                          </p:cTn>
                        </p:par>
                        <p:par>
                          <p:cTn id="63" fill="hold" nodeType="afterGroup">
                            <p:stCondLst>
                              <p:cond delay="1500"/>
                            </p:stCondLst>
                            <p:childTnLst>
                              <p:par>
                                <p:cTn id="64" presetID="22" presetClass="entr" presetSubtype="4" fill="hold" grpId="0" nodeType="afterEffect">
                                  <p:stCondLst>
                                    <p:cond delay="0"/>
                                  </p:stCondLst>
                                  <p:childTnLst>
                                    <p:set>
                                      <p:cBhvr>
                                        <p:cTn id="65" dur="1" fill="hold">
                                          <p:stCondLst>
                                            <p:cond delay="0"/>
                                          </p:stCondLst>
                                        </p:cTn>
                                        <p:tgtEl>
                                          <p:spTgt spid="209946"/>
                                        </p:tgtEl>
                                        <p:attrNameLst>
                                          <p:attrName>style.visibility</p:attrName>
                                        </p:attrNameLst>
                                      </p:cBhvr>
                                      <p:to>
                                        <p:strVal val="visible"/>
                                      </p:to>
                                    </p:set>
                                    <p:animEffect transition="in" filter="wipe(down)">
                                      <p:cBhvr>
                                        <p:cTn id="66" dur="500"/>
                                        <p:tgtEl>
                                          <p:spTgt spid="209946"/>
                                        </p:tgtEl>
                                      </p:cBhvr>
                                    </p:animEffect>
                                  </p:childTnLst>
                                </p:cTn>
                              </p:par>
                            </p:childTnLst>
                          </p:cTn>
                        </p:par>
                        <p:par>
                          <p:cTn id="67" fill="hold" nodeType="afterGroup">
                            <p:stCondLst>
                              <p:cond delay="2000"/>
                            </p:stCondLst>
                            <p:childTnLst>
                              <p:par>
                                <p:cTn id="68" presetID="22" presetClass="entr" presetSubtype="8" fill="hold" grpId="0" nodeType="afterEffect">
                                  <p:stCondLst>
                                    <p:cond delay="0"/>
                                  </p:stCondLst>
                                  <p:childTnLst>
                                    <p:set>
                                      <p:cBhvr>
                                        <p:cTn id="69" dur="1" fill="hold">
                                          <p:stCondLst>
                                            <p:cond delay="0"/>
                                          </p:stCondLst>
                                        </p:cTn>
                                        <p:tgtEl>
                                          <p:spTgt spid="209947"/>
                                        </p:tgtEl>
                                        <p:attrNameLst>
                                          <p:attrName>style.visibility</p:attrName>
                                        </p:attrNameLst>
                                      </p:cBhvr>
                                      <p:to>
                                        <p:strVal val="visible"/>
                                      </p:to>
                                    </p:set>
                                    <p:animEffect transition="in" filter="wipe(left)">
                                      <p:cBhvr>
                                        <p:cTn id="70" dur="500"/>
                                        <p:tgtEl>
                                          <p:spTgt spid="20994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fade">
                                      <p:cBhvr>
                                        <p:cTn id="7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31" grpId="0" animBg="1"/>
      <p:bldP spid="209932" grpId="0" animBg="1"/>
      <p:bldP spid="209933" grpId="0" animBg="1"/>
      <p:bldP spid="209934" grpId="0" animBg="1"/>
      <p:bldP spid="209935" grpId="0" animBg="1"/>
      <p:bldP spid="209936" grpId="0" animBg="1"/>
      <p:bldP spid="209937" grpId="0"/>
      <p:bldP spid="209938" grpId="0"/>
      <p:bldP spid="209939" grpId="0"/>
      <p:bldP spid="209940" grpId="0"/>
      <p:bldP spid="209941" grpId="0"/>
      <p:bldP spid="209942" grpId="0"/>
      <p:bldP spid="209944" grpId="0"/>
      <p:bldP spid="209945" grpId="0" animBg="1"/>
      <p:bldP spid="209946" grpId="0" animBg="1"/>
      <p:bldP spid="209947" grpId="0"/>
      <p:bldP spid="209948"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7" name="Rectangle 5"/>
          <p:cNvSpPr>
            <a:spLocks noGrp="1" noRot="1" noChangeArrowheads="1"/>
          </p:cNvSpPr>
          <p:nvPr>
            <p:ph type="title"/>
          </p:nvPr>
        </p:nvSpPr>
        <p:spPr>
          <a:xfrm>
            <a:off x="0" y="0"/>
            <a:ext cx="9144000" cy="1295400"/>
          </a:xfrm>
          <a:noFill/>
        </p:spPr>
        <p:txBody>
          <a:bodyPr vert="horz" lIns="91440" tIns="45720" rIns="91440" bIns="45720" rtlCol="0" anchor="ctr">
            <a:normAutofit fontScale="90000"/>
          </a:bodyPr>
          <a:lstStyle/>
          <a:p>
            <a:r>
              <a:rPr lang="en-US" spc="0" dirty="0"/>
              <a:t>CALCULATING GROSS DOMESTIC PRODUCT</a:t>
            </a:r>
          </a:p>
        </p:txBody>
      </p:sp>
      <p:pic>
        <p:nvPicPr>
          <p:cNvPr id="4" name="Picture 3" descr="Screen Shot 2015-03-31 at 2.10.58 PM.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09600" y="1219200"/>
            <a:ext cx="7543800" cy="5360870"/>
          </a:xfrm>
          <a:prstGeom prst="rect">
            <a:avLst/>
          </a:prstGeom>
        </p:spPr>
      </p:pic>
    </p:spTree>
    <p:extLst>
      <p:ext uri="{BB962C8B-B14F-4D97-AF65-F5344CB8AC3E}">
        <p14:creationId xmlns:p14="http://schemas.microsoft.com/office/powerpoint/2010/main" val="3696226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AC023E-9930-4BC0-966C-75EA2554E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038" y="685800"/>
            <a:ext cx="7647962" cy="5466413"/>
          </a:xfrm>
          <a:prstGeom prst="rect">
            <a:avLst/>
          </a:prstGeom>
        </p:spPr>
      </p:pic>
    </p:spTree>
    <p:extLst>
      <p:ext uri="{BB962C8B-B14F-4D97-AF65-F5344CB8AC3E}">
        <p14:creationId xmlns:p14="http://schemas.microsoft.com/office/powerpoint/2010/main" val="782591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s://clarkcollege.instructure.com/assessment_questions/110765854/files/66394895/download?verifier=Lji8Y0XbgPIRXRssAxjG3jowSxz8HhYUdOeK7MEt">
            <a:extLst>
              <a:ext uri="{FF2B5EF4-FFF2-40B4-BE49-F238E27FC236}">
                <a16:creationId xmlns:a16="http://schemas.microsoft.com/office/drawing/2014/main" id="{BA616577-F194-4323-A0AE-41F3FA96E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828800"/>
            <a:ext cx="6743700" cy="2490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514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458200" cy="5060950"/>
          </a:xfrm>
        </p:spPr>
        <p:txBody>
          <a:bodyPr>
            <a:noAutofit/>
          </a:bodyPr>
          <a:lstStyle/>
          <a:p>
            <a:r>
              <a:rPr lang="en-US" sz="2800" dirty="0"/>
              <a:t>Suppose country A sells $100 million worth of goods and services to country B. Country B sells $50 million worth of goods and services to country A. These are the only two countries in macro world. Net exports in country:</a:t>
            </a:r>
          </a:p>
          <a:p>
            <a:pPr marL="742950" indent="-742950">
              <a:buFont typeface="+mj-lt"/>
              <a:buAutoNum type="alphaLcParenR"/>
            </a:pPr>
            <a:r>
              <a:rPr lang="en-US" sz="2800" dirty="0"/>
              <a:t>B equal −$50 million.</a:t>
            </a:r>
          </a:p>
          <a:p>
            <a:pPr marL="742950" indent="-742950">
              <a:buFont typeface="+mj-lt"/>
              <a:buAutoNum type="alphaLcParenR"/>
            </a:pPr>
            <a:r>
              <a:rPr lang="en-US" sz="2800" dirty="0"/>
              <a:t>A equal $150 million.</a:t>
            </a:r>
          </a:p>
          <a:p>
            <a:pPr marL="742950" indent="-742950">
              <a:buFont typeface="+mj-lt"/>
              <a:buAutoNum type="alphaLcParenR"/>
            </a:pPr>
            <a:r>
              <a:rPr lang="en-US" sz="2800" dirty="0"/>
              <a:t>A equal -$150 million.</a:t>
            </a:r>
          </a:p>
          <a:p>
            <a:pPr marL="742950" indent="-742950">
              <a:buFont typeface="+mj-lt"/>
              <a:buAutoNum type="alphaLcParenR"/>
            </a:pPr>
            <a:r>
              <a:rPr lang="en-US" sz="2800" dirty="0"/>
              <a:t>B equal $50 million.</a:t>
            </a: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29194304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458200" cy="5060950"/>
          </a:xfrm>
        </p:spPr>
        <p:txBody>
          <a:bodyPr>
            <a:noAutofit/>
          </a:bodyPr>
          <a:lstStyle/>
          <a:p>
            <a:r>
              <a:rPr lang="en-US" sz="2800" dirty="0"/>
              <a:t>Income spent on imported goods:</a:t>
            </a:r>
          </a:p>
          <a:p>
            <a:pPr marL="514350" indent="-514350">
              <a:buFont typeface="+mj-lt"/>
              <a:buAutoNum type="alphaLcParenR"/>
            </a:pPr>
            <a:r>
              <a:rPr lang="en-US" sz="2800" dirty="0"/>
              <a:t>represents income that has leaked across national borders.</a:t>
            </a:r>
          </a:p>
          <a:p>
            <a:pPr marL="515938" indent="-515938">
              <a:buFont typeface="+mj-lt"/>
              <a:buAutoNum type="alphaLcParenR"/>
            </a:pPr>
            <a:r>
              <a:rPr lang="en-US" sz="2800" dirty="0"/>
              <a:t>must be subtracted from spending data to calculate an accurate value for domestic production.</a:t>
            </a:r>
          </a:p>
          <a:p>
            <a:pPr marL="515938" indent="-515938">
              <a:buFont typeface="+mj-lt"/>
              <a:buAutoNum type="alphaLcParenR"/>
            </a:pPr>
            <a:r>
              <a:rPr lang="en-US" sz="2800" dirty="0"/>
              <a:t>is income that is not spent on domestically produced goods and services.</a:t>
            </a:r>
          </a:p>
          <a:p>
            <a:pPr marL="515938" indent="-515938">
              <a:buFont typeface="+mj-lt"/>
              <a:buAutoNum type="alphaLcParenR"/>
            </a:pPr>
            <a:r>
              <a:rPr lang="en-US" sz="2800" dirty="0"/>
              <a:t>Answers (a), (b), and (c) are all correct.</a:t>
            </a: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50747799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5" name="Rectangle 3"/>
          <p:cNvSpPr>
            <a:spLocks noGrp="1" noChangeArrowheads="1"/>
          </p:cNvSpPr>
          <p:nvPr>
            <p:ph idx="1"/>
          </p:nvPr>
        </p:nvSpPr>
        <p:spPr>
          <a:xfrm>
            <a:off x="76200" y="1600200"/>
            <a:ext cx="8991600" cy="5181600"/>
          </a:xfrm>
        </p:spPr>
        <p:txBody>
          <a:bodyPr>
            <a:noAutofit/>
          </a:bodyPr>
          <a:lstStyle/>
          <a:p>
            <a:pPr>
              <a:spcBef>
                <a:spcPts val="0"/>
              </a:spcBef>
              <a:spcAft>
                <a:spcPts val="1200"/>
              </a:spcAft>
            </a:pPr>
            <a:r>
              <a:rPr lang="en-US" sz="2400" dirty="0">
                <a:solidFill>
                  <a:srgbClr val="0070C0"/>
                </a:solidFill>
                <a:latin typeface="Century Gothic"/>
                <a:cs typeface="Century Gothic"/>
              </a:rPr>
              <a:t>The national accounts owe their creation to the Great Depression. </a:t>
            </a:r>
            <a:r>
              <a:rPr lang="en-US" sz="2400" dirty="0">
                <a:latin typeface="Century Gothic"/>
                <a:cs typeface="Century Gothic"/>
              </a:rPr>
              <a:t>The only data available were </a:t>
            </a:r>
            <a:r>
              <a:rPr lang="en-US" sz="2400" dirty="0">
                <a:solidFill>
                  <a:schemeClr val="accent6">
                    <a:lumMod val="75000"/>
                  </a:schemeClr>
                </a:solidFill>
                <a:latin typeface="Century Gothic"/>
                <a:cs typeface="Century Gothic"/>
              </a:rPr>
              <a:t>scattered statistics (railroad data, etc.)</a:t>
            </a:r>
          </a:p>
          <a:p>
            <a:pPr>
              <a:spcBef>
                <a:spcPts val="0"/>
              </a:spcBef>
              <a:spcAft>
                <a:spcPts val="1200"/>
              </a:spcAft>
            </a:pPr>
            <a:r>
              <a:rPr lang="en-US" sz="2400" i="1" dirty="0">
                <a:solidFill>
                  <a:srgbClr val="990033"/>
                </a:solidFill>
                <a:latin typeface="Century Gothic"/>
                <a:cs typeface="Century Gothic"/>
              </a:rPr>
              <a:t>Simon Kuznets </a:t>
            </a:r>
            <a:r>
              <a:rPr lang="en-US" sz="2400" i="1" dirty="0">
                <a:latin typeface="Century Gothic"/>
                <a:cs typeface="Century Gothic"/>
              </a:rPr>
              <a:t>(a young Russian-born economist) </a:t>
            </a:r>
            <a:r>
              <a:rPr lang="en-US" sz="2400" i="1" dirty="0">
                <a:solidFill>
                  <a:srgbClr val="990033"/>
                </a:solidFill>
                <a:latin typeface="Century Gothic"/>
                <a:cs typeface="Century Gothic"/>
              </a:rPr>
              <a:t>developed a set of national income accounts. </a:t>
            </a:r>
            <a:r>
              <a:rPr lang="en-US" sz="2400" i="1" dirty="0">
                <a:latin typeface="Century Gothic"/>
                <a:cs typeface="Century Gothic"/>
              </a:rPr>
              <a:t>The first version was presented to Congress in </a:t>
            </a:r>
            <a:r>
              <a:rPr lang="en-US" sz="2400" i="1" dirty="0">
                <a:solidFill>
                  <a:srgbClr val="990033"/>
                </a:solidFill>
                <a:latin typeface="Century Gothic"/>
                <a:cs typeface="Century Gothic"/>
              </a:rPr>
              <a:t>1937.</a:t>
            </a:r>
          </a:p>
          <a:p>
            <a:pPr>
              <a:spcBef>
                <a:spcPts val="0"/>
              </a:spcBef>
              <a:spcAft>
                <a:spcPts val="1200"/>
              </a:spcAft>
            </a:pPr>
            <a:r>
              <a:rPr lang="en-US" sz="2400" dirty="0">
                <a:latin typeface="Century Gothic"/>
                <a:cs typeface="Century Gothic"/>
              </a:rPr>
              <a:t>The push to </a:t>
            </a:r>
            <a:r>
              <a:rPr lang="en-US" sz="2400" dirty="0">
                <a:solidFill>
                  <a:srgbClr val="0070C0"/>
                </a:solidFill>
                <a:latin typeface="Century Gothic"/>
                <a:cs typeface="Century Gothic"/>
              </a:rPr>
              <a:t>complete the national accounts came during World War II, </a:t>
            </a:r>
            <a:r>
              <a:rPr lang="en-US" sz="2400" dirty="0">
                <a:latin typeface="Century Gothic"/>
                <a:cs typeface="Century Gothic"/>
              </a:rPr>
              <a:t>when policy makers were</a:t>
            </a:r>
            <a:r>
              <a:rPr lang="en-US" sz="2400" dirty="0">
                <a:solidFill>
                  <a:srgbClr val="0070C0"/>
                </a:solidFill>
                <a:latin typeface="Century Gothic"/>
                <a:cs typeface="Century Gothic"/>
              </a:rPr>
              <a:t> in even more need of comprehensive measures of the economy’s performance. </a:t>
            </a:r>
          </a:p>
          <a:p>
            <a:pPr>
              <a:spcBef>
                <a:spcPts val="0"/>
              </a:spcBef>
              <a:spcAft>
                <a:spcPts val="1200"/>
              </a:spcAft>
            </a:pPr>
            <a:r>
              <a:rPr lang="en-US" sz="2400" dirty="0">
                <a:solidFill>
                  <a:schemeClr val="tx1">
                    <a:lumMod val="75000"/>
                    <a:lumOff val="25000"/>
                  </a:schemeClr>
                </a:solidFill>
                <a:latin typeface="Century Gothic"/>
                <a:cs typeface="Century Gothic"/>
              </a:rPr>
              <a:t>The federal government began issuing estimates of </a:t>
            </a:r>
            <a:r>
              <a:rPr lang="en-US" sz="2400" dirty="0">
                <a:latin typeface="Century Gothic"/>
                <a:cs typeface="Century Gothic"/>
              </a:rPr>
              <a:t>gross domestic product and gross national product </a:t>
            </a:r>
            <a:r>
              <a:rPr lang="en-US" sz="2400" dirty="0">
                <a:solidFill>
                  <a:schemeClr val="tx1">
                    <a:lumMod val="75000"/>
                    <a:lumOff val="25000"/>
                  </a:schemeClr>
                </a:solidFill>
                <a:latin typeface="Century Gothic"/>
                <a:cs typeface="Century Gothic"/>
              </a:rPr>
              <a:t>in 1942. </a:t>
            </a:r>
          </a:p>
        </p:txBody>
      </p:sp>
      <p:sp>
        <p:nvSpPr>
          <p:cNvPr id="3" name="Title 2"/>
          <p:cNvSpPr>
            <a:spLocks noGrp="1"/>
          </p:cNvSpPr>
          <p:nvPr>
            <p:ph type="title" idx="4294967295"/>
          </p:nvPr>
        </p:nvSpPr>
        <p:spPr>
          <a:xfrm>
            <a:off x="-25400" y="685800"/>
            <a:ext cx="9169400" cy="1143000"/>
          </a:xfrm>
          <a:prstGeom prst="rect">
            <a:avLst/>
          </a:prstGeom>
        </p:spPr>
        <p:txBody>
          <a:bodyPr>
            <a:noAutofit/>
          </a:bodyPr>
          <a:lstStyle/>
          <a:p>
            <a:r>
              <a:rPr lang="en-US" sz="2800" spc="0" dirty="0">
                <a:solidFill>
                  <a:schemeClr val="accent6">
                    <a:lumMod val="75000"/>
                  </a:schemeClr>
                </a:solidFill>
                <a:latin typeface="Century Gothic"/>
                <a:cs typeface="Century Gothic"/>
              </a:rPr>
              <a:t>WHO CREATED THE NATIONAL ACCOUNTS (AND WHY)?</a:t>
            </a:r>
          </a:p>
        </p:txBody>
      </p:sp>
    </p:spTree>
    <p:extLst>
      <p:ext uri="{BB962C8B-B14F-4D97-AF65-F5344CB8AC3E}">
        <p14:creationId xmlns:p14="http://schemas.microsoft.com/office/powerpoint/2010/main" val="376040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5875">
                                            <p:txEl>
                                              <p:pRg st="0" end="0"/>
                                            </p:txEl>
                                          </p:spTgt>
                                        </p:tgtEl>
                                        <p:attrNameLst>
                                          <p:attrName>style.visibility</p:attrName>
                                        </p:attrNameLst>
                                      </p:cBhvr>
                                      <p:to>
                                        <p:strVal val="visible"/>
                                      </p:to>
                                    </p:set>
                                    <p:animEffect transition="in" filter="fade">
                                      <p:cBhvr>
                                        <p:cTn id="7" dur="500"/>
                                        <p:tgtEl>
                                          <p:spTgt spid="33587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35875">
                                            <p:txEl>
                                              <p:pRg st="1" end="1"/>
                                            </p:txEl>
                                          </p:spTgt>
                                        </p:tgtEl>
                                        <p:attrNameLst>
                                          <p:attrName>style.visibility</p:attrName>
                                        </p:attrNameLst>
                                      </p:cBhvr>
                                      <p:to>
                                        <p:strVal val="visible"/>
                                      </p:to>
                                    </p:set>
                                    <p:animEffect transition="in" filter="fade">
                                      <p:cBhvr>
                                        <p:cTn id="11" dur="500"/>
                                        <p:tgtEl>
                                          <p:spTgt spid="33587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35875">
                                            <p:txEl>
                                              <p:pRg st="2" end="2"/>
                                            </p:txEl>
                                          </p:spTgt>
                                        </p:tgtEl>
                                        <p:attrNameLst>
                                          <p:attrName>style.visibility</p:attrName>
                                        </p:attrNameLst>
                                      </p:cBhvr>
                                      <p:to>
                                        <p:strVal val="visible"/>
                                      </p:to>
                                    </p:set>
                                    <p:animEffect transition="in" filter="fade">
                                      <p:cBhvr>
                                        <p:cTn id="16" dur="500"/>
                                        <p:tgtEl>
                                          <p:spTgt spid="33587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35875">
                                            <p:txEl>
                                              <p:pRg st="3" end="3"/>
                                            </p:txEl>
                                          </p:spTgt>
                                        </p:tgtEl>
                                        <p:attrNameLst>
                                          <p:attrName>style.visibility</p:attrName>
                                        </p:attrNameLst>
                                      </p:cBhvr>
                                      <p:to>
                                        <p:strVal val="visible"/>
                                      </p:to>
                                    </p:set>
                                    <p:animEffect transition="in" filter="fade">
                                      <p:cBhvr>
                                        <p:cTn id="21" dur="500"/>
                                        <p:tgtEl>
                                          <p:spTgt spid="3358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a:xfrm>
            <a:off x="0" y="152400"/>
            <a:ext cx="9144000" cy="838200"/>
          </a:xfrm>
          <a:noFill/>
        </p:spPr>
        <p:txBody>
          <a:bodyPr vert="horz" lIns="91440" tIns="45720" rIns="91440" bIns="45720" rtlCol="0" anchor="ctr">
            <a:noAutofit/>
          </a:bodyPr>
          <a:lstStyle/>
          <a:p>
            <a:r>
              <a:rPr lang="en-US" sz="3600" spc="0" dirty="0"/>
              <a:t>REAL GDP: A MEASURE OF AGGREGATE OUTPUT</a:t>
            </a:r>
          </a:p>
        </p:txBody>
      </p:sp>
      <p:sp>
        <p:nvSpPr>
          <p:cNvPr id="318467" name="Rectangle 3"/>
          <p:cNvSpPr>
            <a:spLocks noGrp="1" noChangeArrowheads="1"/>
          </p:cNvSpPr>
          <p:nvPr>
            <p:ph idx="1"/>
          </p:nvPr>
        </p:nvSpPr>
        <p:spPr>
          <a:xfrm>
            <a:off x="152400" y="1143000"/>
            <a:ext cx="8991600" cy="5105400"/>
          </a:xfrm>
        </p:spPr>
        <p:txBody>
          <a:bodyPr>
            <a:noAutofit/>
          </a:bodyPr>
          <a:lstStyle/>
          <a:p>
            <a:pPr>
              <a:spcBef>
                <a:spcPts val="0"/>
              </a:spcBef>
              <a:spcAft>
                <a:spcPts val="1800"/>
              </a:spcAft>
            </a:pPr>
            <a:r>
              <a:rPr lang="en-US" sz="2800" b="1" dirty="0"/>
              <a:t>We need to be able track the quantity of total output over time.</a:t>
            </a:r>
          </a:p>
          <a:p>
            <a:pPr>
              <a:spcBef>
                <a:spcPts val="0"/>
              </a:spcBef>
              <a:spcAft>
                <a:spcPts val="1800"/>
              </a:spcAft>
            </a:pPr>
            <a:r>
              <a:rPr lang="en-US" sz="2800" b="1" i="1" dirty="0">
                <a:solidFill>
                  <a:srgbClr val="990033"/>
                </a:solidFill>
              </a:rPr>
              <a:t>Real GDP:</a:t>
            </a:r>
            <a:r>
              <a:rPr lang="en-US" sz="2800" dirty="0">
                <a:solidFill>
                  <a:srgbClr val="990033"/>
                </a:solidFill>
              </a:rPr>
              <a:t> </a:t>
            </a:r>
            <a:r>
              <a:rPr lang="en-US" sz="2800" b="0" dirty="0"/>
              <a:t>the total value of the final goods and services produced in the economy during a given year, </a:t>
            </a:r>
            <a:r>
              <a:rPr lang="en-US" sz="2800" dirty="0"/>
              <a:t>calculated using the prices of a selected base year.  </a:t>
            </a:r>
          </a:p>
          <a:p>
            <a:pPr>
              <a:spcBef>
                <a:spcPts val="0"/>
              </a:spcBef>
              <a:spcAft>
                <a:spcPts val="1800"/>
              </a:spcAft>
            </a:pPr>
            <a:r>
              <a:rPr lang="en-US" sz="2800" b="1" i="1" dirty="0">
                <a:solidFill>
                  <a:srgbClr val="990033"/>
                </a:solidFill>
              </a:rPr>
              <a:t>Nominal GDP:</a:t>
            </a:r>
            <a:r>
              <a:rPr lang="en-US" sz="2800" dirty="0">
                <a:solidFill>
                  <a:srgbClr val="990033"/>
                </a:solidFill>
              </a:rPr>
              <a:t> </a:t>
            </a:r>
            <a:r>
              <a:rPr lang="en-US" sz="2800" b="0" dirty="0"/>
              <a:t>the value of all final goods and services produced in the economy during a given year, </a:t>
            </a:r>
            <a:r>
              <a:rPr lang="en-US" sz="2800" dirty="0"/>
              <a:t>calculated using the prices current in the year in which the output is produced.</a:t>
            </a:r>
          </a:p>
          <a:p>
            <a:pPr>
              <a:spcBef>
                <a:spcPts val="0"/>
              </a:spcBef>
              <a:spcAft>
                <a:spcPts val="1800"/>
              </a:spcAft>
            </a:pPr>
            <a:endParaRPr lang="en-US" sz="2800" dirty="0"/>
          </a:p>
        </p:txBody>
      </p:sp>
    </p:spTree>
    <p:extLst>
      <p:ext uri="{BB962C8B-B14F-4D97-AF65-F5344CB8AC3E}">
        <p14:creationId xmlns:p14="http://schemas.microsoft.com/office/powerpoint/2010/main" val="1070018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0" name="Rectangle 2"/>
          <p:cNvSpPr>
            <a:spLocks noGrp="1" noRot="1" noChangeArrowheads="1"/>
          </p:cNvSpPr>
          <p:nvPr>
            <p:ph type="title"/>
          </p:nvPr>
        </p:nvSpPr>
        <p:spPr>
          <a:noFill/>
        </p:spPr>
        <p:txBody>
          <a:bodyPr vert="horz" lIns="91440" tIns="45720" rIns="91440" bIns="45720" rtlCol="0" anchor="ctr">
            <a:noAutofit/>
          </a:bodyPr>
          <a:lstStyle/>
          <a:p>
            <a:r>
              <a:rPr lang="en-US" sz="4000" spc="0" dirty="0"/>
              <a:t>REAL VS. NOMINAL GDP</a:t>
            </a:r>
          </a:p>
        </p:txBody>
      </p:sp>
      <p:sp>
        <p:nvSpPr>
          <p:cNvPr id="211974" name="Rectangle 6"/>
          <p:cNvSpPr>
            <a:spLocks noChangeArrowheads="1"/>
          </p:cNvSpPr>
          <p:nvPr/>
        </p:nvSpPr>
        <p:spPr bwMode="auto">
          <a:xfrm>
            <a:off x="76200" y="685800"/>
            <a:ext cx="89916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20000"/>
              </a:spcBef>
              <a:buClr>
                <a:srgbClr val="000000"/>
              </a:buClr>
            </a:pPr>
            <a:r>
              <a:rPr lang="en-US" sz="2800" b="1" dirty="0">
                <a:latin typeface="Century Gothic"/>
                <a:cs typeface="Century Gothic"/>
              </a:rPr>
              <a:t>Calculating GDP and real GDP in a simple economy:</a:t>
            </a:r>
          </a:p>
          <a:p>
            <a:r>
              <a:rPr lang="en-US" sz="2400" dirty="0">
                <a:latin typeface="Century Gothic"/>
                <a:cs typeface="Century Gothic"/>
              </a:rPr>
              <a:t>how much would GDP have gone up if prices had </a:t>
            </a:r>
            <a:r>
              <a:rPr lang="en-US" sz="2400" i="1" dirty="0">
                <a:latin typeface="Century Gothic"/>
                <a:cs typeface="Century Gothic"/>
              </a:rPr>
              <a:t>not </a:t>
            </a:r>
            <a:r>
              <a:rPr lang="en-US" sz="2400" dirty="0">
                <a:latin typeface="Century Gothic"/>
                <a:cs typeface="Century Gothic"/>
              </a:rPr>
              <a:t>changed? To answer this question, we need to find the </a:t>
            </a:r>
            <a:r>
              <a:rPr lang="en-US" sz="2400" b="1" dirty="0">
                <a:solidFill>
                  <a:srgbClr val="0070C0"/>
                </a:solidFill>
                <a:latin typeface="Century Gothic"/>
                <a:cs typeface="Century Gothic"/>
              </a:rPr>
              <a:t>value of output in year 2 expressed in year 1 prices.</a:t>
            </a:r>
          </a:p>
        </p:txBody>
      </p:sp>
      <p:pic>
        <p:nvPicPr>
          <p:cNvPr id="10" name="Picture 1"/>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04800" y="3276600"/>
            <a:ext cx="8688780" cy="20912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49" name="Picture 1"/>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04800" y="3276600"/>
            <a:ext cx="8688780" cy="2895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98441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49"/>
                                        </p:tgtEl>
                                        <p:attrNameLst>
                                          <p:attrName>style.visibility</p:attrName>
                                        </p:attrNameLst>
                                      </p:cBhvr>
                                      <p:to>
                                        <p:strVal val="visible"/>
                                      </p:to>
                                    </p:set>
                                    <p:animEffect transition="in" filter="fade">
                                      <p:cBhvr>
                                        <p:cTn id="7" dur="500"/>
                                        <p:tgtEl>
                                          <p:spTgt spid="27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a:xfrm>
            <a:off x="228600" y="3505200"/>
            <a:ext cx="8458200" cy="2851150"/>
          </a:xfrm>
        </p:spPr>
        <p:txBody>
          <a:bodyPr>
            <a:normAutofit lnSpcReduction="10000"/>
          </a:bodyPr>
          <a:lstStyle/>
          <a:p>
            <a:r>
              <a:rPr lang="en-US" sz="2800" dirty="0"/>
              <a:t>Nominal GDP in 2011:</a:t>
            </a:r>
          </a:p>
          <a:p>
            <a:pPr marL="514350" indent="-514350">
              <a:buFont typeface="+mj-lt"/>
              <a:buAutoNum type="alphaLcParenR"/>
            </a:pPr>
            <a:r>
              <a:rPr lang="en-US" sz="2800" dirty="0"/>
              <a:t>is greater than nominal GDP in 2010.</a:t>
            </a:r>
          </a:p>
          <a:p>
            <a:pPr marL="514350" indent="-514350">
              <a:buFont typeface="+mj-lt"/>
              <a:buAutoNum type="alphaLcParenR"/>
            </a:pPr>
            <a:r>
              <a:rPr lang="en-US" sz="2800" dirty="0"/>
              <a:t>is less than nominal GDP in 2012.</a:t>
            </a:r>
          </a:p>
          <a:p>
            <a:pPr marL="514350" indent="-514350">
              <a:buFont typeface="+mj-lt"/>
              <a:buAutoNum type="alphaLcParenR"/>
            </a:pPr>
            <a:r>
              <a:rPr lang="en-US" sz="2800" dirty="0"/>
              <a:t>cannot be calculated until a base year is specified.</a:t>
            </a:r>
          </a:p>
          <a:p>
            <a:pPr marL="514350" indent="-514350">
              <a:buFont typeface="+mj-lt"/>
              <a:buAutoNum type="alphaLcParenR"/>
            </a:pPr>
            <a:r>
              <a:rPr lang="en-US" sz="2800" dirty="0"/>
              <a:t>Answers (a) and (b) are both correct.</a:t>
            </a: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62000" y="1219200"/>
            <a:ext cx="6705600" cy="2174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81326376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a:xfrm>
            <a:off x="228600" y="3505200"/>
            <a:ext cx="8915400" cy="3124200"/>
          </a:xfrm>
        </p:spPr>
        <p:txBody>
          <a:bodyPr>
            <a:normAutofit fontScale="92500" lnSpcReduction="10000"/>
          </a:bodyPr>
          <a:lstStyle/>
          <a:p>
            <a:r>
              <a:rPr lang="en-US" sz="2800" dirty="0"/>
              <a:t>Suppose the base year is 2010. Real GDP in 2011 using 2010 as the base year:</a:t>
            </a:r>
          </a:p>
          <a:p>
            <a:pPr marL="514350" indent="-514350">
              <a:buFont typeface="+mj-lt"/>
              <a:buAutoNum type="alphaLcParenR"/>
            </a:pPr>
            <a:r>
              <a:rPr lang="en-US" sz="2800" dirty="0"/>
              <a:t>is greater than nominal GDP in 2011.</a:t>
            </a:r>
          </a:p>
          <a:p>
            <a:pPr marL="514350" indent="-514350">
              <a:buFont typeface="+mj-lt"/>
              <a:buAutoNum type="alphaLcParenR"/>
            </a:pPr>
            <a:r>
              <a:rPr lang="en-US" sz="2800" dirty="0"/>
              <a:t>is less than nominal GDP in 2011.</a:t>
            </a:r>
          </a:p>
          <a:p>
            <a:pPr marL="514350" indent="-514350">
              <a:buFont typeface="+mj-lt"/>
              <a:buAutoNum type="alphaLcParenR"/>
            </a:pPr>
            <a:r>
              <a:rPr lang="en-US" sz="2800" dirty="0"/>
              <a:t>is equal to nominal GDP in 2011.</a:t>
            </a:r>
          </a:p>
          <a:p>
            <a:pPr marL="514350" indent="-514350">
              <a:buFont typeface="+mj-lt"/>
              <a:buAutoNum type="alphaLcParenR"/>
            </a:pPr>
            <a:r>
              <a:rPr lang="en-US" sz="2800" dirty="0"/>
              <a:t>may be greater than, less than, or equal to nominal GDP in 2011.</a:t>
            </a: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62000" y="1219200"/>
            <a:ext cx="6705600" cy="2174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86397038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a:xfrm>
            <a:off x="76200" y="3429000"/>
            <a:ext cx="9067800" cy="3276600"/>
          </a:xfrm>
        </p:spPr>
        <p:txBody>
          <a:bodyPr>
            <a:normAutofit fontScale="92500"/>
          </a:bodyPr>
          <a:lstStyle/>
          <a:p>
            <a:r>
              <a:rPr lang="en-US" sz="2800" dirty="0"/>
              <a:t>Using 2011 as the base year, real GDP is greatest in:</a:t>
            </a:r>
          </a:p>
          <a:p>
            <a:pPr marL="514350" indent="-514350">
              <a:buFont typeface="+mj-lt"/>
              <a:buAutoNum type="alphaLcParenR"/>
            </a:pPr>
            <a:r>
              <a:rPr lang="en-US" sz="2800" dirty="0"/>
              <a:t>2010.</a:t>
            </a:r>
          </a:p>
          <a:p>
            <a:pPr marL="514350" indent="-514350">
              <a:buFont typeface="+mj-lt"/>
              <a:buAutoNum type="alphaLcParenR"/>
            </a:pPr>
            <a:r>
              <a:rPr lang="en-US" sz="2800" dirty="0"/>
              <a:t>2011.</a:t>
            </a:r>
          </a:p>
          <a:p>
            <a:pPr marL="514350" indent="-514350">
              <a:buFont typeface="+mj-lt"/>
              <a:buAutoNum type="alphaLcParenR"/>
            </a:pPr>
            <a:r>
              <a:rPr lang="en-US" sz="2800" dirty="0"/>
              <a:t>2012.</a:t>
            </a:r>
          </a:p>
          <a:p>
            <a:pPr marL="514350" indent="-514350">
              <a:buFont typeface="+mj-lt"/>
              <a:buAutoNum type="alphaLcParenR"/>
            </a:pPr>
            <a:r>
              <a:rPr lang="en-US" sz="2800" dirty="0"/>
              <a:t>2010 and 2012, since real GDP using 2011 as the base year is the same for these two years.</a:t>
            </a: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62000" y="1219200"/>
            <a:ext cx="6705600" cy="2174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65266643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REAL-LIFE REAL GDP</a:t>
            </a:r>
          </a:p>
        </p:txBody>
      </p:sp>
      <p:sp>
        <p:nvSpPr>
          <p:cNvPr id="3" name="Content Placeholder 2"/>
          <p:cNvSpPr>
            <a:spLocks noGrp="1"/>
          </p:cNvSpPr>
          <p:nvPr>
            <p:ph idx="1"/>
          </p:nvPr>
        </p:nvSpPr>
        <p:spPr/>
        <p:txBody>
          <a:bodyPr/>
          <a:lstStyle/>
          <a:p>
            <a:r>
              <a:rPr lang="en-US" dirty="0">
                <a:solidFill>
                  <a:srgbClr val="0070C0"/>
                </a:solidFill>
              </a:rPr>
              <a:t>Nominal versus real GDP in 2005, 2009 and 2013</a:t>
            </a:r>
          </a:p>
        </p:txBody>
      </p:sp>
      <p:pic>
        <p:nvPicPr>
          <p:cNvPr id="5" name="Picture 4" descr="Screen Shot 2015-03-31 at 4.50.12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2466691"/>
            <a:ext cx="9144000" cy="2486309"/>
          </a:xfrm>
          <a:prstGeom prst="rect">
            <a:avLst/>
          </a:prstGeom>
        </p:spPr>
      </p:pic>
    </p:spTree>
    <p:extLst>
      <p:ext uri="{BB962C8B-B14F-4D97-AF65-F5344CB8AC3E}">
        <p14:creationId xmlns:p14="http://schemas.microsoft.com/office/powerpoint/2010/main" val="805465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9490" name="Rectangle 2"/>
          <p:cNvSpPr>
            <a:spLocks noGrp="1" noRot="1" noChangeArrowheads="1"/>
          </p:cNvSpPr>
          <p:nvPr>
            <p:ph type="title"/>
          </p:nvPr>
        </p:nvSpPr>
        <p:spPr/>
        <p:txBody>
          <a:bodyPr>
            <a:normAutofit/>
          </a:bodyPr>
          <a:lstStyle/>
          <a:p>
            <a:r>
              <a:rPr lang="en-US" sz="4000" spc="0" dirty="0"/>
              <a:t>REAL VS. NOMINAL GDP</a:t>
            </a:r>
          </a:p>
        </p:txBody>
      </p:sp>
      <p:sp>
        <p:nvSpPr>
          <p:cNvPr id="319491" name="Rectangle 3"/>
          <p:cNvSpPr>
            <a:spLocks noGrp="1" noChangeArrowheads="1"/>
          </p:cNvSpPr>
          <p:nvPr>
            <p:ph idx="1"/>
          </p:nvPr>
        </p:nvSpPr>
        <p:spPr>
          <a:xfrm>
            <a:off x="228600" y="990600"/>
            <a:ext cx="8839200" cy="5334000"/>
          </a:xfrm>
        </p:spPr>
        <p:txBody>
          <a:bodyPr>
            <a:normAutofit fontScale="92500" lnSpcReduction="10000"/>
          </a:bodyPr>
          <a:lstStyle/>
          <a:p>
            <a:pPr>
              <a:spcBef>
                <a:spcPts val="0"/>
              </a:spcBef>
              <a:spcAft>
                <a:spcPts val="1800"/>
              </a:spcAft>
            </a:pPr>
            <a:r>
              <a:rPr lang="en-US" b="0" dirty="0"/>
              <a:t>Except in the base year, real GDP is not the same as </a:t>
            </a:r>
            <a:r>
              <a:rPr lang="en-US" b="1" i="1" dirty="0">
                <a:solidFill>
                  <a:srgbClr val="990033"/>
                </a:solidFill>
              </a:rPr>
              <a:t>nominal GDP</a:t>
            </a:r>
            <a:r>
              <a:rPr lang="en-US" dirty="0">
                <a:solidFill>
                  <a:srgbClr val="990033"/>
                </a:solidFill>
              </a:rPr>
              <a:t>:</a:t>
            </a:r>
            <a:r>
              <a:rPr lang="en-US" dirty="0"/>
              <a:t>  </a:t>
            </a:r>
            <a:r>
              <a:rPr lang="en-US" b="0" dirty="0"/>
              <a:t>output valued at current prices. </a:t>
            </a:r>
          </a:p>
          <a:p>
            <a:pPr>
              <a:spcBef>
                <a:spcPts val="0"/>
              </a:spcBef>
              <a:spcAft>
                <a:spcPts val="1800"/>
              </a:spcAft>
            </a:pPr>
            <a:r>
              <a:rPr lang="en-US" b="1" i="1" dirty="0">
                <a:solidFill>
                  <a:srgbClr val="990033"/>
                </a:solidFill>
              </a:rPr>
              <a:t>Chained dollars:</a:t>
            </a:r>
            <a:r>
              <a:rPr lang="en-US" dirty="0">
                <a:solidFill>
                  <a:srgbClr val="990033"/>
                </a:solidFill>
              </a:rPr>
              <a:t> </a:t>
            </a:r>
            <a:r>
              <a:rPr lang="en-US" b="0" dirty="0"/>
              <a:t>the method of calculating changes in real GDP using the average between the growth rate calculated on an early base year and the growth rate calculated on a late base year.</a:t>
            </a:r>
          </a:p>
          <a:p>
            <a:pPr>
              <a:spcBef>
                <a:spcPts val="0"/>
              </a:spcBef>
              <a:spcAft>
                <a:spcPts val="1800"/>
              </a:spcAft>
            </a:pPr>
            <a:r>
              <a:rPr lang="en-US" b="1" i="1" dirty="0">
                <a:solidFill>
                  <a:srgbClr val="990033"/>
                </a:solidFill>
              </a:rPr>
              <a:t>GDP per capita:</a:t>
            </a:r>
            <a:r>
              <a:rPr lang="en-US" dirty="0">
                <a:solidFill>
                  <a:srgbClr val="990033"/>
                </a:solidFill>
              </a:rPr>
              <a:t> </a:t>
            </a:r>
            <a:r>
              <a:rPr lang="en-US" b="0" dirty="0"/>
              <a:t>average GDP per person; not by itself an appropriate policy goal.</a:t>
            </a:r>
          </a:p>
          <a:p>
            <a:pPr>
              <a:spcBef>
                <a:spcPts val="0"/>
              </a:spcBef>
              <a:spcAft>
                <a:spcPts val="1800"/>
              </a:spcAft>
            </a:pPr>
            <a:endParaRPr lang="en-US" dirty="0"/>
          </a:p>
        </p:txBody>
      </p:sp>
    </p:spTree>
    <p:extLst>
      <p:ext uri="{BB962C8B-B14F-4D97-AF65-F5344CB8AC3E}">
        <p14:creationId xmlns:p14="http://schemas.microsoft.com/office/powerpoint/2010/main" val="363444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Effect transition="in" filter="fade">
                                      <p:cBhvr>
                                        <p:cTn id="7" dur="500"/>
                                        <p:tgtEl>
                                          <p:spTgt spid="319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9491">
                                            <p:txEl>
                                              <p:pRg st="1" end="1"/>
                                            </p:txEl>
                                          </p:spTgt>
                                        </p:tgtEl>
                                        <p:attrNameLst>
                                          <p:attrName>style.visibility</p:attrName>
                                        </p:attrNameLst>
                                      </p:cBhvr>
                                      <p:to>
                                        <p:strVal val="visible"/>
                                      </p:to>
                                    </p:set>
                                    <p:animEffect transition="in" filter="fade">
                                      <p:cBhvr>
                                        <p:cTn id="12" dur="500"/>
                                        <p:tgtEl>
                                          <p:spTgt spid="319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9491">
                                            <p:txEl>
                                              <p:pRg st="2" end="2"/>
                                            </p:txEl>
                                          </p:spTgt>
                                        </p:tgtEl>
                                        <p:attrNameLst>
                                          <p:attrName>style.visibility</p:attrName>
                                        </p:attrNameLst>
                                      </p:cBhvr>
                                      <p:to>
                                        <p:strVal val="visible"/>
                                      </p:to>
                                    </p:set>
                                    <p:animEffect transition="in" filter="fade">
                                      <p:cBhvr>
                                        <p:cTn id="17" dur="500"/>
                                        <p:tgtEl>
                                          <p:spTgt spid="3194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pc="0" dirty="0"/>
              <a:t>GDP AND THE MEANING OF LIFE</a:t>
            </a:r>
          </a:p>
        </p:txBody>
      </p:sp>
      <p:sp>
        <p:nvSpPr>
          <p:cNvPr id="297987" name="Rectangle 3"/>
          <p:cNvSpPr>
            <a:spLocks noGrp="1" noChangeArrowheads="1"/>
          </p:cNvSpPr>
          <p:nvPr>
            <p:ph idx="1"/>
          </p:nvPr>
        </p:nvSpPr>
        <p:spPr>
          <a:xfrm>
            <a:off x="152400" y="762000"/>
            <a:ext cx="8839200" cy="4648200"/>
          </a:xfrm>
        </p:spPr>
        <p:txBody>
          <a:bodyPr/>
          <a:lstStyle/>
          <a:p>
            <a:pPr>
              <a:spcBef>
                <a:spcPct val="0"/>
              </a:spcBef>
            </a:pPr>
            <a:r>
              <a:rPr lang="en-US" sz="2400" dirty="0"/>
              <a:t>Rich is better.</a:t>
            </a:r>
          </a:p>
          <a:p>
            <a:pPr>
              <a:spcBef>
                <a:spcPct val="0"/>
              </a:spcBef>
            </a:pPr>
            <a:r>
              <a:rPr lang="en-US" sz="2400" dirty="0"/>
              <a:t>Money matters less as you grow richer.</a:t>
            </a:r>
          </a:p>
          <a:p>
            <a:pPr>
              <a:spcBef>
                <a:spcPct val="0"/>
              </a:spcBef>
            </a:pPr>
            <a:r>
              <a:rPr lang="en-US" sz="2400" dirty="0"/>
              <a:t>Money isn’t everything.</a:t>
            </a:r>
          </a:p>
        </p:txBody>
      </p:sp>
      <p:sp>
        <p:nvSpPr>
          <p:cNvPr id="4" name="Rectangle 3"/>
          <p:cNvSpPr/>
          <p:nvPr/>
        </p:nvSpPr>
        <p:spPr>
          <a:xfrm>
            <a:off x="6248400" y="6324600"/>
            <a:ext cx="2277846" cy="276999"/>
          </a:xfrm>
          <a:prstGeom prst="rect">
            <a:avLst/>
          </a:prstGeom>
        </p:spPr>
        <p:txBody>
          <a:bodyPr wrap="none">
            <a:spAutoFit/>
          </a:bodyPr>
          <a:lstStyle/>
          <a:p>
            <a:r>
              <a:rPr lang="en-US" sz="1200" i="1" dirty="0">
                <a:solidFill>
                  <a:schemeClr val="tx1">
                    <a:lumMod val="65000"/>
                    <a:lumOff val="35000"/>
                  </a:schemeClr>
                </a:solidFill>
                <a:latin typeface="Century Gothic"/>
                <a:cs typeface="Century Gothic"/>
              </a:rPr>
              <a:t>Source: Gallup; World Bank.</a:t>
            </a:r>
          </a:p>
        </p:txBody>
      </p:sp>
      <p:pic>
        <p:nvPicPr>
          <p:cNvPr id="5" name="Picture 4" descr="Screen Shot 2015-03-31 at 4.53.58 PM.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981200"/>
            <a:ext cx="9144000" cy="4303517"/>
          </a:xfrm>
          <a:prstGeom prst="rect">
            <a:avLst/>
          </a:prstGeom>
        </p:spPr>
      </p:pic>
    </p:spTree>
    <p:extLst>
      <p:ext uri="{BB962C8B-B14F-4D97-AF65-F5344CB8AC3E}">
        <p14:creationId xmlns:p14="http://schemas.microsoft.com/office/powerpoint/2010/main" val="34629152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7987">
                                            <p:bg/>
                                          </p:spTgt>
                                        </p:tgtEl>
                                        <p:attrNameLst>
                                          <p:attrName>style.visibility</p:attrName>
                                        </p:attrNameLst>
                                      </p:cBhvr>
                                      <p:to>
                                        <p:strVal val="visible"/>
                                      </p:to>
                                    </p:set>
                                    <p:animEffect transition="in" filter="fade">
                                      <p:cBhvr>
                                        <p:cTn id="7" dur="500"/>
                                        <p:tgtEl>
                                          <p:spTgt spid="297987">
                                            <p:bg/>
                                          </p:spTgt>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97987">
                                            <p:txEl>
                                              <p:pRg st="0" end="0"/>
                                            </p:txEl>
                                          </p:spTgt>
                                        </p:tgtEl>
                                        <p:attrNameLst>
                                          <p:attrName>style.visibility</p:attrName>
                                        </p:attrNameLst>
                                      </p:cBhvr>
                                      <p:to>
                                        <p:strVal val="visible"/>
                                      </p:to>
                                    </p:set>
                                    <p:animEffect transition="in" filter="fade">
                                      <p:cBhvr>
                                        <p:cTn id="11" dur="500"/>
                                        <p:tgtEl>
                                          <p:spTgt spid="297987">
                                            <p:txEl>
                                              <p:pRg st="0" end="0"/>
                                            </p:txEl>
                                          </p:spTgt>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97987">
                                            <p:txEl>
                                              <p:pRg st="1" end="1"/>
                                            </p:txEl>
                                          </p:spTgt>
                                        </p:tgtEl>
                                        <p:attrNameLst>
                                          <p:attrName>style.visibility</p:attrName>
                                        </p:attrNameLst>
                                      </p:cBhvr>
                                      <p:to>
                                        <p:strVal val="visible"/>
                                      </p:to>
                                    </p:set>
                                    <p:animEffect transition="in" filter="fade">
                                      <p:cBhvr>
                                        <p:cTn id="15" dur="500"/>
                                        <p:tgtEl>
                                          <p:spTgt spid="297987">
                                            <p:txEl>
                                              <p:pRg st="1" end="1"/>
                                            </p:txEl>
                                          </p:spTgt>
                                        </p:tgtEl>
                                      </p:cBhvr>
                                    </p:animEffect>
                                  </p:childTnLst>
                                </p:cTn>
                              </p:par>
                            </p:childTnLst>
                          </p:cTn>
                        </p:par>
                        <p:par>
                          <p:cTn id="16" fill="hold" nodeType="afterGroup">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97987">
                                            <p:txEl>
                                              <p:pRg st="2" end="2"/>
                                            </p:txEl>
                                          </p:spTgt>
                                        </p:tgtEl>
                                        <p:attrNameLst>
                                          <p:attrName>style.visibility</p:attrName>
                                        </p:attrNameLst>
                                      </p:cBhvr>
                                      <p:to>
                                        <p:strVal val="visible"/>
                                      </p:to>
                                    </p:set>
                                    <p:animEffect transition="in" filter="fade">
                                      <p:cBhvr>
                                        <p:cTn id="19" dur="500"/>
                                        <p:tgtEl>
                                          <p:spTgt spid="2979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378" name="Rectangle 2"/>
          <p:cNvSpPr>
            <a:spLocks noGrp="1" noChangeArrowheads="1"/>
          </p:cNvSpPr>
          <p:nvPr>
            <p:ph idx="1"/>
          </p:nvPr>
        </p:nvSpPr>
        <p:spPr/>
        <p:txBody>
          <a:bodyPr>
            <a:normAutofit/>
          </a:bodyPr>
          <a:lstStyle/>
          <a:p>
            <a:pPr>
              <a:spcBef>
                <a:spcPct val="50000"/>
              </a:spcBef>
            </a:pPr>
            <a:r>
              <a:rPr lang="en-US" sz="2800" dirty="0">
                <a:latin typeface="Century Gothic"/>
                <a:cs typeface="Century Gothic"/>
              </a:rPr>
              <a:t>No, it’s just suffering from unusually high inflation. </a:t>
            </a:r>
            <a:endParaRPr lang="en-US" sz="2800" b="1" dirty="0">
              <a:latin typeface="Century Gothic"/>
              <a:cs typeface="Century Gothic"/>
            </a:endParaRPr>
          </a:p>
          <a:p>
            <a:endParaRPr lang="en-US" sz="2000" dirty="0">
              <a:latin typeface="Century Gothic"/>
              <a:cs typeface="Century Gothic"/>
            </a:endParaRPr>
          </a:p>
        </p:txBody>
      </p:sp>
      <p:sp>
        <p:nvSpPr>
          <p:cNvPr id="2" name="Title 1"/>
          <p:cNvSpPr>
            <a:spLocks noGrp="1"/>
          </p:cNvSpPr>
          <p:nvPr>
            <p:ph type="title" idx="4294967295"/>
          </p:nvPr>
        </p:nvSpPr>
        <p:spPr>
          <a:xfrm>
            <a:off x="0" y="685800"/>
            <a:ext cx="9144000" cy="838200"/>
          </a:xfrm>
        </p:spPr>
        <p:txBody>
          <a:bodyPr>
            <a:normAutofit/>
          </a:bodyPr>
          <a:lstStyle/>
          <a:p>
            <a:r>
              <a:rPr lang="en-US" spc="0" dirty="0">
                <a:solidFill>
                  <a:srgbClr val="E46C0A"/>
                </a:solidFill>
                <a:latin typeface="Century Gothic"/>
                <a:cs typeface="Century Gothic"/>
              </a:rPr>
              <a:t>Miracle in Venezuela?</a:t>
            </a:r>
          </a:p>
        </p:txBody>
      </p:sp>
      <p:pic>
        <p:nvPicPr>
          <p:cNvPr id="3" name="Picture 2" descr="Screen Shot 2015-03-31 at 4.56.18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143000" y="1981200"/>
            <a:ext cx="6464300" cy="4538962"/>
          </a:xfrm>
          <a:prstGeom prst="rect">
            <a:avLst/>
          </a:prstGeom>
        </p:spPr>
      </p:pic>
    </p:spTree>
    <p:extLst>
      <p:ext uri="{BB962C8B-B14F-4D97-AF65-F5344CB8AC3E}">
        <p14:creationId xmlns:p14="http://schemas.microsoft.com/office/powerpoint/2010/main" val="26854436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7378">
                                            <p:txEl>
                                              <p:pRg st="0" end="0"/>
                                            </p:txEl>
                                          </p:spTgt>
                                        </p:tgtEl>
                                        <p:attrNameLst>
                                          <p:attrName>style.visibility</p:attrName>
                                        </p:attrNameLst>
                                      </p:cBhvr>
                                      <p:to>
                                        <p:strVal val="visible"/>
                                      </p:to>
                                    </p:set>
                                    <p:animEffect transition="in" filter="fade">
                                      <p:cBhvr>
                                        <p:cTn id="7" dur="500"/>
                                        <p:tgtEl>
                                          <p:spTgt spid="3573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8"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Rot="1" noChangeArrowheads="1"/>
          </p:cNvSpPr>
          <p:nvPr>
            <p:ph type="title"/>
          </p:nvPr>
        </p:nvSpPr>
        <p:spPr>
          <a:xfrm>
            <a:off x="0" y="152400"/>
            <a:ext cx="9144000" cy="838200"/>
          </a:xfrm>
        </p:spPr>
        <p:txBody>
          <a:bodyPr>
            <a:noAutofit/>
          </a:bodyPr>
          <a:lstStyle/>
          <a:p>
            <a:r>
              <a:rPr lang="en-US" sz="4000" spc="0" dirty="0"/>
              <a:t>PRICE INDEXES AND THE AGGREGATE PRICE LEVEL</a:t>
            </a:r>
          </a:p>
        </p:txBody>
      </p:sp>
      <p:sp>
        <p:nvSpPr>
          <p:cNvPr id="320515" name="Rectangle 3"/>
          <p:cNvSpPr>
            <a:spLocks noGrp="1" noChangeArrowheads="1"/>
          </p:cNvSpPr>
          <p:nvPr>
            <p:ph idx="1"/>
          </p:nvPr>
        </p:nvSpPr>
        <p:spPr>
          <a:xfrm>
            <a:off x="228600" y="1447800"/>
            <a:ext cx="8839200" cy="4648200"/>
          </a:xfrm>
        </p:spPr>
        <p:txBody>
          <a:bodyPr>
            <a:normAutofit/>
          </a:bodyPr>
          <a:lstStyle/>
          <a:p>
            <a:pPr>
              <a:spcBef>
                <a:spcPts val="0"/>
              </a:spcBef>
              <a:spcAft>
                <a:spcPts val="1800"/>
              </a:spcAft>
            </a:pPr>
            <a:r>
              <a:rPr lang="en-US" b="1" i="1" dirty="0">
                <a:solidFill>
                  <a:srgbClr val="990033"/>
                </a:solidFill>
              </a:rPr>
              <a:t>Aggregate price level:</a:t>
            </a:r>
            <a:r>
              <a:rPr lang="en-US" dirty="0"/>
              <a:t> </a:t>
            </a:r>
            <a:r>
              <a:rPr lang="en-US" b="0" dirty="0"/>
              <a:t>a measure of the overall level of prices in the economy.</a:t>
            </a:r>
          </a:p>
          <a:p>
            <a:pPr>
              <a:spcBef>
                <a:spcPts val="0"/>
              </a:spcBef>
              <a:spcAft>
                <a:spcPts val="1800"/>
              </a:spcAft>
            </a:pPr>
            <a:r>
              <a:rPr lang="en-US" b="0" dirty="0"/>
              <a:t>To measure the aggregate price level, economists calculate the cost of purchasing a </a:t>
            </a:r>
            <a:r>
              <a:rPr lang="en-US" b="1" i="1" dirty="0">
                <a:solidFill>
                  <a:srgbClr val="990033"/>
                </a:solidFill>
              </a:rPr>
              <a:t>market basket</a:t>
            </a:r>
            <a:r>
              <a:rPr lang="en-US" dirty="0">
                <a:solidFill>
                  <a:srgbClr val="990033"/>
                </a:solidFill>
              </a:rPr>
              <a:t>. </a:t>
            </a:r>
          </a:p>
          <a:p>
            <a:pPr>
              <a:spcBef>
                <a:spcPts val="0"/>
              </a:spcBef>
              <a:spcAft>
                <a:spcPts val="1800"/>
              </a:spcAft>
            </a:pPr>
            <a:r>
              <a:rPr lang="en-US" i="1" dirty="0">
                <a:solidFill>
                  <a:srgbClr val="990033"/>
                </a:solidFill>
              </a:rPr>
              <a:t>Market basket: </a:t>
            </a:r>
            <a:r>
              <a:rPr lang="en-US" b="0" dirty="0"/>
              <a:t>a hypothetical set of consumer purchases of goods and services.</a:t>
            </a:r>
          </a:p>
          <a:p>
            <a:pPr>
              <a:spcBef>
                <a:spcPts val="0"/>
              </a:spcBef>
              <a:spcAft>
                <a:spcPts val="1800"/>
              </a:spcAft>
            </a:pPr>
            <a:endParaRPr lang="en-US" b="0" dirty="0"/>
          </a:p>
        </p:txBody>
      </p:sp>
    </p:spTree>
    <p:extLst>
      <p:ext uri="{BB962C8B-B14F-4D97-AF65-F5344CB8AC3E}">
        <p14:creationId xmlns:p14="http://schemas.microsoft.com/office/powerpoint/2010/main" val="1198611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a:xfrm>
            <a:off x="0" y="0"/>
            <a:ext cx="9144000" cy="1219200"/>
          </a:xfrm>
          <a:noFill/>
        </p:spPr>
        <p:txBody>
          <a:bodyPr vert="horz" lIns="91440" tIns="45720" rIns="91440" bIns="45720" rtlCol="0" anchor="ctr">
            <a:normAutofit fontScale="90000"/>
          </a:bodyPr>
          <a:lstStyle/>
          <a:p>
            <a:r>
              <a:rPr lang="en-US" spc="0" dirty="0"/>
              <a:t>MARKET BASKETS AND PRICE INDEXES</a:t>
            </a:r>
          </a:p>
        </p:txBody>
      </p:sp>
      <p:sp>
        <p:nvSpPr>
          <p:cNvPr id="220294" name="Rectangle 134"/>
          <p:cNvSpPr>
            <a:spLocks noChangeArrowheads="1"/>
          </p:cNvSpPr>
          <p:nvPr/>
        </p:nvSpPr>
        <p:spPr bwMode="auto">
          <a:xfrm>
            <a:off x="152400" y="1524000"/>
            <a:ext cx="8686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lnSpc>
                <a:spcPct val="100000"/>
              </a:lnSpc>
              <a:spcBef>
                <a:spcPct val="20000"/>
              </a:spcBef>
              <a:buClr>
                <a:srgbClr val="000000"/>
              </a:buClr>
            </a:pPr>
            <a:r>
              <a:rPr lang="en-US" sz="2400" b="1" dirty="0">
                <a:latin typeface="Century Gothic"/>
                <a:cs typeface="Century Gothic"/>
              </a:rPr>
              <a:t>Calculating the cost of a market basket</a:t>
            </a:r>
          </a:p>
          <a:p>
            <a:pPr marL="342900" indent="-342900" algn="ctr">
              <a:lnSpc>
                <a:spcPct val="100000"/>
              </a:lnSpc>
              <a:spcBef>
                <a:spcPct val="20000"/>
              </a:spcBef>
              <a:buClr>
                <a:srgbClr val="000000"/>
              </a:buClr>
            </a:pPr>
            <a:endParaRPr lang="en-US" sz="2400" b="1" dirty="0">
              <a:latin typeface="Century Gothic"/>
              <a:cs typeface="Century Gothic"/>
            </a:endParaRPr>
          </a:p>
        </p:txBody>
      </p:sp>
      <p:pic>
        <p:nvPicPr>
          <p:cNvPr id="7" name="Picture 1"/>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r="18750"/>
          <a:stretch/>
        </p:blipFill>
        <p:spPr bwMode="auto">
          <a:xfrm>
            <a:off x="1" y="2392680"/>
            <a:ext cx="3467099" cy="233172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5" name="Picture 1"/>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0" y="2400300"/>
            <a:ext cx="9144000" cy="233172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10868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85"/>
                                        </p:tgtEl>
                                        <p:attrNameLst>
                                          <p:attrName>style.visibility</p:attrName>
                                        </p:attrNameLst>
                                      </p:cBhvr>
                                      <p:to>
                                        <p:strVal val="visible"/>
                                      </p:to>
                                    </p:set>
                                    <p:animEffect transition="in" filter="fade">
                                      <p:cBhvr>
                                        <p:cTn id="7" dur="500"/>
                                        <p:tgtEl>
                                          <p:spTgt spid="16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PRICE INDEXES</a:t>
            </a:r>
          </a:p>
        </p:txBody>
      </p:sp>
      <mc:AlternateContent xmlns:mc="http://schemas.openxmlformats.org/markup-compatibility/2006" xmlns:a14="http://schemas.microsoft.com/office/drawing/2010/main">
        <mc:Choice Requires="a14">
          <p:sp>
            <p:nvSpPr>
              <p:cNvPr id="5" name="TextBox 4"/>
              <p:cNvSpPr txBox="1"/>
              <p:nvPr/>
            </p:nvSpPr>
            <p:spPr>
              <a:xfrm>
                <a:off x="3566" y="3694093"/>
                <a:ext cx="9144000" cy="1267398"/>
              </a:xfrm>
              <a:prstGeom prst="rect">
                <a:avLst/>
              </a:prstGeom>
              <a:solidFill>
                <a:schemeClr val="accent3">
                  <a:alpha val="71000"/>
                </a:schemeClr>
              </a:solidFill>
            </p:spPr>
            <p:txBody>
              <a:bodyPr wrap="square" rtlCol="0">
                <a:spAutoFit/>
              </a:bodyPr>
              <a:lstStyle/>
              <a:p>
                <a:r>
                  <a:rPr lang="en-US" sz="2800" b="1" dirty="0">
                    <a:solidFill>
                      <a:srgbClr val="800000"/>
                    </a:solidFill>
                    <a:latin typeface="Tw Cen MT"/>
                    <a:cs typeface="Tw Cen MT"/>
                  </a:rPr>
                  <a:t>Price index in a given year</a:t>
                </a:r>
                <a:endParaRPr lang="en-US" sz="2800" dirty="0">
                  <a:latin typeface="Tw Cen MT"/>
                  <a:cs typeface="Tw Cen MT"/>
                </a:endParaRPr>
              </a:p>
              <a:p>
                <a:r>
                  <a:rPr lang="en-US" sz="2800" dirty="0">
                    <a:latin typeface="Tw Cen MT"/>
                    <a:cs typeface="Tw Cen MT"/>
                  </a:rPr>
                  <a:t>          =  </a:t>
                </a:r>
                <a14:m>
                  <m:oMath xmlns:m="http://schemas.openxmlformats.org/officeDocument/2006/math">
                    <m:f>
                      <m:fPr>
                        <m:ctrlPr>
                          <a:rPr lang="en-US" sz="2800" i="1" smtClean="0">
                            <a:latin typeface="Cambria Math" panose="02040503050406030204" pitchFamily="18" charset="0"/>
                          </a:rPr>
                        </m:ctrlPr>
                      </m:fPr>
                      <m:num>
                        <m:r>
                          <m:rPr>
                            <m:nor/>
                          </m:rPr>
                          <a:rPr lang="en-US" sz="2800" dirty="0">
                            <a:latin typeface="Tw Cen MT"/>
                            <a:cs typeface="Tw Cen MT"/>
                          </a:rPr>
                          <m:t>Cost</m:t>
                        </m:r>
                        <m:r>
                          <m:rPr>
                            <m:nor/>
                          </m:rPr>
                          <a:rPr lang="en-US" sz="2800" dirty="0">
                            <a:latin typeface="Tw Cen MT"/>
                            <a:cs typeface="Tw Cen MT"/>
                          </a:rPr>
                          <m:t> </m:t>
                        </m:r>
                        <m:r>
                          <m:rPr>
                            <m:nor/>
                          </m:rPr>
                          <a:rPr lang="en-US" sz="2800" dirty="0">
                            <a:latin typeface="Tw Cen MT"/>
                            <a:cs typeface="Tw Cen MT"/>
                          </a:rPr>
                          <m:t>of</m:t>
                        </m:r>
                        <m:r>
                          <m:rPr>
                            <m:nor/>
                          </m:rPr>
                          <a:rPr lang="en-US" sz="2800" dirty="0">
                            <a:latin typeface="Tw Cen MT"/>
                            <a:cs typeface="Tw Cen MT"/>
                          </a:rPr>
                          <m:t> </m:t>
                        </m:r>
                        <m:r>
                          <m:rPr>
                            <m:nor/>
                          </m:rPr>
                          <a:rPr lang="en-US" sz="2800" dirty="0">
                            <a:latin typeface="Tw Cen MT"/>
                            <a:cs typeface="Tw Cen MT"/>
                          </a:rPr>
                          <m:t>market</m:t>
                        </m:r>
                        <m:r>
                          <m:rPr>
                            <m:nor/>
                          </m:rPr>
                          <a:rPr lang="en-US" sz="2800" dirty="0">
                            <a:latin typeface="Tw Cen MT"/>
                            <a:cs typeface="Tw Cen MT"/>
                          </a:rPr>
                          <m:t> </m:t>
                        </m:r>
                        <m:r>
                          <m:rPr>
                            <m:nor/>
                          </m:rPr>
                          <a:rPr lang="en-US" sz="2800" dirty="0">
                            <a:latin typeface="Tw Cen MT"/>
                            <a:cs typeface="Tw Cen MT"/>
                          </a:rPr>
                          <m:t>basket</m:t>
                        </m:r>
                        <m:r>
                          <m:rPr>
                            <m:nor/>
                          </m:rPr>
                          <a:rPr lang="en-US" sz="2800" dirty="0">
                            <a:latin typeface="Tw Cen MT"/>
                            <a:cs typeface="Tw Cen MT"/>
                          </a:rPr>
                          <m:t> </m:t>
                        </m:r>
                        <m:r>
                          <m:rPr>
                            <m:nor/>
                          </m:rPr>
                          <a:rPr lang="en-US" sz="2800" dirty="0">
                            <a:latin typeface="Tw Cen MT"/>
                            <a:cs typeface="Tw Cen MT"/>
                          </a:rPr>
                          <m:t>in</m:t>
                        </m:r>
                        <m:r>
                          <m:rPr>
                            <m:nor/>
                          </m:rPr>
                          <a:rPr lang="en-US" sz="2800" dirty="0">
                            <a:latin typeface="Tw Cen MT"/>
                            <a:cs typeface="Tw Cen MT"/>
                          </a:rPr>
                          <m:t> </m:t>
                        </m:r>
                        <m:r>
                          <m:rPr>
                            <m:nor/>
                          </m:rPr>
                          <a:rPr lang="en-US" sz="2800" dirty="0">
                            <a:latin typeface="Tw Cen MT"/>
                            <a:cs typeface="Tw Cen MT"/>
                          </a:rPr>
                          <m:t>a</m:t>
                        </m:r>
                        <m:r>
                          <m:rPr>
                            <m:nor/>
                          </m:rPr>
                          <a:rPr lang="en-US" sz="2800" dirty="0">
                            <a:latin typeface="Tw Cen MT"/>
                            <a:cs typeface="Tw Cen MT"/>
                          </a:rPr>
                          <m:t> </m:t>
                        </m:r>
                        <m:r>
                          <m:rPr>
                            <m:nor/>
                          </m:rPr>
                          <a:rPr lang="en-US" sz="2800" dirty="0">
                            <a:latin typeface="Tw Cen MT"/>
                            <a:cs typeface="Tw Cen MT"/>
                          </a:rPr>
                          <m:t>given</m:t>
                        </m:r>
                        <m:r>
                          <m:rPr>
                            <m:nor/>
                          </m:rPr>
                          <a:rPr lang="en-US" sz="2800" dirty="0">
                            <a:latin typeface="Tw Cen MT"/>
                            <a:cs typeface="Tw Cen MT"/>
                          </a:rPr>
                          <m:t> </m:t>
                        </m:r>
                        <m:r>
                          <m:rPr>
                            <m:nor/>
                          </m:rPr>
                          <a:rPr lang="en-US" sz="2800" dirty="0">
                            <a:latin typeface="Tw Cen MT"/>
                            <a:cs typeface="Tw Cen MT"/>
                          </a:rPr>
                          <m:t>year</m:t>
                        </m:r>
                      </m:num>
                      <m:den>
                        <m:r>
                          <m:rPr>
                            <m:nor/>
                          </m:rPr>
                          <a:rPr lang="en-US" sz="2800" dirty="0">
                            <a:latin typeface="Tw Cen MT"/>
                            <a:cs typeface="Tw Cen MT"/>
                          </a:rPr>
                          <m:t>Cost</m:t>
                        </m:r>
                        <m:r>
                          <m:rPr>
                            <m:nor/>
                          </m:rPr>
                          <a:rPr lang="en-US" sz="2800" dirty="0">
                            <a:latin typeface="Tw Cen MT"/>
                            <a:cs typeface="Tw Cen MT"/>
                          </a:rPr>
                          <m:t> </m:t>
                        </m:r>
                        <m:r>
                          <m:rPr>
                            <m:nor/>
                          </m:rPr>
                          <a:rPr lang="en-US" sz="2800" dirty="0">
                            <a:latin typeface="Tw Cen MT"/>
                            <a:cs typeface="Tw Cen MT"/>
                          </a:rPr>
                          <m:t>of</m:t>
                        </m:r>
                        <m:r>
                          <m:rPr>
                            <m:nor/>
                          </m:rPr>
                          <a:rPr lang="en-US" sz="2800" dirty="0">
                            <a:latin typeface="Tw Cen MT"/>
                            <a:cs typeface="Tw Cen MT"/>
                          </a:rPr>
                          <m:t> </m:t>
                        </m:r>
                        <m:r>
                          <m:rPr>
                            <m:nor/>
                          </m:rPr>
                          <a:rPr lang="en-US" sz="2800" dirty="0">
                            <a:latin typeface="Tw Cen MT"/>
                            <a:cs typeface="Tw Cen MT"/>
                          </a:rPr>
                          <m:t>market</m:t>
                        </m:r>
                        <m:r>
                          <m:rPr>
                            <m:nor/>
                          </m:rPr>
                          <a:rPr lang="en-US" sz="2800" dirty="0">
                            <a:latin typeface="Tw Cen MT"/>
                            <a:cs typeface="Tw Cen MT"/>
                          </a:rPr>
                          <m:t> </m:t>
                        </m:r>
                        <m:r>
                          <m:rPr>
                            <m:nor/>
                          </m:rPr>
                          <a:rPr lang="en-US" sz="2800" dirty="0">
                            <a:latin typeface="Tw Cen MT"/>
                            <a:cs typeface="Tw Cen MT"/>
                          </a:rPr>
                          <m:t>basket</m:t>
                        </m:r>
                        <m:r>
                          <m:rPr>
                            <m:nor/>
                          </m:rPr>
                          <a:rPr lang="en-US" sz="2800" dirty="0">
                            <a:latin typeface="Tw Cen MT"/>
                            <a:cs typeface="Tw Cen MT"/>
                          </a:rPr>
                          <m:t> </m:t>
                        </m:r>
                        <m:r>
                          <m:rPr>
                            <m:nor/>
                          </m:rPr>
                          <a:rPr lang="en-US" sz="2800" dirty="0">
                            <a:latin typeface="Tw Cen MT"/>
                            <a:cs typeface="Tw Cen MT"/>
                          </a:rPr>
                          <m:t>in</m:t>
                        </m:r>
                        <m:r>
                          <m:rPr>
                            <m:nor/>
                          </m:rPr>
                          <a:rPr lang="en-US" sz="2800" dirty="0">
                            <a:latin typeface="Tw Cen MT"/>
                            <a:cs typeface="Tw Cen MT"/>
                          </a:rPr>
                          <m:t> </m:t>
                        </m:r>
                        <m:r>
                          <m:rPr>
                            <m:nor/>
                          </m:rPr>
                          <a:rPr lang="en-US" sz="2800" dirty="0">
                            <a:latin typeface="Tw Cen MT"/>
                            <a:cs typeface="Tw Cen MT"/>
                          </a:rPr>
                          <m:t>base</m:t>
                        </m:r>
                        <m:r>
                          <m:rPr>
                            <m:nor/>
                          </m:rPr>
                          <a:rPr lang="en-US" sz="2800" dirty="0">
                            <a:latin typeface="Tw Cen MT"/>
                            <a:cs typeface="Tw Cen MT"/>
                          </a:rPr>
                          <m:t> </m:t>
                        </m:r>
                        <m:r>
                          <m:rPr>
                            <m:nor/>
                          </m:rPr>
                          <a:rPr lang="en-US" sz="2800" dirty="0">
                            <a:latin typeface="Tw Cen MT"/>
                            <a:cs typeface="Tw Cen MT"/>
                          </a:rPr>
                          <m:t>year</m:t>
                        </m:r>
                      </m:den>
                    </m:f>
                    <m:r>
                      <m:rPr>
                        <m:nor/>
                      </m:rPr>
                      <a:rPr lang="en-US" sz="2800" dirty="0">
                        <a:latin typeface="Tw Cen MT"/>
                        <a:cs typeface="Tw Cen MT"/>
                      </a:rPr>
                      <m:t>x</m:t>
                    </m:r>
                    <m:r>
                      <m:rPr>
                        <m:nor/>
                      </m:rPr>
                      <a:rPr lang="en-US" sz="2800" dirty="0">
                        <a:latin typeface="Tw Cen MT"/>
                        <a:cs typeface="Tw Cen MT"/>
                      </a:rPr>
                      <m:t> 100</m:t>
                    </m:r>
                  </m:oMath>
                </a14:m>
                <a:r>
                  <a:rPr lang="en-US" sz="2800" dirty="0">
                    <a:latin typeface="Tw Cen MT"/>
                    <a:cs typeface="Tw Cen MT"/>
                  </a:rPr>
                  <a:t>	</a:t>
                </a:r>
              </a:p>
            </p:txBody>
          </p:sp>
        </mc:Choice>
        <mc:Fallback xmlns="">
          <p:sp>
            <p:nvSpPr>
              <p:cNvPr id="5" name="TextBox 4"/>
              <p:cNvSpPr txBox="1">
                <a:spLocks noRot="1" noChangeAspect="1" noMove="1" noResize="1" noEditPoints="1" noAdjustHandles="1" noChangeArrowheads="1" noChangeShapeType="1" noTextEdit="1"/>
              </p:cNvSpPr>
              <p:nvPr/>
            </p:nvSpPr>
            <p:spPr>
              <a:xfrm>
                <a:off x="3566" y="3694093"/>
                <a:ext cx="9144000" cy="1267398"/>
              </a:xfrm>
              <a:prstGeom prst="rect">
                <a:avLst/>
              </a:prstGeom>
              <a:blipFill>
                <a:blip r:embed="rId2"/>
                <a:stretch>
                  <a:fillRect l="-1400" t="-5288" b="-481"/>
                </a:stretch>
              </a:blipFill>
            </p:spPr>
            <p:txBody>
              <a:bodyPr/>
              <a:lstStyle/>
              <a:p>
                <a:r>
                  <a:rPr lang="en-US">
                    <a:noFill/>
                  </a:rPr>
                  <a:t> </a:t>
                </a:r>
              </a:p>
            </p:txBody>
          </p:sp>
        </mc:Fallback>
      </mc:AlternateContent>
      <p:sp>
        <p:nvSpPr>
          <p:cNvPr id="7" name="Content Placeholder 6"/>
          <p:cNvSpPr>
            <a:spLocks noGrp="1"/>
          </p:cNvSpPr>
          <p:nvPr>
            <p:ph idx="1"/>
          </p:nvPr>
        </p:nvSpPr>
        <p:spPr>
          <a:xfrm>
            <a:off x="152400" y="990600"/>
            <a:ext cx="8839200" cy="2133600"/>
          </a:xfrm>
        </p:spPr>
        <p:txBody>
          <a:bodyPr/>
          <a:lstStyle/>
          <a:p>
            <a:r>
              <a:rPr lang="en-US" i="1" dirty="0">
                <a:solidFill>
                  <a:srgbClr val="990033"/>
                </a:solidFill>
              </a:rPr>
              <a:t>Price</a:t>
            </a:r>
            <a:r>
              <a:rPr lang="en-US" i="1" dirty="0">
                <a:solidFill>
                  <a:srgbClr val="800000"/>
                </a:solidFill>
              </a:rPr>
              <a:t> </a:t>
            </a:r>
            <a:r>
              <a:rPr lang="en-US" i="1" dirty="0">
                <a:solidFill>
                  <a:srgbClr val="990033"/>
                </a:solidFill>
              </a:rPr>
              <a:t>Index</a:t>
            </a:r>
            <a:r>
              <a:rPr lang="en-US" i="1" dirty="0">
                <a:solidFill>
                  <a:srgbClr val="800000"/>
                </a:solidFill>
              </a:rPr>
              <a:t>: </a:t>
            </a:r>
            <a:r>
              <a:rPr lang="en-US" b="0" dirty="0"/>
              <a:t>the cost of purchasing a given market basket in a given year, where that cost is normalized so that it is equal to 100 in the selected base year</a:t>
            </a:r>
          </a:p>
          <a:p>
            <a:endParaRPr lang="en-US" dirty="0"/>
          </a:p>
        </p:txBody>
      </p:sp>
    </p:spTree>
    <p:extLst>
      <p:ext uri="{BB962C8B-B14F-4D97-AF65-F5344CB8AC3E}">
        <p14:creationId xmlns:p14="http://schemas.microsoft.com/office/powerpoint/2010/main" val="1352814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Content Placeholder 5"/>
          <p:cNvSpPr>
            <a:spLocks noGrp="1"/>
          </p:cNvSpPr>
          <p:nvPr>
            <p:ph idx="1"/>
          </p:nvPr>
        </p:nvSpPr>
        <p:spPr>
          <a:xfrm>
            <a:off x="228600" y="2895600"/>
            <a:ext cx="8763000" cy="3613150"/>
          </a:xfrm>
        </p:spPr>
        <p:txBody>
          <a:bodyPr>
            <a:noAutofit/>
          </a:bodyPr>
          <a:lstStyle/>
          <a:p>
            <a:r>
              <a:rPr lang="en-US" sz="2400" dirty="0"/>
              <a:t>Suppose 2011 is the base year and the market basket for purposes of constructing a price index consists of 200 oranges, 100 apples, and 100 bananas.</a:t>
            </a:r>
          </a:p>
          <a:p>
            <a:r>
              <a:rPr lang="en-US" sz="2400" dirty="0"/>
              <a:t>What is the value of the price index in 2011?</a:t>
            </a:r>
          </a:p>
          <a:p>
            <a:pPr marL="1887538" indent="-685800">
              <a:buFont typeface="+mj-lt"/>
              <a:buAutoNum type="alphaLcParenR"/>
              <a:tabLst>
                <a:tab pos="1658938" algn="l"/>
              </a:tabLst>
            </a:pPr>
            <a:r>
              <a:rPr lang="en-US" sz="2400" dirty="0"/>
              <a:t>1.15</a:t>
            </a:r>
          </a:p>
          <a:p>
            <a:pPr marL="1887538" indent="-685800">
              <a:buFont typeface="+mj-lt"/>
              <a:buAutoNum type="alphaLcParenR"/>
              <a:tabLst>
                <a:tab pos="1658938" algn="l"/>
              </a:tabLst>
            </a:pPr>
            <a:r>
              <a:rPr lang="en-US" sz="2400" dirty="0"/>
              <a:t>100</a:t>
            </a:r>
          </a:p>
          <a:p>
            <a:pPr marL="1887538" indent="-685800">
              <a:buFont typeface="+mj-lt"/>
              <a:buAutoNum type="alphaLcParenR"/>
              <a:tabLst>
                <a:tab pos="1658938" algn="l"/>
              </a:tabLst>
            </a:pPr>
            <a:r>
              <a:rPr lang="en-US" sz="2400" dirty="0"/>
              <a:t>165</a:t>
            </a:r>
          </a:p>
          <a:p>
            <a:pPr marL="1887538" indent="-685800">
              <a:buFont typeface="+mj-lt"/>
              <a:buAutoNum type="alphaLcParenR"/>
              <a:tabLst>
                <a:tab pos="1658938" algn="l"/>
              </a:tabLst>
            </a:pPr>
            <a:r>
              <a:rPr lang="en-US" sz="2400" dirty="0"/>
              <a:t>190</a:t>
            </a:r>
          </a:p>
        </p:txBody>
      </p:sp>
      <p:pic>
        <p:nvPicPr>
          <p:cNvPr id="4098"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828800" y="889000"/>
            <a:ext cx="4572000" cy="1824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09929050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6">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28600" y="3048000"/>
            <a:ext cx="8458200" cy="3308350"/>
          </a:xfrm>
        </p:spPr>
        <p:txBody>
          <a:bodyPr>
            <a:noAutofit/>
          </a:bodyPr>
          <a:lstStyle/>
          <a:p>
            <a:r>
              <a:rPr lang="en-US" sz="2800" dirty="0"/>
              <a:t>What is the value of the price index in 2012, using 2011 as the base year?</a:t>
            </a:r>
          </a:p>
          <a:p>
            <a:pPr marL="1428750" indent="-514350">
              <a:buFont typeface="+mj-lt"/>
              <a:buAutoNum type="alphaLcParenR"/>
            </a:pPr>
            <a:r>
              <a:rPr lang="en-US" sz="2800" dirty="0"/>
              <a:t>0.97</a:t>
            </a:r>
          </a:p>
          <a:p>
            <a:pPr marL="1428750" indent="-514350">
              <a:buFont typeface="+mj-lt"/>
              <a:buAutoNum type="alphaLcParenR"/>
            </a:pPr>
            <a:r>
              <a:rPr lang="en-US" sz="2800" dirty="0"/>
              <a:t>1</a:t>
            </a:r>
          </a:p>
          <a:p>
            <a:pPr marL="1428750" indent="-514350">
              <a:buFont typeface="+mj-lt"/>
              <a:buAutoNum type="alphaLcParenR"/>
            </a:pPr>
            <a:r>
              <a:rPr lang="en-US" sz="2800" dirty="0"/>
              <a:t>100</a:t>
            </a:r>
          </a:p>
          <a:p>
            <a:pPr marL="1428750" indent="-514350">
              <a:buFont typeface="+mj-lt"/>
              <a:buAutoNum type="alphaLcParenR"/>
            </a:pPr>
            <a:r>
              <a:rPr lang="en-US" sz="2800" dirty="0"/>
              <a:t>103</a:t>
            </a:r>
          </a:p>
        </p:txBody>
      </p:sp>
      <p:pic>
        <p:nvPicPr>
          <p:cNvPr id="4098"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600200" y="1019175"/>
            <a:ext cx="4572000" cy="1824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32738492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6">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Rot="1" noChangeArrowheads="1"/>
          </p:cNvSpPr>
          <p:nvPr>
            <p:ph type="title"/>
          </p:nvPr>
        </p:nvSpPr>
        <p:spPr>
          <a:xfrm>
            <a:off x="0" y="152400"/>
            <a:ext cx="9144000" cy="838200"/>
          </a:xfrm>
        </p:spPr>
        <p:txBody>
          <a:bodyPr>
            <a:normAutofit fontScale="90000"/>
          </a:bodyPr>
          <a:lstStyle/>
          <a:p>
            <a:r>
              <a:rPr lang="en-US" dirty="0"/>
              <a:t>INFLATION RATE, CPI, AND OTHER INDEXES</a:t>
            </a:r>
          </a:p>
        </p:txBody>
      </p:sp>
      <p:sp>
        <p:nvSpPr>
          <p:cNvPr id="2" name="Content Placeholder 1"/>
          <p:cNvSpPr>
            <a:spLocks noGrp="1"/>
          </p:cNvSpPr>
          <p:nvPr>
            <p:ph idx="1"/>
          </p:nvPr>
        </p:nvSpPr>
        <p:spPr>
          <a:xfrm>
            <a:off x="152400" y="1219200"/>
            <a:ext cx="8839200" cy="4343400"/>
          </a:xfrm>
        </p:spPr>
        <p:txBody>
          <a:bodyPr>
            <a:normAutofit lnSpcReduction="10000"/>
          </a:bodyPr>
          <a:lstStyle/>
          <a:p>
            <a:pPr>
              <a:spcAft>
                <a:spcPts val="1800"/>
              </a:spcAft>
            </a:pPr>
            <a:r>
              <a:rPr lang="en-US" b="0" dirty="0"/>
              <a:t>The </a:t>
            </a:r>
            <a:r>
              <a:rPr lang="en-US" i="1" dirty="0">
                <a:solidFill>
                  <a:srgbClr val="990033"/>
                </a:solidFill>
              </a:rPr>
              <a:t>Inflation rate: </a:t>
            </a:r>
            <a:r>
              <a:rPr lang="en-US" b="0" dirty="0"/>
              <a:t>the yearly percentage change in a price index, typically based upon </a:t>
            </a:r>
            <a:r>
              <a:rPr lang="en-US" i="1" dirty="0">
                <a:solidFill>
                  <a:srgbClr val="990033"/>
                </a:solidFill>
              </a:rPr>
              <a:t>consumer price index, or CPI,</a:t>
            </a:r>
            <a:r>
              <a:rPr lang="en-US" b="0" dirty="0"/>
              <a:t> the most common measure of the aggregate price level.</a:t>
            </a:r>
          </a:p>
          <a:p>
            <a:pPr>
              <a:spcAft>
                <a:spcPts val="1800"/>
              </a:spcAft>
            </a:pPr>
            <a:r>
              <a:rPr lang="en-US" b="0" dirty="0"/>
              <a:t>The </a:t>
            </a:r>
            <a:r>
              <a:rPr lang="en-US" i="1" dirty="0">
                <a:solidFill>
                  <a:srgbClr val="990033"/>
                </a:solidFill>
              </a:rPr>
              <a:t>consumer price index, or CPI, </a:t>
            </a:r>
            <a:r>
              <a:rPr lang="en-US" b="0" dirty="0"/>
              <a:t>measures the cost of the market basket of a typical urban American family</a:t>
            </a:r>
          </a:p>
          <a:p>
            <a:pPr>
              <a:spcAft>
                <a:spcPts val="1800"/>
              </a:spcAft>
            </a:pPr>
            <a:endParaRPr lang="en-US" b="0" dirty="0"/>
          </a:p>
          <a:p>
            <a:pPr>
              <a:spcAft>
                <a:spcPts val="1800"/>
              </a:spcAft>
            </a:pPr>
            <a:endParaRPr lang="en-US" b="0" dirty="0"/>
          </a:p>
          <a:p>
            <a:pPr>
              <a:spcAft>
                <a:spcPts val="1800"/>
              </a:spcAft>
            </a:pPr>
            <a:endParaRPr lang="en-US" b="0" dirty="0"/>
          </a:p>
        </p:txBody>
      </p:sp>
      <p:sp>
        <p:nvSpPr>
          <p:cNvPr id="6" name="TextBox 5"/>
          <p:cNvSpPr txBox="1"/>
          <p:nvPr/>
        </p:nvSpPr>
        <p:spPr>
          <a:xfrm>
            <a:off x="0" y="5203448"/>
            <a:ext cx="9144000" cy="892552"/>
          </a:xfrm>
          <a:prstGeom prst="rect">
            <a:avLst/>
          </a:prstGeom>
          <a:solidFill>
            <a:schemeClr val="accent3">
              <a:alpha val="71000"/>
            </a:schemeClr>
          </a:solidFill>
        </p:spPr>
        <p:txBody>
          <a:bodyPr wrap="square" rtlCol="0">
            <a:spAutoFit/>
          </a:bodyPr>
          <a:lstStyle/>
          <a:p>
            <a:pPr algn="ctr"/>
            <a:r>
              <a:rPr lang="en-US" sz="2600" b="1" dirty="0">
                <a:latin typeface="Tw Cen MT"/>
                <a:cs typeface="Tw Cen MT"/>
              </a:rPr>
              <a:t>Inflation rate </a:t>
            </a:r>
            <a:r>
              <a:rPr lang="en-US" sz="2600" dirty="0">
                <a:latin typeface="Tw Cen MT"/>
                <a:cs typeface="Tw Cen MT"/>
              </a:rPr>
              <a:t>= </a:t>
            </a:r>
            <a:r>
              <a:rPr lang="en-US" sz="2600" u="sng" dirty="0">
                <a:latin typeface="Tw Cen MT"/>
                <a:cs typeface="Tw Cen MT"/>
              </a:rPr>
              <a:t>Price index in year 2 – Price index in year 1</a:t>
            </a:r>
            <a:r>
              <a:rPr lang="en-US" sz="2600" dirty="0">
                <a:latin typeface="Tw Cen MT"/>
                <a:cs typeface="Tw Cen MT"/>
              </a:rPr>
              <a:t> x 100</a:t>
            </a:r>
          </a:p>
          <a:p>
            <a:pPr algn="ctr"/>
            <a:r>
              <a:rPr lang="en-US" sz="2600" dirty="0">
                <a:latin typeface="Tw Cen MT"/>
                <a:cs typeface="Tw Cen MT"/>
              </a:rPr>
              <a:t>				Price index in year 1</a:t>
            </a:r>
          </a:p>
        </p:txBody>
      </p:sp>
    </p:spTree>
    <p:extLst>
      <p:ext uri="{BB962C8B-B14F-4D97-AF65-F5344CB8AC3E}">
        <p14:creationId xmlns:p14="http://schemas.microsoft.com/office/powerpoint/2010/main" val="284580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6" name="Content Placeholder 5"/>
          <p:cNvSpPr>
            <a:spLocks noGrp="1"/>
          </p:cNvSpPr>
          <p:nvPr>
            <p:ph idx="1"/>
          </p:nvPr>
        </p:nvSpPr>
        <p:spPr>
          <a:xfrm>
            <a:off x="228600" y="2971800"/>
            <a:ext cx="8458200" cy="3384550"/>
          </a:xfrm>
        </p:spPr>
        <p:txBody>
          <a:bodyPr>
            <a:noAutofit/>
          </a:bodyPr>
          <a:lstStyle/>
          <a:p>
            <a:r>
              <a:rPr lang="en-US" sz="2800" dirty="0"/>
              <a:t>What is the rate of inflation between 2011 and 2012 in this economy?</a:t>
            </a:r>
          </a:p>
          <a:p>
            <a:pPr marL="1946275" indent="-514350">
              <a:buFont typeface="+mj-lt"/>
              <a:buAutoNum type="alphaLcParenR"/>
            </a:pPr>
            <a:r>
              <a:rPr lang="en-US" sz="2800" dirty="0"/>
              <a:t>0%</a:t>
            </a:r>
          </a:p>
          <a:p>
            <a:pPr marL="1946275" indent="-514350">
              <a:buFont typeface="+mj-lt"/>
              <a:buAutoNum type="alphaLcParenR"/>
            </a:pPr>
            <a:r>
              <a:rPr lang="en-US" sz="2800" dirty="0"/>
              <a:t>3%</a:t>
            </a:r>
          </a:p>
          <a:p>
            <a:pPr marL="1946275" indent="-514350">
              <a:buFont typeface="+mj-lt"/>
              <a:buAutoNum type="alphaLcParenR"/>
            </a:pPr>
            <a:r>
              <a:rPr lang="en-US" sz="2800" dirty="0"/>
              <a:t>103%</a:t>
            </a:r>
          </a:p>
          <a:p>
            <a:pPr marL="1946275" indent="-514350">
              <a:buFont typeface="+mj-lt"/>
              <a:buAutoNum type="alphaLcParenR"/>
            </a:pPr>
            <a:r>
              <a:rPr lang="en-US" sz="2800" dirty="0"/>
              <a:t>67%, since two of the three prices increased between 2011 and 2012</a:t>
            </a:r>
          </a:p>
        </p:txBody>
      </p:sp>
      <p:pic>
        <p:nvPicPr>
          <p:cNvPr id="4098"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600200" y="1019175"/>
            <a:ext cx="4572000" cy="1824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134374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6">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Rot="1" noChangeArrowheads="1"/>
          </p:cNvSpPr>
          <p:nvPr>
            <p:ph type="title"/>
          </p:nvPr>
        </p:nvSpPr>
        <p:spPr>
          <a:noFill/>
        </p:spPr>
        <p:txBody>
          <a:bodyPr vert="horz" lIns="91440" tIns="45720" rIns="91440" bIns="45720" rtlCol="0" anchor="ctr">
            <a:normAutofit/>
          </a:bodyPr>
          <a:lstStyle/>
          <a:p>
            <a:r>
              <a:rPr lang="en-US" sz="4000" spc="0" dirty="0"/>
              <a:t>THE CONSUMER PRICE INDEX</a:t>
            </a:r>
          </a:p>
        </p:txBody>
      </p:sp>
      <p:sp>
        <p:nvSpPr>
          <p:cNvPr id="2" name="Content Placeholder 1"/>
          <p:cNvSpPr>
            <a:spLocks noGrp="1"/>
          </p:cNvSpPr>
          <p:nvPr>
            <p:ph idx="1"/>
          </p:nvPr>
        </p:nvSpPr>
        <p:spPr>
          <a:xfrm>
            <a:off x="228600" y="990600"/>
            <a:ext cx="8839200" cy="990600"/>
          </a:xfrm>
        </p:spPr>
        <p:txBody>
          <a:bodyPr>
            <a:normAutofit lnSpcReduction="10000"/>
          </a:bodyPr>
          <a:lstStyle/>
          <a:p>
            <a:r>
              <a:rPr lang="en-US" dirty="0"/>
              <a:t>The makeup of the consumer price index in 2010</a:t>
            </a:r>
          </a:p>
        </p:txBody>
      </p:sp>
      <p:pic>
        <p:nvPicPr>
          <p:cNvPr id="3092" name="Picture 20"/>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600200" y="1752600"/>
            <a:ext cx="5562600" cy="4723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724400" y="6488668"/>
            <a:ext cx="2348720" cy="276999"/>
          </a:xfrm>
          <a:prstGeom prst="rect">
            <a:avLst/>
          </a:prstGeom>
        </p:spPr>
        <p:txBody>
          <a:bodyPr wrap="none">
            <a:spAutoFit/>
          </a:bodyPr>
          <a:lstStyle/>
          <a:p>
            <a:r>
              <a:rPr lang="en-US" sz="1200" i="1" dirty="0">
                <a:solidFill>
                  <a:schemeClr val="tx1">
                    <a:lumMod val="65000"/>
                    <a:lumOff val="35000"/>
                  </a:schemeClr>
                </a:solidFill>
                <a:latin typeface="Candara" pitchFamily="34" charset="0"/>
              </a:rPr>
              <a:t>Source: Bureau of Labor Statistics.</a:t>
            </a:r>
          </a:p>
        </p:txBody>
      </p:sp>
    </p:spTree>
    <p:extLst>
      <p:ext uri="{BB962C8B-B14F-4D97-AF65-F5344CB8AC3E}">
        <p14:creationId xmlns:p14="http://schemas.microsoft.com/office/powerpoint/2010/main" val="34489523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3282" name="Rectangle 2"/>
          <p:cNvSpPr>
            <a:spLocks noGrp="1" noRot="1" noChangeArrowheads="1"/>
          </p:cNvSpPr>
          <p:nvPr>
            <p:ph type="title"/>
          </p:nvPr>
        </p:nvSpPr>
        <p:spPr/>
        <p:txBody>
          <a:bodyPr>
            <a:normAutofit/>
          </a:bodyPr>
          <a:lstStyle/>
          <a:p>
            <a:r>
              <a:rPr lang="en-US" sz="4000" spc="0" dirty="0"/>
              <a:t>CONSUMER PRICE INDEX</a:t>
            </a:r>
          </a:p>
        </p:txBody>
      </p:sp>
      <p:sp>
        <p:nvSpPr>
          <p:cNvPr id="2" name="Content Placeholder 1"/>
          <p:cNvSpPr>
            <a:spLocks noGrp="1"/>
          </p:cNvSpPr>
          <p:nvPr>
            <p:ph idx="1"/>
          </p:nvPr>
        </p:nvSpPr>
        <p:spPr>
          <a:xfrm>
            <a:off x="76200" y="762000"/>
            <a:ext cx="9067800" cy="685800"/>
          </a:xfrm>
        </p:spPr>
        <p:txBody>
          <a:bodyPr>
            <a:noAutofit/>
          </a:bodyPr>
          <a:lstStyle/>
          <a:p>
            <a:r>
              <a:rPr lang="en-US" sz="2400" i="1" dirty="0">
                <a:solidFill>
                  <a:schemeClr val="tx1">
                    <a:lumMod val="65000"/>
                    <a:lumOff val="35000"/>
                  </a:schemeClr>
                </a:solidFill>
              </a:rPr>
              <a:t>The annual percentage increases in recent years have been much smaller than those of the 1970s and early 1980s.</a:t>
            </a:r>
          </a:p>
        </p:txBody>
      </p:sp>
      <p:sp>
        <p:nvSpPr>
          <p:cNvPr id="10" name="Rectangle 9"/>
          <p:cNvSpPr/>
          <p:nvPr/>
        </p:nvSpPr>
        <p:spPr>
          <a:xfrm>
            <a:off x="5880880" y="6488668"/>
            <a:ext cx="2705848" cy="276999"/>
          </a:xfrm>
          <a:prstGeom prst="rect">
            <a:avLst/>
          </a:prstGeom>
        </p:spPr>
        <p:txBody>
          <a:bodyPr wrap="none">
            <a:spAutoFit/>
          </a:bodyPr>
          <a:lstStyle/>
          <a:p>
            <a:r>
              <a:rPr lang="en-US" sz="1200" i="1" dirty="0">
                <a:solidFill>
                  <a:schemeClr val="tx1">
                    <a:lumMod val="65000"/>
                    <a:lumOff val="35000"/>
                  </a:schemeClr>
                </a:solidFill>
                <a:latin typeface="Century Gothic"/>
                <a:cs typeface="Century Gothic"/>
              </a:rPr>
              <a:t>Source: Bureau of Labor Statistics.</a:t>
            </a:r>
          </a:p>
        </p:txBody>
      </p:sp>
      <p:pic>
        <p:nvPicPr>
          <p:cNvPr id="3" name="Picture 2" descr="Screen Shot 2015-03-31 at 5.06.26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76400"/>
            <a:ext cx="7467600" cy="4792485"/>
          </a:xfrm>
          <a:prstGeom prst="rect">
            <a:avLst/>
          </a:prstGeom>
        </p:spPr>
      </p:pic>
    </p:spTree>
    <p:extLst>
      <p:ext uri="{BB962C8B-B14F-4D97-AF65-F5344CB8AC3E}">
        <p14:creationId xmlns:p14="http://schemas.microsoft.com/office/powerpoint/2010/main" val="32526690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2562" name="Rectangle 2"/>
          <p:cNvSpPr>
            <a:spLocks noGrp="1" noRot="1" noChangeArrowheads="1"/>
          </p:cNvSpPr>
          <p:nvPr>
            <p:ph type="title"/>
          </p:nvPr>
        </p:nvSpPr>
        <p:spPr/>
        <p:txBody>
          <a:bodyPr>
            <a:normAutofit/>
          </a:bodyPr>
          <a:lstStyle/>
          <a:p>
            <a:r>
              <a:rPr lang="en-US" sz="4000" dirty="0"/>
              <a:t>OTHER PRICE MEASURES</a:t>
            </a:r>
          </a:p>
        </p:txBody>
      </p:sp>
      <p:sp>
        <p:nvSpPr>
          <p:cNvPr id="322563" name="Rectangle 3"/>
          <p:cNvSpPr>
            <a:spLocks noGrp="1" noChangeArrowheads="1"/>
          </p:cNvSpPr>
          <p:nvPr>
            <p:ph idx="1"/>
          </p:nvPr>
        </p:nvSpPr>
        <p:spPr>
          <a:xfrm>
            <a:off x="228600" y="914400"/>
            <a:ext cx="8839200" cy="5562600"/>
          </a:xfrm>
        </p:spPr>
        <p:txBody>
          <a:bodyPr>
            <a:normAutofit/>
          </a:bodyPr>
          <a:lstStyle/>
          <a:p>
            <a:pPr>
              <a:spcAft>
                <a:spcPts val="1800"/>
              </a:spcAft>
            </a:pPr>
            <a:r>
              <a:rPr lang="en-US" b="1" i="1" dirty="0">
                <a:solidFill>
                  <a:srgbClr val="990033"/>
                </a:solidFill>
              </a:rPr>
              <a:t>Producer price index</a:t>
            </a:r>
            <a:r>
              <a:rPr lang="en-US" dirty="0">
                <a:solidFill>
                  <a:srgbClr val="990033"/>
                </a:solidFill>
              </a:rPr>
              <a:t> (PPI): </a:t>
            </a:r>
            <a:r>
              <a:rPr lang="en-US" b="0" dirty="0"/>
              <a:t>similar to the CPI but measures changes in the prices of goods purchased by producers.</a:t>
            </a:r>
            <a:endParaRPr lang="en-US" dirty="0">
              <a:solidFill>
                <a:srgbClr val="990033"/>
              </a:solidFill>
            </a:endParaRPr>
          </a:p>
          <a:p>
            <a:pPr>
              <a:spcAft>
                <a:spcPts val="1800"/>
              </a:spcAft>
              <a:buClr>
                <a:schemeClr val="tx1"/>
              </a:buClr>
            </a:pPr>
            <a:r>
              <a:rPr lang="en-US" b="0" dirty="0"/>
              <a:t>Economists also use the </a:t>
            </a:r>
            <a:r>
              <a:rPr lang="en-US" i="1" dirty="0">
                <a:solidFill>
                  <a:srgbClr val="990033"/>
                </a:solidFill>
              </a:rPr>
              <a:t>GDP deflator</a:t>
            </a:r>
            <a:r>
              <a:rPr lang="en-US" dirty="0">
                <a:solidFill>
                  <a:srgbClr val="990033"/>
                </a:solidFill>
              </a:rPr>
              <a:t>,</a:t>
            </a:r>
            <a:r>
              <a:rPr lang="en-US" b="0" dirty="0"/>
              <a:t> which </a:t>
            </a:r>
            <a:r>
              <a:rPr lang="en-US" dirty="0"/>
              <a:t>measures the</a:t>
            </a:r>
            <a:r>
              <a:rPr lang="en-US" b="0" dirty="0"/>
              <a:t> </a:t>
            </a:r>
            <a:r>
              <a:rPr lang="en-US" dirty="0"/>
              <a:t>price level by calculating the ratio of nominal to real GDP. </a:t>
            </a:r>
          </a:p>
          <a:p>
            <a:pPr>
              <a:spcAft>
                <a:spcPts val="1800"/>
              </a:spcAft>
              <a:buClr>
                <a:schemeClr val="tx1"/>
              </a:buClr>
            </a:pPr>
            <a:r>
              <a:rPr lang="en-US" i="1" dirty="0">
                <a:solidFill>
                  <a:srgbClr val="990033"/>
                </a:solidFill>
              </a:rPr>
              <a:t>The GDP deflator </a:t>
            </a:r>
            <a:r>
              <a:rPr lang="en-US" b="0" dirty="0"/>
              <a:t>for a given year is 100 times the ratio of nominal GDP to real GDP in that year.</a:t>
            </a:r>
          </a:p>
          <a:p>
            <a:pPr>
              <a:spcAft>
                <a:spcPts val="1800"/>
              </a:spcAft>
            </a:pPr>
            <a:endParaRPr lang="en-US" dirty="0"/>
          </a:p>
        </p:txBody>
      </p:sp>
    </p:spTree>
    <p:extLst>
      <p:ext uri="{BB962C8B-B14F-4D97-AF65-F5344CB8AC3E}">
        <p14:creationId xmlns:p14="http://schemas.microsoft.com/office/powerpoint/2010/main" val="17102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fade">
                                      <p:cBhvr>
                                        <p:cTn id="7" dur="500"/>
                                        <p:tgtEl>
                                          <p:spTgt spid="32256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22563">
                                            <p:txEl>
                                              <p:pRg st="1" end="1"/>
                                            </p:txEl>
                                          </p:spTgt>
                                        </p:tgtEl>
                                        <p:attrNameLst>
                                          <p:attrName>style.visibility</p:attrName>
                                        </p:attrNameLst>
                                      </p:cBhvr>
                                      <p:to>
                                        <p:strVal val="visible"/>
                                      </p:to>
                                    </p:set>
                                    <p:animEffect transition="in" filter="fade">
                                      <p:cBhvr>
                                        <p:cTn id="11" dur="500"/>
                                        <p:tgtEl>
                                          <p:spTgt spid="32256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22563">
                                            <p:txEl>
                                              <p:pRg st="2" end="2"/>
                                            </p:txEl>
                                          </p:spTgt>
                                        </p:tgtEl>
                                        <p:attrNameLst>
                                          <p:attrName>style.visibility</p:attrName>
                                        </p:attrNameLst>
                                      </p:cBhvr>
                                      <p:to>
                                        <p:strVal val="visible"/>
                                      </p:to>
                                    </p:set>
                                    <p:animEffect transition="in" filter="fade">
                                      <p:cBhvr>
                                        <p:cTn id="15" dur="500"/>
                                        <p:tgtEl>
                                          <p:spTgt spid="3225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0" name="Rectangle 2"/>
          <p:cNvSpPr>
            <a:spLocks noGrp="1" noRot="1" noChangeArrowheads="1"/>
          </p:cNvSpPr>
          <p:nvPr>
            <p:ph type="title"/>
          </p:nvPr>
        </p:nvSpPr>
        <p:spPr>
          <a:xfrm>
            <a:off x="0" y="76200"/>
            <a:ext cx="9144000" cy="838200"/>
          </a:xfrm>
          <a:noFill/>
        </p:spPr>
        <p:txBody>
          <a:bodyPr vert="horz" lIns="91440" tIns="45720" rIns="91440" bIns="45720" rtlCol="0" anchor="ctr">
            <a:normAutofit fontScale="90000"/>
          </a:bodyPr>
          <a:lstStyle/>
          <a:p>
            <a:r>
              <a:rPr lang="en-US" spc="0" dirty="0"/>
              <a:t>THE CPI, THE PPI, AND THE GDP DEFLATOR</a:t>
            </a:r>
          </a:p>
        </p:txBody>
      </p:sp>
      <p:sp>
        <p:nvSpPr>
          <p:cNvPr id="3" name="Content Placeholder 2"/>
          <p:cNvSpPr>
            <a:spLocks noGrp="1"/>
          </p:cNvSpPr>
          <p:nvPr>
            <p:ph idx="1"/>
          </p:nvPr>
        </p:nvSpPr>
        <p:spPr>
          <a:xfrm>
            <a:off x="12700" y="1219200"/>
            <a:ext cx="9067800" cy="990600"/>
          </a:xfrm>
        </p:spPr>
        <p:txBody>
          <a:bodyPr>
            <a:normAutofit/>
          </a:bodyPr>
          <a:lstStyle/>
          <a:p>
            <a:r>
              <a:rPr lang="en-US" sz="2800" i="1" dirty="0">
                <a:solidFill>
                  <a:schemeClr val="tx1">
                    <a:lumMod val="65000"/>
                    <a:lumOff val="35000"/>
                  </a:schemeClr>
                </a:solidFill>
              </a:rPr>
              <a:t>The three measures usually move closely together.</a:t>
            </a:r>
          </a:p>
        </p:txBody>
      </p:sp>
      <p:sp>
        <p:nvSpPr>
          <p:cNvPr id="10" name="Rectangle 9"/>
          <p:cNvSpPr/>
          <p:nvPr/>
        </p:nvSpPr>
        <p:spPr>
          <a:xfrm>
            <a:off x="6033280" y="6504801"/>
            <a:ext cx="2705848" cy="276999"/>
          </a:xfrm>
          <a:prstGeom prst="rect">
            <a:avLst/>
          </a:prstGeom>
        </p:spPr>
        <p:txBody>
          <a:bodyPr wrap="none">
            <a:spAutoFit/>
          </a:bodyPr>
          <a:lstStyle/>
          <a:p>
            <a:r>
              <a:rPr lang="en-US" sz="1200" i="1" dirty="0">
                <a:solidFill>
                  <a:schemeClr val="tx1">
                    <a:lumMod val="65000"/>
                    <a:lumOff val="35000"/>
                  </a:schemeClr>
                </a:solidFill>
                <a:latin typeface="Century Gothic"/>
                <a:cs typeface="Century Gothic"/>
              </a:rPr>
              <a:t>Source: Bureau of Labor Statistics.</a:t>
            </a:r>
          </a:p>
        </p:txBody>
      </p:sp>
      <p:pic>
        <p:nvPicPr>
          <p:cNvPr id="2" name="Picture 1" descr="Screen Shot 2015-03-31 at 5.11.4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981200"/>
            <a:ext cx="7391400" cy="4431881"/>
          </a:xfrm>
          <a:prstGeom prst="rect">
            <a:avLst/>
          </a:prstGeom>
        </p:spPr>
      </p:pic>
    </p:spTree>
    <p:extLst>
      <p:ext uri="{BB962C8B-B14F-4D97-AF65-F5344CB8AC3E}">
        <p14:creationId xmlns:p14="http://schemas.microsoft.com/office/powerpoint/2010/main" val="1876890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 y="990600"/>
            <a:ext cx="8839200" cy="4648200"/>
          </a:xfrm>
        </p:spPr>
        <p:txBody>
          <a:bodyPr/>
          <a:lstStyle/>
          <a:p>
            <a:pPr>
              <a:spcAft>
                <a:spcPts val="1800"/>
              </a:spcAft>
            </a:pPr>
            <a:r>
              <a:rPr lang="en-US" dirty="0">
                <a:solidFill>
                  <a:srgbClr val="E46C0A"/>
                </a:solidFill>
                <a:latin typeface="Century Gothic"/>
                <a:cs typeface="Century Gothic"/>
              </a:rPr>
              <a:t>INDEXING TO THE CPI</a:t>
            </a:r>
          </a:p>
          <a:p>
            <a:pPr>
              <a:spcAft>
                <a:spcPts val="1800"/>
              </a:spcAft>
            </a:pPr>
            <a:r>
              <a:rPr lang="en-US" sz="2800" b="0" dirty="0">
                <a:latin typeface="Century Gothic"/>
                <a:cs typeface="Century Gothic"/>
              </a:rPr>
              <a:t>Many payments like Social Security are tied (“indexed”) to the CPI</a:t>
            </a:r>
          </a:p>
          <a:p>
            <a:pPr>
              <a:spcAft>
                <a:spcPts val="1800"/>
              </a:spcAft>
            </a:pPr>
            <a:r>
              <a:rPr lang="en-US" sz="2800" b="0" dirty="0">
                <a:latin typeface="Century Gothic"/>
                <a:cs typeface="Century Gothic"/>
              </a:rPr>
              <a:t>This practice goes back to the Revolutionary war: to keep soldiers’ pay in line with rising prices, wages were indexed to the cost of:</a:t>
            </a:r>
          </a:p>
          <a:p>
            <a:pPr>
              <a:spcAft>
                <a:spcPts val="1800"/>
              </a:spcAft>
            </a:pPr>
            <a:r>
              <a:rPr lang="en-US" dirty="0">
                <a:solidFill>
                  <a:srgbClr val="E46C0A"/>
                </a:solidFill>
                <a:latin typeface="Century Gothic"/>
                <a:cs typeface="Century Gothic"/>
              </a:rPr>
              <a:t>68 4/7 </a:t>
            </a:r>
            <a:r>
              <a:rPr lang="en-US" dirty="0" err="1">
                <a:solidFill>
                  <a:srgbClr val="E46C0A"/>
                </a:solidFill>
                <a:latin typeface="Century Gothic"/>
                <a:cs typeface="Century Gothic"/>
              </a:rPr>
              <a:t>lbs</a:t>
            </a:r>
            <a:r>
              <a:rPr lang="en-US" dirty="0">
                <a:solidFill>
                  <a:srgbClr val="E46C0A"/>
                </a:solidFill>
                <a:latin typeface="Century Gothic"/>
                <a:cs typeface="Century Gothic"/>
              </a:rPr>
              <a:t> beef, 10 </a:t>
            </a:r>
            <a:r>
              <a:rPr lang="en-US" dirty="0" err="1">
                <a:solidFill>
                  <a:srgbClr val="E46C0A"/>
                </a:solidFill>
                <a:latin typeface="Century Gothic"/>
                <a:cs typeface="Century Gothic"/>
              </a:rPr>
              <a:t>lbs</a:t>
            </a:r>
            <a:r>
              <a:rPr lang="en-US" dirty="0">
                <a:solidFill>
                  <a:srgbClr val="E46C0A"/>
                </a:solidFill>
                <a:latin typeface="Century Gothic"/>
                <a:cs typeface="Century Gothic"/>
              </a:rPr>
              <a:t> of wool and 16 </a:t>
            </a:r>
            <a:r>
              <a:rPr lang="en-US" dirty="0" err="1">
                <a:solidFill>
                  <a:srgbClr val="E46C0A"/>
                </a:solidFill>
                <a:latin typeface="Century Gothic"/>
                <a:cs typeface="Century Gothic"/>
              </a:rPr>
              <a:t>lbs</a:t>
            </a:r>
            <a:r>
              <a:rPr lang="en-US" dirty="0">
                <a:solidFill>
                  <a:srgbClr val="E46C0A"/>
                </a:solidFill>
                <a:latin typeface="Century Gothic"/>
                <a:cs typeface="Century Gothic"/>
              </a:rPr>
              <a:t> of leather</a:t>
            </a:r>
          </a:p>
        </p:txBody>
      </p:sp>
      <p:pic>
        <p:nvPicPr>
          <p:cNvPr id="7" name="Picture 6"/>
          <p:cNvPicPr>
            <a:picLocks noChangeAspect="1"/>
          </p:cNvPicPr>
          <p:nvPr/>
        </p:nvPicPr>
        <p:blipFill rotWithShape="1">
          <a:blip r:embed="rId3" cstate="screen">
            <a:extLst>
              <a:ext uri="{28A0092B-C50C-407E-A947-70E740481C1C}">
                <a14:useLocalDpi xmlns:a14="http://schemas.microsoft.com/office/drawing/2010/main"/>
              </a:ext>
            </a:extLst>
          </a:blip>
          <a:srcRect l="9981" t="34805" r="15503" b="16787"/>
          <a:stretch/>
        </p:blipFill>
        <p:spPr>
          <a:xfrm>
            <a:off x="0" y="5603875"/>
            <a:ext cx="3413125" cy="1254125"/>
          </a:xfrm>
          <a:prstGeom prst="rect">
            <a:avLst/>
          </a:prstGeom>
        </p:spPr>
      </p:pic>
      <p:pic>
        <p:nvPicPr>
          <p:cNvPr id="9" name="Picture 8"/>
          <p:cNvPicPr>
            <a:picLocks noChangeAspect="1"/>
          </p:cNvPicPr>
          <p:nvPr/>
        </p:nvPicPr>
        <p:blipFill rotWithShape="1">
          <a:blip r:embed="rId4" cstate="screen">
            <a:extLst>
              <a:ext uri="{28A0092B-C50C-407E-A947-70E740481C1C}">
                <a14:useLocalDpi xmlns:a14="http://schemas.microsoft.com/office/drawing/2010/main"/>
              </a:ext>
            </a:extLst>
          </a:blip>
          <a:srcRect b="17238"/>
          <a:stretch/>
        </p:blipFill>
        <p:spPr>
          <a:xfrm>
            <a:off x="3810000" y="5461000"/>
            <a:ext cx="2514600" cy="1397000"/>
          </a:xfrm>
          <a:prstGeom prst="rect">
            <a:avLst/>
          </a:prstGeom>
        </p:spPr>
      </p:pic>
      <p:pic>
        <p:nvPicPr>
          <p:cNvPr id="10" name="Picture 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324600" y="5705475"/>
            <a:ext cx="1776413" cy="1184275"/>
          </a:xfrm>
          <a:prstGeom prst="rect">
            <a:avLst/>
          </a:prstGeom>
        </p:spPr>
      </p:pic>
    </p:spTree>
    <p:extLst>
      <p:ext uri="{BB962C8B-B14F-4D97-AF65-F5344CB8AC3E}">
        <p14:creationId xmlns:p14="http://schemas.microsoft.com/office/powerpoint/2010/main" val="244426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76200" y="914400"/>
            <a:ext cx="8686800" cy="1371600"/>
          </a:xfrm>
        </p:spPr>
        <p:txBody>
          <a:bodyPr/>
          <a:lstStyle/>
          <a:p>
            <a:r>
              <a:rPr lang="en-US" sz="2000" dirty="0"/>
              <a:t>Does money buy happiness? Can well-being be measured? Does growth equal progress? These may sound like esoteric questions, but they are at the heart of efforts to move beyond GDP to develop more accurate ways of measuring human development touched on in </a:t>
            </a:r>
            <a:r>
              <a:rPr lang="en-US" sz="2000" dirty="0">
                <a:hlinkClick r:id="rId3"/>
              </a:rPr>
              <a:t>this</a:t>
            </a:r>
            <a:r>
              <a:rPr lang="en-US" sz="2000" dirty="0"/>
              <a:t> video. (3:19 minutes)</a:t>
            </a:r>
          </a:p>
          <a:p>
            <a:endParaRPr lang="en-US" sz="2000" dirty="0"/>
          </a:p>
        </p:txBody>
      </p:sp>
      <p:sp>
        <p:nvSpPr>
          <p:cNvPr id="2" name="Title 1"/>
          <p:cNvSpPr>
            <a:spLocks noGrp="1"/>
          </p:cNvSpPr>
          <p:nvPr>
            <p:ph type="title" idx="4294967295"/>
          </p:nvPr>
        </p:nvSpPr>
        <p:spPr>
          <a:xfrm>
            <a:off x="990600" y="-31750"/>
            <a:ext cx="8153400" cy="946150"/>
          </a:xfrm>
          <a:prstGeom prst="rect">
            <a:avLst/>
          </a:prstGeom>
        </p:spPr>
        <p:txBody>
          <a:bodyPr/>
          <a:lstStyle/>
          <a:p>
            <a:pPr>
              <a:defRPr/>
            </a:pPr>
            <a:r>
              <a:rPr lang="en-US" dirty="0"/>
              <a:t>TAKE A LOOK…</a:t>
            </a:r>
          </a:p>
        </p:txBody>
      </p:sp>
      <p:pic>
        <p:nvPicPr>
          <p:cNvPr id="44035" name="Picture 3">
            <a:hlinkClick r:id="rId3"/>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86000" y="3039256"/>
            <a:ext cx="3733800" cy="2675744"/>
          </a:xfrm>
          <a:prstGeom prst="roundRect">
            <a:avLst>
              <a:gd name="adj" fmla="val 2339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7307014"/>
      </p:ext>
    </p:extLst>
  </p:cSld>
  <p:clrMapOvr>
    <a:masterClrMapping/>
  </p:clrMapOvr>
  <p:transition>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14400"/>
            <a:ext cx="8839200" cy="5060950"/>
          </a:xfrm>
        </p:spPr>
        <p:txBody>
          <a:bodyPr>
            <a:noAutofit/>
          </a:bodyPr>
          <a:lstStyle/>
          <a:p>
            <a:pPr>
              <a:spcBef>
                <a:spcPts val="0"/>
              </a:spcBef>
              <a:spcAft>
                <a:spcPts val="1800"/>
              </a:spcAft>
            </a:pPr>
            <a:r>
              <a:rPr lang="en-US" sz="3200" dirty="0">
                <a:solidFill>
                  <a:srgbClr val="E46C0A"/>
                </a:solidFill>
                <a:latin typeface="Century Gothic"/>
              </a:rPr>
              <a:t>GETTING A JUMP ON GDP</a:t>
            </a:r>
            <a:r>
              <a:rPr lang="en-US" sz="3200" dirty="0">
                <a:latin typeface="Century Gothic"/>
              </a:rPr>
              <a:t> </a:t>
            </a:r>
          </a:p>
          <a:p>
            <a:pPr>
              <a:spcBef>
                <a:spcPts val="0"/>
              </a:spcBef>
              <a:spcAft>
                <a:spcPts val="1800"/>
              </a:spcAft>
            </a:pPr>
            <a:r>
              <a:rPr lang="en-US" sz="3200" dirty="0">
                <a:latin typeface="Century Gothic"/>
              </a:rPr>
              <a:t>Many businesses are eager for macroeconomic data and can’t wait for the government’s quarterly data</a:t>
            </a:r>
          </a:p>
          <a:p>
            <a:pPr>
              <a:spcBef>
                <a:spcPts val="0"/>
              </a:spcBef>
              <a:spcAft>
                <a:spcPts val="1800"/>
              </a:spcAft>
            </a:pPr>
            <a:r>
              <a:rPr lang="en-US" sz="3200" dirty="0">
                <a:latin typeface="Century Gothic"/>
              </a:rPr>
              <a:t>Two organizations supply monthly GDP estimates: </a:t>
            </a:r>
          </a:p>
          <a:p>
            <a:pPr marL="914400" lvl="1" indent="-457200">
              <a:spcBef>
                <a:spcPts val="0"/>
              </a:spcBef>
              <a:spcAft>
                <a:spcPts val="1800"/>
              </a:spcAft>
              <a:buFont typeface="Arial"/>
              <a:buChar char="•"/>
            </a:pPr>
            <a:r>
              <a:rPr lang="en-US" sz="2800" dirty="0">
                <a:solidFill>
                  <a:schemeClr val="accent3">
                    <a:lumMod val="75000"/>
                  </a:schemeClr>
                </a:solidFill>
                <a:latin typeface="Century Gothic"/>
              </a:rPr>
              <a:t>Macroeconomic Advisors</a:t>
            </a:r>
            <a:r>
              <a:rPr lang="en-US" sz="2800" dirty="0">
                <a:latin typeface="Century Gothic"/>
              </a:rPr>
              <a:t> (based on raw government data)</a:t>
            </a:r>
          </a:p>
          <a:p>
            <a:pPr marL="914400" lvl="1" indent="-457200">
              <a:spcBef>
                <a:spcPts val="0"/>
              </a:spcBef>
              <a:spcAft>
                <a:spcPts val="1800"/>
              </a:spcAft>
              <a:buFont typeface="Arial"/>
              <a:buChar char="•"/>
            </a:pPr>
            <a:r>
              <a:rPr lang="en-US" sz="2800" dirty="0">
                <a:solidFill>
                  <a:schemeClr val="accent3">
                    <a:lumMod val="75000"/>
                  </a:schemeClr>
                </a:solidFill>
                <a:latin typeface="Century Gothic"/>
              </a:rPr>
              <a:t>Institute</a:t>
            </a:r>
            <a:r>
              <a:rPr lang="en-US" sz="2800" dirty="0">
                <a:latin typeface="Century Gothic"/>
              </a:rPr>
              <a:t> </a:t>
            </a:r>
            <a:r>
              <a:rPr lang="en-US" sz="2800" dirty="0">
                <a:solidFill>
                  <a:schemeClr val="accent3">
                    <a:lumMod val="75000"/>
                  </a:schemeClr>
                </a:solidFill>
                <a:latin typeface="Century Gothic"/>
              </a:rPr>
              <a:t>for</a:t>
            </a:r>
            <a:r>
              <a:rPr lang="en-US" sz="2800" dirty="0">
                <a:latin typeface="Century Gothic"/>
              </a:rPr>
              <a:t> </a:t>
            </a:r>
            <a:r>
              <a:rPr lang="en-US" sz="2800" dirty="0">
                <a:solidFill>
                  <a:schemeClr val="accent3">
                    <a:lumMod val="75000"/>
                  </a:schemeClr>
                </a:solidFill>
                <a:latin typeface="Century Gothic"/>
              </a:rPr>
              <a:t>Supply</a:t>
            </a:r>
            <a:r>
              <a:rPr lang="en-US" sz="2800" dirty="0">
                <a:latin typeface="Century Gothic"/>
              </a:rPr>
              <a:t> </a:t>
            </a:r>
            <a:r>
              <a:rPr lang="en-US" sz="2800" dirty="0">
                <a:solidFill>
                  <a:schemeClr val="accent3">
                    <a:lumMod val="75000"/>
                  </a:schemeClr>
                </a:solidFill>
                <a:latin typeface="Century Gothic"/>
              </a:rPr>
              <a:t>Management</a:t>
            </a:r>
            <a:r>
              <a:rPr lang="en-US" sz="2800" dirty="0">
                <a:latin typeface="Century Gothic"/>
              </a:rPr>
              <a:t> (based on its own surveys of business orders)</a:t>
            </a:r>
          </a:p>
        </p:txBody>
      </p:sp>
    </p:spTree>
    <p:extLst>
      <p:ext uri="{BB962C8B-B14F-4D97-AF65-F5344CB8AC3E}">
        <p14:creationId xmlns:p14="http://schemas.microsoft.com/office/powerpoint/2010/main" val="2400511710"/>
      </p:ext>
    </p:extLst>
  </p:cSld>
  <p:clrMapOvr>
    <a:masterClrMapping/>
  </p:clrMapOvr>
  <p:transition>
    <p:fade thruBlk="1"/>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5ad1a792e7828ca492521aea17b12f2931c3dea"/>
</p:tagLst>
</file>

<file path=ppt/theme/theme1.xml><?xml version="1.0" encoding="utf-8"?>
<a:theme xmlns:a="http://schemas.openxmlformats.org/drawingml/2006/main" name="4e Krugman_Dynamic PPTs_Ch05">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Newest 2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0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1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2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newer Krugman 3e theme</Template>
  <TotalTime>5059</TotalTime>
  <Words>3135</Words>
  <Application>Microsoft Macintosh PowerPoint</Application>
  <PresentationFormat>On-screen Show (4:3)</PresentationFormat>
  <Paragraphs>362</Paragraphs>
  <Slides>53</Slides>
  <Notes>28</Notes>
  <HiddenSlides>0</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53</vt:i4>
      </vt:variant>
    </vt:vector>
  </HeadingPairs>
  <TitlesOfParts>
    <vt:vector size="70" baseType="lpstr">
      <vt:lpstr>Arial</vt:lpstr>
      <vt:lpstr>Calibri</vt:lpstr>
      <vt:lpstr>Cambria Math</vt:lpstr>
      <vt:lpstr>Candara</vt:lpstr>
      <vt:lpstr>Century Gothic</vt:lpstr>
      <vt:lpstr>Gill Sans</vt:lpstr>
      <vt:lpstr>Tw Cen MT</vt:lpstr>
      <vt:lpstr>Verdana</vt:lpstr>
      <vt:lpstr>Wingdings</vt:lpstr>
      <vt:lpstr>4e Krugman_Dynamic PPTs_Ch05</vt:lpstr>
      <vt:lpstr>6_Custom Design</vt:lpstr>
      <vt:lpstr>1_Newest 2e theme</vt:lpstr>
      <vt:lpstr>10_Stone ppt Theme1</vt:lpstr>
      <vt:lpstr>11_Stone ppt Theme1</vt:lpstr>
      <vt:lpstr>12_Stone ppt Theme1</vt:lpstr>
      <vt:lpstr>7_Custom Design</vt:lpstr>
      <vt:lpstr>11_Krugman 3e main content</vt:lpstr>
      <vt:lpstr>Economics 2220 Principles Of Macroeconomics</vt:lpstr>
      <vt:lpstr>PowerPoint Presentation</vt:lpstr>
      <vt:lpstr>HOW DO YOU MEASURE AN ECONOMY?</vt:lpstr>
      <vt:lpstr>THE NATIONAL ACCOUNTS</vt:lpstr>
      <vt:lpstr>THE NATIONAL ACCOUNTS</vt:lpstr>
      <vt:lpstr>AN EXPANDED CIRCULAR-FLOW DIAGRAM</vt:lpstr>
      <vt:lpstr>THE NATIONAL ACCOUNTS</vt:lpstr>
      <vt:lpstr>THE NATIONAL ACCOUNTS</vt:lpstr>
      <vt:lpstr>THE NATIONAL ACCOUNTS</vt:lpstr>
      <vt:lpstr>THE NATIONAL ACCOUNTS</vt:lpstr>
      <vt:lpstr>THE NATIONAL ACCOUNTS</vt:lpstr>
      <vt:lpstr>WHAT IS GDP?</vt:lpstr>
      <vt:lpstr>CALCULATING GROSS DOMESTIC PRODUCT</vt:lpstr>
      <vt:lpstr>SPENDING = INCOME</vt:lpstr>
      <vt:lpstr>WHAT IS GDP?</vt:lpstr>
      <vt:lpstr>WHAT IS GDP?</vt:lpstr>
      <vt:lpstr>PowerPoint Presentation</vt:lpstr>
      <vt:lpstr>WHAT IS GDP?</vt:lpstr>
      <vt:lpstr>PowerPoint Presentation</vt:lpstr>
      <vt:lpstr>PowerPoint Presentation</vt:lpstr>
      <vt:lpstr>METHOD 1: VALUE ADDED</vt:lpstr>
      <vt:lpstr>METHOD 2: SPENDING</vt:lpstr>
      <vt:lpstr>METHOD 2: SPENDING</vt:lpstr>
      <vt:lpstr>VALUE ADDED VS. SPENDING METHOD</vt:lpstr>
      <vt:lpstr>CALCULATING GROSS DOMESTIC PRODUCT</vt:lpstr>
      <vt:lpstr>PowerPoint Presentation</vt:lpstr>
      <vt:lpstr>PowerPoint Presentation</vt:lpstr>
      <vt:lpstr>PowerPoint Presentation</vt:lpstr>
      <vt:lpstr>PowerPoint Presentation</vt:lpstr>
      <vt:lpstr>WHO CREATED THE NATIONAL ACCOUNTS (AND WHY)?</vt:lpstr>
      <vt:lpstr>REAL GDP: A MEASURE OF AGGREGATE OUTPUT</vt:lpstr>
      <vt:lpstr>REAL VS. NOMINAL GDP</vt:lpstr>
      <vt:lpstr>PowerPoint Presentation</vt:lpstr>
      <vt:lpstr>PowerPoint Presentation</vt:lpstr>
      <vt:lpstr>PowerPoint Presentation</vt:lpstr>
      <vt:lpstr>REAL-LIFE REAL GDP</vt:lpstr>
      <vt:lpstr>REAL VS. NOMINAL GDP</vt:lpstr>
      <vt:lpstr>GDP AND THE MEANING OF LIFE</vt:lpstr>
      <vt:lpstr>Miracle in Venezuela?</vt:lpstr>
      <vt:lpstr>PRICE INDEXES AND THE AGGREGATE PRICE LEVEL</vt:lpstr>
      <vt:lpstr>MARKET BASKETS AND PRICE INDEXES</vt:lpstr>
      <vt:lpstr>PRICE INDEXES</vt:lpstr>
      <vt:lpstr>PowerPoint Presentation</vt:lpstr>
      <vt:lpstr>PowerPoint Presentation</vt:lpstr>
      <vt:lpstr>INFLATION RATE, CPI, AND OTHER INDEXES</vt:lpstr>
      <vt:lpstr>PowerPoint Presentation</vt:lpstr>
      <vt:lpstr>THE CONSUMER PRICE INDEX</vt:lpstr>
      <vt:lpstr>CONSUMER PRICE INDEX</vt:lpstr>
      <vt:lpstr>OTHER PRICE MEASURES</vt:lpstr>
      <vt:lpstr>THE CPI, THE PPI, AND THE GDP DEFLATOR</vt:lpstr>
      <vt:lpstr>PowerPoint Presentation</vt:lpstr>
      <vt:lpstr>TAKE A LOOK…</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Solina Lindahl</dc:creator>
  <cp:keywords/>
  <dc:description/>
  <cp:lastModifiedBy>Zhigang Feng</cp:lastModifiedBy>
  <cp:revision>238</cp:revision>
  <dcterms:created xsi:type="dcterms:W3CDTF">2012-07-21T02:43:21Z</dcterms:created>
  <dcterms:modified xsi:type="dcterms:W3CDTF">2023-02-28T15:21:32Z</dcterms:modified>
  <cp:category/>
</cp:coreProperties>
</file>