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8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9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10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11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12.xml" ContentType="application/vnd.openxmlformats-officedocument.theme+xml"/>
  <Override PartName="/ppt/slideLayouts/slideLayout37.xml" ContentType="application/vnd.openxmlformats-officedocument.presentationml.slideLayout+xml"/>
  <Override PartName="/ppt/theme/theme1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1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  <p:sldMasterId id="2147483700" r:id="rId2"/>
    <p:sldMasterId id="2147483704" r:id="rId3"/>
    <p:sldMasterId id="2147483708" r:id="rId4"/>
    <p:sldMasterId id="2147483711" r:id="rId5"/>
    <p:sldMasterId id="2147483714" r:id="rId6"/>
    <p:sldMasterId id="2147483717" r:id="rId7"/>
    <p:sldMasterId id="2147483719" r:id="rId8"/>
    <p:sldMasterId id="2147483811" r:id="rId9"/>
    <p:sldMasterId id="2147483871" r:id="rId10"/>
    <p:sldMasterId id="2147483881" r:id="rId11"/>
    <p:sldMasterId id="2147483885" r:id="rId12"/>
    <p:sldMasterId id="2147483888" r:id="rId13"/>
    <p:sldMasterId id="2147483890" r:id="rId14"/>
    <p:sldMasterId id="2147483897" r:id="rId15"/>
  </p:sldMasterIdLst>
  <p:notesMasterIdLst>
    <p:notesMasterId r:id="rId60"/>
  </p:notesMasterIdLst>
  <p:handoutMasterIdLst>
    <p:handoutMasterId r:id="rId61"/>
  </p:handoutMasterIdLst>
  <p:sldIdLst>
    <p:sldId id="370" r:id="rId16"/>
    <p:sldId id="320" r:id="rId17"/>
    <p:sldId id="362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5" r:id="rId32"/>
    <p:sldId id="336" r:id="rId33"/>
    <p:sldId id="337" r:id="rId34"/>
    <p:sldId id="338" r:id="rId35"/>
    <p:sldId id="365" r:id="rId36"/>
    <p:sldId id="339" r:id="rId37"/>
    <p:sldId id="340" r:id="rId38"/>
    <p:sldId id="366" r:id="rId39"/>
    <p:sldId id="342" r:id="rId40"/>
    <p:sldId id="343" r:id="rId41"/>
    <p:sldId id="344" r:id="rId42"/>
    <p:sldId id="345" r:id="rId43"/>
    <p:sldId id="346" r:id="rId44"/>
    <p:sldId id="351" r:id="rId45"/>
    <p:sldId id="367" r:id="rId46"/>
    <p:sldId id="368" r:id="rId47"/>
    <p:sldId id="349" r:id="rId48"/>
    <p:sldId id="350" r:id="rId49"/>
    <p:sldId id="352" r:id="rId50"/>
    <p:sldId id="353" r:id="rId51"/>
    <p:sldId id="354" r:id="rId52"/>
    <p:sldId id="355" r:id="rId53"/>
    <p:sldId id="356" r:id="rId54"/>
    <p:sldId id="357" r:id="rId55"/>
    <p:sldId id="358" r:id="rId56"/>
    <p:sldId id="359" r:id="rId57"/>
    <p:sldId id="360" r:id="rId58"/>
    <p:sldId id="369" r:id="rId59"/>
  </p:sldIdLst>
  <p:sldSz cx="9144000" cy="6858000" type="screen4x3"/>
  <p:notesSz cx="7023100" cy="9309100"/>
  <p:custDataLst>
    <p:tags r:id="rId6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21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te" initials="K" lastIdx="11" clrIdx="0"/>
  <p:cmAuthor id="1" name="Bonilla, Edgar" initials="EB" lastIdx="4" clrIdx="1"/>
  <p:cmAuthor id="2" name="Solina Lindahl" initials="SL" lastIdx="9" clrIdx="2"/>
  <p:cmAuthor id="3" name="hbadmin" initials="h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79" autoAdjust="0"/>
  </p:normalViewPr>
  <p:slideViewPr>
    <p:cSldViewPr>
      <p:cViewPr varScale="1">
        <p:scale>
          <a:sx n="71" d="100"/>
          <a:sy n="71" d="100"/>
        </p:scale>
        <p:origin x="114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-3800" y="-104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1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slide" Target="slides/slide32.xml"/><Relationship Id="rId50" Type="http://schemas.openxmlformats.org/officeDocument/2006/relationships/slide" Target="slides/slide35.xml"/><Relationship Id="rId55" Type="http://schemas.openxmlformats.org/officeDocument/2006/relationships/slide" Target="slides/slide40.xml"/><Relationship Id="rId63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9" Type="http://schemas.openxmlformats.org/officeDocument/2006/relationships/slide" Target="slides/slide14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slide" Target="slides/slide30.xml"/><Relationship Id="rId53" Type="http://schemas.openxmlformats.org/officeDocument/2006/relationships/slide" Target="slides/slide38.xml"/><Relationship Id="rId58" Type="http://schemas.openxmlformats.org/officeDocument/2006/relationships/slide" Target="slides/slide43.xml"/><Relationship Id="rId66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4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slide" Target="slides/slide33.xml"/><Relationship Id="rId56" Type="http://schemas.openxmlformats.org/officeDocument/2006/relationships/slide" Target="slides/slide41.xml"/><Relationship Id="rId64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slide" Target="slides/slide31.xml"/><Relationship Id="rId59" Type="http://schemas.openxmlformats.org/officeDocument/2006/relationships/slide" Target="slides/slide44.xml"/><Relationship Id="rId67" Type="http://schemas.openxmlformats.org/officeDocument/2006/relationships/tableStyles" Target="tableStyles.xml"/><Relationship Id="rId20" Type="http://schemas.openxmlformats.org/officeDocument/2006/relationships/slide" Target="slides/slide5.xml"/><Relationship Id="rId41" Type="http://schemas.openxmlformats.org/officeDocument/2006/relationships/slide" Target="slides/slide26.xml"/><Relationship Id="rId54" Type="http://schemas.openxmlformats.org/officeDocument/2006/relationships/slide" Target="slides/slide39.xml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slide" Target="slides/slide34.xml"/><Relationship Id="rId57" Type="http://schemas.openxmlformats.org/officeDocument/2006/relationships/slide" Target="slides/slide42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6.xml"/><Relationship Id="rId44" Type="http://schemas.openxmlformats.org/officeDocument/2006/relationships/slide" Target="slides/slide29.xml"/><Relationship Id="rId52" Type="http://schemas.openxmlformats.org/officeDocument/2006/relationships/slide" Target="slides/slide37.xml"/><Relationship Id="rId60" Type="http://schemas.openxmlformats.org/officeDocument/2006/relationships/notesMaster" Target="notesMasters/notesMaster1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39" Type="http://schemas.openxmlformats.org/officeDocument/2006/relationships/slide" Target="slides/slide2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72D7D7A8-C652-304E-B365-B25232E336F2}" type="datetimeFigureOut">
              <a:rPr lang="en-US" smtClean="0"/>
              <a:t>8/20/2019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265D5F51-2719-624B-AA3D-8BBD63EA2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971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5BC7F735-3B07-40E0-90B2-09F3232ABD28}" type="datetimeFigureOut">
              <a:rPr lang="en-US" smtClean="0"/>
              <a:t>8/20/2019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C4470D8-1F41-4A2B-8AFF-DD19730E7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551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Images</a:t>
            </a:r>
            <a:r>
              <a:rPr lang="en-US" baseline="0" dirty="0"/>
              <a:t> courtesy of (</a:t>
            </a:r>
            <a:r>
              <a:rPr lang="en-US" baseline="0" dirty="0" err="1"/>
              <a:t>Yellen</a:t>
            </a:r>
            <a:r>
              <a:rPr lang="en-US" baseline="0" dirty="0"/>
              <a:t>: REUTERS/Jim </a:t>
            </a:r>
            <a:r>
              <a:rPr lang="en-US" baseline="0" dirty="0" err="1"/>
              <a:t>Bourge</a:t>
            </a:r>
            <a:r>
              <a:rPr lang="en-US" baseline="0" dirty="0"/>
              <a:t>/Newsroom), (Bernanke: Joshua Roberts/Bloomberg via Getty Images)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7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3237">
              <a:defRPr/>
            </a:pPr>
            <a:r>
              <a:rPr lang="en-US" dirty="0"/>
              <a:t>Image credit: Big Cheese</a:t>
            </a:r>
            <a:r>
              <a:rPr lang="en-US" baseline="0" dirty="0"/>
              <a:t> Photos/</a:t>
            </a:r>
            <a:r>
              <a:rPr lang="en-US" baseline="0" dirty="0" err="1"/>
              <a:t>Superstock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71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3237"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15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2B276E-41C3-41CF-803D-C34171321AA6}" type="slidenum">
              <a:rPr lang="en-US">
                <a:solidFill>
                  <a:prstClr val="black"/>
                </a:solidFill>
                <a:latin typeface="Calibri"/>
              </a:rPr>
              <a:pPr/>
              <a:t>7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25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5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Source: </a:t>
            </a:r>
            <a:r>
              <a:rPr lang="en-US" dirty="0"/>
              <a:t>Federal Reserve Bank of St. Louis.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E53FFA-40F8-4191-8CA5-9E3BD898CF61}" type="slidenum">
              <a:rPr lang="en-US">
                <a:solidFill>
                  <a:prstClr val="black"/>
                </a:solidFill>
                <a:latin typeface="Calibri"/>
              </a:rPr>
              <a:pPr/>
              <a:t>8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29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9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79FCDB-F19A-467F-BF80-0246240DA601}" type="slidenum">
              <a:rPr lang="en-US">
                <a:solidFill>
                  <a:prstClr val="black"/>
                </a:solidFill>
                <a:latin typeface="Calibri"/>
              </a:rPr>
              <a:pPr/>
              <a:t>11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8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F79F4B-4D9A-4705-9B1A-EB6F23990E9F}" type="slidenum">
              <a:rPr lang="en-US">
                <a:solidFill>
                  <a:prstClr val="black"/>
                </a:solidFill>
                <a:latin typeface="Calibri"/>
              </a:rPr>
              <a:pPr/>
              <a:t>15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4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6471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/>
          </a:p>
        </p:txBody>
      </p:sp>
      <p:sp>
        <p:nvSpPr>
          <p:cNvPr id="647172" name="Slide Number Placeholder 3"/>
          <p:cNvSpPr txBox="1">
            <a:spLocks noGrp="1"/>
          </p:cNvSpPr>
          <p:nvPr/>
        </p:nvSpPr>
        <p:spPr bwMode="auto">
          <a:xfrm>
            <a:off x="3978132" y="8842029"/>
            <a:ext cx="3043343" cy="465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324" tIns="46662" rIns="93324" bIns="46662"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5A5DF3E1-3BD1-4142-A5B0-0B2548AB747E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15</a:t>
            </a:fld>
            <a:endParaRPr lang="en-US" sz="1200" dirty="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9A10B4-26CB-4FBC-83E0-6D0F38723605}" type="slidenum">
              <a:rPr lang="en-US">
                <a:solidFill>
                  <a:prstClr val="black"/>
                </a:solidFill>
                <a:latin typeface="Calibri"/>
              </a:rPr>
              <a:pPr/>
              <a:t>18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49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6492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49220" name="Slide Number Placeholder 3"/>
          <p:cNvSpPr txBox="1">
            <a:spLocks noGrp="1"/>
          </p:cNvSpPr>
          <p:nvPr/>
        </p:nvSpPr>
        <p:spPr bwMode="auto">
          <a:xfrm>
            <a:off x="3978132" y="8842029"/>
            <a:ext cx="3043343" cy="465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324" tIns="46662" rIns="93324" bIns="46662"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D3CBDF3A-A0FB-44C9-9E80-3976309683AB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18</a:t>
            </a:fld>
            <a:endParaRPr lang="en-US" sz="1200" dirty="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9A10B4-26CB-4FBC-83E0-6D0F38723605}" type="slidenum">
              <a:rPr lang="en-US">
                <a:solidFill>
                  <a:prstClr val="black"/>
                </a:solidFill>
                <a:latin typeface="Calibri"/>
              </a:rPr>
              <a:pPr/>
              <a:t>19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49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6492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49220" name="Slide Number Placeholder 3"/>
          <p:cNvSpPr txBox="1">
            <a:spLocks noGrp="1"/>
          </p:cNvSpPr>
          <p:nvPr/>
        </p:nvSpPr>
        <p:spPr bwMode="auto">
          <a:xfrm>
            <a:off x="3978132" y="8842029"/>
            <a:ext cx="3043343" cy="465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324" tIns="46662" rIns="93324" bIns="46662"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D3CBDF3A-A0FB-44C9-9E80-3976309683AB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19</a:t>
            </a:fld>
            <a:endParaRPr lang="en-US" sz="1200" dirty="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9A10B4-26CB-4FBC-83E0-6D0F38723605}" type="slidenum">
              <a:rPr lang="en-US">
                <a:solidFill>
                  <a:prstClr val="black"/>
                </a:solidFill>
                <a:latin typeface="Calibri"/>
              </a:rPr>
              <a:pPr/>
              <a:t>20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49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6492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49220" name="Slide Number Placeholder 3"/>
          <p:cNvSpPr txBox="1">
            <a:spLocks noGrp="1"/>
          </p:cNvSpPr>
          <p:nvPr/>
        </p:nvSpPr>
        <p:spPr bwMode="auto">
          <a:xfrm>
            <a:off x="3978132" y="8842029"/>
            <a:ext cx="3043343" cy="465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324" tIns="46662" rIns="93324" bIns="46662"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/>
            <a:fld id="{D3CBDF3A-A0FB-44C9-9E80-3976309683AB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20</a:t>
            </a:fld>
            <a:endParaRPr lang="en-US" sz="1200" dirty="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courtesy Flagg, James Montgomery.</a:t>
            </a:r>
            <a:r>
              <a:rPr lang="en-US" baseline="0" dirty="0"/>
              <a:t>  “I want you for US Army nearest recruiting station” 1917 Prints and Photographs Division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06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B73E58-0BA0-4D73-8DDE-85517BE6F605}" type="slidenum">
              <a:rPr lang="en-US">
                <a:solidFill>
                  <a:prstClr val="black"/>
                </a:solidFill>
                <a:latin typeface="Calibri"/>
              </a:rPr>
              <a:pPr/>
              <a:t>24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82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2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AA7803-4210-4EB7-816A-85F20C290F0D}" type="slidenum">
              <a:rPr lang="en-US">
                <a:solidFill>
                  <a:prstClr val="black"/>
                </a:solidFill>
                <a:latin typeface="Calibri"/>
              </a:rPr>
              <a:pPr/>
              <a:t>25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2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defTabSz="933237"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CC8D78-7CC7-4ECC-88E6-D7BE93A0C936}" type="slidenum">
              <a:rPr lang="en-US">
                <a:solidFill>
                  <a:prstClr val="black"/>
                </a:solidFill>
                <a:latin typeface="Calibri"/>
              </a:rPr>
              <a:pPr/>
              <a:t>30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98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3237"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39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56C138-521B-4B58-957B-BFCF38904481}" type="slidenum">
              <a:rPr lang="en-US">
                <a:solidFill>
                  <a:prstClr val="black"/>
                </a:solidFill>
                <a:latin typeface="Calibri"/>
              </a:rPr>
              <a:pPr/>
              <a:t>33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00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3237"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596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3237"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16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</a:t>
            </a:r>
            <a:r>
              <a:rPr lang="en-US" baseline="0" dirty="0"/>
              <a:t> public domain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993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9CEEE9-1A24-45A9-8316-003105179BB1}" type="slidenum">
              <a:rPr lang="en-US">
                <a:solidFill>
                  <a:prstClr val="black"/>
                </a:solidFill>
                <a:latin typeface="Calibri"/>
              </a:rPr>
              <a:pPr/>
              <a:t>38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05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5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u="sng" dirty="0"/>
              <a:t>Figure Caption</a:t>
            </a:r>
            <a:r>
              <a:rPr lang="en-US" b="1" dirty="0"/>
              <a:t>: Figure 31-10: </a:t>
            </a:r>
            <a:r>
              <a:rPr lang="en-US" sz="1000" b="1" dirty="0"/>
              <a:t>When the Fed Wants a Recession</a:t>
            </a:r>
            <a:endParaRPr lang="en-US" b="1" dirty="0"/>
          </a:p>
          <a:p>
            <a:r>
              <a:rPr lang="en-US" dirty="0"/>
              <a:t>This figure shows the unemployment rate from 1952 to 1984; the vertical red lines indicate occasions on which the Federal Reserve, in effect, decided that the economy needed a recession to bring inflation under control. In four of the five episodes, this decision was soon followed by a substantial rise in the unemployment rate.</a:t>
            </a:r>
          </a:p>
          <a:p>
            <a:r>
              <a:rPr lang="en-US" i="1" dirty="0"/>
              <a:t>Sources: </a:t>
            </a:r>
            <a:r>
              <a:rPr lang="en-US" dirty="0"/>
              <a:t>Bureau of Labor Statistics; Christina D. Romer and David H. Romer, “Monetary Policy Matters,” </a:t>
            </a:r>
            <a:r>
              <a:rPr lang="en-US" i="1" dirty="0"/>
              <a:t>Journal of Monetary Economics </a:t>
            </a:r>
            <a:r>
              <a:rPr lang="en-US" dirty="0"/>
              <a:t>34 (August 1994): 75–88.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3237"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837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7C974B-428C-4AE4-9386-A82A7B273FFA}" type="slidenum">
              <a:rPr lang="en-US">
                <a:solidFill>
                  <a:prstClr val="black"/>
                </a:solidFill>
                <a:latin typeface="Calibri"/>
              </a:rPr>
              <a:pPr/>
              <a:t>40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5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public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325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CB232E-E6B1-4C11-BEB6-CAF584ED12C7}" type="slidenum">
              <a:rPr lang="en-US">
                <a:solidFill>
                  <a:prstClr val="black"/>
                </a:solidFill>
                <a:latin typeface="Calibri"/>
              </a:rPr>
              <a:pPr/>
              <a:t>43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09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hyperlink" Target="http://krugman.blogs.nytimes.com/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hyperlink" Target="http://www.gregmankiw.blogspot.com/" TargetMode="External"/><Relationship Id="rId1" Type="http://schemas.openxmlformats.org/officeDocument/2006/relationships/slideMaster" Target="../slideMasters/slideMaster3.xml"/><Relationship Id="rId6" Type="http://schemas.openxmlformats.org/officeDocument/2006/relationships/hyperlink" Target="http://www.freakonomics.com/blog/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hyperlink" Target="http://research.stlouisfed.org/fred2/" TargetMode="External"/><Relationship Id="rId4" Type="http://schemas.openxmlformats.org/officeDocument/2006/relationships/hyperlink" Target="http://marginalrevolution.com/" TargetMode="External"/><Relationship Id="rId9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entury Gothic"/>
                <a:cs typeface="Century Gothic"/>
              </a:defRPr>
            </a:lvl1pPr>
            <a:lvl2pPr>
              <a:defRPr sz="2800" baseline="0">
                <a:latin typeface="Century Gothic"/>
                <a:cs typeface="Century Gothic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403844364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00886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pic>
        <p:nvPicPr>
          <p:cNvPr id="5" name="Picture 4" descr="Screen Shot 2014-12-20 at 5.27.50 PM.png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0130" y="15463"/>
            <a:ext cx="1532200" cy="15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33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/>
              <a:t>ECONOMICS</a:t>
            </a:r>
            <a:endParaRPr lang="en-US" dirty="0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85422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Copyright 2015 Worth Publishers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07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/>
              <a:t>ECONOMICS</a:t>
            </a:r>
            <a:endParaRPr lang="en-US" dirty="0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552060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andara" pitchFamily="34" charset="0"/>
              </a:defRPr>
            </a:lvl1pPr>
            <a:lvl2pPr>
              <a:defRPr sz="2800" baseline="0">
                <a:latin typeface="Candara" pitchFamily="34" charset="0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4"/>
          <p:cNvSpPr txBox="1">
            <a:spLocks/>
          </p:cNvSpPr>
          <p:nvPr/>
        </p:nvSpPr>
        <p:spPr>
          <a:xfrm>
            <a:off x="2324100" y="6629400"/>
            <a:ext cx="48006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100" i="0" kern="120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Copyright 2013 Worth Publishers</a:t>
            </a:r>
          </a:p>
        </p:txBody>
      </p:sp>
    </p:spTree>
    <p:extLst>
      <p:ext uri="{BB962C8B-B14F-4D97-AF65-F5344CB8AC3E}">
        <p14:creationId xmlns:p14="http://schemas.microsoft.com/office/powerpoint/2010/main" val="926553203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4763" y="5410200"/>
            <a:ext cx="9136063" cy="1447800"/>
          </a:xfrm>
          <a:prstGeom prst="rect">
            <a:avLst/>
          </a:prstGeom>
          <a:solidFill>
            <a:schemeClr val="tx1">
              <a:alpha val="81000"/>
            </a:schemeClr>
          </a:solidFill>
        </p:spPr>
        <p:txBody>
          <a:bodyPr anchor="ctr">
            <a:normAutofit/>
          </a:bodyPr>
          <a:lstStyle/>
          <a:p>
            <a:pPr algn="r">
              <a:defRPr/>
            </a:pPr>
            <a:endParaRPr lang="en-US" sz="6000" spc="50" dirty="0">
              <a:latin typeface="Candar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0946" y="5565685"/>
            <a:ext cx="2743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7200" b="1" spc="-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/>
                <a:ea typeface="Tahoma" pitchFamily="34" charset="0"/>
                <a:cs typeface="Tw Cen MT"/>
              </a:rPr>
              <a:t>15(30)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418306" y="5981184"/>
            <a:ext cx="1358900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kern="0" cap="all" spc="300" dirty="0">
                <a:solidFill>
                  <a:schemeClr val="bg1">
                    <a:lumMod val="75000"/>
                  </a:schemeClr>
                </a:solidFill>
                <a:latin typeface="Tw Cen MT"/>
                <a:ea typeface="+mj-ea"/>
                <a:cs typeface="Tw Cen MT"/>
              </a:rPr>
              <a:t>Chapter</a:t>
            </a:r>
            <a:endParaRPr lang="en-US" sz="2000" b="1" kern="0" cap="all" spc="300" dirty="0">
              <a:solidFill>
                <a:schemeClr val="bg1">
                  <a:lumMod val="75000"/>
                </a:schemeClr>
              </a:solidFill>
              <a:latin typeface="Tw Cen MT"/>
              <a:ea typeface="+mj-ea"/>
              <a:cs typeface="Tw Cen M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-15356"/>
            <a:ext cx="7696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1400" b="1" i="0" kern="0" cap="small" spc="4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itchFamily="34" charset="0"/>
              </a:rPr>
              <a:t>Slides by Solina Lindahl</a:t>
            </a: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1371600" y="5434585"/>
            <a:ext cx="7772400" cy="14478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5400" b="1" i="0" u="none" strike="noStrike" kern="1200" cap="none" spc="100" baseline="0" smtClean="0">
                <a:solidFill>
                  <a:srgbClr val="FF3300"/>
                </a:solidFill>
                <a:effectLst/>
                <a:latin typeface="Candara" pitchFamily="34" charset="0"/>
                <a:ea typeface="+mj-ea"/>
                <a:cs typeface="+mj-cs"/>
              </a:defRPr>
            </a:lvl1pPr>
          </a:lstStyle>
          <a:p>
            <a:r>
              <a:rPr lang="en-US" sz="5400" b="1" kern="0" spc="500" dirty="0">
                <a:latin typeface="Tw Cen MT"/>
                <a:cs typeface="Tw Cen MT"/>
              </a:rPr>
              <a:t>Monetary Policy</a:t>
            </a:r>
          </a:p>
        </p:txBody>
      </p:sp>
    </p:spTree>
    <p:extLst>
      <p:ext uri="{BB962C8B-B14F-4D97-AF65-F5344CB8AC3E}">
        <p14:creationId xmlns:p14="http://schemas.microsoft.com/office/powerpoint/2010/main" val="422087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0" y="6019800"/>
            <a:ext cx="9144000" cy="0"/>
          </a:xfrm>
          <a:prstGeom prst="line">
            <a:avLst/>
          </a:prstGeom>
          <a:ln w="57150" cmpd="sng">
            <a:solidFill>
              <a:srgbClr val="F8EF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57150" cmpd="sng">
            <a:solidFill>
              <a:srgbClr val="F8EF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0" y="1490246"/>
            <a:ext cx="9144000" cy="338554"/>
          </a:xfrm>
          <a:prstGeom prst="rect">
            <a:avLst/>
          </a:prstGeom>
          <a:solidFill>
            <a:srgbClr val="CCFF33">
              <a:alpha val="4705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 b="0" i="0" spc="300" dirty="0">
                <a:solidFill>
                  <a:srgbClr val="F79646"/>
                </a:solidFill>
                <a:latin typeface="+mn-lt"/>
              </a:rPr>
              <a:t>SOME GOOD BLOGS AND OTHER SITES TO GET THE JUICES FLOWING: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7391400" cy="784225"/>
          </a:xfrm>
          <a:prstGeom prst="rect">
            <a:avLst/>
          </a:prstGeom>
          <a:noFill/>
          <a:effectLst/>
        </p:spPr>
        <p:txBody>
          <a:bodyPr/>
          <a:lstStyle>
            <a:lvl1pPr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r>
              <a:rPr lang="en-US" sz="4800" b="0" dirty="0">
                <a:solidFill>
                  <a:schemeClr val="accent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Arial" pitchFamily="34" charset="0"/>
              </a:rPr>
              <a:t>FOOD FOR</a:t>
            </a:r>
            <a:r>
              <a:rPr lang="en-US" sz="4800" b="0" baseline="0" dirty="0">
                <a:solidFill>
                  <a:schemeClr val="accent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Arial" pitchFamily="34" charset="0"/>
              </a:rPr>
              <a:t> </a:t>
            </a:r>
            <a:r>
              <a:rPr lang="en-US" sz="4800" b="0" dirty="0">
                <a:solidFill>
                  <a:schemeClr val="accent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Arial" pitchFamily="34" charset="0"/>
              </a:rPr>
              <a:t>THOUGHT….</a:t>
            </a:r>
          </a:p>
        </p:txBody>
      </p:sp>
      <p:pic>
        <p:nvPicPr>
          <p:cNvPr id="7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29200" y="4572000"/>
            <a:ext cx="2724150" cy="51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45213" y="3048000"/>
            <a:ext cx="2998787" cy="539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0400" y="2971800"/>
            <a:ext cx="2686050" cy="657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pic>
        <p:nvPicPr>
          <p:cNvPr id="15" name="Picture 14" descr="Screen Shot 2014-12-20 at 8.46.54 PM.png">
            <a:hlinkClick r:id="rId8"/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74" y="2971800"/>
            <a:ext cx="2692400" cy="5921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 descr="Screen Shot 2014-12-20 at 8.49.18 PM.png">
            <a:hlinkClick r:id="rId10"/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00" y="4343400"/>
            <a:ext cx="2336800" cy="8416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60000">
            <a:off x="8016447" y="97714"/>
            <a:ext cx="787093" cy="13285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517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2813" indent="-5715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120015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2pPr>
            <a:lvl3pPr marL="137160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3pPr>
            <a:lvl4pPr marL="17145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4pPr>
            <a:lvl5pPr marL="21717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ight Arrow 8">
            <a:hlinkClick r:id="" action="ppaction://noaction"/>
          </p:cNvPr>
          <p:cNvSpPr/>
          <p:nvPr userDrawn="1"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pic>
        <p:nvPicPr>
          <p:cNvPr id="10" name="Picture 9">
            <a:hlinkClick r:id="" action="ppaction://noaction"/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4496" y="6028188"/>
            <a:ext cx="1143000" cy="856979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>
            <a:off x="0" y="1219200"/>
            <a:ext cx="9144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4" name="Down Arrow Callout 3"/>
          <p:cNvSpPr/>
          <p:nvPr userDrawn="1"/>
        </p:nvSpPr>
        <p:spPr>
          <a:xfrm>
            <a:off x="0" y="-29407"/>
            <a:ext cx="3200400" cy="1477207"/>
          </a:xfrm>
          <a:prstGeom prst="downArrowCallout">
            <a:avLst>
              <a:gd name="adj1" fmla="val 32640"/>
              <a:gd name="adj2" fmla="val 28183"/>
              <a:gd name="adj3" fmla="val 25000"/>
              <a:gd name="adj4" fmla="val 61794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/>
              </a:rPr>
              <a:t>     What you will learn in this chapter</a:t>
            </a:r>
          </a:p>
        </p:txBody>
      </p:sp>
      <p:sp>
        <p:nvSpPr>
          <p:cNvPr id="6" name="Isosceles Triangle 5"/>
          <p:cNvSpPr/>
          <p:nvPr userDrawn="1"/>
        </p:nvSpPr>
        <p:spPr>
          <a:xfrm rot="5400000">
            <a:off x="95250" y="95250"/>
            <a:ext cx="304799" cy="266700"/>
          </a:xfrm>
          <a:prstGeom prst="triangle">
            <a:avLst>
              <a:gd name="adj" fmla="val 525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33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2813" indent="-5715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120015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2pPr>
            <a:lvl3pPr marL="137160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3pPr>
            <a:lvl4pPr marL="17145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4pPr>
            <a:lvl5pPr marL="21717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ight Arrow 8">
            <a:hlinkClick r:id="" action="ppaction://noaction"/>
          </p:cNvPr>
          <p:cNvSpPr/>
          <p:nvPr userDrawn="1"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1219200"/>
            <a:ext cx="9144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4" name="Down Arrow Callout 3"/>
          <p:cNvSpPr/>
          <p:nvPr userDrawn="1"/>
        </p:nvSpPr>
        <p:spPr>
          <a:xfrm>
            <a:off x="0" y="-29407"/>
            <a:ext cx="3200400" cy="1477207"/>
          </a:xfrm>
          <a:prstGeom prst="downArrowCallout">
            <a:avLst>
              <a:gd name="adj1" fmla="val 32640"/>
              <a:gd name="adj2" fmla="val 28183"/>
              <a:gd name="adj3" fmla="val 25000"/>
              <a:gd name="adj4" fmla="val 61794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/>
              </a:rPr>
              <a:t>     What you will learn in this chapter</a:t>
            </a:r>
          </a:p>
        </p:txBody>
      </p:sp>
      <p:sp>
        <p:nvSpPr>
          <p:cNvPr id="6" name="Isosceles Triangle 5"/>
          <p:cNvSpPr/>
          <p:nvPr userDrawn="1"/>
        </p:nvSpPr>
        <p:spPr>
          <a:xfrm rot="5400000">
            <a:off x="95250" y="95250"/>
            <a:ext cx="304799" cy="266700"/>
          </a:xfrm>
          <a:prstGeom prst="triangle">
            <a:avLst>
              <a:gd name="adj" fmla="val 525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055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These lecture notes are incomplete without having attended lectures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236217-FD80-4EFB-A479-11505B56575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54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entury Gothic"/>
                <a:cs typeface="Century Gothic"/>
              </a:defRPr>
            </a:lvl1pPr>
            <a:lvl2pPr>
              <a:defRPr sz="3200" baseline="0">
                <a:latin typeface="Century Gothic"/>
                <a:cs typeface="Century Gothic"/>
              </a:defRPr>
            </a:lvl2pPr>
            <a:lvl3pPr>
              <a:defRPr sz="2800" baseline="0">
                <a:latin typeface="Century Gothic"/>
                <a:cs typeface="Century Gothic"/>
              </a:defRPr>
            </a:lvl3pPr>
            <a:lvl4pPr>
              <a:defRPr sz="2400" baseline="0">
                <a:latin typeface="Century Gothic"/>
                <a:cs typeface="Century Gothic"/>
              </a:defRPr>
            </a:lvl4pPr>
            <a:lvl5pPr>
              <a:defRPr sz="2400" baseline="0"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406293393"/>
      </p:ext>
    </p:extLst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9852625"/>
      </p:ext>
    </p:extLst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458200" cy="5289550"/>
          </a:xfrm>
        </p:spPr>
        <p:txBody>
          <a:bodyPr>
            <a:normAutofit/>
          </a:bodyPr>
          <a:lstStyle>
            <a:lvl1pPr>
              <a:defRPr sz="3600" baseline="0">
                <a:latin typeface="Century Gothic"/>
                <a:cs typeface="Century Gothic"/>
              </a:defRPr>
            </a:lvl1pPr>
            <a:lvl2pPr>
              <a:defRPr sz="3200" baseline="0">
                <a:latin typeface="Century Gothic"/>
                <a:cs typeface="Century Gothic"/>
              </a:defRPr>
            </a:lvl2pPr>
            <a:lvl3pPr>
              <a:defRPr sz="2800" baseline="0">
                <a:latin typeface="Century Gothic"/>
                <a:cs typeface="Century Gothic"/>
              </a:defRPr>
            </a:lvl3pPr>
            <a:lvl4pPr>
              <a:defRPr sz="2400" baseline="0">
                <a:latin typeface="Century Gothic"/>
                <a:cs typeface="Century Gothic"/>
              </a:defRPr>
            </a:lvl4pPr>
            <a:lvl5pPr>
              <a:defRPr sz="2400" baseline="0"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40984043"/>
      </p:ext>
    </p:extLst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entury Gothic"/>
                <a:cs typeface="Century Gothic"/>
              </a:defRPr>
            </a:lvl1pPr>
            <a:lvl2pPr>
              <a:defRPr sz="3200" baseline="0">
                <a:latin typeface="Century Gothic"/>
                <a:cs typeface="Century Gothic"/>
              </a:defRPr>
            </a:lvl2pPr>
            <a:lvl3pPr>
              <a:defRPr sz="2800" baseline="0">
                <a:latin typeface="Century Gothic"/>
                <a:cs typeface="Century Gothic"/>
              </a:defRPr>
            </a:lvl3pPr>
            <a:lvl4pPr>
              <a:defRPr sz="2400" baseline="0">
                <a:latin typeface="Century Gothic"/>
                <a:cs typeface="Century Gothic"/>
              </a:defRPr>
            </a:lvl4pPr>
            <a:lvl5pPr>
              <a:defRPr sz="2400" baseline="0"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359308934"/>
      </p:ext>
    </p:extLst>
  </p:cSld>
  <p:clrMapOvr>
    <a:masterClrMapping/>
  </p:clrMapOvr>
  <p:transition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3167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767197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0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4BACC6">
                    <a:lumMod val="75000"/>
                  </a:srgbClr>
                </a:solidFill>
              </a:rPr>
              <a:t>ECONOMICS</a:t>
            </a: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3214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4F44DE6-8B77-400C-8F66-8B96B952C9BA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44739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>
                <a:solidFill>
                  <a:srgbClr val="4BACC6">
                    <a:lumMod val="75000"/>
                  </a:srgbClr>
                </a:solidFill>
              </a:rPr>
              <a:t>ECONOMICS</a:t>
            </a:r>
            <a:endParaRPr lang="en-US" dirty="0">
              <a:solidFill>
                <a:srgbClr val="4BACC6">
                  <a:lumMod val="75000"/>
                </a:srgbClr>
              </a:solidFill>
            </a:endParaRP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8492248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172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85826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pic>
        <p:nvPicPr>
          <p:cNvPr id="5" name="Picture 4" descr="Screen Shot 2014-12-20 at 5.27.50 PM.png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0130" y="15463"/>
            <a:ext cx="1532200" cy="15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5218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>
                <a:solidFill>
                  <a:srgbClr val="4BACC6">
                    <a:lumMod val="75000"/>
                  </a:srgbClr>
                </a:solidFill>
              </a:rPr>
              <a:t>ECONOMICS</a:t>
            </a:r>
            <a:endParaRPr lang="en-US" dirty="0">
              <a:solidFill>
                <a:srgbClr val="4BACC6">
                  <a:lumMod val="75000"/>
                </a:srgbClr>
              </a:solidFill>
            </a:endParaRP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35361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65570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>
                <a:solidFill>
                  <a:srgbClr val="4BACC6">
                    <a:lumMod val="75000"/>
                  </a:srgbClr>
                </a:solidFill>
              </a:rPr>
              <a:t>ECONOMICS</a:t>
            </a:r>
            <a:endParaRPr lang="en-US" dirty="0">
              <a:solidFill>
                <a:srgbClr val="4BACC6">
                  <a:lumMod val="75000"/>
                </a:srgbClr>
              </a:solidFill>
            </a:endParaRP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1757738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andara" pitchFamily="34" charset="0"/>
              </a:defRPr>
            </a:lvl1pPr>
            <a:lvl2pPr>
              <a:defRPr sz="2800" baseline="0">
                <a:latin typeface="Candara" pitchFamily="34" charset="0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4"/>
          <p:cNvSpPr txBox="1">
            <a:spLocks/>
          </p:cNvSpPr>
          <p:nvPr/>
        </p:nvSpPr>
        <p:spPr>
          <a:xfrm>
            <a:off x="2324100" y="6629400"/>
            <a:ext cx="48006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100" i="0" kern="120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2013 Worth Publishers</a:t>
            </a:r>
          </a:p>
        </p:txBody>
      </p:sp>
    </p:spTree>
    <p:extLst>
      <p:ext uri="{BB962C8B-B14F-4D97-AF65-F5344CB8AC3E}">
        <p14:creationId xmlns:p14="http://schemas.microsoft.com/office/powerpoint/2010/main" val="385998333"/>
      </p:ext>
    </p:extLst>
  </p:cSld>
  <p:clrMapOvr>
    <a:masterClrMapping/>
  </p:clrMapOvr>
  <p:transition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33175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52779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Copyright 2015 Worth Publishers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4F44DE6-8B77-400C-8F66-8B96B952C9BA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46898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0169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03489" y="0"/>
            <a:ext cx="1140511" cy="771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52406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896561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andara" pitchFamily="34" charset="0"/>
              </a:defRPr>
            </a:lvl1pPr>
            <a:lvl2pPr>
              <a:defRPr sz="3200" baseline="0">
                <a:latin typeface="Candara" pitchFamily="34" charset="0"/>
              </a:defRPr>
            </a:lvl2pPr>
            <a:lvl3pPr>
              <a:defRPr sz="2800" baseline="0">
                <a:latin typeface="Candara" pitchFamily="34" charset="0"/>
              </a:defRPr>
            </a:lvl3pPr>
            <a:lvl4pPr>
              <a:defRPr sz="2400" baseline="0">
                <a:latin typeface="Candara" pitchFamily="34" charset="0"/>
              </a:defRPr>
            </a:lvl4pPr>
            <a:lvl5pPr>
              <a:defRPr sz="24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5570601"/>
      </p:ext>
    </p:extLst>
  </p:cSld>
  <p:clrMapOvr>
    <a:masterClrMapping/>
  </p:clrMapOvr>
  <p:transition>
    <p:fade thruBlk="1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9101814"/>
      </p:ext>
    </p:extLst>
  </p:cSld>
  <p:clrMapOvr>
    <a:masterClrMapping/>
  </p:clrMapOvr>
  <p:transition>
    <p:fade thruBlk="1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80492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90954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pic>
        <p:nvPicPr>
          <p:cNvPr id="5" name="Picture 4" descr="Screen Shot 2014-12-20 at 5.27.50 PM.png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0130" y="15463"/>
            <a:ext cx="1532200" cy="15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9426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>
                <a:solidFill>
                  <a:srgbClr val="4BACC6">
                    <a:lumMod val="75000"/>
                  </a:srgbClr>
                </a:solidFill>
              </a:rPr>
              <a:t>ECONOMICS</a:t>
            </a:r>
            <a:endParaRPr lang="en-US" dirty="0">
              <a:solidFill>
                <a:srgbClr val="4BACC6">
                  <a:lumMod val="75000"/>
                </a:srgbClr>
              </a:solidFill>
            </a:endParaRP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04064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56166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>
                <a:solidFill>
                  <a:srgbClr val="4BACC6">
                    <a:lumMod val="75000"/>
                  </a:srgbClr>
                </a:solidFill>
              </a:rPr>
              <a:t>ECONOMICS</a:t>
            </a:r>
            <a:endParaRPr lang="en-US" dirty="0">
              <a:solidFill>
                <a:srgbClr val="4BACC6">
                  <a:lumMod val="75000"/>
                </a:srgbClr>
              </a:solidFill>
            </a:endParaRP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3436041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andara" pitchFamily="34" charset="0"/>
              </a:defRPr>
            </a:lvl1pPr>
            <a:lvl2pPr>
              <a:defRPr sz="2800" baseline="0">
                <a:latin typeface="Candara" pitchFamily="34" charset="0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4"/>
          <p:cNvSpPr txBox="1">
            <a:spLocks/>
          </p:cNvSpPr>
          <p:nvPr/>
        </p:nvSpPr>
        <p:spPr>
          <a:xfrm>
            <a:off x="2324100" y="6629400"/>
            <a:ext cx="48006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100" i="0" kern="120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2013 Worth Publishers</a:t>
            </a:r>
          </a:p>
        </p:txBody>
      </p:sp>
    </p:spTree>
    <p:extLst>
      <p:ext uri="{BB962C8B-B14F-4D97-AF65-F5344CB8AC3E}">
        <p14:creationId xmlns:p14="http://schemas.microsoft.com/office/powerpoint/2010/main" val="1673982318"/>
      </p:ext>
    </p:extLst>
  </p:cSld>
  <p:clrMapOvr>
    <a:masterClrMapping/>
  </p:clrMapOvr>
  <p:transition>
    <p:fade thruBlk="1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38571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pic>
        <p:nvPicPr>
          <p:cNvPr id="5" name="Picture 4" descr="Screen Shot 2014-12-20 at 5.27.50 PM.png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0130" y="15463"/>
            <a:ext cx="1532200" cy="15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6658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>
                <a:solidFill>
                  <a:srgbClr val="4BACC6">
                    <a:lumMod val="75000"/>
                  </a:srgbClr>
                </a:solidFill>
              </a:rPr>
              <a:t>ECONOMICS</a:t>
            </a:r>
            <a:endParaRPr lang="en-US" dirty="0">
              <a:solidFill>
                <a:srgbClr val="4BACC6">
                  <a:lumMod val="75000"/>
                </a:srgbClr>
              </a:solidFill>
            </a:endParaRP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22481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5923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>
                <a:solidFill>
                  <a:srgbClr val="4BACC6">
                    <a:lumMod val="75000"/>
                  </a:srgbClr>
                </a:solidFill>
              </a:rPr>
              <a:t>ECONOMICS</a:t>
            </a:r>
            <a:endParaRPr lang="en-US" dirty="0">
              <a:solidFill>
                <a:srgbClr val="4BACC6">
                  <a:lumMod val="75000"/>
                </a:srgbClr>
              </a:solidFill>
            </a:endParaRP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8426398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andara" pitchFamily="34" charset="0"/>
              </a:defRPr>
            </a:lvl1pPr>
            <a:lvl2pPr>
              <a:defRPr sz="2800" baseline="0">
                <a:latin typeface="Candara" pitchFamily="34" charset="0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4"/>
          <p:cNvSpPr txBox="1">
            <a:spLocks/>
          </p:cNvSpPr>
          <p:nvPr/>
        </p:nvSpPr>
        <p:spPr>
          <a:xfrm>
            <a:off x="2324100" y="6629400"/>
            <a:ext cx="48006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100" i="0" kern="120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2013 Worth Publishers</a:t>
            </a:r>
          </a:p>
        </p:txBody>
      </p:sp>
    </p:spTree>
    <p:extLst>
      <p:ext uri="{BB962C8B-B14F-4D97-AF65-F5344CB8AC3E}">
        <p14:creationId xmlns:p14="http://schemas.microsoft.com/office/powerpoint/2010/main" val="2779389370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" Target="../slides/slide2.xml"/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slide" Target="../slides/slide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slide" Target="../slides/slide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Relationship Id="rId4" Type="http://schemas.openxmlformats.org/officeDocument/2006/relationships/slide" Target="../slides/slide2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slide" Target="../slides/slide2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" Target="../slides/slide2.xml"/><Relationship Id="rId5" Type="http://schemas.openxmlformats.org/officeDocument/2006/relationships/slideLayout" Target="../slideLayouts/slideLayout27.xml"/><Relationship Id="rId10" Type="http://schemas.openxmlformats.org/officeDocument/2006/relationships/theme" Target="../theme/theme10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5" Type="http://schemas.openxmlformats.org/officeDocument/2006/relationships/slide" Target="../slides/slide2.xml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slide" Target="../slides/slide2.xml"/><Relationship Id="rId4" Type="http://schemas.openxmlformats.org/officeDocument/2006/relationships/image" Target="../media/image1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37.xml"/><Relationship Id="rId4" Type="http://schemas.openxmlformats.org/officeDocument/2006/relationships/slide" Target="../slides/slide2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" Target="../slides/slide2.xml"/><Relationship Id="rId3" Type="http://schemas.openxmlformats.org/officeDocument/2006/relationships/slideLayout" Target="../slideLayouts/slideLayout40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" Target="../slides/slide2.xml"/><Relationship Id="rId3" Type="http://schemas.openxmlformats.org/officeDocument/2006/relationships/slideLayout" Target="../slideLayouts/slideLayout46.xml"/><Relationship Id="rId7" Type="http://schemas.openxmlformats.org/officeDocument/2006/relationships/theme" Target="../theme/theme15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30388"/>
            <a:ext cx="86868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hlinkClick r:id="rId3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3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rgbClr val="CBF577">
              <a:alpha val="66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APPLICATION VIDEO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hlinkClick r:id="rId8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8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27468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22" r:id="rId3"/>
    <p:sldLayoutId id="2147483741" r:id="rId4"/>
    <p:sldLayoutId id="2147483787" r:id="rId5"/>
    <p:sldLayoutId id="2147483810" r:id="rId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400" b="0" kern="1200" spc="0" baseline="0"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  <a:latin typeface="Century Gothic"/>
          <a:ea typeface="+mj-ea"/>
          <a:cs typeface="Century Gothic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870" r:id="rId4"/>
    <p:sldLayoutId id="2147483904" r:id="rId5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Candara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rgbClr val="CBF577">
              <a:alpha val="66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PRACTICE QUESTION</a:t>
            </a:r>
          </a:p>
        </p:txBody>
      </p:sp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hlinkClick r:id="rId3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3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accent5">
              <a:lumMod val="40000"/>
              <a:lumOff val="60000"/>
              <a:alpha val="66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BUSINESS</a:t>
            </a:r>
            <a:r>
              <a:rPr lang="en-US" sz="3200" b="0" spc="60" baseline="0" dirty="0">
                <a:ln w="9000" cmpd="sng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 CASE</a:t>
            </a:r>
            <a:endParaRPr lang="en-US" sz="3200" b="0" spc="60" dirty="0">
              <a:ln w="9000" cmpd="sng">
                <a:noFill/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139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11" name="Right Arrow 10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bg2">
              <a:lumMod val="90000"/>
              <a:alpha val="66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DISCUSS</a:t>
            </a:r>
          </a:p>
        </p:txBody>
      </p:sp>
    </p:spTree>
    <p:extLst>
      <p:ext uri="{BB962C8B-B14F-4D97-AF65-F5344CB8AC3E}">
        <p14:creationId xmlns:p14="http://schemas.microsoft.com/office/powerpoint/2010/main" val="399945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869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23558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6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" y="0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ECONOMICS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14400"/>
            <a:ext cx="8839200" cy="5144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 txBox="1">
            <a:spLocks/>
          </p:cNvSpPr>
          <p:nvPr/>
        </p:nvSpPr>
        <p:spPr>
          <a:xfrm>
            <a:off x="3854173" y="0"/>
            <a:ext cx="2853083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b="1" i="1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F79646">
                    <a:lumMod val="75000"/>
                  </a:srgbClr>
                </a:solidFill>
              </a:rPr>
              <a:t>IN ACTION</a:t>
            </a:r>
          </a:p>
        </p:txBody>
      </p:sp>
      <p:sp>
        <p:nvSpPr>
          <p:cNvPr id="13" name="Oval 12"/>
          <p:cNvSpPr/>
          <p:nvPr/>
        </p:nvSpPr>
        <p:spPr>
          <a:xfrm>
            <a:off x="3263367" y="228600"/>
            <a:ext cx="474870" cy="48591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6225" dir="6960000" sx="122000" sy="122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rgbClr val="F79646">
                  <a:lumMod val="75000"/>
                </a:srgbClr>
              </a:solidFill>
              <a:latin typeface="Verdana"/>
              <a:cs typeface="Verdana"/>
            </a:endParaRPr>
          </a:p>
        </p:txBody>
      </p:sp>
      <p:sp>
        <p:nvSpPr>
          <p:cNvPr id="4" name="Isosceles Triangle 3"/>
          <p:cNvSpPr/>
          <p:nvPr/>
        </p:nvSpPr>
        <p:spPr>
          <a:xfrm rot="5400000">
            <a:off x="3379193" y="248348"/>
            <a:ext cx="337086" cy="381002"/>
          </a:xfrm>
          <a:prstGeom prst="triangle">
            <a:avLst>
              <a:gd name="adj" fmla="val 4997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774700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12700" y="88900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066800" y="6553200"/>
            <a:ext cx="7543800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06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841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1" i="0" kern="1200" cap="all" spc="-200" baseline="0">
          <a:solidFill>
            <a:schemeClr val="accent5">
              <a:lumMod val="75000"/>
            </a:schemeClr>
          </a:solidFill>
          <a:latin typeface="Verdana"/>
          <a:ea typeface="+mj-ea"/>
          <a:cs typeface="Verdana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ECONOMICS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410234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 txBox="1">
            <a:spLocks/>
          </p:cNvSpPr>
          <p:nvPr/>
        </p:nvSpPr>
        <p:spPr>
          <a:xfrm>
            <a:off x="3854173" y="392043"/>
            <a:ext cx="2853083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b="1" i="1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F79646">
                    <a:lumMod val="75000"/>
                  </a:srgbClr>
                </a:solidFill>
              </a:rPr>
              <a:t>IN ACTION</a:t>
            </a:r>
          </a:p>
        </p:txBody>
      </p:sp>
      <p:sp>
        <p:nvSpPr>
          <p:cNvPr id="13" name="Oval 12"/>
          <p:cNvSpPr/>
          <p:nvPr/>
        </p:nvSpPr>
        <p:spPr>
          <a:xfrm>
            <a:off x="3263367" y="589723"/>
            <a:ext cx="474870" cy="48591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6225" dir="6960000" sx="122000" sy="122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rgbClr val="F79646">
                  <a:lumMod val="75000"/>
                </a:srgbClr>
              </a:solidFill>
              <a:latin typeface="Verdana"/>
              <a:cs typeface="Verdana"/>
            </a:endParaRPr>
          </a:p>
        </p:txBody>
      </p:sp>
      <p:sp>
        <p:nvSpPr>
          <p:cNvPr id="4" name="Isosceles Triangle 3"/>
          <p:cNvSpPr/>
          <p:nvPr/>
        </p:nvSpPr>
        <p:spPr>
          <a:xfrm rot="5400000">
            <a:off x="3379193" y="640391"/>
            <a:ext cx="337086" cy="381002"/>
          </a:xfrm>
          <a:prstGeom prst="triangle">
            <a:avLst>
              <a:gd name="adj" fmla="val 4997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166743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12700" y="480943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066800" y="6553200"/>
            <a:ext cx="7543800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48912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1" i="0" kern="1200" cap="all" spc="-200" baseline="0">
          <a:solidFill>
            <a:schemeClr val="accent5">
              <a:lumMod val="75000"/>
            </a:schemeClr>
          </a:solidFill>
          <a:latin typeface="Verdana"/>
          <a:ea typeface="+mj-ea"/>
          <a:cs typeface="Verdana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>
            <a:hlinkClick r:id="rId11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11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58372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400" b="0" kern="1200" spc="0" baseline="0"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  <a:latin typeface="Century Gothic"/>
          <a:ea typeface="+mj-ea"/>
          <a:cs typeface="Century Gothic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5">
              <a:lumMod val="20000"/>
              <a:lumOff val="80000"/>
              <a:alpha val="44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 w="127000" cmpd="sng">
            <a:solidFill>
              <a:schemeClr val="tx2">
                <a:lumMod val="20000"/>
                <a:lumOff val="80000"/>
                <a:alpha val="71000"/>
              </a:scheme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272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r" defTabSz="914400" rtl="0" eaLnBrk="1" latinLnBrk="0" hangingPunct="1">
        <a:spcBef>
          <a:spcPct val="0"/>
        </a:spcBef>
        <a:buNone/>
        <a:defRPr sz="4400" b="1" kern="1200" spc="-200" baseline="0">
          <a:solidFill>
            <a:schemeClr val="accent6">
              <a:lumMod val="75000"/>
            </a:schemeClr>
          </a:solidFill>
          <a:latin typeface="Candara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/>
        </p:nvSpPr>
        <p:spPr>
          <a:xfrm>
            <a:off x="0" y="0"/>
            <a:ext cx="75438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</a:rPr>
              <a:t>Active Learning: Practice</a:t>
            </a:r>
          </a:p>
        </p:txBody>
      </p:sp>
      <p:pic>
        <p:nvPicPr>
          <p:cNvPr id="12292" name="Picture 11" descr="Pencil_8160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95042" y="47416"/>
            <a:ext cx="224895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27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629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6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>
            <a:hlinkClick r:id="rId8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8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98106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400" b="0" kern="1200" spc="0" baseline="0"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  <a:latin typeface="Century Gothic"/>
          <a:ea typeface="+mj-ea"/>
          <a:cs typeface="Century Gothic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>
            <a:hlinkClick r:id="rId8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8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38604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400" b="0" kern="1200" spc="0" baseline="0"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  <a:latin typeface="Century Gothic"/>
          <a:ea typeface="+mj-ea"/>
          <a:cs typeface="Century Gothic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14.xml"/><Relationship Id="rId7" Type="http://schemas.openxmlformats.org/officeDocument/2006/relationships/slide" Target="slide41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1.xml"/><Relationship Id="rId6" Type="http://schemas.openxmlformats.org/officeDocument/2006/relationships/slide" Target="slide35.xml"/><Relationship Id="rId5" Type="http://schemas.openxmlformats.org/officeDocument/2006/relationships/slide" Target="slide27.xml"/><Relationship Id="rId4" Type="http://schemas.openxmlformats.org/officeDocument/2006/relationships/slide" Target="slide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533400"/>
            <a:ext cx="7772400" cy="1470025"/>
          </a:xfrm>
        </p:spPr>
        <p:txBody>
          <a:bodyPr/>
          <a:lstStyle/>
          <a:p>
            <a:r>
              <a:rPr lang="en-US" sz="2800" dirty="0"/>
              <a:t>Economics 2220</a:t>
            </a:r>
            <a:br>
              <a:rPr lang="en-US" sz="2800" dirty="0"/>
            </a:br>
            <a:r>
              <a:rPr lang="en-US" dirty="0"/>
              <a:t>Principles Of Macroeconomics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981200"/>
            <a:ext cx="6400800" cy="533400"/>
          </a:xfrm>
        </p:spPr>
        <p:txBody>
          <a:bodyPr/>
          <a:lstStyle/>
          <a:p>
            <a:r>
              <a:rPr lang="en-US" sz="2400" dirty="0"/>
              <a:t>Professor Zhigang Feng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1662545" y="3276600"/>
            <a:ext cx="6781800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spcBef>
                <a:spcPct val="50000"/>
              </a:spcBef>
            </a:pPr>
            <a:r>
              <a:rPr lang="en-US" sz="2800" u="sng" dirty="0"/>
              <a:t>Lecture 14: </a:t>
            </a:r>
          </a:p>
          <a:p>
            <a:pPr marL="228600" indent="-228600">
              <a:spcBef>
                <a:spcPct val="50000"/>
              </a:spcBef>
            </a:pPr>
            <a:r>
              <a:rPr lang="en-US" sz="2800" u="sng" dirty="0"/>
              <a:t>Money, Banking and Monetary policy</a:t>
            </a:r>
          </a:p>
        </p:txBody>
      </p:sp>
    </p:spTree>
    <p:extLst>
      <p:ext uri="{BB962C8B-B14F-4D97-AF65-F5344CB8AC3E}">
        <p14:creationId xmlns:p14="http://schemas.microsoft.com/office/powerpoint/2010/main" val="1353938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4525963"/>
          </a:xfrm>
        </p:spPr>
        <p:txBody>
          <a:bodyPr/>
          <a:lstStyle/>
          <a:p>
            <a:pPr marL="512762" indent="-342900"/>
            <a:r>
              <a:rPr lang="en-US" sz="2400" b="0" dirty="0"/>
              <a:t>What the </a:t>
            </a:r>
            <a:r>
              <a:rPr lang="en-US" sz="2400" dirty="0">
                <a:hlinkClick r:id="rId2" action="ppaction://hlinksldjump"/>
              </a:rPr>
              <a:t>money demand curve </a:t>
            </a:r>
            <a:r>
              <a:rPr lang="en-US" sz="2400" b="0" dirty="0"/>
              <a:t>is</a:t>
            </a:r>
          </a:p>
          <a:p>
            <a:pPr marL="512762" indent="-342900"/>
            <a:r>
              <a:rPr lang="en-US" sz="2400" b="0" dirty="0"/>
              <a:t>Why the </a:t>
            </a:r>
            <a:r>
              <a:rPr lang="en-US" sz="2400" dirty="0">
                <a:hlinkClick r:id="rId3" action="ppaction://hlinksldjump"/>
              </a:rPr>
              <a:t>liquidity preference model </a:t>
            </a:r>
            <a:r>
              <a:rPr lang="en-US" sz="2400" b="0" dirty="0"/>
              <a:t>determines the interest rate in the short run</a:t>
            </a:r>
          </a:p>
          <a:p>
            <a:pPr marL="512762" indent="-342900"/>
            <a:r>
              <a:rPr lang="en-US" sz="2400" dirty="0">
                <a:hlinkClick r:id="rId4" action="ppaction://hlinksldjump"/>
              </a:rPr>
              <a:t>How</a:t>
            </a:r>
            <a:r>
              <a:rPr lang="en-US" sz="2400" b="0" dirty="0"/>
              <a:t> the Federal Reserve implements monetary policy, </a:t>
            </a:r>
            <a:r>
              <a:rPr lang="en-US" sz="2400" dirty="0">
                <a:hlinkClick r:id="rId5" action="ppaction://hlinksldjump"/>
              </a:rPr>
              <a:t>moving the interest rate to affect aggregate output</a:t>
            </a:r>
            <a:endParaRPr lang="en-US" sz="2400" dirty="0"/>
          </a:p>
          <a:p>
            <a:pPr marL="512762" indent="-342900"/>
            <a:r>
              <a:rPr lang="en-US" sz="2400" b="0" dirty="0"/>
              <a:t>Why monetary policy is the main tool for stabilizing the economy</a:t>
            </a:r>
          </a:p>
          <a:p>
            <a:pPr marL="512762" indent="-342900"/>
            <a:r>
              <a:rPr lang="en-US" sz="2400" b="0" dirty="0"/>
              <a:t>How the behavior of the Federal Reserve </a:t>
            </a:r>
            <a:r>
              <a:rPr lang="en-US" sz="2400" dirty="0">
                <a:hlinkClick r:id="rId6" action="ppaction://hlinksldjump"/>
              </a:rPr>
              <a:t>compares</a:t>
            </a:r>
            <a:r>
              <a:rPr lang="en-US" sz="2400" b="0" dirty="0">
                <a:hlinkClick r:id="rId6" action="ppaction://hlinksldjump"/>
              </a:rPr>
              <a:t> </a:t>
            </a:r>
            <a:r>
              <a:rPr lang="en-US" sz="2400" b="0" dirty="0"/>
              <a:t>to that of other central banks</a:t>
            </a:r>
          </a:p>
          <a:p>
            <a:pPr marL="512762" indent="-342900"/>
            <a:r>
              <a:rPr lang="en-US" sz="2400" b="0" dirty="0"/>
              <a:t>Why economists believe in </a:t>
            </a:r>
            <a:r>
              <a:rPr lang="en-US" sz="2400" dirty="0">
                <a:hlinkClick r:id="rId7" action="ppaction://hlinksldjump"/>
              </a:rPr>
              <a:t>monetary neutrality</a:t>
            </a:r>
            <a:r>
              <a:rPr lang="en-US" sz="2400" b="0" dirty="0"/>
              <a:t>—that monetary policy affects only the price level, not aggregate output, in the long run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7998" y="6273798"/>
            <a:ext cx="11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8" action="ppaction://hlinksldjump"/>
              </a:rPr>
              <a:t>To First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8" action="ppaction://hlinksldjump"/>
              </a:rPr>
              <a:t>Active Learning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191725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838200"/>
          </a:xfrm>
        </p:spPr>
        <p:txBody>
          <a:bodyPr>
            <a:noAutofit/>
          </a:bodyPr>
          <a:lstStyle/>
          <a:p>
            <a:r>
              <a:rPr lang="en-US" dirty="0"/>
              <a:t>THE MOST POWERFUL PERSON IN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257800"/>
            <a:ext cx="8839200" cy="129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chairmanship of the Federal Reserve is arguably the most powerful position in the U.S. government</a:t>
            </a:r>
          </a:p>
        </p:txBody>
      </p:sp>
      <p:pic>
        <p:nvPicPr>
          <p:cNvPr id="5" name="Picture 4" descr="Screen Shot 2015-04-09 at 19.16.0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2019300"/>
            <a:ext cx="2950956" cy="3111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Screen Shot 2015-04-09 at 19.25.43.png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4953000" y="2019300"/>
            <a:ext cx="2903466" cy="3162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645702" y="1611868"/>
            <a:ext cx="3164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entury Gothic"/>
                <a:cs typeface="Century Gothic"/>
              </a:rPr>
              <a:t>Janet </a:t>
            </a:r>
            <a:r>
              <a:rPr lang="en-US" b="1" dirty="0" err="1">
                <a:latin typeface="Century Gothic"/>
                <a:cs typeface="Century Gothic"/>
              </a:rPr>
              <a:t>Yellen</a:t>
            </a:r>
            <a:r>
              <a:rPr lang="en-US" b="1" dirty="0">
                <a:latin typeface="Century Gothic"/>
                <a:cs typeface="Century Gothic"/>
              </a:rPr>
              <a:t>, Current Chair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7344" y="1611868"/>
            <a:ext cx="3302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entury Gothic"/>
                <a:cs typeface="Century Gothic"/>
              </a:rPr>
              <a:t>Ben Bernanke, Former Chair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395818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/>
              <a:t>THE DEMAND FOR MONEY</a:t>
            </a:r>
          </a:p>
        </p:txBody>
      </p:sp>
      <p:sp>
        <p:nvSpPr>
          <p:cNvPr id="623619" name="Rectangle 3"/>
          <p:cNvSpPr>
            <a:spLocks noGrp="1" noChangeArrowheads="1"/>
          </p:cNvSpPr>
          <p:nvPr>
            <p:ph idx="1"/>
          </p:nvPr>
        </p:nvSpPr>
        <p:spPr>
          <a:xfrm>
            <a:off x="3733800" y="990600"/>
            <a:ext cx="5334000" cy="51054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b="1" dirty="0">
                <a:solidFill>
                  <a:srgbClr val="0070C0"/>
                </a:solidFill>
              </a:rPr>
              <a:t>The Opportunity Cost of Holding Money</a:t>
            </a:r>
          </a:p>
          <a:p>
            <a:r>
              <a:rPr lang="en-US" dirty="0"/>
              <a:t>We all carry some cash around for the convenience.  </a:t>
            </a:r>
          </a:p>
          <a:p>
            <a:r>
              <a:rPr lang="en-US" dirty="0"/>
              <a:t>When we do, we give up interest income we’d collect if that spending power were in an interest-bearing asset like a bond. </a:t>
            </a:r>
          </a:p>
        </p:txBody>
      </p:sp>
      <p:pic>
        <p:nvPicPr>
          <p:cNvPr id="4" name="Picture 2" descr="C:\Users\solina\Dropbox\Krugman 3e Dynamic PPTs\Krugman 3e material\Images_High Res\CH30\CH30\Krug3e_30UN02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3601043" cy="2852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6200" y="3957697"/>
            <a:ext cx="360104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There is a price to be paid for the convenience of holding money.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92340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spc="0" dirty="0"/>
              <a:t>INTEREST RATES AND THE OPPORTUNITY COST OF HOLDING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839200" cy="4419600"/>
          </a:xfrm>
        </p:spPr>
        <p:txBody>
          <a:bodyPr>
            <a:normAutofit/>
          </a:bodyPr>
          <a:lstStyle/>
          <a:p>
            <a:r>
              <a:rPr lang="en-US" dirty="0"/>
              <a:t>Individuals and firms trade off the benefit of holding cash versus the benefit of holding interest-bearing nonmonetary assets.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0578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Century Gothic"/>
                <a:cs typeface="Century Gothic"/>
              </a:rPr>
              <a:t>Selected interest rates, 2007 (before the financial crisis)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536" y="5715000"/>
            <a:ext cx="29365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latin typeface="Century Gothic"/>
                <a:cs typeface="Century Gothic"/>
              </a:rPr>
              <a:t>Source: Federal Reserve Bank of St. Louis</a:t>
            </a:r>
          </a:p>
        </p:txBody>
      </p:sp>
      <p:pic>
        <p:nvPicPr>
          <p:cNvPr id="9" name="Picture 8" descr="Screen Shot 2015-04-09 at 19.43.5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79332"/>
            <a:ext cx="9144000" cy="2035668"/>
          </a:xfrm>
          <a:prstGeom prst="rect">
            <a:avLst/>
          </a:prstGeom>
        </p:spPr>
      </p:pic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666121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Autofit/>
          </a:bodyPr>
          <a:lstStyle/>
          <a:p>
            <a:r>
              <a:rPr lang="en-US" sz="3600" spc="0" dirty="0"/>
              <a:t>INTEREST RATES AND THE OPPORTUNITY COST OF HOLDING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839200" cy="4648200"/>
          </a:xfrm>
        </p:spPr>
        <p:txBody>
          <a:bodyPr>
            <a:noAutofit/>
          </a:bodyPr>
          <a:lstStyle/>
          <a:p>
            <a:r>
              <a:rPr lang="en-US" i="1" dirty="0">
                <a:solidFill>
                  <a:srgbClr val="990033"/>
                </a:solidFill>
              </a:rPr>
              <a:t>Short-term interest rates: </a:t>
            </a:r>
            <a:r>
              <a:rPr lang="en-US" dirty="0"/>
              <a:t>the interest rates on financial assets that mature within six months or less.</a:t>
            </a:r>
          </a:p>
          <a:p>
            <a:r>
              <a:rPr lang="en-US" i="1" dirty="0">
                <a:solidFill>
                  <a:srgbClr val="990033"/>
                </a:solidFill>
              </a:rPr>
              <a:t>Long-term interest rates: </a:t>
            </a:r>
            <a:r>
              <a:rPr lang="en-US" dirty="0"/>
              <a:t>interest rates on financial assets that mature a number of years in the future.</a:t>
            </a:r>
          </a:p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i="1" dirty="0">
                <a:solidFill>
                  <a:srgbClr val="0070C0"/>
                </a:solidFill>
              </a:rPr>
              <a:t>higher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interest rate, the </a:t>
            </a:r>
            <a:r>
              <a:rPr lang="en-US" i="1" dirty="0">
                <a:solidFill>
                  <a:srgbClr val="0070C0"/>
                </a:solidFill>
              </a:rPr>
              <a:t>higher the opportunity cost of holding money. </a:t>
            </a:r>
          </a:p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lower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interest rate, the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lower the opportunity cost of holding money.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842761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3600" spc="0" dirty="0"/>
              <a:t>INTEREST RATES AND THE OPPORTUNITY COST OF HOLDING MONEY</a:t>
            </a:r>
          </a:p>
        </p:txBody>
      </p:sp>
      <p:sp>
        <p:nvSpPr>
          <p:cNvPr id="62464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839200" cy="4495800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b="1" dirty="0"/>
              <a:t>Although there are many different interes</a:t>
            </a:r>
            <a:r>
              <a:rPr lang="en-US" dirty="0"/>
              <a:t>t rates and they don’t move exactly together, as a rule </a:t>
            </a:r>
            <a:r>
              <a:rPr lang="en-US" dirty="0">
                <a:solidFill>
                  <a:srgbClr val="0070C0"/>
                </a:solidFill>
              </a:rPr>
              <a:t>most short-term rates tend to move in the same direction.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7" name="Picture 6" descr="Screen Shot 2015-04-09 at 19.39.0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200400"/>
            <a:ext cx="7519035" cy="31826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6536" y="6443990"/>
            <a:ext cx="29365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latin typeface="Century Gothic"/>
                <a:cs typeface="Century Gothic"/>
              </a:rPr>
              <a:t>Source: Federal Reserve Bank of St. Louis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830075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pc="0" dirty="0"/>
              <a:t>THE MONEY DEMAND CURVE</a:t>
            </a:r>
            <a:endParaRPr lang="en-US" b="0" spc="0" dirty="0"/>
          </a:p>
        </p:txBody>
      </p:sp>
      <p:sp>
        <p:nvSpPr>
          <p:cNvPr id="628743" name="Rectangle 7"/>
          <p:cNvSpPr>
            <a:spLocks noChangeArrowheads="1"/>
          </p:cNvSpPr>
          <p:nvPr/>
        </p:nvSpPr>
        <p:spPr bwMode="auto">
          <a:xfrm>
            <a:off x="0" y="914400"/>
            <a:ext cx="13716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0"/>
              </a:spcBef>
            </a:pPr>
            <a:endParaRPr lang="en-US" sz="1600" b="1" dirty="0">
              <a:solidFill>
                <a:prstClr val="black"/>
              </a:solidFill>
              <a:latin typeface="Century Gothic"/>
              <a:cs typeface="Century Gothic"/>
            </a:endParaRPr>
          </a:p>
          <a:p>
            <a:pPr algn="r"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cs typeface="Century Gothic"/>
              </a:rPr>
              <a:t>Interest rate,</a:t>
            </a:r>
            <a:r>
              <a:rPr lang="en-US" sz="1600" b="1" i="1" dirty="0">
                <a:solidFill>
                  <a:prstClr val="black"/>
                </a:solidFill>
                <a:latin typeface="Century Gothic"/>
                <a:cs typeface="Century Gothic"/>
              </a:rPr>
              <a:t> r</a:t>
            </a:r>
          </a:p>
        </p:txBody>
      </p:sp>
      <p:sp>
        <p:nvSpPr>
          <p:cNvPr id="628744" name="Line 8"/>
          <p:cNvSpPr>
            <a:spLocks noChangeShapeType="1"/>
          </p:cNvSpPr>
          <p:nvPr/>
        </p:nvSpPr>
        <p:spPr bwMode="auto">
          <a:xfrm flipV="1">
            <a:off x="609600" y="1584325"/>
            <a:ext cx="0" cy="441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28746" name="Line 10"/>
          <p:cNvSpPr>
            <a:spLocks noChangeShapeType="1"/>
          </p:cNvSpPr>
          <p:nvPr/>
        </p:nvSpPr>
        <p:spPr bwMode="auto">
          <a:xfrm rot="5400000" flipV="1">
            <a:off x="3505200" y="3108325"/>
            <a:ext cx="0" cy="5791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28747" name="Rectangle 11"/>
          <p:cNvSpPr>
            <a:spLocks noChangeArrowheads="1"/>
          </p:cNvSpPr>
          <p:nvPr/>
        </p:nvSpPr>
        <p:spPr bwMode="auto">
          <a:xfrm>
            <a:off x="4648200" y="6080125"/>
            <a:ext cx="1905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cs typeface="Century Gothic"/>
              </a:rPr>
              <a:t>Quantity of money</a:t>
            </a:r>
            <a:endParaRPr lang="en-US" sz="1600" b="1" i="1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28748" name="Rectangle 12"/>
          <p:cNvSpPr>
            <a:spLocks noChangeArrowheads="1"/>
          </p:cNvSpPr>
          <p:nvPr/>
        </p:nvSpPr>
        <p:spPr bwMode="auto">
          <a:xfrm>
            <a:off x="4648200" y="5635823"/>
            <a:ext cx="256969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prstDash val="sysDot"/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1588" indent="-1588"/>
            <a:r>
              <a:rPr lang="en-US" sz="1400" dirty="0">
                <a:solidFill>
                  <a:prstClr val="black"/>
                </a:solidFill>
                <a:latin typeface="Century Gothic"/>
                <a:cs typeface="Century Gothic"/>
              </a:rPr>
              <a:t>Money demand curve, </a:t>
            </a:r>
            <a:r>
              <a:rPr lang="en-US" sz="1400" i="1" dirty="0">
                <a:solidFill>
                  <a:prstClr val="black"/>
                </a:solidFill>
                <a:latin typeface="Century Gothic"/>
                <a:cs typeface="Century Gothic"/>
              </a:rPr>
              <a:t>MD</a:t>
            </a:r>
          </a:p>
        </p:txBody>
      </p:sp>
      <p:sp>
        <p:nvSpPr>
          <p:cNvPr id="2" name="Rectangle 1"/>
          <p:cNvSpPr/>
          <p:nvPr/>
        </p:nvSpPr>
        <p:spPr>
          <a:xfrm>
            <a:off x="4724400" y="1371600"/>
            <a:ext cx="4343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0000"/>
              </a:buClr>
            </a:pPr>
            <a:r>
              <a:rPr lang="en-US" sz="2800" b="1" dirty="0">
                <a:solidFill>
                  <a:prstClr val="black"/>
                </a:solidFill>
                <a:latin typeface="Century Gothic"/>
                <a:cs typeface="Century Gothic"/>
              </a:rPr>
              <a:t>The </a:t>
            </a:r>
            <a:r>
              <a:rPr lang="en-US" sz="2800" b="1" i="1" dirty="0">
                <a:solidFill>
                  <a:srgbClr val="990033"/>
                </a:solidFill>
                <a:latin typeface="Century Gothic"/>
                <a:cs typeface="Century Gothic"/>
              </a:rPr>
              <a:t>money demand curve </a:t>
            </a:r>
            <a:r>
              <a:rPr lang="en-US" sz="2800" b="1" dirty="0">
                <a:solidFill>
                  <a:prstClr val="black"/>
                </a:solidFill>
                <a:latin typeface="Century Gothic"/>
                <a:cs typeface="Century Gothic"/>
              </a:rPr>
              <a:t>shows the relationship between the quantity of money demanded and the interest rate.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143000" y="2041525"/>
            <a:ext cx="3505200" cy="3412067"/>
          </a:xfrm>
          <a:prstGeom prst="line">
            <a:avLst/>
          </a:prstGeom>
          <a:noFill/>
          <a:ln w="41275">
            <a:solidFill>
              <a:srgbClr val="2CB1AE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Rectangle 13"/>
          <p:cNvSpPr/>
          <p:nvPr/>
        </p:nvSpPr>
        <p:spPr>
          <a:xfrm>
            <a:off x="1981200" y="914400"/>
            <a:ext cx="2362200" cy="1938992"/>
          </a:xfrm>
          <a:prstGeom prst="rect">
            <a:avLst/>
          </a:prstGeom>
          <a:solidFill>
            <a:schemeClr val="accent3">
              <a:lumMod val="20000"/>
              <a:lumOff val="80000"/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0000"/>
              </a:buClr>
            </a:pPr>
            <a:r>
              <a:rPr lang="en-US" sz="20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At higher interest rates, the cost of holding money is greater, so less quantity is demanded.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400" y="4051498"/>
            <a:ext cx="3124200" cy="1631216"/>
          </a:xfrm>
          <a:prstGeom prst="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0000"/>
              </a:buClr>
            </a:pPr>
            <a:r>
              <a:rPr lang="en-US" sz="20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At lower interest rates, the cost of holding money is smaller, so a higher quantity is demanded.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90751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>
            <a:noAutofit/>
          </a:bodyPr>
          <a:lstStyle/>
          <a:p>
            <a:r>
              <a:rPr lang="en-US" sz="4000" spc="0" dirty="0"/>
              <a:t>SHIFTS OF THE REAL MONEY DEMAND CURVE</a:t>
            </a:r>
          </a:p>
        </p:txBody>
      </p:sp>
      <p:sp>
        <p:nvSpPr>
          <p:cNvPr id="627715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219200"/>
            <a:ext cx="8839200" cy="5257800"/>
          </a:xfrm>
        </p:spPr>
        <p:txBody>
          <a:bodyPr>
            <a:noAutofit/>
          </a:bodyPr>
          <a:lstStyle/>
          <a:p>
            <a:r>
              <a:rPr lang="en-US" sz="2400" dirty="0"/>
              <a:t>The following factors shift the money demand curve: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Changes in aggregate price level</a:t>
            </a:r>
          </a:p>
          <a:p>
            <a:pPr lvl="2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Higher prices mean we need more money for transactions (and vice versa).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Changes in real GDP</a:t>
            </a:r>
          </a:p>
          <a:p>
            <a:pPr lvl="2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More goods and services produced and sold means we need more money (and vice versa).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Changes in technology</a:t>
            </a:r>
          </a:p>
          <a:p>
            <a:pPr lvl="2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ease of credit card payments reduces the need for cash.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Changes in institutions</a:t>
            </a:r>
          </a:p>
          <a:p>
            <a:pPr lvl="2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After 1980 banks were allowed to offer interest on checking accounts. This decreased the cost of holding money, and money demand increased.</a:t>
            </a:r>
          </a:p>
          <a:p>
            <a:endParaRPr lang="en-US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35507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7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27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7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27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7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27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27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27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7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771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0" y="3429000"/>
            <a:ext cx="9144000" cy="2934234"/>
          </a:xfrm>
          <a:solidFill>
            <a:schemeClr val="bg1">
              <a:alpha val="86000"/>
            </a:schemeClr>
          </a:solidFill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A YEN FOR CASH- </a:t>
            </a:r>
            <a:r>
              <a:rPr lang="en-US" sz="2800" dirty="0">
                <a:solidFill>
                  <a:srgbClr val="0070C0"/>
                </a:solidFill>
              </a:rPr>
              <a:t>Japan is still a cash society.</a:t>
            </a:r>
          </a:p>
          <a:p>
            <a:r>
              <a:rPr lang="en-US" sz="2800" dirty="0"/>
              <a:t>The many small businesses haven’t invested in credit card technology.</a:t>
            </a:r>
          </a:p>
          <a:p>
            <a:r>
              <a:rPr lang="en-US" sz="2800" dirty="0"/>
              <a:t>And the short-term interest rates have been below 1% since the 1990s. Also, crime is low.  </a:t>
            </a:r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So…why not hold cash?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741319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pc="0" dirty="0"/>
              <a:t>SHIFTS IN THE DEMAND FOR MONEY</a:t>
            </a:r>
          </a:p>
        </p:txBody>
      </p:sp>
      <p:sp>
        <p:nvSpPr>
          <p:cNvPr id="577543" name="Freeform 7"/>
          <p:cNvSpPr>
            <a:spLocks/>
          </p:cNvSpPr>
          <p:nvPr/>
        </p:nvSpPr>
        <p:spPr bwMode="auto">
          <a:xfrm>
            <a:off x="3276600" y="990600"/>
            <a:ext cx="2861054" cy="1295400"/>
          </a:xfrm>
          <a:custGeom>
            <a:avLst/>
            <a:gdLst>
              <a:gd name="T0" fmla="*/ 399 w 399"/>
              <a:gd name="T1" fmla="*/ 108 h 138"/>
              <a:gd name="T2" fmla="*/ 373 w 399"/>
              <a:gd name="T3" fmla="*/ 138 h 138"/>
              <a:gd name="T4" fmla="*/ 26 w 399"/>
              <a:gd name="T5" fmla="*/ 138 h 138"/>
              <a:gd name="T6" fmla="*/ 0 w 399"/>
              <a:gd name="T7" fmla="*/ 108 h 138"/>
              <a:gd name="T8" fmla="*/ 0 w 399"/>
              <a:gd name="T9" fmla="*/ 31 h 138"/>
              <a:gd name="T10" fmla="*/ 26 w 399"/>
              <a:gd name="T11" fmla="*/ 0 h 138"/>
              <a:gd name="T12" fmla="*/ 373 w 399"/>
              <a:gd name="T13" fmla="*/ 0 h 138"/>
              <a:gd name="T14" fmla="*/ 399 w 399"/>
              <a:gd name="T15" fmla="*/ 31 h 138"/>
              <a:gd name="T16" fmla="*/ 399 w 399"/>
              <a:gd name="T17" fmla="*/ 108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9" h="138">
                <a:moveTo>
                  <a:pt x="399" y="108"/>
                </a:moveTo>
                <a:cubicBezTo>
                  <a:pt x="399" y="125"/>
                  <a:pt x="387" y="138"/>
                  <a:pt x="373" y="138"/>
                </a:cubicBezTo>
                <a:cubicBezTo>
                  <a:pt x="26" y="138"/>
                  <a:pt x="26" y="138"/>
                  <a:pt x="26" y="138"/>
                </a:cubicBezTo>
                <a:cubicBezTo>
                  <a:pt x="12" y="138"/>
                  <a:pt x="0" y="125"/>
                  <a:pt x="0" y="108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14"/>
                  <a:pt x="12" y="0"/>
                  <a:pt x="26" y="0"/>
                </a:cubicBezTo>
                <a:cubicBezTo>
                  <a:pt x="373" y="0"/>
                  <a:pt x="373" y="0"/>
                  <a:pt x="373" y="0"/>
                </a:cubicBezTo>
                <a:cubicBezTo>
                  <a:pt x="387" y="0"/>
                  <a:pt x="399" y="14"/>
                  <a:pt x="399" y="31"/>
                </a:cubicBezTo>
                <a:lnTo>
                  <a:pt x="399" y="108"/>
                </a:lnTo>
                <a:close/>
              </a:path>
            </a:pathLst>
          </a:custGeom>
          <a:solidFill>
            <a:srgbClr val="D6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77544" name="Text Box 8"/>
          <p:cNvSpPr txBox="1">
            <a:spLocks noChangeArrowheads="1"/>
          </p:cNvSpPr>
          <p:nvPr/>
        </p:nvSpPr>
        <p:spPr bwMode="auto">
          <a:xfrm>
            <a:off x="3352799" y="1066800"/>
            <a:ext cx="278485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prstDash val="sysDot"/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588" indent="-15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i="1" dirty="0">
                <a:solidFill>
                  <a:prstClr val="black"/>
                </a:solidFill>
                <a:latin typeface="Century Gothic"/>
                <a:cs typeface="Century Gothic"/>
              </a:rPr>
              <a:t>A fall in money demand shifts the money demand curve to the left.</a:t>
            </a:r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77545" name="Freeform 9"/>
          <p:cNvSpPr>
            <a:spLocks/>
          </p:cNvSpPr>
          <p:nvPr/>
        </p:nvSpPr>
        <p:spPr bwMode="auto">
          <a:xfrm>
            <a:off x="4876800" y="2667000"/>
            <a:ext cx="2590800" cy="1371600"/>
          </a:xfrm>
          <a:custGeom>
            <a:avLst/>
            <a:gdLst>
              <a:gd name="T0" fmla="*/ 399 w 399"/>
              <a:gd name="T1" fmla="*/ 108 h 138"/>
              <a:gd name="T2" fmla="*/ 373 w 399"/>
              <a:gd name="T3" fmla="*/ 138 h 138"/>
              <a:gd name="T4" fmla="*/ 26 w 399"/>
              <a:gd name="T5" fmla="*/ 138 h 138"/>
              <a:gd name="T6" fmla="*/ 0 w 399"/>
              <a:gd name="T7" fmla="*/ 108 h 138"/>
              <a:gd name="T8" fmla="*/ 0 w 399"/>
              <a:gd name="T9" fmla="*/ 31 h 138"/>
              <a:gd name="T10" fmla="*/ 26 w 399"/>
              <a:gd name="T11" fmla="*/ 0 h 138"/>
              <a:gd name="T12" fmla="*/ 373 w 399"/>
              <a:gd name="T13" fmla="*/ 0 h 138"/>
              <a:gd name="T14" fmla="*/ 399 w 399"/>
              <a:gd name="T15" fmla="*/ 31 h 138"/>
              <a:gd name="T16" fmla="*/ 399 w 399"/>
              <a:gd name="T17" fmla="*/ 108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9" h="138">
                <a:moveTo>
                  <a:pt x="399" y="108"/>
                </a:moveTo>
                <a:cubicBezTo>
                  <a:pt x="399" y="125"/>
                  <a:pt x="387" y="138"/>
                  <a:pt x="373" y="138"/>
                </a:cubicBezTo>
                <a:cubicBezTo>
                  <a:pt x="26" y="138"/>
                  <a:pt x="26" y="138"/>
                  <a:pt x="26" y="138"/>
                </a:cubicBezTo>
                <a:cubicBezTo>
                  <a:pt x="12" y="138"/>
                  <a:pt x="0" y="125"/>
                  <a:pt x="0" y="108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14"/>
                  <a:pt x="12" y="0"/>
                  <a:pt x="26" y="0"/>
                </a:cubicBezTo>
                <a:cubicBezTo>
                  <a:pt x="373" y="0"/>
                  <a:pt x="373" y="0"/>
                  <a:pt x="373" y="0"/>
                </a:cubicBezTo>
                <a:cubicBezTo>
                  <a:pt x="387" y="0"/>
                  <a:pt x="399" y="14"/>
                  <a:pt x="399" y="31"/>
                </a:cubicBezTo>
                <a:lnTo>
                  <a:pt x="399" y="108"/>
                </a:lnTo>
                <a:close/>
              </a:path>
            </a:pathLst>
          </a:custGeom>
          <a:solidFill>
            <a:srgbClr val="D6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77546" name="Text Box 10"/>
          <p:cNvSpPr txBox="1">
            <a:spLocks noChangeArrowheads="1"/>
          </p:cNvSpPr>
          <p:nvPr/>
        </p:nvSpPr>
        <p:spPr bwMode="auto">
          <a:xfrm>
            <a:off x="5029200" y="2743200"/>
            <a:ext cx="2590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prstDash val="sysDot"/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588" indent="-1588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i="1" dirty="0">
                <a:solidFill>
                  <a:prstClr val="black"/>
                </a:solidFill>
                <a:latin typeface="Century Gothic"/>
                <a:cs typeface="Century Gothic"/>
              </a:rPr>
              <a:t>A rise in money demand shifts the money demand curve to the right.</a:t>
            </a: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flipV="1">
            <a:off x="609600" y="1584325"/>
            <a:ext cx="0" cy="441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 rot="5400000" flipV="1">
            <a:off x="3505200" y="3108325"/>
            <a:ext cx="0" cy="5791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4648200" y="6080125"/>
            <a:ext cx="1905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cs typeface="Century Gothic"/>
              </a:rPr>
              <a:t>Quantity of money</a:t>
            </a:r>
            <a:endParaRPr lang="en-US" sz="1600" b="1" i="1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5029200" y="5181600"/>
            <a:ext cx="5589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prstDash val="sysDot"/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1588" indent="-1588"/>
            <a:r>
              <a:rPr lang="en-US" sz="1400" i="1" dirty="0">
                <a:solidFill>
                  <a:prstClr val="black"/>
                </a:solidFill>
                <a:latin typeface="Century Gothic"/>
                <a:cs typeface="Century Gothic"/>
              </a:rPr>
              <a:t>MD</a:t>
            </a:r>
            <a:r>
              <a:rPr lang="en-US" sz="1400" baseline="-25000" dirty="0">
                <a:solidFill>
                  <a:prstClr val="black"/>
                </a:solidFill>
                <a:latin typeface="Century Gothic"/>
                <a:cs typeface="Century Gothic"/>
              </a:rPr>
              <a:t>1</a:t>
            </a: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52400" y="1066800"/>
            <a:ext cx="13716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0"/>
              </a:spcBef>
            </a:pPr>
            <a:endParaRPr lang="en-US" sz="1600" b="1" dirty="0">
              <a:solidFill>
                <a:prstClr val="black"/>
              </a:solidFill>
              <a:latin typeface="Century Gothic"/>
              <a:cs typeface="Century Gothic"/>
            </a:endParaRPr>
          </a:p>
          <a:p>
            <a:pPr algn="r"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cs typeface="Century Gothic"/>
              </a:rPr>
              <a:t>Interest rate,</a:t>
            </a:r>
            <a:r>
              <a:rPr lang="en-US" sz="1600" b="1" i="1" dirty="0">
                <a:solidFill>
                  <a:prstClr val="black"/>
                </a:solidFill>
                <a:latin typeface="Century Gothic"/>
                <a:cs typeface="Century Gothic"/>
              </a:rPr>
              <a:t> r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617133" y="1807633"/>
            <a:ext cx="3505200" cy="3412067"/>
          </a:xfrm>
          <a:prstGeom prst="line">
            <a:avLst/>
          </a:prstGeom>
          <a:noFill/>
          <a:ln w="41275">
            <a:solidFill>
              <a:srgbClr val="2CB1AE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>
          <a:xfrm>
            <a:off x="2209800" y="1405466"/>
            <a:ext cx="3505200" cy="3412067"/>
          </a:xfrm>
          <a:prstGeom prst="line">
            <a:avLst/>
          </a:prstGeom>
          <a:noFill/>
          <a:ln w="41275">
            <a:solidFill>
              <a:srgbClr val="2CB1AE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>
          <a:xfrm>
            <a:off x="1066800" y="2226733"/>
            <a:ext cx="3505200" cy="3412067"/>
          </a:xfrm>
          <a:prstGeom prst="line">
            <a:avLst/>
          </a:prstGeom>
          <a:noFill/>
          <a:ln w="41275">
            <a:solidFill>
              <a:srgbClr val="2CB1AE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5638800" y="4797623"/>
            <a:ext cx="5589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prstDash val="sysDot"/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1588" indent="-1588"/>
            <a:r>
              <a:rPr lang="en-US" sz="1400" i="1" dirty="0">
                <a:solidFill>
                  <a:prstClr val="black"/>
                </a:solidFill>
                <a:latin typeface="Century Gothic"/>
                <a:cs typeface="Century Gothic"/>
              </a:rPr>
              <a:t>MD</a:t>
            </a:r>
            <a:r>
              <a:rPr lang="en-US" sz="1400" baseline="-25000" dirty="0">
                <a:solidFill>
                  <a:prstClr val="black"/>
                </a:solidFill>
                <a:latin typeface="Century Gothic"/>
                <a:cs typeface="Century Gothic"/>
              </a:rPr>
              <a:t>2</a:t>
            </a:r>
          </a:p>
        </p:txBody>
      </p:sp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4495800" y="5562600"/>
            <a:ext cx="5589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prstDash val="sysDot"/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1588" indent="-1588"/>
            <a:r>
              <a:rPr lang="en-US" sz="1400" i="1" dirty="0">
                <a:solidFill>
                  <a:prstClr val="black"/>
                </a:solidFill>
                <a:latin typeface="Century Gothic"/>
                <a:cs typeface="Century Gothic"/>
              </a:rPr>
              <a:t>MD</a:t>
            </a:r>
            <a:r>
              <a:rPr lang="en-US" sz="1400" baseline="-25000" dirty="0">
                <a:solidFill>
                  <a:prstClr val="black"/>
                </a:solidFill>
                <a:latin typeface="Century Gothic"/>
                <a:cs typeface="Century Gothic"/>
              </a:rPr>
              <a:t>3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609600" y="3429000"/>
            <a:ext cx="2651760" cy="0"/>
          </a:xfrm>
          <a:prstGeom prst="line">
            <a:avLst/>
          </a:prstGeom>
          <a:ln w="38100" cap="rnd">
            <a:solidFill>
              <a:schemeClr val="tx1">
                <a:lumMod val="65000"/>
                <a:lumOff val="35000"/>
              </a:schemeClr>
            </a:solidFill>
            <a:prstDash val="sysDot"/>
            <a:head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199654" y="3276600"/>
            <a:ext cx="3676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prstDash val="sysDot"/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1588" indent="-1588"/>
            <a:r>
              <a:rPr lang="en-US" i="1" dirty="0">
                <a:solidFill>
                  <a:prstClr val="black"/>
                </a:solidFill>
                <a:latin typeface="Century Gothic"/>
                <a:cs typeface="Century Gothic"/>
              </a:rPr>
              <a:t>r</a:t>
            </a:r>
            <a:r>
              <a:rPr lang="en-US" i="1" baseline="-25000" dirty="0">
                <a:solidFill>
                  <a:prstClr val="black"/>
                </a:solidFill>
                <a:latin typeface="Century Gothic"/>
                <a:cs typeface="Century Gothic"/>
              </a:rPr>
              <a:t>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86000" y="3444332"/>
            <a:ext cx="0" cy="2542659"/>
          </a:xfrm>
          <a:prstGeom prst="line">
            <a:avLst/>
          </a:prstGeom>
          <a:ln w="38100" cap="rnd">
            <a:solidFill>
              <a:schemeClr val="tx1">
                <a:lumMod val="65000"/>
                <a:lumOff val="35000"/>
              </a:schemeClr>
            </a:solidFill>
            <a:prstDash val="sysDot"/>
            <a:head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310468" y="3449820"/>
            <a:ext cx="0" cy="2542659"/>
          </a:xfrm>
          <a:prstGeom prst="line">
            <a:avLst/>
          </a:prstGeom>
          <a:ln w="38100" cap="rnd">
            <a:solidFill>
              <a:schemeClr val="tx1">
                <a:lumMod val="65000"/>
                <a:lumOff val="35000"/>
              </a:schemeClr>
            </a:solidFill>
            <a:prstDash val="sysDot"/>
            <a:head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292600" y="3444332"/>
            <a:ext cx="0" cy="2542659"/>
          </a:xfrm>
          <a:prstGeom prst="line">
            <a:avLst/>
          </a:prstGeom>
          <a:ln w="38100" cap="rnd">
            <a:solidFill>
              <a:schemeClr val="tx1">
                <a:lumMod val="65000"/>
                <a:lumOff val="35000"/>
              </a:schemeClr>
            </a:solidFill>
            <a:prstDash val="sysDot"/>
            <a:head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243665" y="3379892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entury Gothic"/>
              <a:cs typeface="Century Gothic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246880" y="3387167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entury Gothic"/>
              <a:cs typeface="Century Gothic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3352800" y="3417145"/>
            <a:ext cx="914400" cy="0"/>
          </a:xfrm>
          <a:prstGeom prst="line">
            <a:avLst/>
          </a:prstGeom>
          <a:ln w="38100" cap="rnd">
            <a:solidFill>
              <a:schemeClr val="tx1">
                <a:lumMod val="65000"/>
                <a:lumOff val="35000"/>
              </a:schemeClr>
            </a:solidFill>
            <a:prstDash val="sysDot"/>
            <a:head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2122512" y="6017696"/>
            <a:ext cx="4949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prstDash val="sysDot"/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1588" indent="-1588"/>
            <a:r>
              <a:rPr lang="en-US" i="1" dirty="0">
                <a:solidFill>
                  <a:prstClr val="black"/>
                </a:solidFill>
                <a:latin typeface="Century Gothic"/>
                <a:cs typeface="Century Gothic"/>
              </a:rPr>
              <a:t>M</a:t>
            </a:r>
            <a:r>
              <a:rPr lang="en-US" baseline="-25000" dirty="0">
                <a:solidFill>
                  <a:prstClr val="black"/>
                </a:solidFill>
                <a:latin typeface="Century Gothic"/>
                <a:cs typeface="Century Gothic"/>
              </a:rPr>
              <a:t>3</a:t>
            </a:r>
          </a:p>
        </p:txBody>
      </p:sp>
      <p:sp>
        <p:nvSpPr>
          <p:cNvPr id="36" name="Rectangle 12"/>
          <p:cNvSpPr>
            <a:spLocks noChangeArrowheads="1"/>
          </p:cNvSpPr>
          <p:nvPr/>
        </p:nvSpPr>
        <p:spPr bwMode="auto">
          <a:xfrm>
            <a:off x="3143595" y="6017696"/>
            <a:ext cx="4949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prstDash val="sysDot"/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1588" indent="-1588"/>
            <a:r>
              <a:rPr lang="en-US" i="1" dirty="0">
                <a:solidFill>
                  <a:prstClr val="black"/>
                </a:solidFill>
                <a:latin typeface="Century Gothic"/>
                <a:cs typeface="Century Gothic"/>
              </a:rPr>
              <a:t>M</a:t>
            </a:r>
            <a:r>
              <a:rPr lang="en-US" baseline="-25000" dirty="0">
                <a:solidFill>
                  <a:prstClr val="black"/>
                </a:solidFill>
                <a:latin typeface="Century Gothic"/>
                <a:cs typeface="Century Gothic"/>
              </a:rPr>
              <a:t>1</a:t>
            </a:r>
          </a:p>
        </p:txBody>
      </p: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4162054" y="6017696"/>
            <a:ext cx="4949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prstDash val="sysDot"/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1588" indent="-1588"/>
            <a:r>
              <a:rPr lang="en-US" i="1" dirty="0">
                <a:solidFill>
                  <a:prstClr val="black"/>
                </a:solidFill>
                <a:latin typeface="Century Gothic"/>
                <a:cs typeface="Century Gothic"/>
              </a:rPr>
              <a:t>M</a:t>
            </a:r>
            <a:r>
              <a:rPr lang="en-US" baseline="-25000" dirty="0">
                <a:solidFill>
                  <a:prstClr val="black"/>
                </a:solidFill>
                <a:latin typeface="Century Gothic"/>
                <a:cs typeface="Century Gothic"/>
              </a:rPr>
              <a:t>2</a:t>
            </a:r>
          </a:p>
        </p:txBody>
      </p:sp>
      <p:sp>
        <p:nvSpPr>
          <p:cNvPr id="32" name="Oval 31"/>
          <p:cNvSpPr/>
          <p:nvPr/>
        </p:nvSpPr>
        <p:spPr>
          <a:xfrm>
            <a:off x="3261360" y="3387166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entury Gothic"/>
              <a:cs typeface="Century Gothic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119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7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6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834 0.06667 L 3.33333E-6 -3.33333E-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-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77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77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85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34 -0.07107 L -3.33333E-6 1.11111E-6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10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543" grpId="0" animBg="1"/>
      <p:bldP spid="577544" grpId="0"/>
      <p:bldP spid="577545" grpId="0" animBg="1"/>
      <p:bldP spid="577546" grpId="0"/>
      <p:bldP spid="22" grpId="0"/>
      <p:bldP spid="23" grpId="0"/>
      <p:bldP spid="26" grpId="0"/>
      <p:bldP spid="7" grpId="0" animBg="1"/>
      <p:bldP spid="33" grpId="0" animBg="1"/>
      <p:bldP spid="35" grpId="0"/>
      <p:bldP spid="36" grpId="0"/>
      <p:bldP spid="37" grpId="0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060950"/>
          </a:xfrm>
        </p:spPr>
        <p:txBody>
          <a:bodyPr>
            <a:normAutofit/>
          </a:bodyPr>
          <a:lstStyle/>
          <a:p>
            <a:r>
              <a:rPr lang="en-US" sz="3200" dirty="0"/>
              <a:t>With a partner, fill in the table.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00200" y="1600200"/>
            <a:ext cx="6488631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242444" y="6307666"/>
            <a:ext cx="73864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3" action="ppaction://hlinksldjump"/>
              </a:rPr>
              <a:t>To answer</a:t>
            </a: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128514537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2514600" cy="1283934"/>
          </a:xfrm>
        </p:spPr>
        <p:txBody>
          <a:bodyPr>
            <a:normAutofit/>
          </a:bodyPr>
          <a:lstStyle/>
          <a:p>
            <a:r>
              <a:rPr lang="en-US" sz="1800" dirty="0"/>
              <a:t>(Answers to previous slide)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81200" y="0"/>
            <a:ext cx="6172200" cy="6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83181" y="6307666"/>
            <a:ext cx="105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3" action="ppaction://hlinksldjump"/>
              </a:rPr>
              <a:t>To Next </a:t>
            </a:r>
          </a:p>
          <a:p>
            <a:pPr algn="ctr"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3" action="ppaction://hlinksldjump"/>
              </a:rPr>
              <a:t>Active Learning</a:t>
            </a: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281899482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/>
              <a:t>MONEY AND INTEREST RATES</a:t>
            </a:r>
          </a:p>
        </p:txBody>
      </p:sp>
      <p:sp>
        <p:nvSpPr>
          <p:cNvPr id="6318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So how does the Fed control interest rates? </a:t>
            </a:r>
          </a:p>
          <a:p>
            <a:r>
              <a:rPr lang="en-US" dirty="0"/>
              <a:t>We need to understand how interest rates are set in the market.</a:t>
            </a:r>
          </a:p>
          <a:p>
            <a:pPr lvl="1"/>
            <a:r>
              <a:rPr lang="en-US" i="1" dirty="0">
                <a:solidFill>
                  <a:srgbClr val="990033"/>
                </a:solidFill>
              </a:rPr>
              <a:t>The </a:t>
            </a:r>
            <a:r>
              <a:rPr lang="en-US" b="1" i="1" dirty="0">
                <a:solidFill>
                  <a:srgbClr val="990033"/>
                </a:solidFill>
              </a:rPr>
              <a:t>liquidity preference model</a:t>
            </a:r>
            <a:r>
              <a:rPr lang="en-US" i="1" dirty="0">
                <a:solidFill>
                  <a:srgbClr val="990033"/>
                </a:solidFill>
              </a:rPr>
              <a:t> of the interest rate</a:t>
            </a:r>
            <a:r>
              <a:rPr lang="en-US" dirty="0"/>
              <a:t> asserts that the interest rate is determined by the supply and demand for money.</a:t>
            </a:r>
          </a:p>
          <a:p>
            <a:pPr lvl="1"/>
            <a:r>
              <a:rPr lang="en-US" i="1" dirty="0">
                <a:solidFill>
                  <a:srgbClr val="990033"/>
                </a:solidFill>
              </a:rPr>
              <a:t>The money supply curve </a:t>
            </a:r>
            <a:r>
              <a:rPr lang="en-US" dirty="0"/>
              <a:t>shows how the nominal quantity of money supplied varies with the interest rate.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918178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Line 76"/>
          <p:cNvSpPr>
            <a:spLocks noChangeShapeType="1"/>
          </p:cNvSpPr>
          <p:nvPr/>
        </p:nvSpPr>
        <p:spPr bwMode="auto">
          <a:xfrm>
            <a:off x="896144" y="4346575"/>
            <a:ext cx="210344" cy="0"/>
          </a:xfrm>
          <a:prstGeom prst="line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6148" name="Rectangle 7"/>
          <p:cNvSpPr>
            <a:spLocks noChangeArrowheads="1"/>
          </p:cNvSpPr>
          <p:nvPr/>
        </p:nvSpPr>
        <p:spPr bwMode="auto">
          <a:xfrm>
            <a:off x="4362450" y="5916613"/>
            <a:ext cx="2227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49" name="Rectangle 18"/>
          <p:cNvSpPr>
            <a:spLocks noChangeArrowheads="1"/>
          </p:cNvSpPr>
          <p:nvPr/>
        </p:nvSpPr>
        <p:spPr bwMode="auto">
          <a:xfrm>
            <a:off x="1192212" y="3505200"/>
            <a:ext cx="2555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H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51" name="Rectangle 20"/>
          <p:cNvSpPr>
            <a:spLocks noChangeArrowheads="1"/>
          </p:cNvSpPr>
          <p:nvPr/>
        </p:nvSpPr>
        <p:spPr bwMode="auto">
          <a:xfrm>
            <a:off x="1222375" y="4191000"/>
            <a:ext cx="16416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53" name="Rectangle 22"/>
          <p:cNvSpPr>
            <a:spLocks noChangeArrowheads="1"/>
          </p:cNvSpPr>
          <p:nvPr/>
        </p:nvSpPr>
        <p:spPr bwMode="auto">
          <a:xfrm>
            <a:off x="1225550" y="5133975"/>
            <a:ext cx="1513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L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55" name="Rectangle 36"/>
          <p:cNvSpPr>
            <a:spLocks noChangeArrowheads="1"/>
          </p:cNvSpPr>
          <p:nvPr/>
        </p:nvSpPr>
        <p:spPr bwMode="auto">
          <a:xfrm>
            <a:off x="6569075" y="4906963"/>
            <a:ext cx="12902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L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56" name="Rectangle 37"/>
          <p:cNvSpPr>
            <a:spLocks noChangeArrowheads="1"/>
          </p:cNvSpPr>
          <p:nvPr/>
        </p:nvSpPr>
        <p:spPr bwMode="auto">
          <a:xfrm>
            <a:off x="4521200" y="4038600"/>
            <a:ext cx="14424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57" name="Rectangle 38"/>
          <p:cNvSpPr>
            <a:spLocks noChangeArrowheads="1"/>
          </p:cNvSpPr>
          <p:nvPr/>
        </p:nvSpPr>
        <p:spPr bwMode="auto">
          <a:xfrm>
            <a:off x="6897688" y="5160963"/>
            <a:ext cx="37548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MD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58" name="Line 39"/>
          <p:cNvSpPr>
            <a:spLocks noChangeShapeType="1"/>
          </p:cNvSpPr>
          <p:nvPr/>
        </p:nvSpPr>
        <p:spPr bwMode="auto">
          <a:xfrm>
            <a:off x="4384675" y="5916613"/>
            <a:ext cx="111125" cy="1587"/>
          </a:xfrm>
          <a:prstGeom prst="line">
            <a:avLst/>
          </a:prstGeom>
          <a:noFill/>
          <a:ln w="7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6159" name="Rectangle 40"/>
          <p:cNvSpPr>
            <a:spLocks noChangeArrowheads="1"/>
          </p:cNvSpPr>
          <p:nvPr/>
        </p:nvSpPr>
        <p:spPr bwMode="auto">
          <a:xfrm>
            <a:off x="2795588" y="5873750"/>
            <a:ext cx="3105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H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61" name="Rectangle 42"/>
          <p:cNvSpPr>
            <a:spLocks noChangeArrowheads="1"/>
          </p:cNvSpPr>
          <p:nvPr/>
        </p:nvSpPr>
        <p:spPr bwMode="auto">
          <a:xfrm>
            <a:off x="6408738" y="5873750"/>
            <a:ext cx="28027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L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63" name="Line 44"/>
          <p:cNvSpPr>
            <a:spLocks noChangeShapeType="1"/>
          </p:cNvSpPr>
          <p:nvPr/>
        </p:nvSpPr>
        <p:spPr bwMode="auto">
          <a:xfrm>
            <a:off x="1293812" y="3914770"/>
            <a:ext cx="0" cy="265118"/>
          </a:xfrm>
          <a:prstGeom prst="line">
            <a:avLst/>
          </a:prstGeom>
          <a:noFill/>
          <a:ln w="7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6164" name="Freeform 45"/>
          <p:cNvSpPr>
            <a:spLocks/>
          </p:cNvSpPr>
          <p:nvPr/>
        </p:nvSpPr>
        <p:spPr bwMode="auto">
          <a:xfrm>
            <a:off x="1247775" y="4114800"/>
            <a:ext cx="92075" cy="139700"/>
          </a:xfrm>
          <a:custGeom>
            <a:avLst/>
            <a:gdLst>
              <a:gd name="T0" fmla="*/ 46280 w 14"/>
              <a:gd name="T1" fmla="*/ 25541 h 22"/>
              <a:gd name="T2" fmla="*/ 85949 w 14"/>
              <a:gd name="T3" fmla="*/ 0 h 22"/>
              <a:gd name="T4" fmla="*/ 92560 w 14"/>
              <a:gd name="T5" fmla="*/ 6385 h 22"/>
              <a:gd name="T6" fmla="*/ 59503 w 14"/>
              <a:gd name="T7" fmla="*/ 70237 h 22"/>
              <a:gd name="T8" fmla="*/ 46280 w 14"/>
              <a:gd name="T9" fmla="*/ 140474 h 22"/>
              <a:gd name="T10" fmla="*/ 33057 w 14"/>
              <a:gd name="T11" fmla="*/ 70237 h 22"/>
              <a:gd name="T12" fmla="*/ 0 w 14"/>
              <a:gd name="T13" fmla="*/ 6385 h 22"/>
              <a:gd name="T14" fmla="*/ 0 w 14"/>
              <a:gd name="T15" fmla="*/ 0 h 22"/>
              <a:gd name="T16" fmla="*/ 46280 w 14"/>
              <a:gd name="T17" fmla="*/ 25541 h 2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4"/>
              <a:gd name="T28" fmla="*/ 0 h 22"/>
              <a:gd name="T29" fmla="*/ 14 w 14"/>
              <a:gd name="T30" fmla="*/ 22 h 2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4" h="22">
                <a:moveTo>
                  <a:pt x="7" y="4"/>
                </a:moveTo>
                <a:cubicBezTo>
                  <a:pt x="13" y="0"/>
                  <a:pt x="13" y="0"/>
                  <a:pt x="13" y="0"/>
                </a:cubicBezTo>
                <a:cubicBezTo>
                  <a:pt x="14" y="1"/>
                  <a:pt x="14" y="1"/>
                  <a:pt x="14" y="1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5"/>
                  <a:pt x="8" y="19"/>
                  <a:pt x="7" y="22"/>
                </a:cubicBezTo>
                <a:cubicBezTo>
                  <a:pt x="6" y="19"/>
                  <a:pt x="5" y="15"/>
                  <a:pt x="5" y="1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lnTo>
                  <a:pt x="7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65" name="Line 46"/>
          <p:cNvSpPr>
            <a:spLocks noChangeShapeType="1"/>
          </p:cNvSpPr>
          <p:nvPr/>
        </p:nvSpPr>
        <p:spPr bwMode="auto">
          <a:xfrm flipH="1" flipV="1">
            <a:off x="1319213" y="4835525"/>
            <a:ext cx="1588" cy="338138"/>
          </a:xfrm>
          <a:prstGeom prst="line">
            <a:avLst/>
          </a:prstGeom>
          <a:noFill/>
          <a:ln w="7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6166" name="Freeform 47"/>
          <p:cNvSpPr>
            <a:spLocks/>
          </p:cNvSpPr>
          <p:nvPr/>
        </p:nvSpPr>
        <p:spPr bwMode="auto">
          <a:xfrm>
            <a:off x="1273175" y="4724400"/>
            <a:ext cx="92075" cy="141288"/>
          </a:xfrm>
          <a:custGeom>
            <a:avLst/>
            <a:gdLst>
              <a:gd name="T0" fmla="*/ 46280 w 14"/>
              <a:gd name="T1" fmla="*/ 114933 h 22"/>
              <a:gd name="T2" fmla="*/ 85949 w 14"/>
              <a:gd name="T3" fmla="*/ 140474 h 22"/>
              <a:gd name="T4" fmla="*/ 92560 w 14"/>
              <a:gd name="T5" fmla="*/ 140474 h 22"/>
              <a:gd name="T6" fmla="*/ 59503 w 14"/>
              <a:gd name="T7" fmla="*/ 70237 h 22"/>
              <a:gd name="T8" fmla="*/ 46280 w 14"/>
              <a:gd name="T9" fmla="*/ 0 h 22"/>
              <a:gd name="T10" fmla="*/ 33057 w 14"/>
              <a:gd name="T11" fmla="*/ 70237 h 22"/>
              <a:gd name="T12" fmla="*/ 0 w 14"/>
              <a:gd name="T13" fmla="*/ 140474 h 22"/>
              <a:gd name="T14" fmla="*/ 0 w 14"/>
              <a:gd name="T15" fmla="*/ 140474 h 22"/>
              <a:gd name="T16" fmla="*/ 46280 w 14"/>
              <a:gd name="T17" fmla="*/ 114933 h 2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4"/>
              <a:gd name="T28" fmla="*/ 0 h 22"/>
              <a:gd name="T29" fmla="*/ 14 w 14"/>
              <a:gd name="T30" fmla="*/ 22 h 2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4" h="22">
                <a:moveTo>
                  <a:pt x="7" y="18"/>
                </a:moveTo>
                <a:cubicBezTo>
                  <a:pt x="13" y="22"/>
                  <a:pt x="13" y="22"/>
                  <a:pt x="13" y="22"/>
                </a:cubicBezTo>
                <a:cubicBezTo>
                  <a:pt x="14" y="22"/>
                  <a:pt x="14" y="22"/>
                  <a:pt x="14" y="2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8"/>
                  <a:pt x="8" y="4"/>
                  <a:pt x="7" y="0"/>
                </a:cubicBezTo>
                <a:cubicBezTo>
                  <a:pt x="6" y="4"/>
                  <a:pt x="5" y="8"/>
                  <a:pt x="5" y="11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2"/>
                  <a:pt x="0" y="22"/>
                  <a:pt x="0" y="22"/>
                </a:cubicBezTo>
                <a:lnTo>
                  <a:pt x="7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67" name="Line 48"/>
          <p:cNvSpPr>
            <a:spLocks noChangeShapeType="1"/>
          </p:cNvSpPr>
          <p:nvPr/>
        </p:nvSpPr>
        <p:spPr bwMode="auto">
          <a:xfrm>
            <a:off x="4419600" y="2667000"/>
            <a:ext cx="3175" cy="3138488"/>
          </a:xfrm>
          <a:prstGeom prst="line">
            <a:avLst/>
          </a:prstGeom>
          <a:noFill/>
          <a:ln w="38100">
            <a:solidFill>
              <a:srgbClr val="F371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6168" name="Rectangle 49"/>
          <p:cNvSpPr>
            <a:spLocks noChangeArrowheads="1"/>
          </p:cNvSpPr>
          <p:nvPr/>
        </p:nvSpPr>
        <p:spPr bwMode="auto">
          <a:xfrm>
            <a:off x="2998788" y="3352800"/>
            <a:ext cx="17440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H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69" name="Freeform 50"/>
          <p:cNvSpPr>
            <a:spLocks/>
          </p:cNvSpPr>
          <p:nvPr/>
        </p:nvSpPr>
        <p:spPr bwMode="auto">
          <a:xfrm>
            <a:off x="-14288" y="4146054"/>
            <a:ext cx="1157288" cy="858540"/>
          </a:xfrm>
          <a:custGeom>
            <a:avLst/>
            <a:gdLst>
              <a:gd name="T0" fmla="*/ 1309849 w 198"/>
              <a:gd name="T1" fmla="*/ 715978 h 131"/>
              <a:gd name="T2" fmla="*/ 1197387 w 198"/>
              <a:gd name="T3" fmla="*/ 837439 h 131"/>
              <a:gd name="T4" fmla="*/ 112462 w 198"/>
              <a:gd name="T5" fmla="*/ 837439 h 131"/>
              <a:gd name="T6" fmla="*/ 0 w 198"/>
              <a:gd name="T7" fmla="*/ 715978 h 131"/>
              <a:gd name="T8" fmla="*/ 0 w 198"/>
              <a:gd name="T9" fmla="*/ 121461 h 131"/>
              <a:gd name="T10" fmla="*/ 112462 w 198"/>
              <a:gd name="T11" fmla="*/ 0 h 131"/>
              <a:gd name="T12" fmla="*/ 1197387 w 198"/>
              <a:gd name="T13" fmla="*/ 0 h 131"/>
              <a:gd name="T14" fmla="*/ 1309849 w 198"/>
              <a:gd name="T15" fmla="*/ 121461 h 131"/>
              <a:gd name="T16" fmla="*/ 1309849 w 198"/>
              <a:gd name="T17" fmla="*/ 715978 h 13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98"/>
              <a:gd name="T28" fmla="*/ 0 h 131"/>
              <a:gd name="T29" fmla="*/ 198 w 198"/>
              <a:gd name="T30" fmla="*/ 131 h 13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98" h="131">
                <a:moveTo>
                  <a:pt x="198" y="112"/>
                </a:moveTo>
                <a:cubicBezTo>
                  <a:pt x="198" y="122"/>
                  <a:pt x="190" y="131"/>
                  <a:pt x="181" y="131"/>
                </a:cubicBezTo>
                <a:cubicBezTo>
                  <a:pt x="17" y="131"/>
                  <a:pt x="17" y="131"/>
                  <a:pt x="17" y="131"/>
                </a:cubicBezTo>
                <a:cubicBezTo>
                  <a:pt x="7" y="131"/>
                  <a:pt x="0" y="122"/>
                  <a:pt x="0" y="11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7" y="0"/>
                  <a:pt x="17" y="0"/>
                </a:cubicBezTo>
                <a:cubicBezTo>
                  <a:pt x="181" y="0"/>
                  <a:pt x="181" y="0"/>
                  <a:pt x="181" y="0"/>
                </a:cubicBezTo>
                <a:cubicBezTo>
                  <a:pt x="190" y="0"/>
                  <a:pt x="198" y="9"/>
                  <a:pt x="198" y="19"/>
                </a:cubicBezTo>
                <a:lnTo>
                  <a:pt x="198" y="112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70" name="Freeform 65"/>
          <p:cNvSpPr>
            <a:spLocks/>
          </p:cNvSpPr>
          <p:nvPr/>
        </p:nvSpPr>
        <p:spPr bwMode="auto">
          <a:xfrm>
            <a:off x="3448050" y="6248400"/>
            <a:ext cx="1803400" cy="581025"/>
          </a:xfrm>
          <a:custGeom>
            <a:avLst/>
            <a:gdLst>
              <a:gd name="T0" fmla="*/ 1803496 w 272"/>
              <a:gd name="T1" fmla="*/ 459539 h 91"/>
              <a:gd name="T2" fmla="*/ 1690778 w 272"/>
              <a:gd name="T3" fmla="*/ 580806 h 91"/>
              <a:gd name="T4" fmla="*/ 112719 w 272"/>
              <a:gd name="T5" fmla="*/ 580806 h 91"/>
              <a:gd name="T6" fmla="*/ 0 w 272"/>
              <a:gd name="T7" fmla="*/ 459539 h 91"/>
              <a:gd name="T8" fmla="*/ 0 w 272"/>
              <a:gd name="T9" fmla="*/ 121267 h 91"/>
              <a:gd name="T10" fmla="*/ 112719 w 272"/>
              <a:gd name="T11" fmla="*/ 0 h 91"/>
              <a:gd name="T12" fmla="*/ 1690778 w 272"/>
              <a:gd name="T13" fmla="*/ 0 h 91"/>
              <a:gd name="T14" fmla="*/ 1803496 w 272"/>
              <a:gd name="T15" fmla="*/ 121267 h 91"/>
              <a:gd name="T16" fmla="*/ 1803496 w 272"/>
              <a:gd name="T17" fmla="*/ 459539 h 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2"/>
              <a:gd name="T28" fmla="*/ 0 h 91"/>
              <a:gd name="T29" fmla="*/ 272 w 272"/>
              <a:gd name="T30" fmla="*/ 91 h 9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2" h="91">
                <a:moveTo>
                  <a:pt x="272" y="72"/>
                </a:moveTo>
                <a:cubicBezTo>
                  <a:pt x="272" y="82"/>
                  <a:pt x="264" y="91"/>
                  <a:pt x="255" y="91"/>
                </a:cubicBezTo>
                <a:cubicBezTo>
                  <a:pt x="17" y="91"/>
                  <a:pt x="17" y="91"/>
                  <a:pt x="17" y="91"/>
                </a:cubicBezTo>
                <a:cubicBezTo>
                  <a:pt x="8" y="91"/>
                  <a:pt x="0" y="82"/>
                  <a:pt x="0" y="7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7" y="0"/>
                </a:cubicBezTo>
                <a:cubicBezTo>
                  <a:pt x="255" y="0"/>
                  <a:pt x="255" y="0"/>
                  <a:pt x="255" y="0"/>
                </a:cubicBezTo>
                <a:cubicBezTo>
                  <a:pt x="264" y="0"/>
                  <a:pt x="272" y="8"/>
                  <a:pt x="272" y="19"/>
                </a:cubicBezTo>
                <a:lnTo>
                  <a:pt x="272" y="72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71" name="Freeform 75"/>
          <p:cNvSpPr>
            <a:spLocks/>
          </p:cNvSpPr>
          <p:nvPr/>
        </p:nvSpPr>
        <p:spPr bwMode="auto">
          <a:xfrm>
            <a:off x="1501776" y="2438400"/>
            <a:ext cx="5888038" cy="3367088"/>
          </a:xfrm>
          <a:custGeom>
            <a:avLst/>
            <a:gdLst>
              <a:gd name="T0" fmla="*/ 5884498 w 2098"/>
              <a:gd name="T1" fmla="*/ 4570798 h 1692"/>
              <a:gd name="T2" fmla="*/ 0 w 2098"/>
              <a:gd name="T3" fmla="*/ 4570798 h 1692"/>
              <a:gd name="T4" fmla="*/ 0 w 2098"/>
              <a:gd name="T5" fmla="*/ 0 h 1692"/>
              <a:gd name="T6" fmla="*/ 0 60000 65536"/>
              <a:gd name="T7" fmla="*/ 0 60000 65536"/>
              <a:gd name="T8" fmla="*/ 0 60000 65536"/>
              <a:gd name="T9" fmla="*/ 0 w 2098"/>
              <a:gd name="T10" fmla="*/ 0 h 1692"/>
              <a:gd name="T11" fmla="*/ 2098 w 2098"/>
              <a:gd name="T12" fmla="*/ 1692 h 16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8" h="1692">
                <a:moveTo>
                  <a:pt x="2098" y="1692"/>
                </a:moveTo>
                <a:lnTo>
                  <a:pt x="0" y="1692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76" name="Line 92"/>
          <p:cNvSpPr>
            <a:spLocks noChangeShapeType="1"/>
          </p:cNvSpPr>
          <p:nvPr/>
        </p:nvSpPr>
        <p:spPr bwMode="auto">
          <a:xfrm flipH="1">
            <a:off x="4667247" y="3352800"/>
            <a:ext cx="223838" cy="762001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6177" name="Freeform 93"/>
          <p:cNvSpPr>
            <a:spLocks/>
          </p:cNvSpPr>
          <p:nvPr/>
        </p:nvSpPr>
        <p:spPr bwMode="auto">
          <a:xfrm>
            <a:off x="4495800" y="3014663"/>
            <a:ext cx="1143000" cy="338137"/>
          </a:xfrm>
          <a:custGeom>
            <a:avLst/>
            <a:gdLst>
              <a:gd name="T0" fmla="*/ 1203266 w 182"/>
              <a:gd name="T1" fmla="*/ 216624 h 53"/>
              <a:gd name="T2" fmla="*/ 1090873 w 182"/>
              <a:gd name="T3" fmla="*/ 337678 h 53"/>
              <a:gd name="T4" fmla="*/ 112393 w 182"/>
              <a:gd name="T5" fmla="*/ 337678 h 53"/>
              <a:gd name="T6" fmla="*/ 0 w 182"/>
              <a:gd name="T7" fmla="*/ 216624 h 53"/>
              <a:gd name="T8" fmla="*/ 0 w 182"/>
              <a:gd name="T9" fmla="*/ 127426 h 53"/>
              <a:gd name="T10" fmla="*/ 112393 w 182"/>
              <a:gd name="T11" fmla="*/ 0 h 53"/>
              <a:gd name="T12" fmla="*/ 1090873 w 182"/>
              <a:gd name="T13" fmla="*/ 0 h 53"/>
              <a:gd name="T14" fmla="*/ 1203266 w 182"/>
              <a:gd name="T15" fmla="*/ 127426 h 53"/>
              <a:gd name="T16" fmla="*/ 1203266 w 182"/>
              <a:gd name="T17" fmla="*/ 216624 h 5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82"/>
              <a:gd name="T28" fmla="*/ 0 h 53"/>
              <a:gd name="T29" fmla="*/ 182 w 182"/>
              <a:gd name="T30" fmla="*/ 53 h 5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82" h="53">
                <a:moveTo>
                  <a:pt x="182" y="34"/>
                </a:moveTo>
                <a:cubicBezTo>
                  <a:pt x="182" y="45"/>
                  <a:pt x="175" y="53"/>
                  <a:pt x="165" y="53"/>
                </a:cubicBezTo>
                <a:cubicBezTo>
                  <a:pt x="17" y="53"/>
                  <a:pt x="17" y="53"/>
                  <a:pt x="17" y="53"/>
                </a:cubicBezTo>
                <a:cubicBezTo>
                  <a:pt x="8" y="53"/>
                  <a:pt x="0" y="45"/>
                  <a:pt x="0" y="34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9"/>
                  <a:pt x="8" y="0"/>
                  <a:pt x="17" y="0"/>
                </a:cubicBezTo>
                <a:cubicBezTo>
                  <a:pt x="165" y="0"/>
                  <a:pt x="165" y="0"/>
                  <a:pt x="165" y="0"/>
                </a:cubicBezTo>
                <a:cubicBezTo>
                  <a:pt x="175" y="0"/>
                  <a:pt x="182" y="9"/>
                  <a:pt x="182" y="20"/>
                </a:cubicBezTo>
                <a:lnTo>
                  <a:pt x="182" y="34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78" name="Footer Placeholder 2"/>
          <p:cNvSpPr txBox="1">
            <a:spLocks noGrp="1"/>
          </p:cNvSpPr>
          <p:nvPr/>
        </p:nvSpPr>
        <p:spPr bwMode="auto">
          <a:xfrm>
            <a:off x="5962650" y="6297613"/>
            <a:ext cx="2286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Quantity of money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  <a:p>
            <a:pPr algn="ctr"/>
            <a:endParaRPr lang="en-US" sz="1200" dirty="0">
              <a:solidFill>
                <a:srgbClr val="898989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79" name="Rectangle 35"/>
          <p:cNvSpPr>
            <a:spLocks noChangeArrowheads="1"/>
          </p:cNvSpPr>
          <p:nvPr/>
        </p:nvSpPr>
        <p:spPr bwMode="auto">
          <a:xfrm>
            <a:off x="381000" y="2482850"/>
            <a:ext cx="106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Interest</a:t>
            </a:r>
          </a:p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rate, </a:t>
            </a:r>
            <a:r>
              <a:rPr lang="en-US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</a:p>
        </p:txBody>
      </p:sp>
      <p:sp>
        <p:nvSpPr>
          <p:cNvPr id="646180" name="Rectangle 36"/>
          <p:cNvSpPr>
            <a:spLocks noChangeArrowheads="1"/>
          </p:cNvSpPr>
          <p:nvPr/>
        </p:nvSpPr>
        <p:spPr bwMode="auto">
          <a:xfrm>
            <a:off x="-14288" y="4191000"/>
            <a:ext cx="12065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Equilibrium interest rate</a:t>
            </a:r>
          </a:p>
        </p:txBody>
      </p:sp>
      <p:sp>
        <p:nvSpPr>
          <p:cNvPr id="646181" name="Rectangle 37"/>
          <p:cNvSpPr>
            <a:spLocks noChangeArrowheads="1"/>
          </p:cNvSpPr>
          <p:nvPr/>
        </p:nvSpPr>
        <p:spPr bwMode="auto">
          <a:xfrm>
            <a:off x="3290885" y="2314575"/>
            <a:ext cx="1600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Money supply</a:t>
            </a:r>
          </a:p>
          <a:p>
            <a:pPr>
              <a:spcBef>
                <a:spcPct val="0"/>
              </a:spcBef>
            </a:pP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curve, 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MS</a:t>
            </a:r>
          </a:p>
        </p:txBody>
      </p:sp>
      <p:sp>
        <p:nvSpPr>
          <p:cNvPr id="646182" name="Rectangle 38"/>
          <p:cNvSpPr>
            <a:spLocks noChangeArrowheads="1"/>
          </p:cNvSpPr>
          <p:nvPr/>
        </p:nvSpPr>
        <p:spPr bwMode="auto">
          <a:xfrm>
            <a:off x="4495800" y="3014663"/>
            <a:ext cx="127679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Equilibrium</a:t>
            </a:r>
          </a:p>
        </p:txBody>
      </p:sp>
      <p:sp>
        <p:nvSpPr>
          <p:cNvPr id="646183" name="Rectangle 39"/>
          <p:cNvSpPr>
            <a:spLocks noChangeArrowheads="1"/>
          </p:cNvSpPr>
          <p:nvPr/>
        </p:nvSpPr>
        <p:spPr bwMode="auto">
          <a:xfrm>
            <a:off x="3524250" y="6248400"/>
            <a:ext cx="21336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Money supply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chosen by the Fed</a:t>
            </a:r>
          </a:p>
        </p:txBody>
      </p:sp>
      <p:sp>
        <p:nvSpPr>
          <p:cNvPr id="646184" name="Line 40"/>
          <p:cNvSpPr>
            <a:spLocks noChangeShapeType="1"/>
          </p:cNvSpPr>
          <p:nvPr/>
        </p:nvSpPr>
        <p:spPr bwMode="auto">
          <a:xfrm flipH="1">
            <a:off x="1501775" y="4334933"/>
            <a:ext cx="28543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6185" name="Line 41"/>
          <p:cNvSpPr>
            <a:spLocks noChangeShapeType="1"/>
          </p:cNvSpPr>
          <p:nvPr/>
        </p:nvSpPr>
        <p:spPr bwMode="auto">
          <a:xfrm flipH="1">
            <a:off x="1528763" y="5251450"/>
            <a:ext cx="489108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6186" name="Line 42"/>
          <p:cNvSpPr>
            <a:spLocks noChangeShapeType="1"/>
          </p:cNvSpPr>
          <p:nvPr/>
        </p:nvSpPr>
        <p:spPr bwMode="auto">
          <a:xfrm flipH="1">
            <a:off x="1543050" y="3657600"/>
            <a:ext cx="13033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6187" name="Line 43"/>
          <p:cNvSpPr>
            <a:spLocks noChangeShapeType="1"/>
          </p:cNvSpPr>
          <p:nvPr/>
        </p:nvSpPr>
        <p:spPr bwMode="auto">
          <a:xfrm flipV="1">
            <a:off x="2900363" y="3657600"/>
            <a:ext cx="0" cy="210312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6188" name="Line 44"/>
          <p:cNvSpPr>
            <a:spLocks noChangeShapeType="1"/>
          </p:cNvSpPr>
          <p:nvPr/>
        </p:nvSpPr>
        <p:spPr bwMode="auto">
          <a:xfrm flipH="1" flipV="1">
            <a:off x="6530975" y="5341938"/>
            <a:ext cx="4763" cy="4619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6189" name="Rectangle 45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pc="0" dirty="0"/>
              <a:t>EQUILIBRIUM IN THE MONEY MARKET</a:t>
            </a:r>
          </a:p>
        </p:txBody>
      </p:sp>
      <p:cxnSp>
        <p:nvCxnSpPr>
          <p:cNvPr id="46" name="Straight Connector 45"/>
          <p:cNvCxnSpPr/>
          <p:nvPr/>
        </p:nvCxnSpPr>
        <p:spPr>
          <a:xfrm>
            <a:off x="1905000" y="3200400"/>
            <a:ext cx="4811713" cy="2114550"/>
          </a:xfrm>
          <a:prstGeom prst="line">
            <a:avLst/>
          </a:prstGeom>
          <a:noFill/>
          <a:ln w="41275">
            <a:solidFill>
              <a:srgbClr val="2CB1AE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6174" name="Oval 90"/>
          <p:cNvSpPr>
            <a:spLocks noChangeArrowheads="1"/>
          </p:cNvSpPr>
          <p:nvPr/>
        </p:nvSpPr>
        <p:spPr bwMode="auto">
          <a:xfrm>
            <a:off x="2849563" y="3586162"/>
            <a:ext cx="134937" cy="1270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75" name="Oval 91"/>
          <p:cNvSpPr>
            <a:spLocks noChangeArrowheads="1"/>
          </p:cNvSpPr>
          <p:nvPr/>
        </p:nvSpPr>
        <p:spPr bwMode="auto">
          <a:xfrm>
            <a:off x="6467475" y="5187950"/>
            <a:ext cx="131763" cy="1270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6173" name="Oval 89"/>
          <p:cNvSpPr>
            <a:spLocks noChangeArrowheads="1"/>
          </p:cNvSpPr>
          <p:nvPr/>
        </p:nvSpPr>
        <p:spPr bwMode="auto">
          <a:xfrm>
            <a:off x="4356100" y="4267200"/>
            <a:ext cx="131763" cy="1270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" name="Rectangle 36"/>
          <p:cNvSpPr>
            <a:spLocks noChangeArrowheads="1"/>
          </p:cNvSpPr>
          <p:nvPr/>
        </p:nvSpPr>
        <p:spPr bwMode="auto">
          <a:xfrm>
            <a:off x="5791200" y="1981200"/>
            <a:ext cx="3352799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At </a:t>
            </a:r>
            <a:r>
              <a:rPr lang="en-US" sz="2400" b="1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  <a:r>
              <a:rPr lang="en-US" sz="2400" b="1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L</a:t>
            </a:r>
            <a:r>
              <a:rPr lang="en-US" sz="2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 </a:t>
            </a:r>
            <a:r>
              <a:rPr lang="en-US" sz="2000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, interest rates are low.  MD &gt; MS, and a </a:t>
            </a:r>
            <a:r>
              <a:rPr lang="en-US" sz="2000" b="1" i="1" dirty="0">
                <a:solidFill>
                  <a:srgbClr val="0070C0"/>
                </a:solidFill>
                <a:latin typeface="Century Gothic"/>
                <a:ea typeface="ＭＳ Ｐゴシック" pitchFamily="34" charset="-128"/>
                <a:cs typeface="Century Gothic"/>
              </a:rPr>
              <a:t>shortage of money </a:t>
            </a:r>
            <a:r>
              <a:rPr lang="en-US" sz="2000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means there is a </a:t>
            </a:r>
            <a:r>
              <a:rPr lang="en-US" sz="2000" b="1" i="1" dirty="0">
                <a:solidFill>
                  <a:srgbClr val="0070C0"/>
                </a:solidFill>
                <a:latin typeface="Century Gothic"/>
                <a:ea typeface="ＭＳ Ｐゴシック" pitchFamily="34" charset="-128"/>
                <a:cs typeface="Century Gothic"/>
              </a:rPr>
              <a:t>surplus of other assets </a:t>
            </a:r>
            <a:r>
              <a:rPr lang="en-US" sz="2000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like bonds. Investors selling bonds will try to make them more attractive to buyers by raising rates.</a:t>
            </a:r>
          </a:p>
        </p:txBody>
      </p:sp>
      <p:sp>
        <p:nvSpPr>
          <p:cNvPr id="54" name="Rectangle 36"/>
          <p:cNvSpPr>
            <a:spLocks noChangeArrowheads="1"/>
          </p:cNvSpPr>
          <p:nvPr/>
        </p:nvSpPr>
        <p:spPr bwMode="auto">
          <a:xfrm>
            <a:off x="19051" y="762000"/>
            <a:ext cx="6076949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At </a:t>
            </a:r>
            <a:r>
              <a:rPr lang="en-US" sz="2400" b="1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  <a:r>
              <a:rPr lang="en-US" sz="2400" b="1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H</a:t>
            </a:r>
            <a:r>
              <a:rPr lang="en-US" sz="2000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, interest rates are high.  MS &gt; MD, and a </a:t>
            </a:r>
            <a:r>
              <a:rPr lang="en-US" sz="2000" b="1" i="1" dirty="0">
                <a:solidFill>
                  <a:srgbClr val="0070C0"/>
                </a:solidFill>
                <a:latin typeface="Century Gothic"/>
                <a:ea typeface="ＭＳ Ｐゴシック" pitchFamily="34" charset="-128"/>
                <a:cs typeface="Century Gothic"/>
              </a:rPr>
              <a:t>surplus of money </a:t>
            </a:r>
            <a:r>
              <a:rPr lang="en-US" sz="2000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means there is a </a:t>
            </a:r>
            <a:r>
              <a:rPr lang="en-US" sz="2000" b="1" i="1" dirty="0">
                <a:solidFill>
                  <a:srgbClr val="0070C0"/>
                </a:solidFill>
                <a:latin typeface="Century Gothic"/>
                <a:ea typeface="ＭＳ Ｐゴシック" pitchFamily="34" charset="-128"/>
                <a:cs typeface="Century Gothic"/>
              </a:rPr>
              <a:t>shortage of other assets </a:t>
            </a:r>
            <a:r>
              <a:rPr lang="en-US" sz="2000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like bonds. Investors selling bonds will realize they can reduce interest rates and still find buyers.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17302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46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4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4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4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4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4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4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4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4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46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4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4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4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461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461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61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461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461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461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61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461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461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461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61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461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461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461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61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461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461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461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61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461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149" grpId="0"/>
      <p:bldP spid="646153" grpId="0"/>
      <p:bldP spid="646155" grpId="0"/>
      <p:bldP spid="646156" grpId="0"/>
      <p:bldP spid="646159" grpId="0"/>
      <p:bldP spid="646161" grpId="0"/>
      <p:bldP spid="646163" grpId="0" animBg="1"/>
      <p:bldP spid="646164" grpId="0" animBg="1"/>
      <p:bldP spid="646165" grpId="0" animBg="1"/>
      <p:bldP spid="646166" grpId="0" animBg="1"/>
      <p:bldP spid="646168" grpId="0"/>
      <p:bldP spid="646176" grpId="0" animBg="1"/>
      <p:bldP spid="646177" grpId="0" animBg="1"/>
      <p:bldP spid="646182" grpId="0"/>
      <p:bldP spid="646185" grpId="0" animBg="1"/>
      <p:bldP spid="646186" grpId="0" animBg="1"/>
      <p:bldP spid="646187" grpId="0" animBg="1"/>
      <p:bldP spid="646188" grpId="0" animBg="1"/>
      <p:bldP spid="646174" grpId="0" animBg="1"/>
      <p:bldP spid="646175" grpId="0" animBg="1"/>
      <p:bldP spid="646173" grpId="0" animBg="1"/>
      <p:bldP spid="53" grpId="0"/>
      <p:bldP spid="5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458200" cy="5060950"/>
          </a:xfrm>
        </p:spPr>
        <p:txBody>
          <a:bodyPr>
            <a:noAutofit/>
          </a:bodyPr>
          <a:lstStyle/>
          <a:p>
            <a:r>
              <a:rPr lang="en-US" sz="2800" dirty="0"/>
              <a:t>Suppose that an economy’s aggregate output level increases. Assuming that the central bank does not engage in monetary policy, which of the following statements is true?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2800" dirty="0"/>
              <a:t>The interest rate will increase.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2800" dirty="0"/>
              <a:t>The interest rate will decrease.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2800" dirty="0"/>
              <a:t>The interest rate will be unaffected by this change in aggregate output.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2800" dirty="0"/>
              <a:t>This change in aggregate output will cause a movement along the money demand curve.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3181" y="6307666"/>
            <a:ext cx="105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To Next </a:t>
            </a:r>
          </a:p>
          <a:p>
            <a:pPr algn="ctr"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Active Learning</a:t>
            </a: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041166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Autofit/>
          </a:bodyPr>
          <a:lstStyle/>
          <a:p>
            <a:r>
              <a:rPr lang="en-US" spc="0" dirty="0"/>
              <a:t>MONETARY POLICY AND THE INTEREST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839200" cy="46482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b="0" dirty="0"/>
              <a:t>By adjusting the money supply up or down, the Fed can set the interest rate.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b="0" dirty="0"/>
              <a:t>The Fed sets a </a:t>
            </a:r>
            <a:r>
              <a:rPr lang="en-US" dirty="0"/>
              <a:t>target federal funds rate and undertakes the appropriate open-market operations.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i="1" dirty="0">
                <a:solidFill>
                  <a:srgbClr val="990033"/>
                </a:solidFill>
              </a:rPr>
              <a:t>Target federal funds rate: </a:t>
            </a:r>
            <a:r>
              <a:rPr lang="en-US" b="0" dirty="0"/>
              <a:t>the Federal Reserve’s desired federal funds rate.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476165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8" name="Rectangle 7"/>
          <p:cNvSpPr>
            <a:spLocks noChangeArrowheads="1"/>
          </p:cNvSpPr>
          <p:nvPr/>
        </p:nvSpPr>
        <p:spPr bwMode="auto">
          <a:xfrm>
            <a:off x="5629275" y="6413500"/>
            <a:ext cx="3508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00" name="Line 45"/>
          <p:cNvSpPr>
            <a:spLocks noChangeShapeType="1"/>
          </p:cNvSpPr>
          <p:nvPr/>
        </p:nvSpPr>
        <p:spPr bwMode="auto">
          <a:xfrm>
            <a:off x="5638800" y="6416675"/>
            <a:ext cx="114300" cy="3175"/>
          </a:xfrm>
          <a:prstGeom prst="line">
            <a:avLst/>
          </a:prstGeom>
          <a:noFill/>
          <a:ln w="7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01" name="Line 94"/>
          <p:cNvSpPr>
            <a:spLocks noChangeShapeType="1"/>
          </p:cNvSpPr>
          <p:nvPr/>
        </p:nvSpPr>
        <p:spPr bwMode="auto">
          <a:xfrm>
            <a:off x="4230688" y="6556375"/>
            <a:ext cx="1300162" cy="3175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02" name="Rectangle 34"/>
          <p:cNvSpPr>
            <a:spLocks noChangeArrowheads="1"/>
          </p:cNvSpPr>
          <p:nvPr/>
        </p:nvSpPr>
        <p:spPr bwMode="auto">
          <a:xfrm>
            <a:off x="5848350" y="5294313"/>
            <a:ext cx="247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04" name="Rectangle 41"/>
          <p:cNvSpPr>
            <a:spLocks noChangeArrowheads="1"/>
          </p:cNvSpPr>
          <p:nvPr/>
        </p:nvSpPr>
        <p:spPr bwMode="auto">
          <a:xfrm>
            <a:off x="5603875" y="2782888"/>
            <a:ext cx="38311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MS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08" name="Freeform 51"/>
          <p:cNvSpPr>
            <a:spLocks/>
          </p:cNvSpPr>
          <p:nvPr/>
        </p:nvSpPr>
        <p:spPr bwMode="auto">
          <a:xfrm>
            <a:off x="4141788" y="1905000"/>
            <a:ext cx="1462087" cy="901700"/>
          </a:xfrm>
          <a:custGeom>
            <a:avLst/>
            <a:gdLst>
              <a:gd name="T0" fmla="*/ 1398906 w 211"/>
              <a:gd name="T1" fmla="*/ 776651 h 136"/>
              <a:gd name="T2" fmla="*/ 1286198 w 211"/>
              <a:gd name="T3" fmla="*/ 902774 h 136"/>
              <a:gd name="T4" fmla="*/ 112708 w 211"/>
              <a:gd name="T5" fmla="*/ 902774 h 136"/>
              <a:gd name="T6" fmla="*/ 0 w 211"/>
              <a:gd name="T7" fmla="*/ 776651 h 136"/>
              <a:gd name="T8" fmla="*/ 0 w 211"/>
              <a:gd name="T9" fmla="*/ 126123 h 136"/>
              <a:gd name="T10" fmla="*/ 112708 w 211"/>
              <a:gd name="T11" fmla="*/ 0 h 136"/>
              <a:gd name="T12" fmla="*/ 1286198 w 211"/>
              <a:gd name="T13" fmla="*/ 0 h 136"/>
              <a:gd name="T14" fmla="*/ 1398906 w 211"/>
              <a:gd name="T15" fmla="*/ 126123 h 136"/>
              <a:gd name="T16" fmla="*/ 1398906 w 211"/>
              <a:gd name="T17" fmla="*/ 776651 h 1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11"/>
              <a:gd name="T28" fmla="*/ 0 h 136"/>
              <a:gd name="T29" fmla="*/ 211 w 211"/>
              <a:gd name="T30" fmla="*/ 136 h 1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11" h="136">
                <a:moveTo>
                  <a:pt x="211" y="117"/>
                </a:moveTo>
                <a:cubicBezTo>
                  <a:pt x="211" y="127"/>
                  <a:pt x="203" y="136"/>
                  <a:pt x="194" y="136"/>
                </a:cubicBezTo>
                <a:cubicBezTo>
                  <a:pt x="17" y="136"/>
                  <a:pt x="17" y="136"/>
                  <a:pt x="17" y="136"/>
                </a:cubicBezTo>
                <a:cubicBezTo>
                  <a:pt x="8" y="136"/>
                  <a:pt x="0" y="127"/>
                  <a:pt x="0" y="117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7" y="0"/>
                </a:cubicBezTo>
                <a:cubicBezTo>
                  <a:pt x="194" y="0"/>
                  <a:pt x="194" y="0"/>
                  <a:pt x="194" y="0"/>
                </a:cubicBezTo>
                <a:cubicBezTo>
                  <a:pt x="203" y="0"/>
                  <a:pt x="211" y="8"/>
                  <a:pt x="211" y="19"/>
                </a:cubicBezTo>
                <a:lnTo>
                  <a:pt x="211" y="117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09" name="Line 84"/>
          <p:cNvSpPr>
            <a:spLocks noChangeShapeType="1"/>
          </p:cNvSpPr>
          <p:nvPr/>
        </p:nvSpPr>
        <p:spPr bwMode="auto">
          <a:xfrm>
            <a:off x="5775325" y="3074988"/>
            <a:ext cx="3175" cy="3268662"/>
          </a:xfrm>
          <a:prstGeom prst="line">
            <a:avLst/>
          </a:prstGeom>
          <a:noFill/>
          <a:ln w="38100">
            <a:solidFill>
              <a:srgbClr val="F371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10" name="Rectangle 18"/>
          <p:cNvSpPr>
            <a:spLocks noChangeArrowheads="1"/>
          </p:cNvSpPr>
          <p:nvPr/>
        </p:nvSpPr>
        <p:spPr bwMode="auto">
          <a:xfrm>
            <a:off x="4114800" y="1939925"/>
            <a:ext cx="153749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An increase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in the money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supply …</a:t>
            </a:r>
          </a:p>
        </p:txBody>
      </p:sp>
      <p:sp>
        <p:nvSpPr>
          <p:cNvPr id="648211" name="Rectangle 18"/>
          <p:cNvSpPr>
            <a:spLocks noChangeArrowheads="1"/>
          </p:cNvSpPr>
          <p:nvPr/>
        </p:nvSpPr>
        <p:spPr bwMode="auto">
          <a:xfrm>
            <a:off x="1558925" y="4799013"/>
            <a:ext cx="15551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13" name="Rectangle 36"/>
          <p:cNvSpPr>
            <a:spLocks noChangeArrowheads="1"/>
          </p:cNvSpPr>
          <p:nvPr/>
        </p:nvSpPr>
        <p:spPr bwMode="auto">
          <a:xfrm>
            <a:off x="4117975" y="4762500"/>
            <a:ext cx="19608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14" name="Rectangle 38"/>
          <p:cNvSpPr>
            <a:spLocks noChangeArrowheads="1"/>
          </p:cNvSpPr>
          <p:nvPr/>
        </p:nvSpPr>
        <p:spPr bwMode="auto">
          <a:xfrm>
            <a:off x="3844925" y="2782888"/>
            <a:ext cx="38311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MS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16" name="Rectangle 40"/>
          <p:cNvSpPr>
            <a:spLocks noChangeArrowheads="1"/>
          </p:cNvSpPr>
          <p:nvPr/>
        </p:nvSpPr>
        <p:spPr bwMode="auto">
          <a:xfrm>
            <a:off x="7246938" y="5673725"/>
            <a:ext cx="37548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MD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17" name="Rectangle 46"/>
          <p:cNvSpPr>
            <a:spLocks noChangeArrowheads="1"/>
          </p:cNvSpPr>
          <p:nvPr/>
        </p:nvSpPr>
        <p:spPr bwMode="auto">
          <a:xfrm>
            <a:off x="3910013" y="6413500"/>
            <a:ext cx="27463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19" name="Line 48"/>
          <p:cNvSpPr>
            <a:spLocks noChangeShapeType="1"/>
          </p:cNvSpPr>
          <p:nvPr/>
        </p:nvSpPr>
        <p:spPr bwMode="auto">
          <a:xfrm>
            <a:off x="3962400" y="6416675"/>
            <a:ext cx="111125" cy="3175"/>
          </a:xfrm>
          <a:prstGeom prst="line">
            <a:avLst/>
          </a:prstGeom>
          <a:noFill/>
          <a:ln w="7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20" name="Line 49"/>
          <p:cNvSpPr>
            <a:spLocks noChangeShapeType="1"/>
          </p:cNvSpPr>
          <p:nvPr/>
        </p:nvSpPr>
        <p:spPr bwMode="auto">
          <a:xfrm>
            <a:off x="4037013" y="3100388"/>
            <a:ext cx="1587" cy="3243262"/>
          </a:xfrm>
          <a:prstGeom prst="line">
            <a:avLst/>
          </a:prstGeom>
          <a:noFill/>
          <a:ln w="38100">
            <a:solidFill>
              <a:srgbClr val="FDBA4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21" name="Freeform 82"/>
          <p:cNvSpPr>
            <a:spLocks/>
          </p:cNvSpPr>
          <p:nvPr/>
        </p:nvSpPr>
        <p:spPr bwMode="auto">
          <a:xfrm>
            <a:off x="1828800" y="2590800"/>
            <a:ext cx="5911850" cy="3752850"/>
          </a:xfrm>
          <a:custGeom>
            <a:avLst/>
            <a:gdLst>
              <a:gd name="T0" fmla="*/ 5893384 w 2098"/>
              <a:gd name="T1" fmla="*/ 4755730 h 1691"/>
              <a:gd name="T2" fmla="*/ 0 w 2098"/>
              <a:gd name="T3" fmla="*/ 4755730 h 1691"/>
              <a:gd name="T4" fmla="*/ 0 w 2098"/>
              <a:gd name="T5" fmla="*/ 0 h 1691"/>
              <a:gd name="T6" fmla="*/ 0 60000 65536"/>
              <a:gd name="T7" fmla="*/ 0 60000 65536"/>
              <a:gd name="T8" fmla="*/ 0 60000 65536"/>
              <a:gd name="T9" fmla="*/ 0 w 2098"/>
              <a:gd name="T10" fmla="*/ 0 h 1691"/>
              <a:gd name="T11" fmla="*/ 2098 w 2098"/>
              <a:gd name="T12" fmla="*/ 1691 h 16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8" h="1691">
                <a:moveTo>
                  <a:pt x="2098" y="1691"/>
                </a:moveTo>
                <a:lnTo>
                  <a:pt x="0" y="1691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25" name="Footer Placeholder 2"/>
          <p:cNvSpPr txBox="1">
            <a:spLocks noGrp="1"/>
          </p:cNvSpPr>
          <p:nvPr/>
        </p:nvSpPr>
        <p:spPr bwMode="auto">
          <a:xfrm>
            <a:off x="6324600" y="6477158"/>
            <a:ext cx="2286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Quantity of money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  <a:p>
            <a:pPr algn="ctr"/>
            <a:endParaRPr lang="en-US" sz="1200" dirty="0">
              <a:solidFill>
                <a:srgbClr val="898989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26" name="Rectangle 34"/>
          <p:cNvSpPr>
            <a:spLocks noChangeArrowheads="1"/>
          </p:cNvSpPr>
          <p:nvPr/>
        </p:nvSpPr>
        <p:spPr bwMode="auto">
          <a:xfrm>
            <a:off x="719667" y="2122488"/>
            <a:ext cx="106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Interest</a:t>
            </a:r>
          </a:p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rate, </a:t>
            </a:r>
            <a:r>
              <a:rPr lang="en-US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</a:p>
        </p:txBody>
      </p:sp>
      <p:sp>
        <p:nvSpPr>
          <p:cNvPr id="648227" name="Line 35"/>
          <p:cNvSpPr>
            <a:spLocks noChangeShapeType="1"/>
          </p:cNvSpPr>
          <p:nvPr/>
        </p:nvSpPr>
        <p:spPr bwMode="auto">
          <a:xfrm flipH="1" flipV="1">
            <a:off x="1828800" y="5045075"/>
            <a:ext cx="218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grpSp>
        <p:nvGrpSpPr>
          <p:cNvPr id="648229" name="Group 37"/>
          <p:cNvGrpSpPr>
            <a:grpSpLocks/>
          </p:cNvGrpSpPr>
          <p:nvPr/>
        </p:nvGrpSpPr>
        <p:grpSpPr bwMode="auto">
          <a:xfrm>
            <a:off x="38100" y="4892675"/>
            <a:ext cx="1676400" cy="1127125"/>
            <a:chOff x="264" y="2448"/>
            <a:chExt cx="1056" cy="710"/>
          </a:xfrm>
        </p:grpSpPr>
        <p:sp>
          <p:nvSpPr>
            <p:cNvPr id="648230" name="Freeform 63"/>
            <p:cNvSpPr>
              <a:spLocks/>
            </p:cNvSpPr>
            <p:nvPr/>
          </p:nvSpPr>
          <p:spPr bwMode="auto">
            <a:xfrm>
              <a:off x="264" y="2448"/>
              <a:ext cx="840" cy="710"/>
            </a:xfrm>
            <a:custGeom>
              <a:avLst/>
              <a:gdLst>
                <a:gd name="T0" fmla="*/ 1334297 w 201"/>
                <a:gd name="T1" fmla="*/ 770013 h 136"/>
                <a:gd name="T2" fmla="*/ 1221446 w 201"/>
                <a:gd name="T3" fmla="*/ 902774 h 136"/>
                <a:gd name="T4" fmla="*/ 112851 w 201"/>
                <a:gd name="T5" fmla="*/ 902774 h 136"/>
                <a:gd name="T6" fmla="*/ 0 w 201"/>
                <a:gd name="T7" fmla="*/ 770013 h 136"/>
                <a:gd name="T8" fmla="*/ 0 w 201"/>
                <a:gd name="T9" fmla="*/ 126123 h 136"/>
                <a:gd name="T10" fmla="*/ 112851 w 201"/>
                <a:gd name="T11" fmla="*/ 0 h 136"/>
                <a:gd name="T12" fmla="*/ 1221446 w 201"/>
                <a:gd name="T13" fmla="*/ 0 h 136"/>
                <a:gd name="T14" fmla="*/ 1334297 w 201"/>
                <a:gd name="T15" fmla="*/ 126123 h 136"/>
                <a:gd name="T16" fmla="*/ 1334297 w 201"/>
                <a:gd name="T17" fmla="*/ 770013 h 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01"/>
                <a:gd name="T28" fmla="*/ 0 h 136"/>
                <a:gd name="T29" fmla="*/ 201 w 201"/>
                <a:gd name="T30" fmla="*/ 136 h 1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01" h="136">
                  <a:moveTo>
                    <a:pt x="201" y="116"/>
                  </a:moveTo>
                  <a:cubicBezTo>
                    <a:pt x="201" y="127"/>
                    <a:pt x="193" y="136"/>
                    <a:pt x="184" y="136"/>
                  </a:cubicBezTo>
                  <a:cubicBezTo>
                    <a:pt x="17" y="136"/>
                    <a:pt x="17" y="136"/>
                    <a:pt x="17" y="136"/>
                  </a:cubicBezTo>
                  <a:cubicBezTo>
                    <a:pt x="8" y="136"/>
                    <a:pt x="0" y="127"/>
                    <a:pt x="0" y="11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93" y="0"/>
                    <a:pt x="201" y="8"/>
                    <a:pt x="201" y="19"/>
                  </a:cubicBezTo>
                  <a:lnTo>
                    <a:pt x="201" y="116"/>
                  </a:lnTo>
                  <a:close/>
                </a:path>
              </a:pathLst>
            </a:custGeom>
            <a:solidFill>
              <a:srgbClr val="D7E2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grpSp>
          <p:nvGrpSpPr>
            <p:cNvPr id="648231" name="Group 39"/>
            <p:cNvGrpSpPr>
              <a:grpSpLocks/>
            </p:cNvGrpSpPr>
            <p:nvPr/>
          </p:nvGrpSpPr>
          <p:grpSpPr bwMode="auto">
            <a:xfrm>
              <a:off x="264" y="2479"/>
              <a:ext cx="1056" cy="679"/>
              <a:chOff x="264" y="2479"/>
              <a:chExt cx="1056" cy="679"/>
            </a:xfrm>
          </p:grpSpPr>
          <p:sp>
            <p:nvSpPr>
              <p:cNvPr id="648233" name="Rectangle 20"/>
              <p:cNvSpPr>
                <a:spLocks noChangeArrowheads="1"/>
              </p:cNvSpPr>
              <p:nvPr/>
            </p:nvSpPr>
            <p:spPr bwMode="auto">
              <a:xfrm>
                <a:off x="1222" y="2797"/>
                <a:ext cx="98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i="1" dirty="0">
                    <a:solidFill>
                      <a:srgbClr val="000000"/>
                    </a:solidFill>
                    <a:latin typeface="Century Gothic"/>
                    <a:ea typeface="ＭＳ Ｐゴシック" pitchFamily="34" charset="-128"/>
                    <a:cs typeface="Century Gothic"/>
                  </a:rPr>
                  <a:t>r</a:t>
                </a:r>
                <a:r>
                  <a:rPr lang="en-US" sz="1600" baseline="-25000" dirty="0">
                    <a:solidFill>
                      <a:srgbClr val="000000"/>
                    </a:solidFill>
                    <a:latin typeface="Century Gothic"/>
                    <a:ea typeface="ＭＳ Ｐゴシック" pitchFamily="34" charset="-128"/>
                    <a:cs typeface="Century Gothic"/>
                  </a:rPr>
                  <a:t>2</a:t>
                </a:r>
                <a:endParaRPr lang="en-US" sz="1600" baseline="-25000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648235" name="Line 92"/>
              <p:cNvSpPr>
                <a:spLocks noChangeShapeType="1"/>
              </p:cNvSpPr>
              <p:nvPr/>
            </p:nvSpPr>
            <p:spPr bwMode="auto">
              <a:xfrm>
                <a:off x="1270" y="2588"/>
                <a:ext cx="1" cy="19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miter lim="800000"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>
                  <a:solidFill>
                    <a:prstClr val="black"/>
                  </a:solidFill>
                  <a:latin typeface="Century Gothic"/>
                  <a:cs typeface="Century Gothic"/>
                </a:endParaRPr>
              </a:p>
            </p:txBody>
          </p:sp>
          <p:sp>
            <p:nvSpPr>
              <p:cNvPr id="648236" name="Rectangle 44"/>
              <p:cNvSpPr>
                <a:spLocks noChangeArrowheads="1"/>
              </p:cNvSpPr>
              <p:nvPr/>
            </p:nvSpPr>
            <p:spPr bwMode="auto">
              <a:xfrm>
                <a:off x="264" y="2479"/>
                <a:ext cx="840" cy="6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600" i="1" dirty="0">
                    <a:solidFill>
                      <a:prstClr val="black"/>
                    </a:solidFill>
                    <a:latin typeface="Century Gothic"/>
                    <a:ea typeface="ＭＳ Ｐゴシック" pitchFamily="34" charset="-128"/>
                    <a:cs typeface="Century Gothic"/>
                  </a:rPr>
                  <a:t>…leads to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600" i="1" dirty="0">
                    <a:solidFill>
                      <a:prstClr val="black"/>
                    </a:solidFill>
                    <a:latin typeface="Century Gothic"/>
                    <a:ea typeface="ＭＳ Ｐゴシック" pitchFamily="34" charset="-128"/>
                    <a:cs typeface="Century Gothic"/>
                  </a:rPr>
                  <a:t>a fall in the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600" i="1" dirty="0">
                    <a:solidFill>
                      <a:prstClr val="black"/>
                    </a:solidFill>
                    <a:latin typeface="Century Gothic"/>
                    <a:ea typeface="ＭＳ Ｐゴシック" pitchFamily="34" charset="-128"/>
                    <a:cs typeface="Century Gothic"/>
                  </a:rPr>
                  <a:t>Interest rate.</a:t>
                </a:r>
              </a:p>
            </p:txBody>
          </p:sp>
        </p:grpSp>
      </p:grpSp>
      <p:sp>
        <p:nvSpPr>
          <p:cNvPr id="648237" name="Line 45"/>
          <p:cNvSpPr>
            <a:spLocks noChangeShapeType="1"/>
          </p:cNvSpPr>
          <p:nvPr/>
        </p:nvSpPr>
        <p:spPr bwMode="auto">
          <a:xfrm flipH="1">
            <a:off x="1828800" y="5634038"/>
            <a:ext cx="39417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38" name="Rectangle 46"/>
          <p:cNvSpPr>
            <a:spLocks noGrp="1" noRot="1" noChangeArrowheads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Autofit/>
          </a:bodyPr>
          <a:lstStyle/>
          <a:p>
            <a:r>
              <a:rPr lang="en-US" spc="0" dirty="0"/>
              <a:t>MONETARY POLICY AND THE INTEREST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839200" cy="44958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The Effect of an Increase in the Money Supply on the Interest Rate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2133600" y="4419600"/>
            <a:ext cx="5029200" cy="1676400"/>
          </a:xfrm>
          <a:prstGeom prst="line">
            <a:avLst/>
          </a:prstGeom>
          <a:noFill/>
          <a:ln w="41275">
            <a:solidFill>
              <a:srgbClr val="2CB1AE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8223" name="Oval 86"/>
          <p:cNvSpPr>
            <a:spLocks noChangeArrowheads="1"/>
          </p:cNvSpPr>
          <p:nvPr/>
        </p:nvSpPr>
        <p:spPr bwMode="auto">
          <a:xfrm>
            <a:off x="3971925" y="5002213"/>
            <a:ext cx="131763" cy="131762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24" name="Oval 87"/>
          <p:cNvSpPr>
            <a:spLocks noChangeArrowheads="1"/>
          </p:cNvSpPr>
          <p:nvPr/>
        </p:nvSpPr>
        <p:spPr bwMode="auto">
          <a:xfrm>
            <a:off x="5716588" y="5559425"/>
            <a:ext cx="131762" cy="134938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9014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4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333 1.11111E-6 L 1.11022E-16 1.11111E-6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6482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4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4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4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64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198" grpId="0"/>
      <p:bldP spid="648200" grpId="0" animBg="1"/>
      <p:bldP spid="648201" grpId="0" animBg="1"/>
      <p:bldP spid="648202" grpId="0"/>
      <p:bldP spid="648204" grpId="0"/>
      <p:bldP spid="648209" grpId="0" animBg="1"/>
      <p:bldP spid="648209" grpId="1" animBg="1"/>
      <p:bldP spid="648237" grpId="0" animBg="1"/>
      <p:bldP spid="6482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8" name="Rectangle 7"/>
          <p:cNvSpPr>
            <a:spLocks noChangeArrowheads="1"/>
          </p:cNvSpPr>
          <p:nvPr/>
        </p:nvSpPr>
        <p:spPr bwMode="auto">
          <a:xfrm>
            <a:off x="5629275" y="6413500"/>
            <a:ext cx="3508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00" name="Line 45"/>
          <p:cNvSpPr>
            <a:spLocks noChangeShapeType="1"/>
          </p:cNvSpPr>
          <p:nvPr/>
        </p:nvSpPr>
        <p:spPr bwMode="auto">
          <a:xfrm>
            <a:off x="5638800" y="6416675"/>
            <a:ext cx="114300" cy="3175"/>
          </a:xfrm>
          <a:prstGeom prst="line">
            <a:avLst/>
          </a:prstGeom>
          <a:noFill/>
          <a:ln w="7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01" name="Line 94"/>
          <p:cNvSpPr>
            <a:spLocks noChangeShapeType="1"/>
          </p:cNvSpPr>
          <p:nvPr/>
        </p:nvSpPr>
        <p:spPr bwMode="auto">
          <a:xfrm>
            <a:off x="4230688" y="6556375"/>
            <a:ext cx="1300162" cy="3175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02" name="Rectangle 34"/>
          <p:cNvSpPr>
            <a:spLocks noChangeArrowheads="1"/>
          </p:cNvSpPr>
          <p:nvPr/>
        </p:nvSpPr>
        <p:spPr bwMode="auto">
          <a:xfrm>
            <a:off x="5848350" y="5294313"/>
            <a:ext cx="247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04" name="Rectangle 41"/>
          <p:cNvSpPr>
            <a:spLocks noChangeArrowheads="1"/>
          </p:cNvSpPr>
          <p:nvPr/>
        </p:nvSpPr>
        <p:spPr bwMode="auto">
          <a:xfrm>
            <a:off x="5603875" y="2782888"/>
            <a:ext cx="38311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MS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09" name="Line 84"/>
          <p:cNvSpPr>
            <a:spLocks noChangeShapeType="1"/>
          </p:cNvSpPr>
          <p:nvPr/>
        </p:nvSpPr>
        <p:spPr bwMode="auto">
          <a:xfrm>
            <a:off x="5775325" y="3074988"/>
            <a:ext cx="3175" cy="3268662"/>
          </a:xfrm>
          <a:prstGeom prst="line">
            <a:avLst/>
          </a:prstGeom>
          <a:noFill/>
          <a:ln w="38100">
            <a:solidFill>
              <a:srgbClr val="F371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11" name="Rectangle 18"/>
          <p:cNvSpPr>
            <a:spLocks noChangeArrowheads="1"/>
          </p:cNvSpPr>
          <p:nvPr/>
        </p:nvSpPr>
        <p:spPr bwMode="auto">
          <a:xfrm>
            <a:off x="1558925" y="4799013"/>
            <a:ext cx="15551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13" name="Rectangle 36"/>
          <p:cNvSpPr>
            <a:spLocks noChangeArrowheads="1"/>
          </p:cNvSpPr>
          <p:nvPr/>
        </p:nvSpPr>
        <p:spPr bwMode="auto">
          <a:xfrm>
            <a:off x="4117975" y="4762500"/>
            <a:ext cx="19608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14" name="Rectangle 38"/>
          <p:cNvSpPr>
            <a:spLocks noChangeArrowheads="1"/>
          </p:cNvSpPr>
          <p:nvPr/>
        </p:nvSpPr>
        <p:spPr bwMode="auto">
          <a:xfrm>
            <a:off x="3844925" y="2782888"/>
            <a:ext cx="38311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MS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16" name="Rectangle 40"/>
          <p:cNvSpPr>
            <a:spLocks noChangeArrowheads="1"/>
          </p:cNvSpPr>
          <p:nvPr/>
        </p:nvSpPr>
        <p:spPr bwMode="auto">
          <a:xfrm>
            <a:off x="7246938" y="5673725"/>
            <a:ext cx="37548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MD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17" name="Rectangle 46"/>
          <p:cNvSpPr>
            <a:spLocks noChangeArrowheads="1"/>
          </p:cNvSpPr>
          <p:nvPr/>
        </p:nvSpPr>
        <p:spPr bwMode="auto">
          <a:xfrm>
            <a:off x="3910013" y="6413500"/>
            <a:ext cx="27463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19" name="Line 48"/>
          <p:cNvSpPr>
            <a:spLocks noChangeShapeType="1"/>
          </p:cNvSpPr>
          <p:nvPr/>
        </p:nvSpPr>
        <p:spPr bwMode="auto">
          <a:xfrm>
            <a:off x="3962400" y="6416675"/>
            <a:ext cx="111125" cy="3175"/>
          </a:xfrm>
          <a:prstGeom prst="line">
            <a:avLst/>
          </a:prstGeom>
          <a:noFill/>
          <a:ln w="7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20" name="Line 49"/>
          <p:cNvSpPr>
            <a:spLocks noChangeShapeType="1"/>
          </p:cNvSpPr>
          <p:nvPr/>
        </p:nvSpPr>
        <p:spPr bwMode="auto">
          <a:xfrm>
            <a:off x="4037013" y="3100388"/>
            <a:ext cx="1587" cy="3243262"/>
          </a:xfrm>
          <a:prstGeom prst="line">
            <a:avLst/>
          </a:prstGeom>
          <a:noFill/>
          <a:ln w="38100">
            <a:solidFill>
              <a:srgbClr val="FDBA4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21" name="Freeform 82"/>
          <p:cNvSpPr>
            <a:spLocks/>
          </p:cNvSpPr>
          <p:nvPr/>
        </p:nvSpPr>
        <p:spPr bwMode="auto">
          <a:xfrm>
            <a:off x="1828800" y="2590800"/>
            <a:ext cx="5911850" cy="3752850"/>
          </a:xfrm>
          <a:custGeom>
            <a:avLst/>
            <a:gdLst>
              <a:gd name="T0" fmla="*/ 5893384 w 2098"/>
              <a:gd name="T1" fmla="*/ 4755730 h 1691"/>
              <a:gd name="T2" fmla="*/ 0 w 2098"/>
              <a:gd name="T3" fmla="*/ 4755730 h 1691"/>
              <a:gd name="T4" fmla="*/ 0 w 2098"/>
              <a:gd name="T5" fmla="*/ 0 h 1691"/>
              <a:gd name="T6" fmla="*/ 0 60000 65536"/>
              <a:gd name="T7" fmla="*/ 0 60000 65536"/>
              <a:gd name="T8" fmla="*/ 0 60000 65536"/>
              <a:gd name="T9" fmla="*/ 0 w 2098"/>
              <a:gd name="T10" fmla="*/ 0 h 1691"/>
              <a:gd name="T11" fmla="*/ 2098 w 2098"/>
              <a:gd name="T12" fmla="*/ 1691 h 16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8" h="1691">
                <a:moveTo>
                  <a:pt x="2098" y="1691"/>
                </a:moveTo>
                <a:lnTo>
                  <a:pt x="0" y="1691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25" name="Footer Placeholder 2"/>
          <p:cNvSpPr txBox="1">
            <a:spLocks noGrp="1"/>
          </p:cNvSpPr>
          <p:nvPr/>
        </p:nvSpPr>
        <p:spPr bwMode="auto">
          <a:xfrm>
            <a:off x="6324600" y="6477158"/>
            <a:ext cx="2286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Quantity of money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  <a:p>
            <a:pPr algn="ctr"/>
            <a:endParaRPr lang="en-US" sz="1200" dirty="0">
              <a:solidFill>
                <a:srgbClr val="898989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26" name="Rectangle 34"/>
          <p:cNvSpPr>
            <a:spLocks noChangeArrowheads="1"/>
          </p:cNvSpPr>
          <p:nvPr/>
        </p:nvSpPr>
        <p:spPr bwMode="auto">
          <a:xfrm>
            <a:off x="719667" y="2122488"/>
            <a:ext cx="106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Interest</a:t>
            </a:r>
          </a:p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rate, </a:t>
            </a:r>
            <a:r>
              <a:rPr lang="en-US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</a:p>
        </p:txBody>
      </p:sp>
      <p:sp>
        <p:nvSpPr>
          <p:cNvPr id="648227" name="Line 35"/>
          <p:cNvSpPr>
            <a:spLocks noChangeShapeType="1"/>
          </p:cNvSpPr>
          <p:nvPr/>
        </p:nvSpPr>
        <p:spPr bwMode="auto">
          <a:xfrm flipH="1" flipV="1">
            <a:off x="1828800" y="5045075"/>
            <a:ext cx="218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grpSp>
        <p:nvGrpSpPr>
          <p:cNvPr id="648231" name="Group 39"/>
          <p:cNvGrpSpPr>
            <a:grpSpLocks/>
          </p:cNvGrpSpPr>
          <p:nvPr/>
        </p:nvGrpSpPr>
        <p:grpSpPr bwMode="auto">
          <a:xfrm>
            <a:off x="1558938" y="5114928"/>
            <a:ext cx="155576" cy="608013"/>
            <a:chOff x="1222" y="2588"/>
            <a:chExt cx="98" cy="383"/>
          </a:xfrm>
        </p:grpSpPr>
        <p:sp>
          <p:nvSpPr>
            <p:cNvPr id="648233" name="Rectangle 20"/>
            <p:cNvSpPr>
              <a:spLocks noChangeArrowheads="1"/>
            </p:cNvSpPr>
            <p:nvPr/>
          </p:nvSpPr>
          <p:spPr bwMode="auto">
            <a:xfrm>
              <a:off x="1222" y="2797"/>
              <a:ext cx="9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i="1" dirty="0">
                  <a:solidFill>
                    <a:srgbClr val="000000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r</a:t>
              </a:r>
              <a:r>
                <a:rPr lang="en-US" sz="1600" baseline="-25000" dirty="0">
                  <a:solidFill>
                    <a:srgbClr val="000000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2</a:t>
              </a:r>
              <a:endParaRPr lang="en-US" sz="1600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sp>
          <p:nvSpPr>
            <p:cNvPr id="648235" name="Line 92"/>
            <p:cNvSpPr>
              <a:spLocks noChangeShapeType="1"/>
            </p:cNvSpPr>
            <p:nvPr/>
          </p:nvSpPr>
          <p:spPr bwMode="auto">
            <a:xfrm>
              <a:off x="1270" y="2588"/>
              <a:ext cx="1" cy="19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solidFill>
                  <a:prstClr val="black"/>
                </a:solidFill>
                <a:latin typeface="Century Gothic"/>
                <a:cs typeface="Century Gothic"/>
              </a:endParaRPr>
            </a:p>
          </p:txBody>
        </p:sp>
      </p:grpSp>
      <p:sp>
        <p:nvSpPr>
          <p:cNvPr id="648237" name="Line 45"/>
          <p:cNvSpPr>
            <a:spLocks noChangeShapeType="1"/>
          </p:cNvSpPr>
          <p:nvPr/>
        </p:nvSpPr>
        <p:spPr bwMode="auto">
          <a:xfrm flipH="1">
            <a:off x="1828800" y="5634038"/>
            <a:ext cx="39417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38" name="Rectangle 46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pc="0" dirty="0"/>
              <a:t>SETTING THE FEDERAL FUNDS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839200" cy="4648200"/>
          </a:xfrm>
        </p:spPr>
        <p:txBody>
          <a:bodyPr>
            <a:normAutofit/>
          </a:bodyPr>
          <a:lstStyle/>
          <a:p>
            <a:pPr marL="1588" indent="-1588"/>
            <a:r>
              <a:rPr lang="en-US" sz="2400" dirty="0">
                <a:solidFill>
                  <a:srgbClr val="0070C0"/>
                </a:solidFill>
              </a:rPr>
              <a:t>The Fed uses open-market operations to </a:t>
            </a:r>
          </a:p>
          <a:p>
            <a:pPr marL="1588" indent="-1588"/>
            <a:r>
              <a:rPr lang="en-US" sz="2400" dirty="0">
                <a:solidFill>
                  <a:srgbClr val="0070C0"/>
                </a:solidFill>
              </a:rPr>
              <a:t>push the interest rate down to the target rate.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2133600" y="4419600"/>
            <a:ext cx="5029200" cy="1676400"/>
          </a:xfrm>
          <a:prstGeom prst="line">
            <a:avLst/>
          </a:prstGeom>
          <a:noFill/>
          <a:ln w="41275">
            <a:solidFill>
              <a:srgbClr val="2CB1AE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8223" name="Oval 86"/>
          <p:cNvSpPr>
            <a:spLocks noChangeArrowheads="1"/>
          </p:cNvSpPr>
          <p:nvPr/>
        </p:nvSpPr>
        <p:spPr bwMode="auto">
          <a:xfrm>
            <a:off x="3971925" y="5002213"/>
            <a:ext cx="131763" cy="131762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24" name="Oval 87"/>
          <p:cNvSpPr>
            <a:spLocks noChangeArrowheads="1"/>
          </p:cNvSpPr>
          <p:nvPr/>
        </p:nvSpPr>
        <p:spPr bwMode="auto">
          <a:xfrm>
            <a:off x="5716588" y="5559425"/>
            <a:ext cx="131762" cy="134938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33" name="Freeform 52"/>
          <p:cNvSpPr>
            <a:spLocks/>
          </p:cNvSpPr>
          <p:nvPr/>
        </p:nvSpPr>
        <p:spPr bwMode="auto">
          <a:xfrm>
            <a:off x="4038600" y="1905000"/>
            <a:ext cx="2590800" cy="838200"/>
          </a:xfrm>
          <a:custGeom>
            <a:avLst/>
            <a:gdLst>
              <a:gd name="T0" fmla="*/ 579 w 245"/>
              <a:gd name="T1" fmla="*/ 185 h 98"/>
              <a:gd name="T2" fmla="*/ 539 w 245"/>
              <a:gd name="T3" fmla="*/ 232 h 98"/>
              <a:gd name="T4" fmla="*/ 40 w 245"/>
              <a:gd name="T5" fmla="*/ 232 h 98"/>
              <a:gd name="T6" fmla="*/ 0 w 245"/>
              <a:gd name="T7" fmla="*/ 185 h 98"/>
              <a:gd name="T8" fmla="*/ 0 w 245"/>
              <a:gd name="T9" fmla="*/ 45 h 98"/>
              <a:gd name="T10" fmla="*/ 40 w 245"/>
              <a:gd name="T11" fmla="*/ 0 h 98"/>
              <a:gd name="T12" fmla="*/ 539 w 245"/>
              <a:gd name="T13" fmla="*/ 0 h 98"/>
              <a:gd name="T14" fmla="*/ 579 w 245"/>
              <a:gd name="T15" fmla="*/ 45 h 98"/>
              <a:gd name="T16" fmla="*/ 579 w 245"/>
              <a:gd name="T17" fmla="*/ 185 h 9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45"/>
              <a:gd name="T28" fmla="*/ 0 h 98"/>
              <a:gd name="T29" fmla="*/ 245 w 245"/>
              <a:gd name="T30" fmla="*/ 98 h 9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45" h="98">
                <a:moveTo>
                  <a:pt x="245" y="78"/>
                </a:moveTo>
                <a:cubicBezTo>
                  <a:pt x="245" y="89"/>
                  <a:pt x="237" y="98"/>
                  <a:pt x="228" y="98"/>
                </a:cubicBezTo>
                <a:cubicBezTo>
                  <a:pt x="17" y="98"/>
                  <a:pt x="17" y="98"/>
                  <a:pt x="17" y="98"/>
                </a:cubicBezTo>
                <a:cubicBezTo>
                  <a:pt x="8" y="98"/>
                  <a:pt x="0" y="89"/>
                  <a:pt x="0" y="7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7" y="0"/>
                </a:cubicBezTo>
                <a:cubicBezTo>
                  <a:pt x="228" y="0"/>
                  <a:pt x="228" y="0"/>
                  <a:pt x="228" y="0"/>
                </a:cubicBezTo>
                <a:cubicBezTo>
                  <a:pt x="237" y="0"/>
                  <a:pt x="245" y="9"/>
                  <a:pt x="245" y="19"/>
                </a:cubicBezTo>
                <a:lnTo>
                  <a:pt x="245" y="78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34" name="Rectangle 43"/>
          <p:cNvSpPr>
            <a:spLocks noChangeArrowheads="1"/>
          </p:cNvSpPr>
          <p:nvPr/>
        </p:nvSpPr>
        <p:spPr bwMode="auto">
          <a:xfrm>
            <a:off x="4038600" y="1905000"/>
            <a:ext cx="2743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An open-market purchase  of Treasury bills…</a:t>
            </a:r>
          </a:p>
        </p:txBody>
      </p:sp>
      <p:sp>
        <p:nvSpPr>
          <p:cNvPr id="37" name="Freeform 205"/>
          <p:cNvSpPr>
            <a:spLocks/>
          </p:cNvSpPr>
          <p:nvPr/>
        </p:nvSpPr>
        <p:spPr bwMode="auto">
          <a:xfrm>
            <a:off x="0" y="4965700"/>
            <a:ext cx="1371600" cy="977900"/>
          </a:xfrm>
          <a:custGeom>
            <a:avLst/>
            <a:gdLst>
              <a:gd name="T0" fmla="*/ 383 w 162"/>
              <a:gd name="T1" fmla="*/ 352 h 168"/>
              <a:gd name="T2" fmla="*/ 345 w 162"/>
              <a:gd name="T3" fmla="*/ 397 h 168"/>
              <a:gd name="T4" fmla="*/ 38 w 162"/>
              <a:gd name="T5" fmla="*/ 397 h 168"/>
              <a:gd name="T6" fmla="*/ 0 w 162"/>
              <a:gd name="T7" fmla="*/ 352 h 168"/>
              <a:gd name="T8" fmla="*/ 0 w 162"/>
              <a:gd name="T9" fmla="*/ 45 h 168"/>
              <a:gd name="T10" fmla="*/ 38 w 162"/>
              <a:gd name="T11" fmla="*/ 0 h 168"/>
              <a:gd name="T12" fmla="*/ 345 w 162"/>
              <a:gd name="T13" fmla="*/ 0 h 168"/>
              <a:gd name="T14" fmla="*/ 383 w 162"/>
              <a:gd name="T15" fmla="*/ 45 h 168"/>
              <a:gd name="T16" fmla="*/ 383 w 162"/>
              <a:gd name="T17" fmla="*/ 352 h 16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62"/>
              <a:gd name="T28" fmla="*/ 0 h 168"/>
              <a:gd name="T29" fmla="*/ 162 w 162"/>
              <a:gd name="T30" fmla="*/ 168 h 16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62" h="168">
                <a:moveTo>
                  <a:pt x="162" y="149"/>
                </a:moveTo>
                <a:cubicBezTo>
                  <a:pt x="162" y="159"/>
                  <a:pt x="155" y="168"/>
                  <a:pt x="146" y="168"/>
                </a:cubicBezTo>
                <a:cubicBezTo>
                  <a:pt x="16" y="168"/>
                  <a:pt x="16" y="168"/>
                  <a:pt x="16" y="168"/>
                </a:cubicBezTo>
                <a:cubicBezTo>
                  <a:pt x="8" y="168"/>
                  <a:pt x="0" y="159"/>
                  <a:pt x="0" y="14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6" y="0"/>
                </a:cubicBezTo>
                <a:cubicBezTo>
                  <a:pt x="146" y="0"/>
                  <a:pt x="146" y="0"/>
                  <a:pt x="146" y="0"/>
                </a:cubicBezTo>
                <a:cubicBezTo>
                  <a:pt x="155" y="0"/>
                  <a:pt x="162" y="8"/>
                  <a:pt x="162" y="19"/>
                </a:cubicBezTo>
                <a:lnTo>
                  <a:pt x="162" y="14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38" name="Rectangle 47"/>
          <p:cNvSpPr>
            <a:spLocks noChangeArrowheads="1"/>
          </p:cNvSpPr>
          <p:nvPr/>
        </p:nvSpPr>
        <p:spPr bwMode="auto">
          <a:xfrm>
            <a:off x="0" y="5041900"/>
            <a:ext cx="1447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…drives the interest rate down.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51274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4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4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333 1.11111E-6 L 1.11022E-16 1.11111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6482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4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4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4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4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64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4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198" grpId="0"/>
      <p:bldP spid="648200" grpId="0" animBg="1"/>
      <p:bldP spid="648201" grpId="0" animBg="1"/>
      <p:bldP spid="648202" grpId="0"/>
      <p:bldP spid="648204" grpId="0"/>
      <p:bldP spid="648209" grpId="0" animBg="1"/>
      <p:bldP spid="648209" grpId="1" animBg="1"/>
      <p:bldP spid="648237" grpId="0" animBg="1"/>
      <p:bldP spid="3" grpId="0" build="p"/>
      <p:bldP spid="648224" grpId="0" animBg="1"/>
      <p:bldP spid="37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8" name="Rectangle 7"/>
          <p:cNvSpPr>
            <a:spLocks noChangeArrowheads="1"/>
          </p:cNvSpPr>
          <p:nvPr/>
        </p:nvSpPr>
        <p:spPr bwMode="auto">
          <a:xfrm>
            <a:off x="5629275" y="6413500"/>
            <a:ext cx="3508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00" name="Line 45"/>
          <p:cNvSpPr>
            <a:spLocks noChangeShapeType="1"/>
          </p:cNvSpPr>
          <p:nvPr/>
        </p:nvSpPr>
        <p:spPr bwMode="auto">
          <a:xfrm>
            <a:off x="5638800" y="6416675"/>
            <a:ext cx="114300" cy="3175"/>
          </a:xfrm>
          <a:prstGeom prst="line">
            <a:avLst/>
          </a:prstGeom>
          <a:noFill/>
          <a:ln w="7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01" name="Line 94"/>
          <p:cNvSpPr>
            <a:spLocks noChangeShapeType="1"/>
          </p:cNvSpPr>
          <p:nvPr/>
        </p:nvSpPr>
        <p:spPr bwMode="auto">
          <a:xfrm flipH="1">
            <a:off x="4289497" y="6556376"/>
            <a:ext cx="1310482" cy="0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02" name="Rectangle 34"/>
          <p:cNvSpPr>
            <a:spLocks noChangeArrowheads="1"/>
          </p:cNvSpPr>
          <p:nvPr/>
        </p:nvSpPr>
        <p:spPr bwMode="auto">
          <a:xfrm>
            <a:off x="5848350" y="5294313"/>
            <a:ext cx="2476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04" name="Rectangle 41"/>
          <p:cNvSpPr>
            <a:spLocks noChangeArrowheads="1"/>
          </p:cNvSpPr>
          <p:nvPr/>
        </p:nvSpPr>
        <p:spPr bwMode="auto">
          <a:xfrm>
            <a:off x="3905209" y="2828766"/>
            <a:ext cx="38311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MS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09" name="Line 84"/>
          <p:cNvSpPr>
            <a:spLocks noChangeShapeType="1"/>
          </p:cNvSpPr>
          <p:nvPr/>
        </p:nvSpPr>
        <p:spPr bwMode="auto">
          <a:xfrm>
            <a:off x="5775325" y="3074988"/>
            <a:ext cx="3175" cy="3268662"/>
          </a:xfrm>
          <a:prstGeom prst="line">
            <a:avLst/>
          </a:prstGeom>
          <a:noFill/>
          <a:ln w="38100">
            <a:solidFill>
              <a:srgbClr val="FDBA4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11" name="Rectangle 18"/>
          <p:cNvSpPr>
            <a:spLocks noChangeArrowheads="1"/>
          </p:cNvSpPr>
          <p:nvPr/>
        </p:nvSpPr>
        <p:spPr bwMode="auto">
          <a:xfrm>
            <a:off x="1558925" y="4799013"/>
            <a:ext cx="15551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13" name="Rectangle 36"/>
          <p:cNvSpPr>
            <a:spLocks noChangeArrowheads="1"/>
          </p:cNvSpPr>
          <p:nvPr/>
        </p:nvSpPr>
        <p:spPr bwMode="auto">
          <a:xfrm>
            <a:off x="4117975" y="4762500"/>
            <a:ext cx="19608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14" name="Rectangle 38"/>
          <p:cNvSpPr>
            <a:spLocks noChangeArrowheads="1"/>
          </p:cNvSpPr>
          <p:nvPr/>
        </p:nvSpPr>
        <p:spPr bwMode="auto">
          <a:xfrm>
            <a:off x="5614153" y="2828767"/>
            <a:ext cx="38311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MS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16" name="Rectangle 40"/>
          <p:cNvSpPr>
            <a:spLocks noChangeArrowheads="1"/>
          </p:cNvSpPr>
          <p:nvPr/>
        </p:nvSpPr>
        <p:spPr bwMode="auto">
          <a:xfrm>
            <a:off x="7246938" y="5673725"/>
            <a:ext cx="37548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MD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17" name="Rectangle 46"/>
          <p:cNvSpPr>
            <a:spLocks noChangeArrowheads="1"/>
          </p:cNvSpPr>
          <p:nvPr/>
        </p:nvSpPr>
        <p:spPr bwMode="auto">
          <a:xfrm>
            <a:off x="3955358" y="6413500"/>
            <a:ext cx="27463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19" name="Line 48"/>
          <p:cNvSpPr>
            <a:spLocks noChangeShapeType="1"/>
          </p:cNvSpPr>
          <p:nvPr/>
        </p:nvSpPr>
        <p:spPr bwMode="auto">
          <a:xfrm>
            <a:off x="3962400" y="6416675"/>
            <a:ext cx="111125" cy="3175"/>
          </a:xfrm>
          <a:prstGeom prst="line">
            <a:avLst/>
          </a:prstGeom>
          <a:noFill/>
          <a:ln w="7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20" name="Line 49"/>
          <p:cNvSpPr>
            <a:spLocks noChangeShapeType="1"/>
          </p:cNvSpPr>
          <p:nvPr/>
        </p:nvSpPr>
        <p:spPr bwMode="auto">
          <a:xfrm>
            <a:off x="4037013" y="3100388"/>
            <a:ext cx="1587" cy="3243262"/>
          </a:xfrm>
          <a:prstGeom prst="line">
            <a:avLst/>
          </a:prstGeom>
          <a:noFill/>
          <a:ln w="38100">
            <a:solidFill>
              <a:srgbClr val="F371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21" name="Freeform 82"/>
          <p:cNvSpPr>
            <a:spLocks/>
          </p:cNvSpPr>
          <p:nvPr/>
        </p:nvSpPr>
        <p:spPr bwMode="auto">
          <a:xfrm>
            <a:off x="1828800" y="2590800"/>
            <a:ext cx="5911850" cy="3752850"/>
          </a:xfrm>
          <a:custGeom>
            <a:avLst/>
            <a:gdLst>
              <a:gd name="T0" fmla="*/ 5893384 w 2098"/>
              <a:gd name="T1" fmla="*/ 4755730 h 1691"/>
              <a:gd name="T2" fmla="*/ 0 w 2098"/>
              <a:gd name="T3" fmla="*/ 4755730 h 1691"/>
              <a:gd name="T4" fmla="*/ 0 w 2098"/>
              <a:gd name="T5" fmla="*/ 0 h 1691"/>
              <a:gd name="T6" fmla="*/ 0 60000 65536"/>
              <a:gd name="T7" fmla="*/ 0 60000 65536"/>
              <a:gd name="T8" fmla="*/ 0 60000 65536"/>
              <a:gd name="T9" fmla="*/ 0 w 2098"/>
              <a:gd name="T10" fmla="*/ 0 h 1691"/>
              <a:gd name="T11" fmla="*/ 2098 w 2098"/>
              <a:gd name="T12" fmla="*/ 1691 h 16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8" h="1691">
                <a:moveTo>
                  <a:pt x="2098" y="1691"/>
                </a:moveTo>
                <a:lnTo>
                  <a:pt x="0" y="1691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25" name="Footer Placeholder 2"/>
          <p:cNvSpPr txBox="1">
            <a:spLocks noGrp="1"/>
          </p:cNvSpPr>
          <p:nvPr/>
        </p:nvSpPr>
        <p:spPr bwMode="auto">
          <a:xfrm>
            <a:off x="6324600" y="6477158"/>
            <a:ext cx="2286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Quantity of money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  <a:p>
            <a:pPr algn="ctr"/>
            <a:endParaRPr lang="en-US" sz="1200" dirty="0">
              <a:solidFill>
                <a:srgbClr val="898989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26" name="Rectangle 34"/>
          <p:cNvSpPr>
            <a:spLocks noChangeArrowheads="1"/>
          </p:cNvSpPr>
          <p:nvPr/>
        </p:nvSpPr>
        <p:spPr bwMode="auto">
          <a:xfrm>
            <a:off x="719667" y="2122488"/>
            <a:ext cx="106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Interest</a:t>
            </a:r>
          </a:p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rate, </a:t>
            </a:r>
            <a:r>
              <a:rPr lang="en-US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</a:p>
        </p:txBody>
      </p:sp>
      <p:sp>
        <p:nvSpPr>
          <p:cNvPr id="648227" name="Line 35"/>
          <p:cNvSpPr>
            <a:spLocks noChangeShapeType="1"/>
          </p:cNvSpPr>
          <p:nvPr/>
        </p:nvSpPr>
        <p:spPr bwMode="auto">
          <a:xfrm flipH="1" flipV="1">
            <a:off x="1828800" y="5045075"/>
            <a:ext cx="2182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33" name="Rectangle 20"/>
          <p:cNvSpPr>
            <a:spLocks noChangeArrowheads="1"/>
          </p:cNvSpPr>
          <p:nvPr/>
        </p:nvSpPr>
        <p:spPr bwMode="auto">
          <a:xfrm>
            <a:off x="1558932" y="5446714"/>
            <a:ext cx="15551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35" name="Line 92"/>
          <p:cNvSpPr>
            <a:spLocks noChangeShapeType="1"/>
          </p:cNvSpPr>
          <p:nvPr/>
        </p:nvSpPr>
        <p:spPr bwMode="auto">
          <a:xfrm flipV="1">
            <a:off x="1635132" y="5094289"/>
            <a:ext cx="1588" cy="392113"/>
          </a:xfrm>
          <a:prstGeom prst="line">
            <a:avLst/>
          </a:prstGeom>
          <a:noFill/>
          <a:ln w="0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37" name="Line 45"/>
          <p:cNvSpPr>
            <a:spLocks noChangeShapeType="1"/>
          </p:cNvSpPr>
          <p:nvPr/>
        </p:nvSpPr>
        <p:spPr bwMode="auto">
          <a:xfrm flipH="1">
            <a:off x="1828800" y="5634038"/>
            <a:ext cx="39417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48238" name="Rectangle 46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pc="0" dirty="0"/>
              <a:t>SETTING THE FEDERAL FUNDS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588" indent="-1588" algn="ctr"/>
            <a:r>
              <a:rPr lang="en-US" sz="2400" dirty="0">
                <a:solidFill>
                  <a:srgbClr val="0070C0"/>
                </a:solidFill>
              </a:rPr>
              <a:t>The Fed uses open-market operations to </a:t>
            </a:r>
          </a:p>
          <a:p>
            <a:pPr marL="1588" indent="-1588" algn="ctr"/>
            <a:r>
              <a:rPr lang="en-US" sz="2400" dirty="0">
                <a:solidFill>
                  <a:srgbClr val="0070C0"/>
                </a:solidFill>
              </a:rPr>
              <a:t>pull the interest rate up to the target rate.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2133600" y="4419600"/>
            <a:ext cx="5029200" cy="1676400"/>
          </a:xfrm>
          <a:prstGeom prst="line">
            <a:avLst/>
          </a:prstGeom>
          <a:noFill/>
          <a:ln w="41275">
            <a:solidFill>
              <a:srgbClr val="2CB1AE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8223" name="Oval 86"/>
          <p:cNvSpPr>
            <a:spLocks noChangeArrowheads="1"/>
          </p:cNvSpPr>
          <p:nvPr/>
        </p:nvSpPr>
        <p:spPr bwMode="auto">
          <a:xfrm>
            <a:off x="3971925" y="5002213"/>
            <a:ext cx="131763" cy="131762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48224" name="Oval 87"/>
          <p:cNvSpPr>
            <a:spLocks noChangeArrowheads="1"/>
          </p:cNvSpPr>
          <p:nvPr/>
        </p:nvSpPr>
        <p:spPr bwMode="auto">
          <a:xfrm>
            <a:off x="5716588" y="5559425"/>
            <a:ext cx="131762" cy="134938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33" name="Freeform 52"/>
          <p:cNvSpPr>
            <a:spLocks/>
          </p:cNvSpPr>
          <p:nvPr/>
        </p:nvSpPr>
        <p:spPr bwMode="auto">
          <a:xfrm>
            <a:off x="4038600" y="2057400"/>
            <a:ext cx="2286000" cy="584775"/>
          </a:xfrm>
          <a:custGeom>
            <a:avLst/>
            <a:gdLst>
              <a:gd name="T0" fmla="*/ 579 w 245"/>
              <a:gd name="T1" fmla="*/ 185 h 98"/>
              <a:gd name="T2" fmla="*/ 539 w 245"/>
              <a:gd name="T3" fmla="*/ 232 h 98"/>
              <a:gd name="T4" fmla="*/ 40 w 245"/>
              <a:gd name="T5" fmla="*/ 232 h 98"/>
              <a:gd name="T6" fmla="*/ 0 w 245"/>
              <a:gd name="T7" fmla="*/ 185 h 98"/>
              <a:gd name="T8" fmla="*/ 0 w 245"/>
              <a:gd name="T9" fmla="*/ 45 h 98"/>
              <a:gd name="T10" fmla="*/ 40 w 245"/>
              <a:gd name="T11" fmla="*/ 0 h 98"/>
              <a:gd name="T12" fmla="*/ 539 w 245"/>
              <a:gd name="T13" fmla="*/ 0 h 98"/>
              <a:gd name="T14" fmla="*/ 579 w 245"/>
              <a:gd name="T15" fmla="*/ 45 h 98"/>
              <a:gd name="T16" fmla="*/ 579 w 245"/>
              <a:gd name="T17" fmla="*/ 185 h 9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45"/>
              <a:gd name="T28" fmla="*/ 0 h 98"/>
              <a:gd name="T29" fmla="*/ 245 w 245"/>
              <a:gd name="T30" fmla="*/ 98 h 9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45" h="98">
                <a:moveTo>
                  <a:pt x="245" y="78"/>
                </a:moveTo>
                <a:cubicBezTo>
                  <a:pt x="245" y="89"/>
                  <a:pt x="237" y="98"/>
                  <a:pt x="228" y="98"/>
                </a:cubicBezTo>
                <a:cubicBezTo>
                  <a:pt x="17" y="98"/>
                  <a:pt x="17" y="98"/>
                  <a:pt x="17" y="98"/>
                </a:cubicBezTo>
                <a:cubicBezTo>
                  <a:pt x="8" y="98"/>
                  <a:pt x="0" y="89"/>
                  <a:pt x="0" y="7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7" y="0"/>
                </a:cubicBezTo>
                <a:cubicBezTo>
                  <a:pt x="228" y="0"/>
                  <a:pt x="228" y="0"/>
                  <a:pt x="228" y="0"/>
                </a:cubicBezTo>
                <a:cubicBezTo>
                  <a:pt x="237" y="0"/>
                  <a:pt x="245" y="9"/>
                  <a:pt x="245" y="19"/>
                </a:cubicBezTo>
                <a:lnTo>
                  <a:pt x="245" y="78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34" name="Rectangle 43"/>
          <p:cNvSpPr>
            <a:spLocks noChangeArrowheads="1"/>
          </p:cNvSpPr>
          <p:nvPr/>
        </p:nvSpPr>
        <p:spPr bwMode="auto">
          <a:xfrm>
            <a:off x="4038600" y="2057400"/>
            <a:ext cx="2362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An open-market sale of Treasury bills…</a:t>
            </a:r>
          </a:p>
        </p:txBody>
      </p:sp>
      <p:sp>
        <p:nvSpPr>
          <p:cNvPr id="37" name="Freeform 205"/>
          <p:cNvSpPr>
            <a:spLocks/>
          </p:cNvSpPr>
          <p:nvPr/>
        </p:nvSpPr>
        <p:spPr bwMode="auto">
          <a:xfrm>
            <a:off x="76200" y="4965700"/>
            <a:ext cx="1371600" cy="830262"/>
          </a:xfrm>
          <a:custGeom>
            <a:avLst/>
            <a:gdLst>
              <a:gd name="T0" fmla="*/ 383 w 162"/>
              <a:gd name="T1" fmla="*/ 352 h 168"/>
              <a:gd name="T2" fmla="*/ 345 w 162"/>
              <a:gd name="T3" fmla="*/ 397 h 168"/>
              <a:gd name="T4" fmla="*/ 38 w 162"/>
              <a:gd name="T5" fmla="*/ 397 h 168"/>
              <a:gd name="T6" fmla="*/ 0 w 162"/>
              <a:gd name="T7" fmla="*/ 352 h 168"/>
              <a:gd name="T8" fmla="*/ 0 w 162"/>
              <a:gd name="T9" fmla="*/ 45 h 168"/>
              <a:gd name="T10" fmla="*/ 38 w 162"/>
              <a:gd name="T11" fmla="*/ 0 h 168"/>
              <a:gd name="T12" fmla="*/ 345 w 162"/>
              <a:gd name="T13" fmla="*/ 0 h 168"/>
              <a:gd name="T14" fmla="*/ 383 w 162"/>
              <a:gd name="T15" fmla="*/ 45 h 168"/>
              <a:gd name="T16" fmla="*/ 383 w 162"/>
              <a:gd name="T17" fmla="*/ 352 h 16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62"/>
              <a:gd name="T28" fmla="*/ 0 h 168"/>
              <a:gd name="T29" fmla="*/ 162 w 162"/>
              <a:gd name="T30" fmla="*/ 168 h 16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62" h="168">
                <a:moveTo>
                  <a:pt x="162" y="149"/>
                </a:moveTo>
                <a:cubicBezTo>
                  <a:pt x="162" y="159"/>
                  <a:pt x="155" y="168"/>
                  <a:pt x="146" y="168"/>
                </a:cubicBezTo>
                <a:cubicBezTo>
                  <a:pt x="16" y="168"/>
                  <a:pt x="16" y="168"/>
                  <a:pt x="16" y="168"/>
                </a:cubicBezTo>
                <a:cubicBezTo>
                  <a:pt x="8" y="168"/>
                  <a:pt x="0" y="159"/>
                  <a:pt x="0" y="14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6" y="0"/>
                </a:cubicBezTo>
                <a:cubicBezTo>
                  <a:pt x="146" y="0"/>
                  <a:pt x="146" y="0"/>
                  <a:pt x="146" y="0"/>
                </a:cubicBezTo>
                <a:cubicBezTo>
                  <a:pt x="155" y="0"/>
                  <a:pt x="162" y="8"/>
                  <a:pt x="162" y="19"/>
                </a:cubicBezTo>
                <a:lnTo>
                  <a:pt x="162" y="14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38" name="Rectangle 47"/>
          <p:cNvSpPr>
            <a:spLocks noChangeArrowheads="1"/>
          </p:cNvSpPr>
          <p:nvPr/>
        </p:nvSpPr>
        <p:spPr bwMode="auto">
          <a:xfrm>
            <a:off x="-1" y="4965700"/>
            <a:ext cx="15589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…drives the interest rate up.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11986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4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184 0.00046 L -3.05556E-6 4.07407E-6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648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0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4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4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4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64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4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201" grpId="0" animBg="1"/>
      <p:bldP spid="648204" grpId="0"/>
      <p:bldP spid="648211" grpId="0"/>
      <p:bldP spid="648213" grpId="0"/>
      <p:bldP spid="648217" grpId="0"/>
      <p:bldP spid="648219" grpId="0" animBg="1"/>
      <p:bldP spid="648220" grpId="0" animBg="1"/>
      <p:bldP spid="648220" grpId="1" animBg="1"/>
      <p:bldP spid="648227" grpId="0" animBg="1"/>
      <p:bldP spid="648235" grpId="0" animBg="1"/>
      <p:bldP spid="3" grpId="0" build="p"/>
      <p:bldP spid="648223" grpId="0" animBg="1"/>
      <p:bldP spid="33" grpId="0" animBg="1"/>
      <p:bldP spid="34" grpId="0"/>
      <p:bldP spid="37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686800" cy="50292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3200" dirty="0">
                <a:solidFill>
                  <a:srgbClr val="0070C0"/>
                </a:solidFill>
              </a:rPr>
              <a:t>THE TARGET VERSUS THE MARKET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A common mistake is to imagine that changes in the way the Federal Reserve operates alter the way the money market works. 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In fact, the money market works the same way as always: The interest rate is determined by the supply and demand for money. 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The only difference is that now the Fed adjusts the supply of money to achieve its target interest rate. 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8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327132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money supply curve shifts to the left. The most likely cause for this shift is the FOMC’s open-market: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3200" dirty="0"/>
              <a:t>purchase of Treasury bills.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3200" dirty="0"/>
              <a:t>sale of Treasury bills.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3181" y="6307666"/>
            <a:ext cx="105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To Next </a:t>
            </a:r>
          </a:p>
          <a:p>
            <a:pPr algn="ctr"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Active Learning</a:t>
            </a: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290213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LONG-TERM INTEREST RATES</a:t>
            </a:r>
          </a:p>
        </p:txBody>
      </p:sp>
      <p:sp>
        <p:nvSpPr>
          <p:cNvPr id="63385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4800600" cy="46482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Long-term interest rates don’t necessarily move with short-term interest rates. </a:t>
            </a:r>
          </a:p>
          <a:p>
            <a:r>
              <a:rPr lang="en-US" sz="2800" dirty="0"/>
              <a:t>If investors expect short-term interest rates to rise, they may buy short-term bonds.</a:t>
            </a:r>
          </a:p>
          <a:p>
            <a:r>
              <a:rPr lang="en-US" sz="2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 practice, long-term interest rates reflect the market’s average expectation for short-term rates. </a:t>
            </a:r>
          </a:p>
          <a:p>
            <a:endParaRPr lang="en-US" sz="2800" dirty="0"/>
          </a:p>
        </p:txBody>
      </p:sp>
      <p:pic>
        <p:nvPicPr>
          <p:cNvPr id="3" name="Picture 2" descr="C:\Users\solina\Dropbox\Krugman 3e Dynamic PPTs\Krugman 3e material\Images_High Res\CH30\CH30\Krug3e_30UN04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67468" y="914400"/>
            <a:ext cx="4006427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923066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446" y="1371600"/>
            <a:ext cx="88392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Starting in September 2007, fighting the financial crisis took priority. </a:t>
            </a:r>
          </a:p>
          <a:p>
            <a:endParaRPr lang="en-US" sz="2800" dirty="0"/>
          </a:p>
        </p:txBody>
      </p:sp>
      <p:sp>
        <p:nvSpPr>
          <p:cNvPr id="581634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0" y="762000"/>
            <a:ext cx="9144000" cy="762000"/>
          </a:xfrm>
        </p:spPr>
        <p:txBody>
          <a:bodyPr>
            <a:normAutofit/>
          </a:bodyPr>
          <a:lstStyle/>
          <a:p>
            <a:r>
              <a:rPr lang="en-US" spc="0" dirty="0">
                <a:solidFill>
                  <a:srgbClr val="E46C0A"/>
                </a:solidFill>
                <a:latin typeface="Century Gothic"/>
                <a:cs typeface="Century Gothic"/>
              </a:rPr>
              <a:t>The Fed Reverses Course</a:t>
            </a:r>
          </a:p>
        </p:txBody>
      </p:sp>
      <p:pic>
        <p:nvPicPr>
          <p:cNvPr id="4" name="Picture 3" descr="Screen Shot 2015-04-09 at 20.25.39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67" y="2286000"/>
            <a:ext cx="7146033" cy="441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6443990"/>
            <a:ext cx="29365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/>
                <a:cs typeface="Century Gothic"/>
              </a:rPr>
              <a:t>Source: Federal Reserve Bank of St. Louis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369953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www.sxc.hu/pic/l/m/mj/mjw/460813_16945452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00800" y="2209800"/>
            <a:ext cx="2743200" cy="2057400"/>
          </a:xfrm>
          <a:prstGeom prst="rect">
            <a:avLst/>
          </a:prstGeom>
          <a:noFill/>
        </p:spPr>
      </p:pic>
      <p:sp>
        <p:nvSpPr>
          <p:cNvPr id="5109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>
            <a:noAutofit/>
          </a:bodyPr>
          <a:lstStyle/>
          <a:p>
            <a:r>
              <a:rPr lang="en-US" sz="4000" spc="0" dirty="0"/>
              <a:t>MONETARY POLICY AND AGGREGATE DEMAND</a:t>
            </a:r>
            <a:endParaRPr lang="en-US" sz="4000" b="0" spc="0" dirty="0">
              <a:solidFill>
                <a:schemeClr val="tx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95400"/>
            <a:ext cx="8839200" cy="4648200"/>
          </a:xfrm>
        </p:spPr>
        <p:txBody>
          <a:bodyPr>
            <a:normAutofit/>
          </a:bodyPr>
          <a:lstStyle/>
          <a:p>
            <a:pPr>
              <a:buClr>
                <a:srgbClr val="000000"/>
              </a:buClr>
            </a:pPr>
            <a:r>
              <a:rPr lang="en-US" sz="2800" i="1" dirty="0">
                <a:solidFill>
                  <a:srgbClr val="990033"/>
                </a:solidFill>
              </a:rPr>
              <a:t>Expansionary monetary policy: </a:t>
            </a:r>
            <a:r>
              <a:rPr lang="en-US" sz="2800" dirty="0"/>
              <a:t>monetary policy that increases aggregate demand (also called “easy money policy”).</a:t>
            </a:r>
          </a:p>
          <a:p>
            <a:pPr>
              <a:buClr>
                <a:srgbClr val="000000"/>
              </a:buClr>
            </a:pPr>
            <a:endParaRPr lang="en-US" sz="2800" dirty="0"/>
          </a:p>
          <a:p>
            <a:pPr>
              <a:buClr>
                <a:srgbClr val="000000"/>
              </a:buClr>
            </a:pPr>
            <a:endParaRPr lang="en-US" sz="2800" dirty="0"/>
          </a:p>
          <a:p>
            <a:pPr>
              <a:buClr>
                <a:srgbClr val="000000"/>
              </a:buClr>
            </a:pPr>
            <a:endParaRPr lang="en-US" sz="2800" dirty="0"/>
          </a:p>
          <a:p>
            <a:pPr>
              <a:buClr>
                <a:srgbClr val="000000"/>
              </a:buClr>
            </a:pPr>
            <a:r>
              <a:rPr lang="en-US" sz="2800" i="1" dirty="0">
                <a:solidFill>
                  <a:srgbClr val="990033"/>
                </a:solidFill>
              </a:rPr>
              <a:t>Contractionary monetary policy: </a:t>
            </a:r>
            <a:r>
              <a:rPr lang="en-US" sz="2800" dirty="0"/>
              <a:t>monetary policy that reduces aggregate demand (also called “tight money policy”).</a:t>
            </a:r>
          </a:p>
          <a:p>
            <a:endParaRPr lang="en-US" sz="2800" dirty="0"/>
          </a:p>
        </p:txBody>
      </p:sp>
      <p:sp>
        <p:nvSpPr>
          <p:cNvPr id="510983" name="Rectangle 7"/>
          <p:cNvSpPr>
            <a:spLocks noChangeArrowheads="1"/>
          </p:cNvSpPr>
          <p:nvPr/>
        </p:nvSpPr>
        <p:spPr bwMode="auto">
          <a:xfrm>
            <a:off x="228600" y="914400"/>
            <a:ext cx="8686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Font typeface="Wingdings" pitchFamily="2" charset="2"/>
              <a:buChar char="§"/>
            </a:pPr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 descr="Money061608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2809954"/>
            <a:ext cx="3429000" cy="15334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79381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When the economy is producing at a short-run level of aggregate output that is less than potential output, it is most likely that the Fed will engage in open-market: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3200" dirty="0"/>
              <a:t>purchases of Treasury bills.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3200" dirty="0"/>
              <a:t>sales of Treasury bills.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3181" y="6307666"/>
            <a:ext cx="105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To Next </a:t>
            </a:r>
          </a:p>
          <a:p>
            <a:pPr algn="ctr">
              <a:defRPr/>
            </a:pPr>
            <a:r>
              <a:rPr lang="en-US" sz="9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Active Learning</a:t>
            </a: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42320301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MONETARY POLICY AND AGGREGATE DEMAND</a:t>
            </a:r>
          </a:p>
        </p:txBody>
      </p:sp>
      <p:pic>
        <p:nvPicPr>
          <p:cNvPr id="7170" name="Picture 2" descr="C:\Users\solina\Dropbox\Krugman 3e Dynamic PPTs\Krugman 3e material\Images_High Res\CH30\CH30\Krug3e_fig_30_07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" y="3017520"/>
            <a:ext cx="1498600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solina\Dropbox\Krugman 3e Dynamic PPTs\Krugman 3e material\Images_High Res\CH30\CH30\Krug3e_fig_30_07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900363" y="3017520"/>
            <a:ext cx="1504420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solina\Dropbox\Krugman 3e Dynamic PPTs\Krugman 3e material\Images_High Res\CH30\CH30\Krug3e_fig_30_07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498601" y="3017520"/>
            <a:ext cx="1437480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solina\Dropbox\Krugman 3e Dynamic PPTs\Krugman 3e material\Images_High Res\CH30\CH30\Krug3e_fig_30_07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890260" y="3017520"/>
            <a:ext cx="3187139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solina\Dropbox\Krugman 3e Dynamic PPTs\Krugman 3e material\Images_High Res\CH30\CH30\Krug3e_fig_30_07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404783" y="3017520"/>
            <a:ext cx="1485477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281837" y="1371600"/>
            <a:ext cx="8839200" cy="990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prstClr val="black"/>
                </a:solidFill>
                <a:latin typeface="Century Gothic"/>
                <a:cs typeface="Century Gothic"/>
              </a:rPr>
              <a:t>How the expansionary monetary policy</a:t>
            </a:r>
          </a:p>
          <a:p>
            <a:r>
              <a:rPr lang="en-US" dirty="0">
                <a:solidFill>
                  <a:prstClr val="black"/>
                </a:solidFill>
                <a:latin typeface="Century Gothic"/>
                <a:cs typeface="Century Gothic"/>
              </a:rPr>
              <a:t>cycle works:</a:t>
            </a:r>
          </a:p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0134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pc="0" dirty="0"/>
              <a:t>MONETARY POLICY AND AGGREGATE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839200" cy="4343400"/>
          </a:xfrm>
        </p:spPr>
        <p:txBody>
          <a:bodyPr>
            <a:normAutofit/>
          </a:bodyPr>
          <a:lstStyle/>
          <a:p>
            <a:r>
              <a:rPr lang="en-US" dirty="0"/>
              <a:t>How the contractionary monetary policy</a:t>
            </a:r>
          </a:p>
          <a:p>
            <a:r>
              <a:rPr lang="en-US" dirty="0"/>
              <a:t>cycle works:</a:t>
            </a:r>
          </a:p>
          <a:p>
            <a:endParaRPr lang="en-US" dirty="0"/>
          </a:p>
        </p:txBody>
      </p:sp>
      <p:pic>
        <p:nvPicPr>
          <p:cNvPr id="7170" name="Picture 2" descr="C:\Users\solina\Dropbox\Krugman 3e Dynamic PPTs\Krugman 3e material\Images_High Res\CH30\CH30\Krug3e_fig_30_07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262" y="3131820"/>
            <a:ext cx="1472214" cy="136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solina\Dropbox\Krugman 3e Dynamic PPTs\Krugman 3e material\Images_High Res\CH30\CH30\Krug3e_fig_30_07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14476" y="3131820"/>
            <a:ext cx="1473200" cy="136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solina\Dropbox\Krugman 3e Dynamic PPTs\Krugman 3e material\Images_High Res\CH30\CH30\Krug3e_fig_30_07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987676" y="3131820"/>
            <a:ext cx="1473201" cy="136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solina\Dropbox\Krugman 3e Dynamic PPTs\Krugman 3e material\Images_High Res\CH30\CH30\Krug3e_fig_30_07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922328" y="3131820"/>
            <a:ext cx="3198709" cy="136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solina\Dropbox\Krugman 3e Dynamic PPTs\Krugman 3e material\Images_High Res\CH30\CH30\Krug3e_fig_30_07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431985" y="3131820"/>
            <a:ext cx="1490343" cy="136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99838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/>
              <a:t>MONETARY POLICY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120"/>
              </a:spcBef>
              <a:spcAft>
                <a:spcPts val="1200"/>
              </a:spcAft>
            </a:pPr>
            <a:r>
              <a:rPr lang="en-US" dirty="0">
                <a:solidFill>
                  <a:srgbClr val="0070C0"/>
                </a:solidFill>
              </a:rPr>
              <a:t>How does the Fed decide whether to use expansionary or contractionary monetary policy?</a:t>
            </a:r>
          </a:p>
          <a:p>
            <a:pPr>
              <a:spcBef>
                <a:spcPts val="120"/>
              </a:spcBef>
              <a:spcAft>
                <a:spcPts val="1200"/>
              </a:spcAft>
            </a:pPr>
            <a:r>
              <a:rPr lang="en-US" dirty="0"/>
              <a:t>And how does it decide how much is enough?</a:t>
            </a:r>
          </a:p>
          <a:p>
            <a:pPr>
              <a:spcBef>
                <a:spcPts val="120"/>
              </a:spcBef>
              <a:spcAft>
                <a:spcPts val="1200"/>
              </a:spcAft>
            </a:pPr>
            <a:r>
              <a:rPr lang="en-US" dirty="0">
                <a:solidFill>
                  <a:srgbClr val="990033"/>
                </a:solidFill>
              </a:rPr>
              <a:t>Policy makers try to fight recessions, as well as to ensure </a:t>
            </a:r>
            <a:r>
              <a:rPr lang="en-US" i="1" dirty="0">
                <a:solidFill>
                  <a:srgbClr val="990033"/>
                </a:solidFill>
              </a:rPr>
              <a:t>price stability</a:t>
            </a:r>
            <a:r>
              <a:rPr lang="en-US" dirty="0">
                <a:solidFill>
                  <a:srgbClr val="990033"/>
                </a:solidFill>
              </a:rPr>
              <a:t>: low (though usually not zero) inflation. </a:t>
            </a:r>
          </a:p>
          <a:p>
            <a:pPr>
              <a:spcBef>
                <a:spcPts val="120"/>
              </a:spcBef>
              <a:spcAft>
                <a:spcPts val="1200"/>
              </a:spcAft>
            </a:pPr>
            <a:r>
              <a:rPr lang="en-US" dirty="0"/>
              <a:t>Actual monetary policy reflects a combination of these goals.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457563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/>
              <a:t>TRACKING MONETARY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3810000" cy="4648200"/>
          </a:xfrm>
        </p:spPr>
        <p:txBody>
          <a:bodyPr>
            <a:normAutofit/>
          </a:bodyPr>
          <a:lstStyle/>
          <a:p>
            <a:r>
              <a:rPr lang="en-US" sz="2400" dirty="0"/>
              <a:t>The federal funds rate usually </a:t>
            </a:r>
            <a:r>
              <a:rPr lang="en-US" sz="2400" dirty="0">
                <a:solidFill>
                  <a:srgbClr val="0070C0"/>
                </a:solidFill>
              </a:rPr>
              <a:t>rises when the output gap is positive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990033"/>
                </a:solidFill>
              </a:rPr>
              <a:t>falls when the output gap is negative.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876800" y="990600"/>
            <a:ext cx="3505200" cy="198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prstClr val="black"/>
                </a:solidFill>
                <a:latin typeface="Century Gothic"/>
                <a:cs typeface="Century Gothic"/>
              </a:rPr>
              <a:t>The federal funds rate tends to be </a:t>
            </a:r>
            <a:r>
              <a:rPr lang="en-US" sz="2400" dirty="0">
                <a:solidFill>
                  <a:srgbClr val="0070C0"/>
                </a:solidFill>
                <a:latin typeface="Century Gothic"/>
                <a:cs typeface="Century Gothic"/>
              </a:rPr>
              <a:t>high when inflation is high </a:t>
            </a:r>
            <a:r>
              <a:rPr lang="en-US" sz="2400" dirty="0">
                <a:solidFill>
                  <a:prstClr val="black"/>
                </a:solidFill>
                <a:latin typeface="Century Gothic"/>
                <a:cs typeface="Century Gothic"/>
              </a:rPr>
              <a:t>and </a:t>
            </a:r>
            <a:r>
              <a:rPr lang="en-US" sz="2400" dirty="0">
                <a:solidFill>
                  <a:srgbClr val="990033"/>
                </a:solidFill>
                <a:latin typeface="Century Gothic"/>
                <a:cs typeface="Century Gothic"/>
              </a:rPr>
              <a:t>low when inflation is low.</a:t>
            </a:r>
          </a:p>
        </p:txBody>
      </p:sp>
      <p:pic>
        <p:nvPicPr>
          <p:cNvPr id="2" name="Picture 1" descr="Screen Shot 2015-04-09 at 20.37.2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56337"/>
            <a:ext cx="9144000" cy="3801663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22316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1066800"/>
          </a:xfrm>
        </p:spPr>
        <p:txBody>
          <a:bodyPr>
            <a:noAutofit/>
          </a:bodyPr>
          <a:lstStyle/>
          <a:p>
            <a:r>
              <a:rPr lang="en-US" spc="0" dirty="0"/>
              <a:t>THE TAYLOR RULE FOR MONETARY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839200" cy="42672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In 1993, Stanford economist John Taylor proposed a simple rule for monetary policy.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i="1" dirty="0">
                <a:solidFill>
                  <a:srgbClr val="990033"/>
                </a:solidFill>
              </a:rPr>
              <a:t>Taylor rule for monetary policy: </a:t>
            </a:r>
            <a:r>
              <a:rPr lang="en-US" b="0" dirty="0"/>
              <a:t>set the federal funds rate according to the level of the inflation rate and either the output gap or the unemployment rate.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6135213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990600"/>
          </a:xfrm>
        </p:spPr>
        <p:txBody>
          <a:bodyPr>
            <a:noAutofit/>
          </a:bodyPr>
          <a:lstStyle/>
          <a:p>
            <a:r>
              <a:rPr lang="en-US" spc="0" dirty="0"/>
              <a:t>THE FEDERAL FUNDS TARGET AND THE TAYLOR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839200" cy="4572000"/>
          </a:xfrm>
        </p:spPr>
        <p:txBody>
          <a:bodyPr>
            <a:normAutofit/>
          </a:bodyPr>
          <a:lstStyle/>
          <a:p>
            <a:r>
              <a:rPr lang="en-US" dirty="0"/>
              <a:t>To address both goals:</a:t>
            </a:r>
          </a:p>
          <a:p>
            <a:pPr marL="800100" lvl="1" indent="-342900">
              <a:buFont typeface="Arial"/>
              <a:buChar char="•"/>
            </a:pPr>
            <a:r>
              <a:rPr lang="en-US" dirty="0"/>
              <a:t>inflation</a:t>
            </a:r>
          </a:p>
          <a:p>
            <a:pPr marL="800100" lvl="1" indent="-342900">
              <a:buFont typeface="Arial"/>
              <a:buChar char="•"/>
            </a:pPr>
            <a:r>
              <a:rPr lang="en-US" dirty="0"/>
              <a:t>recessions</a:t>
            </a:r>
          </a:p>
          <a:p>
            <a:r>
              <a:rPr lang="en-US" dirty="0"/>
              <a:t>The Fed can follow a rule:</a:t>
            </a:r>
          </a:p>
          <a:p>
            <a:pPr>
              <a:buNone/>
            </a:pPr>
            <a:endParaRPr lang="en-US" sz="3600" dirty="0"/>
          </a:p>
          <a:p>
            <a:endParaRPr lang="en-US" dirty="0"/>
          </a:p>
          <a:p>
            <a:r>
              <a:rPr lang="en-US" dirty="0"/>
              <a:t>As it turns out, between 1988 and 2008 the Fed basically did just this.</a:t>
            </a:r>
          </a:p>
        </p:txBody>
      </p:sp>
      <p:pic>
        <p:nvPicPr>
          <p:cNvPr id="109570" name="Picture 2" descr="http://www.sxc.hu/pic/l/a/as/asifthebes/1088021_18438362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00" y="457200"/>
            <a:ext cx="2834640" cy="342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6438900" y="1566672"/>
            <a:ext cx="2057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solidFill>
                  <a:prstClr val="black"/>
                </a:solidFill>
                <a:latin typeface="Calibri"/>
              </a:rPr>
              <a:t>Follow the </a:t>
            </a:r>
            <a:r>
              <a:rPr lang="en-US" sz="3200" b="1" cap="small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Taylor Rule</a:t>
            </a:r>
            <a:endParaRPr lang="en-US" sz="2800" b="1" cap="small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893403"/>
            <a:ext cx="9144000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prstClr val="black"/>
                </a:solidFill>
                <a:latin typeface="Century Gothic"/>
                <a:cs typeface="Century Gothic"/>
              </a:rPr>
              <a:t>Federal funds target rate = </a:t>
            </a:r>
          </a:p>
          <a:p>
            <a:r>
              <a:rPr lang="en-US" sz="2400" b="1" i="1" dirty="0">
                <a:solidFill>
                  <a:prstClr val="black"/>
                </a:solidFill>
                <a:latin typeface="Century Gothic"/>
                <a:cs typeface="Century Gothic"/>
              </a:rPr>
              <a:t>2.07 + 1.28 × inflation rate  – 1.95 × unemployment gap.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04867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/>
              <a:t>TRACKING MONETARY POLICY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838200"/>
            <a:ext cx="8839200" cy="4800600"/>
          </a:xfrm>
        </p:spPr>
        <p:txBody>
          <a:bodyPr>
            <a:normAutofit/>
          </a:bodyPr>
          <a:lstStyle/>
          <a:p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actual federal funds rate tracked the predicted rate quite closely through the end of 2008. </a:t>
            </a:r>
          </a:p>
          <a:p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After that the Taylor rule called for negative interest rates, which aren’t possible.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0" y="5181600"/>
            <a:ext cx="23088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i="1" dirty="0">
                <a:solidFill>
                  <a:prstClr val="black"/>
                </a:solidFill>
                <a:latin typeface="Century Gothic"/>
                <a:cs typeface="Century Gothic"/>
              </a:rPr>
              <a:t>Sources: Bureau of Labor Statistics;</a:t>
            </a:r>
          </a:p>
          <a:p>
            <a:r>
              <a:rPr lang="en-US" sz="900" i="1" dirty="0">
                <a:solidFill>
                  <a:prstClr val="black"/>
                </a:solidFill>
                <a:latin typeface="Century Gothic"/>
                <a:cs typeface="Century Gothic"/>
              </a:rPr>
              <a:t>Congressional Budget Office; Federal</a:t>
            </a:r>
          </a:p>
          <a:p>
            <a:r>
              <a:rPr lang="en-US" sz="900" i="1" dirty="0">
                <a:solidFill>
                  <a:prstClr val="black"/>
                </a:solidFill>
                <a:latin typeface="Century Gothic"/>
                <a:cs typeface="Century Gothic"/>
              </a:rPr>
              <a:t>Reserve Bank of St. Louis; Glenn D.</a:t>
            </a:r>
          </a:p>
          <a:p>
            <a:r>
              <a:rPr lang="en-US" sz="900" i="1" dirty="0">
                <a:solidFill>
                  <a:prstClr val="black"/>
                </a:solidFill>
                <a:latin typeface="Century Gothic"/>
                <a:cs typeface="Century Gothic"/>
              </a:rPr>
              <a:t>Rudebusch, “The Fed’s Monetary Policy</a:t>
            </a:r>
          </a:p>
          <a:p>
            <a:r>
              <a:rPr lang="en-US" sz="900" i="1" dirty="0">
                <a:solidFill>
                  <a:prstClr val="black"/>
                </a:solidFill>
                <a:latin typeface="Century Gothic"/>
                <a:cs typeface="Century Gothic"/>
              </a:rPr>
              <a:t>Response to the Current Crisis,” </a:t>
            </a:r>
            <a:r>
              <a:rPr lang="en-US" sz="900" dirty="0">
                <a:solidFill>
                  <a:prstClr val="black"/>
                </a:solidFill>
                <a:latin typeface="Century Gothic"/>
                <a:cs typeface="Century Gothic"/>
              </a:rPr>
              <a:t>FRBSF</a:t>
            </a:r>
          </a:p>
          <a:p>
            <a:r>
              <a:rPr lang="en-US" sz="900" dirty="0">
                <a:solidFill>
                  <a:prstClr val="black"/>
                </a:solidFill>
                <a:latin typeface="Century Gothic"/>
                <a:cs typeface="Century Gothic"/>
              </a:rPr>
              <a:t>Economic Letter</a:t>
            </a:r>
            <a:r>
              <a:rPr lang="en-US" sz="900" i="1" dirty="0">
                <a:solidFill>
                  <a:prstClr val="black"/>
                </a:solidFill>
                <a:latin typeface="Century Gothic"/>
                <a:cs typeface="Century Gothic"/>
              </a:rPr>
              <a:t> #2009-17 (May 22, 2009).</a:t>
            </a:r>
          </a:p>
        </p:txBody>
      </p:sp>
      <p:pic>
        <p:nvPicPr>
          <p:cNvPr id="6" name="Picture 5" descr="Screen Shot 2015-04-09 at 20.39.38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14600"/>
            <a:ext cx="5994400" cy="414930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802199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28600" y="1066800"/>
            <a:ext cx="8458200" cy="528955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3200" dirty="0"/>
              <a:t>With a partner, draw the </a:t>
            </a:r>
            <a:r>
              <a:rPr lang="en-US" sz="3200" i="1" dirty="0"/>
              <a:t>SRAS</a:t>
            </a:r>
            <a:r>
              <a:rPr lang="en-US" sz="3200" dirty="0"/>
              <a:t>, </a:t>
            </a:r>
            <a:r>
              <a:rPr lang="en-US" sz="3200" i="1" dirty="0"/>
              <a:t>AD,</a:t>
            </a:r>
            <a:r>
              <a:rPr lang="en-US" sz="3200" dirty="0"/>
              <a:t> and </a:t>
            </a:r>
            <a:r>
              <a:rPr lang="en-US" sz="3200" i="1" dirty="0"/>
              <a:t>LRAS</a:t>
            </a:r>
            <a:r>
              <a:rPr lang="en-US" sz="3200" dirty="0"/>
              <a:t> curves for an economy with a recessionary gap.  What monetary policy should the Fed pursue with its open market operations?  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3200" dirty="0"/>
              <a:t>Explain what happens to interest rates.  Show on a money demand–money supply graph.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3200" dirty="0"/>
              <a:t>Finally, show the effect of the monetary policy on the original graph.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967757392"/>
      </p:ext>
    </p:extLst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/>
              <a:t>INFLATION TARGETING</a:t>
            </a:r>
          </a:p>
        </p:txBody>
      </p:sp>
      <p:sp>
        <p:nvSpPr>
          <p:cNvPr id="601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Instead of using a Taylor rule, </a:t>
            </a:r>
            <a:r>
              <a:rPr lang="en-US" dirty="0"/>
              <a:t>many central banks use inflation targeting.</a:t>
            </a:r>
          </a:p>
          <a:p>
            <a:pPr lvl="1"/>
            <a:r>
              <a:rPr lang="en-US" b="1" i="1" dirty="0">
                <a:solidFill>
                  <a:srgbClr val="990033"/>
                </a:solidFill>
              </a:rPr>
              <a:t>Inflation targeting:</a:t>
            </a:r>
            <a:r>
              <a:rPr lang="en-US" i="1" dirty="0">
                <a:solidFill>
                  <a:srgbClr val="990033"/>
                </a:solidFill>
              </a:rPr>
              <a:t> </a:t>
            </a:r>
            <a:r>
              <a:rPr lang="en-US" dirty="0"/>
              <a:t>the central bank setting an </a:t>
            </a:r>
            <a:r>
              <a:rPr lang="en-US" dirty="0">
                <a:solidFill>
                  <a:srgbClr val="0070C0"/>
                </a:solidFill>
              </a:rPr>
              <a:t>explicit target for the inflation rate </a:t>
            </a:r>
            <a:r>
              <a:rPr lang="en-US" dirty="0"/>
              <a:t>and using monetary policy to hit that target.</a:t>
            </a:r>
          </a:p>
        </p:txBody>
      </p:sp>
      <p:pic>
        <p:nvPicPr>
          <p:cNvPr id="4" name="Picture 4" descr="http://www.sxc.hu/pic/l/i/il/ilco/1078183_13647396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3810000"/>
            <a:ext cx="2891632" cy="2743200"/>
          </a:xfrm>
          <a:prstGeom prst="rect">
            <a:avLst/>
          </a:prstGeom>
          <a:noFill/>
        </p:spPr>
      </p:pic>
      <p:pic>
        <p:nvPicPr>
          <p:cNvPr id="5" name="Picture 2" descr="C:\Users\solina\Dropbox\Krugman 3e Dynamic PPTs\Krugman 3e material\Images_High Res\CH30\CH30\Krug3e_30UN06.jp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81400" y="3733800"/>
            <a:ext cx="4267200" cy="272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23443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1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1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091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/>
              <a:t>DOES IT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6629400" cy="4648200"/>
          </a:xfrm>
        </p:spPr>
        <p:txBody>
          <a:bodyPr/>
          <a:lstStyle/>
          <a:p>
            <a:r>
              <a:rPr lang="en-US" dirty="0"/>
              <a:t>One major difference between the two methods:</a:t>
            </a:r>
          </a:p>
          <a:p>
            <a:pPr marL="914400" lvl="1" indent="-457200">
              <a:buFont typeface="Arial"/>
              <a:buChar char="•"/>
            </a:pPr>
            <a:r>
              <a:rPr lang="en-US" dirty="0">
                <a:solidFill>
                  <a:srgbClr val="0070C0"/>
                </a:solidFill>
              </a:rPr>
              <a:t>Inflation targeting is forward-looking </a:t>
            </a:r>
            <a:r>
              <a:rPr lang="en-US" dirty="0"/>
              <a:t>(based on a forecast of future inflation).</a:t>
            </a:r>
          </a:p>
          <a:p>
            <a:pPr marL="914400" lvl="1" indent="-457200">
              <a:buFont typeface="Arial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Taylor rule is backward-looking </a:t>
            </a:r>
            <a:r>
              <a:rPr lang="en-US" dirty="0"/>
              <a:t>(adjusts monetary policy in response to </a:t>
            </a:r>
            <a:r>
              <a:rPr lang="en-US" i="1" dirty="0"/>
              <a:t>past </a:t>
            </a:r>
            <a:r>
              <a:rPr lang="en-US" dirty="0"/>
              <a:t>inflation).</a:t>
            </a:r>
          </a:p>
        </p:txBody>
      </p:sp>
      <p:pic>
        <p:nvPicPr>
          <p:cNvPr id="17410" name="Picture 2" descr="http://www.sxc.hu/pic/l/m/mz/mzacha/770388_56146842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8269"/>
          <a:stretch/>
        </p:blipFill>
        <p:spPr bwMode="auto">
          <a:xfrm>
            <a:off x="6636380" y="1428749"/>
            <a:ext cx="2507620" cy="54292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http://www.sxc.hu/pic/l/m/mz/mzacha/770389_15028983.jpg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33" y="4175760"/>
            <a:ext cx="2103107" cy="2682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45118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spc="0" dirty="0"/>
              <a:t>THE ZERO LOWER BOUND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51" y="914400"/>
            <a:ext cx="8839200" cy="5181600"/>
          </a:xfrm>
        </p:spPr>
        <p:txBody>
          <a:bodyPr>
            <a:normAutofit fontScale="925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The fact that interest rates can’t go below zero </a:t>
            </a:r>
            <a:r>
              <a:rPr lang="en-US" sz="2800" dirty="0">
                <a:solidFill>
                  <a:srgbClr val="990033"/>
                </a:solidFill>
              </a:rPr>
              <a:t>(“zero lower bound”)</a:t>
            </a:r>
            <a:r>
              <a:rPr lang="en-US" sz="2800" b="0" dirty="0">
                <a:solidFill>
                  <a:srgbClr val="990033"/>
                </a:solidFill>
              </a:rPr>
              <a:t> </a:t>
            </a:r>
            <a:r>
              <a:rPr lang="en-US" sz="2800" dirty="0"/>
              <a:t>limits the power of monetary policy. 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solidFill>
                  <a:srgbClr val="0070C0"/>
                </a:solidFill>
              </a:rPr>
              <a:t>November 2010:  Interest rates were at or near zero, but the economy was still far below potential output.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So the Fed got creative and tried “quantitative easing” (buying longer-term government bonds).</a:t>
            </a:r>
          </a:p>
          <a:p>
            <a:pPr marL="3200400" lvl="7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600" b="1" i="1" dirty="0">
              <a:solidFill>
                <a:schemeClr val="tx1">
                  <a:lumMod val="75000"/>
                  <a:lumOff val="25000"/>
                </a:schemeClr>
              </a:solidFill>
              <a:latin typeface="Century Gothic"/>
              <a:cs typeface="Century Gothic"/>
            </a:endParaRPr>
          </a:p>
          <a:p>
            <a:pPr marL="3200400" lvl="7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cs typeface="Century Gothic"/>
              </a:rPr>
              <a:t>The Fed hoped this would drive down long-term interest rates and have an expansionary effect on the economy.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4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" y="3962400"/>
            <a:ext cx="3459616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8711822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447800"/>
            <a:ext cx="9067800" cy="4610634"/>
          </a:xfrm>
        </p:spPr>
        <p:txBody>
          <a:bodyPr>
            <a:noAutofit/>
          </a:bodyPr>
          <a:lstStyle/>
          <a:p>
            <a:r>
              <a:rPr lang="en-US" sz="2400" dirty="0"/>
              <a:t>Causality problems make it hard to observe whether high interest rates are a result of an expansion or of the Fed.  Romer and Romer focused on episodes of high interest rates when the </a:t>
            </a:r>
            <a:r>
              <a:rPr lang="en-US" sz="2400" dirty="0">
                <a:solidFill>
                  <a:srgbClr val="990033"/>
                </a:solidFill>
              </a:rPr>
              <a:t>Fed announced it would reduce inflation by increasing unemployment (red lines).  </a:t>
            </a:r>
            <a:r>
              <a:rPr lang="en-US" sz="2400" dirty="0"/>
              <a:t>In short, the Fed gets what it wants.</a:t>
            </a:r>
          </a:p>
        </p:txBody>
      </p:sp>
      <p:sp>
        <p:nvSpPr>
          <p:cNvPr id="604162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762000"/>
            <a:ext cx="9144000" cy="83820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pc="0" dirty="0">
                <a:solidFill>
                  <a:schemeClr val="accent6">
                    <a:lumMod val="75000"/>
                  </a:schemeClr>
                </a:solidFill>
                <a:latin typeface="Century Gothic"/>
                <a:cs typeface="Century Gothic"/>
              </a:rPr>
              <a:t>What the Fed wants, the fed gets</a:t>
            </a:r>
          </a:p>
        </p:txBody>
      </p:sp>
      <p:pic>
        <p:nvPicPr>
          <p:cNvPr id="10242" name="Picture 2" descr="C:\Users\solina\Dropbox\Krugman 3e Dynamic PPTs\Krugman 3e material\Images_High Res\CH30\CH30\Krug3e_fig_30_10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62200" y="3429000"/>
            <a:ext cx="5029200" cy="326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3975403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19200"/>
          </a:xfrm>
        </p:spPr>
        <p:txBody>
          <a:bodyPr>
            <a:noAutofit/>
          </a:bodyPr>
          <a:lstStyle/>
          <a:p>
            <a:r>
              <a:rPr lang="en-US" sz="4000" spc="0" dirty="0"/>
              <a:t>MONEY, OUTPUT, AND PRICES IN THE LONG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6629400" cy="5410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What about the economy’s ability to self-correct toward long-run equilibrium through flexible wages and </a:t>
            </a:r>
            <a:r>
              <a:rPr lang="en-US" i="1" dirty="0">
                <a:solidFill>
                  <a:srgbClr val="0070C0"/>
                </a:solidFill>
              </a:rPr>
              <a:t>SRAS</a:t>
            </a:r>
            <a:r>
              <a:rPr lang="en-US" dirty="0">
                <a:solidFill>
                  <a:srgbClr val="0070C0"/>
                </a:solidFill>
              </a:rPr>
              <a:t> shifts?</a:t>
            </a:r>
          </a:p>
          <a:p>
            <a:endParaRPr lang="en-US" dirty="0"/>
          </a:p>
          <a:p>
            <a:r>
              <a:rPr lang="en-US" dirty="0"/>
              <a:t>In short, we believe that in the long run, changes in the quantity of money affect the price level but not the output or interest rate.</a:t>
            </a:r>
          </a:p>
        </p:txBody>
      </p:sp>
      <p:pic>
        <p:nvPicPr>
          <p:cNvPr id="68610" name="Picture 2" descr="http://www.entertainmentearth.com/images/AUTOIMAGES/RC452lg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781800" y="1524000"/>
            <a:ext cx="2453640" cy="4229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40321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r>
              <a:rPr lang="en-US" sz="4000" spc="0" dirty="0"/>
              <a:t>MONEY, OUTPUT, AND PRICES IN THE LONG RUN</a:t>
            </a:r>
            <a:endParaRPr lang="en-US" sz="4000" b="0" spc="0" dirty="0"/>
          </a:p>
        </p:txBody>
      </p:sp>
      <p:sp>
        <p:nvSpPr>
          <p:cNvPr id="658439" name="Rectangle 7"/>
          <p:cNvSpPr>
            <a:spLocks noChangeArrowheads="1"/>
          </p:cNvSpPr>
          <p:nvPr/>
        </p:nvSpPr>
        <p:spPr bwMode="auto">
          <a:xfrm>
            <a:off x="6883465" y="3195638"/>
            <a:ext cx="6603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58441" name="Rectangle 9"/>
          <p:cNvSpPr>
            <a:spLocks noChangeArrowheads="1"/>
          </p:cNvSpPr>
          <p:nvPr/>
        </p:nvSpPr>
        <p:spPr bwMode="auto">
          <a:xfrm>
            <a:off x="4191000" y="2209800"/>
            <a:ext cx="5075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LRAS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58444" name="Line 12"/>
          <p:cNvSpPr>
            <a:spLocks noChangeShapeType="1"/>
          </p:cNvSpPr>
          <p:nvPr/>
        </p:nvSpPr>
        <p:spPr bwMode="auto">
          <a:xfrm>
            <a:off x="4286250" y="2501900"/>
            <a:ext cx="3175" cy="3333750"/>
          </a:xfrm>
          <a:prstGeom prst="line">
            <a:avLst/>
          </a:prstGeom>
          <a:noFill/>
          <a:ln w="38100">
            <a:solidFill>
              <a:srgbClr val="F7944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45" name="Line 13"/>
          <p:cNvSpPr>
            <a:spLocks noChangeShapeType="1"/>
          </p:cNvSpPr>
          <p:nvPr/>
        </p:nvSpPr>
        <p:spPr bwMode="auto">
          <a:xfrm flipH="1" flipV="1">
            <a:off x="2206625" y="3049588"/>
            <a:ext cx="2471738" cy="2206625"/>
          </a:xfrm>
          <a:prstGeom prst="line">
            <a:avLst/>
          </a:prstGeom>
          <a:noFill/>
          <a:ln w="38100">
            <a:solidFill>
              <a:srgbClr val="AEC5E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46" name="Line 14"/>
          <p:cNvSpPr>
            <a:spLocks noChangeShapeType="1"/>
          </p:cNvSpPr>
          <p:nvPr/>
        </p:nvSpPr>
        <p:spPr bwMode="auto">
          <a:xfrm flipV="1">
            <a:off x="3435350" y="3403600"/>
            <a:ext cx="3421063" cy="2009775"/>
          </a:xfrm>
          <a:prstGeom prst="line">
            <a:avLst/>
          </a:prstGeom>
          <a:noFill/>
          <a:ln w="38100">
            <a:solidFill>
              <a:srgbClr val="FAC0B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47" name="Freeform 15"/>
          <p:cNvSpPr>
            <a:spLocks/>
          </p:cNvSpPr>
          <p:nvPr/>
        </p:nvSpPr>
        <p:spPr bwMode="auto">
          <a:xfrm>
            <a:off x="1627188" y="1905000"/>
            <a:ext cx="6292850" cy="3930650"/>
          </a:xfrm>
          <a:custGeom>
            <a:avLst/>
            <a:gdLst>
              <a:gd name="T0" fmla="*/ 2615 w 2615"/>
              <a:gd name="T1" fmla="*/ 2036 h 2036"/>
              <a:gd name="T2" fmla="*/ 0 w 2615"/>
              <a:gd name="T3" fmla="*/ 2036 h 2036"/>
              <a:gd name="T4" fmla="*/ 0 w 2615"/>
              <a:gd name="T5" fmla="*/ 0 h 2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15" h="2036">
                <a:moveTo>
                  <a:pt x="2615" y="2036"/>
                </a:moveTo>
                <a:lnTo>
                  <a:pt x="0" y="2036"/>
                </a:lnTo>
                <a:lnTo>
                  <a:pt x="0" y="0"/>
                </a:lnTo>
              </a:path>
            </a:pathLst>
          </a:custGeom>
          <a:noFill/>
          <a:ln w="7938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48" name="Rectangle 16"/>
          <p:cNvSpPr>
            <a:spLocks noChangeArrowheads="1"/>
          </p:cNvSpPr>
          <p:nvPr/>
        </p:nvSpPr>
        <p:spPr bwMode="auto">
          <a:xfrm>
            <a:off x="4192588" y="5849938"/>
            <a:ext cx="2115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58450" name="Line 18"/>
          <p:cNvSpPr>
            <a:spLocks noChangeShapeType="1"/>
          </p:cNvSpPr>
          <p:nvPr/>
        </p:nvSpPr>
        <p:spPr bwMode="auto">
          <a:xfrm flipV="1">
            <a:off x="4286250" y="6148388"/>
            <a:ext cx="3175" cy="219075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51" name="Freeform 19"/>
          <p:cNvSpPr>
            <a:spLocks/>
          </p:cNvSpPr>
          <p:nvPr/>
        </p:nvSpPr>
        <p:spPr bwMode="auto">
          <a:xfrm>
            <a:off x="3733800" y="6324600"/>
            <a:ext cx="1676400" cy="457200"/>
          </a:xfrm>
          <a:custGeom>
            <a:avLst/>
            <a:gdLst>
              <a:gd name="T0" fmla="*/ 155 w 155"/>
              <a:gd name="T1" fmla="*/ 75 h 94"/>
              <a:gd name="T2" fmla="*/ 138 w 155"/>
              <a:gd name="T3" fmla="*/ 94 h 94"/>
              <a:gd name="T4" fmla="*/ 17 w 155"/>
              <a:gd name="T5" fmla="*/ 94 h 94"/>
              <a:gd name="T6" fmla="*/ 0 w 155"/>
              <a:gd name="T7" fmla="*/ 75 h 94"/>
              <a:gd name="T8" fmla="*/ 0 w 155"/>
              <a:gd name="T9" fmla="*/ 19 h 94"/>
              <a:gd name="T10" fmla="*/ 17 w 155"/>
              <a:gd name="T11" fmla="*/ 0 h 94"/>
              <a:gd name="T12" fmla="*/ 138 w 155"/>
              <a:gd name="T13" fmla="*/ 0 h 94"/>
              <a:gd name="T14" fmla="*/ 155 w 155"/>
              <a:gd name="T15" fmla="*/ 19 h 94"/>
              <a:gd name="T16" fmla="*/ 155 w 155"/>
              <a:gd name="T17" fmla="*/ 75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5" h="94">
                <a:moveTo>
                  <a:pt x="155" y="75"/>
                </a:moveTo>
                <a:cubicBezTo>
                  <a:pt x="155" y="86"/>
                  <a:pt x="148" y="94"/>
                  <a:pt x="138" y="94"/>
                </a:cubicBezTo>
                <a:cubicBezTo>
                  <a:pt x="17" y="94"/>
                  <a:pt x="17" y="94"/>
                  <a:pt x="17" y="94"/>
                </a:cubicBezTo>
                <a:cubicBezTo>
                  <a:pt x="7" y="94"/>
                  <a:pt x="0" y="86"/>
                  <a:pt x="0" y="75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7" y="0"/>
                  <a:pt x="17" y="0"/>
                </a:cubicBezTo>
                <a:cubicBezTo>
                  <a:pt x="138" y="0"/>
                  <a:pt x="138" y="0"/>
                  <a:pt x="138" y="0"/>
                </a:cubicBezTo>
                <a:cubicBezTo>
                  <a:pt x="148" y="0"/>
                  <a:pt x="155" y="9"/>
                  <a:pt x="155" y="19"/>
                </a:cubicBezTo>
                <a:lnTo>
                  <a:pt x="155" y="75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52" name="Rectangle 20"/>
          <p:cNvSpPr>
            <a:spLocks noChangeArrowheads="1"/>
          </p:cNvSpPr>
          <p:nvPr/>
        </p:nvSpPr>
        <p:spPr bwMode="auto">
          <a:xfrm>
            <a:off x="4346575" y="3505200"/>
            <a:ext cx="19608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58454" name="Rectangle 22"/>
          <p:cNvSpPr>
            <a:spLocks noChangeArrowheads="1"/>
          </p:cNvSpPr>
          <p:nvPr/>
        </p:nvSpPr>
        <p:spPr bwMode="auto">
          <a:xfrm>
            <a:off x="4060825" y="5008563"/>
            <a:ext cx="19608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58456" name="Rectangle 24"/>
          <p:cNvSpPr>
            <a:spLocks noChangeArrowheads="1"/>
          </p:cNvSpPr>
          <p:nvPr/>
        </p:nvSpPr>
        <p:spPr bwMode="auto">
          <a:xfrm>
            <a:off x="1357630" y="4849813"/>
            <a:ext cx="2115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58458" name="Line 26"/>
          <p:cNvSpPr>
            <a:spLocks noChangeShapeType="1"/>
          </p:cNvSpPr>
          <p:nvPr/>
        </p:nvSpPr>
        <p:spPr bwMode="auto">
          <a:xfrm>
            <a:off x="4429125" y="5981700"/>
            <a:ext cx="266700" cy="158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59" name="Freeform 27"/>
          <p:cNvSpPr>
            <a:spLocks/>
          </p:cNvSpPr>
          <p:nvPr/>
        </p:nvSpPr>
        <p:spPr bwMode="auto">
          <a:xfrm>
            <a:off x="4668838" y="5949950"/>
            <a:ext cx="101600" cy="63500"/>
          </a:xfrm>
          <a:custGeom>
            <a:avLst/>
            <a:gdLst>
              <a:gd name="T0" fmla="*/ 4 w 18"/>
              <a:gd name="T1" fmla="*/ 6 h 12"/>
              <a:gd name="T2" fmla="*/ 0 w 18"/>
              <a:gd name="T3" fmla="*/ 1 h 12"/>
              <a:gd name="T4" fmla="*/ 0 w 18"/>
              <a:gd name="T5" fmla="*/ 0 h 12"/>
              <a:gd name="T6" fmla="*/ 9 w 18"/>
              <a:gd name="T7" fmla="*/ 4 h 12"/>
              <a:gd name="T8" fmla="*/ 18 w 18"/>
              <a:gd name="T9" fmla="*/ 6 h 12"/>
              <a:gd name="T10" fmla="*/ 9 w 18"/>
              <a:gd name="T11" fmla="*/ 8 h 12"/>
              <a:gd name="T12" fmla="*/ 0 w 18"/>
              <a:gd name="T13" fmla="*/ 12 h 12"/>
              <a:gd name="T14" fmla="*/ 0 w 18"/>
              <a:gd name="T15" fmla="*/ 11 h 12"/>
              <a:gd name="T16" fmla="*/ 4 w 18"/>
              <a:gd name="T17" fmla="*/ 6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" h="12">
                <a:moveTo>
                  <a:pt x="4" y="6"/>
                </a:move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9" y="4"/>
                  <a:pt x="9" y="4"/>
                  <a:pt x="9" y="4"/>
                </a:cubicBezTo>
                <a:cubicBezTo>
                  <a:pt x="12" y="5"/>
                  <a:pt x="15" y="5"/>
                  <a:pt x="18" y="6"/>
                </a:cubicBezTo>
                <a:cubicBezTo>
                  <a:pt x="15" y="7"/>
                  <a:pt x="12" y="7"/>
                  <a:pt x="9" y="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1"/>
                  <a:pt x="0" y="11"/>
                  <a:pt x="0" y="11"/>
                </a:cubicBezTo>
                <a:lnTo>
                  <a:pt x="4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61" name="Oval 29"/>
          <p:cNvSpPr>
            <a:spLocks noChangeArrowheads="1"/>
          </p:cNvSpPr>
          <p:nvPr/>
        </p:nvSpPr>
        <p:spPr bwMode="auto">
          <a:xfrm>
            <a:off x="4230688" y="4854575"/>
            <a:ext cx="114300" cy="103188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62" name="Rectangle 30"/>
          <p:cNvSpPr>
            <a:spLocks noChangeArrowheads="1"/>
          </p:cNvSpPr>
          <p:nvPr/>
        </p:nvSpPr>
        <p:spPr bwMode="auto">
          <a:xfrm>
            <a:off x="4849813" y="5302250"/>
            <a:ext cx="61912" cy="682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63" name="Rectangle 31"/>
          <p:cNvSpPr>
            <a:spLocks noChangeArrowheads="1"/>
          </p:cNvSpPr>
          <p:nvPr/>
        </p:nvSpPr>
        <p:spPr bwMode="auto">
          <a:xfrm>
            <a:off x="76200" y="1416050"/>
            <a:ext cx="1600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</a:t>
            </a:r>
          </a:p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price level</a:t>
            </a:r>
          </a:p>
        </p:txBody>
      </p:sp>
      <p:sp>
        <p:nvSpPr>
          <p:cNvPr id="658464" name="Rectangle 32"/>
          <p:cNvSpPr>
            <a:spLocks noChangeArrowheads="1"/>
          </p:cNvSpPr>
          <p:nvPr/>
        </p:nvSpPr>
        <p:spPr bwMode="auto">
          <a:xfrm>
            <a:off x="7086600" y="5943600"/>
            <a:ext cx="12234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658465" name="Rectangle 33"/>
          <p:cNvSpPr>
            <a:spLocks noChangeArrowheads="1"/>
          </p:cNvSpPr>
          <p:nvPr/>
        </p:nvSpPr>
        <p:spPr bwMode="auto">
          <a:xfrm>
            <a:off x="3657600" y="6400800"/>
            <a:ext cx="1905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Potential output</a:t>
            </a:r>
          </a:p>
        </p:txBody>
      </p:sp>
      <p:sp>
        <p:nvSpPr>
          <p:cNvPr id="658467" name="Rectangle 35"/>
          <p:cNvSpPr>
            <a:spLocks noChangeArrowheads="1"/>
          </p:cNvSpPr>
          <p:nvPr/>
        </p:nvSpPr>
        <p:spPr bwMode="auto">
          <a:xfrm>
            <a:off x="6096000" y="2743200"/>
            <a:ext cx="56678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</a:p>
        </p:txBody>
      </p:sp>
      <p:sp>
        <p:nvSpPr>
          <p:cNvPr id="658469" name="Line 37"/>
          <p:cNvSpPr>
            <a:spLocks noChangeShapeType="1"/>
          </p:cNvSpPr>
          <p:nvPr/>
        </p:nvSpPr>
        <p:spPr bwMode="auto">
          <a:xfrm flipH="1">
            <a:off x="5116513" y="3700463"/>
            <a:ext cx="1014413" cy="1588"/>
          </a:xfrm>
          <a:prstGeom prst="line">
            <a:avLst/>
          </a:prstGeom>
          <a:noFill/>
          <a:ln w="301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70" name="Freeform 38"/>
          <p:cNvSpPr>
            <a:spLocks/>
          </p:cNvSpPr>
          <p:nvPr/>
        </p:nvSpPr>
        <p:spPr bwMode="auto">
          <a:xfrm>
            <a:off x="4995863" y="3654425"/>
            <a:ext cx="163513" cy="92075"/>
          </a:xfrm>
          <a:custGeom>
            <a:avLst/>
            <a:gdLst>
              <a:gd name="T0" fmla="*/ 23 w 29"/>
              <a:gd name="T1" fmla="*/ 9 h 18"/>
              <a:gd name="T2" fmla="*/ 29 w 29"/>
              <a:gd name="T3" fmla="*/ 0 h 18"/>
              <a:gd name="T4" fmla="*/ 28 w 29"/>
              <a:gd name="T5" fmla="*/ 0 h 18"/>
              <a:gd name="T6" fmla="*/ 14 w 29"/>
              <a:gd name="T7" fmla="*/ 6 h 18"/>
              <a:gd name="T8" fmla="*/ 0 w 29"/>
              <a:gd name="T9" fmla="*/ 9 h 18"/>
              <a:gd name="T10" fmla="*/ 14 w 29"/>
              <a:gd name="T11" fmla="*/ 12 h 18"/>
              <a:gd name="T12" fmla="*/ 28 w 29"/>
              <a:gd name="T13" fmla="*/ 18 h 18"/>
              <a:gd name="T14" fmla="*/ 29 w 29"/>
              <a:gd name="T15" fmla="*/ 18 h 18"/>
              <a:gd name="T16" fmla="*/ 23 w 29"/>
              <a:gd name="T17" fmla="*/ 9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" h="18">
                <a:moveTo>
                  <a:pt x="23" y="9"/>
                </a:moveTo>
                <a:cubicBezTo>
                  <a:pt x="29" y="0"/>
                  <a:pt x="29" y="0"/>
                  <a:pt x="29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14" y="6"/>
                  <a:pt x="14" y="6"/>
                  <a:pt x="14" y="6"/>
                </a:cubicBezTo>
                <a:cubicBezTo>
                  <a:pt x="9" y="7"/>
                  <a:pt x="4" y="8"/>
                  <a:pt x="0" y="9"/>
                </a:cubicBezTo>
                <a:cubicBezTo>
                  <a:pt x="4" y="10"/>
                  <a:pt x="9" y="11"/>
                  <a:pt x="14" y="12"/>
                </a:cubicBezTo>
                <a:cubicBezTo>
                  <a:pt x="28" y="18"/>
                  <a:pt x="28" y="18"/>
                  <a:pt x="28" y="18"/>
                </a:cubicBezTo>
                <a:cubicBezTo>
                  <a:pt x="29" y="18"/>
                  <a:pt x="29" y="18"/>
                  <a:pt x="29" y="18"/>
                </a:cubicBezTo>
                <a:lnTo>
                  <a:pt x="2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71" name="Line 39"/>
          <p:cNvSpPr>
            <a:spLocks noChangeShapeType="1"/>
          </p:cNvSpPr>
          <p:nvPr/>
        </p:nvSpPr>
        <p:spPr bwMode="auto">
          <a:xfrm flipV="1">
            <a:off x="2709863" y="2965450"/>
            <a:ext cx="3411538" cy="1982788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72" name="Rectangle 40"/>
          <p:cNvSpPr>
            <a:spLocks noChangeArrowheads="1"/>
          </p:cNvSpPr>
          <p:nvPr/>
        </p:nvSpPr>
        <p:spPr bwMode="auto">
          <a:xfrm>
            <a:off x="1371600" y="3832225"/>
            <a:ext cx="2115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58474" name="Line 42"/>
          <p:cNvSpPr>
            <a:spLocks noChangeShapeType="1"/>
          </p:cNvSpPr>
          <p:nvPr/>
        </p:nvSpPr>
        <p:spPr bwMode="auto">
          <a:xfrm flipV="1">
            <a:off x="1449388" y="4156075"/>
            <a:ext cx="1588" cy="244475"/>
          </a:xfrm>
          <a:prstGeom prst="line">
            <a:avLst/>
          </a:prstGeom>
          <a:noFill/>
          <a:ln w="17526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75" name="Line 43"/>
          <p:cNvSpPr>
            <a:spLocks noChangeShapeType="1"/>
          </p:cNvSpPr>
          <p:nvPr/>
        </p:nvSpPr>
        <p:spPr bwMode="auto">
          <a:xfrm flipH="1" flipV="1">
            <a:off x="5570538" y="3700463"/>
            <a:ext cx="447675" cy="458788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76" name="Freeform 44"/>
          <p:cNvSpPr>
            <a:spLocks/>
          </p:cNvSpPr>
          <p:nvPr/>
        </p:nvSpPr>
        <p:spPr bwMode="auto">
          <a:xfrm>
            <a:off x="6096000" y="3930650"/>
            <a:ext cx="2476500" cy="1784350"/>
          </a:xfrm>
          <a:custGeom>
            <a:avLst/>
            <a:gdLst>
              <a:gd name="T0" fmla="*/ 332 w 332"/>
              <a:gd name="T1" fmla="*/ 266 h 288"/>
              <a:gd name="T2" fmla="*/ 314 w 332"/>
              <a:gd name="T3" fmla="*/ 288 h 288"/>
              <a:gd name="T4" fmla="*/ 18 w 332"/>
              <a:gd name="T5" fmla="*/ 288 h 288"/>
              <a:gd name="T6" fmla="*/ 0 w 332"/>
              <a:gd name="T7" fmla="*/ 266 h 288"/>
              <a:gd name="T8" fmla="*/ 0 w 332"/>
              <a:gd name="T9" fmla="*/ 23 h 288"/>
              <a:gd name="T10" fmla="*/ 18 w 332"/>
              <a:gd name="T11" fmla="*/ 0 h 288"/>
              <a:gd name="T12" fmla="*/ 314 w 332"/>
              <a:gd name="T13" fmla="*/ 0 h 288"/>
              <a:gd name="T14" fmla="*/ 332 w 332"/>
              <a:gd name="T15" fmla="*/ 23 h 288"/>
              <a:gd name="T16" fmla="*/ 332 w 332"/>
              <a:gd name="T17" fmla="*/ 26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288">
                <a:moveTo>
                  <a:pt x="332" y="266"/>
                </a:moveTo>
                <a:cubicBezTo>
                  <a:pt x="332" y="278"/>
                  <a:pt x="324" y="288"/>
                  <a:pt x="314" y="288"/>
                </a:cubicBezTo>
                <a:cubicBezTo>
                  <a:pt x="18" y="288"/>
                  <a:pt x="18" y="288"/>
                  <a:pt x="18" y="288"/>
                </a:cubicBezTo>
                <a:cubicBezTo>
                  <a:pt x="8" y="288"/>
                  <a:pt x="0" y="278"/>
                  <a:pt x="0" y="266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10"/>
                  <a:pt x="8" y="0"/>
                  <a:pt x="18" y="0"/>
                </a:cubicBezTo>
                <a:cubicBezTo>
                  <a:pt x="314" y="0"/>
                  <a:pt x="314" y="0"/>
                  <a:pt x="314" y="0"/>
                </a:cubicBezTo>
                <a:cubicBezTo>
                  <a:pt x="324" y="0"/>
                  <a:pt x="332" y="10"/>
                  <a:pt x="332" y="23"/>
                </a:cubicBezTo>
                <a:lnTo>
                  <a:pt x="332" y="266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77" name="Rectangle 45"/>
          <p:cNvSpPr>
            <a:spLocks noChangeArrowheads="1"/>
          </p:cNvSpPr>
          <p:nvPr/>
        </p:nvSpPr>
        <p:spPr bwMode="auto">
          <a:xfrm>
            <a:off x="6134100" y="3930650"/>
            <a:ext cx="24384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…but the eventual rise in nominal wages leads to a fall in short-run aggregate supply, and aggregate output falls back to potential output.</a:t>
            </a:r>
          </a:p>
        </p:txBody>
      </p:sp>
      <p:sp>
        <p:nvSpPr>
          <p:cNvPr id="658478" name="Line 46"/>
          <p:cNvSpPr>
            <a:spLocks noChangeShapeType="1"/>
          </p:cNvSpPr>
          <p:nvPr/>
        </p:nvSpPr>
        <p:spPr bwMode="auto">
          <a:xfrm>
            <a:off x="1714500" y="400685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79" name="Line 47"/>
          <p:cNvSpPr>
            <a:spLocks noChangeShapeType="1"/>
          </p:cNvSpPr>
          <p:nvPr/>
        </p:nvSpPr>
        <p:spPr bwMode="auto">
          <a:xfrm>
            <a:off x="1668463" y="4918075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81" name="Line 49"/>
          <p:cNvSpPr>
            <a:spLocks noChangeShapeType="1"/>
          </p:cNvSpPr>
          <p:nvPr/>
        </p:nvSpPr>
        <p:spPr bwMode="auto">
          <a:xfrm>
            <a:off x="2887663" y="3471863"/>
            <a:ext cx="568325" cy="1588"/>
          </a:xfrm>
          <a:prstGeom prst="line">
            <a:avLst/>
          </a:prstGeom>
          <a:noFill/>
          <a:ln w="301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82" name="Freeform 50"/>
          <p:cNvSpPr>
            <a:spLocks/>
          </p:cNvSpPr>
          <p:nvPr/>
        </p:nvSpPr>
        <p:spPr bwMode="auto">
          <a:xfrm>
            <a:off x="3409950" y="3424238"/>
            <a:ext cx="163513" cy="93663"/>
          </a:xfrm>
          <a:custGeom>
            <a:avLst/>
            <a:gdLst>
              <a:gd name="T0" fmla="*/ 6 w 29"/>
              <a:gd name="T1" fmla="*/ 9 h 18"/>
              <a:gd name="T2" fmla="*/ 0 w 29"/>
              <a:gd name="T3" fmla="*/ 0 h 18"/>
              <a:gd name="T4" fmla="*/ 1 w 29"/>
              <a:gd name="T5" fmla="*/ 0 h 18"/>
              <a:gd name="T6" fmla="*/ 15 w 29"/>
              <a:gd name="T7" fmla="*/ 6 h 18"/>
              <a:gd name="T8" fmla="*/ 29 w 29"/>
              <a:gd name="T9" fmla="*/ 9 h 18"/>
              <a:gd name="T10" fmla="*/ 15 w 29"/>
              <a:gd name="T11" fmla="*/ 12 h 18"/>
              <a:gd name="T12" fmla="*/ 1 w 29"/>
              <a:gd name="T13" fmla="*/ 18 h 18"/>
              <a:gd name="T14" fmla="*/ 0 w 29"/>
              <a:gd name="T15" fmla="*/ 18 h 18"/>
              <a:gd name="T16" fmla="*/ 6 w 29"/>
              <a:gd name="T17" fmla="*/ 9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" h="18">
                <a:moveTo>
                  <a:pt x="6" y="9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  <a:cubicBezTo>
                  <a:pt x="15" y="6"/>
                  <a:pt x="15" y="6"/>
                  <a:pt x="15" y="6"/>
                </a:cubicBezTo>
                <a:cubicBezTo>
                  <a:pt x="20" y="7"/>
                  <a:pt x="25" y="8"/>
                  <a:pt x="29" y="9"/>
                </a:cubicBezTo>
                <a:cubicBezTo>
                  <a:pt x="25" y="10"/>
                  <a:pt x="20" y="11"/>
                  <a:pt x="15" y="12"/>
                </a:cubicBezTo>
                <a:cubicBezTo>
                  <a:pt x="1" y="18"/>
                  <a:pt x="1" y="18"/>
                  <a:pt x="1" y="18"/>
                </a:cubicBezTo>
                <a:cubicBezTo>
                  <a:pt x="0" y="18"/>
                  <a:pt x="0" y="18"/>
                  <a:pt x="0" y="18"/>
                </a:cubicBezTo>
                <a:lnTo>
                  <a:pt x="6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83" name="Line 51"/>
          <p:cNvSpPr>
            <a:spLocks noChangeShapeType="1"/>
          </p:cNvSpPr>
          <p:nvPr/>
        </p:nvSpPr>
        <p:spPr bwMode="auto">
          <a:xfrm flipH="1" flipV="1">
            <a:off x="2880043" y="2746375"/>
            <a:ext cx="2457450" cy="2228850"/>
          </a:xfrm>
          <a:prstGeom prst="line">
            <a:avLst/>
          </a:prstGeom>
          <a:noFill/>
          <a:ln w="38100">
            <a:solidFill>
              <a:srgbClr val="3C5DA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84" name="Rectangle 52"/>
          <p:cNvSpPr>
            <a:spLocks noChangeArrowheads="1"/>
          </p:cNvSpPr>
          <p:nvPr/>
        </p:nvSpPr>
        <p:spPr bwMode="auto">
          <a:xfrm>
            <a:off x="4845050" y="5849938"/>
            <a:ext cx="2115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58486" name="Rectangle 54"/>
          <p:cNvSpPr>
            <a:spLocks noChangeArrowheads="1"/>
          </p:cNvSpPr>
          <p:nvPr/>
        </p:nvSpPr>
        <p:spPr bwMode="auto">
          <a:xfrm>
            <a:off x="5078413" y="4448175"/>
            <a:ext cx="19608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58488" name="Rectangle 56"/>
          <p:cNvSpPr>
            <a:spLocks noChangeArrowheads="1"/>
          </p:cNvSpPr>
          <p:nvPr/>
        </p:nvSpPr>
        <p:spPr bwMode="auto">
          <a:xfrm>
            <a:off x="1371600" y="4433888"/>
            <a:ext cx="2115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58490" name="Rectangle 58"/>
          <p:cNvSpPr>
            <a:spLocks noChangeArrowheads="1"/>
          </p:cNvSpPr>
          <p:nvPr/>
        </p:nvSpPr>
        <p:spPr bwMode="auto">
          <a:xfrm>
            <a:off x="5335588" y="5011738"/>
            <a:ext cx="39310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58492" name="Oval 60"/>
          <p:cNvSpPr>
            <a:spLocks noChangeArrowheads="1"/>
          </p:cNvSpPr>
          <p:nvPr/>
        </p:nvSpPr>
        <p:spPr bwMode="auto">
          <a:xfrm>
            <a:off x="4846320" y="4517708"/>
            <a:ext cx="112713" cy="103188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93" name="Line 61"/>
          <p:cNvSpPr>
            <a:spLocks noChangeShapeType="1"/>
          </p:cNvSpPr>
          <p:nvPr/>
        </p:nvSpPr>
        <p:spPr bwMode="auto">
          <a:xfrm flipH="1" flipV="1">
            <a:off x="2630488" y="2568575"/>
            <a:ext cx="500063" cy="898525"/>
          </a:xfrm>
          <a:prstGeom prst="line">
            <a:avLst/>
          </a:prstGeom>
          <a:noFill/>
          <a:ln w="79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94" name="Freeform 62"/>
          <p:cNvSpPr>
            <a:spLocks/>
          </p:cNvSpPr>
          <p:nvPr/>
        </p:nvSpPr>
        <p:spPr bwMode="auto">
          <a:xfrm>
            <a:off x="1714500" y="1170146"/>
            <a:ext cx="2400299" cy="1295400"/>
          </a:xfrm>
          <a:custGeom>
            <a:avLst/>
            <a:gdLst>
              <a:gd name="T0" fmla="*/ 324 w 324"/>
              <a:gd name="T1" fmla="*/ 188 h 207"/>
              <a:gd name="T2" fmla="*/ 307 w 324"/>
              <a:gd name="T3" fmla="*/ 207 h 207"/>
              <a:gd name="T4" fmla="*/ 17 w 324"/>
              <a:gd name="T5" fmla="*/ 207 h 207"/>
              <a:gd name="T6" fmla="*/ 0 w 324"/>
              <a:gd name="T7" fmla="*/ 188 h 207"/>
              <a:gd name="T8" fmla="*/ 0 w 324"/>
              <a:gd name="T9" fmla="*/ 19 h 207"/>
              <a:gd name="T10" fmla="*/ 17 w 324"/>
              <a:gd name="T11" fmla="*/ 0 h 207"/>
              <a:gd name="T12" fmla="*/ 307 w 324"/>
              <a:gd name="T13" fmla="*/ 0 h 207"/>
              <a:gd name="T14" fmla="*/ 324 w 324"/>
              <a:gd name="T15" fmla="*/ 19 h 207"/>
              <a:gd name="T16" fmla="*/ 324 w 324"/>
              <a:gd name="T17" fmla="*/ 188 h 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4" h="207">
                <a:moveTo>
                  <a:pt x="324" y="188"/>
                </a:moveTo>
                <a:cubicBezTo>
                  <a:pt x="324" y="199"/>
                  <a:pt x="317" y="207"/>
                  <a:pt x="307" y="207"/>
                </a:cubicBezTo>
                <a:cubicBezTo>
                  <a:pt x="17" y="207"/>
                  <a:pt x="17" y="207"/>
                  <a:pt x="17" y="207"/>
                </a:cubicBezTo>
                <a:cubicBezTo>
                  <a:pt x="8" y="207"/>
                  <a:pt x="0" y="199"/>
                  <a:pt x="0" y="18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7" y="0"/>
                </a:cubicBezTo>
                <a:cubicBezTo>
                  <a:pt x="307" y="0"/>
                  <a:pt x="307" y="0"/>
                  <a:pt x="307" y="0"/>
                </a:cubicBezTo>
                <a:cubicBezTo>
                  <a:pt x="317" y="0"/>
                  <a:pt x="324" y="9"/>
                  <a:pt x="324" y="19"/>
                </a:cubicBezTo>
                <a:lnTo>
                  <a:pt x="324" y="188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95" name="Line 63"/>
          <p:cNvSpPr>
            <a:spLocks noChangeShapeType="1"/>
          </p:cNvSpPr>
          <p:nvPr/>
        </p:nvSpPr>
        <p:spPr bwMode="auto">
          <a:xfrm>
            <a:off x="1714500" y="4572000"/>
            <a:ext cx="3124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96" name="Line 64"/>
          <p:cNvSpPr>
            <a:spLocks noChangeShapeType="1"/>
          </p:cNvSpPr>
          <p:nvPr/>
        </p:nvSpPr>
        <p:spPr bwMode="auto">
          <a:xfrm>
            <a:off x="4914900" y="4648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97" name="Rectangle 65"/>
          <p:cNvSpPr>
            <a:spLocks noChangeArrowheads="1"/>
          </p:cNvSpPr>
          <p:nvPr/>
        </p:nvSpPr>
        <p:spPr bwMode="auto">
          <a:xfrm>
            <a:off x="1714500" y="1170146"/>
            <a:ext cx="2452123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An increase in the</a:t>
            </a:r>
          </a:p>
          <a:p>
            <a:pPr>
              <a:spcBef>
                <a:spcPct val="0"/>
              </a:spcBef>
            </a:pP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money supply reduces</a:t>
            </a:r>
          </a:p>
          <a:p>
            <a:pPr>
              <a:spcBef>
                <a:spcPct val="0"/>
              </a:spcBef>
            </a:pP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the interest rate and</a:t>
            </a:r>
          </a:p>
          <a:p>
            <a:pPr>
              <a:spcBef>
                <a:spcPct val="0"/>
              </a:spcBef>
            </a:pP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increases aggregate</a:t>
            </a:r>
          </a:p>
          <a:p>
            <a:pPr>
              <a:spcBef>
                <a:spcPct val="0"/>
              </a:spcBef>
            </a:pP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demand…</a:t>
            </a:r>
          </a:p>
        </p:txBody>
      </p:sp>
      <p:sp>
        <p:nvSpPr>
          <p:cNvPr id="658498" name="Oval 66"/>
          <p:cNvSpPr>
            <a:spLocks noChangeArrowheads="1"/>
          </p:cNvSpPr>
          <p:nvPr/>
        </p:nvSpPr>
        <p:spPr bwMode="auto">
          <a:xfrm>
            <a:off x="4230688" y="3976688"/>
            <a:ext cx="114300" cy="10477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58499" name="Rectangle 67"/>
          <p:cNvSpPr>
            <a:spLocks noChangeArrowheads="1"/>
          </p:cNvSpPr>
          <p:nvPr/>
        </p:nvSpPr>
        <p:spPr bwMode="auto">
          <a:xfrm>
            <a:off x="4495800" y="5316379"/>
            <a:ext cx="39310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70" name="Line 42"/>
          <p:cNvSpPr>
            <a:spLocks noChangeShapeType="1"/>
          </p:cNvSpPr>
          <p:nvPr/>
        </p:nvSpPr>
        <p:spPr bwMode="auto">
          <a:xfrm flipV="1">
            <a:off x="1447800" y="4671060"/>
            <a:ext cx="1588" cy="182880"/>
          </a:xfrm>
          <a:prstGeom prst="line">
            <a:avLst/>
          </a:prstGeom>
          <a:noFill/>
          <a:ln w="17526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06460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58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5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5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5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833 0.05556 L 0 1.11022E-1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6584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-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5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658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5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5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5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5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5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5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5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5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5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5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5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86 0.06759 L -2.5E-6 -1.85185E-6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6584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51" y="-3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5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5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5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5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000"/>
                            </p:stCondLst>
                            <p:childTnLst>
                              <p:par>
                                <p:cTn id="10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65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45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5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5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8452" grpId="0"/>
      <p:bldP spid="658458" grpId="0" animBg="1"/>
      <p:bldP spid="658459" grpId="0" animBg="1"/>
      <p:bldP spid="658462" grpId="0" animBg="1"/>
      <p:bldP spid="658467" grpId="0"/>
      <p:bldP spid="658469" grpId="0" animBg="1"/>
      <p:bldP spid="658470" grpId="0" animBg="1"/>
      <p:bldP spid="658471" grpId="0" animBg="1"/>
      <p:bldP spid="658471" grpId="1" animBg="1"/>
      <p:bldP spid="658472" grpId="0"/>
      <p:bldP spid="658474" grpId="0" animBg="1"/>
      <p:bldP spid="658475" grpId="0" animBg="1"/>
      <p:bldP spid="658476" grpId="0" animBg="1"/>
      <p:bldP spid="658477" grpId="0"/>
      <p:bldP spid="658478" grpId="0" animBg="1"/>
      <p:bldP spid="658481" grpId="0" animBg="1"/>
      <p:bldP spid="658482" grpId="0" animBg="1"/>
      <p:bldP spid="658483" grpId="0" animBg="1"/>
      <p:bldP spid="658483" grpId="1" animBg="1"/>
      <p:bldP spid="658484" grpId="0"/>
      <p:bldP spid="658486" grpId="0"/>
      <p:bldP spid="658488" grpId="0"/>
      <p:bldP spid="658490" grpId="0"/>
      <p:bldP spid="658492" grpId="0" animBg="1"/>
      <p:bldP spid="658493" grpId="0" animBg="1"/>
      <p:bldP spid="658494" grpId="0" animBg="1"/>
      <p:bldP spid="658495" grpId="0" animBg="1"/>
      <p:bldP spid="658496" grpId="0" animBg="1"/>
      <p:bldP spid="658497" grpId="0"/>
      <p:bldP spid="658498" grpId="0" animBg="1"/>
      <p:bldP spid="7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0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/>
              <a:t>MONETARY NEUTRALITY</a:t>
            </a:r>
          </a:p>
        </p:txBody>
      </p:sp>
      <p:sp>
        <p:nvSpPr>
          <p:cNvPr id="64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990033"/>
                </a:solidFill>
              </a:rPr>
              <a:t>Monetary neutrality</a:t>
            </a:r>
            <a:r>
              <a:rPr lang="en-US" i="1" dirty="0">
                <a:solidFill>
                  <a:srgbClr val="990033"/>
                </a:solidFill>
              </a:rPr>
              <a:t>: </a:t>
            </a:r>
            <a:r>
              <a:rPr lang="en-US" dirty="0"/>
              <a:t>Changes in the money supply have no real effect on the economy. </a:t>
            </a:r>
          </a:p>
          <a:p>
            <a:endParaRPr lang="en-US" dirty="0"/>
          </a:p>
        </p:txBody>
      </p:sp>
      <p:pic>
        <p:nvPicPr>
          <p:cNvPr id="44034" name="Picture 2" descr="http://www.thewashingtonnote.com/twn_up_fls/John-Maynard-Keyn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62200" y="3004270"/>
            <a:ext cx="4191000" cy="326337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Callout 1"/>
          <p:cNvSpPr/>
          <p:nvPr/>
        </p:nvSpPr>
        <p:spPr>
          <a:xfrm>
            <a:off x="5715000" y="2590800"/>
            <a:ext cx="2590800" cy="1600200"/>
          </a:xfrm>
          <a:prstGeom prst="wedgeEllipseCallout">
            <a:avLst>
              <a:gd name="adj1" fmla="val -68730"/>
              <a:gd name="adj2" fmla="val 33004"/>
            </a:avLst>
          </a:prstGeom>
          <a:solidFill>
            <a:srgbClr val="FFFFC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andara" pitchFamily="34" charset="0"/>
              </a:rPr>
              <a:t>Don’t make me say it again:</a:t>
            </a:r>
          </a:p>
          <a:p>
            <a:pPr algn="ctr"/>
            <a:r>
              <a:rPr lang="en-US" b="1" i="1" dirty="0">
                <a:solidFill>
                  <a:prstClr val="black"/>
                </a:solidFill>
                <a:latin typeface="Candara" pitchFamily="34" charset="0"/>
              </a:rPr>
              <a:t>“In the long run we are all dead.”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32765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Connector 61"/>
          <p:cNvCxnSpPr/>
          <p:nvPr/>
        </p:nvCxnSpPr>
        <p:spPr>
          <a:xfrm>
            <a:off x="1417320" y="3505200"/>
            <a:ext cx="2960052" cy="2435225"/>
          </a:xfrm>
          <a:prstGeom prst="line">
            <a:avLst/>
          </a:prstGeom>
          <a:noFill/>
          <a:ln w="41275">
            <a:solidFill>
              <a:srgbClr val="69D9D6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r>
              <a:rPr lang="en-US" sz="4000" spc="0" dirty="0"/>
              <a:t>LONG-RUN CHANGES IN THE MONEY SUPPLY AND INTEREST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839200" cy="44958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In the long run, changes in the money supply don’t affect the interest rate.</a:t>
            </a:r>
          </a:p>
        </p:txBody>
      </p:sp>
      <p:sp>
        <p:nvSpPr>
          <p:cNvPr id="5" name="Footer Placeholder 2"/>
          <p:cNvSpPr txBox="1">
            <a:spLocks noGrp="1"/>
          </p:cNvSpPr>
          <p:nvPr/>
        </p:nvSpPr>
        <p:spPr bwMode="auto">
          <a:xfrm>
            <a:off x="6019800" y="6248400"/>
            <a:ext cx="2286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Quantity of money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  <a:p>
            <a:pPr algn="ctr"/>
            <a:endParaRPr lang="en-US" sz="1200" dirty="0">
              <a:solidFill>
                <a:srgbClr val="898989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58838" y="3925888"/>
            <a:ext cx="15551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495800" y="5697379"/>
            <a:ext cx="42732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MD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919288" y="1892300"/>
            <a:ext cx="38311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MS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V="1">
            <a:off x="990600" y="4343400"/>
            <a:ext cx="3175" cy="869950"/>
          </a:xfrm>
          <a:prstGeom prst="line">
            <a:avLst/>
          </a:prstGeom>
          <a:noFill/>
          <a:ln w="14351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2127250" y="2206625"/>
            <a:ext cx="1588" cy="3930650"/>
          </a:xfrm>
          <a:prstGeom prst="line">
            <a:avLst/>
          </a:prstGeom>
          <a:noFill/>
          <a:ln w="38100">
            <a:solidFill>
              <a:srgbClr val="FDBA4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15" name="Oval 13"/>
          <p:cNvSpPr>
            <a:spLocks noChangeArrowheads="1"/>
          </p:cNvSpPr>
          <p:nvPr/>
        </p:nvSpPr>
        <p:spPr bwMode="auto">
          <a:xfrm>
            <a:off x="2063750" y="4046538"/>
            <a:ext cx="123825" cy="1238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16" name="Freeform 14"/>
          <p:cNvSpPr>
            <a:spLocks/>
          </p:cNvSpPr>
          <p:nvPr/>
        </p:nvSpPr>
        <p:spPr bwMode="auto">
          <a:xfrm>
            <a:off x="1122363" y="2138362"/>
            <a:ext cx="6269037" cy="3998913"/>
          </a:xfrm>
          <a:custGeom>
            <a:avLst/>
            <a:gdLst>
              <a:gd name="T0" fmla="*/ 2362 w 2362"/>
              <a:gd name="T1" fmla="*/ 1708 h 1708"/>
              <a:gd name="T2" fmla="*/ 0 w 2362"/>
              <a:gd name="T3" fmla="*/ 1708 h 1708"/>
              <a:gd name="T4" fmla="*/ 0 w 2362"/>
              <a:gd name="T5" fmla="*/ 0 h 17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62" h="1708">
                <a:moveTo>
                  <a:pt x="2362" y="1708"/>
                </a:moveTo>
                <a:lnTo>
                  <a:pt x="0" y="1708"/>
                </a:lnTo>
                <a:lnTo>
                  <a:pt x="0" y="0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1998663" y="6228715"/>
            <a:ext cx="27463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>
            <a:off x="2033588" y="6233160"/>
            <a:ext cx="104775" cy="158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3870325" y="3838575"/>
            <a:ext cx="19608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2208213" y="3743325"/>
            <a:ext cx="19608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1143000" y="41148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76200" y="1949450"/>
            <a:ext cx="106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Interest</a:t>
            </a:r>
          </a:p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rate, </a:t>
            </a:r>
            <a:r>
              <a:rPr lang="en-US" b="1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</a:p>
        </p:txBody>
      </p:sp>
      <p:sp>
        <p:nvSpPr>
          <p:cNvPr id="28" name="Rectangle 26"/>
          <p:cNvSpPr>
            <a:spLocks noChangeArrowheads="1"/>
          </p:cNvSpPr>
          <p:nvPr/>
        </p:nvSpPr>
        <p:spPr bwMode="auto">
          <a:xfrm>
            <a:off x="838200" y="5237163"/>
            <a:ext cx="15551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r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>
            <a:off x="865188" y="4275138"/>
            <a:ext cx="3175" cy="917575"/>
          </a:xfrm>
          <a:prstGeom prst="line">
            <a:avLst/>
          </a:prstGeom>
          <a:noFill/>
          <a:ln w="14351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31" name="Rectangle 29"/>
          <p:cNvSpPr>
            <a:spLocks noChangeArrowheads="1"/>
          </p:cNvSpPr>
          <p:nvPr/>
        </p:nvSpPr>
        <p:spPr bwMode="auto">
          <a:xfrm>
            <a:off x="3797300" y="5037138"/>
            <a:ext cx="19608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1122363" y="54102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35" name="Rectangle 33"/>
          <p:cNvSpPr>
            <a:spLocks noChangeArrowheads="1"/>
          </p:cNvSpPr>
          <p:nvPr/>
        </p:nvSpPr>
        <p:spPr bwMode="auto">
          <a:xfrm>
            <a:off x="3519488" y="1892300"/>
            <a:ext cx="38311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MS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37" name="Line 35"/>
          <p:cNvSpPr>
            <a:spLocks noChangeShapeType="1"/>
          </p:cNvSpPr>
          <p:nvPr/>
        </p:nvSpPr>
        <p:spPr bwMode="auto">
          <a:xfrm>
            <a:off x="2235200" y="2603500"/>
            <a:ext cx="1246188" cy="3175"/>
          </a:xfrm>
          <a:prstGeom prst="line">
            <a:avLst/>
          </a:prstGeom>
          <a:noFill/>
          <a:ln w="301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38" name="Freeform 36"/>
          <p:cNvSpPr>
            <a:spLocks/>
          </p:cNvSpPr>
          <p:nvPr/>
        </p:nvSpPr>
        <p:spPr bwMode="auto">
          <a:xfrm>
            <a:off x="3433763" y="2547938"/>
            <a:ext cx="180975" cy="111125"/>
          </a:xfrm>
          <a:custGeom>
            <a:avLst/>
            <a:gdLst>
              <a:gd name="T0" fmla="*/ 5 w 29"/>
              <a:gd name="T1" fmla="*/ 9 h 18"/>
              <a:gd name="T2" fmla="*/ 0 w 29"/>
              <a:gd name="T3" fmla="*/ 0 h 18"/>
              <a:gd name="T4" fmla="*/ 0 w 29"/>
              <a:gd name="T5" fmla="*/ 0 h 18"/>
              <a:gd name="T6" fmla="*/ 14 w 29"/>
              <a:gd name="T7" fmla="*/ 6 h 18"/>
              <a:gd name="T8" fmla="*/ 29 w 29"/>
              <a:gd name="T9" fmla="*/ 9 h 18"/>
              <a:gd name="T10" fmla="*/ 14 w 29"/>
              <a:gd name="T11" fmla="*/ 12 h 18"/>
              <a:gd name="T12" fmla="*/ 0 w 29"/>
              <a:gd name="T13" fmla="*/ 18 h 18"/>
              <a:gd name="T14" fmla="*/ 0 w 29"/>
              <a:gd name="T15" fmla="*/ 18 h 18"/>
              <a:gd name="T16" fmla="*/ 5 w 29"/>
              <a:gd name="T17" fmla="*/ 9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" h="18">
                <a:moveTo>
                  <a:pt x="5" y="9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4" y="6"/>
                  <a:pt x="14" y="6"/>
                  <a:pt x="14" y="6"/>
                </a:cubicBezTo>
                <a:cubicBezTo>
                  <a:pt x="19" y="7"/>
                  <a:pt x="24" y="8"/>
                  <a:pt x="29" y="9"/>
                </a:cubicBezTo>
                <a:cubicBezTo>
                  <a:pt x="24" y="10"/>
                  <a:pt x="19" y="11"/>
                  <a:pt x="14" y="12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8"/>
                  <a:pt x="0" y="18"/>
                </a:cubicBezTo>
                <a:lnTo>
                  <a:pt x="5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39" name="Line 37"/>
          <p:cNvSpPr>
            <a:spLocks noChangeShapeType="1"/>
          </p:cNvSpPr>
          <p:nvPr/>
        </p:nvSpPr>
        <p:spPr bwMode="auto">
          <a:xfrm>
            <a:off x="3729038" y="2206625"/>
            <a:ext cx="1588" cy="3930650"/>
          </a:xfrm>
          <a:prstGeom prst="line">
            <a:avLst/>
          </a:prstGeom>
          <a:noFill/>
          <a:ln w="38100">
            <a:solidFill>
              <a:srgbClr val="F371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0" name="Rectangle 38"/>
          <p:cNvSpPr>
            <a:spLocks noChangeArrowheads="1"/>
          </p:cNvSpPr>
          <p:nvPr/>
        </p:nvSpPr>
        <p:spPr bwMode="auto">
          <a:xfrm>
            <a:off x="3650558" y="6248400"/>
            <a:ext cx="27463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3" name="Freeform 41"/>
          <p:cNvSpPr>
            <a:spLocks/>
          </p:cNvSpPr>
          <p:nvPr/>
        </p:nvSpPr>
        <p:spPr bwMode="auto">
          <a:xfrm>
            <a:off x="4246563" y="1752600"/>
            <a:ext cx="2366963" cy="1077218"/>
          </a:xfrm>
          <a:custGeom>
            <a:avLst/>
            <a:gdLst>
              <a:gd name="T0" fmla="*/ 378 w 378"/>
              <a:gd name="T1" fmla="*/ 116 h 135"/>
              <a:gd name="T2" fmla="*/ 361 w 378"/>
              <a:gd name="T3" fmla="*/ 135 h 135"/>
              <a:gd name="T4" fmla="*/ 17 w 378"/>
              <a:gd name="T5" fmla="*/ 135 h 135"/>
              <a:gd name="T6" fmla="*/ 0 w 378"/>
              <a:gd name="T7" fmla="*/ 116 h 135"/>
              <a:gd name="T8" fmla="*/ 0 w 378"/>
              <a:gd name="T9" fmla="*/ 19 h 135"/>
              <a:gd name="T10" fmla="*/ 17 w 378"/>
              <a:gd name="T11" fmla="*/ 0 h 135"/>
              <a:gd name="T12" fmla="*/ 361 w 378"/>
              <a:gd name="T13" fmla="*/ 0 h 135"/>
              <a:gd name="T14" fmla="*/ 378 w 378"/>
              <a:gd name="T15" fmla="*/ 19 h 135"/>
              <a:gd name="T16" fmla="*/ 378 w 378"/>
              <a:gd name="T17" fmla="*/ 116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8" h="135">
                <a:moveTo>
                  <a:pt x="378" y="116"/>
                </a:moveTo>
                <a:cubicBezTo>
                  <a:pt x="378" y="127"/>
                  <a:pt x="370" y="135"/>
                  <a:pt x="361" y="135"/>
                </a:cubicBezTo>
                <a:cubicBezTo>
                  <a:pt x="17" y="135"/>
                  <a:pt x="17" y="135"/>
                  <a:pt x="17" y="135"/>
                </a:cubicBezTo>
                <a:cubicBezTo>
                  <a:pt x="8" y="135"/>
                  <a:pt x="0" y="127"/>
                  <a:pt x="0" y="11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7" y="0"/>
                </a:cubicBezTo>
                <a:cubicBezTo>
                  <a:pt x="361" y="0"/>
                  <a:pt x="361" y="0"/>
                  <a:pt x="361" y="0"/>
                </a:cubicBezTo>
                <a:cubicBezTo>
                  <a:pt x="370" y="0"/>
                  <a:pt x="378" y="9"/>
                  <a:pt x="378" y="19"/>
                </a:cubicBezTo>
                <a:lnTo>
                  <a:pt x="378" y="116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4322763" y="1752600"/>
            <a:ext cx="22860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An increase in the money supply lowers the interest rate in the short run…</a:t>
            </a:r>
          </a:p>
        </p:txBody>
      </p:sp>
      <p:sp>
        <p:nvSpPr>
          <p:cNvPr id="46" name="Rectangle 44"/>
          <p:cNvSpPr>
            <a:spLocks noChangeArrowheads="1"/>
          </p:cNvSpPr>
          <p:nvPr/>
        </p:nvSpPr>
        <p:spPr bwMode="auto">
          <a:xfrm>
            <a:off x="5943600" y="5621179"/>
            <a:ext cx="42732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MD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9" name="Line 47"/>
          <p:cNvSpPr>
            <a:spLocks noChangeShapeType="1"/>
          </p:cNvSpPr>
          <p:nvPr/>
        </p:nvSpPr>
        <p:spPr bwMode="auto">
          <a:xfrm>
            <a:off x="3886200" y="5426075"/>
            <a:ext cx="1295400" cy="3175"/>
          </a:xfrm>
          <a:prstGeom prst="line">
            <a:avLst/>
          </a:prstGeom>
          <a:noFill/>
          <a:ln w="301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0" name="Freeform 48"/>
          <p:cNvSpPr>
            <a:spLocks/>
          </p:cNvSpPr>
          <p:nvPr/>
        </p:nvSpPr>
        <p:spPr bwMode="auto">
          <a:xfrm>
            <a:off x="5105400" y="5370513"/>
            <a:ext cx="179387" cy="114300"/>
          </a:xfrm>
          <a:custGeom>
            <a:avLst/>
            <a:gdLst>
              <a:gd name="T0" fmla="*/ 5 w 29"/>
              <a:gd name="T1" fmla="*/ 9 h 18"/>
              <a:gd name="T2" fmla="*/ 0 w 29"/>
              <a:gd name="T3" fmla="*/ 1 h 18"/>
              <a:gd name="T4" fmla="*/ 0 w 29"/>
              <a:gd name="T5" fmla="*/ 0 h 18"/>
              <a:gd name="T6" fmla="*/ 14 w 29"/>
              <a:gd name="T7" fmla="*/ 6 h 18"/>
              <a:gd name="T8" fmla="*/ 29 w 29"/>
              <a:gd name="T9" fmla="*/ 9 h 18"/>
              <a:gd name="T10" fmla="*/ 14 w 29"/>
              <a:gd name="T11" fmla="*/ 13 h 18"/>
              <a:gd name="T12" fmla="*/ 0 w 29"/>
              <a:gd name="T13" fmla="*/ 18 h 18"/>
              <a:gd name="T14" fmla="*/ 0 w 29"/>
              <a:gd name="T15" fmla="*/ 18 h 18"/>
              <a:gd name="T16" fmla="*/ 5 w 29"/>
              <a:gd name="T17" fmla="*/ 9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" h="18">
                <a:moveTo>
                  <a:pt x="5" y="9"/>
                </a:move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14" y="6"/>
                  <a:pt x="14" y="6"/>
                  <a:pt x="14" y="6"/>
                </a:cubicBezTo>
                <a:cubicBezTo>
                  <a:pt x="19" y="7"/>
                  <a:pt x="24" y="8"/>
                  <a:pt x="29" y="9"/>
                </a:cubicBezTo>
                <a:cubicBezTo>
                  <a:pt x="24" y="10"/>
                  <a:pt x="19" y="11"/>
                  <a:pt x="14" y="13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8"/>
                  <a:pt x="0" y="18"/>
                </a:cubicBezTo>
                <a:lnTo>
                  <a:pt x="5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" name="Freeform 50"/>
          <p:cNvSpPr>
            <a:spLocks/>
          </p:cNvSpPr>
          <p:nvPr/>
        </p:nvSpPr>
        <p:spPr bwMode="auto">
          <a:xfrm>
            <a:off x="4572000" y="3124200"/>
            <a:ext cx="3124200" cy="1371600"/>
          </a:xfrm>
          <a:custGeom>
            <a:avLst/>
            <a:gdLst>
              <a:gd name="T0" fmla="*/ 440 w 440"/>
              <a:gd name="T1" fmla="*/ 154 h 173"/>
              <a:gd name="T2" fmla="*/ 423 w 440"/>
              <a:gd name="T3" fmla="*/ 173 h 173"/>
              <a:gd name="T4" fmla="*/ 17 w 440"/>
              <a:gd name="T5" fmla="*/ 173 h 173"/>
              <a:gd name="T6" fmla="*/ 0 w 440"/>
              <a:gd name="T7" fmla="*/ 154 h 173"/>
              <a:gd name="T8" fmla="*/ 0 w 440"/>
              <a:gd name="T9" fmla="*/ 19 h 173"/>
              <a:gd name="T10" fmla="*/ 17 w 440"/>
              <a:gd name="T11" fmla="*/ 0 h 173"/>
              <a:gd name="T12" fmla="*/ 423 w 440"/>
              <a:gd name="T13" fmla="*/ 0 h 173"/>
              <a:gd name="T14" fmla="*/ 440 w 440"/>
              <a:gd name="T15" fmla="*/ 19 h 173"/>
              <a:gd name="T16" fmla="*/ 440 w 440"/>
              <a:gd name="T17" fmla="*/ 154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0" h="173">
                <a:moveTo>
                  <a:pt x="440" y="154"/>
                </a:moveTo>
                <a:cubicBezTo>
                  <a:pt x="440" y="164"/>
                  <a:pt x="432" y="173"/>
                  <a:pt x="423" y="173"/>
                </a:cubicBezTo>
                <a:cubicBezTo>
                  <a:pt x="17" y="173"/>
                  <a:pt x="17" y="173"/>
                  <a:pt x="17" y="173"/>
                </a:cubicBezTo>
                <a:cubicBezTo>
                  <a:pt x="8" y="173"/>
                  <a:pt x="0" y="164"/>
                  <a:pt x="0" y="154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7" y="0"/>
                </a:cubicBezTo>
                <a:cubicBezTo>
                  <a:pt x="423" y="0"/>
                  <a:pt x="423" y="0"/>
                  <a:pt x="423" y="0"/>
                </a:cubicBezTo>
                <a:cubicBezTo>
                  <a:pt x="432" y="0"/>
                  <a:pt x="440" y="8"/>
                  <a:pt x="440" y="19"/>
                </a:cubicBezTo>
                <a:lnTo>
                  <a:pt x="440" y="154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" name="Rectangle 51"/>
          <p:cNvSpPr>
            <a:spLocks noChangeArrowheads="1"/>
          </p:cNvSpPr>
          <p:nvPr/>
        </p:nvSpPr>
        <p:spPr bwMode="auto">
          <a:xfrm>
            <a:off x="4648200" y="3124200"/>
            <a:ext cx="30480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… but in the long run higher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prices lead to greater money demand, raising the interest rate to its original level.</a:t>
            </a:r>
          </a:p>
        </p:txBody>
      </p:sp>
      <p:sp>
        <p:nvSpPr>
          <p:cNvPr id="54" name="Line 52"/>
          <p:cNvSpPr>
            <a:spLocks noChangeShapeType="1"/>
          </p:cNvSpPr>
          <p:nvPr/>
        </p:nvSpPr>
        <p:spPr bwMode="auto">
          <a:xfrm>
            <a:off x="1143000" y="41148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6" name="Oval 54"/>
          <p:cNvSpPr>
            <a:spLocks noChangeArrowheads="1"/>
          </p:cNvSpPr>
          <p:nvPr/>
        </p:nvSpPr>
        <p:spPr bwMode="auto">
          <a:xfrm>
            <a:off x="3686175" y="5370513"/>
            <a:ext cx="123825" cy="1238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cxnSp>
        <p:nvCxnSpPr>
          <p:cNvPr id="58" name="Straight Connector 57"/>
          <p:cNvCxnSpPr/>
          <p:nvPr/>
        </p:nvCxnSpPr>
        <p:spPr>
          <a:xfrm>
            <a:off x="2835434" y="3352800"/>
            <a:ext cx="2960052" cy="2435225"/>
          </a:xfrm>
          <a:prstGeom prst="line">
            <a:avLst/>
          </a:prstGeom>
          <a:noFill/>
          <a:ln w="41275">
            <a:solidFill>
              <a:srgbClr val="2CB1AE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Oval 53"/>
          <p:cNvSpPr>
            <a:spLocks noChangeArrowheads="1"/>
          </p:cNvSpPr>
          <p:nvPr/>
        </p:nvSpPr>
        <p:spPr bwMode="auto">
          <a:xfrm>
            <a:off x="3686175" y="4046538"/>
            <a:ext cx="123825" cy="1238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63" name="Line 18"/>
          <p:cNvSpPr>
            <a:spLocks noChangeShapeType="1"/>
          </p:cNvSpPr>
          <p:nvPr/>
        </p:nvSpPr>
        <p:spPr bwMode="auto">
          <a:xfrm>
            <a:off x="3682365" y="6231572"/>
            <a:ext cx="104775" cy="158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9079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5 -3.33333E-6 L -3.33333E-6 -3.33333E-6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5 -0.00023 L 3.33333E-6 3.33333E-6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1" grpId="0"/>
      <p:bldP spid="25" grpId="0" animBg="1"/>
      <p:bldP spid="28" grpId="0"/>
      <p:bldP spid="30" grpId="0" animBg="1"/>
      <p:bldP spid="31" grpId="0"/>
      <p:bldP spid="33" grpId="0" animBg="1"/>
      <p:bldP spid="35" grpId="0"/>
      <p:bldP spid="37" grpId="0" animBg="1"/>
      <p:bldP spid="38" grpId="0" animBg="1"/>
      <p:bldP spid="39" grpId="0" animBg="1"/>
      <p:bldP spid="39" grpId="1" animBg="1"/>
      <p:bldP spid="40" grpId="0"/>
      <p:bldP spid="43" grpId="0" animBg="1"/>
      <p:bldP spid="44" grpId="0"/>
      <p:bldP spid="46" grpId="0"/>
      <p:bldP spid="49" grpId="0" animBg="1"/>
      <p:bldP spid="50" grpId="0" animBg="1"/>
      <p:bldP spid="52" grpId="0" animBg="1"/>
      <p:bldP spid="53" grpId="0"/>
      <p:bldP spid="56" grpId="0" animBg="1"/>
      <p:bldP spid="55" grpId="0" animBg="1"/>
      <p:bldP spid="6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752600"/>
            <a:ext cx="8839200" cy="407723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Do increases in the money supply really lead to increases in the price level? </a:t>
            </a:r>
            <a:r>
              <a:rPr lang="en-US" dirty="0"/>
              <a:t>It’s not exact, but yes.</a:t>
            </a:r>
          </a:p>
        </p:txBody>
      </p:sp>
      <p:sp>
        <p:nvSpPr>
          <p:cNvPr id="6" name="Rectangle 2"/>
          <p:cNvSpPr txBox="1">
            <a:spLocks noRot="1" noChangeArrowheads="1"/>
          </p:cNvSpPr>
          <p:nvPr/>
        </p:nvSpPr>
        <p:spPr>
          <a:xfrm>
            <a:off x="0" y="762000"/>
            <a:ext cx="9144000" cy="1143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b="1" kern="1200" spc="-200" baseline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+mj-ea"/>
                <a:cs typeface="+mj-cs"/>
              </a:defRPr>
            </a:lvl1pPr>
          </a:lstStyle>
          <a:p>
            <a:r>
              <a:rPr lang="en-US" sz="3600" spc="0" dirty="0">
                <a:solidFill>
                  <a:srgbClr val="F79646">
                    <a:lumMod val="75000"/>
                  </a:srgbClr>
                </a:solidFill>
                <a:latin typeface="Century Gothic"/>
                <a:cs typeface="Century Gothic"/>
              </a:rPr>
              <a:t>INTERNATIONAL EVIDENCE OF MONETARY NEUTRALITY</a:t>
            </a:r>
          </a:p>
        </p:txBody>
      </p:sp>
      <p:pic>
        <p:nvPicPr>
          <p:cNvPr id="7" name="Picture 6" descr="Screen Shot 2015-04-09 at 20.54.58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3505200"/>
            <a:ext cx="6172200" cy="31618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9463" y="6364445"/>
            <a:ext cx="3213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/>
                <a:cs typeface="Century Gothic"/>
              </a:rPr>
              <a:t>Source: Federal Reserve Bank of St. Louis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6051525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3962400"/>
          </a:xfrm>
        </p:spPr>
        <p:txBody>
          <a:bodyPr/>
          <a:lstStyle/>
          <a:p>
            <a:r>
              <a:rPr lang="en-US" dirty="0"/>
              <a:t>PIMCO Bets on Cheap Money</a:t>
            </a:r>
          </a:p>
          <a:p>
            <a:r>
              <a:rPr lang="en-US" sz="2400" dirty="0"/>
              <a:t>In Fall 2009, Bill Gross (then head of Pacific Investment Management Company)  believed interest rates would continue to fall- and invested heavily in long-term government bonds.</a:t>
            </a:r>
          </a:p>
          <a:p>
            <a:r>
              <a:rPr lang="en-US" sz="2400" dirty="0"/>
              <a:t>Meanwhile, Morgan Stanley bet the opposite- and was wrong (until 2011)</a:t>
            </a:r>
          </a:p>
        </p:txBody>
      </p:sp>
      <p:pic>
        <p:nvPicPr>
          <p:cNvPr id="4" name="Picture 3" descr="Screen Shot 2015-04-09 at 21.14.2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950547"/>
            <a:ext cx="4511565" cy="2907453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568610435"/>
      </p:ext>
    </p:extLst>
  </p:cSld>
  <p:clrMapOvr>
    <a:masterClrMapping/>
  </p:clrMapOvr>
  <p:transition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5ad1a792e7828ca492521aea17b12f2931c3dea"/>
</p:tagLst>
</file>

<file path=ppt/theme/theme1.xml><?xml version="1.0" encoding="utf-8"?>
<a:theme xmlns:a="http://schemas.openxmlformats.org/drawingml/2006/main" name="4e Krugman_Dynamic PPTs_Ch05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Custom Design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Newest 2e them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Custom 1">
      <a:majorFont>
        <a:latin typeface="Garamon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1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2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7_Custom Design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1_Krugman 3e main content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3_Krugman 3e main content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8_Custom Design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Krugman 3e main content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Krugman 3e practic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Krugman 3e Pitfalls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9_Custom Design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10_Custom Design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newer Krugman 3e theme</Template>
  <TotalTime>15715</TotalTime>
  <Words>2802</Words>
  <Application>Microsoft Office PowerPoint</Application>
  <PresentationFormat>On-screen Show (4:3)</PresentationFormat>
  <Paragraphs>390</Paragraphs>
  <Slides>44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44</vt:i4>
      </vt:variant>
    </vt:vector>
  </HeadingPairs>
  <TitlesOfParts>
    <vt:vector size="71" baseType="lpstr">
      <vt:lpstr>Gill Sans</vt:lpstr>
      <vt:lpstr>ＭＳ Ｐゴシック</vt:lpstr>
      <vt:lpstr>Arial</vt:lpstr>
      <vt:lpstr>Calibri</vt:lpstr>
      <vt:lpstr>Candara</vt:lpstr>
      <vt:lpstr>Century Gothic</vt:lpstr>
      <vt:lpstr>Courier New</vt:lpstr>
      <vt:lpstr>Tahoma</vt:lpstr>
      <vt:lpstr>Times New Roman</vt:lpstr>
      <vt:lpstr>Tw Cen MT</vt:lpstr>
      <vt:lpstr>Verdana</vt:lpstr>
      <vt:lpstr>Wingdings</vt:lpstr>
      <vt:lpstr>4e Krugman_Dynamic PPTs_Ch05</vt:lpstr>
      <vt:lpstr>6_Custom Design</vt:lpstr>
      <vt:lpstr>1_Newest 2e theme</vt:lpstr>
      <vt:lpstr>10_Stone ppt Theme1</vt:lpstr>
      <vt:lpstr>11_Stone ppt Theme1</vt:lpstr>
      <vt:lpstr>12_Stone ppt Theme1</vt:lpstr>
      <vt:lpstr>7_Custom Design</vt:lpstr>
      <vt:lpstr>11_Krugman 3e main content</vt:lpstr>
      <vt:lpstr>3_Krugman 3e main content</vt:lpstr>
      <vt:lpstr>8_Custom Design</vt:lpstr>
      <vt:lpstr>Krugman 3e main content</vt:lpstr>
      <vt:lpstr>Krugman 3e practice</vt:lpstr>
      <vt:lpstr>Krugman 3e Pitfalls</vt:lpstr>
      <vt:lpstr>9_Custom Design</vt:lpstr>
      <vt:lpstr>10_Custom Design</vt:lpstr>
      <vt:lpstr>Economics 2220 Principles Of Macroeconomics</vt:lpstr>
      <vt:lpstr>PowerPoint Presentation</vt:lpstr>
      <vt:lpstr>THE MOST POWERFUL PERSON IN GOVERNMENT</vt:lpstr>
      <vt:lpstr>THE DEMAND FOR MONEY</vt:lpstr>
      <vt:lpstr>INTEREST RATES AND THE OPPORTUNITY COST OF HOLDING MONEY</vt:lpstr>
      <vt:lpstr>INTEREST RATES AND THE OPPORTUNITY COST OF HOLDING MONEY</vt:lpstr>
      <vt:lpstr>INTEREST RATES AND THE OPPORTUNITY COST OF HOLDING MONEY</vt:lpstr>
      <vt:lpstr>THE MONEY DEMAND CURVE</vt:lpstr>
      <vt:lpstr>SHIFTS OF THE REAL MONEY DEMAND CURVE</vt:lpstr>
      <vt:lpstr>PowerPoint Presentation</vt:lpstr>
      <vt:lpstr>SHIFTS IN THE DEMAND FOR MONEY</vt:lpstr>
      <vt:lpstr>PowerPoint Presentation</vt:lpstr>
      <vt:lpstr>PowerPoint Presentation</vt:lpstr>
      <vt:lpstr>MONEY AND INTEREST RATES</vt:lpstr>
      <vt:lpstr>EQUILIBRIUM IN THE MONEY MARKET</vt:lpstr>
      <vt:lpstr>PowerPoint Presentation</vt:lpstr>
      <vt:lpstr>MONETARY POLICY AND THE INTEREST RATE</vt:lpstr>
      <vt:lpstr>MONETARY POLICY AND THE INTEREST RATE</vt:lpstr>
      <vt:lpstr>SETTING THE FEDERAL FUNDS RATE</vt:lpstr>
      <vt:lpstr>SETTING THE FEDERAL FUNDS RATE</vt:lpstr>
      <vt:lpstr>PowerPoint Presentation</vt:lpstr>
      <vt:lpstr>PowerPoint Presentation</vt:lpstr>
      <vt:lpstr>LONG-TERM INTEREST RATES</vt:lpstr>
      <vt:lpstr>The Fed Reverses Course</vt:lpstr>
      <vt:lpstr>MONETARY POLICY AND AGGREGATE DEMAND</vt:lpstr>
      <vt:lpstr>PowerPoint Presentation</vt:lpstr>
      <vt:lpstr>MONETARY POLICY AND AGGREGATE DEMAND</vt:lpstr>
      <vt:lpstr>MONETARY POLICY AND AGGREGATE DEMAND</vt:lpstr>
      <vt:lpstr>MONETARY POLICY IN PRACTICE</vt:lpstr>
      <vt:lpstr>TRACKING MONETARY POLICY</vt:lpstr>
      <vt:lpstr>THE TAYLOR RULE FOR MONETARY POLICY</vt:lpstr>
      <vt:lpstr>THE FEDERAL FUNDS TARGET AND THE TAYLOR RULE</vt:lpstr>
      <vt:lpstr>TRACKING MONETARY POLICY</vt:lpstr>
      <vt:lpstr>PowerPoint Presentation</vt:lpstr>
      <vt:lpstr>INFLATION TARGETING</vt:lpstr>
      <vt:lpstr>DOES IT MATTER?</vt:lpstr>
      <vt:lpstr>THE ZERO LOWER BOUND PROBLEM</vt:lpstr>
      <vt:lpstr>What the Fed wants, the fed gets</vt:lpstr>
      <vt:lpstr>MONEY, OUTPUT, AND PRICES IN THE LONG RUN</vt:lpstr>
      <vt:lpstr>MONEY, OUTPUT, AND PRICES IN THE LONG RUN</vt:lpstr>
      <vt:lpstr>MONETARY NEUTRALITY</vt:lpstr>
      <vt:lpstr>LONG-RUN CHANGES IN THE MONEY SUPPLY AND INTEREST RATE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Solina Lindahl</dc:creator>
  <cp:lastModifiedBy>Zhigang Feng</cp:lastModifiedBy>
  <cp:revision>600</cp:revision>
  <cp:lastPrinted>2019-08-20T14:35:10Z</cp:lastPrinted>
  <dcterms:created xsi:type="dcterms:W3CDTF">2012-07-21T02:43:21Z</dcterms:created>
  <dcterms:modified xsi:type="dcterms:W3CDTF">2019-08-20T14:42:56Z</dcterms:modified>
</cp:coreProperties>
</file>