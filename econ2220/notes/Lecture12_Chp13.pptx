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6.xml" ContentType="application/vnd.openxmlformats-officedocument.theme+xml"/>
  <Override PartName="/ppt/slideLayouts/slideLayout18.xml" ContentType="application/vnd.openxmlformats-officedocument.presentationml.slideLayout+xml"/>
  <Override PartName="/ppt/theme/theme7.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8.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9.xml" ContentType="application/vnd.openxmlformats-officedocument.theme+xml"/>
  <Override PartName="/ppt/slideLayouts/slideLayout23.xml" ContentType="application/vnd.openxmlformats-officedocument.presentationml.slideLayout+xml"/>
  <Override PartName="/ppt/theme/theme10.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11.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1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1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14.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15.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16.xml" ContentType="application/vnd.openxmlformats-officedocument.theme+xml"/>
  <Override PartName="/ppt/slideLayouts/slideLayout47.xml" ContentType="application/vnd.openxmlformats-officedocument.presentationml.slideLayout+xml"/>
  <Override PartName="/ppt/theme/theme17.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18.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19.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0.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1.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2.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3.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4.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5.xml" ContentType="application/vnd.openxmlformats-officedocument.theme+xml"/>
  <Override PartName="/ppt/slideLayouts/slideLayout67.xml" ContentType="application/vnd.openxmlformats-officedocument.presentationml.slideLayout+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 id="2147483700" r:id="rId2"/>
    <p:sldMasterId id="2147483704" r:id="rId3"/>
    <p:sldMasterId id="2147483708" r:id="rId4"/>
    <p:sldMasterId id="2147483711" r:id="rId5"/>
    <p:sldMasterId id="2147483714" r:id="rId6"/>
    <p:sldMasterId id="2147483717" r:id="rId7"/>
    <p:sldMasterId id="2147483719" r:id="rId8"/>
    <p:sldMasterId id="2147483811" r:id="rId9"/>
    <p:sldMasterId id="2147483853" r:id="rId10"/>
    <p:sldMasterId id="2147483855" r:id="rId11"/>
    <p:sldMasterId id="2147483859" r:id="rId12"/>
    <p:sldMasterId id="2147483862" r:id="rId13"/>
    <p:sldMasterId id="2147483866" r:id="rId14"/>
    <p:sldMasterId id="2147483871" r:id="rId15"/>
    <p:sldMasterId id="2147483881" r:id="rId16"/>
    <p:sldMasterId id="2147483886" r:id="rId17"/>
    <p:sldMasterId id="2147483888" r:id="rId18"/>
    <p:sldMasterId id="2147483891" r:id="rId19"/>
    <p:sldMasterId id="2147483895" r:id="rId20"/>
    <p:sldMasterId id="2147483898" r:id="rId21"/>
    <p:sldMasterId id="2147483901" r:id="rId22"/>
    <p:sldMasterId id="2147483904" r:id="rId23"/>
    <p:sldMasterId id="2147483908" r:id="rId24"/>
    <p:sldMasterId id="2147483912" r:id="rId25"/>
    <p:sldMasterId id="2147483915" r:id="rId26"/>
  </p:sldMasterIdLst>
  <p:notesMasterIdLst>
    <p:notesMasterId r:id="rId81"/>
  </p:notesMasterIdLst>
  <p:handoutMasterIdLst>
    <p:handoutMasterId r:id="rId82"/>
  </p:handoutMasterIdLst>
  <p:sldIdLst>
    <p:sldId id="319" r:id="rId27"/>
    <p:sldId id="265" r:id="rId28"/>
    <p:sldId id="266" r:id="rId29"/>
    <p:sldId id="267" r:id="rId30"/>
    <p:sldId id="268" r:id="rId31"/>
    <p:sldId id="269" r:id="rId32"/>
    <p:sldId id="316"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284" r:id="rId48"/>
    <p:sldId id="285" r:id="rId49"/>
    <p:sldId id="286" r:id="rId50"/>
    <p:sldId id="287" r:id="rId51"/>
    <p:sldId id="320" r:id="rId52"/>
    <p:sldId id="288" r:id="rId53"/>
    <p:sldId id="289" r:id="rId54"/>
    <p:sldId id="290" r:id="rId55"/>
    <p:sldId id="291" r:id="rId56"/>
    <p:sldId id="292" r:id="rId57"/>
    <p:sldId id="293" r:id="rId58"/>
    <p:sldId id="295" r:id="rId59"/>
    <p:sldId id="317"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8" r:id="rId73"/>
    <p:sldId id="309" r:id="rId74"/>
    <p:sldId id="310" r:id="rId75"/>
    <p:sldId id="311" r:id="rId76"/>
    <p:sldId id="321" r:id="rId77"/>
    <p:sldId id="312" r:id="rId78"/>
    <p:sldId id="313" r:id="rId79"/>
    <p:sldId id="318" r:id="rId80"/>
  </p:sldIdLst>
  <p:sldSz cx="9144000" cy="6858000" type="screen4x3"/>
  <p:notesSz cx="6858000" cy="9144000"/>
  <p:custDataLst>
    <p:tags r:id="rId8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e" initials="K" lastIdx="11" clrIdx="0"/>
  <p:cmAuthor id="1" name="Bonilla, Edgar" initials="EB" lastIdx="4" clrIdx="1"/>
  <p:cmAuthor id="2" name="Solina Lindahl" initials="SL" lastIdx="9" clrIdx="2"/>
  <p:cmAuthor id="3" name="hbadmin" initials="h" lastIdx="1"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90033"/>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325"/>
    <p:restoredTop sz="90952" autoAdjust="0"/>
  </p:normalViewPr>
  <p:slideViewPr>
    <p:cSldViewPr>
      <p:cViewPr varScale="1">
        <p:scale>
          <a:sx n="111" d="100"/>
          <a:sy n="111" d="100"/>
        </p:scale>
        <p:origin x="208" y="304"/>
      </p:cViewPr>
      <p:guideLst>
        <p:guide orient="horz" pos="2160"/>
        <p:guide pos="2880"/>
      </p:guideLst>
    </p:cSldViewPr>
  </p:slideViewPr>
  <p:notesTextViewPr>
    <p:cViewPr>
      <p:scale>
        <a:sx n="1" d="1"/>
        <a:sy n="1" d="1"/>
      </p:scale>
      <p:origin x="0" y="0"/>
    </p:cViewPr>
  </p:notesTextViewPr>
  <p:notesViewPr>
    <p:cSldViewPr snapToGrid="0" snapToObjects="1">
      <p:cViewPr varScale="1">
        <p:scale>
          <a:sx n="89" d="100"/>
          <a:sy n="89" d="100"/>
        </p:scale>
        <p:origin x="-3800" y="-10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 Target="slides/slide16.xml"/><Relationship Id="rId47" Type="http://schemas.openxmlformats.org/officeDocument/2006/relationships/slide" Target="slides/slide21.xml"/><Relationship Id="rId63" Type="http://schemas.openxmlformats.org/officeDocument/2006/relationships/slide" Target="slides/slide37.xml"/><Relationship Id="rId68" Type="http://schemas.openxmlformats.org/officeDocument/2006/relationships/slide" Target="slides/slide42.xml"/><Relationship Id="rId84" Type="http://schemas.openxmlformats.org/officeDocument/2006/relationships/commentAuthors" Target="commentAuthors.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 Target="slides/slide6.xml"/><Relationship Id="rId37" Type="http://schemas.openxmlformats.org/officeDocument/2006/relationships/slide" Target="slides/slide11.xml"/><Relationship Id="rId53" Type="http://schemas.openxmlformats.org/officeDocument/2006/relationships/slide" Target="slides/slide27.xml"/><Relationship Id="rId58" Type="http://schemas.openxmlformats.org/officeDocument/2006/relationships/slide" Target="slides/slide32.xml"/><Relationship Id="rId74" Type="http://schemas.openxmlformats.org/officeDocument/2006/relationships/slide" Target="slides/slide48.xml"/><Relationship Id="rId79" Type="http://schemas.openxmlformats.org/officeDocument/2006/relationships/slide" Target="slides/slide53.xml"/><Relationship Id="rId5" Type="http://schemas.openxmlformats.org/officeDocument/2006/relationships/slideMaster" Target="slideMasters/slideMaster5.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1.xml"/><Relationship Id="rId30" Type="http://schemas.openxmlformats.org/officeDocument/2006/relationships/slide" Target="slides/slide4.xml"/><Relationship Id="rId35" Type="http://schemas.openxmlformats.org/officeDocument/2006/relationships/slide" Target="slides/slide9.xml"/><Relationship Id="rId43" Type="http://schemas.openxmlformats.org/officeDocument/2006/relationships/slide" Target="slides/slide17.xml"/><Relationship Id="rId48" Type="http://schemas.openxmlformats.org/officeDocument/2006/relationships/slide" Target="slides/slide22.xml"/><Relationship Id="rId56" Type="http://schemas.openxmlformats.org/officeDocument/2006/relationships/slide" Target="slides/slide30.xml"/><Relationship Id="rId64" Type="http://schemas.openxmlformats.org/officeDocument/2006/relationships/slide" Target="slides/slide38.xml"/><Relationship Id="rId69" Type="http://schemas.openxmlformats.org/officeDocument/2006/relationships/slide" Target="slides/slide43.xml"/><Relationship Id="rId77" Type="http://schemas.openxmlformats.org/officeDocument/2006/relationships/slide" Target="slides/slide51.xml"/><Relationship Id="rId8" Type="http://schemas.openxmlformats.org/officeDocument/2006/relationships/slideMaster" Target="slideMasters/slideMaster8.xml"/><Relationship Id="rId51" Type="http://schemas.openxmlformats.org/officeDocument/2006/relationships/slide" Target="slides/slide25.xml"/><Relationship Id="rId72" Type="http://schemas.openxmlformats.org/officeDocument/2006/relationships/slide" Target="slides/slide46.xml"/><Relationship Id="rId80" Type="http://schemas.openxmlformats.org/officeDocument/2006/relationships/slide" Target="slides/slide54.xml"/><Relationship Id="rId85"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7.xml"/><Relationship Id="rId38" Type="http://schemas.openxmlformats.org/officeDocument/2006/relationships/slide" Target="slides/slide12.xml"/><Relationship Id="rId46" Type="http://schemas.openxmlformats.org/officeDocument/2006/relationships/slide" Target="slides/slide20.xml"/><Relationship Id="rId59" Type="http://schemas.openxmlformats.org/officeDocument/2006/relationships/slide" Target="slides/slide33.xml"/><Relationship Id="rId67" Type="http://schemas.openxmlformats.org/officeDocument/2006/relationships/slide" Target="slides/slide41.xml"/><Relationship Id="rId20" Type="http://schemas.openxmlformats.org/officeDocument/2006/relationships/slideMaster" Target="slideMasters/slideMaster20.xml"/><Relationship Id="rId41" Type="http://schemas.openxmlformats.org/officeDocument/2006/relationships/slide" Target="slides/slide15.xml"/><Relationship Id="rId54" Type="http://schemas.openxmlformats.org/officeDocument/2006/relationships/slide" Target="slides/slide28.xml"/><Relationship Id="rId62" Type="http://schemas.openxmlformats.org/officeDocument/2006/relationships/slide" Target="slides/slide36.xml"/><Relationship Id="rId70" Type="http://schemas.openxmlformats.org/officeDocument/2006/relationships/slide" Target="slides/slide44.xml"/><Relationship Id="rId75" Type="http://schemas.openxmlformats.org/officeDocument/2006/relationships/slide" Target="slides/slide49.xml"/><Relationship Id="rId83" Type="http://schemas.openxmlformats.org/officeDocument/2006/relationships/tags" Target="tags/tag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2.xml"/><Relationship Id="rId36" Type="http://schemas.openxmlformats.org/officeDocument/2006/relationships/slide" Target="slides/slide10.xml"/><Relationship Id="rId49" Type="http://schemas.openxmlformats.org/officeDocument/2006/relationships/slide" Target="slides/slide23.xml"/><Relationship Id="rId57" Type="http://schemas.openxmlformats.org/officeDocument/2006/relationships/slide" Target="slides/slide31.xml"/><Relationship Id="rId10" Type="http://schemas.openxmlformats.org/officeDocument/2006/relationships/slideMaster" Target="slideMasters/slideMaster10.xml"/><Relationship Id="rId31" Type="http://schemas.openxmlformats.org/officeDocument/2006/relationships/slide" Target="slides/slide5.xml"/><Relationship Id="rId44" Type="http://schemas.openxmlformats.org/officeDocument/2006/relationships/slide" Target="slides/slide18.xml"/><Relationship Id="rId52" Type="http://schemas.openxmlformats.org/officeDocument/2006/relationships/slide" Target="slides/slide26.xml"/><Relationship Id="rId60" Type="http://schemas.openxmlformats.org/officeDocument/2006/relationships/slide" Target="slides/slide34.xml"/><Relationship Id="rId65" Type="http://schemas.openxmlformats.org/officeDocument/2006/relationships/slide" Target="slides/slide39.xml"/><Relationship Id="rId73" Type="http://schemas.openxmlformats.org/officeDocument/2006/relationships/slide" Target="slides/slide47.xml"/><Relationship Id="rId78" Type="http://schemas.openxmlformats.org/officeDocument/2006/relationships/slide" Target="slides/slide52.xml"/><Relationship Id="rId81" Type="http://schemas.openxmlformats.org/officeDocument/2006/relationships/notesMaster" Target="notesMasters/notesMaster1.xml"/><Relationship Id="rId86"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3.xml"/><Relationship Id="rId34" Type="http://schemas.openxmlformats.org/officeDocument/2006/relationships/slide" Target="slides/slide8.xml"/><Relationship Id="rId50" Type="http://schemas.openxmlformats.org/officeDocument/2006/relationships/slide" Target="slides/slide24.xml"/><Relationship Id="rId55" Type="http://schemas.openxmlformats.org/officeDocument/2006/relationships/slide" Target="slides/slide29.xml"/><Relationship Id="rId76" Type="http://schemas.openxmlformats.org/officeDocument/2006/relationships/slide" Target="slides/slide50.xml"/><Relationship Id="rId7" Type="http://schemas.openxmlformats.org/officeDocument/2006/relationships/slideMaster" Target="slideMasters/slideMaster7.xml"/><Relationship Id="rId71" Type="http://schemas.openxmlformats.org/officeDocument/2006/relationships/slide" Target="slides/slide45.xml"/><Relationship Id="rId2" Type="http://schemas.openxmlformats.org/officeDocument/2006/relationships/slideMaster" Target="slideMasters/slideMaster2.xml"/><Relationship Id="rId29" Type="http://schemas.openxmlformats.org/officeDocument/2006/relationships/slide" Target="slides/slide3.xml"/><Relationship Id="rId24" Type="http://schemas.openxmlformats.org/officeDocument/2006/relationships/slideMaster" Target="slideMasters/slideMaster24.xml"/><Relationship Id="rId40" Type="http://schemas.openxmlformats.org/officeDocument/2006/relationships/slide" Target="slides/slide14.xml"/><Relationship Id="rId45" Type="http://schemas.openxmlformats.org/officeDocument/2006/relationships/slide" Target="slides/slide19.xml"/><Relationship Id="rId66" Type="http://schemas.openxmlformats.org/officeDocument/2006/relationships/slide" Target="slides/slide40.xml"/><Relationship Id="rId87" Type="http://schemas.openxmlformats.org/officeDocument/2006/relationships/theme" Target="theme/theme1.xml"/><Relationship Id="rId61" Type="http://schemas.openxmlformats.org/officeDocument/2006/relationships/slide" Target="slides/slide35.xml"/><Relationship Id="rId8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2D7D7A8-C652-304E-B365-B25232E336F2}" type="datetimeFigureOut">
              <a:rPr lang="en-US" smtClean="0"/>
              <a:t>4/17/25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65D5F51-2719-624B-AA3D-8BBD63EA2CE0}" type="slidenum">
              <a:rPr lang="en-US" smtClean="0"/>
              <a:t>‹#›</a:t>
            </a:fld>
            <a:endParaRPr lang="en-US"/>
          </a:p>
        </p:txBody>
      </p:sp>
    </p:spTree>
    <p:extLst>
      <p:ext uri="{BB962C8B-B14F-4D97-AF65-F5344CB8AC3E}">
        <p14:creationId xmlns:p14="http://schemas.microsoft.com/office/powerpoint/2010/main" val="161559712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C7F735-3B07-40E0-90B2-09F3232ABD28}" type="datetimeFigureOut">
              <a:rPr lang="en-US" smtClean="0"/>
              <a:t>4/17/25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4470D8-1F41-4A2B-8AFF-DD19730E7B38}" type="slidenum">
              <a:rPr lang="en-US" smtClean="0"/>
              <a:t>‹#›</a:t>
            </a:fld>
            <a:endParaRPr lang="en-US"/>
          </a:p>
        </p:txBody>
      </p:sp>
    </p:spTree>
    <p:extLst>
      <p:ext uri="{BB962C8B-B14F-4D97-AF65-F5344CB8AC3E}">
        <p14:creationId xmlns:p14="http://schemas.microsoft.com/office/powerpoint/2010/main" val="413475513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http://www.youtube.com/watch?v=GTQnarzmTOc</a:t>
            </a:r>
          </a:p>
        </p:txBody>
      </p:sp>
      <p:sp>
        <p:nvSpPr>
          <p:cNvPr id="4" name="Slide Number Placeholder 3"/>
          <p:cNvSpPr>
            <a:spLocks noGrp="1"/>
          </p:cNvSpPr>
          <p:nvPr>
            <p:ph type="sldNum" sz="quarter" idx="10"/>
          </p:nvPr>
        </p:nvSpPr>
        <p:spPr/>
        <p:txBody>
          <a:bodyPr/>
          <a:lstStyle/>
          <a:p>
            <a:fld id="{93757B56-F843-45CA-9B8E-92F802DE3B4D}" type="slidenum">
              <a:rPr lang="en-US" smtClean="0">
                <a:solidFill>
                  <a:prstClr val="black"/>
                </a:solidFill>
                <a:latin typeface="Calibri"/>
              </a:rPr>
              <a:pPr/>
              <a:t>3</a:t>
            </a:fld>
            <a:endParaRPr lang="en-US" dirty="0">
              <a:solidFill>
                <a:prstClr val="black"/>
              </a:solidFill>
              <a:latin typeface="Calibri"/>
            </a:endParaRPr>
          </a:p>
        </p:txBody>
      </p:sp>
    </p:spTree>
    <p:extLst>
      <p:ext uri="{BB962C8B-B14F-4D97-AF65-F5344CB8AC3E}">
        <p14:creationId xmlns:p14="http://schemas.microsoft.com/office/powerpoint/2010/main" val="2177446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9</a:t>
            </a:fld>
            <a:endParaRPr lang="en-US"/>
          </a:p>
        </p:txBody>
      </p:sp>
    </p:spTree>
    <p:extLst>
      <p:ext uri="{BB962C8B-B14F-4D97-AF65-F5344CB8AC3E}">
        <p14:creationId xmlns:p14="http://schemas.microsoft.com/office/powerpoint/2010/main" val="3128123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pPr eaLnBrk="1" hangingPunct="1"/>
            <a:endParaRPr lang="en-US" dirty="0"/>
          </a:p>
        </p:txBody>
      </p:sp>
      <p:sp>
        <p:nvSpPr>
          <p:cNvPr id="4" name="Slide Number Placeholder 3"/>
          <p:cNvSpPr>
            <a:spLocks noGrp="1"/>
          </p:cNvSpPr>
          <p:nvPr>
            <p:ph type="sldNum" sz="quarter" idx="5"/>
          </p:nvPr>
        </p:nvSpPr>
        <p:spPr/>
        <p:txBody>
          <a:bodyPr/>
          <a:lstStyle/>
          <a:p>
            <a:pPr>
              <a:defRPr/>
            </a:pPr>
            <a:fld id="{01C237CC-1C7E-4CF0-A11A-FA3CDC47FE9A}" type="slidenum">
              <a:rPr lang="en-US" smtClean="0">
                <a:solidFill>
                  <a:prstClr val="black"/>
                </a:solidFill>
                <a:latin typeface="Calibri"/>
              </a:rPr>
              <a:pPr>
                <a:defRPr/>
              </a:pPr>
              <a:t>10</a:t>
            </a:fld>
            <a:endParaRPr lang="en-US" dirty="0">
              <a:solidFill>
                <a:prstClr val="black"/>
              </a:solidFill>
              <a:latin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11</a:t>
            </a:fld>
            <a:endParaRPr lang="en-US"/>
          </a:p>
        </p:txBody>
      </p:sp>
    </p:spTree>
    <p:extLst>
      <p:ext uri="{BB962C8B-B14F-4D97-AF65-F5344CB8AC3E}">
        <p14:creationId xmlns:p14="http://schemas.microsoft.com/office/powerpoint/2010/main" val="2523003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0129FF0-BFF5-4464-8B56-2634F9A66983}" type="slidenum">
              <a:rPr lang="en-US">
                <a:solidFill>
                  <a:prstClr val="black"/>
                </a:solidFill>
                <a:latin typeface="Calibri"/>
              </a:rPr>
              <a:pPr/>
              <a:t>12</a:t>
            </a:fld>
            <a:endParaRPr lang="en-US" dirty="0">
              <a:solidFill>
                <a:prstClr val="black"/>
              </a:solidFill>
              <a:latin typeface="Calibri"/>
            </a:endParaRPr>
          </a:p>
        </p:txBody>
      </p:sp>
      <p:sp>
        <p:nvSpPr>
          <p:cNvPr id="552962" name="Slide Image Placeholder 1"/>
          <p:cNvSpPr>
            <a:spLocks noGrp="1" noRot="1" noChangeAspect="1" noTextEdit="1"/>
          </p:cNvSpPr>
          <p:nvPr>
            <p:ph type="sldImg"/>
          </p:nvPr>
        </p:nvSpPr>
        <p:spPr>
          <a:ln/>
          <a:extLst>
            <a:ext uri="{909E8E84-426E-40DD-AFC4-6F175D3DCCD1}">
              <a14:hiddenFill xmlns:a14="http://schemas.microsoft.com/office/drawing/2010/main">
                <a:noFill/>
              </a14:hiddenFill>
            </a:ext>
          </a:extLst>
        </p:spPr>
      </p:sp>
      <p:sp>
        <p:nvSpPr>
          <p:cNvPr id="552963" name="Notes Placeholder 2"/>
          <p:cNvSpPr>
            <a:spLocks noGrp="1"/>
          </p:cNvSpPr>
          <p:nvPr>
            <p:ph type="body" idx="1"/>
          </p:nvPr>
        </p:nvSpPr>
        <p:spPr/>
        <p:txBody>
          <a:bodyPr/>
          <a:lstStyle/>
          <a:p>
            <a:endParaRPr lang="en-US" dirty="0"/>
          </a:p>
        </p:txBody>
      </p:sp>
      <p:sp>
        <p:nvSpPr>
          <p:cNvPr id="552964"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r"/>
            <a:fld id="{4BF5CAE8-8A2C-4AF8-AB69-1E1114BC40F8}" type="slidenum">
              <a:rPr lang="en-US" sz="1200">
                <a:solidFill>
                  <a:prstClr val="black"/>
                </a:solidFill>
                <a:latin typeface="Calibri" pitchFamily="34" charset="0"/>
                <a:ea typeface="ＭＳ Ｐゴシック" pitchFamily="34" charset="-128"/>
              </a:rPr>
              <a:pPr algn="r"/>
              <a:t>12</a:t>
            </a:fld>
            <a:endParaRPr lang="en-US" sz="1200" dirty="0">
              <a:solidFill>
                <a:prstClr val="black"/>
              </a:solidFill>
              <a:latin typeface="Calibri" pitchFamily="34" charset="0"/>
              <a:ea typeface="ＭＳ Ｐゴシック"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0129FF0-BFF5-4464-8B56-2634F9A66983}" type="slidenum">
              <a:rPr lang="en-US">
                <a:solidFill>
                  <a:prstClr val="black"/>
                </a:solidFill>
                <a:latin typeface="Calibri"/>
              </a:rPr>
              <a:pPr/>
              <a:t>14</a:t>
            </a:fld>
            <a:endParaRPr lang="en-US" dirty="0">
              <a:solidFill>
                <a:prstClr val="black"/>
              </a:solidFill>
              <a:latin typeface="Calibri"/>
            </a:endParaRPr>
          </a:p>
        </p:txBody>
      </p:sp>
      <p:sp>
        <p:nvSpPr>
          <p:cNvPr id="552962" name="Slide Image Placeholder 1"/>
          <p:cNvSpPr>
            <a:spLocks noGrp="1" noRot="1" noChangeAspect="1" noTextEdit="1"/>
          </p:cNvSpPr>
          <p:nvPr>
            <p:ph type="sldImg"/>
          </p:nvPr>
        </p:nvSpPr>
        <p:spPr>
          <a:ln/>
          <a:extLst>
            <a:ext uri="{909E8E84-426E-40DD-AFC4-6F175D3DCCD1}">
              <a14:hiddenFill xmlns:a14="http://schemas.microsoft.com/office/drawing/2010/main">
                <a:noFill/>
              </a14:hiddenFill>
            </a:ext>
          </a:extLst>
        </p:spPr>
      </p:sp>
      <p:sp>
        <p:nvSpPr>
          <p:cNvPr id="552963" name="Notes Placeholder 2"/>
          <p:cNvSpPr>
            <a:spLocks noGrp="1"/>
          </p:cNvSpPr>
          <p:nvPr>
            <p:ph type="body" idx="1"/>
          </p:nvPr>
        </p:nvSpPr>
        <p:spPr/>
        <p:txBody>
          <a:bodyPr/>
          <a:lstStyle/>
          <a:p>
            <a:endParaRPr lang="en-US" dirty="0"/>
          </a:p>
        </p:txBody>
      </p:sp>
      <p:sp>
        <p:nvSpPr>
          <p:cNvPr id="552964"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r"/>
            <a:fld id="{4BF5CAE8-8A2C-4AF8-AB69-1E1114BC40F8}" type="slidenum">
              <a:rPr lang="en-US" sz="1200">
                <a:solidFill>
                  <a:prstClr val="black"/>
                </a:solidFill>
                <a:latin typeface="Calibri" pitchFamily="34" charset="0"/>
                <a:ea typeface="ＭＳ Ｐゴシック" pitchFamily="34" charset="-128"/>
              </a:rPr>
              <a:pPr algn="r"/>
              <a:t>14</a:t>
            </a:fld>
            <a:endParaRPr lang="en-US" sz="1200" dirty="0">
              <a:solidFill>
                <a:prstClr val="black"/>
              </a:solidFill>
              <a:latin typeface="Calibri" pitchFamily="34" charset="0"/>
              <a:ea typeface="ＭＳ Ｐゴシック"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of WPA programs</a:t>
            </a:r>
            <a:r>
              <a:rPr lang="en-US" baseline="0" dirty="0"/>
              <a:t> used during the Great Depression</a:t>
            </a:r>
            <a:endParaRPr lang="en-US" dirty="0"/>
          </a:p>
        </p:txBody>
      </p:sp>
      <p:sp>
        <p:nvSpPr>
          <p:cNvPr id="4" name="Slide Number Placeholder 3"/>
          <p:cNvSpPr>
            <a:spLocks noGrp="1"/>
          </p:cNvSpPr>
          <p:nvPr>
            <p:ph type="sldNum" sz="quarter" idx="10"/>
          </p:nvPr>
        </p:nvSpPr>
        <p:spPr/>
        <p:txBody>
          <a:bodyPr/>
          <a:lstStyle/>
          <a:p>
            <a:fld id="{93757B56-F843-45CA-9B8E-92F802DE3B4D}" type="slidenum">
              <a:rPr lang="en-US" smtClean="0">
                <a:solidFill>
                  <a:prstClr val="black"/>
                </a:solidFill>
                <a:latin typeface="Calibri"/>
              </a:rPr>
              <a:pPr/>
              <a:t>15</a:t>
            </a:fld>
            <a:endParaRPr lang="en-US" dirty="0">
              <a:solidFill>
                <a:prstClr val="black"/>
              </a:solidFill>
              <a:latin typeface="Calibri"/>
            </a:endParaRPr>
          </a:p>
        </p:txBody>
      </p:sp>
    </p:spTree>
    <p:extLst>
      <p:ext uri="{BB962C8B-B14F-4D97-AF65-F5344CB8AC3E}">
        <p14:creationId xmlns:p14="http://schemas.microsoft.com/office/powerpoint/2010/main" val="118374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18</a:t>
            </a:fld>
            <a:endParaRPr lang="en-US"/>
          </a:p>
        </p:txBody>
      </p:sp>
    </p:spTree>
    <p:extLst>
      <p:ext uri="{BB962C8B-B14F-4D97-AF65-F5344CB8AC3E}">
        <p14:creationId xmlns:p14="http://schemas.microsoft.com/office/powerpoint/2010/main" val="17703664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19</a:t>
            </a:fld>
            <a:endParaRPr lang="en-US"/>
          </a:p>
        </p:txBody>
      </p:sp>
    </p:spTree>
    <p:extLst>
      <p:ext uri="{BB962C8B-B14F-4D97-AF65-F5344CB8AC3E}">
        <p14:creationId xmlns:p14="http://schemas.microsoft.com/office/powerpoint/2010/main" val="4035759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a:t>
            </a:r>
            <a:r>
              <a:rPr lang="en-US" baseline="0" dirty="0"/>
              <a:t> credit: Wikimedia</a:t>
            </a:r>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21</a:t>
            </a:fld>
            <a:endParaRPr lang="en-US"/>
          </a:p>
        </p:txBody>
      </p:sp>
    </p:spTree>
    <p:extLst>
      <p:ext uri="{BB962C8B-B14F-4D97-AF65-F5344CB8AC3E}">
        <p14:creationId xmlns:p14="http://schemas.microsoft.com/office/powerpoint/2010/main" val="33683514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22</a:t>
            </a:fld>
            <a:endParaRPr lang="en-US"/>
          </a:p>
        </p:txBody>
      </p:sp>
    </p:spTree>
    <p:extLst>
      <p:ext uri="{BB962C8B-B14F-4D97-AF65-F5344CB8AC3E}">
        <p14:creationId xmlns:p14="http://schemas.microsoft.com/office/powerpoint/2010/main" val="3441396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90586A2-6F41-4DF6-9473-BEB2A1E760C2}" type="slidenum">
              <a:rPr lang="en-US">
                <a:solidFill>
                  <a:prstClr val="black"/>
                </a:solidFill>
                <a:latin typeface="Calibri"/>
              </a:rPr>
              <a:pPr fontAlgn="base">
                <a:spcBef>
                  <a:spcPct val="0"/>
                </a:spcBef>
                <a:spcAft>
                  <a:spcPct val="0"/>
                </a:spcAft>
              </a:pPr>
              <a:t>27</a:t>
            </a:fld>
            <a:endParaRPr lang="en-US" dirty="0">
              <a:solidFill>
                <a:prstClr val="black"/>
              </a:solidFill>
              <a:latin typeface="Calibri"/>
            </a:endParaRPr>
          </a:p>
        </p:txBody>
      </p:sp>
      <p:sp>
        <p:nvSpPr>
          <p:cNvPr id="1075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752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pPr>
              <a:spcBef>
                <a:spcPct val="0"/>
              </a:spcBef>
            </a:pPr>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30</a:t>
            </a:fld>
            <a:endParaRPr lang="en-US"/>
          </a:p>
        </p:txBody>
      </p:sp>
    </p:spTree>
    <p:extLst>
      <p:ext uri="{BB962C8B-B14F-4D97-AF65-F5344CB8AC3E}">
        <p14:creationId xmlns:p14="http://schemas.microsoft.com/office/powerpoint/2010/main" val="23997344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32</a:t>
            </a:fld>
            <a:endParaRPr lang="en-US"/>
          </a:p>
        </p:txBody>
      </p:sp>
    </p:spTree>
    <p:extLst>
      <p:ext uri="{BB962C8B-B14F-4D97-AF65-F5344CB8AC3E}">
        <p14:creationId xmlns:p14="http://schemas.microsoft.com/office/powerpoint/2010/main" val="2887953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Library</a:t>
            </a:r>
            <a:r>
              <a:rPr lang="en-US" baseline="0" dirty="0"/>
              <a:t> of Congress</a:t>
            </a:r>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40</a:t>
            </a:fld>
            <a:endParaRPr lang="en-US"/>
          </a:p>
        </p:txBody>
      </p:sp>
    </p:spTree>
    <p:extLst>
      <p:ext uri="{BB962C8B-B14F-4D97-AF65-F5344CB8AC3E}">
        <p14:creationId xmlns:p14="http://schemas.microsoft.com/office/powerpoint/2010/main" val="35946076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p:spPr>
      </p:sp>
      <p:sp>
        <p:nvSpPr>
          <p:cNvPr id="88067"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pPr>
              <a:spcBef>
                <a:spcPct val="0"/>
              </a:spcBef>
            </a:pPr>
            <a:endParaRPr lang="en-US" dirty="0"/>
          </a:p>
        </p:txBody>
      </p:sp>
      <p:sp>
        <p:nvSpPr>
          <p:cNvPr id="880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2415F5D-2E13-472E-958D-374341833FE3}" type="slidenum">
              <a:rPr lang="en-US">
                <a:solidFill>
                  <a:prstClr val="black"/>
                </a:solidFill>
                <a:latin typeface="Calibri"/>
              </a:rPr>
              <a:pPr fontAlgn="base">
                <a:spcBef>
                  <a:spcPct val="0"/>
                </a:spcBef>
                <a:spcAft>
                  <a:spcPct val="0"/>
                </a:spcAft>
              </a:pPr>
              <a:t>42</a:t>
            </a:fld>
            <a:endParaRPr lang="en-US" dirty="0">
              <a:solidFill>
                <a:prstClr val="black"/>
              </a:solidFill>
              <a:latin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43</a:t>
            </a:fld>
            <a:endParaRPr lang="en-US"/>
          </a:p>
        </p:txBody>
      </p:sp>
    </p:spTree>
    <p:extLst>
      <p:ext uri="{BB962C8B-B14F-4D97-AF65-F5344CB8AC3E}">
        <p14:creationId xmlns:p14="http://schemas.microsoft.com/office/powerpoint/2010/main" val="2927763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46</a:t>
            </a:fld>
            <a:endParaRPr lang="en-US"/>
          </a:p>
        </p:txBody>
      </p:sp>
    </p:spTree>
    <p:extLst>
      <p:ext uri="{BB962C8B-B14F-4D97-AF65-F5344CB8AC3E}">
        <p14:creationId xmlns:p14="http://schemas.microsoft.com/office/powerpoint/2010/main" val="27277457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52</a:t>
            </a:fld>
            <a:endParaRPr lang="en-US"/>
          </a:p>
        </p:txBody>
      </p:sp>
    </p:spTree>
    <p:extLst>
      <p:ext uri="{BB962C8B-B14F-4D97-AF65-F5344CB8AC3E}">
        <p14:creationId xmlns:p14="http://schemas.microsoft.com/office/powerpoint/2010/main" val="20526817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8" Type="http://schemas.openxmlformats.org/officeDocument/2006/relationships/hyperlink" Target="http://krugman.blogs.nytimes.com/" TargetMode="External"/><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image" Target="../media/image9.png"/><Relationship Id="rId2" Type="http://schemas.openxmlformats.org/officeDocument/2006/relationships/hyperlink" Target="http://www.gregmankiw.blogspot.com/" TargetMode="External"/><Relationship Id="rId1" Type="http://schemas.openxmlformats.org/officeDocument/2006/relationships/slideMaster" Target="../slideMasters/slideMaster3.xml"/><Relationship Id="rId6" Type="http://schemas.openxmlformats.org/officeDocument/2006/relationships/hyperlink" Target="http://www.freakonomics.com/blog/"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research.stlouisfed.org/fred2/" TargetMode="External"/><Relationship Id="rId4" Type="http://schemas.openxmlformats.org/officeDocument/2006/relationships/hyperlink" Target="http://marginalrevolution.com/" TargetMode="External"/><Relationship Id="rId9"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Master" Target="../slideMasters/slideMaster1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2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Master" Target="../slideMasters/slideMaster2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2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entury Gothic"/>
                <a:cs typeface="Century Gothic"/>
              </a:defRPr>
            </a:lvl1pPr>
            <a:lvl2pPr>
              <a:defRPr sz="2800" baseline="0">
                <a:latin typeface="Century Gothic"/>
                <a:cs typeface="Century Gothic"/>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403844364"/>
      </p:ext>
    </p:extLst>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00886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pic>
        <p:nvPicPr>
          <p:cNvPr id="5" name="Picture 4" descr="Screen Shot 2014-12-20 at 5.27.50 PM.png"/>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7580130" y="15463"/>
            <a:ext cx="1532200" cy="1508537"/>
          </a:xfrm>
          <a:prstGeom prst="rect">
            <a:avLst/>
          </a:prstGeom>
        </p:spPr>
      </p:pic>
    </p:spTree>
    <p:extLst>
      <p:ext uri="{BB962C8B-B14F-4D97-AF65-F5344CB8AC3E}">
        <p14:creationId xmlns:p14="http://schemas.microsoft.com/office/powerpoint/2010/main" val="406133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t>ECONOMICS</a:t>
            </a:r>
            <a:endParaRPr lang="en-US" dirty="0"/>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1854222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a:t>
            </a:r>
            <a:endParaRPr lang="en-US" dirty="0"/>
          </a:p>
        </p:txBody>
      </p:sp>
    </p:spTree>
    <p:extLst>
      <p:ext uri="{BB962C8B-B14F-4D97-AF65-F5344CB8AC3E}">
        <p14:creationId xmlns:p14="http://schemas.microsoft.com/office/powerpoint/2010/main" val="2215079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t>ECONOMICS</a:t>
            </a:r>
            <a:endParaRPr lang="en-US" dirty="0"/>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3552060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andara" pitchFamily="34" charset="0"/>
              </a:defRPr>
            </a:lvl1pPr>
            <a:lvl2pPr>
              <a:defRPr sz="2800" baseline="0">
                <a:latin typeface="Candara" pitchFamily="34" charset="0"/>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8" name="Footer Placeholder 4"/>
          <p:cNvSpPr txBox="1">
            <a:spLocks/>
          </p:cNvSpPr>
          <p:nvPr/>
        </p:nvSpPr>
        <p:spPr>
          <a:xfrm>
            <a:off x="2324100" y="6629400"/>
            <a:ext cx="4800600" cy="228600"/>
          </a:xfrm>
          <a:prstGeom prst="rect">
            <a:avLst/>
          </a:prstGeom>
        </p:spPr>
        <p:txBody>
          <a:bodyPr/>
          <a:lstStyle>
            <a:defPPr>
              <a:defRPr lang="en-US"/>
            </a:defPPr>
            <a:lvl1pPr marL="0" algn="ctr" defTabSz="914400" rtl="0" eaLnBrk="1" fontAlgn="auto" latinLnBrk="0" hangingPunct="1">
              <a:spcBef>
                <a:spcPts val="0"/>
              </a:spcBef>
              <a:spcAft>
                <a:spcPts val="0"/>
              </a:spcAft>
              <a:defRPr sz="1100" i="0" kern="1200" cap="small" spc="400" baseline="0" smtClean="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dirty="0"/>
              <a:t>Copyright 2013 Worth Publishers</a:t>
            </a:r>
          </a:p>
        </p:txBody>
      </p:sp>
    </p:spTree>
    <p:extLst>
      <p:ext uri="{BB962C8B-B14F-4D97-AF65-F5344CB8AC3E}">
        <p14:creationId xmlns:p14="http://schemas.microsoft.com/office/powerpoint/2010/main" val="926553203"/>
      </p:ext>
    </p:extLst>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angle 4"/>
          <p:cNvSpPr/>
          <p:nvPr userDrawn="1"/>
        </p:nvSpPr>
        <p:spPr>
          <a:xfrm>
            <a:off x="-4763" y="5410200"/>
            <a:ext cx="9136063" cy="1447800"/>
          </a:xfrm>
          <a:prstGeom prst="rect">
            <a:avLst/>
          </a:prstGeom>
          <a:solidFill>
            <a:schemeClr val="tx1">
              <a:alpha val="81000"/>
            </a:schemeClr>
          </a:solidFill>
        </p:spPr>
        <p:txBody>
          <a:bodyPr anchor="ctr">
            <a:normAutofit/>
          </a:bodyPr>
          <a:lstStyle/>
          <a:p>
            <a:pPr algn="r">
              <a:defRPr/>
            </a:pPr>
            <a:endParaRPr lang="en-US" sz="6000" spc="50" dirty="0">
              <a:latin typeface="Candara" pitchFamily="34" charset="0"/>
              <a:ea typeface="Tahoma" pitchFamily="34" charset="0"/>
              <a:cs typeface="Tahoma" pitchFamily="34" charset="0"/>
            </a:endParaRPr>
          </a:p>
        </p:txBody>
      </p:sp>
      <p:sp>
        <p:nvSpPr>
          <p:cNvPr id="6" name="TextBox 5"/>
          <p:cNvSpPr txBox="1"/>
          <p:nvPr/>
        </p:nvSpPr>
        <p:spPr>
          <a:xfrm>
            <a:off x="381000" y="5558320"/>
            <a:ext cx="2667000" cy="1200329"/>
          </a:xfrm>
          <a:prstGeom prst="rect">
            <a:avLst/>
          </a:prstGeom>
          <a:noFill/>
        </p:spPr>
        <p:txBody>
          <a:bodyPr wrap="square">
            <a:spAutoFit/>
          </a:bodyPr>
          <a:lstStyle/>
          <a:p>
            <a:pPr>
              <a:defRPr/>
            </a:pPr>
            <a:r>
              <a:rPr lang="en-US" sz="7200" b="1" spc="-300" dirty="0">
                <a:solidFill>
                  <a:schemeClr val="bg1"/>
                </a:solidFill>
                <a:effectLst>
                  <a:outerShdw blurRad="38100" dist="38100" dir="2700000" algn="tl">
                    <a:srgbClr val="000000">
                      <a:alpha val="43137"/>
                    </a:srgbClr>
                  </a:outerShdw>
                </a:effectLst>
                <a:latin typeface="Tw Cen MT"/>
                <a:ea typeface="Tahoma" pitchFamily="34" charset="0"/>
                <a:cs typeface="Tw Cen MT"/>
              </a:rPr>
              <a:t>13(28)</a:t>
            </a:r>
          </a:p>
        </p:txBody>
      </p:sp>
      <p:sp>
        <p:nvSpPr>
          <p:cNvPr id="7" name="TextBox 6"/>
          <p:cNvSpPr txBox="1"/>
          <p:nvPr/>
        </p:nvSpPr>
        <p:spPr>
          <a:xfrm rot="16200000">
            <a:off x="-418306" y="5981184"/>
            <a:ext cx="1358900" cy="369332"/>
          </a:xfrm>
          <a:prstGeom prst="rect">
            <a:avLst/>
          </a:prstGeom>
          <a:noFill/>
        </p:spPr>
        <p:txBody>
          <a:bodyPr>
            <a:spAutoFit/>
          </a:bodyPr>
          <a:lstStyle/>
          <a:p>
            <a:pPr>
              <a:defRPr/>
            </a:pPr>
            <a:r>
              <a:rPr lang="en-US" b="1" kern="0" cap="all" spc="300" dirty="0">
                <a:solidFill>
                  <a:schemeClr val="bg1">
                    <a:lumMod val="75000"/>
                  </a:schemeClr>
                </a:solidFill>
                <a:latin typeface="Tw Cen MT"/>
                <a:ea typeface="+mj-ea"/>
                <a:cs typeface="Tw Cen MT"/>
              </a:rPr>
              <a:t>Chapter</a:t>
            </a:r>
            <a:endParaRPr lang="en-US" sz="2000" b="1" kern="0" cap="all" spc="300" dirty="0">
              <a:solidFill>
                <a:schemeClr val="bg1">
                  <a:lumMod val="75000"/>
                </a:schemeClr>
              </a:solidFill>
              <a:latin typeface="Tw Cen MT"/>
              <a:ea typeface="+mj-ea"/>
              <a:cs typeface="Tw Cen MT"/>
            </a:endParaRPr>
          </a:p>
        </p:txBody>
      </p:sp>
      <p:sp>
        <p:nvSpPr>
          <p:cNvPr id="8" name="TextBox 7"/>
          <p:cNvSpPr txBox="1"/>
          <p:nvPr/>
        </p:nvSpPr>
        <p:spPr>
          <a:xfrm>
            <a:off x="0" y="-15356"/>
            <a:ext cx="7696200" cy="307777"/>
          </a:xfrm>
          <a:prstGeom prst="rect">
            <a:avLst/>
          </a:prstGeom>
          <a:noFill/>
        </p:spPr>
        <p:txBody>
          <a:bodyPr wrap="square">
            <a:spAutoFit/>
          </a:bodyPr>
          <a:lstStyle/>
          <a:p>
            <a:pPr algn="l">
              <a:defRPr/>
            </a:pPr>
            <a:r>
              <a:rPr lang="en-US" sz="1400" b="1" i="0" kern="0" cap="small" spc="400" dirty="0">
                <a:solidFill>
                  <a:schemeClr val="tx1">
                    <a:lumMod val="50000"/>
                    <a:lumOff val="50000"/>
                  </a:schemeClr>
                </a:solidFill>
                <a:latin typeface="Tw Cen MT" pitchFamily="34" charset="0"/>
              </a:rPr>
              <a:t>Slides by Solina Lindahl</a:t>
            </a:r>
          </a:p>
        </p:txBody>
      </p:sp>
      <p:sp>
        <p:nvSpPr>
          <p:cNvPr id="12" name="Title 1"/>
          <p:cNvSpPr txBox="1">
            <a:spLocks/>
          </p:cNvSpPr>
          <p:nvPr userDrawn="1"/>
        </p:nvSpPr>
        <p:spPr>
          <a:xfrm>
            <a:off x="1371600" y="5434585"/>
            <a:ext cx="7772400" cy="1447800"/>
          </a:xfrm>
          <a:prstGeom prst="rect">
            <a:avLst/>
          </a:prstGeom>
          <a:noFill/>
        </p:spPr>
        <p:txBody>
          <a:bodyPr>
            <a:noAutofit/>
          </a:bodyPr>
          <a:lstStyle>
            <a:lvl1pPr algn="r" defTabSz="914400" rtl="0" eaLnBrk="1" latinLnBrk="0" hangingPunct="1">
              <a:spcBef>
                <a:spcPct val="0"/>
              </a:spcBef>
              <a:buNone/>
              <a:defRPr lang="en-US" sz="5400" b="1" i="0" u="none" strike="noStrike" kern="1200" cap="none" spc="100" baseline="0" smtClean="0">
                <a:solidFill>
                  <a:srgbClr val="FF3300"/>
                </a:solidFill>
                <a:effectLst/>
                <a:latin typeface="Candara" pitchFamily="34" charset="0"/>
                <a:ea typeface="+mj-ea"/>
                <a:cs typeface="+mj-cs"/>
              </a:defRPr>
            </a:lvl1pPr>
          </a:lstStyle>
          <a:p>
            <a:r>
              <a:rPr lang="en-US" sz="6000" b="1" kern="0" spc="500" dirty="0">
                <a:latin typeface="Tw Cen MT"/>
                <a:cs typeface="Tw Cen MT"/>
              </a:rPr>
              <a:t>Fiscal</a:t>
            </a:r>
            <a:r>
              <a:rPr lang="en-US" sz="6000" b="1" kern="0" spc="500" baseline="0" dirty="0">
                <a:latin typeface="Tw Cen MT"/>
                <a:cs typeface="Tw Cen MT"/>
              </a:rPr>
              <a:t> Policy</a:t>
            </a:r>
            <a:endParaRPr lang="en-US" sz="6000" b="1" kern="0" spc="500" dirty="0">
              <a:latin typeface="Tw Cen MT"/>
              <a:cs typeface="Tw Cen MT"/>
            </a:endParaRPr>
          </a:p>
        </p:txBody>
      </p:sp>
    </p:spTree>
    <p:extLst>
      <p:ext uri="{BB962C8B-B14F-4D97-AF65-F5344CB8AC3E}">
        <p14:creationId xmlns:p14="http://schemas.microsoft.com/office/powerpoint/2010/main" val="4220870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cxnSp>
        <p:nvCxnSpPr>
          <p:cNvPr id="2" name="Straight Connector 1"/>
          <p:cNvCxnSpPr/>
          <p:nvPr/>
        </p:nvCxnSpPr>
        <p:spPr>
          <a:xfrm>
            <a:off x="0" y="6019800"/>
            <a:ext cx="9144000" cy="0"/>
          </a:xfrm>
          <a:prstGeom prst="line">
            <a:avLst/>
          </a:prstGeom>
          <a:ln w="57150" cmpd="sng">
            <a:solidFill>
              <a:srgbClr val="F8EF59"/>
            </a:solidFill>
            <a:prstDash val="dash"/>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0" y="2286000"/>
            <a:ext cx="9144000" cy="0"/>
          </a:xfrm>
          <a:prstGeom prst="line">
            <a:avLst/>
          </a:prstGeom>
          <a:ln w="57150" cmpd="sng">
            <a:solidFill>
              <a:srgbClr val="F8EF59"/>
            </a:solidFill>
            <a:prstDash val="dash"/>
          </a:ln>
        </p:spPr>
        <p:style>
          <a:lnRef idx="1">
            <a:schemeClr val="accent1"/>
          </a:lnRef>
          <a:fillRef idx="0">
            <a:schemeClr val="accent1"/>
          </a:fillRef>
          <a:effectRef idx="0">
            <a:schemeClr val="accent1"/>
          </a:effectRef>
          <a:fontRef idx="minor">
            <a:schemeClr val="tx1"/>
          </a:fontRef>
        </p:style>
      </p:cxnSp>
      <p:sp>
        <p:nvSpPr>
          <p:cNvPr id="5" name="TextBox 9"/>
          <p:cNvSpPr txBox="1">
            <a:spLocks noChangeArrowheads="1"/>
          </p:cNvSpPr>
          <p:nvPr/>
        </p:nvSpPr>
        <p:spPr bwMode="auto">
          <a:xfrm>
            <a:off x="0" y="1490246"/>
            <a:ext cx="9144000" cy="338554"/>
          </a:xfrm>
          <a:prstGeom prst="rect">
            <a:avLst/>
          </a:prstGeom>
          <a:solidFill>
            <a:srgbClr val="CCFF33">
              <a:alpha val="4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sz="1600" b="0" i="0" spc="300" dirty="0">
                <a:solidFill>
                  <a:srgbClr val="F79646"/>
                </a:solidFill>
                <a:latin typeface="+mn-lt"/>
              </a:rPr>
              <a:t>SOME GOOD BLOGS AND OTHER SITES TO GET THE JUICES FLOWING:</a:t>
            </a:r>
          </a:p>
        </p:txBody>
      </p:sp>
      <p:sp>
        <p:nvSpPr>
          <p:cNvPr id="6" name="Title 1"/>
          <p:cNvSpPr txBox="1">
            <a:spLocks/>
          </p:cNvSpPr>
          <p:nvPr/>
        </p:nvSpPr>
        <p:spPr>
          <a:xfrm>
            <a:off x="0" y="0"/>
            <a:ext cx="7391400" cy="784225"/>
          </a:xfrm>
          <a:prstGeom prst="rect">
            <a:avLst/>
          </a:prstGeom>
          <a:noFill/>
          <a:effectLst/>
        </p:spPr>
        <p:txBody>
          <a:bodyPr/>
          <a:lstStyle>
            <a:lvl1pPr>
              <a:defRPr sz="3600">
                <a:solidFill>
                  <a:schemeClr val="accent1">
                    <a:lumMod val="60000"/>
                    <a:lumOff val="40000"/>
                  </a:schemeClr>
                </a:solidFill>
                <a:effectLst>
                  <a:outerShdw blurRad="38100" dist="38100" dir="2700000" algn="tl">
                    <a:srgbClr val="000000">
                      <a:alpha val="43137"/>
                    </a:srgbClr>
                  </a:outerShdw>
                </a:effectLst>
              </a:defRPr>
            </a:lvl1pPr>
          </a:lstStyle>
          <a:p>
            <a:pPr>
              <a:defRPr/>
            </a:pPr>
            <a:r>
              <a:rPr lang="en-US" sz="4800" b="0" dirty="0">
                <a:solidFill>
                  <a:schemeClr val="accent6"/>
                </a:solidFill>
                <a:effectLst>
                  <a:innerShdw blurRad="63500" dist="50800" dir="13500000">
                    <a:prstClr val="black">
                      <a:alpha val="50000"/>
                    </a:prstClr>
                  </a:innerShdw>
                </a:effectLst>
                <a:latin typeface="Century Gothic" pitchFamily="34" charset="0"/>
                <a:cs typeface="Arial" pitchFamily="34" charset="0"/>
              </a:rPr>
              <a:t>FOOD FOR</a:t>
            </a:r>
            <a:r>
              <a:rPr lang="en-US" sz="4800" b="0" baseline="0" dirty="0">
                <a:solidFill>
                  <a:schemeClr val="accent6"/>
                </a:solidFill>
                <a:effectLst>
                  <a:innerShdw blurRad="63500" dist="50800" dir="13500000">
                    <a:prstClr val="black">
                      <a:alpha val="50000"/>
                    </a:prstClr>
                  </a:innerShdw>
                </a:effectLst>
                <a:latin typeface="Century Gothic" pitchFamily="34" charset="0"/>
                <a:cs typeface="Arial" pitchFamily="34" charset="0"/>
              </a:rPr>
              <a:t> </a:t>
            </a:r>
            <a:r>
              <a:rPr lang="en-US" sz="4800" b="0" dirty="0">
                <a:solidFill>
                  <a:schemeClr val="accent6"/>
                </a:solidFill>
                <a:effectLst>
                  <a:innerShdw blurRad="63500" dist="50800" dir="13500000">
                    <a:prstClr val="black">
                      <a:alpha val="50000"/>
                    </a:prstClr>
                  </a:innerShdw>
                </a:effectLst>
                <a:latin typeface="Century Gothic" pitchFamily="34" charset="0"/>
                <a:cs typeface="Arial" pitchFamily="34" charset="0"/>
              </a:rPr>
              <a:t>THOUGHT….</a:t>
            </a:r>
          </a:p>
        </p:txBody>
      </p:sp>
      <p:pic>
        <p:nvPicPr>
          <p:cNvPr id="7" name="Picture 2">
            <a:hlinkClick r:id="rId2"/>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29200" y="4572000"/>
            <a:ext cx="2724150" cy="5175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hlinkClick r:id="rId4"/>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145213" y="3048000"/>
            <a:ext cx="2998787" cy="5397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a:hlinkClick r:id="rId6"/>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200400" y="2971800"/>
            <a:ext cx="2686050" cy="6572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pic>
        <p:nvPicPr>
          <p:cNvPr id="15" name="Picture 14" descr="Screen Shot 2014-12-20 at 8.46.54 PM.png">
            <a:hlinkClick r:id="rId8"/>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12674" y="2971800"/>
            <a:ext cx="2692400" cy="592126"/>
          </a:xfrm>
          <a:prstGeom prst="rect">
            <a:avLst/>
          </a:prstGeom>
          <a:ln>
            <a:noFill/>
          </a:ln>
          <a:effectLst>
            <a:outerShdw blurRad="292100" dist="139700" dir="2700000" algn="tl" rotWithShape="0">
              <a:srgbClr val="333333">
                <a:alpha val="65000"/>
              </a:srgbClr>
            </a:outerShdw>
          </a:effectLst>
        </p:spPr>
      </p:pic>
      <p:pic>
        <p:nvPicPr>
          <p:cNvPr id="16" name="Picture 15" descr="Screen Shot 2014-12-20 at 8.49.18 PM.png">
            <a:hlinkClick r:id="rId10"/>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1905000" y="4343400"/>
            <a:ext cx="2336800" cy="841691"/>
          </a:xfrm>
          <a:prstGeom prst="rect">
            <a:avLst/>
          </a:prstGeom>
          <a:ln>
            <a:noFill/>
          </a:ln>
          <a:effectLst>
            <a:outerShdw blurRad="292100" dist="139700" dir="2700000" algn="tl" rotWithShape="0">
              <a:srgbClr val="333333">
                <a:alpha val="65000"/>
              </a:srgbClr>
            </a:outerShdw>
          </a:effectLst>
        </p:spPr>
      </p:pic>
      <p:pic>
        <p:nvPicPr>
          <p:cNvPr id="18" name="Picture 17"/>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rot="960000">
            <a:off x="8016447" y="97714"/>
            <a:ext cx="787093" cy="13285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05174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912813" indent="-571500">
              <a:buClr>
                <a:schemeClr val="accent3"/>
              </a:buClr>
              <a:buFont typeface="Wingdings" charset="2"/>
              <a:buChar char="§"/>
              <a:defRPr b="1">
                <a:solidFill>
                  <a:schemeClr val="tx1"/>
                </a:solidFill>
                <a:latin typeface="Century Gothic"/>
                <a:cs typeface="Century Gothic"/>
              </a:defRPr>
            </a:lvl1pPr>
            <a:lvl2pPr marL="1200150" indent="-457200">
              <a:buClr>
                <a:schemeClr val="accent3"/>
              </a:buClr>
              <a:buFont typeface="Wingdings" charset="2"/>
              <a:buChar char="§"/>
              <a:defRPr b="1">
                <a:solidFill>
                  <a:schemeClr val="tx1"/>
                </a:solidFill>
                <a:latin typeface="Century Gothic"/>
                <a:cs typeface="Century Gothic"/>
              </a:defRPr>
            </a:lvl2pPr>
            <a:lvl3pPr marL="1371600" indent="-457200">
              <a:buClr>
                <a:schemeClr val="accent3"/>
              </a:buClr>
              <a:buFont typeface="Wingdings" charset="2"/>
              <a:buChar char="§"/>
              <a:defRPr b="1">
                <a:solidFill>
                  <a:schemeClr val="tx1"/>
                </a:solidFill>
                <a:latin typeface="Century Gothic"/>
                <a:cs typeface="Century Gothic"/>
              </a:defRPr>
            </a:lvl3pPr>
            <a:lvl4pPr marL="1714500" indent="-342900">
              <a:buClr>
                <a:schemeClr val="accent3"/>
              </a:buClr>
              <a:buFont typeface="Wingdings" charset="2"/>
              <a:buChar char="§"/>
              <a:defRPr b="1">
                <a:solidFill>
                  <a:schemeClr val="tx1"/>
                </a:solidFill>
                <a:latin typeface="Century Gothic"/>
                <a:cs typeface="Century Gothic"/>
              </a:defRPr>
            </a:lvl4pPr>
            <a:lvl5pPr marL="2171700" indent="-342900">
              <a:buClr>
                <a:schemeClr val="accent3"/>
              </a:buClr>
              <a:buFont typeface="Wingdings" charset="2"/>
              <a:buChar char="§"/>
              <a:defRPr b="1">
                <a:solidFill>
                  <a:schemeClr val="tx1"/>
                </a:solidFill>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ight Arrow 8">
            <a:hlinkClick r:id="" action="ppaction://noaction"/>
          </p:cNvPr>
          <p:cNvSpPr/>
          <p:nvPr userDrawn="1"/>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pic>
        <p:nvPicPr>
          <p:cNvPr id="10" name="Picture 9">
            <a:hlinkClick r:id="" action="ppaction://noaction"/>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974496" y="6028188"/>
            <a:ext cx="1143000" cy="856979"/>
          </a:xfrm>
          <a:prstGeom prst="rect">
            <a:avLst/>
          </a:prstGeom>
        </p:spPr>
      </p:pic>
      <p:cxnSp>
        <p:nvCxnSpPr>
          <p:cNvPr id="15" name="Straight Connector 14"/>
          <p:cNvCxnSpPr/>
          <p:nvPr userDrawn="1"/>
        </p:nvCxnSpPr>
        <p:spPr>
          <a:xfrm>
            <a:off x="0" y="1219200"/>
            <a:ext cx="9144000" cy="0"/>
          </a:xfrm>
          <a:prstGeom prst="line">
            <a:avLst/>
          </a:prstGeom>
          <a:ln w="76200" cmpd="sng">
            <a:solidFill>
              <a:srgbClr val="F8EF59">
                <a:alpha val="49000"/>
              </a:srgbClr>
            </a:solidFill>
            <a:prstDash val="solid"/>
          </a:ln>
        </p:spPr>
        <p:style>
          <a:lnRef idx="1">
            <a:schemeClr val="accent5"/>
          </a:lnRef>
          <a:fillRef idx="0">
            <a:schemeClr val="accent5"/>
          </a:fillRef>
          <a:effectRef idx="0">
            <a:schemeClr val="accent5"/>
          </a:effectRef>
          <a:fontRef idx="minor">
            <a:schemeClr val="tx1"/>
          </a:fontRef>
        </p:style>
      </p:cxnSp>
      <p:sp>
        <p:nvSpPr>
          <p:cNvPr id="11"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4" name="Down Arrow Callout 3"/>
          <p:cNvSpPr/>
          <p:nvPr userDrawn="1"/>
        </p:nvSpPr>
        <p:spPr>
          <a:xfrm>
            <a:off x="0" y="-29407"/>
            <a:ext cx="3200400" cy="1477207"/>
          </a:xfrm>
          <a:prstGeom prst="downArrowCallout">
            <a:avLst>
              <a:gd name="adj1" fmla="val 32640"/>
              <a:gd name="adj2" fmla="val 28183"/>
              <a:gd name="adj3" fmla="val 25000"/>
              <a:gd name="adj4" fmla="val 61794"/>
            </a:avLst>
          </a:prstGeom>
          <a:solidFill>
            <a:schemeClr val="accent3"/>
          </a:solidFill>
          <a:ln>
            <a:noFill/>
          </a:ln>
          <a:effectLst>
            <a:outerShdw blurRad="50800" dist="38100" dir="270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5" name="TextBox 4"/>
          <p:cNvSpPr txBox="1"/>
          <p:nvPr userDrawn="1"/>
        </p:nvSpPr>
        <p:spPr>
          <a:xfrm>
            <a:off x="0" y="0"/>
            <a:ext cx="3200400" cy="830997"/>
          </a:xfrm>
          <a:prstGeom prst="rect">
            <a:avLst/>
          </a:prstGeom>
          <a:noFill/>
        </p:spPr>
        <p:txBody>
          <a:bodyPr wrap="square" rtlCol="0">
            <a:spAutoFit/>
          </a:bodyPr>
          <a:lstStyle/>
          <a:p>
            <a:r>
              <a:rPr lang="en-US" sz="2400" b="1" dirty="0">
                <a:solidFill>
                  <a:schemeClr val="bg1"/>
                </a:solidFill>
                <a:effectLst/>
              </a:rPr>
              <a:t>     What you will learn in this chapter</a:t>
            </a:r>
          </a:p>
        </p:txBody>
      </p:sp>
      <p:sp>
        <p:nvSpPr>
          <p:cNvPr id="6" name="Isosceles Triangle 5"/>
          <p:cNvSpPr/>
          <p:nvPr userDrawn="1"/>
        </p:nvSpPr>
        <p:spPr>
          <a:xfrm rot="5400000">
            <a:off x="95250" y="95250"/>
            <a:ext cx="304799" cy="266700"/>
          </a:xfrm>
          <a:prstGeom prst="triangle">
            <a:avLst>
              <a:gd name="adj" fmla="val 52591"/>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817337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912813" indent="-571500">
              <a:buClr>
                <a:schemeClr val="accent3"/>
              </a:buClr>
              <a:buFont typeface="Wingdings" charset="2"/>
              <a:buChar char="§"/>
              <a:defRPr b="1">
                <a:solidFill>
                  <a:schemeClr val="tx1"/>
                </a:solidFill>
                <a:latin typeface="Century Gothic"/>
                <a:cs typeface="Century Gothic"/>
              </a:defRPr>
            </a:lvl1pPr>
            <a:lvl2pPr marL="1200150" indent="-457200">
              <a:buClr>
                <a:schemeClr val="accent3"/>
              </a:buClr>
              <a:buFont typeface="Wingdings" charset="2"/>
              <a:buChar char="§"/>
              <a:defRPr b="1">
                <a:solidFill>
                  <a:schemeClr val="tx1"/>
                </a:solidFill>
                <a:latin typeface="Century Gothic"/>
                <a:cs typeface="Century Gothic"/>
              </a:defRPr>
            </a:lvl2pPr>
            <a:lvl3pPr marL="1371600" indent="-457200">
              <a:buClr>
                <a:schemeClr val="accent3"/>
              </a:buClr>
              <a:buFont typeface="Wingdings" charset="2"/>
              <a:buChar char="§"/>
              <a:defRPr b="1">
                <a:solidFill>
                  <a:schemeClr val="tx1"/>
                </a:solidFill>
                <a:latin typeface="Century Gothic"/>
                <a:cs typeface="Century Gothic"/>
              </a:defRPr>
            </a:lvl3pPr>
            <a:lvl4pPr marL="1714500" indent="-342900">
              <a:buClr>
                <a:schemeClr val="accent3"/>
              </a:buClr>
              <a:buFont typeface="Wingdings" charset="2"/>
              <a:buChar char="§"/>
              <a:defRPr b="1">
                <a:solidFill>
                  <a:schemeClr val="tx1"/>
                </a:solidFill>
                <a:latin typeface="Century Gothic"/>
                <a:cs typeface="Century Gothic"/>
              </a:defRPr>
            </a:lvl4pPr>
            <a:lvl5pPr marL="2171700" indent="-342900">
              <a:buClr>
                <a:schemeClr val="accent3"/>
              </a:buClr>
              <a:buFont typeface="Wingdings" charset="2"/>
              <a:buChar char="§"/>
              <a:defRPr b="1">
                <a:solidFill>
                  <a:schemeClr val="tx1"/>
                </a:solidFill>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ight Arrow 8">
            <a:hlinkClick r:id="" action="ppaction://noaction"/>
          </p:cNvPr>
          <p:cNvSpPr/>
          <p:nvPr userDrawn="1"/>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cxnSp>
        <p:nvCxnSpPr>
          <p:cNvPr id="15" name="Straight Connector 14"/>
          <p:cNvCxnSpPr/>
          <p:nvPr userDrawn="1"/>
        </p:nvCxnSpPr>
        <p:spPr>
          <a:xfrm>
            <a:off x="0" y="1219200"/>
            <a:ext cx="9144000" cy="0"/>
          </a:xfrm>
          <a:prstGeom prst="line">
            <a:avLst/>
          </a:prstGeom>
          <a:ln w="76200" cmpd="sng">
            <a:solidFill>
              <a:srgbClr val="F8EF59">
                <a:alpha val="49000"/>
              </a:srgbClr>
            </a:solidFill>
            <a:prstDash val="solid"/>
          </a:ln>
        </p:spPr>
        <p:style>
          <a:lnRef idx="1">
            <a:schemeClr val="accent5"/>
          </a:lnRef>
          <a:fillRef idx="0">
            <a:schemeClr val="accent5"/>
          </a:fillRef>
          <a:effectRef idx="0">
            <a:schemeClr val="accent5"/>
          </a:effectRef>
          <a:fontRef idx="minor">
            <a:schemeClr val="tx1"/>
          </a:fontRef>
        </p:style>
      </p:cxnSp>
      <p:sp>
        <p:nvSpPr>
          <p:cNvPr id="11"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4" name="Down Arrow Callout 3"/>
          <p:cNvSpPr/>
          <p:nvPr userDrawn="1"/>
        </p:nvSpPr>
        <p:spPr>
          <a:xfrm>
            <a:off x="0" y="-29407"/>
            <a:ext cx="3200400" cy="1477207"/>
          </a:xfrm>
          <a:prstGeom prst="downArrowCallout">
            <a:avLst>
              <a:gd name="adj1" fmla="val 32640"/>
              <a:gd name="adj2" fmla="val 28183"/>
              <a:gd name="adj3" fmla="val 25000"/>
              <a:gd name="adj4" fmla="val 61794"/>
            </a:avLst>
          </a:prstGeom>
          <a:solidFill>
            <a:schemeClr val="accent3"/>
          </a:solidFill>
          <a:ln>
            <a:noFill/>
          </a:ln>
          <a:effectLst>
            <a:outerShdw blurRad="50800" dist="38100" dir="270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5" name="TextBox 4"/>
          <p:cNvSpPr txBox="1"/>
          <p:nvPr userDrawn="1"/>
        </p:nvSpPr>
        <p:spPr>
          <a:xfrm>
            <a:off x="0" y="0"/>
            <a:ext cx="3200400" cy="830997"/>
          </a:xfrm>
          <a:prstGeom prst="rect">
            <a:avLst/>
          </a:prstGeom>
          <a:noFill/>
        </p:spPr>
        <p:txBody>
          <a:bodyPr wrap="square" rtlCol="0">
            <a:spAutoFit/>
          </a:bodyPr>
          <a:lstStyle/>
          <a:p>
            <a:r>
              <a:rPr lang="en-US" sz="2400" b="1" dirty="0">
                <a:solidFill>
                  <a:schemeClr val="bg1"/>
                </a:solidFill>
                <a:effectLst/>
              </a:rPr>
              <a:t>     What you will learn in this chapter</a:t>
            </a:r>
          </a:p>
        </p:txBody>
      </p:sp>
      <p:sp>
        <p:nvSpPr>
          <p:cNvPr id="6" name="Isosceles Triangle 5"/>
          <p:cNvSpPr/>
          <p:nvPr userDrawn="1"/>
        </p:nvSpPr>
        <p:spPr>
          <a:xfrm rot="5400000">
            <a:off x="95250" y="95250"/>
            <a:ext cx="304799" cy="266700"/>
          </a:xfrm>
          <a:prstGeom prst="triangle">
            <a:avLst>
              <a:gd name="adj" fmla="val 52591"/>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3234055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Note: These lecture notes are incomplete without having attended lectures</a:t>
            </a:r>
          </a:p>
        </p:txBody>
      </p:sp>
      <p:sp>
        <p:nvSpPr>
          <p:cNvPr id="6" name="Slide Number Placeholder 5"/>
          <p:cNvSpPr>
            <a:spLocks noGrp="1"/>
          </p:cNvSpPr>
          <p:nvPr>
            <p:ph type="sldNum" sz="quarter" idx="12"/>
          </p:nvPr>
        </p:nvSpPr>
        <p:spPr/>
        <p:txBody>
          <a:bodyPr/>
          <a:lstStyle>
            <a:lvl1pPr>
              <a:defRPr/>
            </a:lvl1pPr>
          </a:lstStyle>
          <a:p>
            <a:fld id="{1A236217-FD80-4EFB-A479-11505B56575D}" type="slidenum">
              <a:rPr lang="en-US"/>
              <a:pPr/>
              <a:t>‹#›</a:t>
            </a:fld>
            <a:endParaRPr lang="en-US"/>
          </a:p>
        </p:txBody>
      </p:sp>
    </p:spTree>
    <p:extLst>
      <p:ext uri="{BB962C8B-B14F-4D97-AF65-F5344CB8AC3E}">
        <p14:creationId xmlns:p14="http://schemas.microsoft.com/office/powerpoint/2010/main" val="37235514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406293393"/>
      </p:ext>
    </p:extLst>
  </p:cSld>
  <p:clrMapOvr>
    <a:masterClrMapping/>
  </p:clrMapOvr>
  <p:transition>
    <p:fade thruBlk="1"/>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29852625"/>
      </p:ext>
    </p:extLst>
  </p:cSld>
  <p:clrMapOvr>
    <a:masterClrMapping/>
  </p:clrMapOvr>
  <p:transition>
    <p:fade thruBlk="1"/>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40984043"/>
      </p:ext>
    </p:extLst>
  </p:cSld>
  <p:clrMapOvr>
    <a:masterClrMapping/>
  </p:clrMapOvr>
  <p:transition>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359308934"/>
      </p:ext>
    </p:extLst>
  </p:cSld>
  <p:clrMapOvr>
    <a:masterClrMapping/>
  </p:clrMapOvr>
  <p:transition>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a:prstGeom prst="rect">
            <a:avLst/>
          </a:prstGeom>
        </p:spPr>
        <p:txBody>
          <a:bodyPr/>
          <a:lstStyle>
            <a:lvl1pPr algn="r">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1"/>
          <p:cNvSpPr>
            <a:spLocks noGrp="1"/>
          </p:cNvSpPr>
          <p:nvPr>
            <p:ph type="ftr" sz="quarter" idx="3"/>
          </p:nvPr>
        </p:nvSpPr>
        <p:spPr>
          <a:xfrm>
            <a:off x="1238203" y="6603259"/>
            <a:ext cx="7096993" cy="228600"/>
          </a:xfrm>
          <a:prstGeom prst="rect">
            <a:avLst/>
          </a:prstGeom>
        </p:spPr>
        <p:txBody>
          <a:bodyPr/>
          <a:lstStyle>
            <a:lvl1pPr algn="ct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1031671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767197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0"/>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dirty="0">
                <a:solidFill>
                  <a:srgbClr val="4BACC6">
                    <a:lumMod val="75000"/>
                  </a:srgbClr>
                </a:solidFill>
              </a:rPr>
              <a:t>ECONOMICS</a:t>
            </a: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032142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dirty="0">
              <a:solidFill>
                <a:prstClr val="black"/>
              </a:solidFill>
              <a:latin typeface="Calibri"/>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F4F44DE6-8B77-400C-8F66-8B96B952C9BA}" type="slidenum">
              <a:rPr lang="en-US" smtClean="0">
                <a:solidFill>
                  <a:prstClr val="black">
                    <a:tint val="75000"/>
                  </a:prstClr>
                </a:solidFill>
                <a:latin typeface="Calibri"/>
              </a:rPr>
              <a:pPr/>
              <a:t>‹#›</a:t>
            </a:fld>
            <a:endParaRPr lang="en-US" dirty="0">
              <a:solidFill>
                <a:prstClr val="black">
                  <a:tint val="75000"/>
                </a:prstClr>
              </a:solidFill>
              <a:latin typeface="Calibri"/>
            </a:endParaRPr>
          </a:p>
        </p:txBody>
      </p:sp>
    </p:spTree>
    <p:extLst>
      <p:ext uri="{BB962C8B-B14F-4D97-AF65-F5344CB8AC3E}">
        <p14:creationId xmlns:p14="http://schemas.microsoft.com/office/powerpoint/2010/main" val="8044739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solidFill>
                  <a:srgbClr val="4BACC6">
                    <a:lumMod val="75000"/>
                  </a:srgbClr>
                </a:solidFill>
              </a:rPr>
              <a:t>ECONOMICS</a:t>
            </a:r>
            <a:endParaRPr lang="en-US" dirty="0">
              <a:solidFill>
                <a:srgbClr val="4BACC6">
                  <a:lumMod val="75000"/>
                </a:srgbClr>
              </a:solidFill>
            </a:endParaRP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8492248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79172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6808650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34517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8003489" y="0"/>
            <a:ext cx="1140511" cy="7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6288659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1861850"/>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696299959"/>
      </p:ext>
    </p:extLst>
  </p:cSld>
  <p:clrMapOvr>
    <a:masterClrMapping/>
  </p:clrMapOvr>
  <p:transition>
    <p:fade thruBlk="1"/>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1042527753"/>
      </p:ext>
    </p:extLst>
  </p:cSld>
  <p:clrMapOvr>
    <a:masterClrMapping/>
  </p:clrMapOvr>
  <p:transition>
    <p:fade thruBlk="1"/>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andara" pitchFamily="34" charset="0"/>
              </a:defRPr>
            </a:lvl1pPr>
            <a:lvl2pPr>
              <a:defRPr sz="2800" baseline="0">
                <a:latin typeface="Candara" pitchFamily="34" charset="0"/>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8" name="Footer Placeholder 4"/>
          <p:cNvSpPr txBox="1">
            <a:spLocks/>
          </p:cNvSpPr>
          <p:nvPr/>
        </p:nvSpPr>
        <p:spPr>
          <a:xfrm>
            <a:off x="2324100" y="6629400"/>
            <a:ext cx="4800600" cy="228600"/>
          </a:xfrm>
          <a:prstGeom prst="rect">
            <a:avLst/>
          </a:prstGeom>
        </p:spPr>
        <p:txBody>
          <a:bodyPr/>
          <a:lstStyle>
            <a:defPPr>
              <a:defRPr lang="en-US"/>
            </a:defPPr>
            <a:lvl1pPr marL="0" algn="ctr" defTabSz="914400" rtl="0" eaLnBrk="1" fontAlgn="auto" latinLnBrk="0" hangingPunct="1">
              <a:spcBef>
                <a:spcPts val="0"/>
              </a:spcBef>
              <a:spcAft>
                <a:spcPts val="0"/>
              </a:spcAft>
              <a:defRPr sz="1100" i="0" kern="1200" cap="small" spc="400" baseline="0" smtClean="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dirty="0">
                <a:solidFill>
                  <a:prstClr val="black">
                    <a:lumMod val="50000"/>
                    <a:lumOff val="50000"/>
                  </a:prstClr>
                </a:solidFill>
                <a:latin typeface="Calibri"/>
              </a:rPr>
              <a:t>Copyright 2013 Worth Publishers</a:t>
            </a:r>
          </a:p>
        </p:txBody>
      </p:sp>
    </p:spTree>
    <p:extLst>
      <p:ext uri="{BB962C8B-B14F-4D97-AF65-F5344CB8AC3E}">
        <p14:creationId xmlns:p14="http://schemas.microsoft.com/office/powerpoint/2010/main" val="839276619"/>
      </p:ext>
    </p:extLst>
  </p:cSld>
  <p:clrMapOvr>
    <a:masterClrMapping/>
  </p:clrMapOvr>
  <p:transition>
    <p:fade thruBlk="1"/>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a:prstGeom prst="rect">
            <a:avLst/>
          </a:prstGeo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153536" y="-76200"/>
            <a:ext cx="943896" cy="990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ight Arrow 8">
            <a:hlinkClick r:id="" action="ppaction://noaction"/>
          </p:cNvPr>
          <p:cNvSpPr/>
          <p:nvPr/>
        </p:nvSpPr>
        <p:spPr>
          <a:xfrm>
            <a:off x="0" y="5952053"/>
            <a:ext cx="1143000" cy="905947"/>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a:defRPr/>
            </a:pPr>
            <a:r>
              <a:rPr lang="en-US" sz="11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 action="ppaction://noaction"/>
              </a:rPr>
              <a:t>To </a:t>
            </a:r>
            <a:r>
              <a:rPr lang="en-US" sz="11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rPr>
              <a:t>Active Learning</a:t>
            </a:r>
          </a:p>
        </p:txBody>
      </p:sp>
      <p:pic>
        <p:nvPicPr>
          <p:cNvPr id="10" name="Picture 9">
            <a:hlinkClick r:id="" action="ppaction://noaction"/>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974496" y="6028188"/>
            <a:ext cx="1143000" cy="856979"/>
          </a:xfrm>
          <a:prstGeom prst="rect">
            <a:avLst/>
          </a:prstGeom>
        </p:spPr>
      </p:pic>
      <p:sp>
        <p:nvSpPr>
          <p:cNvPr id="11" name="TextBox 10"/>
          <p:cNvSpPr txBox="1"/>
          <p:nvPr/>
        </p:nvSpPr>
        <p:spPr>
          <a:xfrm>
            <a:off x="8126895" y="6209547"/>
            <a:ext cx="634182" cy="523220"/>
          </a:xfrm>
          <a:prstGeom prst="rect">
            <a:avLst/>
          </a:prstGeom>
          <a:noFill/>
        </p:spPr>
        <p:txBody>
          <a:bodyPr wrap="square" rtlCol="0">
            <a:spAutoFit/>
          </a:bodyPr>
          <a:lstStyle/>
          <a:p>
            <a:r>
              <a:rPr lang="en-US" sz="1400" b="1" dirty="0">
                <a:solidFill>
                  <a:prstClr val="white"/>
                </a:solidFill>
                <a:effectLst>
                  <a:outerShdw blurRad="38100" dist="38100" dir="2700000" algn="tl">
                    <a:srgbClr val="000000">
                      <a:alpha val="43137"/>
                    </a:srgbClr>
                  </a:outerShdw>
                </a:effectLst>
                <a:latin typeface="Calibri"/>
                <a:hlinkClick r:id="" action="ppaction://noaction"/>
              </a:rPr>
              <a:t>To Video</a:t>
            </a:r>
            <a:endParaRPr lang="en-US" sz="1400" b="1" dirty="0">
              <a:solidFill>
                <a:prstClr val="white"/>
              </a:solidFill>
              <a:effectLst>
                <a:outerShdw blurRad="38100" dist="38100" dir="2700000" algn="tl">
                  <a:srgbClr val="000000">
                    <a:alpha val="43137"/>
                  </a:srgbClr>
                </a:outerShdw>
              </a:effectLst>
              <a:latin typeface="Calibri"/>
            </a:endParaRPr>
          </a:p>
        </p:txBody>
      </p:sp>
      <p:sp>
        <p:nvSpPr>
          <p:cNvPr id="12"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8063719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dirty="0">
              <a:solidFill>
                <a:prstClr val="black"/>
              </a:solidFill>
              <a:latin typeface="Calibri"/>
            </a:endParaRPr>
          </a:p>
        </p:txBody>
      </p:sp>
      <p:sp>
        <p:nvSpPr>
          <p:cNvPr id="5" name="Footer Placeholder 4"/>
          <p:cNvSpPr>
            <a:spLocks noGrp="1"/>
          </p:cNvSpPr>
          <p:nvPr>
            <p:ph type="ftr" sz="quarter" idx="11"/>
          </p:nvPr>
        </p:nvSpPr>
        <p:spPr/>
        <p:txBody>
          <a:bodyPr/>
          <a:lstStyle/>
          <a:p>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97ABB6EB-A417-44F4-A17E-A78750F4F63C}" type="slidenum">
              <a:rPr lang="en-US" smtClean="0">
                <a:solidFill>
                  <a:prstClr val="black"/>
                </a:solidFill>
                <a:latin typeface="Calibri"/>
              </a:rPr>
              <a:pPr/>
              <a:t>‹#›</a:t>
            </a:fld>
            <a:endParaRPr lang="en-US" dirty="0">
              <a:solidFill>
                <a:prstClr val="black"/>
              </a:solidFill>
              <a:latin typeface="Calibri"/>
            </a:endParaRPr>
          </a:p>
        </p:txBody>
      </p:sp>
    </p:spTree>
    <p:extLst>
      <p:ext uri="{BB962C8B-B14F-4D97-AF65-F5344CB8AC3E}">
        <p14:creationId xmlns:p14="http://schemas.microsoft.com/office/powerpoint/2010/main" val="6694225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395961766"/>
      </p:ext>
    </p:extLst>
  </p:cSld>
  <p:clrMapOvr>
    <a:masterClrMapping/>
  </p:clrMapOvr>
  <p:transition>
    <p:fade thruBlk="1"/>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477535812"/>
      </p:ext>
    </p:extLst>
  </p:cSld>
  <p:clrMapOvr>
    <a:masterClrMapping/>
  </p:clrMapOvr>
  <p:transition>
    <p:fade thruBlk="1"/>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858263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pic>
        <p:nvPicPr>
          <p:cNvPr id="5" name="Picture 4" descr="Screen Shot 2014-12-20 at 5.27.50 PM.png"/>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7580130" y="15463"/>
            <a:ext cx="1532200" cy="1508537"/>
          </a:xfrm>
          <a:prstGeom prst="rect">
            <a:avLst/>
          </a:prstGeom>
        </p:spPr>
      </p:pic>
    </p:spTree>
    <p:extLst>
      <p:ext uri="{BB962C8B-B14F-4D97-AF65-F5344CB8AC3E}">
        <p14:creationId xmlns:p14="http://schemas.microsoft.com/office/powerpoint/2010/main" val="35515218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solidFill>
                  <a:srgbClr val="4BACC6">
                    <a:lumMod val="75000"/>
                  </a:srgbClr>
                </a:solidFill>
              </a:rPr>
              <a:t>ECONOMICS</a:t>
            </a:r>
            <a:endParaRPr lang="en-US" dirty="0">
              <a:solidFill>
                <a:srgbClr val="4BACC6">
                  <a:lumMod val="75000"/>
                </a:srgbClr>
              </a:solidFill>
            </a:endParaRP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353615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08655709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PhAnim="0"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solidFill>
                  <a:srgbClr val="4BACC6">
                    <a:lumMod val="75000"/>
                  </a:srgbClr>
                </a:solidFill>
              </a:rPr>
              <a:t>ECONOMICS</a:t>
            </a:r>
            <a:endParaRPr lang="en-US" dirty="0">
              <a:solidFill>
                <a:srgbClr val="4BACC6">
                  <a:lumMod val="75000"/>
                </a:srgbClr>
              </a:solidFill>
            </a:endParaRP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1757738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andara" pitchFamily="34" charset="0"/>
              </a:defRPr>
            </a:lvl1pPr>
            <a:lvl2pPr>
              <a:defRPr sz="2800" baseline="0">
                <a:latin typeface="Candara" pitchFamily="34" charset="0"/>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8" name="Footer Placeholder 4"/>
          <p:cNvSpPr txBox="1">
            <a:spLocks/>
          </p:cNvSpPr>
          <p:nvPr/>
        </p:nvSpPr>
        <p:spPr>
          <a:xfrm>
            <a:off x="2324100" y="6629400"/>
            <a:ext cx="4800600" cy="228600"/>
          </a:xfrm>
          <a:prstGeom prst="rect">
            <a:avLst/>
          </a:prstGeom>
        </p:spPr>
        <p:txBody>
          <a:bodyPr/>
          <a:lstStyle>
            <a:defPPr>
              <a:defRPr lang="en-US"/>
            </a:defPPr>
            <a:lvl1pPr marL="0" algn="ctr" defTabSz="914400" rtl="0" eaLnBrk="1" fontAlgn="auto" latinLnBrk="0" hangingPunct="1">
              <a:spcBef>
                <a:spcPts val="0"/>
              </a:spcBef>
              <a:spcAft>
                <a:spcPts val="0"/>
              </a:spcAft>
              <a:defRPr sz="1100" i="0" kern="1200" cap="small" spc="400" baseline="0" smtClean="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dirty="0">
                <a:solidFill>
                  <a:prstClr val="black">
                    <a:lumMod val="50000"/>
                    <a:lumOff val="50000"/>
                  </a:prstClr>
                </a:solidFill>
                <a:latin typeface="Calibri"/>
              </a:rPr>
              <a:t>Copyright 2013 Worth Publishers</a:t>
            </a:r>
          </a:p>
        </p:txBody>
      </p:sp>
    </p:spTree>
    <p:extLst>
      <p:ext uri="{BB962C8B-B14F-4D97-AF65-F5344CB8AC3E}">
        <p14:creationId xmlns:p14="http://schemas.microsoft.com/office/powerpoint/2010/main" val="385998333"/>
      </p:ext>
    </p:extLst>
  </p:cSld>
  <p:clrMapOvr>
    <a:masterClrMapping/>
  </p:clrMapOvr>
  <p:transition>
    <p:fade thruBlk="1"/>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10133175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552779"/>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solidFill>
                <a:prstClr val="black"/>
              </a:solidFill>
              <a:latin typeface="Calibri"/>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a:solidFill>
                  <a:prstClr val="black"/>
                </a:solidFill>
                <a:latin typeface="Calibri"/>
              </a:rPr>
              <a:t>Copyright 2015 Worth Publishers</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F4F44DE6-8B77-400C-8F66-8B96B952C9BA}" type="slidenum">
              <a:rPr lang="en-US" smtClean="0">
                <a:solidFill>
                  <a:prstClr val="black"/>
                </a:solidFill>
                <a:latin typeface="Calibri"/>
              </a:rPr>
              <a:pPr/>
              <a:t>‹#›</a:t>
            </a:fld>
            <a:endParaRPr lang="en-US">
              <a:solidFill>
                <a:prstClr val="black"/>
              </a:solidFill>
              <a:latin typeface="Calibri"/>
            </a:endParaRPr>
          </a:p>
        </p:txBody>
      </p:sp>
    </p:spTree>
    <p:extLst>
      <p:ext uri="{BB962C8B-B14F-4D97-AF65-F5344CB8AC3E}">
        <p14:creationId xmlns:p14="http://schemas.microsoft.com/office/powerpoint/2010/main" val="37246898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440775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8003489" y="0"/>
            <a:ext cx="1140511" cy="7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9020639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9183959"/>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solidFill>
                <a:prstClr val="black"/>
              </a:solidFill>
              <a:latin typeface="Calibri"/>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lumMod val="50000"/>
                    <a:lumOff val="50000"/>
                  </a:prstClr>
                </a:solidFill>
                <a:latin typeface="Calibri"/>
              </a:rPr>
              <a:t>Copyright 2015 Worth Publishers</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12CEDEAC-A05C-4A4A-9B91-AB252F06053A}" type="slidenum">
              <a:rPr lang="en-US">
                <a:solidFill>
                  <a:prstClr val="black"/>
                </a:solidFill>
                <a:latin typeface="Calibri"/>
              </a:rPr>
              <a:pPr>
                <a:defRPr/>
              </a:pPr>
              <a:t>‹#›</a:t>
            </a:fld>
            <a:endParaRPr lang="en-US">
              <a:solidFill>
                <a:prstClr val="black"/>
              </a:solidFill>
              <a:latin typeface="Calibri"/>
            </a:endParaRPr>
          </a:p>
        </p:txBody>
      </p:sp>
    </p:spTree>
    <p:extLst>
      <p:ext uri="{BB962C8B-B14F-4D97-AF65-F5344CB8AC3E}">
        <p14:creationId xmlns:p14="http://schemas.microsoft.com/office/powerpoint/2010/main" val="277050854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0345708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4170840929"/>
      </p:ext>
    </p:extLst>
  </p:cSld>
  <p:clrMapOvr>
    <a:masterClrMapping/>
  </p:clrMapOvr>
  <p:transition>
    <p:fade thruBlk="1"/>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840995862"/>
      </p:ext>
    </p:extLst>
  </p:cSld>
  <p:clrMapOvr>
    <a:masterClrMapping/>
  </p:clrMapOvr>
  <p:transition>
    <p:fade thruBlk="1"/>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244018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8003489" y="0"/>
            <a:ext cx="1140511" cy="7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5795315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183260"/>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4129641754"/>
      </p:ext>
    </p:extLst>
  </p:cSld>
  <p:clrMapOvr>
    <a:masterClrMapping/>
  </p:clrMapOvr>
  <p:transition>
    <p:fade thruBlk="1"/>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814649215"/>
      </p:ext>
    </p:extLst>
  </p:cSld>
  <p:clrMapOvr>
    <a:masterClrMapping/>
  </p:clrMapOvr>
  <p:transition>
    <p:fade thruBlk="1"/>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angle 4"/>
          <p:cNvSpPr/>
          <p:nvPr userDrawn="1"/>
        </p:nvSpPr>
        <p:spPr>
          <a:xfrm>
            <a:off x="-4763" y="5486400"/>
            <a:ext cx="9136063" cy="1371600"/>
          </a:xfrm>
          <a:prstGeom prst="rect">
            <a:avLst/>
          </a:prstGeom>
          <a:solidFill>
            <a:schemeClr val="tx1">
              <a:alpha val="81000"/>
            </a:schemeClr>
          </a:solidFill>
        </p:spPr>
        <p:txBody>
          <a:bodyPr anchor="ctr">
            <a:normAutofit/>
          </a:bodyPr>
          <a:lstStyle/>
          <a:p>
            <a:pPr algn="r">
              <a:defRPr/>
            </a:pPr>
            <a:endParaRPr lang="en-US" sz="4800" spc="50" dirty="0">
              <a:solidFill>
                <a:prstClr val="black"/>
              </a:solidFill>
              <a:latin typeface="Candara" pitchFamily="34" charset="0"/>
              <a:ea typeface="Tahoma" pitchFamily="34" charset="0"/>
              <a:cs typeface="Tahoma" pitchFamily="34" charset="0"/>
            </a:endParaRPr>
          </a:p>
        </p:txBody>
      </p:sp>
      <p:sp>
        <p:nvSpPr>
          <p:cNvPr id="6" name="TextBox 5"/>
          <p:cNvSpPr txBox="1"/>
          <p:nvPr/>
        </p:nvSpPr>
        <p:spPr>
          <a:xfrm>
            <a:off x="261938" y="5181600"/>
            <a:ext cx="887412" cy="1862138"/>
          </a:xfrm>
          <a:prstGeom prst="rect">
            <a:avLst/>
          </a:prstGeom>
          <a:noFill/>
        </p:spPr>
        <p:txBody>
          <a:bodyPr>
            <a:spAutoFit/>
          </a:bodyPr>
          <a:lstStyle/>
          <a:p>
            <a:pPr>
              <a:defRPr/>
            </a:pPr>
            <a:r>
              <a:rPr lang="en-US" sz="11500" b="1" dirty="0">
                <a:solidFill>
                  <a:prstClr val="white"/>
                </a:solidFill>
                <a:effectLst>
                  <a:outerShdw blurRad="38100" dist="38100" dir="2700000" algn="tl">
                    <a:srgbClr val="000000">
                      <a:alpha val="43137"/>
                    </a:srgbClr>
                  </a:outerShdw>
                </a:effectLst>
                <a:latin typeface="Century Gothic" pitchFamily="34" charset="0"/>
                <a:ea typeface="Tahoma" pitchFamily="34" charset="0"/>
                <a:cs typeface="Tahoma" pitchFamily="34" charset="0"/>
              </a:rPr>
              <a:t>1</a:t>
            </a:r>
          </a:p>
        </p:txBody>
      </p:sp>
      <p:sp>
        <p:nvSpPr>
          <p:cNvPr id="7" name="TextBox 6"/>
          <p:cNvSpPr txBox="1"/>
          <p:nvPr/>
        </p:nvSpPr>
        <p:spPr>
          <a:xfrm rot="16200000">
            <a:off x="-418306" y="5965795"/>
            <a:ext cx="1358900" cy="400110"/>
          </a:xfrm>
          <a:prstGeom prst="rect">
            <a:avLst/>
          </a:prstGeom>
          <a:noFill/>
        </p:spPr>
        <p:txBody>
          <a:bodyPr>
            <a:spAutoFit/>
          </a:bodyPr>
          <a:lstStyle/>
          <a:p>
            <a:pPr>
              <a:defRPr/>
            </a:pPr>
            <a:r>
              <a:rPr lang="en-US" b="1" cap="all" dirty="0">
                <a:solidFill>
                  <a:prstClr val="white">
                    <a:lumMod val="75000"/>
                  </a:prstClr>
                </a:solidFill>
                <a:latin typeface="Gill Sans MT" pitchFamily="34" charset="0"/>
              </a:rPr>
              <a:t>Chapter</a:t>
            </a:r>
            <a:endParaRPr lang="en-US" sz="2000" b="1" cap="all" dirty="0">
              <a:solidFill>
                <a:prstClr val="white">
                  <a:lumMod val="75000"/>
                </a:prstClr>
              </a:solidFill>
              <a:latin typeface="Gill Sans MT" pitchFamily="34" charset="0"/>
            </a:endParaRPr>
          </a:p>
        </p:txBody>
      </p:sp>
      <p:sp>
        <p:nvSpPr>
          <p:cNvPr id="8" name="TextBox 7"/>
          <p:cNvSpPr txBox="1"/>
          <p:nvPr/>
        </p:nvSpPr>
        <p:spPr>
          <a:xfrm>
            <a:off x="-4763" y="4953000"/>
            <a:ext cx="9148763" cy="338137"/>
          </a:xfrm>
          <a:prstGeom prst="rect">
            <a:avLst/>
          </a:prstGeom>
          <a:solidFill>
            <a:schemeClr val="tx1">
              <a:alpha val="52000"/>
            </a:schemeClr>
          </a:solidFill>
        </p:spPr>
        <p:txBody>
          <a:bodyPr wrap="square">
            <a:spAutoFit/>
          </a:bodyPr>
          <a:lstStyle/>
          <a:p>
            <a:pPr algn="ctr">
              <a:defRPr/>
            </a:pPr>
            <a:r>
              <a:rPr lang="en-US" sz="1600" cap="small" spc="400" dirty="0">
                <a:solidFill>
                  <a:prstClr val="white"/>
                </a:solidFill>
                <a:latin typeface="Tw Cen MT" pitchFamily="34" charset="0"/>
              </a:rPr>
              <a:t>Dynamic PowerPoint™ Slides by </a:t>
            </a:r>
            <a:r>
              <a:rPr lang="en-US" sz="1600" cap="small" spc="400" dirty="0" err="1">
                <a:solidFill>
                  <a:prstClr val="white"/>
                </a:solidFill>
                <a:latin typeface="Tw Cen MT" pitchFamily="34" charset="0"/>
              </a:rPr>
              <a:t>Solina</a:t>
            </a:r>
            <a:r>
              <a:rPr lang="en-US" sz="1600" cap="small" spc="400" dirty="0">
                <a:solidFill>
                  <a:prstClr val="white"/>
                </a:solidFill>
                <a:latin typeface="Tw Cen MT" pitchFamily="34" charset="0"/>
              </a:rPr>
              <a:t> </a:t>
            </a:r>
            <a:r>
              <a:rPr lang="en-US" sz="1600" cap="small" spc="400" dirty="0" err="1">
                <a:solidFill>
                  <a:prstClr val="white"/>
                </a:solidFill>
                <a:latin typeface="Tw Cen MT" pitchFamily="34" charset="0"/>
              </a:rPr>
              <a:t>Lindahl</a:t>
            </a:r>
            <a:endParaRPr lang="en-US" sz="1600" cap="small" spc="400" dirty="0">
              <a:solidFill>
                <a:prstClr val="white"/>
              </a:solidFill>
              <a:latin typeface="Tw Cen MT" pitchFamily="34" charset="0"/>
            </a:endParaRPr>
          </a:p>
        </p:txBody>
      </p:sp>
      <p:pic>
        <p:nvPicPr>
          <p:cNvPr id="159746" name="Picture 2" descr="C:\Users\solina\Dropbox\Krugman 3e Dynamic PPTs\Krugman 3e material\covers\Krugman3e_Econ_FrontCover.jpg"/>
          <p:cNvPicPr>
            <a:picLocks noChangeAspect="1" noChangeArrowheads="1"/>
          </p:cNvPicPr>
          <p:nvPr userDrawn="1"/>
        </p:nvPicPr>
        <p:blipFill rotWithShape="1">
          <a:blip r:embed="rId3" cstate="screen">
            <a:extLst>
              <a:ext uri="{28A0092B-C50C-407E-A947-70E740481C1C}">
                <a14:useLocalDpi xmlns:a14="http://schemas.microsoft.com/office/drawing/2010/main"/>
              </a:ext>
            </a:extLst>
          </a:blip>
          <a:srcRect/>
          <a:stretch/>
        </p:blipFill>
        <p:spPr bwMode="auto">
          <a:xfrm>
            <a:off x="4840941" y="0"/>
            <a:ext cx="4303059" cy="1183341"/>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p:cNvSpPr txBox="1">
            <a:spLocks/>
          </p:cNvSpPr>
          <p:nvPr userDrawn="1"/>
        </p:nvSpPr>
        <p:spPr>
          <a:xfrm>
            <a:off x="1371600" y="5486398"/>
            <a:ext cx="7772400" cy="1371601"/>
          </a:xfrm>
          <a:prstGeom prst="rect">
            <a:avLst/>
          </a:prstGeom>
          <a:noFill/>
        </p:spPr>
        <p:txBody>
          <a:bodyPr>
            <a:noAutofit/>
          </a:bodyPr>
          <a:lstStyle>
            <a:lvl1pPr algn="r" defTabSz="914400" rtl="0" eaLnBrk="1" latinLnBrk="0" hangingPunct="1">
              <a:spcBef>
                <a:spcPct val="0"/>
              </a:spcBef>
              <a:buNone/>
              <a:defRPr lang="en-US" sz="5400" b="1" i="0" u="none" strike="noStrike" kern="1200" cap="none" spc="100" baseline="0" smtClean="0">
                <a:solidFill>
                  <a:srgbClr val="FF3300"/>
                </a:solidFill>
                <a:effectLst/>
                <a:latin typeface="Candara" pitchFamily="34" charset="0"/>
                <a:ea typeface="+mj-ea"/>
                <a:cs typeface="+mj-cs"/>
              </a:defRPr>
            </a:lvl1pPr>
          </a:lstStyle>
          <a:p>
            <a:r>
              <a:rPr dirty="0"/>
              <a:t>First Principles</a:t>
            </a:r>
          </a:p>
        </p:txBody>
      </p:sp>
      <p:sp>
        <p:nvSpPr>
          <p:cNvPr id="9"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93730024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solidFill>
                <a:prstClr val="black"/>
              </a:solidFill>
              <a:latin typeface="Calibri"/>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a:solidFill>
                  <a:prstClr val="black">
                    <a:lumMod val="50000"/>
                    <a:lumOff val="50000"/>
                  </a:prstClr>
                </a:solidFill>
                <a:latin typeface="Calibri"/>
              </a:rPr>
              <a:t>Copyright 2015 Worth Publishers</a:t>
            </a:r>
          </a:p>
        </p:txBody>
      </p:sp>
      <p:sp>
        <p:nvSpPr>
          <p:cNvPr id="6" name="Slide Number Placeholder 5"/>
          <p:cNvSpPr>
            <a:spLocks noGrp="1"/>
          </p:cNvSpPr>
          <p:nvPr>
            <p:ph type="sldNum" sz="quarter" idx="12"/>
          </p:nvPr>
        </p:nvSpPr>
        <p:spPr/>
        <p:txBody>
          <a:bodyPr/>
          <a:lstStyle/>
          <a:p>
            <a:fld id="{F4F44DE6-8B77-400C-8F66-8B96B952C9B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15599724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510871300"/>
      </p:ext>
    </p:extLst>
  </p:cSld>
  <p:clrMapOvr>
    <a:masterClrMapping/>
  </p:clrMapOvr>
  <p:transition>
    <p:fade thruBlk="1"/>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610374779"/>
      </p:ext>
    </p:extLst>
  </p:cSld>
  <p:clrMapOvr>
    <a:masterClrMapping/>
  </p:clrMapOvr>
  <p:transition>
    <p:fade thruBlk="1"/>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a:prstGeom prst="rect">
            <a:avLst/>
          </a:prstGeo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2"/>
          <p:cNvPicPr>
            <a:picLocks noChangeAspect="1" noChangeArrowheads="1"/>
          </p:cNvPicPr>
          <p:nvPr/>
        </p:nvPicPr>
        <p:blipFill rotWithShape="1">
          <a:blip r:embed="rId2" cstate="screen">
            <a:extLst>
              <a:ext uri="{28A0092B-C50C-407E-A947-70E740481C1C}">
                <a14:useLocalDpi xmlns:a14="http://schemas.microsoft.com/office/drawing/2010/main" val="0"/>
              </a:ext>
            </a:extLst>
          </a:blip>
          <a:srcRect/>
          <a:stretch/>
        </p:blipFill>
        <p:spPr bwMode="auto">
          <a:xfrm>
            <a:off x="8153536" y="-76200"/>
            <a:ext cx="943896" cy="990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ight Arrow 8">
            <a:hlinkClick r:id="" action="ppaction://noaction"/>
          </p:cNvPr>
          <p:cNvSpPr/>
          <p:nvPr/>
        </p:nvSpPr>
        <p:spPr>
          <a:xfrm>
            <a:off x="0" y="5952053"/>
            <a:ext cx="1143000" cy="905947"/>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a:defRPr/>
            </a:pPr>
            <a:r>
              <a:rPr lang="en-US" sz="11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 action="ppaction://noaction"/>
              </a:rPr>
              <a:t>To </a:t>
            </a:r>
            <a:r>
              <a:rPr lang="en-US" sz="11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rPr>
              <a:t>Active Learning</a:t>
            </a:r>
          </a:p>
        </p:txBody>
      </p:sp>
      <p:pic>
        <p:nvPicPr>
          <p:cNvPr id="10" name="Picture 9">
            <a:hlinkClick r:id="" action="ppaction://noaction"/>
          </p:cNvPr>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a:off x="7974496" y="6028188"/>
            <a:ext cx="1143000" cy="856979"/>
          </a:xfrm>
          <a:prstGeom prst="rect">
            <a:avLst/>
          </a:prstGeom>
        </p:spPr>
      </p:pic>
      <p:sp>
        <p:nvSpPr>
          <p:cNvPr id="11" name="TextBox 10"/>
          <p:cNvSpPr txBox="1"/>
          <p:nvPr/>
        </p:nvSpPr>
        <p:spPr>
          <a:xfrm>
            <a:off x="8126895" y="6209547"/>
            <a:ext cx="634182" cy="523220"/>
          </a:xfrm>
          <a:prstGeom prst="rect">
            <a:avLst/>
          </a:prstGeom>
          <a:noFill/>
        </p:spPr>
        <p:txBody>
          <a:bodyPr wrap="square" rtlCol="0">
            <a:spAutoFit/>
          </a:bodyPr>
          <a:lstStyle/>
          <a:p>
            <a:r>
              <a:rPr lang="en-US" sz="1400" b="1" dirty="0">
                <a:solidFill>
                  <a:prstClr val="white"/>
                </a:solidFill>
                <a:effectLst>
                  <a:outerShdw blurRad="38100" dist="38100" dir="2700000" algn="tl">
                    <a:srgbClr val="000000">
                      <a:alpha val="43137"/>
                    </a:srgbClr>
                  </a:outerShdw>
                </a:effectLst>
                <a:latin typeface="Calibri"/>
                <a:hlinkClick r:id="" action="ppaction://noaction"/>
              </a:rPr>
              <a:t>To Video</a:t>
            </a:r>
            <a:endParaRPr lang="en-US" sz="1400" b="1" dirty="0">
              <a:solidFill>
                <a:prstClr val="white"/>
              </a:solidFill>
              <a:effectLst>
                <a:outerShdw blurRad="38100" dist="38100" dir="2700000" algn="tl">
                  <a:srgbClr val="000000">
                    <a:alpha val="43137"/>
                  </a:srgbClr>
                </a:outerShdw>
              </a:effectLst>
              <a:latin typeface="Calibri"/>
            </a:endParaRPr>
          </a:p>
        </p:txBody>
      </p:sp>
      <p:sp>
        <p:nvSpPr>
          <p:cNvPr id="12"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29627744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dirty="0">
              <a:solidFill>
                <a:prstClr val="black"/>
              </a:solidFill>
              <a:latin typeface="Calibri"/>
            </a:endParaRPr>
          </a:p>
        </p:txBody>
      </p:sp>
      <p:sp>
        <p:nvSpPr>
          <p:cNvPr id="5" name="Footer Placeholder 4"/>
          <p:cNvSpPr>
            <a:spLocks noGrp="1"/>
          </p:cNvSpPr>
          <p:nvPr>
            <p:ph type="ftr" sz="quarter" idx="11"/>
          </p:nvPr>
        </p:nvSpPr>
        <p:spPr/>
        <p:txBody>
          <a:bodyPr/>
          <a:lstStyle/>
          <a:p>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A96BB67-7689-41CE-8DB2-73A9143B19D4}" type="slidenum">
              <a:rPr lang="en-US" smtClean="0">
                <a:solidFill>
                  <a:prstClr val="black"/>
                </a:solidFill>
                <a:latin typeface="Calibri"/>
              </a:rPr>
              <a:pPr/>
              <a:t>‹#›</a:t>
            </a:fld>
            <a:endParaRPr lang="en-US" dirty="0">
              <a:solidFill>
                <a:prstClr val="black"/>
              </a:solidFill>
              <a:latin typeface="Calibri"/>
            </a:endParaRPr>
          </a:p>
        </p:txBody>
      </p:sp>
    </p:spTree>
    <p:extLst>
      <p:ext uri="{BB962C8B-B14F-4D97-AF65-F5344CB8AC3E}">
        <p14:creationId xmlns:p14="http://schemas.microsoft.com/office/powerpoint/2010/main" val="117629229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57200" y="6356350"/>
            <a:ext cx="381000" cy="365125"/>
          </a:xfrm>
          <a:prstGeom prst="rect">
            <a:avLst/>
          </a:prstGeom>
        </p:spPr>
        <p:txBody>
          <a:bodyPr/>
          <a:lstStyle/>
          <a:p>
            <a:pPr>
              <a:defRPr/>
            </a:pPr>
            <a:endParaRPr lang="en-US" dirty="0">
              <a:solidFill>
                <a:prstClr val="black"/>
              </a:solidFill>
              <a:latin typeface="Calibri"/>
            </a:endParaRPr>
          </a:p>
        </p:txBody>
      </p:sp>
      <p:sp>
        <p:nvSpPr>
          <p:cNvPr id="4" name="Footer Placeholder 3"/>
          <p:cNvSpPr>
            <a:spLocks noGrp="1"/>
          </p:cNvSpPr>
          <p:nvPr>
            <p:ph type="ftr" sz="quarter" idx="11"/>
          </p:nvPr>
        </p:nvSpPr>
        <p:spPr/>
        <p:txBody>
          <a:body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
        <p:nvSpPr>
          <p:cNvPr id="5" name="Slide Number Placeholder 4"/>
          <p:cNvSpPr>
            <a:spLocks noGrp="1"/>
          </p:cNvSpPr>
          <p:nvPr>
            <p:ph type="sldNum" sz="quarter" idx="12"/>
          </p:nvPr>
        </p:nvSpPr>
        <p:spPr>
          <a:xfrm>
            <a:off x="8153400" y="6400800"/>
            <a:ext cx="457200" cy="228600"/>
          </a:xfrm>
          <a:prstGeom prst="rect">
            <a:avLst/>
          </a:prstGeom>
        </p:spPr>
        <p:txBody>
          <a:bodyPr/>
          <a:lstStyle/>
          <a:p>
            <a:pPr>
              <a:defRPr/>
            </a:pPr>
            <a:fld id="{397979CC-4B86-46FB-8E31-C36FC5A7CF61}" type="slidenum">
              <a:rPr lang="en-US" smtClean="0">
                <a:solidFill>
                  <a:prstClr val="black"/>
                </a:solidFill>
                <a:latin typeface="Calibri"/>
              </a:rPr>
              <a:pPr>
                <a:defRPr/>
              </a:pPr>
              <a:t>‹#›</a:t>
            </a:fld>
            <a:endParaRPr lang="en-US" dirty="0">
              <a:solidFill>
                <a:prstClr val="black"/>
              </a:solidFill>
              <a:latin typeface="Calibri"/>
            </a:endParaRPr>
          </a:p>
        </p:txBody>
      </p:sp>
      <p:pic>
        <p:nvPicPr>
          <p:cNvPr id="9" name="Picture 8"/>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0" y="-11133"/>
            <a:ext cx="990600" cy="1104743"/>
          </a:xfrm>
          <a:prstGeom prst="rect">
            <a:avLst/>
          </a:prstGeom>
        </p:spPr>
      </p:pic>
      <p:pic>
        <p:nvPicPr>
          <p:cNvPr id="6" name="Picture 5"/>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1828800" y="2438400"/>
            <a:ext cx="5245100" cy="3932581"/>
          </a:xfrm>
          <a:prstGeom prst="rect">
            <a:avLst/>
          </a:prstGeom>
        </p:spPr>
      </p:pic>
    </p:spTree>
    <p:extLst>
      <p:ext uri="{BB962C8B-B14F-4D97-AF65-F5344CB8AC3E}">
        <p14:creationId xmlns:p14="http://schemas.microsoft.com/office/powerpoint/2010/main" val="1572689771"/>
      </p:ext>
    </p:extLst>
  </p:cSld>
  <p:clrMapOvr>
    <a:masterClrMapping/>
  </p:clrMapOvr>
  <p:transition>
    <p:fade thruBlk="1"/>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726755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03489" y="0"/>
            <a:ext cx="1140511" cy="7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415951971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174080"/>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610914957"/>
      </p:ext>
    </p:extLst>
  </p:cSld>
  <p:clrMapOvr>
    <a:masterClrMapping/>
  </p:clrMapOvr>
  <p:transition>
    <p:fade thruBlk="1"/>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109853216"/>
      </p:ext>
    </p:extLst>
  </p:cSld>
  <p:clrMapOvr>
    <a:masterClrMapping/>
  </p:clrMapOvr>
  <p:transition>
    <p:fade thruBlk="1"/>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8746449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slide" Target="../slides/slide2.xml"/></Relationships>
</file>

<file path=ppt/slideMasters/_rels/slideMaster2.xml.rels><?xml version="1.0" encoding="UTF-8" standalone="yes"?>
<Relationships xmlns="http://schemas.openxmlformats.org/package/2006/relationships"><Relationship Id="rId8" Type="http://schemas.openxmlformats.org/officeDocument/2006/relationships/slide" Target="../slides/slide3.xml"/><Relationship Id="rId3" Type="http://schemas.openxmlformats.org/officeDocument/2006/relationships/slideLayout" Target="../slideLayouts/slideLayout4.xml"/><Relationship Id="rId7"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9" Type="http://schemas.openxmlformats.org/officeDocument/2006/relationships/slide" Target="../slides/slid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slide" Target="../slides/slide2.xml"/><Relationship Id="rId4" Type="http://schemas.openxmlformats.org/officeDocument/2006/relationships/slide" Target="../slides/slide3.xml"/></Relationships>
</file>

<file path=ppt/slideMasters/_rels/slideMaster5.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slide" Target="../slides/slide2.xml"/><Relationship Id="rId4" Type="http://schemas.openxmlformats.org/officeDocument/2006/relationships/slide" Target="../slides/slide3.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7.xml"/><Relationship Id="rId1" Type="http://schemas.openxmlformats.org/officeDocument/2006/relationships/slideLayout" Target="../slideLayouts/slideLayout18.xml"/><Relationship Id="rId5" Type="http://schemas.openxmlformats.org/officeDocument/2006/relationships/slide" Target="../slides/slide2.xml"/><Relationship Id="rId4" Type="http://schemas.openxmlformats.org/officeDocument/2006/relationships/slide" Target="../slides/slide3.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20.xml"/><Relationship Id="rId1" Type="http://schemas.openxmlformats.org/officeDocument/2006/relationships/slideLayout" Target="../slideLayouts/slideLayout19.xml"/><Relationship Id="rId5" Type="http://schemas.openxmlformats.org/officeDocument/2006/relationships/slide" Target="../slides/slide2.xml"/><Relationship Id="rId4" Type="http://schemas.openxmlformats.org/officeDocument/2006/relationships/slide" Target="../slides/slide3.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10.xml"/><Relationship Id="rId1" Type="http://schemas.openxmlformats.org/officeDocument/2006/relationships/slideLayout" Target="../slideLayouts/slideLayout23.xml"/><Relationship Id="rId4" Type="http://schemas.openxmlformats.org/officeDocument/2006/relationships/slide" Target="../slides/slide2.xml"/></Relationships>
</file>

<file path=ppt/slideMasters/_rels/slideMaster11.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5" Type="http://schemas.openxmlformats.org/officeDocument/2006/relationships/slide" Target="../slides/slide2.xml"/><Relationship Id="rId4"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3" Type="http://schemas.openxmlformats.org/officeDocument/2006/relationships/theme" Target="../theme/theme12.xml"/><Relationship Id="rId2" Type="http://schemas.openxmlformats.org/officeDocument/2006/relationships/slideLayout" Target="../slideLayouts/slideLayout28.xml"/><Relationship Id="rId1" Type="http://schemas.openxmlformats.org/officeDocument/2006/relationships/slideLayout" Target="../slideLayouts/slideLayout27.xml"/><Relationship Id="rId5" Type="http://schemas.openxmlformats.org/officeDocument/2006/relationships/slide" Target="../slides/slide2.xml"/><Relationship Id="rId4" Type="http://schemas.openxmlformats.org/officeDocument/2006/relationships/image" Target="../media/image13.png"/></Relationships>
</file>

<file path=ppt/slideMasters/_rels/slideMaster13.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 Target="../slides/slide2.xml"/><Relationship Id="rId5" Type="http://schemas.openxmlformats.org/officeDocument/2006/relationships/image" Target="../media/image14.png"/><Relationship Id="rId4"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3" Type="http://schemas.openxmlformats.org/officeDocument/2006/relationships/theme" Target="../theme/theme1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5" Type="http://schemas.openxmlformats.org/officeDocument/2006/relationships/image" Target="../media/image16.png"/><Relationship Id="rId4" Type="http://schemas.openxmlformats.org/officeDocument/2006/relationships/slide" Target="../slides/slide2.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 Target="../slides/slide2.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 Target="../slides/slide3.xml"/><Relationship Id="rId5" Type="http://schemas.openxmlformats.org/officeDocument/2006/relationships/slideLayout" Target="../slideLayouts/slideLayout38.xml"/><Relationship Id="rId10" Type="http://schemas.openxmlformats.org/officeDocument/2006/relationships/theme" Target="../theme/theme15.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 Target="../slides/slide2.xml"/><Relationship Id="rId5" Type="http://schemas.openxmlformats.org/officeDocument/2006/relationships/theme" Target="../theme/theme16.xml"/><Relationship Id="rId4" Type="http://schemas.openxmlformats.org/officeDocument/2006/relationships/slideLayout" Target="../slideLayouts/slideLayout46.xml"/></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17.xml"/><Relationship Id="rId1" Type="http://schemas.openxmlformats.org/officeDocument/2006/relationships/slideLayout" Target="../slideLayouts/slideLayout47.xml"/><Relationship Id="rId4" Type="http://schemas.openxmlformats.org/officeDocument/2006/relationships/slide" Target="../slides/slide2.xml"/></Relationships>
</file>

<file path=ppt/slideMasters/_rels/slideMaster18.xml.rels><?xml version="1.0" encoding="UTF-8" standalone="yes"?>
<Relationships xmlns="http://schemas.openxmlformats.org/package/2006/relationships"><Relationship Id="rId3" Type="http://schemas.openxmlformats.org/officeDocument/2006/relationships/theme" Target="../theme/theme18.xml"/><Relationship Id="rId2" Type="http://schemas.openxmlformats.org/officeDocument/2006/relationships/slideLayout" Target="../slideLayouts/slideLayout49.xml"/><Relationship Id="rId1" Type="http://schemas.openxmlformats.org/officeDocument/2006/relationships/slideLayout" Target="../slideLayouts/slideLayout48.xml"/><Relationship Id="rId5" Type="http://schemas.openxmlformats.org/officeDocument/2006/relationships/slide" Target="../slides/slide2.xml"/><Relationship Id="rId4" Type="http://schemas.openxmlformats.org/officeDocument/2006/relationships/image" Target="../media/image13.png"/></Relationships>
</file>

<file path=ppt/slideMasters/_rels/slideMaster19.xml.rels><?xml version="1.0" encoding="UTF-8" standalone="yes"?>
<Relationships xmlns="http://schemas.openxmlformats.org/package/2006/relationships"><Relationship Id="rId3" Type="http://schemas.openxmlformats.org/officeDocument/2006/relationships/slideLayout" Target="../slideLayouts/slideLayout52.xml"/><Relationship Id="rId2" Type="http://schemas.openxmlformats.org/officeDocument/2006/relationships/slideLayout" Target="../slideLayouts/slideLayout51.xml"/><Relationship Id="rId1" Type="http://schemas.openxmlformats.org/officeDocument/2006/relationships/slideLayout" Target="../slideLayouts/slideLayout50.xml"/><Relationship Id="rId5" Type="http://schemas.openxmlformats.org/officeDocument/2006/relationships/slide" Target="../slides/slide2.xml"/><Relationship Id="rId4" Type="http://schemas.openxmlformats.org/officeDocument/2006/relationships/theme" Target="../theme/theme19.xml"/></Relationships>
</file>

<file path=ppt/slideMasters/_rels/slideMaster20.xml.rels><?xml version="1.0" encoding="UTF-8" standalone="yes"?>
<Relationships xmlns="http://schemas.openxmlformats.org/package/2006/relationships"><Relationship Id="rId3" Type="http://schemas.openxmlformats.org/officeDocument/2006/relationships/theme" Target="../theme/theme20.xml"/><Relationship Id="rId2" Type="http://schemas.openxmlformats.org/officeDocument/2006/relationships/slideLayout" Target="../slideLayouts/slideLayout54.xml"/><Relationship Id="rId1" Type="http://schemas.openxmlformats.org/officeDocument/2006/relationships/slideLayout" Target="../slideLayouts/slideLayout53.xml"/><Relationship Id="rId5" Type="http://schemas.openxmlformats.org/officeDocument/2006/relationships/image" Target="../media/image16.png"/><Relationship Id="rId4" Type="http://schemas.openxmlformats.org/officeDocument/2006/relationships/slide" Target="../slides/slide2.xml"/></Relationships>
</file>

<file path=ppt/slideMasters/_rels/slideMaster21.xml.rels><?xml version="1.0" encoding="UTF-8" standalone="yes"?>
<Relationships xmlns="http://schemas.openxmlformats.org/package/2006/relationships"><Relationship Id="rId3" Type="http://schemas.openxmlformats.org/officeDocument/2006/relationships/theme" Target="../theme/theme21.xml"/><Relationship Id="rId2" Type="http://schemas.openxmlformats.org/officeDocument/2006/relationships/slideLayout" Target="../slideLayouts/slideLayout56.xml"/><Relationship Id="rId1" Type="http://schemas.openxmlformats.org/officeDocument/2006/relationships/slideLayout" Target="../slideLayouts/slideLayout55.xml"/></Relationships>
</file>

<file path=ppt/slideMasters/_rels/slideMaster22.xml.rels><?xml version="1.0" encoding="UTF-8" standalone="yes"?>
<Relationships xmlns="http://schemas.openxmlformats.org/package/2006/relationships"><Relationship Id="rId3" Type="http://schemas.openxmlformats.org/officeDocument/2006/relationships/theme" Target="../theme/theme22.xml"/><Relationship Id="rId2" Type="http://schemas.openxmlformats.org/officeDocument/2006/relationships/slideLayout" Target="../slideLayouts/slideLayout58.xml"/><Relationship Id="rId1" Type="http://schemas.openxmlformats.org/officeDocument/2006/relationships/slideLayout" Target="../slideLayouts/slideLayout57.xml"/><Relationship Id="rId5" Type="http://schemas.openxmlformats.org/officeDocument/2006/relationships/slide" Target="../slides/slide2.xml"/><Relationship Id="rId4" Type="http://schemas.openxmlformats.org/officeDocument/2006/relationships/image" Target="../media/image19.png"/></Relationships>
</file>

<file path=ppt/slideMasters/_rels/slideMaster23.xml.rels><?xml version="1.0" encoding="UTF-8" standalone="yes"?>
<Relationships xmlns="http://schemas.openxmlformats.org/package/2006/relationships"><Relationship Id="rId3" Type="http://schemas.openxmlformats.org/officeDocument/2006/relationships/slideLayout" Target="../slideLayouts/slideLayout61.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 Target="../slides/slide2.xml"/><Relationship Id="rId5" Type="http://schemas.openxmlformats.org/officeDocument/2006/relationships/image" Target="../media/image14.png"/><Relationship Id="rId4" Type="http://schemas.openxmlformats.org/officeDocument/2006/relationships/theme" Target="../theme/theme23.xml"/></Relationships>
</file>

<file path=ppt/slideMasters/_rels/slideMaster24.xml.rels><?xml version="1.0" encoding="UTF-8" standalone="yes"?>
<Relationships xmlns="http://schemas.openxmlformats.org/package/2006/relationships"><Relationship Id="rId3" Type="http://schemas.openxmlformats.org/officeDocument/2006/relationships/slideLayout" Target="../slideLayouts/slideLayout64.xml"/><Relationship Id="rId2" Type="http://schemas.openxmlformats.org/officeDocument/2006/relationships/slideLayout" Target="../slideLayouts/slideLayout63.xml"/><Relationship Id="rId1" Type="http://schemas.openxmlformats.org/officeDocument/2006/relationships/slideLayout" Target="../slideLayouts/slideLayout62.xml"/><Relationship Id="rId5" Type="http://schemas.openxmlformats.org/officeDocument/2006/relationships/slide" Target="../slides/slide2.xml"/><Relationship Id="rId4" Type="http://schemas.openxmlformats.org/officeDocument/2006/relationships/theme" Target="../theme/theme24.xml"/></Relationships>
</file>

<file path=ppt/slideMasters/_rels/slideMaster25.xml.rels><?xml version="1.0" encoding="UTF-8" standalone="yes"?>
<Relationships xmlns="http://schemas.openxmlformats.org/package/2006/relationships"><Relationship Id="rId3" Type="http://schemas.openxmlformats.org/officeDocument/2006/relationships/theme" Target="../theme/theme25.xml"/><Relationship Id="rId2" Type="http://schemas.openxmlformats.org/officeDocument/2006/relationships/slideLayout" Target="../slideLayouts/slideLayout66.xml"/><Relationship Id="rId1" Type="http://schemas.openxmlformats.org/officeDocument/2006/relationships/slideLayout" Target="../slideLayouts/slideLayout65.xml"/><Relationship Id="rId5" Type="http://schemas.openxmlformats.org/officeDocument/2006/relationships/slide" Target="../slides/slide2.xml"/><Relationship Id="rId4" Type="http://schemas.openxmlformats.org/officeDocument/2006/relationships/image" Target="../media/image13.png"/></Relationships>
</file>

<file path=ppt/slideMasters/_rels/slideMaster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26.xml"/><Relationship Id="rId1" Type="http://schemas.openxmlformats.org/officeDocument/2006/relationships/slideLayout" Target="../slideLayouts/slideLayout67.xml"/><Relationship Id="rId4" Type="http://schemas.openxmlformats.org/officeDocument/2006/relationships/slide" Target="../slides/slid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457200" y="1830388"/>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3"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4" action="ppaction://hlinksldjump"/>
              </a:rPr>
              <a:t>Back to Table of content</a:t>
            </a:r>
            <a:r>
              <a:rPr lang="en-US" sz="800" b="1" dirty="0">
                <a:latin typeface="Candara" pitchFamily="34" charset="0"/>
                <a:hlinkClick r:id="rId3" action="ppaction://hlinksldjump"/>
              </a:rPr>
              <a:t>s</a:t>
            </a:r>
            <a:endParaRPr lang="en-US" sz="800" b="1" dirty="0">
              <a:latin typeface="Candara" pitchFamily="34" charset="0"/>
            </a:endParaRPr>
          </a:p>
          <a:p>
            <a:endParaRPr lang="en-US" sz="1000" dirty="0">
              <a:latin typeface="Candara" pitchFamily="34" charset="0"/>
            </a:endParaRPr>
          </a:p>
        </p:txBody>
      </p:sp>
      <p:sp>
        <p:nvSpPr>
          <p:cNvPr id="10" name="Right Arrow 9"/>
          <p:cNvSpPr/>
          <p:nvPr/>
        </p:nvSpPr>
        <p:spPr>
          <a:xfrm>
            <a:off x="0" y="0"/>
            <a:ext cx="8991600" cy="1161633"/>
          </a:xfrm>
          <a:prstGeom prst="rightArrow">
            <a:avLst>
              <a:gd name="adj1" fmla="val 50000"/>
              <a:gd name="adj2" fmla="val 78749"/>
            </a:avLst>
          </a:prstGeom>
          <a:solidFill>
            <a:srgbClr val="CBF577">
              <a:alpha val="66000"/>
            </a:srgb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APPLICATION VIDEO</a:t>
            </a:r>
          </a:p>
        </p:txBody>
      </p:sp>
    </p:spTree>
  </p:cSld>
  <p:clrMap bg1="lt1" tx1="dk1" bg2="lt2" tx2="dk2" accent1="accent1" accent2="accent2" accent3="accent3" accent4="accent4" accent5="accent5" accent6="accent6" hlink="hlink" folHlink="folHlink"/>
  <p:sldLayoutIdLst>
    <p:sldLayoutId id="2147483694" r:id="rId1"/>
  </p:sldLayoutIdLst>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Effect transition="in" filter="fade">
                                      <p:cBhvr>
                                        <p:cTn id="7" dur="500"/>
                                        <p:tgtEl>
                                          <p:spTgt spid="1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6">
                                            <p:txEl>
                                              <p:pRg st="1" end="1"/>
                                            </p:txEl>
                                          </p:spTgt>
                                        </p:tgtEl>
                                        <p:attrNameLst>
                                          <p:attrName>style.visibility</p:attrName>
                                        </p:attrNameLst>
                                      </p:cBhvr>
                                      <p:to>
                                        <p:strVal val="visible"/>
                                      </p:to>
                                    </p:set>
                                    <p:animEffect transition="in" filter="fade">
                                      <p:cBhvr>
                                        <p:cTn id="12" dur="500"/>
                                        <p:tgtEl>
                                          <p:spTgt spid="10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6">
                                            <p:txEl>
                                              <p:pRg st="2" end="2"/>
                                            </p:txEl>
                                          </p:spTgt>
                                        </p:tgtEl>
                                        <p:attrNameLst>
                                          <p:attrName>style.visibility</p:attrName>
                                        </p:attrNameLst>
                                      </p:cBhvr>
                                      <p:to>
                                        <p:strVal val="visible"/>
                                      </p:to>
                                    </p:set>
                                    <p:animEffect transition="in" filter="fade">
                                      <p:cBhvr>
                                        <p:cTn id="17" dur="500"/>
                                        <p:tgtEl>
                                          <p:spTgt spid="10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6">
                                            <p:txEl>
                                              <p:pRg st="3" end="3"/>
                                            </p:txEl>
                                          </p:spTgt>
                                        </p:tgtEl>
                                        <p:attrNameLst>
                                          <p:attrName>style.visibility</p:attrName>
                                        </p:attrNameLst>
                                      </p:cBhvr>
                                      <p:to>
                                        <p:strVal val="visible"/>
                                      </p:to>
                                    </p:set>
                                    <p:animEffect transition="in" filter="fade">
                                      <p:cBhvr>
                                        <p:cTn id="22" dur="500"/>
                                        <p:tgtEl>
                                          <p:spTgt spid="10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6">
                                            <p:txEl>
                                              <p:pRg st="4" end="4"/>
                                            </p:txEl>
                                          </p:spTgt>
                                        </p:tgtEl>
                                        <p:attrNameLst>
                                          <p:attrName>style.visibility</p:attrName>
                                        </p:attrNameLst>
                                      </p:cBhvr>
                                      <p:to>
                                        <p:strVal val="visible"/>
                                      </p:to>
                                    </p:set>
                                    <p:animEffect transition="in" filter="fade">
                                      <p:cBhvr>
                                        <p:cTn id="27" dur="500"/>
                                        <p:tgtEl>
                                          <p:spTgt spid="10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p:tmplLst>
          <p:tmpl lvl="1">
            <p:tnLst>
              <p:par>
                <p:cTn presetID="10" presetClass="entr" presetSubtype="0" fill="hold" nodeType="with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Lst>
      </p:bldP>
    </p:bldLst>
  </p:timing>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76200"/>
            <a:ext cx="9144000" cy="838200"/>
          </a:xfrm>
          <a:prstGeom prst="rect">
            <a:avLst/>
          </a:prstGeom>
          <a:no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8"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9"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274680670"/>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22" r:id="rId3"/>
    <p:sldLayoutId id="2147483741" r:id="rId4"/>
    <p:sldLayoutId id="2147483787" r:id="rId5"/>
    <p:sldLayoutId id="2147483810" r:id="rId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4400" b="0" kern="1200" spc="0" baseline="0">
          <a:solidFill>
            <a:schemeClr val="accent3"/>
          </a:solidFill>
          <a:effectLst>
            <a:innerShdw blurRad="63500" dist="50800" dir="13500000">
              <a:prstClr val="black">
                <a:alpha val="50000"/>
              </a:prstClr>
            </a:innerShdw>
          </a:effectLst>
          <a:latin typeface="Century Gothic"/>
          <a:ea typeface="+mj-ea"/>
          <a:cs typeface="Century Gothic"/>
        </a:defRPr>
      </a:lvl1pPr>
    </p:titleStyle>
    <p:bodyStyle>
      <a:lvl1pPr marL="0" indent="0" algn="l" defTabSz="914400" rtl="0" eaLnBrk="1" latinLnBrk="0" hangingPunct="1">
        <a:spcBef>
          <a:spcPct val="20000"/>
        </a:spcBef>
        <a:buFontTx/>
        <a:buNone/>
        <a:defRPr sz="32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28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4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0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0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122"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870" r:id="rId4"/>
    <p:sldLayoutId id="2147483917" r:id="rId5"/>
  </p:sldLayoutIdLst>
  <p:hf sldNum="0" hdr="0" dt="0"/>
  <p:txStyles>
    <p:titleStyle>
      <a:lvl1pPr algn="ctr" rtl="0" eaLnBrk="1" fontAlgn="base" hangingPunct="1">
        <a:spcBef>
          <a:spcPct val="0"/>
        </a:spcBef>
        <a:spcAft>
          <a:spcPct val="0"/>
        </a:spcAft>
        <a:defRPr sz="4400" b="1" kern="1200">
          <a:solidFill>
            <a:schemeClr val="tx1"/>
          </a:solidFill>
          <a:latin typeface="Candara" pitchFamily="34" charset="0"/>
          <a:ea typeface="+mj-ea"/>
          <a:cs typeface="+mj-cs"/>
        </a:defRPr>
      </a:lvl1pPr>
      <a:lvl2pPr algn="ctr" rtl="0" eaLnBrk="1" fontAlgn="base" hangingPunct="1">
        <a:spcBef>
          <a:spcPct val="0"/>
        </a:spcBef>
        <a:spcAft>
          <a:spcPct val="0"/>
        </a:spcAft>
        <a:defRPr sz="4400">
          <a:solidFill>
            <a:schemeClr val="tx1"/>
          </a:solidFill>
          <a:latin typeface="Century Gothic" pitchFamily="34" charset="0"/>
        </a:defRPr>
      </a:lvl2pPr>
      <a:lvl3pPr algn="ctr" rtl="0" eaLnBrk="1" fontAlgn="base" hangingPunct="1">
        <a:spcBef>
          <a:spcPct val="0"/>
        </a:spcBef>
        <a:spcAft>
          <a:spcPct val="0"/>
        </a:spcAft>
        <a:defRPr sz="4400">
          <a:solidFill>
            <a:schemeClr val="tx1"/>
          </a:solidFill>
          <a:latin typeface="Century Gothic" pitchFamily="34" charset="0"/>
        </a:defRPr>
      </a:lvl3pPr>
      <a:lvl4pPr algn="ctr" rtl="0" eaLnBrk="1" fontAlgn="base" hangingPunct="1">
        <a:spcBef>
          <a:spcPct val="0"/>
        </a:spcBef>
        <a:spcAft>
          <a:spcPct val="0"/>
        </a:spcAft>
        <a:defRPr sz="4400">
          <a:solidFill>
            <a:schemeClr val="tx1"/>
          </a:solidFill>
          <a:latin typeface="Century Gothic" pitchFamily="34" charset="0"/>
        </a:defRPr>
      </a:lvl4pPr>
      <a:lvl5pPr algn="ctr" rtl="0" eaLnBrk="1" fontAlgn="base" hangingPunct="1">
        <a:spcBef>
          <a:spcPct val="0"/>
        </a:spcBef>
        <a:spcAft>
          <a:spcPct val="0"/>
        </a:spcAft>
        <a:defRPr sz="4400">
          <a:solidFill>
            <a:schemeClr val="tx1"/>
          </a:solidFill>
          <a:latin typeface="Century Gothic" pitchFamily="34" charset="0"/>
        </a:defRPr>
      </a:lvl5pPr>
      <a:lvl6pPr marL="457200" algn="ctr" rtl="0" eaLnBrk="1" fontAlgn="base" hangingPunct="1">
        <a:spcBef>
          <a:spcPct val="0"/>
        </a:spcBef>
        <a:spcAft>
          <a:spcPct val="0"/>
        </a:spcAft>
        <a:defRPr sz="4400">
          <a:solidFill>
            <a:schemeClr val="tx1"/>
          </a:solidFill>
          <a:latin typeface="Century Gothic" pitchFamily="34" charset="0"/>
        </a:defRPr>
      </a:lvl6pPr>
      <a:lvl7pPr marL="914400" algn="ctr" rtl="0" eaLnBrk="1" fontAlgn="base" hangingPunct="1">
        <a:spcBef>
          <a:spcPct val="0"/>
        </a:spcBef>
        <a:spcAft>
          <a:spcPct val="0"/>
        </a:spcAft>
        <a:defRPr sz="4400">
          <a:solidFill>
            <a:schemeClr val="tx1"/>
          </a:solidFill>
          <a:latin typeface="Century Gothic" pitchFamily="34" charset="0"/>
        </a:defRPr>
      </a:lvl7pPr>
      <a:lvl8pPr marL="1371600" algn="ctr" rtl="0" eaLnBrk="1" fontAlgn="base" hangingPunct="1">
        <a:spcBef>
          <a:spcPct val="0"/>
        </a:spcBef>
        <a:spcAft>
          <a:spcPct val="0"/>
        </a:spcAft>
        <a:defRPr sz="4400">
          <a:solidFill>
            <a:schemeClr val="tx1"/>
          </a:solidFill>
          <a:latin typeface="Century Gothic" pitchFamily="34" charset="0"/>
        </a:defRPr>
      </a:lvl8pPr>
      <a:lvl9pPr marL="1828800" algn="ctr" rtl="0" eaLnBrk="1" fontAlgn="base" hangingPunct="1">
        <a:spcBef>
          <a:spcPct val="0"/>
        </a:spcBef>
        <a:spcAft>
          <a:spcPct val="0"/>
        </a:spcAft>
        <a:defRPr sz="4400">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8991600" cy="1161633"/>
          </a:xfrm>
          <a:prstGeom prst="rightArrow">
            <a:avLst>
              <a:gd name="adj1" fmla="val 50000"/>
              <a:gd name="adj2" fmla="val 78749"/>
            </a:avLst>
          </a:prstGeom>
          <a:solidFill>
            <a:srgbClr val="CBF577">
              <a:alpha val="66000"/>
            </a:srgb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PRACTICE QUESTION</a:t>
            </a:r>
          </a:p>
        </p:txBody>
      </p:sp>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0"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hlinkClick r:id="rId3"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3"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2"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11" name="Right Arrow 10"/>
          <p:cNvSpPr/>
          <p:nvPr/>
        </p:nvSpPr>
        <p:spPr>
          <a:xfrm>
            <a:off x="0" y="0"/>
            <a:ext cx="8991600" cy="1161633"/>
          </a:xfrm>
          <a:prstGeom prst="rightArrow">
            <a:avLst>
              <a:gd name="adj1" fmla="val 50000"/>
              <a:gd name="adj2" fmla="val 78749"/>
            </a:avLst>
          </a:prstGeom>
          <a:solidFill>
            <a:schemeClr val="accent5">
              <a:lumMod val="40000"/>
              <a:lumOff val="60000"/>
              <a:alpha val="66000"/>
            </a:scheme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BUSINESS</a:t>
            </a:r>
            <a:r>
              <a:rPr lang="en-US" sz="3200" b="0" spc="60" baseline="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rPr>
              <a:t> CASE</a:t>
            </a:r>
            <a:endParaRPr lang="en-US" sz="3200" b="0" spc="6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endParaRPr>
          </a:p>
        </p:txBody>
      </p:sp>
    </p:spTree>
    <p:extLst>
      <p:ext uri="{BB962C8B-B14F-4D97-AF65-F5344CB8AC3E}">
        <p14:creationId xmlns:p14="http://schemas.microsoft.com/office/powerpoint/2010/main" val="3055139934"/>
      </p:ext>
    </p:extLst>
  </p:cSld>
  <p:clrMap bg1="lt1" tx1="dk1" bg2="lt2" tx2="dk2" accent1="accent1" accent2="accent2" accent3="accent3" accent4="accent4" accent5="accent5" accent6="accent6" hlink="hlink" folHlink="folHlink"/>
  <p:sldLayoutIdLst>
    <p:sldLayoutId id="2147483712" r:id="rId1"/>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11" name="Right Arrow 10">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12" name="Right Arrow 11"/>
          <p:cNvSpPr/>
          <p:nvPr/>
        </p:nvSpPr>
        <p:spPr>
          <a:xfrm>
            <a:off x="0" y="0"/>
            <a:ext cx="8991600" cy="1161633"/>
          </a:xfrm>
          <a:prstGeom prst="rightArrow">
            <a:avLst>
              <a:gd name="adj1" fmla="val 50000"/>
              <a:gd name="adj2" fmla="val 78749"/>
            </a:avLst>
          </a:prstGeom>
          <a:solidFill>
            <a:schemeClr val="bg2">
              <a:lumMod val="90000"/>
              <a:alpha val="66000"/>
            </a:scheme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50000"/>
                  </a:schemeClr>
                </a:solidFill>
                <a:effectLst>
                  <a:innerShdw blurRad="63500" dist="50800" dir="13500000">
                    <a:prstClr val="black">
                      <a:alpha val="50000"/>
                    </a:prstClr>
                  </a:innerShdw>
                </a:effectLst>
                <a:latin typeface="Century Gothic" pitchFamily="34" charset="0"/>
                <a:cs typeface="Courier New" pitchFamily="49" charset="0"/>
              </a:rPr>
              <a:t>LEARN BY DOING: DISCUSS</a:t>
            </a:r>
          </a:p>
        </p:txBody>
      </p:sp>
    </p:spTree>
    <p:extLst>
      <p:ext uri="{BB962C8B-B14F-4D97-AF65-F5344CB8AC3E}">
        <p14:creationId xmlns:p14="http://schemas.microsoft.com/office/powerpoint/2010/main" val="3999456525"/>
      </p:ext>
    </p:extLst>
  </p:cSld>
  <p:clrMap bg1="lt1" tx1="dk1" bg2="lt2" tx2="dk2" accent1="accent1" accent2="accent2" accent3="accent3" accent4="accent4" accent5="accent5" accent6="accent6" hlink="hlink" folHlink="folHlink"/>
  <p:sldLayoutIdLst>
    <p:sldLayoutId id="2147483715" r:id="rId1"/>
    <p:sldLayoutId id="2147483869"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26" name="Picture 2"/>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0"/>
            <a:ext cx="91440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235582923"/>
      </p:ext>
    </p:extLst>
  </p:cSld>
  <p:clrMap bg1="lt1" tx1="dk1" bg2="lt2" tx2="dk2" accent1="accent1" accent2="accent2" accent3="accent3" accent4="accent4" accent5="accent5" accent6="accent6" hlink="hlink" folHlink="folHlink"/>
  <p:sldLayoutIdLst>
    <p:sldLayoutId id="2147483718"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Tx/>
        <a:buNone/>
        <a:defRPr sz="36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32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8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4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4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 y="0"/>
            <a:ext cx="3263366" cy="838200"/>
          </a:xfrm>
          <a:prstGeom prst="rect">
            <a:avLst/>
          </a:prstGeom>
          <a:noFill/>
        </p:spPr>
        <p:txBody>
          <a:bodyPr vert="horz" lIns="91440" tIns="45720" rIns="91440" bIns="45720" rtlCol="0" anchor="ctr">
            <a:noAutofit/>
          </a:bodyPr>
          <a:lstStyle/>
          <a:p>
            <a:r>
              <a:rPr lang="en-US" dirty="0"/>
              <a:t>ECONOMICS</a:t>
            </a:r>
          </a:p>
        </p:txBody>
      </p:sp>
      <p:sp>
        <p:nvSpPr>
          <p:cNvPr id="3" name="Text Placeholder 2"/>
          <p:cNvSpPr>
            <a:spLocks noGrp="1"/>
          </p:cNvSpPr>
          <p:nvPr>
            <p:ph type="body" idx="1"/>
          </p:nvPr>
        </p:nvSpPr>
        <p:spPr>
          <a:xfrm>
            <a:off x="228600" y="1410234"/>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p:cNvSpPr txBox="1">
            <a:spLocks/>
          </p:cNvSpPr>
          <p:nvPr/>
        </p:nvSpPr>
        <p:spPr>
          <a:xfrm>
            <a:off x="3854173" y="0"/>
            <a:ext cx="2853083" cy="838200"/>
          </a:xfrm>
          <a:prstGeom prst="rect">
            <a:avLst/>
          </a:prstGeom>
          <a:noFill/>
        </p:spPr>
        <p:txBody>
          <a:bodyPr vert="horz" lIns="91440" tIns="45720" rIns="91440" bIns="45720" rtlCol="0" anchor="ctr">
            <a:noAutofit/>
          </a:bodyPr>
          <a:lstStyle>
            <a:lvl1pPr algn="r" defTabSz="914400" rtl="0" eaLnBrk="1" latinLnBrk="0" hangingPunct="1">
              <a:spcBef>
                <a:spcPct val="0"/>
              </a:spcBef>
              <a:buNone/>
              <a:defRPr sz="3600" b="1" i="1" kern="1200" cap="all" spc="-200" baseline="0">
                <a:solidFill>
                  <a:schemeClr val="accent5">
                    <a:lumMod val="75000"/>
                  </a:schemeClr>
                </a:solidFill>
                <a:latin typeface="Verdana"/>
                <a:ea typeface="+mj-ea"/>
                <a:cs typeface="Verdana"/>
              </a:defRPr>
            </a:lvl1pPr>
          </a:lstStyle>
          <a:p>
            <a:r>
              <a:rPr lang="en-US" dirty="0">
                <a:solidFill>
                  <a:srgbClr val="F79646">
                    <a:lumMod val="75000"/>
                  </a:srgbClr>
                </a:solidFill>
              </a:rPr>
              <a:t>IN ACTION</a:t>
            </a:r>
          </a:p>
        </p:txBody>
      </p:sp>
      <p:sp>
        <p:nvSpPr>
          <p:cNvPr id="13" name="Oval 12"/>
          <p:cNvSpPr/>
          <p:nvPr/>
        </p:nvSpPr>
        <p:spPr>
          <a:xfrm>
            <a:off x="3263367" y="228600"/>
            <a:ext cx="474870" cy="485913"/>
          </a:xfrm>
          <a:prstGeom prst="ellipse">
            <a:avLst/>
          </a:prstGeom>
          <a:solidFill>
            <a:schemeClr val="bg1"/>
          </a:solidFill>
          <a:ln>
            <a:noFill/>
          </a:ln>
          <a:effectLst>
            <a:outerShdw blurRad="276225" dir="6960000" sx="122000" sy="122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b="1" dirty="0">
              <a:solidFill>
                <a:srgbClr val="F79646">
                  <a:lumMod val="75000"/>
                </a:srgbClr>
              </a:solidFill>
              <a:latin typeface="Verdana"/>
              <a:cs typeface="Verdana"/>
            </a:endParaRPr>
          </a:p>
        </p:txBody>
      </p:sp>
      <p:sp>
        <p:nvSpPr>
          <p:cNvPr id="4" name="Isosceles Triangle 3"/>
          <p:cNvSpPr/>
          <p:nvPr/>
        </p:nvSpPr>
        <p:spPr>
          <a:xfrm rot="5400000">
            <a:off x="3379193" y="248348"/>
            <a:ext cx="337086" cy="381002"/>
          </a:xfrm>
          <a:prstGeom prst="triangle">
            <a:avLst>
              <a:gd name="adj" fmla="val 49975"/>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6" name="Straight Connector 5"/>
          <p:cNvCxnSpPr/>
          <p:nvPr/>
        </p:nvCxnSpPr>
        <p:spPr>
          <a:xfrm>
            <a:off x="0" y="774700"/>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12700" y="88900"/>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Footer Placeholder 2"/>
          <p:cNvSpPr>
            <a:spLocks noGrp="1"/>
          </p:cNvSpPr>
          <p:nvPr>
            <p:ph type="ftr" sz="quarter" idx="3"/>
          </p:nvPr>
        </p:nvSpPr>
        <p:spPr>
          <a:xfrm>
            <a:off x="1066800" y="6553200"/>
            <a:ext cx="7543800" cy="228600"/>
          </a:xfrm>
          <a:prstGeom prst="rect">
            <a:avLst/>
          </a:prstGeom>
        </p:spPr>
        <p:txBody>
          <a:bodyPr/>
          <a:lstStyle>
            <a:lvl1pPr algn="ctr">
              <a:defRPr>
                <a:solidFill>
                  <a:srgbClr val="7F7F7F"/>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Tree>
    <p:extLst>
      <p:ext uri="{BB962C8B-B14F-4D97-AF65-F5344CB8AC3E}">
        <p14:creationId xmlns:p14="http://schemas.microsoft.com/office/powerpoint/2010/main" val="2096068277"/>
      </p:ext>
    </p:extLst>
  </p:cSld>
  <p:clrMap bg1="lt1" tx1="dk1" bg2="lt2" tx2="dk2" accent1="accent1" accent2="accent2" accent3="accent3" accent4="accent4" accent5="accent5" accent6="accent6" hlink="hlink" folHlink="folHlink"/>
  <p:sldLayoutIdLst>
    <p:sldLayoutId id="2147483720" r:id="rId1"/>
    <p:sldLayoutId id="2147483841"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 y="392043"/>
            <a:ext cx="3263366" cy="838200"/>
          </a:xfrm>
          <a:prstGeom prst="rect">
            <a:avLst/>
          </a:prstGeom>
          <a:noFill/>
        </p:spPr>
        <p:txBody>
          <a:bodyPr vert="horz" lIns="91440" tIns="45720" rIns="91440" bIns="45720" rtlCol="0" anchor="ctr">
            <a:noAutofit/>
          </a:bodyPr>
          <a:lstStyle/>
          <a:p>
            <a:r>
              <a:rPr lang="en-US" dirty="0"/>
              <a:t>ECONOMICS</a:t>
            </a:r>
          </a:p>
        </p:txBody>
      </p:sp>
      <p:sp>
        <p:nvSpPr>
          <p:cNvPr id="3" name="Text Placeholder 2"/>
          <p:cNvSpPr>
            <a:spLocks noGrp="1"/>
          </p:cNvSpPr>
          <p:nvPr>
            <p:ph type="body" idx="1"/>
          </p:nvPr>
        </p:nvSpPr>
        <p:spPr>
          <a:xfrm>
            <a:off x="228600" y="1410234"/>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p:cNvSpPr txBox="1">
            <a:spLocks/>
          </p:cNvSpPr>
          <p:nvPr/>
        </p:nvSpPr>
        <p:spPr>
          <a:xfrm>
            <a:off x="3854173" y="392043"/>
            <a:ext cx="2853083" cy="838200"/>
          </a:xfrm>
          <a:prstGeom prst="rect">
            <a:avLst/>
          </a:prstGeom>
          <a:noFill/>
        </p:spPr>
        <p:txBody>
          <a:bodyPr vert="horz" lIns="91440" tIns="45720" rIns="91440" bIns="45720" rtlCol="0" anchor="ctr">
            <a:noAutofit/>
          </a:bodyPr>
          <a:lstStyle>
            <a:lvl1pPr algn="r" defTabSz="914400" rtl="0" eaLnBrk="1" latinLnBrk="0" hangingPunct="1">
              <a:spcBef>
                <a:spcPct val="0"/>
              </a:spcBef>
              <a:buNone/>
              <a:defRPr sz="3600" b="1" i="1" kern="1200" cap="all" spc="-200" baseline="0">
                <a:solidFill>
                  <a:schemeClr val="accent5">
                    <a:lumMod val="75000"/>
                  </a:schemeClr>
                </a:solidFill>
                <a:latin typeface="Verdana"/>
                <a:ea typeface="+mj-ea"/>
                <a:cs typeface="Verdana"/>
              </a:defRPr>
            </a:lvl1pPr>
          </a:lstStyle>
          <a:p>
            <a:r>
              <a:rPr lang="en-US" dirty="0">
                <a:solidFill>
                  <a:srgbClr val="F79646">
                    <a:lumMod val="75000"/>
                  </a:srgbClr>
                </a:solidFill>
              </a:rPr>
              <a:t>IN ACTION</a:t>
            </a:r>
          </a:p>
        </p:txBody>
      </p:sp>
      <p:sp>
        <p:nvSpPr>
          <p:cNvPr id="13" name="Oval 12"/>
          <p:cNvSpPr/>
          <p:nvPr/>
        </p:nvSpPr>
        <p:spPr>
          <a:xfrm>
            <a:off x="3263367" y="589723"/>
            <a:ext cx="474870" cy="485913"/>
          </a:xfrm>
          <a:prstGeom prst="ellipse">
            <a:avLst/>
          </a:prstGeom>
          <a:solidFill>
            <a:schemeClr val="bg1"/>
          </a:solidFill>
          <a:ln>
            <a:noFill/>
          </a:ln>
          <a:effectLst>
            <a:outerShdw blurRad="276225" dir="6960000" sx="122000" sy="122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b="1" dirty="0">
              <a:solidFill>
                <a:srgbClr val="F79646">
                  <a:lumMod val="75000"/>
                </a:srgbClr>
              </a:solidFill>
              <a:latin typeface="Verdana"/>
              <a:cs typeface="Verdana"/>
            </a:endParaRPr>
          </a:p>
        </p:txBody>
      </p:sp>
      <p:sp>
        <p:nvSpPr>
          <p:cNvPr id="4" name="Isosceles Triangle 3"/>
          <p:cNvSpPr/>
          <p:nvPr/>
        </p:nvSpPr>
        <p:spPr>
          <a:xfrm rot="5400000">
            <a:off x="3379193" y="640391"/>
            <a:ext cx="337086" cy="381002"/>
          </a:xfrm>
          <a:prstGeom prst="triangle">
            <a:avLst>
              <a:gd name="adj" fmla="val 49975"/>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6" name="Straight Connector 5"/>
          <p:cNvCxnSpPr/>
          <p:nvPr/>
        </p:nvCxnSpPr>
        <p:spPr>
          <a:xfrm>
            <a:off x="0" y="1166743"/>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12700" y="480943"/>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Footer Placeholder 2"/>
          <p:cNvSpPr>
            <a:spLocks noGrp="1"/>
          </p:cNvSpPr>
          <p:nvPr>
            <p:ph type="ftr" sz="quarter" idx="3"/>
          </p:nvPr>
        </p:nvSpPr>
        <p:spPr>
          <a:xfrm>
            <a:off x="1066800" y="6553200"/>
            <a:ext cx="7543800" cy="228600"/>
          </a:xfrm>
          <a:prstGeom prst="rect">
            <a:avLst/>
          </a:prstGeom>
        </p:spPr>
        <p:txBody>
          <a:bodyPr/>
          <a:lstStyle>
            <a:lvl1pPr algn="ctr">
              <a:defRPr>
                <a:solidFill>
                  <a:srgbClr val="7F7F7F"/>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3489126294"/>
      </p:ext>
    </p:extLst>
  </p:cSld>
  <p:clrMap bg1="lt1" tx1="dk1" bg2="lt2" tx2="dk2" accent1="accent1" accent2="accent2" accent3="accent3" accent4="accent4" accent5="accent5" accent6="accent6" hlink="hlink" folHlink="folHlink"/>
  <p:sldLayoutIdLst>
    <p:sldLayoutId id="2147483812" r:id="rId1"/>
    <p:sldLayoutId id="2147483813" r:id="rId2"/>
  </p:sldLayoutIdLst>
  <p:hf sldNum="0" hdr="0" dt="0"/>
  <p:txStyles>
    <p:title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26" name="Picture 2"/>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0"/>
            <a:ext cx="91440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11" name="TextBox 10">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4"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850678335"/>
      </p:ext>
    </p:extLst>
  </p:cSld>
  <p:clrMap bg1="lt1" tx1="dk1" bg2="lt2" tx2="dk2" accent1="accent1" accent2="accent2" accent3="accent3" accent4="accent4" accent5="accent5" accent6="accent6" hlink="hlink" folHlink="folHlink"/>
  <p:sldLayoutIdLst>
    <p:sldLayoutId id="2147483854"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Tx/>
        <a:buNone/>
        <a:defRPr sz="36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838200"/>
          </a:xfrm>
          <a:prstGeom prst="rect">
            <a:avLst/>
          </a:prstGeom>
          <a:solidFill>
            <a:schemeClr val="accent5">
              <a:lumMod val="20000"/>
              <a:lumOff val="80000"/>
              <a:alpha val="44000"/>
            </a:schemeClr>
          </a:solid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0" y="838200"/>
            <a:ext cx="9144000" cy="0"/>
          </a:xfrm>
          <a:prstGeom prst="line">
            <a:avLst/>
          </a:prstGeom>
          <a:ln w="127000" cmpd="sng">
            <a:solidFill>
              <a:schemeClr val="tx2">
                <a:lumMod val="20000"/>
                <a:lumOff val="80000"/>
                <a:alpha val="71000"/>
              </a:schemeClr>
            </a:solidFill>
            <a:prstDash val="solid"/>
          </a:ln>
        </p:spPr>
        <p:style>
          <a:lnRef idx="1">
            <a:schemeClr val="accent5"/>
          </a:lnRef>
          <a:fillRef idx="0">
            <a:schemeClr val="accent5"/>
          </a:fillRef>
          <a:effectRef idx="0">
            <a:schemeClr val="accent5"/>
          </a:effectRef>
          <a:fontRef idx="minor">
            <a:schemeClr val="tx1"/>
          </a:fontRef>
        </p:style>
      </p:cxn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12" name="TextBox 11">
            <a:hlinkClick r:id="rId5"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5"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455002261"/>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r" defTabSz="914400" rtl="0" eaLnBrk="1" latinLnBrk="0" hangingPunct="1">
        <a:spcBef>
          <a:spcPct val="0"/>
        </a:spcBef>
        <a:buNone/>
        <a:defRPr sz="4400" b="1" kern="1200" spc="-200" baseline="0">
          <a:solidFill>
            <a:schemeClr val="accent6">
              <a:lumMod val="75000"/>
            </a:schemeClr>
          </a:solidFill>
          <a:latin typeface="Candara" pitchFamily="34" charset="0"/>
          <a:ea typeface="+mj-ea"/>
          <a:cs typeface="+mj-cs"/>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7543800" cy="1161633"/>
          </a:xfrm>
          <a:prstGeom prst="rightArrow">
            <a:avLst>
              <a:gd name="adj1" fmla="val 50000"/>
              <a:gd name="adj2" fmla="val 78749"/>
            </a:avLst>
          </a:prstGeom>
          <a:solidFill>
            <a:schemeClr val="accent1">
              <a:lumMod val="20000"/>
              <a:lumOff val="80000"/>
            </a:schemeClr>
          </a:solidFill>
          <a:ln>
            <a:noFill/>
          </a:ln>
        </p:spPr>
        <p:txBody>
          <a:bodyPr wrap="square">
            <a:spAutoFit/>
          </a:bodyPr>
          <a:lstStyle/>
          <a:p>
            <a:pPr>
              <a:defRPr/>
            </a:pPr>
            <a:r>
              <a:rPr lang="en-US" sz="3200" b="1" spc="60" dirty="0">
                <a:ln w="9000" cmpd="sng">
                  <a:noFill/>
                  <a:prstDash val="solid"/>
                </a:ln>
                <a:solidFill>
                  <a:srgbClr val="F79646">
                    <a:lumMod val="75000"/>
                  </a:srgbClr>
                </a:solidFill>
                <a:effectLst>
                  <a:outerShdw blurRad="38100" dist="38100" dir="2700000" algn="tl">
                    <a:srgbClr val="000000">
                      <a:alpha val="43137"/>
                    </a:srgbClr>
                  </a:outerShdw>
                  <a:reflection blurRad="12700" stA="28000" endPos="45000" dist="1000" dir="5400000" sy="-100000" algn="bl" rotWithShape="0"/>
                </a:effectLst>
                <a:latin typeface="Century Gothic" pitchFamily="34" charset="0"/>
                <a:cs typeface="Courier New" pitchFamily="49" charset="0"/>
              </a:rPr>
              <a:t>Active Learning: Practice</a:t>
            </a:r>
          </a:p>
        </p:txBody>
      </p:sp>
      <p:pic>
        <p:nvPicPr>
          <p:cNvPr id="12292" name="Picture 11" descr="Pencil_8160.JP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895042" y="47416"/>
            <a:ext cx="224895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14" name="TextBox 13">
            <a:hlinkClick r:id="rId5"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5"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a:defRPr/>
            </a:pP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a:p>
            <a:pPr algn="ctr">
              <a:defRPr/>
            </a:pP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393986285"/>
      </p:ext>
    </p:extLst>
  </p:cSld>
  <p:clrMap bg1="lt1" tx1="dk1" bg2="lt2" tx2="dk2" accent1="accent1" accent2="accent2" accent3="accent3" accent4="accent4" accent5="accent5" accent6="accent6" hlink="hlink" folHlink="folHlink"/>
  <p:sldLayoutIdLst>
    <p:sldLayoutId id="2147483860" r:id="rId1"/>
    <p:sldLayoutId id="2147483861"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457200" y="1830388"/>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fontAlgn="auto">
              <a:spcBef>
                <a:spcPts val="0"/>
              </a:spcBef>
              <a:spcAft>
                <a:spcPts val="0"/>
              </a:spcAft>
              <a:defRPr sz="1100" i="0" cap="small" spc="400" baseline="0" smtClean="0">
                <a:solidFill>
                  <a:schemeClr val="tx1">
                    <a:lumMod val="50000"/>
                    <a:lumOff val="50000"/>
                  </a:schemeClr>
                </a:solidFill>
                <a:latin typeface="+mn-lt"/>
                <a:cs typeface="+mn-cs"/>
              </a:defRPr>
            </a:lvl1pPr>
          </a:lstStyle>
          <a:p>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
        <p:nvSpPr>
          <p:cNvPr id="8" name="Title 1"/>
          <p:cNvSpPr txBox="1">
            <a:spLocks/>
          </p:cNvSpPr>
          <p:nvPr/>
        </p:nvSpPr>
        <p:spPr>
          <a:xfrm>
            <a:off x="990600" y="120650"/>
            <a:ext cx="8153400" cy="946150"/>
          </a:xfrm>
          <a:prstGeom prst="rect">
            <a:avLst/>
          </a:prstGeom>
          <a:noFill/>
        </p:spPr>
        <p:txBody>
          <a:bodyPr/>
          <a:lstStyle>
            <a:lvl1pPr algn="l" rtl="0" eaLnBrk="0" fontAlgn="base" hangingPunct="0">
              <a:spcBef>
                <a:spcPct val="0"/>
              </a:spcBef>
              <a:spcAft>
                <a:spcPct val="0"/>
              </a:spcAft>
              <a:defRPr sz="4000" b="1" i="1" kern="1200" baseline="0">
                <a:solidFill>
                  <a:schemeClr val="accent6">
                    <a:lumMod val="75000"/>
                  </a:schemeClr>
                </a:solidFill>
                <a:effectLst>
                  <a:outerShdw blurRad="38100" dist="38100" dir="2700000" algn="tl">
                    <a:srgbClr val="000000">
                      <a:alpha val="43137"/>
                    </a:srgbClr>
                  </a:outerShdw>
                </a:effectLst>
                <a:latin typeface="Century Gothic" pitchFamily="34" charset="0"/>
                <a:ea typeface="+mj-ea"/>
                <a:cs typeface="+mj-cs"/>
              </a:defRPr>
            </a:lvl1pPr>
            <a:lvl2pPr algn="ctr" rtl="0" eaLnBrk="0" fontAlgn="base" hangingPunct="0">
              <a:spcBef>
                <a:spcPct val="0"/>
              </a:spcBef>
              <a:spcAft>
                <a:spcPct val="0"/>
              </a:spcAft>
              <a:defRPr sz="4400" b="1" i="1">
                <a:solidFill>
                  <a:schemeClr val="tx1"/>
                </a:solidFill>
                <a:latin typeface="Century Gothic" pitchFamily="34" charset="0"/>
              </a:defRPr>
            </a:lvl2pPr>
            <a:lvl3pPr algn="ctr" rtl="0" eaLnBrk="0" fontAlgn="base" hangingPunct="0">
              <a:spcBef>
                <a:spcPct val="0"/>
              </a:spcBef>
              <a:spcAft>
                <a:spcPct val="0"/>
              </a:spcAft>
              <a:defRPr sz="4400" b="1" i="1">
                <a:solidFill>
                  <a:schemeClr val="tx1"/>
                </a:solidFill>
                <a:latin typeface="Century Gothic" pitchFamily="34" charset="0"/>
              </a:defRPr>
            </a:lvl3pPr>
            <a:lvl4pPr algn="ctr" rtl="0" eaLnBrk="0" fontAlgn="base" hangingPunct="0">
              <a:spcBef>
                <a:spcPct val="0"/>
              </a:spcBef>
              <a:spcAft>
                <a:spcPct val="0"/>
              </a:spcAft>
              <a:defRPr sz="4400" b="1" i="1">
                <a:solidFill>
                  <a:schemeClr val="tx1"/>
                </a:solidFill>
                <a:latin typeface="Century Gothic" pitchFamily="34" charset="0"/>
              </a:defRPr>
            </a:lvl4pPr>
            <a:lvl5pPr algn="ctr" rtl="0" eaLnBrk="0" fontAlgn="base" hangingPunct="0">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a:lstStyle>
          <a:p>
            <a:r>
              <a:rPr lang="en-US" dirty="0">
                <a:solidFill>
                  <a:srgbClr val="F79646">
                    <a:lumMod val="75000"/>
                  </a:srgbClr>
                </a:solidFill>
              </a:rPr>
              <a:t>Take a look…..</a:t>
            </a:r>
          </a:p>
        </p:txBody>
      </p:sp>
      <p:pic>
        <p:nvPicPr>
          <p:cNvPr id="11" name="Picture 10"/>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0" y="-11133"/>
            <a:ext cx="990600" cy="1104743"/>
          </a:xfrm>
          <a:prstGeom prst="rect">
            <a:avLst/>
          </a:prstGeom>
        </p:spPr>
      </p:pic>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14" name="TextBox 13">
            <a:hlinkClick r:id="rId6"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6"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Tree>
    <p:extLst>
      <p:ext uri="{BB962C8B-B14F-4D97-AF65-F5344CB8AC3E}">
        <p14:creationId xmlns:p14="http://schemas.microsoft.com/office/powerpoint/2010/main" val="3689320124"/>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Lst>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Effect transition="in" filter="fade">
                                      <p:cBhvr>
                                        <p:cTn id="7" dur="500"/>
                                        <p:tgtEl>
                                          <p:spTgt spid="1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6">
                                            <p:txEl>
                                              <p:pRg st="1" end="1"/>
                                            </p:txEl>
                                          </p:spTgt>
                                        </p:tgtEl>
                                        <p:attrNameLst>
                                          <p:attrName>style.visibility</p:attrName>
                                        </p:attrNameLst>
                                      </p:cBhvr>
                                      <p:to>
                                        <p:strVal val="visible"/>
                                      </p:to>
                                    </p:set>
                                    <p:animEffect transition="in" filter="fade">
                                      <p:cBhvr>
                                        <p:cTn id="12" dur="500"/>
                                        <p:tgtEl>
                                          <p:spTgt spid="10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6">
                                            <p:txEl>
                                              <p:pRg st="2" end="2"/>
                                            </p:txEl>
                                          </p:spTgt>
                                        </p:tgtEl>
                                        <p:attrNameLst>
                                          <p:attrName>style.visibility</p:attrName>
                                        </p:attrNameLst>
                                      </p:cBhvr>
                                      <p:to>
                                        <p:strVal val="visible"/>
                                      </p:to>
                                    </p:set>
                                    <p:animEffect transition="in" filter="fade">
                                      <p:cBhvr>
                                        <p:cTn id="17" dur="500"/>
                                        <p:tgtEl>
                                          <p:spTgt spid="10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6">
                                            <p:txEl>
                                              <p:pRg st="3" end="3"/>
                                            </p:txEl>
                                          </p:spTgt>
                                        </p:tgtEl>
                                        <p:attrNameLst>
                                          <p:attrName>style.visibility</p:attrName>
                                        </p:attrNameLst>
                                      </p:cBhvr>
                                      <p:to>
                                        <p:strVal val="visible"/>
                                      </p:to>
                                    </p:set>
                                    <p:animEffect transition="in" filter="fade">
                                      <p:cBhvr>
                                        <p:cTn id="22" dur="500"/>
                                        <p:tgtEl>
                                          <p:spTgt spid="10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6">
                                            <p:txEl>
                                              <p:pRg st="4" end="4"/>
                                            </p:txEl>
                                          </p:spTgt>
                                        </p:tgtEl>
                                        <p:attrNameLst>
                                          <p:attrName>style.visibility</p:attrName>
                                        </p:attrNameLst>
                                      </p:cBhvr>
                                      <p:to>
                                        <p:strVal val="visible"/>
                                      </p:to>
                                    </p:set>
                                    <p:animEffect transition="in" filter="fade">
                                      <p:cBhvr>
                                        <p:cTn id="27" dur="500"/>
                                        <p:tgtEl>
                                          <p:spTgt spid="10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p:tmplLst>
          <p:tmpl lvl="1">
            <p:tnLst>
              <p:par>
                <p:cTn presetID="10" presetClass="entr" presetSubtype="0" fill="hold" nodeType="with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Lst>
      </p:bldP>
    </p:bldLst>
  </p:timing>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7543800" cy="1161633"/>
          </a:xfrm>
          <a:prstGeom prst="rightArrow">
            <a:avLst>
              <a:gd name="adj1" fmla="val 50000"/>
              <a:gd name="adj2" fmla="val 78749"/>
            </a:avLst>
          </a:prstGeom>
          <a:solidFill>
            <a:schemeClr val="accent1">
              <a:lumMod val="20000"/>
              <a:lumOff val="80000"/>
            </a:schemeClr>
          </a:solidFill>
          <a:ln>
            <a:noFill/>
          </a:ln>
        </p:spPr>
        <p:txBody>
          <a:bodyPr wrap="square">
            <a:spAutoFit/>
          </a:bodyPr>
          <a:lstStyle/>
          <a:p>
            <a:pPr>
              <a:defRPr/>
            </a:pPr>
            <a:r>
              <a:rPr lang="en-US" sz="3200" b="1" spc="60" dirty="0">
                <a:ln w="9000" cmpd="sng">
                  <a:noFill/>
                  <a:prstDash val="solid"/>
                </a:ln>
                <a:solidFill>
                  <a:srgbClr val="F79646">
                    <a:lumMod val="75000"/>
                  </a:srgbClr>
                </a:solidFill>
                <a:effectLst>
                  <a:outerShdw blurRad="38100" dist="38100" dir="2700000" algn="tl">
                    <a:srgbClr val="000000">
                      <a:alpha val="43137"/>
                    </a:srgbClr>
                  </a:outerShdw>
                  <a:reflection blurRad="12700" stA="28000" endPos="45000" dist="1000" dir="5400000" sy="-100000" algn="bl" rotWithShape="0"/>
                </a:effectLst>
                <a:latin typeface="Century Gothic" pitchFamily="34" charset="0"/>
                <a:cs typeface="Courier New" pitchFamily="49" charset="0"/>
              </a:rPr>
              <a:t>Active Learning: Application</a:t>
            </a:r>
          </a:p>
        </p:txBody>
      </p:sp>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13" name="TextBox 12">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4"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pic>
        <p:nvPicPr>
          <p:cNvPr id="2050"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34184" y="304800"/>
            <a:ext cx="1609816" cy="6096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a:defRPr/>
            </a:pP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a:p>
            <a:pPr algn="ctr">
              <a:defRPr/>
            </a:pP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1"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130988733"/>
      </p:ext>
    </p:extLst>
  </p:cSld>
  <p:clrMap bg1="lt1" tx1="dk1" bg2="lt2" tx2="dk2" accent1="accent1" accent2="accent2" accent3="accent3" accent4="accent4" accent5="accent5" accent6="accent6" hlink="hlink" folHlink="folHlink"/>
  <p:sldLayoutIdLst>
    <p:sldLayoutId id="2147483867" r:id="rId1"/>
    <p:sldLayoutId id="2147483868"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76200"/>
            <a:ext cx="9144000" cy="838200"/>
          </a:xfrm>
          <a:prstGeom prst="rect">
            <a:avLst/>
          </a:prstGeom>
          <a:no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2" name="TextBox 11">
            <a:hlinkClick r:id="rId11"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12"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58372759"/>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4400" b="0" kern="1200" spc="0" baseline="0">
          <a:solidFill>
            <a:schemeClr val="accent3"/>
          </a:solidFill>
          <a:effectLst>
            <a:innerShdw blurRad="63500" dist="50800" dir="13500000">
              <a:prstClr val="black">
                <a:alpha val="50000"/>
              </a:prstClr>
            </a:innerShdw>
          </a:effectLst>
          <a:latin typeface="Century Gothic"/>
          <a:ea typeface="+mj-ea"/>
          <a:cs typeface="Century Gothic"/>
        </a:defRPr>
      </a:lvl1pPr>
    </p:titleStyle>
    <p:bodyStyle>
      <a:lvl1pPr marL="0" indent="0" algn="l" defTabSz="914400" rtl="0" eaLnBrk="1" latinLnBrk="0" hangingPunct="1">
        <a:spcBef>
          <a:spcPct val="20000"/>
        </a:spcBef>
        <a:buFontTx/>
        <a:buNone/>
        <a:defRPr sz="32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28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4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0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0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838200"/>
          </a:xfrm>
          <a:prstGeom prst="rect">
            <a:avLst/>
          </a:prstGeom>
          <a:solidFill>
            <a:schemeClr val="accent5">
              <a:lumMod val="20000"/>
              <a:lumOff val="80000"/>
              <a:alpha val="44000"/>
            </a:schemeClr>
          </a:solid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0" y="838200"/>
            <a:ext cx="9144000" cy="0"/>
          </a:xfrm>
          <a:prstGeom prst="line">
            <a:avLst/>
          </a:prstGeom>
          <a:ln w="127000" cmpd="sng">
            <a:solidFill>
              <a:schemeClr val="tx2">
                <a:lumMod val="20000"/>
                <a:lumOff val="80000"/>
                <a:alpha val="71000"/>
              </a:schemeClr>
            </a:solidFill>
            <a:prstDash val="solid"/>
          </a:ln>
        </p:spPr>
        <p:style>
          <a:lnRef idx="1">
            <a:schemeClr val="accent5"/>
          </a:lnRef>
          <a:fillRef idx="0">
            <a:schemeClr val="accent5"/>
          </a:fillRef>
          <a:effectRef idx="0">
            <a:schemeClr val="accent5"/>
          </a:effectRef>
          <a:fontRef idx="minor">
            <a:schemeClr val="tx1"/>
          </a:fontRef>
        </p:style>
      </p:cxn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2" name="TextBox 11">
            <a:hlinkClick r:id="rId6"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6"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895018199"/>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r" defTabSz="914400" rtl="0" eaLnBrk="1" latinLnBrk="0" hangingPunct="1">
        <a:spcBef>
          <a:spcPct val="0"/>
        </a:spcBef>
        <a:buNone/>
        <a:defRPr sz="4400" b="1" kern="1200" spc="-200" baseline="0">
          <a:solidFill>
            <a:schemeClr val="accent6">
              <a:lumMod val="75000"/>
            </a:schemeClr>
          </a:solidFill>
          <a:latin typeface="Candara" pitchFamily="34" charset="0"/>
          <a:ea typeface="+mj-ea"/>
          <a:cs typeface="+mj-cs"/>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26" name="Picture 2"/>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0"/>
            <a:ext cx="91440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1" name="TextBox 10">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4"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581944352"/>
      </p:ext>
    </p:extLst>
  </p:cSld>
  <p:clrMap bg1="lt1" tx1="dk1" bg2="lt2" tx2="dk2" accent1="accent1" accent2="accent2" accent3="accent3" accent4="accent4" accent5="accent5" accent6="accent6" hlink="hlink" folHlink="folHlink"/>
  <p:sldLayoutIdLst>
    <p:sldLayoutId id="2147483887"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Tx/>
        <a:buNone/>
        <a:defRPr sz="36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7543800" cy="1161633"/>
          </a:xfrm>
          <a:prstGeom prst="rightArrow">
            <a:avLst>
              <a:gd name="adj1" fmla="val 50000"/>
              <a:gd name="adj2" fmla="val 78749"/>
            </a:avLst>
          </a:prstGeom>
          <a:solidFill>
            <a:schemeClr val="accent1">
              <a:lumMod val="20000"/>
              <a:lumOff val="80000"/>
            </a:schemeClr>
          </a:solidFill>
          <a:ln>
            <a:noFill/>
          </a:ln>
        </p:spPr>
        <p:txBody>
          <a:bodyPr wrap="square">
            <a:spAutoFit/>
          </a:bodyPr>
          <a:lstStyle/>
          <a:p>
            <a:pPr>
              <a:defRPr/>
            </a:pPr>
            <a:r>
              <a:rPr lang="en-US" sz="3200" b="1" spc="60" dirty="0">
                <a:ln w="9000" cmpd="sng">
                  <a:noFill/>
                  <a:prstDash val="solid"/>
                </a:ln>
                <a:solidFill>
                  <a:srgbClr val="F79646">
                    <a:lumMod val="75000"/>
                  </a:srgbClr>
                </a:solidFill>
                <a:effectLst>
                  <a:outerShdw blurRad="38100" dist="38100" dir="2700000" algn="tl">
                    <a:srgbClr val="000000">
                      <a:alpha val="43137"/>
                    </a:srgbClr>
                  </a:outerShdw>
                  <a:reflection blurRad="12700" stA="28000" endPos="45000" dist="1000" dir="5400000" sy="-100000" algn="bl" rotWithShape="0"/>
                </a:effectLst>
                <a:latin typeface="Century Gothic" pitchFamily="34" charset="0"/>
                <a:cs typeface="Courier New" pitchFamily="49" charset="0"/>
              </a:rPr>
              <a:t>Active Learning: Practice</a:t>
            </a:r>
          </a:p>
        </p:txBody>
      </p:sp>
      <p:pic>
        <p:nvPicPr>
          <p:cNvPr id="12292" name="Picture 11" descr="Pencil_8160.JP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895042" y="47416"/>
            <a:ext cx="224895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4" name="TextBox 13">
            <a:hlinkClick r:id="rId5"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5"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a:defRPr/>
            </a:pP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a:p>
            <a:pPr algn="ctr">
              <a:defRPr/>
            </a:pP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400582080"/>
      </p:ext>
    </p:extLst>
  </p:cSld>
  <p:clrMap bg1="lt1" tx1="dk1" bg2="lt2" tx2="dk2" accent1="accent1" accent2="accent2" accent3="accent3" accent4="accent4" accent5="accent5" accent6="accent6" hlink="hlink" folHlink="folHlink"/>
  <p:sldLayoutIdLst>
    <p:sldLayoutId id="2147483889" r:id="rId1"/>
    <p:sldLayoutId id="2147483890"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838200"/>
          </a:xfrm>
          <a:prstGeom prst="rect">
            <a:avLst/>
          </a:prstGeom>
          <a:solidFill>
            <a:schemeClr val="accent5">
              <a:lumMod val="20000"/>
              <a:lumOff val="80000"/>
              <a:alpha val="44000"/>
            </a:schemeClr>
          </a:solid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0" y="838200"/>
            <a:ext cx="9144000" cy="0"/>
          </a:xfrm>
          <a:prstGeom prst="line">
            <a:avLst/>
          </a:prstGeom>
          <a:ln w="127000" cmpd="sng">
            <a:solidFill>
              <a:schemeClr val="tx2">
                <a:lumMod val="20000"/>
                <a:lumOff val="80000"/>
                <a:alpha val="71000"/>
              </a:schemeClr>
            </a:solidFill>
            <a:prstDash val="solid"/>
          </a:ln>
        </p:spPr>
        <p:style>
          <a:lnRef idx="1">
            <a:schemeClr val="accent5"/>
          </a:lnRef>
          <a:fillRef idx="0">
            <a:schemeClr val="accent5"/>
          </a:fillRef>
          <a:effectRef idx="0">
            <a:schemeClr val="accent5"/>
          </a:effectRef>
          <a:fontRef idx="minor">
            <a:schemeClr val="tx1"/>
          </a:fontRef>
        </p:style>
      </p:cxn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2" name="TextBox 11">
            <a:hlinkClick r:id="rId5"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5"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339820830"/>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r" defTabSz="914400" rtl="0" eaLnBrk="1" latinLnBrk="0" hangingPunct="1">
        <a:spcBef>
          <a:spcPct val="0"/>
        </a:spcBef>
        <a:buNone/>
        <a:defRPr sz="4400" b="1" kern="1200" spc="-200" baseline="0">
          <a:solidFill>
            <a:schemeClr val="accent6">
              <a:lumMod val="75000"/>
            </a:schemeClr>
          </a:solidFill>
          <a:latin typeface="Candara" pitchFamily="34" charset="0"/>
          <a:ea typeface="+mj-ea"/>
          <a:cs typeface="+mj-cs"/>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7543800" cy="1161633"/>
          </a:xfrm>
          <a:prstGeom prst="rightArrow">
            <a:avLst>
              <a:gd name="adj1" fmla="val 50000"/>
              <a:gd name="adj2" fmla="val 78749"/>
            </a:avLst>
          </a:prstGeom>
          <a:solidFill>
            <a:schemeClr val="accent1">
              <a:lumMod val="20000"/>
              <a:lumOff val="80000"/>
            </a:schemeClr>
          </a:solidFill>
          <a:ln>
            <a:noFill/>
          </a:ln>
        </p:spPr>
        <p:txBody>
          <a:bodyPr wrap="square">
            <a:spAutoFit/>
          </a:bodyPr>
          <a:lstStyle/>
          <a:p>
            <a:pPr>
              <a:defRPr/>
            </a:pPr>
            <a:r>
              <a:rPr lang="en-US" sz="3200" b="1" spc="60" dirty="0">
                <a:ln w="9000" cmpd="sng">
                  <a:noFill/>
                  <a:prstDash val="solid"/>
                </a:ln>
                <a:solidFill>
                  <a:srgbClr val="F79646">
                    <a:lumMod val="75000"/>
                  </a:srgbClr>
                </a:solidFill>
                <a:effectLst>
                  <a:outerShdw blurRad="38100" dist="38100" dir="2700000" algn="tl">
                    <a:srgbClr val="000000">
                      <a:alpha val="43137"/>
                    </a:srgbClr>
                  </a:outerShdw>
                  <a:reflection blurRad="12700" stA="28000" endPos="45000" dist="1000" dir="5400000" sy="-100000" algn="bl" rotWithShape="0"/>
                </a:effectLst>
                <a:latin typeface="Century Gothic" pitchFamily="34" charset="0"/>
                <a:cs typeface="Courier New" pitchFamily="49" charset="0"/>
              </a:rPr>
              <a:t>Active Learning: Application</a:t>
            </a:r>
          </a:p>
        </p:txBody>
      </p:sp>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3" name="TextBox 12">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4"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pic>
        <p:nvPicPr>
          <p:cNvPr id="2050"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34184" y="304800"/>
            <a:ext cx="1609816" cy="6096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a:defRPr/>
            </a:pP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a:p>
            <a:pPr algn="ctr">
              <a:defRPr/>
            </a:pP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1"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1113774337"/>
      </p:ext>
    </p:extLst>
  </p:cSld>
  <p:clrMap bg1="lt1" tx1="dk1" bg2="lt2" tx2="dk2" accent1="accent1" accent2="accent2" accent3="accent3" accent4="accent4" accent5="accent5" accent6="accent6" hlink="hlink" folHlink="folHlink"/>
  <p:sldLayoutIdLst>
    <p:sldLayoutId id="2147483896" r:id="rId1"/>
    <p:sldLayoutId id="2147483897"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F44DE6-8B77-400C-8F66-8B96B952C9BA}"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599664710"/>
      </p:ext>
    </p:extLst>
  </p:cSld>
  <p:clrMap bg1="lt1" tx1="dk1" bg2="lt2" tx2="dk2" accent1="accent1" accent2="accent2" accent3="accent3" accent4="accent4" accent5="accent5" accent6="accent6" hlink="hlink" folHlink="folHlink"/>
  <p:sldLayoutIdLst>
    <p:sldLayoutId id="2147483899" r:id="rId1"/>
    <p:sldLayoutId id="2147483900" r:id="rId2"/>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7543800" cy="1161633"/>
          </a:xfrm>
          <a:prstGeom prst="rightArrow">
            <a:avLst>
              <a:gd name="adj1" fmla="val 50000"/>
              <a:gd name="adj2" fmla="val 78749"/>
            </a:avLst>
          </a:prstGeom>
          <a:solidFill>
            <a:schemeClr val="accent1">
              <a:lumMod val="20000"/>
              <a:lumOff val="80000"/>
            </a:schemeClr>
          </a:solidFill>
          <a:ln>
            <a:noFill/>
          </a:ln>
        </p:spPr>
        <p:txBody>
          <a:bodyPr wrap="square">
            <a:spAutoFit/>
          </a:bodyPr>
          <a:lstStyle/>
          <a:p>
            <a:pPr>
              <a:defRPr/>
            </a:pPr>
            <a:r>
              <a:rPr lang="en-US" sz="3200" b="1" spc="60" dirty="0">
                <a:ln w="9000" cmpd="sng">
                  <a:noFill/>
                  <a:prstDash val="solid"/>
                </a:ln>
                <a:solidFill>
                  <a:srgbClr val="F79646">
                    <a:lumMod val="75000"/>
                  </a:srgbClr>
                </a:solidFill>
                <a:effectLst>
                  <a:outerShdw blurRad="38100" dist="38100" dir="2700000" algn="tl">
                    <a:srgbClr val="000000">
                      <a:alpha val="43137"/>
                    </a:srgbClr>
                  </a:outerShdw>
                  <a:reflection blurRad="12700" stA="28000" endPos="45000" dist="1000" dir="5400000" sy="-100000" algn="bl" rotWithShape="0"/>
                </a:effectLst>
                <a:latin typeface="Century Gothic" pitchFamily="34" charset="0"/>
                <a:cs typeface="Courier New" pitchFamily="49" charset="0"/>
              </a:rPr>
              <a:t>Active Learning: Practice</a:t>
            </a:r>
          </a:p>
        </p:txBody>
      </p:sp>
      <p:pic>
        <p:nvPicPr>
          <p:cNvPr id="12292" name="Picture 11" descr="Pencil_8160.JP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895042" y="47416"/>
            <a:ext cx="224895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4" name="TextBox 13">
            <a:hlinkClick r:id="rId5"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5"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a:defRPr/>
            </a:pP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a:p>
            <a:pPr algn="ctr">
              <a:defRPr/>
            </a:pP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968950715"/>
      </p:ext>
    </p:extLst>
  </p:cSld>
  <p:clrMap bg1="lt1" tx1="dk1" bg2="lt2" tx2="dk2" accent1="accent1" accent2="accent2" accent3="accent3" accent4="accent4" accent5="accent5" accent6="accent6" hlink="hlink" folHlink="folHlink"/>
  <p:sldLayoutIdLst>
    <p:sldLayoutId id="2147483902" r:id="rId1"/>
    <p:sldLayoutId id="2147483903"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457200" y="1830388"/>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fontAlgn="auto">
              <a:spcBef>
                <a:spcPts val="0"/>
              </a:spcBef>
              <a:spcAft>
                <a:spcPts val="0"/>
              </a:spcAft>
              <a:defRPr sz="1100" i="0" cap="small" spc="400" baseline="0" smtClean="0">
                <a:solidFill>
                  <a:schemeClr val="tx1">
                    <a:lumMod val="50000"/>
                    <a:lumOff val="50000"/>
                  </a:schemeClr>
                </a:solidFill>
                <a:latin typeface="+mn-lt"/>
                <a:cs typeface="+mn-cs"/>
              </a:defRPr>
            </a:lvl1pPr>
          </a:lstStyle>
          <a:p>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
        <p:nvSpPr>
          <p:cNvPr id="8" name="Title 1"/>
          <p:cNvSpPr txBox="1">
            <a:spLocks/>
          </p:cNvSpPr>
          <p:nvPr/>
        </p:nvSpPr>
        <p:spPr>
          <a:xfrm>
            <a:off x="990600" y="120650"/>
            <a:ext cx="8153400" cy="946150"/>
          </a:xfrm>
          <a:prstGeom prst="rect">
            <a:avLst/>
          </a:prstGeom>
          <a:noFill/>
        </p:spPr>
        <p:txBody>
          <a:bodyPr/>
          <a:lstStyle>
            <a:lvl1pPr algn="l" rtl="0" eaLnBrk="0" fontAlgn="base" hangingPunct="0">
              <a:spcBef>
                <a:spcPct val="0"/>
              </a:spcBef>
              <a:spcAft>
                <a:spcPct val="0"/>
              </a:spcAft>
              <a:defRPr sz="4000" b="1" i="1" kern="1200" baseline="0">
                <a:solidFill>
                  <a:schemeClr val="accent6">
                    <a:lumMod val="75000"/>
                  </a:schemeClr>
                </a:solidFill>
                <a:effectLst>
                  <a:outerShdw blurRad="38100" dist="38100" dir="2700000" algn="tl">
                    <a:srgbClr val="000000">
                      <a:alpha val="43137"/>
                    </a:srgbClr>
                  </a:outerShdw>
                </a:effectLst>
                <a:latin typeface="Century Gothic" pitchFamily="34" charset="0"/>
                <a:ea typeface="+mj-ea"/>
                <a:cs typeface="+mj-cs"/>
              </a:defRPr>
            </a:lvl1pPr>
            <a:lvl2pPr algn="ctr" rtl="0" eaLnBrk="0" fontAlgn="base" hangingPunct="0">
              <a:spcBef>
                <a:spcPct val="0"/>
              </a:spcBef>
              <a:spcAft>
                <a:spcPct val="0"/>
              </a:spcAft>
              <a:defRPr sz="4400" b="1" i="1">
                <a:solidFill>
                  <a:schemeClr val="tx1"/>
                </a:solidFill>
                <a:latin typeface="Century Gothic" pitchFamily="34" charset="0"/>
              </a:defRPr>
            </a:lvl2pPr>
            <a:lvl3pPr algn="ctr" rtl="0" eaLnBrk="0" fontAlgn="base" hangingPunct="0">
              <a:spcBef>
                <a:spcPct val="0"/>
              </a:spcBef>
              <a:spcAft>
                <a:spcPct val="0"/>
              </a:spcAft>
              <a:defRPr sz="4400" b="1" i="1">
                <a:solidFill>
                  <a:schemeClr val="tx1"/>
                </a:solidFill>
                <a:latin typeface="Century Gothic" pitchFamily="34" charset="0"/>
              </a:defRPr>
            </a:lvl3pPr>
            <a:lvl4pPr algn="ctr" rtl="0" eaLnBrk="0" fontAlgn="base" hangingPunct="0">
              <a:spcBef>
                <a:spcPct val="0"/>
              </a:spcBef>
              <a:spcAft>
                <a:spcPct val="0"/>
              </a:spcAft>
              <a:defRPr sz="4400" b="1" i="1">
                <a:solidFill>
                  <a:schemeClr val="tx1"/>
                </a:solidFill>
                <a:latin typeface="Century Gothic" pitchFamily="34" charset="0"/>
              </a:defRPr>
            </a:lvl4pPr>
            <a:lvl5pPr algn="ctr" rtl="0" eaLnBrk="0" fontAlgn="base" hangingPunct="0">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a:lstStyle>
          <a:p>
            <a:r>
              <a:rPr lang="en-US" dirty="0">
                <a:solidFill>
                  <a:srgbClr val="F79646">
                    <a:lumMod val="75000"/>
                  </a:srgbClr>
                </a:solidFill>
              </a:rPr>
              <a:t>Take a look…..</a:t>
            </a:r>
          </a:p>
        </p:txBody>
      </p:sp>
      <p:pic>
        <p:nvPicPr>
          <p:cNvPr id="11" name="Picture 10"/>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0" y="-11133"/>
            <a:ext cx="990600" cy="1104743"/>
          </a:xfrm>
          <a:prstGeom prst="rect">
            <a:avLst/>
          </a:prstGeom>
        </p:spPr>
      </p:pic>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14" name="TextBox 13">
            <a:hlinkClick r:id="rId6"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6"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Tree>
    <p:extLst>
      <p:ext uri="{BB962C8B-B14F-4D97-AF65-F5344CB8AC3E}">
        <p14:creationId xmlns:p14="http://schemas.microsoft.com/office/powerpoint/2010/main" val="3669353863"/>
      </p:ext>
    </p:extLst>
  </p:cSld>
  <p:clrMap bg1="lt1" tx1="dk1" bg2="lt2" tx2="dk2" accent1="accent1" accent2="accent2" accent3="accent3" accent4="accent4" accent5="accent5" accent6="accent6" hlink="hlink" folHlink="folHlink"/>
  <p:sldLayoutIdLst>
    <p:sldLayoutId id="2147483905" r:id="rId1"/>
    <p:sldLayoutId id="2147483906" r:id="rId2"/>
    <p:sldLayoutId id="2147483907" r:id="rId3"/>
  </p:sldLayoutIdLst>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Effect transition="in" filter="fade">
                                      <p:cBhvr>
                                        <p:cTn id="7" dur="500"/>
                                        <p:tgtEl>
                                          <p:spTgt spid="1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6">
                                            <p:txEl>
                                              <p:pRg st="1" end="1"/>
                                            </p:txEl>
                                          </p:spTgt>
                                        </p:tgtEl>
                                        <p:attrNameLst>
                                          <p:attrName>style.visibility</p:attrName>
                                        </p:attrNameLst>
                                      </p:cBhvr>
                                      <p:to>
                                        <p:strVal val="visible"/>
                                      </p:to>
                                    </p:set>
                                    <p:animEffect transition="in" filter="fade">
                                      <p:cBhvr>
                                        <p:cTn id="12" dur="500"/>
                                        <p:tgtEl>
                                          <p:spTgt spid="10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6">
                                            <p:txEl>
                                              <p:pRg st="2" end="2"/>
                                            </p:txEl>
                                          </p:spTgt>
                                        </p:tgtEl>
                                        <p:attrNameLst>
                                          <p:attrName>style.visibility</p:attrName>
                                        </p:attrNameLst>
                                      </p:cBhvr>
                                      <p:to>
                                        <p:strVal val="visible"/>
                                      </p:to>
                                    </p:set>
                                    <p:animEffect transition="in" filter="fade">
                                      <p:cBhvr>
                                        <p:cTn id="17" dur="500"/>
                                        <p:tgtEl>
                                          <p:spTgt spid="10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6">
                                            <p:txEl>
                                              <p:pRg st="3" end="3"/>
                                            </p:txEl>
                                          </p:spTgt>
                                        </p:tgtEl>
                                        <p:attrNameLst>
                                          <p:attrName>style.visibility</p:attrName>
                                        </p:attrNameLst>
                                      </p:cBhvr>
                                      <p:to>
                                        <p:strVal val="visible"/>
                                      </p:to>
                                    </p:set>
                                    <p:animEffect transition="in" filter="fade">
                                      <p:cBhvr>
                                        <p:cTn id="22" dur="500"/>
                                        <p:tgtEl>
                                          <p:spTgt spid="10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6">
                                            <p:txEl>
                                              <p:pRg st="4" end="4"/>
                                            </p:txEl>
                                          </p:spTgt>
                                        </p:tgtEl>
                                        <p:attrNameLst>
                                          <p:attrName>style.visibility</p:attrName>
                                        </p:attrNameLst>
                                      </p:cBhvr>
                                      <p:to>
                                        <p:strVal val="visible"/>
                                      </p:to>
                                    </p:set>
                                    <p:animEffect transition="in" filter="fade">
                                      <p:cBhvr>
                                        <p:cTn id="27" dur="500"/>
                                        <p:tgtEl>
                                          <p:spTgt spid="10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p:tmplLst>
          <p:tmpl lvl="1">
            <p:tnLst>
              <p:par>
                <p:cTn presetID="10" presetClass="entr" presetSubtype="0" fill="hold" nodeType="with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Lst>
      </p:bldP>
    </p:bldLst>
  </p:timing>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838200"/>
          </a:xfrm>
          <a:prstGeom prst="rect">
            <a:avLst/>
          </a:prstGeom>
          <a:solidFill>
            <a:schemeClr val="accent5">
              <a:lumMod val="20000"/>
              <a:lumOff val="80000"/>
              <a:alpha val="44000"/>
            </a:schemeClr>
          </a:solid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0" y="838200"/>
            <a:ext cx="9144000" cy="0"/>
          </a:xfrm>
          <a:prstGeom prst="line">
            <a:avLst/>
          </a:prstGeom>
          <a:ln w="127000" cmpd="sng">
            <a:solidFill>
              <a:schemeClr val="tx2">
                <a:lumMod val="20000"/>
                <a:lumOff val="80000"/>
                <a:alpha val="71000"/>
              </a:schemeClr>
            </a:solidFill>
            <a:prstDash val="solid"/>
          </a:ln>
        </p:spPr>
        <p:style>
          <a:lnRef idx="1">
            <a:schemeClr val="accent5"/>
          </a:lnRef>
          <a:fillRef idx="0">
            <a:schemeClr val="accent5"/>
          </a:fillRef>
          <a:effectRef idx="0">
            <a:schemeClr val="accent5"/>
          </a:effectRef>
          <a:fontRef idx="minor">
            <a:schemeClr val="tx1"/>
          </a:fontRef>
        </p:style>
      </p:cxn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12" name="TextBox 11">
            <a:hlinkClick r:id="rId5"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5"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403352089"/>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r" defTabSz="914400" rtl="0" eaLnBrk="1" latinLnBrk="0" hangingPunct="1">
        <a:spcBef>
          <a:spcPct val="0"/>
        </a:spcBef>
        <a:buNone/>
        <a:defRPr sz="4400" b="1" kern="1200" spc="-200" baseline="0">
          <a:solidFill>
            <a:schemeClr val="accent6">
              <a:lumMod val="75000"/>
            </a:schemeClr>
          </a:solidFill>
          <a:latin typeface="Candara" pitchFamily="34" charset="0"/>
          <a:ea typeface="+mj-ea"/>
          <a:cs typeface="+mj-cs"/>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7543800" cy="1161633"/>
          </a:xfrm>
          <a:prstGeom prst="rightArrow">
            <a:avLst>
              <a:gd name="adj1" fmla="val 50000"/>
              <a:gd name="adj2" fmla="val 78749"/>
            </a:avLst>
          </a:prstGeom>
          <a:solidFill>
            <a:schemeClr val="accent1">
              <a:lumMod val="20000"/>
              <a:lumOff val="80000"/>
            </a:schemeClr>
          </a:solidFill>
          <a:ln>
            <a:noFill/>
          </a:ln>
        </p:spPr>
        <p:txBody>
          <a:bodyPr wrap="square">
            <a:spAutoFit/>
          </a:bodyPr>
          <a:lstStyle/>
          <a:p>
            <a:pPr>
              <a:defRPr/>
            </a:pPr>
            <a:r>
              <a:rPr lang="en-US" sz="3200" b="1" spc="60" dirty="0">
                <a:ln w="9000" cmpd="sng">
                  <a:noFill/>
                  <a:prstDash val="solid"/>
                </a:ln>
                <a:solidFill>
                  <a:srgbClr val="F79646">
                    <a:lumMod val="75000"/>
                  </a:srgbClr>
                </a:solidFill>
                <a:effectLst>
                  <a:outerShdw blurRad="38100" dist="38100" dir="2700000" algn="tl">
                    <a:srgbClr val="000000">
                      <a:alpha val="43137"/>
                    </a:srgbClr>
                  </a:outerShdw>
                  <a:reflection blurRad="12700" stA="28000" endPos="45000" dist="1000" dir="5400000" sy="-100000" algn="bl" rotWithShape="0"/>
                </a:effectLst>
                <a:latin typeface="Century Gothic" pitchFamily="34" charset="0"/>
                <a:cs typeface="Courier New" pitchFamily="49" charset="0"/>
              </a:rPr>
              <a:t>Active Learning: Practice</a:t>
            </a:r>
          </a:p>
        </p:txBody>
      </p:sp>
      <p:pic>
        <p:nvPicPr>
          <p:cNvPr id="12292" name="Picture 11" descr="Pencil_8160.JPG"/>
          <p:cNvPicPr>
            <a:picLocks noChangeAspect="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6895042" y="47416"/>
            <a:ext cx="224895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14" name="TextBox 13">
            <a:hlinkClick r:id="rId5"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5"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a:defRPr/>
            </a:pP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a:p>
            <a:pPr algn="ctr">
              <a:defRPr/>
            </a:pP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5"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000352747"/>
      </p:ext>
    </p:extLst>
  </p:cSld>
  <p:clrMap bg1="lt1" tx1="dk1" bg2="lt2" tx2="dk2" accent1="accent1" accent2="accent2" accent3="accent3" accent4="accent4" accent5="accent5" accent6="accent6" hlink="hlink" folHlink="folHlink"/>
  <p:sldLayoutIdLst>
    <p:sldLayoutId id="2147483913" r:id="rId1"/>
    <p:sldLayoutId id="2147483914"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26" name="Picture 2"/>
          <p:cNvPicPr>
            <a:picLocks noChangeAspect="1" noChangeArrowheads="1"/>
          </p:cNvPicPr>
          <p:nvPr/>
        </p:nvPicPr>
        <p:blipFill rotWithShape="1">
          <a:blip r:embed="rId3" cstate="screen">
            <a:extLst>
              <a:ext uri="{28A0092B-C50C-407E-A947-70E740481C1C}">
                <a14:useLocalDpi xmlns:a14="http://schemas.microsoft.com/office/drawing/2010/main" val="0"/>
              </a:ext>
            </a:extLst>
          </a:blip>
          <a:srcRect/>
          <a:stretch/>
        </p:blipFill>
        <p:spPr bwMode="auto">
          <a:xfrm>
            <a:off x="0" y="0"/>
            <a:ext cx="91440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11" name="TextBox 10">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4"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1274980531"/>
      </p:ext>
    </p:extLst>
  </p:cSld>
  <p:clrMap bg1="lt1" tx1="dk1" bg2="lt2" tx2="dk2" accent1="accent1" accent2="accent2" accent3="accent3" accent4="accent4" accent5="accent5" accent6="accent6" hlink="hlink" folHlink="folHlink"/>
  <p:sldLayoutIdLst>
    <p:sldLayoutId id="2147483916"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Tx/>
        <a:buNone/>
        <a:defRPr sz="36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slide" Target="slide11.xml"/><Relationship Id="rId7" Type="http://schemas.openxmlformats.org/officeDocument/2006/relationships/slide" Target="slide39.xml"/><Relationship Id="rId2" Type="http://schemas.openxmlformats.org/officeDocument/2006/relationships/slide" Target="slide5.xml"/><Relationship Id="rId1" Type="http://schemas.openxmlformats.org/officeDocument/2006/relationships/slideLayout" Target="../slideLayouts/slideLayout10.xml"/><Relationship Id="rId6" Type="http://schemas.openxmlformats.org/officeDocument/2006/relationships/slide" Target="slide32.xml"/><Relationship Id="rId11" Type="http://schemas.openxmlformats.org/officeDocument/2006/relationships/slide" Target="slide8.xml"/><Relationship Id="rId5" Type="http://schemas.openxmlformats.org/officeDocument/2006/relationships/slide" Target="slide27.xml"/><Relationship Id="rId10" Type="http://schemas.openxmlformats.org/officeDocument/2006/relationships/slide" Target="slide3.xml"/><Relationship Id="rId4" Type="http://schemas.openxmlformats.org/officeDocument/2006/relationships/slide" Target="slide13.xml"/><Relationship Id="rId9" Type="http://schemas.openxmlformats.org/officeDocument/2006/relationships/slide" Target="slide53.xml"/></Relationships>
</file>

<file path=ppt/slides/_rels/slide3.xml.rels><?xml version="1.0" encoding="UTF-8" standalone="yes"?>
<Relationships xmlns="http://schemas.openxmlformats.org/package/2006/relationships"><Relationship Id="rId3" Type="http://schemas.openxmlformats.org/officeDocument/2006/relationships/hyperlink" Target="http://www.youtube.com/watch?v=GTQnarzmTOc"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image" Target="../media/image31.jpe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slide" Target="slide3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 Target="slide41.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www.brillig.com/debt_clock/"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upload.wikimedia.org/wikipedia/commons/5/5b/LibertyBond-WinsorMcCay.jpg"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533400"/>
            <a:ext cx="7772400" cy="1470025"/>
          </a:xfrm>
        </p:spPr>
        <p:txBody>
          <a:bodyPr/>
          <a:lstStyle/>
          <a:p>
            <a:r>
              <a:rPr lang="en-US" sz="2800" dirty="0"/>
              <a:t>Economics 2220</a:t>
            </a:r>
            <a:br>
              <a:rPr lang="en-US" sz="2800" dirty="0"/>
            </a:br>
            <a:r>
              <a:rPr lang="en-US" dirty="0"/>
              <a:t>Principles Of Macroeconomics</a:t>
            </a:r>
          </a:p>
        </p:txBody>
      </p:sp>
      <p:sp>
        <p:nvSpPr>
          <p:cNvPr id="2051" name="Rectangle 3"/>
          <p:cNvSpPr>
            <a:spLocks noGrp="1" noChangeArrowheads="1"/>
          </p:cNvSpPr>
          <p:nvPr>
            <p:ph type="subTitle" idx="1"/>
          </p:nvPr>
        </p:nvSpPr>
        <p:spPr>
          <a:xfrm>
            <a:off x="1371600" y="1981200"/>
            <a:ext cx="6400800" cy="533400"/>
          </a:xfrm>
        </p:spPr>
        <p:txBody>
          <a:bodyPr/>
          <a:lstStyle/>
          <a:p>
            <a:r>
              <a:rPr lang="en-US" sz="2400" dirty="0"/>
              <a:t>Professor Zhigang Feng</a:t>
            </a:r>
          </a:p>
        </p:txBody>
      </p:sp>
      <p:sp>
        <p:nvSpPr>
          <p:cNvPr id="2052" name="Text Box 4"/>
          <p:cNvSpPr txBox="1">
            <a:spLocks noChangeArrowheads="1"/>
          </p:cNvSpPr>
          <p:nvPr/>
        </p:nvSpPr>
        <p:spPr bwMode="auto">
          <a:xfrm>
            <a:off x="3200400" y="3377624"/>
            <a:ext cx="3442855" cy="1169551"/>
          </a:xfrm>
          <a:prstGeom prst="rect">
            <a:avLst/>
          </a:prstGeom>
          <a:noFill/>
          <a:ln w="9525">
            <a:noFill/>
            <a:miter lim="800000"/>
            <a:headEnd/>
            <a:tailEnd/>
          </a:ln>
          <a:effectLst/>
        </p:spPr>
        <p:txBody>
          <a:bodyPr wrap="square">
            <a:spAutoFit/>
          </a:bodyPr>
          <a:lstStyle/>
          <a:p>
            <a:pPr marL="228600" indent="-228600">
              <a:spcBef>
                <a:spcPct val="50000"/>
              </a:spcBef>
            </a:pPr>
            <a:r>
              <a:rPr lang="en-US" sz="2800" u="sng" dirty="0"/>
              <a:t>Lecture 12: </a:t>
            </a:r>
          </a:p>
          <a:p>
            <a:pPr marL="228600" indent="-228600">
              <a:spcBef>
                <a:spcPct val="50000"/>
              </a:spcBef>
            </a:pPr>
            <a:r>
              <a:rPr lang="en-US" sz="2800" u="sng" dirty="0"/>
              <a:t>Fiscal Policy</a:t>
            </a:r>
          </a:p>
        </p:txBody>
      </p:sp>
    </p:spTree>
    <p:extLst>
      <p:ext uri="{BB962C8B-B14F-4D97-AF65-F5344CB8AC3E}">
        <p14:creationId xmlns:p14="http://schemas.microsoft.com/office/powerpoint/2010/main" val="2753265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295400"/>
            <a:ext cx="9144000" cy="4525963"/>
          </a:xfrm>
        </p:spPr>
        <p:txBody>
          <a:bodyPr/>
          <a:lstStyle/>
          <a:p>
            <a:pPr marL="688975" indent="-284163">
              <a:tabLst>
                <a:tab pos="566738" algn="l"/>
              </a:tabLst>
            </a:pPr>
            <a:r>
              <a:rPr lang="en-US" sz="2400" b="0" dirty="0"/>
              <a:t>What </a:t>
            </a:r>
            <a:r>
              <a:rPr lang="en-US" sz="2400" dirty="0">
                <a:hlinkClick r:id="rId2" action="ppaction://hlinksldjump"/>
              </a:rPr>
              <a:t>fiscal policy </a:t>
            </a:r>
            <a:r>
              <a:rPr lang="en-US" sz="2400" b="0" dirty="0"/>
              <a:t>is and why it is an important tool in managing economic fluctuations </a:t>
            </a:r>
          </a:p>
          <a:p>
            <a:pPr marL="688975" indent="-284163">
              <a:tabLst>
                <a:tab pos="566738" algn="l"/>
              </a:tabLst>
            </a:pPr>
            <a:r>
              <a:rPr lang="en-US" sz="2400" b="0" dirty="0"/>
              <a:t>Which policies constitute an </a:t>
            </a:r>
            <a:r>
              <a:rPr lang="en-US" sz="2400" dirty="0">
                <a:hlinkClick r:id="rId3" action="ppaction://hlinksldjump"/>
              </a:rPr>
              <a:t>expansionary fiscal policy </a:t>
            </a:r>
            <a:r>
              <a:rPr lang="en-US" sz="2400" b="0" dirty="0"/>
              <a:t>and which constitute a </a:t>
            </a:r>
            <a:r>
              <a:rPr lang="en-US" sz="2400" dirty="0">
                <a:hlinkClick r:id="rId4" action="ppaction://hlinksldjump"/>
              </a:rPr>
              <a:t>contractionary fiscal policy</a:t>
            </a:r>
            <a:endParaRPr lang="en-US" sz="2400" dirty="0"/>
          </a:p>
          <a:p>
            <a:pPr marL="688975" indent="-284163">
              <a:tabLst>
                <a:tab pos="566738" algn="l"/>
              </a:tabLst>
            </a:pPr>
            <a:r>
              <a:rPr lang="en-US" sz="2400" b="0" dirty="0"/>
              <a:t>Why fiscal policy has a </a:t>
            </a:r>
            <a:r>
              <a:rPr lang="en-US" sz="2400" dirty="0">
                <a:hlinkClick r:id="rId5" action="ppaction://hlinksldjump"/>
              </a:rPr>
              <a:t>multiplier effect </a:t>
            </a:r>
            <a:r>
              <a:rPr lang="en-US" sz="2400" b="0" dirty="0"/>
              <a:t>and how this effect is influenced by </a:t>
            </a:r>
            <a:r>
              <a:rPr lang="en-US" sz="2400" dirty="0">
                <a:hlinkClick r:id="rId6" action="ppaction://hlinksldjump"/>
              </a:rPr>
              <a:t>automatic stabilizers</a:t>
            </a:r>
            <a:endParaRPr lang="en-US" sz="2400" dirty="0"/>
          </a:p>
          <a:p>
            <a:pPr marL="688975" indent="-284163">
              <a:tabLst>
                <a:tab pos="566738" algn="l"/>
              </a:tabLst>
            </a:pPr>
            <a:r>
              <a:rPr lang="en-US" sz="2400" b="0" dirty="0"/>
              <a:t>Why governments calculate the </a:t>
            </a:r>
            <a:r>
              <a:rPr lang="en-US" sz="2400" dirty="0">
                <a:hlinkClick r:id="rId7" action="ppaction://hlinksldjump"/>
              </a:rPr>
              <a:t>cyclically adjusted budget balance</a:t>
            </a:r>
            <a:endParaRPr lang="en-US" sz="2400" dirty="0"/>
          </a:p>
          <a:p>
            <a:pPr marL="688975" indent="-284163">
              <a:tabLst>
                <a:tab pos="566738" algn="l"/>
              </a:tabLst>
            </a:pPr>
            <a:r>
              <a:rPr lang="en-US" sz="2400" b="0" dirty="0"/>
              <a:t>Why a large </a:t>
            </a:r>
            <a:r>
              <a:rPr lang="en-US" sz="2400" dirty="0">
                <a:hlinkClick r:id="rId8" action="ppaction://hlinksldjump"/>
              </a:rPr>
              <a:t>public debt </a:t>
            </a:r>
            <a:r>
              <a:rPr lang="en-US" sz="2400" b="0" dirty="0"/>
              <a:t>may be a cause for concern</a:t>
            </a:r>
          </a:p>
          <a:p>
            <a:pPr marL="688975" indent="-284163">
              <a:tabLst>
                <a:tab pos="566738" algn="l"/>
              </a:tabLst>
            </a:pPr>
            <a:r>
              <a:rPr lang="en-US" sz="2400" b="0" dirty="0"/>
              <a:t>Why </a:t>
            </a:r>
            <a:r>
              <a:rPr lang="en-US" sz="2400" dirty="0">
                <a:hlinkClick r:id="rId9" action="ppaction://hlinksldjump"/>
              </a:rPr>
              <a:t>implicit liabilities </a:t>
            </a:r>
            <a:r>
              <a:rPr lang="en-US" sz="2400" b="0" dirty="0"/>
              <a:t>of the government are also a cause for concern</a:t>
            </a:r>
            <a:endParaRPr lang="en-US" sz="2400" dirty="0"/>
          </a:p>
        </p:txBody>
      </p:sp>
      <p:sp>
        <p:nvSpPr>
          <p:cNvPr id="4" name="TextBox 3"/>
          <p:cNvSpPr txBox="1"/>
          <p:nvPr/>
        </p:nvSpPr>
        <p:spPr>
          <a:xfrm>
            <a:off x="8126413" y="6210300"/>
            <a:ext cx="635000" cy="460375"/>
          </a:xfrm>
          <a:prstGeom prst="rect">
            <a:avLst/>
          </a:prstGeom>
          <a:noFill/>
        </p:spPr>
        <p:txBody>
          <a:bodyPr>
            <a:spAutoFit/>
          </a:bodyPr>
          <a:lstStyle/>
          <a:p>
            <a:pPr fontAlgn="auto">
              <a:spcBef>
                <a:spcPts val="0"/>
              </a:spcBef>
              <a:spcAft>
                <a:spcPts val="0"/>
              </a:spcAft>
              <a:defRPr/>
            </a:pPr>
            <a:r>
              <a:rPr lang="en-US" sz="1200" b="1" dirty="0">
                <a:solidFill>
                  <a:schemeClr val="bg1"/>
                </a:solidFill>
                <a:effectLst>
                  <a:outerShdw blurRad="38100" dist="38100" dir="2700000" algn="tl">
                    <a:srgbClr val="000000">
                      <a:alpha val="43137"/>
                    </a:srgbClr>
                  </a:outerShdw>
                </a:effectLst>
                <a:latin typeface="+mn-lt"/>
                <a:cs typeface="+mn-cs"/>
                <a:hlinkClick r:id="rId10" action="ppaction://hlinksldjump"/>
              </a:rPr>
              <a:t>To Video</a:t>
            </a:r>
            <a:endParaRPr lang="en-US" sz="1200" b="1" dirty="0">
              <a:solidFill>
                <a:schemeClr val="bg1"/>
              </a:solidFill>
              <a:effectLst>
                <a:outerShdw blurRad="38100" dist="38100" dir="2700000" algn="tl">
                  <a:srgbClr val="000000">
                    <a:alpha val="43137"/>
                  </a:srgbClr>
                </a:outerShdw>
              </a:effectLst>
              <a:latin typeface="+mn-lt"/>
              <a:cs typeface="+mn-cs"/>
            </a:endParaRPr>
          </a:p>
        </p:txBody>
      </p:sp>
      <p:sp>
        <p:nvSpPr>
          <p:cNvPr id="5" name="Rectangle 4"/>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11" action="ppaction://hlinksldjump"/>
              </a:rPr>
              <a:t>To First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11"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1827071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8600" y="1295400"/>
            <a:ext cx="8762999" cy="1446550"/>
          </a:xfrm>
          <a:prstGeom prst="rect">
            <a:avLst/>
          </a:prstGeom>
        </p:spPr>
        <p:txBody>
          <a:bodyPr wrap="square">
            <a:spAutoFit/>
          </a:bodyPr>
          <a:lstStyle/>
          <a:p>
            <a:r>
              <a:rPr lang="en-US" sz="2200" b="1" dirty="0">
                <a:solidFill>
                  <a:prstClr val="black"/>
                </a:solidFill>
                <a:latin typeface="Century Gothic" pitchFamily="34" charset="0"/>
              </a:rPr>
              <a:t>They’re back! Keynes vs. Hayek:  the fight of the century, round 2.  Is fiscal policy stabilizing or destabilizing?  Has the Great Recession proved either man right? Click </a:t>
            </a:r>
            <a:r>
              <a:rPr lang="en-US" sz="2200" b="1" dirty="0">
                <a:solidFill>
                  <a:prstClr val="black"/>
                </a:solidFill>
                <a:latin typeface="Century Gothic" pitchFamily="34" charset="0"/>
                <a:hlinkClick r:id="rId3"/>
              </a:rPr>
              <a:t>here</a:t>
            </a:r>
            <a:r>
              <a:rPr lang="en-US" sz="2200" b="1" dirty="0">
                <a:solidFill>
                  <a:prstClr val="black"/>
                </a:solidFill>
                <a:latin typeface="Century Gothic" pitchFamily="34" charset="0"/>
              </a:rPr>
              <a:t> or below. (10:10 minutes)</a:t>
            </a:r>
          </a:p>
        </p:txBody>
      </p:sp>
      <p:sp>
        <p:nvSpPr>
          <p:cNvPr id="7" name="TextBox 6"/>
          <p:cNvSpPr txBox="1"/>
          <p:nvPr/>
        </p:nvSpPr>
        <p:spPr>
          <a:xfrm>
            <a:off x="7696200" y="6611778"/>
            <a:ext cx="1066800" cy="246221"/>
          </a:xfrm>
          <a:prstGeom prst="rect">
            <a:avLst/>
          </a:prstGeom>
          <a:noFill/>
        </p:spPr>
        <p:txBody>
          <a:bodyPr wrap="square" rtlCol="0">
            <a:spAutoFit/>
          </a:bodyPr>
          <a:lstStyle/>
          <a:p>
            <a:r>
              <a:rPr lang="en-US" sz="1000" cap="small" spc="400" dirty="0">
                <a:solidFill>
                  <a:prstClr val="black">
                    <a:lumMod val="50000"/>
                    <a:lumOff val="50000"/>
                  </a:prstClr>
                </a:solidFill>
                <a:latin typeface="Arial" pitchFamily="34" charset="0"/>
                <a:cs typeface="Arial" pitchFamily="34" charset="0"/>
              </a:rPr>
              <a:t>Back to </a:t>
            </a:r>
          </a:p>
        </p:txBody>
      </p:sp>
      <p:pic>
        <p:nvPicPr>
          <p:cNvPr id="8" name="Picture 3">
            <a:hlinkClick r:id="rId4" action="ppaction://hlinksldjump"/>
          </p:cNvPr>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8580242" y="6530679"/>
            <a:ext cx="487558" cy="32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0" name="Picture 2">
            <a:hlinkClick r:id="rId3"/>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50534" y="3048000"/>
            <a:ext cx="3664936" cy="2628900"/>
          </a:xfrm>
          <a:prstGeom prst="roundRect">
            <a:avLst>
              <a:gd name="adj" fmla="val 30194"/>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23047130"/>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creen Shot 2015-04-07 at 13.47.16.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52600"/>
            <a:ext cx="9150872" cy="4664613"/>
          </a:xfrm>
          <a:prstGeom prst="rect">
            <a:avLst/>
          </a:prstGeom>
        </p:spPr>
      </p:pic>
      <p:sp>
        <p:nvSpPr>
          <p:cNvPr id="2" name="Title 1"/>
          <p:cNvSpPr>
            <a:spLocks noGrp="1"/>
          </p:cNvSpPr>
          <p:nvPr>
            <p:ph type="title"/>
          </p:nvPr>
        </p:nvSpPr>
        <p:spPr/>
        <p:txBody>
          <a:bodyPr>
            <a:normAutofit/>
          </a:bodyPr>
          <a:lstStyle/>
          <a:p>
            <a:r>
              <a:rPr lang="en-US" sz="4000" spc="0" dirty="0"/>
              <a:t>FISCAL POLICY: THE BASICS</a:t>
            </a:r>
          </a:p>
        </p:txBody>
      </p:sp>
      <p:sp>
        <p:nvSpPr>
          <p:cNvPr id="3" name="Content Placeholder 2"/>
          <p:cNvSpPr>
            <a:spLocks noGrp="1"/>
          </p:cNvSpPr>
          <p:nvPr>
            <p:ph idx="1"/>
          </p:nvPr>
        </p:nvSpPr>
        <p:spPr>
          <a:xfrm>
            <a:off x="228600" y="762000"/>
            <a:ext cx="8839200" cy="4648200"/>
          </a:xfrm>
        </p:spPr>
        <p:txBody>
          <a:bodyPr>
            <a:normAutofit/>
          </a:bodyPr>
          <a:lstStyle/>
          <a:p>
            <a:r>
              <a:rPr lang="en-US" sz="2800" dirty="0"/>
              <a:t>Government spending and tax revenue for some high-income countries in 2013</a:t>
            </a:r>
            <a:endParaRPr lang="en-US" sz="2400" i="1" dirty="0">
              <a:solidFill>
                <a:schemeClr val="tx1">
                  <a:lumMod val="75000"/>
                  <a:lumOff val="25000"/>
                </a:schemeClr>
              </a:solidFill>
            </a:endParaRPr>
          </a:p>
        </p:txBody>
      </p:sp>
      <p:sp>
        <p:nvSpPr>
          <p:cNvPr id="5" name="Rectangle 4"/>
          <p:cNvSpPr/>
          <p:nvPr/>
        </p:nvSpPr>
        <p:spPr>
          <a:xfrm>
            <a:off x="685800" y="6096000"/>
            <a:ext cx="1196892" cy="261610"/>
          </a:xfrm>
          <a:prstGeom prst="rect">
            <a:avLst/>
          </a:prstGeom>
        </p:spPr>
        <p:txBody>
          <a:bodyPr wrap="none">
            <a:spAutoFit/>
          </a:bodyPr>
          <a:lstStyle/>
          <a:p>
            <a:r>
              <a:rPr lang="en-US" sz="1100" i="1" dirty="0">
                <a:solidFill>
                  <a:prstClr val="black">
                    <a:lumMod val="75000"/>
                    <a:lumOff val="25000"/>
                  </a:prstClr>
                </a:solidFill>
                <a:latin typeface="Century Gothic"/>
                <a:cs typeface="Century Gothic"/>
              </a:rPr>
              <a:t>Source: </a:t>
            </a:r>
            <a:r>
              <a:rPr lang="en-US" sz="1100" dirty="0">
                <a:solidFill>
                  <a:prstClr val="black">
                    <a:lumMod val="75000"/>
                    <a:lumOff val="25000"/>
                  </a:prstClr>
                </a:solidFill>
                <a:latin typeface="Century Gothic"/>
                <a:cs typeface="Century Gothic"/>
              </a:rPr>
              <a:t>OECD.</a:t>
            </a:r>
          </a:p>
        </p:txBody>
      </p:sp>
    </p:spTree>
    <p:extLst>
      <p:ext uri="{BB962C8B-B14F-4D97-AF65-F5344CB8AC3E}">
        <p14:creationId xmlns:p14="http://schemas.microsoft.com/office/powerpoint/2010/main" val="200230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spc="0" dirty="0"/>
              <a:t>FISCAL POLICY: THE BASICS</a:t>
            </a:r>
          </a:p>
        </p:txBody>
      </p:sp>
      <p:sp>
        <p:nvSpPr>
          <p:cNvPr id="3" name="Content Placeholder 2"/>
          <p:cNvSpPr>
            <a:spLocks noGrp="1"/>
          </p:cNvSpPr>
          <p:nvPr>
            <p:ph idx="1"/>
          </p:nvPr>
        </p:nvSpPr>
        <p:spPr>
          <a:xfrm>
            <a:off x="76200" y="990600"/>
            <a:ext cx="8991600" cy="5638800"/>
          </a:xfrm>
        </p:spPr>
        <p:txBody>
          <a:bodyPr>
            <a:normAutofit fontScale="92500" lnSpcReduction="10000"/>
          </a:bodyPr>
          <a:lstStyle/>
          <a:p>
            <a:pPr>
              <a:spcBef>
                <a:spcPts val="120"/>
              </a:spcBef>
              <a:spcAft>
                <a:spcPts val="1200"/>
              </a:spcAft>
            </a:pPr>
            <a:r>
              <a:rPr lang="en-US" dirty="0"/>
              <a:t>The government funds many programs through tax revenues</a:t>
            </a:r>
            <a:r>
              <a:rPr lang="en-US" b="0" dirty="0"/>
              <a:t>.</a:t>
            </a:r>
          </a:p>
          <a:p>
            <a:pPr>
              <a:spcBef>
                <a:spcPts val="120"/>
              </a:spcBef>
              <a:spcAft>
                <a:spcPts val="1200"/>
              </a:spcAft>
            </a:pPr>
            <a:r>
              <a:rPr lang="en-US" dirty="0">
                <a:solidFill>
                  <a:srgbClr val="0070C0"/>
                </a:solidFill>
              </a:rPr>
              <a:t>Some important terms: </a:t>
            </a:r>
          </a:p>
          <a:p>
            <a:pPr lvl="1">
              <a:spcBef>
                <a:spcPts val="120"/>
              </a:spcBef>
              <a:spcAft>
                <a:spcPts val="1200"/>
              </a:spcAft>
            </a:pPr>
            <a:r>
              <a:rPr lang="en-US" i="1" dirty="0">
                <a:solidFill>
                  <a:srgbClr val="990033"/>
                </a:solidFill>
              </a:rPr>
              <a:t>Government transfers: </a:t>
            </a:r>
            <a:r>
              <a:rPr lang="en-US" b="0" dirty="0"/>
              <a:t>payments by the government to households for which no good or service is provided in return.</a:t>
            </a:r>
          </a:p>
          <a:p>
            <a:pPr lvl="1">
              <a:spcBef>
                <a:spcPts val="120"/>
              </a:spcBef>
              <a:spcAft>
                <a:spcPts val="1200"/>
              </a:spcAft>
            </a:pPr>
            <a:r>
              <a:rPr lang="en-US" i="1" dirty="0">
                <a:solidFill>
                  <a:srgbClr val="990033"/>
                </a:solidFill>
              </a:rPr>
              <a:t>Social insurance programs: </a:t>
            </a:r>
            <a:r>
              <a:rPr lang="en-US" b="0" dirty="0"/>
              <a:t>government programs (transfer payments) intended to protect families against economic hardship.</a:t>
            </a:r>
          </a:p>
          <a:p>
            <a:pPr lvl="2">
              <a:spcBef>
                <a:spcPts val="120"/>
              </a:spcBef>
              <a:spcAft>
                <a:spcPts val="1200"/>
              </a:spcAft>
            </a:pPr>
            <a:r>
              <a:rPr lang="en-US" i="1" dirty="0">
                <a:solidFill>
                  <a:schemeClr val="tx1">
                    <a:lumMod val="75000"/>
                    <a:lumOff val="25000"/>
                  </a:schemeClr>
                </a:solidFill>
              </a:rPr>
              <a:t>Social Security</a:t>
            </a:r>
          </a:p>
          <a:p>
            <a:pPr lvl="2">
              <a:spcBef>
                <a:spcPts val="120"/>
              </a:spcBef>
              <a:spcAft>
                <a:spcPts val="1200"/>
              </a:spcAft>
            </a:pPr>
            <a:r>
              <a:rPr lang="en-US" i="1" dirty="0">
                <a:solidFill>
                  <a:schemeClr val="tx1">
                    <a:lumMod val="75000"/>
                    <a:lumOff val="25000"/>
                  </a:schemeClr>
                </a:solidFill>
              </a:rPr>
              <a:t>Medicare </a:t>
            </a:r>
          </a:p>
          <a:p>
            <a:pPr lvl="2">
              <a:spcBef>
                <a:spcPts val="120"/>
              </a:spcBef>
              <a:spcAft>
                <a:spcPts val="1200"/>
              </a:spcAft>
            </a:pPr>
            <a:r>
              <a:rPr lang="en-US" i="1" dirty="0">
                <a:solidFill>
                  <a:schemeClr val="tx1">
                    <a:lumMod val="75000"/>
                    <a:lumOff val="25000"/>
                  </a:schemeClr>
                </a:solidFill>
              </a:rPr>
              <a:t>Medicaid</a:t>
            </a:r>
          </a:p>
        </p:txBody>
      </p:sp>
    </p:spTree>
    <p:extLst>
      <p:ext uri="{BB962C8B-B14F-4D97-AF65-F5344CB8AC3E}">
        <p14:creationId xmlns:p14="http://schemas.microsoft.com/office/powerpoint/2010/main" val="339845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10200" y="6352401"/>
            <a:ext cx="2944720" cy="276999"/>
          </a:xfrm>
          <a:prstGeom prst="rect">
            <a:avLst/>
          </a:prstGeom>
        </p:spPr>
        <p:txBody>
          <a:bodyPr wrap="none">
            <a:spAutoFit/>
          </a:bodyPr>
          <a:lstStyle/>
          <a:p>
            <a:r>
              <a:rPr lang="en-US" sz="1200" i="1" dirty="0">
                <a:solidFill>
                  <a:prstClr val="black">
                    <a:lumMod val="65000"/>
                    <a:lumOff val="35000"/>
                  </a:prstClr>
                </a:solidFill>
                <a:latin typeface="Century Gothic"/>
                <a:cs typeface="Century Gothic"/>
              </a:rPr>
              <a:t>Source: Bureau of Economic Analysis</a:t>
            </a:r>
          </a:p>
        </p:txBody>
      </p:sp>
      <p:pic>
        <p:nvPicPr>
          <p:cNvPr id="1026" name="Picture 2" descr="Sources of US tax revenue by tax type 2024 update">
            <a:extLst>
              <a:ext uri="{FF2B5EF4-FFF2-40B4-BE49-F238E27FC236}">
                <a16:creationId xmlns:a16="http://schemas.microsoft.com/office/drawing/2014/main" id="{8A2E3ADE-AED4-B92A-7766-BBE8AA82EC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621"/>
            <a:ext cx="8573312" cy="6857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8458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38200"/>
          </a:xfrm>
        </p:spPr>
        <p:txBody>
          <a:bodyPr>
            <a:normAutofit fontScale="90000"/>
          </a:bodyPr>
          <a:lstStyle/>
          <a:p>
            <a:r>
              <a:rPr lang="en-US" spc="0" dirty="0"/>
              <a:t>GOVERNMENT SPENDING IN THE U.S., 20</a:t>
            </a:r>
            <a:r>
              <a:rPr lang="en-US" altLang="zh-CN" spc="0" dirty="0"/>
              <a:t>2</a:t>
            </a:r>
            <a:r>
              <a:rPr lang="en-US" spc="0" dirty="0"/>
              <a:t>3</a:t>
            </a:r>
          </a:p>
        </p:txBody>
      </p:sp>
      <p:sp>
        <p:nvSpPr>
          <p:cNvPr id="5" name="Rectangle 4"/>
          <p:cNvSpPr/>
          <p:nvPr/>
        </p:nvSpPr>
        <p:spPr>
          <a:xfrm>
            <a:off x="5410200" y="6352401"/>
            <a:ext cx="2944720" cy="276999"/>
          </a:xfrm>
          <a:prstGeom prst="rect">
            <a:avLst/>
          </a:prstGeom>
        </p:spPr>
        <p:txBody>
          <a:bodyPr wrap="none">
            <a:spAutoFit/>
          </a:bodyPr>
          <a:lstStyle/>
          <a:p>
            <a:r>
              <a:rPr lang="en-US" sz="1200" i="1" dirty="0">
                <a:solidFill>
                  <a:prstClr val="black">
                    <a:lumMod val="65000"/>
                    <a:lumOff val="35000"/>
                  </a:prstClr>
                </a:solidFill>
                <a:latin typeface="Century Gothic"/>
                <a:cs typeface="Century Gothic"/>
              </a:rPr>
              <a:t>Source: Bureau of Economic Analysis</a:t>
            </a:r>
          </a:p>
        </p:txBody>
      </p:sp>
      <p:pic>
        <p:nvPicPr>
          <p:cNvPr id="8" name="Picture 7" descr="A pie chart with numbers and text&#10;&#10;AI-generated content may be incorrect.">
            <a:extLst>
              <a:ext uri="{FF2B5EF4-FFF2-40B4-BE49-F238E27FC236}">
                <a16:creationId xmlns:a16="http://schemas.microsoft.com/office/drawing/2014/main" id="{CFE01B9D-A514-2310-D771-FE0588FA39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699227"/>
            <a:ext cx="6537325" cy="5402941"/>
          </a:xfrm>
          <a:prstGeom prst="rect">
            <a:avLst/>
          </a:prstGeom>
        </p:spPr>
      </p:pic>
    </p:spTree>
    <p:extLst>
      <p:ext uri="{BB962C8B-B14F-4D97-AF65-F5344CB8AC3E}">
        <p14:creationId xmlns:p14="http://schemas.microsoft.com/office/powerpoint/2010/main" val="2390362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800" dirty="0"/>
              <a:t>Government programs that are designed to protect individuals or families from economic hardship are described as:</a:t>
            </a:r>
          </a:p>
          <a:p>
            <a:pPr marL="514350" indent="-514350">
              <a:buFont typeface="+mj-lt"/>
              <a:buAutoNum type="alphaLcParenR"/>
            </a:pPr>
            <a:r>
              <a:rPr lang="en-US" sz="2800" dirty="0"/>
              <a:t>fiscal policy.</a:t>
            </a:r>
          </a:p>
          <a:p>
            <a:pPr marL="514350" indent="-514350">
              <a:buFont typeface="+mj-lt"/>
              <a:buAutoNum type="alphaLcParenR"/>
            </a:pPr>
            <a:r>
              <a:rPr lang="en-US" sz="2800" dirty="0"/>
              <a:t>discretionary fiscal policy.</a:t>
            </a:r>
          </a:p>
          <a:p>
            <a:pPr marL="514350" indent="-514350">
              <a:buFont typeface="+mj-lt"/>
              <a:buAutoNum type="alphaLcParenR"/>
            </a:pPr>
            <a:r>
              <a:rPr lang="en-US" sz="2800" dirty="0"/>
              <a:t>monetary policy.</a:t>
            </a:r>
          </a:p>
          <a:p>
            <a:pPr marL="514350" indent="-514350">
              <a:buFont typeface="+mj-lt"/>
              <a:buAutoNum type="alphaLcParenR"/>
            </a:pPr>
            <a:r>
              <a:rPr lang="en-US" sz="2800" dirty="0"/>
              <a:t>social insurance.</a:t>
            </a:r>
          </a:p>
        </p:txBody>
      </p:sp>
      <p:sp>
        <p:nvSpPr>
          <p:cNvPr id="5" name="Rectangle 4"/>
          <p:cNvSpPr/>
          <p:nvPr/>
        </p:nvSpPr>
        <p:spPr>
          <a:xfrm>
            <a:off x="83181" y="6307666"/>
            <a:ext cx="1057163" cy="369332"/>
          </a:xfrm>
          <a:prstGeom prst="rect">
            <a:avLst/>
          </a:prstGeom>
        </p:spPr>
        <p:txBody>
          <a:bodyPr wrap="none">
            <a:spAutoFit/>
          </a:bodyPr>
          <a:lstStyle/>
          <a:p>
            <a:pPr algn="ctr">
              <a:defRPr/>
            </a:pPr>
            <a:r>
              <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To Next </a:t>
            </a:r>
          </a:p>
          <a:p>
            <a:pPr algn="ctr">
              <a:defRPr/>
            </a:pPr>
            <a:r>
              <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Active Learning</a:t>
            </a: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253821893"/>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bg>
      <p:bgPr>
        <a:blipFill dpi="0" rotWithShape="1">
          <a:blip r:embed="rId3">
            <a:lum/>
          </a:blip>
          <a:srcRect/>
          <a:stretch>
            <a:fillRect t="13000" b="-13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spc="0" dirty="0"/>
              <a:t>THE GOVERNMENT BUDGET AND TOTAL SPENDING</a:t>
            </a:r>
          </a:p>
        </p:txBody>
      </p:sp>
      <p:sp>
        <p:nvSpPr>
          <p:cNvPr id="3" name="Content Placeholder 2"/>
          <p:cNvSpPr>
            <a:spLocks noGrp="1"/>
          </p:cNvSpPr>
          <p:nvPr>
            <p:ph idx="1"/>
          </p:nvPr>
        </p:nvSpPr>
        <p:spPr>
          <a:xfrm>
            <a:off x="0" y="1092941"/>
            <a:ext cx="9144000" cy="5257800"/>
          </a:xfrm>
          <a:solidFill>
            <a:schemeClr val="bg1">
              <a:alpha val="62000"/>
            </a:schemeClr>
          </a:solidFill>
        </p:spPr>
        <p:txBody>
          <a:bodyPr>
            <a:noAutofit/>
          </a:bodyPr>
          <a:lstStyle/>
          <a:p>
            <a:pPr algn="ctr"/>
            <a:r>
              <a:rPr lang="en-US" sz="4000" dirty="0">
                <a:solidFill>
                  <a:srgbClr val="990033"/>
                </a:solidFill>
              </a:rPr>
              <a:t>GDP = </a:t>
            </a:r>
            <a:r>
              <a:rPr lang="en-US" sz="4000" i="1" dirty="0">
                <a:solidFill>
                  <a:srgbClr val="990033"/>
                </a:solidFill>
              </a:rPr>
              <a:t>C </a:t>
            </a:r>
            <a:r>
              <a:rPr lang="en-US" sz="4000" dirty="0">
                <a:solidFill>
                  <a:srgbClr val="990033"/>
                </a:solidFill>
              </a:rPr>
              <a:t>+ </a:t>
            </a:r>
            <a:r>
              <a:rPr lang="en-US" sz="4000" i="1" dirty="0">
                <a:solidFill>
                  <a:srgbClr val="990033"/>
                </a:solidFill>
              </a:rPr>
              <a:t>I </a:t>
            </a:r>
            <a:r>
              <a:rPr lang="en-US" sz="4000" dirty="0">
                <a:solidFill>
                  <a:srgbClr val="990033"/>
                </a:solidFill>
              </a:rPr>
              <a:t>+ </a:t>
            </a:r>
            <a:r>
              <a:rPr lang="en-US" sz="4000" i="1" dirty="0">
                <a:solidFill>
                  <a:srgbClr val="990033"/>
                </a:solidFill>
              </a:rPr>
              <a:t>G </a:t>
            </a:r>
            <a:r>
              <a:rPr lang="en-US" sz="4000" dirty="0">
                <a:solidFill>
                  <a:srgbClr val="990033"/>
                </a:solidFill>
              </a:rPr>
              <a:t>+ </a:t>
            </a:r>
            <a:r>
              <a:rPr lang="en-US" sz="4000" i="1" dirty="0">
                <a:solidFill>
                  <a:srgbClr val="990033"/>
                </a:solidFill>
              </a:rPr>
              <a:t>X – IM</a:t>
            </a:r>
            <a:endParaRPr lang="en-US" sz="3600" b="0" i="1" dirty="0"/>
          </a:p>
          <a:p>
            <a:r>
              <a:rPr lang="en-US" sz="3600" dirty="0"/>
              <a:t>The government directly controls </a:t>
            </a:r>
            <a:r>
              <a:rPr lang="en-US" sz="3600" i="1" dirty="0">
                <a:solidFill>
                  <a:srgbClr val="990033"/>
                </a:solidFill>
              </a:rPr>
              <a:t>G</a:t>
            </a:r>
            <a:r>
              <a:rPr lang="en-US" sz="3600" dirty="0"/>
              <a:t> and indirectly affects </a:t>
            </a:r>
            <a:r>
              <a:rPr lang="en-US" sz="3600" i="1" dirty="0">
                <a:solidFill>
                  <a:srgbClr val="990033"/>
                </a:solidFill>
              </a:rPr>
              <a:t>C</a:t>
            </a:r>
            <a:r>
              <a:rPr lang="en-US" sz="3600" dirty="0"/>
              <a:t> and </a:t>
            </a:r>
            <a:r>
              <a:rPr lang="en-US" sz="3600" i="1" dirty="0">
                <a:solidFill>
                  <a:srgbClr val="990033"/>
                </a:solidFill>
              </a:rPr>
              <a:t>I</a:t>
            </a:r>
            <a:r>
              <a:rPr lang="en-US" sz="3600" dirty="0">
                <a:solidFill>
                  <a:srgbClr val="990033"/>
                </a:solidFill>
              </a:rPr>
              <a:t>.</a:t>
            </a:r>
          </a:p>
          <a:p>
            <a:r>
              <a:rPr lang="en-US" sz="3600" dirty="0"/>
              <a:t>How? </a:t>
            </a:r>
          </a:p>
          <a:p>
            <a:pPr lvl="1"/>
            <a:r>
              <a:rPr lang="en-US" sz="3200" i="1" dirty="0">
                <a:solidFill>
                  <a:schemeClr val="tx1">
                    <a:lumMod val="65000"/>
                    <a:lumOff val="35000"/>
                  </a:schemeClr>
                </a:solidFill>
              </a:rPr>
              <a:t>Household incomes are affected by taxes and transfers, and business investment is affected by taxes and regulations.</a:t>
            </a:r>
          </a:p>
          <a:p>
            <a:r>
              <a:rPr lang="en-US" sz="3600" dirty="0">
                <a:solidFill>
                  <a:srgbClr val="990033"/>
                </a:solidFill>
              </a:rPr>
              <a:t>So the government can shift the </a:t>
            </a:r>
            <a:r>
              <a:rPr lang="en-US" sz="3600" i="1" dirty="0">
                <a:solidFill>
                  <a:srgbClr val="990033"/>
                </a:solidFill>
              </a:rPr>
              <a:t>AD</a:t>
            </a:r>
            <a:r>
              <a:rPr lang="en-US" sz="3600" dirty="0">
                <a:solidFill>
                  <a:srgbClr val="990033"/>
                </a:solidFill>
              </a:rPr>
              <a:t> curve.</a:t>
            </a:r>
          </a:p>
        </p:txBody>
      </p:sp>
      <p:sp>
        <p:nvSpPr>
          <p:cNvPr id="5" name="Oval 4"/>
          <p:cNvSpPr/>
          <p:nvPr/>
        </p:nvSpPr>
        <p:spPr>
          <a:xfrm>
            <a:off x="4953000" y="1245341"/>
            <a:ext cx="457200" cy="457200"/>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6" name="Oval 5"/>
          <p:cNvSpPr/>
          <p:nvPr/>
        </p:nvSpPr>
        <p:spPr>
          <a:xfrm>
            <a:off x="3276600" y="1245341"/>
            <a:ext cx="457200" cy="457200"/>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7" name="Oval 6"/>
          <p:cNvSpPr/>
          <p:nvPr/>
        </p:nvSpPr>
        <p:spPr>
          <a:xfrm>
            <a:off x="4114800" y="1245341"/>
            <a:ext cx="457200" cy="457200"/>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Tree>
    <p:extLst>
      <p:ext uri="{BB962C8B-B14F-4D97-AF65-F5344CB8AC3E}">
        <p14:creationId xmlns:p14="http://schemas.microsoft.com/office/powerpoint/2010/main" val="1856107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500"/>
                                        <p:tgtEl>
                                          <p:spTgt spid="3">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animBg="1"/>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hangingPunct="1">
              <a:defRPr/>
            </a:pPr>
            <a:r>
              <a:rPr lang="en-US" sz="4000" spc="0" dirty="0"/>
              <a:t>FISCAL POLICY</a:t>
            </a:r>
          </a:p>
        </p:txBody>
      </p:sp>
      <p:sp>
        <p:nvSpPr>
          <p:cNvPr id="3" name="Content Placeholder 2"/>
          <p:cNvSpPr>
            <a:spLocks noGrp="1"/>
          </p:cNvSpPr>
          <p:nvPr>
            <p:ph idx="1"/>
          </p:nvPr>
        </p:nvSpPr>
        <p:spPr>
          <a:xfrm>
            <a:off x="152400" y="685800"/>
            <a:ext cx="8839200" cy="4648200"/>
          </a:xfrm>
        </p:spPr>
        <p:txBody>
          <a:bodyPr/>
          <a:lstStyle/>
          <a:p>
            <a:r>
              <a:rPr lang="en-US" i="1" dirty="0">
                <a:solidFill>
                  <a:srgbClr val="990033"/>
                </a:solidFill>
              </a:rPr>
              <a:t>Fiscal policy: </a:t>
            </a:r>
            <a:r>
              <a:rPr lang="en-US" b="0" dirty="0"/>
              <a:t>the use of taxes, government transfers, or government purchases of goods and services to shift the aggregate demand curve.</a:t>
            </a:r>
            <a:endParaRPr lang="en-US" dirty="0">
              <a:solidFill>
                <a:srgbClr val="0070C0"/>
              </a:solidFill>
            </a:endParaRPr>
          </a:p>
        </p:txBody>
      </p:sp>
      <p:sp>
        <p:nvSpPr>
          <p:cNvPr id="7" name="Oval Callout 6"/>
          <p:cNvSpPr/>
          <p:nvPr/>
        </p:nvSpPr>
        <p:spPr>
          <a:xfrm>
            <a:off x="56104" y="2875756"/>
            <a:ext cx="2209800" cy="1828800"/>
          </a:xfrm>
          <a:prstGeom prst="wedgeEllipseCallout">
            <a:avLst>
              <a:gd name="adj1" fmla="val 70546"/>
              <a:gd name="adj2" fmla="val 13531"/>
            </a:avLst>
          </a:prstGeom>
          <a:solidFill>
            <a:srgbClr val="FFFF99"/>
          </a:solidFill>
          <a:ln w="381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prstClr val="white"/>
              </a:solidFill>
              <a:latin typeface="Calibri"/>
            </a:endParaRPr>
          </a:p>
        </p:txBody>
      </p:sp>
      <p:sp>
        <p:nvSpPr>
          <p:cNvPr id="8" name="TextBox 7"/>
          <p:cNvSpPr txBox="1">
            <a:spLocks noChangeArrowheads="1"/>
          </p:cNvSpPr>
          <p:nvPr/>
        </p:nvSpPr>
        <p:spPr bwMode="auto">
          <a:xfrm>
            <a:off x="304800" y="3313112"/>
            <a:ext cx="1752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800" b="1" i="1" dirty="0">
                <a:solidFill>
                  <a:prstClr val="black"/>
                </a:solidFill>
                <a:latin typeface="Century Gothic" pitchFamily="34" charset="0"/>
              </a:rPr>
              <a:t>I tried a tax cut.</a:t>
            </a:r>
          </a:p>
        </p:txBody>
      </p:sp>
      <p:sp>
        <p:nvSpPr>
          <p:cNvPr id="9" name="Oval Callout 8"/>
          <p:cNvSpPr/>
          <p:nvPr/>
        </p:nvSpPr>
        <p:spPr>
          <a:xfrm>
            <a:off x="6657452" y="2649083"/>
            <a:ext cx="2438400" cy="2630488"/>
          </a:xfrm>
          <a:prstGeom prst="wedgeEllipseCallout">
            <a:avLst>
              <a:gd name="adj1" fmla="val -74243"/>
              <a:gd name="adj2" fmla="val 3531"/>
            </a:avLst>
          </a:prstGeom>
          <a:solidFill>
            <a:srgbClr val="FFFF99"/>
          </a:solidFill>
          <a:ln w="381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prstClr val="white"/>
              </a:solidFill>
              <a:latin typeface="Calibri"/>
            </a:endParaRPr>
          </a:p>
        </p:txBody>
      </p:sp>
      <p:sp>
        <p:nvSpPr>
          <p:cNvPr id="10" name="TextBox 9"/>
          <p:cNvSpPr txBox="1">
            <a:spLocks noChangeArrowheads="1"/>
          </p:cNvSpPr>
          <p:nvPr/>
        </p:nvSpPr>
        <p:spPr bwMode="auto">
          <a:xfrm>
            <a:off x="6934200" y="3400425"/>
            <a:ext cx="19812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400" b="1" i="1" dirty="0">
                <a:solidFill>
                  <a:prstClr val="black"/>
                </a:solidFill>
                <a:latin typeface="Century Gothic" pitchFamily="34" charset="0"/>
              </a:rPr>
              <a:t>Donald, I’m gonna go in a different direction.</a:t>
            </a:r>
          </a:p>
        </p:txBody>
      </p:sp>
      <p:pic>
        <p:nvPicPr>
          <p:cNvPr id="1026" name="Picture 2">
            <a:extLst>
              <a:ext uri="{FF2B5EF4-FFF2-40B4-BE49-F238E27FC236}">
                <a16:creationId xmlns:a16="http://schemas.microsoft.com/office/drawing/2014/main" id="{C41438DC-8280-4944-B1CF-5FE79332A8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973" y="3313112"/>
            <a:ext cx="3963810" cy="2229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37269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000"/>
                                        <p:tgtEl>
                                          <p:spTgt spid="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www.sxc.hu/pic/l/t/to/topfer/739322_51147528.jpg"/>
          <p:cNvPicPr>
            <a:picLocks noChangeAspect="1" noChangeArrowheads="1"/>
          </p:cNvPicPr>
          <p:nvPr/>
        </p:nvPicPr>
        <p:blipFill rotWithShape="1">
          <a:blip r:embed="rId3" cstate="screen">
            <a:extLst>
              <a:ext uri="{28A0092B-C50C-407E-A947-70E740481C1C}">
                <a14:useLocalDpi xmlns:a14="http://schemas.microsoft.com/office/drawing/2010/main" val="0"/>
              </a:ext>
            </a:extLst>
          </a:blip>
          <a:srcRect/>
          <a:stretch/>
        </p:blipFill>
        <p:spPr bwMode="auto">
          <a:xfrm>
            <a:off x="6256866" y="3925895"/>
            <a:ext cx="2201334" cy="293210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0" y="152400"/>
            <a:ext cx="9144000" cy="838200"/>
          </a:xfrm>
        </p:spPr>
        <p:txBody>
          <a:bodyPr>
            <a:noAutofit/>
          </a:bodyPr>
          <a:lstStyle/>
          <a:p>
            <a:r>
              <a:rPr lang="en-US" sz="4000" spc="0" dirty="0"/>
              <a:t>EXPANSIONARY AND CONTRACTIONARY FISCAL POLICY</a:t>
            </a:r>
          </a:p>
        </p:txBody>
      </p:sp>
      <p:sp>
        <p:nvSpPr>
          <p:cNvPr id="3" name="Content Placeholder 2"/>
          <p:cNvSpPr>
            <a:spLocks noGrp="1"/>
          </p:cNvSpPr>
          <p:nvPr>
            <p:ph idx="1"/>
          </p:nvPr>
        </p:nvSpPr>
        <p:spPr>
          <a:xfrm>
            <a:off x="228600" y="1295400"/>
            <a:ext cx="8839200" cy="4648200"/>
          </a:xfrm>
        </p:spPr>
        <p:txBody>
          <a:bodyPr/>
          <a:lstStyle/>
          <a:p>
            <a:r>
              <a:rPr lang="en-US" i="1" dirty="0">
                <a:solidFill>
                  <a:srgbClr val="990033"/>
                </a:solidFill>
              </a:rPr>
              <a:t>Expansionary fiscal policy: </a:t>
            </a:r>
            <a:r>
              <a:rPr lang="en-US" b="0" dirty="0"/>
              <a:t>fiscal policy that increases aggregate demand:</a:t>
            </a:r>
          </a:p>
          <a:p>
            <a:pPr marL="742950" lvl="1" indent="-285750">
              <a:buFont typeface="Arial"/>
              <a:buChar char="•"/>
            </a:pPr>
            <a:r>
              <a:rPr lang="en-US" i="1" dirty="0">
                <a:solidFill>
                  <a:schemeClr val="tx1">
                    <a:lumMod val="75000"/>
                    <a:lumOff val="25000"/>
                  </a:schemeClr>
                </a:solidFill>
              </a:rPr>
              <a:t>an increase in government purchases of goods and services</a:t>
            </a:r>
          </a:p>
          <a:p>
            <a:pPr marL="742950" lvl="1" indent="-285750">
              <a:buFont typeface="Arial"/>
              <a:buChar char="•"/>
            </a:pPr>
            <a:r>
              <a:rPr lang="en-US" i="1" dirty="0">
                <a:solidFill>
                  <a:schemeClr val="tx1">
                    <a:lumMod val="75000"/>
                    <a:lumOff val="25000"/>
                  </a:schemeClr>
                </a:solidFill>
              </a:rPr>
              <a:t>a cut in taxes</a:t>
            </a:r>
          </a:p>
          <a:p>
            <a:pPr marL="742950" lvl="1" indent="-285750">
              <a:buFont typeface="Arial"/>
              <a:buChar char="•"/>
            </a:pPr>
            <a:r>
              <a:rPr lang="en-US" i="1" dirty="0">
                <a:solidFill>
                  <a:schemeClr val="tx1">
                    <a:lumMod val="75000"/>
                    <a:lumOff val="25000"/>
                  </a:schemeClr>
                </a:solidFill>
              </a:rPr>
              <a:t>an increase in government transfers</a:t>
            </a:r>
          </a:p>
        </p:txBody>
      </p:sp>
      <p:sp>
        <p:nvSpPr>
          <p:cNvPr id="5" name="TextBox 4"/>
          <p:cNvSpPr txBox="1"/>
          <p:nvPr/>
        </p:nvSpPr>
        <p:spPr>
          <a:xfrm>
            <a:off x="3124200" y="5188803"/>
            <a:ext cx="3886200" cy="1569660"/>
          </a:xfrm>
          <a:prstGeom prst="rect">
            <a:avLst/>
          </a:prstGeom>
          <a:noFill/>
        </p:spPr>
        <p:txBody>
          <a:bodyPr wrap="square" rtlCol="0">
            <a:spAutoFit/>
          </a:bodyPr>
          <a:lstStyle/>
          <a:p>
            <a:r>
              <a:rPr lang="en-US" sz="2400" b="1" i="1" dirty="0">
                <a:solidFill>
                  <a:srgbClr val="0070C0"/>
                </a:solidFill>
                <a:latin typeface="Century Gothic"/>
                <a:cs typeface="Century Gothic"/>
              </a:rPr>
              <a:t>Expansionary fiscal policy: </a:t>
            </a:r>
          </a:p>
          <a:p>
            <a:r>
              <a:rPr lang="en-US" sz="2400" b="1" i="1" dirty="0">
                <a:solidFill>
                  <a:srgbClr val="0070C0"/>
                </a:solidFill>
                <a:latin typeface="Century Gothic"/>
                <a:cs typeface="Century Gothic"/>
              </a:rPr>
              <a:t>extra fuel for the economy</a:t>
            </a:r>
          </a:p>
        </p:txBody>
      </p:sp>
    </p:spTree>
    <p:extLst>
      <p:ext uri="{BB962C8B-B14F-4D97-AF65-F5344CB8AC3E}">
        <p14:creationId xmlns:p14="http://schemas.microsoft.com/office/powerpoint/2010/main" val="270572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59" name="Line 66"/>
          <p:cNvSpPr>
            <a:spLocks noChangeShapeType="1"/>
          </p:cNvSpPr>
          <p:nvPr/>
        </p:nvSpPr>
        <p:spPr bwMode="auto">
          <a:xfrm flipV="1">
            <a:off x="1466850" y="2474912"/>
            <a:ext cx="3725863" cy="2479675"/>
          </a:xfrm>
          <a:prstGeom prst="line">
            <a:avLst/>
          </a:prstGeom>
          <a:noFill/>
          <a:ln w="38100">
            <a:solidFill>
              <a:srgbClr val="EE313C"/>
            </a:solidFill>
            <a:miter lim="800000"/>
            <a:headEnd/>
            <a:tailEnd/>
          </a:ln>
          <a:extLst>
            <a:ext uri="{909E8E84-426E-40DD-AFC4-6F175D3DCCD1}">
              <a14:hiddenFill xmlns:a14="http://schemas.microsoft.com/office/drawing/2010/main">
                <a:noFill/>
              </a14:hiddenFill>
            </a:ext>
          </a:extLst>
        </p:spPr>
        <p:txBody>
          <a:bodyPr/>
          <a:lstStyle/>
          <a:p>
            <a:endParaRPr lang="en-US" dirty="0">
              <a:solidFill>
                <a:prstClr val="black"/>
              </a:solidFill>
              <a:latin typeface="Century Gothic"/>
              <a:cs typeface="Century Gothic"/>
            </a:endParaRPr>
          </a:p>
        </p:txBody>
      </p:sp>
      <p:sp>
        <p:nvSpPr>
          <p:cNvPr id="551957" name="Line 63"/>
          <p:cNvSpPr>
            <a:spLocks noChangeShapeType="1"/>
          </p:cNvSpPr>
          <p:nvPr/>
        </p:nvSpPr>
        <p:spPr bwMode="auto">
          <a:xfrm>
            <a:off x="3444347" y="2336800"/>
            <a:ext cx="1587" cy="3459162"/>
          </a:xfrm>
          <a:prstGeom prst="line">
            <a:avLst/>
          </a:prstGeom>
          <a:noFill/>
          <a:ln w="38100">
            <a:solidFill>
              <a:srgbClr val="F79448"/>
            </a:solidFill>
            <a:miter lim="800000"/>
            <a:headEnd/>
            <a:tailEnd/>
          </a:ln>
          <a:extLst>
            <a:ext uri="{909E8E84-426E-40DD-AFC4-6F175D3DCCD1}">
              <a14:hiddenFill xmlns:a14="http://schemas.microsoft.com/office/drawing/2010/main">
                <a:noFill/>
              </a14:hiddenFill>
            </a:ext>
          </a:extLst>
        </p:spPr>
        <p:txBody>
          <a:bodyPr/>
          <a:lstStyle/>
          <a:p>
            <a:endParaRPr lang="en-US" dirty="0">
              <a:solidFill>
                <a:prstClr val="black"/>
              </a:solidFill>
              <a:latin typeface="Century Gothic"/>
              <a:cs typeface="Century Gothic"/>
            </a:endParaRPr>
          </a:p>
        </p:txBody>
      </p:sp>
      <p:sp>
        <p:nvSpPr>
          <p:cNvPr id="551938" name="Line 65"/>
          <p:cNvSpPr>
            <a:spLocks noChangeShapeType="1"/>
          </p:cNvSpPr>
          <p:nvPr/>
        </p:nvSpPr>
        <p:spPr bwMode="auto">
          <a:xfrm flipH="1" flipV="1">
            <a:off x="2153178" y="2336958"/>
            <a:ext cx="2530475" cy="2566988"/>
          </a:xfrm>
          <a:prstGeom prst="line">
            <a:avLst/>
          </a:prstGeom>
          <a:noFill/>
          <a:ln w="38100">
            <a:solidFill>
              <a:srgbClr val="3C5DAA"/>
            </a:solidFill>
            <a:miter lim="800000"/>
            <a:headEnd/>
            <a:tailEnd/>
          </a:ln>
          <a:extLst>
            <a:ext uri="{909E8E84-426E-40DD-AFC4-6F175D3DCCD1}">
              <a14:hiddenFill xmlns:a14="http://schemas.microsoft.com/office/drawing/2010/main">
                <a:noFill/>
              </a14:hiddenFill>
            </a:ext>
          </a:extLst>
        </p:spPr>
        <p:txBody>
          <a:bodyPr/>
          <a:lstStyle/>
          <a:p>
            <a:endParaRPr lang="en-US" dirty="0">
              <a:solidFill>
                <a:prstClr val="black"/>
              </a:solidFill>
              <a:latin typeface="Century Gothic"/>
              <a:cs typeface="Century Gothic"/>
            </a:endParaRPr>
          </a:p>
        </p:txBody>
      </p:sp>
      <p:sp>
        <p:nvSpPr>
          <p:cNvPr id="551941" name="Line 5"/>
          <p:cNvSpPr>
            <a:spLocks noChangeShapeType="1"/>
          </p:cNvSpPr>
          <p:nvPr/>
        </p:nvSpPr>
        <p:spPr bwMode="auto">
          <a:xfrm flipH="1">
            <a:off x="623888" y="3624262"/>
            <a:ext cx="2770187" cy="158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solidFill>
                <a:prstClr val="black"/>
              </a:solidFill>
              <a:latin typeface="Century Gothic"/>
              <a:cs typeface="Century Gothic"/>
            </a:endParaRPr>
          </a:p>
        </p:txBody>
      </p:sp>
      <p:sp>
        <p:nvSpPr>
          <p:cNvPr id="551942" name="Rectangle 7"/>
          <p:cNvSpPr>
            <a:spLocks noChangeArrowheads="1"/>
          </p:cNvSpPr>
          <p:nvPr/>
        </p:nvSpPr>
        <p:spPr bwMode="auto">
          <a:xfrm>
            <a:off x="3354388" y="5815012"/>
            <a:ext cx="23091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Y</a:t>
            </a:r>
            <a:r>
              <a:rPr lang="en-US" sz="1600" baseline="-25000" dirty="0">
                <a:solidFill>
                  <a:srgbClr val="000000"/>
                </a:solidFill>
                <a:latin typeface="Century Gothic"/>
                <a:ea typeface="ＭＳ Ｐゴシック" pitchFamily="34" charset="-128"/>
                <a:cs typeface="Century Gothic"/>
              </a:rPr>
              <a:t>P</a:t>
            </a:r>
            <a:endParaRPr lang="en-US" sz="1600" i="1" dirty="0">
              <a:solidFill>
                <a:prstClr val="black"/>
              </a:solidFill>
              <a:latin typeface="Century Gothic"/>
              <a:ea typeface="ＭＳ Ｐゴシック" pitchFamily="34" charset="-128"/>
              <a:cs typeface="Century Gothic"/>
            </a:endParaRPr>
          </a:p>
        </p:txBody>
      </p:sp>
      <p:sp>
        <p:nvSpPr>
          <p:cNvPr id="551944" name="Rectangle 13"/>
          <p:cNvSpPr>
            <a:spLocks noChangeArrowheads="1"/>
          </p:cNvSpPr>
          <p:nvPr/>
        </p:nvSpPr>
        <p:spPr bwMode="auto">
          <a:xfrm>
            <a:off x="328613" y="3467100"/>
            <a:ext cx="2257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P</a:t>
            </a:r>
            <a:r>
              <a:rPr lang="en-US" sz="1600" baseline="-25000" dirty="0">
                <a:solidFill>
                  <a:srgbClr val="000000"/>
                </a:solidFill>
                <a:latin typeface="Century Gothic"/>
                <a:ea typeface="ＭＳ Ｐゴシック" pitchFamily="34" charset="-128"/>
                <a:cs typeface="Century Gothic"/>
              </a:rPr>
              <a:t>2</a:t>
            </a:r>
            <a:endParaRPr lang="en-US" sz="1600" i="1" dirty="0">
              <a:solidFill>
                <a:prstClr val="black"/>
              </a:solidFill>
              <a:latin typeface="Century Gothic"/>
              <a:ea typeface="ＭＳ Ｐゴシック" pitchFamily="34" charset="-128"/>
              <a:cs typeface="Century Gothic"/>
            </a:endParaRPr>
          </a:p>
        </p:txBody>
      </p:sp>
      <p:sp>
        <p:nvSpPr>
          <p:cNvPr id="551945" name="Rectangle 31"/>
          <p:cNvSpPr>
            <a:spLocks noChangeArrowheads="1"/>
          </p:cNvSpPr>
          <p:nvPr/>
        </p:nvSpPr>
        <p:spPr bwMode="auto">
          <a:xfrm>
            <a:off x="3605213" y="3521075"/>
            <a:ext cx="21435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E</a:t>
            </a:r>
            <a:r>
              <a:rPr lang="en-US" sz="1600" baseline="-25000" dirty="0">
                <a:solidFill>
                  <a:srgbClr val="000000"/>
                </a:solidFill>
                <a:latin typeface="Century Gothic"/>
                <a:ea typeface="ＭＳ Ｐゴシック" pitchFamily="34" charset="-128"/>
                <a:cs typeface="Century Gothic"/>
              </a:rPr>
              <a:t>2</a:t>
            </a:r>
            <a:endParaRPr lang="en-US" sz="1600" i="1" dirty="0">
              <a:solidFill>
                <a:prstClr val="black"/>
              </a:solidFill>
              <a:latin typeface="Century Gothic"/>
              <a:ea typeface="ＭＳ Ｐゴシック" pitchFamily="34" charset="-128"/>
              <a:cs typeface="Century Gothic"/>
            </a:endParaRPr>
          </a:p>
        </p:txBody>
      </p:sp>
      <p:sp>
        <p:nvSpPr>
          <p:cNvPr id="551948" name="Rectangle 41"/>
          <p:cNvSpPr>
            <a:spLocks noChangeArrowheads="1"/>
          </p:cNvSpPr>
          <p:nvPr/>
        </p:nvSpPr>
        <p:spPr bwMode="auto">
          <a:xfrm>
            <a:off x="4967288" y="2209800"/>
            <a:ext cx="58504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SRAS</a:t>
            </a:r>
            <a:r>
              <a:rPr lang="en-US" sz="1600" baseline="-25000" dirty="0">
                <a:solidFill>
                  <a:srgbClr val="000000"/>
                </a:solidFill>
                <a:latin typeface="Century Gothic"/>
                <a:ea typeface="ＭＳ Ｐゴシック" pitchFamily="34" charset="-128"/>
                <a:cs typeface="Century Gothic"/>
              </a:rPr>
              <a:t>1</a:t>
            </a:r>
            <a:endParaRPr lang="en-US" sz="1600" i="1" dirty="0">
              <a:solidFill>
                <a:prstClr val="black"/>
              </a:solidFill>
              <a:latin typeface="Century Gothic"/>
              <a:ea typeface="ＭＳ Ｐゴシック" pitchFamily="34" charset="-128"/>
              <a:cs typeface="Century Gothic"/>
            </a:endParaRPr>
          </a:p>
        </p:txBody>
      </p:sp>
      <p:sp>
        <p:nvSpPr>
          <p:cNvPr id="551952" name="Rectangle 49"/>
          <p:cNvSpPr>
            <a:spLocks noChangeArrowheads="1"/>
          </p:cNvSpPr>
          <p:nvPr/>
        </p:nvSpPr>
        <p:spPr bwMode="auto">
          <a:xfrm>
            <a:off x="3217863" y="2057400"/>
            <a:ext cx="50752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LRAS</a:t>
            </a:r>
            <a:endParaRPr lang="en-US" sz="1600" i="1" dirty="0">
              <a:solidFill>
                <a:prstClr val="black"/>
              </a:solidFill>
              <a:latin typeface="Century Gothic"/>
              <a:ea typeface="ＭＳ Ｐゴシック" pitchFamily="34" charset="-128"/>
              <a:cs typeface="Century Gothic"/>
            </a:endParaRPr>
          </a:p>
        </p:txBody>
      </p:sp>
      <p:sp>
        <p:nvSpPr>
          <p:cNvPr id="551955" name="Rectangle 52"/>
          <p:cNvSpPr>
            <a:spLocks noChangeArrowheads="1"/>
          </p:cNvSpPr>
          <p:nvPr/>
        </p:nvSpPr>
        <p:spPr bwMode="auto">
          <a:xfrm>
            <a:off x="4724400" y="4899025"/>
            <a:ext cx="41136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AD</a:t>
            </a:r>
            <a:r>
              <a:rPr lang="en-US" sz="1600" baseline="-25000" dirty="0">
                <a:solidFill>
                  <a:srgbClr val="000000"/>
                </a:solidFill>
                <a:latin typeface="Century Gothic"/>
                <a:ea typeface="ＭＳ Ｐゴシック" pitchFamily="34" charset="-128"/>
                <a:cs typeface="Century Gothic"/>
              </a:rPr>
              <a:t>2</a:t>
            </a:r>
            <a:endParaRPr lang="en-US" sz="1600" i="1" dirty="0">
              <a:solidFill>
                <a:prstClr val="black"/>
              </a:solidFill>
              <a:latin typeface="Century Gothic"/>
              <a:ea typeface="ＭＳ Ｐゴシック" pitchFamily="34" charset="-128"/>
              <a:cs typeface="Century Gothic"/>
            </a:endParaRPr>
          </a:p>
        </p:txBody>
      </p:sp>
      <p:sp>
        <p:nvSpPr>
          <p:cNvPr id="551958" name="Line 64"/>
          <p:cNvSpPr>
            <a:spLocks noChangeShapeType="1"/>
          </p:cNvSpPr>
          <p:nvPr/>
        </p:nvSpPr>
        <p:spPr bwMode="auto">
          <a:xfrm flipH="1" flipV="1">
            <a:off x="1354138" y="2718593"/>
            <a:ext cx="2532062" cy="2566988"/>
          </a:xfrm>
          <a:prstGeom prst="line">
            <a:avLst/>
          </a:prstGeom>
          <a:noFill/>
          <a:ln w="38100">
            <a:solidFill>
              <a:srgbClr val="AEC5E7"/>
            </a:solidFill>
            <a:miter lim="800000"/>
            <a:headEnd/>
            <a:tailEnd/>
          </a:ln>
          <a:extLst>
            <a:ext uri="{909E8E84-426E-40DD-AFC4-6F175D3DCCD1}">
              <a14:hiddenFill xmlns:a14="http://schemas.microsoft.com/office/drawing/2010/main">
                <a:noFill/>
              </a14:hiddenFill>
            </a:ext>
          </a:extLst>
        </p:spPr>
        <p:txBody>
          <a:bodyPr/>
          <a:lstStyle/>
          <a:p>
            <a:endParaRPr lang="en-US" dirty="0">
              <a:solidFill>
                <a:prstClr val="black"/>
              </a:solidFill>
              <a:latin typeface="Century Gothic"/>
              <a:cs typeface="Century Gothic"/>
            </a:endParaRPr>
          </a:p>
        </p:txBody>
      </p:sp>
      <p:sp>
        <p:nvSpPr>
          <p:cNvPr id="551960" name="Oval 68"/>
          <p:cNvSpPr>
            <a:spLocks noChangeArrowheads="1"/>
          </p:cNvSpPr>
          <p:nvPr/>
        </p:nvSpPr>
        <p:spPr bwMode="auto">
          <a:xfrm>
            <a:off x="3397250" y="3575050"/>
            <a:ext cx="106363" cy="11271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pPr>
            <a:endParaRPr lang="en-US" sz="1600" dirty="0">
              <a:solidFill>
                <a:prstClr val="black"/>
              </a:solidFill>
              <a:latin typeface="Century Gothic"/>
              <a:ea typeface="ＭＳ Ｐゴシック" pitchFamily="34" charset="-128"/>
              <a:cs typeface="Century Gothic"/>
            </a:endParaRPr>
          </a:p>
        </p:txBody>
      </p:sp>
      <p:sp>
        <p:nvSpPr>
          <p:cNvPr id="551962" name="Freeform 76"/>
          <p:cNvSpPr>
            <a:spLocks/>
          </p:cNvSpPr>
          <p:nvPr/>
        </p:nvSpPr>
        <p:spPr bwMode="auto">
          <a:xfrm>
            <a:off x="609600" y="1981200"/>
            <a:ext cx="5226050" cy="3810000"/>
          </a:xfrm>
          <a:custGeom>
            <a:avLst/>
            <a:gdLst>
              <a:gd name="T0" fmla="*/ 6838066 w 3031"/>
              <a:gd name="T1" fmla="*/ 4853066 h 2072"/>
              <a:gd name="T2" fmla="*/ 0 w 3031"/>
              <a:gd name="T3" fmla="*/ 4853066 h 2072"/>
              <a:gd name="T4" fmla="*/ 0 w 3031"/>
              <a:gd name="T5" fmla="*/ 0 h 2072"/>
              <a:gd name="T6" fmla="*/ 0 60000 65536"/>
              <a:gd name="T7" fmla="*/ 0 60000 65536"/>
              <a:gd name="T8" fmla="*/ 0 60000 65536"/>
              <a:gd name="T9" fmla="*/ 0 w 3031"/>
              <a:gd name="T10" fmla="*/ 0 h 2072"/>
              <a:gd name="T11" fmla="*/ 3031 w 3031"/>
              <a:gd name="T12" fmla="*/ 2072 h 2072"/>
            </a:gdLst>
            <a:ahLst/>
            <a:cxnLst>
              <a:cxn ang="T6">
                <a:pos x="T0" y="T1"/>
              </a:cxn>
              <a:cxn ang="T7">
                <a:pos x="T2" y="T3"/>
              </a:cxn>
              <a:cxn ang="T8">
                <a:pos x="T4" y="T5"/>
              </a:cxn>
            </a:cxnLst>
            <a:rect l="T9" t="T10" r="T11" b="T12"/>
            <a:pathLst>
              <a:path w="3031" h="2072">
                <a:moveTo>
                  <a:pt x="3031" y="2072"/>
                </a:moveTo>
                <a:lnTo>
                  <a:pt x="0" y="2072"/>
                </a:lnTo>
                <a:lnTo>
                  <a:pt x="0" y="0"/>
                </a:lnTo>
              </a:path>
            </a:pathLst>
          </a:custGeom>
          <a:noFill/>
          <a:ln w="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spcBef>
                <a:spcPct val="0"/>
              </a:spcBef>
            </a:pPr>
            <a:endParaRPr lang="en-US" sz="1400" dirty="0">
              <a:solidFill>
                <a:prstClr val="black"/>
              </a:solidFill>
              <a:latin typeface="Century Gothic"/>
              <a:ea typeface="ＭＳ Ｐゴシック" pitchFamily="34" charset="-128"/>
              <a:cs typeface="Century Gothic"/>
            </a:endParaRPr>
          </a:p>
        </p:txBody>
      </p:sp>
      <p:sp>
        <p:nvSpPr>
          <p:cNvPr id="551964" name="Line 186"/>
          <p:cNvSpPr>
            <a:spLocks noChangeShapeType="1"/>
          </p:cNvSpPr>
          <p:nvPr/>
        </p:nvSpPr>
        <p:spPr bwMode="auto">
          <a:xfrm>
            <a:off x="3429000" y="5815011"/>
            <a:ext cx="736873" cy="340597"/>
          </a:xfrm>
          <a:prstGeom prst="line">
            <a:avLst/>
          </a:prstGeom>
          <a:noFill/>
          <a:ln w="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solidFill>
                <a:prstClr val="black"/>
              </a:solidFill>
              <a:latin typeface="Century Gothic"/>
              <a:cs typeface="Century Gothic"/>
            </a:endParaRPr>
          </a:p>
        </p:txBody>
      </p:sp>
      <p:sp>
        <p:nvSpPr>
          <p:cNvPr id="551965" name="Freeform 187"/>
          <p:cNvSpPr>
            <a:spLocks/>
          </p:cNvSpPr>
          <p:nvPr/>
        </p:nvSpPr>
        <p:spPr bwMode="auto">
          <a:xfrm>
            <a:off x="4133319" y="5867400"/>
            <a:ext cx="990600" cy="609600"/>
          </a:xfrm>
          <a:custGeom>
            <a:avLst/>
            <a:gdLst>
              <a:gd name="T0" fmla="*/ 825712 w 155"/>
              <a:gd name="T1" fmla="*/ 436154 h 98"/>
              <a:gd name="T2" fmla="*/ 735150 w 155"/>
              <a:gd name="T3" fmla="*/ 541052 h 98"/>
              <a:gd name="T4" fmla="*/ 90562 w 155"/>
              <a:gd name="T5" fmla="*/ 541052 h 98"/>
              <a:gd name="T6" fmla="*/ 0 w 155"/>
              <a:gd name="T7" fmla="*/ 436154 h 98"/>
              <a:gd name="T8" fmla="*/ 0 w 155"/>
              <a:gd name="T9" fmla="*/ 104898 h 98"/>
              <a:gd name="T10" fmla="*/ 90562 w 155"/>
              <a:gd name="T11" fmla="*/ 0 h 98"/>
              <a:gd name="T12" fmla="*/ 735150 w 155"/>
              <a:gd name="T13" fmla="*/ 0 h 98"/>
              <a:gd name="T14" fmla="*/ 825712 w 155"/>
              <a:gd name="T15" fmla="*/ 104898 h 98"/>
              <a:gd name="T16" fmla="*/ 825712 w 155"/>
              <a:gd name="T17" fmla="*/ 436154 h 9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5"/>
              <a:gd name="T28" fmla="*/ 0 h 98"/>
              <a:gd name="T29" fmla="*/ 155 w 155"/>
              <a:gd name="T30" fmla="*/ 98 h 9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5" h="98">
                <a:moveTo>
                  <a:pt x="155" y="79"/>
                </a:moveTo>
                <a:cubicBezTo>
                  <a:pt x="155" y="89"/>
                  <a:pt x="147" y="98"/>
                  <a:pt x="138" y="98"/>
                </a:cubicBezTo>
                <a:cubicBezTo>
                  <a:pt x="17" y="98"/>
                  <a:pt x="17" y="98"/>
                  <a:pt x="17" y="98"/>
                </a:cubicBezTo>
                <a:cubicBezTo>
                  <a:pt x="7" y="98"/>
                  <a:pt x="0" y="89"/>
                  <a:pt x="0" y="79"/>
                </a:cubicBezTo>
                <a:cubicBezTo>
                  <a:pt x="0" y="19"/>
                  <a:pt x="0" y="19"/>
                  <a:pt x="0" y="19"/>
                </a:cubicBezTo>
                <a:cubicBezTo>
                  <a:pt x="0" y="8"/>
                  <a:pt x="7" y="0"/>
                  <a:pt x="17" y="0"/>
                </a:cubicBezTo>
                <a:cubicBezTo>
                  <a:pt x="138" y="0"/>
                  <a:pt x="138" y="0"/>
                  <a:pt x="138" y="0"/>
                </a:cubicBezTo>
                <a:cubicBezTo>
                  <a:pt x="147" y="0"/>
                  <a:pt x="155" y="8"/>
                  <a:pt x="155" y="19"/>
                </a:cubicBezTo>
                <a:lnTo>
                  <a:pt x="155" y="79"/>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pPr>
            <a:endParaRPr lang="en-US" sz="1600" dirty="0">
              <a:solidFill>
                <a:prstClr val="black"/>
              </a:solidFill>
              <a:latin typeface="Century Gothic"/>
              <a:ea typeface="ＭＳ Ｐゴシック" pitchFamily="34" charset="-128"/>
              <a:cs typeface="Century Gothic"/>
            </a:endParaRPr>
          </a:p>
        </p:txBody>
      </p:sp>
      <p:sp>
        <p:nvSpPr>
          <p:cNvPr id="551966" name="Rectangle 30"/>
          <p:cNvSpPr>
            <a:spLocks noChangeArrowheads="1"/>
          </p:cNvSpPr>
          <p:nvPr/>
        </p:nvSpPr>
        <p:spPr bwMode="auto">
          <a:xfrm>
            <a:off x="5257800" y="5805488"/>
            <a:ext cx="1447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b="1" dirty="0">
                <a:solidFill>
                  <a:prstClr val="black"/>
                </a:solidFill>
                <a:latin typeface="Century Gothic"/>
                <a:ea typeface="ＭＳ Ｐゴシック" pitchFamily="34" charset="-128"/>
                <a:cs typeface="Century Gothic"/>
              </a:rPr>
              <a:t>Real GDP</a:t>
            </a:r>
          </a:p>
        </p:txBody>
      </p:sp>
      <p:sp>
        <p:nvSpPr>
          <p:cNvPr id="551967" name="Rectangle 31"/>
          <p:cNvSpPr>
            <a:spLocks noChangeArrowheads="1"/>
          </p:cNvSpPr>
          <p:nvPr/>
        </p:nvSpPr>
        <p:spPr bwMode="auto">
          <a:xfrm>
            <a:off x="76200" y="1331912"/>
            <a:ext cx="152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b="1" dirty="0">
                <a:solidFill>
                  <a:prstClr val="black"/>
                </a:solidFill>
                <a:latin typeface="Century Gothic"/>
                <a:ea typeface="ＭＳ Ｐゴシック" pitchFamily="34" charset="-128"/>
                <a:cs typeface="Century Gothic"/>
              </a:rPr>
              <a:t>Aggregate price level</a:t>
            </a:r>
          </a:p>
        </p:txBody>
      </p:sp>
      <p:sp>
        <p:nvSpPr>
          <p:cNvPr id="551968" name="Rectangle 32"/>
          <p:cNvSpPr>
            <a:spLocks noChangeArrowheads="1"/>
          </p:cNvSpPr>
          <p:nvPr/>
        </p:nvSpPr>
        <p:spPr bwMode="auto">
          <a:xfrm>
            <a:off x="4133319" y="5867400"/>
            <a:ext cx="12192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sz="1600" i="1" dirty="0">
                <a:solidFill>
                  <a:prstClr val="black"/>
                </a:solidFill>
                <a:latin typeface="Century Gothic"/>
                <a:ea typeface="ＭＳ Ｐゴシック" pitchFamily="34" charset="-128"/>
                <a:cs typeface="Century Gothic"/>
              </a:rPr>
              <a:t>Potential</a:t>
            </a:r>
          </a:p>
          <a:p>
            <a:pPr>
              <a:spcBef>
                <a:spcPct val="0"/>
              </a:spcBef>
            </a:pPr>
            <a:r>
              <a:rPr lang="en-US" sz="1600" i="1" dirty="0">
                <a:solidFill>
                  <a:prstClr val="black"/>
                </a:solidFill>
                <a:latin typeface="Century Gothic"/>
                <a:ea typeface="ＭＳ Ｐゴシック" pitchFamily="34" charset="-128"/>
                <a:cs typeface="Century Gothic"/>
              </a:rPr>
              <a:t>output</a:t>
            </a:r>
          </a:p>
        </p:txBody>
      </p:sp>
      <p:sp>
        <p:nvSpPr>
          <p:cNvPr id="551986" name="Rectangle 54"/>
          <p:cNvSpPr>
            <a:spLocks noChangeArrowheads="1"/>
          </p:cNvSpPr>
          <p:nvPr/>
        </p:nvSpPr>
        <p:spPr bwMode="auto">
          <a:xfrm>
            <a:off x="3914775" y="5284787"/>
            <a:ext cx="41136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AD</a:t>
            </a:r>
            <a:r>
              <a:rPr lang="en-US" sz="1600" baseline="-25000" dirty="0">
                <a:solidFill>
                  <a:srgbClr val="000000"/>
                </a:solidFill>
                <a:latin typeface="Century Gothic"/>
                <a:ea typeface="ＭＳ Ｐゴシック" pitchFamily="34" charset="-128"/>
                <a:cs typeface="Century Gothic"/>
              </a:rPr>
              <a:t>1</a:t>
            </a:r>
            <a:endParaRPr lang="en-US" sz="1600" i="1" dirty="0">
              <a:solidFill>
                <a:prstClr val="black"/>
              </a:solidFill>
              <a:latin typeface="Century Gothic"/>
              <a:ea typeface="ＭＳ Ｐゴシック" pitchFamily="34" charset="-128"/>
              <a:cs typeface="Century Gothic"/>
            </a:endParaRPr>
          </a:p>
        </p:txBody>
      </p:sp>
      <p:sp>
        <p:nvSpPr>
          <p:cNvPr id="551988" name="Freeform 56"/>
          <p:cNvSpPr>
            <a:spLocks/>
          </p:cNvSpPr>
          <p:nvPr/>
        </p:nvSpPr>
        <p:spPr bwMode="auto">
          <a:xfrm>
            <a:off x="2057399" y="6324600"/>
            <a:ext cx="1857375" cy="381000"/>
          </a:xfrm>
          <a:custGeom>
            <a:avLst/>
            <a:gdLst>
              <a:gd name="T0" fmla="*/ 1369419 w 257"/>
              <a:gd name="T1" fmla="*/ 203732 h 57"/>
              <a:gd name="T2" fmla="*/ 1278835 w 257"/>
              <a:gd name="T3" fmla="*/ 313857 h 57"/>
              <a:gd name="T4" fmla="*/ 90584 w 257"/>
              <a:gd name="T5" fmla="*/ 313857 h 57"/>
              <a:gd name="T6" fmla="*/ 0 w 257"/>
              <a:gd name="T7" fmla="*/ 203732 h 57"/>
              <a:gd name="T8" fmla="*/ 0 w 257"/>
              <a:gd name="T9" fmla="*/ 104619 h 57"/>
              <a:gd name="T10" fmla="*/ 90584 w 257"/>
              <a:gd name="T11" fmla="*/ 0 h 57"/>
              <a:gd name="T12" fmla="*/ 1278835 w 257"/>
              <a:gd name="T13" fmla="*/ 0 h 57"/>
              <a:gd name="T14" fmla="*/ 1369419 w 257"/>
              <a:gd name="T15" fmla="*/ 104619 h 57"/>
              <a:gd name="T16" fmla="*/ 1369419 w 257"/>
              <a:gd name="T17" fmla="*/ 20373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7"/>
              <a:gd name="T28" fmla="*/ 0 h 57"/>
              <a:gd name="T29" fmla="*/ 257 w 257"/>
              <a:gd name="T30" fmla="*/ 57 h 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7" h="57">
                <a:moveTo>
                  <a:pt x="257" y="37"/>
                </a:moveTo>
                <a:cubicBezTo>
                  <a:pt x="257" y="48"/>
                  <a:pt x="249" y="57"/>
                  <a:pt x="240" y="57"/>
                </a:cubicBezTo>
                <a:cubicBezTo>
                  <a:pt x="17" y="57"/>
                  <a:pt x="17" y="57"/>
                  <a:pt x="17" y="57"/>
                </a:cubicBezTo>
                <a:cubicBezTo>
                  <a:pt x="7" y="57"/>
                  <a:pt x="0" y="48"/>
                  <a:pt x="0" y="37"/>
                </a:cubicBezTo>
                <a:cubicBezTo>
                  <a:pt x="0" y="19"/>
                  <a:pt x="0" y="19"/>
                  <a:pt x="0" y="19"/>
                </a:cubicBezTo>
                <a:cubicBezTo>
                  <a:pt x="0" y="9"/>
                  <a:pt x="7" y="0"/>
                  <a:pt x="17" y="0"/>
                </a:cubicBezTo>
                <a:cubicBezTo>
                  <a:pt x="240" y="0"/>
                  <a:pt x="240" y="0"/>
                  <a:pt x="240" y="0"/>
                </a:cubicBezTo>
                <a:cubicBezTo>
                  <a:pt x="249" y="0"/>
                  <a:pt x="257" y="9"/>
                  <a:pt x="257" y="19"/>
                </a:cubicBezTo>
                <a:lnTo>
                  <a:pt x="257" y="37"/>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pPr>
            <a:endParaRPr lang="en-US" sz="1600" dirty="0">
              <a:solidFill>
                <a:prstClr val="black"/>
              </a:solidFill>
              <a:latin typeface="Century Gothic"/>
              <a:ea typeface="ＭＳ Ｐゴシック" pitchFamily="34" charset="-128"/>
              <a:cs typeface="Century Gothic"/>
            </a:endParaRPr>
          </a:p>
        </p:txBody>
      </p:sp>
      <p:sp>
        <p:nvSpPr>
          <p:cNvPr id="551989" name="Rectangle 53"/>
          <p:cNvSpPr>
            <a:spLocks noChangeArrowheads="1"/>
          </p:cNvSpPr>
          <p:nvPr/>
        </p:nvSpPr>
        <p:spPr bwMode="auto">
          <a:xfrm>
            <a:off x="2057400" y="6324600"/>
            <a:ext cx="198962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sz="1600" i="1" dirty="0">
                <a:solidFill>
                  <a:prstClr val="black"/>
                </a:solidFill>
                <a:latin typeface="Century Gothic"/>
                <a:ea typeface="ＭＳ Ｐゴシック" pitchFamily="34" charset="-128"/>
                <a:cs typeface="Century Gothic"/>
              </a:rPr>
              <a:t>Recessionary gap</a:t>
            </a:r>
          </a:p>
        </p:txBody>
      </p:sp>
      <p:sp>
        <p:nvSpPr>
          <p:cNvPr id="551990" name="Line 54"/>
          <p:cNvSpPr>
            <a:spLocks noChangeShapeType="1"/>
          </p:cNvSpPr>
          <p:nvPr/>
        </p:nvSpPr>
        <p:spPr bwMode="auto">
          <a:xfrm flipH="1">
            <a:off x="609600" y="4114800"/>
            <a:ext cx="2049463" cy="158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solidFill>
                <a:prstClr val="black"/>
              </a:solidFill>
              <a:latin typeface="Century Gothic"/>
              <a:cs typeface="Century Gothic"/>
            </a:endParaRPr>
          </a:p>
        </p:txBody>
      </p:sp>
      <p:sp>
        <p:nvSpPr>
          <p:cNvPr id="551991" name="Rectangle 9"/>
          <p:cNvSpPr>
            <a:spLocks noChangeArrowheads="1"/>
          </p:cNvSpPr>
          <p:nvPr/>
        </p:nvSpPr>
        <p:spPr bwMode="auto">
          <a:xfrm>
            <a:off x="2625725" y="5815012"/>
            <a:ext cx="2257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Y</a:t>
            </a:r>
            <a:r>
              <a:rPr lang="en-US" sz="1600" baseline="-25000" dirty="0">
                <a:solidFill>
                  <a:srgbClr val="000000"/>
                </a:solidFill>
                <a:latin typeface="Century Gothic"/>
                <a:ea typeface="ＭＳ Ｐゴシック" pitchFamily="34" charset="-128"/>
                <a:cs typeface="Century Gothic"/>
              </a:rPr>
              <a:t>1</a:t>
            </a:r>
            <a:endParaRPr lang="en-US" sz="1600" i="1" dirty="0">
              <a:solidFill>
                <a:prstClr val="black"/>
              </a:solidFill>
              <a:latin typeface="Century Gothic"/>
              <a:ea typeface="ＭＳ Ｐゴシック" pitchFamily="34" charset="-128"/>
              <a:cs typeface="Century Gothic"/>
            </a:endParaRPr>
          </a:p>
        </p:txBody>
      </p:sp>
      <p:sp>
        <p:nvSpPr>
          <p:cNvPr id="551993" name="Freeform 75"/>
          <p:cNvSpPr>
            <a:spLocks/>
          </p:cNvSpPr>
          <p:nvPr/>
        </p:nvSpPr>
        <p:spPr bwMode="auto">
          <a:xfrm>
            <a:off x="2725738" y="6108700"/>
            <a:ext cx="723900" cy="139700"/>
          </a:xfrm>
          <a:custGeom>
            <a:avLst/>
            <a:gdLst>
              <a:gd name="T0" fmla="*/ 0 w 136"/>
              <a:gd name="T1" fmla="*/ 0 h 25"/>
              <a:gd name="T2" fmla="*/ 63899 w 136"/>
              <a:gd name="T3" fmla="*/ 82915 h 25"/>
              <a:gd name="T4" fmla="*/ 319496 w 136"/>
              <a:gd name="T5" fmla="*/ 82915 h 25"/>
              <a:gd name="T6" fmla="*/ 362095 w 136"/>
              <a:gd name="T7" fmla="*/ 138191 h 25"/>
              <a:gd name="T8" fmla="*/ 404694 w 136"/>
              <a:gd name="T9" fmla="*/ 82915 h 25"/>
              <a:gd name="T10" fmla="*/ 660291 w 136"/>
              <a:gd name="T11" fmla="*/ 82915 h 25"/>
              <a:gd name="T12" fmla="*/ 724190 w 136"/>
              <a:gd name="T13" fmla="*/ 0 h 25"/>
              <a:gd name="T14" fmla="*/ 0 60000 65536"/>
              <a:gd name="T15" fmla="*/ 0 60000 65536"/>
              <a:gd name="T16" fmla="*/ 0 60000 65536"/>
              <a:gd name="T17" fmla="*/ 0 60000 65536"/>
              <a:gd name="T18" fmla="*/ 0 60000 65536"/>
              <a:gd name="T19" fmla="*/ 0 60000 65536"/>
              <a:gd name="T20" fmla="*/ 0 60000 65536"/>
              <a:gd name="T21" fmla="*/ 0 w 136"/>
              <a:gd name="T22" fmla="*/ 0 h 25"/>
              <a:gd name="T23" fmla="*/ 136 w 136"/>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6" h="25">
                <a:moveTo>
                  <a:pt x="0" y="0"/>
                </a:moveTo>
                <a:cubicBezTo>
                  <a:pt x="0" y="10"/>
                  <a:pt x="2" y="15"/>
                  <a:pt x="12" y="15"/>
                </a:cubicBezTo>
                <a:cubicBezTo>
                  <a:pt x="14" y="15"/>
                  <a:pt x="59" y="15"/>
                  <a:pt x="60" y="15"/>
                </a:cubicBezTo>
                <a:cubicBezTo>
                  <a:pt x="63" y="15"/>
                  <a:pt x="68" y="17"/>
                  <a:pt x="68" y="25"/>
                </a:cubicBezTo>
                <a:cubicBezTo>
                  <a:pt x="68" y="17"/>
                  <a:pt x="73" y="15"/>
                  <a:pt x="76" y="15"/>
                </a:cubicBezTo>
                <a:cubicBezTo>
                  <a:pt x="77" y="15"/>
                  <a:pt x="122" y="15"/>
                  <a:pt x="124" y="15"/>
                </a:cubicBezTo>
                <a:cubicBezTo>
                  <a:pt x="134" y="15"/>
                  <a:pt x="136" y="10"/>
                  <a:pt x="136" y="0"/>
                </a:cubicBezTo>
              </a:path>
            </a:pathLst>
          </a:custGeom>
          <a:noFill/>
          <a:ln w="15">
            <a:solidFill>
              <a:srgbClr val="6D6F71"/>
            </a:solidFill>
            <a:round/>
            <a:headEnd/>
            <a:tailEnd/>
          </a:ln>
          <a:extLst>
            <a:ext uri="{909E8E84-426E-40DD-AFC4-6F175D3DCCD1}">
              <a14:hiddenFill xmlns:a14="http://schemas.microsoft.com/office/drawing/2010/main">
                <a:solidFill>
                  <a:srgbClr val="FFFFFF"/>
                </a:solidFill>
              </a14:hiddenFill>
            </a:ext>
          </a:extLst>
        </p:spPr>
        <p:txBody>
          <a:bodyPr/>
          <a:lstStyle/>
          <a:p>
            <a:pPr>
              <a:spcBef>
                <a:spcPct val="0"/>
              </a:spcBef>
            </a:pPr>
            <a:endParaRPr lang="en-US" sz="1600" dirty="0">
              <a:solidFill>
                <a:prstClr val="black"/>
              </a:solidFill>
              <a:latin typeface="Century Gothic"/>
              <a:ea typeface="ＭＳ Ｐゴシック" pitchFamily="34" charset="-128"/>
              <a:cs typeface="Century Gothic"/>
            </a:endParaRPr>
          </a:p>
        </p:txBody>
      </p:sp>
      <p:sp>
        <p:nvSpPr>
          <p:cNvPr id="551999" name="Rectangle 35"/>
          <p:cNvSpPr>
            <a:spLocks noChangeArrowheads="1"/>
          </p:cNvSpPr>
          <p:nvPr/>
        </p:nvSpPr>
        <p:spPr bwMode="auto">
          <a:xfrm>
            <a:off x="2472268" y="4262968"/>
            <a:ext cx="21435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E</a:t>
            </a:r>
            <a:r>
              <a:rPr lang="en-US" sz="1600" baseline="-25000" dirty="0">
                <a:solidFill>
                  <a:srgbClr val="000000"/>
                </a:solidFill>
                <a:latin typeface="Century Gothic"/>
                <a:ea typeface="ＭＳ Ｐゴシック" pitchFamily="34" charset="-128"/>
                <a:cs typeface="Century Gothic"/>
              </a:rPr>
              <a:t>1</a:t>
            </a:r>
            <a:endParaRPr lang="en-US" sz="1600" i="1" dirty="0">
              <a:solidFill>
                <a:prstClr val="black"/>
              </a:solidFill>
              <a:latin typeface="Century Gothic"/>
              <a:ea typeface="ＭＳ Ｐゴシック" pitchFamily="34" charset="-128"/>
              <a:cs typeface="Century Gothic"/>
            </a:endParaRPr>
          </a:p>
        </p:txBody>
      </p:sp>
      <p:sp>
        <p:nvSpPr>
          <p:cNvPr id="552000" name="Oval 69"/>
          <p:cNvSpPr>
            <a:spLocks noChangeArrowheads="1"/>
          </p:cNvSpPr>
          <p:nvPr/>
        </p:nvSpPr>
        <p:spPr bwMode="auto">
          <a:xfrm>
            <a:off x="2670175" y="4062412"/>
            <a:ext cx="109538" cy="1127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pPr>
            <a:endParaRPr lang="en-US" sz="1600" dirty="0">
              <a:solidFill>
                <a:prstClr val="black"/>
              </a:solidFill>
              <a:latin typeface="Century Gothic"/>
              <a:ea typeface="ＭＳ Ｐゴシック" pitchFamily="34" charset="-128"/>
              <a:cs typeface="Century Gothic"/>
            </a:endParaRPr>
          </a:p>
        </p:txBody>
      </p:sp>
      <p:sp>
        <p:nvSpPr>
          <p:cNvPr id="552003" name="Line 67"/>
          <p:cNvSpPr>
            <a:spLocks noChangeShapeType="1"/>
          </p:cNvSpPr>
          <p:nvPr/>
        </p:nvSpPr>
        <p:spPr bwMode="auto">
          <a:xfrm flipV="1">
            <a:off x="2717803" y="4145280"/>
            <a:ext cx="0" cy="164592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solidFill>
                <a:prstClr val="black"/>
              </a:solidFill>
              <a:latin typeface="Century Gothic"/>
              <a:cs typeface="Century Gothic"/>
            </a:endParaRPr>
          </a:p>
        </p:txBody>
      </p:sp>
      <p:sp>
        <p:nvSpPr>
          <p:cNvPr id="552008" name="Rectangle 13"/>
          <p:cNvSpPr>
            <a:spLocks noChangeArrowheads="1"/>
          </p:cNvSpPr>
          <p:nvPr/>
        </p:nvSpPr>
        <p:spPr bwMode="auto">
          <a:xfrm>
            <a:off x="304800" y="4038600"/>
            <a:ext cx="2257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P</a:t>
            </a:r>
            <a:r>
              <a:rPr lang="en-US" sz="1600" baseline="-25000" dirty="0">
                <a:solidFill>
                  <a:srgbClr val="000000"/>
                </a:solidFill>
                <a:latin typeface="Century Gothic"/>
                <a:ea typeface="ＭＳ Ｐゴシック" pitchFamily="34" charset="-128"/>
                <a:cs typeface="Century Gothic"/>
              </a:rPr>
              <a:t>1</a:t>
            </a:r>
            <a:endParaRPr lang="en-US" sz="1600" i="1" dirty="0">
              <a:solidFill>
                <a:prstClr val="black"/>
              </a:solidFill>
              <a:latin typeface="Century Gothic"/>
              <a:ea typeface="ＭＳ Ｐゴシック" pitchFamily="34" charset="-128"/>
              <a:cs typeface="Century Gothic"/>
            </a:endParaRPr>
          </a:p>
        </p:txBody>
      </p:sp>
      <p:sp>
        <p:nvSpPr>
          <p:cNvPr id="552009" name="Rectangle 73"/>
          <p:cNvSpPr>
            <a:spLocks noGrp="1" noRot="1" noChangeArrowheads="1"/>
          </p:cNvSpPr>
          <p:nvPr>
            <p:ph type="title"/>
          </p:nvPr>
        </p:nvSpPr>
        <p:spPr>
          <a:xfrm>
            <a:off x="0" y="152400"/>
            <a:ext cx="9144000" cy="838200"/>
          </a:xfrm>
        </p:spPr>
        <p:txBody>
          <a:bodyPr>
            <a:noAutofit/>
          </a:bodyPr>
          <a:lstStyle/>
          <a:p>
            <a:r>
              <a:rPr lang="en-US" sz="3600" spc="0" dirty="0"/>
              <a:t>EXPANSIONARY FISCAL POLICY</a:t>
            </a:r>
            <a:br>
              <a:rPr lang="en-US" sz="3600" spc="0" dirty="0"/>
            </a:br>
            <a:r>
              <a:rPr lang="en-US" sz="3600" spc="0" dirty="0"/>
              <a:t>CAN  CLOSE A RECESSIONARY GAP</a:t>
            </a:r>
          </a:p>
        </p:txBody>
      </p:sp>
      <p:sp>
        <p:nvSpPr>
          <p:cNvPr id="2" name="TextBox 1"/>
          <p:cNvSpPr txBox="1"/>
          <p:nvPr/>
        </p:nvSpPr>
        <p:spPr>
          <a:xfrm>
            <a:off x="5638800" y="2362200"/>
            <a:ext cx="3505200" cy="3416320"/>
          </a:xfrm>
          <a:prstGeom prst="rect">
            <a:avLst/>
          </a:prstGeom>
          <a:noFill/>
        </p:spPr>
        <p:txBody>
          <a:bodyPr wrap="square" rtlCol="0">
            <a:spAutoFit/>
          </a:bodyPr>
          <a:lstStyle/>
          <a:p>
            <a:r>
              <a:rPr lang="en-US" sz="2400" b="1" i="1" dirty="0">
                <a:solidFill>
                  <a:prstClr val="black">
                    <a:lumMod val="65000"/>
                    <a:lumOff val="35000"/>
                  </a:prstClr>
                </a:solidFill>
                <a:latin typeface="Century Gothic"/>
                <a:cs typeface="Century Gothic"/>
              </a:rPr>
              <a:t>Instead of waiting for the long-run correction mechanism, policy makers could choose to stimulate </a:t>
            </a:r>
            <a:r>
              <a:rPr lang="en-US" sz="2400" b="1" dirty="0">
                <a:solidFill>
                  <a:prstClr val="black">
                    <a:lumMod val="65000"/>
                    <a:lumOff val="35000"/>
                  </a:prstClr>
                </a:solidFill>
                <a:latin typeface="Century Gothic"/>
                <a:cs typeface="Century Gothic"/>
              </a:rPr>
              <a:t>AD</a:t>
            </a:r>
            <a:r>
              <a:rPr lang="en-US" sz="2400" b="1" i="1" dirty="0">
                <a:solidFill>
                  <a:prstClr val="black">
                    <a:lumMod val="65000"/>
                    <a:lumOff val="35000"/>
                  </a:prstClr>
                </a:solidFill>
                <a:latin typeface="Century Gothic"/>
                <a:cs typeface="Century Gothic"/>
              </a:rPr>
              <a:t> and move the economy back toward long-run equilibrium.</a:t>
            </a:r>
          </a:p>
        </p:txBody>
      </p:sp>
    </p:spTree>
    <p:extLst>
      <p:ext uri="{BB962C8B-B14F-4D97-AF65-F5344CB8AC3E}">
        <p14:creationId xmlns:p14="http://schemas.microsoft.com/office/powerpoint/2010/main" val="2135934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551938"/>
                                        </p:tgtEl>
                                        <p:attrNameLst>
                                          <p:attrName>style.visibility</p:attrName>
                                        </p:attrNameLst>
                                      </p:cBhvr>
                                      <p:to>
                                        <p:strVal val="visible"/>
                                      </p:to>
                                    </p:set>
                                    <p:animEffect transition="in" filter="fade">
                                      <p:cBhvr>
                                        <p:cTn id="7" dur="1000"/>
                                        <p:tgtEl>
                                          <p:spTgt spid="551938"/>
                                        </p:tgtEl>
                                      </p:cBhvr>
                                    </p:animEffect>
                                  </p:childTnLst>
                                </p:cTn>
                              </p:par>
                              <p:par>
                                <p:cTn id="8" presetID="42" presetClass="path" presetSubtype="0" accel="50000" decel="50000" fill="hold" grpId="0" nodeType="withEffect">
                                  <p:stCondLst>
                                    <p:cond delay="0"/>
                                  </p:stCondLst>
                                  <p:childTnLst>
                                    <p:animMotion origin="layout" path="M -3.33333E-6 -2.22222E-6 L -0.05833 0.07778 " pathEditMode="relative" rAng="0" ptsTypes="AA">
                                      <p:cBhvr>
                                        <p:cTn id="9" dur="2000" spd="-100000" fill="hold"/>
                                        <p:tgtEl>
                                          <p:spTgt spid="551938"/>
                                        </p:tgtEl>
                                        <p:attrNameLst>
                                          <p:attrName>ppt_x</p:attrName>
                                          <p:attrName>ppt_y</p:attrName>
                                        </p:attrNameLst>
                                      </p:cBhvr>
                                      <p:rCtr x="-2917" y="3889"/>
                                    </p:animMotion>
                                  </p:childTnLst>
                                </p:cTn>
                              </p:par>
                            </p:childTnLst>
                          </p:cTn>
                        </p:par>
                        <p:par>
                          <p:cTn id="10" fill="hold">
                            <p:stCondLst>
                              <p:cond delay="2000"/>
                            </p:stCondLst>
                            <p:childTnLst>
                              <p:par>
                                <p:cTn id="11" presetID="10" presetClass="entr" presetSubtype="0" fill="hold" grpId="0" nodeType="afterEffect">
                                  <p:stCondLst>
                                    <p:cond delay="0"/>
                                  </p:stCondLst>
                                  <p:childTnLst>
                                    <p:set>
                                      <p:cBhvr>
                                        <p:cTn id="12" dur="1" fill="hold">
                                          <p:stCondLst>
                                            <p:cond delay="0"/>
                                          </p:stCondLst>
                                        </p:cTn>
                                        <p:tgtEl>
                                          <p:spTgt spid="551955"/>
                                        </p:tgtEl>
                                        <p:attrNameLst>
                                          <p:attrName>style.visibility</p:attrName>
                                        </p:attrNameLst>
                                      </p:cBhvr>
                                      <p:to>
                                        <p:strVal val="visible"/>
                                      </p:to>
                                    </p:set>
                                    <p:animEffect transition="in" filter="fade">
                                      <p:cBhvr>
                                        <p:cTn id="13" dur="500"/>
                                        <p:tgtEl>
                                          <p:spTgt spid="551955"/>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551960"/>
                                        </p:tgtEl>
                                        <p:attrNameLst>
                                          <p:attrName>style.visibility</p:attrName>
                                        </p:attrNameLst>
                                      </p:cBhvr>
                                      <p:to>
                                        <p:strVal val="visible"/>
                                      </p:to>
                                    </p:set>
                                    <p:animEffect transition="in" filter="fade">
                                      <p:cBhvr>
                                        <p:cTn id="17" dur="500"/>
                                        <p:tgtEl>
                                          <p:spTgt spid="551960"/>
                                        </p:tgtEl>
                                      </p:cBhvr>
                                    </p:animEffect>
                                  </p:childTnLst>
                                </p:cTn>
                              </p:par>
                            </p:childTnLst>
                          </p:cTn>
                        </p:par>
                        <p:par>
                          <p:cTn id="18" fill="hold">
                            <p:stCondLst>
                              <p:cond delay="3000"/>
                            </p:stCondLst>
                            <p:childTnLst>
                              <p:par>
                                <p:cTn id="19" presetID="10" presetClass="entr" presetSubtype="0" fill="hold" grpId="0" nodeType="afterEffect">
                                  <p:stCondLst>
                                    <p:cond delay="0"/>
                                  </p:stCondLst>
                                  <p:childTnLst>
                                    <p:set>
                                      <p:cBhvr>
                                        <p:cTn id="20" dur="1" fill="hold">
                                          <p:stCondLst>
                                            <p:cond delay="0"/>
                                          </p:stCondLst>
                                        </p:cTn>
                                        <p:tgtEl>
                                          <p:spTgt spid="551945"/>
                                        </p:tgtEl>
                                        <p:attrNameLst>
                                          <p:attrName>style.visibility</p:attrName>
                                        </p:attrNameLst>
                                      </p:cBhvr>
                                      <p:to>
                                        <p:strVal val="visible"/>
                                      </p:to>
                                    </p:set>
                                    <p:animEffect transition="in" filter="fade">
                                      <p:cBhvr>
                                        <p:cTn id="21" dur="500"/>
                                        <p:tgtEl>
                                          <p:spTgt spid="551945"/>
                                        </p:tgtEl>
                                      </p:cBhvr>
                                    </p:animEffect>
                                  </p:childTnLst>
                                </p:cTn>
                              </p:par>
                            </p:childTnLst>
                          </p:cTn>
                        </p:par>
                        <p:par>
                          <p:cTn id="22" fill="hold">
                            <p:stCondLst>
                              <p:cond delay="3500"/>
                            </p:stCondLst>
                            <p:childTnLst>
                              <p:par>
                                <p:cTn id="23" presetID="22" presetClass="entr" presetSubtype="2" fill="hold" grpId="0" nodeType="afterEffect">
                                  <p:stCondLst>
                                    <p:cond delay="0"/>
                                  </p:stCondLst>
                                  <p:childTnLst>
                                    <p:set>
                                      <p:cBhvr>
                                        <p:cTn id="24" dur="1" fill="hold">
                                          <p:stCondLst>
                                            <p:cond delay="0"/>
                                          </p:stCondLst>
                                        </p:cTn>
                                        <p:tgtEl>
                                          <p:spTgt spid="551941"/>
                                        </p:tgtEl>
                                        <p:attrNameLst>
                                          <p:attrName>style.visibility</p:attrName>
                                        </p:attrNameLst>
                                      </p:cBhvr>
                                      <p:to>
                                        <p:strVal val="visible"/>
                                      </p:to>
                                    </p:set>
                                    <p:animEffect transition="in" filter="wipe(right)">
                                      <p:cBhvr>
                                        <p:cTn id="25" dur="500"/>
                                        <p:tgtEl>
                                          <p:spTgt spid="551941"/>
                                        </p:tgtEl>
                                      </p:cBhvr>
                                    </p:animEffect>
                                  </p:childTnLst>
                                </p:cTn>
                              </p:par>
                            </p:childTnLst>
                          </p:cTn>
                        </p:par>
                        <p:par>
                          <p:cTn id="26" fill="hold">
                            <p:stCondLst>
                              <p:cond delay="4000"/>
                            </p:stCondLst>
                            <p:childTnLst>
                              <p:par>
                                <p:cTn id="27" presetID="10" presetClass="entr" presetSubtype="0" fill="hold" grpId="0" nodeType="afterEffect">
                                  <p:stCondLst>
                                    <p:cond delay="0"/>
                                  </p:stCondLst>
                                  <p:childTnLst>
                                    <p:set>
                                      <p:cBhvr>
                                        <p:cTn id="28" dur="1" fill="hold">
                                          <p:stCondLst>
                                            <p:cond delay="0"/>
                                          </p:stCondLst>
                                        </p:cTn>
                                        <p:tgtEl>
                                          <p:spTgt spid="551944"/>
                                        </p:tgtEl>
                                        <p:attrNameLst>
                                          <p:attrName>style.visibility</p:attrName>
                                        </p:attrNameLst>
                                      </p:cBhvr>
                                      <p:to>
                                        <p:strVal val="visible"/>
                                      </p:to>
                                    </p:set>
                                    <p:animEffect transition="in" filter="fade">
                                      <p:cBhvr>
                                        <p:cTn id="29" dur="500"/>
                                        <p:tgtEl>
                                          <p:spTgt spid="5519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38" grpId="0" animBg="1"/>
      <p:bldP spid="551938" grpId="1" animBg="1"/>
      <p:bldP spid="551941" grpId="0" animBg="1"/>
      <p:bldP spid="551944" grpId="0"/>
      <p:bldP spid="551945" grpId="0"/>
      <p:bldP spid="551955" grpId="0"/>
      <p:bldP spid="55196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sz="4000" spc="0" dirty="0"/>
              <a:t>EXPANSIONARY AND CONTRACTIONARY FISCAL POLICY</a:t>
            </a:r>
          </a:p>
        </p:txBody>
      </p:sp>
      <p:sp>
        <p:nvSpPr>
          <p:cNvPr id="3" name="Content Placeholder 2"/>
          <p:cNvSpPr>
            <a:spLocks noGrp="1"/>
          </p:cNvSpPr>
          <p:nvPr>
            <p:ph idx="1"/>
          </p:nvPr>
        </p:nvSpPr>
        <p:spPr>
          <a:xfrm>
            <a:off x="228600" y="1295400"/>
            <a:ext cx="8839200" cy="4648200"/>
          </a:xfrm>
        </p:spPr>
        <p:txBody>
          <a:bodyPr/>
          <a:lstStyle/>
          <a:p>
            <a:r>
              <a:rPr lang="en-US" i="1" dirty="0">
                <a:solidFill>
                  <a:srgbClr val="990033"/>
                </a:solidFill>
              </a:rPr>
              <a:t>Contractionary fiscal policy: </a:t>
            </a:r>
            <a:r>
              <a:rPr lang="en-US" b="0" dirty="0"/>
              <a:t>fiscal policy that decreases aggregate demand:</a:t>
            </a:r>
          </a:p>
          <a:p>
            <a:pPr marL="566738" lvl="1" indent="-217488">
              <a:buFont typeface="Arial"/>
              <a:buChar char="•"/>
            </a:pPr>
            <a:r>
              <a:rPr lang="en-US" i="1" dirty="0">
                <a:solidFill>
                  <a:schemeClr val="tx1">
                    <a:lumMod val="75000"/>
                    <a:lumOff val="25000"/>
                  </a:schemeClr>
                </a:solidFill>
              </a:rPr>
              <a:t>a reduction in government purchases of goods and services</a:t>
            </a:r>
          </a:p>
          <a:p>
            <a:pPr marL="566738" lvl="1" indent="-217488">
              <a:buFont typeface="Arial"/>
              <a:buChar char="•"/>
            </a:pPr>
            <a:r>
              <a:rPr lang="en-US" i="1" dirty="0">
                <a:solidFill>
                  <a:schemeClr val="tx1">
                    <a:lumMod val="75000"/>
                    <a:lumOff val="25000"/>
                  </a:schemeClr>
                </a:solidFill>
              </a:rPr>
              <a:t>an increase in taxes</a:t>
            </a:r>
          </a:p>
          <a:p>
            <a:pPr marL="566738" lvl="1" indent="-217488">
              <a:buFont typeface="Arial"/>
              <a:buChar char="•"/>
            </a:pPr>
            <a:r>
              <a:rPr lang="en-US" i="1" dirty="0">
                <a:solidFill>
                  <a:schemeClr val="tx1">
                    <a:lumMod val="75000"/>
                    <a:lumOff val="25000"/>
                  </a:schemeClr>
                </a:solidFill>
              </a:rPr>
              <a:t>a reduction in government transfers</a:t>
            </a:r>
          </a:p>
        </p:txBody>
      </p:sp>
      <p:sp>
        <p:nvSpPr>
          <p:cNvPr id="5" name="TextBox 4"/>
          <p:cNvSpPr txBox="1"/>
          <p:nvPr/>
        </p:nvSpPr>
        <p:spPr>
          <a:xfrm>
            <a:off x="3124200" y="5188803"/>
            <a:ext cx="3886200" cy="1200328"/>
          </a:xfrm>
          <a:prstGeom prst="rect">
            <a:avLst/>
          </a:prstGeom>
          <a:noFill/>
        </p:spPr>
        <p:txBody>
          <a:bodyPr wrap="square" rtlCol="0">
            <a:spAutoFit/>
          </a:bodyPr>
          <a:lstStyle/>
          <a:p>
            <a:r>
              <a:rPr lang="en-US" sz="2400" b="1" i="1" dirty="0">
                <a:solidFill>
                  <a:srgbClr val="0070C0"/>
                </a:solidFill>
                <a:latin typeface="Century Gothic"/>
                <a:cs typeface="Century Gothic"/>
              </a:rPr>
              <a:t>Contractionary fiscal policy: </a:t>
            </a:r>
          </a:p>
          <a:p>
            <a:r>
              <a:rPr lang="en-US" sz="2400" b="1" i="1" dirty="0">
                <a:solidFill>
                  <a:srgbClr val="0070C0"/>
                </a:solidFill>
                <a:latin typeface="Century Gothic"/>
                <a:cs typeface="Century Gothic"/>
              </a:rPr>
              <a:t>brakes for the economy</a:t>
            </a:r>
          </a:p>
        </p:txBody>
      </p:sp>
      <p:pic>
        <p:nvPicPr>
          <p:cNvPr id="33794" name="Picture 2" descr="http://www.sxc.hu/pic/l/a/as/asifthebes/1088027_99189619.jpg"/>
          <p:cNvPicPr>
            <a:picLocks noChangeAspect="1" noChangeArrowheads="1"/>
          </p:cNvPicPr>
          <p:nvPr/>
        </p:nvPicPr>
        <p:blipFill rotWithShape="1">
          <a:blip r:embed="rId2" cstate="screen">
            <a:extLst>
              <a:ext uri="{28A0092B-C50C-407E-A947-70E740481C1C}">
                <a14:useLocalDpi xmlns:a14="http://schemas.microsoft.com/office/drawing/2010/main" val="0"/>
              </a:ext>
            </a:extLst>
          </a:blip>
          <a:srcRect/>
          <a:stretch/>
        </p:blipFill>
        <p:spPr bwMode="auto">
          <a:xfrm>
            <a:off x="6934200" y="3352800"/>
            <a:ext cx="2057400" cy="35052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7938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33794"/>
                                        </p:tgtEl>
                                        <p:attrNameLst>
                                          <p:attrName>style.visibility</p:attrName>
                                        </p:attrNameLst>
                                      </p:cBhvr>
                                      <p:to>
                                        <p:strVal val="visible"/>
                                      </p:to>
                                    </p:set>
                                    <p:animEffect transition="in" filter="fade">
                                      <p:cBhvr>
                                        <p:cTn id="10" dur="500"/>
                                        <p:tgtEl>
                                          <p:spTgt spid="33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58" name="Line 64"/>
          <p:cNvSpPr>
            <a:spLocks noChangeShapeType="1"/>
          </p:cNvSpPr>
          <p:nvPr/>
        </p:nvSpPr>
        <p:spPr bwMode="auto">
          <a:xfrm flipH="1" flipV="1">
            <a:off x="2055813" y="2528887"/>
            <a:ext cx="2532062" cy="2566988"/>
          </a:xfrm>
          <a:prstGeom prst="line">
            <a:avLst/>
          </a:prstGeom>
          <a:noFill/>
          <a:ln w="38100">
            <a:solidFill>
              <a:srgbClr val="AEC5E7"/>
            </a:solidFill>
            <a:miter lim="800000"/>
            <a:headEnd/>
            <a:tailEnd/>
          </a:ln>
          <a:extLst>
            <a:ext uri="{909E8E84-426E-40DD-AFC4-6F175D3DCCD1}">
              <a14:hiddenFill xmlns:a14="http://schemas.microsoft.com/office/drawing/2010/main">
                <a:noFill/>
              </a14:hiddenFill>
            </a:ext>
          </a:extLst>
        </p:spPr>
        <p:txBody>
          <a:bodyPr/>
          <a:lstStyle/>
          <a:p>
            <a:endParaRPr lang="en-US" dirty="0">
              <a:solidFill>
                <a:prstClr val="black"/>
              </a:solidFill>
              <a:latin typeface="Century Gothic"/>
              <a:cs typeface="Century Gothic"/>
            </a:endParaRPr>
          </a:p>
        </p:txBody>
      </p:sp>
      <p:sp>
        <p:nvSpPr>
          <p:cNvPr id="551959" name="Line 66"/>
          <p:cNvSpPr>
            <a:spLocks noChangeShapeType="1"/>
          </p:cNvSpPr>
          <p:nvPr/>
        </p:nvSpPr>
        <p:spPr bwMode="auto">
          <a:xfrm flipV="1">
            <a:off x="1314450" y="2627312"/>
            <a:ext cx="3725863" cy="2479675"/>
          </a:xfrm>
          <a:prstGeom prst="line">
            <a:avLst/>
          </a:prstGeom>
          <a:noFill/>
          <a:ln w="38100">
            <a:solidFill>
              <a:srgbClr val="EE313C"/>
            </a:solidFill>
            <a:miter lim="800000"/>
            <a:headEnd/>
            <a:tailEnd/>
          </a:ln>
          <a:extLst>
            <a:ext uri="{909E8E84-426E-40DD-AFC4-6F175D3DCCD1}">
              <a14:hiddenFill xmlns:a14="http://schemas.microsoft.com/office/drawing/2010/main">
                <a:noFill/>
              </a14:hiddenFill>
            </a:ext>
          </a:extLst>
        </p:spPr>
        <p:txBody>
          <a:bodyPr/>
          <a:lstStyle/>
          <a:p>
            <a:endParaRPr lang="en-US" dirty="0">
              <a:solidFill>
                <a:prstClr val="black"/>
              </a:solidFill>
              <a:latin typeface="Century Gothic"/>
              <a:cs typeface="Century Gothic"/>
            </a:endParaRPr>
          </a:p>
        </p:txBody>
      </p:sp>
      <p:sp>
        <p:nvSpPr>
          <p:cNvPr id="551957" name="Line 63"/>
          <p:cNvSpPr>
            <a:spLocks noChangeShapeType="1"/>
          </p:cNvSpPr>
          <p:nvPr/>
        </p:nvSpPr>
        <p:spPr bwMode="auto">
          <a:xfrm>
            <a:off x="2572279" y="2489200"/>
            <a:ext cx="1587" cy="3459162"/>
          </a:xfrm>
          <a:prstGeom prst="line">
            <a:avLst/>
          </a:prstGeom>
          <a:noFill/>
          <a:ln w="38100">
            <a:solidFill>
              <a:srgbClr val="F79448"/>
            </a:solidFill>
            <a:miter lim="800000"/>
            <a:headEnd/>
            <a:tailEnd/>
          </a:ln>
          <a:extLst>
            <a:ext uri="{909E8E84-426E-40DD-AFC4-6F175D3DCCD1}">
              <a14:hiddenFill xmlns:a14="http://schemas.microsoft.com/office/drawing/2010/main">
                <a:noFill/>
              </a14:hiddenFill>
            </a:ext>
          </a:extLst>
        </p:spPr>
        <p:txBody>
          <a:bodyPr/>
          <a:lstStyle/>
          <a:p>
            <a:endParaRPr lang="en-US" dirty="0">
              <a:solidFill>
                <a:prstClr val="black"/>
              </a:solidFill>
              <a:latin typeface="Century Gothic"/>
              <a:cs typeface="Century Gothic"/>
            </a:endParaRPr>
          </a:p>
        </p:txBody>
      </p:sp>
      <p:sp>
        <p:nvSpPr>
          <p:cNvPr id="551938" name="Line 65"/>
          <p:cNvSpPr>
            <a:spLocks noChangeShapeType="1"/>
          </p:cNvSpPr>
          <p:nvPr/>
        </p:nvSpPr>
        <p:spPr bwMode="auto">
          <a:xfrm flipH="1" flipV="1">
            <a:off x="1239838" y="2922587"/>
            <a:ext cx="2530475" cy="2566988"/>
          </a:xfrm>
          <a:prstGeom prst="line">
            <a:avLst/>
          </a:prstGeom>
          <a:noFill/>
          <a:ln w="38100">
            <a:solidFill>
              <a:srgbClr val="3C5DAA"/>
            </a:solidFill>
            <a:miter lim="800000"/>
            <a:headEnd/>
            <a:tailEnd/>
          </a:ln>
          <a:extLst>
            <a:ext uri="{909E8E84-426E-40DD-AFC4-6F175D3DCCD1}">
              <a14:hiddenFill xmlns:a14="http://schemas.microsoft.com/office/drawing/2010/main">
                <a:noFill/>
              </a14:hiddenFill>
            </a:ext>
          </a:extLst>
        </p:spPr>
        <p:txBody>
          <a:bodyPr/>
          <a:lstStyle/>
          <a:p>
            <a:endParaRPr lang="en-US" dirty="0">
              <a:solidFill>
                <a:prstClr val="black"/>
              </a:solidFill>
              <a:latin typeface="Century Gothic"/>
              <a:cs typeface="Century Gothic"/>
            </a:endParaRPr>
          </a:p>
        </p:txBody>
      </p:sp>
      <p:sp>
        <p:nvSpPr>
          <p:cNvPr id="551941" name="Line 5"/>
          <p:cNvSpPr>
            <a:spLocks noChangeShapeType="1"/>
          </p:cNvSpPr>
          <p:nvPr/>
        </p:nvSpPr>
        <p:spPr bwMode="auto">
          <a:xfrm flipH="1">
            <a:off x="471488" y="3776662"/>
            <a:ext cx="2770187" cy="158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solidFill>
                <a:prstClr val="black"/>
              </a:solidFill>
              <a:latin typeface="Century Gothic"/>
              <a:cs typeface="Century Gothic"/>
            </a:endParaRPr>
          </a:p>
        </p:txBody>
      </p:sp>
      <p:sp>
        <p:nvSpPr>
          <p:cNvPr id="551942" name="Rectangle 7"/>
          <p:cNvSpPr>
            <a:spLocks noChangeArrowheads="1"/>
          </p:cNvSpPr>
          <p:nvPr/>
        </p:nvSpPr>
        <p:spPr bwMode="auto">
          <a:xfrm>
            <a:off x="3201988" y="5967412"/>
            <a:ext cx="2257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Y</a:t>
            </a:r>
            <a:r>
              <a:rPr lang="en-US" sz="1600" baseline="-25000" dirty="0">
                <a:solidFill>
                  <a:srgbClr val="000000"/>
                </a:solidFill>
                <a:latin typeface="Century Gothic"/>
                <a:ea typeface="ＭＳ Ｐゴシック" pitchFamily="34" charset="-128"/>
                <a:cs typeface="Century Gothic"/>
              </a:rPr>
              <a:t>1</a:t>
            </a:r>
            <a:endParaRPr lang="en-US" sz="1600" i="1" dirty="0">
              <a:solidFill>
                <a:prstClr val="black"/>
              </a:solidFill>
              <a:latin typeface="Century Gothic"/>
              <a:ea typeface="ＭＳ Ｐゴシック" pitchFamily="34" charset="-128"/>
              <a:cs typeface="Century Gothic"/>
            </a:endParaRPr>
          </a:p>
        </p:txBody>
      </p:sp>
      <p:sp>
        <p:nvSpPr>
          <p:cNvPr id="551944" name="Rectangle 13"/>
          <p:cNvSpPr>
            <a:spLocks noChangeArrowheads="1"/>
          </p:cNvSpPr>
          <p:nvPr/>
        </p:nvSpPr>
        <p:spPr bwMode="auto">
          <a:xfrm>
            <a:off x="176213" y="3619500"/>
            <a:ext cx="2257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P</a:t>
            </a:r>
            <a:r>
              <a:rPr lang="en-US" sz="1600" baseline="-25000" dirty="0">
                <a:solidFill>
                  <a:srgbClr val="000000"/>
                </a:solidFill>
                <a:latin typeface="Century Gothic"/>
                <a:ea typeface="ＭＳ Ｐゴシック" pitchFamily="34" charset="-128"/>
                <a:cs typeface="Century Gothic"/>
              </a:rPr>
              <a:t>1</a:t>
            </a:r>
            <a:endParaRPr lang="en-US" sz="1600" i="1" dirty="0">
              <a:solidFill>
                <a:prstClr val="black"/>
              </a:solidFill>
              <a:latin typeface="Century Gothic"/>
              <a:ea typeface="ＭＳ Ｐゴシック" pitchFamily="34" charset="-128"/>
              <a:cs typeface="Century Gothic"/>
            </a:endParaRPr>
          </a:p>
        </p:txBody>
      </p:sp>
      <p:sp>
        <p:nvSpPr>
          <p:cNvPr id="551945" name="Rectangle 31"/>
          <p:cNvSpPr>
            <a:spLocks noChangeArrowheads="1"/>
          </p:cNvSpPr>
          <p:nvPr/>
        </p:nvSpPr>
        <p:spPr bwMode="auto">
          <a:xfrm>
            <a:off x="3452813" y="3673475"/>
            <a:ext cx="21435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E</a:t>
            </a:r>
            <a:r>
              <a:rPr lang="en-US" sz="1600" baseline="-25000" dirty="0">
                <a:solidFill>
                  <a:srgbClr val="000000"/>
                </a:solidFill>
                <a:latin typeface="Century Gothic"/>
                <a:ea typeface="ＭＳ Ｐゴシック" pitchFamily="34" charset="-128"/>
                <a:cs typeface="Century Gothic"/>
              </a:rPr>
              <a:t>1</a:t>
            </a:r>
            <a:endParaRPr lang="en-US" sz="1600" i="1" dirty="0">
              <a:solidFill>
                <a:prstClr val="black"/>
              </a:solidFill>
              <a:latin typeface="Century Gothic"/>
              <a:ea typeface="ＭＳ Ｐゴシック" pitchFamily="34" charset="-128"/>
              <a:cs typeface="Century Gothic"/>
            </a:endParaRPr>
          </a:p>
        </p:txBody>
      </p:sp>
      <p:sp>
        <p:nvSpPr>
          <p:cNvPr id="551948" name="Rectangle 41"/>
          <p:cNvSpPr>
            <a:spLocks noChangeArrowheads="1"/>
          </p:cNvSpPr>
          <p:nvPr/>
        </p:nvSpPr>
        <p:spPr bwMode="auto">
          <a:xfrm>
            <a:off x="4814888" y="2362200"/>
            <a:ext cx="58504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SRAS</a:t>
            </a:r>
            <a:r>
              <a:rPr lang="en-US" sz="1600" baseline="-25000" dirty="0">
                <a:solidFill>
                  <a:srgbClr val="000000"/>
                </a:solidFill>
                <a:latin typeface="Century Gothic"/>
                <a:ea typeface="ＭＳ Ｐゴシック" pitchFamily="34" charset="-128"/>
                <a:cs typeface="Century Gothic"/>
              </a:rPr>
              <a:t>1</a:t>
            </a:r>
            <a:endParaRPr lang="en-US" sz="1600" i="1" dirty="0">
              <a:solidFill>
                <a:prstClr val="black"/>
              </a:solidFill>
              <a:latin typeface="Century Gothic"/>
              <a:ea typeface="ＭＳ Ｐゴシック" pitchFamily="34" charset="-128"/>
              <a:cs typeface="Century Gothic"/>
            </a:endParaRPr>
          </a:p>
        </p:txBody>
      </p:sp>
      <p:sp>
        <p:nvSpPr>
          <p:cNvPr id="551952" name="Rectangle 49"/>
          <p:cNvSpPr>
            <a:spLocks noChangeArrowheads="1"/>
          </p:cNvSpPr>
          <p:nvPr/>
        </p:nvSpPr>
        <p:spPr bwMode="auto">
          <a:xfrm>
            <a:off x="2362200" y="2225675"/>
            <a:ext cx="50752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LRAS</a:t>
            </a:r>
            <a:endParaRPr lang="en-US" sz="1600" i="1" dirty="0">
              <a:solidFill>
                <a:prstClr val="black"/>
              </a:solidFill>
              <a:latin typeface="Century Gothic"/>
              <a:ea typeface="ＭＳ Ｐゴシック" pitchFamily="34" charset="-128"/>
              <a:cs typeface="Century Gothic"/>
            </a:endParaRPr>
          </a:p>
        </p:txBody>
      </p:sp>
      <p:sp>
        <p:nvSpPr>
          <p:cNvPr id="551955" name="Rectangle 52"/>
          <p:cNvSpPr>
            <a:spLocks noChangeArrowheads="1"/>
          </p:cNvSpPr>
          <p:nvPr/>
        </p:nvSpPr>
        <p:spPr bwMode="auto">
          <a:xfrm>
            <a:off x="4572000" y="5051425"/>
            <a:ext cx="41136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AD</a:t>
            </a:r>
            <a:r>
              <a:rPr lang="en-US" sz="1600" baseline="-25000" dirty="0">
                <a:solidFill>
                  <a:srgbClr val="000000"/>
                </a:solidFill>
                <a:latin typeface="Century Gothic"/>
                <a:ea typeface="ＭＳ Ｐゴシック" pitchFamily="34" charset="-128"/>
                <a:cs typeface="Century Gothic"/>
              </a:rPr>
              <a:t>1</a:t>
            </a:r>
            <a:endParaRPr lang="en-US" sz="1600" i="1" dirty="0">
              <a:solidFill>
                <a:prstClr val="black"/>
              </a:solidFill>
              <a:latin typeface="Century Gothic"/>
              <a:ea typeface="ＭＳ Ｐゴシック" pitchFamily="34" charset="-128"/>
              <a:cs typeface="Century Gothic"/>
            </a:endParaRPr>
          </a:p>
        </p:txBody>
      </p:sp>
      <p:sp>
        <p:nvSpPr>
          <p:cNvPr id="551960" name="Oval 68"/>
          <p:cNvSpPr>
            <a:spLocks noChangeArrowheads="1"/>
          </p:cNvSpPr>
          <p:nvPr/>
        </p:nvSpPr>
        <p:spPr bwMode="auto">
          <a:xfrm>
            <a:off x="3244850" y="3727450"/>
            <a:ext cx="106363" cy="11271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pPr>
            <a:endParaRPr lang="en-US" sz="1600" dirty="0">
              <a:solidFill>
                <a:prstClr val="black"/>
              </a:solidFill>
              <a:latin typeface="Century Gothic"/>
              <a:ea typeface="ＭＳ Ｐゴシック" pitchFamily="34" charset="-128"/>
              <a:cs typeface="Century Gothic"/>
            </a:endParaRPr>
          </a:p>
        </p:txBody>
      </p:sp>
      <p:sp>
        <p:nvSpPr>
          <p:cNvPr id="551962" name="Freeform 76"/>
          <p:cNvSpPr>
            <a:spLocks/>
          </p:cNvSpPr>
          <p:nvPr/>
        </p:nvSpPr>
        <p:spPr bwMode="auto">
          <a:xfrm>
            <a:off x="452438" y="2225674"/>
            <a:ext cx="6837362" cy="3722687"/>
          </a:xfrm>
          <a:custGeom>
            <a:avLst/>
            <a:gdLst>
              <a:gd name="T0" fmla="*/ 6838066 w 3031"/>
              <a:gd name="T1" fmla="*/ 4853066 h 2072"/>
              <a:gd name="T2" fmla="*/ 0 w 3031"/>
              <a:gd name="T3" fmla="*/ 4853066 h 2072"/>
              <a:gd name="T4" fmla="*/ 0 w 3031"/>
              <a:gd name="T5" fmla="*/ 0 h 2072"/>
              <a:gd name="T6" fmla="*/ 0 60000 65536"/>
              <a:gd name="T7" fmla="*/ 0 60000 65536"/>
              <a:gd name="T8" fmla="*/ 0 60000 65536"/>
              <a:gd name="T9" fmla="*/ 0 w 3031"/>
              <a:gd name="T10" fmla="*/ 0 h 2072"/>
              <a:gd name="T11" fmla="*/ 3031 w 3031"/>
              <a:gd name="T12" fmla="*/ 2072 h 2072"/>
            </a:gdLst>
            <a:ahLst/>
            <a:cxnLst>
              <a:cxn ang="T6">
                <a:pos x="T0" y="T1"/>
              </a:cxn>
              <a:cxn ang="T7">
                <a:pos x="T2" y="T3"/>
              </a:cxn>
              <a:cxn ang="T8">
                <a:pos x="T4" y="T5"/>
              </a:cxn>
            </a:cxnLst>
            <a:rect l="T9" t="T10" r="T11" b="T12"/>
            <a:pathLst>
              <a:path w="3031" h="2072">
                <a:moveTo>
                  <a:pt x="3031" y="2072"/>
                </a:moveTo>
                <a:lnTo>
                  <a:pt x="0" y="2072"/>
                </a:lnTo>
                <a:lnTo>
                  <a:pt x="0" y="0"/>
                </a:lnTo>
              </a:path>
            </a:pathLst>
          </a:custGeom>
          <a:noFill/>
          <a:ln w="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spcBef>
                <a:spcPct val="0"/>
              </a:spcBef>
            </a:pPr>
            <a:endParaRPr lang="en-US" sz="1400" dirty="0">
              <a:solidFill>
                <a:prstClr val="black"/>
              </a:solidFill>
              <a:latin typeface="Century Gothic"/>
              <a:ea typeface="ＭＳ Ｐゴシック" pitchFamily="34" charset="-128"/>
              <a:cs typeface="Century Gothic"/>
            </a:endParaRPr>
          </a:p>
        </p:txBody>
      </p:sp>
      <p:sp>
        <p:nvSpPr>
          <p:cNvPr id="551964" name="Line 186"/>
          <p:cNvSpPr>
            <a:spLocks noChangeShapeType="1"/>
          </p:cNvSpPr>
          <p:nvPr/>
        </p:nvSpPr>
        <p:spPr bwMode="auto">
          <a:xfrm flipV="1">
            <a:off x="1706563" y="5948362"/>
            <a:ext cx="822856" cy="330994"/>
          </a:xfrm>
          <a:prstGeom prst="line">
            <a:avLst/>
          </a:prstGeom>
          <a:noFill/>
          <a:ln w="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solidFill>
                <a:prstClr val="black"/>
              </a:solidFill>
              <a:latin typeface="Century Gothic"/>
              <a:cs typeface="Century Gothic"/>
            </a:endParaRPr>
          </a:p>
        </p:txBody>
      </p:sp>
      <p:sp>
        <p:nvSpPr>
          <p:cNvPr id="551965" name="Freeform 187"/>
          <p:cNvSpPr>
            <a:spLocks/>
          </p:cNvSpPr>
          <p:nvPr/>
        </p:nvSpPr>
        <p:spPr bwMode="auto">
          <a:xfrm>
            <a:off x="715962" y="6019800"/>
            <a:ext cx="990600" cy="609600"/>
          </a:xfrm>
          <a:custGeom>
            <a:avLst/>
            <a:gdLst>
              <a:gd name="T0" fmla="*/ 825712 w 155"/>
              <a:gd name="T1" fmla="*/ 436154 h 98"/>
              <a:gd name="T2" fmla="*/ 735150 w 155"/>
              <a:gd name="T3" fmla="*/ 541052 h 98"/>
              <a:gd name="T4" fmla="*/ 90562 w 155"/>
              <a:gd name="T5" fmla="*/ 541052 h 98"/>
              <a:gd name="T6" fmla="*/ 0 w 155"/>
              <a:gd name="T7" fmla="*/ 436154 h 98"/>
              <a:gd name="T8" fmla="*/ 0 w 155"/>
              <a:gd name="T9" fmla="*/ 104898 h 98"/>
              <a:gd name="T10" fmla="*/ 90562 w 155"/>
              <a:gd name="T11" fmla="*/ 0 h 98"/>
              <a:gd name="T12" fmla="*/ 735150 w 155"/>
              <a:gd name="T13" fmla="*/ 0 h 98"/>
              <a:gd name="T14" fmla="*/ 825712 w 155"/>
              <a:gd name="T15" fmla="*/ 104898 h 98"/>
              <a:gd name="T16" fmla="*/ 825712 w 155"/>
              <a:gd name="T17" fmla="*/ 436154 h 9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5"/>
              <a:gd name="T28" fmla="*/ 0 h 98"/>
              <a:gd name="T29" fmla="*/ 155 w 155"/>
              <a:gd name="T30" fmla="*/ 98 h 9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5" h="98">
                <a:moveTo>
                  <a:pt x="155" y="79"/>
                </a:moveTo>
                <a:cubicBezTo>
                  <a:pt x="155" y="89"/>
                  <a:pt x="147" y="98"/>
                  <a:pt x="138" y="98"/>
                </a:cubicBezTo>
                <a:cubicBezTo>
                  <a:pt x="17" y="98"/>
                  <a:pt x="17" y="98"/>
                  <a:pt x="17" y="98"/>
                </a:cubicBezTo>
                <a:cubicBezTo>
                  <a:pt x="7" y="98"/>
                  <a:pt x="0" y="89"/>
                  <a:pt x="0" y="79"/>
                </a:cubicBezTo>
                <a:cubicBezTo>
                  <a:pt x="0" y="19"/>
                  <a:pt x="0" y="19"/>
                  <a:pt x="0" y="19"/>
                </a:cubicBezTo>
                <a:cubicBezTo>
                  <a:pt x="0" y="8"/>
                  <a:pt x="7" y="0"/>
                  <a:pt x="17" y="0"/>
                </a:cubicBezTo>
                <a:cubicBezTo>
                  <a:pt x="138" y="0"/>
                  <a:pt x="138" y="0"/>
                  <a:pt x="138" y="0"/>
                </a:cubicBezTo>
                <a:cubicBezTo>
                  <a:pt x="147" y="0"/>
                  <a:pt x="155" y="8"/>
                  <a:pt x="155" y="19"/>
                </a:cubicBezTo>
                <a:lnTo>
                  <a:pt x="155" y="79"/>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pPr>
            <a:endParaRPr lang="en-US" sz="1600" dirty="0">
              <a:solidFill>
                <a:prstClr val="black"/>
              </a:solidFill>
              <a:latin typeface="Century Gothic"/>
              <a:ea typeface="ＭＳ Ｐゴシック" pitchFamily="34" charset="-128"/>
              <a:cs typeface="Century Gothic"/>
            </a:endParaRPr>
          </a:p>
        </p:txBody>
      </p:sp>
      <p:sp>
        <p:nvSpPr>
          <p:cNvPr id="551966" name="Rectangle 30"/>
          <p:cNvSpPr>
            <a:spLocks noChangeArrowheads="1"/>
          </p:cNvSpPr>
          <p:nvPr/>
        </p:nvSpPr>
        <p:spPr bwMode="auto">
          <a:xfrm>
            <a:off x="6553200" y="6096000"/>
            <a:ext cx="1447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b="1" dirty="0">
                <a:solidFill>
                  <a:prstClr val="black"/>
                </a:solidFill>
                <a:latin typeface="Century Gothic"/>
                <a:ea typeface="ＭＳ Ｐゴシック" pitchFamily="34" charset="-128"/>
                <a:cs typeface="Century Gothic"/>
              </a:rPr>
              <a:t>Real GDP</a:t>
            </a:r>
          </a:p>
        </p:txBody>
      </p:sp>
      <p:sp>
        <p:nvSpPr>
          <p:cNvPr id="551967" name="Rectangle 31"/>
          <p:cNvSpPr>
            <a:spLocks noChangeArrowheads="1"/>
          </p:cNvSpPr>
          <p:nvPr/>
        </p:nvSpPr>
        <p:spPr bwMode="auto">
          <a:xfrm>
            <a:off x="76200" y="1331912"/>
            <a:ext cx="152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b="1" dirty="0">
                <a:solidFill>
                  <a:prstClr val="black"/>
                </a:solidFill>
                <a:latin typeface="Century Gothic"/>
                <a:ea typeface="ＭＳ Ｐゴシック" pitchFamily="34" charset="-128"/>
                <a:cs typeface="Century Gothic"/>
              </a:rPr>
              <a:t>Aggregate price level</a:t>
            </a:r>
          </a:p>
        </p:txBody>
      </p:sp>
      <p:sp>
        <p:nvSpPr>
          <p:cNvPr id="551968" name="Rectangle 32"/>
          <p:cNvSpPr>
            <a:spLocks noChangeArrowheads="1"/>
          </p:cNvSpPr>
          <p:nvPr/>
        </p:nvSpPr>
        <p:spPr bwMode="auto">
          <a:xfrm>
            <a:off x="715962" y="6019800"/>
            <a:ext cx="12192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en-US" sz="1600" i="1" dirty="0">
                <a:solidFill>
                  <a:prstClr val="black"/>
                </a:solidFill>
                <a:latin typeface="Century Gothic"/>
                <a:ea typeface="ＭＳ Ｐゴシック" pitchFamily="34" charset="-128"/>
                <a:cs typeface="Century Gothic"/>
              </a:rPr>
              <a:t>Potential</a:t>
            </a:r>
          </a:p>
          <a:p>
            <a:pPr>
              <a:spcBef>
                <a:spcPct val="0"/>
              </a:spcBef>
            </a:pPr>
            <a:r>
              <a:rPr lang="en-US" sz="1600" i="1" dirty="0">
                <a:solidFill>
                  <a:prstClr val="black"/>
                </a:solidFill>
                <a:latin typeface="Century Gothic"/>
                <a:ea typeface="ＭＳ Ｐゴシック" pitchFamily="34" charset="-128"/>
                <a:cs typeface="Century Gothic"/>
              </a:rPr>
              <a:t>output</a:t>
            </a:r>
          </a:p>
        </p:txBody>
      </p:sp>
      <p:sp>
        <p:nvSpPr>
          <p:cNvPr id="551986" name="Rectangle 54"/>
          <p:cNvSpPr>
            <a:spLocks noChangeArrowheads="1"/>
          </p:cNvSpPr>
          <p:nvPr/>
        </p:nvSpPr>
        <p:spPr bwMode="auto">
          <a:xfrm>
            <a:off x="3762375" y="5437187"/>
            <a:ext cx="41136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AD</a:t>
            </a:r>
            <a:r>
              <a:rPr lang="en-US" sz="1600" baseline="-25000" dirty="0">
                <a:solidFill>
                  <a:srgbClr val="000000"/>
                </a:solidFill>
                <a:latin typeface="Century Gothic"/>
                <a:ea typeface="ＭＳ Ｐゴシック" pitchFamily="34" charset="-128"/>
                <a:cs typeface="Century Gothic"/>
              </a:rPr>
              <a:t>2</a:t>
            </a:r>
            <a:endParaRPr lang="en-US" sz="1600" i="1" dirty="0">
              <a:solidFill>
                <a:prstClr val="black"/>
              </a:solidFill>
              <a:latin typeface="Century Gothic"/>
              <a:ea typeface="ＭＳ Ｐゴシック" pitchFamily="34" charset="-128"/>
              <a:cs typeface="Century Gothic"/>
            </a:endParaRPr>
          </a:p>
        </p:txBody>
      </p:sp>
      <p:sp>
        <p:nvSpPr>
          <p:cNvPr id="551988" name="Freeform 56"/>
          <p:cNvSpPr>
            <a:spLocks/>
          </p:cNvSpPr>
          <p:nvPr/>
        </p:nvSpPr>
        <p:spPr bwMode="auto">
          <a:xfrm>
            <a:off x="2286000" y="6477000"/>
            <a:ext cx="1676400" cy="381000"/>
          </a:xfrm>
          <a:custGeom>
            <a:avLst/>
            <a:gdLst>
              <a:gd name="T0" fmla="*/ 1369419 w 257"/>
              <a:gd name="T1" fmla="*/ 203732 h 57"/>
              <a:gd name="T2" fmla="*/ 1278835 w 257"/>
              <a:gd name="T3" fmla="*/ 313857 h 57"/>
              <a:gd name="T4" fmla="*/ 90584 w 257"/>
              <a:gd name="T5" fmla="*/ 313857 h 57"/>
              <a:gd name="T6" fmla="*/ 0 w 257"/>
              <a:gd name="T7" fmla="*/ 203732 h 57"/>
              <a:gd name="T8" fmla="*/ 0 w 257"/>
              <a:gd name="T9" fmla="*/ 104619 h 57"/>
              <a:gd name="T10" fmla="*/ 90584 w 257"/>
              <a:gd name="T11" fmla="*/ 0 h 57"/>
              <a:gd name="T12" fmla="*/ 1278835 w 257"/>
              <a:gd name="T13" fmla="*/ 0 h 57"/>
              <a:gd name="T14" fmla="*/ 1369419 w 257"/>
              <a:gd name="T15" fmla="*/ 104619 h 57"/>
              <a:gd name="T16" fmla="*/ 1369419 w 257"/>
              <a:gd name="T17" fmla="*/ 203732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7"/>
              <a:gd name="T28" fmla="*/ 0 h 57"/>
              <a:gd name="T29" fmla="*/ 257 w 257"/>
              <a:gd name="T30" fmla="*/ 57 h 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7" h="57">
                <a:moveTo>
                  <a:pt x="257" y="37"/>
                </a:moveTo>
                <a:cubicBezTo>
                  <a:pt x="257" y="48"/>
                  <a:pt x="249" y="57"/>
                  <a:pt x="240" y="57"/>
                </a:cubicBezTo>
                <a:cubicBezTo>
                  <a:pt x="17" y="57"/>
                  <a:pt x="17" y="57"/>
                  <a:pt x="17" y="57"/>
                </a:cubicBezTo>
                <a:cubicBezTo>
                  <a:pt x="7" y="57"/>
                  <a:pt x="0" y="48"/>
                  <a:pt x="0" y="37"/>
                </a:cubicBezTo>
                <a:cubicBezTo>
                  <a:pt x="0" y="19"/>
                  <a:pt x="0" y="19"/>
                  <a:pt x="0" y="19"/>
                </a:cubicBezTo>
                <a:cubicBezTo>
                  <a:pt x="0" y="9"/>
                  <a:pt x="7" y="0"/>
                  <a:pt x="17" y="0"/>
                </a:cubicBezTo>
                <a:cubicBezTo>
                  <a:pt x="240" y="0"/>
                  <a:pt x="240" y="0"/>
                  <a:pt x="240" y="0"/>
                </a:cubicBezTo>
                <a:cubicBezTo>
                  <a:pt x="249" y="0"/>
                  <a:pt x="257" y="9"/>
                  <a:pt x="257" y="19"/>
                </a:cubicBezTo>
                <a:lnTo>
                  <a:pt x="257" y="37"/>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pPr>
            <a:endParaRPr lang="en-US" sz="1600" dirty="0">
              <a:solidFill>
                <a:prstClr val="black"/>
              </a:solidFill>
              <a:latin typeface="Century Gothic"/>
              <a:ea typeface="ＭＳ Ｐゴシック" pitchFamily="34" charset="-128"/>
              <a:cs typeface="Century Gothic"/>
            </a:endParaRPr>
          </a:p>
        </p:txBody>
      </p:sp>
      <p:sp>
        <p:nvSpPr>
          <p:cNvPr id="551989" name="Rectangle 53"/>
          <p:cNvSpPr>
            <a:spLocks noChangeArrowheads="1"/>
          </p:cNvSpPr>
          <p:nvPr/>
        </p:nvSpPr>
        <p:spPr bwMode="auto">
          <a:xfrm>
            <a:off x="2286000" y="6477000"/>
            <a:ext cx="17930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sz="1600" i="1" dirty="0">
                <a:solidFill>
                  <a:prstClr val="black"/>
                </a:solidFill>
                <a:latin typeface="Century Gothic"/>
                <a:ea typeface="ＭＳ Ｐゴシック" pitchFamily="34" charset="-128"/>
                <a:cs typeface="Century Gothic"/>
              </a:rPr>
              <a:t>Inflationary gap</a:t>
            </a:r>
          </a:p>
        </p:txBody>
      </p:sp>
      <p:sp>
        <p:nvSpPr>
          <p:cNvPr id="551990" name="Line 54"/>
          <p:cNvSpPr>
            <a:spLocks noChangeShapeType="1"/>
          </p:cNvSpPr>
          <p:nvPr/>
        </p:nvSpPr>
        <p:spPr bwMode="auto">
          <a:xfrm flipH="1">
            <a:off x="457200" y="4267200"/>
            <a:ext cx="2049463" cy="158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solidFill>
                <a:prstClr val="black"/>
              </a:solidFill>
              <a:latin typeface="Century Gothic"/>
              <a:cs typeface="Century Gothic"/>
            </a:endParaRPr>
          </a:p>
        </p:txBody>
      </p:sp>
      <p:sp>
        <p:nvSpPr>
          <p:cNvPr id="551991" name="Rectangle 9"/>
          <p:cNvSpPr>
            <a:spLocks noChangeArrowheads="1"/>
          </p:cNvSpPr>
          <p:nvPr/>
        </p:nvSpPr>
        <p:spPr bwMode="auto">
          <a:xfrm>
            <a:off x="2473325" y="5967412"/>
            <a:ext cx="23091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Y</a:t>
            </a:r>
            <a:r>
              <a:rPr lang="en-US" sz="1600" baseline="-25000" dirty="0">
                <a:solidFill>
                  <a:srgbClr val="000000"/>
                </a:solidFill>
                <a:latin typeface="Century Gothic"/>
                <a:ea typeface="ＭＳ Ｐゴシック" pitchFamily="34" charset="-128"/>
                <a:cs typeface="Century Gothic"/>
              </a:rPr>
              <a:t>P</a:t>
            </a:r>
            <a:endParaRPr lang="en-US" sz="1600" i="1" dirty="0">
              <a:solidFill>
                <a:prstClr val="black"/>
              </a:solidFill>
              <a:latin typeface="Century Gothic"/>
              <a:ea typeface="ＭＳ Ｐゴシック" pitchFamily="34" charset="-128"/>
              <a:cs typeface="Century Gothic"/>
            </a:endParaRPr>
          </a:p>
        </p:txBody>
      </p:sp>
      <p:sp>
        <p:nvSpPr>
          <p:cNvPr id="551993" name="Freeform 75"/>
          <p:cNvSpPr>
            <a:spLocks/>
          </p:cNvSpPr>
          <p:nvPr/>
        </p:nvSpPr>
        <p:spPr bwMode="auto">
          <a:xfrm>
            <a:off x="2573338" y="6261100"/>
            <a:ext cx="723900" cy="139700"/>
          </a:xfrm>
          <a:custGeom>
            <a:avLst/>
            <a:gdLst>
              <a:gd name="T0" fmla="*/ 0 w 136"/>
              <a:gd name="T1" fmla="*/ 0 h 25"/>
              <a:gd name="T2" fmla="*/ 63899 w 136"/>
              <a:gd name="T3" fmla="*/ 82915 h 25"/>
              <a:gd name="T4" fmla="*/ 319496 w 136"/>
              <a:gd name="T5" fmla="*/ 82915 h 25"/>
              <a:gd name="T6" fmla="*/ 362095 w 136"/>
              <a:gd name="T7" fmla="*/ 138191 h 25"/>
              <a:gd name="T8" fmla="*/ 404694 w 136"/>
              <a:gd name="T9" fmla="*/ 82915 h 25"/>
              <a:gd name="T10" fmla="*/ 660291 w 136"/>
              <a:gd name="T11" fmla="*/ 82915 h 25"/>
              <a:gd name="T12" fmla="*/ 724190 w 136"/>
              <a:gd name="T13" fmla="*/ 0 h 25"/>
              <a:gd name="T14" fmla="*/ 0 60000 65536"/>
              <a:gd name="T15" fmla="*/ 0 60000 65536"/>
              <a:gd name="T16" fmla="*/ 0 60000 65536"/>
              <a:gd name="T17" fmla="*/ 0 60000 65536"/>
              <a:gd name="T18" fmla="*/ 0 60000 65536"/>
              <a:gd name="T19" fmla="*/ 0 60000 65536"/>
              <a:gd name="T20" fmla="*/ 0 60000 65536"/>
              <a:gd name="T21" fmla="*/ 0 w 136"/>
              <a:gd name="T22" fmla="*/ 0 h 25"/>
              <a:gd name="T23" fmla="*/ 136 w 136"/>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6" h="25">
                <a:moveTo>
                  <a:pt x="0" y="0"/>
                </a:moveTo>
                <a:cubicBezTo>
                  <a:pt x="0" y="10"/>
                  <a:pt x="2" y="15"/>
                  <a:pt x="12" y="15"/>
                </a:cubicBezTo>
                <a:cubicBezTo>
                  <a:pt x="14" y="15"/>
                  <a:pt x="59" y="15"/>
                  <a:pt x="60" y="15"/>
                </a:cubicBezTo>
                <a:cubicBezTo>
                  <a:pt x="63" y="15"/>
                  <a:pt x="68" y="17"/>
                  <a:pt x="68" y="25"/>
                </a:cubicBezTo>
                <a:cubicBezTo>
                  <a:pt x="68" y="17"/>
                  <a:pt x="73" y="15"/>
                  <a:pt x="76" y="15"/>
                </a:cubicBezTo>
                <a:cubicBezTo>
                  <a:pt x="77" y="15"/>
                  <a:pt x="122" y="15"/>
                  <a:pt x="124" y="15"/>
                </a:cubicBezTo>
                <a:cubicBezTo>
                  <a:pt x="134" y="15"/>
                  <a:pt x="136" y="10"/>
                  <a:pt x="136" y="0"/>
                </a:cubicBezTo>
              </a:path>
            </a:pathLst>
          </a:custGeom>
          <a:noFill/>
          <a:ln w="15">
            <a:solidFill>
              <a:srgbClr val="6D6F71"/>
            </a:solidFill>
            <a:round/>
            <a:headEnd/>
            <a:tailEnd/>
          </a:ln>
          <a:extLst>
            <a:ext uri="{909E8E84-426E-40DD-AFC4-6F175D3DCCD1}">
              <a14:hiddenFill xmlns:a14="http://schemas.microsoft.com/office/drawing/2010/main">
                <a:solidFill>
                  <a:srgbClr val="FFFFFF"/>
                </a:solidFill>
              </a14:hiddenFill>
            </a:ext>
          </a:extLst>
        </p:spPr>
        <p:txBody>
          <a:bodyPr/>
          <a:lstStyle/>
          <a:p>
            <a:pPr>
              <a:spcBef>
                <a:spcPct val="0"/>
              </a:spcBef>
            </a:pPr>
            <a:endParaRPr lang="en-US" sz="1600" dirty="0">
              <a:solidFill>
                <a:prstClr val="black"/>
              </a:solidFill>
              <a:latin typeface="Century Gothic"/>
              <a:ea typeface="ＭＳ Ｐゴシック" pitchFamily="34" charset="-128"/>
              <a:cs typeface="Century Gothic"/>
            </a:endParaRPr>
          </a:p>
        </p:txBody>
      </p:sp>
      <p:sp>
        <p:nvSpPr>
          <p:cNvPr id="551999" name="Rectangle 35"/>
          <p:cNvSpPr>
            <a:spLocks noChangeArrowheads="1"/>
          </p:cNvSpPr>
          <p:nvPr/>
        </p:nvSpPr>
        <p:spPr bwMode="auto">
          <a:xfrm>
            <a:off x="2319868" y="4415368"/>
            <a:ext cx="21435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E</a:t>
            </a:r>
            <a:r>
              <a:rPr lang="en-US" sz="1600" baseline="-25000" dirty="0">
                <a:solidFill>
                  <a:srgbClr val="000000"/>
                </a:solidFill>
                <a:latin typeface="Century Gothic"/>
                <a:ea typeface="ＭＳ Ｐゴシック" pitchFamily="34" charset="-128"/>
                <a:cs typeface="Century Gothic"/>
              </a:rPr>
              <a:t>2</a:t>
            </a:r>
            <a:endParaRPr lang="en-US" sz="1600" i="1" dirty="0">
              <a:solidFill>
                <a:prstClr val="black"/>
              </a:solidFill>
              <a:latin typeface="Century Gothic"/>
              <a:ea typeface="ＭＳ Ｐゴシック" pitchFamily="34" charset="-128"/>
              <a:cs typeface="Century Gothic"/>
            </a:endParaRPr>
          </a:p>
        </p:txBody>
      </p:sp>
      <p:sp>
        <p:nvSpPr>
          <p:cNvPr id="552000" name="Oval 69"/>
          <p:cNvSpPr>
            <a:spLocks noChangeArrowheads="1"/>
          </p:cNvSpPr>
          <p:nvPr/>
        </p:nvSpPr>
        <p:spPr bwMode="auto">
          <a:xfrm>
            <a:off x="2517775" y="4214812"/>
            <a:ext cx="109538" cy="1127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spcBef>
                <a:spcPct val="0"/>
              </a:spcBef>
            </a:pPr>
            <a:endParaRPr lang="en-US" sz="1600" dirty="0">
              <a:solidFill>
                <a:prstClr val="black"/>
              </a:solidFill>
              <a:latin typeface="Century Gothic"/>
              <a:ea typeface="ＭＳ Ｐゴシック" pitchFamily="34" charset="-128"/>
              <a:cs typeface="Century Gothic"/>
            </a:endParaRPr>
          </a:p>
        </p:txBody>
      </p:sp>
      <p:sp>
        <p:nvSpPr>
          <p:cNvPr id="552003" name="Line 67"/>
          <p:cNvSpPr>
            <a:spLocks noChangeShapeType="1"/>
          </p:cNvSpPr>
          <p:nvPr/>
        </p:nvSpPr>
        <p:spPr bwMode="auto">
          <a:xfrm flipV="1">
            <a:off x="3282949" y="3812380"/>
            <a:ext cx="28575" cy="215503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solidFill>
                <a:prstClr val="black"/>
              </a:solidFill>
              <a:latin typeface="Century Gothic"/>
              <a:cs typeface="Century Gothic"/>
            </a:endParaRPr>
          </a:p>
        </p:txBody>
      </p:sp>
      <p:sp>
        <p:nvSpPr>
          <p:cNvPr id="552005" name="Line 69"/>
          <p:cNvSpPr>
            <a:spLocks noChangeShapeType="1"/>
          </p:cNvSpPr>
          <p:nvPr/>
        </p:nvSpPr>
        <p:spPr bwMode="auto">
          <a:xfrm>
            <a:off x="228600" y="3886200"/>
            <a:ext cx="0" cy="292100"/>
          </a:xfrm>
          <a:prstGeom prst="line">
            <a:avLst/>
          </a:prstGeom>
          <a:noFill/>
          <a:ln w="158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solidFill>
                <a:prstClr val="black"/>
              </a:solidFill>
              <a:latin typeface="Century Gothic"/>
              <a:cs typeface="Century Gothic"/>
            </a:endParaRPr>
          </a:p>
        </p:txBody>
      </p:sp>
      <p:sp>
        <p:nvSpPr>
          <p:cNvPr id="552008" name="Rectangle 13"/>
          <p:cNvSpPr>
            <a:spLocks noChangeArrowheads="1"/>
          </p:cNvSpPr>
          <p:nvPr/>
        </p:nvSpPr>
        <p:spPr bwMode="auto">
          <a:xfrm>
            <a:off x="152400" y="4191000"/>
            <a:ext cx="2257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sz="1600" i="1" dirty="0">
                <a:solidFill>
                  <a:srgbClr val="000000"/>
                </a:solidFill>
                <a:latin typeface="Century Gothic"/>
                <a:ea typeface="ＭＳ Ｐゴシック" pitchFamily="34" charset="-128"/>
                <a:cs typeface="Century Gothic"/>
              </a:rPr>
              <a:t>P</a:t>
            </a:r>
            <a:r>
              <a:rPr lang="en-US" sz="1600" baseline="-25000" dirty="0">
                <a:solidFill>
                  <a:srgbClr val="000000"/>
                </a:solidFill>
                <a:latin typeface="Century Gothic"/>
                <a:ea typeface="ＭＳ Ｐゴシック" pitchFamily="34" charset="-128"/>
                <a:cs typeface="Century Gothic"/>
              </a:rPr>
              <a:t>2</a:t>
            </a:r>
            <a:endParaRPr lang="en-US" sz="1600" i="1" dirty="0">
              <a:solidFill>
                <a:prstClr val="black"/>
              </a:solidFill>
              <a:latin typeface="Century Gothic"/>
              <a:ea typeface="ＭＳ Ｐゴシック" pitchFamily="34" charset="-128"/>
              <a:cs typeface="Century Gothic"/>
            </a:endParaRPr>
          </a:p>
        </p:txBody>
      </p:sp>
      <p:sp>
        <p:nvSpPr>
          <p:cNvPr id="552009" name="Rectangle 73"/>
          <p:cNvSpPr>
            <a:spLocks noGrp="1" noRot="1" noChangeArrowheads="1"/>
          </p:cNvSpPr>
          <p:nvPr>
            <p:ph type="title"/>
          </p:nvPr>
        </p:nvSpPr>
        <p:spPr>
          <a:xfrm>
            <a:off x="0" y="0"/>
            <a:ext cx="9144000" cy="1143000"/>
          </a:xfrm>
        </p:spPr>
        <p:txBody>
          <a:bodyPr>
            <a:noAutofit/>
          </a:bodyPr>
          <a:lstStyle/>
          <a:p>
            <a:r>
              <a:rPr lang="en-US" sz="4000" spc="0" dirty="0"/>
              <a:t>CONTRACTIONARY FISCAL POLICY</a:t>
            </a:r>
            <a:br>
              <a:rPr lang="en-US" sz="4000" spc="0" dirty="0"/>
            </a:br>
            <a:r>
              <a:rPr lang="en-US" sz="4000" spc="0" dirty="0"/>
              <a:t>CAN CLOSE AN INFLATIONARY GAP</a:t>
            </a:r>
          </a:p>
        </p:txBody>
      </p:sp>
      <p:sp>
        <p:nvSpPr>
          <p:cNvPr id="54" name="TextBox 53"/>
          <p:cNvSpPr txBox="1"/>
          <p:nvPr/>
        </p:nvSpPr>
        <p:spPr>
          <a:xfrm>
            <a:off x="5638800" y="2580144"/>
            <a:ext cx="3505200" cy="3416320"/>
          </a:xfrm>
          <a:prstGeom prst="rect">
            <a:avLst/>
          </a:prstGeom>
          <a:noFill/>
        </p:spPr>
        <p:txBody>
          <a:bodyPr wrap="square" rtlCol="0">
            <a:spAutoFit/>
          </a:bodyPr>
          <a:lstStyle/>
          <a:p>
            <a:r>
              <a:rPr lang="en-US" sz="2400" b="1" i="1" dirty="0">
                <a:solidFill>
                  <a:prstClr val="black">
                    <a:lumMod val="65000"/>
                    <a:lumOff val="35000"/>
                  </a:prstClr>
                </a:solidFill>
                <a:latin typeface="Century Gothic"/>
                <a:cs typeface="Century Gothic"/>
              </a:rPr>
              <a:t>Instead of waiting for the long-run correction mechanism, policy makers could choose to contract </a:t>
            </a:r>
            <a:r>
              <a:rPr lang="en-US" sz="2400" b="1" dirty="0">
                <a:solidFill>
                  <a:prstClr val="black">
                    <a:lumMod val="65000"/>
                    <a:lumOff val="35000"/>
                  </a:prstClr>
                </a:solidFill>
                <a:latin typeface="Century Gothic"/>
                <a:cs typeface="Century Gothic"/>
              </a:rPr>
              <a:t>AD</a:t>
            </a:r>
            <a:r>
              <a:rPr lang="en-US" sz="2400" b="1" i="1" dirty="0">
                <a:solidFill>
                  <a:prstClr val="black">
                    <a:lumMod val="65000"/>
                    <a:lumOff val="35000"/>
                  </a:prstClr>
                </a:solidFill>
                <a:latin typeface="Century Gothic"/>
                <a:cs typeface="Century Gothic"/>
              </a:rPr>
              <a:t> and move the economy back toward long-run equilibrium.</a:t>
            </a:r>
          </a:p>
        </p:txBody>
      </p:sp>
    </p:spTree>
    <p:extLst>
      <p:ext uri="{BB962C8B-B14F-4D97-AF65-F5344CB8AC3E}">
        <p14:creationId xmlns:p14="http://schemas.microsoft.com/office/powerpoint/2010/main" val="1083127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551938"/>
                                        </p:tgtEl>
                                        <p:attrNameLst>
                                          <p:attrName>style.visibility</p:attrName>
                                        </p:attrNameLst>
                                      </p:cBhvr>
                                      <p:to>
                                        <p:strVal val="visible"/>
                                      </p:to>
                                    </p:set>
                                    <p:animEffect transition="in" filter="fade">
                                      <p:cBhvr>
                                        <p:cTn id="7" dur="1000"/>
                                        <p:tgtEl>
                                          <p:spTgt spid="551938"/>
                                        </p:tgtEl>
                                      </p:cBhvr>
                                    </p:animEffect>
                                  </p:childTnLst>
                                </p:cTn>
                              </p:par>
                              <p:par>
                                <p:cTn id="8" presetID="42" presetClass="path" presetSubtype="0" accel="50000" decel="50000" fill="hold" grpId="0" nodeType="withEffect">
                                  <p:stCondLst>
                                    <p:cond delay="0"/>
                                  </p:stCondLst>
                                  <p:childTnLst>
                                    <p:animMotion origin="layout" path="M 0.05833 -0.07778 L 5.55112E-17 1.11022E-16 " pathEditMode="relative" rAng="0" ptsTypes="AA">
                                      <p:cBhvr>
                                        <p:cTn id="9" dur="2000" fill="hold"/>
                                        <p:tgtEl>
                                          <p:spTgt spid="551938"/>
                                        </p:tgtEl>
                                        <p:attrNameLst>
                                          <p:attrName>ppt_x</p:attrName>
                                          <p:attrName>ppt_y</p:attrName>
                                        </p:attrNameLst>
                                      </p:cBhvr>
                                      <p:rCtr x="-2917" y="3889"/>
                                    </p:animMotion>
                                  </p:childTnLst>
                                </p:cTn>
                              </p:par>
                            </p:childTnLst>
                          </p:cTn>
                        </p:par>
                        <p:par>
                          <p:cTn id="10" fill="hold">
                            <p:stCondLst>
                              <p:cond delay="2000"/>
                            </p:stCondLst>
                            <p:childTnLst>
                              <p:par>
                                <p:cTn id="11" presetID="10" presetClass="entr" presetSubtype="0" fill="hold" grpId="0" nodeType="afterEffect">
                                  <p:stCondLst>
                                    <p:cond delay="0"/>
                                  </p:stCondLst>
                                  <p:childTnLst>
                                    <p:set>
                                      <p:cBhvr>
                                        <p:cTn id="12" dur="1" fill="hold">
                                          <p:stCondLst>
                                            <p:cond delay="0"/>
                                          </p:stCondLst>
                                        </p:cTn>
                                        <p:tgtEl>
                                          <p:spTgt spid="551986"/>
                                        </p:tgtEl>
                                        <p:attrNameLst>
                                          <p:attrName>style.visibility</p:attrName>
                                        </p:attrNameLst>
                                      </p:cBhvr>
                                      <p:to>
                                        <p:strVal val="visible"/>
                                      </p:to>
                                    </p:set>
                                    <p:animEffect transition="in" filter="fade">
                                      <p:cBhvr>
                                        <p:cTn id="13" dur="500"/>
                                        <p:tgtEl>
                                          <p:spTgt spid="551986"/>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552000"/>
                                        </p:tgtEl>
                                        <p:attrNameLst>
                                          <p:attrName>style.visibility</p:attrName>
                                        </p:attrNameLst>
                                      </p:cBhvr>
                                      <p:to>
                                        <p:strVal val="visible"/>
                                      </p:to>
                                    </p:set>
                                    <p:animEffect transition="in" filter="fade">
                                      <p:cBhvr>
                                        <p:cTn id="17" dur="500"/>
                                        <p:tgtEl>
                                          <p:spTgt spid="55200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51999"/>
                                        </p:tgtEl>
                                        <p:attrNameLst>
                                          <p:attrName>style.visibility</p:attrName>
                                        </p:attrNameLst>
                                      </p:cBhvr>
                                      <p:to>
                                        <p:strVal val="visible"/>
                                      </p:to>
                                    </p:set>
                                    <p:animEffect transition="in" filter="fade">
                                      <p:cBhvr>
                                        <p:cTn id="20" dur="500"/>
                                        <p:tgtEl>
                                          <p:spTgt spid="551999"/>
                                        </p:tgtEl>
                                      </p:cBhvr>
                                    </p:animEffect>
                                  </p:childTnLst>
                                </p:cTn>
                              </p:par>
                            </p:childTnLst>
                          </p:cTn>
                        </p:par>
                        <p:par>
                          <p:cTn id="21" fill="hold" nodeType="afterGroup">
                            <p:stCondLst>
                              <p:cond delay="3000"/>
                            </p:stCondLst>
                            <p:childTnLst>
                              <p:par>
                                <p:cTn id="22" presetID="22" presetClass="entr" presetSubtype="2" fill="hold" grpId="0" nodeType="afterEffect">
                                  <p:stCondLst>
                                    <p:cond delay="0"/>
                                  </p:stCondLst>
                                  <p:childTnLst>
                                    <p:set>
                                      <p:cBhvr>
                                        <p:cTn id="23" dur="1" fill="hold">
                                          <p:stCondLst>
                                            <p:cond delay="0"/>
                                          </p:stCondLst>
                                        </p:cTn>
                                        <p:tgtEl>
                                          <p:spTgt spid="551990"/>
                                        </p:tgtEl>
                                        <p:attrNameLst>
                                          <p:attrName>style.visibility</p:attrName>
                                        </p:attrNameLst>
                                      </p:cBhvr>
                                      <p:to>
                                        <p:strVal val="visible"/>
                                      </p:to>
                                    </p:set>
                                    <p:animEffect transition="in" filter="wipe(right)">
                                      <p:cBhvr>
                                        <p:cTn id="24" dur="500"/>
                                        <p:tgtEl>
                                          <p:spTgt spid="551990"/>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552005"/>
                                        </p:tgtEl>
                                        <p:attrNameLst>
                                          <p:attrName>style.visibility</p:attrName>
                                        </p:attrNameLst>
                                      </p:cBhvr>
                                      <p:to>
                                        <p:strVal val="visible"/>
                                      </p:to>
                                    </p:set>
                                    <p:animEffect transition="in" filter="fade">
                                      <p:cBhvr>
                                        <p:cTn id="28" dur="500"/>
                                        <p:tgtEl>
                                          <p:spTgt spid="552005"/>
                                        </p:tgtEl>
                                      </p:cBhvr>
                                    </p:animEffect>
                                  </p:childTnLst>
                                </p:cTn>
                              </p:par>
                            </p:childTnLst>
                          </p:cTn>
                        </p:par>
                        <p:par>
                          <p:cTn id="29" fill="hold" nodeType="afterGroup">
                            <p:stCondLst>
                              <p:cond delay="4000"/>
                            </p:stCondLst>
                            <p:childTnLst>
                              <p:par>
                                <p:cTn id="30" presetID="10" presetClass="entr" presetSubtype="0" fill="hold" grpId="0" nodeType="afterEffect">
                                  <p:stCondLst>
                                    <p:cond delay="0"/>
                                  </p:stCondLst>
                                  <p:childTnLst>
                                    <p:set>
                                      <p:cBhvr>
                                        <p:cTn id="31" dur="1" fill="hold">
                                          <p:stCondLst>
                                            <p:cond delay="0"/>
                                          </p:stCondLst>
                                        </p:cTn>
                                        <p:tgtEl>
                                          <p:spTgt spid="552008"/>
                                        </p:tgtEl>
                                        <p:attrNameLst>
                                          <p:attrName>style.visibility</p:attrName>
                                        </p:attrNameLst>
                                      </p:cBhvr>
                                      <p:to>
                                        <p:strVal val="visible"/>
                                      </p:to>
                                    </p:set>
                                    <p:animEffect transition="in" filter="fade">
                                      <p:cBhvr>
                                        <p:cTn id="32" dur="500"/>
                                        <p:tgtEl>
                                          <p:spTgt spid="552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38" grpId="0" animBg="1"/>
      <p:bldP spid="551938" grpId="1" animBg="1"/>
      <p:bldP spid="551986" grpId="0"/>
      <p:bldP spid="551990" grpId="0" animBg="1"/>
      <p:bldP spid="551999" grpId="0"/>
      <p:bldP spid="552000" grpId="0" animBg="1"/>
      <p:bldP spid="552005" grpId="0" animBg="1"/>
      <p:bldP spid="55200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4038600"/>
            <a:ext cx="8458200" cy="2317750"/>
          </a:xfrm>
        </p:spPr>
        <p:txBody>
          <a:bodyPr>
            <a:noAutofit/>
          </a:bodyPr>
          <a:lstStyle/>
          <a:p>
            <a:r>
              <a:rPr lang="en-US" sz="2800" dirty="0"/>
              <a:t>Do you think the government is right to begin massive spending programs during deep recessions?</a:t>
            </a:r>
          </a:p>
          <a:p>
            <a:pPr marL="742950" indent="-742950">
              <a:buFont typeface="+mj-lt"/>
              <a:buAutoNum type="alphaLcParenR"/>
            </a:pPr>
            <a:r>
              <a:rPr lang="en-US" sz="2800" dirty="0"/>
              <a:t>Yes</a:t>
            </a:r>
          </a:p>
          <a:p>
            <a:pPr marL="742950" indent="-742950">
              <a:buFont typeface="+mj-lt"/>
              <a:buAutoNum type="alphaLcParenR"/>
            </a:pPr>
            <a:r>
              <a:rPr lang="en-US" sz="2800" dirty="0"/>
              <a:t>No</a:t>
            </a:r>
          </a:p>
        </p:txBody>
      </p:sp>
      <p:pic>
        <p:nvPicPr>
          <p:cNvPr id="6" name="Picture 6"/>
          <p:cNvPicPr>
            <a:picLocks noChangeAspect="1" noChangeArrowheads="1"/>
          </p:cNvPicPr>
          <p:nvPr/>
        </p:nvPicPr>
        <p:blipFill>
          <a:blip r:embed="rId3" cstate="screen">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0" y="1536679"/>
            <a:ext cx="1906288" cy="234952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7"/>
          <p:cNvPicPr>
            <a:picLocks noChangeAspect="1" noChangeArrowheads="1"/>
          </p:cNvPicPr>
          <p:nvPr/>
        </p:nvPicPr>
        <p:blipFill>
          <a:blip r:embed="rId4" cstate="screen">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1906288" y="1286588"/>
            <a:ext cx="2023147" cy="275258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8"/>
          <p:cNvPicPr>
            <a:picLocks noChangeAspect="1" noChangeArrowheads="1"/>
          </p:cNvPicPr>
          <p:nvPr/>
        </p:nvPicPr>
        <p:blipFill>
          <a:blip r:embed="rId5" cstate="screen">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7114914" y="1375160"/>
            <a:ext cx="2029086" cy="266400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6" name="Picture 2"/>
          <p:cNvPicPr>
            <a:picLocks noChangeAspect="1" noChangeArrowheads="1"/>
          </p:cNvPicPr>
          <p:nvPr/>
        </p:nvPicPr>
        <p:blipFill>
          <a:blip r:embed="rId6">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3429000" y="1843728"/>
            <a:ext cx="2095500" cy="16383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5"/>
          <p:cNvPicPr>
            <a:picLocks noChangeAspect="1" noChangeArrowheads="1"/>
          </p:cNvPicPr>
          <p:nvPr/>
        </p:nvPicPr>
        <p:blipFill>
          <a:blip r:embed="rId7" cstate="screen">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5334000" y="1274298"/>
            <a:ext cx="1930758" cy="18305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Rectangle 10"/>
          <p:cNvSpPr/>
          <p:nvPr/>
        </p:nvSpPr>
        <p:spPr>
          <a:xfrm>
            <a:off x="83181" y="6307666"/>
            <a:ext cx="1057163" cy="369332"/>
          </a:xfrm>
          <a:prstGeom prst="rect">
            <a:avLst/>
          </a:prstGeom>
        </p:spPr>
        <p:txBody>
          <a:bodyPr wrap="none">
            <a:spAutoFit/>
          </a:bodyPr>
          <a:lstStyle/>
          <a:p>
            <a:pPr algn="ctr">
              <a:defRPr/>
            </a:pPr>
            <a:r>
              <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8" action="ppaction://hlinksldjump"/>
              </a:rPr>
              <a:t>To Next </a:t>
            </a:r>
          </a:p>
          <a:p>
            <a:pPr algn="ctr">
              <a:defRPr/>
            </a:pPr>
            <a:r>
              <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8" action="ppaction://hlinksldjump"/>
              </a:rPr>
              <a:t>Active Learning</a:t>
            </a: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1788752819"/>
      </p:ext>
    </p:extLst>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990600"/>
            <a:ext cx="9067800" cy="5060950"/>
          </a:xfrm>
        </p:spPr>
        <p:txBody>
          <a:bodyPr>
            <a:noAutofit/>
          </a:bodyPr>
          <a:lstStyle/>
          <a:p>
            <a:r>
              <a:rPr lang="en-US" sz="2400" dirty="0"/>
              <a:t>Suppose a country wishes to produce at its potential output level. Holding everything else constant, identify which of the following policy initiatives might help it reach this goal and how these policy initiatives would help.</a:t>
            </a:r>
          </a:p>
          <a:p>
            <a:pPr marL="742950" indent="-742950">
              <a:buFont typeface="+mj-lt"/>
              <a:buAutoNum type="alphaLcParenR"/>
            </a:pPr>
            <a:r>
              <a:rPr lang="en-US" sz="2400" dirty="0"/>
              <a:t>The government initiates policies that encourage private investment spending.</a:t>
            </a:r>
          </a:p>
          <a:p>
            <a:pPr marL="742950" indent="-742950">
              <a:buFont typeface="+mj-lt"/>
              <a:buAutoNum type="alphaLcParenR"/>
            </a:pPr>
            <a:r>
              <a:rPr lang="en-US" sz="2400" dirty="0"/>
              <a:t>The government increases the amount of money it borrows in the loanable funds market to increase its level of government spending in the economy.</a:t>
            </a:r>
          </a:p>
          <a:p>
            <a:pPr marL="742950" indent="-742950">
              <a:buFont typeface="+mj-lt"/>
              <a:buAutoNum type="alphaLcParenR"/>
            </a:pPr>
            <a:r>
              <a:rPr lang="en-US" sz="2400" dirty="0"/>
              <a:t>The government increases taxes on consumers and corporations.</a:t>
            </a:r>
          </a:p>
          <a:p>
            <a:pPr marL="742950" indent="-742950">
              <a:buFont typeface="+mj-lt"/>
              <a:buAutoNum type="alphaLcParenR"/>
            </a:pPr>
            <a:r>
              <a:rPr lang="en-US" sz="2400" dirty="0"/>
              <a:t>The government authorizes new spending programs.</a:t>
            </a:r>
          </a:p>
        </p:txBody>
      </p:sp>
      <p:sp>
        <p:nvSpPr>
          <p:cNvPr id="5" name="Rectangle 4"/>
          <p:cNvSpPr/>
          <p:nvPr/>
        </p:nvSpPr>
        <p:spPr>
          <a:xfrm>
            <a:off x="242444" y="6307666"/>
            <a:ext cx="738641" cy="230832"/>
          </a:xfrm>
          <a:prstGeom prst="rect">
            <a:avLst/>
          </a:prstGeom>
        </p:spPr>
        <p:txBody>
          <a:bodyPr wrap="none">
            <a:spAutoFit/>
          </a:bodyPr>
          <a:lstStyle/>
          <a:p>
            <a:pPr algn="ctr">
              <a:defRPr/>
            </a:pPr>
            <a:r>
              <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 action="ppaction://hlinkshowjump?jump=nextslide"/>
              </a:rPr>
              <a:t>To answer</a:t>
            </a: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1129235497"/>
      </p:ext>
    </p:extLst>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0"/>
            <a:ext cx="8839200" cy="5638800"/>
          </a:xfrm>
        </p:spPr>
        <p:txBody>
          <a:bodyPr>
            <a:normAutofit/>
          </a:bodyPr>
          <a:lstStyle/>
          <a:p>
            <a:r>
              <a:rPr lang="en-US" sz="2000" dirty="0"/>
              <a:t>(answers to previous question) </a:t>
            </a:r>
          </a:p>
          <a:p>
            <a:r>
              <a:rPr lang="en-US" sz="2000" dirty="0"/>
              <a:t>Any policy initiative that shifts </a:t>
            </a:r>
            <a:r>
              <a:rPr lang="en-US" sz="2000" i="1" dirty="0"/>
              <a:t>AD </a:t>
            </a:r>
            <a:r>
              <a:rPr lang="en-US" sz="2000" dirty="0"/>
              <a:t>to the right will help the country move toward its potential output level. Items </a:t>
            </a:r>
            <a:r>
              <a:rPr lang="en-US" sz="2000" dirty="0">
                <a:solidFill>
                  <a:srgbClr val="0070C0"/>
                </a:solidFill>
              </a:rPr>
              <a:t>(a) and (d) will both shift </a:t>
            </a:r>
            <a:r>
              <a:rPr lang="en-US" sz="2000" i="1" dirty="0">
                <a:solidFill>
                  <a:srgbClr val="0070C0"/>
                </a:solidFill>
              </a:rPr>
              <a:t>AD </a:t>
            </a:r>
            <a:r>
              <a:rPr lang="en-US" sz="2000" dirty="0">
                <a:solidFill>
                  <a:srgbClr val="0070C0"/>
                </a:solidFill>
              </a:rPr>
              <a:t>to the right:</a:t>
            </a:r>
            <a:r>
              <a:rPr lang="en-US" sz="2000" dirty="0"/>
              <a:t> government policies that stimulate private investment spending lead to higher levels of aggregate spending and a rightward shift in </a:t>
            </a:r>
            <a:r>
              <a:rPr lang="en-US" sz="2000" i="1" dirty="0"/>
              <a:t>AD; </a:t>
            </a:r>
            <a:r>
              <a:rPr lang="en-US" sz="2000" dirty="0"/>
              <a:t>and new spending by government will also lead to higher levels of aggregate spending and a rightward shift in </a:t>
            </a:r>
            <a:r>
              <a:rPr lang="en-US" sz="2000" i="1" dirty="0"/>
              <a:t>AD. </a:t>
            </a:r>
            <a:r>
              <a:rPr lang="en-US" sz="2000" dirty="0">
                <a:solidFill>
                  <a:srgbClr val="0070C0"/>
                </a:solidFill>
              </a:rPr>
              <a:t>Item (b) will cause the </a:t>
            </a:r>
            <a:r>
              <a:rPr lang="en-US" sz="2000" i="1" dirty="0">
                <a:solidFill>
                  <a:srgbClr val="0070C0"/>
                </a:solidFill>
              </a:rPr>
              <a:t>AD </a:t>
            </a:r>
            <a:r>
              <a:rPr lang="en-US" sz="2000" dirty="0">
                <a:solidFill>
                  <a:srgbClr val="0070C0"/>
                </a:solidFill>
              </a:rPr>
              <a:t>to shift to the right unless the increase in government borrowing crowds out private investment </a:t>
            </a:r>
            <a:r>
              <a:rPr lang="en-US" sz="2000" dirty="0"/>
              <a:t>to the point where private investment decreases by an amount equal to the increase in government spending. In that case item (b) would result in no shift in the </a:t>
            </a:r>
            <a:r>
              <a:rPr lang="en-US" sz="2000" i="1" dirty="0"/>
              <a:t>AD </a:t>
            </a:r>
            <a:r>
              <a:rPr lang="en-US" sz="2000" dirty="0"/>
              <a:t>curve. </a:t>
            </a:r>
            <a:r>
              <a:rPr lang="en-US" sz="2000" dirty="0">
                <a:solidFill>
                  <a:srgbClr val="0070C0"/>
                </a:solidFill>
              </a:rPr>
              <a:t>Item (c) will reduce disposable income and lead to lower levels of aggregate spending: </a:t>
            </a:r>
            <a:r>
              <a:rPr lang="en-US" sz="2000" i="1" dirty="0">
                <a:solidFill>
                  <a:srgbClr val="0070C0"/>
                </a:solidFill>
              </a:rPr>
              <a:t>AD </a:t>
            </a:r>
            <a:r>
              <a:rPr lang="en-US" sz="2000" dirty="0">
                <a:solidFill>
                  <a:srgbClr val="0070C0"/>
                </a:solidFill>
              </a:rPr>
              <a:t>may shift to the left if the decrease in spending is greater than the increase in government spending,</a:t>
            </a:r>
            <a:r>
              <a:rPr lang="en-US" sz="2000" dirty="0"/>
              <a:t> or </a:t>
            </a:r>
            <a:r>
              <a:rPr lang="en-US" sz="2000" i="1" dirty="0"/>
              <a:t>AD </a:t>
            </a:r>
            <a:r>
              <a:rPr lang="en-US" sz="2000" dirty="0"/>
              <a:t>may shift to the right if the increase in government spending is greater than the decrease in spending</a:t>
            </a:r>
          </a:p>
        </p:txBody>
      </p:sp>
      <p:sp>
        <p:nvSpPr>
          <p:cNvPr id="5" name="Rectangle 4"/>
          <p:cNvSpPr/>
          <p:nvPr/>
        </p:nvSpPr>
        <p:spPr>
          <a:xfrm>
            <a:off x="83181" y="6307666"/>
            <a:ext cx="1057163" cy="369332"/>
          </a:xfrm>
          <a:prstGeom prst="rect">
            <a:avLst/>
          </a:prstGeom>
        </p:spPr>
        <p:txBody>
          <a:bodyPr wrap="none">
            <a:spAutoFit/>
          </a:bodyPr>
          <a:lstStyle/>
          <a:p>
            <a:pPr algn="ctr">
              <a:defRPr/>
            </a:pPr>
            <a:r>
              <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To Next </a:t>
            </a:r>
          </a:p>
          <a:p>
            <a:pPr algn="ctr">
              <a:defRPr/>
            </a:pPr>
            <a:r>
              <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Active Learning</a:t>
            </a: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3260422502"/>
      </p:ext>
    </p:extLst>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5000" r="-5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27602"/>
            <a:ext cx="9144000" cy="838200"/>
          </a:xfrm>
        </p:spPr>
        <p:txBody>
          <a:bodyPr>
            <a:noAutofit/>
          </a:bodyPr>
          <a:lstStyle/>
          <a:p>
            <a:r>
              <a:rPr lang="en-US" sz="3600" spc="0" dirty="0"/>
              <a:t>CAN EXPANSIONARY FISCAL POLICY ACTUALLY WORK?</a:t>
            </a:r>
          </a:p>
        </p:txBody>
      </p:sp>
      <p:sp>
        <p:nvSpPr>
          <p:cNvPr id="3" name="Content Placeholder 2"/>
          <p:cNvSpPr>
            <a:spLocks noGrp="1"/>
          </p:cNvSpPr>
          <p:nvPr>
            <p:ph idx="1"/>
          </p:nvPr>
        </p:nvSpPr>
        <p:spPr>
          <a:xfrm>
            <a:off x="0" y="990600"/>
            <a:ext cx="6324600" cy="685800"/>
          </a:xfrm>
          <a:solidFill>
            <a:schemeClr val="bg1">
              <a:alpha val="49000"/>
            </a:schemeClr>
          </a:solidFill>
        </p:spPr>
        <p:txBody>
          <a:bodyPr/>
          <a:lstStyle/>
          <a:p>
            <a:r>
              <a:rPr lang="en-US" dirty="0"/>
              <a:t>There are critics who argue:</a:t>
            </a:r>
          </a:p>
        </p:txBody>
      </p:sp>
      <p:sp>
        <p:nvSpPr>
          <p:cNvPr id="5" name="Rounded Rectangular Callout 4"/>
          <p:cNvSpPr/>
          <p:nvPr/>
        </p:nvSpPr>
        <p:spPr>
          <a:xfrm>
            <a:off x="6112934" y="914400"/>
            <a:ext cx="3022600" cy="1752600"/>
          </a:xfrm>
          <a:prstGeom prst="wedgeRoundRectCallout">
            <a:avLst>
              <a:gd name="adj1" fmla="val -95093"/>
              <a:gd name="adj2" fmla="val 74923"/>
              <a:gd name="adj3" fmla="val 166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prstClr val="black"/>
                </a:solidFill>
                <a:latin typeface="Candara" pitchFamily="34" charset="0"/>
              </a:rPr>
              <a:t>“Government spending always </a:t>
            </a:r>
            <a:r>
              <a:rPr lang="en-US" sz="2400" b="1" dirty="0">
                <a:solidFill>
                  <a:srgbClr val="0070C0"/>
                </a:solidFill>
                <a:latin typeface="Candara" pitchFamily="34" charset="0"/>
              </a:rPr>
              <a:t>crowds out private spending.”</a:t>
            </a:r>
          </a:p>
        </p:txBody>
      </p:sp>
      <p:sp>
        <p:nvSpPr>
          <p:cNvPr id="7" name="Rounded Rectangular Callout 6"/>
          <p:cNvSpPr/>
          <p:nvPr/>
        </p:nvSpPr>
        <p:spPr>
          <a:xfrm>
            <a:off x="5715000" y="2743200"/>
            <a:ext cx="3429000" cy="1752600"/>
          </a:xfrm>
          <a:prstGeom prst="wedgeRoundRectCallout">
            <a:avLst>
              <a:gd name="adj1" fmla="val -81040"/>
              <a:gd name="adj2" fmla="val -5224"/>
              <a:gd name="adj3" fmla="val 166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prstClr val="black"/>
                </a:solidFill>
                <a:latin typeface="Candara" pitchFamily="34" charset="0"/>
              </a:rPr>
              <a:t>“Government borrowing always </a:t>
            </a:r>
            <a:r>
              <a:rPr lang="en-US" sz="2400" b="1" dirty="0">
                <a:solidFill>
                  <a:srgbClr val="0070C0"/>
                </a:solidFill>
                <a:latin typeface="Candara" pitchFamily="34" charset="0"/>
              </a:rPr>
              <a:t>crowds out private investment spending.” </a:t>
            </a:r>
          </a:p>
        </p:txBody>
      </p:sp>
      <p:sp>
        <p:nvSpPr>
          <p:cNvPr id="8" name="Rounded Rectangular Callout 7"/>
          <p:cNvSpPr/>
          <p:nvPr/>
        </p:nvSpPr>
        <p:spPr>
          <a:xfrm>
            <a:off x="6400800" y="4572000"/>
            <a:ext cx="2743200" cy="1752600"/>
          </a:xfrm>
          <a:prstGeom prst="wedgeRoundRectCallout">
            <a:avLst>
              <a:gd name="adj1" fmla="val -109497"/>
              <a:gd name="adj2" fmla="val -57398"/>
              <a:gd name="adj3" fmla="val 166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prstClr val="black"/>
                </a:solidFill>
                <a:latin typeface="Candara" pitchFamily="34" charset="0"/>
              </a:rPr>
              <a:t>“Government budget deficits </a:t>
            </a:r>
            <a:r>
              <a:rPr lang="en-US" sz="2400" b="1" dirty="0">
                <a:solidFill>
                  <a:srgbClr val="0070C0"/>
                </a:solidFill>
                <a:latin typeface="Candara" pitchFamily="34" charset="0"/>
              </a:rPr>
              <a:t>reduce private spending.”</a:t>
            </a:r>
          </a:p>
        </p:txBody>
      </p:sp>
    </p:spTree>
    <p:extLst>
      <p:ext uri="{BB962C8B-B14F-4D97-AF65-F5344CB8AC3E}">
        <p14:creationId xmlns:p14="http://schemas.microsoft.com/office/powerpoint/2010/main" val="1855028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spc="0" dirty="0"/>
              <a:t>CAN EXPANSIONARY FISCAL POLICY ACTUALLY WORK?</a:t>
            </a:r>
          </a:p>
        </p:txBody>
      </p:sp>
      <p:sp>
        <p:nvSpPr>
          <p:cNvPr id="3" name="Content Placeholder 2"/>
          <p:cNvSpPr>
            <a:spLocks noGrp="1"/>
          </p:cNvSpPr>
          <p:nvPr>
            <p:ph idx="1"/>
          </p:nvPr>
        </p:nvSpPr>
        <p:spPr>
          <a:xfrm>
            <a:off x="0" y="990600"/>
            <a:ext cx="8839200" cy="4648200"/>
          </a:xfrm>
        </p:spPr>
        <p:txBody>
          <a:bodyPr>
            <a:normAutofit/>
          </a:bodyPr>
          <a:lstStyle/>
          <a:p>
            <a:r>
              <a:rPr lang="en-US" dirty="0">
                <a:solidFill>
                  <a:srgbClr val="0070C0"/>
                </a:solidFill>
              </a:rPr>
              <a:t>Claim 1: “Government spending always crowds out private spending.”</a:t>
            </a:r>
          </a:p>
          <a:p>
            <a:pPr lvl="1"/>
            <a:r>
              <a:rPr lang="en-US" sz="2600" b="0" dirty="0"/>
              <a:t>The statement is wrong because it </a:t>
            </a:r>
            <a:r>
              <a:rPr lang="en-US" sz="2600" dirty="0"/>
              <a:t>assumes a zero-sum game</a:t>
            </a:r>
            <a:r>
              <a:rPr lang="en-US" sz="2600" b="0" dirty="0"/>
              <a:t> in which the </a:t>
            </a:r>
            <a:r>
              <a:rPr lang="en-US" sz="2600" dirty="0"/>
              <a:t>aggregate income</a:t>
            </a:r>
            <a:r>
              <a:rPr lang="en-US" sz="2600" b="0" dirty="0"/>
              <a:t> earned in the economy </a:t>
            </a:r>
            <a:r>
              <a:rPr lang="en-US" sz="2600" dirty="0"/>
              <a:t>is always a fixed sum</a:t>
            </a:r>
            <a:r>
              <a:rPr lang="en-US" sz="2600" b="0" dirty="0"/>
              <a:t>—which isn’t true. It also </a:t>
            </a:r>
            <a:r>
              <a:rPr lang="en-US" sz="2600" dirty="0"/>
              <a:t>assumes that resources in the economy are always fully employed—</a:t>
            </a:r>
            <a:r>
              <a:rPr lang="en-US" sz="2600" i="1" dirty="0">
                <a:solidFill>
                  <a:schemeClr val="tx1">
                    <a:lumMod val="65000"/>
                    <a:lumOff val="35000"/>
                  </a:schemeClr>
                </a:solidFill>
              </a:rPr>
              <a:t>and the only way to increase government spending is at firms’ expense.</a:t>
            </a:r>
          </a:p>
        </p:txBody>
      </p:sp>
      <p:pic>
        <p:nvPicPr>
          <p:cNvPr id="5" name="Picture 4" descr="file9681245784687.jpg"/>
          <p:cNvPicPr>
            <a:picLocks noChangeAspect="1"/>
          </p:cNvPicPr>
          <p:nvPr/>
        </p:nvPicPr>
        <p:blipFill>
          <a:blip r:embed="rId3"/>
          <a:stretch>
            <a:fillRect/>
          </a:stretch>
        </p:blipFill>
        <p:spPr>
          <a:xfrm>
            <a:off x="3124200" y="4686300"/>
            <a:ext cx="2895600" cy="2171700"/>
          </a:xfrm>
          <a:prstGeom prst="rect">
            <a:avLst/>
          </a:prstGeom>
          <a:ln>
            <a:noFill/>
          </a:ln>
          <a:effectLst>
            <a:outerShdw blurRad="292100" dist="139700" dir="2700000" algn="tl" rotWithShape="0">
              <a:srgbClr val="333333">
                <a:alpha val="65000"/>
              </a:srgbClr>
            </a:outerShdw>
          </a:effectLst>
        </p:spPr>
      </p:pic>
      <p:sp>
        <p:nvSpPr>
          <p:cNvPr id="6" name="TextBox 5"/>
          <p:cNvSpPr txBox="1"/>
          <p:nvPr/>
        </p:nvSpPr>
        <p:spPr>
          <a:xfrm>
            <a:off x="6096000" y="5083314"/>
            <a:ext cx="2895600" cy="707886"/>
          </a:xfrm>
          <a:prstGeom prst="rect">
            <a:avLst/>
          </a:prstGeom>
          <a:noFill/>
        </p:spPr>
        <p:txBody>
          <a:bodyPr wrap="square" rtlCol="0">
            <a:spAutoFit/>
          </a:bodyPr>
          <a:lstStyle/>
          <a:p>
            <a:r>
              <a:rPr lang="en-US" sz="2000" b="1" i="1" dirty="0">
                <a:solidFill>
                  <a:schemeClr val="accent6">
                    <a:lumMod val="75000"/>
                  </a:schemeClr>
                </a:solidFill>
                <a:latin typeface="Century Gothic"/>
                <a:cs typeface="Century Gothic"/>
              </a:rPr>
              <a:t>You’re squeezed only  if the hot tub is full.</a:t>
            </a:r>
          </a:p>
        </p:txBody>
      </p:sp>
    </p:spTree>
    <p:extLst>
      <p:ext uri="{BB962C8B-B14F-4D97-AF65-F5344CB8AC3E}">
        <p14:creationId xmlns:p14="http://schemas.microsoft.com/office/powerpoint/2010/main" val="1574812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2"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0" fill="hold"/>
                                        <p:tgtEl>
                                          <p:spTgt spid="5"/>
                                        </p:tgtEl>
                                        <p:attrNameLst>
                                          <p:attrName>ppt_x</p:attrName>
                                        </p:attrNameLst>
                                      </p:cBhvr>
                                      <p:tavLst>
                                        <p:tav tm="0">
                                          <p:val>
                                            <p:strVal val="1+#ppt_w/2"/>
                                          </p:val>
                                        </p:tav>
                                        <p:tav tm="100000">
                                          <p:val>
                                            <p:strVal val="#ppt_x"/>
                                          </p:val>
                                        </p:tav>
                                      </p:tavLst>
                                    </p:anim>
                                    <p:anim calcmode="lin" valueType="num">
                                      <p:cBhvr additive="base">
                                        <p:cTn id="8" dur="5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38200"/>
          </a:xfrm>
        </p:spPr>
        <p:txBody>
          <a:bodyPr>
            <a:noAutofit/>
          </a:bodyPr>
          <a:lstStyle/>
          <a:p>
            <a:r>
              <a:rPr lang="en-US" sz="4000" spc="0" dirty="0"/>
              <a:t>CAN EXPANSIONARY FISCAL POLICY ACTUALLY WORK?</a:t>
            </a:r>
          </a:p>
        </p:txBody>
      </p:sp>
      <p:sp>
        <p:nvSpPr>
          <p:cNvPr id="3" name="Content Placeholder 2"/>
          <p:cNvSpPr>
            <a:spLocks noGrp="1"/>
          </p:cNvSpPr>
          <p:nvPr>
            <p:ph idx="1"/>
          </p:nvPr>
        </p:nvSpPr>
        <p:spPr>
          <a:xfrm>
            <a:off x="228600" y="1143000"/>
            <a:ext cx="8839200" cy="4648200"/>
          </a:xfrm>
          <a:noFill/>
        </p:spPr>
        <p:txBody>
          <a:bodyPr>
            <a:noAutofit/>
          </a:bodyPr>
          <a:lstStyle/>
          <a:p>
            <a:r>
              <a:rPr lang="en-US" dirty="0">
                <a:solidFill>
                  <a:srgbClr val="0070C0"/>
                </a:solidFill>
              </a:rPr>
              <a:t>Claim 2: “Government borrowing always crowds out private investment spending.”</a:t>
            </a:r>
          </a:p>
          <a:p>
            <a:r>
              <a:rPr lang="en-US" b="0" dirty="0"/>
              <a:t>This is true only part of the time: </a:t>
            </a:r>
            <a:r>
              <a:rPr lang="en-US" dirty="0">
                <a:solidFill>
                  <a:srgbClr val="990033"/>
                </a:solidFill>
              </a:rPr>
              <a:t>It depends upon whether the economy is depressed.</a:t>
            </a:r>
          </a:p>
          <a:p>
            <a:pPr lvl="1"/>
            <a:r>
              <a:rPr lang="en-US" b="0" dirty="0"/>
              <a:t>If it is, a </a:t>
            </a:r>
            <a:r>
              <a:rPr lang="en-US" i="1" dirty="0">
                <a:solidFill>
                  <a:srgbClr val="0070C0"/>
                </a:solidFill>
              </a:rPr>
              <a:t>fiscal expansion will lead to higher incomes, </a:t>
            </a:r>
            <a:r>
              <a:rPr lang="en-US" b="0" dirty="0"/>
              <a:t>which </a:t>
            </a:r>
            <a:r>
              <a:rPr lang="en-US" i="1" dirty="0">
                <a:solidFill>
                  <a:schemeClr val="tx1">
                    <a:lumMod val="65000"/>
                    <a:lumOff val="35000"/>
                  </a:schemeClr>
                </a:solidFill>
              </a:rPr>
              <a:t>lead to increased savings. </a:t>
            </a:r>
          </a:p>
          <a:p>
            <a:pPr lvl="1"/>
            <a:r>
              <a:rPr lang="en-US" b="0" dirty="0"/>
              <a:t>The CARES Act of 2020 was a case in point: </a:t>
            </a:r>
            <a:r>
              <a:rPr lang="en-US" dirty="0"/>
              <a:t>despite high levels of government borrowing, U.S. interest rates stayed near historic lows.</a:t>
            </a:r>
          </a:p>
        </p:txBody>
      </p:sp>
      <p:pic>
        <p:nvPicPr>
          <p:cNvPr id="10" name="Picture 9"/>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7162800" y="5653101"/>
            <a:ext cx="1283248" cy="1188484"/>
          </a:xfrm>
          <a:prstGeom prst="rect">
            <a:avLst/>
          </a:prstGeom>
        </p:spPr>
      </p:pic>
    </p:spTree>
    <p:extLst>
      <p:ext uri="{BB962C8B-B14F-4D97-AF65-F5344CB8AC3E}">
        <p14:creationId xmlns:p14="http://schemas.microsoft.com/office/powerpoint/2010/main" val="26139993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52000"/>
            <a:lum/>
          </a:blip>
          <a:srcRect/>
          <a:stretch>
            <a:fillRect t="-17000" b="-5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a:solidFill>
            <a:schemeClr val="tx1">
              <a:alpha val="62000"/>
            </a:schemeClr>
          </a:solidFill>
        </p:spPr>
        <p:txBody>
          <a:bodyPr>
            <a:noAutofit/>
          </a:bodyPr>
          <a:lstStyle/>
          <a:p>
            <a:r>
              <a:rPr lang="en-US" sz="3600" spc="0" dirty="0"/>
              <a:t>CAN EXPANSIONARY FISCAL POLICY ACTUALLY WORK?</a:t>
            </a:r>
          </a:p>
        </p:txBody>
      </p:sp>
      <p:sp>
        <p:nvSpPr>
          <p:cNvPr id="3" name="Content Placeholder 2"/>
          <p:cNvSpPr>
            <a:spLocks noGrp="1"/>
          </p:cNvSpPr>
          <p:nvPr>
            <p:ph idx="1"/>
          </p:nvPr>
        </p:nvSpPr>
        <p:spPr>
          <a:xfrm>
            <a:off x="0" y="990600"/>
            <a:ext cx="9144000" cy="5867400"/>
          </a:xfrm>
          <a:solidFill>
            <a:schemeClr val="bg1">
              <a:alpha val="50000"/>
            </a:schemeClr>
          </a:solidFill>
        </p:spPr>
        <p:txBody>
          <a:bodyPr>
            <a:noAutofit/>
          </a:bodyPr>
          <a:lstStyle/>
          <a:p>
            <a:r>
              <a:rPr lang="en-US" dirty="0">
                <a:solidFill>
                  <a:srgbClr val="0070C0"/>
                </a:solidFill>
              </a:rPr>
              <a:t>Claim 3: “Government budget deficits reduce private spending.”</a:t>
            </a:r>
          </a:p>
          <a:p>
            <a:pPr lvl="1"/>
            <a:r>
              <a:rPr lang="en-US" b="0" dirty="0"/>
              <a:t>This is known as </a:t>
            </a:r>
            <a:r>
              <a:rPr lang="en-US" i="1" dirty="0">
                <a:solidFill>
                  <a:srgbClr val="990033"/>
                </a:solidFill>
              </a:rPr>
              <a:t>“Ricardian equivalence” </a:t>
            </a:r>
            <a:r>
              <a:rPr lang="en-US" b="0" dirty="0"/>
              <a:t>(after the nineteenth-century economist David Ricardo)</a:t>
            </a:r>
            <a:r>
              <a:rPr lang="en-US" dirty="0"/>
              <a:t>.</a:t>
            </a:r>
          </a:p>
          <a:p>
            <a:pPr lvl="1"/>
            <a:r>
              <a:rPr lang="en-US" b="0" dirty="0"/>
              <a:t>It assumes that consumers, </a:t>
            </a:r>
            <a:r>
              <a:rPr lang="en-US" dirty="0"/>
              <a:t>seeing the higher debt levels,</a:t>
            </a:r>
            <a:r>
              <a:rPr lang="en-US" b="0" dirty="0"/>
              <a:t> will </a:t>
            </a:r>
            <a:r>
              <a:rPr lang="en-US" dirty="0"/>
              <a:t>cut their spending today to save for inevitable increases in future tax rates necessary to pay down the debt.</a:t>
            </a:r>
          </a:p>
          <a:p>
            <a:r>
              <a:rPr lang="en-US" sz="2800" b="0" dirty="0"/>
              <a:t>Does this give </a:t>
            </a:r>
            <a:r>
              <a:rPr lang="en-US" sz="2800" dirty="0"/>
              <a:t>too much credit to consumers’ foresight and budgeting discipline?  </a:t>
            </a:r>
            <a:r>
              <a:rPr lang="en-US" sz="2800" b="0" dirty="0"/>
              <a:t>Probably.</a:t>
            </a:r>
            <a:endParaRPr lang="en-US" sz="2800" dirty="0"/>
          </a:p>
        </p:txBody>
      </p:sp>
    </p:spTree>
    <p:extLst>
      <p:ext uri="{BB962C8B-B14F-4D97-AF65-F5344CB8AC3E}">
        <p14:creationId xmlns:p14="http://schemas.microsoft.com/office/powerpoint/2010/main" val="1615504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6818" name="Rectangle 2"/>
          <p:cNvSpPr>
            <a:spLocks noGrp="1" noRot="1" noChangeArrowheads="1"/>
          </p:cNvSpPr>
          <p:nvPr>
            <p:ph type="title"/>
          </p:nvPr>
        </p:nvSpPr>
        <p:spPr>
          <a:xfrm>
            <a:off x="0" y="0"/>
            <a:ext cx="9144000" cy="990600"/>
          </a:xfrm>
        </p:spPr>
        <p:txBody>
          <a:bodyPr>
            <a:noAutofit/>
          </a:bodyPr>
          <a:lstStyle/>
          <a:p>
            <a:r>
              <a:rPr lang="en-US" sz="3600" spc="0" dirty="0"/>
              <a:t>A CAUTIONARY NOTE: LAGS IN FISCAL POLICY</a:t>
            </a:r>
          </a:p>
        </p:txBody>
      </p:sp>
      <p:sp>
        <p:nvSpPr>
          <p:cNvPr id="546819" name="Rectangle 3"/>
          <p:cNvSpPr>
            <a:spLocks noGrp="1" noChangeArrowheads="1"/>
          </p:cNvSpPr>
          <p:nvPr>
            <p:ph idx="1"/>
          </p:nvPr>
        </p:nvSpPr>
        <p:spPr/>
        <p:txBody>
          <a:bodyPr>
            <a:normAutofit lnSpcReduction="10000"/>
          </a:bodyPr>
          <a:lstStyle/>
          <a:p>
            <a:r>
              <a:rPr lang="en-US" dirty="0"/>
              <a:t>In the case of fiscal policy, there is an important reason for caution: There are significant </a:t>
            </a:r>
            <a:r>
              <a:rPr lang="en-US" b="1" i="1" dirty="0">
                <a:solidFill>
                  <a:srgbClr val="990033"/>
                </a:solidFill>
              </a:rPr>
              <a:t>lags</a:t>
            </a:r>
            <a:r>
              <a:rPr lang="en-US" i="1" dirty="0"/>
              <a:t> </a:t>
            </a:r>
            <a:r>
              <a:rPr lang="en-US" dirty="0"/>
              <a:t>in its use.</a:t>
            </a:r>
          </a:p>
          <a:p>
            <a:pPr lvl="1"/>
            <a:r>
              <a:rPr lang="en-US" dirty="0"/>
              <a:t>It takes time to:</a:t>
            </a:r>
          </a:p>
          <a:p>
            <a:pPr marL="971550" lvl="1" indent="-514350">
              <a:buFont typeface="+mj-lt"/>
              <a:buAutoNum type="arabicPeriod"/>
            </a:pPr>
            <a:r>
              <a:rPr lang="en-US" i="1" dirty="0">
                <a:solidFill>
                  <a:schemeClr val="tx1">
                    <a:lumMod val="65000"/>
                    <a:lumOff val="35000"/>
                  </a:schemeClr>
                </a:solidFill>
              </a:rPr>
              <a:t>realize the recessionary or inflationary gap by collecting and analyzing economic data.</a:t>
            </a:r>
          </a:p>
          <a:p>
            <a:pPr marL="971550" lvl="1" indent="-514350">
              <a:buFont typeface="+mj-lt"/>
              <a:buAutoNum type="arabicPeriod"/>
            </a:pPr>
            <a:r>
              <a:rPr lang="en-US" i="1" dirty="0">
                <a:solidFill>
                  <a:schemeClr val="tx1">
                    <a:lumMod val="65000"/>
                    <a:lumOff val="35000"/>
                  </a:schemeClr>
                </a:solidFill>
              </a:rPr>
              <a:t>develop a plan.</a:t>
            </a:r>
          </a:p>
          <a:p>
            <a:pPr marL="971550" lvl="1" indent="-514350">
              <a:buFont typeface="+mj-lt"/>
              <a:buAutoNum type="arabicPeriod"/>
            </a:pPr>
            <a:r>
              <a:rPr lang="en-US" i="1" dirty="0">
                <a:solidFill>
                  <a:schemeClr val="tx1">
                    <a:lumMod val="65000"/>
                    <a:lumOff val="35000"/>
                  </a:schemeClr>
                </a:solidFill>
              </a:rPr>
              <a:t>implement the action plan (spending the money).</a:t>
            </a:r>
          </a:p>
          <a:p>
            <a:pPr lvl="1">
              <a:spcBef>
                <a:spcPct val="50000"/>
              </a:spcBef>
            </a:pPr>
            <a:endParaRPr lang="en-US" dirty="0"/>
          </a:p>
        </p:txBody>
      </p:sp>
      <p:pic>
        <p:nvPicPr>
          <p:cNvPr id="4" name="Picture 2" descr="http://www.sxc.hu/pic/l/c/ca/capgros/1198861_68912650.jpg"/>
          <p:cNvPicPr>
            <a:picLocks noChangeAspect="1" noChangeArrowheads="1"/>
          </p:cNvPicPr>
          <p:nvPr/>
        </p:nvPicPr>
        <p:blipFill>
          <a:blip r:embed="rId3" cstate="screen"/>
          <a:srcRect/>
          <a:stretch>
            <a:fillRect/>
          </a:stretch>
        </p:blipFill>
        <p:spPr bwMode="auto">
          <a:xfrm>
            <a:off x="2971800" y="5029200"/>
            <a:ext cx="3352127" cy="179997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83844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46819">
                                            <p:txEl>
                                              <p:pRg st="0" end="0"/>
                                            </p:txEl>
                                          </p:spTgt>
                                        </p:tgtEl>
                                        <p:attrNameLst>
                                          <p:attrName>style.visibility</p:attrName>
                                        </p:attrNameLst>
                                      </p:cBhvr>
                                      <p:to>
                                        <p:strVal val="visible"/>
                                      </p:to>
                                    </p:set>
                                    <p:animEffect transition="in" filter="fade">
                                      <p:cBhvr>
                                        <p:cTn id="7" dur="500"/>
                                        <p:tgtEl>
                                          <p:spTgt spid="546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6819">
                                            <p:txEl>
                                              <p:pRg st="1" end="1"/>
                                            </p:txEl>
                                          </p:spTgt>
                                        </p:tgtEl>
                                        <p:attrNameLst>
                                          <p:attrName>style.visibility</p:attrName>
                                        </p:attrNameLst>
                                      </p:cBhvr>
                                      <p:to>
                                        <p:strVal val="visible"/>
                                      </p:to>
                                    </p:set>
                                    <p:animEffect transition="in" filter="fade">
                                      <p:cBhvr>
                                        <p:cTn id="12" dur="1000"/>
                                        <p:tgtEl>
                                          <p:spTgt spid="546819">
                                            <p:txEl>
                                              <p:pRg st="1" end="1"/>
                                            </p:txEl>
                                          </p:spTgt>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546819">
                                            <p:txEl>
                                              <p:pRg st="2" end="2"/>
                                            </p:txEl>
                                          </p:spTgt>
                                        </p:tgtEl>
                                        <p:attrNameLst>
                                          <p:attrName>style.visibility</p:attrName>
                                        </p:attrNameLst>
                                      </p:cBhvr>
                                      <p:to>
                                        <p:strVal val="visible"/>
                                      </p:to>
                                    </p:set>
                                    <p:animEffect transition="in" filter="fade">
                                      <p:cBhvr>
                                        <p:cTn id="16" dur="1000"/>
                                        <p:tgtEl>
                                          <p:spTgt spid="546819">
                                            <p:txEl>
                                              <p:pRg st="2" end="2"/>
                                            </p:txEl>
                                          </p:spTgt>
                                        </p:tgtEl>
                                      </p:cBhvr>
                                    </p:animEffect>
                                  </p:childTnLst>
                                </p:cTn>
                              </p:par>
                            </p:childTnLst>
                          </p:cTn>
                        </p:par>
                        <p:par>
                          <p:cTn id="17" fill="hold">
                            <p:stCondLst>
                              <p:cond delay="2000"/>
                            </p:stCondLst>
                            <p:childTnLst>
                              <p:par>
                                <p:cTn id="18" presetID="10" presetClass="entr" presetSubtype="0" fill="hold" grpId="0" nodeType="afterEffect">
                                  <p:stCondLst>
                                    <p:cond delay="0"/>
                                  </p:stCondLst>
                                  <p:childTnLst>
                                    <p:set>
                                      <p:cBhvr>
                                        <p:cTn id="19" dur="1" fill="hold">
                                          <p:stCondLst>
                                            <p:cond delay="0"/>
                                          </p:stCondLst>
                                        </p:cTn>
                                        <p:tgtEl>
                                          <p:spTgt spid="546819">
                                            <p:txEl>
                                              <p:pRg st="3" end="3"/>
                                            </p:txEl>
                                          </p:spTgt>
                                        </p:tgtEl>
                                        <p:attrNameLst>
                                          <p:attrName>style.visibility</p:attrName>
                                        </p:attrNameLst>
                                      </p:cBhvr>
                                      <p:to>
                                        <p:strVal val="visible"/>
                                      </p:to>
                                    </p:set>
                                    <p:animEffect transition="in" filter="fade">
                                      <p:cBhvr>
                                        <p:cTn id="20" dur="1000"/>
                                        <p:tgtEl>
                                          <p:spTgt spid="546819">
                                            <p:txEl>
                                              <p:pRg st="3" end="3"/>
                                            </p:txEl>
                                          </p:spTgt>
                                        </p:tgtEl>
                                      </p:cBhvr>
                                    </p:animEffect>
                                  </p:childTnLst>
                                </p:cTn>
                              </p:par>
                            </p:childTnLst>
                          </p:cTn>
                        </p:par>
                        <p:par>
                          <p:cTn id="21" fill="hold">
                            <p:stCondLst>
                              <p:cond delay="3000"/>
                            </p:stCondLst>
                            <p:childTnLst>
                              <p:par>
                                <p:cTn id="22" presetID="10" presetClass="entr" presetSubtype="0" fill="hold" grpId="0" nodeType="afterEffect">
                                  <p:stCondLst>
                                    <p:cond delay="0"/>
                                  </p:stCondLst>
                                  <p:childTnLst>
                                    <p:set>
                                      <p:cBhvr>
                                        <p:cTn id="23" dur="1" fill="hold">
                                          <p:stCondLst>
                                            <p:cond delay="0"/>
                                          </p:stCondLst>
                                        </p:cTn>
                                        <p:tgtEl>
                                          <p:spTgt spid="546819">
                                            <p:txEl>
                                              <p:pRg st="4" end="4"/>
                                            </p:txEl>
                                          </p:spTgt>
                                        </p:tgtEl>
                                        <p:attrNameLst>
                                          <p:attrName>style.visibility</p:attrName>
                                        </p:attrNameLst>
                                      </p:cBhvr>
                                      <p:to>
                                        <p:strVal val="visible"/>
                                      </p:to>
                                    </p:set>
                                    <p:animEffect transition="in" filter="fade">
                                      <p:cBhvr>
                                        <p:cTn id="24" dur="2000"/>
                                        <p:tgtEl>
                                          <p:spTgt spid="546819">
                                            <p:txEl>
                                              <p:pRg st="4" end="4"/>
                                            </p:txEl>
                                          </p:spTgt>
                                        </p:tgtEl>
                                      </p:cBhvr>
                                    </p:animEffect>
                                  </p:childTnLst>
                                </p:cTn>
                              </p:par>
                              <p:par>
                                <p:cTn id="25" presetID="7" presetClass="entr" presetSubtype="2" fill="hold"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10000" fill="hold"/>
                                        <p:tgtEl>
                                          <p:spTgt spid="4"/>
                                        </p:tgtEl>
                                        <p:attrNameLst>
                                          <p:attrName>ppt_x</p:attrName>
                                        </p:attrNameLst>
                                      </p:cBhvr>
                                      <p:tavLst>
                                        <p:tav tm="0">
                                          <p:val>
                                            <p:strVal val="1+#ppt_w/2"/>
                                          </p:val>
                                        </p:tav>
                                        <p:tav tm="100000">
                                          <p:val>
                                            <p:strVal val="#ppt_x"/>
                                          </p:val>
                                        </p:tav>
                                      </p:tavLst>
                                    </p:anim>
                                    <p:anim calcmode="lin" valueType="num">
                                      <p:cBhvr additive="base">
                                        <p:cTn id="28" dur="100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81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763000" cy="5060950"/>
          </a:xfrm>
        </p:spPr>
        <p:txBody>
          <a:bodyPr>
            <a:noAutofit/>
          </a:bodyPr>
          <a:lstStyle/>
          <a:p>
            <a:r>
              <a:rPr lang="en-US" sz="2400" dirty="0"/>
              <a:t>Contractionary fiscal policy:</a:t>
            </a:r>
          </a:p>
          <a:p>
            <a:pPr marL="512763" indent="-512763">
              <a:buFont typeface="+mj-lt"/>
              <a:buAutoNum type="alphaLcParenR"/>
            </a:pPr>
            <a:r>
              <a:rPr lang="en-US" sz="2400" dirty="0"/>
              <a:t>is most helpful for restoring an economy to the potential output level of production when there is a recessionary gap.</a:t>
            </a:r>
          </a:p>
          <a:p>
            <a:pPr marL="512763" indent="-512763">
              <a:buFont typeface="+mj-lt"/>
              <a:buAutoNum type="alphaLcParenR"/>
            </a:pPr>
            <a:r>
              <a:rPr lang="en-US" sz="2400" dirty="0"/>
              <a:t>shifts the </a:t>
            </a:r>
            <a:r>
              <a:rPr lang="en-US" sz="2400" i="1" dirty="0"/>
              <a:t>AD </a:t>
            </a:r>
            <a:r>
              <a:rPr lang="en-US" sz="2400" dirty="0"/>
              <a:t>curve to the right, restoring the equilibrium level of output to the potential output level for the economy.</a:t>
            </a:r>
          </a:p>
          <a:p>
            <a:pPr marL="512763" indent="-512763">
              <a:buFont typeface="+mj-lt"/>
              <a:buAutoNum type="alphaLcParenR"/>
            </a:pPr>
            <a:r>
              <a:rPr lang="en-US" sz="2400" dirty="0"/>
              <a:t>often causes inflation or an increase in the aggregate price level.</a:t>
            </a:r>
          </a:p>
          <a:p>
            <a:pPr marL="512763" indent="-512763">
              <a:buFont typeface="+mj-lt"/>
              <a:buAutoNum type="alphaLcParenR"/>
            </a:pPr>
            <a:r>
              <a:rPr lang="en-US" sz="2400" dirty="0"/>
              <a:t>if effective, shifts </a:t>
            </a:r>
            <a:r>
              <a:rPr lang="en-US" sz="2400" i="1" dirty="0"/>
              <a:t>AD </a:t>
            </a:r>
            <a:r>
              <a:rPr lang="en-US" sz="2400" dirty="0"/>
              <a:t>to the left, resulting in a reduction in the aggregate output and the aggregate price level for a given short-run aggregate supply curve (</a:t>
            </a:r>
            <a:r>
              <a:rPr lang="en-US" sz="2400" i="1" dirty="0"/>
              <a:t>SRAS</a:t>
            </a:r>
            <a:r>
              <a:rPr lang="en-US" sz="2400" dirty="0"/>
              <a:t>).</a:t>
            </a:r>
          </a:p>
        </p:txBody>
      </p:sp>
      <p:sp>
        <p:nvSpPr>
          <p:cNvPr id="5" name="Rectangle 4"/>
          <p:cNvSpPr/>
          <p:nvPr/>
        </p:nvSpPr>
        <p:spPr>
          <a:xfrm>
            <a:off x="83181" y="6307666"/>
            <a:ext cx="1057163" cy="369332"/>
          </a:xfrm>
          <a:prstGeom prst="rect">
            <a:avLst/>
          </a:prstGeom>
        </p:spPr>
        <p:txBody>
          <a:bodyPr wrap="none">
            <a:spAutoFit/>
          </a:bodyPr>
          <a:lstStyle/>
          <a:p>
            <a:pPr algn="ctr">
              <a:defRPr/>
            </a:pPr>
            <a:r>
              <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To Next </a:t>
            </a:r>
          </a:p>
          <a:p>
            <a:pPr algn="ctr">
              <a:defRPr/>
            </a:pPr>
            <a:r>
              <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Active Learning</a:t>
            </a: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88869217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8763000" cy="5562600"/>
          </a:xfrm>
        </p:spPr>
        <p:txBody>
          <a:bodyPr>
            <a:noAutofit/>
          </a:bodyPr>
          <a:lstStyle/>
          <a:p>
            <a:r>
              <a:rPr lang="en-US" sz="2400" dirty="0"/>
              <a:t>Which of the following statements is true? Holding everything else constant:</a:t>
            </a:r>
          </a:p>
          <a:p>
            <a:pPr marL="742950" indent="-742950">
              <a:buFont typeface="+mj-lt"/>
              <a:buAutoNum type="alphaLcParenR"/>
            </a:pPr>
            <a:r>
              <a:rPr lang="en-US" sz="2400" dirty="0"/>
              <a:t>an economy can eliminate an inflationary gap by increasing government spending.</a:t>
            </a:r>
          </a:p>
          <a:p>
            <a:pPr marL="742950" indent="-742950">
              <a:buFont typeface="+mj-lt"/>
              <a:buAutoNum type="alphaLcParenR"/>
            </a:pPr>
            <a:r>
              <a:rPr lang="en-US" sz="2400" dirty="0"/>
              <a:t>expansionary fiscal policy refers to an increase in taxes.</a:t>
            </a:r>
          </a:p>
          <a:p>
            <a:pPr marL="742950" indent="-742950">
              <a:buFont typeface="+mj-lt"/>
              <a:buAutoNum type="alphaLcParenR"/>
            </a:pPr>
            <a:r>
              <a:rPr lang="en-US" sz="2400" dirty="0"/>
              <a:t>when potential output is greater than actual aggregate output, the economy faces an recessionary gap.</a:t>
            </a:r>
          </a:p>
          <a:p>
            <a:pPr marL="742950" indent="-742950">
              <a:buFont typeface="+mj-lt"/>
              <a:buAutoNum type="alphaLcParenR"/>
            </a:pPr>
            <a:r>
              <a:rPr lang="en-US" sz="2400" dirty="0"/>
              <a:t>when </a:t>
            </a:r>
            <a:r>
              <a:rPr lang="en-US" sz="2400" i="1" dirty="0"/>
              <a:t>SRAS </a:t>
            </a:r>
            <a:r>
              <a:rPr lang="en-US" sz="2400" dirty="0"/>
              <a:t>intersects </a:t>
            </a:r>
            <a:r>
              <a:rPr lang="en-US" sz="2400" i="1" dirty="0"/>
              <a:t>AD </a:t>
            </a:r>
            <a:r>
              <a:rPr lang="en-US" sz="2400" dirty="0"/>
              <a:t>to the right of the long-run aggregate supply (</a:t>
            </a:r>
            <a:r>
              <a:rPr lang="en-US" sz="2400" i="1" dirty="0"/>
              <a:t>LRAS</a:t>
            </a:r>
            <a:r>
              <a:rPr lang="en-US" sz="2400" dirty="0"/>
              <a:t>) curve, the economy faces a recessionary gap.</a:t>
            </a:r>
          </a:p>
        </p:txBody>
      </p:sp>
      <p:sp>
        <p:nvSpPr>
          <p:cNvPr id="5" name="Rectangle 4"/>
          <p:cNvSpPr/>
          <p:nvPr/>
        </p:nvSpPr>
        <p:spPr>
          <a:xfrm>
            <a:off x="83181" y="6307666"/>
            <a:ext cx="1057163" cy="369332"/>
          </a:xfrm>
          <a:prstGeom prst="rect">
            <a:avLst/>
          </a:prstGeom>
        </p:spPr>
        <p:txBody>
          <a:bodyPr wrap="none">
            <a:spAutoFit/>
          </a:bodyPr>
          <a:lstStyle/>
          <a:p>
            <a:pPr algn="ctr">
              <a:defRPr/>
            </a:pPr>
            <a:r>
              <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To Next </a:t>
            </a:r>
          </a:p>
          <a:p>
            <a:pPr algn="ctr">
              <a:defRPr/>
            </a:pPr>
            <a:r>
              <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Active Learning</a:t>
            </a: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3307849521"/>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C:\Users\solina\Dropbox\Krugman 3e Dynamic PPTs\Krugman 3e material\Images_High Res\CH28\CH28\Krug3e_fig_28_06.jpg"/>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1981200" y="1981200"/>
            <a:ext cx="4038600" cy="317722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9599" y="1295400"/>
            <a:ext cx="8839200" cy="1028166"/>
          </a:xfrm>
        </p:spPr>
        <p:txBody>
          <a:bodyPr>
            <a:normAutofit/>
          </a:bodyPr>
          <a:lstStyle/>
          <a:p>
            <a:pPr algn="r"/>
            <a:r>
              <a:rPr lang="en-US" sz="2800" dirty="0">
                <a:latin typeface="Century Gothic"/>
                <a:cs typeface="Century Gothic"/>
              </a:rPr>
              <a:t>The American Recovery and Reinvestment Act of 2009 </a:t>
            </a:r>
            <a:r>
              <a:rPr lang="en-US" sz="2400" i="1" dirty="0">
                <a:latin typeface="Century Gothic"/>
                <a:cs typeface="Century Gothic"/>
              </a:rPr>
              <a:t>(billions of dollars)</a:t>
            </a:r>
            <a:endParaRPr lang="en-US" sz="2800" b="0" dirty="0">
              <a:latin typeface="Century Gothic"/>
              <a:cs typeface="Century Gothic"/>
            </a:endParaRPr>
          </a:p>
        </p:txBody>
      </p:sp>
      <p:sp>
        <p:nvSpPr>
          <p:cNvPr id="2" name="Title 1"/>
          <p:cNvSpPr>
            <a:spLocks noGrp="1"/>
          </p:cNvSpPr>
          <p:nvPr>
            <p:ph type="title" idx="4294967295"/>
          </p:nvPr>
        </p:nvSpPr>
        <p:spPr>
          <a:xfrm>
            <a:off x="0" y="685800"/>
            <a:ext cx="9144000" cy="838200"/>
          </a:xfrm>
        </p:spPr>
        <p:txBody>
          <a:bodyPr/>
          <a:lstStyle/>
          <a:p>
            <a:r>
              <a:rPr lang="en-US" spc="0" dirty="0">
                <a:solidFill>
                  <a:srgbClr val="E46C0A"/>
                </a:solidFill>
                <a:latin typeface="Century Gothic"/>
                <a:cs typeface="Century Gothic"/>
              </a:rPr>
              <a:t>What Was in the Recovery Act?</a:t>
            </a:r>
          </a:p>
        </p:txBody>
      </p:sp>
      <p:sp>
        <p:nvSpPr>
          <p:cNvPr id="6" name="Content Placeholder 2"/>
          <p:cNvSpPr txBox="1">
            <a:spLocks/>
          </p:cNvSpPr>
          <p:nvPr/>
        </p:nvSpPr>
        <p:spPr>
          <a:xfrm>
            <a:off x="0" y="5181600"/>
            <a:ext cx="9144000" cy="2094966"/>
          </a:xfrm>
          <a:prstGeom prst="rect">
            <a:avLst/>
          </a:prstGeom>
        </p:spPr>
        <p:txBody>
          <a:bodyPr vert="horz" lIns="91440" tIns="45720" rIns="91440" bIns="45720" rtlCol="0">
            <a:normAutofit/>
          </a:bodyPr>
          <a:lst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i="1" dirty="0">
                <a:solidFill>
                  <a:schemeClr val="tx1">
                    <a:lumMod val="65000"/>
                    <a:lumOff val="35000"/>
                  </a:schemeClr>
                </a:solidFill>
                <a:latin typeface="Century Gothic"/>
                <a:cs typeface="Century Gothic"/>
              </a:rPr>
              <a:t>One effect of the recession was a sharp drop in revenues at the state and local levels, which in turn forced these lower levels of government to cut spending. Federal aid was sent to mitigate these cuts.</a:t>
            </a:r>
          </a:p>
        </p:txBody>
      </p:sp>
    </p:spTree>
    <p:extLst>
      <p:ext uri="{BB962C8B-B14F-4D97-AF65-F5344CB8AC3E}">
        <p14:creationId xmlns:p14="http://schemas.microsoft.com/office/powerpoint/2010/main" val="17321979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text&#10;&#10;Description automatically generated">
            <a:extLst>
              <a:ext uri="{FF2B5EF4-FFF2-40B4-BE49-F238E27FC236}">
                <a16:creationId xmlns:a16="http://schemas.microsoft.com/office/drawing/2014/main" id="{9200F2EF-EEC3-4E54-AC30-6A2A325971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69"/>
            <a:ext cx="9144000" cy="6851462"/>
          </a:xfrm>
          <a:prstGeom prst="rect">
            <a:avLst/>
          </a:prstGeom>
        </p:spPr>
      </p:pic>
    </p:spTree>
    <p:extLst>
      <p:ext uri="{BB962C8B-B14F-4D97-AF65-F5344CB8AC3E}">
        <p14:creationId xmlns:p14="http://schemas.microsoft.com/office/powerpoint/2010/main" val="392858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2562" name="Rectangle 2"/>
          <p:cNvSpPr>
            <a:spLocks noGrp="1" noChangeArrowheads="1"/>
          </p:cNvSpPr>
          <p:nvPr>
            <p:ph type="title"/>
          </p:nvPr>
        </p:nvSpPr>
        <p:spPr/>
        <p:txBody>
          <a:bodyPr/>
          <a:lstStyle/>
          <a:p>
            <a:pPr>
              <a:defRPr/>
            </a:pPr>
            <a:r>
              <a:rPr lang="en-US" sz="4400" spc="0" dirty="0"/>
              <a:t>THE MULTIPLIER</a:t>
            </a:r>
          </a:p>
        </p:txBody>
      </p:sp>
      <p:sp>
        <p:nvSpPr>
          <p:cNvPr id="62469" name="Rectangle 3"/>
          <p:cNvSpPr>
            <a:spLocks noGrp="1" noChangeArrowheads="1"/>
          </p:cNvSpPr>
          <p:nvPr>
            <p:ph idx="1"/>
          </p:nvPr>
        </p:nvSpPr>
        <p:spPr/>
        <p:txBody>
          <a:bodyPr/>
          <a:lstStyle/>
          <a:p>
            <a:r>
              <a:rPr lang="en-US" sz="3200" dirty="0"/>
              <a:t>Recall: The multiplier idea was introduced by Keynes. </a:t>
            </a:r>
          </a:p>
          <a:p>
            <a:pPr lvl="1"/>
            <a:r>
              <a:rPr lang="en-US" sz="2800" dirty="0">
                <a:solidFill>
                  <a:schemeClr val="tx1">
                    <a:lumMod val="65000"/>
                    <a:lumOff val="35000"/>
                  </a:schemeClr>
                </a:solidFill>
              </a:rPr>
              <a:t>The multiplier </a:t>
            </a:r>
            <a:r>
              <a:rPr lang="en-US" sz="2800" b="1" dirty="0"/>
              <a:t>magnifies new spending into greater levels of income and output </a:t>
            </a:r>
            <a:r>
              <a:rPr lang="en-US" sz="2800" dirty="0">
                <a:solidFill>
                  <a:schemeClr val="tx1">
                    <a:lumMod val="65000"/>
                    <a:lumOff val="35000"/>
                  </a:schemeClr>
                </a:solidFill>
              </a:rPr>
              <a:t>because each round of spending</a:t>
            </a:r>
            <a:r>
              <a:rPr lang="en-US" sz="2800" b="1" dirty="0">
                <a:solidFill>
                  <a:srgbClr val="008000"/>
                </a:solidFill>
              </a:rPr>
              <a:t> </a:t>
            </a:r>
            <a:r>
              <a:rPr lang="en-US" sz="2800" b="1" dirty="0"/>
              <a:t>becomes income for someone else. </a:t>
            </a:r>
          </a:p>
          <a:p>
            <a:r>
              <a:rPr lang="en-US" sz="3600" i="1" dirty="0">
                <a:solidFill>
                  <a:srgbClr val="C00000"/>
                </a:solidFill>
              </a:rPr>
              <a:t> </a:t>
            </a:r>
          </a:p>
        </p:txBody>
      </p:sp>
      <p:pic>
        <p:nvPicPr>
          <p:cNvPr id="8" name="Picture 2" descr="http://www.sxc.hu/pic/l/l/le/leonardini/1237499_81979205.jpg"/>
          <p:cNvPicPr>
            <a:picLocks noChangeAspect="1" noChangeArrowheads="1"/>
          </p:cNvPicPr>
          <p:nvPr/>
        </p:nvPicPr>
        <p:blipFill>
          <a:blip r:embed="rId3" cstate="screen"/>
          <a:srcRect/>
          <a:stretch>
            <a:fillRect/>
          </a:stretch>
        </p:blipFill>
        <p:spPr bwMode="auto">
          <a:xfrm>
            <a:off x="6096000" y="914400"/>
            <a:ext cx="3048000" cy="3048000"/>
          </a:xfrm>
          <a:prstGeom prst="rect">
            <a:avLst/>
          </a:prstGeom>
          <a:noFill/>
        </p:spPr>
      </p:pic>
      <p:pic>
        <p:nvPicPr>
          <p:cNvPr id="9" name="Picture 2" descr="http://www.sxc.hu/pic/l/l/le/leonardini/1237499_81979205.jpg"/>
          <p:cNvPicPr>
            <a:picLocks noChangeAspect="1" noChangeArrowheads="1"/>
          </p:cNvPicPr>
          <p:nvPr/>
        </p:nvPicPr>
        <p:blipFill>
          <a:blip r:embed="rId3" cstate="screen"/>
          <a:srcRect/>
          <a:stretch>
            <a:fillRect/>
          </a:stretch>
        </p:blipFill>
        <p:spPr bwMode="auto">
          <a:xfrm>
            <a:off x="3047999" y="914400"/>
            <a:ext cx="3048000" cy="3048000"/>
          </a:xfrm>
          <a:prstGeom prst="rect">
            <a:avLst/>
          </a:prstGeom>
          <a:noFill/>
        </p:spPr>
      </p:pic>
      <p:pic>
        <p:nvPicPr>
          <p:cNvPr id="12" name="Picture 2" descr="http://www.sxc.hu/pic/l/l/le/leonardini/1237499_81979205.jpg"/>
          <p:cNvPicPr>
            <a:picLocks noChangeAspect="1" noChangeArrowheads="1"/>
          </p:cNvPicPr>
          <p:nvPr/>
        </p:nvPicPr>
        <p:blipFill>
          <a:blip r:embed="rId4" cstate="screen"/>
          <a:srcRect/>
          <a:stretch>
            <a:fillRect/>
          </a:stretch>
        </p:blipFill>
        <p:spPr bwMode="auto">
          <a:xfrm>
            <a:off x="3048000" y="3962400"/>
            <a:ext cx="3048000" cy="2895600"/>
          </a:xfrm>
          <a:prstGeom prst="rect">
            <a:avLst/>
          </a:prstGeom>
          <a:noFill/>
        </p:spPr>
      </p:pic>
      <p:pic>
        <p:nvPicPr>
          <p:cNvPr id="13" name="Picture 2" descr="http://www.sxc.hu/pic/l/l/le/leonardini/1237499_81979205.jpg"/>
          <p:cNvPicPr>
            <a:picLocks noChangeAspect="1" noChangeArrowheads="1"/>
          </p:cNvPicPr>
          <p:nvPr/>
        </p:nvPicPr>
        <p:blipFill>
          <a:blip r:embed="rId4" cstate="screen"/>
          <a:srcRect/>
          <a:stretch>
            <a:fillRect/>
          </a:stretch>
        </p:blipFill>
        <p:spPr bwMode="auto">
          <a:xfrm>
            <a:off x="6096000" y="3962400"/>
            <a:ext cx="3048000" cy="2895600"/>
          </a:xfrm>
          <a:prstGeom prst="rect">
            <a:avLst/>
          </a:prstGeom>
          <a:noFill/>
        </p:spPr>
      </p:pic>
      <p:pic>
        <p:nvPicPr>
          <p:cNvPr id="24580" name="Picture 4" descr="http://www.sxc.hu/pic/l/n/ni/niko18/1212414_16516141.jpg"/>
          <p:cNvPicPr>
            <a:picLocks noChangeAspect="1" noChangeArrowheads="1"/>
          </p:cNvPicPr>
          <p:nvPr/>
        </p:nvPicPr>
        <p:blipFill>
          <a:blip r:embed="rId5" cstate="screen"/>
          <a:srcRect/>
          <a:stretch>
            <a:fillRect/>
          </a:stretch>
        </p:blipFill>
        <p:spPr bwMode="auto">
          <a:xfrm>
            <a:off x="3352800" y="5410200"/>
            <a:ext cx="1676400" cy="1447800"/>
          </a:xfrm>
          <a:prstGeom prst="rect">
            <a:avLst/>
          </a:prstGeom>
          <a:ln>
            <a:noFill/>
          </a:ln>
          <a:effectLst>
            <a:outerShdw blurRad="292100" dist="139700" dir="2700000" algn="tl" rotWithShape="0">
              <a:srgbClr val="333333">
                <a:alpha val="65000"/>
              </a:srgbClr>
            </a:outerShdw>
          </a:effectLst>
        </p:spPr>
      </p:pic>
      <p:pic>
        <p:nvPicPr>
          <p:cNvPr id="14" name="Picture 2" descr="http://www.sxc.hu/pic/l/l/le/leonardini/1237499_81979205.jpg"/>
          <p:cNvPicPr>
            <a:picLocks noChangeAspect="1" noChangeArrowheads="1"/>
          </p:cNvPicPr>
          <p:nvPr/>
        </p:nvPicPr>
        <p:blipFill>
          <a:blip r:embed="rId4" cstate="screen"/>
          <a:srcRect/>
          <a:stretch>
            <a:fillRect/>
          </a:stretch>
        </p:blipFill>
        <p:spPr bwMode="auto">
          <a:xfrm>
            <a:off x="0" y="3962400"/>
            <a:ext cx="3048000" cy="2895600"/>
          </a:xfrm>
          <a:prstGeom prst="rect">
            <a:avLst/>
          </a:prstGeom>
          <a:noFill/>
        </p:spPr>
      </p:pic>
      <p:pic>
        <p:nvPicPr>
          <p:cNvPr id="15" name="Picture 2" descr="http://www.sxc.hu/pic/l/l/le/leonardini/1237499_81979205.jpg"/>
          <p:cNvPicPr>
            <a:picLocks noChangeAspect="1" noChangeArrowheads="1"/>
          </p:cNvPicPr>
          <p:nvPr/>
        </p:nvPicPr>
        <p:blipFill>
          <a:blip r:embed="rId3" cstate="screen"/>
          <a:srcRect/>
          <a:stretch>
            <a:fillRect/>
          </a:stretch>
        </p:blipFill>
        <p:spPr bwMode="auto">
          <a:xfrm>
            <a:off x="4312" y="914400"/>
            <a:ext cx="3048000" cy="3048000"/>
          </a:xfrm>
          <a:prstGeom prst="rect">
            <a:avLst/>
          </a:prstGeom>
          <a:noFill/>
        </p:spPr>
      </p:pic>
    </p:spTree>
    <p:extLst>
      <p:ext uri="{BB962C8B-B14F-4D97-AF65-F5344CB8AC3E}">
        <p14:creationId xmlns:p14="http://schemas.microsoft.com/office/powerpoint/2010/main" val="347649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469">
                                            <p:txEl>
                                              <p:pRg st="1" end="1"/>
                                            </p:txEl>
                                          </p:spTgt>
                                        </p:tgtEl>
                                        <p:attrNameLst>
                                          <p:attrName>style.visibility</p:attrName>
                                        </p:attrNameLst>
                                      </p:cBhvr>
                                      <p:to>
                                        <p:strVal val="visible"/>
                                      </p:to>
                                    </p:set>
                                    <p:animEffect transition="in" filter="fade">
                                      <p:cBhvr>
                                        <p:cTn id="7" dur="1000"/>
                                        <p:tgtEl>
                                          <p:spTgt spid="62469">
                                            <p:txEl>
                                              <p:pRg st="1" end="1"/>
                                            </p:txEl>
                                          </p:spTgt>
                                        </p:tgtEl>
                                      </p:cBhvr>
                                    </p:animEffect>
                                  </p:childTnLst>
                                </p:cTn>
                              </p:par>
                            </p:childTnLst>
                          </p:cTn>
                        </p:par>
                        <p:par>
                          <p:cTn id="8" fill="hold">
                            <p:stCondLst>
                              <p:cond delay="1000"/>
                            </p:stCondLst>
                            <p:childTnLst>
                              <p:par>
                                <p:cTn id="9" presetID="35" presetClass="entr" presetSubtype="0" fill="hold" nodeType="afterEffect">
                                  <p:stCondLst>
                                    <p:cond delay="0"/>
                                  </p:stCondLst>
                                  <p:childTnLst>
                                    <p:set>
                                      <p:cBhvr>
                                        <p:cTn id="10" dur="1" fill="hold">
                                          <p:stCondLst>
                                            <p:cond delay="0"/>
                                          </p:stCondLst>
                                        </p:cTn>
                                        <p:tgtEl>
                                          <p:spTgt spid="24580"/>
                                        </p:tgtEl>
                                        <p:attrNameLst>
                                          <p:attrName>style.visibility</p:attrName>
                                        </p:attrNameLst>
                                      </p:cBhvr>
                                      <p:to>
                                        <p:strVal val="visible"/>
                                      </p:to>
                                    </p:set>
                                    <p:animEffect transition="in" filter="fade">
                                      <p:cBhvr>
                                        <p:cTn id="11" dur="2000"/>
                                        <p:tgtEl>
                                          <p:spTgt spid="24580"/>
                                        </p:tgtEl>
                                      </p:cBhvr>
                                    </p:animEffect>
                                    <p:anim calcmode="lin" valueType="num">
                                      <p:cBhvr>
                                        <p:cTn id="12" dur="2000" fill="hold"/>
                                        <p:tgtEl>
                                          <p:spTgt spid="24580"/>
                                        </p:tgtEl>
                                        <p:attrNameLst>
                                          <p:attrName>style.rotation</p:attrName>
                                        </p:attrNameLst>
                                      </p:cBhvr>
                                      <p:tavLst>
                                        <p:tav tm="0">
                                          <p:val>
                                            <p:fltVal val="720"/>
                                          </p:val>
                                        </p:tav>
                                        <p:tav tm="100000">
                                          <p:val>
                                            <p:fltVal val="0"/>
                                          </p:val>
                                        </p:tav>
                                      </p:tavLst>
                                    </p:anim>
                                    <p:anim calcmode="lin" valueType="num">
                                      <p:cBhvr>
                                        <p:cTn id="13" dur="2000" fill="hold"/>
                                        <p:tgtEl>
                                          <p:spTgt spid="24580"/>
                                        </p:tgtEl>
                                        <p:attrNameLst>
                                          <p:attrName>ppt_h</p:attrName>
                                        </p:attrNameLst>
                                      </p:cBhvr>
                                      <p:tavLst>
                                        <p:tav tm="0">
                                          <p:val>
                                            <p:fltVal val="0"/>
                                          </p:val>
                                        </p:tav>
                                        <p:tav tm="100000">
                                          <p:val>
                                            <p:strVal val="#ppt_h"/>
                                          </p:val>
                                        </p:tav>
                                      </p:tavLst>
                                    </p:anim>
                                    <p:anim calcmode="lin" valueType="num">
                                      <p:cBhvr>
                                        <p:cTn id="14" dur="2000" fill="hold"/>
                                        <p:tgtEl>
                                          <p:spTgt spid="24580"/>
                                        </p:tgtEl>
                                        <p:attrNameLst>
                                          <p:attrName>ppt_w</p:attrName>
                                        </p:attrNameLst>
                                      </p:cBhvr>
                                      <p:tavLst>
                                        <p:tav tm="0">
                                          <p:val>
                                            <p:fltVal val="0"/>
                                          </p:val>
                                        </p:tav>
                                        <p:tav tm="100000">
                                          <p:val>
                                            <p:strVal val="#ppt_w"/>
                                          </p:val>
                                        </p:tav>
                                      </p:tavLst>
                                    </p:anim>
                                  </p:childTnLst>
                                </p:cTn>
                              </p:par>
                              <p:par>
                                <p:cTn id="15" presetID="10" presetClass="entr" presetSubtype="0" fill="hold" nodeType="withEffect">
                                  <p:stCondLst>
                                    <p:cond delay="0"/>
                                  </p:stCondLst>
                                  <p:childTnLst>
                                    <p:set>
                                      <p:cBhvr>
                                        <p:cTn id="16" dur="1" fill="hold">
                                          <p:stCondLst>
                                            <p:cond delay="0"/>
                                          </p:stCondLst>
                                        </p:cTn>
                                        <p:tgtEl>
                                          <p:spTgt spid="62469">
                                            <p:txEl>
                                              <p:pRg st="2" end="2"/>
                                            </p:txEl>
                                          </p:spTgt>
                                        </p:tgtEl>
                                        <p:attrNameLst>
                                          <p:attrName>style.visibility</p:attrName>
                                        </p:attrNameLst>
                                      </p:cBhvr>
                                      <p:to>
                                        <p:strVal val="visible"/>
                                      </p:to>
                                    </p:set>
                                    <p:animEffect transition="in" filter="fade">
                                      <p:cBhvr>
                                        <p:cTn id="17" dur="1000"/>
                                        <p:tgtEl>
                                          <p:spTgt spid="6246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52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p:cTn id="22" dur="500" fill="hold"/>
                                        <p:tgtEl>
                                          <p:spTgt spid="15"/>
                                        </p:tgtEl>
                                        <p:attrNameLst>
                                          <p:attrName>ppt_w</p:attrName>
                                        </p:attrNameLst>
                                      </p:cBhvr>
                                      <p:tavLst>
                                        <p:tav tm="0">
                                          <p:val>
                                            <p:fltVal val="0"/>
                                          </p:val>
                                        </p:tav>
                                        <p:tav tm="100000">
                                          <p:val>
                                            <p:strVal val="#ppt_w"/>
                                          </p:val>
                                        </p:tav>
                                      </p:tavLst>
                                    </p:anim>
                                    <p:anim calcmode="lin" valueType="num">
                                      <p:cBhvr>
                                        <p:cTn id="23" dur="500" fill="hold"/>
                                        <p:tgtEl>
                                          <p:spTgt spid="15"/>
                                        </p:tgtEl>
                                        <p:attrNameLst>
                                          <p:attrName>ppt_h</p:attrName>
                                        </p:attrNameLst>
                                      </p:cBhvr>
                                      <p:tavLst>
                                        <p:tav tm="0">
                                          <p:val>
                                            <p:fltVal val="0"/>
                                          </p:val>
                                        </p:tav>
                                        <p:tav tm="100000">
                                          <p:val>
                                            <p:strVal val="#ppt_h"/>
                                          </p:val>
                                        </p:tav>
                                      </p:tavLst>
                                    </p:anim>
                                    <p:animEffect transition="in" filter="fade">
                                      <p:cBhvr>
                                        <p:cTn id="24" dur="500"/>
                                        <p:tgtEl>
                                          <p:spTgt spid="15"/>
                                        </p:tgtEl>
                                      </p:cBhvr>
                                    </p:animEffect>
                                    <p:anim calcmode="lin" valueType="num">
                                      <p:cBhvr>
                                        <p:cTn id="25" dur="500" fill="hold"/>
                                        <p:tgtEl>
                                          <p:spTgt spid="15"/>
                                        </p:tgtEl>
                                        <p:attrNameLst>
                                          <p:attrName>ppt_x</p:attrName>
                                        </p:attrNameLst>
                                      </p:cBhvr>
                                      <p:tavLst>
                                        <p:tav tm="0">
                                          <p:val>
                                            <p:fltVal val="0.5"/>
                                          </p:val>
                                        </p:tav>
                                        <p:tav tm="100000">
                                          <p:val>
                                            <p:strVal val="#ppt_x"/>
                                          </p:val>
                                        </p:tav>
                                      </p:tavLst>
                                    </p:anim>
                                    <p:anim calcmode="lin" valueType="num">
                                      <p:cBhvr>
                                        <p:cTn id="26" dur="500" fill="hold"/>
                                        <p:tgtEl>
                                          <p:spTgt spid="15"/>
                                        </p:tgtEl>
                                        <p:attrNameLst>
                                          <p:attrName>ppt_y</p:attrName>
                                        </p:attrNameLst>
                                      </p:cBhvr>
                                      <p:tavLst>
                                        <p:tav tm="0">
                                          <p:val>
                                            <p:fltVal val="0.5"/>
                                          </p:val>
                                        </p:tav>
                                        <p:tav tm="100000">
                                          <p:val>
                                            <p:strVal val="#ppt_y"/>
                                          </p:val>
                                        </p:tav>
                                      </p:tavLst>
                                    </p:anim>
                                  </p:childTnLst>
                                </p:cTn>
                              </p:par>
                            </p:childTnLst>
                          </p:cTn>
                        </p:par>
                        <p:par>
                          <p:cTn id="27" fill="hold">
                            <p:stCondLst>
                              <p:cond delay="500"/>
                            </p:stCondLst>
                            <p:childTnLst>
                              <p:par>
                                <p:cTn id="28" presetID="53" presetClass="entr" presetSubtype="528"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500" fill="hold"/>
                                        <p:tgtEl>
                                          <p:spTgt spid="9"/>
                                        </p:tgtEl>
                                        <p:attrNameLst>
                                          <p:attrName>ppt_w</p:attrName>
                                        </p:attrNameLst>
                                      </p:cBhvr>
                                      <p:tavLst>
                                        <p:tav tm="0">
                                          <p:val>
                                            <p:fltVal val="0"/>
                                          </p:val>
                                        </p:tav>
                                        <p:tav tm="100000">
                                          <p:val>
                                            <p:strVal val="#ppt_w"/>
                                          </p:val>
                                        </p:tav>
                                      </p:tavLst>
                                    </p:anim>
                                    <p:anim calcmode="lin" valueType="num">
                                      <p:cBhvr>
                                        <p:cTn id="31" dur="500" fill="hold"/>
                                        <p:tgtEl>
                                          <p:spTgt spid="9"/>
                                        </p:tgtEl>
                                        <p:attrNameLst>
                                          <p:attrName>ppt_h</p:attrName>
                                        </p:attrNameLst>
                                      </p:cBhvr>
                                      <p:tavLst>
                                        <p:tav tm="0">
                                          <p:val>
                                            <p:fltVal val="0"/>
                                          </p:val>
                                        </p:tav>
                                        <p:tav tm="100000">
                                          <p:val>
                                            <p:strVal val="#ppt_h"/>
                                          </p:val>
                                        </p:tav>
                                      </p:tavLst>
                                    </p:anim>
                                    <p:animEffect transition="in" filter="fade">
                                      <p:cBhvr>
                                        <p:cTn id="32" dur="500"/>
                                        <p:tgtEl>
                                          <p:spTgt spid="9"/>
                                        </p:tgtEl>
                                      </p:cBhvr>
                                    </p:animEffect>
                                    <p:anim calcmode="lin" valueType="num">
                                      <p:cBhvr>
                                        <p:cTn id="33" dur="500" fill="hold"/>
                                        <p:tgtEl>
                                          <p:spTgt spid="9"/>
                                        </p:tgtEl>
                                        <p:attrNameLst>
                                          <p:attrName>ppt_x</p:attrName>
                                        </p:attrNameLst>
                                      </p:cBhvr>
                                      <p:tavLst>
                                        <p:tav tm="0">
                                          <p:val>
                                            <p:fltVal val="0.5"/>
                                          </p:val>
                                        </p:tav>
                                        <p:tav tm="100000">
                                          <p:val>
                                            <p:strVal val="#ppt_x"/>
                                          </p:val>
                                        </p:tav>
                                      </p:tavLst>
                                    </p:anim>
                                    <p:anim calcmode="lin" valueType="num">
                                      <p:cBhvr>
                                        <p:cTn id="34" dur="500" fill="hold"/>
                                        <p:tgtEl>
                                          <p:spTgt spid="9"/>
                                        </p:tgtEl>
                                        <p:attrNameLst>
                                          <p:attrName>ppt_y</p:attrName>
                                        </p:attrNameLst>
                                      </p:cBhvr>
                                      <p:tavLst>
                                        <p:tav tm="0">
                                          <p:val>
                                            <p:fltVal val="0.5"/>
                                          </p:val>
                                        </p:tav>
                                        <p:tav tm="100000">
                                          <p:val>
                                            <p:strVal val="#ppt_y"/>
                                          </p:val>
                                        </p:tav>
                                      </p:tavLst>
                                    </p:anim>
                                  </p:childTnLst>
                                </p:cTn>
                              </p:par>
                            </p:childTnLst>
                          </p:cTn>
                        </p:par>
                        <p:par>
                          <p:cTn id="35" fill="hold">
                            <p:stCondLst>
                              <p:cond delay="1000"/>
                            </p:stCondLst>
                            <p:childTnLst>
                              <p:par>
                                <p:cTn id="36" presetID="53" presetClass="entr" presetSubtype="528" fill="hold" nodeType="after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p:cTn id="38" dur="500" fill="hold"/>
                                        <p:tgtEl>
                                          <p:spTgt spid="8"/>
                                        </p:tgtEl>
                                        <p:attrNameLst>
                                          <p:attrName>ppt_w</p:attrName>
                                        </p:attrNameLst>
                                      </p:cBhvr>
                                      <p:tavLst>
                                        <p:tav tm="0">
                                          <p:val>
                                            <p:fltVal val="0"/>
                                          </p:val>
                                        </p:tav>
                                        <p:tav tm="100000">
                                          <p:val>
                                            <p:strVal val="#ppt_w"/>
                                          </p:val>
                                        </p:tav>
                                      </p:tavLst>
                                    </p:anim>
                                    <p:anim calcmode="lin" valueType="num">
                                      <p:cBhvr>
                                        <p:cTn id="39" dur="500" fill="hold"/>
                                        <p:tgtEl>
                                          <p:spTgt spid="8"/>
                                        </p:tgtEl>
                                        <p:attrNameLst>
                                          <p:attrName>ppt_h</p:attrName>
                                        </p:attrNameLst>
                                      </p:cBhvr>
                                      <p:tavLst>
                                        <p:tav tm="0">
                                          <p:val>
                                            <p:fltVal val="0"/>
                                          </p:val>
                                        </p:tav>
                                        <p:tav tm="100000">
                                          <p:val>
                                            <p:strVal val="#ppt_h"/>
                                          </p:val>
                                        </p:tav>
                                      </p:tavLst>
                                    </p:anim>
                                    <p:animEffect transition="in" filter="fade">
                                      <p:cBhvr>
                                        <p:cTn id="40" dur="500"/>
                                        <p:tgtEl>
                                          <p:spTgt spid="8"/>
                                        </p:tgtEl>
                                      </p:cBhvr>
                                    </p:animEffect>
                                    <p:anim calcmode="lin" valueType="num">
                                      <p:cBhvr>
                                        <p:cTn id="41" dur="500" fill="hold"/>
                                        <p:tgtEl>
                                          <p:spTgt spid="8"/>
                                        </p:tgtEl>
                                        <p:attrNameLst>
                                          <p:attrName>ppt_x</p:attrName>
                                        </p:attrNameLst>
                                      </p:cBhvr>
                                      <p:tavLst>
                                        <p:tav tm="0">
                                          <p:val>
                                            <p:fltVal val="0.5"/>
                                          </p:val>
                                        </p:tav>
                                        <p:tav tm="100000">
                                          <p:val>
                                            <p:strVal val="#ppt_x"/>
                                          </p:val>
                                        </p:tav>
                                      </p:tavLst>
                                    </p:anim>
                                    <p:anim calcmode="lin" valueType="num">
                                      <p:cBhvr>
                                        <p:cTn id="42" dur="500" fill="hold"/>
                                        <p:tgtEl>
                                          <p:spTgt spid="8"/>
                                        </p:tgtEl>
                                        <p:attrNameLst>
                                          <p:attrName>ppt_y</p:attrName>
                                        </p:attrNameLst>
                                      </p:cBhvr>
                                      <p:tavLst>
                                        <p:tav tm="0">
                                          <p:val>
                                            <p:fltVal val="0.5"/>
                                          </p:val>
                                        </p:tav>
                                        <p:tav tm="100000">
                                          <p:val>
                                            <p:strVal val="#ppt_y"/>
                                          </p:val>
                                        </p:tav>
                                      </p:tavLst>
                                    </p:anim>
                                  </p:childTnLst>
                                </p:cTn>
                              </p:par>
                            </p:childTnLst>
                          </p:cTn>
                        </p:par>
                        <p:par>
                          <p:cTn id="43" fill="hold">
                            <p:stCondLst>
                              <p:cond delay="1500"/>
                            </p:stCondLst>
                            <p:childTnLst>
                              <p:par>
                                <p:cTn id="44" presetID="53" presetClass="entr" presetSubtype="528"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00" fill="hold"/>
                                        <p:tgtEl>
                                          <p:spTgt spid="13"/>
                                        </p:tgtEl>
                                        <p:attrNameLst>
                                          <p:attrName>ppt_w</p:attrName>
                                        </p:attrNameLst>
                                      </p:cBhvr>
                                      <p:tavLst>
                                        <p:tav tm="0">
                                          <p:val>
                                            <p:fltVal val="0"/>
                                          </p:val>
                                        </p:tav>
                                        <p:tav tm="100000">
                                          <p:val>
                                            <p:strVal val="#ppt_w"/>
                                          </p:val>
                                        </p:tav>
                                      </p:tavLst>
                                    </p:anim>
                                    <p:anim calcmode="lin" valueType="num">
                                      <p:cBhvr>
                                        <p:cTn id="47" dur="500" fill="hold"/>
                                        <p:tgtEl>
                                          <p:spTgt spid="13"/>
                                        </p:tgtEl>
                                        <p:attrNameLst>
                                          <p:attrName>ppt_h</p:attrName>
                                        </p:attrNameLst>
                                      </p:cBhvr>
                                      <p:tavLst>
                                        <p:tav tm="0">
                                          <p:val>
                                            <p:fltVal val="0"/>
                                          </p:val>
                                        </p:tav>
                                        <p:tav tm="100000">
                                          <p:val>
                                            <p:strVal val="#ppt_h"/>
                                          </p:val>
                                        </p:tav>
                                      </p:tavLst>
                                    </p:anim>
                                    <p:animEffect transition="in" filter="fade">
                                      <p:cBhvr>
                                        <p:cTn id="48" dur="500"/>
                                        <p:tgtEl>
                                          <p:spTgt spid="13"/>
                                        </p:tgtEl>
                                      </p:cBhvr>
                                    </p:animEffect>
                                    <p:anim calcmode="lin" valueType="num">
                                      <p:cBhvr>
                                        <p:cTn id="49" dur="500" fill="hold"/>
                                        <p:tgtEl>
                                          <p:spTgt spid="13"/>
                                        </p:tgtEl>
                                        <p:attrNameLst>
                                          <p:attrName>ppt_x</p:attrName>
                                        </p:attrNameLst>
                                      </p:cBhvr>
                                      <p:tavLst>
                                        <p:tav tm="0">
                                          <p:val>
                                            <p:fltVal val="0.5"/>
                                          </p:val>
                                        </p:tav>
                                        <p:tav tm="100000">
                                          <p:val>
                                            <p:strVal val="#ppt_x"/>
                                          </p:val>
                                        </p:tav>
                                      </p:tavLst>
                                    </p:anim>
                                    <p:anim calcmode="lin" valueType="num">
                                      <p:cBhvr>
                                        <p:cTn id="50" dur="500" fill="hold"/>
                                        <p:tgtEl>
                                          <p:spTgt spid="13"/>
                                        </p:tgtEl>
                                        <p:attrNameLst>
                                          <p:attrName>ppt_y</p:attrName>
                                        </p:attrNameLst>
                                      </p:cBhvr>
                                      <p:tavLst>
                                        <p:tav tm="0">
                                          <p:val>
                                            <p:fltVal val="0.5"/>
                                          </p:val>
                                        </p:tav>
                                        <p:tav tm="100000">
                                          <p:val>
                                            <p:strVal val="#ppt_y"/>
                                          </p:val>
                                        </p:tav>
                                      </p:tavLst>
                                    </p:anim>
                                  </p:childTnLst>
                                </p:cTn>
                              </p:par>
                            </p:childTnLst>
                          </p:cTn>
                        </p:par>
                        <p:par>
                          <p:cTn id="51" fill="hold">
                            <p:stCondLst>
                              <p:cond delay="2000"/>
                            </p:stCondLst>
                            <p:childTnLst>
                              <p:par>
                                <p:cTn id="52" presetID="53" presetClass="entr" presetSubtype="528" fill="hold" nodeType="afterEffect">
                                  <p:stCondLst>
                                    <p:cond delay="0"/>
                                  </p:stCondLst>
                                  <p:childTnLst>
                                    <p:set>
                                      <p:cBhvr>
                                        <p:cTn id="53" dur="1" fill="hold">
                                          <p:stCondLst>
                                            <p:cond delay="0"/>
                                          </p:stCondLst>
                                        </p:cTn>
                                        <p:tgtEl>
                                          <p:spTgt spid="12"/>
                                        </p:tgtEl>
                                        <p:attrNameLst>
                                          <p:attrName>style.visibility</p:attrName>
                                        </p:attrNameLst>
                                      </p:cBhvr>
                                      <p:to>
                                        <p:strVal val="visible"/>
                                      </p:to>
                                    </p:set>
                                    <p:anim calcmode="lin" valueType="num">
                                      <p:cBhvr>
                                        <p:cTn id="54" dur="500" fill="hold"/>
                                        <p:tgtEl>
                                          <p:spTgt spid="12"/>
                                        </p:tgtEl>
                                        <p:attrNameLst>
                                          <p:attrName>ppt_w</p:attrName>
                                        </p:attrNameLst>
                                      </p:cBhvr>
                                      <p:tavLst>
                                        <p:tav tm="0">
                                          <p:val>
                                            <p:fltVal val="0"/>
                                          </p:val>
                                        </p:tav>
                                        <p:tav tm="100000">
                                          <p:val>
                                            <p:strVal val="#ppt_w"/>
                                          </p:val>
                                        </p:tav>
                                      </p:tavLst>
                                    </p:anim>
                                    <p:anim calcmode="lin" valueType="num">
                                      <p:cBhvr>
                                        <p:cTn id="55" dur="500" fill="hold"/>
                                        <p:tgtEl>
                                          <p:spTgt spid="12"/>
                                        </p:tgtEl>
                                        <p:attrNameLst>
                                          <p:attrName>ppt_h</p:attrName>
                                        </p:attrNameLst>
                                      </p:cBhvr>
                                      <p:tavLst>
                                        <p:tav tm="0">
                                          <p:val>
                                            <p:fltVal val="0"/>
                                          </p:val>
                                        </p:tav>
                                        <p:tav tm="100000">
                                          <p:val>
                                            <p:strVal val="#ppt_h"/>
                                          </p:val>
                                        </p:tav>
                                      </p:tavLst>
                                    </p:anim>
                                    <p:animEffect transition="in" filter="fade">
                                      <p:cBhvr>
                                        <p:cTn id="56" dur="500"/>
                                        <p:tgtEl>
                                          <p:spTgt spid="12"/>
                                        </p:tgtEl>
                                      </p:cBhvr>
                                    </p:animEffect>
                                    <p:anim calcmode="lin" valueType="num">
                                      <p:cBhvr>
                                        <p:cTn id="57" dur="500" fill="hold"/>
                                        <p:tgtEl>
                                          <p:spTgt spid="12"/>
                                        </p:tgtEl>
                                        <p:attrNameLst>
                                          <p:attrName>ppt_x</p:attrName>
                                        </p:attrNameLst>
                                      </p:cBhvr>
                                      <p:tavLst>
                                        <p:tav tm="0">
                                          <p:val>
                                            <p:fltVal val="0.5"/>
                                          </p:val>
                                        </p:tav>
                                        <p:tav tm="100000">
                                          <p:val>
                                            <p:strVal val="#ppt_x"/>
                                          </p:val>
                                        </p:tav>
                                      </p:tavLst>
                                    </p:anim>
                                    <p:anim calcmode="lin" valueType="num">
                                      <p:cBhvr>
                                        <p:cTn id="58" dur="500" fill="hold"/>
                                        <p:tgtEl>
                                          <p:spTgt spid="12"/>
                                        </p:tgtEl>
                                        <p:attrNameLst>
                                          <p:attrName>ppt_y</p:attrName>
                                        </p:attrNameLst>
                                      </p:cBhvr>
                                      <p:tavLst>
                                        <p:tav tm="0">
                                          <p:val>
                                            <p:fltVal val="0.5"/>
                                          </p:val>
                                        </p:tav>
                                        <p:tav tm="100000">
                                          <p:val>
                                            <p:strVal val="#ppt_y"/>
                                          </p:val>
                                        </p:tav>
                                      </p:tavLst>
                                    </p:anim>
                                  </p:childTnLst>
                                </p:cTn>
                              </p:par>
                            </p:childTnLst>
                          </p:cTn>
                        </p:par>
                        <p:par>
                          <p:cTn id="59" fill="hold">
                            <p:stCondLst>
                              <p:cond delay="2500"/>
                            </p:stCondLst>
                            <p:childTnLst>
                              <p:par>
                                <p:cTn id="60" presetID="53" presetClass="entr" presetSubtype="528" fill="hold" nodeType="afterEffect">
                                  <p:stCondLst>
                                    <p:cond delay="0"/>
                                  </p:stCondLst>
                                  <p:childTnLst>
                                    <p:set>
                                      <p:cBhvr>
                                        <p:cTn id="61" dur="1" fill="hold">
                                          <p:stCondLst>
                                            <p:cond delay="0"/>
                                          </p:stCondLst>
                                        </p:cTn>
                                        <p:tgtEl>
                                          <p:spTgt spid="14"/>
                                        </p:tgtEl>
                                        <p:attrNameLst>
                                          <p:attrName>style.visibility</p:attrName>
                                        </p:attrNameLst>
                                      </p:cBhvr>
                                      <p:to>
                                        <p:strVal val="visible"/>
                                      </p:to>
                                    </p:set>
                                    <p:anim calcmode="lin" valueType="num">
                                      <p:cBhvr>
                                        <p:cTn id="62" dur="500" fill="hold"/>
                                        <p:tgtEl>
                                          <p:spTgt spid="14"/>
                                        </p:tgtEl>
                                        <p:attrNameLst>
                                          <p:attrName>ppt_w</p:attrName>
                                        </p:attrNameLst>
                                      </p:cBhvr>
                                      <p:tavLst>
                                        <p:tav tm="0">
                                          <p:val>
                                            <p:fltVal val="0"/>
                                          </p:val>
                                        </p:tav>
                                        <p:tav tm="100000">
                                          <p:val>
                                            <p:strVal val="#ppt_w"/>
                                          </p:val>
                                        </p:tav>
                                      </p:tavLst>
                                    </p:anim>
                                    <p:anim calcmode="lin" valueType="num">
                                      <p:cBhvr>
                                        <p:cTn id="63" dur="500" fill="hold"/>
                                        <p:tgtEl>
                                          <p:spTgt spid="14"/>
                                        </p:tgtEl>
                                        <p:attrNameLst>
                                          <p:attrName>ppt_h</p:attrName>
                                        </p:attrNameLst>
                                      </p:cBhvr>
                                      <p:tavLst>
                                        <p:tav tm="0">
                                          <p:val>
                                            <p:fltVal val="0"/>
                                          </p:val>
                                        </p:tav>
                                        <p:tav tm="100000">
                                          <p:val>
                                            <p:strVal val="#ppt_h"/>
                                          </p:val>
                                        </p:tav>
                                      </p:tavLst>
                                    </p:anim>
                                    <p:animEffect transition="in" filter="fade">
                                      <p:cBhvr>
                                        <p:cTn id="64" dur="500"/>
                                        <p:tgtEl>
                                          <p:spTgt spid="14"/>
                                        </p:tgtEl>
                                      </p:cBhvr>
                                    </p:animEffect>
                                    <p:anim calcmode="lin" valueType="num">
                                      <p:cBhvr>
                                        <p:cTn id="65" dur="500" fill="hold"/>
                                        <p:tgtEl>
                                          <p:spTgt spid="14"/>
                                        </p:tgtEl>
                                        <p:attrNameLst>
                                          <p:attrName>ppt_x</p:attrName>
                                        </p:attrNameLst>
                                      </p:cBhvr>
                                      <p:tavLst>
                                        <p:tav tm="0">
                                          <p:val>
                                            <p:fltVal val="0.5"/>
                                          </p:val>
                                        </p:tav>
                                        <p:tav tm="100000">
                                          <p:val>
                                            <p:strVal val="#ppt_x"/>
                                          </p:val>
                                        </p:tav>
                                      </p:tavLst>
                                    </p:anim>
                                    <p:anim calcmode="lin" valueType="num">
                                      <p:cBhvr>
                                        <p:cTn id="66" dur="500" fill="hold"/>
                                        <p:tgtEl>
                                          <p:spTgt spid="14"/>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pc="0" dirty="0"/>
              <a:t>FISCAL POLICY AND THE MULTIPLIER</a:t>
            </a:r>
          </a:p>
        </p:txBody>
      </p:sp>
      <p:sp>
        <p:nvSpPr>
          <p:cNvPr id="3" name="Content Placeholder 2"/>
          <p:cNvSpPr>
            <a:spLocks noGrp="1"/>
          </p:cNvSpPr>
          <p:nvPr>
            <p:ph idx="1"/>
          </p:nvPr>
        </p:nvSpPr>
        <p:spPr>
          <a:xfrm>
            <a:off x="0" y="914400"/>
            <a:ext cx="9067800" cy="5334000"/>
          </a:xfrm>
        </p:spPr>
        <p:txBody>
          <a:bodyPr>
            <a:normAutofit/>
          </a:bodyPr>
          <a:lstStyle/>
          <a:p>
            <a:pPr>
              <a:spcBef>
                <a:spcPts val="120"/>
              </a:spcBef>
              <a:spcAft>
                <a:spcPts val="1800"/>
              </a:spcAft>
            </a:pPr>
            <a:r>
              <a:rPr lang="en-US" dirty="0">
                <a:solidFill>
                  <a:srgbClr val="0070C0"/>
                </a:solidFill>
              </a:rPr>
              <a:t>Multiplier effects of an increase in government purchases of goods and services: </a:t>
            </a:r>
          </a:p>
          <a:p>
            <a:pPr>
              <a:spcBef>
                <a:spcPts val="120"/>
              </a:spcBef>
              <a:spcAft>
                <a:spcPts val="1800"/>
              </a:spcAft>
            </a:pPr>
            <a:r>
              <a:rPr lang="en-US" sz="2800" dirty="0"/>
              <a:t>Recall that (if we assume </a:t>
            </a:r>
            <a:r>
              <a:rPr lang="en-US" sz="2800" b="0" dirty="0"/>
              <a:t>a simple case with no taxes or international trade),</a:t>
            </a:r>
          </a:p>
          <a:p>
            <a:pPr>
              <a:spcBef>
                <a:spcPts val="120"/>
              </a:spcBef>
              <a:spcAft>
                <a:spcPts val="1800"/>
              </a:spcAft>
            </a:pPr>
            <a:r>
              <a:rPr lang="en-US" b="0" dirty="0"/>
              <a:t>		</a:t>
            </a:r>
            <a:r>
              <a:rPr lang="en-US" dirty="0">
                <a:solidFill>
                  <a:srgbClr val="0070C0"/>
                </a:solidFill>
              </a:rPr>
              <a:t>the multiplier is </a:t>
            </a:r>
            <a:r>
              <a:rPr lang="en-US" dirty="0"/>
              <a:t>1/(1 − </a:t>
            </a:r>
            <a:r>
              <a:rPr lang="en-US" i="1" dirty="0"/>
              <a:t>MPC</a:t>
            </a:r>
            <a:r>
              <a:rPr lang="en-US" dirty="0"/>
              <a:t>)</a:t>
            </a:r>
          </a:p>
          <a:p>
            <a:pPr>
              <a:spcBef>
                <a:spcPts val="120"/>
              </a:spcBef>
            </a:pPr>
            <a:r>
              <a:rPr lang="en-US" sz="2400" i="1" dirty="0">
                <a:solidFill>
                  <a:schemeClr val="tx1">
                    <a:lumMod val="75000"/>
                    <a:lumOff val="25000"/>
                  </a:schemeClr>
                </a:solidFill>
              </a:rPr>
              <a:t>Example: if </a:t>
            </a:r>
            <a:r>
              <a:rPr lang="en-US" sz="2400" dirty="0">
                <a:solidFill>
                  <a:schemeClr val="tx1">
                    <a:lumMod val="75000"/>
                    <a:lumOff val="25000"/>
                  </a:schemeClr>
                </a:solidFill>
              </a:rPr>
              <a:t>MPC</a:t>
            </a:r>
            <a:r>
              <a:rPr lang="en-US" sz="2400" i="1" dirty="0">
                <a:solidFill>
                  <a:schemeClr val="tx1">
                    <a:lumMod val="75000"/>
                    <a:lumOff val="25000"/>
                  </a:schemeClr>
                </a:solidFill>
              </a:rPr>
              <a:t> = 0.5, the multiplier would be 1/(1 − 0.5)= 2.</a:t>
            </a:r>
          </a:p>
          <a:p>
            <a:pPr>
              <a:spcBef>
                <a:spcPts val="120"/>
              </a:spcBef>
            </a:pPr>
            <a:r>
              <a:rPr lang="en-US" sz="2400" i="1" dirty="0">
                <a:solidFill>
                  <a:schemeClr val="tx1">
                    <a:lumMod val="75000"/>
                    <a:lumOff val="25000"/>
                  </a:schemeClr>
                </a:solidFill>
              </a:rPr>
              <a:t>So $50 billion of new government spending would create </a:t>
            </a:r>
          </a:p>
          <a:p>
            <a:pPr>
              <a:spcBef>
                <a:spcPts val="120"/>
              </a:spcBef>
            </a:pPr>
            <a:r>
              <a:rPr lang="en-US" sz="2400" i="1" dirty="0">
                <a:solidFill>
                  <a:schemeClr val="tx1">
                    <a:lumMod val="75000"/>
                    <a:lumOff val="25000"/>
                  </a:schemeClr>
                </a:solidFill>
              </a:rPr>
              <a:t>($50 billion) × 2 = $100 billion increase in real GDP.</a:t>
            </a:r>
          </a:p>
        </p:txBody>
      </p:sp>
    </p:spTree>
    <p:extLst>
      <p:ext uri="{BB962C8B-B14F-4D97-AF65-F5344CB8AC3E}">
        <p14:creationId xmlns:p14="http://schemas.microsoft.com/office/powerpoint/2010/main" val="39788317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spc="0" dirty="0"/>
              <a:t>FISCAL POLICY AND THE MULTIPLIER</a:t>
            </a:r>
          </a:p>
        </p:txBody>
      </p:sp>
      <p:sp>
        <p:nvSpPr>
          <p:cNvPr id="3" name="Content Placeholder 2"/>
          <p:cNvSpPr>
            <a:spLocks noGrp="1"/>
          </p:cNvSpPr>
          <p:nvPr>
            <p:ph idx="1"/>
          </p:nvPr>
        </p:nvSpPr>
        <p:spPr>
          <a:xfrm>
            <a:off x="76200" y="609600"/>
            <a:ext cx="8991600" cy="4648200"/>
          </a:xfrm>
        </p:spPr>
        <p:txBody>
          <a:bodyPr>
            <a:normAutofit/>
          </a:bodyPr>
          <a:lstStyle/>
          <a:p>
            <a:r>
              <a:rPr lang="en-US" sz="2800" dirty="0">
                <a:solidFill>
                  <a:srgbClr val="0070C0"/>
                </a:solidFill>
              </a:rPr>
              <a:t>Multiplier effects of changes in government</a:t>
            </a:r>
          </a:p>
          <a:p>
            <a:r>
              <a:rPr lang="en-US" sz="2800" dirty="0">
                <a:solidFill>
                  <a:srgbClr val="0070C0"/>
                </a:solidFill>
              </a:rPr>
              <a:t>transfers and taxes</a:t>
            </a:r>
          </a:p>
          <a:p>
            <a:pPr lvl="1"/>
            <a:r>
              <a:rPr lang="en-US" sz="2400" dirty="0"/>
              <a:t>Will a $50 billion tax cut (or increase in transfers) have the same effect as a $50 billion increase in government purchases?</a:t>
            </a:r>
          </a:p>
          <a:p>
            <a:r>
              <a:rPr lang="en-US" sz="2800" dirty="0"/>
              <a:t>No.  Example: if the MPS=0.5, </a:t>
            </a:r>
            <a:r>
              <a:rPr lang="en-US" sz="2800" dirty="0">
                <a:solidFill>
                  <a:srgbClr val="0070C0"/>
                </a:solidFill>
              </a:rPr>
              <a:t>a change in tax or transfers is smaller than an equivalent change in government purchases from the outset.</a:t>
            </a:r>
          </a:p>
        </p:txBody>
      </p:sp>
      <p:pic>
        <p:nvPicPr>
          <p:cNvPr id="39939" name="Picture 3" descr="C:\Users\solina\Dropbox\Krugman 3e Dynamic PPTs\Krugman 3e material\Images_High Res\CH28\CH28\Krug3e_table_28_01.jpg"/>
          <p:cNvPicPr>
            <a:picLocks noChangeAspect="1" noChangeArrowheads="1"/>
          </p:cNvPicPr>
          <p:nvPr/>
        </p:nvPicPr>
        <p:blipFill rotWithShape="1">
          <a:blip r:embed="rId2" cstate="screen">
            <a:extLst>
              <a:ext uri="{28A0092B-C50C-407E-A947-70E740481C1C}">
                <a14:useLocalDpi xmlns:a14="http://schemas.microsoft.com/office/drawing/2010/main" val="0"/>
              </a:ext>
            </a:extLst>
          </a:blip>
          <a:srcRect/>
          <a:stretch/>
        </p:blipFill>
        <p:spPr bwMode="auto">
          <a:xfrm>
            <a:off x="473830" y="4192580"/>
            <a:ext cx="8060570" cy="2589220"/>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p:cNvSpPr/>
          <p:nvPr/>
        </p:nvSpPr>
        <p:spPr>
          <a:xfrm>
            <a:off x="6436464" y="4760070"/>
            <a:ext cx="1066800" cy="3048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8" name="Oval 7"/>
          <p:cNvSpPr/>
          <p:nvPr/>
        </p:nvSpPr>
        <p:spPr>
          <a:xfrm>
            <a:off x="3124200" y="4760070"/>
            <a:ext cx="1066800" cy="30480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Tree>
    <p:extLst>
      <p:ext uri="{BB962C8B-B14F-4D97-AF65-F5344CB8AC3E}">
        <p14:creationId xmlns:p14="http://schemas.microsoft.com/office/powerpoint/2010/main" val="3258079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9939"/>
                                        </p:tgtEl>
                                        <p:attrNameLst>
                                          <p:attrName>style.visibility</p:attrName>
                                        </p:attrNameLst>
                                      </p:cBhvr>
                                      <p:to>
                                        <p:strVal val="visible"/>
                                      </p:to>
                                    </p:set>
                                    <p:animEffect transition="in" filter="fade">
                                      <p:cBhvr>
                                        <p:cTn id="21" dur="500"/>
                                        <p:tgtEl>
                                          <p:spTgt spid="39939"/>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par>
                          <p:cTn id="26" fill="hold">
                            <p:stCondLst>
                              <p:cond delay="1000"/>
                            </p:stCondLst>
                            <p:childTnLst>
                              <p:par>
                                <p:cTn id="27" presetID="10" presetClass="entr" presetSubtype="0"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childTnLst>
                          </p:cTn>
                        </p:par>
                        <p:par>
                          <p:cTn id="30" fill="hold">
                            <p:stCondLst>
                              <p:cond delay="1500"/>
                            </p:stCondLst>
                            <p:childTnLst>
                              <p:par>
                                <p:cTn id="31" presetID="10"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Rot="1" noChangeArrowheads="1"/>
          </p:cNvSpPr>
          <p:nvPr>
            <p:ph type="title"/>
          </p:nvPr>
        </p:nvSpPr>
        <p:spPr/>
        <p:txBody>
          <a:bodyPr>
            <a:normAutofit fontScale="90000"/>
          </a:bodyPr>
          <a:lstStyle/>
          <a:p>
            <a:r>
              <a:rPr lang="en-US" spc="0" dirty="0"/>
              <a:t>FISCAL POLICY AND THE MULTIPLIER</a:t>
            </a:r>
          </a:p>
        </p:txBody>
      </p:sp>
      <p:sp>
        <p:nvSpPr>
          <p:cNvPr id="551939" name="Rectangle 3"/>
          <p:cNvSpPr>
            <a:spLocks noGrp="1" noChangeArrowheads="1"/>
          </p:cNvSpPr>
          <p:nvPr>
            <p:ph idx="1"/>
          </p:nvPr>
        </p:nvSpPr>
        <p:spPr>
          <a:xfrm>
            <a:off x="228600" y="685800"/>
            <a:ext cx="8839200" cy="4648200"/>
          </a:xfrm>
        </p:spPr>
        <p:txBody>
          <a:bodyPr>
            <a:noAutofit/>
          </a:bodyPr>
          <a:lstStyle/>
          <a:p>
            <a:r>
              <a:rPr lang="en-US" dirty="0"/>
              <a:t>The </a:t>
            </a:r>
            <a:r>
              <a:rPr lang="en-US" dirty="0">
                <a:solidFill>
                  <a:srgbClr val="0070C0"/>
                </a:solidFill>
              </a:rPr>
              <a:t>size of the shift of the aggregate demand curve</a:t>
            </a:r>
            <a:r>
              <a:rPr lang="en-US" dirty="0"/>
              <a:t> depends on the type of fiscal policy. </a:t>
            </a:r>
          </a:p>
          <a:p>
            <a:r>
              <a:rPr lang="en-US" b="1" i="1" dirty="0">
                <a:solidFill>
                  <a:srgbClr val="990033"/>
                </a:solidFill>
              </a:rPr>
              <a:t>Changes in government purchases have a more powerful effect on the economy than equal-sized changes in taxes or transfers.</a:t>
            </a:r>
            <a:r>
              <a:rPr lang="en-US" dirty="0">
                <a:solidFill>
                  <a:srgbClr val="990033"/>
                </a:solidFill>
              </a:rPr>
              <a:t> </a:t>
            </a:r>
          </a:p>
          <a:p>
            <a:pPr>
              <a:spcBef>
                <a:spcPct val="50000"/>
              </a:spcBef>
              <a:buClr>
                <a:schemeClr val="tx1"/>
              </a:buClr>
              <a:buFont typeface="Wingdings" pitchFamily="2" charset="2"/>
              <a:buNone/>
            </a:pPr>
            <a:endParaRPr lang="en-US" dirty="0"/>
          </a:p>
        </p:txBody>
      </p:sp>
      <p:pic>
        <p:nvPicPr>
          <p:cNvPr id="5" name="Picture 2" descr="http://www.sxc.hu/pic/l/y/ym/ym/169849_3851.jpg"/>
          <p:cNvPicPr>
            <a:picLocks noChangeAspect="1" noChangeArrowheads="1"/>
          </p:cNvPicPr>
          <p:nvPr/>
        </p:nvPicPr>
        <p:blipFill>
          <a:blip r:embed="rId3" cstate="screen"/>
          <a:srcRect/>
          <a:stretch>
            <a:fillRect/>
          </a:stretch>
        </p:blipFill>
        <p:spPr bwMode="auto">
          <a:xfrm>
            <a:off x="2743200" y="3886200"/>
            <a:ext cx="3657600" cy="27432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49224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5"/>
                                        </p:tgtEl>
                                      </p:cBhvr>
                                      <p:by x="25000" y="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pc="0" dirty="0"/>
              <a:t>FISCAL POLICY AND THE MULTIPLIER</a:t>
            </a:r>
          </a:p>
        </p:txBody>
      </p:sp>
      <p:sp>
        <p:nvSpPr>
          <p:cNvPr id="3" name="Content Placeholder 2"/>
          <p:cNvSpPr>
            <a:spLocks noGrp="1"/>
          </p:cNvSpPr>
          <p:nvPr>
            <p:ph idx="1"/>
          </p:nvPr>
        </p:nvSpPr>
        <p:spPr/>
        <p:txBody>
          <a:bodyPr/>
          <a:lstStyle/>
          <a:p>
            <a:pPr>
              <a:spcBef>
                <a:spcPts val="168"/>
              </a:spcBef>
              <a:spcAft>
                <a:spcPts val="1800"/>
              </a:spcAft>
            </a:pPr>
            <a:r>
              <a:rPr lang="en-US" dirty="0"/>
              <a:t>A few notes:</a:t>
            </a:r>
          </a:p>
          <a:p>
            <a:pPr>
              <a:spcBef>
                <a:spcPts val="168"/>
              </a:spcBef>
              <a:spcAft>
                <a:spcPts val="1800"/>
              </a:spcAft>
            </a:pPr>
            <a:r>
              <a:rPr lang="en-US" dirty="0"/>
              <a:t>It’s more complicated, because (unlike most </a:t>
            </a:r>
            <a:r>
              <a:rPr lang="en-US" i="1" dirty="0"/>
              <a:t>real</a:t>
            </a:r>
            <a:r>
              <a:rPr lang="en-US" dirty="0"/>
              <a:t> tax policy) we use simple </a:t>
            </a:r>
            <a:r>
              <a:rPr lang="en-US" i="1" dirty="0">
                <a:solidFill>
                  <a:srgbClr val="990033"/>
                </a:solidFill>
              </a:rPr>
              <a:t>lump-sum taxes: </a:t>
            </a:r>
            <a:r>
              <a:rPr lang="en-US" b="0" dirty="0"/>
              <a:t>taxes that </a:t>
            </a:r>
            <a:r>
              <a:rPr lang="en-US" b="0" i="1" dirty="0"/>
              <a:t>don’t depend </a:t>
            </a:r>
            <a:r>
              <a:rPr lang="en-US" b="0" dirty="0"/>
              <a:t>on the taxpayer’s income.</a:t>
            </a:r>
          </a:p>
          <a:p>
            <a:pPr>
              <a:spcBef>
                <a:spcPts val="168"/>
              </a:spcBef>
              <a:spcAft>
                <a:spcPts val="1800"/>
              </a:spcAft>
            </a:pPr>
            <a:r>
              <a:rPr lang="en-US" i="1" dirty="0">
                <a:solidFill>
                  <a:schemeClr val="tx1">
                    <a:lumMod val="75000"/>
                    <a:lumOff val="25000"/>
                  </a:schemeClr>
                </a:solidFill>
              </a:rPr>
              <a:t>If it’s not a lump-sum tax, the tax revenue will depend on the level of real GDP (and reduce the size of the multiplier).</a:t>
            </a:r>
          </a:p>
        </p:txBody>
      </p:sp>
    </p:spTree>
    <p:extLst>
      <p:ext uri="{BB962C8B-B14F-4D97-AF65-F5344CB8AC3E}">
        <p14:creationId xmlns:p14="http://schemas.microsoft.com/office/powerpoint/2010/main" val="12312891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5010" name="Rectangle 2"/>
          <p:cNvSpPr>
            <a:spLocks noGrp="1" noRot="1" noChangeArrowheads="1"/>
          </p:cNvSpPr>
          <p:nvPr>
            <p:ph type="title"/>
          </p:nvPr>
        </p:nvSpPr>
        <p:spPr/>
        <p:txBody>
          <a:bodyPr>
            <a:normAutofit/>
          </a:bodyPr>
          <a:lstStyle/>
          <a:p>
            <a:r>
              <a:rPr lang="en-US" sz="4000" spc="0" dirty="0"/>
              <a:t>TYPES OF FISCAL POLICY</a:t>
            </a:r>
          </a:p>
        </p:txBody>
      </p:sp>
      <p:sp>
        <p:nvSpPr>
          <p:cNvPr id="555011" name="Rectangle 3"/>
          <p:cNvSpPr>
            <a:spLocks noGrp="1" noChangeArrowheads="1"/>
          </p:cNvSpPr>
          <p:nvPr>
            <p:ph idx="1"/>
          </p:nvPr>
        </p:nvSpPr>
        <p:spPr>
          <a:xfrm>
            <a:off x="228600" y="990600"/>
            <a:ext cx="6934200" cy="5486400"/>
          </a:xfrm>
        </p:spPr>
        <p:txBody>
          <a:bodyPr>
            <a:normAutofit fontScale="92500" lnSpcReduction="10000"/>
          </a:bodyPr>
          <a:lstStyle/>
          <a:p>
            <a:pPr>
              <a:spcBef>
                <a:spcPts val="168"/>
              </a:spcBef>
              <a:spcAft>
                <a:spcPts val="1200"/>
              </a:spcAft>
            </a:pPr>
            <a:r>
              <a:rPr lang="en-US" i="1" dirty="0">
                <a:solidFill>
                  <a:srgbClr val="990033"/>
                </a:solidFill>
              </a:rPr>
              <a:t>Automatic stabilizers: </a:t>
            </a:r>
            <a:r>
              <a:rPr lang="en-US" b="0" dirty="0"/>
              <a:t>government spending and taxation rules that cause fiscal policy to be </a:t>
            </a:r>
            <a:r>
              <a:rPr lang="en-US" dirty="0"/>
              <a:t>automatically expansionary when the economy contracts</a:t>
            </a:r>
            <a:r>
              <a:rPr lang="en-US" b="0" dirty="0"/>
              <a:t> and </a:t>
            </a:r>
            <a:r>
              <a:rPr lang="en-US" dirty="0"/>
              <a:t>automatically contractionary when the economy expands </a:t>
            </a:r>
            <a:r>
              <a:rPr lang="en-US" i="1" dirty="0">
                <a:solidFill>
                  <a:srgbClr val="0070C0"/>
                </a:solidFill>
              </a:rPr>
              <a:t>(unemployment insurance)</a:t>
            </a:r>
            <a:r>
              <a:rPr lang="en-US" dirty="0"/>
              <a:t>.</a:t>
            </a:r>
            <a:endParaRPr lang="en-US" i="1" dirty="0">
              <a:solidFill>
                <a:srgbClr val="0070C0"/>
              </a:solidFill>
            </a:endParaRPr>
          </a:p>
          <a:p>
            <a:pPr>
              <a:spcBef>
                <a:spcPts val="168"/>
              </a:spcBef>
              <a:spcAft>
                <a:spcPts val="1200"/>
              </a:spcAft>
            </a:pPr>
            <a:r>
              <a:rPr lang="en-US" dirty="0"/>
              <a:t>In contrast, </a:t>
            </a:r>
            <a:r>
              <a:rPr lang="en-US" b="1" i="1" dirty="0">
                <a:solidFill>
                  <a:srgbClr val="990033"/>
                </a:solidFill>
              </a:rPr>
              <a:t>discretionary fiscal policy </a:t>
            </a:r>
            <a:r>
              <a:rPr lang="en-US" b="0" dirty="0"/>
              <a:t>arises from </a:t>
            </a:r>
            <a:r>
              <a:rPr lang="en-US" dirty="0"/>
              <a:t>deliberate actions </a:t>
            </a:r>
            <a:r>
              <a:rPr lang="en-US" b="0" dirty="0"/>
              <a:t>by policy makers rather than rules </a:t>
            </a:r>
            <a:r>
              <a:rPr lang="en-US" i="1" dirty="0">
                <a:solidFill>
                  <a:srgbClr val="0070C0"/>
                </a:solidFill>
              </a:rPr>
              <a:t>(the Obama stimulus)</a:t>
            </a:r>
            <a:r>
              <a:rPr lang="en-US" b="0" dirty="0"/>
              <a:t>.</a:t>
            </a:r>
            <a:endParaRPr lang="en-US" i="1" dirty="0">
              <a:solidFill>
                <a:srgbClr val="0070C0"/>
              </a:solidFill>
            </a:endParaRPr>
          </a:p>
          <a:p>
            <a:pPr>
              <a:spcBef>
                <a:spcPts val="168"/>
              </a:spcBef>
              <a:spcAft>
                <a:spcPts val="1200"/>
              </a:spcAft>
            </a:pPr>
            <a:endParaRPr lang="en-US" dirty="0"/>
          </a:p>
        </p:txBody>
      </p:sp>
      <p:pic>
        <p:nvPicPr>
          <p:cNvPr id="25602" name="Picture 2" descr="http://whyismarko.com/wp-content/uploads/2012/04/Autopilo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2447" y="2209800"/>
            <a:ext cx="1951553" cy="28098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609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55011">
                                            <p:txEl>
                                              <p:pRg st="0" end="0"/>
                                            </p:txEl>
                                          </p:spTgt>
                                        </p:tgtEl>
                                        <p:attrNameLst>
                                          <p:attrName>style.visibility</p:attrName>
                                        </p:attrNameLst>
                                      </p:cBhvr>
                                      <p:to>
                                        <p:strVal val="visible"/>
                                      </p:to>
                                    </p:set>
                                    <p:animEffect transition="in" filter="fade">
                                      <p:cBhvr>
                                        <p:cTn id="7" dur="500"/>
                                        <p:tgtEl>
                                          <p:spTgt spid="555011">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602"/>
                                        </p:tgtEl>
                                        <p:attrNameLst>
                                          <p:attrName>style.visibility</p:attrName>
                                        </p:attrNameLst>
                                      </p:cBhvr>
                                      <p:to>
                                        <p:strVal val="visible"/>
                                      </p:to>
                                    </p:set>
                                    <p:animEffect transition="in" filter="fade">
                                      <p:cBhvr>
                                        <p:cTn id="11" dur="500"/>
                                        <p:tgtEl>
                                          <p:spTgt spid="2560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55011">
                                            <p:txEl>
                                              <p:pRg st="1" end="1"/>
                                            </p:txEl>
                                          </p:spTgt>
                                        </p:tgtEl>
                                        <p:attrNameLst>
                                          <p:attrName>style.visibility</p:attrName>
                                        </p:attrNameLst>
                                      </p:cBhvr>
                                      <p:to>
                                        <p:strVal val="visible"/>
                                      </p:to>
                                    </p:set>
                                    <p:animEffect transition="in" filter="fade">
                                      <p:cBhvr>
                                        <p:cTn id="15" dur="500"/>
                                        <p:tgtEl>
                                          <p:spTgt spid="5550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5213350"/>
          </a:xfrm>
        </p:spPr>
        <p:txBody>
          <a:bodyPr>
            <a:noAutofit/>
          </a:bodyPr>
          <a:lstStyle/>
          <a:p>
            <a:r>
              <a:rPr lang="en-US" sz="2400" dirty="0"/>
              <a:t>Holding everything else constant, the multiplier effect for taxes or transfers:</a:t>
            </a:r>
          </a:p>
          <a:p>
            <a:pPr marL="742950" indent="-742950">
              <a:buFont typeface="+mj-lt"/>
              <a:buAutoNum type="alphaLcParenR"/>
            </a:pPr>
            <a:r>
              <a:rPr lang="en-US" sz="2400" dirty="0"/>
              <a:t>is the same as the multiplier effect for changes in autonomous aggregate spending.</a:t>
            </a:r>
          </a:p>
          <a:p>
            <a:pPr marL="742950" indent="-742950">
              <a:buFont typeface="+mj-lt"/>
              <a:buAutoNum type="alphaLcParenR"/>
            </a:pPr>
            <a:r>
              <a:rPr lang="en-US" sz="2400" dirty="0"/>
              <a:t>is smaller than the multiplier effect for changes in autonomous aggregate spending.</a:t>
            </a:r>
          </a:p>
          <a:p>
            <a:pPr marL="742950" indent="-742950">
              <a:buFont typeface="+mj-lt"/>
              <a:buAutoNum type="alphaLcParenR"/>
            </a:pPr>
            <a:r>
              <a:rPr lang="en-US" sz="2400" dirty="0"/>
              <a:t>is larger than the multiplier effect for changes in autonomous aggregate spending.</a:t>
            </a:r>
          </a:p>
          <a:p>
            <a:pPr marL="742950" indent="-742950">
              <a:buFont typeface="+mj-lt"/>
              <a:buAutoNum type="alphaLcParenR"/>
            </a:pPr>
            <a:r>
              <a:rPr lang="en-US" sz="2400" dirty="0"/>
              <a:t>may be smaller than, larger than, or equal to the multiplier effect for changes in autonomous aggregate spending.</a:t>
            </a:r>
          </a:p>
        </p:txBody>
      </p:sp>
      <p:sp>
        <p:nvSpPr>
          <p:cNvPr id="5" name="Rectangle 4"/>
          <p:cNvSpPr/>
          <p:nvPr/>
        </p:nvSpPr>
        <p:spPr>
          <a:xfrm>
            <a:off x="83181" y="6307666"/>
            <a:ext cx="1057163" cy="369332"/>
          </a:xfrm>
          <a:prstGeom prst="rect">
            <a:avLst/>
          </a:prstGeom>
        </p:spPr>
        <p:txBody>
          <a:bodyPr wrap="none">
            <a:spAutoFit/>
          </a:bodyPr>
          <a:lstStyle/>
          <a:p>
            <a:pPr algn="ctr">
              <a:defRPr/>
            </a:pPr>
            <a:r>
              <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To Next </a:t>
            </a:r>
          </a:p>
          <a:p>
            <a:pPr algn="ctr">
              <a:defRPr/>
            </a:pPr>
            <a:r>
              <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Active Learning</a:t>
            </a:r>
            <a:endParaRPr lang="en-US" sz="9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1403768503"/>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762000"/>
            <a:ext cx="8839200" cy="5067834"/>
          </a:xfrm>
        </p:spPr>
        <p:txBody>
          <a:bodyPr>
            <a:normAutofit/>
          </a:bodyPr>
          <a:lstStyle/>
          <a:p>
            <a:r>
              <a:rPr lang="en-US" sz="2800" dirty="0">
                <a:latin typeface="Century Gothic"/>
                <a:cs typeface="Century Gothic"/>
              </a:rPr>
              <a:t>Austerity and the Multiplier</a:t>
            </a:r>
          </a:p>
          <a:p>
            <a:r>
              <a:rPr lang="en-US" sz="2000" i="1" dirty="0">
                <a:solidFill>
                  <a:schemeClr val="tx1">
                    <a:lumMod val="50000"/>
                    <a:lumOff val="50000"/>
                  </a:schemeClr>
                </a:solidFill>
                <a:latin typeface="Century Gothic"/>
                <a:cs typeface="Century Gothic"/>
              </a:rPr>
              <a:t>New evidence from Europe suggests that the “multiplier effect” is real…</a:t>
            </a:r>
          </a:p>
          <a:p>
            <a:r>
              <a:rPr lang="en-US" sz="2000" i="1" dirty="0">
                <a:solidFill>
                  <a:schemeClr val="tx1">
                    <a:lumMod val="50000"/>
                    <a:lumOff val="50000"/>
                  </a:schemeClr>
                </a:solidFill>
                <a:latin typeface="Century Gothic"/>
                <a:cs typeface="Century Gothic"/>
              </a:rPr>
              <a:t>Several nations experimented with “austerity” (sharp cuts in spending plus tax increases) because of debt concerns… but many did not.</a:t>
            </a:r>
          </a:p>
        </p:txBody>
      </p:sp>
      <p:pic>
        <p:nvPicPr>
          <p:cNvPr id="4" name="Picture 3" descr="Screen Shot 2015-04-07 at 17.13.18.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2644553"/>
            <a:ext cx="5181600" cy="4199736"/>
          </a:xfrm>
          <a:prstGeom prst="rect">
            <a:avLst/>
          </a:prstGeom>
        </p:spPr>
      </p:pic>
      <p:sp>
        <p:nvSpPr>
          <p:cNvPr id="5" name="TextBox 4"/>
          <p:cNvSpPr txBox="1"/>
          <p:nvPr/>
        </p:nvSpPr>
        <p:spPr>
          <a:xfrm>
            <a:off x="5486400" y="3124200"/>
            <a:ext cx="2743200" cy="707886"/>
          </a:xfrm>
          <a:prstGeom prst="rect">
            <a:avLst/>
          </a:prstGeom>
          <a:noFill/>
        </p:spPr>
        <p:txBody>
          <a:bodyPr wrap="square" rtlCol="0">
            <a:spAutoFit/>
          </a:bodyPr>
          <a:lstStyle/>
          <a:p>
            <a:r>
              <a:rPr lang="en-US" sz="2000" b="1" dirty="0">
                <a:solidFill>
                  <a:srgbClr val="990033"/>
                </a:solidFill>
                <a:latin typeface="Century Gothic"/>
                <a:cs typeface="Century Gothic"/>
              </a:rPr>
              <a:t>The Fiscal Multiplier, 2009-2013</a:t>
            </a:r>
          </a:p>
        </p:txBody>
      </p:sp>
    </p:spTree>
    <p:extLst>
      <p:ext uri="{BB962C8B-B14F-4D97-AF65-F5344CB8AC3E}">
        <p14:creationId xmlns:p14="http://schemas.microsoft.com/office/powerpoint/2010/main" val="2585435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Rot="1" noChangeArrowheads="1"/>
          </p:cNvSpPr>
          <p:nvPr>
            <p:ph type="title"/>
          </p:nvPr>
        </p:nvSpPr>
        <p:spPr/>
        <p:txBody>
          <a:bodyPr>
            <a:normAutofit/>
          </a:bodyPr>
          <a:lstStyle/>
          <a:p>
            <a:r>
              <a:rPr lang="en-US" sz="4000" spc="0" dirty="0"/>
              <a:t>THE BUDGET BALANCE</a:t>
            </a:r>
          </a:p>
        </p:txBody>
      </p:sp>
      <p:sp>
        <p:nvSpPr>
          <p:cNvPr id="558083" name="Rectangle 3"/>
          <p:cNvSpPr>
            <a:spLocks noGrp="1" noChangeArrowheads="1"/>
          </p:cNvSpPr>
          <p:nvPr>
            <p:ph idx="1"/>
          </p:nvPr>
        </p:nvSpPr>
        <p:spPr/>
        <p:txBody>
          <a:bodyPr>
            <a:normAutofit/>
          </a:bodyPr>
          <a:lstStyle/>
          <a:p>
            <a:r>
              <a:rPr lang="en-US" sz="2800" dirty="0"/>
              <a:t>How do surpluses and deficits fit into the analysis of fiscal policy? </a:t>
            </a:r>
          </a:p>
          <a:p>
            <a:r>
              <a:rPr lang="en-US" sz="2800" dirty="0"/>
              <a:t>Are deficits ever a good thing and surpluses a bad thing?</a:t>
            </a:r>
          </a:p>
          <a:p>
            <a:r>
              <a:rPr lang="en-US" sz="2800" dirty="0"/>
              <a:t>(And what’s the difference between deficit and debt?)</a:t>
            </a:r>
          </a:p>
          <a:p>
            <a:endParaRPr lang="en-US" sz="2800" dirty="0"/>
          </a:p>
        </p:txBody>
      </p:sp>
      <p:sp>
        <p:nvSpPr>
          <p:cNvPr id="2" name="TextBox 1"/>
          <p:cNvSpPr txBox="1"/>
          <p:nvPr/>
        </p:nvSpPr>
        <p:spPr>
          <a:xfrm>
            <a:off x="2438400" y="6412468"/>
            <a:ext cx="4419600" cy="369332"/>
          </a:xfrm>
          <a:prstGeom prst="rect">
            <a:avLst/>
          </a:prstGeom>
          <a:noFill/>
        </p:spPr>
        <p:txBody>
          <a:bodyPr wrap="square" rtlCol="0">
            <a:spAutoFit/>
          </a:bodyPr>
          <a:lstStyle/>
          <a:p>
            <a:r>
              <a:rPr lang="en-US" dirty="0">
                <a:solidFill>
                  <a:prstClr val="black"/>
                </a:solidFill>
                <a:latin typeface="Century Gothic"/>
                <a:cs typeface="Century Gothic"/>
              </a:rPr>
              <a:t>Click </a:t>
            </a:r>
            <a:r>
              <a:rPr lang="en-US" dirty="0">
                <a:solidFill>
                  <a:prstClr val="black"/>
                </a:solidFill>
                <a:latin typeface="Century Gothic"/>
                <a:cs typeface="Century Gothic"/>
                <a:hlinkClick r:id="rId2"/>
              </a:rPr>
              <a:t>here</a:t>
            </a:r>
            <a:r>
              <a:rPr lang="en-US" dirty="0">
                <a:solidFill>
                  <a:prstClr val="black"/>
                </a:solidFill>
                <a:latin typeface="Century Gothic"/>
                <a:cs typeface="Century Gothic"/>
              </a:rPr>
              <a:t> for real-time debt clock</a:t>
            </a:r>
          </a:p>
        </p:txBody>
      </p:sp>
      <p:pic>
        <p:nvPicPr>
          <p:cNvPr id="3" name="Picture 2">
            <a:extLst>
              <a:ext uri="{FF2B5EF4-FFF2-40B4-BE49-F238E27FC236}">
                <a16:creationId xmlns:a16="http://schemas.microsoft.com/office/drawing/2014/main" id="{42E544A5-1A7C-774D-9E13-E5F6984420F3}"/>
              </a:ext>
            </a:extLst>
          </p:cNvPr>
          <p:cNvPicPr>
            <a:picLocks noChangeAspect="1"/>
          </p:cNvPicPr>
          <p:nvPr/>
        </p:nvPicPr>
        <p:blipFill>
          <a:blip r:embed="rId3"/>
          <a:stretch>
            <a:fillRect/>
          </a:stretch>
        </p:blipFill>
        <p:spPr>
          <a:xfrm>
            <a:off x="1644650" y="3429000"/>
            <a:ext cx="5854700" cy="2794530"/>
          </a:xfrm>
          <a:prstGeom prst="rect">
            <a:avLst/>
          </a:prstGeom>
        </p:spPr>
      </p:pic>
    </p:spTree>
    <p:extLst>
      <p:ext uri="{BB962C8B-B14F-4D97-AF65-F5344CB8AC3E}">
        <p14:creationId xmlns:p14="http://schemas.microsoft.com/office/powerpoint/2010/main" val="30004101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9106" name="Rectangle 2"/>
          <p:cNvSpPr>
            <a:spLocks noGrp="1" noRot="1" noChangeArrowheads="1"/>
          </p:cNvSpPr>
          <p:nvPr>
            <p:ph type="title"/>
          </p:nvPr>
        </p:nvSpPr>
        <p:spPr>
          <a:xfrm>
            <a:off x="0" y="0"/>
            <a:ext cx="9144000" cy="990600"/>
          </a:xfrm>
        </p:spPr>
        <p:txBody>
          <a:bodyPr>
            <a:noAutofit/>
          </a:bodyPr>
          <a:lstStyle/>
          <a:p>
            <a:r>
              <a:rPr lang="en-US" sz="4000" spc="0" dirty="0"/>
              <a:t>THE BUDGET BALANCE MEASURES FISCAL POLICY</a:t>
            </a:r>
          </a:p>
        </p:txBody>
      </p:sp>
      <p:sp>
        <p:nvSpPr>
          <p:cNvPr id="559107" name="Rectangle 3"/>
          <p:cNvSpPr>
            <a:spLocks noGrp="1" noChangeArrowheads="1"/>
          </p:cNvSpPr>
          <p:nvPr>
            <p:ph idx="1"/>
          </p:nvPr>
        </p:nvSpPr>
        <p:spPr>
          <a:xfrm>
            <a:off x="152400" y="1295400"/>
            <a:ext cx="8839200" cy="5257800"/>
          </a:xfrm>
        </p:spPr>
        <p:txBody>
          <a:bodyPr>
            <a:noAutofit/>
          </a:bodyPr>
          <a:lstStyle/>
          <a:p>
            <a:pPr algn="ctr">
              <a:spcBef>
                <a:spcPts val="48"/>
              </a:spcBef>
              <a:spcAft>
                <a:spcPts val="1200"/>
              </a:spcAft>
            </a:pPr>
            <a:r>
              <a:rPr lang="en-US" i="1" dirty="0">
                <a:solidFill>
                  <a:srgbClr val="990033"/>
                </a:solidFill>
              </a:rPr>
              <a:t>S</a:t>
            </a:r>
            <a:r>
              <a:rPr lang="en-US" i="1" baseline="-25000" dirty="0">
                <a:solidFill>
                  <a:srgbClr val="990033"/>
                </a:solidFill>
              </a:rPr>
              <a:t>Government</a:t>
            </a:r>
            <a:r>
              <a:rPr lang="en-US" i="1" dirty="0">
                <a:solidFill>
                  <a:srgbClr val="990033"/>
                </a:solidFill>
              </a:rPr>
              <a:t> </a:t>
            </a:r>
            <a:r>
              <a:rPr lang="en-US" dirty="0">
                <a:solidFill>
                  <a:srgbClr val="990033"/>
                </a:solidFill>
              </a:rPr>
              <a:t>= </a:t>
            </a:r>
            <a:r>
              <a:rPr lang="en-US" i="1" dirty="0">
                <a:solidFill>
                  <a:srgbClr val="990033"/>
                </a:solidFill>
              </a:rPr>
              <a:t>T </a:t>
            </a:r>
            <a:r>
              <a:rPr lang="en-US" dirty="0">
                <a:solidFill>
                  <a:srgbClr val="990033"/>
                </a:solidFill>
              </a:rPr>
              <a:t>− </a:t>
            </a:r>
            <a:r>
              <a:rPr lang="en-US" i="1" dirty="0">
                <a:solidFill>
                  <a:srgbClr val="990033"/>
                </a:solidFill>
              </a:rPr>
              <a:t>G </a:t>
            </a:r>
            <a:r>
              <a:rPr lang="en-US" dirty="0">
                <a:solidFill>
                  <a:srgbClr val="990033"/>
                </a:solidFill>
              </a:rPr>
              <a:t>− </a:t>
            </a:r>
            <a:r>
              <a:rPr lang="en-US" i="1" dirty="0">
                <a:solidFill>
                  <a:srgbClr val="990033"/>
                </a:solidFill>
              </a:rPr>
              <a:t>TR</a:t>
            </a:r>
            <a:endParaRPr lang="en-US" dirty="0">
              <a:solidFill>
                <a:srgbClr val="990033"/>
              </a:solidFill>
            </a:endParaRPr>
          </a:p>
          <a:p>
            <a:pPr>
              <a:spcBef>
                <a:spcPts val="48"/>
              </a:spcBef>
              <a:spcAft>
                <a:spcPts val="1200"/>
              </a:spcAft>
            </a:pPr>
            <a:r>
              <a:rPr lang="en-US" sz="2800" dirty="0"/>
              <a:t>Government saving (</a:t>
            </a:r>
            <a:r>
              <a:rPr lang="en-US" sz="2800" i="1" dirty="0">
                <a:solidFill>
                  <a:srgbClr val="990033"/>
                </a:solidFill>
              </a:rPr>
              <a:t>S</a:t>
            </a:r>
            <a:r>
              <a:rPr lang="en-US" sz="2800" dirty="0"/>
              <a:t>urplus) = tax revenues </a:t>
            </a:r>
            <a:r>
              <a:rPr lang="en-US" sz="2800" dirty="0">
                <a:solidFill>
                  <a:srgbClr val="990033"/>
                </a:solidFill>
              </a:rPr>
              <a:t>(</a:t>
            </a:r>
            <a:r>
              <a:rPr lang="en-US" sz="2800" i="1" dirty="0">
                <a:solidFill>
                  <a:srgbClr val="990033"/>
                </a:solidFill>
              </a:rPr>
              <a:t>T</a:t>
            </a:r>
            <a:r>
              <a:rPr lang="en-US" sz="2800" dirty="0">
                <a:solidFill>
                  <a:srgbClr val="990033"/>
                </a:solidFill>
              </a:rPr>
              <a:t>)</a:t>
            </a:r>
            <a:r>
              <a:rPr lang="en-US" sz="2800" dirty="0"/>
              <a:t> – government purchases </a:t>
            </a:r>
            <a:r>
              <a:rPr lang="en-US" sz="2800" dirty="0">
                <a:solidFill>
                  <a:srgbClr val="990033"/>
                </a:solidFill>
              </a:rPr>
              <a:t>(</a:t>
            </a:r>
            <a:r>
              <a:rPr lang="en-US" sz="2800" i="1" dirty="0">
                <a:solidFill>
                  <a:srgbClr val="990033"/>
                </a:solidFill>
              </a:rPr>
              <a:t>G</a:t>
            </a:r>
            <a:r>
              <a:rPr lang="en-US" sz="2800" dirty="0">
                <a:solidFill>
                  <a:srgbClr val="990033"/>
                </a:solidFill>
              </a:rPr>
              <a:t>)</a:t>
            </a:r>
            <a:r>
              <a:rPr lang="en-US" sz="2800" dirty="0"/>
              <a:t> and transfers </a:t>
            </a:r>
            <a:r>
              <a:rPr lang="en-US" sz="2800" dirty="0">
                <a:solidFill>
                  <a:srgbClr val="990033"/>
                </a:solidFill>
              </a:rPr>
              <a:t>(</a:t>
            </a:r>
            <a:r>
              <a:rPr lang="en-US" sz="2800" i="1" dirty="0">
                <a:solidFill>
                  <a:srgbClr val="990033"/>
                </a:solidFill>
              </a:rPr>
              <a:t>TR</a:t>
            </a:r>
            <a:r>
              <a:rPr lang="en-US" sz="2800" dirty="0">
                <a:solidFill>
                  <a:srgbClr val="990033"/>
                </a:solidFill>
              </a:rPr>
              <a:t>).</a:t>
            </a:r>
          </a:p>
          <a:p>
            <a:pPr>
              <a:spcBef>
                <a:spcPts val="48"/>
              </a:spcBef>
              <a:spcAft>
                <a:spcPts val="1200"/>
              </a:spcAft>
            </a:pPr>
            <a:r>
              <a:rPr lang="en-US" sz="2800" dirty="0"/>
              <a:t>A </a:t>
            </a:r>
            <a:r>
              <a:rPr lang="en-US" sz="2800" i="1" dirty="0">
                <a:solidFill>
                  <a:srgbClr val="990033"/>
                </a:solidFill>
              </a:rPr>
              <a:t>budget surplus </a:t>
            </a:r>
            <a:r>
              <a:rPr lang="en-US" sz="2800" dirty="0"/>
              <a:t>is a positive budget balance, and a </a:t>
            </a:r>
            <a:r>
              <a:rPr lang="en-US" sz="2800" i="1" dirty="0">
                <a:solidFill>
                  <a:srgbClr val="990033"/>
                </a:solidFill>
              </a:rPr>
              <a:t>budget deficit </a:t>
            </a:r>
            <a:r>
              <a:rPr lang="en-US" sz="2800" dirty="0"/>
              <a:t>is a negative budget balance.</a:t>
            </a:r>
            <a:endParaRPr lang="en-US" sz="2800" dirty="0">
              <a:solidFill>
                <a:srgbClr val="990033"/>
              </a:solidFill>
            </a:endParaRPr>
          </a:p>
          <a:p>
            <a:pPr lvl="1">
              <a:spcBef>
                <a:spcPts val="48"/>
              </a:spcBef>
              <a:spcAft>
                <a:spcPts val="1200"/>
              </a:spcAft>
            </a:pPr>
            <a:r>
              <a:rPr lang="en-US" sz="2400" i="1" dirty="0">
                <a:solidFill>
                  <a:schemeClr val="tx1">
                    <a:lumMod val="65000"/>
                    <a:lumOff val="35000"/>
                  </a:schemeClr>
                </a:solidFill>
              </a:rPr>
              <a:t>Other things equal, discretionary </a:t>
            </a:r>
            <a:r>
              <a:rPr lang="en-US" sz="2400" i="1" dirty="0">
                <a:solidFill>
                  <a:srgbClr val="0070C0"/>
                </a:solidFill>
              </a:rPr>
              <a:t>expansionary</a:t>
            </a:r>
            <a:r>
              <a:rPr lang="en-US" sz="2400" i="1" dirty="0">
                <a:solidFill>
                  <a:schemeClr val="tx1">
                    <a:lumMod val="65000"/>
                    <a:lumOff val="35000"/>
                  </a:schemeClr>
                </a:solidFill>
              </a:rPr>
              <a:t> </a:t>
            </a:r>
            <a:r>
              <a:rPr lang="en-US" sz="2400" i="1" dirty="0">
                <a:solidFill>
                  <a:srgbClr val="0070C0"/>
                </a:solidFill>
              </a:rPr>
              <a:t>fiscal policies reduce the budget balance</a:t>
            </a:r>
            <a:r>
              <a:rPr lang="en-US" sz="2400" i="1" dirty="0">
                <a:solidFill>
                  <a:schemeClr val="tx1">
                    <a:lumMod val="65000"/>
                    <a:lumOff val="35000"/>
                  </a:schemeClr>
                </a:solidFill>
              </a:rPr>
              <a:t> for that year. </a:t>
            </a:r>
          </a:p>
          <a:p>
            <a:pPr lvl="1">
              <a:spcBef>
                <a:spcPts val="48"/>
              </a:spcBef>
              <a:spcAft>
                <a:spcPts val="1200"/>
              </a:spcAft>
            </a:pPr>
            <a:r>
              <a:rPr lang="en-US" sz="2400" i="1" dirty="0">
                <a:solidFill>
                  <a:schemeClr val="tx1">
                    <a:lumMod val="65000"/>
                    <a:lumOff val="35000"/>
                  </a:schemeClr>
                </a:solidFill>
              </a:rPr>
              <a:t>Other things equal, discretionary </a:t>
            </a:r>
            <a:r>
              <a:rPr lang="en-US" sz="2400" i="1" dirty="0">
                <a:solidFill>
                  <a:srgbClr val="0070C0"/>
                </a:solidFill>
              </a:rPr>
              <a:t>contractionary</a:t>
            </a:r>
            <a:r>
              <a:rPr lang="en-US" sz="2400" i="1" dirty="0">
                <a:solidFill>
                  <a:schemeClr val="tx1">
                    <a:lumMod val="65000"/>
                    <a:lumOff val="35000"/>
                  </a:schemeClr>
                </a:solidFill>
              </a:rPr>
              <a:t> </a:t>
            </a:r>
            <a:r>
              <a:rPr lang="en-US" sz="2400" i="1" dirty="0">
                <a:solidFill>
                  <a:srgbClr val="0070C0"/>
                </a:solidFill>
              </a:rPr>
              <a:t>fiscal policies increase the budget balance</a:t>
            </a:r>
            <a:r>
              <a:rPr lang="en-US" sz="2400" i="1" dirty="0">
                <a:solidFill>
                  <a:schemeClr val="tx1">
                    <a:lumMod val="65000"/>
                    <a:lumOff val="35000"/>
                  </a:schemeClr>
                </a:solidFill>
              </a:rPr>
              <a:t> for that year. </a:t>
            </a:r>
          </a:p>
        </p:txBody>
      </p:sp>
    </p:spTree>
    <p:extLst>
      <p:ext uri="{BB962C8B-B14F-4D97-AF65-F5344CB8AC3E}">
        <p14:creationId xmlns:p14="http://schemas.microsoft.com/office/powerpoint/2010/main" val="2732268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59107">
                                            <p:txEl>
                                              <p:pRg st="0" end="0"/>
                                            </p:txEl>
                                          </p:spTgt>
                                        </p:tgtEl>
                                        <p:attrNameLst>
                                          <p:attrName>style.visibility</p:attrName>
                                        </p:attrNameLst>
                                      </p:cBhvr>
                                      <p:to>
                                        <p:strVal val="visible"/>
                                      </p:to>
                                    </p:set>
                                    <p:animEffect transition="in" filter="fade">
                                      <p:cBhvr>
                                        <p:cTn id="7" dur="500"/>
                                        <p:tgtEl>
                                          <p:spTgt spid="5591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9107">
                                            <p:txEl>
                                              <p:pRg st="1" end="1"/>
                                            </p:txEl>
                                          </p:spTgt>
                                        </p:tgtEl>
                                        <p:attrNameLst>
                                          <p:attrName>style.visibility</p:attrName>
                                        </p:attrNameLst>
                                      </p:cBhvr>
                                      <p:to>
                                        <p:strVal val="visible"/>
                                      </p:to>
                                    </p:set>
                                    <p:animEffect transition="in" filter="fade">
                                      <p:cBhvr>
                                        <p:cTn id="12" dur="500"/>
                                        <p:tgtEl>
                                          <p:spTgt spid="5591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59107">
                                            <p:txEl>
                                              <p:pRg st="2" end="2"/>
                                            </p:txEl>
                                          </p:spTgt>
                                        </p:tgtEl>
                                        <p:attrNameLst>
                                          <p:attrName>style.visibility</p:attrName>
                                        </p:attrNameLst>
                                      </p:cBhvr>
                                      <p:to>
                                        <p:strVal val="visible"/>
                                      </p:to>
                                    </p:set>
                                    <p:animEffect transition="in" filter="fade">
                                      <p:cBhvr>
                                        <p:cTn id="17" dur="500"/>
                                        <p:tgtEl>
                                          <p:spTgt spid="559107">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59107">
                                            <p:txEl>
                                              <p:pRg st="3" end="3"/>
                                            </p:txEl>
                                          </p:spTgt>
                                        </p:tgtEl>
                                        <p:attrNameLst>
                                          <p:attrName>style.visibility</p:attrName>
                                        </p:attrNameLst>
                                      </p:cBhvr>
                                      <p:to>
                                        <p:strVal val="visible"/>
                                      </p:to>
                                    </p:set>
                                    <p:animEffect transition="in" filter="fade">
                                      <p:cBhvr>
                                        <p:cTn id="20" dur="500"/>
                                        <p:tgtEl>
                                          <p:spTgt spid="559107">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59107">
                                            <p:txEl>
                                              <p:pRg st="4" end="4"/>
                                            </p:txEl>
                                          </p:spTgt>
                                        </p:tgtEl>
                                        <p:attrNameLst>
                                          <p:attrName>style.visibility</p:attrName>
                                        </p:attrNameLst>
                                      </p:cBhvr>
                                      <p:to>
                                        <p:strVal val="visible"/>
                                      </p:to>
                                    </p:set>
                                    <p:animEffect transition="in" filter="fade">
                                      <p:cBhvr>
                                        <p:cTn id="23" dur="500"/>
                                        <p:tgtEl>
                                          <p:spTgt spid="5591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Grp="1" noRot="1" noChangeArrowheads="1"/>
          </p:cNvSpPr>
          <p:nvPr>
            <p:ph type="title"/>
          </p:nvPr>
        </p:nvSpPr>
        <p:spPr>
          <a:xfrm>
            <a:off x="0" y="0"/>
            <a:ext cx="9144000" cy="1066800"/>
          </a:xfrm>
        </p:spPr>
        <p:txBody>
          <a:bodyPr>
            <a:noAutofit/>
          </a:bodyPr>
          <a:lstStyle/>
          <a:p>
            <a:r>
              <a:rPr lang="en-US" sz="4000" spc="0" dirty="0"/>
              <a:t>THE BUDGET BALANCE AND THE BUSINESS CYCLE</a:t>
            </a:r>
          </a:p>
        </p:txBody>
      </p:sp>
      <p:sp>
        <p:nvSpPr>
          <p:cNvPr id="561155" name="Rectangle 3"/>
          <p:cNvSpPr>
            <a:spLocks noGrp="1" noChangeArrowheads="1"/>
          </p:cNvSpPr>
          <p:nvPr>
            <p:ph idx="1"/>
          </p:nvPr>
        </p:nvSpPr>
        <p:spPr>
          <a:xfrm>
            <a:off x="228600" y="1143000"/>
            <a:ext cx="8839200" cy="4495800"/>
          </a:xfrm>
        </p:spPr>
        <p:txBody>
          <a:bodyPr>
            <a:normAutofit/>
          </a:bodyPr>
          <a:lstStyle/>
          <a:p>
            <a:r>
              <a:rPr lang="en-US" sz="2800" dirty="0"/>
              <a:t>Some of the fluctuations in the budget balance are due to the effects of the business cycle. </a:t>
            </a:r>
          </a:p>
          <a:p>
            <a:r>
              <a:rPr lang="en-US" sz="2400" i="1" dirty="0">
                <a:solidFill>
                  <a:schemeClr val="tx1">
                    <a:lumMod val="75000"/>
                    <a:lumOff val="25000"/>
                  </a:schemeClr>
                </a:solidFill>
              </a:rPr>
              <a:t>(Shaded areas are recessions.)</a:t>
            </a:r>
          </a:p>
        </p:txBody>
      </p:sp>
      <p:pic>
        <p:nvPicPr>
          <p:cNvPr id="4" name="Picture 3" descr="Screen Shot 2015-04-07 at 21.16.0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2743200"/>
            <a:ext cx="6629400" cy="3782368"/>
          </a:xfrm>
          <a:prstGeom prst="rect">
            <a:avLst/>
          </a:prstGeom>
        </p:spPr>
      </p:pic>
      <p:sp>
        <p:nvSpPr>
          <p:cNvPr id="3" name="Rectangle 2"/>
          <p:cNvSpPr/>
          <p:nvPr/>
        </p:nvSpPr>
        <p:spPr>
          <a:xfrm>
            <a:off x="0" y="6397823"/>
            <a:ext cx="6096000" cy="276999"/>
          </a:xfrm>
          <a:prstGeom prst="rect">
            <a:avLst/>
          </a:prstGeom>
        </p:spPr>
        <p:txBody>
          <a:bodyPr wrap="square">
            <a:spAutoFit/>
          </a:bodyPr>
          <a:lstStyle/>
          <a:p>
            <a:r>
              <a:rPr lang="en-US" sz="1200" i="1" dirty="0">
                <a:solidFill>
                  <a:prstClr val="black">
                    <a:lumMod val="75000"/>
                    <a:lumOff val="25000"/>
                  </a:prstClr>
                </a:solidFill>
                <a:latin typeface="Century Gothic"/>
                <a:cs typeface="Century Gothic"/>
              </a:rPr>
              <a:t>Sources: Bureau of Economic Analysis; National Bureau of Economic Research.</a:t>
            </a:r>
          </a:p>
        </p:txBody>
      </p:sp>
    </p:spTree>
    <p:extLst>
      <p:ext uri="{BB962C8B-B14F-4D97-AF65-F5344CB8AC3E}">
        <p14:creationId xmlns:p14="http://schemas.microsoft.com/office/powerpoint/2010/main" val="13111418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Autofit/>
          </a:bodyPr>
          <a:lstStyle/>
          <a:p>
            <a:r>
              <a:rPr lang="en-US" sz="4000" spc="0" dirty="0"/>
              <a:t>THE BUDGET BALANCE AND THE BUSINESS CYCLE</a:t>
            </a:r>
          </a:p>
        </p:txBody>
      </p:sp>
      <p:sp>
        <p:nvSpPr>
          <p:cNvPr id="3" name="Content Placeholder 2"/>
          <p:cNvSpPr>
            <a:spLocks noGrp="1"/>
          </p:cNvSpPr>
          <p:nvPr>
            <p:ph idx="1"/>
          </p:nvPr>
        </p:nvSpPr>
        <p:spPr>
          <a:xfrm>
            <a:off x="228600" y="1143000"/>
            <a:ext cx="8839200" cy="4495800"/>
          </a:xfrm>
        </p:spPr>
        <p:txBody>
          <a:bodyPr>
            <a:normAutofit/>
          </a:bodyPr>
          <a:lstStyle/>
          <a:p>
            <a:r>
              <a:rPr lang="en-US" sz="2800" dirty="0"/>
              <a:t>The budget deficit as a percentage of GDP moves closely with the unemployment rate.</a:t>
            </a:r>
          </a:p>
        </p:txBody>
      </p:sp>
      <p:sp>
        <p:nvSpPr>
          <p:cNvPr id="5" name="Rectangle 4"/>
          <p:cNvSpPr/>
          <p:nvPr/>
        </p:nvSpPr>
        <p:spPr>
          <a:xfrm>
            <a:off x="0" y="6428601"/>
            <a:ext cx="5943600" cy="276999"/>
          </a:xfrm>
          <a:prstGeom prst="rect">
            <a:avLst/>
          </a:prstGeom>
        </p:spPr>
        <p:txBody>
          <a:bodyPr wrap="square">
            <a:spAutoFit/>
          </a:bodyPr>
          <a:lstStyle/>
          <a:p>
            <a:r>
              <a:rPr lang="en-US" sz="1200" i="1" dirty="0">
                <a:solidFill>
                  <a:prstClr val="black">
                    <a:lumMod val="65000"/>
                    <a:lumOff val="35000"/>
                  </a:prstClr>
                </a:solidFill>
                <a:latin typeface="Century Gothic"/>
                <a:cs typeface="Century Gothic"/>
              </a:rPr>
              <a:t>Sources: Bureau of Economic Analysis; Bureau of Labor Statistics</a:t>
            </a:r>
          </a:p>
        </p:txBody>
      </p:sp>
      <p:pic>
        <p:nvPicPr>
          <p:cNvPr id="6" name="Picture 5" descr="Screen Shot 2015-04-07 at 21.27.2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2286000"/>
            <a:ext cx="7239000" cy="4025226"/>
          </a:xfrm>
          <a:prstGeom prst="rect">
            <a:avLst/>
          </a:prstGeom>
        </p:spPr>
      </p:pic>
    </p:spTree>
    <p:extLst>
      <p:ext uri="{BB962C8B-B14F-4D97-AF65-F5344CB8AC3E}">
        <p14:creationId xmlns:p14="http://schemas.microsoft.com/office/powerpoint/2010/main" val="20961658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1219200"/>
          </a:xfrm>
        </p:spPr>
        <p:txBody>
          <a:bodyPr>
            <a:noAutofit/>
          </a:bodyPr>
          <a:lstStyle/>
          <a:p>
            <a:r>
              <a:rPr lang="en-US" sz="3600" spc="0" dirty="0"/>
              <a:t>THE BUSINESS CYCLE AND THE CYCLICALLY ADJUSTED BUDGET BALANCE</a:t>
            </a:r>
          </a:p>
        </p:txBody>
      </p:sp>
      <p:sp>
        <p:nvSpPr>
          <p:cNvPr id="3" name="Content Placeholder 2"/>
          <p:cNvSpPr>
            <a:spLocks noGrp="1"/>
          </p:cNvSpPr>
          <p:nvPr>
            <p:ph idx="1"/>
          </p:nvPr>
        </p:nvSpPr>
        <p:spPr>
          <a:xfrm>
            <a:off x="267756" y="1524000"/>
            <a:ext cx="8839200" cy="4038600"/>
          </a:xfrm>
        </p:spPr>
        <p:txBody>
          <a:bodyPr>
            <a:normAutofit/>
          </a:bodyPr>
          <a:lstStyle/>
          <a:p>
            <a:r>
              <a:rPr lang="en-US" sz="2800" dirty="0"/>
              <a:t>To </a:t>
            </a:r>
            <a:r>
              <a:rPr lang="en-US" sz="2800" dirty="0">
                <a:solidFill>
                  <a:srgbClr val="0070C0"/>
                </a:solidFill>
              </a:rPr>
              <a:t>separate the effects of the business cycle</a:t>
            </a:r>
            <a:r>
              <a:rPr lang="en-US" sz="2800" dirty="0"/>
              <a:t> from the </a:t>
            </a:r>
            <a:r>
              <a:rPr lang="en-US" sz="2800" dirty="0">
                <a:solidFill>
                  <a:schemeClr val="tx1">
                    <a:lumMod val="65000"/>
                    <a:lumOff val="35000"/>
                  </a:schemeClr>
                </a:solidFill>
              </a:rPr>
              <a:t>effects of discretionary fiscal policy, </a:t>
            </a:r>
            <a:r>
              <a:rPr lang="en-US" sz="2800" dirty="0"/>
              <a:t>governments estimate the </a:t>
            </a:r>
            <a:r>
              <a:rPr lang="en-US" sz="2800" i="1" dirty="0">
                <a:solidFill>
                  <a:srgbClr val="990033"/>
                </a:solidFill>
              </a:rPr>
              <a:t>cyclically adjusted budget balance:</a:t>
            </a:r>
            <a:r>
              <a:rPr lang="en-US" sz="2800" dirty="0"/>
              <a:t> an estimate of the budget balance if the economy were at potential output.</a:t>
            </a:r>
          </a:p>
          <a:p>
            <a:endParaRPr lang="en-US" sz="2800" dirty="0"/>
          </a:p>
        </p:txBody>
      </p:sp>
      <p:sp>
        <p:nvSpPr>
          <p:cNvPr id="5" name="Rectangle 4"/>
          <p:cNvSpPr/>
          <p:nvPr/>
        </p:nvSpPr>
        <p:spPr>
          <a:xfrm>
            <a:off x="6705600" y="3776008"/>
            <a:ext cx="2438400" cy="1754327"/>
          </a:xfrm>
          <a:prstGeom prst="rect">
            <a:avLst/>
          </a:prstGeom>
        </p:spPr>
        <p:txBody>
          <a:bodyPr wrap="square">
            <a:spAutoFit/>
          </a:bodyPr>
          <a:lstStyle/>
          <a:p>
            <a:r>
              <a:rPr lang="en-US" b="1" i="1" dirty="0">
                <a:solidFill>
                  <a:prstClr val="black">
                    <a:lumMod val="65000"/>
                    <a:lumOff val="35000"/>
                  </a:prstClr>
                </a:solidFill>
                <a:latin typeface="Century Gothic"/>
                <a:cs typeface="Century Gothic"/>
              </a:rPr>
              <a:t>Years of large budget deficits also tend to be years when the economy has a large recessionary gap.</a:t>
            </a:r>
          </a:p>
        </p:txBody>
      </p:sp>
      <p:pic>
        <p:nvPicPr>
          <p:cNvPr id="7" name="Picture 6" descr="Screen Shot 2015-04-07 at 21.29.0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5979" y="3810000"/>
            <a:ext cx="5189621" cy="3048000"/>
          </a:xfrm>
          <a:prstGeom prst="rect">
            <a:avLst/>
          </a:prstGeom>
        </p:spPr>
      </p:pic>
      <p:sp>
        <p:nvSpPr>
          <p:cNvPr id="6" name="Rectangle 5"/>
          <p:cNvSpPr/>
          <p:nvPr/>
        </p:nvSpPr>
        <p:spPr>
          <a:xfrm>
            <a:off x="0" y="6504801"/>
            <a:ext cx="6400800" cy="276999"/>
          </a:xfrm>
          <a:prstGeom prst="rect">
            <a:avLst/>
          </a:prstGeom>
        </p:spPr>
        <p:txBody>
          <a:bodyPr wrap="square">
            <a:spAutoFit/>
          </a:bodyPr>
          <a:lstStyle/>
          <a:p>
            <a:r>
              <a:rPr lang="en-US" sz="1200" i="1" dirty="0">
                <a:solidFill>
                  <a:prstClr val="black">
                    <a:lumMod val="65000"/>
                    <a:lumOff val="35000"/>
                  </a:prstClr>
                </a:solidFill>
                <a:latin typeface="Century Gothic"/>
                <a:cs typeface="Century Gothic"/>
              </a:rPr>
              <a:t>Sources: Congressional Budget Office; Bureau of Economic Analysis.</a:t>
            </a:r>
          </a:p>
        </p:txBody>
      </p:sp>
    </p:spTree>
    <p:extLst>
      <p:ext uri="{BB962C8B-B14F-4D97-AF65-F5344CB8AC3E}">
        <p14:creationId xmlns:p14="http://schemas.microsoft.com/office/powerpoint/2010/main" val="40172813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spc="0" dirty="0"/>
              <a:t>WORLD WAR I WAR BOND</a:t>
            </a:r>
          </a:p>
        </p:txBody>
      </p:sp>
      <p:pic>
        <p:nvPicPr>
          <p:cNvPr id="3" name="Picture 2" descr="File:LibertyBond-WinsorMcCay.jpg">
            <a:hlinkClick r:id="rId3"/>
          </p:cNvPr>
          <p:cNvPicPr>
            <a:picLocks noChangeAspect="1" noChangeArrowheads="1"/>
          </p:cNvPicPr>
          <p:nvPr/>
        </p:nvPicPr>
        <p:blipFill>
          <a:blip r:embed="rId4" cstate="screen"/>
          <a:srcRect/>
          <a:stretch>
            <a:fillRect/>
          </a:stretch>
        </p:blipFill>
        <p:spPr bwMode="auto">
          <a:xfrm>
            <a:off x="2676525" y="913551"/>
            <a:ext cx="3790950" cy="5944449"/>
          </a:xfrm>
          <a:prstGeom prst="rect">
            <a:avLst/>
          </a:prstGeom>
          <a:noFill/>
        </p:spPr>
      </p:pic>
      <p:sp>
        <p:nvSpPr>
          <p:cNvPr id="4" name="TextBox 3"/>
          <p:cNvSpPr txBox="1"/>
          <p:nvPr/>
        </p:nvSpPr>
        <p:spPr>
          <a:xfrm>
            <a:off x="152400" y="2133600"/>
            <a:ext cx="2438400" cy="1938992"/>
          </a:xfrm>
          <a:prstGeom prst="rect">
            <a:avLst/>
          </a:prstGeom>
          <a:noFill/>
          <a:effectLst/>
        </p:spPr>
        <p:txBody>
          <a:bodyPr wrap="square" rtlCol="0">
            <a:spAutoFit/>
          </a:bodyPr>
          <a:lstStyle/>
          <a:p>
            <a:r>
              <a:rPr lang="en-US" sz="2400" b="1" dirty="0">
                <a:solidFill>
                  <a:prstClr val="black"/>
                </a:solidFill>
                <a:latin typeface="Century Gothic"/>
                <a:cs typeface="Century Gothic"/>
              </a:rPr>
              <a:t>The U.S. deficit rises (and so does the debt) during war times.</a:t>
            </a:r>
          </a:p>
        </p:txBody>
      </p:sp>
    </p:spTree>
    <p:extLst>
      <p:ext uri="{BB962C8B-B14F-4D97-AF65-F5344CB8AC3E}">
        <p14:creationId xmlns:p14="http://schemas.microsoft.com/office/powerpoint/2010/main" val="2221863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800" dirty="0"/>
              <a:t>Holding everything else constant, the government’s deficit:</a:t>
            </a:r>
          </a:p>
          <a:p>
            <a:pPr marL="514350" indent="-514350">
              <a:buFont typeface="+mj-lt"/>
              <a:buAutoNum type="alphaLcParenR"/>
            </a:pPr>
            <a:r>
              <a:rPr lang="en-US" sz="2800" dirty="0"/>
              <a:t>tends to increase during a recession.</a:t>
            </a:r>
          </a:p>
          <a:p>
            <a:pPr marL="514350" indent="-514350">
              <a:buFont typeface="+mj-lt"/>
              <a:buAutoNum type="alphaLcParenR"/>
            </a:pPr>
            <a:r>
              <a:rPr lang="en-US" sz="2800" dirty="0"/>
              <a:t>tends to increase during an expansion.</a:t>
            </a:r>
          </a:p>
          <a:p>
            <a:pPr marL="514350" indent="-514350">
              <a:buFont typeface="+mj-lt"/>
              <a:buAutoNum type="alphaLcParenR"/>
            </a:pPr>
            <a:r>
              <a:rPr lang="en-US" sz="2800" dirty="0"/>
              <a:t>will increase if the government pursues expansionary fiscal policy.</a:t>
            </a:r>
          </a:p>
          <a:p>
            <a:pPr marL="514350" indent="-514350">
              <a:buFont typeface="+mj-lt"/>
              <a:buAutoNum type="alphaLcParenR"/>
            </a:pPr>
            <a:r>
              <a:rPr lang="en-US" sz="2800" dirty="0"/>
              <a:t>Answers (a) and (c) are both correct.</a:t>
            </a:r>
          </a:p>
          <a:p>
            <a:pPr marL="514350" indent="-514350">
              <a:buFont typeface="+mj-lt"/>
              <a:buAutoNum type="alphaLcParenR"/>
            </a:pPr>
            <a:r>
              <a:rPr lang="en-US" sz="2800" dirty="0"/>
              <a:t>Answers (b) and (c) are both correct.</a:t>
            </a:r>
          </a:p>
        </p:txBody>
      </p:sp>
    </p:spTree>
    <p:extLst>
      <p:ext uri="{BB962C8B-B14F-4D97-AF65-F5344CB8AC3E}">
        <p14:creationId xmlns:p14="http://schemas.microsoft.com/office/powerpoint/2010/main" val="466741091"/>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fontScale="90000"/>
          </a:bodyPr>
          <a:lstStyle/>
          <a:p>
            <a:pPr>
              <a:defRPr/>
            </a:pPr>
            <a:r>
              <a:rPr lang="en-US" spc="0" dirty="0"/>
              <a:t>PHILOSOPHIES ON BALANCING THE BUDGET</a:t>
            </a:r>
            <a:endParaRPr lang="en-US" sz="4400" spc="0" dirty="0"/>
          </a:p>
        </p:txBody>
      </p:sp>
      <p:sp>
        <p:nvSpPr>
          <p:cNvPr id="3" name="Content Placeholder 2"/>
          <p:cNvSpPr>
            <a:spLocks noGrp="1"/>
          </p:cNvSpPr>
          <p:nvPr>
            <p:ph idx="1"/>
          </p:nvPr>
        </p:nvSpPr>
        <p:spPr>
          <a:xfrm>
            <a:off x="12752" y="990600"/>
            <a:ext cx="8839200" cy="4648200"/>
          </a:xfrm>
        </p:spPr>
        <p:txBody>
          <a:bodyPr>
            <a:normAutofit/>
          </a:bodyPr>
          <a:lstStyle/>
          <a:p>
            <a:r>
              <a:rPr lang="en-US" sz="2800" dirty="0"/>
              <a:t>There are various philosophies about requiring a balanced budget:</a:t>
            </a:r>
          </a:p>
          <a:p>
            <a:pPr lvl="1"/>
            <a:endParaRPr lang="en-US" sz="2000" dirty="0">
              <a:solidFill>
                <a:srgbClr val="009900"/>
              </a:solidFill>
            </a:endParaRPr>
          </a:p>
        </p:txBody>
      </p:sp>
      <p:pic>
        <p:nvPicPr>
          <p:cNvPr id="79876" name="Picture 4" descr="http://www.sxc.hu/pic/l/k/kr/krilm/1022921_79425194.jpg"/>
          <p:cNvPicPr>
            <a:picLocks noChangeAspect="1" noChangeArrowheads="1"/>
          </p:cNvPicPr>
          <p:nvPr/>
        </p:nvPicPr>
        <p:blipFill>
          <a:blip r:embed="rId3" cstate="screen"/>
          <a:srcRect/>
          <a:stretch>
            <a:fillRect/>
          </a:stretch>
        </p:blipFill>
        <p:spPr bwMode="auto">
          <a:xfrm>
            <a:off x="0" y="4419600"/>
            <a:ext cx="1869171" cy="2438400"/>
          </a:xfrm>
          <a:prstGeom prst="rect">
            <a:avLst/>
          </a:prstGeom>
          <a:noFill/>
        </p:spPr>
      </p:pic>
      <p:sp>
        <p:nvSpPr>
          <p:cNvPr id="8" name="Cloud Callout 7"/>
          <p:cNvSpPr/>
          <p:nvPr/>
        </p:nvSpPr>
        <p:spPr bwMode="auto">
          <a:xfrm>
            <a:off x="304800" y="2057400"/>
            <a:ext cx="2590800" cy="2057400"/>
          </a:xfrm>
          <a:prstGeom prst="cloudCallout">
            <a:avLst>
              <a:gd name="adj1" fmla="val -38785"/>
              <a:gd name="adj2" fmla="val 79223"/>
            </a:avLst>
          </a:prstGeom>
          <a:solidFill>
            <a:schemeClr val="accent1">
              <a:lumMod val="20000"/>
              <a:lumOff val="80000"/>
            </a:schemeClr>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solidFill>
                <a:prstClr val="black"/>
              </a:solidFill>
              <a:latin typeface="Times" charset="0"/>
            </a:endParaRPr>
          </a:p>
        </p:txBody>
      </p:sp>
      <p:sp>
        <p:nvSpPr>
          <p:cNvPr id="9" name="TextBox 8"/>
          <p:cNvSpPr txBox="1"/>
          <p:nvPr/>
        </p:nvSpPr>
        <p:spPr>
          <a:xfrm>
            <a:off x="304800" y="2286000"/>
            <a:ext cx="2286000" cy="1569660"/>
          </a:xfrm>
          <a:prstGeom prst="rect">
            <a:avLst/>
          </a:prstGeom>
          <a:noFill/>
        </p:spPr>
        <p:txBody>
          <a:bodyPr wrap="square" rtlCol="0">
            <a:spAutoFit/>
          </a:bodyPr>
          <a:lstStyle/>
          <a:p>
            <a:pPr lvl="1"/>
            <a:r>
              <a:rPr lang="en-US" sz="2400" b="1" i="1" dirty="0">
                <a:solidFill>
                  <a:srgbClr val="009900"/>
                </a:solidFill>
                <a:latin typeface="Candara" pitchFamily="34" charset="0"/>
              </a:rPr>
              <a:t>Require an annually balanced budget…</a:t>
            </a:r>
          </a:p>
        </p:txBody>
      </p:sp>
      <p:sp>
        <p:nvSpPr>
          <p:cNvPr id="10" name="Cloud Callout 9"/>
          <p:cNvSpPr/>
          <p:nvPr/>
        </p:nvSpPr>
        <p:spPr bwMode="auto">
          <a:xfrm>
            <a:off x="5063068" y="2590800"/>
            <a:ext cx="3429000" cy="1981200"/>
          </a:xfrm>
          <a:prstGeom prst="cloudCallout">
            <a:avLst>
              <a:gd name="adj1" fmla="val -128643"/>
              <a:gd name="adj2" fmla="val 46385"/>
            </a:avLst>
          </a:prstGeom>
          <a:solidFill>
            <a:schemeClr val="accent1">
              <a:lumMod val="20000"/>
              <a:lumOff val="80000"/>
            </a:schemeClr>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solidFill>
                <a:prstClr val="black"/>
              </a:solidFill>
              <a:latin typeface="Times" charset="0"/>
            </a:endParaRPr>
          </a:p>
        </p:txBody>
      </p:sp>
      <p:sp>
        <p:nvSpPr>
          <p:cNvPr id="11" name="TextBox 10"/>
          <p:cNvSpPr txBox="1"/>
          <p:nvPr/>
        </p:nvSpPr>
        <p:spPr>
          <a:xfrm>
            <a:off x="5029200" y="2971800"/>
            <a:ext cx="3310468" cy="1200329"/>
          </a:xfrm>
          <a:prstGeom prst="rect">
            <a:avLst/>
          </a:prstGeom>
          <a:noFill/>
        </p:spPr>
        <p:txBody>
          <a:bodyPr wrap="square" rtlCol="0">
            <a:spAutoFit/>
          </a:bodyPr>
          <a:lstStyle/>
          <a:p>
            <a:pPr lvl="1"/>
            <a:r>
              <a:rPr lang="en-US" sz="2400" b="1" i="1" dirty="0">
                <a:solidFill>
                  <a:srgbClr val="009900"/>
                </a:solidFill>
                <a:latin typeface="Candara" pitchFamily="34" charset="0"/>
              </a:rPr>
              <a:t>Balance the budget over the business cycle on average…</a:t>
            </a:r>
          </a:p>
        </p:txBody>
      </p:sp>
      <p:sp>
        <p:nvSpPr>
          <p:cNvPr id="12" name="Cloud Callout 11"/>
          <p:cNvSpPr/>
          <p:nvPr/>
        </p:nvSpPr>
        <p:spPr bwMode="auto">
          <a:xfrm>
            <a:off x="5486400" y="4572000"/>
            <a:ext cx="2971800" cy="2209800"/>
          </a:xfrm>
          <a:prstGeom prst="cloudCallout">
            <a:avLst>
              <a:gd name="adj1" fmla="val -166311"/>
              <a:gd name="adj2" fmla="val -33452"/>
            </a:avLst>
          </a:prstGeom>
          <a:solidFill>
            <a:schemeClr val="bg1">
              <a:lumMod val="75000"/>
            </a:schemeClr>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solidFill>
                <a:prstClr val="black"/>
              </a:solidFill>
              <a:latin typeface="Times" charset="0"/>
            </a:endParaRPr>
          </a:p>
        </p:txBody>
      </p:sp>
      <p:sp>
        <p:nvSpPr>
          <p:cNvPr id="13" name="TextBox 12"/>
          <p:cNvSpPr txBox="1"/>
          <p:nvPr/>
        </p:nvSpPr>
        <p:spPr>
          <a:xfrm>
            <a:off x="5367868" y="4871948"/>
            <a:ext cx="3048000" cy="1569660"/>
          </a:xfrm>
          <a:prstGeom prst="rect">
            <a:avLst/>
          </a:prstGeom>
          <a:noFill/>
        </p:spPr>
        <p:txBody>
          <a:bodyPr wrap="square" rtlCol="0">
            <a:spAutoFit/>
          </a:bodyPr>
          <a:lstStyle/>
          <a:p>
            <a:pPr lvl="1"/>
            <a:r>
              <a:rPr lang="en-US" sz="2400" b="1" i="1" dirty="0">
                <a:solidFill>
                  <a:prstClr val="black"/>
                </a:solidFill>
                <a:latin typeface="Candara" pitchFamily="34" charset="0"/>
              </a:rPr>
              <a:t>…and trust the politicians to keep the long-run budget healthy?</a:t>
            </a:r>
          </a:p>
        </p:txBody>
      </p:sp>
      <p:sp>
        <p:nvSpPr>
          <p:cNvPr id="14" name="Cloud Callout 13"/>
          <p:cNvSpPr/>
          <p:nvPr/>
        </p:nvSpPr>
        <p:spPr bwMode="auto">
          <a:xfrm>
            <a:off x="2971800" y="1524000"/>
            <a:ext cx="3124200" cy="1905000"/>
          </a:xfrm>
          <a:prstGeom prst="cloudCallout">
            <a:avLst>
              <a:gd name="adj1" fmla="val -90746"/>
              <a:gd name="adj2" fmla="val 111773"/>
            </a:avLst>
          </a:prstGeom>
          <a:solidFill>
            <a:schemeClr val="bg1">
              <a:lumMod val="75000"/>
            </a:schemeClr>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solidFill>
                <a:prstClr val="black"/>
              </a:solidFill>
              <a:latin typeface="Times" charset="0"/>
            </a:endParaRPr>
          </a:p>
        </p:txBody>
      </p:sp>
      <p:sp>
        <p:nvSpPr>
          <p:cNvPr id="15" name="TextBox 14"/>
          <p:cNvSpPr txBox="1"/>
          <p:nvPr/>
        </p:nvSpPr>
        <p:spPr>
          <a:xfrm>
            <a:off x="2743200" y="1828800"/>
            <a:ext cx="3352800" cy="1200329"/>
          </a:xfrm>
          <a:prstGeom prst="rect">
            <a:avLst/>
          </a:prstGeom>
          <a:noFill/>
        </p:spPr>
        <p:txBody>
          <a:bodyPr wrap="square" rtlCol="0">
            <a:spAutoFit/>
          </a:bodyPr>
          <a:lstStyle/>
          <a:p>
            <a:pPr lvl="1"/>
            <a:r>
              <a:rPr lang="en-US" sz="2400" b="1" i="1" dirty="0">
                <a:solidFill>
                  <a:prstClr val="black"/>
                </a:solidFill>
                <a:latin typeface="Candara" pitchFamily="34" charset="0"/>
              </a:rPr>
              <a:t>…and lose the ability to help during a recession.</a:t>
            </a:r>
          </a:p>
        </p:txBody>
      </p:sp>
    </p:spTree>
    <p:extLst>
      <p:ext uri="{BB962C8B-B14F-4D97-AF65-F5344CB8AC3E}">
        <p14:creationId xmlns:p14="http://schemas.microsoft.com/office/powerpoint/2010/main" val="236819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500"/>
                            </p:stCondLst>
                            <p:childTnLst>
                              <p:par>
                                <p:cTn id="11" presetID="53"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par>
                          <p:cTn id="23" fill="hold">
                            <p:stCondLst>
                              <p:cond delay="500"/>
                            </p:stCondLst>
                            <p:childTnLst>
                              <p:par>
                                <p:cTn id="24" presetID="53" presetClass="entr" presetSubtype="0"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fltVal val="0"/>
                                          </p:val>
                                        </p:tav>
                                        <p:tav tm="100000">
                                          <p:val>
                                            <p:strVal val="#ppt_w"/>
                                          </p:val>
                                        </p:tav>
                                      </p:tavLst>
                                    </p:anim>
                                    <p:anim calcmode="lin" valueType="num">
                                      <p:cBhvr>
                                        <p:cTn id="27" dur="500" fill="hold"/>
                                        <p:tgtEl>
                                          <p:spTgt spid="15"/>
                                        </p:tgtEl>
                                        <p:attrNameLst>
                                          <p:attrName>ppt_h</p:attrName>
                                        </p:attrNameLst>
                                      </p:cBhvr>
                                      <p:tavLst>
                                        <p:tav tm="0">
                                          <p:val>
                                            <p:fltVal val="0"/>
                                          </p:val>
                                        </p:tav>
                                        <p:tav tm="100000">
                                          <p:val>
                                            <p:strVal val="#ppt_h"/>
                                          </p:val>
                                        </p:tav>
                                      </p:tavLst>
                                    </p:anim>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500" fill="hold"/>
                                        <p:tgtEl>
                                          <p:spTgt spid="10"/>
                                        </p:tgtEl>
                                        <p:attrNameLst>
                                          <p:attrName>ppt_w</p:attrName>
                                        </p:attrNameLst>
                                      </p:cBhvr>
                                      <p:tavLst>
                                        <p:tav tm="0">
                                          <p:val>
                                            <p:fltVal val="0"/>
                                          </p:val>
                                        </p:tav>
                                        <p:tav tm="100000">
                                          <p:val>
                                            <p:strVal val="#ppt_w"/>
                                          </p:val>
                                        </p:tav>
                                      </p:tavLst>
                                    </p:anim>
                                    <p:anim calcmode="lin" valueType="num">
                                      <p:cBhvr>
                                        <p:cTn id="34" dur="500" fill="hold"/>
                                        <p:tgtEl>
                                          <p:spTgt spid="10"/>
                                        </p:tgtEl>
                                        <p:attrNameLst>
                                          <p:attrName>ppt_h</p:attrName>
                                        </p:attrNameLst>
                                      </p:cBhvr>
                                      <p:tavLst>
                                        <p:tav tm="0">
                                          <p:val>
                                            <p:fltVal val="0"/>
                                          </p:val>
                                        </p:tav>
                                        <p:tav tm="100000">
                                          <p:val>
                                            <p:strVal val="#ppt_h"/>
                                          </p:val>
                                        </p:tav>
                                      </p:tavLst>
                                    </p:anim>
                                    <p:animEffect transition="in" filter="fade">
                                      <p:cBhvr>
                                        <p:cTn id="35" dur="500"/>
                                        <p:tgtEl>
                                          <p:spTgt spid="10"/>
                                        </p:tgtEl>
                                      </p:cBhvr>
                                    </p:animEffect>
                                  </p:childTnLst>
                                </p:cTn>
                              </p:par>
                            </p:childTnLst>
                          </p:cTn>
                        </p:par>
                        <p:par>
                          <p:cTn id="36" fill="hold">
                            <p:stCondLst>
                              <p:cond delay="500"/>
                            </p:stCondLst>
                            <p:childTnLst>
                              <p:par>
                                <p:cTn id="37" presetID="53"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p:cTn id="39" dur="500" fill="hold"/>
                                        <p:tgtEl>
                                          <p:spTgt spid="11"/>
                                        </p:tgtEl>
                                        <p:attrNameLst>
                                          <p:attrName>ppt_w</p:attrName>
                                        </p:attrNameLst>
                                      </p:cBhvr>
                                      <p:tavLst>
                                        <p:tav tm="0">
                                          <p:val>
                                            <p:fltVal val="0"/>
                                          </p:val>
                                        </p:tav>
                                        <p:tav tm="100000">
                                          <p:val>
                                            <p:strVal val="#ppt_w"/>
                                          </p:val>
                                        </p:tav>
                                      </p:tavLst>
                                    </p:anim>
                                    <p:anim calcmode="lin" valueType="num">
                                      <p:cBhvr>
                                        <p:cTn id="40" dur="500" fill="hold"/>
                                        <p:tgtEl>
                                          <p:spTgt spid="11"/>
                                        </p:tgtEl>
                                        <p:attrNameLst>
                                          <p:attrName>ppt_h</p:attrName>
                                        </p:attrNameLst>
                                      </p:cBhvr>
                                      <p:tavLst>
                                        <p:tav tm="0">
                                          <p:val>
                                            <p:fltVal val="0"/>
                                          </p:val>
                                        </p:tav>
                                        <p:tav tm="100000">
                                          <p:val>
                                            <p:strVal val="#ppt_h"/>
                                          </p:val>
                                        </p:tav>
                                      </p:tavLst>
                                    </p:anim>
                                    <p:animEffect transition="in" filter="fade">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500" fill="hold"/>
                                        <p:tgtEl>
                                          <p:spTgt spid="12"/>
                                        </p:tgtEl>
                                        <p:attrNameLst>
                                          <p:attrName>ppt_w</p:attrName>
                                        </p:attrNameLst>
                                      </p:cBhvr>
                                      <p:tavLst>
                                        <p:tav tm="0">
                                          <p:val>
                                            <p:fltVal val="0"/>
                                          </p:val>
                                        </p:tav>
                                        <p:tav tm="100000">
                                          <p:val>
                                            <p:strVal val="#ppt_w"/>
                                          </p:val>
                                        </p:tav>
                                      </p:tavLst>
                                    </p:anim>
                                    <p:anim calcmode="lin" valueType="num">
                                      <p:cBhvr>
                                        <p:cTn id="47" dur="500" fill="hold"/>
                                        <p:tgtEl>
                                          <p:spTgt spid="12"/>
                                        </p:tgtEl>
                                        <p:attrNameLst>
                                          <p:attrName>ppt_h</p:attrName>
                                        </p:attrNameLst>
                                      </p:cBhvr>
                                      <p:tavLst>
                                        <p:tav tm="0">
                                          <p:val>
                                            <p:fltVal val="0"/>
                                          </p:val>
                                        </p:tav>
                                        <p:tav tm="100000">
                                          <p:val>
                                            <p:strVal val="#ppt_h"/>
                                          </p:val>
                                        </p:tav>
                                      </p:tavLst>
                                    </p:anim>
                                    <p:animEffect transition="in" filter="fade">
                                      <p:cBhvr>
                                        <p:cTn id="48" dur="500"/>
                                        <p:tgtEl>
                                          <p:spTgt spid="12"/>
                                        </p:tgtEl>
                                      </p:cBhvr>
                                    </p:animEffect>
                                  </p:childTnLst>
                                </p:cTn>
                              </p:par>
                            </p:childTnLst>
                          </p:cTn>
                        </p:par>
                        <p:par>
                          <p:cTn id="49" fill="hold">
                            <p:stCondLst>
                              <p:cond delay="500"/>
                            </p:stCondLst>
                            <p:childTnLst>
                              <p:par>
                                <p:cTn id="50" presetID="53" presetClass="entr" presetSubtype="0" fill="hold" grpId="0" nodeType="after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p:cTn id="52" dur="500" fill="hold"/>
                                        <p:tgtEl>
                                          <p:spTgt spid="13"/>
                                        </p:tgtEl>
                                        <p:attrNameLst>
                                          <p:attrName>ppt_w</p:attrName>
                                        </p:attrNameLst>
                                      </p:cBhvr>
                                      <p:tavLst>
                                        <p:tav tm="0">
                                          <p:val>
                                            <p:fltVal val="0"/>
                                          </p:val>
                                        </p:tav>
                                        <p:tav tm="100000">
                                          <p:val>
                                            <p:strVal val="#ppt_w"/>
                                          </p:val>
                                        </p:tav>
                                      </p:tavLst>
                                    </p:anim>
                                    <p:anim calcmode="lin" valueType="num">
                                      <p:cBhvr>
                                        <p:cTn id="53" dur="500" fill="hold"/>
                                        <p:tgtEl>
                                          <p:spTgt spid="13"/>
                                        </p:tgtEl>
                                        <p:attrNameLst>
                                          <p:attrName>ppt_h</p:attrName>
                                        </p:attrNameLst>
                                      </p:cBhvr>
                                      <p:tavLst>
                                        <p:tav tm="0">
                                          <p:val>
                                            <p:fltVal val="0"/>
                                          </p:val>
                                        </p:tav>
                                        <p:tav tm="100000">
                                          <p:val>
                                            <p:strVal val="#ppt_h"/>
                                          </p:val>
                                        </p:tav>
                                      </p:tavLst>
                                    </p:anim>
                                    <p:animEffect transition="in" filter="fade">
                                      <p:cBhvr>
                                        <p:cTn id="5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p:bldP spid="12" grpId="0" animBg="1"/>
      <p:bldP spid="13" grpId="0"/>
      <p:bldP spid="14" grpId="0" animBg="1"/>
      <p:bldP spid="15" grpId="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p:nvSpPr>
          <p:cNvPr id="564227" name="Rectangle 3"/>
          <p:cNvSpPr>
            <a:spLocks noGrp="1" noChangeArrowheads="1"/>
          </p:cNvSpPr>
          <p:nvPr>
            <p:ph idx="1"/>
          </p:nvPr>
        </p:nvSpPr>
        <p:spPr>
          <a:xfrm>
            <a:off x="0" y="1410234"/>
            <a:ext cx="9144000" cy="4648200"/>
          </a:xfrm>
          <a:solidFill>
            <a:schemeClr val="bg1">
              <a:alpha val="66000"/>
            </a:schemeClr>
          </a:solidFill>
          <a:effectLst/>
        </p:spPr>
        <p:txBody>
          <a:bodyPr>
            <a:noAutofit/>
          </a:bodyPr>
          <a:lstStyle/>
          <a:p>
            <a:r>
              <a:rPr lang="en-US" sz="2800" dirty="0">
                <a:latin typeface="Century Gothic"/>
                <a:cs typeface="Century Gothic"/>
              </a:rPr>
              <a:t>1999: some European nations adopted a common currency, the euro.</a:t>
            </a:r>
          </a:p>
          <a:p>
            <a:r>
              <a:rPr lang="en-US" sz="2400" i="1" dirty="0">
                <a:latin typeface="Century Gothic"/>
                <a:cs typeface="Century Gothic"/>
              </a:rPr>
              <a:t>Each government was required to keep its budget deficit below 3% of the country’s GDP or face penalties. </a:t>
            </a:r>
          </a:p>
          <a:p>
            <a:r>
              <a:rPr lang="en-US" sz="2800" i="1" dirty="0">
                <a:solidFill>
                  <a:srgbClr val="0070C0"/>
                </a:solidFill>
                <a:latin typeface="Century Gothic"/>
                <a:cs typeface="Century Gothic"/>
              </a:rPr>
              <a:t>This pact limited a country’s ability to use fiscal policy</a:t>
            </a:r>
            <a:r>
              <a:rPr lang="en-US" sz="2800" i="1" dirty="0">
                <a:solidFill>
                  <a:srgbClr val="0070C0"/>
                </a:solidFill>
                <a:effectLst>
                  <a:outerShdw blurRad="38100" dist="38100" dir="2700000" algn="tl">
                    <a:srgbClr val="000000">
                      <a:alpha val="43137"/>
                    </a:srgbClr>
                  </a:outerShdw>
                </a:effectLst>
                <a:latin typeface="Century Gothic"/>
                <a:cs typeface="Century Gothic"/>
              </a:rPr>
              <a:t>.</a:t>
            </a:r>
          </a:p>
          <a:p>
            <a:r>
              <a:rPr lang="en-US" sz="2800" dirty="0">
                <a:latin typeface="Century Gothic"/>
                <a:cs typeface="Century Gothic"/>
              </a:rPr>
              <a:t>Then, after the 2008 financial crisis, Greece, Ireland, Portugal, Spain, and Italy lost the confidence of their investors, who worried they couldn’t pay their debt. </a:t>
            </a:r>
          </a:p>
          <a:p>
            <a:r>
              <a:rPr lang="en-US" sz="2800" dirty="0">
                <a:solidFill>
                  <a:srgbClr val="990033"/>
                </a:solidFill>
                <a:latin typeface="Century Gothic"/>
                <a:cs typeface="Century Gothic"/>
              </a:rPr>
              <a:t>Was it too much debt? No, only Greece had a deficit above 3% of GDP; Ireland and Spain ran surpluses.</a:t>
            </a:r>
          </a:p>
          <a:p>
            <a:endParaRPr lang="en-US" sz="2800" dirty="0">
              <a:latin typeface="Century Gothic"/>
              <a:cs typeface="Century Gothic"/>
            </a:endParaRPr>
          </a:p>
        </p:txBody>
      </p:sp>
      <p:sp>
        <p:nvSpPr>
          <p:cNvPr id="3" name="Title 2"/>
          <p:cNvSpPr>
            <a:spLocks noGrp="1"/>
          </p:cNvSpPr>
          <p:nvPr>
            <p:ph type="title" idx="4294967295"/>
          </p:nvPr>
        </p:nvSpPr>
        <p:spPr>
          <a:xfrm>
            <a:off x="0" y="609600"/>
            <a:ext cx="9144000" cy="838200"/>
          </a:xfrm>
        </p:spPr>
        <p:txBody>
          <a:bodyPr/>
          <a:lstStyle/>
          <a:p>
            <a:r>
              <a:rPr lang="en-US" spc="0" dirty="0">
                <a:solidFill>
                  <a:schemeClr val="accent6">
                    <a:lumMod val="75000"/>
                  </a:schemeClr>
                </a:solidFill>
                <a:latin typeface="Century Gothic"/>
                <a:cs typeface="Century Gothic"/>
              </a:rPr>
              <a:t>Europe’s Search for a Fiscal Rule</a:t>
            </a:r>
          </a:p>
        </p:txBody>
      </p:sp>
    </p:spTree>
    <p:extLst>
      <p:ext uri="{BB962C8B-B14F-4D97-AF65-F5344CB8AC3E}">
        <p14:creationId xmlns:p14="http://schemas.microsoft.com/office/powerpoint/2010/main" val="21446212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64227">
                                            <p:bg/>
                                          </p:spTgt>
                                        </p:tgtEl>
                                        <p:attrNameLst>
                                          <p:attrName>style.visibility</p:attrName>
                                        </p:attrNameLst>
                                      </p:cBhvr>
                                      <p:to>
                                        <p:strVal val="visible"/>
                                      </p:to>
                                    </p:set>
                                    <p:animEffect transition="in" filter="fade">
                                      <p:cBhvr>
                                        <p:cTn id="7" dur="500"/>
                                        <p:tgtEl>
                                          <p:spTgt spid="564227">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64227">
                                            <p:txEl>
                                              <p:pRg st="0" end="0"/>
                                            </p:txEl>
                                          </p:spTgt>
                                        </p:tgtEl>
                                        <p:attrNameLst>
                                          <p:attrName>style.visibility</p:attrName>
                                        </p:attrNameLst>
                                      </p:cBhvr>
                                      <p:to>
                                        <p:strVal val="visible"/>
                                      </p:to>
                                    </p:set>
                                    <p:animEffect transition="in" filter="fade">
                                      <p:cBhvr>
                                        <p:cTn id="10" dur="500"/>
                                        <p:tgtEl>
                                          <p:spTgt spid="564227">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64227">
                                            <p:txEl>
                                              <p:pRg st="1" end="1"/>
                                            </p:txEl>
                                          </p:spTgt>
                                        </p:tgtEl>
                                        <p:attrNameLst>
                                          <p:attrName>style.visibility</p:attrName>
                                        </p:attrNameLst>
                                      </p:cBhvr>
                                      <p:to>
                                        <p:strVal val="visible"/>
                                      </p:to>
                                    </p:set>
                                    <p:animEffect transition="in" filter="fade">
                                      <p:cBhvr>
                                        <p:cTn id="13" dur="500"/>
                                        <p:tgtEl>
                                          <p:spTgt spid="56422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64227">
                                            <p:txEl>
                                              <p:pRg st="2" end="2"/>
                                            </p:txEl>
                                          </p:spTgt>
                                        </p:tgtEl>
                                        <p:attrNameLst>
                                          <p:attrName>style.visibility</p:attrName>
                                        </p:attrNameLst>
                                      </p:cBhvr>
                                      <p:to>
                                        <p:strVal val="visible"/>
                                      </p:to>
                                    </p:set>
                                    <p:animEffect transition="in" filter="fade">
                                      <p:cBhvr>
                                        <p:cTn id="18" dur="500"/>
                                        <p:tgtEl>
                                          <p:spTgt spid="56422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64227">
                                            <p:txEl>
                                              <p:pRg st="3" end="3"/>
                                            </p:txEl>
                                          </p:spTgt>
                                        </p:tgtEl>
                                        <p:attrNameLst>
                                          <p:attrName>style.visibility</p:attrName>
                                        </p:attrNameLst>
                                      </p:cBhvr>
                                      <p:to>
                                        <p:strVal val="visible"/>
                                      </p:to>
                                    </p:set>
                                    <p:animEffect transition="in" filter="fade">
                                      <p:cBhvr>
                                        <p:cTn id="23" dur="500"/>
                                        <p:tgtEl>
                                          <p:spTgt spid="56422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64227">
                                            <p:txEl>
                                              <p:pRg st="4" end="4"/>
                                            </p:txEl>
                                          </p:spTgt>
                                        </p:tgtEl>
                                        <p:attrNameLst>
                                          <p:attrName>style.visibility</p:attrName>
                                        </p:attrNameLst>
                                      </p:cBhvr>
                                      <p:to>
                                        <p:strVal val="visible"/>
                                      </p:to>
                                    </p:set>
                                    <p:animEffect transition="in" filter="fade">
                                      <p:cBhvr>
                                        <p:cTn id="28" dur="500"/>
                                        <p:tgtEl>
                                          <p:spTgt spid="5642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7" grpId="0" build="p"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pc="0" dirty="0"/>
              <a:t>BUDGET POLICY IN THE UNITED STATES</a:t>
            </a:r>
          </a:p>
        </p:txBody>
      </p:sp>
      <p:sp>
        <p:nvSpPr>
          <p:cNvPr id="3" name="Content Placeholder 2"/>
          <p:cNvSpPr>
            <a:spLocks noGrp="1"/>
          </p:cNvSpPr>
          <p:nvPr>
            <p:ph idx="1"/>
          </p:nvPr>
        </p:nvSpPr>
        <p:spPr>
          <a:xfrm>
            <a:off x="228600" y="990600"/>
            <a:ext cx="8839200" cy="5029200"/>
          </a:xfrm>
        </p:spPr>
        <p:txBody>
          <a:bodyPr>
            <a:normAutofit fontScale="92500" lnSpcReduction="10000"/>
          </a:bodyPr>
          <a:lstStyle/>
          <a:p>
            <a:pPr>
              <a:spcBef>
                <a:spcPts val="120"/>
              </a:spcBef>
              <a:spcAft>
                <a:spcPts val="1200"/>
              </a:spcAft>
            </a:pPr>
            <a:r>
              <a:rPr lang="en-US" dirty="0"/>
              <a:t>The United States has its own version of the original, flawed European stability pact. </a:t>
            </a:r>
          </a:p>
          <a:p>
            <a:pPr lvl="1">
              <a:spcBef>
                <a:spcPts val="120"/>
              </a:spcBef>
              <a:spcAft>
                <a:spcPts val="1200"/>
              </a:spcAft>
            </a:pPr>
            <a:r>
              <a:rPr lang="en-US" i="1" dirty="0">
                <a:solidFill>
                  <a:schemeClr val="tx1">
                    <a:lumMod val="65000"/>
                    <a:lumOff val="35000"/>
                  </a:schemeClr>
                </a:solidFill>
              </a:rPr>
              <a:t>The constitutions of 49 of the 50 states require a balanced budget every year. </a:t>
            </a:r>
          </a:p>
          <a:p>
            <a:pPr>
              <a:spcBef>
                <a:spcPts val="120"/>
              </a:spcBef>
              <a:spcAft>
                <a:spcPts val="1200"/>
              </a:spcAft>
            </a:pPr>
            <a:r>
              <a:rPr lang="en-US" dirty="0"/>
              <a:t>When </a:t>
            </a:r>
            <a:r>
              <a:rPr lang="en-US" dirty="0">
                <a:solidFill>
                  <a:srgbClr val="0070C0"/>
                </a:solidFill>
              </a:rPr>
              <a:t>recession struck </a:t>
            </a:r>
            <a:r>
              <a:rPr lang="en-US" dirty="0"/>
              <a:t>in 2008,</a:t>
            </a:r>
            <a:r>
              <a:rPr lang="en-US" dirty="0">
                <a:solidFill>
                  <a:srgbClr val="0070C0"/>
                </a:solidFill>
              </a:rPr>
              <a:t> most states were forced to slash spending and raise taxes</a:t>
            </a:r>
            <a:r>
              <a:rPr lang="en-US" dirty="0"/>
              <a:t> in the face of a recession, exactly the wrong thing from a macroeconomic point of view.</a:t>
            </a:r>
          </a:p>
          <a:p>
            <a:pPr>
              <a:spcBef>
                <a:spcPts val="120"/>
              </a:spcBef>
              <a:spcAft>
                <a:spcPts val="1200"/>
              </a:spcAft>
            </a:pPr>
            <a:r>
              <a:rPr lang="en-US" i="1" dirty="0">
                <a:solidFill>
                  <a:srgbClr val="990033"/>
                </a:solidFill>
              </a:rPr>
              <a:t>Europe has since changed to a rule that requires a mostly balanced structural budget.</a:t>
            </a:r>
          </a:p>
        </p:txBody>
      </p:sp>
    </p:spTree>
    <p:extLst>
      <p:ext uri="{BB962C8B-B14F-4D97-AF65-F5344CB8AC3E}">
        <p14:creationId xmlns:p14="http://schemas.microsoft.com/office/powerpoint/2010/main" val="34335728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 Shot 2015-04-07 at 21.38.34.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2819400"/>
            <a:ext cx="5638800" cy="3875046"/>
          </a:xfrm>
          <a:prstGeom prst="rect">
            <a:avLst/>
          </a:prstGeom>
        </p:spPr>
      </p:pic>
      <p:sp>
        <p:nvSpPr>
          <p:cNvPr id="565250" name="Rectangle 2"/>
          <p:cNvSpPr>
            <a:spLocks noGrp="1" noRot="1" noChangeArrowheads="1"/>
          </p:cNvSpPr>
          <p:nvPr>
            <p:ph type="title"/>
          </p:nvPr>
        </p:nvSpPr>
        <p:spPr>
          <a:xfrm>
            <a:off x="0" y="0"/>
            <a:ext cx="9144000" cy="1143000"/>
          </a:xfrm>
        </p:spPr>
        <p:txBody>
          <a:bodyPr>
            <a:normAutofit fontScale="90000"/>
          </a:bodyPr>
          <a:lstStyle/>
          <a:p>
            <a:r>
              <a:rPr lang="en-US" spc="0" dirty="0"/>
              <a:t>LONG-RUN IMPLICATIONS OF FISCAL POLICY</a:t>
            </a:r>
          </a:p>
        </p:txBody>
      </p:sp>
      <p:sp>
        <p:nvSpPr>
          <p:cNvPr id="565251" name="Rectangle 3"/>
          <p:cNvSpPr>
            <a:spLocks noGrp="1" noChangeArrowheads="1"/>
          </p:cNvSpPr>
          <p:nvPr>
            <p:ph idx="1"/>
          </p:nvPr>
        </p:nvSpPr>
        <p:spPr>
          <a:xfrm>
            <a:off x="228600" y="1143000"/>
            <a:ext cx="8839200" cy="4495800"/>
          </a:xfrm>
        </p:spPr>
        <p:txBody>
          <a:bodyPr>
            <a:normAutofit/>
          </a:bodyPr>
          <a:lstStyle/>
          <a:p>
            <a:r>
              <a:rPr lang="en-US" sz="2800" dirty="0"/>
              <a:t>Persistent budget deficits have long-run consequences because they lead to an increase in </a:t>
            </a:r>
            <a:r>
              <a:rPr lang="en-US" sz="2800" b="1" dirty="0"/>
              <a:t>public debt. </a:t>
            </a:r>
          </a:p>
          <a:p>
            <a:endParaRPr lang="en-US" sz="2800" dirty="0"/>
          </a:p>
        </p:txBody>
      </p:sp>
      <p:sp>
        <p:nvSpPr>
          <p:cNvPr id="3" name="TextBox 2"/>
          <p:cNvSpPr txBox="1"/>
          <p:nvPr/>
        </p:nvSpPr>
        <p:spPr>
          <a:xfrm>
            <a:off x="3048000" y="2286000"/>
            <a:ext cx="6096000" cy="1323439"/>
          </a:xfrm>
          <a:prstGeom prst="rect">
            <a:avLst/>
          </a:prstGeom>
          <a:solidFill>
            <a:schemeClr val="bg1"/>
          </a:solidFill>
        </p:spPr>
        <p:txBody>
          <a:bodyPr wrap="square" rtlCol="0">
            <a:spAutoFit/>
          </a:bodyPr>
          <a:lstStyle/>
          <a:p>
            <a:r>
              <a:rPr lang="en-US" sz="2000" b="1" i="1" dirty="0">
                <a:solidFill>
                  <a:prstClr val="black">
                    <a:lumMod val="65000"/>
                    <a:lumOff val="35000"/>
                  </a:prstClr>
                </a:solidFill>
                <a:latin typeface="Century Gothic"/>
                <a:cs typeface="Century Gothic"/>
              </a:rPr>
              <a:t>In 2008, the government of Greece could borrow at interest rates barely higher than those of Germany, widely considered a very safe borrower.  Things changed in 2009…</a:t>
            </a:r>
          </a:p>
        </p:txBody>
      </p:sp>
      <p:sp>
        <p:nvSpPr>
          <p:cNvPr id="4" name="Rectangle 3"/>
          <p:cNvSpPr/>
          <p:nvPr/>
        </p:nvSpPr>
        <p:spPr>
          <a:xfrm>
            <a:off x="6096001" y="5486400"/>
            <a:ext cx="3048000" cy="646331"/>
          </a:xfrm>
          <a:prstGeom prst="rect">
            <a:avLst/>
          </a:prstGeom>
        </p:spPr>
        <p:txBody>
          <a:bodyPr wrap="square">
            <a:spAutoFit/>
          </a:bodyPr>
          <a:lstStyle/>
          <a:p>
            <a:r>
              <a:rPr lang="en-US" sz="1200" i="1" dirty="0">
                <a:solidFill>
                  <a:schemeClr val="tx1">
                    <a:lumMod val="50000"/>
                    <a:lumOff val="50000"/>
                  </a:schemeClr>
                </a:solidFill>
                <a:latin typeface="Century Gothic"/>
                <a:cs typeface="Century Gothic"/>
              </a:rPr>
              <a:t>Source: </a:t>
            </a:r>
            <a:r>
              <a:rPr lang="en-US" sz="1200" dirty="0">
                <a:solidFill>
                  <a:schemeClr val="tx1">
                    <a:lumMod val="50000"/>
                    <a:lumOff val="50000"/>
                  </a:schemeClr>
                </a:solidFill>
                <a:latin typeface="Century Gothic"/>
                <a:cs typeface="Century Gothic"/>
              </a:rPr>
              <a:t>Federal Reserve Bank of St. Louis; </a:t>
            </a:r>
            <a:r>
              <a:rPr lang="en-US" sz="1200" dirty="0" err="1">
                <a:solidFill>
                  <a:schemeClr val="tx1">
                    <a:lumMod val="50000"/>
                    <a:lumOff val="50000"/>
                  </a:schemeClr>
                </a:solidFill>
                <a:latin typeface="Century Gothic"/>
                <a:cs typeface="Century Gothic"/>
              </a:rPr>
              <a:t>OECD“Main</a:t>
            </a:r>
            <a:r>
              <a:rPr lang="en-US" sz="1200" dirty="0">
                <a:solidFill>
                  <a:schemeClr val="tx1">
                    <a:lumMod val="50000"/>
                    <a:lumOff val="50000"/>
                  </a:schemeClr>
                </a:solidFill>
                <a:latin typeface="Century Gothic"/>
                <a:cs typeface="Century Gothic"/>
              </a:rPr>
              <a:t> Economic Indicators Complete Database.</a:t>
            </a:r>
            <a:endParaRPr lang="en-US" sz="1200" i="1" dirty="0">
              <a:solidFill>
                <a:schemeClr val="tx1">
                  <a:lumMod val="50000"/>
                  <a:lumOff val="50000"/>
                </a:schemeClr>
              </a:solidFill>
              <a:latin typeface="Century Gothic"/>
              <a:cs typeface="Century Gothic"/>
            </a:endParaRPr>
          </a:p>
        </p:txBody>
      </p:sp>
    </p:spTree>
    <p:extLst>
      <p:ext uri="{BB962C8B-B14F-4D97-AF65-F5344CB8AC3E}">
        <p14:creationId xmlns:p14="http://schemas.microsoft.com/office/powerpoint/2010/main" val="3937216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0" y="0"/>
            <a:ext cx="9144000" cy="609600"/>
          </a:xfrm>
          <a:solidFill>
            <a:schemeClr val="accent5">
              <a:lumMod val="20000"/>
              <a:lumOff val="80000"/>
              <a:alpha val="80000"/>
            </a:schemeClr>
          </a:solidFill>
        </p:spPr>
        <p:txBody>
          <a:bodyPr>
            <a:normAutofit fontScale="90000"/>
          </a:bodyPr>
          <a:lstStyle/>
          <a:p>
            <a:r>
              <a:rPr lang="en-US" sz="4000" spc="0" dirty="0"/>
              <a:t>THE SOCIAL COST OF DEBT</a:t>
            </a:r>
          </a:p>
        </p:txBody>
      </p:sp>
      <p:sp>
        <p:nvSpPr>
          <p:cNvPr id="3" name="Content Placeholder 2"/>
          <p:cNvSpPr>
            <a:spLocks noGrp="1"/>
          </p:cNvSpPr>
          <p:nvPr>
            <p:ph idx="1"/>
          </p:nvPr>
        </p:nvSpPr>
        <p:spPr>
          <a:xfrm>
            <a:off x="0" y="4419600"/>
            <a:ext cx="9144000" cy="1905000"/>
          </a:xfrm>
          <a:solidFill>
            <a:schemeClr val="tx1">
              <a:alpha val="82000"/>
            </a:schemeClr>
          </a:solidFill>
        </p:spPr>
        <p:txBody>
          <a:bodyPr>
            <a:normAutofit/>
          </a:bodyPr>
          <a:lstStyle/>
          <a:p>
            <a:r>
              <a:rPr lang="en-US" sz="2800" dirty="0">
                <a:solidFill>
                  <a:schemeClr val="bg1"/>
                </a:solidFill>
                <a:effectLst>
                  <a:outerShdw blurRad="38100" dist="38100" dir="2700000" algn="tl">
                    <a:srgbClr val="000000">
                      <a:alpha val="43137"/>
                    </a:srgbClr>
                  </a:outerShdw>
                </a:effectLst>
              </a:rPr>
              <a:t>Greece imposed severe spending cuts to qualify for loans. Greeks angered by their government’s harsh austerity measures took to the streets in protest- and installed a new party to power.</a:t>
            </a:r>
          </a:p>
        </p:txBody>
      </p:sp>
    </p:spTree>
    <p:extLst>
      <p:ext uri="{BB962C8B-B14F-4D97-AF65-F5344CB8AC3E}">
        <p14:creationId xmlns:p14="http://schemas.microsoft.com/office/powerpoint/2010/main" val="36743354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5" name="Rectangle 3"/>
          <p:cNvSpPr>
            <a:spLocks noGrp="1" noChangeArrowheads="1"/>
          </p:cNvSpPr>
          <p:nvPr>
            <p:ph idx="1"/>
          </p:nvPr>
        </p:nvSpPr>
        <p:spPr>
          <a:xfrm>
            <a:off x="0" y="762000"/>
            <a:ext cx="9109630" cy="4525963"/>
          </a:xfrm>
        </p:spPr>
        <p:txBody>
          <a:bodyPr>
            <a:noAutofit/>
          </a:bodyPr>
          <a:lstStyle/>
          <a:p>
            <a:pPr>
              <a:spcBef>
                <a:spcPts val="168"/>
              </a:spcBef>
              <a:spcAft>
                <a:spcPts val="600"/>
              </a:spcAft>
            </a:pPr>
            <a:r>
              <a:rPr lang="en-US" sz="3200" dirty="0">
                <a:solidFill>
                  <a:srgbClr val="0070C0"/>
                </a:solidFill>
                <a:latin typeface="Century Gothic"/>
                <a:cs typeface="Century Gothic"/>
              </a:rPr>
              <a:t>DEFICITS VS. DEBT</a:t>
            </a:r>
          </a:p>
          <a:p>
            <a:pPr>
              <a:spcBef>
                <a:spcPts val="168"/>
              </a:spcBef>
              <a:spcAft>
                <a:spcPts val="600"/>
              </a:spcAft>
            </a:pPr>
            <a:r>
              <a:rPr lang="en-US" sz="2800" dirty="0">
                <a:latin typeface="Century Gothic"/>
                <a:cs typeface="Century Gothic"/>
              </a:rPr>
              <a:t>A </a:t>
            </a:r>
            <a:r>
              <a:rPr lang="en-US" sz="2800" i="1" dirty="0">
                <a:solidFill>
                  <a:srgbClr val="990033"/>
                </a:solidFill>
                <a:latin typeface="Century Gothic"/>
                <a:cs typeface="Century Gothic"/>
              </a:rPr>
              <a:t>deficit </a:t>
            </a:r>
            <a:r>
              <a:rPr lang="en-US" sz="2800" dirty="0">
                <a:latin typeface="Century Gothic"/>
                <a:cs typeface="Century Gothic"/>
              </a:rPr>
              <a:t>is the difference between the amount of money a government spends and the amount it receives in taxes </a:t>
            </a:r>
            <a:r>
              <a:rPr lang="en-US" sz="2800" dirty="0">
                <a:solidFill>
                  <a:srgbClr val="990033"/>
                </a:solidFill>
                <a:latin typeface="Century Gothic"/>
                <a:cs typeface="Century Gothic"/>
              </a:rPr>
              <a:t>over a given period. </a:t>
            </a:r>
          </a:p>
          <a:p>
            <a:pPr>
              <a:spcBef>
                <a:spcPts val="168"/>
              </a:spcBef>
              <a:spcAft>
                <a:spcPts val="600"/>
              </a:spcAft>
            </a:pPr>
            <a:r>
              <a:rPr lang="en-US" sz="2800" dirty="0">
                <a:latin typeface="Century Gothic"/>
                <a:cs typeface="Century Gothic"/>
              </a:rPr>
              <a:t>A </a:t>
            </a:r>
            <a:r>
              <a:rPr lang="en-US" sz="2800" i="1" dirty="0">
                <a:solidFill>
                  <a:srgbClr val="0070C0"/>
                </a:solidFill>
                <a:latin typeface="Century Gothic"/>
                <a:cs typeface="Century Gothic"/>
              </a:rPr>
              <a:t>debt</a:t>
            </a:r>
            <a:r>
              <a:rPr lang="en-US" sz="2800" i="1" dirty="0">
                <a:latin typeface="Century Gothic"/>
                <a:cs typeface="Century Gothic"/>
              </a:rPr>
              <a:t> </a:t>
            </a:r>
            <a:r>
              <a:rPr lang="en-US" sz="2800" dirty="0">
                <a:latin typeface="Century Gothic"/>
                <a:cs typeface="Century Gothic"/>
              </a:rPr>
              <a:t>is the </a:t>
            </a:r>
            <a:r>
              <a:rPr lang="en-US" sz="2800" dirty="0">
                <a:solidFill>
                  <a:srgbClr val="0070C0"/>
                </a:solidFill>
                <a:latin typeface="Century Gothic"/>
                <a:cs typeface="Century Gothic"/>
              </a:rPr>
              <a:t>sum</a:t>
            </a:r>
            <a:r>
              <a:rPr lang="en-US" sz="2800" dirty="0">
                <a:latin typeface="Century Gothic"/>
                <a:cs typeface="Century Gothic"/>
              </a:rPr>
              <a:t> of money a government owes </a:t>
            </a:r>
            <a:r>
              <a:rPr lang="en-US" sz="2800" dirty="0">
                <a:solidFill>
                  <a:srgbClr val="0070C0"/>
                </a:solidFill>
                <a:latin typeface="Century Gothic"/>
                <a:cs typeface="Century Gothic"/>
              </a:rPr>
              <a:t>at a particular time. </a:t>
            </a:r>
          </a:p>
          <a:p>
            <a:pPr>
              <a:spcBef>
                <a:spcPts val="168"/>
              </a:spcBef>
              <a:spcAft>
                <a:spcPts val="600"/>
              </a:spcAft>
            </a:pPr>
            <a:r>
              <a:rPr lang="en-US" sz="2800" dirty="0">
                <a:latin typeface="Century Gothic"/>
                <a:cs typeface="Century Gothic"/>
              </a:rPr>
              <a:t>Deficits and debt are linked, because government debt grows when governments run deficits. But they aren’t the same thing, and they can tell different stories. </a:t>
            </a:r>
          </a:p>
          <a:p>
            <a:pPr lvl="1">
              <a:spcBef>
                <a:spcPts val="168"/>
              </a:spcBef>
              <a:spcAft>
                <a:spcPts val="600"/>
              </a:spcAft>
            </a:pPr>
            <a:r>
              <a:rPr lang="en-US" sz="2400" i="1" dirty="0">
                <a:solidFill>
                  <a:schemeClr val="tx1">
                    <a:lumMod val="75000"/>
                    <a:lumOff val="25000"/>
                  </a:schemeClr>
                </a:solidFill>
                <a:latin typeface="Century Gothic"/>
                <a:cs typeface="Century Gothic"/>
              </a:rPr>
              <a:t>Italy found itself in debt trouble in 2011. It had a fairly small deficit by historical standards, but it had very high debt, a legacy of past policies.</a:t>
            </a:r>
            <a:endParaRPr lang="en-US" sz="2000" i="1" dirty="0">
              <a:solidFill>
                <a:schemeClr val="tx1">
                  <a:lumMod val="75000"/>
                  <a:lumOff val="25000"/>
                </a:schemeClr>
              </a:solidFill>
              <a:latin typeface="Century Gothic"/>
              <a:cs typeface="Century Gothic"/>
            </a:endParaRPr>
          </a:p>
        </p:txBody>
      </p:sp>
    </p:spTree>
    <p:extLst>
      <p:ext uri="{BB962C8B-B14F-4D97-AF65-F5344CB8AC3E}">
        <p14:creationId xmlns:p14="http://schemas.microsoft.com/office/powerpoint/2010/main" val="30889653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creen Shot 2015-04-07 at 21.44.4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762000"/>
            <a:ext cx="8890000" cy="5816600"/>
          </a:xfrm>
          <a:prstGeom prst="rect">
            <a:avLst/>
          </a:prstGeom>
        </p:spPr>
      </p:pic>
      <p:sp>
        <p:nvSpPr>
          <p:cNvPr id="2" name="Title 1"/>
          <p:cNvSpPr>
            <a:spLocks noGrp="1"/>
          </p:cNvSpPr>
          <p:nvPr>
            <p:ph type="title"/>
          </p:nvPr>
        </p:nvSpPr>
        <p:spPr/>
        <p:txBody>
          <a:bodyPr>
            <a:normAutofit/>
          </a:bodyPr>
          <a:lstStyle/>
          <a:p>
            <a:r>
              <a:rPr lang="en-US" sz="4000" spc="0" dirty="0"/>
              <a:t>THE AMERICAN WAY OF DEBT</a:t>
            </a:r>
          </a:p>
        </p:txBody>
      </p:sp>
      <p:sp>
        <p:nvSpPr>
          <p:cNvPr id="5" name="Rectangle 4"/>
          <p:cNvSpPr/>
          <p:nvPr/>
        </p:nvSpPr>
        <p:spPr>
          <a:xfrm>
            <a:off x="609600" y="6324600"/>
            <a:ext cx="2696901" cy="261610"/>
          </a:xfrm>
          <a:prstGeom prst="rect">
            <a:avLst/>
          </a:prstGeom>
        </p:spPr>
        <p:txBody>
          <a:bodyPr wrap="none">
            <a:spAutoFit/>
          </a:bodyPr>
          <a:lstStyle/>
          <a:p>
            <a:r>
              <a:rPr lang="en-US" sz="1100" i="1" dirty="0">
                <a:solidFill>
                  <a:prstClr val="black">
                    <a:lumMod val="75000"/>
                    <a:lumOff val="25000"/>
                  </a:prstClr>
                </a:solidFill>
                <a:latin typeface="Century Gothic"/>
                <a:cs typeface="Century Gothic"/>
              </a:rPr>
              <a:t>Source: International Monetary Fund</a:t>
            </a:r>
          </a:p>
        </p:txBody>
      </p:sp>
    </p:spTree>
    <p:extLst>
      <p:ext uri="{BB962C8B-B14F-4D97-AF65-F5344CB8AC3E}">
        <p14:creationId xmlns:p14="http://schemas.microsoft.com/office/powerpoint/2010/main" val="32075595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p:cNvSpPr>
            <a:spLocks noGrp="1" noRot="1" noChangeArrowheads="1"/>
          </p:cNvSpPr>
          <p:nvPr>
            <p:ph type="title"/>
          </p:nvPr>
        </p:nvSpPr>
        <p:spPr>
          <a:xfrm>
            <a:off x="0" y="27602"/>
            <a:ext cx="9144000" cy="1191598"/>
          </a:xfrm>
        </p:spPr>
        <p:txBody>
          <a:bodyPr>
            <a:noAutofit/>
          </a:bodyPr>
          <a:lstStyle/>
          <a:p>
            <a:r>
              <a:rPr lang="en-US" sz="4000" spc="0" dirty="0"/>
              <a:t>PROBLEMS POSED BY RISING GOVERNMENT DEBT</a:t>
            </a:r>
          </a:p>
        </p:txBody>
      </p:sp>
      <p:sp>
        <p:nvSpPr>
          <p:cNvPr id="568323" name="Rectangle 3"/>
          <p:cNvSpPr>
            <a:spLocks noGrp="1" noChangeArrowheads="1"/>
          </p:cNvSpPr>
          <p:nvPr>
            <p:ph idx="1"/>
          </p:nvPr>
        </p:nvSpPr>
        <p:spPr>
          <a:xfrm>
            <a:off x="228600" y="1295400"/>
            <a:ext cx="8839200" cy="4572000"/>
          </a:xfrm>
        </p:spPr>
        <p:txBody>
          <a:bodyPr>
            <a:noAutofit/>
          </a:bodyPr>
          <a:lstStyle/>
          <a:p>
            <a:pPr>
              <a:spcBef>
                <a:spcPts val="168"/>
              </a:spcBef>
              <a:spcAft>
                <a:spcPts val="1200"/>
              </a:spcAft>
            </a:pPr>
            <a:r>
              <a:rPr lang="en-US" dirty="0"/>
              <a:t>Public debt may </a:t>
            </a:r>
            <a:r>
              <a:rPr lang="en-US" b="1" dirty="0"/>
              <a:t>crowd out</a:t>
            </a:r>
            <a:r>
              <a:rPr lang="en-US" dirty="0"/>
              <a:t> investment spending, which reduces long-run economic growth.</a:t>
            </a:r>
          </a:p>
          <a:p>
            <a:pPr>
              <a:spcBef>
                <a:spcPts val="168"/>
              </a:spcBef>
              <a:spcAft>
                <a:spcPts val="1200"/>
              </a:spcAft>
            </a:pPr>
            <a:r>
              <a:rPr lang="en-US" dirty="0"/>
              <a:t>And in extreme cases, </a:t>
            </a:r>
            <a:r>
              <a:rPr lang="en-US" dirty="0">
                <a:solidFill>
                  <a:srgbClr val="0070C0"/>
                </a:solidFill>
              </a:rPr>
              <a:t>rising debt may lead to government </a:t>
            </a:r>
            <a:r>
              <a:rPr lang="en-US" b="1" dirty="0">
                <a:solidFill>
                  <a:srgbClr val="0070C0"/>
                </a:solidFill>
              </a:rPr>
              <a:t>default</a:t>
            </a:r>
            <a:r>
              <a:rPr lang="en-US" dirty="0">
                <a:solidFill>
                  <a:srgbClr val="0070C0"/>
                </a:solidFill>
              </a:rPr>
              <a:t>,</a:t>
            </a:r>
            <a:r>
              <a:rPr lang="en-US" dirty="0"/>
              <a:t> resulting in economic and financial turmoil.</a:t>
            </a:r>
          </a:p>
          <a:p>
            <a:pPr lvl="1">
              <a:spcBef>
                <a:spcPts val="168"/>
              </a:spcBef>
              <a:spcAft>
                <a:spcPts val="1200"/>
              </a:spcAft>
            </a:pPr>
            <a:r>
              <a:rPr lang="en-US" i="1" dirty="0">
                <a:solidFill>
                  <a:schemeClr val="tx1">
                    <a:lumMod val="75000"/>
                    <a:lumOff val="25000"/>
                  </a:schemeClr>
                </a:solidFill>
              </a:rPr>
              <a:t>Can’t a government that has trouble borrowing just print money to pay its bills? </a:t>
            </a:r>
          </a:p>
          <a:p>
            <a:pPr lvl="1">
              <a:spcBef>
                <a:spcPts val="168"/>
              </a:spcBef>
              <a:spcAft>
                <a:spcPts val="1200"/>
              </a:spcAft>
            </a:pPr>
            <a:r>
              <a:rPr lang="en-US" i="1" dirty="0">
                <a:solidFill>
                  <a:schemeClr val="tx1">
                    <a:lumMod val="75000"/>
                    <a:lumOff val="25000"/>
                  </a:schemeClr>
                </a:solidFill>
              </a:rPr>
              <a:t>Yes, it can, but this leads to another problem: inflation. More on this in a later chapter.</a:t>
            </a:r>
          </a:p>
          <a:p>
            <a:pPr>
              <a:spcBef>
                <a:spcPts val="168"/>
              </a:spcBef>
              <a:spcAft>
                <a:spcPts val="1200"/>
              </a:spcAft>
            </a:pPr>
            <a:endParaRPr lang="en-US" dirty="0"/>
          </a:p>
        </p:txBody>
      </p:sp>
    </p:spTree>
    <p:extLst>
      <p:ext uri="{BB962C8B-B14F-4D97-AF65-F5344CB8AC3E}">
        <p14:creationId xmlns:p14="http://schemas.microsoft.com/office/powerpoint/2010/main" val="15461524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Rot="1" noChangeArrowheads="1"/>
          </p:cNvSpPr>
          <p:nvPr>
            <p:ph type="title"/>
          </p:nvPr>
        </p:nvSpPr>
        <p:spPr/>
        <p:txBody>
          <a:bodyPr>
            <a:normAutofit/>
          </a:bodyPr>
          <a:lstStyle/>
          <a:p>
            <a:r>
              <a:rPr lang="en-US" sz="4000" spc="0" dirty="0"/>
              <a:t>DEFICITS AND DEBT IN PRACTICE</a:t>
            </a:r>
          </a:p>
        </p:txBody>
      </p:sp>
      <p:sp>
        <p:nvSpPr>
          <p:cNvPr id="569347" name="Rectangle 3"/>
          <p:cNvSpPr>
            <a:spLocks noGrp="1" noChangeArrowheads="1"/>
          </p:cNvSpPr>
          <p:nvPr>
            <p:ph idx="1"/>
          </p:nvPr>
        </p:nvSpPr>
        <p:spPr/>
        <p:txBody>
          <a:bodyPr>
            <a:normAutofit/>
          </a:bodyPr>
          <a:lstStyle/>
          <a:p>
            <a:r>
              <a:rPr lang="en-US" sz="2800" dirty="0"/>
              <a:t>A widely used measure of fiscal health is the </a:t>
            </a:r>
            <a:r>
              <a:rPr lang="en-US" sz="2800" b="1" dirty="0"/>
              <a:t>debt–GDP ratio. </a:t>
            </a:r>
          </a:p>
          <a:p>
            <a:endParaRPr lang="en-US" sz="2800" dirty="0"/>
          </a:p>
        </p:txBody>
      </p:sp>
      <p:pic>
        <p:nvPicPr>
          <p:cNvPr id="5" name="Picture 4" descr="Chart&#10;&#10;Description automatically generated">
            <a:extLst>
              <a:ext uri="{FF2B5EF4-FFF2-40B4-BE49-F238E27FC236}">
                <a16:creationId xmlns:a16="http://schemas.microsoft.com/office/drawing/2014/main" id="{4EFEABD6-14C8-694E-9FB2-76129F615F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2284488" y="77712"/>
            <a:ext cx="4575024" cy="8382000"/>
          </a:xfrm>
          <a:prstGeom prst="rect">
            <a:avLst/>
          </a:prstGeom>
        </p:spPr>
      </p:pic>
    </p:spTree>
    <p:extLst>
      <p:ext uri="{BB962C8B-B14F-4D97-AF65-F5344CB8AC3E}">
        <p14:creationId xmlns:p14="http://schemas.microsoft.com/office/powerpoint/2010/main" val="42305743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Rot="1" noChangeArrowheads="1"/>
          </p:cNvSpPr>
          <p:nvPr>
            <p:ph type="title"/>
          </p:nvPr>
        </p:nvSpPr>
        <p:spPr/>
        <p:txBody>
          <a:bodyPr>
            <a:normAutofit/>
          </a:bodyPr>
          <a:lstStyle/>
          <a:p>
            <a:r>
              <a:rPr lang="en-US" sz="4000" spc="0" dirty="0"/>
              <a:t>DEFICITS AND DEBT IN PRACTICE</a:t>
            </a:r>
          </a:p>
        </p:txBody>
      </p:sp>
      <p:pic>
        <p:nvPicPr>
          <p:cNvPr id="5" name="Graphic 4">
            <a:extLst>
              <a:ext uri="{FF2B5EF4-FFF2-40B4-BE49-F238E27FC236}">
                <a16:creationId xmlns:a16="http://schemas.microsoft.com/office/drawing/2014/main" id="{66DAF00C-B3CC-C842-A3F7-0E5265BF99A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 y="1371600"/>
            <a:ext cx="8458200" cy="5129893"/>
          </a:xfrm>
          <a:prstGeom prst="rect">
            <a:avLst/>
          </a:prstGeom>
        </p:spPr>
      </p:pic>
    </p:spTree>
    <p:extLst>
      <p:ext uri="{BB962C8B-B14F-4D97-AF65-F5344CB8AC3E}">
        <p14:creationId xmlns:p14="http://schemas.microsoft.com/office/powerpoint/2010/main" val="5962995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8000"/>
            <a:lum/>
          </a:blip>
          <a:srcRect/>
          <a:stretch>
            <a:fillRect l="-6000" r="-6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spc="0" dirty="0"/>
              <a:t>IMPLICIT LIABILITIES</a:t>
            </a:r>
          </a:p>
        </p:txBody>
      </p:sp>
      <p:sp>
        <p:nvSpPr>
          <p:cNvPr id="3" name="Content Placeholder 2"/>
          <p:cNvSpPr>
            <a:spLocks noGrp="1"/>
          </p:cNvSpPr>
          <p:nvPr>
            <p:ph idx="1"/>
          </p:nvPr>
        </p:nvSpPr>
        <p:spPr/>
        <p:txBody>
          <a:bodyPr>
            <a:normAutofit/>
          </a:bodyPr>
          <a:lstStyle/>
          <a:p>
            <a:pPr>
              <a:spcBef>
                <a:spcPts val="168"/>
              </a:spcBef>
              <a:spcAft>
                <a:spcPts val="1200"/>
              </a:spcAft>
            </a:pPr>
            <a:r>
              <a:rPr lang="en-US" dirty="0"/>
              <a:t>Experts on long-run budget issues view the situation of the United States (and other countries such as Japan and Italy) with alarm.</a:t>
            </a:r>
          </a:p>
          <a:p>
            <a:pPr>
              <a:spcBef>
                <a:spcPts val="168"/>
              </a:spcBef>
              <a:spcAft>
                <a:spcPts val="1200"/>
              </a:spcAft>
            </a:pPr>
            <a:r>
              <a:rPr lang="en-US" i="1" dirty="0">
                <a:solidFill>
                  <a:srgbClr val="990033"/>
                </a:solidFill>
              </a:rPr>
              <a:t>Implicit liabilities: </a:t>
            </a:r>
            <a:r>
              <a:rPr lang="en-US" b="0" dirty="0"/>
              <a:t>spending promises made by governments that are </a:t>
            </a:r>
            <a:r>
              <a:rPr lang="en-US" dirty="0"/>
              <a:t>effectively a debt </a:t>
            </a:r>
            <a:r>
              <a:rPr lang="en-US" b="0" dirty="0"/>
              <a:t>despite the fact that they are </a:t>
            </a:r>
            <a:r>
              <a:rPr lang="en-US" dirty="0"/>
              <a:t>not included in the usual debt statistics</a:t>
            </a:r>
            <a:r>
              <a:rPr lang="en-US" b="0" dirty="0"/>
              <a:t>.</a:t>
            </a:r>
            <a:endParaRPr lang="en-US" dirty="0"/>
          </a:p>
        </p:txBody>
      </p:sp>
    </p:spTree>
    <p:extLst>
      <p:ext uri="{BB962C8B-B14F-4D97-AF65-F5344CB8AC3E}">
        <p14:creationId xmlns:p14="http://schemas.microsoft.com/office/powerpoint/2010/main" val="20667539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spc="0" dirty="0"/>
              <a:t>IMPLICIT LIABILITIES</a:t>
            </a:r>
          </a:p>
        </p:txBody>
      </p:sp>
      <p:sp>
        <p:nvSpPr>
          <p:cNvPr id="8" name="Content Placeholder 7"/>
          <p:cNvSpPr>
            <a:spLocks noGrp="1"/>
          </p:cNvSpPr>
          <p:nvPr>
            <p:ph idx="1"/>
          </p:nvPr>
        </p:nvSpPr>
        <p:spPr>
          <a:xfrm>
            <a:off x="152400" y="685800"/>
            <a:ext cx="8839200" cy="2133600"/>
          </a:xfrm>
        </p:spPr>
        <p:txBody>
          <a:bodyPr/>
          <a:lstStyle/>
          <a:p>
            <a:r>
              <a:rPr lang="en-US" dirty="0"/>
              <a:t>Congressional Budget Office projections: The </a:t>
            </a:r>
            <a:r>
              <a:rPr lang="en-US" dirty="0">
                <a:solidFill>
                  <a:srgbClr val="990033"/>
                </a:solidFill>
              </a:rPr>
              <a:t>aging population </a:t>
            </a:r>
            <a:r>
              <a:rPr lang="en-US" dirty="0"/>
              <a:t>plus </a:t>
            </a:r>
            <a:r>
              <a:rPr lang="en-US" dirty="0">
                <a:solidFill>
                  <a:srgbClr val="990033"/>
                </a:solidFill>
              </a:rPr>
              <a:t>rising health care costs </a:t>
            </a:r>
            <a:r>
              <a:rPr lang="en-US" dirty="0"/>
              <a:t>will soon pose real problems for the federal budget.</a:t>
            </a:r>
          </a:p>
        </p:txBody>
      </p:sp>
      <p:pic>
        <p:nvPicPr>
          <p:cNvPr id="3" name="Picture 2" descr="Screen Shot 2015-04-07 at 21.49.49.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2907695"/>
            <a:ext cx="7010400" cy="3950305"/>
          </a:xfrm>
          <a:prstGeom prst="rect">
            <a:avLst/>
          </a:prstGeom>
        </p:spPr>
      </p:pic>
    </p:spTree>
    <p:extLst>
      <p:ext uri="{BB962C8B-B14F-4D97-AF65-F5344CB8AC3E}">
        <p14:creationId xmlns:p14="http://schemas.microsoft.com/office/powerpoint/2010/main" val="38098430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2400" y="838200"/>
            <a:ext cx="8991600" cy="3886200"/>
          </a:xfrm>
        </p:spPr>
        <p:txBody>
          <a:bodyPr>
            <a:normAutofit/>
          </a:bodyPr>
          <a:lstStyle/>
          <a:p>
            <a:r>
              <a:rPr lang="en-US" dirty="0">
                <a:solidFill>
                  <a:schemeClr val="accent6">
                    <a:lumMod val="75000"/>
                  </a:schemeClr>
                </a:solidFill>
                <a:latin typeface="Century Gothic"/>
                <a:cs typeface="Century Gothic"/>
              </a:rPr>
              <a:t>ARE WE GREECE?</a:t>
            </a:r>
          </a:p>
          <a:p>
            <a:pPr>
              <a:spcBef>
                <a:spcPts val="0"/>
              </a:spcBef>
              <a:spcAft>
                <a:spcPts val="1200"/>
              </a:spcAft>
            </a:pPr>
            <a:r>
              <a:rPr lang="en-US" sz="2400" dirty="0">
                <a:latin typeface="Century Gothic"/>
                <a:cs typeface="Century Gothic"/>
              </a:rPr>
              <a:t>Some influential people believed the U.S. was about to head into soaring interest rates and a debt crisis like Greece experienced.</a:t>
            </a:r>
          </a:p>
          <a:p>
            <a:pPr>
              <a:spcBef>
                <a:spcPts val="0"/>
              </a:spcBef>
              <a:spcAft>
                <a:spcPts val="1200"/>
              </a:spcAft>
            </a:pPr>
            <a:r>
              <a:rPr lang="en-US" sz="2400" dirty="0">
                <a:latin typeface="Century Gothic"/>
                <a:cs typeface="Century Gothic"/>
              </a:rPr>
              <a:t>Unlike the Euro area (where countries don’t have their own currency, and can’t run the printing press to pay off debt if necessary) the U.S. is less scary for lenders. </a:t>
            </a:r>
          </a:p>
        </p:txBody>
      </p:sp>
      <p:pic>
        <p:nvPicPr>
          <p:cNvPr id="6" name="Picture 5" descr="Screen Shot 2015-04-07 at 21.57.50.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0800" y="3733800"/>
            <a:ext cx="5449800" cy="3158407"/>
          </a:xfrm>
          <a:prstGeom prst="rect">
            <a:avLst/>
          </a:prstGeom>
        </p:spPr>
      </p:pic>
    </p:spTree>
    <p:extLst>
      <p:ext uri="{BB962C8B-B14F-4D97-AF65-F5344CB8AC3E}">
        <p14:creationId xmlns:p14="http://schemas.microsoft.com/office/powerpoint/2010/main" val="14191134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5ad1a792e7828ca492521aea17b12f2931c3dea"/>
</p:tagLst>
</file>

<file path=ppt/theme/theme1.xml><?xml version="1.0" encoding="utf-8"?>
<a:theme xmlns:a="http://schemas.openxmlformats.org/drawingml/2006/main" name="4e Krugman_Dynamic PPTs_Ch05">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Newest 2e them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Custom 1">
      <a:majorFont>
        <a:latin typeface="Garamond"/>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0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1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2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7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11_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3_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Krugman 3e Pitfalls">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Krugman 3e practic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newer Krugman 3e them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Krugman 3e business cas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8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1_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1_Krugman 3e Pitfalls">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8.xml><?xml version="1.0" encoding="utf-8"?>
<a:theme xmlns:a="http://schemas.openxmlformats.org/drawingml/2006/main" name="1_Krugman 3e practic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9.xml><?xml version="1.0" encoding="utf-8"?>
<a:theme xmlns:a="http://schemas.openxmlformats.org/drawingml/2006/main" name="2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0.xml><?xml version="1.0" encoding="utf-8"?>
<a:theme xmlns:a="http://schemas.openxmlformats.org/drawingml/2006/main" name="1_Krugman 3e business cas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2.xml><?xml version="1.0" encoding="utf-8"?>
<a:theme xmlns:a="http://schemas.openxmlformats.org/drawingml/2006/main" name="7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3.xml><?xml version="1.0" encoding="utf-8"?>
<a:theme xmlns:a="http://schemas.openxmlformats.org/drawingml/2006/main" name="1_newer Krugman 3e them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4.xml><?xml version="1.0" encoding="utf-8"?>
<a:theme xmlns:a="http://schemas.openxmlformats.org/drawingml/2006/main" name="2_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5.xml><?xml version="1.0" encoding="utf-8"?>
<a:theme xmlns:a="http://schemas.openxmlformats.org/drawingml/2006/main" name="2_Krugman 3e practic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6.xml><?xml version="1.0" encoding="utf-8"?>
<a:theme xmlns:a="http://schemas.openxmlformats.org/drawingml/2006/main" name="2_Krugman 3e Pitfalls">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newer Krugman 3e theme</Template>
  <TotalTime>13155</TotalTime>
  <Words>3300</Words>
  <Application>Microsoft Macintosh PowerPoint</Application>
  <PresentationFormat>On-screen Show (4:3)</PresentationFormat>
  <Paragraphs>302</Paragraphs>
  <Slides>54</Slides>
  <Notes>19</Notes>
  <HiddenSlides>0</HiddenSlides>
  <MMClips>0</MMClips>
  <ScaleCrop>false</ScaleCrop>
  <HeadingPairs>
    <vt:vector size="6" baseType="variant">
      <vt:variant>
        <vt:lpstr>Fonts Used</vt:lpstr>
      </vt:variant>
      <vt:variant>
        <vt:i4>10</vt:i4>
      </vt:variant>
      <vt:variant>
        <vt:lpstr>Theme</vt:lpstr>
      </vt:variant>
      <vt:variant>
        <vt:i4>26</vt:i4>
      </vt:variant>
      <vt:variant>
        <vt:lpstr>Slide Titles</vt:lpstr>
      </vt:variant>
      <vt:variant>
        <vt:i4>54</vt:i4>
      </vt:variant>
    </vt:vector>
  </HeadingPairs>
  <TitlesOfParts>
    <vt:vector size="90" baseType="lpstr">
      <vt:lpstr>Times</vt:lpstr>
      <vt:lpstr>Arial</vt:lpstr>
      <vt:lpstr>Calibri</vt:lpstr>
      <vt:lpstr>Candara</vt:lpstr>
      <vt:lpstr>Century Gothic</vt:lpstr>
      <vt:lpstr>Gill Sans</vt:lpstr>
      <vt:lpstr>Gill Sans MT</vt:lpstr>
      <vt:lpstr>Tw Cen MT</vt:lpstr>
      <vt:lpstr>Verdana</vt:lpstr>
      <vt:lpstr>Wingdings</vt:lpstr>
      <vt:lpstr>4e Krugman_Dynamic PPTs_Ch05</vt:lpstr>
      <vt:lpstr>6_Custom Design</vt:lpstr>
      <vt:lpstr>1_Newest 2e theme</vt:lpstr>
      <vt:lpstr>10_Stone ppt Theme1</vt:lpstr>
      <vt:lpstr>11_Stone ppt Theme1</vt:lpstr>
      <vt:lpstr>12_Stone ppt Theme1</vt:lpstr>
      <vt:lpstr>7_Custom Design</vt:lpstr>
      <vt:lpstr>11_Krugman 3e main content</vt:lpstr>
      <vt:lpstr>3_Krugman 3e main content</vt:lpstr>
      <vt:lpstr>Krugman 3e Pitfalls</vt:lpstr>
      <vt:lpstr>Krugman 3e main content</vt:lpstr>
      <vt:lpstr>Krugman 3e practice</vt:lpstr>
      <vt:lpstr>newer Krugman 3e theme</vt:lpstr>
      <vt:lpstr>Krugman 3e business case</vt:lpstr>
      <vt:lpstr>8_Custom Design</vt:lpstr>
      <vt:lpstr>1_Krugman 3e main content</vt:lpstr>
      <vt:lpstr>1_Krugman 3e Pitfalls</vt:lpstr>
      <vt:lpstr>1_Krugman 3e practice</vt:lpstr>
      <vt:lpstr>2_Custom Design</vt:lpstr>
      <vt:lpstr>1_Krugman 3e business case</vt:lpstr>
      <vt:lpstr>4_Custom Design</vt:lpstr>
      <vt:lpstr>7_Stone ppt Theme1</vt:lpstr>
      <vt:lpstr>1_newer Krugman 3e theme</vt:lpstr>
      <vt:lpstr>2_Krugman 3e main content</vt:lpstr>
      <vt:lpstr>2_Krugman 3e practice</vt:lpstr>
      <vt:lpstr>2_Krugman 3e Pitfalls</vt:lpstr>
      <vt:lpstr>Economics 2220 Principles Of Macroeconomics</vt:lpstr>
      <vt:lpstr>PowerPoint Presentation</vt:lpstr>
      <vt:lpstr>PowerPoint Presentation</vt:lpstr>
      <vt:lpstr>FISCAL POLICY: THE BASICS</vt:lpstr>
      <vt:lpstr>FISCAL POLICY: THE BASICS</vt:lpstr>
      <vt:lpstr>PowerPoint Presentation</vt:lpstr>
      <vt:lpstr>GOVERNMENT SPENDING IN THE U.S., 2023</vt:lpstr>
      <vt:lpstr>PowerPoint Presentation</vt:lpstr>
      <vt:lpstr>THE GOVERNMENT BUDGET AND TOTAL SPENDING</vt:lpstr>
      <vt:lpstr>FISCAL POLICY</vt:lpstr>
      <vt:lpstr>EXPANSIONARY AND CONTRACTIONARY FISCAL POLICY</vt:lpstr>
      <vt:lpstr>EXPANSIONARY FISCAL POLICY CAN  CLOSE A RECESSIONARY GAP</vt:lpstr>
      <vt:lpstr>EXPANSIONARY AND CONTRACTIONARY FISCAL POLICY</vt:lpstr>
      <vt:lpstr>CONTRACTIONARY FISCAL POLICY CAN CLOSE AN INFLATIONARY GAP</vt:lpstr>
      <vt:lpstr>PowerPoint Presentation</vt:lpstr>
      <vt:lpstr>PowerPoint Presentation</vt:lpstr>
      <vt:lpstr>PowerPoint Presentation</vt:lpstr>
      <vt:lpstr>CAN EXPANSIONARY FISCAL POLICY ACTUALLY WORK?</vt:lpstr>
      <vt:lpstr>CAN EXPANSIONARY FISCAL POLICY ACTUALLY WORK?</vt:lpstr>
      <vt:lpstr>CAN EXPANSIONARY FISCAL POLICY ACTUALLY WORK?</vt:lpstr>
      <vt:lpstr>CAN EXPANSIONARY FISCAL POLICY ACTUALLY WORK?</vt:lpstr>
      <vt:lpstr>A CAUTIONARY NOTE: LAGS IN FISCAL POLICY</vt:lpstr>
      <vt:lpstr>PowerPoint Presentation</vt:lpstr>
      <vt:lpstr>PowerPoint Presentation</vt:lpstr>
      <vt:lpstr>What Was in the Recovery Act?</vt:lpstr>
      <vt:lpstr>PowerPoint Presentation</vt:lpstr>
      <vt:lpstr>THE MULTIPLIER</vt:lpstr>
      <vt:lpstr>FISCAL POLICY AND THE MULTIPLIER</vt:lpstr>
      <vt:lpstr>FISCAL POLICY AND THE MULTIPLIER</vt:lpstr>
      <vt:lpstr>FISCAL POLICY AND THE MULTIPLIER</vt:lpstr>
      <vt:lpstr>FISCAL POLICY AND THE MULTIPLIER</vt:lpstr>
      <vt:lpstr>TYPES OF FISCAL POLICY</vt:lpstr>
      <vt:lpstr>PowerPoint Presentation</vt:lpstr>
      <vt:lpstr>PowerPoint Presentation</vt:lpstr>
      <vt:lpstr>THE BUDGET BALANCE</vt:lpstr>
      <vt:lpstr>THE BUDGET BALANCE MEASURES FISCAL POLICY</vt:lpstr>
      <vt:lpstr>THE BUDGET BALANCE AND THE BUSINESS CYCLE</vt:lpstr>
      <vt:lpstr>THE BUDGET BALANCE AND THE BUSINESS CYCLE</vt:lpstr>
      <vt:lpstr>THE BUSINESS CYCLE AND THE CYCLICALLY ADJUSTED BUDGET BALANCE</vt:lpstr>
      <vt:lpstr>WORLD WAR I WAR BOND</vt:lpstr>
      <vt:lpstr>PowerPoint Presentation</vt:lpstr>
      <vt:lpstr>PHILOSOPHIES ON BALANCING THE BUDGET</vt:lpstr>
      <vt:lpstr>Europe’s Search for a Fiscal Rule</vt:lpstr>
      <vt:lpstr>BUDGET POLICY IN THE UNITED STATES</vt:lpstr>
      <vt:lpstr>LONG-RUN IMPLICATIONS OF FISCAL POLICY</vt:lpstr>
      <vt:lpstr>THE SOCIAL COST OF DEBT</vt:lpstr>
      <vt:lpstr>PowerPoint Presentation</vt:lpstr>
      <vt:lpstr>THE AMERICAN WAY OF DEBT</vt:lpstr>
      <vt:lpstr>PROBLEMS POSED BY RISING GOVERNMENT DEBT</vt:lpstr>
      <vt:lpstr>DEFICITS AND DEBT IN PRACTICE</vt:lpstr>
      <vt:lpstr>DEFICITS AND DEBT IN PRACTICE</vt:lpstr>
      <vt:lpstr>IMPLICIT LIABILITIES</vt:lpstr>
      <vt:lpstr>IMPLICIT LIABILITIES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Solina Lindahl</dc:creator>
  <cp:keywords/>
  <dc:description/>
  <cp:lastModifiedBy>Zhigang Feng</cp:lastModifiedBy>
  <cp:revision>514</cp:revision>
  <dcterms:created xsi:type="dcterms:W3CDTF">2012-07-21T02:43:21Z</dcterms:created>
  <dcterms:modified xsi:type="dcterms:W3CDTF">2025-04-17T13:50:04Z</dcterms:modified>
  <cp:category/>
</cp:coreProperties>
</file>