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slideLayouts/slideLayout20.xml" ContentType="application/vnd.openxmlformats-officedocument.presentationml.slideLayout+xml"/>
  <Override PartName="/ppt/theme/theme7.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8.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9.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10.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700" r:id="rId2"/>
    <p:sldMasterId id="2147483704" r:id="rId3"/>
    <p:sldMasterId id="2147483708" r:id="rId4"/>
    <p:sldMasterId id="2147483711" r:id="rId5"/>
    <p:sldMasterId id="2147483714" r:id="rId6"/>
    <p:sldMasterId id="2147483717" r:id="rId7"/>
    <p:sldMasterId id="2147483719" r:id="rId8"/>
    <p:sldMasterId id="2147483811" r:id="rId9"/>
    <p:sldMasterId id="2147483871" r:id="rId10"/>
    <p:sldMasterId id="2147483884" r:id="rId11"/>
  </p:sldMasterIdLst>
  <p:notesMasterIdLst>
    <p:notesMasterId r:id="rId99"/>
  </p:notesMasterIdLst>
  <p:handoutMasterIdLst>
    <p:handoutMasterId r:id="rId100"/>
  </p:handoutMasterIdLst>
  <p:sldIdLst>
    <p:sldId id="390" r:id="rId12"/>
    <p:sldId id="319" r:id="rId13"/>
    <p:sldId id="320" r:id="rId14"/>
    <p:sldId id="321" r:id="rId15"/>
    <p:sldId id="322" r:id="rId16"/>
    <p:sldId id="323" r:id="rId17"/>
    <p:sldId id="324" r:id="rId18"/>
    <p:sldId id="325" r:id="rId19"/>
    <p:sldId id="326" r:id="rId20"/>
    <p:sldId id="327" r:id="rId21"/>
    <p:sldId id="328" r:id="rId22"/>
    <p:sldId id="386" r:id="rId23"/>
    <p:sldId id="330" r:id="rId24"/>
    <p:sldId id="331" r:id="rId25"/>
    <p:sldId id="332" r:id="rId26"/>
    <p:sldId id="333" r:id="rId27"/>
    <p:sldId id="334" r:id="rId28"/>
    <p:sldId id="387" r:id="rId29"/>
    <p:sldId id="335" r:id="rId30"/>
    <p:sldId id="336" r:id="rId31"/>
    <p:sldId id="338" r:id="rId32"/>
    <p:sldId id="339" r:id="rId33"/>
    <p:sldId id="340" r:id="rId34"/>
    <p:sldId id="341" r:id="rId35"/>
    <p:sldId id="349" r:id="rId36"/>
    <p:sldId id="350" r:id="rId37"/>
    <p:sldId id="351" r:id="rId38"/>
    <p:sldId id="352" r:id="rId39"/>
    <p:sldId id="353" r:id="rId40"/>
    <p:sldId id="354" r:id="rId41"/>
    <p:sldId id="355" r:id="rId42"/>
    <p:sldId id="356" r:id="rId43"/>
    <p:sldId id="342" r:id="rId44"/>
    <p:sldId id="343" r:id="rId45"/>
    <p:sldId id="344" r:id="rId46"/>
    <p:sldId id="346" r:id="rId47"/>
    <p:sldId id="347" r:id="rId48"/>
    <p:sldId id="348" r:id="rId49"/>
    <p:sldId id="345" r:id="rId50"/>
    <p:sldId id="388" r:id="rId51"/>
    <p:sldId id="357" r:id="rId52"/>
    <p:sldId id="358" r:id="rId53"/>
    <p:sldId id="359" r:id="rId54"/>
    <p:sldId id="360" r:id="rId55"/>
    <p:sldId id="361" r:id="rId56"/>
    <p:sldId id="362" r:id="rId57"/>
    <p:sldId id="363" r:id="rId58"/>
    <p:sldId id="364" r:id="rId59"/>
    <p:sldId id="365" r:id="rId60"/>
    <p:sldId id="366" r:id="rId61"/>
    <p:sldId id="367" r:id="rId62"/>
    <p:sldId id="368" r:id="rId63"/>
    <p:sldId id="369" r:id="rId64"/>
    <p:sldId id="370" r:id="rId65"/>
    <p:sldId id="371" r:id="rId66"/>
    <p:sldId id="392" r:id="rId67"/>
    <p:sldId id="393" r:id="rId68"/>
    <p:sldId id="394" r:id="rId69"/>
    <p:sldId id="395" r:id="rId70"/>
    <p:sldId id="396" r:id="rId71"/>
    <p:sldId id="397" r:id="rId72"/>
    <p:sldId id="398" r:id="rId73"/>
    <p:sldId id="399" r:id="rId74"/>
    <p:sldId id="400" r:id="rId75"/>
    <p:sldId id="401" r:id="rId76"/>
    <p:sldId id="337" r:id="rId77"/>
    <p:sldId id="402" r:id="rId78"/>
    <p:sldId id="403" r:id="rId79"/>
    <p:sldId id="404" r:id="rId80"/>
    <p:sldId id="405" r:id="rId81"/>
    <p:sldId id="406" r:id="rId82"/>
    <p:sldId id="372" r:id="rId83"/>
    <p:sldId id="373" r:id="rId84"/>
    <p:sldId id="374" r:id="rId85"/>
    <p:sldId id="375" r:id="rId86"/>
    <p:sldId id="376" r:id="rId87"/>
    <p:sldId id="377" r:id="rId88"/>
    <p:sldId id="378" r:id="rId89"/>
    <p:sldId id="379" r:id="rId90"/>
    <p:sldId id="380" r:id="rId91"/>
    <p:sldId id="381" r:id="rId92"/>
    <p:sldId id="382" r:id="rId93"/>
    <p:sldId id="383" r:id="rId94"/>
    <p:sldId id="384" r:id="rId95"/>
    <p:sldId id="407" r:id="rId96"/>
    <p:sldId id="385" r:id="rId97"/>
    <p:sldId id="389" r:id="rId98"/>
  </p:sldIdLst>
  <p:sldSz cx="9144000" cy="6858000" type="screen4x3"/>
  <p:notesSz cx="6858000" cy="9144000"/>
  <p:custDataLst>
    <p:tags r:id="rId10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e" initials="K" lastIdx="11" clrIdx="0"/>
  <p:cmAuthor id="1" name="Bonilla, Edgar" initials="EB" lastIdx="4" clrIdx="1"/>
  <p:cmAuthor id="2" name="Solina Lindahl" initials="SL" lastIdx="9" clrIdx="2"/>
  <p:cmAuthor id="3" name="hbadmin" initials="h"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70"/>
    <p:restoredTop sz="90925" autoAdjust="0"/>
  </p:normalViewPr>
  <p:slideViewPr>
    <p:cSldViewPr>
      <p:cViewPr varScale="1">
        <p:scale>
          <a:sx n="90" d="100"/>
          <a:sy n="90" d="100"/>
        </p:scale>
        <p:origin x="1552" y="200"/>
      </p:cViewPr>
      <p:guideLst>
        <p:guide orient="horz" pos="2160"/>
        <p:guide pos="2880"/>
      </p:guideLst>
    </p:cSldViewPr>
  </p:slideViewPr>
  <p:notesTextViewPr>
    <p:cViewPr>
      <p:scale>
        <a:sx n="1" d="1"/>
        <a:sy n="1" d="1"/>
      </p:scale>
      <p:origin x="0" y="0"/>
    </p:cViewPr>
  </p:notesTextViewPr>
  <p:notesViewPr>
    <p:cSldViewPr snapToGrid="0" snapToObjects="1">
      <p:cViewPr varScale="1">
        <p:scale>
          <a:sx n="89" d="100"/>
          <a:sy n="89" d="100"/>
        </p:scale>
        <p:origin x="-3800"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slide" Target="slides/slide73.xml"/><Relationship Id="rId89" Type="http://schemas.openxmlformats.org/officeDocument/2006/relationships/slide" Target="slides/slide78.xml"/><Relationship Id="rId16" Type="http://schemas.openxmlformats.org/officeDocument/2006/relationships/slide" Target="slides/slide5.xml"/><Relationship Id="rId11" Type="http://schemas.openxmlformats.org/officeDocument/2006/relationships/slideMaster" Target="slideMasters/slideMaster11.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102" Type="http://schemas.openxmlformats.org/officeDocument/2006/relationships/commentAuthors" Target="commentAuthors.xml"/><Relationship Id="rId5" Type="http://schemas.openxmlformats.org/officeDocument/2006/relationships/slideMaster" Target="slideMasters/slideMaster5.xml"/><Relationship Id="rId90" Type="http://schemas.openxmlformats.org/officeDocument/2006/relationships/slide" Target="slides/slide79.xml"/><Relationship Id="rId95" Type="http://schemas.openxmlformats.org/officeDocument/2006/relationships/slide" Target="slides/slide84.xml"/><Relationship Id="rId22" Type="http://schemas.openxmlformats.org/officeDocument/2006/relationships/slide" Target="slides/slide11.xml"/><Relationship Id="rId27" Type="http://schemas.openxmlformats.org/officeDocument/2006/relationships/slide" Target="slides/slide16.xml"/><Relationship Id="rId43" Type="http://schemas.openxmlformats.org/officeDocument/2006/relationships/slide" Target="slides/slide32.xml"/><Relationship Id="rId48" Type="http://schemas.openxmlformats.org/officeDocument/2006/relationships/slide" Target="slides/slide37.xml"/><Relationship Id="rId64" Type="http://schemas.openxmlformats.org/officeDocument/2006/relationships/slide" Target="slides/slide53.xml"/><Relationship Id="rId69" Type="http://schemas.openxmlformats.org/officeDocument/2006/relationships/slide" Target="slides/slide58.xml"/><Relationship Id="rId80" Type="http://schemas.openxmlformats.org/officeDocument/2006/relationships/slide" Target="slides/slide69.xml"/><Relationship Id="rId85" Type="http://schemas.openxmlformats.org/officeDocument/2006/relationships/slide" Target="slides/slide74.xml"/><Relationship Id="rId12" Type="http://schemas.openxmlformats.org/officeDocument/2006/relationships/slide" Target="slides/slide1.xml"/><Relationship Id="rId17" Type="http://schemas.openxmlformats.org/officeDocument/2006/relationships/slide" Target="slides/slide6.xml"/><Relationship Id="rId33" Type="http://schemas.openxmlformats.org/officeDocument/2006/relationships/slide" Target="slides/slide22.xml"/><Relationship Id="rId38" Type="http://schemas.openxmlformats.org/officeDocument/2006/relationships/slide" Target="slides/slide27.xml"/><Relationship Id="rId59" Type="http://schemas.openxmlformats.org/officeDocument/2006/relationships/slide" Target="slides/slide48.xml"/><Relationship Id="rId103" Type="http://schemas.openxmlformats.org/officeDocument/2006/relationships/presProps" Target="presProps.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slide" Target="slides/slide64.xml"/><Relationship Id="rId83" Type="http://schemas.openxmlformats.org/officeDocument/2006/relationships/slide" Target="slides/slide72.xml"/><Relationship Id="rId88" Type="http://schemas.openxmlformats.org/officeDocument/2006/relationships/slide" Target="slides/slide77.xml"/><Relationship Id="rId91" Type="http://schemas.openxmlformats.org/officeDocument/2006/relationships/slide" Target="slides/slide80.xml"/><Relationship Id="rId96" Type="http://schemas.openxmlformats.org/officeDocument/2006/relationships/slide" Target="slides/slide8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6" Type="http://schemas.openxmlformats.org/officeDocument/2006/relationships/tableStyles" Target="tableStyles.xml"/><Relationship Id="rId10" Type="http://schemas.openxmlformats.org/officeDocument/2006/relationships/slideMaster" Target="slideMasters/slideMaster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slide" Target="slides/slide67.xml"/><Relationship Id="rId81" Type="http://schemas.openxmlformats.org/officeDocument/2006/relationships/slide" Target="slides/slide70.xml"/><Relationship Id="rId86" Type="http://schemas.openxmlformats.org/officeDocument/2006/relationships/slide" Target="slides/slide75.xml"/><Relationship Id="rId94" Type="http://schemas.openxmlformats.org/officeDocument/2006/relationships/slide" Target="slides/slide83.xml"/><Relationship Id="rId99" Type="http://schemas.openxmlformats.org/officeDocument/2006/relationships/notesMaster" Target="notesMasters/notesMaster1.xml"/><Relationship Id="rId101"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slide" Target="slides/slide86.xml"/><Relationship Id="rId104" Type="http://schemas.openxmlformats.org/officeDocument/2006/relationships/viewProps" Target="viewProps.xml"/><Relationship Id="rId7" Type="http://schemas.openxmlformats.org/officeDocument/2006/relationships/slideMaster" Target="slideMasters/slideMaster7.xml"/><Relationship Id="rId71" Type="http://schemas.openxmlformats.org/officeDocument/2006/relationships/slide" Target="slides/slide60.xml"/><Relationship Id="rId92" Type="http://schemas.openxmlformats.org/officeDocument/2006/relationships/slide" Target="slides/slide81.xml"/><Relationship Id="rId2" Type="http://schemas.openxmlformats.org/officeDocument/2006/relationships/slideMaster" Target="slideMasters/slideMaster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61" Type="http://schemas.openxmlformats.org/officeDocument/2006/relationships/slide" Target="slides/slide50.xml"/><Relationship Id="rId82" Type="http://schemas.openxmlformats.org/officeDocument/2006/relationships/slide" Target="slides/slide71.xml"/><Relationship Id="rId19" Type="http://schemas.openxmlformats.org/officeDocument/2006/relationships/slide" Target="slides/slide8.xml"/><Relationship Id="rId14" Type="http://schemas.openxmlformats.org/officeDocument/2006/relationships/slide" Target="slides/slide3.xml"/><Relationship Id="rId30" Type="http://schemas.openxmlformats.org/officeDocument/2006/relationships/slide" Target="slides/slide19.xml"/><Relationship Id="rId35" Type="http://schemas.openxmlformats.org/officeDocument/2006/relationships/slide" Target="slides/slide24.xml"/><Relationship Id="rId56" Type="http://schemas.openxmlformats.org/officeDocument/2006/relationships/slide" Target="slides/slide45.xml"/><Relationship Id="rId77" Type="http://schemas.openxmlformats.org/officeDocument/2006/relationships/slide" Target="slides/slide66.xml"/><Relationship Id="rId100" Type="http://schemas.openxmlformats.org/officeDocument/2006/relationships/handoutMaster" Target="handoutMasters/handoutMaster1.xml"/><Relationship Id="rId105"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40.xml"/><Relationship Id="rId72" Type="http://schemas.openxmlformats.org/officeDocument/2006/relationships/slide" Target="slides/slide61.xml"/><Relationship Id="rId93" Type="http://schemas.openxmlformats.org/officeDocument/2006/relationships/slide" Target="slides/slide82.xml"/><Relationship Id="rId98" Type="http://schemas.openxmlformats.org/officeDocument/2006/relationships/slide" Target="slides/slide87.xml"/><Relationship Id="rId3" Type="http://schemas.openxmlformats.org/officeDocument/2006/relationships/slideMaster" Target="slideMasters/slideMaster3.xml"/><Relationship Id="rId25" Type="http://schemas.openxmlformats.org/officeDocument/2006/relationships/slide" Target="slides/slide14.xml"/><Relationship Id="rId46" Type="http://schemas.openxmlformats.org/officeDocument/2006/relationships/slide" Target="slides/slide35.xml"/><Relationship Id="rId6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D7D7A8-C652-304E-B365-B25232E336F2}" type="datetimeFigureOut">
              <a:rPr lang="en-US" smtClean="0"/>
              <a:t>4/28/23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5D5F51-2719-624B-AA3D-8BBD63EA2CE0}" type="slidenum">
              <a:rPr lang="en-US" smtClean="0"/>
              <a:t>‹#›</a:t>
            </a:fld>
            <a:endParaRPr lang="en-US"/>
          </a:p>
        </p:txBody>
      </p:sp>
    </p:spTree>
    <p:extLst>
      <p:ext uri="{BB962C8B-B14F-4D97-AF65-F5344CB8AC3E}">
        <p14:creationId xmlns:p14="http://schemas.microsoft.com/office/powerpoint/2010/main" val="16155971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C7F735-3B07-40E0-90B2-09F3232ABD28}" type="datetimeFigureOut">
              <a:rPr lang="en-US" smtClean="0"/>
              <a:t>4/28/23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4470D8-1F41-4A2B-8AFF-DD19730E7B38}" type="slidenum">
              <a:rPr lang="en-US" smtClean="0"/>
              <a:t>‹#›</a:t>
            </a:fld>
            <a:endParaRPr lang="en-US"/>
          </a:p>
        </p:txBody>
      </p:sp>
    </p:spTree>
    <p:extLst>
      <p:ext uri="{BB962C8B-B14F-4D97-AF65-F5344CB8AC3E}">
        <p14:creationId xmlns:p14="http://schemas.microsoft.com/office/powerpoint/2010/main" val="413475513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a:t>
            </a:r>
            <a:r>
              <a:rPr lang="en-US" baseline="0" dirty="0"/>
              <a:t> courtesy: Anna </a:t>
            </a:r>
            <a:r>
              <a:rPr lang="en-US" baseline="0" dirty="0" err="1"/>
              <a:t>Delaw</a:t>
            </a:r>
            <a:r>
              <a:rPr lang="en-US" baseline="0" dirty="0"/>
              <a:t>/</a:t>
            </a:r>
            <a:r>
              <a:rPr lang="en-US" baseline="0" dirty="0" err="1"/>
              <a:t>Alamy</a:t>
            </a:r>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3</a:t>
            </a:fld>
            <a:endParaRPr lang="en-US"/>
          </a:p>
        </p:txBody>
      </p:sp>
    </p:spTree>
    <p:extLst>
      <p:ext uri="{BB962C8B-B14F-4D97-AF65-F5344CB8AC3E}">
        <p14:creationId xmlns:p14="http://schemas.microsoft.com/office/powerpoint/2010/main" val="2723903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4</a:t>
            </a:fld>
            <a:endParaRPr lang="en-US"/>
          </a:p>
        </p:txBody>
      </p:sp>
    </p:spTree>
    <p:extLst>
      <p:ext uri="{BB962C8B-B14F-4D97-AF65-F5344CB8AC3E}">
        <p14:creationId xmlns:p14="http://schemas.microsoft.com/office/powerpoint/2010/main" val="1266684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5</a:t>
            </a:fld>
            <a:endParaRPr lang="en-US"/>
          </a:p>
        </p:txBody>
      </p:sp>
    </p:spTree>
    <p:extLst>
      <p:ext uri="{BB962C8B-B14F-4D97-AF65-F5344CB8AC3E}">
        <p14:creationId xmlns:p14="http://schemas.microsoft.com/office/powerpoint/2010/main" val="4051248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6</a:t>
            </a:fld>
            <a:endParaRPr lang="en-US"/>
          </a:p>
        </p:txBody>
      </p:sp>
    </p:spTree>
    <p:extLst>
      <p:ext uri="{BB962C8B-B14F-4D97-AF65-F5344CB8AC3E}">
        <p14:creationId xmlns:p14="http://schemas.microsoft.com/office/powerpoint/2010/main" val="2162126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7</a:t>
            </a:fld>
            <a:endParaRPr lang="en-US"/>
          </a:p>
        </p:txBody>
      </p:sp>
    </p:spTree>
    <p:extLst>
      <p:ext uri="{BB962C8B-B14F-4D97-AF65-F5344CB8AC3E}">
        <p14:creationId xmlns:p14="http://schemas.microsoft.com/office/powerpoint/2010/main" val="3410678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14A9620-5769-4AC5-B589-6AE40C36FF2B}" type="slidenum">
              <a:rPr lang="en-US">
                <a:solidFill>
                  <a:prstClr val="black"/>
                </a:solidFill>
                <a:latin typeface="Calibri"/>
              </a:rPr>
              <a:pPr fontAlgn="base">
                <a:spcBef>
                  <a:spcPct val="0"/>
                </a:spcBef>
                <a:spcAft>
                  <a:spcPct val="0"/>
                </a:spcAft>
              </a:pPr>
              <a:t>8</a:t>
            </a:fld>
            <a:endParaRPr lang="en-US" dirty="0">
              <a:solidFill>
                <a:prstClr val="black"/>
              </a:solidFill>
              <a:latin typeface="Calibri"/>
            </a:endParaRPr>
          </a:p>
        </p:txBody>
      </p:sp>
      <p:sp>
        <p:nvSpPr>
          <p:cNvPr id="7782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782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pPr>
              <a:spcBef>
                <a:spcPct val="0"/>
              </a:spcBef>
            </a:pP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9</a:t>
            </a:fld>
            <a:endParaRPr lang="en-US"/>
          </a:p>
        </p:txBody>
      </p:sp>
    </p:spTree>
    <p:extLst>
      <p:ext uri="{BB962C8B-B14F-4D97-AF65-F5344CB8AC3E}">
        <p14:creationId xmlns:p14="http://schemas.microsoft.com/office/powerpoint/2010/main" val="2676318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10</a:t>
            </a:fld>
            <a:endParaRPr lang="en-US"/>
          </a:p>
        </p:txBody>
      </p:sp>
    </p:spTree>
    <p:extLst>
      <p:ext uri="{BB962C8B-B14F-4D97-AF65-F5344CB8AC3E}">
        <p14:creationId xmlns:p14="http://schemas.microsoft.com/office/powerpoint/2010/main" val="1317024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11</a:t>
            </a:fld>
            <a:endParaRPr lang="en-US"/>
          </a:p>
        </p:txBody>
      </p:sp>
    </p:spTree>
    <p:extLst>
      <p:ext uri="{BB962C8B-B14F-4D97-AF65-F5344CB8AC3E}">
        <p14:creationId xmlns:p14="http://schemas.microsoft.com/office/powerpoint/2010/main" val="3541885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mn-ea"/>
                <a:cs typeface="+mn-cs"/>
              </a:rPr>
              <a:t>All photo credits unless otherwise noted from </a:t>
            </a:r>
            <a:r>
              <a:rPr lang="en-US" sz="1300" kern="1200" dirty="0" err="1">
                <a:solidFill>
                  <a:schemeClr val="tx1"/>
                </a:solidFill>
                <a:latin typeface="+mn-lt"/>
                <a:ea typeface="+mn-ea"/>
                <a:cs typeface="+mn-cs"/>
              </a:rPr>
              <a:t>Freeimages.com</a:t>
            </a:r>
            <a:r>
              <a:rPr lang="en-US" sz="1300" kern="1200" dirty="0">
                <a:solidFill>
                  <a:schemeClr val="tx1"/>
                </a:solidFill>
                <a:latin typeface="+mn-lt"/>
                <a:ea typeface="+mn-ea"/>
                <a:cs typeface="+mn-cs"/>
              </a:rPr>
              <a:t> (Formerly </a:t>
            </a:r>
            <a:r>
              <a:rPr lang="en-US" sz="1300" kern="1200" dirty="0" err="1">
                <a:solidFill>
                  <a:schemeClr val="tx1"/>
                </a:solidFill>
                <a:latin typeface="+mn-lt"/>
                <a:ea typeface="+mn-ea"/>
                <a:cs typeface="+mn-cs"/>
              </a:rPr>
              <a:t>Stockxchange</a:t>
            </a:r>
            <a:r>
              <a:rPr lang="en-US" sz="1300" kern="1200" dirty="0">
                <a:solidFill>
                  <a:schemeClr val="tx1"/>
                </a:solidFill>
                <a:latin typeface="+mn-lt"/>
                <a:ea typeface="+mn-ea"/>
                <a:cs typeface="+mn-cs"/>
              </a:rPr>
              <a:t>) or </a:t>
            </a:r>
            <a:r>
              <a:rPr lang="en-US" sz="1300" kern="1200" dirty="0" err="1">
                <a:solidFill>
                  <a:schemeClr val="tx1"/>
                </a:solidFill>
                <a:latin typeface="+mn-lt"/>
                <a:ea typeface="+mn-ea"/>
                <a:cs typeface="+mn-cs"/>
              </a:rPr>
              <a:t>Morguefile.com</a:t>
            </a:r>
            <a:endParaRPr lang="en-US" dirty="0"/>
          </a:p>
          <a:p>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12</a:t>
            </a:fld>
            <a:endParaRPr lang="en-US"/>
          </a:p>
        </p:txBody>
      </p:sp>
    </p:spTree>
    <p:extLst>
      <p:ext uri="{BB962C8B-B14F-4D97-AF65-F5344CB8AC3E}">
        <p14:creationId xmlns:p14="http://schemas.microsoft.com/office/powerpoint/2010/main" val="1243202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courtesy</a:t>
            </a:r>
            <a:r>
              <a:rPr lang="en-US" baseline="0" dirty="0"/>
              <a:t> Library of Congress</a:t>
            </a:r>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13</a:t>
            </a:fld>
            <a:endParaRPr lang="en-US"/>
          </a:p>
        </p:txBody>
      </p:sp>
    </p:spTree>
    <p:extLst>
      <p:ext uri="{BB962C8B-B14F-4D97-AF65-F5344CB8AC3E}">
        <p14:creationId xmlns:p14="http://schemas.microsoft.com/office/powerpoint/2010/main" val="1143845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Image courtesy</a:t>
            </a:r>
            <a:r>
              <a:rPr lang="en-US" baseline="0" dirty="0"/>
              <a:t> Library of Congress</a:t>
            </a:r>
            <a:endParaRPr lang="en-US" dirty="0"/>
          </a:p>
          <a:p>
            <a:pPr eaLnBrk="1" hangingPunct="1"/>
            <a:endParaRPr lang="en-US" dirty="0"/>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02B7249-3C1A-41BC-B351-D2E769906A5A}" type="slidenum">
              <a:rPr lang="en-US" smtClean="0">
                <a:solidFill>
                  <a:prstClr val="black"/>
                </a:solidFill>
              </a:rPr>
              <a:pPr eaLnBrk="1" hangingPunct="1"/>
              <a:t>14</a:t>
            </a:fld>
            <a:endParaRPr lang="en-US" dirty="0">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Image courtesy</a:t>
            </a:r>
            <a:r>
              <a:rPr lang="en-US" baseline="0" dirty="0"/>
              <a:t> Library of Congress</a:t>
            </a:r>
            <a:endParaRPr lang="en-US" dirty="0"/>
          </a:p>
          <a:p>
            <a:pPr eaLnBrk="1" hangingPunct="1"/>
            <a:endParaRPr lang="en-US" dirty="0"/>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CBA6B09-B82F-4A59-A2FA-942ACBD92649}" type="slidenum">
              <a:rPr lang="en-US" smtClean="0">
                <a:solidFill>
                  <a:prstClr val="black"/>
                </a:solidFill>
              </a:rPr>
              <a:pPr eaLnBrk="1" hangingPunct="1"/>
              <a:t>15</a:t>
            </a:fld>
            <a:endParaRPr lang="en-US" dirty="0">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p:spPr>
      </p:sp>
      <p:sp>
        <p:nvSpPr>
          <p:cNvPr id="78851"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pPr>
              <a:spcBef>
                <a:spcPct val="0"/>
              </a:spcBef>
            </a:pPr>
            <a:endParaRPr lang="en-US" dirty="0"/>
          </a:p>
        </p:txBody>
      </p:sp>
      <p:sp>
        <p:nvSpPr>
          <p:cNvPr id="788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70BA021-735C-4F06-8AB1-E506534A8E1C}" type="slidenum">
              <a:rPr lang="en-US">
                <a:solidFill>
                  <a:prstClr val="black"/>
                </a:solidFill>
                <a:latin typeface="Calibri"/>
              </a:rPr>
              <a:pPr fontAlgn="base">
                <a:spcBef>
                  <a:spcPct val="0"/>
                </a:spcBef>
                <a:spcAft>
                  <a:spcPct val="0"/>
                </a:spcAft>
              </a:pPr>
              <a:t>16</a:t>
            </a:fld>
            <a:endParaRPr lang="en-US" dirty="0">
              <a:solidFill>
                <a:prstClr val="black"/>
              </a:solidFill>
              <a:latin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17</a:t>
            </a:fld>
            <a:endParaRPr lang="en-US"/>
          </a:p>
        </p:txBody>
      </p:sp>
    </p:spTree>
    <p:extLst>
      <p:ext uri="{BB962C8B-B14F-4D97-AF65-F5344CB8AC3E}">
        <p14:creationId xmlns:p14="http://schemas.microsoft.com/office/powerpoint/2010/main" val="37027767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F0F4B7-C1EE-4B1A-9EF3-C63E3FC08B30}" type="slidenum">
              <a:rPr lang="en-US">
                <a:solidFill>
                  <a:prstClr val="black"/>
                </a:solidFill>
                <a:latin typeface="Calibri"/>
              </a:rPr>
              <a:pPr/>
              <a:t>19</a:t>
            </a:fld>
            <a:endParaRPr lang="en-US" dirty="0">
              <a:solidFill>
                <a:prstClr val="black"/>
              </a:solidFill>
              <a:latin typeface="Calibri"/>
            </a:endParaRPr>
          </a:p>
        </p:txBody>
      </p:sp>
      <p:sp>
        <p:nvSpPr>
          <p:cNvPr id="529410" name="Rectangle 2"/>
          <p:cNvSpPr>
            <a:spLocks noGrp="1" noRot="1" noChangeAspect="1" noChangeArrowheads="1" noTextEdit="1"/>
          </p:cNvSpPr>
          <p:nvPr>
            <p:ph type="sldImg"/>
          </p:nvPr>
        </p:nvSpPr>
        <p:spPr>
          <a:ln/>
        </p:spPr>
      </p:sp>
      <p:sp>
        <p:nvSpPr>
          <p:cNvPr id="52941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a:p>
        </p:txBody>
      </p:sp>
      <p:sp>
        <p:nvSpPr>
          <p:cNvPr id="17203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C1C2520-60A2-4B78-B1F4-66926969F3C8}" type="slidenum">
              <a:rPr lang="en-US" smtClean="0">
                <a:solidFill>
                  <a:prstClr val="black"/>
                </a:solidFill>
                <a:latin typeface="Calibri"/>
              </a:rPr>
              <a:pPr fontAlgn="base">
                <a:spcBef>
                  <a:spcPct val="0"/>
                </a:spcBef>
                <a:spcAft>
                  <a:spcPct val="0"/>
                </a:spcAft>
                <a:defRPr/>
              </a:pPr>
              <a:t>20</a:t>
            </a:fld>
            <a:endParaRPr lang="en-US" dirty="0">
              <a:solidFill>
                <a:prstClr val="black"/>
              </a:solidFill>
              <a:latin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21</a:t>
            </a:fld>
            <a:endParaRPr lang="en-US"/>
          </a:p>
        </p:txBody>
      </p:sp>
    </p:spTree>
    <p:extLst>
      <p:ext uri="{BB962C8B-B14F-4D97-AF65-F5344CB8AC3E}">
        <p14:creationId xmlns:p14="http://schemas.microsoft.com/office/powerpoint/2010/main" val="1385034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22</a:t>
            </a:fld>
            <a:endParaRPr lang="en-US"/>
          </a:p>
        </p:txBody>
      </p:sp>
    </p:spTree>
    <p:extLst>
      <p:ext uri="{BB962C8B-B14F-4D97-AF65-F5344CB8AC3E}">
        <p14:creationId xmlns:p14="http://schemas.microsoft.com/office/powerpoint/2010/main" val="15058307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93831FFF-549D-47CB-BD81-3A0F09A06E3C}" type="slidenum">
              <a:rPr lang="en-US">
                <a:solidFill>
                  <a:prstClr val="black"/>
                </a:solidFill>
                <a:latin typeface="Calibri"/>
              </a:rPr>
              <a:pPr fontAlgn="base">
                <a:spcBef>
                  <a:spcPct val="0"/>
                </a:spcBef>
                <a:spcAft>
                  <a:spcPct val="0"/>
                </a:spcAft>
              </a:pPr>
              <a:t>24</a:t>
            </a:fld>
            <a:endParaRPr lang="en-US" dirty="0">
              <a:solidFill>
                <a:prstClr val="black"/>
              </a:solidFill>
              <a:latin typeface="Calibri"/>
            </a:endParaRPr>
          </a:p>
        </p:txBody>
      </p:sp>
      <p:sp>
        <p:nvSpPr>
          <p:cNvPr id="901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01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pPr>
              <a:spcBef>
                <a:spcPct val="0"/>
              </a:spcBef>
            </a:pPr>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E3C636-A362-45D5-9427-C4C793478548}" type="slidenum">
              <a:rPr lang="en-US">
                <a:solidFill>
                  <a:prstClr val="black"/>
                </a:solidFill>
                <a:latin typeface="Calibri"/>
              </a:rPr>
              <a:pPr/>
              <a:t>25</a:t>
            </a:fld>
            <a:endParaRPr lang="en-US" dirty="0">
              <a:solidFill>
                <a:prstClr val="black"/>
              </a:solidFill>
              <a:latin typeface="Calibri"/>
            </a:endParaRPr>
          </a:p>
        </p:txBody>
      </p:sp>
      <p:sp>
        <p:nvSpPr>
          <p:cNvPr id="455682" name="Rectangle 2"/>
          <p:cNvSpPr>
            <a:spLocks noGrp="1" noRot="1" noChangeAspect="1" noChangeArrowheads="1" noTextEdit="1"/>
          </p:cNvSpPr>
          <p:nvPr>
            <p:ph type="sldImg"/>
          </p:nvPr>
        </p:nvSpPr>
        <p:spPr>
          <a:ln/>
        </p:spPr>
      </p:sp>
      <p:sp>
        <p:nvSpPr>
          <p:cNvPr id="45568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8364109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2A4C4C-94F4-44EF-BEFE-C50827C2DC85}" type="slidenum">
              <a:rPr lang="en-US">
                <a:solidFill>
                  <a:prstClr val="black"/>
                </a:solidFill>
                <a:latin typeface="Calibri"/>
              </a:rPr>
              <a:pPr/>
              <a:t>26</a:t>
            </a:fld>
            <a:endParaRPr lang="en-US" dirty="0">
              <a:solidFill>
                <a:prstClr val="black"/>
              </a:solidFill>
              <a:latin typeface="Calibri"/>
            </a:endParaRPr>
          </a:p>
        </p:txBody>
      </p:sp>
      <p:sp>
        <p:nvSpPr>
          <p:cNvPr id="459778" name="Rectangle 2"/>
          <p:cNvSpPr>
            <a:spLocks noGrp="1" noRot="1" noChangeAspect="1" noChangeArrowheads="1" noTextEdit="1"/>
          </p:cNvSpPr>
          <p:nvPr>
            <p:ph type="sldImg"/>
          </p:nvPr>
        </p:nvSpPr>
        <p:spPr>
          <a:ln/>
        </p:spPr>
      </p:sp>
      <p:sp>
        <p:nvSpPr>
          <p:cNvPr id="45977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688662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988215-86DA-4FD4-B505-F12A441823C1}" type="slidenum">
              <a:rPr lang="en-US">
                <a:solidFill>
                  <a:prstClr val="black"/>
                </a:solidFill>
                <a:latin typeface="Calibri"/>
              </a:rPr>
              <a:pPr/>
              <a:t>30</a:t>
            </a:fld>
            <a:endParaRPr lang="en-US" dirty="0">
              <a:solidFill>
                <a:prstClr val="black"/>
              </a:solidFill>
              <a:latin typeface="Calibri"/>
            </a:endParaRPr>
          </a:p>
        </p:txBody>
      </p:sp>
      <p:sp>
        <p:nvSpPr>
          <p:cNvPr id="463874" name="Rectangle 2"/>
          <p:cNvSpPr>
            <a:spLocks noGrp="1" noRot="1" noChangeAspect="1" noChangeArrowheads="1" noTextEdit="1"/>
          </p:cNvSpPr>
          <p:nvPr>
            <p:ph type="sldImg"/>
          </p:nvPr>
        </p:nvSpPr>
        <p:spPr>
          <a:ln/>
        </p:spPr>
      </p:sp>
      <p:sp>
        <p:nvSpPr>
          <p:cNvPr id="46387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969127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31</a:t>
            </a:fld>
            <a:endParaRPr lang="en-US"/>
          </a:p>
        </p:txBody>
      </p:sp>
    </p:spTree>
    <p:extLst>
      <p:ext uri="{BB962C8B-B14F-4D97-AF65-F5344CB8AC3E}">
        <p14:creationId xmlns:p14="http://schemas.microsoft.com/office/powerpoint/2010/main" val="41402530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32</a:t>
            </a:fld>
            <a:endParaRPr lang="en-US"/>
          </a:p>
        </p:txBody>
      </p:sp>
    </p:spTree>
    <p:extLst>
      <p:ext uri="{BB962C8B-B14F-4D97-AF65-F5344CB8AC3E}">
        <p14:creationId xmlns:p14="http://schemas.microsoft.com/office/powerpoint/2010/main" val="32468016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724F063-E827-4489-8268-E27875BA21B5}" type="slidenum">
              <a:rPr lang="en-US">
                <a:solidFill>
                  <a:prstClr val="black"/>
                </a:solidFill>
                <a:latin typeface="Calibri"/>
              </a:rPr>
              <a:pPr fontAlgn="base">
                <a:spcBef>
                  <a:spcPct val="0"/>
                </a:spcBef>
                <a:spcAft>
                  <a:spcPct val="0"/>
                </a:spcAft>
              </a:pPr>
              <a:t>33</a:t>
            </a:fld>
            <a:endParaRPr lang="en-US" dirty="0">
              <a:solidFill>
                <a:prstClr val="black"/>
              </a:solidFill>
              <a:latin typeface="Calibri"/>
            </a:endParaRPr>
          </a:p>
        </p:txBody>
      </p:sp>
      <p:sp>
        <p:nvSpPr>
          <p:cNvPr id="911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11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pPr>
              <a:spcBef>
                <a:spcPct val="0"/>
              </a:spcBef>
            </a:pPr>
            <a:endParaRPr lang="en-US" dirty="0"/>
          </a:p>
        </p:txBody>
      </p:sp>
    </p:spTree>
    <p:extLst>
      <p:ext uri="{BB962C8B-B14F-4D97-AF65-F5344CB8AC3E}">
        <p14:creationId xmlns:p14="http://schemas.microsoft.com/office/powerpoint/2010/main" val="4597850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courtesy Library of Congress</a:t>
            </a:r>
          </a:p>
        </p:txBody>
      </p:sp>
      <p:sp>
        <p:nvSpPr>
          <p:cNvPr id="4" name="Slide Number Placeholder 3"/>
          <p:cNvSpPr>
            <a:spLocks noGrp="1"/>
          </p:cNvSpPr>
          <p:nvPr>
            <p:ph type="sldNum" sz="quarter" idx="10"/>
          </p:nvPr>
        </p:nvSpPr>
        <p:spPr/>
        <p:txBody>
          <a:bodyPr/>
          <a:lstStyle/>
          <a:p>
            <a:fld id="{6C4470D8-1F41-4A2B-8AFF-DD19730E7B38}" type="slidenum">
              <a:rPr lang="en-US" smtClean="0"/>
              <a:t>34</a:t>
            </a:fld>
            <a:endParaRPr lang="en-US"/>
          </a:p>
        </p:txBody>
      </p:sp>
    </p:spTree>
    <p:extLst>
      <p:ext uri="{BB962C8B-B14F-4D97-AF65-F5344CB8AC3E}">
        <p14:creationId xmlns:p14="http://schemas.microsoft.com/office/powerpoint/2010/main" val="21883687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35</a:t>
            </a:fld>
            <a:endParaRPr lang="en-US"/>
          </a:p>
        </p:txBody>
      </p:sp>
    </p:spTree>
    <p:extLst>
      <p:ext uri="{BB962C8B-B14F-4D97-AF65-F5344CB8AC3E}">
        <p14:creationId xmlns:p14="http://schemas.microsoft.com/office/powerpoint/2010/main" val="24752642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39</a:t>
            </a:fld>
            <a:endParaRPr lang="en-US"/>
          </a:p>
        </p:txBody>
      </p:sp>
    </p:spTree>
    <p:extLst>
      <p:ext uri="{BB962C8B-B14F-4D97-AF65-F5344CB8AC3E}">
        <p14:creationId xmlns:p14="http://schemas.microsoft.com/office/powerpoint/2010/main" val="41761874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80E506-FC8E-4240-ADF9-8709FE8CF21F}" type="slidenum">
              <a:rPr lang="en-US">
                <a:solidFill>
                  <a:prstClr val="black"/>
                </a:solidFill>
                <a:latin typeface="Calibri"/>
              </a:rPr>
              <a:pPr/>
              <a:t>41</a:t>
            </a:fld>
            <a:endParaRPr lang="en-US" dirty="0">
              <a:solidFill>
                <a:prstClr val="black"/>
              </a:solidFill>
              <a:latin typeface="Calibri"/>
            </a:endParaRPr>
          </a:p>
        </p:txBody>
      </p:sp>
      <p:sp>
        <p:nvSpPr>
          <p:cNvPr id="465922" name="Rectangle 2"/>
          <p:cNvSpPr>
            <a:spLocks noGrp="1" noRot="1" noChangeAspect="1" noChangeArrowheads="1" noTextEdit="1"/>
          </p:cNvSpPr>
          <p:nvPr>
            <p:ph type="sldImg"/>
          </p:nvPr>
        </p:nvSpPr>
        <p:spPr>
          <a:ln/>
        </p:spPr>
      </p:sp>
      <p:sp>
        <p:nvSpPr>
          <p:cNvPr id="465923" name="Rectangle 3"/>
          <p:cNvSpPr>
            <a:spLocks noGrp="1" noChangeArrowheads="1"/>
          </p:cNvSpPr>
          <p:nvPr>
            <p:ph type="body" idx="1"/>
          </p:nvPr>
        </p:nvSpPr>
        <p:spPr/>
        <p:txBody>
          <a:bodyPr/>
          <a:lstStyle/>
          <a:p>
            <a:r>
              <a:rPr lang="en-US" dirty="0"/>
              <a:t>Image: public domain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8621B5-1B34-4405-9A7A-47FBBC5A9F19}" type="slidenum">
              <a:rPr lang="en-US">
                <a:solidFill>
                  <a:prstClr val="black"/>
                </a:solidFill>
                <a:latin typeface="Calibri"/>
              </a:rPr>
              <a:pPr/>
              <a:t>42</a:t>
            </a:fld>
            <a:endParaRPr lang="en-US" dirty="0">
              <a:solidFill>
                <a:prstClr val="black"/>
              </a:solidFill>
              <a:latin typeface="Calibri"/>
            </a:endParaRPr>
          </a:p>
        </p:txBody>
      </p:sp>
      <p:sp>
        <p:nvSpPr>
          <p:cNvPr id="478210" name="Rectangle 2"/>
          <p:cNvSpPr>
            <a:spLocks noGrp="1" noRot="1" noChangeAspect="1" noChangeArrowheads="1" noTextEdit="1"/>
          </p:cNvSpPr>
          <p:nvPr>
            <p:ph type="sldImg"/>
          </p:nvPr>
        </p:nvSpPr>
        <p:spPr>
          <a:ln/>
        </p:spPr>
      </p:sp>
      <p:sp>
        <p:nvSpPr>
          <p:cNvPr id="47821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805F64-1DEF-4913-9844-E1D36C7A8DC4}" type="slidenum">
              <a:rPr lang="en-US">
                <a:solidFill>
                  <a:prstClr val="black"/>
                </a:solidFill>
                <a:latin typeface="Calibri"/>
              </a:rPr>
              <a:pPr/>
              <a:t>43</a:t>
            </a:fld>
            <a:endParaRPr lang="en-US" dirty="0">
              <a:solidFill>
                <a:prstClr val="black"/>
              </a:solidFill>
              <a:latin typeface="Calibri"/>
            </a:endParaRPr>
          </a:p>
        </p:txBody>
      </p:sp>
      <p:sp>
        <p:nvSpPr>
          <p:cNvPr id="467970" name="Rectangle 2"/>
          <p:cNvSpPr>
            <a:spLocks noGrp="1" noRot="1" noChangeAspect="1" noChangeArrowheads="1" noTextEdit="1"/>
          </p:cNvSpPr>
          <p:nvPr>
            <p:ph type="sldImg"/>
          </p:nvPr>
        </p:nvSpPr>
        <p:spPr>
          <a:ln/>
        </p:spPr>
      </p:sp>
      <p:sp>
        <p:nvSpPr>
          <p:cNvPr id="46797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45</a:t>
            </a:fld>
            <a:endParaRPr lang="en-US"/>
          </a:p>
        </p:txBody>
      </p:sp>
    </p:spTree>
    <p:extLst>
      <p:ext uri="{BB962C8B-B14F-4D97-AF65-F5344CB8AC3E}">
        <p14:creationId xmlns:p14="http://schemas.microsoft.com/office/powerpoint/2010/main" val="7375362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eaLnBrk="1" fontAlgn="auto" hangingPunct="1">
              <a:spcBef>
                <a:spcPts val="0"/>
              </a:spcBef>
              <a:spcAft>
                <a:spcPts val="0"/>
              </a:spcAft>
              <a:defRPr/>
            </a:pPr>
            <a:endParaRPr lang="en-US" dirty="0"/>
          </a:p>
        </p:txBody>
      </p:sp>
      <p:sp>
        <p:nvSpPr>
          <p:cNvPr id="13414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63522DA-AA01-4EA2-9AFE-585954337BC3}" type="slidenum">
              <a:rPr lang="en-US" smtClean="0">
                <a:solidFill>
                  <a:prstClr val="black"/>
                </a:solidFill>
                <a:latin typeface="Calibri"/>
              </a:rPr>
              <a:pPr fontAlgn="base">
                <a:spcBef>
                  <a:spcPct val="0"/>
                </a:spcBef>
                <a:spcAft>
                  <a:spcPct val="0"/>
                </a:spcAft>
                <a:defRPr/>
              </a:pPr>
              <a:t>46</a:t>
            </a:fld>
            <a:endParaRPr lang="en-US" dirty="0">
              <a:solidFill>
                <a:prstClr val="black"/>
              </a:solidFill>
              <a:latin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a:t>
            </a:r>
            <a:r>
              <a:rPr lang="en-US" baseline="0" dirty="0"/>
              <a:t> public domain</a:t>
            </a:r>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48</a:t>
            </a:fld>
            <a:endParaRPr lang="en-US"/>
          </a:p>
        </p:txBody>
      </p:sp>
    </p:spTree>
    <p:extLst>
      <p:ext uri="{BB962C8B-B14F-4D97-AF65-F5344CB8AC3E}">
        <p14:creationId xmlns:p14="http://schemas.microsoft.com/office/powerpoint/2010/main" val="4071543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4F6CEB-5CD0-43D3-A34F-98804F5FE6FF}" type="slidenum">
              <a:rPr lang="en-US">
                <a:solidFill>
                  <a:prstClr val="black"/>
                </a:solidFill>
                <a:latin typeface="Calibri"/>
              </a:rPr>
              <a:pPr/>
              <a:t>49</a:t>
            </a:fld>
            <a:endParaRPr lang="en-US" dirty="0">
              <a:solidFill>
                <a:prstClr val="black"/>
              </a:solidFill>
              <a:latin typeface="Calibri"/>
            </a:endParaRPr>
          </a:p>
        </p:txBody>
      </p:sp>
      <p:sp>
        <p:nvSpPr>
          <p:cNvPr id="470018" name="Rectangle 2"/>
          <p:cNvSpPr>
            <a:spLocks noGrp="1" noRot="1" noChangeAspect="1" noChangeArrowheads="1" noTextEdit="1"/>
          </p:cNvSpPr>
          <p:nvPr>
            <p:ph type="sldImg"/>
          </p:nvPr>
        </p:nvSpPr>
        <p:spPr>
          <a:ln/>
        </p:spPr>
      </p:sp>
      <p:sp>
        <p:nvSpPr>
          <p:cNvPr id="4700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50</a:t>
            </a:fld>
            <a:endParaRPr lang="en-US"/>
          </a:p>
        </p:txBody>
      </p:sp>
    </p:spTree>
    <p:extLst>
      <p:ext uri="{BB962C8B-B14F-4D97-AF65-F5344CB8AC3E}">
        <p14:creationId xmlns:p14="http://schemas.microsoft.com/office/powerpoint/2010/main" val="36297345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521973-E987-4937-87B5-3B5976F90114}" type="slidenum">
              <a:rPr lang="en-US">
                <a:solidFill>
                  <a:prstClr val="black"/>
                </a:solidFill>
                <a:latin typeface="Calibri"/>
              </a:rPr>
              <a:pPr/>
              <a:t>51</a:t>
            </a:fld>
            <a:endParaRPr lang="en-US" dirty="0">
              <a:solidFill>
                <a:prstClr val="black"/>
              </a:solidFill>
              <a:latin typeface="Calibri"/>
            </a:endParaRPr>
          </a:p>
        </p:txBody>
      </p:sp>
      <p:sp>
        <p:nvSpPr>
          <p:cNvPr id="472066" name="Rectangle 2"/>
          <p:cNvSpPr>
            <a:spLocks noGrp="1" noRot="1" noChangeAspect="1" noChangeArrowheads="1" noTextEdit="1"/>
          </p:cNvSpPr>
          <p:nvPr>
            <p:ph type="sldImg"/>
          </p:nvPr>
        </p:nvSpPr>
        <p:spPr>
          <a:ln/>
        </p:spPr>
      </p:sp>
      <p:sp>
        <p:nvSpPr>
          <p:cNvPr id="472067" name="Rectangle 3"/>
          <p:cNvSpPr>
            <a:spLocks noGrp="1" noChangeArrowheads="1"/>
          </p:cNvSpPr>
          <p:nvPr>
            <p:ph type="body" idx="1"/>
          </p:nvPr>
        </p:nvSpPr>
        <p:spPr/>
        <p:txBody>
          <a:bodyPr/>
          <a:lstStyle/>
          <a:p>
            <a:r>
              <a:rPr lang="en-US" dirty="0"/>
              <a:t>.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521973-E987-4937-87B5-3B5976F90114}" type="slidenum">
              <a:rPr lang="en-US">
                <a:solidFill>
                  <a:prstClr val="black"/>
                </a:solidFill>
                <a:latin typeface="Calibri"/>
              </a:rPr>
              <a:pPr/>
              <a:t>52</a:t>
            </a:fld>
            <a:endParaRPr lang="en-US" dirty="0">
              <a:solidFill>
                <a:prstClr val="black"/>
              </a:solidFill>
              <a:latin typeface="Calibri"/>
            </a:endParaRPr>
          </a:p>
        </p:txBody>
      </p:sp>
      <p:sp>
        <p:nvSpPr>
          <p:cNvPr id="472066" name="Rectangle 2"/>
          <p:cNvSpPr>
            <a:spLocks noGrp="1" noRot="1" noChangeAspect="1" noChangeArrowheads="1" noTextEdit="1"/>
          </p:cNvSpPr>
          <p:nvPr>
            <p:ph type="sldImg"/>
          </p:nvPr>
        </p:nvSpPr>
        <p:spPr>
          <a:ln/>
        </p:spPr>
      </p:sp>
      <p:sp>
        <p:nvSpPr>
          <p:cNvPr id="472067" name="Rectangle 3"/>
          <p:cNvSpPr>
            <a:spLocks noGrp="1" noChangeArrowheads="1"/>
          </p:cNvSpPr>
          <p:nvPr>
            <p:ph type="body" idx="1"/>
          </p:nvPr>
        </p:nvSpPr>
        <p:spPr/>
        <p:txBody>
          <a:bodyPr/>
          <a:lstStyle/>
          <a:p>
            <a:r>
              <a:rPr lang="en-US" dirty="0"/>
              <a:t>. </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a:p>
        </p:txBody>
      </p:sp>
      <p:sp>
        <p:nvSpPr>
          <p:cNvPr id="13517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DD35ED9-99B8-43D6-9EA0-69E7DE7CBA5B}" type="slidenum">
              <a:rPr lang="en-US" smtClean="0">
                <a:solidFill>
                  <a:prstClr val="black"/>
                </a:solidFill>
                <a:latin typeface="Calibri"/>
              </a:rPr>
              <a:pPr fontAlgn="base">
                <a:spcBef>
                  <a:spcPct val="0"/>
                </a:spcBef>
                <a:spcAft>
                  <a:spcPct val="0"/>
                </a:spcAft>
                <a:defRPr/>
              </a:pPr>
              <a:t>54</a:t>
            </a:fld>
            <a:endParaRPr lang="en-US" dirty="0">
              <a:solidFill>
                <a:prstClr val="black"/>
              </a:solidFill>
              <a:latin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3237">
              <a:defRPr/>
            </a:pPr>
            <a:r>
              <a:rPr lang="en-US" dirty="0"/>
              <a:t>Image credit: Big Cheese</a:t>
            </a:r>
            <a:r>
              <a:rPr lang="en-US" baseline="0" dirty="0"/>
              <a:t> Photos/</a:t>
            </a:r>
            <a:r>
              <a:rPr lang="en-US" baseline="0" dirty="0" err="1"/>
              <a:t>Superstock</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4470D8-1F41-4A2B-8AFF-DD19730E7B3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41711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3237">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4470D8-1F41-4A2B-8AFF-DD19730E7B3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621159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2B276E-41C3-41CF-803D-C34171321AA6}"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625666" name="Rectangle 2"/>
          <p:cNvSpPr>
            <a:spLocks noGrp="1" noRot="1" noChangeAspect="1" noChangeArrowheads="1" noTextEdit="1"/>
          </p:cNvSpPr>
          <p:nvPr>
            <p:ph type="sldImg"/>
          </p:nvPr>
        </p:nvSpPr>
        <p:spPr>
          <a:ln/>
        </p:spPr>
      </p:sp>
      <p:sp>
        <p:nvSpPr>
          <p:cNvPr id="625667" name="Rectangle 3"/>
          <p:cNvSpPr>
            <a:spLocks noGrp="1" noChangeArrowheads="1"/>
          </p:cNvSpPr>
          <p:nvPr>
            <p:ph type="body" idx="1"/>
          </p:nvPr>
        </p:nvSpPr>
        <p:spPr/>
        <p:txBody>
          <a:bodyPr/>
          <a:lstStyle/>
          <a:p>
            <a:r>
              <a:rPr lang="en-US" i="1" dirty="0"/>
              <a:t>Source: </a:t>
            </a:r>
            <a:r>
              <a:rPr lang="en-US" dirty="0"/>
              <a:t>Federal Reserve Bank of St. Louis.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E53FFA-40F8-4191-8CA5-9E3BD898CF6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629762" name="Rectangle 2"/>
          <p:cNvSpPr>
            <a:spLocks noGrp="1" noRot="1" noChangeAspect="1" noChangeArrowheads="1" noTextEdit="1"/>
          </p:cNvSpPr>
          <p:nvPr>
            <p:ph type="sldImg"/>
          </p:nvPr>
        </p:nvSpPr>
        <p:spPr>
          <a:ln/>
        </p:spPr>
      </p:sp>
      <p:sp>
        <p:nvSpPr>
          <p:cNvPr id="62976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F79F4B-4D9A-4705-9B1A-EB6F23990E9F}"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647170" name="Slide Image Placeholder 1"/>
          <p:cNvSpPr>
            <a:spLocks noGrp="1" noRot="1" noChangeAspect="1" noTextEdit="1"/>
          </p:cNvSpPr>
          <p:nvPr>
            <p:ph type="sldImg"/>
          </p:nvPr>
        </p:nvSpPr>
        <p:spPr>
          <a:ln/>
          <a:extLst>
            <a:ext uri="{909E8E84-426E-40DD-AFC4-6F175D3DCCD1}">
              <a14:hiddenFill xmlns:a14="http://schemas.microsoft.com/office/drawing/2010/main">
                <a:noFill/>
              </a14:hiddenFill>
            </a:ext>
          </a:extLst>
        </p:spPr>
      </p:sp>
      <p:sp>
        <p:nvSpPr>
          <p:cNvPr id="647171" name="Notes Placeholder 2"/>
          <p:cNvSpPr>
            <a:spLocks noGrp="1"/>
          </p:cNvSpPr>
          <p:nvPr>
            <p:ph type="body" idx="1"/>
          </p:nvPr>
        </p:nvSpPr>
        <p:spPr/>
        <p:txBody>
          <a:bodyPr/>
          <a:lstStyle/>
          <a:p>
            <a:endParaRPr lang="en-US" i="1" dirty="0"/>
          </a:p>
        </p:txBody>
      </p:sp>
      <p:sp>
        <p:nvSpPr>
          <p:cNvPr id="647172" name="Slide Number Placeholder 3"/>
          <p:cNvSpPr txBox="1">
            <a:spLocks noGrp="1"/>
          </p:cNvSpPr>
          <p:nvPr/>
        </p:nvSpPr>
        <p:spPr bwMode="auto">
          <a:xfrm>
            <a:off x="3978132" y="8842029"/>
            <a:ext cx="3043343" cy="46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324" tIns="46662" rIns="93324" bIns="46662" anchor="b"/>
          <a:lstStyle>
            <a:lvl1pPr>
              <a:spcBef>
                <a:spcPct val="0"/>
              </a:spcBef>
              <a:defRPr>
                <a:solidFill>
                  <a:schemeClr val="tx1"/>
                </a:solidFill>
                <a:latin typeface="Arial" charset="0"/>
              </a:defRPr>
            </a:lvl1pPr>
            <a:lvl2pPr marL="37931725" indent="-37474525">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5A5DF3E1-3BD1-4142-A5B0-0B2548AB747E}"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solidFill>
              <a:effectLst/>
              <a:uLnTx/>
              <a:uFillTx/>
              <a:latin typeface="Calibri" pitchFamily="34" charset="0"/>
              <a:ea typeface="ＭＳ Ｐゴシック" pitchFamily="34" charset="-128"/>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9A10B4-26CB-4FBC-83E0-6D0F38723605}"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649218" name="Slide Image Placeholder 1"/>
          <p:cNvSpPr>
            <a:spLocks noGrp="1" noRot="1" noChangeAspect="1" noTextEdit="1"/>
          </p:cNvSpPr>
          <p:nvPr>
            <p:ph type="sldImg"/>
          </p:nvPr>
        </p:nvSpPr>
        <p:spPr>
          <a:ln/>
          <a:extLst>
            <a:ext uri="{909E8E84-426E-40DD-AFC4-6F175D3DCCD1}">
              <a14:hiddenFill xmlns:a14="http://schemas.microsoft.com/office/drawing/2010/main">
                <a:noFill/>
              </a14:hiddenFill>
            </a:ext>
          </a:extLst>
        </p:spPr>
      </p:sp>
      <p:sp>
        <p:nvSpPr>
          <p:cNvPr id="649219" name="Notes Placeholder 2"/>
          <p:cNvSpPr>
            <a:spLocks noGrp="1"/>
          </p:cNvSpPr>
          <p:nvPr>
            <p:ph type="body" idx="1"/>
          </p:nvPr>
        </p:nvSpPr>
        <p:spPr/>
        <p:txBody>
          <a:bodyPr/>
          <a:lstStyle/>
          <a:p>
            <a:endParaRPr lang="en-US" dirty="0"/>
          </a:p>
        </p:txBody>
      </p:sp>
      <p:sp>
        <p:nvSpPr>
          <p:cNvPr id="649220" name="Slide Number Placeholder 3"/>
          <p:cNvSpPr txBox="1">
            <a:spLocks noGrp="1"/>
          </p:cNvSpPr>
          <p:nvPr/>
        </p:nvSpPr>
        <p:spPr bwMode="auto">
          <a:xfrm>
            <a:off x="3978132" y="8842029"/>
            <a:ext cx="3043343" cy="46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324" tIns="46662" rIns="93324" bIns="46662" anchor="b"/>
          <a:lstStyle>
            <a:lvl1pPr>
              <a:spcBef>
                <a:spcPct val="0"/>
              </a:spcBef>
              <a:defRPr>
                <a:solidFill>
                  <a:schemeClr val="tx1"/>
                </a:solidFill>
                <a:latin typeface="Arial" charset="0"/>
              </a:defRPr>
            </a:lvl1pPr>
            <a:lvl2pPr marL="37931725" indent="-37474525">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D3CBDF3A-A0FB-44C9-9E80-3976309683AB}"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65</a:t>
            </a:fld>
            <a:endParaRPr kumimoji="0" lang="en-US" sz="1200" b="0" i="0" u="none" strike="noStrike" kern="1200" cap="none" spc="0" normalizeH="0" baseline="0" noProof="0" dirty="0">
              <a:ln>
                <a:noFill/>
              </a:ln>
              <a:solidFill>
                <a:prstClr val="black"/>
              </a:solidFill>
              <a:effectLst/>
              <a:uLnTx/>
              <a:uFillTx/>
              <a:latin typeface="Calibri" pitchFamily="34" charset="0"/>
              <a:ea typeface="ＭＳ Ｐゴシック" pitchFamily="34" charset="-128"/>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9A10B4-26CB-4FBC-83E0-6D0F38723605}"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649218" name="Slide Image Placeholder 1"/>
          <p:cNvSpPr>
            <a:spLocks noGrp="1" noRot="1" noChangeAspect="1" noTextEdit="1"/>
          </p:cNvSpPr>
          <p:nvPr>
            <p:ph type="sldImg"/>
          </p:nvPr>
        </p:nvSpPr>
        <p:spPr>
          <a:ln/>
          <a:extLst>
            <a:ext uri="{909E8E84-426E-40DD-AFC4-6F175D3DCCD1}">
              <a14:hiddenFill xmlns:a14="http://schemas.microsoft.com/office/drawing/2010/main">
                <a:noFill/>
              </a14:hiddenFill>
            </a:ext>
          </a:extLst>
        </p:spPr>
      </p:sp>
      <p:sp>
        <p:nvSpPr>
          <p:cNvPr id="649219" name="Notes Placeholder 2"/>
          <p:cNvSpPr>
            <a:spLocks noGrp="1"/>
          </p:cNvSpPr>
          <p:nvPr>
            <p:ph type="body" idx="1"/>
          </p:nvPr>
        </p:nvSpPr>
        <p:spPr/>
        <p:txBody>
          <a:bodyPr/>
          <a:lstStyle/>
          <a:p>
            <a:endParaRPr lang="en-US" dirty="0"/>
          </a:p>
        </p:txBody>
      </p:sp>
      <p:sp>
        <p:nvSpPr>
          <p:cNvPr id="649220" name="Slide Number Placeholder 3"/>
          <p:cNvSpPr txBox="1">
            <a:spLocks noGrp="1"/>
          </p:cNvSpPr>
          <p:nvPr/>
        </p:nvSpPr>
        <p:spPr bwMode="auto">
          <a:xfrm>
            <a:off x="3978132" y="8842029"/>
            <a:ext cx="3043343" cy="46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324" tIns="46662" rIns="93324" bIns="46662" anchor="b"/>
          <a:lstStyle>
            <a:lvl1pPr>
              <a:spcBef>
                <a:spcPct val="0"/>
              </a:spcBef>
              <a:defRPr>
                <a:solidFill>
                  <a:schemeClr val="tx1"/>
                </a:solidFill>
                <a:latin typeface="Arial" charset="0"/>
              </a:defRPr>
            </a:lvl1pPr>
            <a:lvl2pPr marL="37931725" indent="-37474525">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D3CBDF3A-A0FB-44C9-9E80-3976309683AB}"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66</a:t>
            </a:fld>
            <a:endParaRPr kumimoji="0" lang="en-US" sz="1200" b="0" i="0" u="none" strike="noStrike" kern="1200" cap="none" spc="0" normalizeH="0" baseline="0" noProof="0" dirty="0">
              <a:ln>
                <a:noFill/>
              </a:ln>
              <a:solidFill>
                <a:prstClr val="black"/>
              </a:solidFill>
              <a:effectLst/>
              <a:uLnTx/>
              <a:uFillTx/>
              <a:latin typeface="Calibri" pitchFamily="34" charset="0"/>
              <a:ea typeface="ＭＳ Ｐゴシック" pitchFamily="34" charset="-128"/>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9A10B4-26CB-4FBC-83E0-6D0F38723605}"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649218" name="Slide Image Placeholder 1"/>
          <p:cNvSpPr>
            <a:spLocks noGrp="1" noRot="1" noChangeAspect="1" noTextEdit="1"/>
          </p:cNvSpPr>
          <p:nvPr>
            <p:ph type="sldImg"/>
          </p:nvPr>
        </p:nvSpPr>
        <p:spPr>
          <a:ln/>
          <a:extLst>
            <a:ext uri="{909E8E84-426E-40DD-AFC4-6F175D3DCCD1}">
              <a14:hiddenFill xmlns:a14="http://schemas.microsoft.com/office/drawing/2010/main">
                <a:noFill/>
              </a14:hiddenFill>
            </a:ext>
          </a:extLst>
        </p:spPr>
      </p:sp>
      <p:sp>
        <p:nvSpPr>
          <p:cNvPr id="649219" name="Notes Placeholder 2"/>
          <p:cNvSpPr>
            <a:spLocks noGrp="1"/>
          </p:cNvSpPr>
          <p:nvPr>
            <p:ph type="body" idx="1"/>
          </p:nvPr>
        </p:nvSpPr>
        <p:spPr/>
        <p:txBody>
          <a:bodyPr/>
          <a:lstStyle/>
          <a:p>
            <a:endParaRPr lang="en-US" dirty="0"/>
          </a:p>
        </p:txBody>
      </p:sp>
      <p:sp>
        <p:nvSpPr>
          <p:cNvPr id="649220" name="Slide Number Placeholder 3"/>
          <p:cNvSpPr txBox="1">
            <a:spLocks noGrp="1"/>
          </p:cNvSpPr>
          <p:nvPr/>
        </p:nvSpPr>
        <p:spPr bwMode="auto">
          <a:xfrm>
            <a:off x="3978132" y="8842029"/>
            <a:ext cx="3043343" cy="46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324" tIns="46662" rIns="93324" bIns="46662" anchor="b"/>
          <a:lstStyle>
            <a:lvl1pPr>
              <a:spcBef>
                <a:spcPct val="0"/>
              </a:spcBef>
              <a:defRPr>
                <a:solidFill>
                  <a:schemeClr val="tx1"/>
                </a:solidFill>
                <a:latin typeface="Arial" charset="0"/>
              </a:defRPr>
            </a:lvl1pPr>
            <a:lvl2pPr marL="37931725" indent="-37474525">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D3CBDF3A-A0FB-44C9-9E80-3976309683AB}"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mn-cs"/>
              </a:rPr>
              <a:pPr marL="0" marR="0" lvl="0" indent="0" algn="r" defTabSz="914400" rtl="0" eaLnBrk="1" fontAlgn="auto" latinLnBrk="0" hangingPunct="1">
                <a:lnSpc>
                  <a:spcPct val="100000"/>
                </a:lnSpc>
                <a:spcBef>
                  <a:spcPct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solidFill>
              <a:effectLst/>
              <a:uLnTx/>
              <a:uFillTx/>
              <a:latin typeface="Calibri" pitchFamily="34" charset="0"/>
              <a:ea typeface="ＭＳ Ｐゴシック" pitchFamily="34" charset="-128"/>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AA7803-4210-4EB7-816A-85F20C290F0D}"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512002" name="Rectangle 2"/>
          <p:cNvSpPr>
            <a:spLocks noGrp="1" noRot="1" noChangeAspect="1" noChangeArrowheads="1" noTextEdit="1"/>
          </p:cNvSpPr>
          <p:nvPr>
            <p:ph type="sldImg"/>
          </p:nvPr>
        </p:nvSpPr>
        <p:spPr>
          <a:ln/>
        </p:spPr>
      </p:sp>
      <p:sp>
        <p:nvSpPr>
          <p:cNvPr id="512003" name="Rectangle 3"/>
          <p:cNvSpPr>
            <a:spLocks noGrp="1" noChangeArrowheads="1"/>
          </p:cNvSpPr>
          <p:nvPr>
            <p:ph type="body" idx="1"/>
          </p:nvPr>
        </p:nvSpPr>
        <p:spPr/>
        <p:txBody>
          <a:bodyPr/>
          <a:lstStyle/>
          <a:p>
            <a:pPr defTabSz="933237">
              <a:defRPr/>
            </a:pPr>
            <a:r>
              <a:rPr lang="en-US" dirty="0"/>
              <a:t>All image credits courtesy of Morgue File and/or </a:t>
            </a:r>
            <a:r>
              <a:rPr lang="en-US" dirty="0" err="1"/>
              <a:t>FreeImages.com</a:t>
            </a:r>
            <a:r>
              <a:rPr lang="en-US" dirty="0"/>
              <a:t> unless otherwise specified</a:t>
            </a:r>
          </a:p>
          <a:p>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72</a:t>
            </a:fld>
            <a:endParaRPr lang="en-US"/>
          </a:p>
        </p:txBody>
      </p:sp>
    </p:spTree>
    <p:extLst>
      <p:ext uri="{BB962C8B-B14F-4D97-AF65-F5344CB8AC3E}">
        <p14:creationId xmlns:p14="http://schemas.microsoft.com/office/powerpoint/2010/main" val="23502273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dirty="0"/>
              <a:t> unless otherwise specified</a:t>
            </a:r>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74</a:t>
            </a:fld>
            <a:endParaRPr lang="en-US"/>
          </a:p>
        </p:txBody>
      </p:sp>
    </p:spTree>
    <p:extLst>
      <p:ext uri="{BB962C8B-B14F-4D97-AF65-F5344CB8AC3E}">
        <p14:creationId xmlns:p14="http://schemas.microsoft.com/office/powerpoint/2010/main" val="155524345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a:t>
            </a:r>
            <a:r>
              <a:rPr lang="en-US" baseline="0" dirty="0"/>
              <a:t> courtesy of Library of Congress</a:t>
            </a:r>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77</a:t>
            </a:fld>
            <a:endParaRPr lang="en-US"/>
          </a:p>
        </p:txBody>
      </p:sp>
    </p:spTree>
    <p:extLst>
      <p:ext uri="{BB962C8B-B14F-4D97-AF65-F5344CB8AC3E}">
        <p14:creationId xmlns:p14="http://schemas.microsoft.com/office/powerpoint/2010/main" val="36058220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dirty="0"/>
              <a:t>Image:  public domain</a:t>
            </a:r>
          </a:p>
        </p:txBody>
      </p:sp>
      <p:sp>
        <p:nvSpPr>
          <p:cNvPr id="11571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56DA176-1A79-4827-B477-3E49D1624287}" type="slidenum">
              <a:rPr lang="en-US" smtClean="0">
                <a:solidFill>
                  <a:prstClr val="black"/>
                </a:solidFill>
                <a:latin typeface="Calibri"/>
              </a:rPr>
              <a:pPr fontAlgn="base">
                <a:spcBef>
                  <a:spcPct val="0"/>
                </a:spcBef>
                <a:spcAft>
                  <a:spcPct val="0"/>
                </a:spcAft>
                <a:defRPr/>
              </a:pPr>
              <a:t>80</a:t>
            </a:fld>
            <a:endParaRPr lang="en-US" dirty="0">
              <a:solidFill>
                <a:prstClr val="black"/>
              </a:solidFill>
              <a:latin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http://www.pbs.org/wgbh/pages/frontline/meltdown/view/</a:t>
            </a:r>
          </a:p>
          <a:p>
            <a:r>
              <a:rPr lang="en-US" dirty="0"/>
              <a:t>If</a:t>
            </a:r>
            <a:r>
              <a:rPr lang="en-US" baseline="0" dirty="0"/>
              <a:t> you can spare the time in class, this documentary really explains the mechanics of the meltdown well and introduces students to the personalities at the center of the crisis.  If you can’t spare the time, require students to watch and respond as homework.</a:t>
            </a:r>
            <a:endParaRPr lang="en-US" dirty="0"/>
          </a:p>
        </p:txBody>
      </p:sp>
      <p:sp>
        <p:nvSpPr>
          <p:cNvPr id="4" name="Slide Number Placeholder 3"/>
          <p:cNvSpPr>
            <a:spLocks noGrp="1"/>
          </p:cNvSpPr>
          <p:nvPr>
            <p:ph type="sldNum" sz="quarter" idx="10"/>
          </p:nvPr>
        </p:nvSpPr>
        <p:spPr/>
        <p:txBody>
          <a:bodyPr/>
          <a:lstStyle/>
          <a:p>
            <a:fld id="{93757B56-F843-45CA-9B8E-92F802DE3B4D}" type="slidenum">
              <a:rPr lang="en-US" smtClean="0">
                <a:solidFill>
                  <a:prstClr val="black"/>
                </a:solidFill>
                <a:latin typeface="Calibri"/>
              </a:rPr>
              <a:pPr/>
              <a:t>82</a:t>
            </a:fld>
            <a:endParaRPr lang="en-US" dirty="0">
              <a:solidFill>
                <a:prstClr val="black"/>
              </a:solidFill>
              <a:latin typeface="Calibri"/>
            </a:endParaRPr>
          </a:p>
        </p:txBody>
      </p:sp>
    </p:spTree>
    <p:extLst>
      <p:ext uri="{BB962C8B-B14F-4D97-AF65-F5344CB8AC3E}">
        <p14:creationId xmlns:p14="http://schemas.microsoft.com/office/powerpoint/2010/main" val="21774465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 image credits courtesy of Morgue File and/or </a:t>
            </a:r>
            <a:r>
              <a:rPr lang="en-US" dirty="0" err="1"/>
              <a:t>FreeImages.com</a:t>
            </a:r>
            <a:r>
              <a:rPr lang="en-US"/>
              <a:t> unless otherwise specified</a:t>
            </a:r>
          </a:p>
          <a:p>
            <a:endParaRPr lang="en-US"/>
          </a:p>
        </p:txBody>
      </p:sp>
      <p:sp>
        <p:nvSpPr>
          <p:cNvPr id="4" name="Slide Number Placeholder 3"/>
          <p:cNvSpPr>
            <a:spLocks noGrp="1"/>
          </p:cNvSpPr>
          <p:nvPr>
            <p:ph type="sldNum" sz="quarter" idx="10"/>
          </p:nvPr>
        </p:nvSpPr>
        <p:spPr/>
        <p:txBody>
          <a:bodyPr/>
          <a:lstStyle/>
          <a:p>
            <a:fld id="{6C4470D8-1F41-4A2B-8AFF-DD19730E7B38}" type="slidenum">
              <a:rPr lang="en-US" smtClean="0"/>
              <a:t>87</a:t>
            </a:fld>
            <a:endParaRPr lang="en-US"/>
          </a:p>
        </p:txBody>
      </p:sp>
    </p:spTree>
    <p:extLst>
      <p:ext uri="{BB962C8B-B14F-4D97-AF65-F5344CB8AC3E}">
        <p14:creationId xmlns:p14="http://schemas.microsoft.com/office/powerpoint/2010/main" val="161752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8" Type="http://schemas.openxmlformats.org/officeDocument/2006/relationships/hyperlink" Target="http://krugman.blogs.nytimes.com/" TargetMode="External"/><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hyperlink" Target="http://www.gregmankiw.blogspot.com/" TargetMode="External"/><Relationship Id="rId1" Type="http://schemas.openxmlformats.org/officeDocument/2006/relationships/slideMaster" Target="../slideMasters/slideMaster3.xml"/><Relationship Id="rId6" Type="http://schemas.openxmlformats.org/officeDocument/2006/relationships/hyperlink" Target="http://www.freakonomics.com/blog/"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research.stlouisfed.org/fred2/" TargetMode="External"/><Relationship Id="rId4" Type="http://schemas.openxmlformats.org/officeDocument/2006/relationships/hyperlink" Target="http://marginalrevolution.com/" TargetMode="External"/><Relationship Id="rId9"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entury Gothic"/>
                <a:cs typeface="Century Gothic"/>
              </a:defRPr>
            </a:lvl1pPr>
            <a:lvl2pPr>
              <a:defRPr sz="2800" baseline="0">
                <a:latin typeface="Century Gothic"/>
                <a:cs typeface="Century Gothic"/>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3844364"/>
      </p:ext>
    </p:extLst>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088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5" name="Picture 4" descr="Screen Shot 2014-12-20 at 5.27.50 PM.png"/>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7580130" y="15463"/>
            <a:ext cx="1532200" cy="1508537"/>
          </a:xfrm>
          <a:prstGeom prst="rect">
            <a:avLst/>
          </a:prstGeom>
        </p:spPr>
      </p:pic>
    </p:spTree>
    <p:extLst>
      <p:ext uri="{BB962C8B-B14F-4D97-AF65-F5344CB8AC3E}">
        <p14:creationId xmlns:p14="http://schemas.microsoft.com/office/powerpoint/2010/main" val="406133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185422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a:t>
            </a:r>
            <a:endParaRPr lang="en-US" dirty="0"/>
          </a:p>
        </p:txBody>
      </p:sp>
    </p:spTree>
    <p:extLst>
      <p:ext uri="{BB962C8B-B14F-4D97-AF65-F5344CB8AC3E}">
        <p14:creationId xmlns:p14="http://schemas.microsoft.com/office/powerpoint/2010/main" val="2215079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3552060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t>Copyright 2013 Worth Publishers</a:t>
            </a:r>
          </a:p>
        </p:txBody>
      </p:sp>
    </p:spTree>
    <p:extLst>
      <p:ext uri="{BB962C8B-B14F-4D97-AF65-F5344CB8AC3E}">
        <p14:creationId xmlns:p14="http://schemas.microsoft.com/office/powerpoint/2010/main" val="926553203"/>
      </p:ext>
    </p:extLst>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946630312"/>
      </p:ext>
    </p:extLst>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660176561"/>
      </p:ext>
    </p:extLst>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p:cNvSpPr/>
          <p:nvPr userDrawn="1"/>
        </p:nvSpPr>
        <p:spPr>
          <a:xfrm>
            <a:off x="-4763" y="5410200"/>
            <a:ext cx="9136063" cy="1447800"/>
          </a:xfrm>
          <a:prstGeom prst="rect">
            <a:avLst/>
          </a:prstGeom>
          <a:solidFill>
            <a:schemeClr val="tx1">
              <a:alpha val="81000"/>
            </a:schemeClr>
          </a:solidFill>
        </p:spPr>
        <p:txBody>
          <a:bodyPr anchor="ctr">
            <a:normAutofit/>
          </a:bodyPr>
          <a:lstStyle/>
          <a:p>
            <a:pPr algn="r">
              <a:defRPr/>
            </a:pPr>
            <a:endParaRPr lang="en-US" sz="6000" spc="50" dirty="0">
              <a:latin typeface="Candara" pitchFamily="34" charset="0"/>
              <a:ea typeface="Tahoma" pitchFamily="34" charset="0"/>
              <a:cs typeface="Tahoma" pitchFamily="34" charset="0"/>
            </a:endParaRPr>
          </a:p>
        </p:txBody>
      </p:sp>
      <p:sp>
        <p:nvSpPr>
          <p:cNvPr id="6" name="TextBox 5"/>
          <p:cNvSpPr txBox="1"/>
          <p:nvPr/>
        </p:nvSpPr>
        <p:spPr>
          <a:xfrm>
            <a:off x="304800" y="5737304"/>
            <a:ext cx="2438400" cy="1107996"/>
          </a:xfrm>
          <a:prstGeom prst="rect">
            <a:avLst/>
          </a:prstGeom>
          <a:noFill/>
        </p:spPr>
        <p:txBody>
          <a:bodyPr wrap="square">
            <a:spAutoFit/>
          </a:bodyPr>
          <a:lstStyle/>
          <a:p>
            <a:pPr>
              <a:defRPr/>
            </a:pPr>
            <a:r>
              <a:rPr lang="en-US" sz="6600" b="1" spc="-300" dirty="0">
                <a:solidFill>
                  <a:schemeClr val="bg1"/>
                </a:solidFill>
                <a:effectLst>
                  <a:outerShdw blurRad="38100" dist="38100" dir="2700000" algn="tl">
                    <a:srgbClr val="000000">
                      <a:alpha val="43137"/>
                    </a:srgbClr>
                  </a:outerShdw>
                </a:effectLst>
                <a:latin typeface="Tw Cen MT"/>
                <a:ea typeface="Tahoma" pitchFamily="34" charset="0"/>
                <a:cs typeface="Tw Cen MT"/>
              </a:rPr>
              <a:t>14(29)</a:t>
            </a:r>
          </a:p>
        </p:txBody>
      </p:sp>
      <p:sp>
        <p:nvSpPr>
          <p:cNvPr id="7" name="TextBox 6"/>
          <p:cNvSpPr txBox="1"/>
          <p:nvPr/>
        </p:nvSpPr>
        <p:spPr>
          <a:xfrm rot="16200000">
            <a:off x="-418306" y="5981184"/>
            <a:ext cx="1358900" cy="369332"/>
          </a:xfrm>
          <a:prstGeom prst="rect">
            <a:avLst/>
          </a:prstGeom>
          <a:noFill/>
        </p:spPr>
        <p:txBody>
          <a:bodyPr>
            <a:spAutoFit/>
          </a:bodyPr>
          <a:lstStyle/>
          <a:p>
            <a:pPr>
              <a:defRPr/>
            </a:pPr>
            <a:r>
              <a:rPr lang="en-US" b="1" kern="0" cap="all" spc="300" dirty="0">
                <a:solidFill>
                  <a:schemeClr val="bg1">
                    <a:lumMod val="75000"/>
                  </a:schemeClr>
                </a:solidFill>
                <a:latin typeface="Tw Cen MT"/>
                <a:ea typeface="+mj-ea"/>
                <a:cs typeface="Tw Cen MT"/>
              </a:rPr>
              <a:t>Chapter</a:t>
            </a:r>
            <a:endParaRPr lang="en-US" sz="2000" b="1" kern="0" cap="all" spc="300" dirty="0">
              <a:solidFill>
                <a:schemeClr val="bg1">
                  <a:lumMod val="75000"/>
                </a:schemeClr>
              </a:solidFill>
              <a:latin typeface="Tw Cen MT"/>
              <a:ea typeface="+mj-ea"/>
              <a:cs typeface="Tw Cen MT"/>
            </a:endParaRPr>
          </a:p>
        </p:txBody>
      </p:sp>
      <p:sp>
        <p:nvSpPr>
          <p:cNvPr id="8" name="TextBox 7"/>
          <p:cNvSpPr txBox="1"/>
          <p:nvPr/>
        </p:nvSpPr>
        <p:spPr>
          <a:xfrm>
            <a:off x="0" y="-15356"/>
            <a:ext cx="7696200" cy="307777"/>
          </a:xfrm>
          <a:prstGeom prst="rect">
            <a:avLst/>
          </a:prstGeom>
          <a:noFill/>
        </p:spPr>
        <p:txBody>
          <a:bodyPr wrap="square">
            <a:spAutoFit/>
          </a:bodyPr>
          <a:lstStyle/>
          <a:p>
            <a:pPr algn="l">
              <a:defRPr/>
            </a:pPr>
            <a:r>
              <a:rPr lang="en-US" sz="1400" b="1" i="0" kern="0" cap="small" spc="400" dirty="0">
                <a:solidFill>
                  <a:schemeClr val="tx1">
                    <a:lumMod val="50000"/>
                    <a:lumOff val="50000"/>
                  </a:schemeClr>
                </a:solidFill>
                <a:latin typeface="Tw Cen MT" pitchFamily="34" charset="0"/>
              </a:rPr>
              <a:t>Slides by Solina Lindahl</a:t>
            </a:r>
          </a:p>
        </p:txBody>
      </p:sp>
      <p:sp>
        <p:nvSpPr>
          <p:cNvPr id="12" name="Title 1"/>
          <p:cNvSpPr txBox="1">
            <a:spLocks/>
          </p:cNvSpPr>
          <p:nvPr userDrawn="1"/>
        </p:nvSpPr>
        <p:spPr>
          <a:xfrm>
            <a:off x="1371600" y="5434585"/>
            <a:ext cx="7772400" cy="1447800"/>
          </a:xfrm>
          <a:prstGeom prst="rect">
            <a:avLst/>
          </a:prstGeom>
          <a:noFill/>
        </p:spPr>
        <p:txBody>
          <a:bodyPr>
            <a:noAutofit/>
          </a:bodyPr>
          <a:lstStyle>
            <a:lvl1pPr algn="r" defTabSz="914400" rtl="0" eaLnBrk="1" latinLnBrk="0" hangingPunct="1">
              <a:spcBef>
                <a:spcPct val="0"/>
              </a:spcBef>
              <a:buNone/>
              <a:defRPr lang="en-US" sz="5400" b="1" i="0" u="none" strike="noStrike" kern="1200" cap="none" spc="100" baseline="0" smtClean="0">
                <a:solidFill>
                  <a:srgbClr val="FF3300"/>
                </a:solidFill>
                <a:effectLst/>
                <a:latin typeface="Candara" pitchFamily="34" charset="0"/>
                <a:ea typeface="+mj-ea"/>
                <a:cs typeface="+mj-cs"/>
              </a:defRPr>
            </a:lvl1pPr>
          </a:lstStyle>
          <a:p>
            <a:r>
              <a:rPr lang="en-US" sz="4000" b="1" kern="0" spc="500" dirty="0">
                <a:latin typeface="Tw Cen MT"/>
                <a:cs typeface="Tw Cen MT"/>
              </a:rPr>
              <a:t>Money, Banking, and the Federal Reserve System</a:t>
            </a:r>
          </a:p>
        </p:txBody>
      </p:sp>
    </p:spTree>
    <p:extLst>
      <p:ext uri="{BB962C8B-B14F-4D97-AF65-F5344CB8AC3E}">
        <p14:creationId xmlns:p14="http://schemas.microsoft.com/office/powerpoint/2010/main" val="422087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cxnSp>
        <p:nvCxnSpPr>
          <p:cNvPr id="2" name="Straight Connector 1"/>
          <p:cNvCxnSpPr/>
          <p:nvPr/>
        </p:nvCxnSpPr>
        <p:spPr>
          <a:xfrm>
            <a:off x="0" y="60198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0" y="22860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sp>
        <p:nvSpPr>
          <p:cNvPr id="5" name="TextBox 9"/>
          <p:cNvSpPr txBox="1">
            <a:spLocks noChangeArrowheads="1"/>
          </p:cNvSpPr>
          <p:nvPr/>
        </p:nvSpPr>
        <p:spPr bwMode="auto">
          <a:xfrm>
            <a:off x="0" y="1490246"/>
            <a:ext cx="9144000" cy="338554"/>
          </a:xfrm>
          <a:prstGeom prst="rect">
            <a:avLst/>
          </a:prstGeom>
          <a:solidFill>
            <a:srgbClr val="CCFF33">
              <a:alpha val="4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1600" b="0" i="0" spc="300" dirty="0">
                <a:solidFill>
                  <a:srgbClr val="F79646"/>
                </a:solidFill>
                <a:latin typeface="+mn-lt"/>
              </a:rPr>
              <a:t>SOME GOOD BLOGS AND OTHER SITES TO GET THE JUICES FLOWING:</a:t>
            </a:r>
          </a:p>
        </p:txBody>
      </p:sp>
      <p:sp>
        <p:nvSpPr>
          <p:cNvPr id="6" name="Title 1"/>
          <p:cNvSpPr txBox="1">
            <a:spLocks/>
          </p:cNvSpPr>
          <p:nvPr/>
        </p:nvSpPr>
        <p:spPr>
          <a:xfrm>
            <a:off x="0" y="0"/>
            <a:ext cx="7391400" cy="784225"/>
          </a:xfrm>
          <a:prstGeom prst="rect">
            <a:avLst/>
          </a:prstGeom>
          <a:noFill/>
          <a:effectLst/>
        </p:spPr>
        <p:txBody>
          <a:bodyPr/>
          <a:lstStyle>
            <a:lvl1pPr>
              <a:defRPr sz="3600">
                <a:solidFill>
                  <a:schemeClr val="accent1">
                    <a:lumMod val="60000"/>
                    <a:lumOff val="40000"/>
                  </a:schemeClr>
                </a:solidFill>
                <a:effectLst>
                  <a:outerShdw blurRad="38100" dist="38100" dir="2700000" algn="tl">
                    <a:srgbClr val="000000">
                      <a:alpha val="43137"/>
                    </a:srgbClr>
                  </a:outerShdw>
                </a:effectLst>
              </a:defRPr>
            </a:lvl1pPr>
          </a:lstStyle>
          <a:p>
            <a:pPr>
              <a:defRPr/>
            </a:pP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FOOD FOR</a:t>
            </a:r>
            <a:r>
              <a:rPr lang="en-US" sz="4800" b="0" baseline="0" dirty="0">
                <a:solidFill>
                  <a:schemeClr val="accent6"/>
                </a:solidFill>
                <a:effectLst>
                  <a:innerShdw blurRad="63500" dist="50800" dir="13500000">
                    <a:prstClr val="black">
                      <a:alpha val="50000"/>
                    </a:prstClr>
                  </a:innerShdw>
                </a:effectLst>
                <a:latin typeface="Century Gothic" pitchFamily="34" charset="0"/>
                <a:cs typeface="Arial" pitchFamily="34" charset="0"/>
              </a:rPr>
              <a:t> </a:t>
            </a: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THOUGHT….</a:t>
            </a:r>
          </a:p>
        </p:txBody>
      </p:sp>
      <p:pic>
        <p:nvPicPr>
          <p:cNvPr id="7" name="Picture 2">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29200" y="4572000"/>
            <a:ext cx="2724150" cy="5175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hlinkClick r:id="rId4"/>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145213" y="3048000"/>
            <a:ext cx="2998787" cy="5397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200400" y="2971800"/>
            <a:ext cx="2686050" cy="6572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15" name="Picture 14" descr="Screen Shot 2014-12-20 at 8.46.54 PM.png">
            <a:hlinkClick r:id="rId8"/>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2674" y="2971800"/>
            <a:ext cx="2692400" cy="592126"/>
          </a:xfrm>
          <a:prstGeom prst="rect">
            <a:avLst/>
          </a:prstGeom>
          <a:ln>
            <a:noFill/>
          </a:ln>
          <a:effectLst>
            <a:outerShdw blurRad="292100" dist="139700" dir="2700000" algn="tl" rotWithShape="0">
              <a:srgbClr val="333333">
                <a:alpha val="65000"/>
              </a:srgbClr>
            </a:outerShdw>
          </a:effectLst>
        </p:spPr>
      </p:pic>
      <p:pic>
        <p:nvPicPr>
          <p:cNvPr id="16" name="Picture 15" descr="Screen Shot 2014-12-20 at 8.49.18 PM.png">
            <a:hlinkClick r:id="rId10"/>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1905000" y="4343400"/>
            <a:ext cx="2336800" cy="841691"/>
          </a:xfrm>
          <a:prstGeom prst="rect">
            <a:avLst/>
          </a:prstGeom>
          <a:ln>
            <a:noFill/>
          </a:ln>
          <a:effectLst>
            <a:outerShdw blurRad="292100" dist="139700" dir="2700000" algn="tl" rotWithShape="0">
              <a:srgbClr val="333333">
                <a:alpha val="65000"/>
              </a:srgbClr>
            </a:outerShdw>
          </a:effectLst>
        </p:spPr>
      </p:pic>
      <p:pic>
        <p:nvPicPr>
          <p:cNvPr id="18" name="Picture 17"/>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960000">
            <a:off x="8016447" y="97714"/>
            <a:ext cx="787093" cy="13285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051745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912813" indent="-571500">
              <a:buClr>
                <a:schemeClr val="accent3"/>
              </a:buClr>
              <a:buFont typeface="Wingdings" charset="2"/>
              <a:buChar char="§"/>
              <a:defRPr b="1">
                <a:solidFill>
                  <a:schemeClr val="tx1"/>
                </a:solidFill>
                <a:latin typeface="Century Gothic"/>
                <a:cs typeface="Century Gothic"/>
              </a:defRPr>
            </a:lvl1pPr>
            <a:lvl2pPr marL="1200150" indent="-457200">
              <a:buClr>
                <a:schemeClr val="accent3"/>
              </a:buClr>
              <a:buFont typeface="Wingdings" charset="2"/>
              <a:buChar char="§"/>
              <a:defRPr b="1">
                <a:solidFill>
                  <a:schemeClr val="tx1"/>
                </a:solidFill>
                <a:latin typeface="Century Gothic"/>
                <a:cs typeface="Century Gothic"/>
              </a:defRPr>
            </a:lvl2pPr>
            <a:lvl3pPr marL="1371600" indent="-457200">
              <a:buClr>
                <a:schemeClr val="accent3"/>
              </a:buClr>
              <a:buFont typeface="Wingdings" charset="2"/>
              <a:buChar char="§"/>
              <a:defRPr b="1">
                <a:solidFill>
                  <a:schemeClr val="tx1"/>
                </a:solidFill>
                <a:latin typeface="Century Gothic"/>
                <a:cs typeface="Century Gothic"/>
              </a:defRPr>
            </a:lvl3pPr>
            <a:lvl4pPr marL="1714500" indent="-342900">
              <a:buClr>
                <a:schemeClr val="accent3"/>
              </a:buClr>
              <a:buFont typeface="Wingdings" charset="2"/>
              <a:buChar char="§"/>
              <a:defRPr b="1">
                <a:solidFill>
                  <a:schemeClr val="tx1"/>
                </a:solidFill>
                <a:latin typeface="Century Gothic"/>
                <a:cs typeface="Century Gothic"/>
              </a:defRPr>
            </a:lvl4pPr>
            <a:lvl5pPr marL="2171700" indent="-342900">
              <a:buClr>
                <a:schemeClr val="accent3"/>
              </a:buClr>
              <a:buFont typeface="Wingdings" charset="2"/>
              <a:buChar char="§"/>
              <a:defRPr b="1">
                <a:solidFill>
                  <a:schemeClr val="tx1"/>
                </a:solidFill>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cxnSp>
        <p:nvCxnSpPr>
          <p:cNvPr id="15" name="Straight Connector 14"/>
          <p:cNvCxnSpPr/>
          <p:nvPr userDrawn="1"/>
        </p:nvCxnSpPr>
        <p:spPr>
          <a:xfrm>
            <a:off x="0" y="1219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sp>
        <p:nvSpPr>
          <p:cNvPr id="11"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4" name="Down Arrow Callout 3"/>
          <p:cNvSpPr/>
          <p:nvPr userDrawn="1"/>
        </p:nvSpPr>
        <p:spPr>
          <a:xfrm>
            <a:off x="0" y="-29407"/>
            <a:ext cx="3200400" cy="1477207"/>
          </a:xfrm>
          <a:prstGeom prst="downArrowCallout">
            <a:avLst>
              <a:gd name="adj1" fmla="val 32640"/>
              <a:gd name="adj2" fmla="val 28183"/>
              <a:gd name="adj3" fmla="val 25000"/>
              <a:gd name="adj4" fmla="val 61794"/>
            </a:avLst>
          </a:prstGeom>
          <a:solidFill>
            <a:schemeClr val="accent3"/>
          </a:solidFill>
          <a:ln>
            <a:noFill/>
          </a:ln>
          <a:effectLst>
            <a:outerShdw blurRad="50800" dist="38100" dir="270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5" name="TextBox 4"/>
          <p:cNvSpPr txBox="1"/>
          <p:nvPr userDrawn="1"/>
        </p:nvSpPr>
        <p:spPr>
          <a:xfrm>
            <a:off x="0" y="0"/>
            <a:ext cx="3200400" cy="830997"/>
          </a:xfrm>
          <a:prstGeom prst="rect">
            <a:avLst/>
          </a:prstGeom>
          <a:noFill/>
        </p:spPr>
        <p:txBody>
          <a:bodyPr wrap="square" rtlCol="0">
            <a:spAutoFit/>
          </a:bodyPr>
          <a:lstStyle/>
          <a:p>
            <a:r>
              <a:rPr lang="en-US" sz="2400" b="1" dirty="0">
                <a:solidFill>
                  <a:schemeClr val="bg1"/>
                </a:solidFill>
                <a:effectLst/>
              </a:rPr>
              <a:t>     What you will learn in this chapter</a:t>
            </a:r>
          </a:p>
        </p:txBody>
      </p:sp>
      <p:sp>
        <p:nvSpPr>
          <p:cNvPr id="6" name="Isosceles Triangle 5"/>
          <p:cNvSpPr/>
          <p:nvPr userDrawn="1"/>
        </p:nvSpPr>
        <p:spPr>
          <a:xfrm rot="5400000">
            <a:off x="95250" y="95250"/>
            <a:ext cx="304799" cy="266700"/>
          </a:xfrm>
          <a:prstGeom prst="triangle">
            <a:avLst>
              <a:gd name="adj" fmla="val 5259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7337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912813" indent="-571500">
              <a:buClr>
                <a:schemeClr val="accent3"/>
              </a:buClr>
              <a:buFont typeface="Wingdings" charset="2"/>
              <a:buChar char="§"/>
              <a:defRPr b="1">
                <a:solidFill>
                  <a:schemeClr val="tx1"/>
                </a:solidFill>
                <a:latin typeface="Century Gothic"/>
                <a:cs typeface="Century Gothic"/>
              </a:defRPr>
            </a:lvl1pPr>
            <a:lvl2pPr marL="1200150" indent="-457200">
              <a:buClr>
                <a:schemeClr val="accent3"/>
              </a:buClr>
              <a:buFont typeface="Wingdings" charset="2"/>
              <a:buChar char="§"/>
              <a:defRPr b="1">
                <a:solidFill>
                  <a:schemeClr val="tx1"/>
                </a:solidFill>
                <a:latin typeface="Century Gothic"/>
                <a:cs typeface="Century Gothic"/>
              </a:defRPr>
            </a:lvl2pPr>
            <a:lvl3pPr marL="1371600" indent="-457200">
              <a:buClr>
                <a:schemeClr val="accent3"/>
              </a:buClr>
              <a:buFont typeface="Wingdings" charset="2"/>
              <a:buChar char="§"/>
              <a:defRPr b="1">
                <a:solidFill>
                  <a:schemeClr val="tx1"/>
                </a:solidFill>
                <a:latin typeface="Century Gothic"/>
                <a:cs typeface="Century Gothic"/>
              </a:defRPr>
            </a:lvl3pPr>
            <a:lvl4pPr marL="1714500" indent="-342900">
              <a:buClr>
                <a:schemeClr val="accent3"/>
              </a:buClr>
              <a:buFont typeface="Wingdings" charset="2"/>
              <a:buChar char="§"/>
              <a:defRPr b="1">
                <a:solidFill>
                  <a:schemeClr val="tx1"/>
                </a:solidFill>
                <a:latin typeface="Century Gothic"/>
                <a:cs typeface="Century Gothic"/>
              </a:defRPr>
            </a:lvl4pPr>
            <a:lvl5pPr marL="2171700" indent="-342900">
              <a:buClr>
                <a:schemeClr val="accent3"/>
              </a:buClr>
              <a:buFont typeface="Wingdings" charset="2"/>
              <a:buChar char="§"/>
              <a:defRPr b="1">
                <a:solidFill>
                  <a:schemeClr val="tx1"/>
                </a:solidFill>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cxnSp>
        <p:nvCxnSpPr>
          <p:cNvPr id="15" name="Straight Connector 14"/>
          <p:cNvCxnSpPr/>
          <p:nvPr userDrawn="1"/>
        </p:nvCxnSpPr>
        <p:spPr>
          <a:xfrm>
            <a:off x="0" y="1219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sp>
        <p:nvSpPr>
          <p:cNvPr id="11"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4" name="Down Arrow Callout 3"/>
          <p:cNvSpPr/>
          <p:nvPr userDrawn="1"/>
        </p:nvSpPr>
        <p:spPr>
          <a:xfrm>
            <a:off x="0" y="-29407"/>
            <a:ext cx="3200400" cy="1477207"/>
          </a:xfrm>
          <a:prstGeom prst="downArrowCallout">
            <a:avLst>
              <a:gd name="adj1" fmla="val 32640"/>
              <a:gd name="adj2" fmla="val 28183"/>
              <a:gd name="adj3" fmla="val 25000"/>
              <a:gd name="adj4" fmla="val 61794"/>
            </a:avLst>
          </a:prstGeom>
          <a:solidFill>
            <a:schemeClr val="accent3"/>
          </a:solidFill>
          <a:ln>
            <a:noFill/>
          </a:ln>
          <a:effectLst>
            <a:outerShdw blurRad="50800" dist="38100" dir="270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5" name="TextBox 4"/>
          <p:cNvSpPr txBox="1"/>
          <p:nvPr userDrawn="1"/>
        </p:nvSpPr>
        <p:spPr>
          <a:xfrm>
            <a:off x="0" y="0"/>
            <a:ext cx="3200400" cy="830997"/>
          </a:xfrm>
          <a:prstGeom prst="rect">
            <a:avLst/>
          </a:prstGeom>
          <a:noFill/>
        </p:spPr>
        <p:txBody>
          <a:bodyPr wrap="square" rtlCol="0">
            <a:spAutoFit/>
          </a:bodyPr>
          <a:lstStyle/>
          <a:p>
            <a:r>
              <a:rPr lang="en-US" sz="2400" b="1" dirty="0">
                <a:solidFill>
                  <a:schemeClr val="bg1"/>
                </a:solidFill>
                <a:effectLst/>
              </a:rPr>
              <a:t>     What you will learn in this chapter</a:t>
            </a:r>
          </a:p>
        </p:txBody>
      </p:sp>
      <p:sp>
        <p:nvSpPr>
          <p:cNvPr id="6" name="Isosceles Triangle 5"/>
          <p:cNvSpPr/>
          <p:nvPr userDrawn="1"/>
        </p:nvSpPr>
        <p:spPr>
          <a:xfrm rot="5400000">
            <a:off x="95250" y="95250"/>
            <a:ext cx="304799" cy="266700"/>
          </a:xfrm>
          <a:prstGeom prst="triangle">
            <a:avLst>
              <a:gd name="adj" fmla="val 5259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3234055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Note: These lecture notes are incomplete without having attended lectures</a:t>
            </a:r>
          </a:p>
        </p:txBody>
      </p:sp>
      <p:sp>
        <p:nvSpPr>
          <p:cNvPr id="6" name="Slide Number Placeholder 5"/>
          <p:cNvSpPr>
            <a:spLocks noGrp="1"/>
          </p:cNvSpPr>
          <p:nvPr>
            <p:ph type="sldNum" sz="quarter" idx="12"/>
          </p:nvPr>
        </p:nvSpPr>
        <p:spPr/>
        <p:txBody>
          <a:bodyPr/>
          <a:lstStyle>
            <a:lvl1pPr>
              <a:defRPr/>
            </a:lvl1pPr>
          </a:lstStyle>
          <a:p>
            <a:fld id="{1A236217-FD80-4EFB-A479-11505B56575D}" type="slidenum">
              <a:rPr lang="en-US"/>
              <a:pPr/>
              <a:t>‹#›</a:t>
            </a:fld>
            <a:endParaRPr lang="en-US"/>
          </a:p>
        </p:txBody>
      </p:sp>
    </p:spTree>
    <p:extLst>
      <p:ext uri="{BB962C8B-B14F-4D97-AF65-F5344CB8AC3E}">
        <p14:creationId xmlns:p14="http://schemas.microsoft.com/office/powerpoint/2010/main" val="529850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6293393"/>
      </p:ext>
    </p:extLst>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29852625"/>
      </p:ext>
    </p:extLst>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458200" cy="5289550"/>
          </a:xfrm>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40984043"/>
      </p:ext>
    </p:extLst>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359308934"/>
      </p:ext>
    </p:extLst>
  </p:cSld>
  <p:clrMapOvr>
    <a:masterClrMapping/>
  </p:clrMapOvr>
  <p:transition>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a:prstGeom prst="rect">
            <a:avLst/>
          </a:prstGeom>
        </p:spPr>
        <p:txBody>
          <a:bodyPr/>
          <a:lstStyle>
            <a:lvl1pPr algn="r">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103167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7671972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0"/>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dirty="0">
                <a:solidFill>
                  <a:srgbClr val="4BACC6">
                    <a:lumMod val="75000"/>
                  </a:srgbClr>
                </a:solidFill>
              </a:rPr>
              <a:t>ECONOMICS</a:t>
            </a: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03214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dirty="0">
              <a:solidFill>
                <a:prstClr val="black"/>
              </a:solidFill>
              <a:latin typeface="Calibri"/>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F4F44DE6-8B77-400C-8F66-8B96B952C9BA}" type="slidenum">
              <a:rPr lang="en-US" smtClean="0">
                <a:solidFill>
                  <a:prstClr val="black">
                    <a:tint val="75000"/>
                  </a:prstClr>
                </a:solidFill>
                <a:latin typeface="Calibri"/>
              </a:rPr>
              <a:pPr/>
              <a:t>‹#›</a:t>
            </a:fld>
            <a:endParaRPr lang="en-US" dirty="0">
              <a:solidFill>
                <a:prstClr val="black">
                  <a:tint val="75000"/>
                </a:prstClr>
              </a:solidFill>
              <a:latin typeface="Calibri"/>
            </a:endParaRPr>
          </a:p>
        </p:txBody>
      </p:sp>
    </p:spTree>
    <p:extLst>
      <p:ext uri="{BB962C8B-B14F-4D97-AF65-F5344CB8AC3E}">
        <p14:creationId xmlns:p14="http://schemas.microsoft.com/office/powerpoint/2010/main" val="8044739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8492248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79172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85826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5" name="Picture 4" descr="Screen Shot 2014-12-20 at 5.27.50 PM.png"/>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7580130" y="15463"/>
            <a:ext cx="1532200" cy="1508537"/>
          </a:xfrm>
          <a:prstGeom prst="rect">
            <a:avLst/>
          </a:prstGeom>
        </p:spPr>
      </p:pic>
    </p:spTree>
    <p:extLst>
      <p:ext uri="{BB962C8B-B14F-4D97-AF65-F5344CB8AC3E}">
        <p14:creationId xmlns:p14="http://schemas.microsoft.com/office/powerpoint/2010/main" val="35515218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35361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0865570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1757738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solidFill>
                  <a:prstClr val="black">
                    <a:lumMod val="50000"/>
                    <a:lumOff val="50000"/>
                  </a:prstClr>
                </a:solidFill>
                <a:latin typeface="Calibri"/>
              </a:rPr>
              <a:t>Copyright 2013 Worth Publishers</a:t>
            </a:r>
          </a:p>
        </p:txBody>
      </p:sp>
    </p:spTree>
    <p:extLst>
      <p:ext uri="{BB962C8B-B14F-4D97-AF65-F5344CB8AC3E}">
        <p14:creationId xmlns:p14="http://schemas.microsoft.com/office/powerpoint/2010/main" val="385998333"/>
      </p:ext>
    </p:extLst>
  </p:cSld>
  <p:clrMapOvr>
    <a:masterClrMapping/>
  </p:clrMapOvr>
  <p:transition>
    <p:fade thruBlk="1"/>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0133175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552779"/>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solidFill>
                <a:prstClr val="black"/>
              </a:solidFill>
              <a:latin typeface="Calibri"/>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solidFill>
                  <a:prstClr val="black"/>
                </a:solidFill>
                <a:latin typeface="Calibri"/>
              </a:rPr>
              <a:t>Copyright 2015 Worth Publishers</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F4F44DE6-8B77-400C-8F66-8B96B952C9BA}" type="slidenum">
              <a:rPr lang="en-US" smtClean="0">
                <a:solidFill>
                  <a:prstClr val="black"/>
                </a:solidFill>
                <a:latin typeface="Calibri"/>
              </a:rPr>
              <a:pPr/>
              <a:t>‹#›</a:t>
            </a:fld>
            <a:endParaRPr lang="en-US">
              <a:solidFill>
                <a:prstClr val="black"/>
              </a:solidFill>
              <a:latin typeface="Calibri"/>
            </a:endParaRPr>
          </a:p>
        </p:txBody>
      </p:sp>
    </p:spTree>
    <p:extLst>
      <p:ext uri="{BB962C8B-B14F-4D97-AF65-F5344CB8AC3E}">
        <p14:creationId xmlns:p14="http://schemas.microsoft.com/office/powerpoint/2010/main" val="37246898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786760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5" name="Picture 4" descr="Screen Shot 2014-12-20 at 5.27.50 PM.png"/>
          <p:cNvPicPr>
            <a:picLocks noChangeAspect="1"/>
          </p:cNvPicPr>
          <p:nvPr userDrawn="1"/>
        </p:nvPicPr>
        <p:blipFill>
          <a:blip r:embed="rId2" cstate="screen">
            <a:alphaModFix amt="20000"/>
            <a:extLst>
              <a:ext uri="{28A0092B-C50C-407E-A947-70E740481C1C}">
                <a14:useLocalDpi xmlns:a14="http://schemas.microsoft.com/office/drawing/2010/main"/>
              </a:ext>
            </a:extLst>
          </a:blip>
          <a:stretch>
            <a:fillRect/>
          </a:stretch>
        </p:blipFill>
        <p:spPr>
          <a:xfrm>
            <a:off x="7580130" y="15463"/>
            <a:ext cx="1532200" cy="1508537"/>
          </a:xfrm>
          <a:prstGeom prst="rect">
            <a:avLst/>
          </a:prstGeom>
        </p:spPr>
      </p:pic>
    </p:spTree>
    <p:extLst>
      <p:ext uri="{BB962C8B-B14F-4D97-AF65-F5344CB8AC3E}">
        <p14:creationId xmlns:p14="http://schemas.microsoft.com/office/powerpoint/2010/main" val="22399511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41911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a:t>
            </a:r>
            <a:endParaRPr lang="en-US" dirty="0"/>
          </a:p>
        </p:txBody>
      </p:sp>
    </p:spTree>
    <p:extLst>
      <p:ext uri="{BB962C8B-B14F-4D97-AF65-F5344CB8AC3E}">
        <p14:creationId xmlns:p14="http://schemas.microsoft.com/office/powerpoint/2010/main" val="13807272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25980201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t>Copyright 2013 Worth Publishers</a:t>
            </a:r>
          </a:p>
        </p:txBody>
      </p:sp>
    </p:spTree>
    <p:extLst>
      <p:ext uri="{BB962C8B-B14F-4D97-AF65-F5344CB8AC3E}">
        <p14:creationId xmlns:p14="http://schemas.microsoft.com/office/powerpoint/2010/main" val="1107825831"/>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slide" Target="../slides/slide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 Target="../slides/slide2.xml"/><Relationship Id="rId5" Type="http://schemas.openxmlformats.org/officeDocument/2006/relationships/slideLayout" Target="../slideLayouts/slideLayout6.xml"/><Relationship Id="rId10" Type="http://schemas.openxmlformats.org/officeDocument/2006/relationships/slide" Target="../slides/slide3.xml"/><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3.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slide" Target="../slides/slide2.xml"/><Relationship Id="rId4" Type="http://schemas.openxmlformats.org/officeDocument/2006/relationships/slide" Target="../slides/slide3.xml"/></Relationships>
</file>

<file path=ppt/slideMasters/_rels/slideMaster5.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theme" Target="../theme/theme5.xml"/><Relationship Id="rId1"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slide" Target="../slides/slide2.xml"/><Relationship Id="rId4" Type="http://schemas.openxmlformats.org/officeDocument/2006/relationships/slide" Target="../slides/slide3.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7.xml"/><Relationship Id="rId1" Type="http://schemas.openxmlformats.org/officeDocument/2006/relationships/slideLayout" Target="../slideLayouts/slideLayout20.xml"/><Relationship Id="rId5" Type="http://schemas.openxmlformats.org/officeDocument/2006/relationships/slide" Target="../slides/slide2.xml"/><Relationship Id="rId4" Type="http://schemas.openxmlformats.org/officeDocument/2006/relationships/slide" Target="../slides/slide3.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22.xml"/><Relationship Id="rId1" Type="http://schemas.openxmlformats.org/officeDocument/2006/relationships/slideLayout" Target="../slideLayouts/slideLayout21.xml"/><Relationship Id="rId5" Type="http://schemas.openxmlformats.org/officeDocument/2006/relationships/slide" Target="../slides/slide2.xml"/><Relationship Id="rId4" Type="http://schemas.openxmlformats.org/officeDocument/2006/relationships/slide" Target="../slides/slide3.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 Target="../slides/slide2.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 Target="../slides/slide3.xml"/><Relationship Id="rId5" Type="http://schemas.openxmlformats.org/officeDocument/2006/relationships/slideLayout" Target="../slideLayouts/slideLayout29.xml"/><Relationship Id="rId10" Type="http://schemas.openxmlformats.org/officeDocument/2006/relationships/theme" Target="../theme/theme10.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11.xml.rels><?xml version="1.0" encoding="UTF-8" standalone="yes"?>
<Relationships xmlns="http://schemas.openxmlformats.org/package/2006/relationships"><Relationship Id="rId8" Type="http://schemas.openxmlformats.org/officeDocument/2006/relationships/slide" Target="../slides/slide3.xml"/><Relationship Id="rId3" Type="http://schemas.openxmlformats.org/officeDocument/2006/relationships/slideLayout" Target="../slideLayouts/slideLayout36.xml"/><Relationship Id="rId7" Type="http://schemas.openxmlformats.org/officeDocument/2006/relationships/theme" Target="../theme/theme11.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3"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a:t>
            </a:r>
            <a:r>
              <a:rPr lang="en-US" sz="800" b="1" dirty="0">
                <a:latin typeface="Candara" pitchFamily="34" charset="0"/>
                <a:hlinkClick r:id="rId3" action="ppaction://hlinksldjump"/>
              </a:rPr>
              <a:t>s</a:t>
            </a:r>
            <a:endParaRPr lang="en-US" sz="800" b="1" dirty="0">
              <a:latin typeface="Candara" pitchFamily="34" charset="0"/>
            </a:endParaRPr>
          </a:p>
          <a:p>
            <a:endParaRPr lang="en-US" sz="1000" dirty="0">
              <a:latin typeface="Candara" pitchFamily="34" charset="0"/>
            </a:endParaRPr>
          </a:p>
        </p:txBody>
      </p:sp>
      <p:sp>
        <p:nvSpPr>
          <p:cNvPr id="10" name="Right Arrow 9"/>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APPLICATION VIDEO</a:t>
            </a:r>
          </a:p>
        </p:txBody>
      </p:sp>
    </p:spTree>
  </p:cSld>
  <p:clrMap bg1="lt1" tx1="dk1" bg2="lt2" tx2="dk2" accent1="accent1" accent2="accent2" accent3="accent3" accent4="accent4" accent5="accent5" accent6="accent6" hlink="hlink" folHlink="folHlink"/>
  <p:sldLayoutIdLst>
    <p:sldLayoutId id="2147483694" r:id="rId1"/>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838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10"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11"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74680670"/>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22" r:id="rId3"/>
    <p:sldLayoutId id="2147483741" r:id="rId4"/>
    <p:sldLayoutId id="2147483787" r:id="rId5"/>
    <p:sldLayoutId id="2147483810" r:id="rId6"/>
    <p:sldLayoutId id="2147483882" r:id="rId7"/>
    <p:sldLayoutId id="2147483883" r:id="rId8"/>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4400" b="0" kern="1200" spc="0" baseline="0">
          <a:solidFill>
            <a:schemeClr val="accent3"/>
          </a:solidFill>
          <a:effectLst>
            <a:innerShdw blurRad="63500" dist="50800" dir="13500000">
              <a:prstClr val="black">
                <a:alpha val="50000"/>
              </a:prstClr>
            </a:innerShdw>
          </a:effectLst>
          <a:latin typeface="Century Gothic"/>
          <a:ea typeface="+mj-ea"/>
          <a:cs typeface="Century Gothic"/>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870" r:id="rId4"/>
    <p:sldLayoutId id="2147483881" r:id="rId5"/>
  </p:sldLayoutIdLst>
  <p:hf sldNum="0" hdr="0" dt="0"/>
  <p:txStyles>
    <p:titleStyle>
      <a:lvl1pPr algn="ctr" rtl="0" eaLnBrk="1" fontAlgn="base" hangingPunct="1">
        <a:spcBef>
          <a:spcPct val="0"/>
        </a:spcBef>
        <a:spcAft>
          <a:spcPct val="0"/>
        </a:spcAft>
        <a:defRPr sz="4400" b="1" kern="1200">
          <a:solidFill>
            <a:schemeClr val="tx1"/>
          </a:solidFill>
          <a:latin typeface="Candara" pitchFamily="34" charset="0"/>
          <a:ea typeface="+mj-ea"/>
          <a:cs typeface="+mj-cs"/>
        </a:defRPr>
      </a:lvl1pPr>
      <a:lvl2pPr algn="ctr" rtl="0" eaLnBrk="1" fontAlgn="base" hangingPunct="1">
        <a:spcBef>
          <a:spcPct val="0"/>
        </a:spcBef>
        <a:spcAft>
          <a:spcPct val="0"/>
        </a:spcAft>
        <a:defRPr sz="4400">
          <a:solidFill>
            <a:schemeClr val="tx1"/>
          </a:solidFill>
          <a:latin typeface="Century Gothic" pitchFamily="34" charset="0"/>
        </a:defRPr>
      </a:lvl2pPr>
      <a:lvl3pPr algn="ctr" rtl="0" eaLnBrk="1" fontAlgn="base" hangingPunct="1">
        <a:spcBef>
          <a:spcPct val="0"/>
        </a:spcBef>
        <a:spcAft>
          <a:spcPct val="0"/>
        </a:spcAft>
        <a:defRPr sz="4400">
          <a:solidFill>
            <a:schemeClr val="tx1"/>
          </a:solidFill>
          <a:latin typeface="Century Gothic" pitchFamily="34" charset="0"/>
        </a:defRPr>
      </a:lvl3pPr>
      <a:lvl4pPr algn="ctr" rtl="0" eaLnBrk="1" fontAlgn="base" hangingPunct="1">
        <a:spcBef>
          <a:spcPct val="0"/>
        </a:spcBef>
        <a:spcAft>
          <a:spcPct val="0"/>
        </a:spcAft>
        <a:defRPr sz="4400">
          <a:solidFill>
            <a:schemeClr val="tx1"/>
          </a:solidFill>
          <a:latin typeface="Century Gothic" pitchFamily="34" charset="0"/>
        </a:defRPr>
      </a:lvl4pPr>
      <a:lvl5pPr algn="ctr" rtl="0" eaLnBrk="1" fontAlgn="base" hangingPunct="1">
        <a:spcBef>
          <a:spcPct val="0"/>
        </a:spcBef>
        <a:spcAft>
          <a:spcPct val="0"/>
        </a:spcAft>
        <a:defRPr sz="4400">
          <a:solidFill>
            <a:schemeClr val="tx1"/>
          </a:solidFill>
          <a:latin typeface="Century Gothic" pitchFamily="34" charset="0"/>
        </a:defRPr>
      </a:lvl5pPr>
      <a:lvl6pPr marL="457200" algn="ctr" rtl="0" eaLnBrk="1" fontAlgn="base" hangingPunct="1">
        <a:spcBef>
          <a:spcPct val="0"/>
        </a:spcBef>
        <a:spcAft>
          <a:spcPct val="0"/>
        </a:spcAft>
        <a:defRPr sz="4400">
          <a:solidFill>
            <a:schemeClr val="tx1"/>
          </a:solidFill>
          <a:latin typeface="Century Gothic" pitchFamily="34" charset="0"/>
        </a:defRPr>
      </a:lvl6pPr>
      <a:lvl7pPr marL="914400" algn="ctr" rtl="0" eaLnBrk="1" fontAlgn="base" hangingPunct="1">
        <a:spcBef>
          <a:spcPct val="0"/>
        </a:spcBef>
        <a:spcAft>
          <a:spcPct val="0"/>
        </a:spcAft>
        <a:defRPr sz="4400">
          <a:solidFill>
            <a:schemeClr val="tx1"/>
          </a:solidFill>
          <a:latin typeface="Century Gothic" pitchFamily="34" charset="0"/>
        </a:defRPr>
      </a:lvl7pPr>
      <a:lvl8pPr marL="1371600" algn="ctr" rtl="0" eaLnBrk="1" fontAlgn="base" hangingPunct="1">
        <a:spcBef>
          <a:spcPct val="0"/>
        </a:spcBef>
        <a:spcAft>
          <a:spcPct val="0"/>
        </a:spcAft>
        <a:defRPr sz="4400">
          <a:solidFill>
            <a:schemeClr val="tx1"/>
          </a:solidFill>
          <a:latin typeface="Century Gothic" pitchFamily="34" charset="0"/>
        </a:defRPr>
      </a:lvl8pPr>
      <a:lvl9pPr marL="1828800" algn="ctr" rtl="0" eaLnBrk="1" fontAlgn="base" hangingPunct="1">
        <a:spcBef>
          <a:spcPct val="0"/>
        </a:spcBef>
        <a:spcAft>
          <a:spcPct val="0"/>
        </a:spcAft>
        <a:defRPr sz="4400">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PRACTICE QUESTION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0"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hlinkClick r:id="rId3"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3"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2"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11" name="Right Arrow 10"/>
          <p:cNvSpPr/>
          <p:nvPr/>
        </p:nvSpPr>
        <p:spPr>
          <a:xfrm>
            <a:off x="0" y="0"/>
            <a:ext cx="8991600" cy="1161633"/>
          </a:xfrm>
          <a:prstGeom prst="rightArrow">
            <a:avLst>
              <a:gd name="adj1" fmla="val 50000"/>
              <a:gd name="adj2" fmla="val 78749"/>
            </a:avLst>
          </a:prstGeom>
          <a:solidFill>
            <a:schemeClr val="accent5">
              <a:lumMod val="40000"/>
              <a:lumOff val="6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BUSINESS</a:t>
            </a:r>
            <a:r>
              <a:rPr lang="en-US" sz="3200" b="0" spc="60" baseline="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 CASE</a:t>
            </a:r>
            <a:endPar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endParaRPr>
          </a:p>
        </p:txBody>
      </p:sp>
    </p:spTree>
    <p:extLst>
      <p:ext uri="{BB962C8B-B14F-4D97-AF65-F5344CB8AC3E}">
        <p14:creationId xmlns:p14="http://schemas.microsoft.com/office/powerpoint/2010/main" val="3055139934"/>
      </p:ext>
    </p:extLst>
  </p:cSld>
  <p:clrMap bg1="lt1" tx1="dk1" bg2="lt2" tx2="dk2" accent1="accent1" accent2="accent2" accent3="accent3" accent4="accent4" accent5="accent5" accent6="accent6" hlink="hlink" folHlink="folHlink"/>
  <p:sldLayoutIdLst>
    <p:sldLayoutId id="2147483712" r:id="rId1"/>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11" name="Right Arrow 10">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12" name="Right Arrow 11"/>
          <p:cNvSpPr/>
          <p:nvPr/>
        </p:nvSpPr>
        <p:spPr>
          <a:xfrm>
            <a:off x="0" y="0"/>
            <a:ext cx="8991600" cy="1161633"/>
          </a:xfrm>
          <a:prstGeom prst="rightArrow">
            <a:avLst>
              <a:gd name="adj1" fmla="val 50000"/>
              <a:gd name="adj2" fmla="val 78749"/>
            </a:avLst>
          </a:prstGeom>
          <a:solidFill>
            <a:schemeClr val="bg2">
              <a:lumMod val="9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50000"/>
                  </a:schemeClr>
                </a:solidFill>
                <a:effectLst>
                  <a:innerShdw blurRad="63500" dist="50800" dir="13500000">
                    <a:prstClr val="black">
                      <a:alpha val="50000"/>
                    </a:prstClr>
                  </a:innerShdw>
                </a:effectLst>
                <a:latin typeface="Century Gothic" pitchFamily="34" charset="0"/>
                <a:cs typeface="Courier New" pitchFamily="49" charset="0"/>
              </a:rPr>
              <a:t>LEARN BY DOING: DISCUSS</a:t>
            </a:r>
          </a:p>
        </p:txBody>
      </p:sp>
    </p:spTree>
    <p:extLst>
      <p:ext uri="{BB962C8B-B14F-4D97-AF65-F5344CB8AC3E}">
        <p14:creationId xmlns:p14="http://schemas.microsoft.com/office/powerpoint/2010/main" val="3999456525"/>
      </p:ext>
    </p:extLst>
  </p:cSld>
  <p:clrMap bg1="lt1" tx1="dk1" bg2="lt2" tx2="dk2" accent1="accent1" accent2="accent2" accent3="accent3" accent4="accent4" accent5="accent5" accent6="accent6" hlink="hlink" folHlink="folHlink"/>
  <p:sldLayoutIdLst>
    <p:sldLayoutId id="2147483715" r:id="rId1"/>
    <p:sldLayoutId id="2147483869"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35582923"/>
      </p:ext>
    </p:extLst>
  </p:cSld>
  <p:clrMap bg1="lt1" tx1="dk1" bg2="lt2" tx2="dk2" accent1="accent1" accent2="accent2" accent3="accent3" accent4="accent4" accent5="accent5" accent6="accent6" hlink="hlink" folHlink="folHlink"/>
  <p:sldLayoutIdLst>
    <p:sldLayoutId id="2147483718"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32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8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4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0"/>
            <a:ext cx="3263366" cy="838200"/>
          </a:xfrm>
          <a:prstGeom prst="rect">
            <a:avLst/>
          </a:prstGeom>
          <a:noFill/>
        </p:spPr>
        <p:txBody>
          <a:bodyPr vert="horz" lIns="91440" tIns="45720" rIns="91440" bIns="45720" rtlCol="0" anchor="ctr">
            <a:noAutofit/>
          </a:bodyPr>
          <a:lstStyle/>
          <a:p>
            <a:r>
              <a:rPr lang="en-US" dirty="0"/>
              <a:t>ECONOMICS</a:t>
            </a:r>
          </a:p>
        </p:txBody>
      </p:sp>
      <p:sp>
        <p:nvSpPr>
          <p:cNvPr id="3" name="Text Placeholder 2"/>
          <p:cNvSpPr>
            <a:spLocks noGrp="1"/>
          </p:cNvSpPr>
          <p:nvPr>
            <p:ph type="body" idx="1"/>
          </p:nvPr>
        </p:nvSpPr>
        <p:spPr>
          <a:xfrm>
            <a:off x="228600" y="914400"/>
            <a:ext cx="8839200" cy="51440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txBox="1">
            <a:spLocks/>
          </p:cNvSpPr>
          <p:nvPr/>
        </p:nvSpPr>
        <p:spPr>
          <a:xfrm>
            <a:off x="3854173" y="0"/>
            <a:ext cx="2853083" cy="838200"/>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3600" b="1" i="1" kern="1200" cap="all" spc="-200" baseline="0">
                <a:solidFill>
                  <a:schemeClr val="accent5">
                    <a:lumMod val="75000"/>
                  </a:schemeClr>
                </a:solidFill>
                <a:latin typeface="Verdana"/>
                <a:ea typeface="+mj-ea"/>
                <a:cs typeface="Verdana"/>
              </a:defRPr>
            </a:lvl1pPr>
          </a:lstStyle>
          <a:p>
            <a:r>
              <a:rPr lang="en-US" dirty="0">
                <a:solidFill>
                  <a:srgbClr val="F79646">
                    <a:lumMod val="75000"/>
                  </a:srgbClr>
                </a:solidFill>
              </a:rPr>
              <a:t>IN ACTION</a:t>
            </a:r>
          </a:p>
        </p:txBody>
      </p:sp>
      <p:sp>
        <p:nvSpPr>
          <p:cNvPr id="13" name="Oval 12"/>
          <p:cNvSpPr/>
          <p:nvPr/>
        </p:nvSpPr>
        <p:spPr>
          <a:xfrm>
            <a:off x="3263367" y="228600"/>
            <a:ext cx="474870" cy="485913"/>
          </a:xfrm>
          <a:prstGeom prst="ellipse">
            <a:avLst/>
          </a:prstGeom>
          <a:solidFill>
            <a:schemeClr val="bg1"/>
          </a:solidFill>
          <a:ln>
            <a:noFill/>
          </a:ln>
          <a:effectLst>
            <a:outerShdw blurRad="276225" dir="6960000" sx="122000" sy="122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rgbClr val="F79646">
                  <a:lumMod val="75000"/>
                </a:srgbClr>
              </a:solidFill>
              <a:latin typeface="Verdana"/>
              <a:cs typeface="Verdana"/>
            </a:endParaRPr>
          </a:p>
        </p:txBody>
      </p:sp>
      <p:sp>
        <p:nvSpPr>
          <p:cNvPr id="4" name="Isosceles Triangle 3"/>
          <p:cNvSpPr/>
          <p:nvPr/>
        </p:nvSpPr>
        <p:spPr>
          <a:xfrm rot="5400000">
            <a:off x="3379193" y="248348"/>
            <a:ext cx="337086" cy="381002"/>
          </a:xfrm>
          <a:prstGeom prst="triangle">
            <a:avLst>
              <a:gd name="adj" fmla="val 49975"/>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6" name="Straight Connector 5"/>
          <p:cNvCxnSpPr/>
          <p:nvPr/>
        </p:nvCxnSpPr>
        <p:spPr>
          <a:xfrm>
            <a:off x="0" y="774700"/>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2700" y="88900"/>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Footer Placeholder 2"/>
          <p:cNvSpPr>
            <a:spLocks noGrp="1"/>
          </p:cNvSpPr>
          <p:nvPr>
            <p:ph type="ftr" sz="quarter" idx="3"/>
          </p:nvPr>
        </p:nvSpPr>
        <p:spPr>
          <a:xfrm>
            <a:off x="1066800" y="6553200"/>
            <a:ext cx="7543800" cy="228600"/>
          </a:xfrm>
          <a:prstGeom prst="rect">
            <a:avLst/>
          </a:prstGeom>
        </p:spPr>
        <p:txBody>
          <a:bodyPr/>
          <a:lstStyle>
            <a:lvl1pPr algn="ctr">
              <a:defRPr>
                <a:solidFill>
                  <a:srgbClr val="7F7F7F"/>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Tree>
    <p:extLst>
      <p:ext uri="{BB962C8B-B14F-4D97-AF65-F5344CB8AC3E}">
        <p14:creationId xmlns:p14="http://schemas.microsoft.com/office/powerpoint/2010/main" val="2096068277"/>
      </p:ext>
    </p:extLst>
  </p:cSld>
  <p:clrMap bg1="lt1" tx1="dk1" bg2="lt2" tx2="dk2" accent1="accent1" accent2="accent2" accent3="accent3" accent4="accent4" accent5="accent5" accent6="accent6" hlink="hlink" folHlink="folHlink"/>
  <p:sldLayoutIdLst>
    <p:sldLayoutId id="2147483720" r:id="rId1"/>
    <p:sldLayoutId id="2147483841"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392043"/>
            <a:ext cx="3263366" cy="838200"/>
          </a:xfrm>
          <a:prstGeom prst="rect">
            <a:avLst/>
          </a:prstGeom>
          <a:noFill/>
        </p:spPr>
        <p:txBody>
          <a:bodyPr vert="horz" lIns="91440" tIns="45720" rIns="91440" bIns="45720" rtlCol="0" anchor="ctr">
            <a:noAutofit/>
          </a:bodyPr>
          <a:lstStyle/>
          <a:p>
            <a:r>
              <a:rPr lang="en-US" dirty="0"/>
              <a:t>ECONOMICS</a:t>
            </a:r>
          </a:p>
        </p:txBody>
      </p:sp>
      <p:sp>
        <p:nvSpPr>
          <p:cNvPr id="3" name="Text Placeholder 2"/>
          <p:cNvSpPr>
            <a:spLocks noGrp="1"/>
          </p:cNvSpPr>
          <p:nvPr>
            <p:ph type="body" idx="1"/>
          </p:nvPr>
        </p:nvSpPr>
        <p:spPr>
          <a:xfrm>
            <a:off x="228600" y="1410234"/>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txBox="1">
            <a:spLocks/>
          </p:cNvSpPr>
          <p:nvPr/>
        </p:nvSpPr>
        <p:spPr>
          <a:xfrm>
            <a:off x="3854173" y="392043"/>
            <a:ext cx="2853083" cy="838200"/>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3600" b="1" i="1" kern="1200" cap="all" spc="-200" baseline="0">
                <a:solidFill>
                  <a:schemeClr val="accent5">
                    <a:lumMod val="75000"/>
                  </a:schemeClr>
                </a:solidFill>
                <a:latin typeface="Verdana"/>
                <a:ea typeface="+mj-ea"/>
                <a:cs typeface="Verdana"/>
              </a:defRPr>
            </a:lvl1pPr>
          </a:lstStyle>
          <a:p>
            <a:r>
              <a:rPr lang="en-US" dirty="0">
                <a:solidFill>
                  <a:srgbClr val="F79646">
                    <a:lumMod val="75000"/>
                  </a:srgbClr>
                </a:solidFill>
              </a:rPr>
              <a:t>IN ACTION</a:t>
            </a:r>
          </a:p>
        </p:txBody>
      </p:sp>
      <p:sp>
        <p:nvSpPr>
          <p:cNvPr id="13" name="Oval 12"/>
          <p:cNvSpPr/>
          <p:nvPr/>
        </p:nvSpPr>
        <p:spPr>
          <a:xfrm>
            <a:off x="3263367" y="589723"/>
            <a:ext cx="474870" cy="485913"/>
          </a:xfrm>
          <a:prstGeom prst="ellipse">
            <a:avLst/>
          </a:prstGeom>
          <a:solidFill>
            <a:schemeClr val="bg1"/>
          </a:solidFill>
          <a:ln>
            <a:noFill/>
          </a:ln>
          <a:effectLst>
            <a:outerShdw blurRad="276225" dir="6960000" sx="122000" sy="122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rgbClr val="F79646">
                  <a:lumMod val="75000"/>
                </a:srgbClr>
              </a:solidFill>
              <a:latin typeface="Verdana"/>
              <a:cs typeface="Verdana"/>
            </a:endParaRPr>
          </a:p>
        </p:txBody>
      </p:sp>
      <p:sp>
        <p:nvSpPr>
          <p:cNvPr id="4" name="Isosceles Triangle 3"/>
          <p:cNvSpPr/>
          <p:nvPr/>
        </p:nvSpPr>
        <p:spPr>
          <a:xfrm rot="5400000">
            <a:off x="3379193" y="640391"/>
            <a:ext cx="337086" cy="381002"/>
          </a:xfrm>
          <a:prstGeom prst="triangle">
            <a:avLst>
              <a:gd name="adj" fmla="val 49975"/>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6" name="Straight Connector 5"/>
          <p:cNvCxnSpPr/>
          <p:nvPr/>
        </p:nvCxnSpPr>
        <p:spPr>
          <a:xfrm>
            <a:off x="0" y="1166743"/>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2700" y="480943"/>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Footer Placeholder 2"/>
          <p:cNvSpPr>
            <a:spLocks noGrp="1"/>
          </p:cNvSpPr>
          <p:nvPr>
            <p:ph type="ftr" sz="quarter" idx="3"/>
          </p:nvPr>
        </p:nvSpPr>
        <p:spPr>
          <a:xfrm>
            <a:off x="1066800" y="6553200"/>
            <a:ext cx="7543800" cy="228600"/>
          </a:xfrm>
          <a:prstGeom prst="rect">
            <a:avLst/>
          </a:prstGeom>
        </p:spPr>
        <p:txBody>
          <a:bodyPr/>
          <a:lstStyle>
            <a:lvl1pPr algn="ctr">
              <a:defRPr>
                <a:solidFill>
                  <a:srgbClr val="7F7F7F"/>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3489126294"/>
      </p:ext>
    </p:extLst>
  </p:cSld>
  <p:clrMap bg1="lt1" tx1="dk1" bg2="lt2" tx2="dk2" accent1="accent1" accent2="accent2" accent3="accent3" accent4="accent4" accent5="accent5" accent6="accent6" hlink="hlink" folHlink="folHlink"/>
  <p:sldLayoutIdLst>
    <p:sldLayoutId id="2147483812" r:id="rId1"/>
    <p:sldLayoutId id="2147483813" r:id="rId2"/>
  </p:sldLayoutIdLst>
  <p:hf sldNum="0" hdr="0" dt="0"/>
  <p:txStyles>
    <p:title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838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2" name="TextBox 11">
            <a:hlinkClick r:id="rId11"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12"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58372759"/>
      </p:ext>
    </p:extLst>
  </p:cSld>
  <p:clrMap bg1="lt1" tx1="dk1" bg2="lt2" tx2="dk2" accent1="accent1" accent2="accent2" accent3="accent3" accent4="accent4" accent5="accent5" accent6="accent6" hlink="hlink" folHlink="folHlink"/>
  <p:sldLayoutIdLst>
    <p:sldLayoutId id="2147483872"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4400" b="0" kern="1200" spc="0" baseline="0">
          <a:solidFill>
            <a:schemeClr val="accent3"/>
          </a:solidFill>
          <a:effectLst>
            <a:innerShdw blurRad="63500" dist="50800" dir="13500000">
              <a:prstClr val="black">
                <a:alpha val="50000"/>
              </a:prstClr>
            </a:innerShdw>
          </a:effectLst>
          <a:latin typeface="Century Gothic"/>
          <a:ea typeface="+mj-ea"/>
          <a:cs typeface="Century Gothic"/>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838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8"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8"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729056030"/>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4400" b="0" kern="1200" spc="0" baseline="0">
          <a:solidFill>
            <a:schemeClr val="accent3"/>
          </a:solidFill>
          <a:effectLst>
            <a:innerShdw blurRad="63500" dist="50800" dir="13500000">
              <a:prstClr val="black">
                <a:alpha val="50000"/>
              </a:prstClr>
            </a:innerShdw>
          </a:effectLst>
          <a:latin typeface="Century Gothic"/>
          <a:ea typeface="+mj-ea"/>
          <a:cs typeface="Century Gothic"/>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slide" Target="slide12.xml"/><Relationship Id="rId7" Type="http://schemas.openxmlformats.org/officeDocument/2006/relationships/slide" Target="slide82.xml"/><Relationship Id="rId2" Type="http://schemas.openxmlformats.org/officeDocument/2006/relationships/slide" Target="slide8.xml"/><Relationship Id="rId1" Type="http://schemas.openxmlformats.org/officeDocument/2006/relationships/slideLayout" Target="../slideLayouts/slideLayout12.xml"/><Relationship Id="rId6" Type="http://schemas.openxmlformats.org/officeDocument/2006/relationships/slide" Target="slide54.xml"/><Relationship Id="rId5" Type="http://schemas.openxmlformats.org/officeDocument/2006/relationships/slide" Target="slide45.xml"/><Relationship Id="rId4" Type="http://schemas.openxmlformats.org/officeDocument/2006/relationships/slide" Target="slide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slide" Target="slide20.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2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6.jpeg"/><Relationship Id="rId7" Type="http://schemas.openxmlformats.org/officeDocument/2006/relationships/image" Target="../media/image39.jpe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hyperlink" Target="http://www.sxc.hu/browse.phtml?f=download&amp;id=1279448"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2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slide" Target="slide5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en.wikipedia.org/wiki/Great_Depression"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9.xml"/><Relationship Id="rId1" Type="http://schemas.openxmlformats.org/officeDocument/2006/relationships/slideLayout" Target="../slideLayouts/slideLayout21.xml"/><Relationship Id="rId4" Type="http://schemas.openxmlformats.org/officeDocument/2006/relationships/image" Target="../media/image53.jpeg"/></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notesSlide" Target="../notesSlides/notesSlide35.xml"/><Relationship Id="rId1" Type="http://schemas.openxmlformats.org/officeDocument/2006/relationships/slideLayout" Target="../slideLayouts/slideLayout18.xml"/><Relationship Id="rId4" Type="http://schemas.openxmlformats.org/officeDocument/2006/relationships/image" Target="../media/image60.jpeg"/></Relationships>
</file>

<file path=ppt/slides/_rels/slide4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5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_rels/slide5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4.xml"/></Relationships>
</file>

<file path=ppt/slides/_rels/slide6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3.xml"/><Relationship Id="rId1" Type="http://schemas.openxmlformats.org/officeDocument/2006/relationships/slideLayout" Target="../slideLayouts/slideLayout3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4.xml"/></Relationships>
</file>

<file path=ppt/slides/_rels/slide6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49.xml"/><Relationship Id="rId1" Type="http://schemas.openxmlformats.org/officeDocument/2006/relationships/slideLayout" Target="../slideLayouts/slideLayout34.xml"/><Relationship Id="rId4" Type="http://schemas.openxmlformats.org/officeDocument/2006/relationships/image" Target="../media/image71.png"/></Relationships>
</file>

<file path=ppt/slides/_rels/slide6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34.xml"/><Relationship Id="rId6" Type="http://schemas.openxmlformats.org/officeDocument/2006/relationships/image" Target="../media/image76.jpeg"/><Relationship Id="rId5" Type="http://schemas.openxmlformats.org/officeDocument/2006/relationships/image" Target="../media/image75.jpeg"/><Relationship Id="rId4" Type="http://schemas.openxmlformats.org/officeDocument/2006/relationships/image" Target="../media/image74.jpeg"/></Relationships>
</file>

<file path=ppt/slides/_rels/slide70.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34.xml"/><Relationship Id="rId6" Type="http://schemas.openxmlformats.org/officeDocument/2006/relationships/image" Target="../media/image81.jpeg"/><Relationship Id="rId5" Type="http://schemas.openxmlformats.org/officeDocument/2006/relationships/image" Target="../media/image80.jpeg"/><Relationship Id="rId4" Type="http://schemas.openxmlformats.org/officeDocument/2006/relationships/image" Target="../media/image79.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1.xml"/></Relationships>
</file>

<file path=ppt/slides/_rels/slide7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www.pbs.org/wgbh/pages/frontline/meltdown/view/" TargetMode="External"/><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88.png"/></Relationships>
</file>

<file path=ppt/slides/_rels/slide83.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533400"/>
            <a:ext cx="7772400" cy="1470025"/>
          </a:xfrm>
        </p:spPr>
        <p:txBody>
          <a:bodyPr/>
          <a:lstStyle/>
          <a:p>
            <a:r>
              <a:rPr lang="en-US" sz="2800" dirty="0"/>
              <a:t>Economics 2220</a:t>
            </a:r>
            <a:br>
              <a:rPr lang="en-US" sz="2800" dirty="0"/>
            </a:br>
            <a:r>
              <a:rPr lang="en-US" dirty="0"/>
              <a:t>Principles Of Macroeconomics</a:t>
            </a:r>
          </a:p>
        </p:txBody>
      </p:sp>
      <p:sp>
        <p:nvSpPr>
          <p:cNvPr id="2051" name="Rectangle 3"/>
          <p:cNvSpPr>
            <a:spLocks noGrp="1" noChangeArrowheads="1"/>
          </p:cNvSpPr>
          <p:nvPr>
            <p:ph type="subTitle" idx="1"/>
          </p:nvPr>
        </p:nvSpPr>
        <p:spPr>
          <a:xfrm>
            <a:off x="1371600" y="1981200"/>
            <a:ext cx="6400800" cy="533400"/>
          </a:xfrm>
        </p:spPr>
        <p:txBody>
          <a:bodyPr/>
          <a:lstStyle/>
          <a:p>
            <a:r>
              <a:rPr lang="en-US" sz="2400" dirty="0"/>
              <a:t>Professor Zhigang Feng</a:t>
            </a:r>
          </a:p>
        </p:txBody>
      </p:sp>
      <p:sp>
        <p:nvSpPr>
          <p:cNvPr id="2052" name="Text Box 4"/>
          <p:cNvSpPr txBox="1">
            <a:spLocks noChangeArrowheads="1"/>
          </p:cNvSpPr>
          <p:nvPr/>
        </p:nvSpPr>
        <p:spPr bwMode="auto">
          <a:xfrm>
            <a:off x="1662545" y="3276600"/>
            <a:ext cx="6781800" cy="1169551"/>
          </a:xfrm>
          <a:prstGeom prst="rect">
            <a:avLst/>
          </a:prstGeom>
          <a:noFill/>
          <a:ln w="9525">
            <a:noFill/>
            <a:miter lim="800000"/>
            <a:headEnd/>
            <a:tailEnd/>
          </a:ln>
          <a:effectLst/>
        </p:spPr>
        <p:txBody>
          <a:bodyPr wrap="square">
            <a:spAutoFit/>
          </a:bodyPr>
          <a:lstStyle/>
          <a:p>
            <a:pPr marL="228600" indent="-228600">
              <a:spcBef>
                <a:spcPct val="50000"/>
              </a:spcBef>
            </a:pPr>
            <a:r>
              <a:rPr lang="en-US" sz="2800" u="sng" dirty="0"/>
              <a:t>Lecture 13: </a:t>
            </a:r>
          </a:p>
          <a:p>
            <a:pPr marL="228600" indent="-228600">
              <a:spcBef>
                <a:spcPct val="50000"/>
              </a:spcBef>
            </a:pPr>
            <a:r>
              <a:rPr lang="en-US" sz="2800" u="sng" dirty="0"/>
              <a:t>Money, Banking and Monetary policy</a:t>
            </a:r>
          </a:p>
        </p:txBody>
      </p:sp>
    </p:spTree>
    <p:extLst>
      <p:ext uri="{BB962C8B-B14F-4D97-AF65-F5344CB8AC3E}">
        <p14:creationId xmlns:p14="http://schemas.microsoft.com/office/powerpoint/2010/main" val="557044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295400"/>
            <a:ext cx="9067800" cy="4525963"/>
          </a:xfrm>
        </p:spPr>
        <p:txBody>
          <a:bodyPr/>
          <a:lstStyle/>
          <a:p>
            <a:pPr marL="565150" indent="-392113"/>
            <a:r>
              <a:rPr lang="en-US" sz="3200" b="0" dirty="0"/>
              <a:t>The various </a:t>
            </a:r>
            <a:r>
              <a:rPr lang="en-US" sz="3200" dirty="0">
                <a:hlinkClick r:id="rId2" action="ppaction://hlinksldjump"/>
              </a:rPr>
              <a:t>roles</a:t>
            </a:r>
            <a:r>
              <a:rPr lang="en-US" sz="3200" b="0" dirty="0">
                <a:hlinkClick r:id="rId2" action="ppaction://hlinksldjump"/>
              </a:rPr>
              <a:t> </a:t>
            </a:r>
            <a:r>
              <a:rPr lang="en-US" sz="3200" dirty="0">
                <a:hlinkClick r:id="rId2" action="ppaction://hlinksldjump"/>
              </a:rPr>
              <a:t>money </a:t>
            </a:r>
            <a:r>
              <a:rPr lang="en-US" sz="3200" b="0" dirty="0"/>
              <a:t>plays and the many </a:t>
            </a:r>
            <a:r>
              <a:rPr lang="en-US" sz="3200" dirty="0">
                <a:hlinkClick r:id="rId3" action="ppaction://hlinksldjump"/>
              </a:rPr>
              <a:t>forms</a:t>
            </a:r>
            <a:r>
              <a:rPr lang="en-US" sz="3200" b="0" dirty="0"/>
              <a:t> it takes in the economy</a:t>
            </a:r>
          </a:p>
          <a:p>
            <a:pPr marL="565150" indent="-392113"/>
            <a:r>
              <a:rPr lang="en-US" sz="3200" b="0" dirty="0"/>
              <a:t>How the actions of private banks and the Federal Reserve determine the </a:t>
            </a:r>
            <a:r>
              <a:rPr lang="en-US" sz="3200" dirty="0">
                <a:hlinkClick r:id="rId4" action="ppaction://hlinksldjump"/>
              </a:rPr>
              <a:t>money supply</a:t>
            </a:r>
            <a:endParaRPr lang="en-US" sz="3200" dirty="0"/>
          </a:p>
          <a:p>
            <a:pPr marL="565150" indent="-392113"/>
            <a:r>
              <a:rPr lang="en-US" sz="3200" b="0" dirty="0"/>
              <a:t>How the Federal Reserve uses </a:t>
            </a:r>
            <a:r>
              <a:rPr lang="en-US" sz="3200" dirty="0">
                <a:hlinkClick r:id="rId5" action="ppaction://hlinksldjump"/>
              </a:rPr>
              <a:t>open-market operations </a:t>
            </a:r>
            <a:r>
              <a:rPr lang="en-US" sz="3200" b="0" dirty="0"/>
              <a:t>to change the </a:t>
            </a:r>
            <a:r>
              <a:rPr lang="en-US" sz="3200" dirty="0">
                <a:hlinkClick r:id="rId6" action="ppaction://hlinksldjump"/>
              </a:rPr>
              <a:t>monetary base</a:t>
            </a:r>
            <a:endParaRPr lang="en-US" sz="3200" dirty="0"/>
          </a:p>
        </p:txBody>
      </p:sp>
      <p:sp>
        <p:nvSpPr>
          <p:cNvPr id="4" name="TextBox 3"/>
          <p:cNvSpPr txBox="1"/>
          <p:nvPr/>
        </p:nvSpPr>
        <p:spPr>
          <a:xfrm>
            <a:off x="8126413" y="6210300"/>
            <a:ext cx="635000" cy="460375"/>
          </a:xfrm>
          <a:prstGeom prst="rect">
            <a:avLst/>
          </a:prstGeom>
          <a:noFill/>
        </p:spPr>
        <p:txBody>
          <a:bodyPr>
            <a:spAutoFit/>
          </a:bodyPr>
          <a:lstStyle/>
          <a:p>
            <a:pPr fontAlgn="auto">
              <a:spcBef>
                <a:spcPts val="0"/>
              </a:spcBef>
              <a:spcAft>
                <a:spcPts val="0"/>
              </a:spcAft>
              <a:defRPr/>
            </a:pPr>
            <a:r>
              <a:rPr lang="en-US" sz="1200" b="1" dirty="0">
                <a:solidFill>
                  <a:schemeClr val="bg1"/>
                </a:solidFill>
                <a:effectLst>
                  <a:outerShdw blurRad="38100" dist="38100" dir="2700000" algn="tl">
                    <a:srgbClr val="000000">
                      <a:alpha val="43137"/>
                    </a:srgbClr>
                  </a:outerShdw>
                </a:effectLst>
                <a:latin typeface="+mn-lt"/>
                <a:cs typeface="+mn-cs"/>
                <a:hlinkClick r:id="rId7" action="ppaction://hlinksldjump"/>
              </a:rPr>
              <a:t>To Video</a:t>
            </a:r>
            <a:endParaRPr lang="en-US" sz="1200" b="1" dirty="0">
              <a:solidFill>
                <a:schemeClr val="bg1"/>
              </a:solidFill>
              <a:effectLst>
                <a:outerShdw blurRad="38100" dist="38100" dir="2700000" algn="tl">
                  <a:srgbClr val="000000">
                    <a:alpha val="43137"/>
                  </a:srgbClr>
                </a:outerShdw>
              </a:effectLst>
              <a:latin typeface="+mn-lt"/>
              <a:cs typeface="+mn-cs"/>
            </a:endParaRPr>
          </a:p>
        </p:txBody>
      </p:sp>
      <p:sp>
        <p:nvSpPr>
          <p:cNvPr id="5" name="Rectangle 4"/>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8" action="ppaction://hlinksldjump"/>
              </a:rPr>
              <a:t>To First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8"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1662798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Autofit/>
          </a:bodyPr>
          <a:lstStyle/>
          <a:p>
            <a:r>
              <a:rPr lang="en-US" spc="0" dirty="0"/>
              <a:t>MONEY: THE ESSENTIAL CHANNEL BETWEEN MARKETS</a:t>
            </a:r>
          </a:p>
        </p:txBody>
      </p:sp>
      <p:sp>
        <p:nvSpPr>
          <p:cNvPr id="3" name="Content Placeholder 2"/>
          <p:cNvSpPr>
            <a:spLocks noGrp="1"/>
          </p:cNvSpPr>
          <p:nvPr>
            <p:ph idx="1"/>
          </p:nvPr>
        </p:nvSpPr>
        <p:spPr>
          <a:xfrm>
            <a:off x="228600" y="1219200"/>
            <a:ext cx="8839200" cy="4343400"/>
          </a:xfrm>
        </p:spPr>
        <p:txBody>
          <a:bodyPr>
            <a:normAutofit/>
          </a:bodyPr>
          <a:lstStyle/>
          <a:p>
            <a:r>
              <a:rPr lang="en-US" dirty="0"/>
              <a:t>Money plays unique and  very important roles in modern economies. </a:t>
            </a:r>
          </a:p>
        </p:txBody>
      </p:sp>
      <p:pic>
        <p:nvPicPr>
          <p:cNvPr id="5" name="Picture 4" descr="Screen Shot 2015-04-08 at 17.42.22.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514600" y="2209800"/>
            <a:ext cx="4152900" cy="4518258"/>
          </a:xfrm>
          <a:prstGeom prst="rect">
            <a:avLst/>
          </a:prstGeom>
        </p:spPr>
      </p:pic>
    </p:spTree>
    <p:extLst>
      <p:ext uri="{BB962C8B-B14F-4D97-AF65-F5344CB8AC3E}">
        <p14:creationId xmlns:p14="http://schemas.microsoft.com/office/powerpoint/2010/main" val="13791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Rot="1" noChangeArrowheads="1"/>
          </p:cNvSpPr>
          <p:nvPr>
            <p:ph type="title"/>
          </p:nvPr>
        </p:nvSpPr>
        <p:spPr/>
        <p:txBody>
          <a:bodyPr>
            <a:normAutofit/>
          </a:bodyPr>
          <a:lstStyle/>
          <a:p>
            <a:r>
              <a:rPr lang="en-US" spc="0" dirty="0"/>
              <a:t>THE MEANING OF MONEY</a:t>
            </a:r>
          </a:p>
        </p:txBody>
      </p:sp>
      <p:sp>
        <p:nvSpPr>
          <p:cNvPr id="563203" name="Rectangle 3"/>
          <p:cNvSpPr>
            <a:spLocks noGrp="1" noChangeArrowheads="1"/>
          </p:cNvSpPr>
          <p:nvPr>
            <p:ph idx="1"/>
          </p:nvPr>
        </p:nvSpPr>
        <p:spPr/>
        <p:txBody>
          <a:bodyPr/>
          <a:lstStyle/>
          <a:p>
            <a:r>
              <a:rPr lang="en-US" b="1" i="1" dirty="0">
                <a:solidFill>
                  <a:srgbClr val="990033"/>
                </a:solidFill>
              </a:rPr>
              <a:t>Money:</a:t>
            </a:r>
            <a:r>
              <a:rPr lang="en-US" b="1" dirty="0"/>
              <a:t> </a:t>
            </a:r>
            <a:r>
              <a:rPr lang="en-US" dirty="0"/>
              <a:t>any asset that can easily be used to purchase goods and services.</a:t>
            </a:r>
          </a:p>
          <a:p>
            <a:endParaRPr lang="en-US" dirty="0"/>
          </a:p>
        </p:txBody>
      </p:sp>
      <p:pic>
        <p:nvPicPr>
          <p:cNvPr id="4" name="Picture 3"/>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357149" y="2514600"/>
            <a:ext cx="3662651" cy="27336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152400" y="5257800"/>
            <a:ext cx="8763000" cy="1200328"/>
          </a:xfrm>
          <a:prstGeom prst="rect">
            <a:avLst/>
          </a:prstGeom>
          <a:noFill/>
        </p:spPr>
        <p:txBody>
          <a:bodyPr wrap="square" rtlCol="0">
            <a:spAutoFit/>
          </a:bodyPr>
          <a:lstStyle/>
          <a:p>
            <a:r>
              <a:rPr lang="en-US" sz="2400" b="1" i="1" dirty="0">
                <a:solidFill>
                  <a:prstClr val="black">
                    <a:lumMod val="75000"/>
                    <a:lumOff val="25000"/>
                  </a:prstClr>
                </a:solidFill>
                <a:latin typeface="Century Gothic"/>
                <a:cs typeface="Century Gothic"/>
              </a:rPr>
              <a:t>In 1933, after many bank failures, some U.S. towns turned to homemade currency, like this clamshell scrip used in Pismo Beach, California.</a:t>
            </a:r>
          </a:p>
        </p:txBody>
      </p:sp>
    </p:spTree>
    <p:extLst>
      <p:ext uri="{BB962C8B-B14F-4D97-AF65-F5344CB8AC3E}">
        <p14:creationId xmlns:p14="http://schemas.microsoft.com/office/powerpoint/2010/main" val="3825403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pc="0" dirty="0"/>
              <a:t>THE MEANING OF MONEY</a:t>
            </a:r>
          </a:p>
        </p:txBody>
      </p:sp>
      <p:sp>
        <p:nvSpPr>
          <p:cNvPr id="3" name="Content Placeholder 2"/>
          <p:cNvSpPr>
            <a:spLocks noGrp="1"/>
          </p:cNvSpPr>
          <p:nvPr>
            <p:ph idx="1"/>
          </p:nvPr>
        </p:nvSpPr>
        <p:spPr>
          <a:xfrm>
            <a:off x="0" y="1524000"/>
            <a:ext cx="5105400" cy="4648200"/>
          </a:xfrm>
        </p:spPr>
        <p:txBody>
          <a:bodyPr>
            <a:normAutofit/>
          </a:bodyPr>
          <a:lstStyle/>
          <a:p>
            <a:r>
              <a:rPr lang="en-US" i="1" dirty="0">
                <a:solidFill>
                  <a:srgbClr val="990033"/>
                </a:solidFill>
              </a:rPr>
              <a:t>Currency in circulation: </a:t>
            </a:r>
            <a:r>
              <a:rPr lang="en-US" dirty="0"/>
              <a:t>cash held by the public.</a:t>
            </a:r>
          </a:p>
          <a:p>
            <a:endParaRPr lang="en-US" dirty="0"/>
          </a:p>
        </p:txBody>
      </p:sp>
      <p:pic>
        <p:nvPicPr>
          <p:cNvPr id="5" name="Picture 4" descr="Continental_Currency_One-Third-Dollar_17-Feb-76_obv.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5410200" y="810299"/>
            <a:ext cx="3733800" cy="48285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a:spLocks noChangeArrowheads="1"/>
          </p:cNvSpPr>
          <p:nvPr/>
        </p:nvSpPr>
        <p:spPr bwMode="auto">
          <a:xfrm>
            <a:off x="5486400" y="5638800"/>
            <a:ext cx="3657600" cy="1015663"/>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b="1" i="1" dirty="0">
                <a:solidFill>
                  <a:prstClr val="black">
                    <a:lumMod val="75000"/>
                    <a:lumOff val="25000"/>
                  </a:prstClr>
                </a:solidFill>
                <a:latin typeface="Century Gothic"/>
                <a:cs typeface="Century Gothic"/>
              </a:rPr>
              <a:t>Early U.S. currency: continental </a:t>
            </a:r>
          </a:p>
          <a:p>
            <a:pPr eaLnBrk="1" hangingPunct="1"/>
            <a:r>
              <a:rPr lang="en-US" sz="2000" b="1" i="1" dirty="0">
                <a:solidFill>
                  <a:prstClr val="black">
                    <a:lumMod val="75000"/>
                    <a:lumOff val="25000"/>
                  </a:prstClr>
                </a:solidFill>
                <a:latin typeface="Century Gothic"/>
                <a:cs typeface="Century Gothic"/>
              </a:rPr>
              <a:t>third of a dollar</a:t>
            </a:r>
          </a:p>
        </p:txBody>
      </p:sp>
      <p:pic>
        <p:nvPicPr>
          <p:cNvPr id="7" name="Picture 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0" y="3260793"/>
            <a:ext cx="5410200" cy="3597207"/>
          </a:xfrm>
          <a:prstGeom prst="rect">
            <a:avLst/>
          </a:prstGeom>
          <a:noFill/>
          <a:ln>
            <a:noFill/>
          </a:ln>
        </p:spPr>
      </p:pic>
    </p:spTree>
    <p:extLst>
      <p:ext uri="{BB962C8B-B14F-4D97-AF65-F5344CB8AC3E}">
        <p14:creationId xmlns:p14="http://schemas.microsoft.com/office/powerpoint/2010/main" val="216727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spc="0" dirty="0"/>
              <a:t>THE MEANING OF MONEY</a:t>
            </a:r>
          </a:p>
        </p:txBody>
      </p:sp>
      <p:sp>
        <p:nvSpPr>
          <p:cNvPr id="3" name="Content Placeholder 2"/>
          <p:cNvSpPr>
            <a:spLocks noGrp="1"/>
          </p:cNvSpPr>
          <p:nvPr>
            <p:ph idx="1"/>
          </p:nvPr>
        </p:nvSpPr>
        <p:spPr/>
        <p:txBody>
          <a:bodyPr/>
          <a:lstStyle/>
          <a:p>
            <a:r>
              <a:rPr lang="en-US" i="1" dirty="0">
                <a:solidFill>
                  <a:srgbClr val="990033"/>
                </a:solidFill>
              </a:rPr>
              <a:t>Checkable bank deposits: </a:t>
            </a:r>
            <a:r>
              <a:rPr lang="en-US" dirty="0"/>
              <a:t>bank accounts on which people can write checks.</a:t>
            </a:r>
          </a:p>
          <a:p>
            <a:endParaRPr lang="en-US" dirty="0"/>
          </a:p>
        </p:txBody>
      </p:sp>
      <p:pic>
        <p:nvPicPr>
          <p:cNvPr id="5" name="Picture 2" descr="http://www.sxc.hu/pic/l/j/je/jeinny/701012_68282226.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0" y="3810000"/>
            <a:ext cx="3505200" cy="2623524"/>
          </a:xfrm>
          <a:prstGeom prst="rect">
            <a:avLst/>
          </a:prstGeom>
          <a:ln>
            <a:noFill/>
          </a:ln>
          <a:effectLst>
            <a:outerShdw blurRad="292100" dist="139700" dir="2700000" algn="tl" rotWithShape="0">
              <a:srgbClr val="333333">
                <a:alpha val="65000"/>
              </a:srgbClr>
            </a:outerShdw>
          </a:effectLst>
        </p:spPr>
      </p:pic>
      <p:pic>
        <p:nvPicPr>
          <p:cNvPr id="22532" name="Picture 4" descr="http://1.bp.blogspot.com/-kVBXYky25Ng/UAjBjvZ5JpI/AAAAAAAAAKw/XbLL3VRJTrY/s1600/debitcard2.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4495800" y="3408664"/>
            <a:ext cx="36576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879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alpha val="66000"/>
            </a:schemeClr>
          </a:solidFill>
        </p:spPr>
        <p:txBody>
          <a:bodyPr/>
          <a:lstStyle/>
          <a:p>
            <a:r>
              <a:rPr lang="en-US" spc="0" dirty="0"/>
              <a:t>THE MEANING OF MONEY</a:t>
            </a:r>
          </a:p>
        </p:txBody>
      </p:sp>
      <p:sp>
        <p:nvSpPr>
          <p:cNvPr id="3" name="Content Placeholder 2"/>
          <p:cNvSpPr>
            <a:spLocks noGrp="1"/>
          </p:cNvSpPr>
          <p:nvPr>
            <p:ph idx="1"/>
          </p:nvPr>
        </p:nvSpPr>
        <p:spPr>
          <a:xfrm>
            <a:off x="76200" y="3886200"/>
            <a:ext cx="8991600" cy="1752600"/>
          </a:xfrm>
          <a:solidFill>
            <a:schemeClr val="bg1">
              <a:alpha val="85000"/>
            </a:schemeClr>
          </a:solidFill>
        </p:spPr>
        <p:txBody>
          <a:bodyPr/>
          <a:lstStyle/>
          <a:p>
            <a:r>
              <a:rPr lang="en-US" dirty="0"/>
              <a:t>The </a:t>
            </a:r>
            <a:r>
              <a:rPr lang="en-US" i="1" dirty="0">
                <a:solidFill>
                  <a:srgbClr val="990033"/>
                </a:solidFill>
              </a:rPr>
              <a:t>money supply </a:t>
            </a:r>
            <a:r>
              <a:rPr lang="en-US" dirty="0"/>
              <a:t>is the total value of financial assets in the economy that are considered money.</a:t>
            </a:r>
          </a:p>
          <a:p>
            <a:endParaRPr lang="en-US" dirty="0"/>
          </a:p>
        </p:txBody>
      </p:sp>
    </p:spTree>
    <p:extLst>
      <p:ext uri="{BB962C8B-B14F-4D97-AF65-F5344CB8AC3E}">
        <p14:creationId xmlns:p14="http://schemas.microsoft.com/office/powerpoint/2010/main" val="759376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1778" name="Rectangle 2"/>
          <p:cNvSpPr>
            <a:spLocks noGrp="1" noChangeArrowheads="1"/>
          </p:cNvSpPr>
          <p:nvPr>
            <p:ph type="title"/>
          </p:nvPr>
        </p:nvSpPr>
        <p:spPr/>
        <p:txBody>
          <a:bodyPr>
            <a:normAutofit/>
          </a:bodyPr>
          <a:lstStyle/>
          <a:p>
            <a:pPr>
              <a:defRPr/>
            </a:pPr>
            <a:r>
              <a:rPr lang="en-US" dirty="0"/>
              <a:t>THE ROLES OF MONEY</a:t>
            </a:r>
          </a:p>
        </p:txBody>
      </p:sp>
      <p:sp>
        <p:nvSpPr>
          <p:cNvPr id="331779" name="Rectangle 3"/>
          <p:cNvSpPr>
            <a:spLocks noGrp="1" noChangeArrowheads="1"/>
          </p:cNvSpPr>
          <p:nvPr>
            <p:ph idx="1"/>
          </p:nvPr>
        </p:nvSpPr>
        <p:spPr/>
        <p:txBody>
          <a:bodyPr>
            <a:normAutofit/>
          </a:bodyPr>
          <a:lstStyle/>
          <a:p>
            <a:r>
              <a:rPr lang="en-US" sz="3600" dirty="0"/>
              <a:t>Money must function as: </a:t>
            </a:r>
            <a:endParaRPr lang="en-US" dirty="0"/>
          </a:p>
          <a:p>
            <a:pPr marL="800100" lvl="1" indent="-342900">
              <a:buFont typeface="Arial"/>
              <a:buChar char="•"/>
            </a:pPr>
            <a:r>
              <a:rPr lang="en-US" sz="3200" i="1" dirty="0">
                <a:solidFill>
                  <a:srgbClr val="0070C0"/>
                </a:solidFill>
              </a:rPr>
              <a:t>a medium of exchange. </a:t>
            </a:r>
          </a:p>
          <a:p>
            <a:pPr marL="800100" lvl="1" indent="-342900">
              <a:buFont typeface="Arial"/>
              <a:buChar char="•"/>
            </a:pPr>
            <a:r>
              <a:rPr lang="en-US" sz="3200" i="1" dirty="0">
                <a:solidFill>
                  <a:srgbClr val="0070C0"/>
                </a:solidFill>
              </a:rPr>
              <a:t>a store of value.</a:t>
            </a:r>
          </a:p>
          <a:p>
            <a:pPr marL="800100" lvl="1" indent="-342900">
              <a:buFont typeface="Arial"/>
              <a:buChar char="•"/>
            </a:pPr>
            <a:r>
              <a:rPr lang="en-US" sz="3200" i="1" dirty="0">
                <a:solidFill>
                  <a:srgbClr val="0070C0"/>
                </a:solidFill>
              </a:rPr>
              <a:t>a unit of account.</a:t>
            </a:r>
          </a:p>
          <a:p>
            <a:pPr lvl="1"/>
            <a:endParaRPr lang="en-US" sz="3200" i="1" dirty="0">
              <a:solidFill>
                <a:srgbClr val="0070C0"/>
              </a:solidFill>
            </a:endParaRPr>
          </a:p>
          <a:p>
            <a:pPr lvl="1"/>
            <a:endParaRPr lang="en-US" sz="3200" dirty="0">
              <a:solidFill>
                <a:srgbClr val="008000"/>
              </a:solidFill>
            </a:endParaRPr>
          </a:p>
          <a:p>
            <a:pPr>
              <a:buFont typeface="Times"/>
              <a:buNone/>
            </a:pPr>
            <a:endParaRPr lang="en-US" dirty="0"/>
          </a:p>
          <a:p>
            <a:endParaRPr lang="en-US" dirty="0"/>
          </a:p>
        </p:txBody>
      </p:sp>
      <p:pic>
        <p:nvPicPr>
          <p:cNvPr id="40966" name="Picture 6"/>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343400" y="3733800"/>
            <a:ext cx="4800600" cy="25241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83587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1779">
                                            <p:txEl>
                                              <p:pRg st="1" end="1"/>
                                            </p:txEl>
                                          </p:spTgt>
                                        </p:tgtEl>
                                        <p:attrNameLst>
                                          <p:attrName>style.visibility</p:attrName>
                                        </p:attrNameLst>
                                      </p:cBhvr>
                                      <p:to>
                                        <p:strVal val="visible"/>
                                      </p:to>
                                    </p:set>
                                    <p:animEffect transition="in" filter="fade">
                                      <p:cBhvr>
                                        <p:cTn id="7" dur="1000"/>
                                        <p:tgtEl>
                                          <p:spTgt spid="3317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31779">
                                            <p:txEl>
                                              <p:pRg st="2" end="2"/>
                                            </p:txEl>
                                          </p:spTgt>
                                        </p:tgtEl>
                                        <p:attrNameLst>
                                          <p:attrName>style.visibility</p:attrName>
                                        </p:attrNameLst>
                                      </p:cBhvr>
                                      <p:to>
                                        <p:strVal val="visible"/>
                                      </p:to>
                                    </p:set>
                                    <p:animEffect transition="in" filter="fade">
                                      <p:cBhvr>
                                        <p:cTn id="12" dur="1000"/>
                                        <p:tgtEl>
                                          <p:spTgt spid="331779">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31779">
                                            <p:txEl>
                                              <p:pRg st="3" end="3"/>
                                            </p:txEl>
                                          </p:spTgt>
                                        </p:tgtEl>
                                        <p:attrNameLst>
                                          <p:attrName>style.visibility</p:attrName>
                                        </p:attrNameLst>
                                      </p:cBhvr>
                                      <p:to>
                                        <p:strVal val="visible"/>
                                      </p:to>
                                    </p:set>
                                    <p:animEffect transition="in" filter="fade">
                                      <p:cBhvr>
                                        <p:cTn id="15" dur="1000"/>
                                        <p:tgtEl>
                                          <p:spTgt spid="3317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77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pc="0" dirty="0"/>
              <a:t>THE FUNCTIONS OF MONEY</a:t>
            </a:r>
          </a:p>
        </p:txBody>
      </p:sp>
      <p:sp>
        <p:nvSpPr>
          <p:cNvPr id="3" name="Content Placeholder 2"/>
          <p:cNvSpPr>
            <a:spLocks noGrp="1"/>
          </p:cNvSpPr>
          <p:nvPr>
            <p:ph idx="1"/>
          </p:nvPr>
        </p:nvSpPr>
        <p:spPr>
          <a:xfrm>
            <a:off x="228600" y="1219200"/>
            <a:ext cx="8839200" cy="4114800"/>
          </a:xfrm>
        </p:spPr>
        <p:txBody>
          <a:bodyPr/>
          <a:lstStyle/>
          <a:p>
            <a:r>
              <a:rPr lang="en-US" sz="3600" i="1" dirty="0">
                <a:solidFill>
                  <a:srgbClr val="990033"/>
                </a:solidFill>
              </a:rPr>
              <a:t>Medium of exchange: </a:t>
            </a:r>
            <a:r>
              <a:rPr lang="en-US" sz="3600" dirty="0"/>
              <a:t>Something people accept as payment for goods and services</a:t>
            </a:r>
          </a:p>
          <a:p>
            <a:endParaRPr lang="en-US" dirty="0"/>
          </a:p>
        </p:txBody>
      </p:sp>
      <p:pic>
        <p:nvPicPr>
          <p:cNvPr id="25602" name="Picture 2" descr="http://www.sxc.hu/pic/l/s/sa/sailorjohn/680711_50449886.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0" y="3124200"/>
            <a:ext cx="4267200" cy="32004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Rectangle 4"/>
          <p:cNvSpPr/>
          <p:nvPr/>
        </p:nvSpPr>
        <p:spPr>
          <a:xfrm>
            <a:off x="4495800" y="2972812"/>
            <a:ext cx="4343400" cy="3046988"/>
          </a:xfrm>
          <a:prstGeom prst="rect">
            <a:avLst/>
          </a:prstGeom>
        </p:spPr>
        <p:txBody>
          <a:bodyPr wrap="square">
            <a:spAutoFit/>
          </a:bodyPr>
          <a:lstStyle/>
          <a:p>
            <a:pPr>
              <a:spcBef>
                <a:spcPct val="20000"/>
              </a:spcBef>
            </a:pPr>
            <a:r>
              <a:rPr lang="en-US" sz="3200" b="1" dirty="0">
                <a:solidFill>
                  <a:prstClr val="black"/>
                </a:solidFill>
                <a:latin typeface="Century Gothic"/>
                <a:cs typeface="Century Gothic"/>
              </a:rPr>
              <a:t>(an asset that individuals acquire </a:t>
            </a:r>
            <a:r>
              <a:rPr lang="en-US" sz="3200" b="1" dirty="0">
                <a:solidFill>
                  <a:srgbClr val="0070C0"/>
                </a:solidFill>
                <a:latin typeface="Century Gothic"/>
                <a:cs typeface="Century Gothic"/>
              </a:rPr>
              <a:t>for the purpose of trading</a:t>
            </a:r>
            <a:r>
              <a:rPr lang="en-US" sz="3200" b="1" dirty="0">
                <a:solidFill>
                  <a:prstClr val="black"/>
                </a:solidFill>
                <a:latin typeface="Century Gothic"/>
                <a:cs typeface="Century Gothic"/>
              </a:rPr>
              <a:t> rather than for their own consumption).</a:t>
            </a:r>
          </a:p>
        </p:txBody>
      </p:sp>
    </p:spTree>
    <p:extLst>
      <p:ext uri="{BB962C8B-B14F-4D97-AF65-F5344CB8AC3E}">
        <p14:creationId xmlns:p14="http://schemas.microsoft.com/office/powerpoint/2010/main" val="89125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descr="http://www.sxc.hu/pic/l/o/os/osito-pl/1111967_56411586.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286500" y="3048000"/>
            <a:ext cx="2857500" cy="3810000"/>
          </a:xfrm>
          <a:prstGeom prst="rect">
            <a:avLst/>
          </a:prstGeom>
          <a:noFill/>
        </p:spPr>
      </p:pic>
      <p:sp>
        <p:nvSpPr>
          <p:cNvPr id="2" name="Title 1"/>
          <p:cNvSpPr>
            <a:spLocks noGrp="1"/>
          </p:cNvSpPr>
          <p:nvPr>
            <p:ph type="title"/>
          </p:nvPr>
        </p:nvSpPr>
        <p:spPr/>
        <p:txBody>
          <a:bodyPr>
            <a:normAutofit/>
          </a:bodyPr>
          <a:lstStyle/>
          <a:p>
            <a:r>
              <a:rPr lang="en-US" spc="0" dirty="0"/>
              <a:t>THE FUNCTIONS OF MONEY</a:t>
            </a:r>
          </a:p>
        </p:txBody>
      </p:sp>
      <p:sp>
        <p:nvSpPr>
          <p:cNvPr id="3" name="Content Placeholder 2"/>
          <p:cNvSpPr>
            <a:spLocks noGrp="1"/>
          </p:cNvSpPr>
          <p:nvPr>
            <p:ph idx="1"/>
          </p:nvPr>
        </p:nvSpPr>
        <p:spPr>
          <a:xfrm>
            <a:off x="76200" y="1066800"/>
            <a:ext cx="8839200" cy="4648200"/>
          </a:xfrm>
        </p:spPr>
        <p:txBody>
          <a:bodyPr>
            <a:normAutofit/>
          </a:bodyPr>
          <a:lstStyle/>
          <a:p>
            <a:pPr>
              <a:spcBef>
                <a:spcPts val="264"/>
              </a:spcBef>
              <a:spcAft>
                <a:spcPts val="1800"/>
              </a:spcAft>
            </a:pPr>
            <a:r>
              <a:rPr lang="en-US" sz="3600" i="1" dirty="0">
                <a:solidFill>
                  <a:srgbClr val="990033"/>
                </a:solidFill>
              </a:rPr>
              <a:t>Store of value: </a:t>
            </a:r>
            <a:r>
              <a:rPr lang="en-US" sz="3600" dirty="0"/>
              <a:t>Money is a means of holding purchasing power over time.</a:t>
            </a:r>
            <a:endParaRPr lang="en-US" sz="3600" b="0" dirty="0"/>
          </a:p>
          <a:p>
            <a:pPr>
              <a:spcBef>
                <a:spcPts val="264"/>
              </a:spcBef>
              <a:spcAft>
                <a:spcPts val="1800"/>
              </a:spcAft>
            </a:pPr>
            <a:r>
              <a:rPr lang="en-US" i="1" dirty="0">
                <a:solidFill>
                  <a:schemeClr val="tx1">
                    <a:lumMod val="65000"/>
                    <a:lumOff val="35000"/>
                  </a:schemeClr>
                </a:solidFill>
              </a:rPr>
              <a:t>It enables people to </a:t>
            </a:r>
            <a:r>
              <a:rPr lang="en-US" dirty="0">
                <a:solidFill>
                  <a:schemeClr val="tx1">
                    <a:lumMod val="65000"/>
                    <a:lumOff val="35000"/>
                  </a:schemeClr>
                </a:solidFill>
              </a:rPr>
              <a:t>save the money they earn today </a:t>
            </a:r>
            <a:r>
              <a:rPr lang="en-US" i="1" dirty="0">
                <a:solidFill>
                  <a:schemeClr val="tx1">
                    <a:lumMod val="65000"/>
                    <a:lumOff val="35000"/>
                  </a:schemeClr>
                </a:solidFill>
              </a:rPr>
              <a:t>and use it to </a:t>
            </a:r>
            <a:r>
              <a:rPr lang="en-US" dirty="0">
                <a:solidFill>
                  <a:schemeClr val="tx1">
                    <a:lumMod val="65000"/>
                    <a:lumOff val="35000"/>
                  </a:schemeClr>
                </a:solidFill>
              </a:rPr>
              <a:t>buy</a:t>
            </a:r>
            <a:r>
              <a:rPr lang="en-US" i="1" dirty="0">
                <a:solidFill>
                  <a:schemeClr val="tx1">
                    <a:lumMod val="65000"/>
                    <a:lumOff val="35000"/>
                  </a:schemeClr>
                </a:solidFill>
              </a:rPr>
              <a:t> the goods and services they want  </a:t>
            </a:r>
            <a:r>
              <a:rPr lang="en-US" dirty="0">
                <a:solidFill>
                  <a:schemeClr val="tx1">
                    <a:lumMod val="65000"/>
                    <a:lumOff val="35000"/>
                  </a:schemeClr>
                </a:solidFill>
              </a:rPr>
              <a:t>tomorrow</a:t>
            </a:r>
            <a:r>
              <a:rPr lang="en-US" i="1" dirty="0">
                <a:solidFill>
                  <a:schemeClr val="tx1">
                    <a:lumMod val="65000"/>
                    <a:lumOff val="35000"/>
                  </a:schemeClr>
                </a:solidFill>
              </a:rPr>
              <a:t>.</a:t>
            </a:r>
            <a:endParaRPr lang="en-US" sz="2800" i="1" dirty="0">
              <a:solidFill>
                <a:schemeClr val="tx1">
                  <a:lumMod val="65000"/>
                  <a:lumOff val="35000"/>
                </a:schemeClr>
              </a:solidFill>
            </a:endParaRPr>
          </a:p>
        </p:txBody>
      </p:sp>
    </p:spTree>
    <p:extLst>
      <p:ext uri="{BB962C8B-B14F-4D97-AF65-F5344CB8AC3E}">
        <p14:creationId xmlns:p14="http://schemas.microsoft.com/office/powerpoint/2010/main" val="1532260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cstate="screen">
            <a:alphaModFix amt="64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alpha val="47000"/>
            </a:schemeClr>
          </a:solidFill>
        </p:spPr>
        <p:txBody>
          <a:bodyPr>
            <a:normAutofit/>
          </a:bodyPr>
          <a:lstStyle/>
          <a:p>
            <a:r>
              <a:rPr lang="en-US" spc="0" dirty="0"/>
              <a:t>THE FUNCTIONS OF MONEY</a:t>
            </a:r>
          </a:p>
        </p:txBody>
      </p:sp>
      <p:sp>
        <p:nvSpPr>
          <p:cNvPr id="3" name="Content Placeholder 2"/>
          <p:cNvSpPr>
            <a:spLocks noGrp="1"/>
          </p:cNvSpPr>
          <p:nvPr>
            <p:ph idx="1"/>
          </p:nvPr>
        </p:nvSpPr>
        <p:spPr>
          <a:xfrm>
            <a:off x="0" y="3962400"/>
            <a:ext cx="9144000" cy="2362200"/>
          </a:xfrm>
          <a:solidFill>
            <a:srgbClr val="FFFFFF">
              <a:alpha val="80000"/>
            </a:srgbClr>
          </a:solidFill>
        </p:spPr>
        <p:txBody>
          <a:bodyPr>
            <a:noAutofit/>
          </a:bodyPr>
          <a:lstStyle/>
          <a:p>
            <a:r>
              <a:rPr lang="en-US" sz="3600" i="1" dirty="0">
                <a:solidFill>
                  <a:srgbClr val="990033"/>
                </a:solidFill>
              </a:rPr>
              <a:t>Unit of account: </a:t>
            </a:r>
            <a:r>
              <a:rPr lang="en-US" sz="3600" dirty="0"/>
              <a:t>Money provides a yardstick for measuring and comparing the values of a wide variety of goods and services.</a:t>
            </a:r>
          </a:p>
        </p:txBody>
      </p:sp>
    </p:spTree>
    <p:extLst>
      <p:ext uri="{BB962C8B-B14F-4D97-AF65-F5344CB8AC3E}">
        <p14:creationId xmlns:p14="http://schemas.microsoft.com/office/powerpoint/2010/main" val="444202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TYPES OF MONEY</a:t>
            </a:r>
          </a:p>
        </p:txBody>
      </p:sp>
      <p:sp>
        <p:nvSpPr>
          <p:cNvPr id="3" name="Content Placeholder 2"/>
          <p:cNvSpPr>
            <a:spLocks noGrp="1"/>
          </p:cNvSpPr>
          <p:nvPr>
            <p:ph idx="1"/>
          </p:nvPr>
        </p:nvSpPr>
        <p:spPr>
          <a:xfrm>
            <a:off x="152400" y="838200"/>
            <a:ext cx="8839200" cy="4648200"/>
          </a:xfrm>
        </p:spPr>
        <p:txBody>
          <a:bodyPr>
            <a:normAutofit/>
          </a:bodyPr>
          <a:lstStyle/>
          <a:p>
            <a:r>
              <a:rPr lang="en-US" dirty="0"/>
              <a:t>For thousands of years, societies have used commodity money.</a:t>
            </a:r>
          </a:p>
          <a:p>
            <a:r>
              <a:rPr lang="en-US" i="1" dirty="0">
                <a:solidFill>
                  <a:srgbClr val="990033"/>
                </a:solidFill>
              </a:rPr>
              <a:t>Commodity money: </a:t>
            </a:r>
            <a:r>
              <a:rPr lang="en-US" b="0" dirty="0"/>
              <a:t>a good used as a medium of exchange that </a:t>
            </a:r>
            <a:r>
              <a:rPr lang="en-US" dirty="0">
                <a:solidFill>
                  <a:srgbClr val="0070C0"/>
                </a:solidFill>
              </a:rPr>
              <a:t>has intrinsic value in other uses.</a:t>
            </a:r>
          </a:p>
          <a:p>
            <a:endParaRPr lang="en-US" b="0" dirty="0"/>
          </a:p>
        </p:txBody>
      </p:sp>
      <p:pic>
        <p:nvPicPr>
          <p:cNvPr id="28674" name="Picture 2" descr="http://4.bp.blogspot.com/-9tOva7OBV6U/TexJUzLsCyI/AAAAAAAAARg/wctDI5c5NhA/s1600/Stone+Money-64.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95800" y="3200400"/>
            <a:ext cx="4029075" cy="269557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699080" y="5912909"/>
            <a:ext cx="3429000" cy="707886"/>
          </a:xfrm>
          <a:prstGeom prst="rect">
            <a:avLst/>
          </a:prstGeom>
          <a:noFill/>
        </p:spPr>
        <p:txBody>
          <a:bodyPr wrap="square" rtlCol="0">
            <a:spAutoFit/>
          </a:bodyPr>
          <a:lstStyle/>
          <a:p>
            <a:r>
              <a:rPr lang="en-US" sz="2000" b="1" i="1" dirty="0">
                <a:solidFill>
                  <a:schemeClr val="tx1">
                    <a:lumMod val="75000"/>
                    <a:lumOff val="25000"/>
                  </a:schemeClr>
                </a:solidFill>
                <a:latin typeface="Century Gothic"/>
                <a:cs typeface="Century Gothic"/>
              </a:rPr>
              <a:t>The island of Yap’s currency</a:t>
            </a:r>
          </a:p>
        </p:txBody>
      </p:sp>
      <p:sp>
        <p:nvSpPr>
          <p:cNvPr id="8" name="TextBox 7"/>
          <p:cNvSpPr txBox="1"/>
          <p:nvPr/>
        </p:nvSpPr>
        <p:spPr>
          <a:xfrm>
            <a:off x="228600" y="5867400"/>
            <a:ext cx="3886200" cy="707886"/>
          </a:xfrm>
          <a:prstGeom prst="rect">
            <a:avLst/>
          </a:prstGeom>
          <a:noFill/>
        </p:spPr>
        <p:txBody>
          <a:bodyPr wrap="square" rtlCol="0">
            <a:spAutoFit/>
          </a:bodyPr>
          <a:lstStyle/>
          <a:p>
            <a:r>
              <a:rPr lang="en-US" sz="2000" b="1" i="1" dirty="0">
                <a:solidFill>
                  <a:schemeClr val="tx1">
                    <a:lumMod val="75000"/>
                    <a:lumOff val="25000"/>
                  </a:schemeClr>
                </a:solidFill>
                <a:latin typeface="Century Gothic"/>
                <a:cs typeface="Century Gothic"/>
              </a:rPr>
              <a:t>Some prisons use cigarettes as currency.</a:t>
            </a:r>
          </a:p>
        </p:txBody>
      </p:sp>
      <p:pic>
        <p:nvPicPr>
          <p:cNvPr id="6" name="Pictur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724" y="3248846"/>
            <a:ext cx="3032276" cy="2618554"/>
          </a:xfrm>
          <a:prstGeom prst="rect">
            <a:avLst/>
          </a:prstGeom>
          <a:ln>
            <a:noFill/>
          </a:ln>
          <a:effectLst>
            <a:softEdge rad="112500"/>
          </a:effectLst>
        </p:spPr>
      </p:pic>
    </p:spTree>
    <p:extLst>
      <p:ext uri="{BB962C8B-B14F-4D97-AF65-F5344CB8AC3E}">
        <p14:creationId xmlns:p14="http://schemas.microsoft.com/office/powerpoint/2010/main" val="3506493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fade">
                                      <p:cBhvr>
                                        <p:cTn id="7" dur="500"/>
                                        <p:tgtEl>
                                          <p:spTgt spid="2867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pc="0" dirty="0"/>
              <a:t>TYPES OF MONEY</a:t>
            </a:r>
          </a:p>
        </p:txBody>
      </p:sp>
      <p:sp>
        <p:nvSpPr>
          <p:cNvPr id="3" name="Content Placeholder 2"/>
          <p:cNvSpPr>
            <a:spLocks noGrp="1"/>
          </p:cNvSpPr>
          <p:nvPr>
            <p:ph idx="1"/>
          </p:nvPr>
        </p:nvSpPr>
        <p:spPr>
          <a:xfrm>
            <a:off x="228600" y="838200"/>
            <a:ext cx="8839200" cy="4648200"/>
          </a:xfrm>
        </p:spPr>
        <p:txBody>
          <a:bodyPr>
            <a:normAutofit/>
          </a:bodyPr>
          <a:lstStyle/>
          <a:p>
            <a:r>
              <a:rPr lang="en-US" i="1" dirty="0">
                <a:solidFill>
                  <a:schemeClr val="tx1">
                    <a:lumMod val="75000"/>
                    <a:lumOff val="25000"/>
                  </a:schemeClr>
                </a:solidFill>
              </a:rPr>
              <a:t>To make life simpler (and safer), societies began using commodity-backed money.</a:t>
            </a:r>
          </a:p>
          <a:p>
            <a:r>
              <a:rPr lang="en-US" i="1" dirty="0">
                <a:solidFill>
                  <a:srgbClr val="990033"/>
                </a:solidFill>
              </a:rPr>
              <a:t>Commodity-backed money: </a:t>
            </a:r>
            <a:r>
              <a:rPr lang="en-US" b="0" dirty="0"/>
              <a:t>a medium of exchange with </a:t>
            </a:r>
            <a:r>
              <a:rPr lang="en-US" dirty="0">
                <a:solidFill>
                  <a:srgbClr val="0070C0"/>
                </a:solidFill>
              </a:rPr>
              <a:t>no intrinsic value </a:t>
            </a:r>
            <a:r>
              <a:rPr lang="en-US" b="0" dirty="0"/>
              <a:t>whose ultimate value is guaranteed by a promise that </a:t>
            </a:r>
            <a:r>
              <a:rPr lang="en-US" dirty="0">
                <a:solidFill>
                  <a:srgbClr val="0070C0"/>
                </a:solidFill>
              </a:rPr>
              <a:t>it can be converted into valuable goods.</a:t>
            </a:r>
          </a:p>
        </p:txBody>
      </p:sp>
      <p:pic>
        <p:nvPicPr>
          <p:cNvPr id="5" name="Picture 5" descr="0906c"/>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676400" y="4114800"/>
            <a:ext cx="6167965" cy="25617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1480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Autofit/>
          </a:bodyPr>
          <a:lstStyle/>
          <a:p>
            <a:r>
              <a:rPr lang="en-US" spc="0" dirty="0"/>
              <a:t>ANOTHER EXAMPLE OF COMMODITY-BACKED MONEY</a:t>
            </a:r>
          </a:p>
        </p:txBody>
      </p:sp>
      <p:pic>
        <p:nvPicPr>
          <p:cNvPr id="13315" name="Picture 5" descr="Silver-certificate-731511"/>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373761" y="1219200"/>
            <a:ext cx="6246239"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9373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pc="0" dirty="0"/>
              <a:t>TYPES OF MONEY</a:t>
            </a:r>
          </a:p>
        </p:txBody>
      </p:sp>
      <p:sp>
        <p:nvSpPr>
          <p:cNvPr id="14340" name="Rectangle 3"/>
          <p:cNvSpPr>
            <a:spLocks noGrp="1" noChangeArrowheads="1"/>
          </p:cNvSpPr>
          <p:nvPr>
            <p:ph idx="1"/>
          </p:nvPr>
        </p:nvSpPr>
        <p:spPr/>
        <p:txBody>
          <a:bodyPr/>
          <a:lstStyle/>
          <a:p>
            <a:pPr eaLnBrk="1" hangingPunct="1"/>
            <a:r>
              <a:rPr lang="en-US" dirty="0"/>
              <a:t>Most modern economies use fiat money.</a:t>
            </a:r>
          </a:p>
          <a:p>
            <a:pPr eaLnBrk="1" hangingPunct="1"/>
            <a:r>
              <a:rPr lang="en-US" i="1" dirty="0">
                <a:solidFill>
                  <a:srgbClr val="990033"/>
                </a:solidFill>
              </a:rPr>
              <a:t>Fiat money: </a:t>
            </a:r>
            <a:r>
              <a:rPr lang="en-US" dirty="0"/>
              <a:t>money whose value derives entirely from its official status as a means of payment.</a:t>
            </a:r>
          </a:p>
          <a:p>
            <a:pPr eaLnBrk="1" hangingPunct="1"/>
            <a:endParaRPr lang="en-US" dirty="0"/>
          </a:p>
        </p:txBody>
      </p:sp>
      <p:pic>
        <p:nvPicPr>
          <p:cNvPr id="33794" name="Picture 2" descr="http://upload.wikimedia.org/wikipedia/commons/c/c5/New_five_dollar_bill.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38200" y="3179410"/>
            <a:ext cx="7239000" cy="30689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997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92" name="Picture 4" descr="http://www.ithacahours.org/HoursInUseImages/hands_hours.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181600" y="1752600"/>
            <a:ext cx="3962400" cy="4307609"/>
          </a:xfrm>
          <a:prstGeom prst="rect">
            <a:avLst/>
          </a:prstGeom>
          <a:noFill/>
          <a:ln w="9525">
            <a:noFill/>
            <a:miter lim="800000"/>
            <a:headEnd/>
            <a:tailEnd/>
          </a:ln>
        </p:spPr>
      </p:pic>
      <p:sp>
        <p:nvSpPr>
          <p:cNvPr id="41989" name="Content Placeholder 2"/>
          <p:cNvSpPr>
            <a:spLocks noGrp="1"/>
          </p:cNvSpPr>
          <p:nvPr>
            <p:ph idx="1"/>
          </p:nvPr>
        </p:nvSpPr>
        <p:spPr>
          <a:xfrm>
            <a:off x="228600" y="1295400"/>
            <a:ext cx="4953000" cy="5060950"/>
          </a:xfrm>
        </p:spPr>
        <p:txBody>
          <a:bodyPr/>
          <a:lstStyle/>
          <a:p>
            <a:pPr marL="0" indent="0">
              <a:buNone/>
            </a:pPr>
            <a:r>
              <a:rPr lang="en-US" dirty="0"/>
              <a:t>With a partner, discuss:</a:t>
            </a:r>
          </a:p>
          <a:p>
            <a:pPr marL="0" indent="0">
              <a:buNone/>
            </a:pPr>
            <a:r>
              <a:rPr lang="en-US" dirty="0"/>
              <a:t>How would the economy be different if we used only </a:t>
            </a:r>
            <a:r>
              <a:rPr lang="en-US" dirty="0">
                <a:solidFill>
                  <a:schemeClr val="accent3">
                    <a:lumMod val="75000"/>
                  </a:schemeClr>
                </a:solidFill>
              </a:rPr>
              <a:t>local currency?</a:t>
            </a:r>
          </a:p>
          <a:p>
            <a:pPr>
              <a:buFont typeface="Arial" pitchFamily="34" charset="0"/>
              <a:buNone/>
            </a:pPr>
            <a:endParaRPr lang="en-US" dirty="0"/>
          </a:p>
        </p:txBody>
      </p:sp>
      <p:sp>
        <p:nvSpPr>
          <p:cNvPr id="2" name="Title 1"/>
          <p:cNvSpPr>
            <a:spLocks noGrp="1"/>
          </p:cNvSpPr>
          <p:nvPr>
            <p:ph type="title" idx="4294967295"/>
          </p:nvPr>
        </p:nvSpPr>
        <p:spPr>
          <a:xfrm>
            <a:off x="0" y="0"/>
            <a:ext cx="7886700" cy="1143000"/>
          </a:xfrm>
          <a:prstGeom prst="rect">
            <a:avLst/>
          </a:prstGeom>
        </p:spPr>
        <p:txBody>
          <a:bodyPr/>
          <a:lstStyle/>
          <a:p>
            <a:pPr>
              <a:defRPr/>
            </a:pPr>
            <a:r>
              <a:rPr lang="en-US" dirty="0"/>
              <a:t>Ponder this</a:t>
            </a:r>
          </a:p>
        </p:txBody>
      </p:sp>
      <p:sp>
        <p:nvSpPr>
          <p:cNvPr id="6" name="Rectangle 5"/>
          <p:cNvSpPr/>
          <p:nvPr/>
        </p:nvSpPr>
        <p:spPr>
          <a:xfrm>
            <a:off x="7998" y="6273798"/>
            <a:ext cx="1154107" cy="400110"/>
          </a:xfrm>
          <a:prstGeom prst="rect">
            <a:avLst/>
          </a:prstGeom>
        </p:spPr>
        <p:txBody>
          <a:bodyPr wrap="none">
            <a:spAutoFit/>
          </a:bodyPr>
          <a:lstStyle/>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To Next </a:t>
            </a:r>
          </a:p>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4" action="ppaction://hlinksldjump"/>
              </a:rPr>
              <a:t>Active Learning</a:t>
            </a:r>
            <a:endPar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95100198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Rot="1" noChangeArrowheads="1"/>
          </p:cNvSpPr>
          <p:nvPr>
            <p:ph type="title"/>
          </p:nvPr>
        </p:nvSpPr>
        <p:spPr/>
        <p:txBody>
          <a:bodyPr>
            <a:normAutofit/>
          </a:bodyPr>
          <a:lstStyle/>
          <a:p>
            <a:r>
              <a:rPr lang="en-US" spc="0" dirty="0"/>
              <a:t>MEASURING THE MONEY SUPPLY</a:t>
            </a:r>
          </a:p>
        </p:txBody>
      </p:sp>
      <p:sp>
        <p:nvSpPr>
          <p:cNvPr id="566275" name="Rectangle 3"/>
          <p:cNvSpPr>
            <a:spLocks noGrp="1" noChangeArrowheads="1"/>
          </p:cNvSpPr>
          <p:nvPr>
            <p:ph idx="1"/>
          </p:nvPr>
        </p:nvSpPr>
        <p:spPr/>
        <p:txBody>
          <a:bodyPr/>
          <a:lstStyle/>
          <a:p>
            <a:pPr>
              <a:spcBef>
                <a:spcPts val="0"/>
              </a:spcBef>
              <a:spcAft>
                <a:spcPts val="1200"/>
              </a:spcAft>
            </a:pPr>
            <a:r>
              <a:rPr lang="en-US" i="1" dirty="0">
                <a:solidFill>
                  <a:srgbClr val="990033"/>
                </a:solidFill>
              </a:rPr>
              <a:t>M</a:t>
            </a:r>
            <a:r>
              <a:rPr lang="en-US" b="1" i="1" dirty="0">
                <a:solidFill>
                  <a:srgbClr val="990033"/>
                </a:solidFill>
              </a:rPr>
              <a:t>onetary aggregate: </a:t>
            </a:r>
            <a:r>
              <a:rPr lang="en-US" dirty="0"/>
              <a:t>an overall measure of the money supply.</a:t>
            </a:r>
          </a:p>
          <a:p>
            <a:pPr>
              <a:spcBef>
                <a:spcPts val="0"/>
              </a:spcBef>
              <a:spcAft>
                <a:spcPts val="1200"/>
              </a:spcAft>
            </a:pPr>
            <a:r>
              <a:rPr lang="en-US" i="1" dirty="0">
                <a:solidFill>
                  <a:schemeClr val="tx1">
                    <a:lumMod val="65000"/>
                    <a:lumOff val="35000"/>
                  </a:schemeClr>
                </a:solidFill>
              </a:rPr>
              <a:t>M1 and M2: two definitions of the money supply.</a:t>
            </a:r>
          </a:p>
        </p:txBody>
      </p:sp>
      <p:pic>
        <p:nvPicPr>
          <p:cNvPr id="4" name="Picture 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3257357"/>
            <a:ext cx="5410200" cy="36217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28661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MONEYS</a:t>
            </a:r>
          </a:p>
        </p:txBody>
      </p:sp>
      <p:sp>
        <p:nvSpPr>
          <p:cNvPr id="3" name="Content Placeholder 2"/>
          <p:cNvSpPr>
            <a:spLocks noGrp="1"/>
          </p:cNvSpPr>
          <p:nvPr>
            <p:ph idx="1"/>
          </p:nvPr>
        </p:nvSpPr>
        <p:spPr>
          <a:xfrm>
            <a:off x="152400" y="914400"/>
            <a:ext cx="8839200" cy="1600200"/>
          </a:xfrm>
        </p:spPr>
        <p:txBody>
          <a:bodyPr/>
          <a:lstStyle/>
          <a:p>
            <a:r>
              <a:rPr lang="en-US" dirty="0"/>
              <a:t>The U.S. Dollar is still the currency most likely to be accepted for payment around the world… but is not the biggest money.</a:t>
            </a:r>
          </a:p>
        </p:txBody>
      </p:sp>
      <p:pic>
        <p:nvPicPr>
          <p:cNvPr id="5" name="Picture 4" descr="Screen Shot 2015-04-08 at 18.27.49.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14400" y="2514600"/>
            <a:ext cx="6553200" cy="3825856"/>
          </a:xfrm>
          <a:prstGeom prst="rect">
            <a:avLst/>
          </a:prstGeom>
        </p:spPr>
      </p:pic>
      <p:sp>
        <p:nvSpPr>
          <p:cNvPr id="6" name="Rectangle 5"/>
          <p:cNvSpPr/>
          <p:nvPr/>
        </p:nvSpPr>
        <p:spPr>
          <a:xfrm>
            <a:off x="0" y="6352401"/>
            <a:ext cx="8686800" cy="276999"/>
          </a:xfrm>
          <a:prstGeom prst="rect">
            <a:avLst/>
          </a:prstGeom>
        </p:spPr>
        <p:txBody>
          <a:bodyPr wrap="square">
            <a:spAutoFit/>
          </a:bodyPr>
          <a:lstStyle/>
          <a:p>
            <a:r>
              <a:rPr lang="en-US" sz="1200" i="1" dirty="0">
                <a:solidFill>
                  <a:schemeClr val="tx1">
                    <a:lumMod val="50000"/>
                    <a:lumOff val="50000"/>
                  </a:schemeClr>
                </a:solidFill>
                <a:latin typeface="Century Gothic"/>
                <a:cs typeface="Century Gothic"/>
              </a:rPr>
              <a:t>Sources: Federal Reserve Bank of St. Louis; European Central Bank; Bank of Japan; The People’s Bank of China.</a:t>
            </a:r>
          </a:p>
        </p:txBody>
      </p:sp>
    </p:spTree>
    <p:extLst>
      <p:ext uri="{BB962C8B-B14F-4D97-AF65-F5344CB8AC3E}">
        <p14:creationId xmlns:p14="http://schemas.microsoft.com/office/powerpoint/2010/main" val="233031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Picture 2" descr="Screen Shot 2015-04-08 at 18.32.32.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523999" y="2590800"/>
            <a:ext cx="6480293" cy="4113665"/>
          </a:xfrm>
          <a:prstGeom prst="rect">
            <a:avLst/>
          </a:prstGeom>
        </p:spPr>
      </p:pic>
      <p:sp>
        <p:nvSpPr>
          <p:cNvPr id="528386" name="Rectangle 2"/>
          <p:cNvSpPr>
            <a:spLocks noGrp="1" noRot="1" noChangeArrowheads="1"/>
          </p:cNvSpPr>
          <p:nvPr>
            <p:ph type="title"/>
          </p:nvPr>
        </p:nvSpPr>
        <p:spPr>
          <a:xfrm>
            <a:off x="0" y="0"/>
            <a:ext cx="9144000" cy="838200"/>
          </a:xfrm>
        </p:spPr>
        <p:txBody>
          <a:bodyPr>
            <a:normAutofit/>
          </a:bodyPr>
          <a:lstStyle/>
          <a:p>
            <a:r>
              <a:rPr lang="en-US" spc="0" dirty="0"/>
              <a:t>MONETARY AGGREGATES, 2013</a:t>
            </a:r>
          </a:p>
        </p:txBody>
      </p:sp>
      <p:sp>
        <p:nvSpPr>
          <p:cNvPr id="6" name="Content Placeholder 5"/>
          <p:cNvSpPr>
            <a:spLocks noGrp="1"/>
          </p:cNvSpPr>
          <p:nvPr>
            <p:ph idx="1"/>
          </p:nvPr>
        </p:nvSpPr>
        <p:spPr>
          <a:xfrm>
            <a:off x="228600" y="838200"/>
            <a:ext cx="8839200" cy="4191000"/>
          </a:xfrm>
        </p:spPr>
        <p:txBody>
          <a:bodyPr>
            <a:normAutofit/>
          </a:bodyPr>
          <a:lstStyle/>
          <a:p>
            <a:pPr>
              <a:spcBef>
                <a:spcPts val="0"/>
              </a:spcBef>
              <a:spcAft>
                <a:spcPts val="1200"/>
              </a:spcAft>
            </a:pPr>
            <a:r>
              <a:rPr lang="en-US" sz="2400" dirty="0">
                <a:solidFill>
                  <a:srgbClr val="0070C0"/>
                </a:solidFill>
              </a:rPr>
              <a:t>M1</a:t>
            </a:r>
            <a:r>
              <a:rPr lang="en-US" sz="2400" dirty="0"/>
              <a:t> includes only the most liquid forms of money.</a:t>
            </a:r>
          </a:p>
          <a:p>
            <a:pPr>
              <a:spcBef>
                <a:spcPts val="0"/>
              </a:spcBef>
              <a:spcAft>
                <a:spcPts val="1200"/>
              </a:spcAft>
            </a:pPr>
            <a:r>
              <a:rPr lang="en-US" sz="2400" dirty="0">
                <a:solidFill>
                  <a:srgbClr val="0070C0"/>
                </a:solidFill>
              </a:rPr>
              <a:t>M2</a:t>
            </a:r>
            <a:r>
              <a:rPr lang="en-US" sz="2400" dirty="0"/>
              <a:t> includes </a:t>
            </a:r>
            <a:r>
              <a:rPr lang="en-US" sz="2400" i="1" dirty="0">
                <a:solidFill>
                  <a:srgbClr val="990033"/>
                </a:solidFill>
              </a:rPr>
              <a:t>near-moneys: </a:t>
            </a:r>
            <a:r>
              <a:rPr lang="en-US" sz="2400" dirty="0"/>
              <a:t>financial assets that can’t be directly used as a medium of exchange but can readily be converted into cash or checkable bank deposits.</a:t>
            </a:r>
          </a:p>
          <a:p>
            <a:pPr>
              <a:spcBef>
                <a:spcPts val="0"/>
              </a:spcBef>
              <a:spcAft>
                <a:spcPts val="1200"/>
              </a:spcAft>
            </a:pPr>
            <a:endParaRPr lang="en-US" sz="2400" dirty="0"/>
          </a:p>
        </p:txBody>
      </p:sp>
      <p:sp>
        <p:nvSpPr>
          <p:cNvPr id="4" name="Rectangle 3"/>
          <p:cNvSpPr/>
          <p:nvPr/>
        </p:nvSpPr>
        <p:spPr>
          <a:xfrm>
            <a:off x="4800600" y="6428601"/>
            <a:ext cx="3256029" cy="276999"/>
          </a:xfrm>
          <a:prstGeom prst="rect">
            <a:avLst/>
          </a:prstGeom>
        </p:spPr>
        <p:txBody>
          <a:bodyPr wrap="none">
            <a:spAutoFit/>
          </a:bodyPr>
          <a:lstStyle/>
          <a:p>
            <a:r>
              <a:rPr lang="en-US" sz="1200" i="1" dirty="0">
                <a:solidFill>
                  <a:prstClr val="black">
                    <a:lumMod val="65000"/>
                    <a:lumOff val="35000"/>
                  </a:prstClr>
                </a:solidFill>
                <a:latin typeface="Century Gothic"/>
                <a:cs typeface="Century Gothic"/>
              </a:rPr>
              <a:t>Source: Federal Reserve Bank of St. Louis.</a:t>
            </a:r>
          </a:p>
        </p:txBody>
      </p:sp>
    </p:spTree>
    <p:extLst>
      <p:ext uri="{BB962C8B-B14F-4D97-AF65-F5344CB8AC3E}">
        <p14:creationId xmlns:p14="http://schemas.microsoft.com/office/powerpoint/2010/main" val="1961234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eaLnBrk="1" hangingPunct="1">
              <a:buFont typeface="Arial" pitchFamily="34" charset="0"/>
              <a:buNone/>
              <a:defRPr/>
            </a:pPr>
            <a:r>
              <a:rPr lang="en-US" sz="3600" dirty="0"/>
              <a:t>Which of the following assets would you classify as being most liquid?</a:t>
            </a:r>
          </a:p>
          <a:p>
            <a:pPr marL="742950" indent="-742950" eaLnBrk="1" hangingPunct="1">
              <a:buFont typeface="+mj-lt"/>
              <a:buAutoNum type="alphaLcParenR"/>
              <a:defRPr/>
            </a:pPr>
            <a:r>
              <a:rPr lang="en-US" sz="3600" dirty="0"/>
              <a:t>demand deposits   </a:t>
            </a:r>
          </a:p>
          <a:p>
            <a:pPr marL="742950" indent="-742950" eaLnBrk="1" hangingPunct="1">
              <a:buFont typeface="+mj-lt"/>
              <a:buAutoNum type="alphaLcParenR"/>
              <a:defRPr/>
            </a:pPr>
            <a:r>
              <a:rPr lang="en-US" sz="3600" dirty="0"/>
              <a:t>small-time deposits    </a:t>
            </a:r>
          </a:p>
          <a:p>
            <a:pPr marL="742950" indent="-742950" eaLnBrk="1" hangingPunct="1">
              <a:buFont typeface="+mj-lt"/>
              <a:buAutoNum type="alphaLcParenR"/>
              <a:defRPr/>
            </a:pPr>
            <a:r>
              <a:rPr lang="en-US" sz="3600" dirty="0"/>
              <a:t>a home    </a:t>
            </a:r>
          </a:p>
          <a:p>
            <a:pPr marL="742950" indent="-742950" eaLnBrk="1" hangingPunct="1">
              <a:buFont typeface="+mj-lt"/>
              <a:buAutoNum type="alphaLcParenR"/>
              <a:defRPr/>
            </a:pPr>
            <a:r>
              <a:rPr lang="en-US" sz="3600" dirty="0"/>
              <a:t>gold bullion</a:t>
            </a:r>
          </a:p>
        </p:txBody>
      </p:sp>
      <p:sp>
        <p:nvSpPr>
          <p:cNvPr id="5" name="Rectangle 4"/>
          <p:cNvSpPr/>
          <p:nvPr/>
        </p:nvSpPr>
        <p:spPr>
          <a:xfrm>
            <a:off x="7998" y="6273798"/>
            <a:ext cx="1154107" cy="400110"/>
          </a:xfrm>
          <a:prstGeom prst="rect">
            <a:avLst/>
          </a:prstGeom>
        </p:spPr>
        <p:txBody>
          <a:bodyPr wrap="none">
            <a:spAutoFit/>
          </a:bodyPr>
          <a:lstStyle/>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793020726"/>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pc="0" dirty="0"/>
              <a:t>THE MONETARY ROLE OF BANKS</a:t>
            </a:r>
          </a:p>
        </p:txBody>
      </p:sp>
      <p:sp>
        <p:nvSpPr>
          <p:cNvPr id="3" name="Content Placeholder 2"/>
          <p:cNvSpPr>
            <a:spLocks noGrp="1"/>
          </p:cNvSpPr>
          <p:nvPr>
            <p:ph idx="1"/>
          </p:nvPr>
        </p:nvSpPr>
        <p:spPr>
          <a:xfrm>
            <a:off x="4648200" y="990600"/>
            <a:ext cx="4419600" cy="5486400"/>
          </a:xfrm>
        </p:spPr>
        <p:txBody>
          <a:bodyPr>
            <a:normAutofit lnSpcReduction="10000"/>
          </a:bodyPr>
          <a:lstStyle/>
          <a:p>
            <a:pPr>
              <a:spcBef>
                <a:spcPts val="0"/>
              </a:spcBef>
              <a:spcAft>
                <a:spcPts val="1200"/>
              </a:spcAft>
            </a:pPr>
            <a:r>
              <a:rPr lang="en-US" dirty="0">
                <a:solidFill>
                  <a:srgbClr val="0070C0"/>
                </a:solidFill>
              </a:rPr>
              <a:t>Q: Only half of M1 is currency; where does the rest of the money supply come from?</a:t>
            </a:r>
          </a:p>
          <a:p>
            <a:pPr>
              <a:spcBef>
                <a:spcPts val="0"/>
              </a:spcBef>
              <a:spcAft>
                <a:spcPts val="1200"/>
              </a:spcAft>
            </a:pPr>
            <a:r>
              <a:rPr lang="en-US" dirty="0"/>
              <a:t>A: Bank deposits make up half of M1 and most of M2. </a:t>
            </a:r>
          </a:p>
          <a:p>
            <a:pPr>
              <a:spcBef>
                <a:spcPts val="0"/>
              </a:spcBef>
              <a:spcAft>
                <a:spcPts val="1200"/>
              </a:spcAft>
            </a:pPr>
            <a:r>
              <a:rPr lang="en-US" sz="3600" i="1" dirty="0">
                <a:solidFill>
                  <a:srgbClr val="990033"/>
                </a:solidFill>
              </a:rPr>
              <a:t>How does the banking system create money?</a:t>
            </a:r>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914400"/>
            <a:ext cx="4457700" cy="5943600"/>
          </a:xfrm>
          <a:prstGeom prst="rect">
            <a:avLst/>
          </a:prstGeom>
          <a:noFill/>
          <a:ln>
            <a:noFill/>
          </a:ln>
        </p:spPr>
      </p:pic>
    </p:spTree>
    <p:extLst>
      <p:ext uri="{BB962C8B-B14F-4D97-AF65-F5344CB8AC3E}">
        <p14:creationId xmlns:p14="http://schemas.microsoft.com/office/powerpoint/2010/main" val="494923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pc="0" dirty="0"/>
              <a:t>WHAT BANKS DO</a:t>
            </a:r>
          </a:p>
        </p:txBody>
      </p:sp>
      <p:sp>
        <p:nvSpPr>
          <p:cNvPr id="3" name="Content Placeholder 2"/>
          <p:cNvSpPr>
            <a:spLocks noGrp="1"/>
          </p:cNvSpPr>
          <p:nvPr>
            <p:ph idx="1"/>
          </p:nvPr>
        </p:nvSpPr>
        <p:spPr/>
        <p:txBody>
          <a:bodyPr/>
          <a:lstStyle/>
          <a:p>
            <a:r>
              <a:rPr lang="en-US" dirty="0"/>
              <a:t>Banks are financial intermediaries that use </a:t>
            </a:r>
            <a:r>
              <a:rPr lang="en-US" dirty="0">
                <a:solidFill>
                  <a:srgbClr val="0070C0"/>
                </a:solidFill>
              </a:rPr>
              <a:t>liquid assets</a:t>
            </a:r>
            <a:r>
              <a:rPr lang="en-US" dirty="0"/>
              <a:t> (in the form of bank deposits) </a:t>
            </a:r>
            <a:r>
              <a:rPr lang="en-US" dirty="0">
                <a:solidFill>
                  <a:srgbClr val="0070C0"/>
                </a:solidFill>
              </a:rPr>
              <a:t>to finance the illiquid investments</a:t>
            </a:r>
            <a:r>
              <a:rPr lang="en-US" dirty="0"/>
              <a:t> of borrowers.</a:t>
            </a:r>
          </a:p>
          <a:p>
            <a:endParaRPr lang="en-US" dirty="0"/>
          </a:p>
        </p:txBody>
      </p:sp>
      <p:pic>
        <p:nvPicPr>
          <p:cNvPr id="7" name="Picture 6"/>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466" y="3378200"/>
            <a:ext cx="2810933" cy="2108200"/>
          </a:xfrm>
          <a:prstGeom prst="rect">
            <a:avLst/>
          </a:prstGeom>
          <a:noFill/>
          <a:ln>
            <a:noFill/>
          </a:ln>
        </p:spPr>
      </p:pic>
      <p:pic>
        <p:nvPicPr>
          <p:cNvPr id="9" name="Picture 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619750" y="3758153"/>
            <a:ext cx="3524250" cy="1443604"/>
          </a:xfrm>
          <a:prstGeom prst="rect">
            <a:avLst/>
          </a:prstGeom>
          <a:noFill/>
          <a:ln>
            <a:noFill/>
          </a:ln>
        </p:spPr>
      </p:pic>
      <p:sp>
        <p:nvSpPr>
          <p:cNvPr id="10" name="Right Arrow 9"/>
          <p:cNvSpPr/>
          <p:nvPr/>
        </p:nvSpPr>
        <p:spPr>
          <a:xfrm>
            <a:off x="2971800" y="4267200"/>
            <a:ext cx="2514600" cy="762000"/>
          </a:xfrm>
          <a:prstGeom prst="rightArrow">
            <a:avLst>
              <a:gd name="adj1" fmla="val 50000"/>
              <a:gd name="adj2" fmla="val 67778"/>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solidFill>
                <a:prstClr val="white"/>
              </a:solidFill>
              <a:latin typeface="Calibri"/>
            </a:endParaRPr>
          </a:p>
        </p:txBody>
      </p:sp>
    </p:spTree>
    <p:extLst>
      <p:ext uri="{BB962C8B-B14F-4D97-AF65-F5344CB8AC3E}">
        <p14:creationId xmlns:p14="http://schemas.microsoft.com/office/powerpoint/2010/main" val="37407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pc="0" dirty="0"/>
              <a:t>THE MONETARY ROLE OF BANKS</a:t>
            </a:r>
          </a:p>
        </p:txBody>
      </p:sp>
      <p:pic>
        <p:nvPicPr>
          <p:cNvPr id="6" name="Picture 2" descr="C:\Users\solina\Dropbox\Krugman 3e Dynamic PPTs\Krugman 3e material\Images_High Res\CH29\CH29\Krug3e_fig_29_03.jp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57200" y="2712720"/>
            <a:ext cx="8229600" cy="2011680"/>
          </a:xfrm>
          <a:prstGeom prst="rect">
            <a:avLst/>
          </a:prstGeom>
          <a:noFill/>
          <a:extLst>
            <a:ext uri="{909E8E84-426E-40DD-AFC4-6F175D3DCCD1}">
              <a14:hiddenFill xmlns:a14="http://schemas.microsoft.com/office/drawing/2010/main">
                <a:solidFill>
                  <a:srgbClr val="FFFFFF"/>
                </a:solidFill>
              </a14:hiddenFill>
            </a:ext>
          </a:extLst>
        </p:spPr>
      </p:pic>
      <p:sp>
        <p:nvSpPr>
          <p:cNvPr id="7" name="Line Callout 1 6"/>
          <p:cNvSpPr/>
          <p:nvPr/>
        </p:nvSpPr>
        <p:spPr>
          <a:xfrm>
            <a:off x="457200" y="5105400"/>
            <a:ext cx="3657600" cy="1540933"/>
          </a:xfrm>
          <a:prstGeom prst="borderCallout1">
            <a:avLst>
              <a:gd name="adj1" fmla="val -41359"/>
              <a:gd name="adj2" fmla="val 42670"/>
              <a:gd name="adj3" fmla="val 1388"/>
              <a:gd name="adj4" fmla="val 50272"/>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i="1" dirty="0">
                <a:solidFill>
                  <a:srgbClr val="990033"/>
                </a:solidFill>
                <a:latin typeface="Century Gothic"/>
                <a:cs typeface="Century Gothic"/>
              </a:rPr>
              <a:t>Bank reserves: </a:t>
            </a:r>
            <a:r>
              <a:rPr lang="en-US" sz="2000" b="1" dirty="0">
                <a:solidFill>
                  <a:prstClr val="black"/>
                </a:solidFill>
                <a:latin typeface="Century Gothic"/>
                <a:cs typeface="Century Gothic"/>
              </a:rPr>
              <a:t>the currency that banks hold in their vaults plus their deposits at the Federal Reserve.</a:t>
            </a:r>
          </a:p>
        </p:txBody>
      </p:sp>
      <p:sp>
        <p:nvSpPr>
          <p:cNvPr id="10" name="Line Callout 1 9"/>
          <p:cNvSpPr/>
          <p:nvPr/>
        </p:nvSpPr>
        <p:spPr>
          <a:xfrm>
            <a:off x="457200" y="1066800"/>
            <a:ext cx="3581400" cy="1540933"/>
          </a:xfrm>
          <a:prstGeom prst="borderCallout1">
            <a:avLst>
              <a:gd name="adj1" fmla="val 142707"/>
              <a:gd name="adj2" fmla="val 109809"/>
              <a:gd name="adj3" fmla="val 99190"/>
              <a:gd name="adj4" fmla="val 100154"/>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i="1" dirty="0">
                <a:solidFill>
                  <a:srgbClr val="990033"/>
                </a:solidFill>
                <a:latin typeface="Century Gothic"/>
                <a:cs typeface="Century Gothic"/>
              </a:rPr>
              <a:t>T-account</a:t>
            </a:r>
            <a:r>
              <a:rPr lang="en-US" sz="2000" i="1" dirty="0">
                <a:solidFill>
                  <a:srgbClr val="990033"/>
                </a:solidFill>
                <a:latin typeface="Century Gothic"/>
                <a:cs typeface="Century Gothic"/>
              </a:rPr>
              <a:t>: </a:t>
            </a:r>
            <a:r>
              <a:rPr lang="en-US" sz="2000" b="1" dirty="0">
                <a:solidFill>
                  <a:prstClr val="black"/>
                </a:solidFill>
                <a:latin typeface="Century Gothic"/>
                <a:cs typeface="Century Gothic"/>
              </a:rPr>
              <a:t>a tool for analyzing a business’s financial position by showing the business’s assets and liabilities.</a:t>
            </a:r>
          </a:p>
        </p:txBody>
      </p:sp>
      <p:sp>
        <p:nvSpPr>
          <p:cNvPr id="11" name="Line Callout 1 10"/>
          <p:cNvSpPr/>
          <p:nvPr/>
        </p:nvSpPr>
        <p:spPr>
          <a:xfrm>
            <a:off x="4572000" y="5105400"/>
            <a:ext cx="3886200" cy="1540933"/>
          </a:xfrm>
          <a:prstGeom prst="borderCallout1">
            <a:avLst>
              <a:gd name="adj1" fmla="val -47952"/>
              <a:gd name="adj2" fmla="val -11940"/>
              <a:gd name="adj3" fmla="val 1388"/>
              <a:gd name="adj4" fmla="val 627"/>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i="1" dirty="0">
                <a:solidFill>
                  <a:srgbClr val="990033"/>
                </a:solidFill>
                <a:latin typeface="Century Gothic"/>
                <a:cs typeface="Century Gothic"/>
              </a:rPr>
              <a:t>The reserve ratio: </a:t>
            </a:r>
            <a:r>
              <a:rPr lang="en-US" sz="2000" b="1" dirty="0">
                <a:solidFill>
                  <a:prstClr val="black"/>
                </a:solidFill>
                <a:latin typeface="Century Gothic"/>
                <a:cs typeface="Century Gothic"/>
              </a:rPr>
              <a:t>the fraction of bank deposits that a bank holds as reserves ($100,000/$1,000,000) = 10%.</a:t>
            </a:r>
          </a:p>
        </p:txBody>
      </p:sp>
    </p:spTree>
    <p:extLst>
      <p:ext uri="{BB962C8B-B14F-4D97-AF65-F5344CB8AC3E}">
        <p14:creationId xmlns:p14="http://schemas.microsoft.com/office/powerpoint/2010/main" val="236126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normAutofit/>
          </a:bodyPr>
          <a:lstStyle/>
          <a:p>
            <a:pPr>
              <a:defRPr/>
            </a:pPr>
            <a:r>
              <a:rPr lang="en-US" spc="0" dirty="0"/>
              <a:t>HOW BANKS CREATE MONEY</a:t>
            </a:r>
          </a:p>
        </p:txBody>
      </p:sp>
      <p:sp>
        <p:nvSpPr>
          <p:cNvPr id="346115" name="Rectangle 3"/>
          <p:cNvSpPr>
            <a:spLocks noGrp="1" noChangeArrowheads="1"/>
          </p:cNvSpPr>
          <p:nvPr>
            <p:ph idx="1"/>
          </p:nvPr>
        </p:nvSpPr>
        <p:spPr>
          <a:xfrm>
            <a:off x="228600" y="1066800"/>
            <a:ext cx="8839200" cy="4648200"/>
          </a:xfrm>
        </p:spPr>
        <p:txBody>
          <a:bodyPr>
            <a:normAutofit/>
          </a:bodyPr>
          <a:lstStyle/>
          <a:p>
            <a:r>
              <a:rPr lang="en-US" dirty="0"/>
              <a:t>The </a:t>
            </a:r>
            <a:r>
              <a:rPr lang="en-US" b="1" dirty="0"/>
              <a:t>primary purpose of financial markets and institutions </a:t>
            </a:r>
            <a:r>
              <a:rPr lang="en-US" b="1" dirty="0">
                <a:solidFill>
                  <a:srgbClr val="0070C0"/>
                </a:solidFill>
              </a:rPr>
              <a:t>is to act as </a:t>
            </a:r>
            <a:r>
              <a:rPr lang="en-US" dirty="0">
                <a:solidFill>
                  <a:srgbClr val="0070C0"/>
                </a:solidFill>
              </a:rPr>
              <a:t>a bridge between </a:t>
            </a:r>
            <a:r>
              <a:rPr lang="en-US" b="1" dirty="0">
                <a:solidFill>
                  <a:srgbClr val="0070C0"/>
                </a:solidFill>
              </a:rPr>
              <a:t>lenders and borrowers. </a:t>
            </a:r>
          </a:p>
          <a:p>
            <a:r>
              <a:rPr lang="en-US" b="1" i="1" dirty="0">
                <a:solidFill>
                  <a:srgbClr val="990033"/>
                </a:solidFill>
              </a:rPr>
              <a:t>By accepting deposits and making loans, banks and other financial institutions are also able to create money. </a:t>
            </a:r>
          </a:p>
          <a:p>
            <a:pPr>
              <a:buFont typeface="Times"/>
              <a:buNone/>
            </a:pPr>
            <a:endParaRPr lang="en-US" dirty="0"/>
          </a:p>
        </p:txBody>
      </p:sp>
      <p:pic>
        <p:nvPicPr>
          <p:cNvPr id="27650" name="Picture 2" descr="http://www.sxc.hu/pic/l/m/mi/miamiamia/969631_53576422.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124200" y="4419600"/>
            <a:ext cx="2590800" cy="2435841"/>
          </a:xfrm>
          <a:prstGeom prst="rect">
            <a:avLst/>
          </a:prstGeom>
          <a:noFill/>
        </p:spPr>
      </p:pic>
      <p:pic>
        <p:nvPicPr>
          <p:cNvPr id="27652" name="Picture 4" descr="Bahamas coins">
            <a:hlinkClick r:id="rId4"/>
          </p:cNvPr>
          <p:cNvPicPr>
            <a:picLocks noChangeAspect="1" noChangeArrowheads="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105401" y="4419600"/>
            <a:ext cx="465222" cy="491067"/>
          </a:xfrm>
          <a:prstGeom prst="rect">
            <a:avLst/>
          </a:prstGeom>
          <a:noFill/>
        </p:spPr>
      </p:pic>
      <p:pic>
        <p:nvPicPr>
          <p:cNvPr id="9" name="Picture 4" descr="Bahamas coins">
            <a:hlinkClick r:id="rId4"/>
          </p:cNvPr>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162800" y="5364480"/>
            <a:ext cx="533400" cy="579120"/>
          </a:xfrm>
          <a:prstGeom prst="rect">
            <a:avLst/>
          </a:prstGeom>
          <a:noFill/>
        </p:spPr>
      </p:pic>
      <p:pic>
        <p:nvPicPr>
          <p:cNvPr id="11" name="Picture 10" descr="file7651244835061.jpg"/>
          <p:cNvPicPr>
            <a:picLocks noChangeAspect="1"/>
          </p:cNvPicPr>
          <p:nvPr/>
        </p:nvPicPr>
        <p:blipFill>
          <a:blip r:embed="rId7" cstate="screen">
            <a:clrChange>
              <a:clrFrom>
                <a:srgbClr val="FFFFFF"/>
              </a:clrFrom>
              <a:clrTo>
                <a:srgbClr val="FFFFFF">
                  <a:alpha val="0"/>
                </a:srgbClr>
              </a:clrTo>
            </a:clrChange>
            <a:lum contrast="20000"/>
            <a:extLst>
              <a:ext uri="{28A0092B-C50C-407E-A947-70E740481C1C}">
                <a14:useLocalDpi xmlns:a14="http://schemas.microsoft.com/office/drawing/2010/main"/>
              </a:ext>
            </a:extLst>
          </a:blip>
          <a:srcRect/>
          <a:stretch>
            <a:fillRect/>
          </a:stretch>
        </p:blipFill>
        <p:spPr>
          <a:xfrm rot="3184835">
            <a:off x="1300951" y="4950976"/>
            <a:ext cx="1584938" cy="1147714"/>
          </a:xfrm>
          <a:prstGeom prst="rect">
            <a:avLst/>
          </a:prstGeom>
        </p:spPr>
      </p:pic>
      <p:pic>
        <p:nvPicPr>
          <p:cNvPr id="12" name="Picture 11" descr="file7651244835061.jpg"/>
          <p:cNvPicPr>
            <a:picLocks noChangeAspect="1"/>
          </p:cNvPicPr>
          <p:nvPr/>
        </p:nvPicPr>
        <p:blipFill>
          <a:blip r:embed="rId7" cstate="screen">
            <a:clrChange>
              <a:clrFrom>
                <a:srgbClr val="FFFFFF"/>
              </a:clrFrom>
              <a:clrTo>
                <a:srgbClr val="FFFFFF">
                  <a:alpha val="0"/>
                </a:srgbClr>
              </a:clrTo>
            </a:clrChange>
            <a:lum contrast="20000"/>
            <a:extLst>
              <a:ext uri="{28A0092B-C50C-407E-A947-70E740481C1C}">
                <a14:useLocalDpi xmlns:a14="http://schemas.microsoft.com/office/drawing/2010/main"/>
              </a:ext>
            </a:extLst>
          </a:blip>
          <a:srcRect/>
          <a:stretch>
            <a:fillRect/>
          </a:stretch>
        </p:blipFill>
        <p:spPr>
          <a:xfrm rot="2009203">
            <a:off x="5545178" y="5215898"/>
            <a:ext cx="1584938" cy="1147714"/>
          </a:xfrm>
          <a:prstGeom prst="rect">
            <a:avLst/>
          </a:prstGeom>
        </p:spPr>
      </p:pic>
      <p:pic>
        <p:nvPicPr>
          <p:cNvPr id="13" name="Picture 4" descr="Bahamas coins">
            <a:hlinkClick r:id="rId4"/>
          </p:cNvPr>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38200" y="5715000"/>
            <a:ext cx="533400" cy="579120"/>
          </a:xfrm>
          <a:prstGeom prst="rect">
            <a:avLst/>
          </a:prstGeom>
          <a:noFill/>
        </p:spPr>
      </p:pic>
      <p:pic>
        <p:nvPicPr>
          <p:cNvPr id="15" name="Picture 14" descr="file7651244835061.jpg"/>
          <p:cNvPicPr>
            <a:picLocks noChangeAspect="1"/>
          </p:cNvPicPr>
          <p:nvPr/>
        </p:nvPicPr>
        <p:blipFill>
          <a:blip r:embed="rId7" cstate="screen">
            <a:clrChange>
              <a:clrFrom>
                <a:srgbClr val="FFFFFF"/>
              </a:clrFrom>
              <a:clrTo>
                <a:srgbClr val="FFFFFF">
                  <a:alpha val="0"/>
                </a:srgbClr>
              </a:clrTo>
            </a:clrChange>
            <a:lum contrast="20000"/>
            <a:extLst>
              <a:ext uri="{28A0092B-C50C-407E-A947-70E740481C1C}">
                <a14:useLocalDpi xmlns:a14="http://schemas.microsoft.com/office/drawing/2010/main"/>
              </a:ext>
            </a:extLst>
          </a:blip>
          <a:srcRect/>
          <a:stretch>
            <a:fillRect/>
          </a:stretch>
        </p:blipFill>
        <p:spPr>
          <a:xfrm rot="20989427">
            <a:off x="2146320" y="3331383"/>
            <a:ext cx="1584938" cy="1147714"/>
          </a:xfrm>
          <a:prstGeom prst="rect">
            <a:avLst/>
          </a:prstGeom>
        </p:spPr>
      </p:pic>
      <p:pic>
        <p:nvPicPr>
          <p:cNvPr id="16" name="Picture 4" descr="Bahamas coins">
            <a:hlinkClick r:id="rId4"/>
          </p:cNvPr>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90600" y="5867400"/>
            <a:ext cx="533400" cy="579120"/>
          </a:xfrm>
          <a:prstGeom prst="rect">
            <a:avLst/>
          </a:prstGeom>
          <a:noFill/>
        </p:spPr>
      </p:pic>
      <p:pic>
        <p:nvPicPr>
          <p:cNvPr id="14" name="Picture 4" descr="Bahamas coins">
            <a:hlinkClick r:id="rId4"/>
          </p:cNvPr>
          <p:cNvPicPr>
            <a:picLocks noChangeAspect="1" noChangeArrowheads="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362200" y="4495800"/>
            <a:ext cx="465222" cy="491067"/>
          </a:xfrm>
          <a:prstGeom prst="rect">
            <a:avLst/>
          </a:prstGeom>
          <a:noFill/>
        </p:spPr>
      </p:pic>
      <p:pic>
        <p:nvPicPr>
          <p:cNvPr id="17" name="Picture 4" descr="Bahamas coins">
            <a:hlinkClick r:id="rId4"/>
          </p:cNvPr>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858000" y="4495800"/>
            <a:ext cx="533400" cy="579120"/>
          </a:xfrm>
          <a:prstGeom prst="rect">
            <a:avLst/>
          </a:prstGeom>
          <a:noFill/>
        </p:spPr>
      </p:pic>
    </p:spTree>
    <p:extLst>
      <p:ext uri="{BB962C8B-B14F-4D97-AF65-F5344CB8AC3E}">
        <p14:creationId xmlns:p14="http://schemas.microsoft.com/office/powerpoint/2010/main" val="149263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6115">
                                            <p:txEl>
                                              <p:pRg st="1" end="1"/>
                                            </p:txEl>
                                          </p:spTgt>
                                        </p:tgtEl>
                                        <p:attrNameLst>
                                          <p:attrName>style.visibility</p:attrName>
                                        </p:attrNameLst>
                                      </p:cBhvr>
                                      <p:to>
                                        <p:strVal val="visible"/>
                                      </p:to>
                                    </p:set>
                                    <p:animEffect transition="in" filter="fade">
                                      <p:cBhvr>
                                        <p:cTn id="7" dur="1000"/>
                                        <p:tgtEl>
                                          <p:spTgt spid="3461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0" presetClass="path" presetSubtype="0" accel="50000" decel="50000" fill="hold" nodeType="withEffect">
                                  <p:stCondLst>
                                    <p:cond delay="0"/>
                                  </p:stCondLst>
                                  <p:childTnLst>
                                    <p:animMotion origin="layout" path="M 0.37917 -0.17014 C 0.35868 -0.30625 0.33837 -0.44213 0.28299 -0.42824 C 0.22743 -0.41412 0.08507 -0.14097 0.04584 -0.08657 " pathEditMode="relative" rAng="0" ptsTypes="aaA">
                                      <p:cBhvr>
                                        <p:cTn id="16" dur="2000" fill="hold"/>
                                        <p:tgtEl>
                                          <p:spTgt spid="13"/>
                                        </p:tgtEl>
                                        <p:attrNameLst>
                                          <p:attrName>ppt_x</p:attrName>
                                          <p:attrName>ppt_y</p:attrName>
                                        </p:attrNameLst>
                                      </p:cBhvr>
                                      <p:rCtr x="-16700" y="-9400"/>
                                    </p:animMotion>
                                  </p:childTnLst>
                                </p:cTn>
                              </p:par>
                              <p:par>
                                <p:cTn id="17" presetID="53"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fltVal val="0"/>
                                          </p:val>
                                        </p:tav>
                                        <p:tav tm="100000">
                                          <p:val>
                                            <p:strVal val="#ppt_w"/>
                                          </p:val>
                                        </p:tav>
                                      </p:tavLst>
                                    </p:anim>
                                    <p:anim calcmode="lin" valueType="num">
                                      <p:cBhvr>
                                        <p:cTn id="20" dur="1000" fill="hold"/>
                                        <p:tgtEl>
                                          <p:spTgt spid="11"/>
                                        </p:tgtEl>
                                        <p:attrNameLst>
                                          <p:attrName>ppt_h</p:attrName>
                                        </p:attrNameLst>
                                      </p:cBhvr>
                                      <p:tavLst>
                                        <p:tav tm="0">
                                          <p:val>
                                            <p:fltVal val="0"/>
                                          </p:val>
                                        </p:tav>
                                        <p:tav tm="100000">
                                          <p:val>
                                            <p:strVal val="#ppt_h"/>
                                          </p:val>
                                        </p:tav>
                                      </p:tavLst>
                                    </p:anim>
                                    <p:animEffect transition="in" filter="fade">
                                      <p:cBhvr>
                                        <p:cTn id="21" dur="1000"/>
                                        <p:tgtEl>
                                          <p:spTgt spid="11"/>
                                        </p:tgtEl>
                                      </p:cBhvr>
                                    </p:animEffect>
                                  </p:childTnLst>
                                </p:cTn>
                              </p:par>
                              <p:par>
                                <p:cTn id="22" presetID="0" presetClass="path" presetSubtype="0" accel="50000" decel="50000" fill="hold" nodeType="withEffect">
                                  <p:stCondLst>
                                    <p:cond delay="0"/>
                                  </p:stCondLst>
                                  <p:childTnLst>
                                    <p:animMotion origin="layout" path="M 0.33264 0.05185 C 0.33837 -0.01737 0.34427 -0.08635 0.33368 -0.14352 C 0.32309 -0.2007 0.29705 -0.26667 0.26927 -0.29167 C 0.24149 -0.31667 0.20417 -0.30695 0.16701 -0.29329 C 0.12986 -0.27963 0.075 -0.25857 0.04583 -0.21019 C 0.01667 -0.16181 -0.01215 -0.02825 -0.00851 -0.00278 " pathEditMode="relative" rAng="0" ptsTypes="aaaaaA">
                                      <p:cBhvr>
                                        <p:cTn id="23" dur="2000" fill="hold"/>
                                        <p:tgtEl>
                                          <p:spTgt spid="11"/>
                                        </p:tgtEl>
                                        <p:attrNameLst>
                                          <p:attrName>ppt_x</p:attrName>
                                          <p:attrName>ppt_y</p:attrName>
                                        </p:attrNameLst>
                                      </p:cBhvr>
                                      <p:rCtr x="-16700" y="-18400"/>
                                    </p:animMotion>
                                  </p:childTnLst>
                                </p:cTn>
                              </p:par>
                              <p:par>
                                <p:cTn id="24" presetID="53"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p:cTn id="26" dur="1000" fill="hold"/>
                                        <p:tgtEl>
                                          <p:spTgt spid="14"/>
                                        </p:tgtEl>
                                        <p:attrNameLst>
                                          <p:attrName>ppt_w</p:attrName>
                                        </p:attrNameLst>
                                      </p:cBhvr>
                                      <p:tavLst>
                                        <p:tav tm="0">
                                          <p:val>
                                            <p:fltVal val="0"/>
                                          </p:val>
                                        </p:tav>
                                        <p:tav tm="100000">
                                          <p:val>
                                            <p:strVal val="#ppt_w"/>
                                          </p:val>
                                        </p:tav>
                                      </p:tavLst>
                                    </p:anim>
                                    <p:anim calcmode="lin" valueType="num">
                                      <p:cBhvr>
                                        <p:cTn id="27" dur="1000" fill="hold"/>
                                        <p:tgtEl>
                                          <p:spTgt spid="14"/>
                                        </p:tgtEl>
                                        <p:attrNameLst>
                                          <p:attrName>ppt_h</p:attrName>
                                        </p:attrNameLst>
                                      </p:cBhvr>
                                      <p:tavLst>
                                        <p:tav tm="0">
                                          <p:val>
                                            <p:fltVal val="0"/>
                                          </p:val>
                                        </p:tav>
                                        <p:tav tm="100000">
                                          <p:val>
                                            <p:strVal val="#ppt_h"/>
                                          </p:val>
                                        </p:tav>
                                      </p:tavLst>
                                    </p:anim>
                                    <p:animEffect transition="in" filter="fade">
                                      <p:cBhvr>
                                        <p:cTn id="28" dur="1000"/>
                                        <p:tgtEl>
                                          <p:spTgt spid="14"/>
                                        </p:tgtEl>
                                      </p:cBhvr>
                                    </p:animEffect>
                                  </p:childTnLst>
                                </p:cTn>
                              </p:par>
                              <p:par>
                                <p:cTn id="29" presetID="0" presetClass="path" presetSubtype="0" accel="50000" decel="50000" fill="hold" nodeType="withEffect">
                                  <p:stCondLst>
                                    <p:cond delay="0"/>
                                  </p:stCondLst>
                                  <p:childTnLst>
                                    <p:animMotion origin="layout" path="M 0.22222 0.11413 C 0.23559 0.05765 0.24913 0.0014 0.23663 -0.05022 C 0.22413 -0.10184 0.18281 -0.17916 0.1467 -0.19559 C 0.11059 -0.21203 0.04445 -0.18217 0.01997 -0.14953 C -0.00451 -0.11689 -0.00364 -0.01944 -2.77778E-7 6.2963E-6 " pathEditMode="relative" ptsTypes="aaaaA">
                                      <p:cBhvr>
                                        <p:cTn id="30" dur="2000" fill="hold"/>
                                        <p:tgtEl>
                                          <p:spTgt spid="14"/>
                                        </p:tgtEl>
                                        <p:attrNameLst>
                                          <p:attrName>ppt_x</p:attrName>
                                          <p:attrName>ppt_y</p:attrName>
                                        </p:attrNameLst>
                                      </p:cBhvr>
                                    </p:animMotion>
                                  </p:childTnLst>
                                </p:cTn>
                              </p:par>
                              <p:par>
                                <p:cTn id="31" presetID="53" presetClass="entr" presetSubtype="0" fill="hold" nodeType="withEffect">
                                  <p:stCondLst>
                                    <p:cond delay="0"/>
                                  </p:stCondLst>
                                  <p:childTnLst>
                                    <p:set>
                                      <p:cBhvr>
                                        <p:cTn id="32" dur="1" fill="hold">
                                          <p:stCondLst>
                                            <p:cond delay="0"/>
                                          </p:stCondLst>
                                        </p:cTn>
                                        <p:tgtEl>
                                          <p:spTgt spid="27652"/>
                                        </p:tgtEl>
                                        <p:attrNameLst>
                                          <p:attrName>style.visibility</p:attrName>
                                        </p:attrNameLst>
                                      </p:cBhvr>
                                      <p:to>
                                        <p:strVal val="visible"/>
                                      </p:to>
                                    </p:set>
                                    <p:anim calcmode="lin" valueType="num">
                                      <p:cBhvr>
                                        <p:cTn id="33" dur="1000" fill="hold"/>
                                        <p:tgtEl>
                                          <p:spTgt spid="27652"/>
                                        </p:tgtEl>
                                        <p:attrNameLst>
                                          <p:attrName>ppt_w</p:attrName>
                                        </p:attrNameLst>
                                      </p:cBhvr>
                                      <p:tavLst>
                                        <p:tav tm="0">
                                          <p:val>
                                            <p:fltVal val="0"/>
                                          </p:val>
                                        </p:tav>
                                        <p:tav tm="100000">
                                          <p:val>
                                            <p:strVal val="#ppt_w"/>
                                          </p:val>
                                        </p:tav>
                                      </p:tavLst>
                                    </p:anim>
                                    <p:anim calcmode="lin" valueType="num">
                                      <p:cBhvr>
                                        <p:cTn id="34" dur="1000" fill="hold"/>
                                        <p:tgtEl>
                                          <p:spTgt spid="27652"/>
                                        </p:tgtEl>
                                        <p:attrNameLst>
                                          <p:attrName>ppt_h</p:attrName>
                                        </p:attrNameLst>
                                      </p:cBhvr>
                                      <p:tavLst>
                                        <p:tav tm="0">
                                          <p:val>
                                            <p:fltVal val="0"/>
                                          </p:val>
                                        </p:tav>
                                        <p:tav tm="100000">
                                          <p:val>
                                            <p:strVal val="#ppt_h"/>
                                          </p:val>
                                        </p:tav>
                                      </p:tavLst>
                                    </p:anim>
                                    <p:animEffect transition="in" filter="fade">
                                      <p:cBhvr>
                                        <p:cTn id="35" dur="1000"/>
                                        <p:tgtEl>
                                          <p:spTgt spid="27652"/>
                                        </p:tgtEl>
                                      </p:cBhvr>
                                    </p:animEffect>
                                  </p:childTnLst>
                                </p:cTn>
                              </p:par>
                              <p:par>
                                <p:cTn id="36" presetID="0" presetClass="path" presetSubtype="0" accel="50000" decel="50000" fill="hold" nodeType="withEffect">
                                  <p:stCondLst>
                                    <p:cond delay="0"/>
                                  </p:stCondLst>
                                  <p:childTnLst>
                                    <p:animMotion origin="layout" path="M -0.07361 0.10371 C -0.0809 0.06875 -0.08802 0.03403 -0.09028 -0.00301 C -0.09253 -0.04004 -0.0967 -0.08819 -0.08698 -0.11852 C -0.07726 -0.14884 -0.05208 -0.18426 -0.03142 -0.18518 C -0.01076 -0.18611 0.0283 -0.14907 0.0375 -0.12453 C 0.0467 -0.1 0.01892 -0.05301 0.02413 -0.03865 " pathEditMode="relative" ptsTypes="aaaaaA">
                                      <p:cBhvr>
                                        <p:cTn id="37" dur="2000" fill="hold"/>
                                        <p:tgtEl>
                                          <p:spTgt spid="27652"/>
                                        </p:tgtEl>
                                        <p:attrNameLst>
                                          <p:attrName>ppt_x</p:attrName>
                                          <p:attrName>ppt_y</p:attrName>
                                        </p:attrNameLst>
                                      </p:cBhvr>
                                    </p:animMotion>
                                  </p:childTnLst>
                                </p:cTn>
                              </p:par>
                              <p:par>
                                <p:cTn id="38" presetID="53" presetClass="entr" presetSubtype="0" fill="hold" nodeType="with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p:cTn id="40" dur="1000" fill="hold"/>
                                        <p:tgtEl>
                                          <p:spTgt spid="12"/>
                                        </p:tgtEl>
                                        <p:attrNameLst>
                                          <p:attrName>ppt_w</p:attrName>
                                        </p:attrNameLst>
                                      </p:cBhvr>
                                      <p:tavLst>
                                        <p:tav tm="0">
                                          <p:val>
                                            <p:fltVal val="0"/>
                                          </p:val>
                                        </p:tav>
                                        <p:tav tm="100000">
                                          <p:val>
                                            <p:strVal val="#ppt_w"/>
                                          </p:val>
                                        </p:tav>
                                      </p:tavLst>
                                    </p:anim>
                                    <p:anim calcmode="lin" valueType="num">
                                      <p:cBhvr>
                                        <p:cTn id="41" dur="1000" fill="hold"/>
                                        <p:tgtEl>
                                          <p:spTgt spid="12"/>
                                        </p:tgtEl>
                                        <p:attrNameLst>
                                          <p:attrName>ppt_h</p:attrName>
                                        </p:attrNameLst>
                                      </p:cBhvr>
                                      <p:tavLst>
                                        <p:tav tm="0">
                                          <p:val>
                                            <p:fltVal val="0"/>
                                          </p:val>
                                        </p:tav>
                                        <p:tav tm="100000">
                                          <p:val>
                                            <p:strVal val="#ppt_h"/>
                                          </p:val>
                                        </p:tav>
                                      </p:tavLst>
                                    </p:anim>
                                    <p:animEffect transition="in" filter="fade">
                                      <p:cBhvr>
                                        <p:cTn id="42" dur="1000"/>
                                        <p:tgtEl>
                                          <p:spTgt spid="12"/>
                                        </p:tgtEl>
                                      </p:cBhvr>
                                    </p:animEffect>
                                  </p:childTnLst>
                                </p:cTn>
                              </p:par>
                              <p:par>
                                <p:cTn id="43" presetID="0" presetClass="path" presetSubtype="0" accel="50000" decel="50000" fill="hold" nodeType="withEffect">
                                  <p:stCondLst>
                                    <p:cond delay="0"/>
                                  </p:stCondLst>
                                  <p:childTnLst>
                                    <p:animMotion origin="layout" path="M -0.19671 -0.03564 C -0.21494 -0.13958 -0.23299 -0.24328 -0.21893 -0.2993 C -0.20487 -0.35532 -0.15834 -0.36967 -0.11233 -0.37199 C -0.06633 -0.3743 0.02621 -0.3456 0.05763 -0.31273 C 0.08906 -0.27986 0.08611 -0.22685 0.07656 -0.17476 C 0.06701 -0.12268 0.00972 -0.02638 -8.33333E-6 -1.11111E-6 " pathEditMode="relative" ptsTypes="aaaaaA">
                                      <p:cBhvr>
                                        <p:cTn id="44" dur="2000" fill="hold"/>
                                        <p:tgtEl>
                                          <p:spTgt spid="12"/>
                                        </p:tgtEl>
                                        <p:attrNameLst>
                                          <p:attrName>ppt_x</p:attrName>
                                          <p:attrName>ppt_y</p:attrName>
                                        </p:attrNameLst>
                                      </p:cBhvr>
                                    </p:animMotion>
                                  </p:childTnLst>
                                </p:cTn>
                              </p:par>
                              <p:par>
                                <p:cTn id="45" presetID="53" presetClass="entr" presetSubtype="0" fill="hold" nodeType="with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p:cTn id="47" dur="1000" fill="hold"/>
                                        <p:tgtEl>
                                          <p:spTgt spid="9"/>
                                        </p:tgtEl>
                                        <p:attrNameLst>
                                          <p:attrName>ppt_w</p:attrName>
                                        </p:attrNameLst>
                                      </p:cBhvr>
                                      <p:tavLst>
                                        <p:tav tm="0">
                                          <p:val>
                                            <p:fltVal val="0"/>
                                          </p:val>
                                        </p:tav>
                                        <p:tav tm="100000">
                                          <p:val>
                                            <p:strVal val="#ppt_w"/>
                                          </p:val>
                                        </p:tav>
                                      </p:tavLst>
                                    </p:anim>
                                    <p:anim calcmode="lin" valueType="num">
                                      <p:cBhvr>
                                        <p:cTn id="48" dur="1000" fill="hold"/>
                                        <p:tgtEl>
                                          <p:spTgt spid="9"/>
                                        </p:tgtEl>
                                        <p:attrNameLst>
                                          <p:attrName>ppt_h</p:attrName>
                                        </p:attrNameLst>
                                      </p:cBhvr>
                                      <p:tavLst>
                                        <p:tav tm="0">
                                          <p:val>
                                            <p:fltVal val="0"/>
                                          </p:val>
                                        </p:tav>
                                        <p:tav tm="100000">
                                          <p:val>
                                            <p:strVal val="#ppt_h"/>
                                          </p:val>
                                        </p:tav>
                                      </p:tavLst>
                                    </p:anim>
                                    <p:animEffect transition="in" filter="fade">
                                      <p:cBhvr>
                                        <p:cTn id="49" dur="1000"/>
                                        <p:tgtEl>
                                          <p:spTgt spid="9"/>
                                        </p:tgtEl>
                                      </p:cBhvr>
                                    </p:animEffect>
                                  </p:childTnLst>
                                </p:cTn>
                              </p:par>
                              <p:par>
                                <p:cTn id="50" presetID="0" presetClass="path" presetSubtype="0" accel="50000" decel="50000" fill="hold" nodeType="withEffect">
                                  <p:stCondLst>
                                    <p:cond delay="0"/>
                                  </p:stCondLst>
                                  <p:childTnLst>
                                    <p:animMotion origin="layout" path="M -0.31458 -0.05857 C -0.32187 -0.14005 -0.32917 -0.2213 -0.30347 -0.272 C -0.27778 -0.32269 -0.21927 -0.35579 -0.16007 -0.36227 C -0.10087 -0.36875 0.01441 -0.3419 0.05208 -0.31042 C 0.08976 -0.27894 0.07535 -0.22037 0.06649 -0.17269 C 0.05764 -0.125 0.00556 -0.04422 -0.00122 -0.02454 " pathEditMode="relative" rAng="0" ptsTypes="aaaaaA">
                                      <p:cBhvr>
                                        <p:cTn id="51" dur="2000" fill="hold"/>
                                        <p:tgtEl>
                                          <p:spTgt spid="9"/>
                                        </p:tgtEl>
                                        <p:attrNameLst>
                                          <p:attrName>ppt_x</p:attrName>
                                          <p:attrName>ppt_y</p:attrName>
                                        </p:attrNameLst>
                                      </p:cBhvr>
                                      <p:rCtr x="19500" y="-13800"/>
                                    </p:animMotion>
                                  </p:childTnLst>
                                </p:cTn>
                              </p:par>
                              <p:par>
                                <p:cTn id="52" presetID="53" presetClass="entr" presetSubtype="0" fill="hold"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p:cTn id="54" dur="1000" fill="hold"/>
                                        <p:tgtEl>
                                          <p:spTgt spid="15"/>
                                        </p:tgtEl>
                                        <p:attrNameLst>
                                          <p:attrName>ppt_w</p:attrName>
                                        </p:attrNameLst>
                                      </p:cBhvr>
                                      <p:tavLst>
                                        <p:tav tm="0">
                                          <p:val>
                                            <p:fltVal val="0"/>
                                          </p:val>
                                        </p:tav>
                                        <p:tav tm="100000">
                                          <p:val>
                                            <p:strVal val="#ppt_w"/>
                                          </p:val>
                                        </p:tav>
                                      </p:tavLst>
                                    </p:anim>
                                    <p:anim calcmode="lin" valueType="num">
                                      <p:cBhvr>
                                        <p:cTn id="55" dur="1000" fill="hold"/>
                                        <p:tgtEl>
                                          <p:spTgt spid="15"/>
                                        </p:tgtEl>
                                        <p:attrNameLst>
                                          <p:attrName>ppt_h</p:attrName>
                                        </p:attrNameLst>
                                      </p:cBhvr>
                                      <p:tavLst>
                                        <p:tav tm="0">
                                          <p:val>
                                            <p:fltVal val="0"/>
                                          </p:val>
                                        </p:tav>
                                        <p:tav tm="100000">
                                          <p:val>
                                            <p:strVal val="#ppt_h"/>
                                          </p:val>
                                        </p:tav>
                                      </p:tavLst>
                                    </p:anim>
                                    <p:animEffect transition="in" filter="fade">
                                      <p:cBhvr>
                                        <p:cTn id="56" dur="1000"/>
                                        <p:tgtEl>
                                          <p:spTgt spid="15"/>
                                        </p:tgtEl>
                                      </p:cBhvr>
                                    </p:animEffect>
                                  </p:childTnLst>
                                </p:cTn>
                              </p:par>
                              <p:par>
                                <p:cTn id="57" presetID="0" presetClass="path" presetSubtype="0" accel="50000" decel="50000" fill="hold" nodeType="withEffect">
                                  <p:stCondLst>
                                    <p:cond delay="0"/>
                                  </p:stCondLst>
                                  <p:childTnLst>
                                    <p:animMotion origin="layout" path="M 0.20729 0.08032 C 0.21076 0.01019 0.21476 -0.05926 0.20816 -0.11713 C 0.20174 -0.175 0.18576 -0.24144 0.16892 -0.26667 C 0.15208 -0.29167 0.12917 -0.28194 0.10677 -0.26852 C 0.0842 -0.25463 0.0507 -0.23333 0.03299 -0.18449 C 0.01528 -0.13565 -0.00191 -0.00093 -8.33333E-7 0.02477 " pathEditMode="relative" rAng="0" ptsTypes="aaaaaA">
                                      <p:cBhvr>
                                        <p:cTn id="58" dur="2000" fill="hold"/>
                                        <p:tgtEl>
                                          <p:spTgt spid="15"/>
                                        </p:tgtEl>
                                        <p:attrNameLst>
                                          <p:attrName>ppt_x</p:attrName>
                                          <p:attrName>ppt_y</p:attrName>
                                        </p:attrNameLst>
                                      </p:cBhvr>
                                      <p:rCtr x="-10100" y="-18600"/>
                                    </p:animMotion>
                                  </p:childTnLst>
                                </p:cTn>
                              </p:par>
                              <p:par>
                                <p:cTn id="59" presetID="53" presetClass="entr" presetSubtype="0"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p:cTn id="61" dur="1000" fill="hold"/>
                                        <p:tgtEl>
                                          <p:spTgt spid="16"/>
                                        </p:tgtEl>
                                        <p:attrNameLst>
                                          <p:attrName>ppt_w</p:attrName>
                                        </p:attrNameLst>
                                      </p:cBhvr>
                                      <p:tavLst>
                                        <p:tav tm="0">
                                          <p:val>
                                            <p:fltVal val="0"/>
                                          </p:val>
                                        </p:tav>
                                        <p:tav tm="100000">
                                          <p:val>
                                            <p:strVal val="#ppt_w"/>
                                          </p:val>
                                        </p:tav>
                                      </p:tavLst>
                                    </p:anim>
                                    <p:anim calcmode="lin" valueType="num">
                                      <p:cBhvr>
                                        <p:cTn id="62" dur="1000" fill="hold"/>
                                        <p:tgtEl>
                                          <p:spTgt spid="16"/>
                                        </p:tgtEl>
                                        <p:attrNameLst>
                                          <p:attrName>ppt_h</p:attrName>
                                        </p:attrNameLst>
                                      </p:cBhvr>
                                      <p:tavLst>
                                        <p:tav tm="0">
                                          <p:val>
                                            <p:fltVal val="0"/>
                                          </p:val>
                                        </p:tav>
                                        <p:tav tm="100000">
                                          <p:val>
                                            <p:strVal val="#ppt_h"/>
                                          </p:val>
                                        </p:tav>
                                      </p:tavLst>
                                    </p:anim>
                                    <p:animEffect transition="in" filter="fade">
                                      <p:cBhvr>
                                        <p:cTn id="63" dur="1000"/>
                                        <p:tgtEl>
                                          <p:spTgt spid="16"/>
                                        </p:tgtEl>
                                      </p:cBhvr>
                                    </p:animEffect>
                                  </p:childTnLst>
                                </p:cTn>
                              </p:par>
                              <p:par>
                                <p:cTn id="64" presetID="0" presetClass="path" presetSubtype="0" accel="50000" decel="50000" fill="hold" nodeType="withEffect">
                                  <p:stCondLst>
                                    <p:cond delay="0"/>
                                  </p:stCondLst>
                                  <p:childTnLst>
                                    <p:animMotion origin="layout" path="M 0.37014 -0.05787 C 0.34757 -0.15231 0.325 -0.24676 0.26337 -0.23703 C 0.20174 -0.22731 0.04375 -0.03773 3.88889E-6 -7.40741E-7 " pathEditMode="relative" ptsTypes="aaA">
                                      <p:cBhvr>
                                        <p:cTn id="65" dur="2000" fill="hold"/>
                                        <p:tgtEl>
                                          <p:spTgt spid="16"/>
                                        </p:tgtEl>
                                        <p:attrNameLst>
                                          <p:attrName>ppt_x</p:attrName>
                                          <p:attrName>ppt_y</p:attrName>
                                        </p:attrNameLst>
                                      </p:cBhvr>
                                    </p:animMotion>
                                  </p:childTnLst>
                                </p:cTn>
                              </p:par>
                              <p:par>
                                <p:cTn id="66" presetID="53" presetClass="entr" presetSubtype="0" fill="hold" nodeType="with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p:cTn id="68" dur="1000" fill="hold"/>
                                        <p:tgtEl>
                                          <p:spTgt spid="17"/>
                                        </p:tgtEl>
                                        <p:attrNameLst>
                                          <p:attrName>ppt_w</p:attrName>
                                        </p:attrNameLst>
                                      </p:cBhvr>
                                      <p:tavLst>
                                        <p:tav tm="0">
                                          <p:val>
                                            <p:fltVal val="0"/>
                                          </p:val>
                                        </p:tav>
                                        <p:tav tm="100000">
                                          <p:val>
                                            <p:strVal val="#ppt_w"/>
                                          </p:val>
                                        </p:tav>
                                      </p:tavLst>
                                    </p:anim>
                                    <p:anim calcmode="lin" valueType="num">
                                      <p:cBhvr>
                                        <p:cTn id="69" dur="1000" fill="hold"/>
                                        <p:tgtEl>
                                          <p:spTgt spid="17"/>
                                        </p:tgtEl>
                                        <p:attrNameLst>
                                          <p:attrName>ppt_h</p:attrName>
                                        </p:attrNameLst>
                                      </p:cBhvr>
                                      <p:tavLst>
                                        <p:tav tm="0">
                                          <p:val>
                                            <p:fltVal val="0"/>
                                          </p:val>
                                        </p:tav>
                                        <p:tav tm="100000">
                                          <p:val>
                                            <p:strVal val="#ppt_h"/>
                                          </p:val>
                                        </p:tav>
                                      </p:tavLst>
                                    </p:anim>
                                    <p:animEffect transition="in" filter="fade">
                                      <p:cBhvr>
                                        <p:cTn id="70" dur="1000"/>
                                        <p:tgtEl>
                                          <p:spTgt spid="17"/>
                                        </p:tgtEl>
                                      </p:cBhvr>
                                    </p:animEffect>
                                  </p:childTnLst>
                                </p:cTn>
                              </p:par>
                              <p:par>
                                <p:cTn id="71" presetID="0" presetClass="path" presetSubtype="0" accel="50000" decel="50000" fill="hold" nodeType="withEffect">
                                  <p:stCondLst>
                                    <p:cond delay="0"/>
                                  </p:stCondLst>
                                  <p:childTnLst>
                                    <p:animMotion origin="layout" path="M -0.2783 0.04282 C -0.31216 -0.06968 -0.34566 -0.18195 -0.34236 -0.26204 C -0.33907 -0.3426 -0.30295 -0.40834 -0.25643 -0.43959 C -0.21077 -0.47014 -0.10764 -0.47269 -0.06615 -0.44144 C -0.02466 -0.41042 -0.01632 -0.32246 -0.00799 -0.2507 C 0.00191 -0.18149 -0.01268 -0.04908 -0.01146 -0.01829 " pathEditMode="relative" rAng="-1072626" ptsTypes="aaaaaA">
                                      <p:cBhvr>
                                        <p:cTn id="72" dur="2000" fill="hold"/>
                                        <p:tgtEl>
                                          <p:spTgt spid="17"/>
                                        </p:tgtEl>
                                        <p:attrNameLst>
                                          <p:attrName>ppt_x</p:attrName>
                                          <p:attrName>ppt_y</p:attrName>
                                        </p:attrNameLst>
                                      </p:cBhvr>
                                      <p:rCtr x="11100" y="-263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5" grpId="0" build="p"/>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4658" name="Rectangle 2"/>
          <p:cNvSpPr>
            <a:spLocks noGrp="1" noRot="1" noChangeArrowheads="1"/>
          </p:cNvSpPr>
          <p:nvPr>
            <p:ph type="title"/>
          </p:nvPr>
        </p:nvSpPr>
        <p:spPr/>
        <p:txBody>
          <a:bodyPr>
            <a:normAutofit/>
          </a:bodyPr>
          <a:lstStyle/>
          <a:p>
            <a:r>
              <a:rPr lang="en-US" spc="0" dirty="0"/>
              <a:t>HOW BANKS CREATE MONEY</a:t>
            </a:r>
            <a:endParaRPr lang="en-US" b="0" spc="0" dirty="0"/>
          </a:p>
        </p:txBody>
      </p:sp>
      <p:sp>
        <p:nvSpPr>
          <p:cNvPr id="3" name="Content Placeholder 2"/>
          <p:cNvSpPr>
            <a:spLocks noGrp="1"/>
          </p:cNvSpPr>
          <p:nvPr>
            <p:ph idx="1"/>
          </p:nvPr>
        </p:nvSpPr>
        <p:spPr>
          <a:xfrm>
            <a:off x="228600" y="914400"/>
            <a:ext cx="8839200" cy="5486400"/>
          </a:xfrm>
        </p:spPr>
        <p:txBody>
          <a:bodyPr>
            <a:noAutofit/>
          </a:bodyPr>
          <a:lstStyle/>
          <a:p>
            <a:r>
              <a:rPr lang="en-US" sz="2800" dirty="0"/>
              <a:t>Silas keeps a shoebox full of cash under his bed.  Deciding to enter the twenty-first century, </a:t>
            </a:r>
            <a:r>
              <a:rPr lang="en-US" sz="2800" dirty="0">
                <a:solidFill>
                  <a:srgbClr val="0070C0"/>
                </a:solidFill>
              </a:rPr>
              <a:t>he deposits this cash at the bank.  </a:t>
            </a:r>
            <a:r>
              <a:rPr lang="en-US" sz="2800" i="1" dirty="0">
                <a:solidFill>
                  <a:srgbClr val="990033"/>
                </a:solidFill>
              </a:rPr>
              <a:t>What’s the effect of his $1,000?</a:t>
            </a:r>
          </a:p>
          <a:p>
            <a:endParaRPr lang="en-US" sz="2800" i="1" dirty="0">
              <a:solidFill>
                <a:srgbClr val="990033"/>
              </a:solidFill>
            </a:endParaRPr>
          </a:p>
          <a:p>
            <a:endParaRPr lang="en-US" sz="2800" i="1" dirty="0">
              <a:solidFill>
                <a:srgbClr val="990033"/>
              </a:solidFill>
            </a:endParaRPr>
          </a:p>
          <a:p>
            <a:endParaRPr lang="en-US" sz="2800" i="1" dirty="0">
              <a:solidFill>
                <a:srgbClr val="990033"/>
              </a:solidFill>
            </a:endParaRPr>
          </a:p>
          <a:p>
            <a:endParaRPr lang="en-US" sz="2800" i="1" dirty="0">
              <a:solidFill>
                <a:srgbClr val="990033"/>
              </a:solidFill>
            </a:endParaRPr>
          </a:p>
          <a:p>
            <a:r>
              <a:rPr lang="en-US" sz="2800" dirty="0">
                <a:solidFill>
                  <a:srgbClr val="0070C0"/>
                </a:solidFill>
              </a:rPr>
              <a:t>Banks make their profit from loans, so eventually they will make new loans with 90% of Silas’s money. (The rest they must hold in reserve.)</a:t>
            </a:r>
          </a:p>
        </p:txBody>
      </p:sp>
      <p:pic>
        <p:nvPicPr>
          <p:cNvPr id="44034" name="Picture 2" descr="C:\Users\solina\Dropbox\Krugman 3e Dynamic PPTs\Krugman 3e material\Images_High Res\CH29\CH29\Krug3e_fig_29_04.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52399" y="3048003"/>
            <a:ext cx="8991601" cy="1551884"/>
          </a:xfrm>
          <a:prstGeom prst="rect">
            <a:avLst/>
          </a:prstGeom>
          <a:ln>
            <a:noFill/>
          </a:ln>
          <a:effectLst/>
          <a:extLst>
            <a:ext uri="{909E8E84-426E-40DD-AFC4-6F175D3DCCD1}">
              <a14:hiddenFill xmlns:a14="http://schemas.microsoft.com/office/drawing/2010/main">
                <a:solidFill>
                  <a:srgbClr val="FFFFFF"/>
                </a:solidFill>
              </a14:hiddenFill>
            </a:ext>
          </a:extLst>
        </p:spPr>
      </p:pic>
      <p:pic>
        <p:nvPicPr>
          <p:cNvPr id="8" name="Picture 2" descr="C:\Users\solina\Dropbox\Krugman 3e Dynamic PPTs\Krugman 3e material\Images_High Res\CH29\CH29\Krug3e_fig_29_04.jpg"/>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152399" y="3048000"/>
            <a:ext cx="4555067" cy="1551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472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4034"/>
                                        </p:tgtEl>
                                        <p:attrNameLst>
                                          <p:attrName>style.visibility</p:attrName>
                                        </p:attrNameLst>
                                      </p:cBhvr>
                                      <p:to>
                                        <p:strVal val="visible"/>
                                      </p:to>
                                    </p:set>
                                    <p:animEffect transition="in" filter="fade">
                                      <p:cBhvr>
                                        <p:cTn id="22" dur="500"/>
                                        <p:tgtEl>
                                          <p:spTgt spid="44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8754" name="Rectangle 2"/>
          <p:cNvSpPr>
            <a:spLocks noGrp="1" noRot="1" noChangeArrowheads="1"/>
          </p:cNvSpPr>
          <p:nvPr>
            <p:ph type="title"/>
          </p:nvPr>
        </p:nvSpPr>
        <p:spPr/>
        <p:txBody>
          <a:bodyPr>
            <a:normAutofit/>
          </a:bodyPr>
          <a:lstStyle/>
          <a:p>
            <a:r>
              <a:rPr lang="en-US" spc="0" dirty="0"/>
              <a:t>HOW BANKS CREATE MONEY</a:t>
            </a:r>
            <a:endParaRPr lang="en-US" b="0" spc="0" dirty="0"/>
          </a:p>
        </p:txBody>
      </p:sp>
      <p:sp>
        <p:nvSpPr>
          <p:cNvPr id="4" name="Content Placeholder 3"/>
          <p:cNvSpPr>
            <a:spLocks noGrp="1"/>
          </p:cNvSpPr>
          <p:nvPr>
            <p:ph idx="1"/>
          </p:nvPr>
        </p:nvSpPr>
        <p:spPr>
          <a:xfrm>
            <a:off x="76200" y="838200"/>
            <a:ext cx="8839200" cy="4648200"/>
          </a:xfrm>
        </p:spPr>
        <p:txBody>
          <a:bodyPr>
            <a:normAutofit/>
          </a:bodyPr>
          <a:lstStyle/>
          <a:p>
            <a:r>
              <a:rPr lang="en-US" sz="2800" dirty="0"/>
              <a:t>The first bank lends $900 to Maya, who pays the money  to Anne, who deposits it at her bank—and the cycle starts all over.  Sound familiar?  </a:t>
            </a:r>
          </a:p>
        </p:txBody>
      </p:sp>
      <p:pic>
        <p:nvPicPr>
          <p:cNvPr id="7" name="Picture 2" descr="C:\Users\solina\Dropbox\Krugman 3e Dynamic PPTs\Krugman 3e material\Images_High Res\CH29\CH29\Krug3e_table_29_01.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2379133"/>
            <a:ext cx="9144000" cy="3869267"/>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8861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Grp="1" noRot="1" noChangeArrowheads="1"/>
          </p:cNvSpPr>
          <p:nvPr>
            <p:ph type="title"/>
          </p:nvPr>
        </p:nvSpPr>
        <p:spPr>
          <a:xfrm>
            <a:off x="0" y="152400"/>
            <a:ext cx="9144000" cy="838200"/>
          </a:xfrm>
        </p:spPr>
        <p:txBody>
          <a:bodyPr>
            <a:noAutofit/>
          </a:bodyPr>
          <a:lstStyle/>
          <a:p>
            <a:r>
              <a:rPr lang="en-US" spc="0" dirty="0"/>
              <a:t>RESERVES, BANK DEPOSITS, AND THE MONEY MULTIPLIER</a:t>
            </a:r>
          </a:p>
        </p:txBody>
      </p:sp>
      <p:sp>
        <p:nvSpPr>
          <p:cNvPr id="576515" name="Rectangle 3"/>
          <p:cNvSpPr>
            <a:spLocks noGrp="1" noChangeArrowheads="1"/>
          </p:cNvSpPr>
          <p:nvPr>
            <p:ph idx="1"/>
          </p:nvPr>
        </p:nvSpPr>
        <p:spPr>
          <a:xfrm>
            <a:off x="152400" y="1295400"/>
            <a:ext cx="8839200" cy="5257800"/>
          </a:xfrm>
        </p:spPr>
        <p:txBody>
          <a:bodyPr>
            <a:noAutofit/>
          </a:bodyPr>
          <a:lstStyle/>
          <a:p>
            <a:pPr>
              <a:spcBef>
                <a:spcPts val="168"/>
              </a:spcBef>
              <a:spcAft>
                <a:spcPts val="1200"/>
              </a:spcAft>
            </a:pPr>
            <a:r>
              <a:rPr lang="en-US" b="1" i="1" dirty="0">
                <a:solidFill>
                  <a:srgbClr val="990033"/>
                </a:solidFill>
              </a:rPr>
              <a:t>Excess reserves: </a:t>
            </a:r>
            <a:r>
              <a:rPr lang="en-US" b="1" dirty="0"/>
              <a:t>a</a:t>
            </a:r>
            <a:r>
              <a:rPr lang="en-US" b="1" i="1" dirty="0">
                <a:solidFill>
                  <a:srgbClr val="990033"/>
                </a:solidFill>
              </a:rPr>
              <a:t> </a:t>
            </a:r>
            <a:r>
              <a:rPr lang="en-US" dirty="0"/>
              <a:t>bank’s reserves over and above its required reserves.  </a:t>
            </a:r>
          </a:p>
          <a:p>
            <a:pPr lvl="1">
              <a:spcBef>
                <a:spcPts val="168"/>
              </a:spcBef>
              <a:spcAft>
                <a:spcPts val="1200"/>
              </a:spcAft>
            </a:pPr>
            <a:r>
              <a:rPr lang="en-US" sz="3200" i="1" dirty="0">
                <a:solidFill>
                  <a:schemeClr val="tx1">
                    <a:lumMod val="75000"/>
                    <a:lumOff val="25000"/>
                  </a:schemeClr>
                </a:solidFill>
              </a:rPr>
              <a:t>We’ll assume banks don’t want to hold excess reserves.</a:t>
            </a:r>
          </a:p>
          <a:p>
            <a:pPr>
              <a:spcBef>
                <a:spcPts val="168"/>
              </a:spcBef>
              <a:spcAft>
                <a:spcPts val="1200"/>
              </a:spcAft>
            </a:pPr>
            <a:r>
              <a:rPr lang="en-US" dirty="0">
                <a:solidFill>
                  <a:srgbClr val="0070C0"/>
                </a:solidFill>
              </a:rPr>
              <a:t>Increase in bank deposits from $1,000 in excess reserves =</a:t>
            </a:r>
          </a:p>
          <a:p>
            <a:pPr>
              <a:spcBef>
                <a:spcPts val="168"/>
              </a:spcBef>
              <a:spcAft>
                <a:spcPts val="1200"/>
              </a:spcAft>
            </a:pPr>
            <a:r>
              <a:rPr lang="en-US" b="1" dirty="0"/>
              <a:t>$1,000 + [$1,000 × (1 − </a:t>
            </a:r>
            <a:r>
              <a:rPr lang="en-US" b="1" i="1" dirty="0"/>
              <a:t>rr</a:t>
            </a:r>
            <a:r>
              <a:rPr lang="en-US" b="1" dirty="0"/>
              <a:t>)] + [$1,000 × (1 − </a:t>
            </a:r>
            <a:r>
              <a:rPr lang="en-US" b="1" i="1" dirty="0"/>
              <a:t>rr</a:t>
            </a:r>
            <a:r>
              <a:rPr lang="en-US" b="1" dirty="0"/>
              <a:t>)</a:t>
            </a:r>
            <a:r>
              <a:rPr lang="en-US" b="1" baseline="30000" dirty="0"/>
              <a:t>2</a:t>
            </a:r>
            <a:r>
              <a:rPr lang="en-US" dirty="0"/>
              <a:t>]</a:t>
            </a:r>
            <a:r>
              <a:rPr lang="en-US" b="1" dirty="0"/>
              <a:t> + [$1,000 × (1 − </a:t>
            </a:r>
            <a:r>
              <a:rPr lang="en-US" b="1" i="1" dirty="0"/>
              <a:t>rr</a:t>
            </a:r>
            <a:r>
              <a:rPr lang="en-US" b="1" dirty="0"/>
              <a:t>)</a:t>
            </a:r>
            <a:r>
              <a:rPr lang="en-US" baseline="30000" dirty="0"/>
              <a:t>3</a:t>
            </a:r>
            <a:r>
              <a:rPr lang="en-US" dirty="0"/>
              <a:t>]</a:t>
            </a:r>
            <a:r>
              <a:rPr lang="en-US" b="1" dirty="0"/>
              <a:t> + . . .</a:t>
            </a:r>
          </a:p>
          <a:p>
            <a:pPr>
              <a:spcBef>
                <a:spcPts val="168"/>
              </a:spcBef>
              <a:spcAft>
                <a:spcPts val="1200"/>
              </a:spcAft>
            </a:pPr>
            <a:r>
              <a:rPr lang="en-US" dirty="0">
                <a:solidFill>
                  <a:srgbClr val="0070C0"/>
                </a:solidFill>
              </a:rPr>
              <a:t>This can be simplified to </a:t>
            </a:r>
            <a:r>
              <a:rPr lang="en-US" dirty="0"/>
              <a:t> </a:t>
            </a:r>
            <a:r>
              <a:rPr lang="en-US" b="1" dirty="0"/>
              <a:t>$1,000/</a:t>
            </a:r>
            <a:r>
              <a:rPr lang="en-US" b="1" i="1" dirty="0"/>
              <a:t>rr</a:t>
            </a:r>
            <a:r>
              <a:rPr lang="en-US" b="1" dirty="0"/>
              <a:t>.</a:t>
            </a:r>
          </a:p>
          <a:p>
            <a:pPr>
              <a:spcBef>
                <a:spcPts val="168"/>
              </a:spcBef>
              <a:spcAft>
                <a:spcPts val="1200"/>
              </a:spcAft>
            </a:pPr>
            <a:endParaRPr lang="en-US" dirty="0"/>
          </a:p>
        </p:txBody>
      </p:sp>
    </p:spTree>
    <p:extLst>
      <p:ext uri="{BB962C8B-B14F-4D97-AF65-F5344CB8AC3E}">
        <p14:creationId xmlns:p14="http://schemas.microsoft.com/office/powerpoint/2010/main" val="1390428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971800"/>
            <a:ext cx="8458200" cy="3384550"/>
          </a:xfrm>
        </p:spPr>
        <p:txBody>
          <a:bodyPr>
            <a:normAutofit lnSpcReduction="10000"/>
          </a:bodyPr>
          <a:lstStyle/>
          <a:p>
            <a:r>
              <a:rPr lang="en-US" sz="2800" dirty="0"/>
              <a:t>Given this T-account and assuming the bank holds no excess reserves, what is the required reserve ratio?</a:t>
            </a:r>
          </a:p>
          <a:p>
            <a:pPr marL="514350" indent="-514350">
              <a:buFont typeface="+mj-lt"/>
              <a:buAutoNum type="alphaLcParenR"/>
            </a:pPr>
            <a:r>
              <a:rPr lang="en-US" sz="2800" dirty="0"/>
              <a:t>10%</a:t>
            </a:r>
          </a:p>
          <a:p>
            <a:pPr marL="514350" indent="-514350">
              <a:buFont typeface="+mj-lt"/>
              <a:buAutoNum type="alphaLcParenR"/>
            </a:pPr>
            <a:r>
              <a:rPr lang="en-US" sz="2800" dirty="0"/>
              <a:t>40% </a:t>
            </a:r>
          </a:p>
          <a:p>
            <a:pPr marL="514350" indent="-514350">
              <a:buFont typeface="+mj-lt"/>
              <a:buAutoNum type="alphaLcParenR"/>
            </a:pPr>
            <a:r>
              <a:rPr lang="en-US" sz="2800" dirty="0"/>
              <a:t>80% </a:t>
            </a:r>
          </a:p>
          <a:p>
            <a:pPr marL="514350" indent="-514350">
              <a:buFont typeface="+mj-lt"/>
              <a:buAutoNum type="alphaLcParenR"/>
            </a:pPr>
            <a:r>
              <a:rPr lang="en-US" sz="2800" dirty="0"/>
              <a:t>1%</a:t>
            </a:r>
          </a:p>
        </p:txBody>
      </p:sp>
      <p:pic>
        <p:nvPicPr>
          <p:cNvPr id="58370"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828800" y="914400"/>
            <a:ext cx="4724400" cy="1868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7998" y="6273798"/>
            <a:ext cx="1154107" cy="400110"/>
          </a:xfrm>
          <a:prstGeom prst="rect">
            <a:avLst/>
          </a:prstGeom>
        </p:spPr>
        <p:txBody>
          <a:bodyPr wrap="none">
            <a:spAutoFit/>
          </a:bodyPr>
          <a:lstStyle/>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680008267"/>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458200" cy="5060950"/>
          </a:xfrm>
        </p:spPr>
        <p:txBody>
          <a:bodyPr>
            <a:noAutofit/>
          </a:bodyPr>
          <a:lstStyle/>
          <a:p>
            <a:r>
              <a:rPr lang="en-US" sz="2800" dirty="0"/>
              <a:t>Suppose the required reserve ratio initially is 10% of bank deposits and is increased by the Fed to 20% of bank deposits. Holding everything else constant, this will:</a:t>
            </a:r>
          </a:p>
          <a:p>
            <a:pPr marL="514350" indent="-514350">
              <a:buFont typeface="+mj-lt"/>
              <a:buAutoNum type="alphaLcParenR"/>
            </a:pPr>
            <a:r>
              <a:rPr lang="en-US" sz="2800" dirty="0"/>
              <a:t>reduce the size of the money multiplier.</a:t>
            </a:r>
          </a:p>
          <a:p>
            <a:pPr marL="514350" indent="-514350">
              <a:buFont typeface="+mj-lt"/>
              <a:buAutoNum type="alphaLcParenR"/>
            </a:pPr>
            <a:r>
              <a:rPr lang="en-US" sz="2800" dirty="0"/>
              <a:t>cause the banking system to contract the level of bank deposits in the banking system.</a:t>
            </a:r>
          </a:p>
          <a:p>
            <a:pPr marL="514350" indent="-514350">
              <a:buFont typeface="+mj-lt"/>
              <a:buAutoNum type="alphaLcParenR"/>
            </a:pPr>
            <a:r>
              <a:rPr lang="en-US" sz="2800" dirty="0"/>
              <a:t>change the value of the money multiplier from 10 to 5.</a:t>
            </a:r>
          </a:p>
          <a:p>
            <a:pPr marL="514350" indent="-514350">
              <a:buFont typeface="+mj-lt"/>
              <a:buAutoNum type="alphaLcParenR"/>
            </a:pPr>
            <a:r>
              <a:rPr lang="en-US" sz="2800" dirty="0"/>
              <a:t>Answers (a), (b), and (c) are all correct.</a:t>
            </a:r>
          </a:p>
        </p:txBody>
      </p:sp>
      <p:sp>
        <p:nvSpPr>
          <p:cNvPr id="5" name="Rectangle 4"/>
          <p:cNvSpPr/>
          <p:nvPr/>
        </p:nvSpPr>
        <p:spPr>
          <a:xfrm>
            <a:off x="7998" y="6273798"/>
            <a:ext cx="1154107" cy="400110"/>
          </a:xfrm>
          <a:prstGeom prst="rect">
            <a:avLst/>
          </a:prstGeom>
        </p:spPr>
        <p:txBody>
          <a:bodyPr wrap="none">
            <a:spAutoFit/>
          </a:bodyPr>
          <a:lstStyle/>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77592046"/>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2850" name="Rectangle 2"/>
          <p:cNvSpPr>
            <a:spLocks noGrp="1" noRot="1" noChangeArrowheads="1"/>
          </p:cNvSpPr>
          <p:nvPr>
            <p:ph type="title"/>
          </p:nvPr>
        </p:nvSpPr>
        <p:spPr/>
        <p:txBody>
          <a:bodyPr>
            <a:normAutofit fontScale="90000"/>
          </a:bodyPr>
          <a:lstStyle/>
          <a:p>
            <a:r>
              <a:rPr lang="en-US" dirty="0"/>
              <a:t>THE MONEY MULTIPLIER IN REALITY</a:t>
            </a:r>
            <a:endParaRPr lang="en-US" b="0" dirty="0"/>
          </a:p>
        </p:txBody>
      </p:sp>
      <p:sp>
        <p:nvSpPr>
          <p:cNvPr id="462854" name="Rectangle 6"/>
          <p:cNvSpPr>
            <a:spLocks noChangeArrowheads="1"/>
          </p:cNvSpPr>
          <p:nvPr/>
        </p:nvSpPr>
        <p:spPr bwMode="auto">
          <a:xfrm>
            <a:off x="228600" y="914400"/>
            <a:ext cx="8686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rgbClr val="000000"/>
              </a:buClr>
            </a:pPr>
            <a:r>
              <a:rPr lang="en-US" sz="3200" dirty="0">
                <a:solidFill>
                  <a:prstClr val="black"/>
                </a:solidFill>
                <a:latin typeface="Century Gothic"/>
                <a:cs typeface="Century Gothic"/>
              </a:rPr>
              <a:t>The </a:t>
            </a:r>
            <a:r>
              <a:rPr lang="en-US" sz="3200" b="1" i="1" dirty="0">
                <a:solidFill>
                  <a:srgbClr val="990033"/>
                </a:solidFill>
                <a:latin typeface="Century Gothic"/>
                <a:cs typeface="Century Gothic"/>
              </a:rPr>
              <a:t>monetary base </a:t>
            </a:r>
            <a:r>
              <a:rPr lang="en-US" sz="3200" dirty="0">
                <a:solidFill>
                  <a:prstClr val="black"/>
                </a:solidFill>
                <a:latin typeface="Century Gothic"/>
                <a:cs typeface="Century Gothic"/>
              </a:rPr>
              <a:t>is the sum of currency in circulation and bank reserves.</a:t>
            </a:r>
          </a:p>
          <a:p>
            <a:pPr>
              <a:spcBef>
                <a:spcPct val="20000"/>
              </a:spcBef>
              <a:buClr>
                <a:srgbClr val="000000"/>
              </a:buClr>
            </a:pPr>
            <a:endParaRPr lang="en-US" sz="3200" dirty="0">
              <a:solidFill>
                <a:prstClr val="black"/>
              </a:solidFill>
              <a:latin typeface="Century Gothic"/>
              <a:cs typeface="Century Gothic"/>
            </a:endParaRPr>
          </a:p>
        </p:txBody>
      </p:sp>
      <p:pic>
        <p:nvPicPr>
          <p:cNvPr id="7" name="Picture 2" descr="C:\Users\solina\Dropbox\Krugman 3e Dynamic PPTs\Krugman 3e material\Images_High Res\CH29\CH29\Krug3e_fig_29_05.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19199" y="2362200"/>
            <a:ext cx="6772807"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03893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28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0" dirty="0"/>
              <a:t>THE MONEY MULTIPLIER IN REALITY</a:t>
            </a:r>
          </a:p>
        </p:txBody>
      </p:sp>
      <p:sp>
        <p:nvSpPr>
          <p:cNvPr id="3" name="Content Placeholder 2"/>
          <p:cNvSpPr>
            <a:spLocks noGrp="1"/>
          </p:cNvSpPr>
          <p:nvPr>
            <p:ph idx="1"/>
          </p:nvPr>
        </p:nvSpPr>
        <p:spPr/>
        <p:txBody>
          <a:bodyPr/>
          <a:lstStyle/>
          <a:p>
            <a:r>
              <a:rPr lang="en-US" dirty="0"/>
              <a:t>The determination of the </a:t>
            </a:r>
            <a:r>
              <a:rPr lang="en-US" dirty="0">
                <a:solidFill>
                  <a:srgbClr val="0070C0"/>
                </a:solidFill>
              </a:rPr>
              <a:t>money supply is more complicated</a:t>
            </a:r>
            <a:r>
              <a:rPr lang="en-US" dirty="0"/>
              <a:t> than our simple model suggests:</a:t>
            </a:r>
          </a:p>
          <a:p>
            <a:pPr lvl="1"/>
            <a:r>
              <a:rPr lang="en-US" i="1" dirty="0">
                <a:solidFill>
                  <a:schemeClr val="tx1">
                    <a:lumMod val="75000"/>
                    <a:lumOff val="25000"/>
                  </a:schemeClr>
                </a:solidFill>
              </a:rPr>
              <a:t>It depends not only on the </a:t>
            </a:r>
            <a:r>
              <a:rPr lang="en-US" i="1" dirty="0">
                <a:solidFill>
                  <a:srgbClr val="0070C0"/>
                </a:solidFill>
              </a:rPr>
              <a:t>ratio of reserves to bank deposits</a:t>
            </a:r>
            <a:r>
              <a:rPr lang="en-US" i="1" dirty="0">
                <a:solidFill>
                  <a:schemeClr val="tx1">
                    <a:lumMod val="75000"/>
                    <a:lumOff val="25000"/>
                  </a:schemeClr>
                </a:solidFill>
              </a:rPr>
              <a:t> but also on the </a:t>
            </a:r>
            <a:r>
              <a:rPr lang="en-US" i="1" dirty="0">
                <a:solidFill>
                  <a:srgbClr val="990033"/>
                </a:solidFill>
              </a:rPr>
              <a:t>fraction of the money supply that individuals choose to hold in the form of currency.</a:t>
            </a:r>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4495799"/>
            <a:ext cx="2672816" cy="239606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26685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0" dirty="0"/>
              <a:t>THE MONEY MULTIPLIER IN REALITY</a:t>
            </a:r>
          </a:p>
        </p:txBody>
      </p:sp>
      <p:sp>
        <p:nvSpPr>
          <p:cNvPr id="3" name="Content Placeholder 2"/>
          <p:cNvSpPr>
            <a:spLocks noGrp="1"/>
          </p:cNvSpPr>
          <p:nvPr>
            <p:ph idx="1"/>
          </p:nvPr>
        </p:nvSpPr>
        <p:spPr/>
        <p:txBody>
          <a:bodyPr>
            <a:normAutofit/>
          </a:bodyPr>
          <a:lstStyle/>
          <a:p>
            <a:r>
              <a:rPr lang="en-US" dirty="0"/>
              <a:t>The </a:t>
            </a:r>
            <a:r>
              <a:rPr lang="en-US" i="1" dirty="0">
                <a:solidFill>
                  <a:srgbClr val="990033"/>
                </a:solidFill>
              </a:rPr>
              <a:t>money multiplier </a:t>
            </a:r>
            <a:r>
              <a:rPr lang="en-US" dirty="0"/>
              <a:t>is the ratio of the money supply to the monetary base. </a:t>
            </a:r>
          </a:p>
          <a:p>
            <a:r>
              <a:rPr lang="en-US" dirty="0">
                <a:solidFill>
                  <a:srgbClr val="0070C0"/>
                </a:solidFill>
              </a:rPr>
              <a:t>In normal times, the U.S. money multiplier for M1 is between 1.5 and 3.0.</a:t>
            </a:r>
          </a:p>
          <a:p>
            <a:pPr lvl="1"/>
            <a:r>
              <a:rPr lang="en-US" sz="3200" dirty="0"/>
              <a:t>Why isn’t it 1/0.1 = 10?</a:t>
            </a:r>
          </a:p>
          <a:p>
            <a:pPr lvl="2"/>
            <a:r>
              <a:rPr lang="en-US" sz="3200" i="1" dirty="0">
                <a:solidFill>
                  <a:schemeClr val="tx1">
                    <a:lumMod val="75000"/>
                    <a:lumOff val="25000"/>
                  </a:schemeClr>
                </a:solidFill>
              </a:rPr>
              <a:t>People hold significant amounts of cash, which reduces bank deposits.</a:t>
            </a:r>
          </a:p>
          <a:p>
            <a:endParaRPr lang="en-US" dirty="0"/>
          </a:p>
        </p:txBody>
      </p:sp>
      <p:pic>
        <p:nvPicPr>
          <p:cNvPr id="45058" name="Picture 2" descr="C:\Users\solina\Downloads\file000680453648.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933" y="4746729"/>
            <a:ext cx="2819400" cy="211127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50754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62" name="Rectangle 2"/>
          <p:cNvSpPr>
            <a:spLocks noGrp="1" noChangeArrowheads="1"/>
          </p:cNvSpPr>
          <p:nvPr>
            <p:ph type="title"/>
          </p:nvPr>
        </p:nvSpPr>
        <p:spPr/>
        <p:txBody>
          <a:bodyPr>
            <a:normAutofit/>
          </a:bodyPr>
          <a:lstStyle/>
          <a:p>
            <a:pPr>
              <a:defRPr/>
            </a:pPr>
            <a:r>
              <a:rPr lang="en-US" dirty="0"/>
              <a:t>MONEY CREATION</a:t>
            </a:r>
          </a:p>
        </p:txBody>
      </p:sp>
      <p:sp>
        <p:nvSpPr>
          <p:cNvPr id="348163" name="Rectangle 3"/>
          <p:cNvSpPr>
            <a:spLocks noGrp="1" noChangeArrowheads="1"/>
          </p:cNvSpPr>
          <p:nvPr>
            <p:ph idx="1"/>
          </p:nvPr>
        </p:nvSpPr>
        <p:spPr>
          <a:xfrm>
            <a:off x="228600" y="990600"/>
            <a:ext cx="5715000" cy="5486400"/>
          </a:xfrm>
        </p:spPr>
        <p:txBody>
          <a:bodyPr>
            <a:normAutofit/>
          </a:bodyPr>
          <a:lstStyle/>
          <a:p>
            <a:r>
              <a:rPr lang="en-US" dirty="0"/>
              <a:t>Financial institutions operate as part of a </a:t>
            </a:r>
            <a:r>
              <a:rPr lang="en-US" b="1" i="1" dirty="0">
                <a:solidFill>
                  <a:srgbClr val="990033"/>
                </a:solidFill>
              </a:rPr>
              <a:t>fractional reserve banking system.</a:t>
            </a:r>
          </a:p>
          <a:p>
            <a:pPr lvl="1"/>
            <a:r>
              <a:rPr lang="en-US" dirty="0">
                <a:solidFill>
                  <a:srgbClr val="0070C0"/>
                </a:solidFill>
              </a:rPr>
              <a:t>When you deposit money in a bank account, the bank is required to hold a part of it in its vault as cash</a:t>
            </a:r>
          </a:p>
          <a:p>
            <a:pPr lvl="2"/>
            <a:r>
              <a:rPr lang="en-US" sz="2800" i="1" dirty="0">
                <a:solidFill>
                  <a:schemeClr val="tx1">
                    <a:lumMod val="65000"/>
                    <a:lumOff val="35000"/>
                  </a:schemeClr>
                </a:solidFill>
              </a:rPr>
              <a:t>(or else in an account with the regional Federal Reserve Bank). </a:t>
            </a:r>
          </a:p>
        </p:txBody>
      </p:sp>
      <p:sp>
        <p:nvSpPr>
          <p:cNvPr id="3" name="Rectangle 2"/>
          <p:cNvSpPr/>
          <p:nvPr/>
        </p:nvSpPr>
        <p:spPr>
          <a:xfrm>
            <a:off x="6019800" y="5181600"/>
            <a:ext cx="3124200" cy="1200328"/>
          </a:xfrm>
          <a:prstGeom prst="rect">
            <a:avLst/>
          </a:prstGeom>
        </p:spPr>
        <p:txBody>
          <a:bodyPr wrap="square">
            <a:spAutoFit/>
          </a:bodyPr>
          <a:lstStyle/>
          <a:p>
            <a:r>
              <a:rPr lang="en-US" sz="2400" b="1" i="1" dirty="0">
                <a:solidFill>
                  <a:prstClr val="black">
                    <a:lumMod val="65000"/>
                    <a:lumOff val="35000"/>
                  </a:prstClr>
                </a:solidFill>
                <a:latin typeface="Century Gothic"/>
                <a:cs typeface="Century Gothic"/>
              </a:rPr>
              <a:t>This system’s leverage makes some nervous.</a:t>
            </a:r>
          </a:p>
        </p:txBody>
      </p:sp>
      <p:pic>
        <p:nvPicPr>
          <p:cNvPr id="40964" name="Picture 4" descr="Sadcat - the fractional reserve system makes cats sad"/>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019800" y="914400"/>
            <a:ext cx="3126317" cy="4168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2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163">
                                            <p:txEl>
                                              <p:pRg st="1" end="1"/>
                                            </p:txEl>
                                          </p:spTgt>
                                        </p:tgtEl>
                                        <p:attrNameLst>
                                          <p:attrName>style.visibility</p:attrName>
                                        </p:attrNameLst>
                                      </p:cBhvr>
                                      <p:to>
                                        <p:strVal val="visible"/>
                                      </p:to>
                                    </p:set>
                                    <p:animEffect transition="in" filter="fade">
                                      <p:cBhvr>
                                        <p:cTn id="7" dur="1000"/>
                                        <p:tgtEl>
                                          <p:spTgt spid="34816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8163">
                                            <p:txEl>
                                              <p:pRg st="2" end="2"/>
                                            </p:txEl>
                                          </p:spTgt>
                                        </p:tgtEl>
                                        <p:attrNameLst>
                                          <p:attrName>style.visibility</p:attrName>
                                        </p:attrNameLst>
                                      </p:cBhvr>
                                      <p:to>
                                        <p:strVal val="visible"/>
                                      </p:to>
                                    </p:set>
                                    <p:animEffect transition="in" filter="fade">
                                      <p:cBhvr>
                                        <p:cTn id="10" dur="1000"/>
                                        <p:tgtEl>
                                          <p:spTgt spid="34816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0964"/>
                                        </p:tgtEl>
                                        <p:attrNameLst>
                                          <p:attrName>style.visibility</p:attrName>
                                        </p:attrNameLst>
                                      </p:cBhvr>
                                      <p:to>
                                        <p:strVal val="visible"/>
                                      </p:to>
                                    </p:set>
                                    <p:animEffect transition="in" filter="fade">
                                      <p:cBhvr>
                                        <p:cTn id="15" dur="500"/>
                                        <p:tgtEl>
                                          <p:spTgt spid="4096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3" grpId="0" build="p"/>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cstate="screen">
            <a:alphaModFix amt="76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71394" name="Rectangle 2"/>
          <p:cNvSpPr>
            <a:spLocks noGrp="1" noRot="1" noChangeArrowheads="1"/>
          </p:cNvSpPr>
          <p:nvPr>
            <p:ph type="title"/>
          </p:nvPr>
        </p:nvSpPr>
        <p:spPr>
          <a:solidFill>
            <a:schemeClr val="bg1">
              <a:alpha val="74000"/>
            </a:schemeClr>
          </a:solidFill>
        </p:spPr>
        <p:txBody>
          <a:bodyPr>
            <a:normAutofit/>
          </a:bodyPr>
          <a:lstStyle/>
          <a:p>
            <a:r>
              <a:rPr lang="en-US" spc="0" dirty="0"/>
              <a:t>THE PROBLEM OF BANK RUNS</a:t>
            </a:r>
          </a:p>
        </p:txBody>
      </p:sp>
      <p:sp>
        <p:nvSpPr>
          <p:cNvPr id="571395" name="Rectangle 3"/>
          <p:cNvSpPr>
            <a:spLocks noGrp="1" noChangeArrowheads="1"/>
          </p:cNvSpPr>
          <p:nvPr>
            <p:ph idx="1"/>
          </p:nvPr>
        </p:nvSpPr>
        <p:spPr>
          <a:xfrm>
            <a:off x="0" y="2133600"/>
            <a:ext cx="9144000" cy="3810000"/>
          </a:xfrm>
          <a:solidFill>
            <a:schemeClr val="bg1">
              <a:alpha val="84000"/>
            </a:schemeClr>
          </a:solidFill>
        </p:spPr>
        <p:txBody>
          <a:bodyPr>
            <a:noAutofit/>
          </a:bodyPr>
          <a:lstStyle/>
          <a:p>
            <a:r>
              <a:rPr lang="en-US" sz="2800" b="1" dirty="0"/>
              <a:t>Banks hold onl</a:t>
            </a:r>
            <a:r>
              <a:rPr lang="en-US" sz="2800" dirty="0"/>
              <a:t>y a fraction of deposits on reserve. (The rest they use to make loans.) </a:t>
            </a:r>
          </a:p>
          <a:p>
            <a:pPr lvl="1"/>
            <a:r>
              <a:rPr lang="en-US" i="1" dirty="0">
                <a:solidFill>
                  <a:schemeClr val="tx1">
                    <a:lumMod val="75000"/>
                    <a:lumOff val="25000"/>
                  </a:schemeClr>
                </a:solidFill>
              </a:rPr>
              <a:t>From time-to-time people get worried about the bank losing their money.</a:t>
            </a:r>
            <a:endParaRPr lang="en-US" b="1" i="1" dirty="0">
              <a:solidFill>
                <a:schemeClr val="tx1">
                  <a:lumMod val="75000"/>
                  <a:lumOff val="25000"/>
                </a:schemeClr>
              </a:solidFill>
            </a:endParaRPr>
          </a:p>
          <a:p>
            <a:r>
              <a:rPr lang="en-US" sz="2800" b="1" i="1" dirty="0">
                <a:solidFill>
                  <a:srgbClr val="990033"/>
                </a:solidFill>
              </a:rPr>
              <a:t>Bank run:</a:t>
            </a:r>
            <a:r>
              <a:rPr lang="en-US" sz="2800" i="1" dirty="0">
                <a:solidFill>
                  <a:srgbClr val="990033"/>
                </a:solidFill>
              </a:rPr>
              <a:t> </a:t>
            </a:r>
            <a:r>
              <a:rPr lang="en-US" sz="2800" dirty="0"/>
              <a:t>a phenomenon in which many of a bank’s depositors try to withdraw their funds because they fear a bank failure.</a:t>
            </a:r>
          </a:p>
          <a:p>
            <a:r>
              <a:rPr lang="en-US" sz="2800" dirty="0">
                <a:solidFill>
                  <a:srgbClr val="0070C0"/>
                </a:solidFill>
              </a:rPr>
              <a:t>Historically, runs have often proved contagious. </a:t>
            </a:r>
          </a:p>
        </p:txBody>
      </p:sp>
    </p:spTree>
    <p:extLst>
      <p:ext uri="{BB962C8B-B14F-4D97-AF65-F5344CB8AC3E}">
        <p14:creationId xmlns:p14="http://schemas.microsoft.com/office/powerpoint/2010/main" val="322891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1395">
                                            <p:bg/>
                                          </p:spTgt>
                                        </p:tgtEl>
                                        <p:attrNameLst>
                                          <p:attrName>style.visibility</p:attrName>
                                        </p:attrNameLst>
                                      </p:cBhvr>
                                      <p:to>
                                        <p:strVal val="visible"/>
                                      </p:to>
                                    </p:set>
                                    <p:animEffect transition="in" filter="fade">
                                      <p:cBhvr>
                                        <p:cTn id="7" dur="500"/>
                                        <p:tgtEl>
                                          <p:spTgt spid="57139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1395">
                                            <p:txEl>
                                              <p:pRg st="0" end="0"/>
                                            </p:txEl>
                                          </p:spTgt>
                                        </p:tgtEl>
                                        <p:attrNameLst>
                                          <p:attrName>style.visibility</p:attrName>
                                        </p:attrNameLst>
                                      </p:cBhvr>
                                      <p:to>
                                        <p:strVal val="visible"/>
                                      </p:to>
                                    </p:set>
                                    <p:animEffect transition="in" filter="fade">
                                      <p:cBhvr>
                                        <p:cTn id="10" dur="500"/>
                                        <p:tgtEl>
                                          <p:spTgt spid="571395">
                                            <p:txEl>
                                              <p:pRg st="0" end="0"/>
                                            </p:txEl>
                                          </p:spTgt>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71395">
                                            <p:txEl>
                                              <p:pRg st="1" end="1"/>
                                            </p:txEl>
                                          </p:spTgt>
                                        </p:tgtEl>
                                        <p:attrNameLst>
                                          <p:attrName>style.visibility</p:attrName>
                                        </p:attrNameLst>
                                      </p:cBhvr>
                                      <p:to>
                                        <p:strVal val="visible"/>
                                      </p:to>
                                    </p:set>
                                    <p:animEffect transition="in" filter="fade">
                                      <p:cBhvr>
                                        <p:cTn id="14" dur="500"/>
                                        <p:tgtEl>
                                          <p:spTgt spid="57139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71395">
                                            <p:txEl>
                                              <p:pRg st="2" end="2"/>
                                            </p:txEl>
                                          </p:spTgt>
                                        </p:tgtEl>
                                        <p:attrNameLst>
                                          <p:attrName>style.visibility</p:attrName>
                                        </p:attrNameLst>
                                      </p:cBhvr>
                                      <p:to>
                                        <p:strVal val="visible"/>
                                      </p:to>
                                    </p:set>
                                    <p:animEffect transition="in" filter="fade">
                                      <p:cBhvr>
                                        <p:cTn id="19" dur="500"/>
                                        <p:tgtEl>
                                          <p:spTgt spid="57139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71395">
                                            <p:txEl>
                                              <p:pRg st="3" end="3"/>
                                            </p:txEl>
                                          </p:spTgt>
                                        </p:tgtEl>
                                        <p:attrNameLst>
                                          <p:attrName>style.visibility</p:attrName>
                                        </p:attrNameLst>
                                      </p:cBhvr>
                                      <p:to>
                                        <p:strVal val="visible"/>
                                      </p:to>
                                    </p:set>
                                    <p:animEffect transition="in" filter="fade">
                                      <p:cBhvr>
                                        <p:cTn id="24" dur="500"/>
                                        <p:tgtEl>
                                          <p:spTgt spid="5713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5" grpId="0" build="p"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BANK PANICS</a:t>
            </a:r>
          </a:p>
        </p:txBody>
      </p:sp>
      <p:sp>
        <p:nvSpPr>
          <p:cNvPr id="3" name="Content Placeholder 2"/>
          <p:cNvSpPr>
            <a:spLocks noGrp="1"/>
          </p:cNvSpPr>
          <p:nvPr>
            <p:ph idx="1"/>
          </p:nvPr>
        </p:nvSpPr>
        <p:spPr>
          <a:xfrm>
            <a:off x="76200" y="685800"/>
            <a:ext cx="8839200" cy="4648200"/>
          </a:xfrm>
          <a:noFill/>
        </p:spPr>
        <p:txBody>
          <a:bodyPr/>
          <a:lstStyle/>
          <a:p>
            <a:r>
              <a:rPr lang="en-US" sz="2000" dirty="0"/>
              <a:t>Bank run during the </a:t>
            </a:r>
            <a:r>
              <a:rPr lang="en-US" sz="2000" dirty="0">
                <a:hlinkClick r:id="rId3" tooltip="Great Depression"/>
              </a:rPr>
              <a:t>Great Depression</a:t>
            </a:r>
            <a:r>
              <a:rPr lang="en-US" sz="2000" dirty="0"/>
              <a:t> in the United States, 1933.</a:t>
            </a:r>
            <a:endParaRPr lang="en-US" sz="2000" b="0" dirty="0"/>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219200" y="1219200"/>
            <a:ext cx="6107343" cy="496286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2"/>
          <p:cNvSpPr txBox="1">
            <a:spLocks/>
          </p:cNvSpPr>
          <p:nvPr/>
        </p:nvSpPr>
        <p:spPr bwMode="auto">
          <a:xfrm>
            <a:off x="0" y="6066504"/>
            <a:ext cx="9067800" cy="627574"/>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lvl1pPr marL="0" indent="0" algn="l" rtl="0" eaLnBrk="1" fontAlgn="base" hangingPunct="1">
              <a:spcBef>
                <a:spcPct val="20000"/>
              </a:spcBef>
              <a:spcAft>
                <a:spcPct val="0"/>
              </a:spcAft>
              <a:buFontTx/>
              <a:buNone/>
              <a:defRPr sz="3200" b="1" kern="1200">
                <a:solidFill>
                  <a:schemeClr val="tx1"/>
                </a:solidFill>
                <a:latin typeface="+mn-lt"/>
                <a:ea typeface="+mn-ea"/>
                <a:cs typeface="+mn-cs"/>
              </a:defRPr>
            </a:lvl1pPr>
            <a:lvl2pPr marL="457200" indent="0" algn="l" rtl="0" eaLnBrk="1" fontAlgn="base" hangingPunct="1">
              <a:spcBef>
                <a:spcPct val="20000"/>
              </a:spcBef>
              <a:spcAft>
                <a:spcPct val="0"/>
              </a:spcAft>
              <a:buFontTx/>
              <a:buNone/>
              <a:defRPr sz="2800" b="1" kern="1200">
                <a:solidFill>
                  <a:schemeClr val="tx1"/>
                </a:solidFill>
                <a:latin typeface="+mn-lt"/>
                <a:ea typeface="+mn-ea"/>
                <a:cs typeface="+mn-cs"/>
              </a:defRPr>
            </a:lvl2pPr>
            <a:lvl3pPr marL="914400" indent="0" algn="l" rtl="0" eaLnBrk="1" fontAlgn="base" hangingPunct="1">
              <a:spcBef>
                <a:spcPct val="20000"/>
              </a:spcBef>
              <a:spcAft>
                <a:spcPct val="0"/>
              </a:spcAft>
              <a:buFontTx/>
              <a:buNone/>
              <a:defRPr sz="2400" b="1" kern="1200">
                <a:solidFill>
                  <a:schemeClr val="tx1"/>
                </a:solidFill>
                <a:latin typeface="+mn-lt"/>
                <a:ea typeface="+mn-ea"/>
                <a:cs typeface="+mn-cs"/>
              </a:defRPr>
            </a:lvl3pPr>
            <a:lvl4pPr marL="1371600" indent="0" algn="l" rtl="0" eaLnBrk="1" fontAlgn="base" hangingPunct="1">
              <a:spcBef>
                <a:spcPct val="20000"/>
              </a:spcBef>
              <a:spcAft>
                <a:spcPct val="0"/>
              </a:spcAft>
              <a:buFontTx/>
              <a:buNone/>
              <a:defRPr sz="2000" b="1" kern="1200">
                <a:solidFill>
                  <a:schemeClr val="tx1"/>
                </a:solidFill>
                <a:latin typeface="+mn-lt"/>
                <a:ea typeface="+mn-ea"/>
                <a:cs typeface="+mn-cs"/>
              </a:defRPr>
            </a:lvl4pPr>
            <a:lvl5pPr marL="1828800" indent="0" algn="l" rtl="0" eaLnBrk="1" fontAlgn="base" hangingPunct="1">
              <a:spcBef>
                <a:spcPct val="20000"/>
              </a:spcBef>
              <a:spcAft>
                <a:spcPct val="0"/>
              </a:spcAft>
              <a:buFontTx/>
              <a:buNone/>
              <a:defRPr sz="2000" b="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solidFill>
                  <a:prstClr val="black"/>
                </a:solidFill>
                <a:latin typeface="Century Gothic"/>
                <a:cs typeface="Century Gothic"/>
              </a:rPr>
              <a:t>A poster for the 1896 Broadway melodrama </a:t>
            </a:r>
            <a:r>
              <a:rPr lang="en-US" sz="2000" i="1" dirty="0">
                <a:solidFill>
                  <a:prstClr val="black"/>
                </a:solidFill>
                <a:latin typeface="Century Gothic"/>
                <a:cs typeface="Century Gothic"/>
              </a:rPr>
              <a:t>The War of Wealth</a:t>
            </a:r>
            <a:r>
              <a:rPr lang="en-US" sz="2000" dirty="0">
                <a:solidFill>
                  <a:prstClr val="black"/>
                </a:solidFill>
                <a:latin typeface="Century Gothic"/>
                <a:cs typeface="Century Gothic"/>
              </a:rPr>
              <a:t> depicts a typical 19th-century bank run in the United States.</a:t>
            </a:r>
            <a:endParaRPr lang="en-US" sz="2000" b="0" dirty="0">
              <a:solidFill>
                <a:prstClr val="black"/>
              </a:solidFill>
              <a:latin typeface="Century Gothic"/>
              <a:cs typeface="Century Gothic"/>
            </a:endParaRPr>
          </a:p>
        </p:txBody>
      </p:sp>
      <p:pic>
        <p:nvPicPr>
          <p:cNvPr id="8195" name="Picture 3"/>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90600" y="1214628"/>
            <a:ext cx="6629400" cy="48726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7712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8195"/>
                                        </p:tgtEl>
                                      </p:cBhvr>
                                    </p:animEffect>
                                    <p:set>
                                      <p:cBhvr>
                                        <p:cTn id="7" dur="1" fill="hold">
                                          <p:stCondLst>
                                            <p:cond delay="499"/>
                                          </p:stCondLst>
                                        </p:cTn>
                                        <p:tgtEl>
                                          <p:spTgt spid="8195"/>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6"/>
                                        </p:tgtEl>
                                      </p:cBhvr>
                                    </p:animEffect>
                                    <p:set>
                                      <p:cBhvr>
                                        <p:cTn id="10" dur="1" fill="hold">
                                          <p:stCondLst>
                                            <p:cond delay="499"/>
                                          </p:stCondLst>
                                        </p:cTn>
                                        <p:tgtEl>
                                          <p:spTgt spid="6"/>
                                        </p:tgtEl>
                                        <p:attrNameLst>
                                          <p:attrName>style.visibility</p:attrName>
                                        </p:attrNameLst>
                                      </p:cBhvr>
                                      <p:to>
                                        <p:strVal val="hidden"/>
                                      </p:to>
                                    </p:set>
                                  </p:childTnLst>
                                </p:cTn>
                              </p:par>
                              <p:par>
                                <p:cTn id="11" presetID="10" presetClass="entr" presetSubtype="0" fill="hold" nodeType="withEffect">
                                  <p:stCondLst>
                                    <p:cond delay="0"/>
                                  </p:stCondLst>
                                  <p:childTnLst>
                                    <p:set>
                                      <p:cBhvr>
                                        <p:cTn id="12" dur="1" fill="hold">
                                          <p:stCondLst>
                                            <p:cond delay="0"/>
                                          </p:stCondLst>
                                        </p:cTn>
                                        <p:tgtEl>
                                          <p:spTgt spid="8194"/>
                                        </p:tgtEl>
                                        <p:attrNameLst>
                                          <p:attrName>style.visibility</p:attrName>
                                        </p:attrNameLst>
                                      </p:cBhvr>
                                      <p:to>
                                        <p:strVal val="visible"/>
                                      </p:to>
                                    </p:set>
                                    <p:animEffect transition="in" filter="fade">
                                      <p:cBhvr>
                                        <p:cTn id="13" dur="500"/>
                                        <p:tgtEl>
                                          <p:spTgt spid="819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Rot="1" noChangeArrowheads="1"/>
          </p:cNvSpPr>
          <p:nvPr>
            <p:ph type="title"/>
          </p:nvPr>
        </p:nvSpPr>
        <p:spPr/>
        <p:txBody>
          <a:bodyPr>
            <a:normAutofit/>
          </a:bodyPr>
          <a:lstStyle/>
          <a:p>
            <a:r>
              <a:rPr lang="en-US" dirty="0"/>
              <a:t>BANK REGULATION</a:t>
            </a:r>
          </a:p>
        </p:txBody>
      </p:sp>
      <p:sp>
        <p:nvSpPr>
          <p:cNvPr id="572419" name="Rectangle 3"/>
          <p:cNvSpPr>
            <a:spLocks noGrp="1" noChangeArrowheads="1"/>
          </p:cNvSpPr>
          <p:nvPr>
            <p:ph idx="1"/>
          </p:nvPr>
        </p:nvSpPr>
        <p:spPr/>
        <p:txBody>
          <a:bodyPr/>
          <a:lstStyle/>
          <a:p>
            <a:pPr marL="514350" indent="-514350">
              <a:buFont typeface="+mj-lt"/>
              <a:buAutoNum type="arabicPeriod"/>
            </a:pPr>
            <a:r>
              <a:rPr lang="en-US" b="1" i="1" dirty="0">
                <a:solidFill>
                  <a:srgbClr val="990033"/>
                </a:solidFill>
              </a:rPr>
              <a:t>Deposit insurance:</a:t>
            </a:r>
            <a:r>
              <a:rPr lang="en-US" i="1" dirty="0">
                <a:solidFill>
                  <a:srgbClr val="990033"/>
                </a:solidFill>
              </a:rPr>
              <a:t> </a:t>
            </a:r>
            <a:r>
              <a:rPr lang="en-US" dirty="0"/>
              <a:t> a guarantee that a bank’s depositors will be paid even if the bank can’t come up with the funds. (The FDIC currently guarantees the first $250,000 of each account.)</a:t>
            </a:r>
          </a:p>
          <a:p>
            <a:pPr marL="514350" indent="-514350">
              <a:buFont typeface="+mj-lt"/>
              <a:buAutoNum type="arabicPeriod"/>
            </a:pPr>
            <a:endParaRPr lang="en-US" dirty="0"/>
          </a:p>
          <a:p>
            <a:endParaRPr lang="en-US" dirty="0"/>
          </a:p>
        </p:txBody>
      </p:sp>
      <p:pic>
        <p:nvPicPr>
          <p:cNvPr id="43010" name="Picture 2" descr="http://www.citizensbankcairo.com/toppag1.gif"/>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219200" y="3581400"/>
            <a:ext cx="6524625" cy="28479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4914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BANK REGULATION</a:t>
            </a:r>
          </a:p>
        </p:txBody>
      </p:sp>
      <p:sp>
        <p:nvSpPr>
          <p:cNvPr id="3" name="Content Placeholder 2"/>
          <p:cNvSpPr>
            <a:spLocks noGrp="1"/>
          </p:cNvSpPr>
          <p:nvPr>
            <p:ph idx="1"/>
          </p:nvPr>
        </p:nvSpPr>
        <p:spPr/>
        <p:txBody>
          <a:bodyPr>
            <a:normAutofit lnSpcReduction="10000"/>
          </a:bodyPr>
          <a:lstStyle/>
          <a:p>
            <a:pPr marL="514350" indent="-514350">
              <a:spcBef>
                <a:spcPts val="168"/>
              </a:spcBef>
              <a:spcAft>
                <a:spcPts val="1200"/>
              </a:spcAft>
              <a:buFont typeface="+mj-lt"/>
              <a:buAutoNum type="arabicPeriod" startAt="2"/>
            </a:pPr>
            <a:r>
              <a:rPr lang="en-US" i="1" dirty="0">
                <a:solidFill>
                  <a:srgbClr val="990033"/>
                </a:solidFill>
              </a:rPr>
              <a:t>Capital requirements: </a:t>
            </a:r>
            <a:r>
              <a:rPr lang="en-US" dirty="0"/>
              <a:t>requirement that the owners of banks hold substantially more assets than the value of bank deposits. </a:t>
            </a:r>
          </a:p>
          <a:p>
            <a:pPr lvl="2">
              <a:spcBef>
                <a:spcPts val="168"/>
              </a:spcBef>
              <a:spcAft>
                <a:spcPts val="1200"/>
              </a:spcAft>
            </a:pPr>
            <a:r>
              <a:rPr lang="en-US" sz="2800" i="1" dirty="0">
                <a:solidFill>
                  <a:schemeClr val="tx1">
                    <a:lumMod val="75000"/>
                    <a:lumOff val="25000"/>
                  </a:schemeClr>
                </a:solidFill>
              </a:rPr>
              <a:t>Deposit insurance creates a well-known incentive problem: </a:t>
            </a:r>
            <a:r>
              <a:rPr lang="en-US" sz="2800" i="1" dirty="0">
                <a:solidFill>
                  <a:srgbClr val="0070C0"/>
                </a:solidFill>
              </a:rPr>
              <a:t>Banks can take more risks, since they are insured.</a:t>
            </a:r>
          </a:p>
          <a:p>
            <a:pPr lvl="2">
              <a:spcBef>
                <a:spcPts val="168"/>
              </a:spcBef>
              <a:spcAft>
                <a:spcPts val="1200"/>
              </a:spcAft>
            </a:pPr>
            <a:r>
              <a:rPr lang="en-US" sz="2800" i="1" dirty="0">
                <a:solidFill>
                  <a:schemeClr val="tx1">
                    <a:lumMod val="75000"/>
                    <a:lumOff val="25000"/>
                  </a:schemeClr>
                </a:solidFill>
              </a:rPr>
              <a:t>To help motivate safe behavior, banks’ capital is required to equal to 7% or more of their assets.</a:t>
            </a:r>
          </a:p>
        </p:txBody>
      </p:sp>
    </p:spTree>
    <p:extLst>
      <p:ext uri="{BB962C8B-B14F-4D97-AF65-F5344CB8AC3E}">
        <p14:creationId xmlns:p14="http://schemas.microsoft.com/office/powerpoint/2010/main" val="257971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Rot="1" noChangeArrowheads="1"/>
          </p:cNvSpPr>
          <p:nvPr>
            <p:ph type="title"/>
          </p:nvPr>
        </p:nvSpPr>
        <p:spPr/>
        <p:txBody>
          <a:bodyPr>
            <a:normAutofit/>
          </a:bodyPr>
          <a:lstStyle/>
          <a:p>
            <a:r>
              <a:rPr lang="en-US" spc="0" dirty="0"/>
              <a:t>BANK REGULATION</a:t>
            </a:r>
          </a:p>
        </p:txBody>
      </p:sp>
      <p:sp>
        <p:nvSpPr>
          <p:cNvPr id="574467" name="Rectangle 3"/>
          <p:cNvSpPr>
            <a:spLocks noGrp="1" noChangeArrowheads="1"/>
          </p:cNvSpPr>
          <p:nvPr>
            <p:ph idx="1"/>
          </p:nvPr>
        </p:nvSpPr>
        <p:spPr/>
        <p:txBody>
          <a:bodyPr>
            <a:normAutofit/>
          </a:bodyPr>
          <a:lstStyle/>
          <a:p>
            <a:pPr marL="514350" indent="-514350">
              <a:buFont typeface="+mj-lt"/>
              <a:buAutoNum type="arabicPeriod" startAt="3"/>
            </a:pPr>
            <a:r>
              <a:rPr lang="en-US" b="1" i="1" dirty="0">
                <a:solidFill>
                  <a:srgbClr val="990033"/>
                </a:solidFill>
              </a:rPr>
              <a:t>Reserve requirements:</a:t>
            </a:r>
            <a:r>
              <a:rPr lang="en-US" dirty="0"/>
              <a:t> rules set by the Federal Reserve that determine the minimum reserve ratio for a bank. </a:t>
            </a:r>
          </a:p>
          <a:p>
            <a:pPr lvl="2"/>
            <a:r>
              <a:rPr lang="en-US" sz="2800" i="1" dirty="0">
                <a:solidFill>
                  <a:schemeClr val="tx1">
                    <a:lumMod val="75000"/>
                    <a:lumOff val="25000"/>
                  </a:schemeClr>
                </a:solidFill>
              </a:rPr>
              <a:t>For example, in the </a:t>
            </a:r>
            <a:r>
              <a:rPr lang="en-US" sz="2800" i="1" dirty="0">
                <a:solidFill>
                  <a:srgbClr val="0070C0"/>
                </a:solidFill>
              </a:rPr>
              <a:t>United States,</a:t>
            </a:r>
            <a:r>
              <a:rPr lang="en-US" sz="2800" i="1" dirty="0">
                <a:solidFill>
                  <a:schemeClr val="tx1">
                    <a:lumMod val="75000"/>
                    <a:lumOff val="25000"/>
                  </a:schemeClr>
                </a:solidFill>
              </a:rPr>
              <a:t> the minimum </a:t>
            </a:r>
            <a:r>
              <a:rPr lang="en-US" sz="2800" i="1" dirty="0">
                <a:solidFill>
                  <a:srgbClr val="0070C0"/>
                </a:solidFill>
              </a:rPr>
              <a:t>reserve ratio for checkable bank deposits is 10%.</a:t>
            </a:r>
          </a:p>
          <a:p>
            <a:pPr marL="514350" indent="-514350">
              <a:buFont typeface="+mj-lt"/>
              <a:buAutoNum type="arabicPeriod" startAt="4"/>
            </a:pPr>
            <a:r>
              <a:rPr lang="en-US" i="1" dirty="0">
                <a:solidFill>
                  <a:srgbClr val="990033"/>
                </a:solidFill>
              </a:rPr>
              <a:t>The </a:t>
            </a:r>
            <a:r>
              <a:rPr lang="en-US" b="1" i="1" dirty="0">
                <a:solidFill>
                  <a:srgbClr val="990033"/>
                </a:solidFill>
              </a:rPr>
              <a:t>discount window</a:t>
            </a:r>
            <a:r>
              <a:rPr lang="en-US" i="1" dirty="0">
                <a:solidFill>
                  <a:srgbClr val="990033"/>
                </a:solidFill>
              </a:rPr>
              <a:t>: </a:t>
            </a:r>
            <a:r>
              <a:rPr lang="en-US" dirty="0"/>
              <a:t>an arrangement in which the Federal Reserve stands ready to lend money to banks in trouble.</a:t>
            </a:r>
          </a:p>
          <a:p>
            <a:endParaRPr lang="en-US" dirty="0"/>
          </a:p>
        </p:txBody>
      </p:sp>
    </p:spTree>
    <p:extLst>
      <p:ext uri="{BB962C8B-B14F-4D97-AF65-F5344CB8AC3E}">
        <p14:creationId xmlns:p14="http://schemas.microsoft.com/office/powerpoint/2010/main" val="29995450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609600"/>
            <a:ext cx="9144000" cy="838200"/>
          </a:xfrm>
        </p:spPr>
        <p:txBody>
          <a:bodyPr/>
          <a:lstStyle/>
          <a:p>
            <a:r>
              <a:rPr lang="en-US" spc="0" dirty="0">
                <a:solidFill>
                  <a:schemeClr val="accent6">
                    <a:lumMod val="75000"/>
                  </a:schemeClr>
                </a:solidFill>
                <a:latin typeface="Century Gothic"/>
                <a:cs typeface="Century Gothic"/>
              </a:rPr>
              <a:t>It’s a wonderful banking system</a:t>
            </a:r>
          </a:p>
        </p:txBody>
      </p:sp>
      <p:sp>
        <p:nvSpPr>
          <p:cNvPr id="6" name="TextBox 5"/>
          <p:cNvSpPr txBox="1">
            <a:spLocks noChangeArrowheads="1"/>
          </p:cNvSpPr>
          <p:nvPr/>
        </p:nvSpPr>
        <p:spPr bwMode="auto">
          <a:xfrm>
            <a:off x="304800" y="4979141"/>
            <a:ext cx="3962400" cy="830997"/>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400" b="1" i="1" dirty="0">
                <a:solidFill>
                  <a:prstClr val="black">
                    <a:lumMod val="75000"/>
                    <a:lumOff val="25000"/>
                  </a:prstClr>
                </a:solidFill>
                <a:latin typeface="Century Gothic"/>
                <a:cs typeface="Century Gothic"/>
              </a:rPr>
              <a:t>Silicon </a:t>
            </a:r>
            <a:r>
              <a:rPr lang="en-US" sz="2400" b="1" i="1" dirty="0" err="1">
                <a:solidFill>
                  <a:prstClr val="black">
                    <a:lumMod val="75000"/>
                    <a:lumOff val="25000"/>
                  </a:prstClr>
                </a:solidFill>
                <a:latin typeface="Century Gothic"/>
                <a:cs typeface="Century Gothic"/>
              </a:rPr>
              <a:t>Vally</a:t>
            </a:r>
            <a:r>
              <a:rPr lang="en-US" sz="2400" b="1" i="1" dirty="0">
                <a:solidFill>
                  <a:prstClr val="black">
                    <a:lumMod val="75000"/>
                    <a:lumOff val="25000"/>
                  </a:prstClr>
                </a:solidFill>
                <a:latin typeface="Century Gothic"/>
                <a:cs typeface="Century Gothic"/>
              </a:rPr>
              <a:t> Bank: Mar. 2023</a:t>
            </a:r>
          </a:p>
        </p:txBody>
      </p:sp>
      <p:pic>
        <p:nvPicPr>
          <p:cNvPr id="7" name="Picture 2" descr="C:\Users\solina\Dropbox\Krugman 3e Dynamic PPTs\Krugman 3e material\Images_High Res\CH29\CH29\Krug3e_29UN04.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 y="1397741"/>
            <a:ext cx="5259703" cy="32766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TextBox 7"/>
          <p:cNvSpPr txBox="1">
            <a:spLocks noChangeArrowheads="1"/>
          </p:cNvSpPr>
          <p:nvPr/>
        </p:nvSpPr>
        <p:spPr bwMode="auto">
          <a:xfrm>
            <a:off x="5410200" y="1447800"/>
            <a:ext cx="3581400" cy="1200328"/>
          </a:xfrm>
          <a:prstGeom prst="rect">
            <a:avLst/>
          </a:prstGeom>
          <a:noFill/>
          <a:ln>
            <a:noFill/>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400" b="1" i="1" dirty="0">
                <a:solidFill>
                  <a:prstClr val="black">
                    <a:lumMod val="75000"/>
                    <a:lumOff val="25000"/>
                  </a:prstClr>
                </a:solidFill>
                <a:latin typeface="Century Gothic"/>
                <a:cs typeface="Century Gothic"/>
              </a:rPr>
              <a:t>Bank runs still happen:  Southern California’s IndyMac: July 2008</a:t>
            </a:r>
          </a:p>
        </p:txBody>
      </p:sp>
      <p:pic>
        <p:nvPicPr>
          <p:cNvPr id="1026" name="Picture 2">
            <a:extLst>
              <a:ext uri="{FF2B5EF4-FFF2-40B4-BE49-F238E27FC236}">
                <a16:creationId xmlns:a16="http://schemas.microsoft.com/office/drawing/2014/main" id="{3B6B6F7E-39A8-FE77-E4A8-826AFF19C8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429000"/>
            <a:ext cx="4572000" cy="3376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728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914400"/>
            <a:ext cx="8839200" cy="3962400"/>
          </a:xfrm>
        </p:spPr>
        <p:txBody>
          <a:bodyPr>
            <a:normAutofit/>
          </a:bodyPr>
          <a:lstStyle/>
          <a:p>
            <a:pPr>
              <a:spcBef>
                <a:spcPts val="168"/>
              </a:spcBef>
              <a:spcAft>
                <a:spcPts val="1200"/>
              </a:spcAft>
            </a:pPr>
            <a:r>
              <a:rPr lang="en-US" dirty="0">
                <a:solidFill>
                  <a:srgbClr val="E46C0A"/>
                </a:solidFill>
                <a:latin typeface="Century Gothic"/>
                <a:cs typeface="Century Gothic"/>
              </a:rPr>
              <a:t>MULTIPLYING MONEY DOWN</a:t>
            </a:r>
          </a:p>
          <a:p>
            <a:pPr>
              <a:spcBef>
                <a:spcPts val="168"/>
              </a:spcBef>
              <a:spcAft>
                <a:spcPts val="1200"/>
              </a:spcAft>
            </a:pPr>
            <a:r>
              <a:rPr lang="en-US" sz="2800" dirty="0">
                <a:solidFill>
                  <a:prstClr val="black"/>
                </a:solidFill>
              </a:rPr>
              <a:t>If Silas can increase the money supply by pulling cash out from under his bed and injecting into the banking system, the reverse can happen anytime people carry cash.</a:t>
            </a:r>
          </a:p>
          <a:p>
            <a:pPr>
              <a:spcBef>
                <a:spcPts val="168"/>
              </a:spcBef>
              <a:spcAft>
                <a:spcPts val="1200"/>
              </a:spcAft>
            </a:pPr>
            <a:r>
              <a:rPr lang="en-US" sz="2800" dirty="0">
                <a:latin typeface="Century Gothic"/>
                <a:cs typeface="Century Gothic"/>
              </a:rPr>
              <a:t>Example: The Bank Runs of 1929-1933</a:t>
            </a:r>
          </a:p>
          <a:p>
            <a:pPr>
              <a:spcBef>
                <a:spcPts val="168"/>
              </a:spcBef>
              <a:spcAft>
                <a:spcPts val="1200"/>
              </a:spcAft>
            </a:pPr>
            <a:endParaRPr lang="en-US" dirty="0">
              <a:latin typeface="Century Gothic"/>
              <a:cs typeface="Century Gothic"/>
            </a:endParaRPr>
          </a:p>
        </p:txBody>
      </p:sp>
      <p:sp>
        <p:nvSpPr>
          <p:cNvPr id="4" name="TextBox 3"/>
          <p:cNvSpPr txBox="1"/>
          <p:nvPr/>
        </p:nvSpPr>
        <p:spPr>
          <a:xfrm>
            <a:off x="2819400" y="4461808"/>
            <a:ext cx="5943600" cy="461665"/>
          </a:xfrm>
          <a:prstGeom prst="rect">
            <a:avLst/>
          </a:prstGeom>
          <a:noFill/>
        </p:spPr>
        <p:txBody>
          <a:bodyPr wrap="square" rtlCol="0">
            <a:spAutoFit/>
          </a:bodyPr>
          <a:lstStyle/>
          <a:p>
            <a:endParaRPr lang="en-US" sz="2400" b="1" dirty="0">
              <a:solidFill>
                <a:prstClr val="black"/>
              </a:solidFill>
              <a:latin typeface="Century Gothic"/>
              <a:cs typeface="Century Gothic"/>
            </a:endParaRPr>
          </a:p>
        </p:txBody>
      </p:sp>
      <p:pic>
        <p:nvPicPr>
          <p:cNvPr id="5" name="Picture 4" descr="Screen Shot 2015-04-09 at 12.39.53.pn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219200" y="4049414"/>
            <a:ext cx="6521432" cy="2579986"/>
          </a:xfrm>
          <a:prstGeom prst="rect">
            <a:avLst/>
          </a:prstGeom>
        </p:spPr>
      </p:pic>
    </p:spTree>
    <p:extLst>
      <p:ext uri="{BB962C8B-B14F-4D97-AF65-F5344CB8AC3E}">
        <p14:creationId xmlns:p14="http://schemas.microsoft.com/office/powerpoint/2010/main" val="123692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Rot="1" noChangeArrowheads="1"/>
          </p:cNvSpPr>
          <p:nvPr>
            <p:ph type="title"/>
          </p:nvPr>
        </p:nvSpPr>
        <p:spPr/>
        <p:txBody>
          <a:bodyPr>
            <a:normAutofit/>
          </a:bodyPr>
          <a:lstStyle/>
          <a:p>
            <a:r>
              <a:rPr lang="en-US" spc="0" dirty="0"/>
              <a:t>THE FEDERAL RESERVE SYSTEM</a:t>
            </a:r>
            <a:endParaRPr lang="en-US" b="0" spc="0" dirty="0"/>
          </a:p>
        </p:txBody>
      </p:sp>
      <p:sp>
        <p:nvSpPr>
          <p:cNvPr id="464905" name="Rectangle 9"/>
          <p:cNvSpPr>
            <a:spLocks noChangeArrowheads="1"/>
          </p:cNvSpPr>
          <p:nvPr/>
        </p:nvSpPr>
        <p:spPr bwMode="auto">
          <a:xfrm>
            <a:off x="152400" y="685800"/>
            <a:ext cx="8686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rgbClr val="000000"/>
              </a:buClr>
            </a:pPr>
            <a:r>
              <a:rPr lang="en-US" sz="2800" dirty="0">
                <a:solidFill>
                  <a:prstClr val="black"/>
                </a:solidFill>
                <a:latin typeface="Century Gothic"/>
                <a:cs typeface="Century Gothic"/>
              </a:rPr>
              <a:t>The </a:t>
            </a:r>
            <a:r>
              <a:rPr lang="en-US" sz="2800" b="1" i="1" dirty="0">
                <a:solidFill>
                  <a:srgbClr val="990033"/>
                </a:solidFill>
                <a:latin typeface="Century Gothic"/>
                <a:cs typeface="Century Gothic"/>
              </a:rPr>
              <a:t>Federal Reserve</a:t>
            </a:r>
            <a:r>
              <a:rPr lang="en-US" sz="2800" i="1" dirty="0">
                <a:solidFill>
                  <a:srgbClr val="990033"/>
                </a:solidFill>
                <a:latin typeface="Century Gothic"/>
                <a:cs typeface="Century Gothic"/>
              </a:rPr>
              <a:t> </a:t>
            </a:r>
            <a:r>
              <a:rPr lang="en-US" sz="2800" dirty="0">
                <a:solidFill>
                  <a:prstClr val="black"/>
                </a:solidFill>
                <a:latin typeface="Century Gothic"/>
                <a:cs typeface="Century Gothic"/>
              </a:rPr>
              <a:t>is a </a:t>
            </a:r>
            <a:r>
              <a:rPr lang="en-US" sz="2800" b="1" dirty="0">
                <a:solidFill>
                  <a:prstClr val="black"/>
                </a:solidFill>
                <a:latin typeface="Century Gothic"/>
                <a:cs typeface="Century Gothic"/>
              </a:rPr>
              <a:t>central bank</a:t>
            </a:r>
            <a:r>
              <a:rPr lang="en-US" sz="2800" dirty="0">
                <a:solidFill>
                  <a:prstClr val="black"/>
                </a:solidFill>
                <a:latin typeface="Century Gothic"/>
                <a:cs typeface="Century Gothic"/>
              </a:rPr>
              <a:t>; </a:t>
            </a:r>
            <a:r>
              <a:rPr lang="en-US" sz="2800" b="1" i="1" dirty="0">
                <a:solidFill>
                  <a:srgbClr val="0070C0"/>
                </a:solidFill>
                <a:latin typeface="Century Gothic"/>
                <a:cs typeface="Century Gothic"/>
              </a:rPr>
              <a:t>it oversees and regulates the banking system </a:t>
            </a:r>
            <a:r>
              <a:rPr lang="en-US" sz="2800" b="1" i="1" dirty="0">
                <a:solidFill>
                  <a:prstClr val="black">
                    <a:lumMod val="75000"/>
                    <a:lumOff val="25000"/>
                  </a:prstClr>
                </a:solidFill>
                <a:latin typeface="Century Gothic"/>
                <a:cs typeface="Century Gothic"/>
              </a:rPr>
              <a:t>and </a:t>
            </a:r>
            <a:r>
              <a:rPr lang="en-US" sz="2800" b="1" i="1" dirty="0">
                <a:solidFill>
                  <a:srgbClr val="0070C0"/>
                </a:solidFill>
                <a:latin typeface="Century Gothic"/>
                <a:cs typeface="Century Gothic"/>
              </a:rPr>
              <a:t>controls the monetary base.</a:t>
            </a:r>
          </a:p>
          <a:p>
            <a:pPr>
              <a:spcBef>
                <a:spcPct val="20000"/>
              </a:spcBef>
              <a:buClr>
                <a:srgbClr val="000000"/>
              </a:buClr>
            </a:pPr>
            <a:endParaRPr lang="en-US" sz="2800" dirty="0">
              <a:solidFill>
                <a:prstClr val="black"/>
              </a:solidFill>
              <a:latin typeface="Century Gothic"/>
              <a:cs typeface="Century Gothic"/>
            </a:endParaRPr>
          </a:p>
        </p:txBody>
      </p:sp>
      <p:sp>
        <p:nvSpPr>
          <p:cNvPr id="4" name="TextBox 3"/>
          <p:cNvSpPr txBox="1"/>
          <p:nvPr/>
        </p:nvSpPr>
        <p:spPr>
          <a:xfrm>
            <a:off x="0" y="3200400"/>
            <a:ext cx="2667000" cy="1323439"/>
          </a:xfrm>
          <a:prstGeom prst="rect">
            <a:avLst/>
          </a:prstGeom>
          <a:noFill/>
        </p:spPr>
        <p:txBody>
          <a:bodyPr wrap="square" rtlCol="0">
            <a:spAutoFit/>
          </a:bodyPr>
          <a:lstStyle/>
          <a:p>
            <a:pPr algn="r"/>
            <a:r>
              <a:rPr lang="en-US" sz="2000" b="1" dirty="0">
                <a:solidFill>
                  <a:srgbClr val="990033"/>
                </a:solidFill>
                <a:latin typeface="Century Gothic"/>
                <a:cs typeface="Century Gothic"/>
              </a:rPr>
              <a:t>Jerome Powell</a:t>
            </a:r>
          </a:p>
          <a:p>
            <a:pPr algn="r"/>
            <a:r>
              <a:rPr lang="en-US" sz="2000" dirty="0">
                <a:solidFill>
                  <a:prstClr val="black"/>
                </a:solidFill>
                <a:latin typeface="Century Gothic"/>
                <a:cs typeface="Century Gothic"/>
              </a:rPr>
              <a:t>16</a:t>
            </a:r>
            <a:r>
              <a:rPr lang="en-US" sz="2000" baseline="30000" dirty="0">
                <a:solidFill>
                  <a:prstClr val="black"/>
                </a:solidFill>
                <a:latin typeface="Century Gothic"/>
                <a:cs typeface="Century Gothic"/>
              </a:rPr>
              <a:t>th</a:t>
            </a:r>
            <a:r>
              <a:rPr lang="en-US" sz="2000" dirty="0">
                <a:solidFill>
                  <a:prstClr val="black"/>
                </a:solidFill>
                <a:latin typeface="Century Gothic"/>
                <a:cs typeface="Century Gothic"/>
              </a:rPr>
              <a:t> chair of the Fed </a:t>
            </a:r>
          </a:p>
          <a:p>
            <a:pPr algn="r"/>
            <a:r>
              <a:rPr lang="en-US" sz="2000" dirty="0">
                <a:solidFill>
                  <a:prstClr val="black"/>
                </a:solidFill>
                <a:latin typeface="Century Gothic"/>
                <a:cs typeface="Century Gothic"/>
              </a:rPr>
              <a:t>Assumed office</a:t>
            </a:r>
          </a:p>
          <a:p>
            <a:pPr algn="r"/>
            <a:r>
              <a:rPr lang="en-US" sz="2000" dirty="0">
                <a:solidFill>
                  <a:prstClr val="black"/>
                </a:solidFill>
                <a:latin typeface="Century Gothic"/>
                <a:cs typeface="Century Gothic"/>
              </a:rPr>
              <a:t> Feb, 2018</a:t>
            </a:r>
          </a:p>
        </p:txBody>
      </p:sp>
      <p:pic>
        <p:nvPicPr>
          <p:cNvPr id="1026" name="Picture 2" descr="Jerome Powell - Wikipedia">
            <a:extLst>
              <a:ext uri="{FF2B5EF4-FFF2-40B4-BE49-F238E27FC236}">
                <a16:creationId xmlns:a16="http://schemas.microsoft.com/office/drawing/2014/main" id="{56F4AE52-7FBC-4F47-9A25-F9831B645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2428339"/>
            <a:ext cx="3352800"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16104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48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898" grpId="0" animBg="1"/>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2" descr="C:\Users\solina\Dropbox\Krugman 3e Dynamic PPTs\Krugman 3e material\Images_High Res\CH29\CH29\Krug3e_fig_29_06.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57200" y="905932"/>
            <a:ext cx="8077200" cy="5396793"/>
          </a:xfrm>
          <a:prstGeom prst="rect">
            <a:avLst/>
          </a:prstGeom>
          <a:noFill/>
          <a:extLst>
            <a:ext uri="{909E8E84-426E-40DD-AFC4-6F175D3DCCD1}">
              <a14:hiddenFill xmlns:a14="http://schemas.microsoft.com/office/drawing/2010/main">
                <a:solidFill>
                  <a:srgbClr val="FFFFFF"/>
                </a:solidFill>
              </a14:hiddenFill>
            </a:ext>
          </a:extLst>
        </p:spPr>
      </p:pic>
      <p:sp>
        <p:nvSpPr>
          <p:cNvPr id="477186" name="Rectangle 2"/>
          <p:cNvSpPr>
            <a:spLocks noGrp="1" noRot="1" noChangeArrowheads="1"/>
          </p:cNvSpPr>
          <p:nvPr>
            <p:ph type="title"/>
          </p:nvPr>
        </p:nvSpPr>
        <p:spPr/>
        <p:txBody>
          <a:bodyPr>
            <a:normAutofit/>
          </a:bodyPr>
          <a:lstStyle/>
          <a:p>
            <a:r>
              <a:rPr lang="en-US" spc="0" dirty="0"/>
              <a:t>THE FEDERAL RESERVE SYSTEM</a:t>
            </a:r>
            <a:endParaRPr lang="en-US" b="0" spc="0" dirty="0"/>
          </a:p>
        </p:txBody>
      </p:sp>
      <p:sp>
        <p:nvSpPr>
          <p:cNvPr id="3" name="Content Placeholder 2"/>
          <p:cNvSpPr>
            <a:spLocks noGrp="1"/>
          </p:cNvSpPr>
          <p:nvPr>
            <p:ph idx="1"/>
          </p:nvPr>
        </p:nvSpPr>
        <p:spPr>
          <a:xfrm>
            <a:off x="4648200" y="5715000"/>
            <a:ext cx="3886200" cy="533400"/>
          </a:xfrm>
        </p:spPr>
        <p:txBody>
          <a:bodyPr>
            <a:normAutofit/>
          </a:bodyPr>
          <a:lstStyle/>
          <a:p>
            <a:r>
              <a:rPr lang="en-US" sz="1200" b="0" i="1" dirty="0">
                <a:solidFill>
                  <a:schemeClr val="tx1">
                    <a:lumMod val="65000"/>
                    <a:lumOff val="35000"/>
                  </a:schemeClr>
                </a:solidFill>
              </a:rPr>
              <a:t>Source: Board of Governors of the Federal Reserve System</a:t>
            </a:r>
            <a:endParaRPr lang="en-US" sz="1600" b="0" i="1" dirty="0">
              <a:solidFill>
                <a:schemeClr val="tx1">
                  <a:lumMod val="65000"/>
                  <a:lumOff val="35000"/>
                </a:schemeClr>
              </a:solidFill>
            </a:endParaRPr>
          </a:p>
        </p:txBody>
      </p:sp>
    </p:spTree>
    <p:extLst>
      <p:ext uri="{BB962C8B-B14F-4D97-AF65-F5344CB8AC3E}">
        <p14:creationId xmlns:p14="http://schemas.microsoft.com/office/powerpoint/2010/main" val="2321581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71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Rot="1" noChangeArrowheads="1"/>
          </p:cNvSpPr>
          <p:nvPr>
            <p:ph type="title"/>
          </p:nvPr>
        </p:nvSpPr>
        <p:spPr>
          <a:xfrm>
            <a:off x="0" y="0"/>
            <a:ext cx="9144000" cy="1143000"/>
          </a:xfrm>
        </p:spPr>
        <p:txBody>
          <a:bodyPr>
            <a:noAutofit/>
          </a:bodyPr>
          <a:lstStyle/>
          <a:p>
            <a:r>
              <a:rPr lang="en-US" sz="4000" spc="0" dirty="0"/>
              <a:t>RESERVE REQUIREMENTS AND THE DISCOUNT RATE</a:t>
            </a:r>
            <a:endParaRPr lang="en-US" sz="4000" b="0" spc="0" dirty="0"/>
          </a:p>
        </p:txBody>
      </p:sp>
      <p:sp>
        <p:nvSpPr>
          <p:cNvPr id="466949" name="Rectangle 5"/>
          <p:cNvSpPr>
            <a:spLocks noChangeArrowheads="1"/>
          </p:cNvSpPr>
          <p:nvPr/>
        </p:nvSpPr>
        <p:spPr bwMode="auto">
          <a:xfrm>
            <a:off x="228600" y="1066800"/>
            <a:ext cx="86868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rgbClr val="000000"/>
              </a:buClr>
            </a:pPr>
            <a:r>
              <a:rPr lang="en-US" sz="3200" b="1" dirty="0">
                <a:solidFill>
                  <a:srgbClr val="0070C0"/>
                </a:solidFill>
                <a:latin typeface="Century Gothic"/>
                <a:cs typeface="Century Gothic"/>
              </a:rPr>
              <a:t>What does a bank do if it can’t meet the Fed’s reserve requirement?</a:t>
            </a:r>
          </a:p>
          <a:p>
            <a:pPr>
              <a:spcBef>
                <a:spcPct val="20000"/>
              </a:spcBef>
              <a:buClr>
                <a:srgbClr val="000000"/>
              </a:buClr>
            </a:pPr>
            <a:r>
              <a:rPr lang="en-US" sz="3200" dirty="0">
                <a:solidFill>
                  <a:prstClr val="black"/>
                </a:solidFill>
                <a:latin typeface="Century Gothic"/>
                <a:cs typeface="Century Gothic"/>
              </a:rPr>
              <a:t>The </a:t>
            </a:r>
            <a:r>
              <a:rPr lang="en-US" sz="3200" b="1" i="1" dirty="0">
                <a:solidFill>
                  <a:srgbClr val="990033"/>
                </a:solidFill>
                <a:latin typeface="Century Gothic"/>
                <a:cs typeface="Century Gothic"/>
              </a:rPr>
              <a:t>federal funds market</a:t>
            </a:r>
            <a:r>
              <a:rPr lang="en-US" sz="3200" i="1" dirty="0">
                <a:solidFill>
                  <a:srgbClr val="990033"/>
                </a:solidFill>
                <a:latin typeface="Century Gothic"/>
                <a:cs typeface="Century Gothic"/>
              </a:rPr>
              <a:t> </a:t>
            </a:r>
            <a:r>
              <a:rPr lang="en-US" sz="3200" dirty="0">
                <a:solidFill>
                  <a:prstClr val="black"/>
                </a:solidFill>
                <a:latin typeface="Century Gothic"/>
                <a:cs typeface="Century Gothic"/>
              </a:rPr>
              <a:t>allows banks that fall short of the reserve requirement to borrow funds from banks with excess reserves.</a:t>
            </a:r>
          </a:p>
          <a:p>
            <a:pPr lvl="1">
              <a:spcBef>
                <a:spcPct val="20000"/>
              </a:spcBef>
              <a:buClr>
                <a:srgbClr val="000000"/>
              </a:buClr>
            </a:pPr>
            <a:r>
              <a:rPr lang="en-US" sz="3200" dirty="0">
                <a:solidFill>
                  <a:prstClr val="black"/>
                </a:solidFill>
                <a:latin typeface="Century Gothic"/>
                <a:cs typeface="Century Gothic"/>
              </a:rPr>
              <a:t>The </a:t>
            </a:r>
            <a:r>
              <a:rPr lang="en-US" sz="3200" b="1" i="1" dirty="0">
                <a:solidFill>
                  <a:srgbClr val="990033"/>
                </a:solidFill>
                <a:latin typeface="Century Gothic"/>
                <a:cs typeface="Century Gothic"/>
              </a:rPr>
              <a:t>federal funds rate</a:t>
            </a:r>
            <a:r>
              <a:rPr lang="en-US" sz="3200" i="1" dirty="0">
                <a:solidFill>
                  <a:srgbClr val="990033"/>
                </a:solidFill>
                <a:latin typeface="Century Gothic"/>
                <a:cs typeface="Century Gothic"/>
              </a:rPr>
              <a:t> </a:t>
            </a:r>
            <a:r>
              <a:rPr lang="en-US" sz="3200" dirty="0">
                <a:solidFill>
                  <a:prstClr val="black"/>
                </a:solidFill>
                <a:latin typeface="Century Gothic"/>
                <a:cs typeface="Century Gothic"/>
              </a:rPr>
              <a:t>is the interest rate determined in the federal funds market.</a:t>
            </a:r>
          </a:p>
        </p:txBody>
      </p:sp>
      <p:pic>
        <p:nvPicPr>
          <p:cNvPr id="48130" name="Picture 2" descr="Libo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971800" y="5231384"/>
            <a:ext cx="2971800" cy="10170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0" y="6180667"/>
            <a:ext cx="8610600" cy="646331"/>
          </a:xfrm>
          <a:prstGeom prst="rect">
            <a:avLst/>
          </a:prstGeom>
          <a:noFill/>
        </p:spPr>
        <p:txBody>
          <a:bodyPr wrap="square" rtlCol="0">
            <a:spAutoFit/>
          </a:bodyPr>
          <a:lstStyle/>
          <a:p>
            <a:r>
              <a:rPr lang="en-US" b="1" i="1" dirty="0">
                <a:solidFill>
                  <a:prstClr val="black">
                    <a:lumMod val="75000"/>
                    <a:lumOff val="25000"/>
                  </a:prstClr>
                </a:solidFill>
                <a:latin typeface="Century Gothic"/>
                <a:cs typeface="Century Gothic"/>
              </a:rPr>
              <a:t>LIBOR (London interbank offered rate) is Europe’s equivalent to the federal funds rate.</a:t>
            </a:r>
          </a:p>
        </p:txBody>
      </p:sp>
    </p:spTree>
    <p:extLst>
      <p:ext uri="{BB962C8B-B14F-4D97-AF65-F5344CB8AC3E}">
        <p14:creationId xmlns:p14="http://schemas.microsoft.com/office/powerpoint/2010/main" val="35824592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69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8130"/>
                                        </p:tgtEl>
                                        <p:attrNameLst>
                                          <p:attrName>style.visibility</p:attrName>
                                        </p:attrNameLst>
                                      </p:cBhvr>
                                      <p:to>
                                        <p:strVal val="visible"/>
                                      </p:to>
                                    </p:set>
                                    <p:animEffect transition="in" filter="fade">
                                      <p:cBhvr>
                                        <p:cTn id="11" dur="500"/>
                                        <p:tgtEl>
                                          <p:spTgt spid="4813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6" grpId="0" animBg="1"/>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Autofit/>
          </a:bodyPr>
          <a:lstStyle/>
          <a:p>
            <a:r>
              <a:rPr lang="en-US" sz="4000" spc="0" dirty="0"/>
              <a:t>RESERVE REQUIREMENTS</a:t>
            </a:r>
            <a:br>
              <a:rPr lang="en-US" sz="4000" spc="0" dirty="0"/>
            </a:br>
            <a:r>
              <a:rPr lang="en-US" sz="4000" spc="0" dirty="0"/>
              <a:t>AND THE DISCOUNT RATE</a:t>
            </a:r>
          </a:p>
        </p:txBody>
      </p:sp>
      <p:sp>
        <p:nvSpPr>
          <p:cNvPr id="3" name="Content Placeholder 2"/>
          <p:cNvSpPr>
            <a:spLocks noGrp="1"/>
          </p:cNvSpPr>
          <p:nvPr>
            <p:ph idx="1"/>
          </p:nvPr>
        </p:nvSpPr>
        <p:spPr>
          <a:xfrm>
            <a:off x="228600" y="1295400"/>
            <a:ext cx="8839200" cy="4343400"/>
          </a:xfrm>
        </p:spPr>
        <p:txBody>
          <a:bodyPr/>
          <a:lstStyle/>
          <a:p>
            <a:r>
              <a:rPr lang="en-US" dirty="0"/>
              <a:t>The </a:t>
            </a:r>
            <a:r>
              <a:rPr lang="en-US" i="1" dirty="0">
                <a:solidFill>
                  <a:srgbClr val="990033"/>
                </a:solidFill>
              </a:rPr>
              <a:t>discount rate</a:t>
            </a:r>
            <a:r>
              <a:rPr lang="en-US" dirty="0"/>
              <a:t> is the rate of interest the Fed charges on loans to banks.</a:t>
            </a:r>
          </a:p>
          <a:p>
            <a:pPr lvl="1"/>
            <a:r>
              <a:rPr lang="en-US" i="1" dirty="0">
                <a:solidFill>
                  <a:schemeClr val="tx1">
                    <a:lumMod val="75000"/>
                    <a:lumOff val="25000"/>
                  </a:schemeClr>
                </a:solidFill>
              </a:rPr>
              <a:t>Normally, the discount rate is set 1 percentage point above the federal funds rate in order to discourage banks from turning to the Fed when they are in need of reserves.</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81000" y="4622800"/>
            <a:ext cx="3352800" cy="22352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389947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19200"/>
          </a:xfrm>
          <a:solidFill>
            <a:schemeClr val="bg1">
              <a:alpha val="78000"/>
            </a:schemeClr>
          </a:solidFill>
        </p:spPr>
        <p:txBody>
          <a:bodyPr>
            <a:noAutofit/>
          </a:bodyPr>
          <a:lstStyle/>
          <a:p>
            <a:r>
              <a:rPr lang="en-US" spc="0" dirty="0"/>
              <a:t>RESERVE REQUIREMENTS</a:t>
            </a:r>
            <a:br>
              <a:rPr lang="en-US" spc="0" dirty="0"/>
            </a:br>
            <a:r>
              <a:rPr lang="en-US" spc="0" dirty="0"/>
              <a:t>AND THE DISCOUNT RATE</a:t>
            </a:r>
          </a:p>
        </p:txBody>
      </p:sp>
      <p:sp>
        <p:nvSpPr>
          <p:cNvPr id="3" name="Content Placeholder 2"/>
          <p:cNvSpPr>
            <a:spLocks noGrp="1"/>
          </p:cNvSpPr>
          <p:nvPr>
            <p:ph idx="1"/>
          </p:nvPr>
        </p:nvSpPr>
        <p:spPr>
          <a:xfrm>
            <a:off x="6172" y="1676400"/>
            <a:ext cx="9137827" cy="4419600"/>
          </a:xfrm>
          <a:solidFill>
            <a:schemeClr val="bg1">
              <a:alpha val="79000"/>
            </a:schemeClr>
          </a:solidFill>
        </p:spPr>
        <p:txBody>
          <a:bodyPr/>
          <a:lstStyle/>
          <a:p>
            <a:r>
              <a:rPr lang="en-US" dirty="0"/>
              <a:t>In order to alter the money supply, the Fed can change reserve requirements, the discount rate, or both. </a:t>
            </a:r>
          </a:p>
          <a:p>
            <a:r>
              <a:rPr lang="en-US" dirty="0">
                <a:solidFill>
                  <a:srgbClr val="0070C0"/>
                </a:solidFill>
              </a:rPr>
              <a:t>In reality, the Fed doesn’t use these tools much.</a:t>
            </a:r>
          </a:p>
          <a:p>
            <a:r>
              <a:rPr lang="en-US" i="1" dirty="0">
                <a:solidFill>
                  <a:schemeClr val="tx1">
                    <a:lumMod val="75000"/>
                    <a:lumOff val="25000"/>
                  </a:schemeClr>
                </a:solidFill>
              </a:rPr>
              <a:t>Why not?</a:t>
            </a:r>
          </a:p>
          <a:p>
            <a:r>
              <a:rPr lang="en-US" dirty="0"/>
              <a:t>It’s got a better tool: </a:t>
            </a:r>
            <a:r>
              <a:rPr lang="en-US" dirty="0">
                <a:solidFill>
                  <a:srgbClr val="990033"/>
                </a:solidFill>
              </a:rPr>
              <a:t>Open-Market Operations</a:t>
            </a:r>
          </a:p>
        </p:txBody>
      </p:sp>
      <p:pic>
        <p:nvPicPr>
          <p:cNvPr id="48130" name="Picture 2" descr="http://3.bondvestor.com/wp-content/uploads/Treasury-Bond.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374" y="0"/>
            <a:ext cx="9151374"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48911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fade">
                                      <p:cBhvr>
                                        <p:cTn id="7" dur="1000"/>
                                        <p:tgtEl>
                                          <p:spTgt spid="48130"/>
                                        </p:tgtEl>
                                      </p:cBhvr>
                                    </p:animEffect>
                                    <p:anim calcmode="lin" valueType="num">
                                      <p:cBhvr>
                                        <p:cTn id="8" dur="1000" fill="hold"/>
                                        <p:tgtEl>
                                          <p:spTgt spid="48130"/>
                                        </p:tgtEl>
                                        <p:attrNameLst>
                                          <p:attrName>ppt_x</p:attrName>
                                        </p:attrNameLst>
                                      </p:cBhvr>
                                      <p:tavLst>
                                        <p:tav tm="0">
                                          <p:val>
                                            <p:strVal val="#ppt_x"/>
                                          </p:val>
                                        </p:tav>
                                        <p:tav tm="100000">
                                          <p:val>
                                            <p:strVal val="#ppt_x"/>
                                          </p:val>
                                        </p:tav>
                                      </p:tavLst>
                                    </p:anim>
                                    <p:anim calcmode="lin" valueType="num">
                                      <p:cBhvr>
                                        <p:cTn id="9" dur="900" decel="100000" fill="hold"/>
                                        <p:tgtEl>
                                          <p:spTgt spid="48130"/>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813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Title 1"/>
          <p:cNvSpPr>
            <a:spLocks noGrp="1"/>
          </p:cNvSpPr>
          <p:nvPr>
            <p:ph type="title"/>
          </p:nvPr>
        </p:nvSpPr>
        <p:spPr/>
        <p:txBody>
          <a:bodyPr>
            <a:noAutofit/>
          </a:bodyPr>
          <a:lstStyle/>
          <a:p>
            <a:pPr>
              <a:defRPr/>
            </a:pPr>
            <a:r>
              <a:rPr lang="en-US" dirty="0"/>
              <a:t>OPEN-MARKET OPERATIONS</a:t>
            </a:r>
          </a:p>
        </p:txBody>
      </p:sp>
      <p:sp>
        <p:nvSpPr>
          <p:cNvPr id="123907" name="Content Placeholder 2"/>
          <p:cNvSpPr>
            <a:spLocks noGrp="1"/>
          </p:cNvSpPr>
          <p:nvPr>
            <p:ph idx="1"/>
          </p:nvPr>
        </p:nvSpPr>
        <p:spPr>
          <a:xfrm>
            <a:off x="76200" y="762000"/>
            <a:ext cx="9067800" cy="4648200"/>
          </a:xfrm>
        </p:spPr>
        <p:txBody>
          <a:bodyPr>
            <a:noAutofit/>
          </a:bodyPr>
          <a:lstStyle/>
          <a:p>
            <a:pPr>
              <a:spcBef>
                <a:spcPts val="168"/>
              </a:spcBef>
              <a:spcAft>
                <a:spcPts val="1200"/>
              </a:spcAft>
            </a:pPr>
            <a:r>
              <a:rPr lang="en-US" dirty="0">
                <a:solidFill>
                  <a:srgbClr val="990033"/>
                </a:solidFill>
              </a:rPr>
              <a:t>When the Fed buys anything (even apples), reserves increase.</a:t>
            </a:r>
          </a:p>
          <a:p>
            <a:pPr>
              <a:spcBef>
                <a:spcPts val="168"/>
              </a:spcBef>
              <a:spcAft>
                <a:spcPts val="1200"/>
              </a:spcAft>
            </a:pPr>
            <a:r>
              <a:rPr lang="en-US" dirty="0"/>
              <a:t>Because government bonds can be stored indefinitely and are easy to buy and sell on the open market, </a:t>
            </a:r>
            <a:r>
              <a:rPr lang="en-US" dirty="0">
                <a:solidFill>
                  <a:srgbClr val="0070C0"/>
                </a:solidFill>
              </a:rPr>
              <a:t>the Fed chooses this commodity to buy and sell daily.</a:t>
            </a:r>
          </a:p>
          <a:p>
            <a:pPr lvl="1">
              <a:spcBef>
                <a:spcPts val="168"/>
              </a:spcBef>
              <a:spcAft>
                <a:spcPts val="1200"/>
              </a:spcAft>
            </a:pPr>
            <a:r>
              <a:rPr lang="en-US" i="1" dirty="0">
                <a:solidFill>
                  <a:schemeClr val="tx1">
                    <a:lumMod val="75000"/>
                    <a:lumOff val="25000"/>
                  </a:schemeClr>
                </a:solidFill>
              </a:rPr>
              <a:t>The Fed can buy and sell billions of dollars’ worth of government bonds in minutes. </a:t>
            </a:r>
          </a:p>
          <a:p>
            <a:pPr>
              <a:spcBef>
                <a:spcPts val="168"/>
              </a:spcBef>
              <a:spcAft>
                <a:spcPts val="1200"/>
              </a:spcAft>
            </a:pPr>
            <a:r>
              <a:rPr lang="en-US" dirty="0"/>
              <a:t>The Fed usually buys and sells short-term bonds called Treasury bills, or T-bills</a:t>
            </a:r>
          </a:p>
        </p:txBody>
      </p:sp>
    </p:spTree>
    <p:extLst>
      <p:ext uri="{BB962C8B-B14F-4D97-AF65-F5344CB8AC3E}">
        <p14:creationId xmlns:p14="http://schemas.microsoft.com/office/powerpoint/2010/main" val="5596839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23907">
                                            <p:txEl>
                                              <p:pRg st="0" end="0"/>
                                            </p:txEl>
                                          </p:spTgt>
                                        </p:tgtEl>
                                        <p:attrNameLst>
                                          <p:attrName>style.visibility</p:attrName>
                                        </p:attrNameLst>
                                      </p:cBhvr>
                                      <p:to>
                                        <p:strVal val="visible"/>
                                      </p:to>
                                    </p:set>
                                    <p:animEffect transition="in" filter="fade">
                                      <p:cBhvr>
                                        <p:cTn id="7" dur="1000"/>
                                        <p:tgtEl>
                                          <p:spTgt spid="1239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3907">
                                            <p:txEl>
                                              <p:pRg st="1" end="1"/>
                                            </p:txEl>
                                          </p:spTgt>
                                        </p:tgtEl>
                                        <p:attrNameLst>
                                          <p:attrName>style.visibility</p:attrName>
                                        </p:attrNameLst>
                                      </p:cBhvr>
                                      <p:to>
                                        <p:strVal val="visible"/>
                                      </p:to>
                                    </p:set>
                                    <p:animEffect transition="in" filter="fade">
                                      <p:cBhvr>
                                        <p:cTn id="12" dur="1000"/>
                                        <p:tgtEl>
                                          <p:spTgt spid="1239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3907">
                                            <p:txEl>
                                              <p:pRg st="2" end="2"/>
                                            </p:txEl>
                                          </p:spTgt>
                                        </p:tgtEl>
                                        <p:attrNameLst>
                                          <p:attrName>style.visibility</p:attrName>
                                        </p:attrNameLst>
                                      </p:cBhvr>
                                      <p:to>
                                        <p:strVal val="visible"/>
                                      </p:to>
                                    </p:set>
                                    <p:animEffect transition="in" filter="fade">
                                      <p:cBhvr>
                                        <p:cTn id="17" dur="1000"/>
                                        <p:tgtEl>
                                          <p:spTgt spid="1239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23907">
                                            <p:txEl>
                                              <p:pRg st="3" end="3"/>
                                            </p:txEl>
                                          </p:spTgt>
                                        </p:tgtEl>
                                        <p:attrNameLst>
                                          <p:attrName>style.visibility</p:attrName>
                                        </p:attrNameLst>
                                      </p:cBhvr>
                                      <p:to>
                                        <p:strVal val="visible"/>
                                      </p:to>
                                    </p:set>
                                    <p:animEffect transition="in" filter="fade">
                                      <p:cBhvr>
                                        <p:cTn id="22" dur="1000"/>
                                        <p:tgtEl>
                                          <p:spTgt spid="1239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OPEN-MARKET OPERATIONS</a:t>
            </a:r>
          </a:p>
        </p:txBody>
      </p:sp>
      <p:sp>
        <p:nvSpPr>
          <p:cNvPr id="3" name="Content Placeholder 2"/>
          <p:cNvSpPr>
            <a:spLocks noGrp="1"/>
          </p:cNvSpPr>
          <p:nvPr>
            <p:ph idx="1"/>
          </p:nvPr>
        </p:nvSpPr>
        <p:spPr/>
        <p:txBody>
          <a:bodyPr>
            <a:normAutofit lnSpcReduction="10000"/>
          </a:bodyPr>
          <a:lstStyle/>
          <a:p>
            <a:pPr>
              <a:spcBef>
                <a:spcPts val="264"/>
              </a:spcBef>
              <a:spcAft>
                <a:spcPts val="1200"/>
              </a:spcAft>
            </a:pPr>
            <a:r>
              <a:rPr lang="en-US" dirty="0"/>
              <a:t>The Fed does not buy bonds directly from the government.</a:t>
            </a:r>
          </a:p>
          <a:p>
            <a:pPr lvl="1">
              <a:spcBef>
                <a:spcPts val="264"/>
              </a:spcBef>
              <a:spcAft>
                <a:spcPts val="1200"/>
              </a:spcAft>
            </a:pPr>
            <a:r>
              <a:rPr lang="en-US" i="1" dirty="0">
                <a:solidFill>
                  <a:schemeClr val="tx1">
                    <a:lumMod val="75000"/>
                    <a:lumOff val="25000"/>
                  </a:schemeClr>
                </a:solidFill>
              </a:rPr>
              <a:t>When a central bank buys government debt directly from the government, it is lending directly to the government—in effect printing money to finance the government’s budget deficit.</a:t>
            </a:r>
          </a:p>
          <a:p>
            <a:pPr>
              <a:spcBef>
                <a:spcPts val="264"/>
              </a:spcBef>
              <a:spcAft>
                <a:spcPts val="1200"/>
              </a:spcAft>
            </a:pPr>
            <a:r>
              <a:rPr lang="en-US" sz="3600" dirty="0">
                <a:solidFill>
                  <a:srgbClr val="0070C0"/>
                </a:solidFill>
              </a:rPr>
              <a:t>The Fed’s decisions are independent of the government.</a:t>
            </a:r>
          </a:p>
        </p:txBody>
      </p:sp>
    </p:spTree>
    <p:extLst>
      <p:ext uri="{BB962C8B-B14F-4D97-AF65-F5344CB8AC3E}">
        <p14:creationId xmlns:p14="http://schemas.microsoft.com/office/powerpoint/2010/main" val="26228520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458200" cy="5060950"/>
          </a:xfrm>
        </p:spPr>
        <p:txBody>
          <a:bodyPr>
            <a:normAutofit/>
          </a:bodyPr>
          <a:lstStyle/>
          <a:p>
            <a:pPr marL="0" lvl="1"/>
            <a:r>
              <a:rPr lang="en-US" dirty="0"/>
              <a:t>With a partner, discuss: If a president could pressure the chairman of the Federal Reserve to do his bidding, what would happen?</a:t>
            </a:r>
          </a:p>
          <a:p>
            <a:pPr marL="0" lvl="1"/>
            <a:r>
              <a:rPr lang="en-US" dirty="0"/>
              <a:t>Do you think inflation be higher or lower if the Fed were not independent? Why?</a:t>
            </a:r>
          </a:p>
        </p:txBody>
      </p:sp>
      <p:sp>
        <p:nvSpPr>
          <p:cNvPr id="2" name="Title 1"/>
          <p:cNvSpPr>
            <a:spLocks noGrp="1"/>
          </p:cNvSpPr>
          <p:nvPr>
            <p:ph type="title" idx="4294967295"/>
          </p:nvPr>
        </p:nvSpPr>
        <p:spPr>
          <a:xfrm>
            <a:off x="0" y="0"/>
            <a:ext cx="7886700" cy="1143000"/>
          </a:xfrm>
          <a:prstGeom prst="rect">
            <a:avLst/>
          </a:prstGeom>
        </p:spPr>
        <p:txBody>
          <a:bodyPr/>
          <a:lstStyle/>
          <a:p>
            <a:r>
              <a:rPr lang="en-US" dirty="0"/>
              <a:t>Ponder This</a:t>
            </a:r>
          </a:p>
        </p:txBody>
      </p:sp>
      <p:sp>
        <p:nvSpPr>
          <p:cNvPr id="6" name="Rectangle 5"/>
          <p:cNvSpPr/>
          <p:nvPr/>
        </p:nvSpPr>
        <p:spPr>
          <a:xfrm>
            <a:off x="-49096" y="6273798"/>
            <a:ext cx="1268296" cy="400110"/>
          </a:xfrm>
          <a:prstGeom prst="rect">
            <a:avLst/>
          </a:prstGeom>
        </p:spPr>
        <p:txBody>
          <a:bodyPr wrap="none">
            <a:spAutoFit/>
          </a:bodyPr>
          <a:lstStyle/>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endPar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 action="ppaction://noaction"/>
            </a:endParaRPr>
          </a:p>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 action="ppaction://noaction"/>
              </a:rPr>
              <a:t>Active Learning</a:t>
            </a:r>
            <a:endPar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26" name="Picture 2">
            <a:extLst>
              <a:ext uri="{FF2B5EF4-FFF2-40B4-BE49-F238E27FC236}">
                <a16:creationId xmlns:a16="http://schemas.microsoft.com/office/drawing/2014/main" id="{84D46EF7-DD3A-774B-A229-E3B7E8E95E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3350" y="4182151"/>
            <a:ext cx="3067050" cy="2300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023026"/>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8994" name="Rectangle 2"/>
          <p:cNvSpPr>
            <a:spLocks noGrp="1" noRot="1" noChangeArrowheads="1"/>
          </p:cNvSpPr>
          <p:nvPr>
            <p:ph type="title"/>
          </p:nvPr>
        </p:nvSpPr>
        <p:spPr/>
        <p:txBody>
          <a:bodyPr>
            <a:normAutofit/>
          </a:bodyPr>
          <a:lstStyle/>
          <a:p>
            <a:r>
              <a:rPr lang="en-US" dirty="0"/>
              <a:t>OPEN-MARKET OPERATIONS</a:t>
            </a:r>
            <a:endParaRPr lang="en-US" b="0" dirty="0"/>
          </a:p>
        </p:txBody>
      </p:sp>
      <p:sp>
        <p:nvSpPr>
          <p:cNvPr id="468998" name="Rectangle 6"/>
          <p:cNvSpPr>
            <a:spLocks noChangeArrowheads="1"/>
          </p:cNvSpPr>
          <p:nvPr/>
        </p:nvSpPr>
        <p:spPr bwMode="auto">
          <a:xfrm>
            <a:off x="228600" y="914400"/>
            <a:ext cx="8686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rgbClr val="000000"/>
              </a:buClr>
            </a:pPr>
            <a:r>
              <a:rPr lang="en-US" sz="2800" b="1" i="1" dirty="0">
                <a:solidFill>
                  <a:srgbClr val="0070C0"/>
                </a:solidFill>
                <a:latin typeface="Century Gothic"/>
                <a:cs typeface="Century Gothic"/>
              </a:rPr>
              <a:t>What it looks like:</a:t>
            </a:r>
          </a:p>
          <a:p>
            <a:pPr>
              <a:spcBef>
                <a:spcPct val="20000"/>
              </a:spcBef>
              <a:buClr>
                <a:srgbClr val="000000"/>
              </a:buClr>
            </a:pPr>
            <a:r>
              <a:rPr lang="en-US" sz="2800" b="1" dirty="0">
                <a:solidFill>
                  <a:prstClr val="black"/>
                </a:solidFill>
                <a:latin typeface="Century Gothic"/>
                <a:cs typeface="Century Gothic"/>
              </a:rPr>
              <a:t>Open-market operations</a:t>
            </a:r>
            <a:r>
              <a:rPr lang="en-US" sz="2800" dirty="0">
                <a:solidFill>
                  <a:prstClr val="black"/>
                </a:solidFill>
                <a:latin typeface="Century Gothic"/>
                <a:cs typeface="Century Gothic"/>
              </a:rPr>
              <a:t> </a:t>
            </a:r>
            <a:r>
              <a:rPr lang="en-US" sz="2800" b="1" dirty="0">
                <a:solidFill>
                  <a:prstClr val="black"/>
                </a:solidFill>
                <a:latin typeface="Century Gothic"/>
                <a:cs typeface="Century Gothic"/>
              </a:rPr>
              <a:t>are</a:t>
            </a:r>
            <a:r>
              <a:rPr lang="en-US" sz="2800" dirty="0">
                <a:solidFill>
                  <a:prstClr val="black"/>
                </a:solidFill>
                <a:latin typeface="Century Gothic"/>
                <a:cs typeface="Century Gothic"/>
              </a:rPr>
              <a:t> </a:t>
            </a:r>
            <a:r>
              <a:rPr lang="en-US" sz="2800" b="1" dirty="0">
                <a:solidFill>
                  <a:prstClr val="black"/>
                </a:solidFill>
                <a:latin typeface="Century Gothic"/>
                <a:cs typeface="Century Gothic"/>
              </a:rPr>
              <a:t>the principal tool of monetary policy:</a:t>
            </a:r>
            <a:r>
              <a:rPr lang="en-US" sz="2800" dirty="0">
                <a:solidFill>
                  <a:prstClr val="black"/>
                </a:solidFill>
                <a:latin typeface="Century Gothic"/>
                <a:cs typeface="Century Gothic"/>
              </a:rPr>
              <a:t> </a:t>
            </a:r>
            <a:r>
              <a:rPr lang="en-US" sz="2800" b="1" dirty="0">
                <a:solidFill>
                  <a:prstClr val="black"/>
                </a:solidFill>
                <a:latin typeface="Century Gothic"/>
                <a:cs typeface="Century Gothic"/>
              </a:rPr>
              <a:t>the Fed can</a:t>
            </a:r>
            <a:r>
              <a:rPr lang="en-US" sz="2800" dirty="0">
                <a:solidFill>
                  <a:prstClr val="black"/>
                </a:solidFill>
                <a:latin typeface="Century Gothic"/>
                <a:cs typeface="Century Gothic"/>
              </a:rPr>
              <a:t> </a:t>
            </a:r>
            <a:r>
              <a:rPr lang="en-US" sz="2800" b="1" dirty="0">
                <a:solidFill>
                  <a:prstClr val="black"/>
                </a:solidFill>
                <a:latin typeface="Century Gothic"/>
                <a:cs typeface="Century Gothic"/>
              </a:rPr>
              <a:t>increase or reduce the monetary base</a:t>
            </a:r>
            <a:r>
              <a:rPr lang="en-US" sz="2800" dirty="0">
                <a:solidFill>
                  <a:prstClr val="black"/>
                </a:solidFill>
                <a:latin typeface="Century Gothic"/>
                <a:cs typeface="Century Gothic"/>
              </a:rPr>
              <a:t> </a:t>
            </a:r>
            <a:r>
              <a:rPr lang="en-US" sz="2800" b="1" dirty="0">
                <a:solidFill>
                  <a:prstClr val="black"/>
                </a:solidFill>
                <a:latin typeface="Century Gothic"/>
                <a:cs typeface="Century Gothic"/>
              </a:rPr>
              <a:t>by</a:t>
            </a:r>
            <a:r>
              <a:rPr lang="en-US" sz="2800" dirty="0">
                <a:solidFill>
                  <a:prstClr val="black"/>
                </a:solidFill>
                <a:latin typeface="Century Gothic"/>
                <a:cs typeface="Century Gothic"/>
              </a:rPr>
              <a:t> </a:t>
            </a:r>
            <a:r>
              <a:rPr lang="en-US" sz="2800" b="1" dirty="0">
                <a:solidFill>
                  <a:srgbClr val="0070C0"/>
                </a:solidFill>
                <a:latin typeface="Century Gothic"/>
                <a:cs typeface="Century Gothic"/>
              </a:rPr>
              <a:t>buying or selling government debt to banks.</a:t>
            </a:r>
          </a:p>
          <a:p>
            <a:pPr>
              <a:spcBef>
                <a:spcPct val="20000"/>
              </a:spcBef>
              <a:buClr>
                <a:srgbClr val="000000"/>
              </a:buClr>
            </a:pPr>
            <a:r>
              <a:rPr lang="en-US" sz="2800" b="1" dirty="0">
                <a:solidFill>
                  <a:prstClr val="black"/>
                </a:solidFill>
                <a:latin typeface="Century Gothic"/>
                <a:cs typeface="Century Gothic"/>
              </a:rPr>
              <a:t> 	The Federal Reserve’s Assets and Liabilities:</a:t>
            </a:r>
          </a:p>
          <a:p>
            <a:pPr>
              <a:spcBef>
                <a:spcPct val="20000"/>
              </a:spcBef>
              <a:buClr>
                <a:srgbClr val="000000"/>
              </a:buClr>
            </a:pPr>
            <a:endParaRPr lang="en-US" sz="2800" dirty="0">
              <a:solidFill>
                <a:prstClr val="black"/>
              </a:solidFill>
              <a:latin typeface="Century Gothic"/>
              <a:cs typeface="Century Gothic"/>
            </a:endParaRPr>
          </a:p>
        </p:txBody>
      </p:sp>
      <p:pic>
        <p:nvPicPr>
          <p:cNvPr id="7" name="Picture 2" descr="C:\Users\solina\Dropbox\Krugman 3e Dynamic PPTs\Krugman 3e material\Images_High Res\CH29\CH29\Krug3e_fig_29_07.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47368" y="3962400"/>
            <a:ext cx="8229600" cy="2066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9280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8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4"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OPEN-MARKET OPERATIONS</a:t>
            </a:r>
          </a:p>
        </p:txBody>
      </p:sp>
      <p:sp>
        <p:nvSpPr>
          <p:cNvPr id="3" name="Content Placeholder 2"/>
          <p:cNvSpPr>
            <a:spLocks noGrp="1"/>
          </p:cNvSpPr>
          <p:nvPr>
            <p:ph idx="1"/>
          </p:nvPr>
        </p:nvSpPr>
        <p:spPr/>
        <p:txBody>
          <a:bodyPr/>
          <a:lstStyle/>
          <a:p>
            <a:r>
              <a:rPr lang="en-US" dirty="0"/>
              <a:t>To </a:t>
            </a:r>
            <a:r>
              <a:rPr lang="en-US" i="1" dirty="0"/>
              <a:t>increase</a:t>
            </a:r>
            <a:r>
              <a:rPr lang="en-US" dirty="0"/>
              <a:t> the money supply, the Fed must inject reserves into the system.</a:t>
            </a:r>
          </a:p>
          <a:p>
            <a:pPr lvl="1"/>
            <a:endParaRPr lang="en-US" dirty="0"/>
          </a:p>
          <a:p>
            <a:pPr lvl="1"/>
            <a:endParaRPr lang="en-US" dirty="0"/>
          </a:p>
          <a:p>
            <a:r>
              <a:rPr lang="en-US" dirty="0"/>
              <a:t>To </a:t>
            </a:r>
            <a:r>
              <a:rPr lang="en-US" i="1" dirty="0"/>
              <a:t>decrease</a:t>
            </a:r>
            <a:r>
              <a:rPr lang="en-US" dirty="0"/>
              <a:t> the money supply, the Fed  must remove reserves from the system.</a:t>
            </a:r>
          </a:p>
        </p:txBody>
      </p:sp>
      <p:pic>
        <p:nvPicPr>
          <p:cNvPr id="50178" name="Picture 2" descr="http://www.sxc.hu/pic/l/c/ca/capgros/901874_10428355.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rot="1405219">
            <a:off x="4543505" y="2207340"/>
            <a:ext cx="2794427" cy="59268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0182" name="Picture 6" descr="http://www.dsmith-inc.com/euroclean/images/uz934blue1.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990601" y="4060644"/>
            <a:ext cx="2133600" cy="268305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514599" y="1940004"/>
            <a:ext cx="838201" cy="1107996"/>
          </a:xfrm>
          <a:prstGeom prst="rect">
            <a:avLst/>
          </a:prstGeom>
          <a:noFill/>
        </p:spPr>
        <p:txBody>
          <a:bodyPr wrap="square" lIns="91440" tIns="45720" rIns="91440" bIns="45720">
            <a:spAutoFit/>
          </a:bodyPr>
          <a:lstStyle/>
          <a:p>
            <a:pPr algn="ctr"/>
            <a:r>
              <a:rPr lang="en-US" sz="6600" b="1" dirty="0">
                <a:ln w="1905">
                  <a:solidFill>
                    <a:prstClr val="black"/>
                  </a:solidFill>
                </a:ln>
                <a:solidFill>
                  <a:prstClr val="black"/>
                </a:solidFill>
                <a:effectLst>
                  <a:innerShdw blurRad="69850" dist="43180" dir="5400000">
                    <a:srgbClr val="000000">
                      <a:alpha val="65000"/>
                    </a:srgbClr>
                  </a:innerShdw>
                </a:effectLst>
                <a:latin typeface="Times New Roman" pitchFamily="18" charset="0"/>
                <a:cs typeface="Times New Roman" pitchFamily="18" charset="0"/>
              </a:rPr>
              <a:t>$</a:t>
            </a:r>
          </a:p>
        </p:txBody>
      </p:sp>
      <p:sp>
        <p:nvSpPr>
          <p:cNvPr id="15" name="Rectangle 14"/>
          <p:cNvSpPr/>
          <p:nvPr/>
        </p:nvSpPr>
        <p:spPr>
          <a:xfrm>
            <a:off x="4723169" y="4058186"/>
            <a:ext cx="838201" cy="1107996"/>
          </a:xfrm>
          <a:prstGeom prst="rect">
            <a:avLst/>
          </a:prstGeom>
          <a:noFill/>
        </p:spPr>
        <p:txBody>
          <a:bodyPr wrap="square" lIns="91440" tIns="45720" rIns="91440" bIns="45720">
            <a:spAutoFit/>
          </a:bodyPr>
          <a:lstStyle/>
          <a:p>
            <a:pPr algn="ctr"/>
            <a:r>
              <a:rPr lang="en-US" sz="6600" b="1" dirty="0">
                <a:ln w="1905">
                  <a:solidFill>
                    <a:prstClr val="black"/>
                  </a:solidFill>
                </a:ln>
                <a:solidFill>
                  <a:prstClr val="black"/>
                </a:solidFill>
                <a:effectLst>
                  <a:innerShdw blurRad="69850" dist="43180" dir="5400000">
                    <a:srgbClr val="000000">
                      <a:alpha val="65000"/>
                    </a:srgbClr>
                  </a:innerShdw>
                </a:effectLst>
                <a:latin typeface="Times New Roman" pitchFamily="18" charset="0"/>
                <a:cs typeface="Times New Roman" pitchFamily="18" charset="0"/>
              </a:rPr>
              <a:t>$</a:t>
            </a:r>
          </a:p>
        </p:txBody>
      </p:sp>
    </p:spTree>
    <p:extLst>
      <p:ext uri="{BB962C8B-B14F-4D97-AF65-F5344CB8AC3E}">
        <p14:creationId xmlns:p14="http://schemas.microsoft.com/office/powerpoint/2010/main" val="2684201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53" presetClass="entr" presetSubtype="16" fill="hold" grpId="1" nodeType="with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fltVal val="0"/>
                                          </p:val>
                                        </p:tav>
                                        <p:tav tm="100000">
                                          <p:val>
                                            <p:strVal val="#ppt_w"/>
                                          </p:val>
                                        </p:tav>
                                      </p:tavLst>
                                    </p:anim>
                                    <p:anim calcmode="lin" valueType="num">
                                      <p:cBhvr>
                                        <p:cTn id="15" dur="1000" fill="hold"/>
                                        <p:tgtEl>
                                          <p:spTgt spid="6"/>
                                        </p:tgtEl>
                                        <p:attrNameLst>
                                          <p:attrName>ppt_h</p:attrName>
                                        </p:attrNameLst>
                                      </p:cBhvr>
                                      <p:tavLst>
                                        <p:tav tm="0">
                                          <p:val>
                                            <p:fltVal val="0"/>
                                          </p:val>
                                        </p:tav>
                                        <p:tav tm="100000">
                                          <p:val>
                                            <p:strVal val="#ppt_h"/>
                                          </p:val>
                                        </p:tav>
                                      </p:tavLst>
                                    </p:anim>
                                    <p:animEffect transition="in" filter="fade">
                                      <p:cBhvr>
                                        <p:cTn id="16" dur="1000"/>
                                        <p:tgtEl>
                                          <p:spTgt spid="6"/>
                                        </p:tgtEl>
                                      </p:cBhvr>
                                    </p:animEffect>
                                  </p:childTnLst>
                                </p:cTn>
                              </p:par>
                              <p:par>
                                <p:cTn id="17" presetID="44" presetClass="path" presetSubtype="0" accel="50000" decel="50000" fill="hold" grpId="2" nodeType="withEffect">
                                  <p:stCondLst>
                                    <p:cond delay="0"/>
                                  </p:stCondLst>
                                  <p:childTnLst>
                                    <p:animMotion origin="layout" path="M -3.33333E-6 0.00833 L 0.0415 -0.05139 C 0.05052 -0.06459 0.06563 -0.07616 0.0823 -0.08287 C 0.10139 -0.09121 0.11754 -0.09283 0.13073 -0.0882 L 0.19063 -0.07222 " pathEditMode="relative" rAng="-1045037" ptsTypes="FffFF">
                                      <p:cBhvr>
                                        <p:cTn id="18" dur="2000" spd="-100000" fill="hold"/>
                                        <p:tgtEl>
                                          <p:spTgt spid="6"/>
                                        </p:tgtEl>
                                        <p:attrNameLst>
                                          <p:attrName>ppt_x</p:attrName>
                                          <p:attrName>ppt_y</p:attrName>
                                        </p:attrNameLst>
                                      </p:cBhvr>
                                      <p:rCtr x="8924" y="-6597"/>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0182"/>
                                        </p:tgtEl>
                                        <p:attrNameLst>
                                          <p:attrName>style.visibility</p:attrName>
                                        </p:attrNameLst>
                                      </p:cBhvr>
                                      <p:to>
                                        <p:strVal val="visible"/>
                                      </p:to>
                                    </p:set>
                                    <p:animEffect transition="in" filter="fade">
                                      <p:cBhvr>
                                        <p:cTn id="26" dur="500"/>
                                        <p:tgtEl>
                                          <p:spTgt spid="50182"/>
                                        </p:tgtEl>
                                      </p:cBhvr>
                                    </p:animEffect>
                                  </p:childTnLst>
                                </p:cTn>
                              </p:par>
                              <p:par>
                                <p:cTn id="27" presetID="10" presetClass="entr" presetSubtype="0" fill="hold" grpId="3"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37" presetClass="path" presetSubtype="0" accel="50000" decel="50000" fill="hold" grpId="2" nodeType="clickEffect">
                                  <p:stCondLst>
                                    <p:cond delay="0"/>
                                  </p:stCondLst>
                                  <p:childTnLst>
                                    <p:animMotion origin="layout" path="M -0.20365 0.25973 L -0.10886 0.24885 C -0.08907 0.24699 -0.06684 0.2338 -0.05035 0.20996 C -0.02795 0.18774 -0.02014 0.15672 -0.01771 0.13056 L -0.00417 0.00625 " pathEditMode="relative" rAng="-2614045" ptsTypes="FffFF">
                                      <p:cBhvr>
                                        <p:cTn id="33" dur="2000" spd="-100000" fill="hold"/>
                                        <p:tgtEl>
                                          <p:spTgt spid="15"/>
                                        </p:tgtEl>
                                        <p:attrNameLst>
                                          <p:attrName>ppt_x</p:attrName>
                                          <p:attrName>ppt_y</p:attrName>
                                        </p:attrNameLst>
                                      </p:cBhvr>
                                      <p:rCtr x="12795" y="-8704"/>
                                    </p:animMotion>
                                  </p:childTnLst>
                                </p:cTn>
                              </p:par>
                              <p:par>
                                <p:cTn id="34" presetID="10" presetClass="exit" presetSubtype="0" fill="hold" grpId="0" nodeType="withEffect">
                                  <p:stCondLst>
                                    <p:cond delay="0"/>
                                  </p:stCondLst>
                                  <p:childTnLst>
                                    <p:animEffect transition="out" filter="fade">
                                      <p:cBhvr>
                                        <p:cTn id="35" dur="2500"/>
                                        <p:tgtEl>
                                          <p:spTgt spid="15"/>
                                        </p:tgtEl>
                                      </p:cBhvr>
                                    </p:animEffect>
                                    <p:set>
                                      <p:cBhvr>
                                        <p:cTn id="36" dur="1" fill="hold">
                                          <p:stCondLst>
                                            <p:cond delay="2499"/>
                                          </p:stCondLst>
                                        </p:cTn>
                                        <p:tgtEl>
                                          <p:spTgt spid="15"/>
                                        </p:tgtEl>
                                        <p:attrNameLst>
                                          <p:attrName>style.visibility</p:attrName>
                                        </p:attrNameLst>
                                      </p:cBhvr>
                                      <p:to>
                                        <p:strVal val="hidden"/>
                                      </p:to>
                                    </p:set>
                                  </p:childTnLst>
                                </p:cTn>
                              </p:par>
                              <p:par>
                                <p:cTn id="37" presetID="6" presetClass="emph" presetSubtype="0" fill="hold" grpId="1" nodeType="withEffect">
                                  <p:stCondLst>
                                    <p:cond delay="0"/>
                                  </p:stCondLst>
                                  <p:childTnLst>
                                    <p:animScale>
                                      <p:cBhvr>
                                        <p:cTn id="38" dur="2000" fill="hold"/>
                                        <p:tgtEl>
                                          <p:spTgt spid="15"/>
                                        </p:tgtEl>
                                      </p:cBhvr>
                                      <p:by x="50000" y="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6" grpId="1"/>
      <p:bldP spid="6" grpId="2"/>
      <p:bldP spid="15" grpId="0"/>
      <p:bldP spid="15" grpId="1"/>
      <p:bldP spid="15" grpId="2"/>
      <p:bldP spid="15" grpId="3"/>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42" name="Rectangle 2"/>
          <p:cNvSpPr>
            <a:spLocks noGrp="1" noRot="1" noChangeArrowheads="1"/>
          </p:cNvSpPr>
          <p:nvPr>
            <p:ph type="title"/>
          </p:nvPr>
        </p:nvSpPr>
        <p:spPr/>
        <p:txBody>
          <a:bodyPr>
            <a:normAutofit/>
          </a:bodyPr>
          <a:lstStyle/>
          <a:p>
            <a:r>
              <a:rPr lang="en-US" spc="0" dirty="0"/>
              <a:t>OPEN-MARKET OPERATIONS</a:t>
            </a:r>
            <a:endParaRPr lang="en-US" b="0" spc="0" dirty="0"/>
          </a:p>
        </p:txBody>
      </p:sp>
      <p:sp>
        <p:nvSpPr>
          <p:cNvPr id="471043" name="Rectangle 3"/>
          <p:cNvSpPr>
            <a:spLocks noChangeArrowheads="1"/>
          </p:cNvSpPr>
          <p:nvPr/>
        </p:nvSpPr>
        <p:spPr bwMode="auto">
          <a:xfrm>
            <a:off x="0" y="914400"/>
            <a:ext cx="9067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588" indent="-1588"/>
            <a:r>
              <a:rPr lang="en-US" sz="2800" b="1" dirty="0">
                <a:solidFill>
                  <a:srgbClr val="0070C0"/>
                </a:solidFill>
                <a:latin typeface="Century Gothic"/>
                <a:cs typeface="Century Gothic"/>
              </a:rPr>
              <a:t>An open-market purchase of $100 million: banks gain reserves.</a:t>
            </a:r>
          </a:p>
        </p:txBody>
      </p:sp>
      <p:pic>
        <p:nvPicPr>
          <p:cNvPr id="7" name="Picture 2" descr="C:\Users\solina\Dropbox\Krugman 3e Dynamic PPTs\Krugman 3e material\Images_High Res\CH29\CH29\Krug3e_fig_29_08.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844414" y="1792451"/>
            <a:ext cx="7156586" cy="4760748"/>
          </a:xfrm>
          <a:prstGeom prst="rect">
            <a:avLst/>
          </a:prstGeom>
          <a:noFill/>
          <a:extLst>
            <a:ext uri="{909E8E84-426E-40DD-AFC4-6F175D3DCCD1}">
              <a14:hiddenFill xmlns:a14="http://schemas.microsoft.com/office/drawing/2010/main">
                <a:solidFill>
                  <a:srgbClr val="FFFFFF"/>
                </a:solidFill>
              </a14:hiddenFill>
            </a:ext>
          </a:extLst>
        </p:spPr>
      </p:pic>
      <p:sp>
        <p:nvSpPr>
          <p:cNvPr id="5" name="Oval 4"/>
          <p:cNvSpPr/>
          <p:nvPr/>
        </p:nvSpPr>
        <p:spPr>
          <a:xfrm>
            <a:off x="2362200" y="5562600"/>
            <a:ext cx="27432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Tree>
    <p:extLst>
      <p:ext uri="{BB962C8B-B14F-4D97-AF65-F5344CB8AC3E}">
        <p14:creationId xmlns:p14="http://schemas.microsoft.com/office/powerpoint/2010/main" val="134848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42" name="Rectangle 2"/>
          <p:cNvSpPr>
            <a:spLocks noGrp="1" noRot="1" noChangeArrowheads="1"/>
          </p:cNvSpPr>
          <p:nvPr>
            <p:ph type="title"/>
          </p:nvPr>
        </p:nvSpPr>
        <p:spPr/>
        <p:txBody>
          <a:bodyPr>
            <a:normAutofit/>
          </a:bodyPr>
          <a:lstStyle/>
          <a:p>
            <a:r>
              <a:rPr lang="en-US" spc="0" dirty="0"/>
              <a:t>OPEN-MARKET OPERATIONS</a:t>
            </a:r>
            <a:endParaRPr lang="en-US" b="0" spc="0" dirty="0"/>
          </a:p>
        </p:txBody>
      </p:sp>
      <p:sp>
        <p:nvSpPr>
          <p:cNvPr id="471043" name="Rectangle 3"/>
          <p:cNvSpPr>
            <a:spLocks noChangeArrowheads="1"/>
          </p:cNvSpPr>
          <p:nvPr/>
        </p:nvSpPr>
        <p:spPr bwMode="auto">
          <a:xfrm>
            <a:off x="0" y="914400"/>
            <a:ext cx="9067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588" indent="-1588"/>
            <a:r>
              <a:rPr lang="en-US" sz="2800" b="1" dirty="0">
                <a:solidFill>
                  <a:srgbClr val="0070C0"/>
                </a:solidFill>
                <a:latin typeface="Century Gothic"/>
                <a:cs typeface="Century Gothic"/>
              </a:rPr>
              <a:t>An open-market sale of $100 million: bank reserves decline</a:t>
            </a:r>
          </a:p>
        </p:txBody>
      </p:sp>
      <p:pic>
        <p:nvPicPr>
          <p:cNvPr id="7" name="Picture 2" descr="C:\Users\solina\Dropbox\Krugman 3e Dynamic PPTs\Krugman 3e material\Images_High Res\CH29\CH29\Krug3e_fig_29_08.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066800" y="1868507"/>
            <a:ext cx="6781800" cy="4710284"/>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p:cNvSpPr/>
          <p:nvPr/>
        </p:nvSpPr>
        <p:spPr>
          <a:xfrm>
            <a:off x="2514600" y="5562600"/>
            <a:ext cx="27432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entury Gothic"/>
              <a:cs typeface="Century Gothic"/>
            </a:endParaRPr>
          </a:p>
        </p:txBody>
      </p:sp>
    </p:spTree>
    <p:extLst>
      <p:ext uri="{BB962C8B-B14F-4D97-AF65-F5344CB8AC3E}">
        <p14:creationId xmlns:p14="http://schemas.microsoft.com/office/powerpoint/2010/main" val="3845884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SHOW ME THE MONEY</a:t>
            </a:r>
          </a:p>
        </p:txBody>
      </p:sp>
      <p:sp>
        <p:nvSpPr>
          <p:cNvPr id="3" name="Content Placeholder 2"/>
          <p:cNvSpPr>
            <a:spLocks noGrp="1"/>
          </p:cNvSpPr>
          <p:nvPr>
            <p:ph idx="1"/>
          </p:nvPr>
        </p:nvSpPr>
        <p:spPr/>
        <p:txBody>
          <a:bodyPr>
            <a:normAutofit fontScale="92500"/>
          </a:bodyPr>
          <a:lstStyle/>
          <a:p>
            <a:pPr>
              <a:spcBef>
                <a:spcPts val="0"/>
              </a:spcBef>
              <a:spcAft>
                <a:spcPts val="1200"/>
              </a:spcAft>
            </a:pPr>
            <a:r>
              <a:rPr lang="en-US" sz="3600" dirty="0">
                <a:solidFill>
                  <a:srgbClr val="0070C0"/>
                </a:solidFill>
              </a:rPr>
              <a:t>Q: </a:t>
            </a:r>
            <a:r>
              <a:rPr lang="en-US" sz="3600" dirty="0"/>
              <a:t>Where does the Fed gets the funds to purchase U.S. Treasury bills from banks? </a:t>
            </a:r>
          </a:p>
          <a:p>
            <a:pPr>
              <a:spcBef>
                <a:spcPts val="0"/>
              </a:spcBef>
              <a:spcAft>
                <a:spcPts val="1200"/>
              </a:spcAft>
            </a:pPr>
            <a:r>
              <a:rPr lang="en-US" sz="3600" dirty="0">
                <a:solidFill>
                  <a:srgbClr val="990033"/>
                </a:solidFill>
              </a:rPr>
              <a:t>A: </a:t>
            </a:r>
            <a:r>
              <a:rPr lang="en-US" sz="3600" dirty="0"/>
              <a:t>It simply creates them with a stroke of the pen (a click of the mouse) that credits the banks’ accounts with extra reserves. </a:t>
            </a:r>
          </a:p>
          <a:p>
            <a:pPr>
              <a:spcBef>
                <a:spcPts val="0"/>
              </a:spcBef>
              <a:spcAft>
                <a:spcPts val="1200"/>
              </a:spcAft>
            </a:pPr>
            <a:r>
              <a:rPr lang="en-US" sz="3600" dirty="0"/>
              <a:t>(The Fed does NOT need to print money.)</a:t>
            </a:r>
          </a:p>
        </p:txBody>
      </p:sp>
      <p:pic>
        <p:nvPicPr>
          <p:cNvPr id="5" name="Picture 2" descr="C:\Users\solina\Dropbox\Krugman 3e Dynamic PPTs\Krugman 3e material\Images_High Res\CH29\CH29\Krug3e_29UN03.jp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3276600" y="4648200"/>
            <a:ext cx="2383536" cy="164130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Multiply 5"/>
          <p:cNvSpPr/>
          <p:nvPr/>
        </p:nvSpPr>
        <p:spPr>
          <a:xfrm>
            <a:off x="2309179" y="3733800"/>
            <a:ext cx="4318377" cy="3459826"/>
          </a:xfrm>
          <a:prstGeom prst="mathMultiply">
            <a:avLst>
              <a:gd name="adj1" fmla="val 692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Tree>
    <p:extLst>
      <p:ext uri="{BB962C8B-B14F-4D97-AF65-F5344CB8AC3E}">
        <p14:creationId xmlns:p14="http://schemas.microsoft.com/office/powerpoint/2010/main" val="1427632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Title 1"/>
          <p:cNvSpPr>
            <a:spLocks noGrp="1"/>
          </p:cNvSpPr>
          <p:nvPr>
            <p:ph type="title"/>
          </p:nvPr>
        </p:nvSpPr>
        <p:spPr>
          <a:xfrm>
            <a:off x="0" y="0"/>
            <a:ext cx="9144000" cy="1295400"/>
          </a:xfrm>
        </p:spPr>
        <p:txBody>
          <a:bodyPr>
            <a:noAutofit/>
          </a:bodyPr>
          <a:lstStyle/>
          <a:p>
            <a:pPr eaLnBrk="1" hangingPunct="1">
              <a:defRPr/>
            </a:pPr>
            <a:r>
              <a:rPr lang="en-US" spc="0" dirty="0"/>
              <a:t>HOW OPEN-MARKET OPERATIONS WORK</a:t>
            </a:r>
          </a:p>
        </p:txBody>
      </p:sp>
      <p:sp>
        <p:nvSpPr>
          <p:cNvPr id="125955" name="Content Placeholder 2"/>
          <p:cNvSpPr>
            <a:spLocks noGrp="1"/>
          </p:cNvSpPr>
          <p:nvPr>
            <p:ph idx="1"/>
          </p:nvPr>
        </p:nvSpPr>
        <p:spPr>
          <a:xfrm>
            <a:off x="0" y="1245341"/>
            <a:ext cx="8839200" cy="4648200"/>
          </a:xfrm>
        </p:spPr>
        <p:txBody>
          <a:bodyPr/>
          <a:lstStyle/>
          <a:p>
            <a:pPr marL="515938" indent="-457200"/>
            <a:r>
              <a:rPr lang="en-US" dirty="0"/>
              <a:t>If the Fed wants to </a:t>
            </a:r>
            <a:r>
              <a:rPr lang="en-US" dirty="0">
                <a:solidFill>
                  <a:srgbClr val="0070C0"/>
                </a:solidFill>
              </a:rPr>
              <a:t>increase the money supply,</a:t>
            </a:r>
            <a:r>
              <a:rPr lang="en-US" dirty="0"/>
              <a:t> it will </a:t>
            </a:r>
            <a:r>
              <a:rPr lang="en-US" dirty="0">
                <a:solidFill>
                  <a:srgbClr val="FF0000"/>
                </a:solidFill>
              </a:rPr>
              <a:t>buy</a:t>
            </a:r>
            <a:r>
              <a:rPr lang="en-US" dirty="0"/>
              <a:t> T-bills:</a:t>
            </a:r>
          </a:p>
          <a:p>
            <a:pPr marL="973138" lvl="1" indent="-457200" eaLnBrk="1" hangingPunct="1"/>
            <a:endParaRPr lang="en-US" dirty="0"/>
          </a:p>
          <a:p>
            <a:pPr marL="973138" lvl="1" indent="-457200" eaLnBrk="1" hangingPunct="1"/>
            <a:endParaRPr lang="en-US" dirty="0"/>
          </a:p>
          <a:p>
            <a:pPr marL="973138" lvl="1" indent="-457200" eaLnBrk="1" hangingPunct="1"/>
            <a:endParaRPr lang="en-US" dirty="0"/>
          </a:p>
          <a:p>
            <a:pPr marL="515938" indent="-457200"/>
            <a:r>
              <a:rPr lang="en-US" dirty="0"/>
              <a:t>If the Fed wants to </a:t>
            </a:r>
            <a:r>
              <a:rPr lang="en-US" dirty="0">
                <a:solidFill>
                  <a:srgbClr val="0070C0"/>
                </a:solidFill>
              </a:rPr>
              <a:t>decrease the money supply,</a:t>
            </a:r>
            <a:r>
              <a:rPr lang="en-US" dirty="0"/>
              <a:t> it will </a:t>
            </a:r>
            <a:r>
              <a:rPr lang="en-US" dirty="0">
                <a:solidFill>
                  <a:srgbClr val="FF0000"/>
                </a:solidFill>
              </a:rPr>
              <a:t>sell </a:t>
            </a:r>
            <a:r>
              <a:rPr lang="en-US" dirty="0"/>
              <a:t>T-bills:</a:t>
            </a:r>
          </a:p>
          <a:p>
            <a:pPr marL="973138" lvl="1" indent="-457200" eaLnBrk="1" hangingPunct="1">
              <a:buFont typeface="Wingdings" pitchFamily="2" charset="2"/>
              <a:buNone/>
            </a:pPr>
            <a:r>
              <a:rPr lang="en-US" dirty="0"/>
              <a:t>	</a:t>
            </a:r>
          </a:p>
        </p:txBody>
      </p:sp>
      <p:sp>
        <p:nvSpPr>
          <p:cNvPr id="125956" name="TextBox 3"/>
          <p:cNvSpPr txBox="1">
            <a:spLocks noChangeArrowheads="1"/>
          </p:cNvSpPr>
          <p:nvPr/>
        </p:nvSpPr>
        <p:spPr bwMode="auto">
          <a:xfrm>
            <a:off x="1852612" y="5239491"/>
            <a:ext cx="1828800" cy="647700"/>
          </a:xfrm>
          <a:prstGeom prst="rect">
            <a:avLst/>
          </a:prstGeom>
          <a:solidFill>
            <a:srgbClr val="E0FFC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b="1" dirty="0">
                <a:solidFill>
                  <a:prstClr val="black"/>
                </a:solidFill>
                <a:latin typeface="Century Gothic" pitchFamily="34" charset="0"/>
                <a:cs typeface="Arial" pitchFamily="34" charset="0"/>
              </a:rPr>
              <a:t>↓reserves of the buyer</a:t>
            </a:r>
            <a:endParaRPr lang="en-US" b="1" dirty="0">
              <a:solidFill>
                <a:prstClr val="black"/>
              </a:solidFill>
              <a:latin typeface="Century Gothic" pitchFamily="34" charset="0"/>
            </a:endParaRPr>
          </a:p>
        </p:txBody>
      </p:sp>
      <p:sp>
        <p:nvSpPr>
          <p:cNvPr id="125957" name="TextBox 4"/>
          <p:cNvSpPr txBox="1">
            <a:spLocks noChangeArrowheads="1"/>
          </p:cNvSpPr>
          <p:nvPr/>
        </p:nvSpPr>
        <p:spPr bwMode="auto">
          <a:xfrm>
            <a:off x="3986212" y="5107729"/>
            <a:ext cx="1811338" cy="922337"/>
          </a:xfrm>
          <a:prstGeom prst="rect">
            <a:avLst/>
          </a:prstGeom>
          <a:solidFill>
            <a:srgbClr val="E0FFC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b="1" dirty="0">
                <a:solidFill>
                  <a:prstClr val="black"/>
                </a:solidFill>
                <a:latin typeface="Century Gothic" pitchFamily="34" charset="0"/>
              </a:rPr>
              <a:t>With fewer </a:t>
            </a:r>
          </a:p>
          <a:p>
            <a:pPr eaLnBrk="1" hangingPunct="1"/>
            <a:r>
              <a:rPr lang="en-US" b="1" dirty="0">
                <a:solidFill>
                  <a:prstClr val="black"/>
                </a:solidFill>
                <a:latin typeface="Century Gothic" pitchFamily="34" charset="0"/>
              </a:rPr>
              <a:t>reserves, bank</a:t>
            </a:r>
          </a:p>
          <a:p>
            <a:pPr eaLnBrk="1" hangingPunct="1"/>
            <a:r>
              <a:rPr lang="en-US" b="1" dirty="0">
                <a:solidFill>
                  <a:prstClr val="black"/>
                </a:solidFill>
                <a:latin typeface="Century Gothic" pitchFamily="34" charset="0"/>
              </a:rPr>
              <a:t>↓ loans</a:t>
            </a:r>
          </a:p>
        </p:txBody>
      </p:sp>
      <p:sp>
        <p:nvSpPr>
          <p:cNvPr id="125958" name="TextBox 5"/>
          <p:cNvSpPr txBox="1">
            <a:spLocks noChangeArrowheads="1"/>
          </p:cNvSpPr>
          <p:nvPr/>
        </p:nvSpPr>
        <p:spPr bwMode="auto">
          <a:xfrm>
            <a:off x="6348412" y="4826741"/>
            <a:ext cx="2185988" cy="1476375"/>
          </a:xfrm>
          <a:prstGeom prst="rect">
            <a:avLst/>
          </a:prstGeom>
          <a:solidFill>
            <a:srgbClr val="E0FFC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b="1" dirty="0">
                <a:solidFill>
                  <a:prstClr val="black"/>
                </a:solidFill>
                <a:latin typeface="Century Gothic" pitchFamily="34" charset="0"/>
              </a:rPr>
              <a:t>M</a:t>
            </a:r>
            <a:r>
              <a:rPr lang="en-US" b="1" dirty="0">
                <a:solidFill>
                  <a:prstClr val="black"/>
                </a:solidFill>
                <a:latin typeface="Century Gothic" pitchFamily="34" charset="0"/>
                <a:cs typeface="Arial" pitchFamily="34" charset="0"/>
              </a:rPr>
              <a:t>↓ as the</a:t>
            </a:r>
          </a:p>
          <a:p>
            <a:pPr eaLnBrk="1" hangingPunct="1"/>
            <a:r>
              <a:rPr lang="en-US" b="1" dirty="0">
                <a:solidFill>
                  <a:prstClr val="black"/>
                </a:solidFill>
                <a:latin typeface="Century Gothic" pitchFamily="34" charset="0"/>
                <a:cs typeface="Arial" pitchFamily="34" charset="0"/>
              </a:rPr>
              <a:t>money creation</a:t>
            </a:r>
          </a:p>
          <a:p>
            <a:pPr eaLnBrk="1" hangingPunct="1"/>
            <a:r>
              <a:rPr lang="en-US" b="1" dirty="0">
                <a:solidFill>
                  <a:prstClr val="black"/>
                </a:solidFill>
                <a:latin typeface="Century Gothic" pitchFamily="34" charset="0"/>
                <a:cs typeface="Arial" pitchFamily="34" charset="0"/>
              </a:rPr>
              <a:t>process ripples</a:t>
            </a:r>
          </a:p>
          <a:p>
            <a:pPr eaLnBrk="1" hangingPunct="1"/>
            <a:r>
              <a:rPr lang="en-US" b="1" dirty="0">
                <a:solidFill>
                  <a:prstClr val="black"/>
                </a:solidFill>
                <a:latin typeface="Century Gothic" pitchFamily="34" charset="0"/>
                <a:cs typeface="Arial" pitchFamily="34" charset="0"/>
              </a:rPr>
              <a:t>in </a:t>
            </a:r>
            <a:r>
              <a:rPr lang="en-US" b="1" i="1" dirty="0">
                <a:solidFill>
                  <a:prstClr val="black"/>
                </a:solidFill>
                <a:latin typeface="Century Gothic" pitchFamily="34" charset="0"/>
                <a:cs typeface="Arial" pitchFamily="34" charset="0"/>
              </a:rPr>
              <a:t>reverse</a:t>
            </a:r>
            <a:r>
              <a:rPr lang="en-US" b="1" dirty="0">
                <a:solidFill>
                  <a:prstClr val="black"/>
                </a:solidFill>
                <a:latin typeface="Century Gothic" pitchFamily="34" charset="0"/>
                <a:cs typeface="Arial" pitchFamily="34" charset="0"/>
              </a:rPr>
              <a:t> through</a:t>
            </a:r>
          </a:p>
          <a:p>
            <a:pPr eaLnBrk="1" hangingPunct="1"/>
            <a:r>
              <a:rPr lang="en-US" b="1" dirty="0">
                <a:solidFill>
                  <a:prstClr val="black"/>
                </a:solidFill>
                <a:latin typeface="Century Gothic" pitchFamily="34" charset="0"/>
                <a:cs typeface="Arial" pitchFamily="34" charset="0"/>
              </a:rPr>
              <a:t>the economy</a:t>
            </a:r>
            <a:endParaRPr lang="en-US" b="1" dirty="0">
              <a:solidFill>
                <a:prstClr val="black"/>
              </a:solidFill>
              <a:latin typeface="Century Gothic" pitchFamily="34" charset="0"/>
            </a:endParaRPr>
          </a:p>
        </p:txBody>
      </p:sp>
      <p:sp>
        <p:nvSpPr>
          <p:cNvPr id="125959" name="TextBox 6"/>
          <p:cNvSpPr txBox="1">
            <a:spLocks noChangeArrowheads="1"/>
          </p:cNvSpPr>
          <p:nvPr/>
        </p:nvSpPr>
        <p:spPr bwMode="auto">
          <a:xfrm>
            <a:off x="252412" y="5239491"/>
            <a:ext cx="1120775" cy="647700"/>
          </a:xfrm>
          <a:prstGeom prst="rect">
            <a:avLst/>
          </a:prstGeom>
          <a:solidFill>
            <a:srgbClr val="E0FFC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b="1" dirty="0">
                <a:solidFill>
                  <a:prstClr val="black"/>
                </a:solidFill>
                <a:latin typeface="Century Gothic" pitchFamily="34" charset="0"/>
              </a:rPr>
              <a:t>Fed sells</a:t>
            </a:r>
          </a:p>
          <a:p>
            <a:pPr eaLnBrk="1" hangingPunct="1"/>
            <a:r>
              <a:rPr lang="en-US" b="1" dirty="0">
                <a:solidFill>
                  <a:prstClr val="black"/>
                </a:solidFill>
                <a:latin typeface="Century Gothic" pitchFamily="34" charset="0"/>
              </a:rPr>
              <a:t>T-bills</a:t>
            </a:r>
          </a:p>
        </p:txBody>
      </p:sp>
      <p:cxnSp>
        <p:nvCxnSpPr>
          <p:cNvPr id="9" name="Straight Arrow Connector 8"/>
          <p:cNvCxnSpPr>
            <a:stCxn id="125959" idx="3"/>
            <a:endCxn id="125956" idx="1"/>
          </p:cNvCxnSpPr>
          <p:nvPr/>
        </p:nvCxnSpPr>
        <p:spPr>
          <a:xfrm>
            <a:off x="1373187" y="5563341"/>
            <a:ext cx="479425" cy="158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125956" idx="3"/>
            <a:endCxn id="125957" idx="1"/>
          </p:cNvCxnSpPr>
          <p:nvPr/>
        </p:nvCxnSpPr>
        <p:spPr>
          <a:xfrm>
            <a:off x="3681412" y="5563341"/>
            <a:ext cx="304800" cy="4763"/>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125957" idx="3"/>
            <a:endCxn id="125958" idx="1"/>
          </p:cNvCxnSpPr>
          <p:nvPr/>
        </p:nvCxnSpPr>
        <p:spPr>
          <a:xfrm flipV="1">
            <a:off x="5797550" y="5564929"/>
            <a:ext cx="550862" cy="317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25963" name="TextBox 22"/>
          <p:cNvSpPr txBox="1">
            <a:spLocks noChangeArrowheads="1"/>
          </p:cNvSpPr>
          <p:nvPr/>
        </p:nvSpPr>
        <p:spPr bwMode="auto">
          <a:xfrm>
            <a:off x="1760537" y="2534391"/>
            <a:ext cx="1919288" cy="12001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b="1" dirty="0">
                <a:solidFill>
                  <a:prstClr val="black"/>
                </a:solidFill>
                <a:latin typeface="Century Gothic" pitchFamily="34" charset="0"/>
              </a:rPr>
              <a:t>Fed </a:t>
            </a:r>
          </a:p>
          <a:p>
            <a:pPr eaLnBrk="1" hangingPunct="1"/>
            <a:r>
              <a:rPr lang="en-US" b="1" dirty="0">
                <a:solidFill>
                  <a:prstClr val="black"/>
                </a:solidFill>
                <a:latin typeface="Century Gothic" pitchFamily="34" charset="0"/>
              </a:rPr>
              <a:t>electronically</a:t>
            </a:r>
          </a:p>
          <a:p>
            <a:pPr eaLnBrk="1" hangingPunct="1"/>
            <a:r>
              <a:rPr lang="en-US" b="1" dirty="0">
                <a:solidFill>
                  <a:prstClr val="black"/>
                </a:solidFill>
                <a:latin typeface="Century Gothic" pitchFamily="34" charset="0"/>
                <a:cs typeface="Arial" pitchFamily="34" charset="0"/>
              </a:rPr>
              <a:t>↑reserves of the</a:t>
            </a:r>
          </a:p>
          <a:p>
            <a:pPr eaLnBrk="1" hangingPunct="1"/>
            <a:r>
              <a:rPr lang="en-US" b="1" dirty="0">
                <a:solidFill>
                  <a:prstClr val="black"/>
                </a:solidFill>
                <a:latin typeface="Century Gothic" pitchFamily="34" charset="0"/>
                <a:cs typeface="Arial" pitchFamily="34" charset="0"/>
              </a:rPr>
              <a:t>seller</a:t>
            </a:r>
            <a:endParaRPr lang="en-US" b="1" dirty="0">
              <a:solidFill>
                <a:prstClr val="black"/>
              </a:solidFill>
              <a:latin typeface="Century Gothic" pitchFamily="34" charset="0"/>
            </a:endParaRPr>
          </a:p>
        </p:txBody>
      </p:sp>
      <p:sp>
        <p:nvSpPr>
          <p:cNvPr id="125964" name="TextBox 23"/>
          <p:cNvSpPr txBox="1">
            <a:spLocks noChangeArrowheads="1"/>
          </p:cNvSpPr>
          <p:nvPr/>
        </p:nvSpPr>
        <p:spPr bwMode="auto">
          <a:xfrm>
            <a:off x="4046537" y="2666154"/>
            <a:ext cx="1811338" cy="92233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b="1" dirty="0">
                <a:solidFill>
                  <a:prstClr val="black"/>
                </a:solidFill>
                <a:latin typeface="Century Gothic" pitchFamily="34" charset="0"/>
              </a:rPr>
              <a:t>With more </a:t>
            </a:r>
          </a:p>
          <a:p>
            <a:pPr eaLnBrk="1" hangingPunct="1"/>
            <a:r>
              <a:rPr lang="en-US" b="1" dirty="0">
                <a:solidFill>
                  <a:prstClr val="black"/>
                </a:solidFill>
                <a:latin typeface="Century Gothic" pitchFamily="34" charset="0"/>
              </a:rPr>
              <a:t>reserves, bank</a:t>
            </a:r>
          </a:p>
          <a:p>
            <a:pPr eaLnBrk="1" hangingPunct="1"/>
            <a:r>
              <a:rPr lang="en-US" b="1" dirty="0">
                <a:solidFill>
                  <a:prstClr val="black"/>
                </a:solidFill>
                <a:latin typeface="Century Gothic" pitchFamily="34" charset="0"/>
              </a:rPr>
              <a:t>↑ loans</a:t>
            </a:r>
          </a:p>
        </p:txBody>
      </p:sp>
      <p:sp>
        <p:nvSpPr>
          <p:cNvPr id="125965" name="TextBox 24"/>
          <p:cNvSpPr txBox="1">
            <a:spLocks noChangeArrowheads="1"/>
          </p:cNvSpPr>
          <p:nvPr/>
        </p:nvSpPr>
        <p:spPr bwMode="auto">
          <a:xfrm>
            <a:off x="6332537" y="2388341"/>
            <a:ext cx="1973263" cy="14779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b="1" dirty="0">
                <a:solidFill>
                  <a:prstClr val="black"/>
                </a:solidFill>
                <a:latin typeface="Century Gothic" pitchFamily="34" charset="0"/>
              </a:rPr>
              <a:t>M</a:t>
            </a:r>
            <a:r>
              <a:rPr lang="en-US" b="1" dirty="0">
                <a:solidFill>
                  <a:prstClr val="black"/>
                </a:solidFill>
                <a:latin typeface="Century Gothic" pitchFamily="34" charset="0"/>
                <a:cs typeface="Arial" pitchFamily="34" charset="0"/>
              </a:rPr>
              <a:t>↑ as the</a:t>
            </a:r>
          </a:p>
          <a:p>
            <a:pPr eaLnBrk="1" hangingPunct="1"/>
            <a:r>
              <a:rPr lang="en-US" b="1" dirty="0">
                <a:solidFill>
                  <a:prstClr val="black"/>
                </a:solidFill>
                <a:latin typeface="Century Gothic" pitchFamily="34" charset="0"/>
                <a:cs typeface="Arial" pitchFamily="34" charset="0"/>
              </a:rPr>
              <a:t>money creation</a:t>
            </a:r>
          </a:p>
          <a:p>
            <a:pPr eaLnBrk="1" hangingPunct="1"/>
            <a:r>
              <a:rPr lang="en-US" b="1" dirty="0">
                <a:solidFill>
                  <a:prstClr val="black"/>
                </a:solidFill>
                <a:latin typeface="Century Gothic" pitchFamily="34" charset="0"/>
                <a:cs typeface="Arial" pitchFamily="34" charset="0"/>
              </a:rPr>
              <a:t>process ripples</a:t>
            </a:r>
          </a:p>
          <a:p>
            <a:pPr eaLnBrk="1" hangingPunct="1"/>
            <a:r>
              <a:rPr lang="en-US" b="1" dirty="0">
                <a:solidFill>
                  <a:prstClr val="black"/>
                </a:solidFill>
                <a:latin typeface="Century Gothic" pitchFamily="34" charset="0"/>
                <a:cs typeface="Arial" pitchFamily="34" charset="0"/>
              </a:rPr>
              <a:t>through the </a:t>
            </a:r>
          </a:p>
          <a:p>
            <a:pPr eaLnBrk="1" hangingPunct="1"/>
            <a:r>
              <a:rPr lang="en-US" b="1" dirty="0">
                <a:solidFill>
                  <a:prstClr val="black"/>
                </a:solidFill>
                <a:latin typeface="Century Gothic" pitchFamily="34" charset="0"/>
                <a:cs typeface="Arial" pitchFamily="34" charset="0"/>
              </a:rPr>
              <a:t>economy</a:t>
            </a:r>
            <a:endParaRPr lang="en-US" b="1" dirty="0">
              <a:solidFill>
                <a:prstClr val="black"/>
              </a:solidFill>
              <a:latin typeface="Century Gothic" pitchFamily="34" charset="0"/>
            </a:endParaRPr>
          </a:p>
        </p:txBody>
      </p:sp>
      <p:sp>
        <p:nvSpPr>
          <p:cNvPr id="125966" name="TextBox 25"/>
          <p:cNvSpPr txBox="1">
            <a:spLocks noChangeArrowheads="1"/>
          </p:cNvSpPr>
          <p:nvPr/>
        </p:nvSpPr>
        <p:spPr bwMode="auto">
          <a:xfrm>
            <a:off x="160337" y="2809029"/>
            <a:ext cx="1290638" cy="646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b="1" dirty="0">
                <a:solidFill>
                  <a:prstClr val="black"/>
                </a:solidFill>
                <a:latin typeface="Century Gothic" pitchFamily="34" charset="0"/>
              </a:rPr>
              <a:t>To pay for</a:t>
            </a:r>
          </a:p>
          <a:p>
            <a:pPr eaLnBrk="1" hangingPunct="1"/>
            <a:r>
              <a:rPr lang="en-US" b="1" dirty="0">
                <a:solidFill>
                  <a:prstClr val="black"/>
                </a:solidFill>
                <a:latin typeface="Century Gothic" pitchFamily="34" charset="0"/>
              </a:rPr>
              <a:t>the T-bills</a:t>
            </a:r>
          </a:p>
        </p:txBody>
      </p:sp>
      <p:cxnSp>
        <p:nvCxnSpPr>
          <p:cNvPr id="27" name="Straight Arrow Connector 26"/>
          <p:cNvCxnSpPr>
            <a:stCxn id="125966" idx="3"/>
            <a:endCxn id="125963" idx="1"/>
          </p:cNvCxnSpPr>
          <p:nvPr/>
        </p:nvCxnSpPr>
        <p:spPr>
          <a:xfrm>
            <a:off x="1450975" y="3132879"/>
            <a:ext cx="309562" cy="158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endCxn id="125964" idx="1"/>
          </p:cNvCxnSpPr>
          <p:nvPr/>
        </p:nvCxnSpPr>
        <p:spPr>
          <a:xfrm flipV="1">
            <a:off x="3741737" y="3126529"/>
            <a:ext cx="304800" cy="1428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25964" idx="3"/>
            <a:endCxn id="125965" idx="1"/>
          </p:cNvCxnSpPr>
          <p:nvPr/>
        </p:nvCxnSpPr>
        <p:spPr>
          <a:xfrm>
            <a:off x="5857875" y="3126529"/>
            <a:ext cx="474662" cy="1587"/>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01617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fade">
                                      <p:cBhvr>
                                        <p:cTn id="7" dur="1000"/>
                                        <p:tgtEl>
                                          <p:spTgt spid="1259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5966"/>
                                        </p:tgtEl>
                                        <p:attrNameLst>
                                          <p:attrName>style.visibility</p:attrName>
                                        </p:attrNameLst>
                                      </p:cBhvr>
                                      <p:to>
                                        <p:strVal val="visible"/>
                                      </p:to>
                                    </p:set>
                                    <p:animEffect transition="in" filter="fade">
                                      <p:cBhvr>
                                        <p:cTn id="12" dur="1000"/>
                                        <p:tgtEl>
                                          <p:spTgt spid="125966"/>
                                        </p:tgtEl>
                                      </p:cBhvr>
                                    </p:animEffect>
                                  </p:childTnLst>
                                </p:cTn>
                              </p:par>
                            </p:childTnLst>
                          </p:cTn>
                        </p:par>
                        <p:par>
                          <p:cTn id="13" fill="hold" nodeType="afterGroup">
                            <p:stCondLst>
                              <p:cond delay="1000"/>
                            </p:stCondLst>
                            <p:childTnLst>
                              <p:par>
                                <p:cTn id="14" presetID="10" presetClass="entr" presetSubtype="0" fill="hold"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1000"/>
                                        <p:tgtEl>
                                          <p:spTgt spid="27"/>
                                        </p:tgtEl>
                                      </p:cBhvr>
                                    </p:animEffect>
                                  </p:childTnLst>
                                </p:cTn>
                              </p:par>
                            </p:childTnLst>
                          </p:cTn>
                        </p:par>
                        <p:par>
                          <p:cTn id="17" fill="hold" nodeType="afterGroup">
                            <p:stCondLst>
                              <p:cond delay="2000"/>
                            </p:stCondLst>
                            <p:childTnLst>
                              <p:par>
                                <p:cTn id="18" presetID="10" presetClass="entr" presetSubtype="0" fill="hold" grpId="0" nodeType="afterEffect">
                                  <p:stCondLst>
                                    <p:cond delay="0"/>
                                  </p:stCondLst>
                                  <p:childTnLst>
                                    <p:set>
                                      <p:cBhvr>
                                        <p:cTn id="19" dur="1" fill="hold">
                                          <p:stCondLst>
                                            <p:cond delay="0"/>
                                          </p:stCondLst>
                                        </p:cTn>
                                        <p:tgtEl>
                                          <p:spTgt spid="125963"/>
                                        </p:tgtEl>
                                        <p:attrNameLst>
                                          <p:attrName>style.visibility</p:attrName>
                                        </p:attrNameLst>
                                      </p:cBhvr>
                                      <p:to>
                                        <p:strVal val="visible"/>
                                      </p:to>
                                    </p:set>
                                    <p:animEffect transition="in" filter="fade">
                                      <p:cBhvr>
                                        <p:cTn id="20" dur="1000"/>
                                        <p:tgtEl>
                                          <p:spTgt spid="125963"/>
                                        </p:tgtEl>
                                      </p:cBhvr>
                                    </p:animEffect>
                                  </p:childTnLst>
                                </p:cTn>
                              </p:par>
                            </p:childTnLst>
                          </p:cTn>
                        </p:par>
                        <p:par>
                          <p:cTn id="21" fill="hold" nodeType="afterGroup">
                            <p:stCondLst>
                              <p:cond delay="3000"/>
                            </p:stCondLst>
                            <p:childTnLst>
                              <p:par>
                                <p:cTn id="22" presetID="10" presetClass="entr" presetSubtype="0" fill="hold" nodeType="after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1000"/>
                                        <p:tgtEl>
                                          <p:spTgt spid="28"/>
                                        </p:tgtEl>
                                      </p:cBhvr>
                                    </p:animEffect>
                                  </p:childTnLst>
                                </p:cTn>
                              </p:par>
                            </p:childTnLst>
                          </p:cTn>
                        </p:par>
                        <p:par>
                          <p:cTn id="25" fill="hold" nodeType="afterGroup">
                            <p:stCondLst>
                              <p:cond delay="4000"/>
                            </p:stCondLst>
                            <p:childTnLst>
                              <p:par>
                                <p:cTn id="26" presetID="10" presetClass="entr" presetSubtype="0" fill="hold" grpId="0" nodeType="afterEffect">
                                  <p:stCondLst>
                                    <p:cond delay="0"/>
                                  </p:stCondLst>
                                  <p:childTnLst>
                                    <p:set>
                                      <p:cBhvr>
                                        <p:cTn id="27" dur="1" fill="hold">
                                          <p:stCondLst>
                                            <p:cond delay="0"/>
                                          </p:stCondLst>
                                        </p:cTn>
                                        <p:tgtEl>
                                          <p:spTgt spid="125964"/>
                                        </p:tgtEl>
                                        <p:attrNameLst>
                                          <p:attrName>style.visibility</p:attrName>
                                        </p:attrNameLst>
                                      </p:cBhvr>
                                      <p:to>
                                        <p:strVal val="visible"/>
                                      </p:to>
                                    </p:set>
                                    <p:animEffect transition="in" filter="fade">
                                      <p:cBhvr>
                                        <p:cTn id="28" dur="1000"/>
                                        <p:tgtEl>
                                          <p:spTgt spid="125964"/>
                                        </p:tgtEl>
                                      </p:cBhvr>
                                    </p:animEffect>
                                  </p:childTnLst>
                                </p:cTn>
                              </p:par>
                            </p:childTnLst>
                          </p:cTn>
                        </p:par>
                        <p:par>
                          <p:cTn id="29" fill="hold" nodeType="afterGroup">
                            <p:stCondLst>
                              <p:cond delay="5000"/>
                            </p:stCondLst>
                            <p:childTnLst>
                              <p:par>
                                <p:cTn id="30" presetID="10" presetClass="entr" presetSubtype="0" fill="hold" nodeType="after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1000"/>
                                        <p:tgtEl>
                                          <p:spTgt spid="29"/>
                                        </p:tgtEl>
                                      </p:cBhvr>
                                    </p:animEffect>
                                  </p:childTnLst>
                                </p:cTn>
                              </p:par>
                            </p:childTnLst>
                          </p:cTn>
                        </p:par>
                        <p:par>
                          <p:cTn id="33" fill="hold" nodeType="afterGroup">
                            <p:stCondLst>
                              <p:cond delay="6000"/>
                            </p:stCondLst>
                            <p:childTnLst>
                              <p:par>
                                <p:cTn id="34" presetID="10" presetClass="entr" presetSubtype="0" fill="hold" grpId="0" nodeType="afterEffect">
                                  <p:stCondLst>
                                    <p:cond delay="0"/>
                                  </p:stCondLst>
                                  <p:childTnLst>
                                    <p:set>
                                      <p:cBhvr>
                                        <p:cTn id="35" dur="1" fill="hold">
                                          <p:stCondLst>
                                            <p:cond delay="0"/>
                                          </p:stCondLst>
                                        </p:cTn>
                                        <p:tgtEl>
                                          <p:spTgt spid="125965"/>
                                        </p:tgtEl>
                                        <p:attrNameLst>
                                          <p:attrName>style.visibility</p:attrName>
                                        </p:attrNameLst>
                                      </p:cBhvr>
                                      <p:to>
                                        <p:strVal val="visible"/>
                                      </p:to>
                                    </p:set>
                                    <p:animEffect transition="in" filter="fade">
                                      <p:cBhvr>
                                        <p:cTn id="36" dur="1000"/>
                                        <p:tgtEl>
                                          <p:spTgt spid="12596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125955">
                                            <p:txEl>
                                              <p:pRg st="4" end="4"/>
                                            </p:txEl>
                                          </p:spTgt>
                                        </p:tgtEl>
                                        <p:attrNameLst>
                                          <p:attrName>style.visibility</p:attrName>
                                        </p:attrNameLst>
                                      </p:cBhvr>
                                      <p:to>
                                        <p:strVal val="visible"/>
                                      </p:to>
                                    </p:set>
                                    <p:animEffect transition="in" filter="fade">
                                      <p:cBhvr>
                                        <p:cTn id="41" dur="1000"/>
                                        <p:tgtEl>
                                          <p:spTgt spid="125955">
                                            <p:txEl>
                                              <p:pRg st="4" end="4"/>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5959"/>
                                        </p:tgtEl>
                                        <p:attrNameLst>
                                          <p:attrName>style.visibility</p:attrName>
                                        </p:attrNameLst>
                                      </p:cBhvr>
                                      <p:to>
                                        <p:strVal val="visible"/>
                                      </p:to>
                                    </p:set>
                                    <p:animEffect transition="in" filter="fade">
                                      <p:cBhvr>
                                        <p:cTn id="46" dur="1000"/>
                                        <p:tgtEl>
                                          <p:spTgt spid="125959"/>
                                        </p:tgtEl>
                                      </p:cBhvr>
                                    </p:animEffect>
                                  </p:childTnLst>
                                </p:cTn>
                              </p:par>
                            </p:childTnLst>
                          </p:cTn>
                        </p:par>
                        <p:par>
                          <p:cTn id="47" fill="hold" nodeType="afterGroup">
                            <p:stCondLst>
                              <p:cond delay="1000"/>
                            </p:stCondLst>
                            <p:childTnLst>
                              <p:par>
                                <p:cTn id="48" presetID="10" presetClass="entr" presetSubtype="0" fill="hold"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1000"/>
                                        <p:tgtEl>
                                          <p:spTgt spid="9"/>
                                        </p:tgtEl>
                                      </p:cBhvr>
                                    </p:animEffect>
                                  </p:childTnLst>
                                </p:cTn>
                              </p:par>
                            </p:childTnLst>
                          </p:cTn>
                        </p:par>
                        <p:par>
                          <p:cTn id="51" fill="hold" nodeType="afterGroup">
                            <p:stCondLst>
                              <p:cond delay="2000"/>
                            </p:stCondLst>
                            <p:childTnLst>
                              <p:par>
                                <p:cTn id="52" presetID="10" presetClass="entr" presetSubtype="0" fill="hold" grpId="0" nodeType="afterEffect">
                                  <p:stCondLst>
                                    <p:cond delay="0"/>
                                  </p:stCondLst>
                                  <p:childTnLst>
                                    <p:set>
                                      <p:cBhvr>
                                        <p:cTn id="53" dur="1" fill="hold">
                                          <p:stCondLst>
                                            <p:cond delay="0"/>
                                          </p:stCondLst>
                                        </p:cTn>
                                        <p:tgtEl>
                                          <p:spTgt spid="125956"/>
                                        </p:tgtEl>
                                        <p:attrNameLst>
                                          <p:attrName>style.visibility</p:attrName>
                                        </p:attrNameLst>
                                      </p:cBhvr>
                                      <p:to>
                                        <p:strVal val="visible"/>
                                      </p:to>
                                    </p:set>
                                    <p:animEffect transition="in" filter="fade">
                                      <p:cBhvr>
                                        <p:cTn id="54" dur="1000"/>
                                        <p:tgtEl>
                                          <p:spTgt spid="125956"/>
                                        </p:tgtEl>
                                      </p:cBhvr>
                                    </p:animEffect>
                                  </p:childTnLst>
                                </p:cTn>
                              </p:par>
                            </p:childTnLst>
                          </p:cTn>
                        </p:par>
                        <p:par>
                          <p:cTn id="55" fill="hold" nodeType="afterGroup">
                            <p:stCondLst>
                              <p:cond delay="3000"/>
                            </p:stCondLst>
                            <p:childTnLst>
                              <p:par>
                                <p:cTn id="56" presetID="10" presetClass="entr" presetSubtype="0" fill="hold"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1000"/>
                                        <p:tgtEl>
                                          <p:spTgt spid="16"/>
                                        </p:tgtEl>
                                      </p:cBhvr>
                                    </p:animEffect>
                                  </p:childTnLst>
                                </p:cTn>
                              </p:par>
                            </p:childTnLst>
                          </p:cTn>
                        </p:par>
                        <p:par>
                          <p:cTn id="59" fill="hold" nodeType="afterGroup">
                            <p:stCondLst>
                              <p:cond delay="4000"/>
                            </p:stCondLst>
                            <p:childTnLst>
                              <p:par>
                                <p:cTn id="60" presetID="10" presetClass="entr" presetSubtype="0" fill="hold" grpId="0" nodeType="afterEffect">
                                  <p:stCondLst>
                                    <p:cond delay="0"/>
                                  </p:stCondLst>
                                  <p:childTnLst>
                                    <p:set>
                                      <p:cBhvr>
                                        <p:cTn id="61" dur="1" fill="hold">
                                          <p:stCondLst>
                                            <p:cond delay="0"/>
                                          </p:stCondLst>
                                        </p:cTn>
                                        <p:tgtEl>
                                          <p:spTgt spid="125957"/>
                                        </p:tgtEl>
                                        <p:attrNameLst>
                                          <p:attrName>style.visibility</p:attrName>
                                        </p:attrNameLst>
                                      </p:cBhvr>
                                      <p:to>
                                        <p:strVal val="visible"/>
                                      </p:to>
                                    </p:set>
                                    <p:animEffect transition="in" filter="fade">
                                      <p:cBhvr>
                                        <p:cTn id="62" dur="1000"/>
                                        <p:tgtEl>
                                          <p:spTgt spid="125957"/>
                                        </p:tgtEl>
                                      </p:cBhvr>
                                    </p:animEffect>
                                  </p:childTnLst>
                                </p:cTn>
                              </p:par>
                            </p:childTnLst>
                          </p:cTn>
                        </p:par>
                        <p:par>
                          <p:cTn id="63" fill="hold" nodeType="afterGroup">
                            <p:stCondLst>
                              <p:cond delay="5000"/>
                            </p:stCondLst>
                            <p:childTnLst>
                              <p:par>
                                <p:cTn id="64" presetID="10" presetClass="entr" presetSubtype="0" fill="hold"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1000"/>
                                        <p:tgtEl>
                                          <p:spTgt spid="18"/>
                                        </p:tgtEl>
                                      </p:cBhvr>
                                    </p:animEffect>
                                  </p:childTnLst>
                                </p:cTn>
                              </p:par>
                            </p:childTnLst>
                          </p:cTn>
                        </p:par>
                        <p:par>
                          <p:cTn id="67" fill="hold" nodeType="afterGroup">
                            <p:stCondLst>
                              <p:cond delay="6000"/>
                            </p:stCondLst>
                            <p:childTnLst>
                              <p:par>
                                <p:cTn id="68" presetID="10" presetClass="entr" presetSubtype="0" fill="hold" grpId="0" nodeType="afterEffect">
                                  <p:stCondLst>
                                    <p:cond delay="0"/>
                                  </p:stCondLst>
                                  <p:childTnLst>
                                    <p:set>
                                      <p:cBhvr>
                                        <p:cTn id="69" dur="1" fill="hold">
                                          <p:stCondLst>
                                            <p:cond delay="0"/>
                                          </p:stCondLst>
                                        </p:cTn>
                                        <p:tgtEl>
                                          <p:spTgt spid="125958"/>
                                        </p:tgtEl>
                                        <p:attrNameLst>
                                          <p:attrName>style.visibility</p:attrName>
                                        </p:attrNameLst>
                                      </p:cBhvr>
                                      <p:to>
                                        <p:strVal val="visible"/>
                                      </p:to>
                                    </p:set>
                                    <p:animEffect transition="in" filter="fade">
                                      <p:cBhvr>
                                        <p:cTn id="70" dur="1000"/>
                                        <p:tgtEl>
                                          <p:spTgt spid="1259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6" grpId="0" animBg="1"/>
      <p:bldP spid="125957" grpId="0" animBg="1"/>
      <p:bldP spid="125958" grpId="0" animBg="1"/>
      <p:bldP spid="125959" grpId="0" animBg="1"/>
      <p:bldP spid="125963" grpId="0" animBg="1"/>
      <p:bldP spid="125964" grpId="0" animBg="1"/>
      <p:bldP spid="125965" grpId="0" animBg="1"/>
      <p:bldP spid="12596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743200"/>
            <a:ext cx="9144000" cy="3733800"/>
          </a:xfrm>
        </p:spPr>
        <p:txBody>
          <a:bodyPr>
            <a:normAutofit fontScale="92500" lnSpcReduction="10000"/>
          </a:bodyPr>
          <a:lstStyle/>
          <a:p>
            <a:r>
              <a:rPr lang="en-US" sz="2800" dirty="0"/>
              <a:t>Suppose this is the only bank and all money is held in this bank. There are no excess reserves. If the Fed makes an open-market sale of $50 worth of T-bills to this bank, what will happen to the money supply after all adjustments are made?</a:t>
            </a:r>
          </a:p>
          <a:p>
            <a:pPr marL="514350" indent="-514350">
              <a:buFont typeface="+mj-lt"/>
              <a:buAutoNum type="alphaLcParenR"/>
            </a:pPr>
            <a:r>
              <a:rPr lang="en-US" sz="2800" dirty="0"/>
              <a:t>The money supply will increase by $50.</a:t>
            </a:r>
          </a:p>
          <a:p>
            <a:pPr marL="514350" indent="-514350">
              <a:buFont typeface="+mj-lt"/>
              <a:buAutoNum type="alphaLcParenR"/>
            </a:pPr>
            <a:r>
              <a:rPr lang="en-US" sz="2800" dirty="0"/>
              <a:t>The money supply will decrease by $50.</a:t>
            </a:r>
          </a:p>
          <a:p>
            <a:pPr marL="514350" indent="-514350">
              <a:buFont typeface="+mj-lt"/>
              <a:buAutoNum type="alphaLcParenR"/>
            </a:pPr>
            <a:r>
              <a:rPr lang="en-US" sz="2800" dirty="0"/>
              <a:t>The money supply will increase by $500.</a:t>
            </a:r>
          </a:p>
          <a:p>
            <a:pPr marL="514350" indent="-514350">
              <a:buFont typeface="+mj-lt"/>
              <a:buAutoNum type="alphaLcParenR"/>
            </a:pPr>
            <a:r>
              <a:rPr lang="en-US" sz="2800" dirty="0"/>
              <a:t>The money supply will decrease by $500.</a:t>
            </a:r>
          </a:p>
        </p:txBody>
      </p:sp>
      <p:pic>
        <p:nvPicPr>
          <p:cNvPr id="58370"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828800" y="950534"/>
            <a:ext cx="4724400" cy="1868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7998" y="6273798"/>
            <a:ext cx="1154107" cy="400110"/>
          </a:xfrm>
          <a:prstGeom prst="rect">
            <a:avLst/>
          </a:prstGeom>
        </p:spPr>
        <p:txBody>
          <a:bodyPr wrap="none">
            <a:spAutoFit/>
          </a:bodyPr>
          <a:lstStyle/>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a:defRPr/>
            </a:pPr>
            <a:r>
              <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1000" b="1" spc="60" dirty="0">
              <a:ln w="9000" cmpd="sng">
                <a:noFill/>
                <a:prstDash val="solid"/>
              </a:ln>
              <a:solidFill>
                <a:srgbClr val="F79646">
                  <a:lumMod val="75000"/>
                </a:srgb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00394433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506D492-9D0F-C045-B386-075206AA58C9}"/>
              </a:ext>
            </a:extLst>
          </p:cNvPr>
          <p:cNvSpPr txBox="1"/>
          <p:nvPr/>
        </p:nvSpPr>
        <p:spPr>
          <a:xfrm>
            <a:off x="1066800" y="1371600"/>
            <a:ext cx="7696200" cy="3785652"/>
          </a:xfrm>
          <a:prstGeom prst="rect">
            <a:avLst/>
          </a:prstGeom>
          <a:noFill/>
        </p:spPr>
        <p:txBody>
          <a:bodyPr wrap="square" rtlCol="0">
            <a:spAutoFit/>
          </a:bodyPr>
          <a:lstStyle/>
          <a:p>
            <a:pPr marL="512762" indent="-342900"/>
            <a:r>
              <a:rPr lang="en-US" sz="4800" i="1" dirty="0"/>
              <a:t>   How the Federal Reserve implements monetary policy, moving the interest rate to affect aggregate output?</a:t>
            </a:r>
          </a:p>
        </p:txBody>
      </p:sp>
    </p:spTree>
    <p:extLst>
      <p:ext uri="{BB962C8B-B14F-4D97-AF65-F5344CB8AC3E}">
        <p14:creationId xmlns:p14="http://schemas.microsoft.com/office/powerpoint/2010/main" val="1916127271"/>
      </p:ext>
    </p:extLst>
  </p:cSld>
  <p:clrMapOvr>
    <a:masterClrMapping/>
  </p:clrMapOvr>
  <p:transition>
    <p:fade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Rot="1" noChangeArrowheads="1"/>
          </p:cNvSpPr>
          <p:nvPr>
            <p:ph type="title"/>
          </p:nvPr>
        </p:nvSpPr>
        <p:spPr/>
        <p:txBody>
          <a:bodyPr/>
          <a:lstStyle/>
          <a:p>
            <a:r>
              <a:rPr lang="en-US" spc="0" dirty="0"/>
              <a:t>THE DEMAND FOR MONEY</a:t>
            </a:r>
          </a:p>
        </p:txBody>
      </p:sp>
      <p:sp>
        <p:nvSpPr>
          <p:cNvPr id="623619" name="Rectangle 3"/>
          <p:cNvSpPr>
            <a:spLocks noGrp="1" noChangeArrowheads="1"/>
          </p:cNvSpPr>
          <p:nvPr>
            <p:ph idx="1"/>
          </p:nvPr>
        </p:nvSpPr>
        <p:spPr>
          <a:xfrm>
            <a:off x="3733800" y="990600"/>
            <a:ext cx="5334000" cy="5105400"/>
          </a:xfrm>
        </p:spPr>
        <p:txBody>
          <a:bodyPr>
            <a:normAutofit lnSpcReduction="10000"/>
          </a:bodyPr>
          <a:lstStyle/>
          <a:p>
            <a:pPr>
              <a:buFont typeface="Wingdings" pitchFamily="2" charset="2"/>
              <a:buNone/>
            </a:pPr>
            <a:r>
              <a:rPr lang="en-US" b="1" dirty="0">
                <a:solidFill>
                  <a:srgbClr val="0070C0"/>
                </a:solidFill>
              </a:rPr>
              <a:t>The Opportunity Cost of Holding Money</a:t>
            </a:r>
          </a:p>
          <a:p>
            <a:r>
              <a:rPr lang="en-US" dirty="0"/>
              <a:t>We all carry some cash around for the convenience.  </a:t>
            </a:r>
          </a:p>
          <a:p>
            <a:r>
              <a:rPr lang="en-US" dirty="0"/>
              <a:t>When we do, we give up interest income we’d collect if that spending power were in an interest-bearing asset like a bond. </a:t>
            </a:r>
          </a:p>
        </p:txBody>
      </p:sp>
      <p:pic>
        <p:nvPicPr>
          <p:cNvPr id="4" name="Picture 2" descr="C:\Users\solina\Dropbox\Krugman 3e Dynamic PPTs\Krugman 3e material\Images_High Res\CH30\CH30\Krug3e_30UN02.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0" y="914400"/>
            <a:ext cx="3601043" cy="285293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6200" y="3957697"/>
            <a:ext cx="3601043" cy="181588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prstClr val="black">
                    <a:lumMod val="65000"/>
                    <a:lumOff val="35000"/>
                  </a:prstClr>
                </a:solidFill>
                <a:effectLst/>
                <a:uLnTx/>
                <a:uFillTx/>
                <a:latin typeface="Century Gothic"/>
                <a:ea typeface="+mn-ea"/>
                <a:cs typeface="Century Gothic"/>
              </a:rPr>
              <a:t>There is a price to be paid for the convenience of holding money.</a:t>
            </a:r>
          </a:p>
        </p:txBody>
      </p:sp>
    </p:spTree>
    <p:extLst>
      <p:ext uri="{BB962C8B-B14F-4D97-AF65-F5344CB8AC3E}">
        <p14:creationId xmlns:p14="http://schemas.microsoft.com/office/powerpoint/2010/main" val="3923409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Autofit/>
          </a:bodyPr>
          <a:lstStyle/>
          <a:p>
            <a:r>
              <a:rPr lang="en-US" sz="3600" spc="0" dirty="0"/>
              <a:t>INTEREST RATES AND THE OPPORTUNITY COST OF HOLDING MONEY</a:t>
            </a:r>
          </a:p>
        </p:txBody>
      </p:sp>
      <p:sp>
        <p:nvSpPr>
          <p:cNvPr id="3" name="Content Placeholder 2"/>
          <p:cNvSpPr>
            <a:spLocks noGrp="1"/>
          </p:cNvSpPr>
          <p:nvPr>
            <p:ph idx="1"/>
          </p:nvPr>
        </p:nvSpPr>
        <p:spPr>
          <a:xfrm>
            <a:off x="228600" y="1219200"/>
            <a:ext cx="8839200" cy="4419600"/>
          </a:xfrm>
        </p:spPr>
        <p:txBody>
          <a:bodyPr>
            <a:normAutofit/>
          </a:bodyPr>
          <a:lstStyle/>
          <a:p>
            <a:r>
              <a:rPr lang="en-US" dirty="0"/>
              <a:t>Individuals and firms trade off the benefit of holding cash versus the benefit of holding interest-bearing nonmonetary assets. </a:t>
            </a:r>
          </a:p>
        </p:txBody>
      </p:sp>
      <p:sp>
        <p:nvSpPr>
          <p:cNvPr id="6" name="TextBox 5"/>
          <p:cNvSpPr txBox="1"/>
          <p:nvPr/>
        </p:nvSpPr>
        <p:spPr>
          <a:xfrm>
            <a:off x="0" y="2905780"/>
            <a:ext cx="914400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70C0"/>
                </a:solidFill>
                <a:effectLst/>
                <a:uLnTx/>
                <a:uFillTx/>
                <a:latin typeface="Century Gothic"/>
                <a:ea typeface="+mn-ea"/>
                <a:cs typeface="Century Gothic"/>
              </a:rPr>
              <a:t>Selected interest rates, 2007 (before the financial crisis)</a:t>
            </a:r>
          </a:p>
        </p:txBody>
      </p:sp>
      <p:sp>
        <p:nvSpPr>
          <p:cNvPr id="8" name="TextBox 7"/>
          <p:cNvSpPr txBox="1"/>
          <p:nvPr/>
        </p:nvSpPr>
        <p:spPr>
          <a:xfrm>
            <a:off x="386536" y="5715000"/>
            <a:ext cx="2936521"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Century Gothic"/>
                <a:ea typeface="+mn-ea"/>
                <a:cs typeface="Century Gothic"/>
              </a:rPr>
              <a:t>Source: Federal Reserve Bank of St. Louis</a:t>
            </a:r>
          </a:p>
        </p:txBody>
      </p:sp>
      <p:pic>
        <p:nvPicPr>
          <p:cNvPr id="9" name="Picture 8" descr="Screen Shot 2015-04-09 at 19.43.5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79332"/>
            <a:ext cx="9144000" cy="2035668"/>
          </a:xfrm>
          <a:prstGeom prst="rect">
            <a:avLst/>
          </a:prstGeom>
        </p:spPr>
      </p:pic>
    </p:spTree>
    <p:extLst>
      <p:ext uri="{BB962C8B-B14F-4D97-AF65-F5344CB8AC3E}">
        <p14:creationId xmlns:p14="http://schemas.microsoft.com/office/powerpoint/2010/main" val="36661216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Autofit/>
          </a:bodyPr>
          <a:lstStyle/>
          <a:p>
            <a:r>
              <a:rPr lang="en-US" sz="3600" spc="0" dirty="0"/>
              <a:t>INTEREST RATES AND THE OPPORTUNITY COST OF HOLDING MONEY</a:t>
            </a:r>
          </a:p>
        </p:txBody>
      </p:sp>
      <p:sp>
        <p:nvSpPr>
          <p:cNvPr id="3" name="Content Placeholder 2"/>
          <p:cNvSpPr>
            <a:spLocks noGrp="1"/>
          </p:cNvSpPr>
          <p:nvPr>
            <p:ph idx="1"/>
          </p:nvPr>
        </p:nvSpPr>
        <p:spPr>
          <a:xfrm>
            <a:off x="228600" y="1143000"/>
            <a:ext cx="8839200" cy="4648200"/>
          </a:xfrm>
        </p:spPr>
        <p:txBody>
          <a:bodyPr>
            <a:noAutofit/>
          </a:bodyPr>
          <a:lstStyle/>
          <a:p>
            <a:r>
              <a:rPr lang="en-US" i="1" dirty="0">
                <a:solidFill>
                  <a:srgbClr val="990033"/>
                </a:solidFill>
              </a:rPr>
              <a:t>Short-term interest rates: </a:t>
            </a:r>
            <a:r>
              <a:rPr lang="en-US" dirty="0"/>
              <a:t>the interest rates on financial assets that mature within six months or less.</a:t>
            </a:r>
          </a:p>
          <a:p>
            <a:r>
              <a:rPr lang="en-US" i="1" dirty="0">
                <a:solidFill>
                  <a:srgbClr val="990033"/>
                </a:solidFill>
              </a:rPr>
              <a:t>Long-term interest rates: </a:t>
            </a:r>
            <a:r>
              <a:rPr lang="en-US" dirty="0"/>
              <a:t>interest rates on financial assets that mature a number of years in the future.</a:t>
            </a:r>
          </a:p>
          <a:p>
            <a:r>
              <a:rPr lang="en-US" i="1" dirty="0">
                <a:solidFill>
                  <a:schemeClr val="tx1">
                    <a:lumMod val="75000"/>
                    <a:lumOff val="25000"/>
                  </a:schemeClr>
                </a:solidFill>
              </a:rPr>
              <a:t>The </a:t>
            </a:r>
            <a:r>
              <a:rPr lang="en-US" i="1" dirty="0">
                <a:solidFill>
                  <a:srgbClr val="0070C0"/>
                </a:solidFill>
              </a:rPr>
              <a:t>higher</a:t>
            </a:r>
            <a:r>
              <a:rPr lang="en-US" i="1" dirty="0">
                <a:solidFill>
                  <a:schemeClr val="tx1">
                    <a:lumMod val="75000"/>
                    <a:lumOff val="25000"/>
                  </a:schemeClr>
                </a:solidFill>
              </a:rPr>
              <a:t> the interest rate, the </a:t>
            </a:r>
            <a:r>
              <a:rPr lang="en-US" i="1" dirty="0">
                <a:solidFill>
                  <a:srgbClr val="0070C0"/>
                </a:solidFill>
              </a:rPr>
              <a:t>higher the opportunity cost of holding money. </a:t>
            </a:r>
          </a:p>
          <a:p>
            <a:r>
              <a:rPr lang="en-US" i="1" dirty="0">
                <a:solidFill>
                  <a:schemeClr val="tx1">
                    <a:lumMod val="75000"/>
                    <a:lumOff val="25000"/>
                  </a:schemeClr>
                </a:solidFill>
              </a:rPr>
              <a:t>The </a:t>
            </a:r>
            <a:r>
              <a:rPr lang="en-US" i="1" dirty="0">
                <a:solidFill>
                  <a:schemeClr val="accent6">
                    <a:lumMod val="75000"/>
                  </a:schemeClr>
                </a:solidFill>
              </a:rPr>
              <a:t>lower</a:t>
            </a:r>
            <a:r>
              <a:rPr lang="en-US" i="1" dirty="0">
                <a:solidFill>
                  <a:schemeClr val="tx1">
                    <a:lumMod val="75000"/>
                    <a:lumOff val="25000"/>
                  </a:schemeClr>
                </a:solidFill>
              </a:rPr>
              <a:t> the interest rate, the </a:t>
            </a:r>
            <a:r>
              <a:rPr lang="en-US" i="1" dirty="0">
                <a:solidFill>
                  <a:schemeClr val="accent6">
                    <a:lumMod val="75000"/>
                  </a:schemeClr>
                </a:solidFill>
              </a:rPr>
              <a:t>lower the opportunity cost of holding money.</a:t>
            </a:r>
          </a:p>
        </p:txBody>
      </p:sp>
    </p:spTree>
    <p:extLst>
      <p:ext uri="{BB962C8B-B14F-4D97-AF65-F5344CB8AC3E}">
        <p14:creationId xmlns:p14="http://schemas.microsoft.com/office/powerpoint/2010/main" val="18427611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Rot="1" noChangeArrowheads="1"/>
          </p:cNvSpPr>
          <p:nvPr>
            <p:ph type="title"/>
          </p:nvPr>
        </p:nvSpPr>
        <p:spPr>
          <a:xfrm>
            <a:off x="0" y="0"/>
            <a:ext cx="9144000" cy="1066800"/>
          </a:xfrm>
        </p:spPr>
        <p:txBody>
          <a:bodyPr>
            <a:noAutofit/>
          </a:bodyPr>
          <a:lstStyle/>
          <a:p>
            <a:pPr>
              <a:lnSpc>
                <a:spcPct val="80000"/>
              </a:lnSpc>
            </a:pPr>
            <a:r>
              <a:rPr lang="en-US" sz="3600" spc="0" dirty="0"/>
              <a:t>INTEREST RATES AND THE OPPORTUNITY COST OF HOLDING MONEY</a:t>
            </a:r>
          </a:p>
        </p:txBody>
      </p:sp>
      <p:sp>
        <p:nvSpPr>
          <p:cNvPr id="624643" name="Rectangle 3"/>
          <p:cNvSpPr>
            <a:spLocks noGrp="1" noChangeArrowheads="1"/>
          </p:cNvSpPr>
          <p:nvPr>
            <p:ph idx="1"/>
          </p:nvPr>
        </p:nvSpPr>
        <p:spPr>
          <a:xfrm>
            <a:off x="228600" y="1143000"/>
            <a:ext cx="8839200" cy="4495800"/>
          </a:xfrm>
        </p:spPr>
        <p:txBody>
          <a:bodyPr>
            <a:noAutofit/>
          </a:bodyPr>
          <a:lstStyle/>
          <a:p>
            <a:pPr>
              <a:spcBef>
                <a:spcPct val="0"/>
              </a:spcBef>
              <a:buClr>
                <a:schemeClr val="hlink"/>
              </a:buClr>
              <a:buFont typeface="Wingdings" pitchFamily="2" charset="2"/>
              <a:buNone/>
            </a:pPr>
            <a:r>
              <a:rPr lang="en-US" b="1" dirty="0"/>
              <a:t>Although there are many different interes</a:t>
            </a:r>
            <a:r>
              <a:rPr lang="en-US" dirty="0"/>
              <a:t>t rates and they don’t move exactly together, as a rule </a:t>
            </a:r>
            <a:r>
              <a:rPr lang="en-US" dirty="0">
                <a:solidFill>
                  <a:srgbClr val="0070C0"/>
                </a:solidFill>
              </a:rPr>
              <a:t>most short-term rates tend to move in the same direction.</a:t>
            </a:r>
            <a:endParaRPr lang="en-US" b="1" dirty="0">
              <a:solidFill>
                <a:srgbClr val="0070C0"/>
              </a:solidFill>
            </a:endParaRPr>
          </a:p>
        </p:txBody>
      </p:sp>
      <p:pic>
        <p:nvPicPr>
          <p:cNvPr id="7" name="Picture 6" descr="Screen Shot 2015-04-09 at 19.39.05.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3200400"/>
            <a:ext cx="7519035" cy="3182660"/>
          </a:xfrm>
          <a:prstGeom prst="rect">
            <a:avLst/>
          </a:prstGeom>
        </p:spPr>
      </p:pic>
      <p:sp>
        <p:nvSpPr>
          <p:cNvPr id="8" name="TextBox 7"/>
          <p:cNvSpPr txBox="1"/>
          <p:nvPr/>
        </p:nvSpPr>
        <p:spPr>
          <a:xfrm>
            <a:off x="386536" y="6443990"/>
            <a:ext cx="2936521"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prstClr val="black"/>
                </a:solidFill>
                <a:effectLst/>
                <a:uLnTx/>
                <a:uFillTx/>
                <a:latin typeface="Century Gothic"/>
                <a:ea typeface="+mn-ea"/>
                <a:cs typeface="Century Gothic"/>
              </a:rPr>
              <a:t>Source: Federal Reserve Bank of St. Louis</a:t>
            </a:r>
          </a:p>
        </p:txBody>
      </p:sp>
    </p:spTree>
    <p:extLst>
      <p:ext uri="{BB962C8B-B14F-4D97-AF65-F5344CB8AC3E}">
        <p14:creationId xmlns:p14="http://schemas.microsoft.com/office/powerpoint/2010/main" val="18300756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8738" name="Rectangle 2"/>
          <p:cNvSpPr>
            <a:spLocks noGrp="1" noRot="1" noChangeArrowheads="1"/>
          </p:cNvSpPr>
          <p:nvPr>
            <p:ph type="title"/>
          </p:nvPr>
        </p:nvSpPr>
        <p:spPr/>
        <p:txBody>
          <a:bodyPr>
            <a:normAutofit/>
          </a:bodyPr>
          <a:lstStyle/>
          <a:p>
            <a:r>
              <a:rPr lang="en-US" spc="0" dirty="0"/>
              <a:t>THE MONEY DEMAND CURVE</a:t>
            </a:r>
            <a:endParaRPr lang="en-US" b="0" spc="0" dirty="0"/>
          </a:p>
        </p:txBody>
      </p:sp>
      <p:sp>
        <p:nvSpPr>
          <p:cNvPr id="628743" name="Rectangle 7"/>
          <p:cNvSpPr>
            <a:spLocks noChangeArrowheads="1"/>
          </p:cNvSpPr>
          <p:nvPr/>
        </p:nvSpPr>
        <p:spPr bwMode="auto">
          <a:xfrm>
            <a:off x="0" y="914400"/>
            <a:ext cx="1371600" cy="488950"/>
          </a:xfrm>
          <a:prstGeom prst="rect">
            <a:avLst/>
          </a:prstGeom>
          <a:noFill/>
          <a:ln>
            <a:noFill/>
          </a:ln>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Century Gothic"/>
              <a:ea typeface="+mn-ea"/>
              <a:cs typeface="Century Gothic"/>
            </a:endParaRPr>
          </a:p>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entury Gothic"/>
                <a:ea typeface="+mn-ea"/>
                <a:cs typeface="Century Gothic"/>
              </a:rPr>
              <a:t>Interest rate,</a:t>
            </a:r>
            <a:r>
              <a:rPr kumimoji="0" lang="en-US" sz="1600" b="1" i="1" u="none" strike="noStrike" kern="1200" cap="none" spc="0" normalizeH="0" baseline="0" noProof="0" dirty="0">
                <a:ln>
                  <a:noFill/>
                </a:ln>
                <a:solidFill>
                  <a:prstClr val="black"/>
                </a:solidFill>
                <a:effectLst/>
                <a:uLnTx/>
                <a:uFillTx/>
                <a:latin typeface="Century Gothic"/>
                <a:ea typeface="+mn-ea"/>
                <a:cs typeface="Century Gothic"/>
              </a:rPr>
              <a:t> r</a:t>
            </a:r>
          </a:p>
        </p:txBody>
      </p:sp>
      <p:sp>
        <p:nvSpPr>
          <p:cNvPr id="628744" name="Line 8"/>
          <p:cNvSpPr>
            <a:spLocks noChangeShapeType="1"/>
          </p:cNvSpPr>
          <p:nvPr/>
        </p:nvSpPr>
        <p:spPr bwMode="auto">
          <a:xfrm flipV="1">
            <a:off x="609600" y="1584325"/>
            <a:ext cx="0" cy="441960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28746" name="Line 10"/>
          <p:cNvSpPr>
            <a:spLocks noChangeShapeType="1"/>
          </p:cNvSpPr>
          <p:nvPr/>
        </p:nvSpPr>
        <p:spPr bwMode="auto">
          <a:xfrm rot="5400000" flipV="1">
            <a:off x="3505200" y="3108325"/>
            <a:ext cx="0" cy="5791200"/>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28747" name="Rectangle 11"/>
          <p:cNvSpPr>
            <a:spLocks noChangeArrowheads="1"/>
          </p:cNvSpPr>
          <p:nvPr/>
        </p:nvSpPr>
        <p:spPr bwMode="auto">
          <a:xfrm>
            <a:off x="4648200" y="6080125"/>
            <a:ext cx="1905000" cy="244475"/>
          </a:xfrm>
          <a:prstGeom prst="rect">
            <a:avLst/>
          </a:prstGeom>
          <a:noFill/>
          <a:ln>
            <a:noFill/>
          </a:ln>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entury Gothic"/>
                <a:ea typeface="+mn-ea"/>
                <a:cs typeface="Century Gothic"/>
              </a:rPr>
              <a:t>Quantity of money</a:t>
            </a:r>
            <a:endParaRPr kumimoji="0" lang="en-US" sz="1600" b="1" i="1"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28748" name="Rectangle 12"/>
          <p:cNvSpPr>
            <a:spLocks noChangeArrowheads="1"/>
          </p:cNvSpPr>
          <p:nvPr/>
        </p:nvSpPr>
        <p:spPr bwMode="auto">
          <a:xfrm>
            <a:off x="4648200" y="5635823"/>
            <a:ext cx="25696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prstDash val="sysDot"/>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1588" marR="0" lvl="0" indent="-1588"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entury Gothic"/>
                <a:ea typeface="+mn-ea"/>
                <a:cs typeface="Century Gothic"/>
              </a:rPr>
              <a:t>Money demand curve, </a:t>
            </a:r>
            <a:r>
              <a:rPr kumimoji="0" lang="en-US" sz="1400" b="0" i="1" u="none" strike="noStrike" kern="1200" cap="none" spc="0" normalizeH="0" baseline="0" noProof="0" dirty="0">
                <a:ln>
                  <a:noFill/>
                </a:ln>
                <a:solidFill>
                  <a:prstClr val="black"/>
                </a:solidFill>
                <a:effectLst/>
                <a:uLnTx/>
                <a:uFillTx/>
                <a:latin typeface="Century Gothic"/>
                <a:ea typeface="+mn-ea"/>
                <a:cs typeface="Century Gothic"/>
              </a:rPr>
              <a:t>MD</a:t>
            </a:r>
          </a:p>
        </p:txBody>
      </p:sp>
      <p:sp>
        <p:nvSpPr>
          <p:cNvPr id="2" name="Rectangle 1"/>
          <p:cNvSpPr/>
          <p:nvPr/>
        </p:nvSpPr>
        <p:spPr>
          <a:xfrm>
            <a:off x="4724400" y="1371600"/>
            <a:ext cx="4343400" cy="2677656"/>
          </a:xfrm>
          <a:prstGeom prst="rect">
            <a:avLst/>
          </a:prstGeom>
        </p:spPr>
        <p:txBody>
          <a:bodyPr wrap="square">
            <a:spAutoFit/>
          </a:bodyPr>
          <a:lstStyle/>
          <a:p>
            <a:pPr marL="0" marR="0" lvl="0" indent="0" algn="l" defTabSz="914400" rtl="0" eaLnBrk="1" fontAlgn="auto" latinLnBrk="0" hangingPunct="1">
              <a:lnSpc>
                <a:spcPct val="100000"/>
              </a:lnSpc>
              <a:spcBef>
                <a:spcPct val="20000"/>
              </a:spcBef>
              <a:spcAft>
                <a:spcPts val="0"/>
              </a:spcAft>
              <a:buClr>
                <a:srgbClr val="000000"/>
              </a:buClr>
              <a:buSzTx/>
              <a:buFontTx/>
              <a:buNone/>
              <a:tabLst/>
              <a:defRPr/>
            </a:pPr>
            <a:r>
              <a:rPr kumimoji="0" lang="en-US" sz="2800" b="1" i="0" u="none" strike="noStrike" kern="1200" cap="none" spc="0" normalizeH="0" baseline="0" noProof="0" dirty="0">
                <a:ln>
                  <a:noFill/>
                </a:ln>
                <a:solidFill>
                  <a:prstClr val="black"/>
                </a:solidFill>
                <a:effectLst/>
                <a:uLnTx/>
                <a:uFillTx/>
                <a:latin typeface="Century Gothic"/>
                <a:ea typeface="+mn-ea"/>
                <a:cs typeface="Century Gothic"/>
              </a:rPr>
              <a:t>The </a:t>
            </a:r>
            <a:r>
              <a:rPr kumimoji="0" lang="en-US" sz="2800" b="1" i="1" u="none" strike="noStrike" kern="1200" cap="none" spc="0" normalizeH="0" baseline="0" noProof="0" dirty="0">
                <a:ln>
                  <a:noFill/>
                </a:ln>
                <a:solidFill>
                  <a:srgbClr val="990033"/>
                </a:solidFill>
                <a:effectLst/>
                <a:uLnTx/>
                <a:uFillTx/>
                <a:latin typeface="Century Gothic"/>
                <a:ea typeface="+mn-ea"/>
                <a:cs typeface="Century Gothic"/>
              </a:rPr>
              <a:t>money demand curve </a:t>
            </a:r>
            <a:r>
              <a:rPr kumimoji="0" lang="en-US" sz="2800" b="1" i="0" u="none" strike="noStrike" kern="1200" cap="none" spc="0" normalizeH="0" baseline="0" noProof="0" dirty="0">
                <a:ln>
                  <a:noFill/>
                </a:ln>
                <a:solidFill>
                  <a:prstClr val="black"/>
                </a:solidFill>
                <a:effectLst/>
                <a:uLnTx/>
                <a:uFillTx/>
                <a:latin typeface="Century Gothic"/>
                <a:ea typeface="+mn-ea"/>
                <a:cs typeface="Century Gothic"/>
              </a:rPr>
              <a:t>shows the relationship between the quantity of money demanded and the interest rate.</a:t>
            </a:r>
          </a:p>
        </p:txBody>
      </p:sp>
      <p:cxnSp>
        <p:nvCxnSpPr>
          <p:cNvPr id="5" name="Straight Connector 4"/>
          <p:cNvCxnSpPr/>
          <p:nvPr/>
        </p:nvCxnSpPr>
        <p:spPr>
          <a:xfrm>
            <a:off x="1143000" y="2041525"/>
            <a:ext cx="3505200" cy="3412067"/>
          </a:xfrm>
          <a:prstGeom prst="line">
            <a:avLst/>
          </a:prstGeom>
          <a:noFill/>
          <a:ln w="41275">
            <a:solidFill>
              <a:srgbClr val="2CB1AE"/>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13"/>
          <p:cNvSpPr/>
          <p:nvPr/>
        </p:nvSpPr>
        <p:spPr>
          <a:xfrm>
            <a:off x="1981200" y="914400"/>
            <a:ext cx="2362200" cy="1938992"/>
          </a:xfrm>
          <a:prstGeom prst="rect">
            <a:avLst/>
          </a:prstGeom>
          <a:solidFill>
            <a:schemeClr val="accent3">
              <a:lumMod val="20000"/>
              <a:lumOff val="80000"/>
              <a:alpha val="80000"/>
            </a:schemeClr>
          </a:solidFill>
        </p:spPr>
        <p:txBody>
          <a:bodyPr wrap="square">
            <a:spAutoFit/>
          </a:bodyPr>
          <a:lstStyle/>
          <a:p>
            <a:pPr marL="0" marR="0" lvl="0" indent="0" algn="l" defTabSz="914400" rtl="0" eaLnBrk="1" fontAlgn="auto" latinLnBrk="0" hangingPunct="1">
              <a:lnSpc>
                <a:spcPct val="100000"/>
              </a:lnSpc>
              <a:spcBef>
                <a:spcPct val="20000"/>
              </a:spcBef>
              <a:spcAft>
                <a:spcPts val="0"/>
              </a:spcAft>
              <a:buClr>
                <a:srgbClr val="000000"/>
              </a:buClr>
              <a:buSzTx/>
              <a:buFontTx/>
              <a:buNone/>
              <a:tabLst/>
              <a:defRPr/>
            </a:pPr>
            <a:r>
              <a:rPr kumimoji="0" lang="en-US" sz="2000" b="1" i="1" u="none" strike="noStrike" kern="1200" cap="none" spc="0" normalizeH="0" baseline="0" noProof="0" dirty="0">
                <a:ln>
                  <a:noFill/>
                </a:ln>
                <a:solidFill>
                  <a:prstClr val="black">
                    <a:lumMod val="75000"/>
                    <a:lumOff val="25000"/>
                  </a:prstClr>
                </a:solidFill>
                <a:effectLst/>
                <a:uLnTx/>
                <a:uFillTx/>
                <a:latin typeface="Century Gothic"/>
                <a:ea typeface="+mn-ea"/>
                <a:cs typeface="Century Gothic"/>
              </a:rPr>
              <a:t>At higher interest rates, the cost of holding money is greater, so less quantity is demanded.</a:t>
            </a:r>
          </a:p>
        </p:txBody>
      </p:sp>
      <p:sp>
        <p:nvSpPr>
          <p:cNvPr id="15" name="Rectangle 14"/>
          <p:cNvSpPr/>
          <p:nvPr/>
        </p:nvSpPr>
        <p:spPr>
          <a:xfrm>
            <a:off x="4724400" y="4051498"/>
            <a:ext cx="3124200" cy="1631216"/>
          </a:xfrm>
          <a:prstGeom prst="rect">
            <a:avLst/>
          </a:prstGeom>
          <a:solidFill>
            <a:schemeClr val="tx2">
              <a:lumMod val="20000"/>
              <a:lumOff val="80000"/>
              <a:alpha val="80000"/>
            </a:schemeClr>
          </a:solidFill>
        </p:spPr>
        <p:txBody>
          <a:bodyPr wrap="square">
            <a:spAutoFit/>
          </a:bodyPr>
          <a:lstStyle/>
          <a:p>
            <a:pPr marL="0" marR="0" lvl="0" indent="0" algn="l" defTabSz="914400" rtl="0" eaLnBrk="1" fontAlgn="auto" latinLnBrk="0" hangingPunct="1">
              <a:lnSpc>
                <a:spcPct val="100000"/>
              </a:lnSpc>
              <a:spcBef>
                <a:spcPct val="20000"/>
              </a:spcBef>
              <a:spcAft>
                <a:spcPts val="0"/>
              </a:spcAft>
              <a:buClr>
                <a:srgbClr val="000000"/>
              </a:buClr>
              <a:buSzTx/>
              <a:buFontTx/>
              <a:buNone/>
              <a:tabLst/>
              <a:defRPr/>
            </a:pPr>
            <a:r>
              <a:rPr kumimoji="0" lang="en-US" sz="2000" b="1" i="1" u="none" strike="noStrike" kern="1200" cap="none" spc="0" normalizeH="0" baseline="0" noProof="0" dirty="0">
                <a:ln>
                  <a:noFill/>
                </a:ln>
                <a:solidFill>
                  <a:prstClr val="black">
                    <a:lumMod val="75000"/>
                    <a:lumOff val="25000"/>
                  </a:prstClr>
                </a:solidFill>
                <a:effectLst/>
                <a:uLnTx/>
                <a:uFillTx/>
                <a:latin typeface="Century Gothic"/>
                <a:ea typeface="+mn-ea"/>
                <a:cs typeface="Century Gothic"/>
              </a:rPr>
              <a:t>At lower interest rates, the cost of holding money is smaller, so a higher quantity is demanded.</a:t>
            </a:r>
          </a:p>
        </p:txBody>
      </p:sp>
    </p:spTree>
    <p:extLst>
      <p:ext uri="{BB962C8B-B14F-4D97-AF65-F5344CB8AC3E}">
        <p14:creationId xmlns:p14="http://schemas.microsoft.com/office/powerpoint/2010/main" val="907519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7714" name="Rectangle 2"/>
          <p:cNvSpPr>
            <a:spLocks noGrp="1" noRot="1" noChangeArrowheads="1"/>
          </p:cNvSpPr>
          <p:nvPr>
            <p:ph type="title"/>
          </p:nvPr>
        </p:nvSpPr>
        <p:spPr>
          <a:xfrm>
            <a:off x="0" y="76200"/>
            <a:ext cx="9144000" cy="838200"/>
          </a:xfrm>
        </p:spPr>
        <p:txBody>
          <a:bodyPr>
            <a:noAutofit/>
          </a:bodyPr>
          <a:lstStyle/>
          <a:p>
            <a:r>
              <a:rPr lang="en-US" sz="4000" spc="0" dirty="0"/>
              <a:t>SHIFTS OF THE REAL MONEY DEMAND CURVE</a:t>
            </a:r>
          </a:p>
        </p:txBody>
      </p:sp>
      <p:sp>
        <p:nvSpPr>
          <p:cNvPr id="627715" name="Rectangle 3"/>
          <p:cNvSpPr>
            <a:spLocks noGrp="1" noChangeArrowheads="1"/>
          </p:cNvSpPr>
          <p:nvPr>
            <p:ph idx="1"/>
          </p:nvPr>
        </p:nvSpPr>
        <p:spPr>
          <a:xfrm>
            <a:off x="76200" y="1219200"/>
            <a:ext cx="8839200" cy="5257800"/>
          </a:xfrm>
        </p:spPr>
        <p:txBody>
          <a:bodyPr>
            <a:noAutofit/>
          </a:bodyPr>
          <a:lstStyle/>
          <a:p>
            <a:r>
              <a:rPr lang="en-US" sz="2400" dirty="0"/>
              <a:t>The following factors shift the money demand curve:</a:t>
            </a:r>
          </a:p>
          <a:p>
            <a:pPr lvl="1"/>
            <a:r>
              <a:rPr lang="en-US" sz="2400" dirty="0">
                <a:solidFill>
                  <a:srgbClr val="0070C0"/>
                </a:solidFill>
              </a:rPr>
              <a:t>Changes in aggregate price level</a:t>
            </a:r>
          </a:p>
          <a:p>
            <a:pPr lvl="2"/>
            <a:r>
              <a:rPr lang="en-US" sz="2000" i="1" dirty="0">
                <a:solidFill>
                  <a:schemeClr val="tx1">
                    <a:lumMod val="75000"/>
                    <a:lumOff val="25000"/>
                  </a:schemeClr>
                </a:solidFill>
              </a:rPr>
              <a:t>Higher prices mean we need more money for transactions (and vice versa).</a:t>
            </a:r>
          </a:p>
          <a:p>
            <a:pPr lvl="1"/>
            <a:r>
              <a:rPr lang="en-US" sz="2400" dirty="0">
                <a:solidFill>
                  <a:srgbClr val="0070C0"/>
                </a:solidFill>
              </a:rPr>
              <a:t>Changes in real GDP</a:t>
            </a:r>
          </a:p>
          <a:p>
            <a:pPr lvl="2"/>
            <a:r>
              <a:rPr lang="en-US" sz="2000" i="1" dirty="0">
                <a:solidFill>
                  <a:schemeClr val="tx1">
                    <a:lumMod val="75000"/>
                    <a:lumOff val="25000"/>
                  </a:schemeClr>
                </a:solidFill>
              </a:rPr>
              <a:t>More goods and services produced and sold means we need more money (and vice versa).</a:t>
            </a:r>
          </a:p>
          <a:p>
            <a:pPr lvl="1"/>
            <a:r>
              <a:rPr lang="en-US" sz="2400" dirty="0">
                <a:solidFill>
                  <a:srgbClr val="0070C0"/>
                </a:solidFill>
              </a:rPr>
              <a:t>Changes in technology</a:t>
            </a:r>
          </a:p>
          <a:p>
            <a:pPr lvl="2"/>
            <a:r>
              <a:rPr lang="en-US" sz="2000" i="1" dirty="0">
                <a:solidFill>
                  <a:schemeClr val="tx1">
                    <a:lumMod val="75000"/>
                    <a:lumOff val="25000"/>
                  </a:schemeClr>
                </a:solidFill>
              </a:rPr>
              <a:t>The ease of credit card payments reduces the need for cash.</a:t>
            </a:r>
          </a:p>
          <a:p>
            <a:pPr lvl="1"/>
            <a:r>
              <a:rPr lang="en-US" sz="2400" dirty="0">
                <a:solidFill>
                  <a:srgbClr val="0070C0"/>
                </a:solidFill>
              </a:rPr>
              <a:t>Changes in institutions</a:t>
            </a:r>
          </a:p>
          <a:p>
            <a:pPr lvl="2"/>
            <a:r>
              <a:rPr lang="en-US" sz="2000" i="1" dirty="0">
                <a:solidFill>
                  <a:schemeClr val="tx1">
                    <a:lumMod val="75000"/>
                    <a:lumOff val="25000"/>
                  </a:schemeClr>
                </a:solidFill>
              </a:rPr>
              <a:t>After 1980 banks were allowed to offer interest on checking accounts. This decreased the cost of holding money, and money demand increased.</a:t>
            </a:r>
          </a:p>
          <a:p>
            <a:endParaRPr lang="en-US" sz="2400" dirty="0"/>
          </a:p>
        </p:txBody>
      </p:sp>
    </p:spTree>
    <p:extLst>
      <p:ext uri="{BB962C8B-B14F-4D97-AF65-F5344CB8AC3E}">
        <p14:creationId xmlns:p14="http://schemas.microsoft.com/office/powerpoint/2010/main" val="335507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27715">
                                            <p:txEl>
                                              <p:pRg st="0" end="0"/>
                                            </p:txEl>
                                          </p:spTgt>
                                        </p:tgtEl>
                                        <p:attrNameLst>
                                          <p:attrName>style.visibility</p:attrName>
                                        </p:attrNameLst>
                                      </p:cBhvr>
                                      <p:to>
                                        <p:strVal val="visible"/>
                                      </p:to>
                                    </p:set>
                                    <p:animEffect transition="in" filter="fade">
                                      <p:cBhvr>
                                        <p:cTn id="7" dur="500"/>
                                        <p:tgtEl>
                                          <p:spTgt spid="627715">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27715">
                                            <p:txEl>
                                              <p:pRg st="1" end="1"/>
                                            </p:txEl>
                                          </p:spTgt>
                                        </p:tgtEl>
                                        <p:attrNameLst>
                                          <p:attrName>style.visibility</p:attrName>
                                        </p:attrNameLst>
                                      </p:cBhvr>
                                      <p:to>
                                        <p:strVal val="visible"/>
                                      </p:to>
                                    </p:set>
                                    <p:animEffect transition="in" filter="fade">
                                      <p:cBhvr>
                                        <p:cTn id="11" dur="500"/>
                                        <p:tgtEl>
                                          <p:spTgt spid="627715">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27715">
                                            <p:txEl>
                                              <p:pRg st="2" end="2"/>
                                            </p:txEl>
                                          </p:spTgt>
                                        </p:tgtEl>
                                        <p:attrNameLst>
                                          <p:attrName>style.visibility</p:attrName>
                                        </p:attrNameLst>
                                      </p:cBhvr>
                                      <p:to>
                                        <p:strVal val="visible"/>
                                      </p:to>
                                    </p:set>
                                    <p:animEffect transition="in" filter="fade">
                                      <p:cBhvr>
                                        <p:cTn id="15" dur="500"/>
                                        <p:tgtEl>
                                          <p:spTgt spid="62771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27715">
                                            <p:txEl>
                                              <p:pRg st="3" end="3"/>
                                            </p:txEl>
                                          </p:spTgt>
                                        </p:tgtEl>
                                        <p:attrNameLst>
                                          <p:attrName>style.visibility</p:attrName>
                                        </p:attrNameLst>
                                      </p:cBhvr>
                                      <p:to>
                                        <p:strVal val="visible"/>
                                      </p:to>
                                    </p:set>
                                    <p:animEffect transition="in" filter="fade">
                                      <p:cBhvr>
                                        <p:cTn id="20" dur="500"/>
                                        <p:tgtEl>
                                          <p:spTgt spid="627715">
                                            <p:txEl>
                                              <p:pRg st="3" end="3"/>
                                            </p:txEl>
                                          </p:spTgt>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627715">
                                            <p:txEl>
                                              <p:pRg st="4" end="4"/>
                                            </p:txEl>
                                          </p:spTgt>
                                        </p:tgtEl>
                                        <p:attrNameLst>
                                          <p:attrName>style.visibility</p:attrName>
                                        </p:attrNameLst>
                                      </p:cBhvr>
                                      <p:to>
                                        <p:strVal val="visible"/>
                                      </p:to>
                                    </p:set>
                                    <p:animEffect transition="in" filter="fade">
                                      <p:cBhvr>
                                        <p:cTn id="24" dur="500"/>
                                        <p:tgtEl>
                                          <p:spTgt spid="62771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27715">
                                            <p:txEl>
                                              <p:pRg st="5" end="5"/>
                                            </p:txEl>
                                          </p:spTgt>
                                        </p:tgtEl>
                                        <p:attrNameLst>
                                          <p:attrName>style.visibility</p:attrName>
                                        </p:attrNameLst>
                                      </p:cBhvr>
                                      <p:to>
                                        <p:strVal val="visible"/>
                                      </p:to>
                                    </p:set>
                                    <p:animEffect transition="in" filter="fade">
                                      <p:cBhvr>
                                        <p:cTn id="29" dur="500"/>
                                        <p:tgtEl>
                                          <p:spTgt spid="627715">
                                            <p:txEl>
                                              <p:pRg st="5" end="5"/>
                                            </p:txEl>
                                          </p:spTgt>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627715">
                                            <p:txEl>
                                              <p:pRg st="6" end="6"/>
                                            </p:txEl>
                                          </p:spTgt>
                                        </p:tgtEl>
                                        <p:attrNameLst>
                                          <p:attrName>style.visibility</p:attrName>
                                        </p:attrNameLst>
                                      </p:cBhvr>
                                      <p:to>
                                        <p:strVal val="visible"/>
                                      </p:to>
                                    </p:set>
                                    <p:animEffect transition="in" filter="fade">
                                      <p:cBhvr>
                                        <p:cTn id="33" dur="500"/>
                                        <p:tgtEl>
                                          <p:spTgt spid="62771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27715">
                                            <p:txEl>
                                              <p:pRg st="7" end="7"/>
                                            </p:txEl>
                                          </p:spTgt>
                                        </p:tgtEl>
                                        <p:attrNameLst>
                                          <p:attrName>style.visibility</p:attrName>
                                        </p:attrNameLst>
                                      </p:cBhvr>
                                      <p:to>
                                        <p:strVal val="visible"/>
                                      </p:to>
                                    </p:set>
                                    <p:animEffect transition="in" filter="fade">
                                      <p:cBhvr>
                                        <p:cTn id="38" dur="500"/>
                                        <p:tgtEl>
                                          <p:spTgt spid="627715">
                                            <p:txEl>
                                              <p:pRg st="7" end="7"/>
                                            </p:txEl>
                                          </p:spTgt>
                                        </p:tgtEl>
                                      </p:cBhvr>
                                    </p:animEffect>
                                  </p:childTnLst>
                                </p:cTn>
                              </p:par>
                            </p:childTnLst>
                          </p:cTn>
                        </p:par>
                        <p:par>
                          <p:cTn id="39" fill="hold">
                            <p:stCondLst>
                              <p:cond delay="500"/>
                            </p:stCondLst>
                            <p:childTnLst>
                              <p:par>
                                <p:cTn id="40" presetID="10" presetClass="entr" presetSubtype="0" fill="hold" grpId="0" nodeType="afterEffect">
                                  <p:stCondLst>
                                    <p:cond delay="0"/>
                                  </p:stCondLst>
                                  <p:childTnLst>
                                    <p:set>
                                      <p:cBhvr>
                                        <p:cTn id="41" dur="1" fill="hold">
                                          <p:stCondLst>
                                            <p:cond delay="0"/>
                                          </p:stCondLst>
                                        </p:cTn>
                                        <p:tgtEl>
                                          <p:spTgt spid="627715">
                                            <p:txEl>
                                              <p:pRg st="8" end="8"/>
                                            </p:txEl>
                                          </p:spTgt>
                                        </p:tgtEl>
                                        <p:attrNameLst>
                                          <p:attrName>style.visibility</p:attrName>
                                        </p:attrNameLst>
                                      </p:cBhvr>
                                      <p:to>
                                        <p:strVal val="visible"/>
                                      </p:to>
                                    </p:set>
                                    <p:animEffect transition="in" filter="fade">
                                      <p:cBhvr>
                                        <p:cTn id="42" dur="500"/>
                                        <p:tgtEl>
                                          <p:spTgt spid="6277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715"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Line 76"/>
          <p:cNvSpPr>
            <a:spLocks noChangeShapeType="1"/>
          </p:cNvSpPr>
          <p:nvPr/>
        </p:nvSpPr>
        <p:spPr bwMode="auto">
          <a:xfrm>
            <a:off x="896144" y="4346575"/>
            <a:ext cx="210344" cy="0"/>
          </a:xfrm>
          <a:prstGeom prst="line">
            <a:avLst/>
          </a:prstGeom>
          <a:noFill/>
          <a:ln w="0">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48" name="Rectangle 7"/>
          <p:cNvSpPr>
            <a:spLocks noChangeArrowheads="1"/>
          </p:cNvSpPr>
          <p:nvPr/>
        </p:nvSpPr>
        <p:spPr bwMode="auto">
          <a:xfrm>
            <a:off x="4362450" y="5916613"/>
            <a:ext cx="2227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a:t>
            </a:r>
            <a:endPar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49" name="Rectangle 18"/>
          <p:cNvSpPr>
            <a:spLocks noChangeArrowheads="1"/>
          </p:cNvSpPr>
          <p:nvPr/>
        </p:nvSpPr>
        <p:spPr bwMode="auto">
          <a:xfrm>
            <a:off x="1192212" y="3505200"/>
            <a:ext cx="2555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H</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6151" name="Rectangle 20"/>
          <p:cNvSpPr>
            <a:spLocks noChangeArrowheads="1"/>
          </p:cNvSpPr>
          <p:nvPr/>
        </p:nvSpPr>
        <p:spPr bwMode="auto">
          <a:xfrm>
            <a:off x="1222375" y="4191000"/>
            <a:ext cx="1641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E</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6153" name="Rectangle 22"/>
          <p:cNvSpPr>
            <a:spLocks noChangeArrowheads="1"/>
          </p:cNvSpPr>
          <p:nvPr/>
        </p:nvSpPr>
        <p:spPr bwMode="auto">
          <a:xfrm>
            <a:off x="1225550" y="5133975"/>
            <a:ext cx="1513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L</a:t>
            </a: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55" name="Rectangle 36"/>
          <p:cNvSpPr>
            <a:spLocks noChangeArrowheads="1"/>
          </p:cNvSpPr>
          <p:nvPr/>
        </p:nvSpPr>
        <p:spPr bwMode="auto">
          <a:xfrm>
            <a:off x="6569075" y="4906963"/>
            <a:ext cx="12902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L</a:t>
            </a:r>
            <a:endPar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56" name="Rectangle 37"/>
          <p:cNvSpPr>
            <a:spLocks noChangeArrowheads="1"/>
          </p:cNvSpPr>
          <p:nvPr/>
        </p:nvSpPr>
        <p:spPr bwMode="auto">
          <a:xfrm>
            <a:off x="4521200" y="4038600"/>
            <a:ext cx="14424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E</a:t>
            </a:r>
            <a:endPar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57" name="Rectangle 38"/>
          <p:cNvSpPr>
            <a:spLocks noChangeArrowheads="1"/>
          </p:cNvSpPr>
          <p:nvPr/>
        </p:nvSpPr>
        <p:spPr bwMode="auto">
          <a:xfrm>
            <a:off x="6897688" y="5160963"/>
            <a:ext cx="37548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MD</a:t>
            </a:r>
            <a:endPar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58" name="Line 39"/>
          <p:cNvSpPr>
            <a:spLocks noChangeShapeType="1"/>
          </p:cNvSpPr>
          <p:nvPr/>
        </p:nvSpPr>
        <p:spPr bwMode="auto">
          <a:xfrm>
            <a:off x="4384675" y="5916613"/>
            <a:ext cx="111125" cy="1587"/>
          </a:xfrm>
          <a:prstGeom prst="line">
            <a:avLst/>
          </a:prstGeom>
          <a:noFill/>
          <a:ln w="7">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59" name="Rectangle 40"/>
          <p:cNvSpPr>
            <a:spLocks noChangeArrowheads="1"/>
          </p:cNvSpPr>
          <p:nvPr/>
        </p:nvSpPr>
        <p:spPr bwMode="auto">
          <a:xfrm>
            <a:off x="2795588" y="5873750"/>
            <a:ext cx="31053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H</a:t>
            </a:r>
            <a:endPar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61" name="Rectangle 42"/>
          <p:cNvSpPr>
            <a:spLocks noChangeArrowheads="1"/>
          </p:cNvSpPr>
          <p:nvPr/>
        </p:nvSpPr>
        <p:spPr bwMode="auto">
          <a:xfrm>
            <a:off x="6408738" y="5873750"/>
            <a:ext cx="2802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L</a:t>
            </a:r>
            <a:endPar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63" name="Line 44"/>
          <p:cNvSpPr>
            <a:spLocks noChangeShapeType="1"/>
          </p:cNvSpPr>
          <p:nvPr/>
        </p:nvSpPr>
        <p:spPr bwMode="auto">
          <a:xfrm>
            <a:off x="1293812" y="3914770"/>
            <a:ext cx="0" cy="265118"/>
          </a:xfrm>
          <a:prstGeom prst="line">
            <a:avLst/>
          </a:prstGeom>
          <a:noFill/>
          <a:ln w="7">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64" name="Freeform 45"/>
          <p:cNvSpPr>
            <a:spLocks/>
          </p:cNvSpPr>
          <p:nvPr/>
        </p:nvSpPr>
        <p:spPr bwMode="auto">
          <a:xfrm>
            <a:off x="1247775" y="4114800"/>
            <a:ext cx="92075" cy="139700"/>
          </a:xfrm>
          <a:custGeom>
            <a:avLst/>
            <a:gdLst>
              <a:gd name="T0" fmla="*/ 46280 w 14"/>
              <a:gd name="T1" fmla="*/ 25541 h 22"/>
              <a:gd name="T2" fmla="*/ 85949 w 14"/>
              <a:gd name="T3" fmla="*/ 0 h 22"/>
              <a:gd name="T4" fmla="*/ 92560 w 14"/>
              <a:gd name="T5" fmla="*/ 6385 h 22"/>
              <a:gd name="T6" fmla="*/ 59503 w 14"/>
              <a:gd name="T7" fmla="*/ 70237 h 22"/>
              <a:gd name="T8" fmla="*/ 46280 w 14"/>
              <a:gd name="T9" fmla="*/ 140474 h 22"/>
              <a:gd name="T10" fmla="*/ 33057 w 14"/>
              <a:gd name="T11" fmla="*/ 70237 h 22"/>
              <a:gd name="T12" fmla="*/ 0 w 14"/>
              <a:gd name="T13" fmla="*/ 6385 h 22"/>
              <a:gd name="T14" fmla="*/ 0 w 14"/>
              <a:gd name="T15" fmla="*/ 0 h 22"/>
              <a:gd name="T16" fmla="*/ 46280 w 14"/>
              <a:gd name="T17" fmla="*/ 2554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22"/>
              <a:gd name="T29" fmla="*/ 14 w 14"/>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22">
                <a:moveTo>
                  <a:pt x="7" y="4"/>
                </a:moveTo>
                <a:cubicBezTo>
                  <a:pt x="13" y="0"/>
                  <a:pt x="13" y="0"/>
                  <a:pt x="13" y="0"/>
                </a:cubicBezTo>
                <a:cubicBezTo>
                  <a:pt x="14" y="1"/>
                  <a:pt x="14" y="1"/>
                  <a:pt x="14" y="1"/>
                </a:cubicBezTo>
                <a:cubicBezTo>
                  <a:pt x="9" y="11"/>
                  <a:pt x="9" y="11"/>
                  <a:pt x="9" y="11"/>
                </a:cubicBezTo>
                <a:cubicBezTo>
                  <a:pt x="9" y="15"/>
                  <a:pt x="8" y="19"/>
                  <a:pt x="7" y="22"/>
                </a:cubicBezTo>
                <a:cubicBezTo>
                  <a:pt x="6" y="19"/>
                  <a:pt x="5" y="15"/>
                  <a:pt x="5" y="11"/>
                </a:cubicBezTo>
                <a:cubicBezTo>
                  <a:pt x="0" y="1"/>
                  <a:pt x="0" y="1"/>
                  <a:pt x="0" y="1"/>
                </a:cubicBezTo>
                <a:cubicBezTo>
                  <a:pt x="0" y="0"/>
                  <a:pt x="0" y="0"/>
                  <a:pt x="0" y="0"/>
                </a:cubicBezTo>
                <a:lnTo>
                  <a:pt x="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65" name="Line 46"/>
          <p:cNvSpPr>
            <a:spLocks noChangeShapeType="1"/>
          </p:cNvSpPr>
          <p:nvPr/>
        </p:nvSpPr>
        <p:spPr bwMode="auto">
          <a:xfrm flipH="1" flipV="1">
            <a:off x="1319213" y="4835525"/>
            <a:ext cx="1588" cy="338138"/>
          </a:xfrm>
          <a:prstGeom prst="line">
            <a:avLst/>
          </a:prstGeom>
          <a:noFill/>
          <a:ln w="7">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66" name="Freeform 47"/>
          <p:cNvSpPr>
            <a:spLocks/>
          </p:cNvSpPr>
          <p:nvPr/>
        </p:nvSpPr>
        <p:spPr bwMode="auto">
          <a:xfrm>
            <a:off x="1273175" y="4724400"/>
            <a:ext cx="92075" cy="141288"/>
          </a:xfrm>
          <a:custGeom>
            <a:avLst/>
            <a:gdLst>
              <a:gd name="T0" fmla="*/ 46280 w 14"/>
              <a:gd name="T1" fmla="*/ 114933 h 22"/>
              <a:gd name="T2" fmla="*/ 85949 w 14"/>
              <a:gd name="T3" fmla="*/ 140474 h 22"/>
              <a:gd name="T4" fmla="*/ 92560 w 14"/>
              <a:gd name="T5" fmla="*/ 140474 h 22"/>
              <a:gd name="T6" fmla="*/ 59503 w 14"/>
              <a:gd name="T7" fmla="*/ 70237 h 22"/>
              <a:gd name="T8" fmla="*/ 46280 w 14"/>
              <a:gd name="T9" fmla="*/ 0 h 22"/>
              <a:gd name="T10" fmla="*/ 33057 w 14"/>
              <a:gd name="T11" fmla="*/ 70237 h 22"/>
              <a:gd name="T12" fmla="*/ 0 w 14"/>
              <a:gd name="T13" fmla="*/ 140474 h 22"/>
              <a:gd name="T14" fmla="*/ 0 w 14"/>
              <a:gd name="T15" fmla="*/ 140474 h 22"/>
              <a:gd name="T16" fmla="*/ 46280 w 14"/>
              <a:gd name="T17" fmla="*/ 114933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22"/>
              <a:gd name="T29" fmla="*/ 14 w 14"/>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22">
                <a:moveTo>
                  <a:pt x="7" y="18"/>
                </a:moveTo>
                <a:cubicBezTo>
                  <a:pt x="13" y="22"/>
                  <a:pt x="13" y="22"/>
                  <a:pt x="13" y="22"/>
                </a:cubicBezTo>
                <a:cubicBezTo>
                  <a:pt x="14" y="22"/>
                  <a:pt x="14" y="22"/>
                  <a:pt x="14" y="22"/>
                </a:cubicBezTo>
                <a:cubicBezTo>
                  <a:pt x="9" y="11"/>
                  <a:pt x="9" y="11"/>
                  <a:pt x="9" y="11"/>
                </a:cubicBezTo>
                <a:cubicBezTo>
                  <a:pt x="9" y="8"/>
                  <a:pt x="8" y="4"/>
                  <a:pt x="7" y="0"/>
                </a:cubicBezTo>
                <a:cubicBezTo>
                  <a:pt x="6" y="4"/>
                  <a:pt x="5" y="8"/>
                  <a:pt x="5" y="11"/>
                </a:cubicBezTo>
                <a:cubicBezTo>
                  <a:pt x="0" y="22"/>
                  <a:pt x="0" y="22"/>
                  <a:pt x="0" y="22"/>
                </a:cubicBezTo>
                <a:cubicBezTo>
                  <a:pt x="0" y="22"/>
                  <a:pt x="0" y="22"/>
                  <a:pt x="0" y="22"/>
                </a:cubicBezTo>
                <a:lnTo>
                  <a:pt x="7"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67" name="Line 48"/>
          <p:cNvSpPr>
            <a:spLocks noChangeShapeType="1"/>
          </p:cNvSpPr>
          <p:nvPr/>
        </p:nvSpPr>
        <p:spPr bwMode="auto">
          <a:xfrm>
            <a:off x="4419600" y="2667000"/>
            <a:ext cx="3175" cy="3138488"/>
          </a:xfrm>
          <a:prstGeom prst="line">
            <a:avLst/>
          </a:prstGeom>
          <a:noFill/>
          <a:ln w="38100">
            <a:solidFill>
              <a:srgbClr val="F3716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68" name="Rectangle 49"/>
          <p:cNvSpPr>
            <a:spLocks noChangeArrowheads="1"/>
          </p:cNvSpPr>
          <p:nvPr/>
        </p:nvSpPr>
        <p:spPr bwMode="auto">
          <a:xfrm>
            <a:off x="2998788" y="3352800"/>
            <a:ext cx="17440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H</a:t>
            </a:r>
            <a:endPar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69" name="Freeform 50"/>
          <p:cNvSpPr>
            <a:spLocks/>
          </p:cNvSpPr>
          <p:nvPr/>
        </p:nvSpPr>
        <p:spPr bwMode="auto">
          <a:xfrm>
            <a:off x="-14288" y="4146054"/>
            <a:ext cx="1157288" cy="858540"/>
          </a:xfrm>
          <a:custGeom>
            <a:avLst/>
            <a:gdLst>
              <a:gd name="T0" fmla="*/ 1309849 w 198"/>
              <a:gd name="T1" fmla="*/ 715978 h 131"/>
              <a:gd name="T2" fmla="*/ 1197387 w 198"/>
              <a:gd name="T3" fmla="*/ 837439 h 131"/>
              <a:gd name="T4" fmla="*/ 112462 w 198"/>
              <a:gd name="T5" fmla="*/ 837439 h 131"/>
              <a:gd name="T6" fmla="*/ 0 w 198"/>
              <a:gd name="T7" fmla="*/ 715978 h 131"/>
              <a:gd name="T8" fmla="*/ 0 w 198"/>
              <a:gd name="T9" fmla="*/ 121461 h 131"/>
              <a:gd name="T10" fmla="*/ 112462 w 198"/>
              <a:gd name="T11" fmla="*/ 0 h 131"/>
              <a:gd name="T12" fmla="*/ 1197387 w 198"/>
              <a:gd name="T13" fmla="*/ 0 h 131"/>
              <a:gd name="T14" fmla="*/ 1309849 w 198"/>
              <a:gd name="T15" fmla="*/ 121461 h 131"/>
              <a:gd name="T16" fmla="*/ 1309849 w 198"/>
              <a:gd name="T17" fmla="*/ 715978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8"/>
              <a:gd name="T28" fmla="*/ 0 h 131"/>
              <a:gd name="T29" fmla="*/ 198 w 198"/>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8" h="131">
                <a:moveTo>
                  <a:pt x="198" y="112"/>
                </a:moveTo>
                <a:cubicBezTo>
                  <a:pt x="198" y="122"/>
                  <a:pt x="190" y="131"/>
                  <a:pt x="181" y="131"/>
                </a:cubicBezTo>
                <a:cubicBezTo>
                  <a:pt x="17" y="131"/>
                  <a:pt x="17" y="131"/>
                  <a:pt x="17" y="131"/>
                </a:cubicBezTo>
                <a:cubicBezTo>
                  <a:pt x="7" y="131"/>
                  <a:pt x="0" y="122"/>
                  <a:pt x="0" y="112"/>
                </a:cubicBezTo>
                <a:cubicBezTo>
                  <a:pt x="0" y="19"/>
                  <a:pt x="0" y="19"/>
                  <a:pt x="0" y="19"/>
                </a:cubicBezTo>
                <a:cubicBezTo>
                  <a:pt x="0" y="9"/>
                  <a:pt x="7" y="0"/>
                  <a:pt x="17" y="0"/>
                </a:cubicBezTo>
                <a:cubicBezTo>
                  <a:pt x="181" y="0"/>
                  <a:pt x="181" y="0"/>
                  <a:pt x="181" y="0"/>
                </a:cubicBezTo>
                <a:cubicBezTo>
                  <a:pt x="190" y="0"/>
                  <a:pt x="198" y="9"/>
                  <a:pt x="198" y="19"/>
                </a:cubicBezTo>
                <a:lnTo>
                  <a:pt x="198" y="112"/>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70" name="Freeform 65"/>
          <p:cNvSpPr>
            <a:spLocks/>
          </p:cNvSpPr>
          <p:nvPr/>
        </p:nvSpPr>
        <p:spPr bwMode="auto">
          <a:xfrm>
            <a:off x="3448050" y="6248400"/>
            <a:ext cx="1803400" cy="581025"/>
          </a:xfrm>
          <a:custGeom>
            <a:avLst/>
            <a:gdLst>
              <a:gd name="T0" fmla="*/ 1803496 w 272"/>
              <a:gd name="T1" fmla="*/ 459539 h 91"/>
              <a:gd name="T2" fmla="*/ 1690778 w 272"/>
              <a:gd name="T3" fmla="*/ 580806 h 91"/>
              <a:gd name="T4" fmla="*/ 112719 w 272"/>
              <a:gd name="T5" fmla="*/ 580806 h 91"/>
              <a:gd name="T6" fmla="*/ 0 w 272"/>
              <a:gd name="T7" fmla="*/ 459539 h 91"/>
              <a:gd name="T8" fmla="*/ 0 w 272"/>
              <a:gd name="T9" fmla="*/ 121267 h 91"/>
              <a:gd name="T10" fmla="*/ 112719 w 272"/>
              <a:gd name="T11" fmla="*/ 0 h 91"/>
              <a:gd name="T12" fmla="*/ 1690778 w 272"/>
              <a:gd name="T13" fmla="*/ 0 h 91"/>
              <a:gd name="T14" fmla="*/ 1803496 w 272"/>
              <a:gd name="T15" fmla="*/ 121267 h 91"/>
              <a:gd name="T16" fmla="*/ 1803496 w 272"/>
              <a:gd name="T17" fmla="*/ 459539 h 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2"/>
              <a:gd name="T28" fmla="*/ 0 h 91"/>
              <a:gd name="T29" fmla="*/ 272 w 272"/>
              <a:gd name="T30" fmla="*/ 91 h 9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2" h="91">
                <a:moveTo>
                  <a:pt x="272" y="72"/>
                </a:moveTo>
                <a:cubicBezTo>
                  <a:pt x="272" y="82"/>
                  <a:pt x="264" y="91"/>
                  <a:pt x="255" y="91"/>
                </a:cubicBezTo>
                <a:cubicBezTo>
                  <a:pt x="17" y="91"/>
                  <a:pt x="17" y="91"/>
                  <a:pt x="17" y="91"/>
                </a:cubicBezTo>
                <a:cubicBezTo>
                  <a:pt x="8" y="91"/>
                  <a:pt x="0" y="82"/>
                  <a:pt x="0" y="72"/>
                </a:cubicBezTo>
                <a:cubicBezTo>
                  <a:pt x="0" y="19"/>
                  <a:pt x="0" y="19"/>
                  <a:pt x="0" y="19"/>
                </a:cubicBezTo>
                <a:cubicBezTo>
                  <a:pt x="0" y="8"/>
                  <a:pt x="8" y="0"/>
                  <a:pt x="17" y="0"/>
                </a:cubicBezTo>
                <a:cubicBezTo>
                  <a:pt x="255" y="0"/>
                  <a:pt x="255" y="0"/>
                  <a:pt x="255" y="0"/>
                </a:cubicBezTo>
                <a:cubicBezTo>
                  <a:pt x="264" y="0"/>
                  <a:pt x="272" y="8"/>
                  <a:pt x="272" y="19"/>
                </a:cubicBezTo>
                <a:lnTo>
                  <a:pt x="272" y="72"/>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71" name="Freeform 75"/>
          <p:cNvSpPr>
            <a:spLocks/>
          </p:cNvSpPr>
          <p:nvPr/>
        </p:nvSpPr>
        <p:spPr bwMode="auto">
          <a:xfrm>
            <a:off x="1501776" y="2438400"/>
            <a:ext cx="5888038" cy="3367088"/>
          </a:xfrm>
          <a:custGeom>
            <a:avLst/>
            <a:gdLst>
              <a:gd name="T0" fmla="*/ 5884498 w 2098"/>
              <a:gd name="T1" fmla="*/ 4570798 h 1692"/>
              <a:gd name="T2" fmla="*/ 0 w 2098"/>
              <a:gd name="T3" fmla="*/ 4570798 h 1692"/>
              <a:gd name="T4" fmla="*/ 0 w 2098"/>
              <a:gd name="T5" fmla="*/ 0 h 1692"/>
              <a:gd name="T6" fmla="*/ 0 60000 65536"/>
              <a:gd name="T7" fmla="*/ 0 60000 65536"/>
              <a:gd name="T8" fmla="*/ 0 60000 65536"/>
              <a:gd name="T9" fmla="*/ 0 w 2098"/>
              <a:gd name="T10" fmla="*/ 0 h 1692"/>
              <a:gd name="T11" fmla="*/ 2098 w 2098"/>
              <a:gd name="T12" fmla="*/ 1692 h 1692"/>
            </a:gdLst>
            <a:ahLst/>
            <a:cxnLst>
              <a:cxn ang="T6">
                <a:pos x="T0" y="T1"/>
              </a:cxn>
              <a:cxn ang="T7">
                <a:pos x="T2" y="T3"/>
              </a:cxn>
              <a:cxn ang="T8">
                <a:pos x="T4" y="T5"/>
              </a:cxn>
            </a:cxnLst>
            <a:rect l="T9" t="T10" r="T11" b="T12"/>
            <a:pathLst>
              <a:path w="2098" h="1692">
                <a:moveTo>
                  <a:pt x="2098" y="1692"/>
                </a:moveTo>
                <a:lnTo>
                  <a:pt x="0" y="1692"/>
                </a:lnTo>
                <a:lnTo>
                  <a:pt x="0" y="0"/>
                </a:lnTo>
              </a:path>
            </a:pathLst>
          </a:custGeom>
          <a:noFill/>
          <a:ln w="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76" name="Line 92"/>
          <p:cNvSpPr>
            <a:spLocks noChangeShapeType="1"/>
          </p:cNvSpPr>
          <p:nvPr/>
        </p:nvSpPr>
        <p:spPr bwMode="auto">
          <a:xfrm flipH="1">
            <a:off x="4667247" y="3352800"/>
            <a:ext cx="223838" cy="762001"/>
          </a:xfrm>
          <a:prstGeom prst="line">
            <a:avLst/>
          </a:prstGeom>
          <a:noFill/>
          <a:ln w="5">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77" name="Freeform 93"/>
          <p:cNvSpPr>
            <a:spLocks/>
          </p:cNvSpPr>
          <p:nvPr/>
        </p:nvSpPr>
        <p:spPr bwMode="auto">
          <a:xfrm>
            <a:off x="4495800" y="3014663"/>
            <a:ext cx="1143000" cy="338137"/>
          </a:xfrm>
          <a:custGeom>
            <a:avLst/>
            <a:gdLst>
              <a:gd name="T0" fmla="*/ 1203266 w 182"/>
              <a:gd name="T1" fmla="*/ 216624 h 53"/>
              <a:gd name="T2" fmla="*/ 1090873 w 182"/>
              <a:gd name="T3" fmla="*/ 337678 h 53"/>
              <a:gd name="T4" fmla="*/ 112393 w 182"/>
              <a:gd name="T5" fmla="*/ 337678 h 53"/>
              <a:gd name="T6" fmla="*/ 0 w 182"/>
              <a:gd name="T7" fmla="*/ 216624 h 53"/>
              <a:gd name="T8" fmla="*/ 0 w 182"/>
              <a:gd name="T9" fmla="*/ 127426 h 53"/>
              <a:gd name="T10" fmla="*/ 112393 w 182"/>
              <a:gd name="T11" fmla="*/ 0 h 53"/>
              <a:gd name="T12" fmla="*/ 1090873 w 182"/>
              <a:gd name="T13" fmla="*/ 0 h 53"/>
              <a:gd name="T14" fmla="*/ 1203266 w 182"/>
              <a:gd name="T15" fmla="*/ 127426 h 53"/>
              <a:gd name="T16" fmla="*/ 1203266 w 182"/>
              <a:gd name="T17" fmla="*/ 216624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2"/>
              <a:gd name="T28" fmla="*/ 0 h 53"/>
              <a:gd name="T29" fmla="*/ 182 w 182"/>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2" h="53">
                <a:moveTo>
                  <a:pt x="182" y="34"/>
                </a:moveTo>
                <a:cubicBezTo>
                  <a:pt x="182" y="45"/>
                  <a:pt x="175" y="53"/>
                  <a:pt x="165" y="53"/>
                </a:cubicBezTo>
                <a:cubicBezTo>
                  <a:pt x="17" y="53"/>
                  <a:pt x="17" y="53"/>
                  <a:pt x="17" y="53"/>
                </a:cubicBezTo>
                <a:cubicBezTo>
                  <a:pt x="8" y="53"/>
                  <a:pt x="0" y="45"/>
                  <a:pt x="0" y="34"/>
                </a:cubicBezTo>
                <a:cubicBezTo>
                  <a:pt x="0" y="20"/>
                  <a:pt x="0" y="20"/>
                  <a:pt x="0" y="20"/>
                </a:cubicBezTo>
                <a:cubicBezTo>
                  <a:pt x="0" y="9"/>
                  <a:pt x="8" y="0"/>
                  <a:pt x="17" y="0"/>
                </a:cubicBezTo>
                <a:cubicBezTo>
                  <a:pt x="165" y="0"/>
                  <a:pt x="165" y="0"/>
                  <a:pt x="165" y="0"/>
                </a:cubicBezTo>
                <a:cubicBezTo>
                  <a:pt x="175" y="0"/>
                  <a:pt x="182" y="9"/>
                  <a:pt x="182" y="20"/>
                </a:cubicBezTo>
                <a:lnTo>
                  <a:pt x="182" y="34"/>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78" name="Footer Placeholder 2"/>
          <p:cNvSpPr txBox="1">
            <a:spLocks noGrp="1"/>
          </p:cNvSpPr>
          <p:nvPr/>
        </p:nvSpPr>
        <p:spPr bwMode="auto">
          <a:xfrm>
            <a:off x="5962650" y="6297613"/>
            <a:ext cx="2286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0"/>
              </a:spcBef>
              <a:defRPr>
                <a:solidFill>
                  <a:schemeClr val="tx1"/>
                </a:solidFill>
                <a:latin typeface="Arial" charset="0"/>
              </a:defRPr>
            </a:lvl1pPr>
            <a:lvl2pPr marL="37931725" indent="-37474525">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Quantity of money</a:t>
            </a:r>
            <a:endParaRPr kumimoji="0" lang="en-US" sz="18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rgbClr val="898989"/>
              </a:solidFill>
              <a:effectLst/>
              <a:uLnTx/>
              <a:uFillTx/>
              <a:latin typeface="Century Gothic"/>
              <a:ea typeface="ＭＳ Ｐゴシック" pitchFamily="34" charset="-128"/>
              <a:cs typeface="Century Gothic"/>
            </a:endParaRPr>
          </a:p>
        </p:txBody>
      </p:sp>
      <p:sp>
        <p:nvSpPr>
          <p:cNvPr id="646179" name="Rectangle 35"/>
          <p:cNvSpPr>
            <a:spLocks noChangeArrowheads="1"/>
          </p:cNvSpPr>
          <p:nvPr/>
        </p:nvSpPr>
        <p:spPr bwMode="auto">
          <a:xfrm>
            <a:off x="381000" y="2482850"/>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Interest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rate, </a:t>
            </a:r>
            <a:r>
              <a:rPr kumimoji="0" lang="en-US" sz="18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r</a:t>
            </a:r>
          </a:p>
        </p:txBody>
      </p:sp>
      <p:sp>
        <p:nvSpPr>
          <p:cNvPr id="646180" name="Rectangle 36"/>
          <p:cNvSpPr>
            <a:spLocks noChangeArrowheads="1"/>
          </p:cNvSpPr>
          <p:nvPr/>
        </p:nvSpPr>
        <p:spPr bwMode="auto">
          <a:xfrm>
            <a:off x="-14288" y="4191000"/>
            <a:ext cx="12065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Equilibrium interest rate</a:t>
            </a:r>
          </a:p>
        </p:txBody>
      </p:sp>
      <p:sp>
        <p:nvSpPr>
          <p:cNvPr id="646181" name="Rectangle 37"/>
          <p:cNvSpPr>
            <a:spLocks noChangeArrowheads="1"/>
          </p:cNvSpPr>
          <p:nvPr/>
        </p:nvSpPr>
        <p:spPr bwMode="auto">
          <a:xfrm>
            <a:off x="3290885" y="2314575"/>
            <a:ext cx="1600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Money supply</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curve, </a:t>
            </a: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MS</a:t>
            </a:r>
          </a:p>
        </p:txBody>
      </p:sp>
      <p:sp>
        <p:nvSpPr>
          <p:cNvPr id="646182" name="Rectangle 38"/>
          <p:cNvSpPr>
            <a:spLocks noChangeArrowheads="1"/>
          </p:cNvSpPr>
          <p:nvPr/>
        </p:nvSpPr>
        <p:spPr bwMode="auto">
          <a:xfrm>
            <a:off x="4495800" y="3014663"/>
            <a:ext cx="127679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Equilibrium</a:t>
            </a:r>
          </a:p>
        </p:txBody>
      </p:sp>
      <p:sp>
        <p:nvSpPr>
          <p:cNvPr id="646183" name="Rectangle 39"/>
          <p:cNvSpPr>
            <a:spLocks noChangeArrowheads="1"/>
          </p:cNvSpPr>
          <p:nvPr/>
        </p:nvSpPr>
        <p:spPr bwMode="auto">
          <a:xfrm>
            <a:off x="3524250" y="6248400"/>
            <a:ext cx="2133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Money supply</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chosen by the Fed</a:t>
            </a:r>
          </a:p>
        </p:txBody>
      </p:sp>
      <p:sp>
        <p:nvSpPr>
          <p:cNvPr id="646184" name="Line 40"/>
          <p:cNvSpPr>
            <a:spLocks noChangeShapeType="1"/>
          </p:cNvSpPr>
          <p:nvPr/>
        </p:nvSpPr>
        <p:spPr bwMode="auto">
          <a:xfrm flipH="1">
            <a:off x="1501775" y="4334933"/>
            <a:ext cx="2854325"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85" name="Line 41"/>
          <p:cNvSpPr>
            <a:spLocks noChangeShapeType="1"/>
          </p:cNvSpPr>
          <p:nvPr/>
        </p:nvSpPr>
        <p:spPr bwMode="auto">
          <a:xfrm flipH="1">
            <a:off x="1528763" y="5251450"/>
            <a:ext cx="48910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86" name="Line 42"/>
          <p:cNvSpPr>
            <a:spLocks noChangeShapeType="1"/>
          </p:cNvSpPr>
          <p:nvPr/>
        </p:nvSpPr>
        <p:spPr bwMode="auto">
          <a:xfrm flipH="1">
            <a:off x="1543050" y="3657600"/>
            <a:ext cx="130333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87" name="Line 43"/>
          <p:cNvSpPr>
            <a:spLocks noChangeShapeType="1"/>
          </p:cNvSpPr>
          <p:nvPr/>
        </p:nvSpPr>
        <p:spPr bwMode="auto">
          <a:xfrm flipV="1">
            <a:off x="2900363" y="3657600"/>
            <a:ext cx="0" cy="210312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88" name="Line 44"/>
          <p:cNvSpPr>
            <a:spLocks noChangeShapeType="1"/>
          </p:cNvSpPr>
          <p:nvPr/>
        </p:nvSpPr>
        <p:spPr bwMode="auto">
          <a:xfrm flipH="1" flipV="1">
            <a:off x="6530975" y="5341938"/>
            <a:ext cx="4763" cy="4619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6189" name="Rectangle 45"/>
          <p:cNvSpPr>
            <a:spLocks noGrp="1" noRot="1" noChangeArrowheads="1"/>
          </p:cNvSpPr>
          <p:nvPr>
            <p:ph type="title"/>
          </p:nvPr>
        </p:nvSpPr>
        <p:spPr/>
        <p:txBody>
          <a:bodyPr>
            <a:normAutofit fontScale="90000"/>
          </a:bodyPr>
          <a:lstStyle/>
          <a:p>
            <a:r>
              <a:rPr lang="en-US" spc="0" dirty="0"/>
              <a:t>EQUILIBRIUM IN THE MONEY MARKET</a:t>
            </a:r>
          </a:p>
        </p:txBody>
      </p:sp>
      <p:cxnSp>
        <p:nvCxnSpPr>
          <p:cNvPr id="46" name="Straight Connector 45"/>
          <p:cNvCxnSpPr/>
          <p:nvPr/>
        </p:nvCxnSpPr>
        <p:spPr>
          <a:xfrm>
            <a:off x="1905000" y="3200400"/>
            <a:ext cx="4811713" cy="2114550"/>
          </a:xfrm>
          <a:prstGeom prst="line">
            <a:avLst/>
          </a:prstGeom>
          <a:noFill/>
          <a:ln w="41275">
            <a:solidFill>
              <a:srgbClr val="2CB1AE"/>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6174" name="Oval 90"/>
          <p:cNvSpPr>
            <a:spLocks noChangeArrowheads="1"/>
          </p:cNvSpPr>
          <p:nvPr/>
        </p:nvSpPr>
        <p:spPr bwMode="auto">
          <a:xfrm>
            <a:off x="2849563" y="3586162"/>
            <a:ext cx="134937" cy="1270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75" name="Oval 91"/>
          <p:cNvSpPr>
            <a:spLocks noChangeArrowheads="1"/>
          </p:cNvSpPr>
          <p:nvPr/>
        </p:nvSpPr>
        <p:spPr bwMode="auto">
          <a:xfrm>
            <a:off x="6467475" y="5187950"/>
            <a:ext cx="131763" cy="1270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6173" name="Oval 89"/>
          <p:cNvSpPr>
            <a:spLocks noChangeArrowheads="1"/>
          </p:cNvSpPr>
          <p:nvPr/>
        </p:nvSpPr>
        <p:spPr bwMode="auto">
          <a:xfrm>
            <a:off x="4356100" y="4267200"/>
            <a:ext cx="131763" cy="12700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53" name="Rectangle 36"/>
          <p:cNvSpPr>
            <a:spLocks noChangeArrowheads="1"/>
          </p:cNvSpPr>
          <p:nvPr/>
        </p:nvSpPr>
        <p:spPr bwMode="auto">
          <a:xfrm>
            <a:off x="5791200" y="1981200"/>
            <a:ext cx="3352799"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At </a:t>
            </a:r>
            <a:r>
              <a:rPr kumimoji="0" lang="en-US" sz="2400" b="1"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2400" b="1"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L</a:t>
            </a:r>
            <a:r>
              <a:rPr kumimoji="0" lang="en-US" sz="20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 </a:t>
            </a:r>
            <a:r>
              <a:rPr kumimoji="0" lang="en-US" sz="20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 interest rates are low.  MD &gt; MS, and a </a:t>
            </a:r>
            <a:r>
              <a:rPr kumimoji="0" lang="en-US" sz="2000" b="1" i="1" u="none" strike="noStrike" kern="1200" cap="none" spc="0" normalizeH="0" baseline="0" noProof="0" dirty="0">
                <a:ln>
                  <a:noFill/>
                </a:ln>
                <a:solidFill>
                  <a:srgbClr val="0070C0"/>
                </a:solidFill>
                <a:effectLst/>
                <a:uLnTx/>
                <a:uFillTx/>
                <a:latin typeface="Century Gothic"/>
                <a:ea typeface="ＭＳ Ｐゴシック" pitchFamily="34" charset="-128"/>
                <a:cs typeface="Century Gothic"/>
              </a:rPr>
              <a:t>shortage of money </a:t>
            </a:r>
            <a:r>
              <a:rPr kumimoji="0" lang="en-US" sz="20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means there is a </a:t>
            </a:r>
            <a:r>
              <a:rPr kumimoji="0" lang="en-US" sz="2000" b="1" i="1" u="none" strike="noStrike" kern="1200" cap="none" spc="0" normalizeH="0" baseline="0" noProof="0" dirty="0">
                <a:ln>
                  <a:noFill/>
                </a:ln>
                <a:solidFill>
                  <a:srgbClr val="0070C0"/>
                </a:solidFill>
                <a:effectLst/>
                <a:uLnTx/>
                <a:uFillTx/>
                <a:latin typeface="Century Gothic"/>
                <a:ea typeface="ＭＳ Ｐゴシック" pitchFamily="34" charset="-128"/>
                <a:cs typeface="Century Gothic"/>
              </a:rPr>
              <a:t>surplus of other assets </a:t>
            </a:r>
            <a:r>
              <a:rPr kumimoji="0" lang="en-US" sz="20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like bonds. Investors selling bonds will try to make them more attractive to buyers by raising rates.</a:t>
            </a:r>
          </a:p>
        </p:txBody>
      </p:sp>
      <p:sp>
        <p:nvSpPr>
          <p:cNvPr id="54" name="Rectangle 36"/>
          <p:cNvSpPr>
            <a:spLocks noChangeArrowheads="1"/>
          </p:cNvSpPr>
          <p:nvPr/>
        </p:nvSpPr>
        <p:spPr bwMode="auto">
          <a:xfrm>
            <a:off x="19051" y="762000"/>
            <a:ext cx="6076949" cy="16927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At </a:t>
            </a:r>
            <a:r>
              <a:rPr kumimoji="0" lang="en-US" sz="2400" b="1"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2400" b="1"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H</a:t>
            </a:r>
            <a:r>
              <a:rPr kumimoji="0" lang="en-US" sz="20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 interest rates are high.  MS &gt; MD, and a </a:t>
            </a:r>
            <a:r>
              <a:rPr kumimoji="0" lang="en-US" sz="2000" b="1" i="1" u="none" strike="noStrike" kern="1200" cap="none" spc="0" normalizeH="0" baseline="0" noProof="0" dirty="0">
                <a:ln>
                  <a:noFill/>
                </a:ln>
                <a:solidFill>
                  <a:srgbClr val="0070C0"/>
                </a:solidFill>
                <a:effectLst/>
                <a:uLnTx/>
                <a:uFillTx/>
                <a:latin typeface="Century Gothic"/>
                <a:ea typeface="ＭＳ Ｐゴシック" pitchFamily="34" charset="-128"/>
                <a:cs typeface="Century Gothic"/>
              </a:rPr>
              <a:t>surplus of money </a:t>
            </a:r>
            <a:r>
              <a:rPr kumimoji="0" lang="en-US" sz="20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means there is a </a:t>
            </a:r>
            <a:r>
              <a:rPr kumimoji="0" lang="en-US" sz="2000" b="1" i="1" u="none" strike="noStrike" kern="1200" cap="none" spc="0" normalizeH="0" baseline="0" noProof="0" dirty="0">
                <a:ln>
                  <a:noFill/>
                </a:ln>
                <a:solidFill>
                  <a:srgbClr val="0070C0"/>
                </a:solidFill>
                <a:effectLst/>
                <a:uLnTx/>
                <a:uFillTx/>
                <a:latin typeface="Century Gothic"/>
                <a:ea typeface="ＭＳ Ｐゴシック" pitchFamily="34" charset="-128"/>
                <a:cs typeface="Century Gothic"/>
              </a:rPr>
              <a:t>shortage of other assets </a:t>
            </a:r>
            <a:r>
              <a:rPr kumimoji="0" lang="en-US" sz="20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like bonds. Investors selling bonds will realize they can reduce interest rates and still find buyers.</a:t>
            </a:r>
          </a:p>
        </p:txBody>
      </p:sp>
    </p:spTree>
    <p:extLst>
      <p:ext uri="{BB962C8B-B14F-4D97-AF65-F5344CB8AC3E}">
        <p14:creationId xmlns:p14="http://schemas.microsoft.com/office/powerpoint/2010/main" val="217302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46185"/>
                                        </p:tgtEl>
                                        <p:attrNameLst>
                                          <p:attrName>style.visibility</p:attrName>
                                        </p:attrNameLst>
                                      </p:cBhvr>
                                      <p:to>
                                        <p:strVal val="visible"/>
                                      </p:to>
                                    </p:set>
                                    <p:animEffect transition="in" filter="fade">
                                      <p:cBhvr>
                                        <p:cTn id="7" dur="500"/>
                                        <p:tgtEl>
                                          <p:spTgt spid="64618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46175"/>
                                        </p:tgtEl>
                                        <p:attrNameLst>
                                          <p:attrName>style.visibility</p:attrName>
                                        </p:attrNameLst>
                                      </p:cBhvr>
                                      <p:to>
                                        <p:strVal val="visible"/>
                                      </p:to>
                                    </p:set>
                                    <p:animEffect transition="in" filter="fade">
                                      <p:cBhvr>
                                        <p:cTn id="10" dur="500"/>
                                        <p:tgtEl>
                                          <p:spTgt spid="64617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46155"/>
                                        </p:tgtEl>
                                        <p:attrNameLst>
                                          <p:attrName>style.visibility</p:attrName>
                                        </p:attrNameLst>
                                      </p:cBhvr>
                                      <p:to>
                                        <p:strVal val="visible"/>
                                      </p:to>
                                    </p:set>
                                    <p:animEffect transition="in" filter="fade">
                                      <p:cBhvr>
                                        <p:cTn id="13" dur="500"/>
                                        <p:tgtEl>
                                          <p:spTgt spid="64615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46188"/>
                                        </p:tgtEl>
                                        <p:attrNameLst>
                                          <p:attrName>style.visibility</p:attrName>
                                        </p:attrNameLst>
                                      </p:cBhvr>
                                      <p:to>
                                        <p:strVal val="visible"/>
                                      </p:to>
                                    </p:set>
                                    <p:animEffect transition="in" filter="fade">
                                      <p:cBhvr>
                                        <p:cTn id="16" dur="500"/>
                                        <p:tgtEl>
                                          <p:spTgt spid="64618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46161"/>
                                        </p:tgtEl>
                                        <p:attrNameLst>
                                          <p:attrName>style.visibility</p:attrName>
                                        </p:attrNameLst>
                                      </p:cBhvr>
                                      <p:to>
                                        <p:strVal val="visible"/>
                                      </p:to>
                                    </p:set>
                                    <p:animEffect transition="in" filter="fade">
                                      <p:cBhvr>
                                        <p:cTn id="19" dur="500"/>
                                        <p:tgtEl>
                                          <p:spTgt spid="64616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46153"/>
                                        </p:tgtEl>
                                        <p:attrNameLst>
                                          <p:attrName>style.visibility</p:attrName>
                                        </p:attrNameLst>
                                      </p:cBhvr>
                                      <p:to>
                                        <p:strVal val="visible"/>
                                      </p:to>
                                    </p:set>
                                    <p:animEffect transition="in" filter="fade">
                                      <p:cBhvr>
                                        <p:cTn id="22" dur="500"/>
                                        <p:tgtEl>
                                          <p:spTgt spid="64615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500"/>
                                        <p:tgtEl>
                                          <p:spTgt spid="5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46165"/>
                                        </p:tgtEl>
                                        <p:attrNameLst>
                                          <p:attrName>style.visibility</p:attrName>
                                        </p:attrNameLst>
                                      </p:cBhvr>
                                      <p:to>
                                        <p:strVal val="visible"/>
                                      </p:to>
                                    </p:set>
                                    <p:animEffect transition="in" filter="wipe(down)">
                                      <p:cBhvr>
                                        <p:cTn id="32" dur="500"/>
                                        <p:tgtEl>
                                          <p:spTgt spid="646165"/>
                                        </p:tgtEl>
                                      </p:cBhvr>
                                    </p:animEffect>
                                  </p:childTnLst>
                                </p:cTn>
                              </p:par>
                            </p:childTnLst>
                          </p:cTn>
                        </p:par>
                        <p:par>
                          <p:cTn id="33" fill="hold">
                            <p:stCondLst>
                              <p:cond delay="500"/>
                            </p:stCondLst>
                            <p:childTnLst>
                              <p:par>
                                <p:cTn id="34" presetID="22" presetClass="entr" presetSubtype="4" fill="hold" grpId="0" nodeType="afterEffect">
                                  <p:stCondLst>
                                    <p:cond delay="0"/>
                                  </p:stCondLst>
                                  <p:childTnLst>
                                    <p:set>
                                      <p:cBhvr>
                                        <p:cTn id="35" dur="1" fill="hold">
                                          <p:stCondLst>
                                            <p:cond delay="0"/>
                                          </p:stCondLst>
                                        </p:cTn>
                                        <p:tgtEl>
                                          <p:spTgt spid="646166"/>
                                        </p:tgtEl>
                                        <p:attrNameLst>
                                          <p:attrName>style.visibility</p:attrName>
                                        </p:attrNameLst>
                                      </p:cBhvr>
                                      <p:to>
                                        <p:strVal val="visible"/>
                                      </p:to>
                                    </p:set>
                                    <p:animEffect transition="in" filter="wipe(down)">
                                      <p:cBhvr>
                                        <p:cTn id="36" dur="500"/>
                                        <p:tgtEl>
                                          <p:spTgt spid="64616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46149"/>
                                        </p:tgtEl>
                                        <p:attrNameLst>
                                          <p:attrName>style.visibility</p:attrName>
                                        </p:attrNameLst>
                                      </p:cBhvr>
                                      <p:to>
                                        <p:strVal val="visible"/>
                                      </p:to>
                                    </p:set>
                                    <p:animEffect transition="in" filter="fade">
                                      <p:cBhvr>
                                        <p:cTn id="41" dur="500"/>
                                        <p:tgtEl>
                                          <p:spTgt spid="64614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46186"/>
                                        </p:tgtEl>
                                        <p:attrNameLst>
                                          <p:attrName>style.visibility</p:attrName>
                                        </p:attrNameLst>
                                      </p:cBhvr>
                                      <p:to>
                                        <p:strVal val="visible"/>
                                      </p:to>
                                    </p:set>
                                    <p:animEffect transition="in" filter="fade">
                                      <p:cBhvr>
                                        <p:cTn id="44" dur="500"/>
                                        <p:tgtEl>
                                          <p:spTgt spid="64618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46174"/>
                                        </p:tgtEl>
                                        <p:attrNameLst>
                                          <p:attrName>style.visibility</p:attrName>
                                        </p:attrNameLst>
                                      </p:cBhvr>
                                      <p:to>
                                        <p:strVal val="visible"/>
                                      </p:to>
                                    </p:set>
                                    <p:animEffect transition="in" filter="fade">
                                      <p:cBhvr>
                                        <p:cTn id="47" dur="500"/>
                                        <p:tgtEl>
                                          <p:spTgt spid="64617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46168"/>
                                        </p:tgtEl>
                                        <p:attrNameLst>
                                          <p:attrName>style.visibility</p:attrName>
                                        </p:attrNameLst>
                                      </p:cBhvr>
                                      <p:to>
                                        <p:strVal val="visible"/>
                                      </p:to>
                                    </p:set>
                                    <p:animEffect transition="in" filter="fade">
                                      <p:cBhvr>
                                        <p:cTn id="50" dur="500"/>
                                        <p:tgtEl>
                                          <p:spTgt spid="64616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46187"/>
                                        </p:tgtEl>
                                        <p:attrNameLst>
                                          <p:attrName>style.visibility</p:attrName>
                                        </p:attrNameLst>
                                      </p:cBhvr>
                                      <p:to>
                                        <p:strVal val="visible"/>
                                      </p:to>
                                    </p:set>
                                    <p:animEffect transition="in" filter="fade">
                                      <p:cBhvr>
                                        <p:cTn id="53" dur="500"/>
                                        <p:tgtEl>
                                          <p:spTgt spid="64618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46159"/>
                                        </p:tgtEl>
                                        <p:attrNameLst>
                                          <p:attrName>style.visibility</p:attrName>
                                        </p:attrNameLst>
                                      </p:cBhvr>
                                      <p:to>
                                        <p:strVal val="visible"/>
                                      </p:to>
                                    </p:set>
                                    <p:animEffect transition="in" filter="fade">
                                      <p:cBhvr>
                                        <p:cTn id="56" dur="500"/>
                                        <p:tgtEl>
                                          <p:spTgt spid="64615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54"/>
                                        </p:tgtEl>
                                        <p:attrNameLst>
                                          <p:attrName>style.visibility</p:attrName>
                                        </p:attrNameLst>
                                      </p:cBhvr>
                                      <p:to>
                                        <p:strVal val="visible"/>
                                      </p:to>
                                    </p:set>
                                    <p:animEffect transition="in" filter="fade">
                                      <p:cBhvr>
                                        <p:cTn id="61" dur="500"/>
                                        <p:tgtEl>
                                          <p:spTgt spid="5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46164"/>
                                        </p:tgtEl>
                                        <p:attrNameLst>
                                          <p:attrName>style.visibility</p:attrName>
                                        </p:attrNameLst>
                                      </p:cBhvr>
                                      <p:to>
                                        <p:strVal val="visible"/>
                                      </p:to>
                                    </p:set>
                                    <p:animEffect transition="in" filter="fade">
                                      <p:cBhvr>
                                        <p:cTn id="66" dur="500"/>
                                        <p:tgtEl>
                                          <p:spTgt spid="64616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646163"/>
                                        </p:tgtEl>
                                        <p:attrNameLst>
                                          <p:attrName>style.visibility</p:attrName>
                                        </p:attrNameLst>
                                      </p:cBhvr>
                                      <p:to>
                                        <p:strVal val="visible"/>
                                      </p:to>
                                    </p:set>
                                    <p:animEffect transition="in" filter="fade">
                                      <p:cBhvr>
                                        <p:cTn id="69" dur="500"/>
                                        <p:tgtEl>
                                          <p:spTgt spid="646163"/>
                                        </p:tgtEl>
                                      </p:cBhvr>
                                    </p:animEffect>
                                  </p:childTnLst>
                                </p:cTn>
                              </p:par>
                            </p:childTnLst>
                          </p:cTn>
                        </p:par>
                        <p:par>
                          <p:cTn id="70" fill="hold">
                            <p:stCondLst>
                              <p:cond delay="500"/>
                            </p:stCondLst>
                            <p:childTnLst>
                              <p:par>
                                <p:cTn id="71" presetID="32" presetClass="emph" presetSubtype="0" fill="hold" grpId="0" nodeType="afterEffect">
                                  <p:stCondLst>
                                    <p:cond delay="0"/>
                                  </p:stCondLst>
                                  <p:childTnLst>
                                    <p:animRot by="120000">
                                      <p:cBhvr>
                                        <p:cTn id="72" dur="100" fill="hold">
                                          <p:stCondLst>
                                            <p:cond delay="0"/>
                                          </p:stCondLst>
                                        </p:cTn>
                                        <p:tgtEl>
                                          <p:spTgt spid="646177"/>
                                        </p:tgtEl>
                                        <p:attrNameLst>
                                          <p:attrName>r</p:attrName>
                                        </p:attrNameLst>
                                      </p:cBhvr>
                                    </p:animRot>
                                    <p:animRot by="-240000">
                                      <p:cBhvr>
                                        <p:cTn id="73" dur="200" fill="hold">
                                          <p:stCondLst>
                                            <p:cond delay="200"/>
                                          </p:stCondLst>
                                        </p:cTn>
                                        <p:tgtEl>
                                          <p:spTgt spid="646177"/>
                                        </p:tgtEl>
                                        <p:attrNameLst>
                                          <p:attrName>r</p:attrName>
                                        </p:attrNameLst>
                                      </p:cBhvr>
                                    </p:animRot>
                                    <p:animRot by="240000">
                                      <p:cBhvr>
                                        <p:cTn id="74" dur="200" fill="hold">
                                          <p:stCondLst>
                                            <p:cond delay="400"/>
                                          </p:stCondLst>
                                        </p:cTn>
                                        <p:tgtEl>
                                          <p:spTgt spid="646177"/>
                                        </p:tgtEl>
                                        <p:attrNameLst>
                                          <p:attrName>r</p:attrName>
                                        </p:attrNameLst>
                                      </p:cBhvr>
                                    </p:animRot>
                                    <p:animRot by="-240000">
                                      <p:cBhvr>
                                        <p:cTn id="75" dur="200" fill="hold">
                                          <p:stCondLst>
                                            <p:cond delay="600"/>
                                          </p:stCondLst>
                                        </p:cTn>
                                        <p:tgtEl>
                                          <p:spTgt spid="646177"/>
                                        </p:tgtEl>
                                        <p:attrNameLst>
                                          <p:attrName>r</p:attrName>
                                        </p:attrNameLst>
                                      </p:cBhvr>
                                    </p:animRot>
                                    <p:animRot by="120000">
                                      <p:cBhvr>
                                        <p:cTn id="76" dur="200" fill="hold">
                                          <p:stCondLst>
                                            <p:cond delay="800"/>
                                          </p:stCondLst>
                                        </p:cTn>
                                        <p:tgtEl>
                                          <p:spTgt spid="646177"/>
                                        </p:tgtEl>
                                        <p:attrNameLst>
                                          <p:attrName>r</p:attrName>
                                        </p:attrNameLst>
                                      </p:cBhvr>
                                    </p:animRot>
                                  </p:childTnLst>
                                </p:cTn>
                              </p:par>
                              <p:par>
                                <p:cTn id="77" presetID="32" presetClass="emph" presetSubtype="0" fill="hold" grpId="0" nodeType="withEffect">
                                  <p:stCondLst>
                                    <p:cond delay="0"/>
                                  </p:stCondLst>
                                  <p:childTnLst>
                                    <p:animRot by="120000">
                                      <p:cBhvr>
                                        <p:cTn id="78" dur="100" fill="hold">
                                          <p:stCondLst>
                                            <p:cond delay="0"/>
                                          </p:stCondLst>
                                        </p:cTn>
                                        <p:tgtEl>
                                          <p:spTgt spid="646182"/>
                                        </p:tgtEl>
                                        <p:attrNameLst>
                                          <p:attrName>r</p:attrName>
                                        </p:attrNameLst>
                                      </p:cBhvr>
                                    </p:animRot>
                                    <p:animRot by="-240000">
                                      <p:cBhvr>
                                        <p:cTn id="79" dur="200" fill="hold">
                                          <p:stCondLst>
                                            <p:cond delay="200"/>
                                          </p:stCondLst>
                                        </p:cTn>
                                        <p:tgtEl>
                                          <p:spTgt spid="646182"/>
                                        </p:tgtEl>
                                        <p:attrNameLst>
                                          <p:attrName>r</p:attrName>
                                        </p:attrNameLst>
                                      </p:cBhvr>
                                    </p:animRot>
                                    <p:animRot by="240000">
                                      <p:cBhvr>
                                        <p:cTn id="80" dur="200" fill="hold">
                                          <p:stCondLst>
                                            <p:cond delay="400"/>
                                          </p:stCondLst>
                                        </p:cTn>
                                        <p:tgtEl>
                                          <p:spTgt spid="646182"/>
                                        </p:tgtEl>
                                        <p:attrNameLst>
                                          <p:attrName>r</p:attrName>
                                        </p:attrNameLst>
                                      </p:cBhvr>
                                    </p:animRot>
                                    <p:animRot by="-240000">
                                      <p:cBhvr>
                                        <p:cTn id="81" dur="200" fill="hold">
                                          <p:stCondLst>
                                            <p:cond delay="600"/>
                                          </p:stCondLst>
                                        </p:cTn>
                                        <p:tgtEl>
                                          <p:spTgt spid="646182"/>
                                        </p:tgtEl>
                                        <p:attrNameLst>
                                          <p:attrName>r</p:attrName>
                                        </p:attrNameLst>
                                      </p:cBhvr>
                                    </p:animRot>
                                    <p:animRot by="120000">
                                      <p:cBhvr>
                                        <p:cTn id="82" dur="200" fill="hold">
                                          <p:stCondLst>
                                            <p:cond delay="800"/>
                                          </p:stCondLst>
                                        </p:cTn>
                                        <p:tgtEl>
                                          <p:spTgt spid="646182"/>
                                        </p:tgtEl>
                                        <p:attrNameLst>
                                          <p:attrName>r</p:attrName>
                                        </p:attrNameLst>
                                      </p:cBhvr>
                                    </p:animRot>
                                  </p:childTnLst>
                                </p:cTn>
                              </p:par>
                              <p:par>
                                <p:cTn id="83" presetID="32" presetClass="emph" presetSubtype="0" fill="hold" grpId="0" nodeType="withEffect">
                                  <p:stCondLst>
                                    <p:cond delay="0"/>
                                  </p:stCondLst>
                                  <p:childTnLst>
                                    <p:animRot by="120000">
                                      <p:cBhvr>
                                        <p:cTn id="84" dur="100" fill="hold">
                                          <p:stCondLst>
                                            <p:cond delay="0"/>
                                          </p:stCondLst>
                                        </p:cTn>
                                        <p:tgtEl>
                                          <p:spTgt spid="646176"/>
                                        </p:tgtEl>
                                        <p:attrNameLst>
                                          <p:attrName>r</p:attrName>
                                        </p:attrNameLst>
                                      </p:cBhvr>
                                    </p:animRot>
                                    <p:animRot by="-240000">
                                      <p:cBhvr>
                                        <p:cTn id="85" dur="200" fill="hold">
                                          <p:stCondLst>
                                            <p:cond delay="200"/>
                                          </p:stCondLst>
                                        </p:cTn>
                                        <p:tgtEl>
                                          <p:spTgt spid="646176"/>
                                        </p:tgtEl>
                                        <p:attrNameLst>
                                          <p:attrName>r</p:attrName>
                                        </p:attrNameLst>
                                      </p:cBhvr>
                                    </p:animRot>
                                    <p:animRot by="240000">
                                      <p:cBhvr>
                                        <p:cTn id="86" dur="200" fill="hold">
                                          <p:stCondLst>
                                            <p:cond delay="400"/>
                                          </p:stCondLst>
                                        </p:cTn>
                                        <p:tgtEl>
                                          <p:spTgt spid="646176"/>
                                        </p:tgtEl>
                                        <p:attrNameLst>
                                          <p:attrName>r</p:attrName>
                                        </p:attrNameLst>
                                      </p:cBhvr>
                                    </p:animRot>
                                    <p:animRot by="-240000">
                                      <p:cBhvr>
                                        <p:cTn id="87" dur="200" fill="hold">
                                          <p:stCondLst>
                                            <p:cond delay="600"/>
                                          </p:stCondLst>
                                        </p:cTn>
                                        <p:tgtEl>
                                          <p:spTgt spid="646176"/>
                                        </p:tgtEl>
                                        <p:attrNameLst>
                                          <p:attrName>r</p:attrName>
                                        </p:attrNameLst>
                                      </p:cBhvr>
                                    </p:animRot>
                                    <p:animRot by="120000">
                                      <p:cBhvr>
                                        <p:cTn id="88" dur="200" fill="hold">
                                          <p:stCondLst>
                                            <p:cond delay="800"/>
                                          </p:stCondLst>
                                        </p:cTn>
                                        <p:tgtEl>
                                          <p:spTgt spid="646176"/>
                                        </p:tgtEl>
                                        <p:attrNameLst>
                                          <p:attrName>r</p:attrName>
                                        </p:attrNameLst>
                                      </p:cBhvr>
                                    </p:animRot>
                                  </p:childTnLst>
                                </p:cTn>
                              </p:par>
                              <p:par>
                                <p:cTn id="89" presetID="32" presetClass="emph" presetSubtype="0" fill="hold" grpId="0" nodeType="withEffect">
                                  <p:stCondLst>
                                    <p:cond delay="0"/>
                                  </p:stCondLst>
                                  <p:childTnLst>
                                    <p:animRot by="120000">
                                      <p:cBhvr>
                                        <p:cTn id="90" dur="100" fill="hold">
                                          <p:stCondLst>
                                            <p:cond delay="0"/>
                                          </p:stCondLst>
                                        </p:cTn>
                                        <p:tgtEl>
                                          <p:spTgt spid="646156"/>
                                        </p:tgtEl>
                                        <p:attrNameLst>
                                          <p:attrName>r</p:attrName>
                                        </p:attrNameLst>
                                      </p:cBhvr>
                                    </p:animRot>
                                    <p:animRot by="-240000">
                                      <p:cBhvr>
                                        <p:cTn id="91" dur="200" fill="hold">
                                          <p:stCondLst>
                                            <p:cond delay="200"/>
                                          </p:stCondLst>
                                        </p:cTn>
                                        <p:tgtEl>
                                          <p:spTgt spid="646156"/>
                                        </p:tgtEl>
                                        <p:attrNameLst>
                                          <p:attrName>r</p:attrName>
                                        </p:attrNameLst>
                                      </p:cBhvr>
                                    </p:animRot>
                                    <p:animRot by="240000">
                                      <p:cBhvr>
                                        <p:cTn id="92" dur="200" fill="hold">
                                          <p:stCondLst>
                                            <p:cond delay="400"/>
                                          </p:stCondLst>
                                        </p:cTn>
                                        <p:tgtEl>
                                          <p:spTgt spid="646156"/>
                                        </p:tgtEl>
                                        <p:attrNameLst>
                                          <p:attrName>r</p:attrName>
                                        </p:attrNameLst>
                                      </p:cBhvr>
                                    </p:animRot>
                                    <p:animRot by="-240000">
                                      <p:cBhvr>
                                        <p:cTn id="93" dur="200" fill="hold">
                                          <p:stCondLst>
                                            <p:cond delay="600"/>
                                          </p:stCondLst>
                                        </p:cTn>
                                        <p:tgtEl>
                                          <p:spTgt spid="646156"/>
                                        </p:tgtEl>
                                        <p:attrNameLst>
                                          <p:attrName>r</p:attrName>
                                        </p:attrNameLst>
                                      </p:cBhvr>
                                    </p:animRot>
                                    <p:animRot by="120000">
                                      <p:cBhvr>
                                        <p:cTn id="94" dur="200" fill="hold">
                                          <p:stCondLst>
                                            <p:cond delay="800"/>
                                          </p:stCondLst>
                                        </p:cTn>
                                        <p:tgtEl>
                                          <p:spTgt spid="646156"/>
                                        </p:tgtEl>
                                        <p:attrNameLst>
                                          <p:attrName>r</p:attrName>
                                        </p:attrNameLst>
                                      </p:cBhvr>
                                    </p:animRot>
                                  </p:childTnLst>
                                </p:cTn>
                              </p:par>
                              <p:par>
                                <p:cTn id="95" presetID="32" presetClass="emph" presetSubtype="0" fill="hold" grpId="0" nodeType="withEffect">
                                  <p:stCondLst>
                                    <p:cond delay="0"/>
                                  </p:stCondLst>
                                  <p:childTnLst>
                                    <p:animRot by="120000">
                                      <p:cBhvr>
                                        <p:cTn id="96" dur="100" fill="hold">
                                          <p:stCondLst>
                                            <p:cond delay="0"/>
                                          </p:stCondLst>
                                        </p:cTn>
                                        <p:tgtEl>
                                          <p:spTgt spid="646173"/>
                                        </p:tgtEl>
                                        <p:attrNameLst>
                                          <p:attrName>r</p:attrName>
                                        </p:attrNameLst>
                                      </p:cBhvr>
                                    </p:animRot>
                                    <p:animRot by="-240000">
                                      <p:cBhvr>
                                        <p:cTn id="97" dur="200" fill="hold">
                                          <p:stCondLst>
                                            <p:cond delay="200"/>
                                          </p:stCondLst>
                                        </p:cTn>
                                        <p:tgtEl>
                                          <p:spTgt spid="646173"/>
                                        </p:tgtEl>
                                        <p:attrNameLst>
                                          <p:attrName>r</p:attrName>
                                        </p:attrNameLst>
                                      </p:cBhvr>
                                    </p:animRot>
                                    <p:animRot by="240000">
                                      <p:cBhvr>
                                        <p:cTn id="98" dur="200" fill="hold">
                                          <p:stCondLst>
                                            <p:cond delay="400"/>
                                          </p:stCondLst>
                                        </p:cTn>
                                        <p:tgtEl>
                                          <p:spTgt spid="646173"/>
                                        </p:tgtEl>
                                        <p:attrNameLst>
                                          <p:attrName>r</p:attrName>
                                        </p:attrNameLst>
                                      </p:cBhvr>
                                    </p:animRot>
                                    <p:animRot by="-240000">
                                      <p:cBhvr>
                                        <p:cTn id="99" dur="200" fill="hold">
                                          <p:stCondLst>
                                            <p:cond delay="600"/>
                                          </p:stCondLst>
                                        </p:cTn>
                                        <p:tgtEl>
                                          <p:spTgt spid="646173"/>
                                        </p:tgtEl>
                                        <p:attrNameLst>
                                          <p:attrName>r</p:attrName>
                                        </p:attrNameLst>
                                      </p:cBhvr>
                                    </p:animRot>
                                    <p:animRot by="120000">
                                      <p:cBhvr>
                                        <p:cTn id="100" dur="200" fill="hold">
                                          <p:stCondLst>
                                            <p:cond delay="800"/>
                                          </p:stCondLst>
                                        </p:cTn>
                                        <p:tgtEl>
                                          <p:spTgt spid="64617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149" grpId="0"/>
      <p:bldP spid="646153" grpId="0"/>
      <p:bldP spid="646155" grpId="0"/>
      <p:bldP spid="646156" grpId="0"/>
      <p:bldP spid="646159" grpId="0"/>
      <p:bldP spid="646161" grpId="0"/>
      <p:bldP spid="646163" grpId="0" animBg="1"/>
      <p:bldP spid="646164" grpId="0" animBg="1"/>
      <p:bldP spid="646165" grpId="0" animBg="1"/>
      <p:bldP spid="646166" grpId="0" animBg="1"/>
      <p:bldP spid="646168" grpId="0"/>
      <p:bldP spid="646176" grpId="0" animBg="1"/>
      <p:bldP spid="646177" grpId="0" animBg="1"/>
      <p:bldP spid="646182" grpId="0"/>
      <p:bldP spid="646185" grpId="0" animBg="1"/>
      <p:bldP spid="646186" grpId="0" animBg="1"/>
      <p:bldP spid="646187" grpId="0" animBg="1"/>
      <p:bldP spid="646188" grpId="0" animBg="1"/>
      <p:bldP spid="646174" grpId="0" animBg="1"/>
      <p:bldP spid="646175" grpId="0" animBg="1"/>
      <p:bldP spid="646173" grpId="0" animBg="1"/>
      <p:bldP spid="53" grpId="0"/>
      <p:bldP spid="5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Autofit/>
          </a:bodyPr>
          <a:lstStyle/>
          <a:p>
            <a:r>
              <a:rPr lang="en-US" spc="0" dirty="0"/>
              <a:t>MONETARY POLICY AND THE INTEREST RATE</a:t>
            </a:r>
          </a:p>
        </p:txBody>
      </p:sp>
      <p:sp>
        <p:nvSpPr>
          <p:cNvPr id="3" name="Content Placeholder 2"/>
          <p:cNvSpPr>
            <a:spLocks noGrp="1"/>
          </p:cNvSpPr>
          <p:nvPr>
            <p:ph idx="1"/>
          </p:nvPr>
        </p:nvSpPr>
        <p:spPr>
          <a:xfrm>
            <a:off x="228600" y="1447800"/>
            <a:ext cx="8839200" cy="4648200"/>
          </a:xfrm>
        </p:spPr>
        <p:txBody>
          <a:bodyPr/>
          <a:lstStyle/>
          <a:p>
            <a:pPr>
              <a:spcBef>
                <a:spcPts val="0"/>
              </a:spcBef>
              <a:spcAft>
                <a:spcPts val="1200"/>
              </a:spcAft>
            </a:pPr>
            <a:r>
              <a:rPr lang="en-US" b="0" dirty="0"/>
              <a:t>By adjusting the money supply up or down, the Fed can set the interest rate.</a:t>
            </a:r>
          </a:p>
          <a:p>
            <a:pPr>
              <a:spcBef>
                <a:spcPts val="0"/>
              </a:spcBef>
              <a:spcAft>
                <a:spcPts val="1200"/>
              </a:spcAft>
            </a:pPr>
            <a:r>
              <a:rPr lang="en-US" b="0" dirty="0"/>
              <a:t>The Fed sets a </a:t>
            </a:r>
            <a:r>
              <a:rPr lang="en-US" dirty="0"/>
              <a:t>target federal funds rate and undertakes the appropriate open-market operations.</a:t>
            </a:r>
          </a:p>
          <a:p>
            <a:pPr lvl="1">
              <a:spcBef>
                <a:spcPts val="0"/>
              </a:spcBef>
              <a:spcAft>
                <a:spcPts val="1200"/>
              </a:spcAft>
            </a:pPr>
            <a:r>
              <a:rPr lang="en-US" i="1" dirty="0">
                <a:solidFill>
                  <a:srgbClr val="990033"/>
                </a:solidFill>
              </a:rPr>
              <a:t>Target federal funds rate: </a:t>
            </a:r>
            <a:r>
              <a:rPr lang="en-US" b="0" dirty="0"/>
              <a:t>the Federal Reserve’s desired federal funds rate.</a:t>
            </a:r>
            <a:endParaRPr lang="en-US" dirty="0"/>
          </a:p>
        </p:txBody>
      </p:sp>
    </p:spTree>
    <p:extLst>
      <p:ext uri="{BB962C8B-B14F-4D97-AF65-F5344CB8AC3E}">
        <p14:creationId xmlns:p14="http://schemas.microsoft.com/office/powerpoint/2010/main" val="14761654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8" name="Rectangle 7"/>
          <p:cNvSpPr>
            <a:spLocks noChangeArrowheads="1"/>
          </p:cNvSpPr>
          <p:nvPr/>
        </p:nvSpPr>
        <p:spPr bwMode="auto">
          <a:xfrm>
            <a:off x="5629275" y="6413500"/>
            <a:ext cx="3508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00" name="Line 45"/>
          <p:cNvSpPr>
            <a:spLocks noChangeShapeType="1"/>
          </p:cNvSpPr>
          <p:nvPr/>
        </p:nvSpPr>
        <p:spPr bwMode="auto">
          <a:xfrm>
            <a:off x="5638800" y="6416675"/>
            <a:ext cx="114300" cy="3175"/>
          </a:xfrm>
          <a:prstGeom prst="line">
            <a:avLst/>
          </a:prstGeom>
          <a:noFill/>
          <a:ln w="7">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01" name="Line 94"/>
          <p:cNvSpPr>
            <a:spLocks noChangeShapeType="1"/>
          </p:cNvSpPr>
          <p:nvPr/>
        </p:nvSpPr>
        <p:spPr bwMode="auto">
          <a:xfrm>
            <a:off x="4230688" y="6556375"/>
            <a:ext cx="1300162" cy="3175"/>
          </a:xfrm>
          <a:prstGeom prst="line">
            <a:avLst/>
          </a:prstGeom>
          <a:noFill/>
          <a:ln w="28575">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02" name="Rectangle 34"/>
          <p:cNvSpPr>
            <a:spLocks noChangeArrowheads="1"/>
          </p:cNvSpPr>
          <p:nvPr/>
        </p:nvSpPr>
        <p:spPr bwMode="auto">
          <a:xfrm>
            <a:off x="5848350" y="529431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E</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04" name="Rectangle 41"/>
          <p:cNvSpPr>
            <a:spLocks noChangeArrowheads="1"/>
          </p:cNvSpPr>
          <p:nvPr/>
        </p:nvSpPr>
        <p:spPr bwMode="auto">
          <a:xfrm>
            <a:off x="5603875" y="2782888"/>
            <a:ext cx="3831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MS</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08" name="Freeform 51"/>
          <p:cNvSpPr>
            <a:spLocks/>
          </p:cNvSpPr>
          <p:nvPr/>
        </p:nvSpPr>
        <p:spPr bwMode="auto">
          <a:xfrm>
            <a:off x="4141788" y="1905000"/>
            <a:ext cx="1462087" cy="901700"/>
          </a:xfrm>
          <a:custGeom>
            <a:avLst/>
            <a:gdLst>
              <a:gd name="T0" fmla="*/ 1398906 w 211"/>
              <a:gd name="T1" fmla="*/ 776651 h 136"/>
              <a:gd name="T2" fmla="*/ 1286198 w 211"/>
              <a:gd name="T3" fmla="*/ 902774 h 136"/>
              <a:gd name="T4" fmla="*/ 112708 w 211"/>
              <a:gd name="T5" fmla="*/ 902774 h 136"/>
              <a:gd name="T6" fmla="*/ 0 w 211"/>
              <a:gd name="T7" fmla="*/ 776651 h 136"/>
              <a:gd name="T8" fmla="*/ 0 w 211"/>
              <a:gd name="T9" fmla="*/ 126123 h 136"/>
              <a:gd name="T10" fmla="*/ 112708 w 211"/>
              <a:gd name="T11" fmla="*/ 0 h 136"/>
              <a:gd name="T12" fmla="*/ 1286198 w 211"/>
              <a:gd name="T13" fmla="*/ 0 h 136"/>
              <a:gd name="T14" fmla="*/ 1398906 w 211"/>
              <a:gd name="T15" fmla="*/ 126123 h 136"/>
              <a:gd name="T16" fmla="*/ 1398906 w 211"/>
              <a:gd name="T17" fmla="*/ 776651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1"/>
              <a:gd name="T28" fmla="*/ 0 h 136"/>
              <a:gd name="T29" fmla="*/ 211 w 211"/>
              <a:gd name="T30" fmla="*/ 136 h 1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1" h="136">
                <a:moveTo>
                  <a:pt x="211" y="117"/>
                </a:moveTo>
                <a:cubicBezTo>
                  <a:pt x="211" y="127"/>
                  <a:pt x="203" y="136"/>
                  <a:pt x="194" y="136"/>
                </a:cubicBezTo>
                <a:cubicBezTo>
                  <a:pt x="17" y="136"/>
                  <a:pt x="17" y="136"/>
                  <a:pt x="17" y="136"/>
                </a:cubicBezTo>
                <a:cubicBezTo>
                  <a:pt x="8" y="136"/>
                  <a:pt x="0" y="127"/>
                  <a:pt x="0" y="117"/>
                </a:cubicBezTo>
                <a:cubicBezTo>
                  <a:pt x="0" y="19"/>
                  <a:pt x="0" y="19"/>
                  <a:pt x="0" y="19"/>
                </a:cubicBezTo>
                <a:cubicBezTo>
                  <a:pt x="0" y="8"/>
                  <a:pt x="8" y="0"/>
                  <a:pt x="17" y="0"/>
                </a:cubicBezTo>
                <a:cubicBezTo>
                  <a:pt x="194" y="0"/>
                  <a:pt x="194" y="0"/>
                  <a:pt x="194" y="0"/>
                </a:cubicBezTo>
                <a:cubicBezTo>
                  <a:pt x="203" y="0"/>
                  <a:pt x="211" y="8"/>
                  <a:pt x="211" y="19"/>
                </a:cubicBezTo>
                <a:lnTo>
                  <a:pt x="211" y="117"/>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09" name="Line 84"/>
          <p:cNvSpPr>
            <a:spLocks noChangeShapeType="1"/>
          </p:cNvSpPr>
          <p:nvPr/>
        </p:nvSpPr>
        <p:spPr bwMode="auto">
          <a:xfrm>
            <a:off x="5775325" y="3074988"/>
            <a:ext cx="3175" cy="3268662"/>
          </a:xfrm>
          <a:prstGeom prst="line">
            <a:avLst/>
          </a:prstGeom>
          <a:noFill/>
          <a:ln w="38100">
            <a:solidFill>
              <a:srgbClr val="F3716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10" name="Rectangle 18"/>
          <p:cNvSpPr>
            <a:spLocks noChangeArrowheads="1"/>
          </p:cNvSpPr>
          <p:nvPr/>
        </p:nvSpPr>
        <p:spPr bwMode="auto">
          <a:xfrm>
            <a:off x="4114800" y="1939925"/>
            <a:ext cx="15374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An increase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in the money</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supply …</a:t>
            </a:r>
          </a:p>
        </p:txBody>
      </p:sp>
      <p:sp>
        <p:nvSpPr>
          <p:cNvPr id="648211" name="Rectangle 18"/>
          <p:cNvSpPr>
            <a:spLocks noChangeArrowheads="1"/>
          </p:cNvSpPr>
          <p:nvPr/>
        </p:nvSpPr>
        <p:spPr bwMode="auto">
          <a:xfrm>
            <a:off x="1558925" y="4799013"/>
            <a:ext cx="1555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13" name="Rectangle 36"/>
          <p:cNvSpPr>
            <a:spLocks noChangeArrowheads="1"/>
          </p:cNvSpPr>
          <p:nvPr/>
        </p:nvSpPr>
        <p:spPr bwMode="auto">
          <a:xfrm>
            <a:off x="4117975" y="4762500"/>
            <a:ext cx="1960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E</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14" name="Rectangle 38"/>
          <p:cNvSpPr>
            <a:spLocks noChangeArrowheads="1"/>
          </p:cNvSpPr>
          <p:nvPr/>
        </p:nvSpPr>
        <p:spPr bwMode="auto">
          <a:xfrm>
            <a:off x="3844925" y="2782888"/>
            <a:ext cx="3831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MS</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16" name="Rectangle 40"/>
          <p:cNvSpPr>
            <a:spLocks noChangeArrowheads="1"/>
          </p:cNvSpPr>
          <p:nvPr/>
        </p:nvSpPr>
        <p:spPr bwMode="auto">
          <a:xfrm>
            <a:off x="7246938" y="5673725"/>
            <a:ext cx="37548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MD</a:t>
            </a:r>
            <a:endPar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17" name="Rectangle 46"/>
          <p:cNvSpPr>
            <a:spLocks noChangeArrowheads="1"/>
          </p:cNvSpPr>
          <p:nvPr/>
        </p:nvSpPr>
        <p:spPr bwMode="auto">
          <a:xfrm>
            <a:off x="3910013" y="6413500"/>
            <a:ext cx="2746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19" name="Line 48"/>
          <p:cNvSpPr>
            <a:spLocks noChangeShapeType="1"/>
          </p:cNvSpPr>
          <p:nvPr/>
        </p:nvSpPr>
        <p:spPr bwMode="auto">
          <a:xfrm>
            <a:off x="3962400" y="6416675"/>
            <a:ext cx="111125" cy="3175"/>
          </a:xfrm>
          <a:prstGeom prst="line">
            <a:avLst/>
          </a:prstGeom>
          <a:noFill/>
          <a:ln w="7">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20" name="Line 49"/>
          <p:cNvSpPr>
            <a:spLocks noChangeShapeType="1"/>
          </p:cNvSpPr>
          <p:nvPr/>
        </p:nvSpPr>
        <p:spPr bwMode="auto">
          <a:xfrm>
            <a:off x="4037013" y="3100388"/>
            <a:ext cx="1587" cy="3243262"/>
          </a:xfrm>
          <a:prstGeom prst="line">
            <a:avLst/>
          </a:prstGeom>
          <a:noFill/>
          <a:ln w="38100">
            <a:solidFill>
              <a:srgbClr val="FDBA4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21" name="Freeform 82"/>
          <p:cNvSpPr>
            <a:spLocks/>
          </p:cNvSpPr>
          <p:nvPr/>
        </p:nvSpPr>
        <p:spPr bwMode="auto">
          <a:xfrm>
            <a:off x="1828800" y="2590800"/>
            <a:ext cx="5911850" cy="3752850"/>
          </a:xfrm>
          <a:custGeom>
            <a:avLst/>
            <a:gdLst>
              <a:gd name="T0" fmla="*/ 5893384 w 2098"/>
              <a:gd name="T1" fmla="*/ 4755730 h 1691"/>
              <a:gd name="T2" fmla="*/ 0 w 2098"/>
              <a:gd name="T3" fmla="*/ 4755730 h 1691"/>
              <a:gd name="T4" fmla="*/ 0 w 2098"/>
              <a:gd name="T5" fmla="*/ 0 h 1691"/>
              <a:gd name="T6" fmla="*/ 0 60000 65536"/>
              <a:gd name="T7" fmla="*/ 0 60000 65536"/>
              <a:gd name="T8" fmla="*/ 0 60000 65536"/>
              <a:gd name="T9" fmla="*/ 0 w 2098"/>
              <a:gd name="T10" fmla="*/ 0 h 1691"/>
              <a:gd name="T11" fmla="*/ 2098 w 2098"/>
              <a:gd name="T12" fmla="*/ 1691 h 1691"/>
            </a:gdLst>
            <a:ahLst/>
            <a:cxnLst>
              <a:cxn ang="T6">
                <a:pos x="T0" y="T1"/>
              </a:cxn>
              <a:cxn ang="T7">
                <a:pos x="T2" y="T3"/>
              </a:cxn>
              <a:cxn ang="T8">
                <a:pos x="T4" y="T5"/>
              </a:cxn>
            </a:cxnLst>
            <a:rect l="T9" t="T10" r="T11" b="T12"/>
            <a:pathLst>
              <a:path w="2098" h="1691">
                <a:moveTo>
                  <a:pt x="2098" y="1691"/>
                </a:moveTo>
                <a:lnTo>
                  <a:pt x="0" y="1691"/>
                </a:lnTo>
                <a:lnTo>
                  <a:pt x="0" y="0"/>
                </a:lnTo>
              </a:path>
            </a:pathLst>
          </a:custGeom>
          <a:noFill/>
          <a:ln w="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25" name="Footer Placeholder 2"/>
          <p:cNvSpPr txBox="1">
            <a:spLocks noGrp="1"/>
          </p:cNvSpPr>
          <p:nvPr/>
        </p:nvSpPr>
        <p:spPr bwMode="auto">
          <a:xfrm>
            <a:off x="6324600" y="6477158"/>
            <a:ext cx="2286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0"/>
              </a:spcBef>
              <a:defRPr>
                <a:solidFill>
                  <a:schemeClr val="tx1"/>
                </a:solidFill>
                <a:latin typeface="Arial" charset="0"/>
              </a:defRPr>
            </a:lvl1pPr>
            <a:lvl2pPr marL="37931725" indent="-37474525">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Quantity of money</a:t>
            </a:r>
            <a:endParaRPr kumimoji="0" lang="en-US" sz="18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rgbClr val="898989"/>
              </a:solidFill>
              <a:effectLst/>
              <a:uLnTx/>
              <a:uFillTx/>
              <a:latin typeface="Century Gothic"/>
              <a:ea typeface="ＭＳ Ｐゴシック" pitchFamily="34" charset="-128"/>
              <a:cs typeface="Century Gothic"/>
            </a:endParaRPr>
          </a:p>
        </p:txBody>
      </p:sp>
      <p:sp>
        <p:nvSpPr>
          <p:cNvPr id="648226" name="Rectangle 34"/>
          <p:cNvSpPr>
            <a:spLocks noChangeArrowheads="1"/>
          </p:cNvSpPr>
          <p:nvPr/>
        </p:nvSpPr>
        <p:spPr bwMode="auto">
          <a:xfrm>
            <a:off x="719667" y="2122488"/>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Interest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rate, </a:t>
            </a:r>
            <a:r>
              <a:rPr kumimoji="0" lang="en-US" sz="18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r</a:t>
            </a:r>
          </a:p>
        </p:txBody>
      </p:sp>
      <p:sp>
        <p:nvSpPr>
          <p:cNvPr id="648227" name="Line 35"/>
          <p:cNvSpPr>
            <a:spLocks noChangeShapeType="1"/>
          </p:cNvSpPr>
          <p:nvPr/>
        </p:nvSpPr>
        <p:spPr bwMode="auto">
          <a:xfrm flipH="1" flipV="1">
            <a:off x="1828800" y="5045075"/>
            <a:ext cx="218281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grpSp>
        <p:nvGrpSpPr>
          <p:cNvPr id="648229" name="Group 37"/>
          <p:cNvGrpSpPr>
            <a:grpSpLocks/>
          </p:cNvGrpSpPr>
          <p:nvPr/>
        </p:nvGrpSpPr>
        <p:grpSpPr bwMode="auto">
          <a:xfrm>
            <a:off x="38100" y="4892675"/>
            <a:ext cx="1676400" cy="1127125"/>
            <a:chOff x="264" y="2448"/>
            <a:chExt cx="1056" cy="710"/>
          </a:xfrm>
        </p:grpSpPr>
        <p:sp>
          <p:nvSpPr>
            <p:cNvPr id="648230" name="Freeform 63"/>
            <p:cNvSpPr>
              <a:spLocks/>
            </p:cNvSpPr>
            <p:nvPr/>
          </p:nvSpPr>
          <p:spPr bwMode="auto">
            <a:xfrm>
              <a:off x="264" y="2448"/>
              <a:ext cx="840" cy="710"/>
            </a:xfrm>
            <a:custGeom>
              <a:avLst/>
              <a:gdLst>
                <a:gd name="T0" fmla="*/ 1334297 w 201"/>
                <a:gd name="T1" fmla="*/ 770013 h 136"/>
                <a:gd name="T2" fmla="*/ 1221446 w 201"/>
                <a:gd name="T3" fmla="*/ 902774 h 136"/>
                <a:gd name="T4" fmla="*/ 112851 w 201"/>
                <a:gd name="T5" fmla="*/ 902774 h 136"/>
                <a:gd name="T6" fmla="*/ 0 w 201"/>
                <a:gd name="T7" fmla="*/ 770013 h 136"/>
                <a:gd name="T8" fmla="*/ 0 w 201"/>
                <a:gd name="T9" fmla="*/ 126123 h 136"/>
                <a:gd name="T10" fmla="*/ 112851 w 201"/>
                <a:gd name="T11" fmla="*/ 0 h 136"/>
                <a:gd name="T12" fmla="*/ 1221446 w 201"/>
                <a:gd name="T13" fmla="*/ 0 h 136"/>
                <a:gd name="T14" fmla="*/ 1334297 w 201"/>
                <a:gd name="T15" fmla="*/ 126123 h 136"/>
                <a:gd name="T16" fmla="*/ 1334297 w 201"/>
                <a:gd name="T17" fmla="*/ 770013 h 13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1"/>
                <a:gd name="T28" fmla="*/ 0 h 136"/>
                <a:gd name="T29" fmla="*/ 201 w 201"/>
                <a:gd name="T30" fmla="*/ 136 h 1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1" h="136">
                  <a:moveTo>
                    <a:pt x="201" y="116"/>
                  </a:moveTo>
                  <a:cubicBezTo>
                    <a:pt x="201" y="127"/>
                    <a:pt x="193" y="136"/>
                    <a:pt x="184" y="136"/>
                  </a:cubicBezTo>
                  <a:cubicBezTo>
                    <a:pt x="17" y="136"/>
                    <a:pt x="17" y="136"/>
                    <a:pt x="17" y="136"/>
                  </a:cubicBezTo>
                  <a:cubicBezTo>
                    <a:pt x="8" y="136"/>
                    <a:pt x="0" y="127"/>
                    <a:pt x="0" y="116"/>
                  </a:cubicBezTo>
                  <a:cubicBezTo>
                    <a:pt x="0" y="19"/>
                    <a:pt x="0" y="19"/>
                    <a:pt x="0" y="19"/>
                  </a:cubicBezTo>
                  <a:cubicBezTo>
                    <a:pt x="0" y="8"/>
                    <a:pt x="8" y="0"/>
                    <a:pt x="17" y="0"/>
                  </a:cubicBezTo>
                  <a:cubicBezTo>
                    <a:pt x="184" y="0"/>
                    <a:pt x="184" y="0"/>
                    <a:pt x="184" y="0"/>
                  </a:cubicBezTo>
                  <a:cubicBezTo>
                    <a:pt x="193" y="0"/>
                    <a:pt x="201" y="8"/>
                    <a:pt x="201" y="19"/>
                  </a:cubicBezTo>
                  <a:lnTo>
                    <a:pt x="201" y="116"/>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grpSp>
          <p:nvGrpSpPr>
            <p:cNvPr id="648231" name="Group 39"/>
            <p:cNvGrpSpPr>
              <a:grpSpLocks/>
            </p:cNvGrpSpPr>
            <p:nvPr/>
          </p:nvGrpSpPr>
          <p:grpSpPr bwMode="auto">
            <a:xfrm>
              <a:off x="264" y="2479"/>
              <a:ext cx="1056" cy="679"/>
              <a:chOff x="264" y="2479"/>
              <a:chExt cx="1056" cy="679"/>
            </a:xfrm>
          </p:grpSpPr>
          <p:sp>
            <p:nvSpPr>
              <p:cNvPr id="648233" name="Rectangle 20"/>
              <p:cNvSpPr>
                <a:spLocks noChangeArrowheads="1"/>
              </p:cNvSpPr>
              <p:nvPr/>
            </p:nvSpPr>
            <p:spPr bwMode="auto">
              <a:xfrm>
                <a:off x="1222" y="2797"/>
                <a:ext cx="9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35" name="Line 92"/>
              <p:cNvSpPr>
                <a:spLocks noChangeShapeType="1"/>
              </p:cNvSpPr>
              <p:nvPr/>
            </p:nvSpPr>
            <p:spPr bwMode="auto">
              <a:xfrm>
                <a:off x="1270" y="2588"/>
                <a:ext cx="1" cy="196"/>
              </a:xfrm>
              <a:prstGeom prst="line">
                <a:avLst/>
              </a:prstGeom>
              <a:noFill/>
              <a:ln w="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36" name="Rectangle 44"/>
              <p:cNvSpPr>
                <a:spLocks noChangeArrowheads="1"/>
              </p:cNvSpPr>
              <p:nvPr/>
            </p:nvSpPr>
            <p:spPr bwMode="auto">
              <a:xfrm>
                <a:off x="264" y="2479"/>
                <a:ext cx="840" cy="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…leads to</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a fall in the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Interest rate.</a:t>
                </a:r>
              </a:p>
            </p:txBody>
          </p:sp>
        </p:grpSp>
      </p:grpSp>
      <p:sp>
        <p:nvSpPr>
          <p:cNvPr id="648237" name="Line 45"/>
          <p:cNvSpPr>
            <a:spLocks noChangeShapeType="1"/>
          </p:cNvSpPr>
          <p:nvPr/>
        </p:nvSpPr>
        <p:spPr bwMode="auto">
          <a:xfrm flipH="1">
            <a:off x="1828800" y="5634038"/>
            <a:ext cx="394176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38" name="Rectangle 46"/>
          <p:cNvSpPr>
            <a:spLocks noGrp="1" noRot="1" noChangeArrowheads="1"/>
          </p:cNvSpPr>
          <p:nvPr>
            <p:ph type="title"/>
          </p:nvPr>
        </p:nvSpPr>
        <p:spPr>
          <a:xfrm>
            <a:off x="0" y="152400"/>
            <a:ext cx="9144000" cy="838200"/>
          </a:xfrm>
        </p:spPr>
        <p:txBody>
          <a:bodyPr>
            <a:noAutofit/>
          </a:bodyPr>
          <a:lstStyle/>
          <a:p>
            <a:r>
              <a:rPr lang="en-US" spc="0" dirty="0"/>
              <a:t>MONETARY POLICY AND THE INTEREST RATE</a:t>
            </a:r>
          </a:p>
        </p:txBody>
      </p:sp>
      <p:sp>
        <p:nvSpPr>
          <p:cNvPr id="3" name="Content Placeholder 2"/>
          <p:cNvSpPr>
            <a:spLocks noGrp="1"/>
          </p:cNvSpPr>
          <p:nvPr>
            <p:ph idx="1"/>
          </p:nvPr>
        </p:nvSpPr>
        <p:spPr>
          <a:xfrm>
            <a:off x="228600" y="1143000"/>
            <a:ext cx="8839200" cy="4495800"/>
          </a:xfrm>
        </p:spPr>
        <p:txBody>
          <a:bodyPr>
            <a:normAutofit/>
          </a:bodyPr>
          <a:lstStyle/>
          <a:p>
            <a:r>
              <a:rPr lang="en-US" sz="2400" dirty="0">
                <a:solidFill>
                  <a:srgbClr val="0070C0"/>
                </a:solidFill>
              </a:rPr>
              <a:t>The Effect of an Increase in the Money Supply on the Interest Rate</a:t>
            </a:r>
          </a:p>
        </p:txBody>
      </p:sp>
      <p:cxnSp>
        <p:nvCxnSpPr>
          <p:cNvPr id="49" name="Straight Connector 48"/>
          <p:cNvCxnSpPr/>
          <p:nvPr/>
        </p:nvCxnSpPr>
        <p:spPr>
          <a:xfrm>
            <a:off x="2133600" y="4419600"/>
            <a:ext cx="5029200" cy="1676400"/>
          </a:xfrm>
          <a:prstGeom prst="line">
            <a:avLst/>
          </a:prstGeom>
          <a:noFill/>
          <a:ln w="41275">
            <a:solidFill>
              <a:srgbClr val="2CB1AE"/>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8223" name="Oval 86"/>
          <p:cNvSpPr>
            <a:spLocks noChangeArrowheads="1"/>
          </p:cNvSpPr>
          <p:nvPr/>
        </p:nvSpPr>
        <p:spPr bwMode="auto">
          <a:xfrm>
            <a:off x="3971925" y="5002213"/>
            <a:ext cx="131763" cy="13176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24" name="Oval 87"/>
          <p:cNvSpPr>
            <a:spLocks noChangeArrowheads="1"/>
          </p:cNvSpPr>
          <p:nvPr/>
        </p:nvSpPr>
        <p:spPr bwMode="auto">
          <a:xfrm>
            <a:off x="5716588" y="5559425"/>
            <a:ext cx="131762" cy="1349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Tree>
    <p:extLst>
      <p:ext uri="{BB962C8B-B14F-4D97-AF65-F5344CB8AC3E}">
        <p14:creationId xmlns:p14="http://schemas.microsoft.com/office/powerpoint/2010/main" val="19014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48201"/>
                                        </p:tgtEl>
                                        <p:attrNameLst>
                                          <p:attrName>style.visibility</p:attrName>
                                        </p:attrNameLst>
                                      </p:cBhvr>
                                      <p:to>
                                        <p:strVal val="visible"/>
                                      </p:to>
                                    </p:set>
                                    <p:animEffect transition="in" filter="fade">
                                      <p:cBhvr>
                                        <p:cTn id="7" dur="500"/>
                                        <p:tgtEl>
                                          <p:spTgt spid="64820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48209"/>
                                        </p:tgtEl>
                                        <p:attrNameLst>
                                          <p:attrName>style.visibility</p:attrName>
                                        </p:attrNameLst>
                                      </p:cBhvr>
                                      <p:to>
                                        <p:strVal val="visible"/>
                                      </p:to>
                                    </p:set>
                                    <p:animEffect transition="in" filter="fade">
                                      <p:cBhvr>
                                        <p:cTn id="11" dur="500"/>
                                        <p:tgtEl>
                                          <p:spTgt spid="648209"/>
                                        </p:tgtEl>
                                      </p:cBhvr>
                                    </p:animEffect>
                                  </p:childTnLst>
                                </p:cTn>
                              </p:par>
                              <p:par>
                                <p:cTn id="12" presetID="63" presetClass="path" presetSubtype="0" accel="50000" decel="50000" fill="hold" grpId="1" nodeType="withEffect">
                                  <p:stCondLst>
                                    <p:cond delay="0"/>
                                  </p:stCondLst>
                                  <p:childTnLst>
                                    <p:animMotion origin="layout" path="M -0.18333 1.11111E-6 L 1.11022E-16 1.11111E-6 " pathEditMode="relative" rAng="0" ptsTypes="AA">
                                      <p:cBhvr>
                                        <p:cTn id="13" dur="2000" fill="hold"/>
                                        <p:tgtEl>
                                          <p:spTgt spid="648209"/>
                                        </p:tgtEl>
                                        <p:attrNameLst>
                                          <p:attrName>ppt_x</p:attrName>
                                          <p:attrName>ppt_y</p:attrName>
                                        </p:attrNameLst>
                                      </p:cBhvr>
                                      <p:rCtr x="9167" y="0"/>
                                    </p:animMotion>
                                  </p:childTnLst>
                                </p:cTn>
                              </p:par>
                            </p:childTnLst>
                          </p:cTn>
                        </p:par>
                        <p:par>
                          <p:cTn id="14" fill="hold">
                            <p:stCondLst>
                              <p:cond delay="2500"/>
                            </p:stCondLst>
                            <p:childTnLst>
                              <p:par>
                                <p:cTn id="15" presetID="10" presetClass="entr" presetSubtype="0" fill="hold" grpId="0" nodeType="afterEffect">
                                  <p:stCondLst>
                                    <p:cond delay="0"/>
                                  </p:stCondLst>
                                  <p:childTnLst>
                                    <p:set>
                                      <p:cBhvr>
                                        <p:cTn id="16" dur="1" fill="hold">
                                          <p:stCondLst>
                                            <p:cond delay="0"/>
                                          </p:stCondLst>
                                        </p:cTn>
                                        <p:tgtEl>
                                          <p:spTgt spid="648200"/>
                                        </p:tgtEl>
                                        <p:attrNameLst>
                                          <p:attrName>style.visibility</p:attrName>
                                        </p:attrNameLst>
                                      </p:cBhvr>
                                      <p:to>
                                        <p:strVal val="visible"/>
                                      </p:to>
                                    </p:set>
                                    <p:animEffect transition="in" filter="fade">
                                      <p:cBhvr>
                                        <p:cTn id="17" dur="500"/>
                                        <p:tgtEl>
                                          <p:spTgt spid="64820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48198"/>
                                        </p:tgtEl>
                                        <p:attrNameLst>
                                          <p:attrName>style.visibility</p:attrName>
                                        </p:attrNameLst>
                                      </p:cBhvr>
                                      <p:to>
                                        <p:strVal val="visible"/>
                                      </p:to>
                                    </p:set>
                                    <p:animEffect transition="in" filter="fade">
                                      <p:cBhvr>
                                        <p:cTn id="20" dur="500"/>
                                        <p:tgtEl>
                                          <p:spTgt spid="64819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48204"/>
                                        </p:tgtEl>
                                        <p:attrNameLst>
                                          <p:attrName>style.visibility</p:attrName>
                                        </p:attrNameLst>
                                      </p:cBhvr>
                                      <p:to>
                                        <p:strVal val="visible"/>
                                      </p:to>
                                    </p:set>
                                    <p:animEffect transition="in" filter="fade">
                                      <p:cBhvr>
                                        <p:cTn id="23" dur="500"/>
                                        <p:tgtEl>
                                          <p:spTgt spid="648204"/>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648224"/>
                                        </p:tgtEl>
                                        <p:attrNameLst>
                                          <p:attrName>style.visibility</p:attrName>
                                        </p:attrNameLst>
                                      </p:cBhvr>
                                      <p:to>
                                        <p:strVal val="visible"/>
                                      </p:to>
                                    </p:set>
                                    <p:animEffect transition="in" filter="fade">
                                      <p:cBhvr>
                                        <p:cTn id="27" dur="500"/>
                                        <p:tgtEl>
                                          <p:spTgt spid="648224"/>
                                        </p:tgtEl>
                                      </p:cBhvr>
                                    </p:animEffect>
                                  </p:childTnLst>
                                </p:cTn>
                              </p:par>
                            </p:childTnLst>
                          </p:cTn>
                        </p:par>
                        <p:par>
                          <p:cTn id="28" fill="hold">
                            <p:stCondLst>
                              <p:cond delay="3500"/>
                            </p:stCondLst>
                            <p:childTnLst>
                              <p:par>
                                <p:cTn id="29" presetID="10" presetClass="entr" presetSubtype="0" fill="hold" grpId="0" nodeType="afterEffect">
                                  <p:stCondLst>
                                    <p:cond delay="0"/>
                                  </p:stCondLst>
                                  <p:childTnLst>
                                    <p:set>
                                      <p:cBhvr>
                                        <p:cTn id="30" dur="1" fill="hold">
                                          <p:stCondLst>
                                            <p:cond delay="0"/>
                                          </p:stCondLst>
                                        </p:cTn>
                                        <p:tgtEl>
                                          <p:spTgt spid="648202"/>
                                        </p:tgtEl>
                                        <p:attrNameLst>
                                          <p:attrName>style.visibility</p:attrName>
                                        </p:attrNameLst>
                                      </p:cBhvr>
                                      <p:to>
                                        <p:strVal val="visible"/>
                                      </p:to>
                                    </p:set>
                                    <p:animEffect transition="in" filter="fade">
                                      <p:cBhvr>
                                        <p:cTn id="31" dur="500"/>
                                        <p:tgtEl>
                                          <p:spTgt spid="648202"/>
                                        </p:tgtEl>
                                      </p:cBhvr>
                                    </p:animEffect>
                                  </p:childTnLst>
                                </p:cTn>
                              </p:par>
                            </p:childTnLst>
                          </p:cTn>
                        </p:par>
                        <p:par>
                          <p:cTn id="32" fill="hold">
                            <p:stCondLst>
                              <p:cond delay="4000"/>
                            </p:stCondLst>
                            <p:childTnLst>
                              <p:par>
                                <p:cTn id="33" presetID="22" presetClass="entr" presetSubtype="2" fill="hold" grpId="0" nodeType="afterEffect">
                                  <p:stCondLst>
                                    <p:cond delay="0"/>
                                  </p:stCondLst>
                                  <p:childTnLst>
                                    <p:set>
                                      <p:cBhvr>
                                        <p:cTn id="34" dur="1" fill="hold">
                                          <p:stCondLst>
                                            <p:cond delay="0"/>
                                          </p:stCondLst>
                                        </p:cTn>
                                        <p:tgtEl>
                                          <p:spTgt spid="648237"/>
                                        </p:tgtEl>
                                        <p:attrNameLst>
                                          <p:attrName>style.visibility</p:attrName>
                                        </p:attrNameLst>
                                      </p:cBhvr>
                                      <p:to>
                                        <p:strVal val="visible"/>
                                      </p:to>
                                    </p:set>
                                    <p:animEffect transition="in" filter="wipe(right)">
                                      <p:cBhvr>
                                        <p:cTn id="35" dur="500"/>
                                        <p:tgtEl>
                                          <p:spTgt spid="648237"/>
                                        </p:tgtEl>
                                      </p:cBhvr>
                                    </p:animEffect>
                                  </p:childTnLst>
                                </p:cTn>
                              </p:par>
                            </p:childTnLst>
                          </p:cTn>
                        </p:par>
                        <p:par>
                          <p:cTn id="36" fill="hold">
                            <p:stCondLst>
                              <p:cond delay="4500"/>
                            </p:stCondLst>
                            <p:childTnLst>
                              <p:par>
                                <p:cTn id="37" presetID="10" presetClass="entr" presetSubtype="0" fill="hold" nodeType="afterEffect">
                                  <p:stCondLst>
                                    <p:cond delay="0"/>
                                  </p:stCondLst>
                                  <p:childTnLst>
                                    <p:set>
                                      <p:cBhvr>
                                        <p:cTn id="38" dur="1" fill="hold">
                                          <p:stCondLst>
                                            <p:cond delay="0"/>
                                          </p:stCondLst>
                                        </p:cTn>
                                        <p:tgtEl>
                                          <p:spTgt spid="648229"/>
                                        </p:tgtEl>
                                        <p:attrNameLst>
                                          <p:attrName>style.visibility</p:attrName>
                                        </p:attrNameLst>
                                      </p:cBhvr>
                                      <p:to>
                                        <p:strVal val="visible"/>
                                      </p:to>
                                    </p:set>
                                    <p:animEffect transition="in" filter="fade">
                                      <p:cBhvr>
                                        <p:cTn id="39" dur="500"/>
                                        <p:tgtEl>
                                          <p:spTgt spid="648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8" grpId="0"/>
      <p:bldP spid="648200" grpId="0" animBg="1"/>
      <p:bldP spid="648201" grpId="0" animBg="1"/>
      <p:bldP spid="648202" grpId="0"/>
      <p:bldP spid="648204" grpId="0"/>
      <p:bldP spid="648209" grpId="0" animBg="1"/>
      <p:bldP spid="648209" grpId="1" animBg="1"/>
      <p:bldP spid="648237" grpId="0" animBg="1"/>
      <p:bldP spid="648224"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8198" name="Rectangle 7"/>
          <p:cNvSpPr>
            <a:spLocks noChangeArrowheads="1"/>
          </p:cNvSpPr>
          <p:nvPr/>
        </p:nvSpPr>
        <p:spPr bwMode="auto">
          <a:xfrm>
            <a:off x="5629275" y="6413500"/>
            <a:ext cx="3508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00" name="Line 45"/>
          <p:cNvSpPr>
            <a:spLocks noChangeShapeType="1"/>
          </p:cNvSpPr>
          <p:nvPr/>
        </p:nvSpPr>
        <p:spPr bwMode="auto">
          <a:xfrm>
            <a:off x="5638800" y="6416675"/>
            <a:ext cx="114300" cy="3175"/>
          </a:xfrm>
          <a:prstGeom prst="line">
            <a:avLst/>
          </a:prstGeom>
          <a:noFill/>
          <a:ln w="7">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01" name="Line 94"/>
          <p:cNvSpPr>
            <a:spLocks noChangeShapeType="1"/>
          </p:cNvSpPr>
          <p:nvPr/>
        </p:nvSpPr>
        <p:spPr bwMode="auto">
          <a:xfrm>
            <a:off x="4230688" y="6556375"/>
            <a:ext cx="1300162" cy="3175"/>
          </a:xfrm>
          <a:prstGeom prst="line">
            <a:avLst/>
          </a:prstGeom>
          <a:noFill/>
          <a:ln w="28575">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02" name="Rectangle 34"/>
          <p:cNvSpPr>
            <a:spLocks noChangeArrowheads="1"/>
          </p:cNvSpPr>
          <p:nvPr/>
        </p:nvSpPr>
        <p:spPr bwMode="auto">
          <a:xfrm>
            <a:off x="5848350" y="529431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E</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04" name="Rectangle 41"/>
          <p:cNvSpPr>
            <a:spLocks noChangeArrowheads="1"/>
          </p:cNvSpPr>
          <p:nvPr/>
        </p:nvSpPr>
        <p:spPr bwMode="auto">
          <a:xfrm>
            <a:off x="5603875" y="2782888"/>
            <a:ext cx="3831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MS</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09" name="Line 84"/>
          <p:cNvSpPr>
            <a:spLocks noChangeShapeType="1"/>
          </p:cNvSpPr>
          <p:nvPr/>
        </p:nvSpPr>
        <p:spPr bwMode="auto">
          <a:xfrm>
            <a:off x="5775325" y="3074988"/>
            <a:ext cx="3175" cy="3268662"/>
          </a:xfrm>
          <a:prstGeom prst="line">
            <a:avLst/>
          </a:prstGeom>
          <a:noFill/>
          <a:ln w="38100">
            <a:solidFill>
              <a:srgbClr val="F3716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11" name="Rectangle 18"/>
          <p:cNvSpPr>
            <a:spLocks noChangeArrowheads="1"/>
          </p:cNvSpPr>
          <p:nvPr/>
        </p:nvSpPr>
        <p:spPr bwMode="auto">
          <a:xfrm>
            <a:off x="1558925" y="4799013"/>
            <a:ext cx="1555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13" name="Rectangle 36"/>
          <p:cNvSpPr>
            <a:spLocks noChangeArrowheads="1"/>
          </p:cNvSpPr>
          <p:nvPr/>
        </p:nvSpPr>
        <p:spPr bwMode="auto">
          <a:xfrm>
            <a:off x="4117975" y="4762500"/>
            <a:ext cx="1960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E</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14" name="Rectangle 38"/>
          <p:cNvSpPr>
            <a:spLocks noChangeArrowheads="1"/>
          </p:cNvSpPr>
          <p:nvPr/>
        </p:nvSpPr>
        <p:spPr bwMode="auto">
          <a:xfrm>
            <a:off x="3844925" y="2782888"/>
            <a:ext cx="3831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MS</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16" name="Rectangle 40"/>
          <p:cNvSpPr>
            <a:spLocks noChangeArrowheads="1"/>
          </p:cNvSpPr>
          <p:nvPr/>
        </p:nvSpPr>
        <p:spPr bwMode="auto">
          <a:xfrm>
            <a:off x="7246938" y="5673725"/>
            <a:ext cx="37548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MD</a:t>
            </a:r>
            <a:endPar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17" name="Rectangle 46"/>
          <p:cNvSpPr>
            <a:spLocks noChangeArrowheads="1"/>
          </p:cNvSpPr>
          <p:nvPr/>
        </p:nvSpPr>
        <p:spPr bwMode="auto">
          <a:xfrm>
            <a:off x="3910013" y="6413500"/>
            <a:ext cx="2746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19" name="Line 48"/>
          <p:cNvSpPr>
            <a:spLocks noChangeShapeType="1"/>
          </p:cNvSpPr>
          <p:nvPr/>
        </p:nvSpPr>
        <p:spPr bwMode="auto">
          <a:xfrm>
            <a:off x="3962400" y="6416675"/>
            <a:ext cx="111125" cy="3175"/>
          </a:xfrm>
          <a:prstGeom prst="line">
            <a:avLst/>
          </a:prstGeom>
          <a:noFill/>
          <a:ln w="7">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20" name="Line 49"/>
          <p:cNvSpPr>
            <a:spLocks noChangeShapeType="1"/>
          </p:cNvSpPr>
          <p:nvPr/>
        </p:nvSpPr>
        <p:spPr bwMode="auto">
          <a:xfrm>
            <a:off x="4037013" y="3100388"/>
            <a:ext cx="1587" cy="3243262"/>
          </a:xfrm>
          <a:prstGeom prst="line">
            <a:avLst/>
          </a:prstGeom>
          <a:noFill/>
          <a:ln w="38100">
            <a:solidFill>
              <a:srgbClr val="FDBA4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21" name="Freeform 82"/>
          <p:cNvSpPr>
            <a:spLocks/>
          </p:cNvSpPr>
          <p:nvPr/>
        </p:nvSpPr>
        <p:spPr bwMode="auto">
          <a:xfrm>
            <a:off x="1828800" y="2590800"/>
            <a:ext cx="5911850" cy="3752850"/>
          </a:xfrm>
          <a:custGeom>
            <a:avLst/>
            <a:gdLst>
              <a:gd name="T0" fmla="*/ 5893384 w 2098"/>
              <a:gd name="T1" fmla="*/ 4755730 h 1691"/>
              <a:gd name="T2" fmla="*/ 0 w 2098"/>
              <a:gd name="T3" fmla="*/ 4755730 h 1691"/>
              <a:gd name="T4" fmla="*/ 0 w 2098"/>
              <a:gd name="T5" fmla="*/ 0 h 1691"/>
              <a:gd name="T6" fmla="*/ 0 60000 65536"/>
              <a:gd name="T7" fmla="*/ 0 60000 65536"/>
              <a:gd name="T8" fmla="*/ 0 60000 65536"/>
              <a:gd name="T9" fmla="*/ 0 w 2098"/>
              <a:gd name="T10" fmla="*/ 0 h 1691"/>
              <a:gd name="T11" fmla="*/ 2098 w 2098"/>
              <a:gd name="T12" fmla="*/ 1691 h 1691"/>
            </a:gdLst>
            <a:ahLst/>
            <a:cxnLst>
              <a:cxn ang="T6">
                <a:pos x="T0" y="T1"/>
              </a:cxn>
              <a:cxn ang="T7">
                <a:pos x="T2" y="T3"/>
              </a:cxn>
              <a:cxn ang="T8">
                <a:pos x="T4" y="T5"/>
              </a:cxn>
            </a:cxnLst>
            <a:rect l="T9" t="T10" r="T11" b="T12"/>
            <a:pathLst>
              <a:path w="2098" h="1691">
                <a:moveTo>
                  <a:pt x="2098" y="1691"/>
                </a:moveTo>
                <a:lnTo>
                  <a:pt x="0" y="1691"/>
                </a:lnTo>
                <a:lnTo>
                  <a:pt x="0" y="0"/>
                </a:lnTo>
              </a:path>
            </a:pathLst>
          </a:custGeom>
          <a:noFill/>
          <a:ln w="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25" name="Footer Placeholder 2"/>
          <p:cNvSpPr txBox="1">
            <a:spLocks noGrp="1"/>
          </p:cNvSpPr>
          <p:nvPr/>
        </p:nvSpPr>
        <p:spPr bwMode="auto">
          <a:xfrm>
            <a:off x="6324600" y="6477158"/>
            <a:ext cx="2286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0"/>
              </a:spcBef>
              <a:defRPr>
                <a:solidFill>
                  <a:schemeClr val="tx1"/>
                </a:solidFill>
                <a:latin typeface="Arial" charset="0"/>
              </a:defRPr>
            </a:lvl1pPr>
            <a:lvl2pPr marL="37931725" indent="-37474525">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Quantity of money</a:t>
            </a:r>
            <a:endParaRPr kumimoji="0" lang="en-US" sz="18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rgbClr val="898989"/>
              </a:solidFill>
              <a:effectLst/>
              <a:uLnTx/>
              <a:uFillTx/>
              <a:latin typeface="Century Gothic"/>
              <a:ea typeface="ＭＳ Ｐゴシック" pitchFamily="34" charset="-128"/>
              <a:cs typeface="Century Gothic"/>
            </a:endParaRPr>
          </a:p>
        </p:txBody>
      </p:sp>
      <p:sp>
        <p:nvSpPr>
          <p:cNvPr id="648226" name="Rectangle 34"/>
          <p:cNvSpPr>
            <a:spLocks noChangeArrowheads="1"/>
          </p:cNvSpPr>
          <p:nvPr/>
        </p:nvSpPr>
        <p:spPr bwMode="auto">
          <a:xfrm>
            <a:off x="719667" y="2122488"/>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Interest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rate, </a:t>
            </a:r>
            <a:r>
              <a:rPr kumimoji="0" lang="en-US" sz="18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r</a:t>
            </a:r>
          </a:p>
        </p:txBody>
      </p:sp>
      <p:sp>
        <p:nvSpPr>
          <p:cNvPr id="648227" name="Line 35"/>
          <p:cNvSpPr>
            <a:spLocks noChangeShapeType="1"/>
          </p:cNvSpPr>
          <p:nvPr/>
        </p:nvSpPr>
        <p:spPr bwMode="auto">
          <a:xfrm flipH="1" flipV="1">
            <a:off x="1828800" y="5045075"/>
            <a:ext cx="218281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grpSp>
        <p:nvGrpSpPr>
          <p:cNvPr id="648231" name="Group 39"/>
          <p:cNvGrpSpPr>
            <a:grpSpLocks/>
          </p:cNvGrpSpPr>
          <p:nvPr/>
        </p:nvGrpSpPr>
        <p:grpSpPr bwMode="auto">
          <a:xfrm>
            <a:off x="1558938" y="5114928"/>
            <a:ext cx="155576" cy="608013"/>
            <a:chOff x="1222" y="2588"/>
            <a:chExt cx="98" cy="383"/>
          </a:xfrm>
        </p:grpSpPr>
        <p:sp>
          <p:nvSpPr>
            <p:cNvPr id="648233" name="Rectangle 20"/>
            <p:cNvSpPr>
              <a:spLocks noChangeArrowheads="1"/>
            </p:cNvSpPr>
            <p:nvPr/>
          </p:nvSpPr>
          <p:spPr bwMode="auto">
            <a:xfrm>
              <a:off x="1222" y="2797"/>
              <a:ext cx="9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35" name="Line 92"/>
            <p:cNvSpPr>
              <a:spLocks noChangeShapeType="1"/>
            </p:cNvSpPr>
            <p:nvPr/>
          </p:nvSpPr>
          <p:spPr bwMode="auto">
            <a:xfrm>
              <a:off x="1270" y="2588"/>
              <a:ext cx="1" cy="196"/>
            </a:xfrm>
            <a:prstGeom prst="line">
              <a:avLst/>
            </a:prstGeom>
            <a:noFill/>
            <a:ln w="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grpSp>
      <p:sp>
        <p:nvSpPr>
          <p:cNvPr id="648237" name="Line 45"/>
          <p:cNvSpPr>
            <a:spLocks noChangeShapeType="1"/>
          </p:cNvSpPr>
          <p:nvPr/>
        </p:nvSpPr>
        <p:spPr bwMode="auto">
          <a:xfrm flipH="1">
            <a:off x="1828800" y="5634038"/>
            <a:ext cx="394176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38" name="Rectangle 46"/>
          <p:cNvSpPr>
            <a:spLocks noGrp="1" noRot="1" noChangeArrowheads="1"/>
          </p:cNvSpPr>
          <p:nvPr>
            <p:ph type="title"/>
          </p:nvPr>
        </p:nvSpPr>
        <p:spPr/>
        <p:txBody>
          <a:bodyPr>
            <a:noAutofit/>
          </a:bodyPr>
          <a:lstStyle/>
          <a:p>
            <a:r>
              <a:rPr lang="en-US" spc="0" dirty="0"/>
              <a:t>SETTING THE FEDERAL FUNDS RATE</a:t>
            </a:r>
          </a:p>
        </p:txBody>
      </p:sp>
      <p:sp>
        <p:nvSpPr>
          <p:cNvPr id="3" name="Content Placeholder 2"/>
          <p:cNvSpPr>
            <a:spLocks noGrp="1"/>
          </p:cNvSpPr>
          <p:nvPr>
            <p:ph idx="1"/>
          </p:nvPr>
        </p:nvSpPr>
        <p:spPr>
          <a:xfrm>
            <a:off x="228600" y="838200"/>
            <a:ext cx="8839200" cy="4648200"/>
          </a:xfrm>
        </p:spPr>
        <p:txBody>
          <a:bodyPr>
            <a:normAutofit/>
          </a:bodyPr>
          <a:lstStyle/>
          <a:p>
            <a:pPr marL="1588" indent="-1588"/>
            <a:r>
              <a:rPr lang="en-US" sz="2400" dirty="0">
                <a:solidFill>
                  <a:srgbClr val="0070C0"/>
                </a:solidFill>
              </a:rPr>
              <a:t>The Fed uses open-market operations to </a:t>
            </a:r>
          </a:p>
          <a:p>
            <a:pPr marL="1588" indent="-1588"/>
            <a:r>
              <a:rPr lang="en-US" sz="2400" dirty="0">
                <a:solidFill>
                  <a:srgbClr val="0070C0"/>
                </a:solidFill>
              </a:rPr>
              <a:t>push the interest rate down to the target rate.</a:t>
            </a:r>
          </a:p>
        </p:txBody>
      </p:sp>
      <p:cxnSp>
        <p:nvCxnSpPr>
          <p:cNvPr id="49" name="Straight Connector 48"/>
          <p:cNvCxnSpPr/>
          <p:nvPr/>
        </p:nvCxnSpPr>
        <p:spPr>
          <a:xfrm>
            <a:off x="2133600" y="4419600"/>
            <a:ext cx="5029200" cy="1676400"/>
          </a:xfrm>
          <a:prstGeom prst="line">
            <a:avLst/>
          </a:prstGeom>
          <a:noFill/>
          <a:ln w="41275">
            <a:solidFill>
              <a:srgbClr val="2CB1AE"/>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8223" name="Oval 86"/>
          <p:cNvSpPr>
            <a:spLocks noChangeArrowheads="1"/>
          </p:cNvSpPr>
          <p:nvPr/>
        </p:nvSpPr>
        <p:spPr bwMode="auto">
          <a:xfrm>
            <a:off x="3971925" y="5002213"/>
            <a:ext cx="131763" cy="13176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24" name="Oval 87"/>
          <p:cNvSpPr>
            <a:spLocks noChangeArrowheads="1"/>
          </p:cNvSpPr>
          <p:nvPr/>
        </p:nvSpPr>
        <p:spPr bwMode="auto">
          <a:xfrm>
            <a:off x="5716588" y="5559425"/>
            <a:ext cx="131762" cy="1349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33" name="Freeform 52"/>
          <p:cNvSpPr>
            <a:spLocks/>
          </p:cNvSpPr>
          <p:nvPr/>
        </p:nvSpPr>
        <p:spPr bwMode="auto">
          <a:xfrm>
            <a:off x="4038600" y="1905000"/>
            <a:ext cx="2590800" cy="838200"/>
          </a:xfrm>
          <a:custGeom>
            <a:avLst/>
            <a:gdLst>
              <a:gd name="T0" fmla="*/ 579 w 245"/>
              <a:gd name="T1" fmla="*/ 185 h 98"/>
              <a:gd name="T2" fmla="*/ 539 w 245"/>
              <a:gd name="T3" fmla="*/ 232 h 98"/>
              <a:gd name="T4" fmla="*/ 40 w 245"/>
              <a:gd name="T5" fmla="*/ 232 h 98"/>
              <a:gd name="T6" fmla="*/ 0 w 245"/>
              <a:gd name="T7" fmla="*/ 185 h 98"/>
              <a:gd name="T8" fmla="*/ 0 w 245"/>
              <a:gd name="T9" fmla="*/ 45 h 98"/>
              <a:gd name="T10" fmla="*/ 40 w 245"/>
              <a:gd name="T11" fmla="*/ 0 h 98"/>
              <a:gd name="T12" fmla="*/ 539 w 245"/>
              <a:gd name="T13" fmla="*/ 0 h 98"/>
              <a:gd name="T14" fmla="*/ 579 w 245"/>
              <a:gd name="T15" fmla="*/ 45 h 98"/>
              <a:gd name="T16" fmla="*/ 579 w 245"/>
              <a:gd name="T17" fmla="*/ 185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5"/>
              <a:gd name="T28" fmla="*/ 0 h 98"/>
              <a:gd name="T29" fmla="*/ 245 w 245"/>
              <a:gd name="T30" fmla="*/ 98 h 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5" h="98">
                <a:moveTo>
                  <a:pt x="245" y="78"/>
                </a:moveTo>
                <a:cubicBezTo>
                  <a:pt x="245" y="89"/>
                  <a:pt x="237" y="98"/>
                  <a:pt x="228" y="98"/>
                </a:cubicBezTo>
                <a:cubicBezTo>
                  <a:pt x="17" y="98"/>
                  <a:pt x="17" y="98"/>
                  <a:pt x="17" y="98"/>
                </a:cubicBezTo>
                <a:cubicBezTo>
                  <a:pt x="8" y="98"/>
                  <a:pt x="0" y="89"/>
                  <a:pt x="0" y="78"/>
                </a:cubicBezTo>
                <a:cubicBezTo>
                  <a:pt x="0" y="19"/>
                  <a:pt x="0" y="19"/>
                  <a:pt x="0" y="19"/>
                </a:cubicBezTo>
                <a:cubicBezTo>
                  <a:pt x="0" y="9"/>
                  <a:pt x="8" y="0"/>
                  <a:pt x="17" y="0"/>
                </a:cubicBezTo>
                <a:cubicBezTo>
                  <a:pt x="228" y="0"/>
                  <a:pt x="228" y="0"/>
                  <a:pt x="228" y="0"/>
                </a:cubicBezTo>
                <a:cubicBezTo>
                  <a:pt x="237" y="0"/>
                  <a:pt x="245" y="9"/>
                  <a:pt x="245" y="19"/>
                </a:cubicBezTo>
                <a:lnTo>
                  <a:pt x="245" y="78"/>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34" name="Rectangle 43"/>
          <p:cNvSpPr>
            <a:spLocks noChangeArrowheads="1"/>
          </p:cNvSpPr>
          <p:nvPr/>
        </p:nvSpPr>
        <p:spPr bwMode="auto">
          <a:xfrm>
            <a:off x="4038600" y="1905000"/>
            <a:ext cx="2743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An open-market purchase  of Treasury bills…</a:t>
            </a:r>
          </a:p>
        </p:txBody>
      </p:sp>
      <p:sp>
        <p:nvSpPr>
          <p:cNvPr id="37" name="Freeform 205"/>
          <p:cNvSpPr>
            <a:spLocks/>
          </p:cNvSpPr>
          <p:nvPr/>
        </p:nvSpPr>
        <p:spPr bwMode="auto">
          <a:xfrm>
            <a:off x="0" y="4965700"/>
            <a:ext cx="1371600" cy="977900"/>
          </a:xfrm>
          <a:custGeom>
            <a:avLst/>
            <a:gdLst>
              <a:gd name="T0" fmla="*/ 383 w 162"/>
              <a:gd name="T1" fmla="*/ 352 h 168"/>
              <a:gd name="T2" fmla="*/ 345 w 162"/>
              <a:gd name="T3" fmla="*/ 397 h 168"/>
              <a:gd name="T4" fmla="*/ 38 w 162"/>
              <a:gd name="T5" fmla="*/ 397 h 168"/>
              <a:gd name="T6" fmla="*/ 0 w 162"/>
              <a:gd name="T7" fmla="*/ 352 h 168"/>
              <a:gd name="T8" fmla="*/ 0 w 162"/>
              <a:gd name="T9" fmla="*/ 45 h 168"/>
              <a:gd name="T10" fmla="*/ 38 w 162"/>
              <a:gd name="T11" fmla="*/ 0 h 168"/>
              <a:gd name="T12" fmla="*/ 345 w 162"/>
              <a:gd name="T13" fmla="*/ 0 h 168"/>
              <a:gd name="T14" fmla="*/ 383 w 162"/>
              <a:gd name="T15" fmla="*/ 45 h 168"/>
              <a:gd name="T16" fmla="*/ 383 w 162"/>
              <a:gd name="T17" fmla="*/ 352 h 1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2"/>
              <a:gd name="T28" fmla="*/ 0 h 168"/>
              <a:gd name="T29" fmla="*/ 162 w 162"/>
              <a:gd name="T30" fmla="*/ 168 h 1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2" h="168">
                <a:moveTo>
                  <a:pt x="162" y="149"/>
                </a:moveTo>
                <a:cubicBezTo>
                  <a:pt x="162" y="159"/>
                  <a:pt x="155" y="168"/>
                  <a:pt x="146" y="168"/>
                </a:cubicBezTo>
                <a:cubicBezTo>
                  <a:pt x="16" y="168"/>
                  <a:pt x="16" y="168"/>
                  <a:pt x="16" y="168"/>
                </a:cubicBezTo>
                <a:cubicBezTo>
                  <a:pt x="8" y="168"/>
                  <a:pt x="0" y="159"/>
                  <a:pt x="0" y="149"/>
                </a:cubicBezTo>
                <a:cubicBezTo>
                  <a:pt x="0" y="19"/>
                  <a:pt x="0" y="19"/>
                  <a:pt x="0" y="19"/>
                </a:cubicBezTo>
                <a:cubicBezTo>
                  <a:pt x="0" y="8"/>
                  <a:pt x="8" y="0"/>
                  <a:pt x="16" y="0"/>
                </a:cubicBezTo>
                <a:cubicBezTo>
                  <a:pt x="146" y="0"/>
                  <a:pt x="146" y="0"/>
                  <a:pt x="146" y="0"/>
                </a:cubicBezTo>
                <a:cubicBezTo>
                  <a:pt x="155" y="0"/>
                  <a:pt x="162" y="8"/>
                  <a:pt x="162" y="19"/>
                </a:cubicBezTo>
                <a:lnTo>
                  <a:pt x="162" y="149"/>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38" name="Rectangle 47"/>
          <p:cNvSpPr>
            <a:spLocks noChangeArrowheads="1"/>
          </p:cNvSpPr>
          <p:nvPr/>
        </p:nvSpPr>
        <p:spPr bwMode="auto">
          <a:xfrm>
            <a:off x="0" y="5041900"/>
            <a:ext cx="14478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…drives the interest rate down.</a:t>
            </a:r>
          </a:p>
        </p:txBody>
      </p:sp>
    </p:spTree>
    <p:extLst>
      <p:ext uri="{BB962C8B-B14F-4D97-AF65-F5344CB8AC3E}">
        <p14:creationId xmlns:p14="http://schemas.microsoft.com/office/powerpoint/2010/main" val="1512747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48201"/>
                                        </p:tgtEl>
                                        <p:attrNameLst>
                                          <p:attrName>style.visibility</p:attrName>
                                        </p:attrNameLst>
                                      </p:cBhvr>
                                      <p:to>
                                        <p:strVal val="visible"/>
                                      </p:to>
                                    </p:set>
                                    <p:animEffect transition="in" filter="fade">
                                      <p:cBhvr>
                                        <p:cTn id="16" dur="500"/>
                                        <p:tgtEl>
                                          <p:spTgt spid="648201"/>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48209"/>
                                        </p:tgtEl>
                                        <p:attrNameLst>
                                          <p:attrName>style.visibility</p:attrName>
                                        </p:attrNameLst>
                                      </p:cBhvr>
                                      <p:to>
                                        <p:strVal val="visible"/>
                                      </p:to>
                                    </p:set>
                                    <p:animEffect transition="in" filter="fade">
                                      <p:cBhvr>
                                        <p:cTn id="20" dur="500"/>
                                        <p:tgtEl>
                                          <p:spTgt spid="648209"/>
                                        </p:tgtEl>
                                      </p:cBhvr>
                                    </p:animEffect>
                                  </p:childTnLst>
                                </p:cTn>
                              </p:par>
                              <p:par>
                                <p:cTn id="21" presetID="63" presetClass="path" presetSubtype="0" accel="50000" decel="50000" fill="hold" grpId="1" nodeType="withEffect">
                                  <p:stCondLst>
                                    <p:cond delay="0"/>
                                  </p:stCondLst>
                                  <p:childTnLst>
                                    <p:animMotion origin="layout" path="M -0.18333 1.11111E-6 L 1.11022E-16 1.11111E-6 " pathEditMode="relative" rAng="0" ptsTypes="AA">
                                      <p:cBhvr>
                                        <p:cTn id="22" dur="2000" fill="hold"/>
                                        <p:tgtEl>
                                          <p:spTgt spid="648209"/>
                                        </p:tgtEl>
                                        <p:attrNameLst>
                                          <p:attrName>ppt_x</p:attrName>
                                          <p:attrName>ppt_y</p:attrName>
                                        </p:attrNameLst>
                                      </p:cBhvr>
                                      <p:rCtr x="9167" y="0"/>
                                    </p:animMotion>
                                  </p:childTnLst>
                                </p:cTn>
                              </p:par>
                            </p:childTnLst>
                          </p:cTn>
                        </p:par>
                        <p:par>
                          <p:cTn id="23" fill="hold">
                            <p:stCondLst>
                              <p:cond delay="2500"/>
                            </p:stCondLst>
                            <p:childTnLst>
                              <p:par>
                                <p:cTn id="24" presetID="10" presetClass="entr" presetSubtype="0" fill="hold" grpId="0" nodeType="afterEffect">
                                  <p:stCondLst>
                                    <p:cond delay="0"/>
                                  </p:stCondLst>
                                  <p:childTnLst>
                                    <p:set>
                                      <p:cBhvr>
                                        <p:cTn id="25" dur="1" fill="hold">
                                          <p:stCondLst>
                                            <p:cond delay="0"/>
                                          </p:stCondLst>
                                        </p:cTn>
                                        <p:tgtEl>
                                          <p:spTgt spid="648200"/>
                                        </p:tgtEl>
                                        <p:attrNameLst>
                                          <p:attrName>style.visibility</p:attrName>
                                        </p:attrNameLst>
                                      </p:cBhvr>
                                      <p:to>
                                        <p:strVal val="visible"/>
                                      </p:to>
                                    </p:set>
                                    <p:animEffect transition="in" filter="fade">
                                      <p:cBhvr>
                                        <p:cTn id="26" dur="500"/>
                                        <p:tgtEl>
                                          <p:spTgt spid="64820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48198"/>
                                        </p:tgtEl>
                                        <p:attrNameLst>
                                          <p:attrName>style.visibility</p:attrName>
                                        </p:attrNameLst>
                                      </p:cBhvr>
                                      <p:to>
                                        <p:strVal val="visible"/>
                                      </p:to>
                                    </p:set>
                                    <p:animEffect transition="in" filter="fade">
                                      <p:cBhvr>
                                        <p:cTn id="29" dur="500"/>
                                        <p:tgtEl>
                                          <p:spTgt spid="64819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48204"/>
                                        </p:tgtEl>
                                        <p:attrNameLst>
                                          <p:attrName>style.visibility</p:attrName>
                                        </p:attrNameLst>
                                      </p:cBhvr>
                                      <p:to>
                                        <p:strVal val="visible"/>
                                      </p:to>
                                    </p:set>
                                    <p:animEffect transition="in" filter="fade">
                                      <p:cBhvr>
                                        <p:cTn id="32" dur="500"/>
                                        <p:tgtEl>
                                          <p:spTgt spid="648204"/>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648224"/>
                                        </p:tgtEl>
                                        <p:attrNameLst>
                                          <p:attrName>style.visibility</p:attrName>
                                        </p:attrNameLst>
                                      </p:cBhvr>
                                      <p:to>
                                        <p:strVal val="visible"/>
                                      </p:to>
                                    </p:set>
                                    <p:animEffect transition="in" filter="fade">
                                      <p:cBhvr>
                                        <p:cTn id="36" dur="500"/>
                                        <p:tgtEl>
                                          <p:spTgt spid="648224"/>
                                        </p:tgtEl>
                                      </p:cBhvr>
                                    </p:animEffect>
                                  </p:childTnLst>
                                </p:cTn>
                              </p:par>
                            </p:childTnLst>
                          </p:cTn>
                        </p:par>
                        <p:par>
                          <p:cTn id="37"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648202"/>
                                        </p:tgtEl>
                                        <p:attrNameLst>
                                          <p:attrName>style.visibility</p:attrName>
                                        </p:attrNameLst>
                                      </p:cBhvr>
                                      <p:to>
                                        <p:strVal val="visible"/>
                                      </p:to>
                                    </p:set>
                                    <p:animEffect transition="in" filter="fade">
                                      <p:cBhvr>
                                        <p:cTn id="40" dur="500"/>
                                        <p:tgtEl>
                                          <p:spTgt spid="648202"/>
                                        </p:tgtEl>
                                      </p:cBhvr>
                                    </p:animEffect>
                                  </p:childTnLst>
                                </p:cTn>
                              </p:par>
                            </p:childTnLst>
                          </p:cTn>
                        </p:par>
                        <p:par>
                          <p:cTn id="41" fill="hold">
                            <p:stCondLst>
                              <p:cond delay="4000"/>
                            </p:stCondLst>
                            <p:childTnLst>
                              <p:par>
                                <p:cTn id="42" presetID="22" presetClass="entr" presetSubtype="2" fill="hold" grpId="0" nodeType="afterEffect">
                                  <p:stCondLst>
                                    <p:cond delay="0"/>
                                  </p:stCondLst>
                                  <p:childTnLst>
                                    <p:set>
                                      <p:cBhvr>
                                        <p:cTn id="43" dur="1" fill="hold">
                                          <p:stCondLst>
                                            <p:cond delay="0"/>
                                          </p:stCondLst>
                                        </p:cTn>
                                        <p:tgtEl>
                                          <p:spTgt spid="648237"/>
                                        </p:tgtEl>
                                        <p:attrNameLst>
                                          <p:attrName>style.visibility</p:attrName>
                                        </p:attrNameLst>
                                      </p:cBhvr>
                                      <p:to>
                                        <p:strVal val="visible"/>
                                      </p:to>
                                    </p:set>
                                    <p:animEffect transition="in" filter="wipe(right)">
                                      <p:cBhvr>
                                        <p:cTn id="44" dur="500"/>
                                        <p:tgtEl>
                                          <p:spTgt spid="648237"/>
                                        </p:tgtEl>
                                      </p:cBhvr>
                                    </p:animEffect>
                                  </p:childTnLst>
                                </p:cTn>
                              </p:par>
                            </p:childTnLst>
                          </p:cTn>
                        </p:par>
                        <p:par>
                          <p:cTn id="45" fill="hold">
                            <p:stCondLst>
                              <p:cond delay="4500"/>
                            </p:stCondLst>
                            <p:childTnLst>
                              <p:par>
                                <p:cTn id="46" presetID="10" presetClass="entr" presetSubtype="0" fill="hold" nodeType="afterEffect">
                                  <p:stCondLst>
                                    <p:cond delay="0"/>
                                  </p:stCondLst>
                                  <p:childTnLst>
                                    <p:set>
                                      <p:cBhvr>
                                        <p:cTn id="47" dur="1" fill="hold">
                                          <p:stCondLst>
                                            <p:cond delay="0"/>
                                          </p:stCondLst>
                                        </p:cTn>
                                        <p:tgtEl>
                                          <p:spTgt spid="648231"/>
                                        </p:tgtEl>
                                        <p:attrNameLst>
                                          <p:attrName>style.visibility</p:attrName>
                                        </p:attrNameLst>
                                      </p:cBhvr>
                                      <p:to>
                                        <p:strVal val="visible"/>
                                      </p:to>
                                    </p:set>
                                    <p:animEffect transition="in" filter="fade">
                                      <p:cBhvr>
                                        <p:cTn id="48" dur="500"/>
                                        <p:tgtEl>
                                          <p:spTgt spid="648231"/>
                                        </p:tgtEl>
                                      </p:cBhvr>
                                    </p:animEffect>
                                  </p:childTnLst>
                                </p:cTn>
                              </p:par>
                            </p:childTnLst>
                          </p:cTn>
                        </p:par>
                        <p:par>
                          <p:cTn id="49" fill="hold">
                            <p:stCondLst>
                              <p:cond delay="5000"/>
                            </p:stCondLst>
                            <p:childTnLst>
                              <p:par>
                                <p:cTn id="50" presetID="10" presetClass="entr" presetSubtype="0" fill="hold" grpId="0" nodeType="after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8" grpId="0"/>
      <p:bldP spid="648200" grpId="0" animBg="1"/>
      <p:bldP spid="648201" grpId="0" animBg="1"/>
      <p:bldP spid="648202" grpId="0"/>
      <p:bldP spid="648204" grpId="0"/>
      <p:bldP spid="648209" grpId="0" animBg="1"/>
      <p:bldP spid="648209" grpId="1" animBg="1"/>
      <p:bldP spid="648237" grpId="0" animBg="1"/>
      <p:bldP spid="3" grpId="0" build="p"/>
      <p:bldP spid="648224" grpId="0" animBg="1"/>
      <p:bldP spid="37" grpId="0" animBg="1"/>
      <p:bldP spid="38" grpId="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8198" name="Rectangle 7"/>
          <p:cNvSpPr>
            <a:spLocks noChangeArrowheads="1"/>
          </p:cNvSpPr>
          <p:nvPr/>
        </p:nvSpPr>
        <p:spPr bwMode="auto">
          <a:xfrm>
            <a:off x="5629275" y="6413500"/>
            <a:ext cx="3508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00" name="Line 45"/>
          <p:cNvSpPr>
            <a:spLocks noChangeShapeType="1"/>
          </p:cNvSpPr>
          <p:nvPr/>
        </p:nvSpPr>
        <p:spPr bwMode="auto">
          <a:xfrm>
            <a:off x="5638800" y="6416675"/>
            <a:ext cx="114300" cy="3175"/>
          </a:xfrm>
          <a:prstGeom prst="line">
            <a:avLst/>
          </a:prstGeom>
          <a:noFill/>
          <a:ln w="7">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01" name="Line 94"/>
          <p:cNvSpPr>
            <a:spLocks noChangeShapeType="1"/>
          </p:cNvSpPr>
          <p:nvPr/>
        </p:nvSpPr>
        <p:spPr bwMode="auto">
          <a:xfrm flipH="1">
            <a:off x="4289497" y="6556376"/>
            <a:ext cx="1310482" cy="0"/>
          </a:xfrm>
          <a:prstGeom prst="line">
            <a:avLst/>
          </a:prstGeom>
          <a:noFill/>
          <a:ln w="28575">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02" name="Rectangle 34"/>
          <p:cNvSpPr>
            <a:spLocks noChangeArrowheads="1"/>
          </p:cNvSpPr>
          <p:nvPr/>
        </p:nvSpPr>
        <p:spPr bwMode="auto">
          <a:xfrm>
            <a:off x="5848350" y="529431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E</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04" name="Rectangle 41"/>
          <p:cNvSpPr>
            <a:spLocks noChangeArrowheads="1"/>
          </p:cNvSpPr>
          <p:nvPr/>
        </p:nvSpPr>
        <p:spPr bwMode="auto">
          <a:xfrm>
            <a:off x="3905209" y="2828766"/>
            <a:ext cx="3831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MS</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09" name="Line 84"/>
          <p:cNvSpPr>
            <a:spLocks noChangeShapeType="1"/>
          </p:cNvSpPr>
          <p:nvPr/>
        </p:nvSpPr>
        <p:spPr bwMode="auto">
          <a:xfrm>
            <a:off x="5775325" y="3074988"/>
            <a:ext cx="3175" cy="3268662"/>
          </a:xfrm>
          <a:prstGeom prst="line">
            <a:avLst/>
          </a:prstGeom>
          <a:noFill/>
          <a:ln w="38100">
            <a:solidFill>
              <a:srgbClr val="FDBA4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11" name="Rectangle 18"/>
          <p:cNvSpPr>
            <a:spLocks noChangeArrowheads="1"/>
          </p:cNvSpPr>
          <p:nvPr/>
        </p:nvSpPr>
        <p:spPr bwMode="auto">
          <a:xfrm>
            <a:off x="1558925" y="4799013"/>
            <a:ext cx="1555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13" name="Rectangle 36"/>
          <p:cNvSpPr>
            <a:spLocks noChangeArrowheads="1"/>
          </p:cNvSpPr>
          <p:nvPr/>
        </p:nvSpPr>
        <p:spPr bwMode="auto">
          <a:xfrm>
            <a:off x="4117975" y="4762500"/>
            <a:ext cx="1960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E</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14" name="Rectangle 38"/>
          <p:cNvSpPr>
            <a:spLocks noChangeArrowheads="1"/>
          </p:cNvSpPr>
          <p:nvPr/>
        </p:nvSpPr>
        <p:spPr bwMode="auto">
          <a:xfrm>
            <a:off x="5614153" y="2828767"/>
            <a:ext cx="38311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MS</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16" name="Rectangle 40"/>
          <p:cNvSpPr>
            <a:spLocks noChangeArrowheads="1"/>
          </p:cNvSpPr>
          <p:nvPr/>
        </p:nvSpPr>
        <p:spPr bwMode="auto">
          <a:xfrm>
            <a:off x="7246938" y="5673725"/>
            <a:ext cx="37548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MD</a:t>
            </a:r>
            <a:endPar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17" name="Rectangle 46"/>
          <p:cNvSpPr>
            <a:spLocks noChangeArrowheads="1"/>
          </p:cNvSpPr>
          <p:nvPr/>
        </p:nvSpPr>
        <p:spPr bwMode="auto">
          <a:xfrm>
            <a:off x="3955358" y="6413500"/>
            <a:ext cx="27463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M</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2</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19" name="Line 48"/>
          <p:cNvSpPr>
            <a:spLocks noChangeShapeType="1"/>
          </p:cNvSpPr>
          <p:nvPr/>
        </p:nvSpPr>
        <p:spPr bwMode="auto">
          <a:xfrm>
            <a:off x="3962400" y="6416675"/>
            <a:ext cx="111125" cy="3175"/>
          </a:xfrm>
          <a:prstGeom prst="line">
            <a:avLst/>
          </a:prstGeom>
          <a:noFill/>
          <a:ln w="7">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20" name="Line 49"/>
          <p:cNvSpPr>
            <a:spLocks noChangeShapeType="1"/>
          </p:cNvSpPr>
          <p:nvPr/>
        </p:nvSpPr>
        <p:spPr bwMode="auto">
          <a:xfrm>
            <a:off x="4037013" y="3100388"/>
            <a:ext cx="1587" cy="3243262"/>
          </a:xfrm>
          <a:prstGeom prst="line">
            <a:avLst/>
          </a:prstGeom>
          <a:noFill/>
          <a:ln w="38100">
            <a:solidFill>
              <a:srgbClr val="F3716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21" name="Freeform 82"/>
          <p:cNvSpPr>
            <a:spLocks/>
          </p:cNvSpPr>
          <p:nvPr/>
        </p:nvSpPr>
        <p:spPr bwMode="auto">
          <a:xfrm>
            <a:off x="1828800" y="2590800"/>
            <a:ext cx="5911850" cy="3752850"/>
          </a:xfrm>
          <a:custGeom>
            <a:avLst/>
            <a:gdLst>
              <a:gd name="T0" fmla="*/ 5893384 w 2098"/>
              <a:gd name="T1" fmla="*/ 4755730 h 1691"/>
              <a:gd name="T2" fmla="*/ 0 w 2098"/>
              <a:gd name="T3" fmla="*/ 4755730 h 1691"/>
              <a:gd name="T4" fmla="*/ 0 w 2098"/>
              <a:gd name="T5" fmla="*/ 0 h 1691"/>
              <a:gd name="T6" fmla="*/ 0 60000 65536"/>
              <a:gd name="T7" fmla="*/ 0 60000 65536"/>
              <a:gd name="T8" fmla="*/ 0 60000 65536"/>
              <a:gd name="T9" fmla="*/ 0 w 2098"/>
              <a:gd name="T10" fmla="*/ 0 h 1691"/>
              <a:gd name="T11" fmla="*/ 2098 w 2098"/>
              <a:gd name="T12" fmla="*/ 1691 h 1691"/>
            </a:gdLst>
            <a:ahLst/>
            <a:cxnLst>
              <a:cxn ang="T6">
                <a:pos x="T0" y="T1"/>
              </a:cxn>
              <a:cxn ang="T7">
                <a:pos x="T2" y="T3"/>
              </a:cxn>
              <a:cxn ang="T8">
                <a:pos x="T4" y="T5"/>
              </a:cxn>
            </a:cxnLst>
            <a:rect l="T9" t="T10" r="T11" b="T12"/>
            <a:pathLst>
              <a:path w="2098" h="1691">
                <a:moveTo>
                  <a:pt x="2098" y="1691"/>
                </a:moveTo>
                <a:lnTo>
                  <a:pt x="0" y="1691"/>
                </a:lnTo>
                <a:lnTo>
                  <a:pt x="0" y="0"/>
                </a:lnTo>
              </a:path>
            </a:pathLst>
          </a:custGeom>
          <a:noFill/>
          <a:ln w="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25" name="Footer Placeholder 2"/>
          <p:cNvSpPr txBox="1">
            <a:spLocks noGrp="1"/>
          </p:cNvSpPr>
          <p:nvPr/>
        </p:nvSpPr>
        <p:spPr bwMode="auto">
          <a:xfrm>
            <a:off x="6324600" y="6477158"/>
            <a:ext cx="2286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0"/>
              </a:spcBef>
              <a:defRPr>
                <a:solidFill>
                  <a:schemeClr val="tx1"/>
                </a:solidFill>
                <a:latin typeface="Arial" charset="0"/>
              </a:defRPr>
            </a:lvl1pPr>
            <a:lvl2pPr marL="37931725" indent="-37474525">
              <a:spcBef>
                <a:spcPct val="0"/>
              </a:spcBef>
              <a:defRPr>
                <a:solidFill>
                  <a:schemeClr val="tx1"/>
                </a:solidFill>
                <a:latin typeface="Arial" charset="0"/>
              </a:defRPr>
            </a:lvl2pPr>
            <a:lvl3pPr>
              <a:spcBef>
                <a:spcPct val="0"/>
              </a:spcBef>
              <a:defRPr>
                <a:solidFill>
                  <a:schemeClr val="tx1"/>
                </a:solidFill>
                <a:latin typeface="Arial" charset="0"/>
              </a:defRPr>
            </a:lvl3pPr>
            <a:lvl4pPr>
              <a:spcBef>
                <a:spcPct val="0"/>
              </a:spcBef>
              <a:defRPr>
                <a:solidFill>
                  <a:schemeClr val="tx1"/>
                </a:solidFill>
                <a:latin typeface="Arial" charset="0"/>
              </a:defRPr>
            </a:lvl4pPr>
            <a:lvl5pPr>
              <a:spcBef>
                <a:spcPct val="0"/>
              </a:spcBef>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Quantity of money</a:t>
            </a:r>
            <a:endParaRPr kumimoji="0" lang="en-US" sz="18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200" b="0" i="0" u="none" strike="noStrike" kern="1200" cap="none" spc="0" normalizeH="0" baseline="0" noProof="0" dirty="0">
              <a:ln>
                <a:noFill/>
              </a:ln>
              <a:solidFill>
                <a:srgbClr val="898989"/>
              </a:solidFill>
              <a:effectLst/>
              <a:uLnTx/>
              <a:uFillTx/>
              <a:latin typeface="Century Gothic"/>
              <a:ea typeface="ＭＳ Ｐゴシック" pitchFamily="34" charset="-128"/>
              <a:cs typeface="Century Gothic"/>
            </a:endParaRPr>
          </a:p>
        </p:txBody>
      </p:sp>
      <p:sp>
        <p:nvSpPr>
          <p:cNvPr id="648226" name="Rectangle 34"/>
          <p:cNvSpPr>
            <a:spLocks noChangeArrowheads="1"/>
          </p:cNvSpPr>
          <p:nvPr/>
        </p:nvSpPr>
        <p:spPr bwMode="auto">
          <a:xfrm>
            <a:off x="719667" y="2122488"/>
            <a:ext cx="1066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Interest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rate, </a:t>
            </a:r>
            <a:r>
              <a:rPr kumimoji="0" lang="en-US" sz="1800" b="1"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r</a:t>
            </a:r>
          </a:p>
        </p:txBody>
      </p:sp>
      <p:sp>
        <p:nvSpPr>
          <p:cNvPr id="648227" name="Line 35"/>
          <p:cNvSpPr>
            <a:spLocks noChangeShapeType="1"/>
          </p:cNvSpPr>
          <p:nvPr/>
        </p:nvSpPr>
        <p:spPr bwMode="auto">
          <a:xfrm flipH="1" flipV="1">
            <a:off x="1828800" y="5045075"/>
            <a:ext cx="218281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33" name="Rectangle 20"/>
          <p:cNvSpPr>
            <a:spLocks noChangeArrowheads="1"/>
          </p:cNvSpPr>
          <p:nvPr/>
        </p:nvSpPr>
        <p:spPr bwMode="auto">
          <a:xfrm>
            <a:off x="1558932" y="5446714"/>
            <a:ext cx="1555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0" i="1" u="none" strike="noStrike" kern="1200" cap="none" spc="0" normalizeH="0" baseline="0" noProof="0" dirty="0">
                <a:ln>
                  <a:noFill/>
                </a:ln>
                <a:solidFill>
                  <a:srgbClr val="000000"/>
                </a:solidFill>
                <a:effectLst/>
                <a:uLnTx/>
                <a:uFillTx/>
                <a:latin typeface="Century Gothic"/>
                <a:ea typeface="ＭＳ Ｐゴシック" pitchFamily="34" charset="-128"/>
                <a:cs typeface="Century Gothic"/>
              </a:rPr>
              <a:t>r</a:t>
            </a:r>
            <a:r>
              <a:rPr kumimoji="0" lang="en-US" sz="1600" b="0" i="0" u="none" strike="noStrike" kern="1200" cap="none" spc="0" normalizeH="0" baseline="-25000" noProof="0" dirty="0">
                <a:ln>
                  <a:noFill/>
                </a:ln>
                <a:solidFill>
                  <a:srgbClr val="000000"/>
                </a:solidFill>
                <a:effectLst/>
                <a:uLnTx/>
                <a:uFillTx/>
                <a:latin typeface="Century Gothic"/>
                <a:ea typeface="ＭＳ Ｐゴシック" pitchFamily="34" charset="-128"/>
                <a:cs typeface="Century Gothic"/>
              </a:rPr>
              <a:t>1</a:t>
            </a:r>
            <a:endParaRPr kumimoji="0" lang="en-US" sz="1600" b="0" i="0" u="none" strike="noStrike" kern="1200" cap="none" spc="0" normalizeH="0" baseline="-25000" noProof="0" dirty="0">
              <a:ln>
                <a:noFill/>
              </a:ln>
              <a:solidFill>
                <a:prstClr val="black"/>
              </a:solidFill>
              <a:effectLst/>
              <a:uLnTx/>
              <a:uFillTx/>
              <a:latin typeface="Century Gothic"/>
              <a:ea typeface="ＭＳ Ｐゴシック" pitchFamily="34" charset="-128"/>
              <a:cs typeface="Century Gothic"/>
            </a:endParaRPr>
          </a:p>
        </p:txBody>
      </p:sp>
      <p:sp>
        <p:nvSpPr>
          <p:cNvPr id="648235" name="Line 92"/>
          <p:cNvSpPr>
            <a:spLocks noChangeShapeType="1"/>
          </p:cNvSpPr>
          <p:nvPr/>
        </p:nvSpPr>
        <p:spPr bwMode="auto">
          <a:xfrm flipV="1">
            <a:off x="1635132" y="5094289"/>
            <a:ext cx="1588" cy="392113"/>
          </a:xfrm>
          <a:prstGeom prst="line">
            <a:avLst/>
          </a:prstGeom>
          <a:noFill/>
          <a:ln w="0">
            <a:solidFill>
              <a:srgbClr val="000000"/>
            </a:solidFill>
            <a:miter lim="800000"/>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37" name="Line 45"/>
          <p:cNvSpPr>
            <a:spLocks noChangeShapeType="1"/>
          </p:cNvSpPr>
          <p:nvPr/>
        </p:nvSpPr>
        <p:spPr bwMode="auto">
          <a:xfrm flipH="1">
            <a:off x="1828800" y="5634038"/>
            <a:ext cx="394176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Century Gothic"/>
            </a:endParaRPr>
          </a:p>
        </p:txBody>
      </p:sp>
      <p:sp>
        <p:nvSpPr>
          <p:cNvPr id="648238" name="Rectangle 46"/>
          <p:cNvSpPr>
            <a:spLocks noGrp="1" noRot="1" noChangeArrowheads="1"/>
          </p:cNvSpPr>
          <p:nvPr>
            <p:ph type="title"/>
          </p:nvPr>
        </p:nvSpPr>
        <p:spPr/>
        <p:txBody>
          <a:bodyPr>
            <a:noAutofit/>
          </a:bodyPr>
          <a:lstStyle/>
          <a:p>
            <a:r>
              <a:rPr lang="en-US" spc="0" dirty="0"/>
              <a:t>SETTING THE FEDERAL FUNDS RATE</a:t>
            </a:r>
          </a:p>
        </p:txBody>
      </p:sp>
      <p:sp>
        <p:nvSpPr>
          <p:cNvPr id="3" name="Content Placeholder 2"/>
          <p:cNvSpPr>
            <a:spLocks noGrp="1"/>
          </p:cNvSpPr>
          <p:nvPr>
            <p:ph idx="1"/>
          </p:nvPr>
        </p:nvSpPr>
        <p:spPr/>
        <p:txBody>
          <a:bodyPr>
            <a:normAutofit/>
          </a:bodyPr>
          <a:lstStyle/>
          <a:p>
            <a:pPr marL="1588" indent="-1588" algn="ctr"/>
            <a:r>
              <a:rPr lang="en-US" sz="2400" dirty="0">
                <a:solidFill>
                  <a:srgbClr val="0070C0"/>
                </a:solidFill>
              </a:rPr>
              <a:t>The Fed uses open-market operations to </a:t>
            </a:r>
          </a:p>
          <a:p>
            <a:pPr marL="1588" indent="-1588" algn="ctr"/>
            <a:r>
              <a:rPr lang="en-US" sz="2400" dirty="0">
                <a:solidFill>
                  <a:srgbClr val="0070C0"/>
                </a:solidFill>
              </a:rPr>
              <a:t>pull the interest rate up to the target rate.</a:t>
            </a:r>
          </a:p>
        </p:txBody>
      </p:sp>
      <p:cxnSp>
        <p:nvCxnSpPr>
          <p:cNvPr id="49" name="Straight Connector 48"/>
          <p:cNvCxnSpPr/>
          <p:nvPr/>
        </p:nvCxnSpPr>
        <p:spPr>
          <a:xfrm>
            <a:off x="2133600" y="4419600"/>
            <a:ext cx="5029200" cy="1676400"/>
          </a:xfrm>
          <a:prstGeom prst="line">
            <a:avLst/>
          </a:prstGeom>
          <a:noFill/>
          <a:ln w="41275">
            <a:solidFill>
              <a:srgbClr val="2CB1AE"/>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8223" name="Oval 86"/>
          <p:cNvSpPr>
            <a:spLocks noChangeArrowheads="1"/>
          </p:cNvSpPr>
          <p:nvPr/>
        </p:nvSpPr>
        <p:spPr bwMode="auto">
          <a:xfrm>
            <a:off x="3971925" y="5002213"/>
            <a:ext cx="131763" cy="13176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648224" name="Oval 87"/>
          <p:cNvSpPr>
            <a:spLocks noChangeArrowheads="1"/>
          </p:cNvSpPr>
          <p:nvPr/>
        </p:nvSpPr>
        <p:spPr bwMode="auto">
          <a:xfrm>
            <a:off x="5716588" y="5559425"/>
            <a:ext cx="131762" cy="13493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33" name="Freeform 52"/>
          <p:cNvSpPr>
            <a:spLocks/>
          </p:cNvSpPr>
          <p:nvPr/>
        </p:nvSpPr>
        <p:spPr bwMode="auto">
          <a:xfrm>
            <a:off x="4038600" y="2057400"/>
            <a:ext cx="2286000" cy="584775"/>
          </a:xfrm>
          <a:custGeom>
            <a:avLst/>
            <a:gdLst>
              <a:gd name="T0" fmla="*/ 579 w 245"/>
              <a:gd name="T1" fmla="*/ 185 h 98"/>
              <a:gd name="T2" fmla="*/ 539 w 245"/>
              <a:gd name="T3" fmla="*/ 232 h 98"/>
              <a:gd name="T4" fmla="*/ 40 w 245"/>
              <a:gd name="T5" fmla="*/ 232 h 98"/>
              <a:gd name="T6" fmla="*/ 0 w 245"/>
              <a:gd name="T7" fmla="*/ 185 h 98"/>
              <a:gd name="T8" fmla="*/ 0 w 245"/>
              <a:gd name="T9" fmla="*/ 45 h 98"/>
              <a:gd name="T10" fmla="*/ 40 w 245"/>
              <a:gd name="T11" fmla="*/ 0 h 98"/>
              <a:gd name="T12" fmla="*/ 539 w 245"/>
              <a:gd name="T13" fmla="*/ 0 h 98"/>
              <a:gd name="T14" fmla="*/ 579 w 245"/>
              <a:gd name="T15" fmla="*/ 45 h 98"/>
              <a:gd name="T16" fmla="*/ 579 w 245"/>
              <a:gd name="T17" fmla="*/ 185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5"/>
              <a:gd name="T28" fmla="*/ 0 h 98"/>
              <a:gd name="T29" fmla="*/ 245 w 245"/>
              <a:gd name="T30" fmla="*/ 98 h 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5" h="98">
                <a:moveTo>
                  <a:pt x="245" y="78"/>
                </a:moveTo>
                <a:cubicBezTo>
                  <a:pt x="245" y="89"/>
                  <a:pt x="237" y="98"/>
                  <a:pt x="228" y="98"/>
                </a:cubicBezTo>
                <a:cubicBezTo>
                  <a:pt x="17" y="98"/>
                  <a:pt x="17" y="98"/>
                  <a:pt x="17" y="98"/>
                </a:cubicBezTo>
                <a:cubicBezTo>
                  <a:pt x="8" y="98"/>
                  <a:pt x="0" y="89"/>
                  <a:pt x="0" y="78"/>
                </a:cubicBezTo>
                <a:cubicBezTo>
                  <a:pt x="0" y="19"/>
                  <a:pt x="0" y="19"/>
                  <a:pt x="0" y="19"/>
                </a:cubicBezTo>
                <a:cubicBezTo>
                  <a:pt x="0" y="9"/>
                  <a:pt x="8" y="0"/>
                  <a:pt x="17" y="0"/>
                </a:cubicBezTo>
                <a:cubicBezTo>
                  <a:pt x="228" y="0"/>
                  <a:pt x="228" y="0"/>
                  <a:pt x="228" y="0"/>
                </a:cubicBezTo>
                <a:cubicBezTo>
                  <a:pt x="237" y="0"/>
                  <a:pt x="245" y="9"/>
                  <a:pt x="245" y="19"/>
                </a:cubicBezTo>
                <a:lnTo>
                  <a:pt x="245" y="78"/>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34" name="Rectangle 43"/>
          <p:cNvSpPr>
            <a:spLocks noChangeArrowheads="1"/>
          </p:cNvSpPr>
          <p:nvPr/>
        </p:nvSpPr>
        <p:spPr bwMode="auto">
          <a:xfrm>
            <a:off x="4038600" y="2057400"/>
            <a:ext cx="2362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An open-market sale of Treasury bills…</a:t>
            </a:r>
          </a:p>
        </p:txBody>
      </p:sp>
      <p:sp>
        <p:nvSpPr>
          <p:cNvPr id="37" name="Freeform 205"/>
          <p:cNvSpPr>
            <a:spLocks/>
          </p:cNvSpPr>
          <p:nvPr/>
        </p:nvSpPr>
        <p:spPr bwMode="auto">
          <a:xfrm>
            <a:off x="76200" y="4965700"/>
            <a:ext cx="1371600" cy="830262"/>
          </a:xfrm>
          <a:custGeom>
            <a:avLst/>
            <a:gdLst>
              <a:gd name="T0" fmla="*/ 383 w 162"/>
              <a:gd name="T1" fmla="*/ 352 h 168"/>
              <a:gd name="T2" fmla="*/ 345 w 162"/>
              <a:gd name="T3" fmla="*/ 397 h 168"/>
              <a:gd name="T4" fmla="*/ 38 w 162"/>
              <a:gd name="T5" fmla="*/ 397 h 168"/>
              <a:gd name="T6" fmla="*/ 0 w 162"/>
              <a:gd name="T7" fmla="*/ 352 h 168"/>
              <a:gd name="T8" fmla="*/ 0 w 162"/>
              <a:gd name="T9" fmla="*/ 45 h 168"/>
              <a:gd name="T10" fmla="*/ 38 w 162"/>
              <a:gd name="T11" fmla="*/ 0 h 168"/>
              <a:gd name="T12" fmla="*/ 345 w 162"/>
              <a:gd name="T13" fmla="*/ 0 h 168"/>
              <a:gd name="T14" fmla="*/ 383 w 162"/>
              <a:gd name="T15" fmla="*/ 45 h 168"/>
              <a:gd name="T16" fmla="*/ 383 w 162"/>
              <a:gd name="T17" fmla="*/ 352 h 1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2"/>
              <a:gd name="T28" fmla="*/ 0 h 168"/>
              <a:gd name="T29" fmla="*/ 162 w 162"/>
              <a:gd name="T30" fmla="*/ 168 h 1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2" h="168">
                <a:moveTo>
                  <a:pt x="162" y="149"/>
                </a:moveTo>
                <a:cubicBezTo>
                  <a:pt x="162" y="159"/>
                  <a:pt x="155" y="168"/>
                  <a:pt x="146" y="168"/>
                </a:cubicBezTo>
                <a:cubicBezTo>
                  <a:pt x="16" y="168"/>
                  <a:pt x="16" y="168"/>
                  <a:pt x="16" y="168"/>
                </a:cubicBezTo>
                <a:cubicBezTo>
                  <a:pt x="8" y="168"/>
                  <a:pt x="0" y="159"/>
                  <a:pt x="0" y="149"/>
                </a:cubicBezTo>
                <a:cubicBezTo>
                  <a:pt x="0" y="19"/>
                  <a:pt x="0" y="19"/>
                  <a:pt x="0" y="19"/>
                </a:cubicBezTo>
                <a:cubicBezTo>
                  <a:pt x="0" y="8"/>
                  <a:pt x="8" y="0"/>
                  <a:pt x="16" y="0"/>
                </a:cubicBezTo>
                <a:cubicBezTo>
                  <a:pt x="146" y="0"/>
                  <a:pt x="146" y="0"/>
                  <a:pt x="146" y="0"/>
                </a:cubicBezTo>
                <a:cubicBezTo>
                  <a:pt x="155" y="0"/>
                  <a:pt x="162" y="8"/>
                  <a:pt x="162" y="19"/>
                </a:cubicBezTo>
                <a:lnTo>
                  <a:pt x="162" y="149"/>
                </a:lnTo>
                <a:close/>
              </a:path>
            </a:pathLst>
          </a:custGeom>
          <a:solidFill>
            <a:srgbClr val="D7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endParaRPr>
          </a:p>
        </p:txBody>
      </p:sp>
      <p:sp>
        <p:nvSpPr>
          <p:cNvPr id="38" name="Rectangle 47"/>
          <p:cNvSpPr>
            <a:spLocks noChangeArrowheads="1"/>
          </p:cNvSpPr>
          <p:nvPr/>
        </p:nvSpPr>
        <p:spPr bwMode="auto">
          <a:xfrm>
            <a:off x="-1" y="4965700"/>
            <a:ext cx="15589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entury Gothic"/>
                <a:ea typeface="ＭＳ Ｐゴシック" pitchFamily="34" charset="-128"/>
                <a:cs typeface="Century Gothic"/>
              </a:rPr>
              <a:t>…drives the interest rate up.</a:t>
            </a:r>
          </a:p>
        </p:txBody>
      </p:sp>
    </p:spTree>
    <p:extLst>
      <p:ext uri="{BB962C8B-B14F-4D97-AF65-F5344CB8AC3E}">
        <p14:creationId xmlns:p14="http://schemas.microsoft.com/office/powerpoint/2010/main" val="311986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648201"/>
                                        </p:tgtEl>
                                        <p:attrNameLst>
                                          <p:attrName>style.visibility</p:attrName>
                                        </p:attrNameLst>
                                      </p:cBhvr>
                                      <p:to>
                                        <p:strVal val="visible"/>
                                      </p:to>
                                    </p:set>
                                    <p:animEffect transition="in" filter="fade">
                                      <p:cBhvr>
                                        <p:cTn id="23" dur="500"/>
                                        <p:tgtEl>
                                          <p:spTgt spid="648201"/>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648220"/>
                                        </p:tgtEl>
                                        <p:attrNameLst>
                                          <p:attrName>style.visibility</p:attrName>
                                        </p:attrNameLst>
                                      </p:cBhvr>
                                      <p:to>
                                        <p:strVal val="visible"/>
                                      </p:to>
                                    </p:set>
                                    <p:animEffect transition="in" filter="fade">
                                      <p:cBhvr>
                                        <p:cTn id="27" dur="500"/>
                                        <p:tgtEl>
                                          <p:spTgt spid="648220"/>
                                        </p:tgtEl>
                                      </p:cBhvr>
                                    </p:animEffect>
                                  </p:childTnLst>
                                </p:cTn>
                              </p:par>
                              <p:par>
                                <p:cTn id="28" presetID="35" presetClass="path" presetSubtype="0" accel="50000" decel="50000" fill="hold" grpId="1" nodeType="withEffect">
                                  <p:stCondLst>
                                    <p:cond delay="0"/>
                                  </p:stCondLst>
                                  <p:childTnLst>
                                    <p:animMotion origin="layout" path="M 0.19184 0.00046 L -3.05556E-6 4.07407E-6 " pathEditMode="relative" rAng="0" ptsTypes="AA">
                                      <p:cBhvr>
                                        <p:cTn id="29" dur="2000" fill="hold"/>
                                        <p:tgtEl>
                                          <p:spTgt spid="648220"/>
                                        </p:tgtEl>
                                        <p:attrNameLst>
                                          <p:attrName>ppt_x</p:attrName>
                                          <p:attrName>ppt_y</p:attrName>
                                        </p:attrNameLst>
                                      </p:cBhvr>
                                      <p:rCtr x="-9601" y="-23"/>
                                    </p:animMotion>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648204"/>
                                        </p:tgtEl>
                                        <p:attrNameLst>
                                          <p:attrName>style.visibility</p:attrName>
                                        </p:attrNameLst>
                                      </p:cBhvr>
                                      <p:to>
                                        <p:strVal val="visible"/>
                                      </p:to>
                                    </p:set>
                                    <p:animEffect transition="in" filter="fade">
                                      <p:cBhvr>
                                        <p:cTn id="33" dur="500"/>
                                        <p:tgtEl>
                                          <p:spTgt spid="64820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48217"/>
                                        </p:tgtEl>
                                        <p:attrNameLst>
                                          <p:attrName>style.visibility</p:attrName>
                                        </p:attrNameLst>
                                      </p:cBhvr>
                                      <p:to>
                                        <p:strVal val="visible"/>
                                      </p:to>
                                    </p:set>
                                    <p:animEffect transition="in" filter="fade">
                                      <p:cBhvr>
                                        <p:cTn id="36" dur="500"/>
                                        <p:tgtEl>
                                          <p:spTgt spid="6482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48219"/>
                                        </p:tgtEl>
                                        <p:attrNameLst>
                                          <p:attrName>style.visibility</p:attrName>
                                        </p:attrNameLst>
                                      </p:cBhvr>
                                      <p:to>
                                        <p:strVal val="visible"/>
                                      </p:to>
                                    </p:set>
                                    <p:animEffect transition="in" filter="fade">
                                      <p:cBhvr>
                                        <p:cTn id="39" dur="500"/>
                                        <p:tgtEl>
                                          <p:spTgt spid="6482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648223"/>
                                        </p:tgtEl>
                                        <p:attrNameLst>
                                          <p:attrName>style.visibility</p:attrName>
                                        </p:attrNameLst>
                                      </p:cBhvr>
                                      <p:to>
                                        <p:strVal val="visible"/>
                                      </p:to>
                                    </p:set>
                                    <p:animEffect transition="in" filter="fade">
                                      <p:cBhvr>
                                        <p:cTn id="44" dur="500"/>
                                        <p:tgtEl>
                                          <p:spTgt spid="64822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48213"/>
                                        </p:tgtEl>
                                        <p:attrNameLst>
                                          <p:attrName>style.visibility</p:attrName>
                                        </p:attrNameLst>
                                      </p:cBhvr>
                                      <p:to>
                                        <p:strVal val="visible"/>
                                      </p:to>
                                    </p:set>
                                    <p:animEffect transition="in" filter="fade">
                                      <p:cBhvr>
                                        <p:cTn id="47" dur="500"/>
                                        <p:tgtEl>
                                          <p:spTgt spid="648213"/>
                                        </p:tgtEl>
                                      </p:cBhvr>
                                    </p:animEffect>
                                  </p:childTnLst>
                                </p:cTn>
                              </p:par>
                            </p:childTnLst>
                          </p:cTn>
                        </p:par>
                        <p:par>
                          <p:cTn id="48" fill="hold">
                            <p:stCondLst>
                              <p:cond delay="500"/>
                            </p:stCondLst>
                            <p:childTnLst>
                              <p:par>
                                <p:cTn id="49" presetID="22" presetClass="entr" presetSubtype="2" fill="hold" grpId="0" nodeType="afterEffect">
                                  <p:stCondLst>
                                    <p:cond delay="0"/>
                                  </p:stCondLst>
                                  <p:childTnLst>
                                    <p:set>
                                      <p:cBhvr>
                                        <p:cTn id="50" dur="1" fill="hold">
                                          <p:stCondLst>
                                            <p:cond delay="0"/>
                                          </p:stCondLst>
                                        </p:cTn>
                                        <p:tgtEl>
                                          <p:spTgt spid="648227"/>
                                        </p:tgtEl>
                                        <p:attrNameLst>
                                          <p:attrName>style.visibility</p:attrName>
                                        </p:attrNameLst>
                                      </p:cBhvr>
                                      <p:to>
                                        <p:strVal val="visible"/>
                                      </p:to>
                                    </p:set>
                                    <p:animEffect transition="in" filter="wipe(right)">
                                      <p:cBhvr>
                                        <p:cTn id="51" dur="500"/>
                                        <p:tgtEl>
                                          <p:spTgt spid="648227"/>
                                        </p:tgtEl>
                                      </p:cBhvr>
                                    </p:animEffect>
                                  </p:childTnLst>
                                </p:cTn>
                              </p:par>
                            </p:childTnLst>
                          </p:cTn>
                        </p:par>
                        <p:par>
                          <p:cTn id="52" fill="hold">
                            <p:stCondLst>
                              <p:cond delay="1000"/>
                            </p:stCondLst>
                            <p:childTnLst>
                              <p:par>
                                <p:cTn id="53" presetID="10" presetClass="entr" presetSubtype="0" fill="hold" grpId="0" nodeType="afterEffect">
                                  <p:stCondLst>
                                    <p:cond delay="0"/>
                                  </p:stCondLst>
                                  <p:childTnLst>
                                    <p:set>
                                      <p:cBhvr>
                                        <p:cTn id="54" dur="1" fill="hold">
                                          <p:stCondLst>
                                            <p:cond delay="0"/>
                                          </p:stCondLst>
                                        </p:cTn>
                                        <p:tgtEl>
                                          <p:spTgt spid="648211"/>
                                        </p:tgtEl>
                                        <p:attrNameLst>
                                          <p:attrName>style.visibility</p:attrName>
                                        </p:attrNameLst>
                                      </p:cBhvr>
                                      <p:to>
                                        <p:strVal val="visible"/>
                                      </p:to>
                                    </p:set>
                                    <p:animEffect transition="in" filter="fade">
                                      <p:cBhvr>
                                        <p:cTn id="55" dur="500"/>
                                        <p:tgtEl>
                                          <p:spTgt spid="648211"/>
                                        </p:tgtEl>
                                      </p:cBhvr>
                                    </p:animEffect>
                                  </p:childTnLst>
                                </p:cTn>
                              </p:par>
                            </p:childTnLst>
                          </p:cTn>
                        </p:par>
                        <p:par>
                          <p:cTn id="56" fill="hold">
                            <p:stCondLst>
                              <p:cond delay="1500"/>
                            </p:stCondLst>
                            <p:childTnLst>
                              <p:par>
                                <p:cTn id="57" presetID="10" presetClass="entr" presetSubtype="0" fill="hold" grpId="0" nodeType="afterEffect">
                                  <p:stCondLst>
                                    <p:cond delay="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500"/>
                                        <p:tgtEl>
                                          <p:spTgt spid="3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500"/>
                                        <p:tgtEl>
                                          <p:spTgt spid="3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48235"/>
                                        </p:tgtEl>
                                        <p:attrNameLst>
                                          <p:attrName>style.visibility</p:attrName>
                                        </p:attrNameLst>
                                      </p:cBhvr>
                                      <p:to>
                                        <p:strVal val="visible"/>
                                      </p:to>
                                    </p:set>
                                    <p:animEffect transition="in" filter="fade">
                                      <p:cBhvr>
                                        <p:cTn id="65" dur="500"/>
                                        <p:tgtEl>
                                          <p:spTgt spid="648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201" grpId="0" animBg="1"/>
      <p:bldP spid="648204" grpId="0"/>
      <p:bldP spid="648211" grpId="0"/>
      <p:bldP spid="648213" grpId="0"/>
      <p:bldP spid="648217" grpId="0"/>
      <p:bldP spid="648219" grpId="0" animBg="1"/>
      <p:bldP spid="648220" grpId="0" animBg="1"/>
      <p:bldP spid="648220" grpId="1" animBg="1"/>
      <p:bldP spid="648227" grpId="0" animBg="1"/>
      <p:bldP spid="648235" grpId="0" animBg="1"/>
      <p:bldP spid="3" grpId="0" build="p"/>
      <p:bldP spid="648223" grpId="0" animBg="1"/>
      <p:bldP spid="33" grpId="0" animBg="1"/>
      <p:bldP spid="34" grpId="0"/>
      <p:bldP spid="37" grpId="0" animBg="1"/>
      <p:bldP spid="38" grpId="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 name="Picture 2" descr="http://www.sxc.hu/pic/l/m/mj/mjw/460813_16945452.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400800" y="2209800"/>
            <a:ext cx="2743200" cy="2057400"/>
          </a:xfrm>
          <a:prstGeom prst="rect">
            <a:avLst/>
          </a:prstGeom>
          <a:noFill/>
        </p:spPr>
      </p:pic>
      <p:sp>
        <p:nvSpPr>
          <p:cNvPr id="510978" name="Rectangle 2"/>
          <p:cNvSpPr>
            <a:spLocks noGrp="1" noRot="1" noChangeArrowheads="1"/>
          </p:cNvSpPr>
          <p:nvPr>
            <p:ph type="title"/>
          </p:nvPr>
        </p:nvSpPr>
        <p:spPr>
          <a:xfrm>
            <a:off x="0" y="0"/>
            <a:ext cx="9144000" cy="990600"/>
          </a:xfrm>
        </p:spPr>
        <p:txBody>
          <a:bodyPr>
            <a:noAutofit/>
          </a:bodyPr>
          <a:lstStyle/>
          <a:p>
            <a:r>
              <a:rPr lang="en-US" sz="4000" spc="0" dirty="0"/>
              <a:t>MONETARY POLICY AND AGGREGATE DEMAND</a:t>
            </a:r>
            <a:endParaRPr lang="en-US" sz="4000" b="0" spc="0" dirty="0">
              <a:solidFill>
                <a:schemeClr val="tx1"/>
              </a:solidFill>
            </a:endParaRPr>
          </a:p>
        </p:txBody>
      </p:sp>
      <p:sp>
        <p:nvSpPr>
          <p:cNvPr id="2" name="Content Placeholder 1"/>
          <p:cNvSpPr>
            <a:spLocks noGrp="1"/>
          </p:cNvSpPr>
          <p:nvPr>
            <p:ph idx="1"/>
          </p:nvPr>
        </p:nvSpPr>
        <p:spPr>
          <a:xfrm>
            <a:off x="228600" y="1295400"/>
            <a:ext cx="8839200" cy="4648200"/>
          </a:xfrm>
        </p:spPr>
        <p:txBody>
          <a:bodyPr>
            <a:normAutofit/>
          </a:bodyPr>
          <a:lstStyle/>
          <a:p>
            <a:pPr>
              <a:buClr>
                <a:srgbClr val="000000"/>
              </a:buClr>
            </a:pPr>
            <a:r>
              <a:rPr lang="en-US" sz="2800" i="1" dirty="0">
                <a:solidFill>
                  <a:srgbClr val="990033"/>
                </a:solidFill>
              </a:rPr>
              <a:t>Expansionary monetary policy: </a:t>
            </a:r>
            <a:r>
              <a:rPr lang="en-US" sz="2800" dirty="0"/>
              <a:t>monetary policy that increases aggregate demand (also called “easy money policy”).</a:t>
            </a:r>
          </a:p>
          <a:p>
            <a:pPr>
              <a:buClr>
                <a:srgbClr val="000000"/>
              </a:buClr>
            </a:pPr>
            <a:endParaRPr lang="en-US" sz="2800" dirty="0"/>
          </a:p>
          <a:p>
            <a:pPr>
              <a:buClr>
                <a:srgbClr val="000000"/>
              </a:buClr>
            </a:pPr>
            <a:endParaRPr lang="en-US" sz="2800" dirty="0"/>
          </a:p>
          <a:p>
            <a:pPr>
              <a:buClr>
                <a:srgbClr val="000000"/>
              </a:buClr>
            </a:pPr>
            <a:endParaRPr lang="en-US" sz="2800" dirty="0"/>
          </a:p>
          <a:p>
            <a:pPr>
              <a:buClr>
                <a:srgbClr val="000000"/>
              </a:buClr>
            </a:pPr>
            <a:r>
              <a:rPr lang="en-US" sz="2800" i="1" dirty="0">
                <a:solidFill>
                  <a:srgbClr val="990033"/>
                </a:solidFill>
              </a:rPr>
              <a:t>Contractionary monetary policy: </a:t>
            </a:r>
            <a:r>
              <a:rPr lang="en-US" sz="2800" dirty="0"/>
              <a:t>monetary policy that reduces aggregate demand (also called “tight money policy”).</a:t>
            </a:r>
          </a:p>
          <a:p>
            <a:endParaRPr lang="en-US" sz="2800" dirty="0"/>
          </a:p>
        </p:txBody>
      </p:sp>
      <p:sp>
        <p:nvSpPr>
          <p:cNvPr id="510983" name="Rectangle 7"/>
          <p:cNvSpPr>
            <a:spLocks noChangeArrowheads="1"/>
          </p:cNvSpPr>
          <p:nvPr/>
        </p:nvSpPr>
        <p:spPr bwMode="auto">
          <a:xfrm>
            <a:off x="228600" y="914400"/>
            <a:ext cx="8686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marR="0" lvl="0" indent="-342900" algn="l" defTabSz="914400" rtl="0" eaLnBrk="1" fontAlgn="auto" latinLnBrk="0" hangingPunct="1">
              <a:lnSpc>
                <a:spcPct val="100000"/>
              </a:lnSpc>
              <a:spcBef>
                <a:spcPct val="20000"/>
              </a:spcBef>
              <a:spcAft>
                <a:spcPts val="0"/>
              </a:spcAft>
              <a:buClr>
                <a:srgbClr val="000000"/>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5" name="Picture 4" descr="Money061608.JPG"/>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0" y="2809954"/>
            <a:ext cx="3429000" cy="15334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9381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fade">
                                      <p:cBhvr>
                                        <p:cTn id="16"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rmAutofit fontScale="90000"/>
          </a:bodyPr>
          <a:lstStyle/>
          <a:p>
            <a:r>
              <a:rPr lang="en-US" dirty="0"/>
              <a:t>MONETARY POLICY AND AGGREGATE DEMAND</a:t>
            </a:r>
          </a:p>
        </p:txBody>
      </p:sp>
      <p:pic>
        <p:nvPicPr>
          <p:cNvPr id="7170" name="Picture 2" descr="C:\Users\solina\Dropbox\Krugman 3e Dynamic PPTs\Krugman 3e material\Images_High Res\CH30\CH30\Krug3e_fig_30_07.jpg"/>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1" y="3017520"/>
            <a:ext cx="1498600" cy="13258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C:\Users\solina\Dropbox\Krugman 3e Dynamic PPTs\Krugman 3e material\Images_High Res\CH30\CH30\Krug3e_fig_30_07.jpg"/>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2900363" y="3017520"/>
            <a:ext cx="1504420" cy="13258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solina\Dropbox\Krugman 3e Dynamic PPTs\Krugman 3e material\Images_High Res\CH30\CH30\Krug3e_fig_30_07.jpg"/>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1498601" y="3017520"/>
            <a:ext cx="1437480" cy="13258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solina\Dropbox\Krugman 3e Dynamic PPTs\Krugman 3e material\Images_High Res\CH30\CH30\Krug3e_fig_30_07.jpg"/>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p:blipFill>
        <p:spPr bwMode="auto">
          <a:xfrm>
            <a:off x="5890260" y="3017520"/>
            <a:ext cx="3187139" cy="13258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solina\Dropbox\Krugman 3e Dynamic PPTs\Krugman 3e material\Images_High Res\CH30\CH30\Krug3e_fig_30_07.jpg"/>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p:blipFill>
        <p:spPr bwMode="auto">
          <a:xfrm>
            <a:off x="4404783" y="3017520"/>
            <a:ext cx="1485477" cy="1325880"/>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p:cNvSpPr txBox="1">
            <a:spLocks/>
          </p:cNvSpPr>
          <p:nvPr/>
        </p:nvSpPr>
        <p:spPr>
          <a:xfrm>
            <a:off x="281837" y="1371600"/>
            <a:ext cx="8839200" cy="990600"/>
          </a:xfrm>
          <a:prstGeom prst="rect">
            <a:avLst/>
          </a:prstGeom>
        </p:spPr>
        <p:txBody>
          <a:bodyPr vert="horz" lIns="91440" tIns="45720" rIns="91440" bIns="45720" rtlCol="0">
            <a:normAutofit fontScale="92500" lnSpcReduction="20000"/>
          </a:bodyPr>
          <a:lst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entury Gothic"/>
                <a:ea typeface="+mn-ea"/>
                <a:cs typeface="Century Gothic"/>
              </a:rPr>
              <a:t>How the expansionary monetary policy</a:t>
            </a:r>
          </a:p>
          <a:p>
            <a:pPr marL="0" marR="0" lvl="0" indent="0" algn="l" defTabSz="914400" rtl="0" eaLnBrk="1" fontAlgn="auto" latinLnBrk="0" hangingPunct="1">
              <a:lnSpc>
                <a:spcPct val="100000"/>
              </a:lnSpc>
              <a:spcBef>
                <a:spcPct val="2000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entury Gothic"/>
                <a:ea typeface="+mn-ea"/>
                <a:cs typeface="Century Gothic"/>
              </a:rPr>
              <a:t>cycle works:</a:t>
            </a:r>
          </a:p>
          <a:p>
            <a:pPr marL="0" marR="0" lvl="0" indent="0" algn="l" defTabSz="914400" rtl="0" eaLnBrk="1" fontAlgn="auto" latinLnBrk="0" hangingPunct="1">
              <a:lnSpc>
                <a:spcPct val="100000"/>
              </a:lnSpc>
              <a:spcBef>
                <a:spcPct val="2000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Century Gothic"/>
              <a:ea typeface="+mn-ea"/>
              <a:cs typeface="Century Gothic"/>
            </a:endParaRPr>
          </a:p>
        </p:txBody>
      </p:sp>
    </p:spTree>
    <p:extLst>
      <p:ext uri="{BB962C8B-B14F-4D97-AF65-F5344CB8AC3E}">
        <p14:creationId xmlns:p14="http://schemas.microsoft.com/office/powerpoint/2010/main" val="40134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rmAutofit fontScale="90000"/>
          </a:bodyPr>
          <a:lstStyle/>
          <a:p>
            <a:r>
              <a:rPr lang="en-US" spc="0" dirty="0"/>
              <a:t>MONETARY POLICY AND AGGREGATE DEMAND</a:t>
            </a:r>
          </a:p>
        </p:txBody>
      </p:sp>
      <p:sp>
        <p:nvSpPr>
          <p:cNvPr id="3" name="Content Placeholder 2"/>
          <p:cNvSpPr>
            <a:spLocks noGrp="1"/>
          </p:cNvSpPr>
          <p:nvPr>
            <p:ph idx="1"/>
          </p:nvPr>
        </p:nvSpPr>
        <p:spPr>
          <a:xfrm>
            <a:off x="228600" y="1295400"/>
            <a:ext cx="8839200" cy="4343400"/>
          </a:xfrm>
        </p:spPr>
        <p:txBody>
          <a:bodyPr>
            <a:normAutofit/>
          </a:bodyPr>
          <a:lstStyle/>
          <a:p>
            <a:r>
              <a:rPr lang="en-US" dirty="0"/>
              <a:t>How the contractionary monetary policy</a:t>
            </a:r>
          </a:p>
          <a:p>
            <a:r>
              <a:rPr lang="en-US" dirty="0"/>
              <a:t>cycle works:</a:t>
            </a:r>
          </a:p>
          <a:p>
            <a:endParaRPr lang="en-US" dirty="0"/>
          </a:p>
        </p:txBody>
      </p:sp>
      <p:pic>
        <p:nvPicPr>
          <p:cNvPr id="7170" name="Picture 2" descr="C:\Users\solina\Dropbox\Krugman 3e Dynamic PPTs\Krugman 3e material\Images_High Res\CH30\CH30\Krug3e_fig_30_07.jpg"/>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42262" y="3131820"/>
            <a:ext cx="1472214" cy="13639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C:\Users\solina\Dropbox\Krugman 3e Dynamic PPTs\Krugman 3e material\Images_High Res\CH30\CH30\Krug3e_fig_30_07.jpg"/>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1514476" y="3131820"/>
            <a:ext cx="1473200" cy="136398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C:\Users\solina\Dropbox\Krugman 3e Dynamic PPTs\Krugman 3e material\Images_High Res\CH30\CH30\Krug3e_fig_30_07.jpg"/>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p:blipFill>
        <p:spPr bwMode="auto">
          <a:xfrm>
            <a:off x="2987676" y="3131820"/>
            <a:ext cx="1473201" cy="13639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C:\Users\solina\Dropbox\Krugman 3e Dynamic PPTs\Krugman 3e material\Images_High Res\CH30\CH30\Krug3e_fig_30_07.jpg"/>
          <p:cNvPicPr>
            <a:picLocks noChangeAspect="1" noChangeArrowheads="1"/>
          </p:cNvPicPr>
          <p:nvPr/>
        </p:nvPicPr>
        <p:blipFill rotWithShape="1">
          <a:blip r:embed="rId5" cstate="print">
            <a:extLst>
              <a:ext uri="{28A0092B-C50C-407E-A947-70E740481C1C}">
                <a14:useLocalDpi xmlns:a14="http://schemas.microsoft.com/office/drawing/2010/main"/>
              </a:ext>
            </a:extLst>
          </a:blip>
          <a:srcRect/>
          <a:stretch/>
        </p:blipFill>
        <p:spPr bwMode="auto">
          <a:xfrm>
            <a:off x="5922328" y="3131820"/>
            <a:ext cx="3198709" cy="13639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solina\Dropbox\Krugman 3e Dynamic PPTs\Krugman 3e material\Images_High Res\CH30\CH30\Krug3e_fig_30_07.jpg"/>
          <p:cNvPicPr>
            <a:picLocks noChangeAspect="1" noChangeArrowheads="1"/>
          </p:cNvPicPr>
          <p:nvPr/>
        </p:nvPicPr>
        <p:blipFill rotWithShape="1">
          <a:blip r:embed="rId6" cstate="print">
            <a:extLst>
              <a:ext uri="{28A0092B-C50C-407E-A947-70E740481C1C}">
                <a14:useLocalDpi xmlns:a14="http://schemas.microsoft.com/office/drawing/2010/main"/>
              </a:ext>
            </a:extLst>
          </a:blip>
          <a:srcRect/>
          <a:stretch/>
        </p:blipFill>
        <p:spPr bwMode="auto">
          <a:xfrm>
            <a:off x="4431985" y="3131820"/>
            <a:ext cx="1490343" cy="1363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38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0" dirty="0"/>
              <a:t>MONETARY POLICY IN PRACTICE</a:t>
            </a:r>
          </a:p>
        </p:txBody>
      </p:sp>
      <p:sp>
        <p:nvSpPr>
          <p:cNvPr id="3" name="Content Placeholder 2"/>
          <p:cNvSpPr>
            <a:spLocks noGrp="1"/>
          </p:cNvSpPr>
          <p:nvPr>
            <p:ph idx="1"/>
          </p:nvPr>
        </p:nvSpPr>
        <p:spPr/>
        <p:txBody>
          <a:bodyPr>
            <a:normAutofit fontScale="92500" lnSpcReduction="10000"/>
          </a:bodyPr>
          <a:lstStyle/>
          <a:p>
            <a:pPr>
              <a:spcBef>
                <a:spcPts val="120"/>
              </a:spcBef>
              <a:spcAft>
                <a:spcPts val="1200"/>
              </a:spcAft>
            </a:pPr>
            <a:r>
              <a:rPr lang="en-US" dirty="0">
                <a:solidFill>
                  <a:srgbClr val="0070C0"/>
                </a:solidFill>
              </a:rPr>
              <a:t>How does the Fed decide whether to use expansionary or contractionary monetary policy?</a:t>
            </a:r>
          </a:p>
          <a:p>
            <a:pPr>
              <a:spcBef>
                <a:spcPts val="120"/>
              </a:spcBef>
              <a:spcAft>
                <a:spcPts val="1200"/>
              </a:spcAft>
            </a:pPr>
            <a:r>
              <a:rPr lang="en-US" dirty="0"/>
              <a:t>And how does it decide how much is enough?</a:t>
            </a:r>
          </a:p>
          <a:p>
            <a:pPr>
              <a:spcBef>
                <a:spcPts val="120"/>
              </a:spcBef>
              <a:spcAft>
                <a:spcPts val="1200"/>
              </a:spcAft>
            </a:pPr>
            <a:r>
              <a:rPr lang="en-US" dirty="0">
                <a:solidFill>
                  <a:srgbClr val="990033"/>
                </a:solidFill>
              </a:rPr>
              <a:t>Policy makers try to fight recessions, as well as to ensure </a:t>
            </a:r>
            <a:r>
              <a:rPr lang="en-US" i="1" dirty="0">
                <a:solidFill>
                  <a:srgbClr val="990033"/>
                </a:solidFill>
              </a:rPr>
              <a:t>price stability</a:t>
            </a:r>
            <a:r>
              <a:rPr lang="en-US" dirty="0">
                <a:solidFill>
                  <a:srgbClr val="990033"/>
                </a:solidFill>
              </a:rPr>
              <a:t>: low (though usually not zero) inflation. </a:t>
            </a:r>
          </a:p>
          <a:p>
            <a:pPr>
              <a:spcBef>
                <a:spcPts val="120"/>
              </a:spcBef>
              <a:spcAft>
                <a:spcPts val="1200"/>
              </a:spcAft>
            </a:pPr>
            <a:r>
              <a:rPr lang="en-US" dirty="0"/>
              <a:t>Actual monetary policy reflects a combination of these goals.</a:t>
            </a:r>
          </a:p>
        </p:txBody>
      </p:sp>
    </p:spTree>
    <p:extLst>
      <p:ext uri="{BB962C8B-B14F-4D97-AF65-F5344CB8AC3E}">
        <p14:creationId xmlns:p14="http://schemas.microsoft.com/office/powerpoint/2010/main" val="24575638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0" dirty="0"/>
              <a:t>THE EUROPEAN CENTRAL BANK</a:t>
            </a:r>
          </a:p>
        </p:txBody>
      </p:sp>
      <p:sp>
        <p:nvSpPr>
          <p:cNvPr id="3" name="Content Placeholder 2"/>
          <p:cNvSpPr>
            <a:spLocks noGrp="1"/>
          </p:cNvSpPr>
          <p:nvPr>
            <p:ph idx="1"/>
          </p:nvPr>
        </p:nvSpPr>
        <p:spPr>
          <a:xfrm>
            <a:off x="4495800" y="990600"/>
            <a:ext cx="4572000" cy="4648200"/>
          </a:xfrm>
        </p:spPr>
        <p:txBody>
          <a:bodyPr>
            <a:noAutofit/>
          </a:bodyPr>
          <a:lstStyle/>
          <a:p>
            <a:r>
              <a:rPr lang="en-US" dirty="0"/>
              <a:t>Created in January</a:t>
            </a:r>
          </a:p>
          <a:p>
            <a:r>
              <a:rPr lang="en-US" dirty="0"/>
              <a:t>1999</a:t>
            </a:r>
          </a:p>
          <a:p>
            <a:endParaRPr lang="en-US" dirty="0"/>
          </a:p>
          <a:p>
            <a:r>
              <a:rPr lang="en-US" dirty="0">
                <a:solidFill>
                  <a:srgbClr val="0070C0"/>
                </a:solidFill>
              </a:rPr>
              <a:t>Located in Frankfurt, Germany</a:t>
            </a:r>
          </a:p>
          <a:p>
            <a:endParaRPr lang="en-US" dirty="0"/>
          </a:p>
          <a:p>
            <a:r>
              <a:rPr lang="en-US" dirty="0">
                <a:solidFill>
                  <a:schemeClr val="tx1">
                    <a:lumMod val="75000"/>
                    <a:lumOff val="25000"/>
                  </a:schemeClr>
                </a:solidFill>
              </a:rPr>
              <a:t>Represents a (combined) economy as large as that of the United States.</a:t>
            </a:r>
          </a:p>
          <a:p>
            <a:endParaRPr lang="en-US" dirty="0"/>
          </a:p>
        </p:txBody>
      </p:sp>
      <p:pic>
        <p:nvPicPr>
          <p:cNvPr id="51202" name="Picture 2" descr="http://digitaljournal.com/img/8/9/9/i/4/3/7/o/EuropeanBank.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413" y="906214"/>
            <a:ext cx="4456261" cy="5951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078569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609600"/>
            <a:ext cx="9144000" cy="838200"/>
          </a:xfrm>
        </p:spPr>
        <p:txBody>
          <a:bodyPr>
            <a:noAutofit/>
          </a:bodyPr>
          <a:lstStyle/>
          <a:p>
            <a:r>
              <a:rPr lang="en-US" sz="3200" spc="0" dirty="0">
                <a:solidFill>
                  <a:srgbClr val="E46C0A"/>
                </a:solidFill>
                <a:latin typeface="Century Gothic"/>
                <a:cs typeface="Century Gothic"/>
              </a:rPr>
              <a:t>The Fed’s Balance Sheet</a:t>
            </a:r>
          </a:p>
        </p:txBody>
      </p:sp>
      <p:pic>
        <p:nvPicPr>
          <p:cNvPr id="2052" name="Picture 4">
            <a:extLst>
              <a:ext uri="{FF2B5EF4-FFF2-40B4-BE49-F238E27FC236}">
                <a16:creationId xmlns:a16="http://schemas.microsoft.com/office/drawing/2014/main" id="{7A2AE3BC-8DE7-94DF-C0DE-21AD84D28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47800"/>
            <a:ext cx="9130035" cy="5189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3819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Autofit/>
          </a:bodyPr>
          <a:lstStyle/>
          <a:p>
            <a:r>
              <a:rPr lang="en-US" spc="0" dirty="0"/>
              <a:t>THE EVOLUTION OF THE AMERICAN BANKING SYSTEM</a:t>
            </a:r>
          </a:p>
        </p:txBody>
      </p:sp>
      <p:sp>
        <p:nvSpPr>
          <p:cNvPr id="3" name="Content Placeholder 2"/>
          <p:cNvSpPr>
            <a:spLocks noGrp="1"/>
          </p:cNvSpPr>
          <p:nvPr>
            <p:ph idx="1"/>
          </p:nvPr>
        </p:nvSpPr>
        <p:spPr>
          <a:xfrm>
            <a:off x="0" y="1371600"/>
            <a:ext cx="6096000" cy="4572000"/>
          </a:xfrm>
        </p:spPr>
        <p:txBody>
          <a:bodyPr>
            <a:normAutofit lnSpcReduction="10000"/>
          </a:bodyPr>
          <a:lstStyle/>
          <a:p>
            <a:r>
              <a:rPr lang="en-US" sz="2800" dirty="0"/>
              <a:t>The crisis in American banking in the early twentieth century</a:t>
            </a:r>
          </a:p>
          <a:p>
            <a:r>
              <a:rPr lang="en-US" sz="2800" b="0" dirty="0"/>
              <a:t>The main problem afflicting the system was that the money supply was not sufficiently responsive: It was difficult to shift currency around the country to respond quickly to local economic changes.</a:t>
            </a:r>
          </a:p>
          <a:p>
            <a:r>
              <a:rPr lang="en-US" sz="2800" b="0" dirty="0"/>
              <a:t>Bank panics (bank runs) were too common.</a:t>
            </a:r>
            <a:endParaRPr lang="en-US" sz="2800" dirty="0"/>
          </a:p>
        </p:txBody>
      </p:sp>
      <p:pic>
        <p:nvPicPr>
          <p:cNvPr id="52226" name="Picture 2" descr="C:\Users\solina\Dropbox\Krugman 3e Dynamic PPTs\Krugman 3e material\Images_High Res\CH29\CH29\Krug3e_29UN05.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65688" y="1752600"/>
            <a:ext cx="3078311" cy="4038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81000" y="5906869"/>
            <a:ext cx="8153399" cy="646331"/>
          </a:xfrm>
          <a:prstGeom prst="rect">
            <a:avLst/>
          </a:prstGeom>
        </p:spPr>
        <p:txBody>
          <a:bodyPr wrap="square">
            <a:spAutoFit/>
          </a:bodyPr>
          <a:lstStyle/>
          <a:p>
            <a:r>
              <a:rPr lang="en-US" i="1" dirty="0">
                <a:solidFill>
                  <a:prstClr val="black">
                    <a:lumMod val="75000"/>
                    <a:lumOff val="25000"/>
                  </a:prstClr>
                </a:solidFill>
                <a:latin typeface="Century Gothic"/>
                <a:cs typeface="Century Gothic"/>
              </a:rPr>
              <a:t>The Panic of 1907: a foreshadowing of the financial crisis of 2008?  Large losses from risky speculation destabilized the banking system.</a:t>
            </a:r>
          </a:p>
        </p:txBody>
      </p:sp>
    </p:spTree>
    <p:extLst>
      <p:ext uri="{BB962C8B-B14F-4D97-AF65-F5344CB8AC3E}">
        <p14:creationId xmlns:p14="http://schemas.microsoft.com/office/powerpoint/2010/main" val="20353731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19200"/>
          </a:xfrm>
        </p:spPr>
        <p:txBody>
          <a:bodyPr>
            <a:noAutofit/>
          </a:bodyPr>
          <a:lstStyle/>
          <a:p>
            <a:r>
              <a:rPr lang="en-US" spc="0" dirty="0"/>
              <a:t>THE EVOLUTION OF THE AMERICAN BANKING SYSTEM</a:t>
            </a:r>
          </a:p>
        </p:txBody>
      </p:sp>
      <p:sp>
        <p:nvSpPr>
          <p:cNvPr id="3" name="Content Placeholder 2"/>
          <p:cNvSpPr>
            <a:spLocks noGrp="1"/>
          </p:cNvSpPr>
          <p:nvPr>
            <p:ph idx="1"/>
          </p:nvPr>
        </p:nvSpPr>
        <p:spPr>
          <a:xfrm>
            <a:off x="228600" y="1447800"/>
            <a:ext cx="8839200" cy="4800600"/>
          </a:xfrm>
        </p:spPr>
        <p:txBody>
          <a:bodyPr>
            <a:normAutofit fontScale="92500" lnSpcReduction="20000"/>
          </a:bodyPr>
          <a:lstStyle/>
          <a:p>
            <a:pPr>
              <a:spcBef>
                <a:spcPts val="0"/>
              </a:spcBef>
              <a:spcAft>
                <a:spcPts val="1200"/>
              </a:spcAft>
            </a:pPr>
            <a:r>
              <a:rPr lang="en-US" dirty="0"/>
              <a:t>Responding to banking crises: the creation of the Federal Reserve</a:t>
            </a:r>
          </a:p>
          <a:p>
            <a:pPr>
              <a:spcBef>
                <a:spcPts val="0"/>
              </a:spcBef>
              <a:spcAft>
                <a:spcPts val="1200"/>
              </a:spcAft>
            </a:pPr>
            <a:r>
              <a:rPr lang="en-US" b="0" dirty="0"/>
              <a:t>The panic of 1907 convinced many that the time for central control of bank reserves had come.</a:t>
            </a:r>
          </a:p>
          <a:p>
            <a:pPr>
              <a:spcBef>
                <a:spcPts val="0"/>
              </a:spcBef>
              <a:spcAft>
                <a:spcPts val="1200"/>
              </a:spcAft>
            </a:pPr>
            <a:r>
              <a:rPr lang="en-US" dirty="0">
                <a:solidFill>
                  <a:srgbClr val="0070C0"/>
                </a:solidFill>
              </a:rPr>
              <a:t>In 1913 the Federal Reserve was created.</a:t>
            </a:r>
          </a:p>
          <a:p>
            <a:pPr>
              <a:spcBef>
                <a:spcPts val="0"/>
              </a:spcBef>
              <a:spcAft>
                <a:spcPts val="1200"/>
              </a:spcAft>
            </a:pPr>
            <a:r>
              <a:rPr lang="en-US" dirty="0"/>
              <a:t>Now bank reserves were centralized and standardized—but not immune to bank runs.</a:t>
            </a:r>
          </a:p>
          <a:p>
            <a:pPr>
              <a:spcBef>
                <a:spcPts val="0"/>
              </a:spcBef>
              <a:spcAft>
                <a:spcPts val="1200"/>
              </a:spcAft>
            </a:pPr>
            <a:r>
              <a:rPr lang="en-US" b="0" dirty="0"/>
              <a:t>A series of bank runs in 1930, 1931, and 1933 convinced the Fed that </a:t>
            </a:r>
            <a:r>
              <a:rPr lang="en-US" dirty="0"/>
              <a:t>banks needed more regulation.</a:t>
            </a:r>
          </a:p>
        </p:txBody>
      </p:sp>
    </p:spTree>
    <p:extLst>
      <p:ext uri="{BB962C8B-B14F-4D97-AF65-F5344CB8AC3E}">
        <p14:creationId xmlns:p14="http://schemas.microsoft.com/office/powerpoint/2010/main" val="2706894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Autofit/>
          </a:bodyPr>
          <a:lstStyle/>
          <a:p>
            <a:r>
              <a:rPr lang="en-US" spc="0" dirty="0"/>
              <a:t>THE EVOLUTION OF THE AMERICAN BANKING SYSTEM</a:t>
            </a:r>
          </a:p>
        </p:txBody>
      </p:sp>
      <p:sp>
        <p:nvSpPr>
          <p:cNvPr id="3" name="Content Placeholder 2"/>
          <p:cNvSpPr>
            <a:spLocks noGrp="1"/>
          </p:cNvSpPr>
          <p:nvPr>
            <p:ph idx="1"/>
          </p:nvPr>
        </p:nvSpPr>
        <p:spPr>
          <a:xfrm>
            <a:off x="228600" y="1371600"/>
            <a:ext cx="8839200" cy="4648200"/>
          </a:xfrm>
        </p:spPr>
        <p:txBody>
          <a:bodyPr>
            <a:normAutofit/>
          </a:bodyPr>
          <a:lstStyle/>
          <a:p>
            <a:pPr>
              <a:spcBef>
                <a:spcPts val="168"/>
              </a:spcBef>
              <a:spcAft>
                <a:spcPts val="1200"/>
              </a:spcAft>
            </a:pPr>
            <a:r>
              <a:rPr lang="en-US" b="0" dirty="0"/>
              <a:t>In</a:t>
            </a:r>
            <a:r>
              <a:rPr lang="en-US" dirty="0"/>
              <a:t> 1932,</a:t>
            </a:r>
            <a:r>
              <a:rPr lang="en-US" b="0" dirty="0"/>
              <a:t> the </a:t>
            </a:r>
            <a:r>
              <a:rPr lang="en-US" dirty="0">
                <a:solidFill>
                  <a:srgbClr val="0070C0"/>
                </a:solidFill>
              </a:rPr>
              <a:t>Reconstruction Finance Corporation (RFC)</a:t>
            </a:r>
            <a:r>
              <a:rPr lang="en-US" b="0" dirty="0"/>
              <a:t> was established and given the authority to make loans to banks in order to stabilize the banking sector. </a:t>
            </a:r>
          </a:p>
          <a:p>
            <a:pPr>
              <a:spcBef>
                <a:spcPts val="168"/>
              </a:spcBef>
              <a:spcAft>
                <a:spcPts val="1200"/>
              </a:spcAft>
            </a:pPr>
            <a:r>
              <a:rPr lang="en-US" b="0" dirty="0"/>
              <a:t>Also in </a:t>
            </a:r>
            <a:r>
              <a:rPr lang="en-US" dirty="0"/>
              <a:t>1932, </a:t>
            </a:r>
            <a:r>
              <a:rPr lang="en-US" b="0" dirty="0"/>
              <a:t>the</a:t>
            </a:r>
            <a:r>
              <a:rPr lang="en-US" dirty="0"/>
              <a:t>  </a:t>
            </a:r>
            <a:r>
              <a:rPr lang="en-US" dirty="0">
                <a:solidFill>
                  <a:srgbClr val="0070C0"/>
                </a:solidFill>
              </a:rPr>
              <a:t>Glass-Steagall Act </a:t>
            </a:r>
            <a:r>
              <a:rPr lang="en-US" b="0" dirty="0"/>
              <a:t>created federal deposit insurance and increased the ability of banks to borrow from the Federal Reserve system.</a:t>
            </a:r>
            <a:endParaRPr lang="en-US" dirty="0"/>
          </a:p>
        </p:txBody>
      </p:sp>
    </p:spTree>
    <p:extLst>
      <p:ext uri="{BB962C8B-B14F-4D97-AF65-F5344CB8AC3E}">
        <p14:creationId xmlns:p14="http://schemas.microsoft.com/office/powerpoint/2010/main" val="32444279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838200"/>
          </a:xfrm>
        </p:spPr>
        <p:txBody>
          <a:bodyPr>
            <a:noAutofit/>
          </a:bodyPr>
          <a:lstStyle/>
          <a:p>
            <a:r>
              <a:rPr lang="en-US" spc="0" dirty="0"/>
              <a:t>THE EVOLUTION OF THE AMERICAN BANKING SYSTEM</a:t>
            </a:r>
          </a:p>
        </p:txBody>
      </p:sp>
      <p:sp>
        <p:nvSpPr>
          <p:cNvPr id="3" name="Content Placeholder 2"/>
          <p:cNvSpPr>
            <a:spLocks noGrp="1"/>
          </p:cNvSpPr>
          <p:nvPr>
            <p:ph idx="1"/>
          </p:nvPr>
        </p:nvSpPr>
        <p:spPr>
          <a:xfrm>
            <a:off x="0" y="1219200"/>
            <a:ext cx="9067800" cy="4648200"/>
          </a:xfrm>
        </p:spPr>
        <p:txBody>
          <a:bodyPr>
            <a:noAutofit/>
          </a:bodyPr>
          <a:lstStyle/>
          <a:p>
            <a:r>
              <a:rPr lang="en-US" sz="2800" b="0" dirty="0"/>
              <a:t>Another </a:t>
            </a:r>
            <a:r>
              <a:rPr lang="en-US" sz="2800" dirty="0">
                <a:solidFill>
                  <a:srgbClr val="0070C0"/>
                </a:solidFill>
              </a:rPr>
              <a:t>Glass-Steagall Act </a:t>
            </a:r>
            <a:r>
              <a:rPr lang="en-US" sz="2800" dirty="0"/>
              <a:t>(1933) </a:t>
            </a:r>
            <a:r>
              <a:rPr lang="en-US" sz="2800" b="0" dirty="0"/>
              <a:t>separated banks into two categories: </a:t>
            </a:r>
          </a:p>
          <a:p>
            <a:pPr lvl="1"/>
            <a:r>
              <a:rPr lang="en-US" sz="2400" dirty="0">
                <a:solidFill>
                  <a:srgbClr val="990033"/>
                </a:solidFill>
              </a:rPr>
              <a:t>Commercial banks: </a:t>
            </a:r>
            <a:r>
              <a:rPr lang="en-US" sz="2400" b="0" dirty="0"/>
              <a:t>depository banks that accepted deposits and were covered by deposit insurance. </a:t>
            </a:r>
          </a:p>
          <a:p>
            <a:pPr lvl="1"/>
            <a:r>
              <a:rPr lang="en-US" sz="2400" dirty="0">
                <a:solidFill>
                  <a:srgbClr val="990033"/>
                </a:solidFill>
              </a:rPr>
              <a:t>Investment banks: </a:t>
            </a:r>
            <a:r>
              <a:rPr lang="en-US" sz="2400" b="0" dirty="0"/>
              <a:t>banks</a:t>
            </a:r>
            <a:r>
              <a:rPr lang="en-US" sz="2400" dirty="0">
                <a:solidFill>
                  <a:srgbClr val="990033"/>
                </a:solidFill>
              </a:rPr>
              <a:t> </a:t>
            </a:r>
            <a:r>
              <a:rPr lang="en-US" sz="2400" b="0" dirty="0"/>
              <a:t>which engaged in creating and trading financial assets (stocks and corporate bonds) but were not covered by deposit insurance because their activities were considered riskier.</a:t>
            </a:r>
            <a:endParaRPr lang="en-US" sz="2400" dirty="0"/>
          </a:p>
        </p:txBody>
      </p:sp>
      <p:pic>
        <p:nvPicPr>
          <p:cNvPr id="5" name="Picture 2" descr="File:GlassSteagall.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819400" y="4602480"/>
            <a:ext cx="3276600" cy="196596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6248400" y="4800600"/>
            <a:ext cx="2895600" cy="923330"/>
          </a:xfrm>
          <a:prstGeom prst="rect">
            <a:avLst/>
          </a:prstGeom>
          <a:noFill/>
        </p:spPr>
        <p:txBody>
          <a:bodyPr wrap="square" rtlCol="0">
            <a:spAutoFit/>
          </a:bodyPr>
          <a:lstStyle/>
          <a:p>
            <a:r>
              <a:rPr lang="en-US" i="1" dirty="0">
                <a:solidFill>
                  <a:prstClr val="black">
                    <a:lumMod val="75000"/>
                    <a:lumOff val="25000"/>
                  </a:prstClr>
                </a:solidFill>
                <a:latin typeface="Century Gothic"/>
                <a:cs typeface="Century Gothic"/>
              </a:rPr>
              <a:t>Sen. Carter Glass (D-Va.) and Rep. Henry B. Steagall (D-Ala.)</a:t>
            </a:r>
          </a:p>
        </p:txBody>
      </p:sp>
      <p:sp>
        <p:nvSpPr>
          <p:cNvPr id="7" name="Rectangle 6"/>
          <p:cNvSpPr/>
          <p:nvPr/>
        </p:nvSpPr>
        <p:spPr>
          <a:xfrm>
            <a:off x="0" y="4699598"/>
            <a:ext cx="2755900" cy="1477328"/>
          </a:xfrm>
          <a:prstGeom prst="rect">
            <a:avLst/>
          </a:prstGeom>
        </p:spPr>
        <p:txBody>
          <a:bodyPr wrap="square">
            <a:spAutoFit/>
          </a:bodyPr>
          <a:lstStyle/>
          <a:p>
            <a:r>
              <a:rPr lang="en-US" b="1" dirty="0">
                <a:solidFill>
                  <a:srgbClr val="0070C0"/>
                </a:solidFill>
                <a:latin typeface="Century Gothic"/>
                <a:cs typeface="Century Gothic"/>
              </a:rPr>
              <a:t>Public acceptance of deposit insurance finally stopped the bank runs of the Great Depression.</a:t>
            </a:r>
          </a:p>
        </p:txBody>
      </p:sp>
    </p:spTree>
    <p:extLst>
      <p:ext uri="{BB962C8B-B14F-4D97-AF65-F5344CB8AC3E}">
        <p14:creationId xmlns:p14="http://schemas.microsoft.com/office/powerpoint/2010/main" val="179600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482" name="Rectangle 2"/>
          <p:cNvSpPr>
            <a:spLocks noGrp="1" noRot="1" noChangeArrowheads="1"/>
          </p:cNvSpPr>
          <p:nvPr>
            <p:ph type="title"/>
          </p:nvPr>
        </p:nvSpPr>
        <p:spPr>
          <a:xfrm>
            <a:off x="0" y="152400"/>
            <a:ext cx="9144000" cy="838200"/>
          </a:xfrm>
        </p:spPr>
        <p:txBody>
          <a:bodyPr>
            <a:noAutofit/>
          </a:bodyPr>
          <a:lstStyle/>
          <a:p>
            <a:r>
              <a:rPr lang="en-US" spc="0" dirty="0"/>
              <a:t>THE SAVINGS AND LOAN CRISIS OF THE 1980S</a:t>
            </a:r>
          </a:p>
        </p:txBody>
      </p:sp>
      <p:sp>
        <p:nvSpPr>
          <p:cNvPr id="532483" name="Rectangle 3"/>
          <p:cNvSpPr>
            <a:spLocks noGrp="1" noChangeArrowheads="1"/>
          </p:cNvSpPr>
          <p:nvPr>
            <p:ph idx="1"/>
          </p:nvPr>
        </p:nvSpPr>
        <p:spPr>
          <a:xfrm>
            <a:off x="0" y="1143000"/>
            <a:ext cx="9067800" cy="4648200"/>
          </a:xfrm>
        </p:spPr>
        <p:txBody>
          <a:bodyPr>
            <a:noAutofit/>
          </a:bodyPr>
          <a:lstStyle/>
          <a:p>
            <a:r>
              <a:rPr lang="en-US" sz="2800" dirty="0"/>
              <a:t>The </a:t>
            </a:r>
            <a:r>
              <a:rPr lang="en-US" sz="2800" b="1" dirty="0"/>
              <a:t>savings and loan (thrift) </a:t>
            </a:r>
            <a:r>
              <a:rPr lang="en-US" sz="2800" dirty="0"/>
              <a:t>crisis of the 1980s arose because </a:t>
            </a:r>
            <a:r>
              <a:rPr lang="en-US" sz="2800" dirty="0">
                <a:solidFill>
                  <a:srgbClr val="0070C0"/>
                </a:solidFill>
              </a:rPr>
              <a:t>Congress deregulated S&amp;Ls, </a:t>
            </a:r>
            <a:r>
              <a:rPr lang="en-US" sz="2800" dirty="0"/>
              <a:t>allowing them to engage in risky speculation.</a:t>
            </a:r>
          </a:p>
          <a:p>
            <a:pPr lvl="1"/>
            <a:r>
              <a:rPr lang="en-US" i="1" dirty="0">
                <a:solidFill>
                  <a:schemeClr val="tx1">
                    <a:lumMod val="75000"/>
                    <a:lumOff val="25000"/>
                  </a:schemeClr>
                </a:solidFill>
              </a:rPr>
              <a:t>The intent was to make them to offer higher rates of return, like banks, in an era of high inflation.</a:t>
            </a:r>
          </a:p>
          <a:p>
            <a:pPr lvl="1"/>
            <a:r>
              <a:rPr lang="en-US" i="1" dirty="0">
                <a:solidFill>
                  <a:srgbClr val="990033"/>
                </a:solidFill>
              </a:rPr>
              <a:t>They incurred huge losses. </a:t>
            </a:r>
          </a:p>
          <a:p>
            <a:r>
              <a:rPr lang="en-US" sz="2800" dirty="0"/>
              <a:t>Depositors in failed S&amp;Ls were compensated with taxpayer funds because they were covered by deposit insurance. </a:t>
            </a:r>
          </a:p>
          <a:p>
            <a:r>
              <a:rPr lang="en-US" sz="2800" dirty="0">
                <a:solidFill>
                  <a:srgbClr val="990033"/>
                </a:solidFill>
              </a:rPr>
              <a:t>The crisis caused steep losses in the financial and real estate sectors, resulting in a recession in the early 1990s.</a:t>
            </a:r>
          </a:p>
        </p:txBody>
      </p:sp>
    </p:spTree>
    <p:extLst>
      <p:ext uri="{BB962C8B-B14F-4D97-AF65-F5344CB8AC3E}">
        <p14:creationId xmlns:p14="http://schemas.microsoft.com/office/powerpoint/2010/main" val="18007176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2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248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248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32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83" grpId="0" build="p"/>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4530" name="Rectangle 2"/>
          <p:cNvSpPr>
            <a:spLocks noGrp="1" noRot="1" noChangeArrowheads="1"/>
          </p:cNvSpPr>
          <p:nvPr>
            <p:ph type="title"/>
          </p:nvPr>
        </p:nvSpPr>
        <p:spPr>
          <a:xfrm>
            <a:off x="0" y="152400"/>
            <a:ext cx="9144000" cy="685800"/>
          </a:xfrm>
        </p:spPr>
        <p:txBody>
          <a:bodyPr>
            <a:noAutofit/>
          </a:bodyPr>
          <a:lstStyle/>
          <a:p>
            <a:r>
              <a:rPr lang="en-US" dirty="0"/>
              <a:t>THE FINANCIAL CRISIS OF 2008</a:t>
            </a:r>
          </a:p>
        </p:txBody>
      </p:sp>
      <p:sp>
        <p:nvSpPr>
          <p:cNvPr id="534531" name="Rectangle 3"/>
          <p:cNvSpPr>
            <a:spLocks noGrp="1" noChangeArrowheads="1"/>
          </p:cNvSpPr>
          <p:nvPr>
            <p:ph idx="1"/>
          </p:nvPr>
        </p:nvSpPr>
        <p:spPr>
          <a:xfrm>
            <a:off x="0" y="838200"/>
            <a:ext cx="9067800" cy="5867400"/>
          </a:xfrm>
        </p:spPr>
        <p:txBody>
          <a:bodyPr>
            <a:noAutofit/>
          </a:bodyPr>
          <a:lstStyle/>
          <a:p>
            <a:r>
              <a:rPr lang="en-US" sz="2200" dirty="0"/>
              <a:t>During the mid-1990s, the hedge fund </a:t>
            </a:r>
            <a:r>
              <a:rPr lang="en-US" sz="2200" dirty="0">
                <a:solidFill>
                  <a:srgbClr val="0070C0"/>
                </a:solidFill>
              </a:rPr>
              <a:t>LTCM (Long-Term Capital Management)</a:t>
            </a:r>
            <a:r>
              <a:rPr lang="en-US" sz="2200" dirty="0"/>
              <a:t> used huge amounts of </a:t>
            </a:r>
            <a:r>
              <a:rPr lang="en-US" sz="2200" b="1" dirty="0"/>
              <a:t>leverage </a:t>
            </a:r>
            <a:r>
              <a:rPr lang="en-US" sz="2200" dirty="0"/>
              <a:t>to </a:t>
            </a:r>
            <a:r>
              <a:rPr lang="en-US" sz="2200" dirty="0">
                <a:solidFill>
                  <a:srgbClr val="0070C0"/>
                </a:solidFill>
              </a:rPr>
              <a:t>speculate in global financial markets, incurred massive losses, and collapsed.</a:t>
            </a:r>
          </a:p>
          <a:p>
            <a:pPr lvl="1"/>
            <a:r>
              <a:rPr lang="en-US" sz="2200" i="1" dirty="0">
                <a:solidFill>
                  <a:srgbClr val="990033"/>
                </a:solidFill>
              </a:rPr>
              <a:t>Leverage: </a:t>
            </a:r>
            <a:r>
              <a:rPr lang="en-US" sz="2200" b="0" dirty="0"/>
              <a:t>financing an investment with</a:t>
            </a:r>
            <a:r>
              <a:rPr lang="en-US" sz="2200" dirty="0"/>
              <a:t> borrowed funds.</a:t>
            </a:r>
          </a:p>
          <a:p>
            <a:r>
              <a:rPr lang="en-US" sz="2200" dirty="0"/>
              <a:t>LTCM was so large that it caused </a:t>
            </a:r>
            <a:r>
              <a:rPr lang="en-US" sz="2200" b="1" dirty="0"/>
              <a:t>balance sheet effects </a:t>
            </a:r>
            <a:r>
              <a:rPr lang="en-US" sz="2200" dirty="0"/>
              <a:t>for firms globally, leading to the prospect of a </a:t>
            </a:r>
            <a:r>
              <a:rPr lang="en-US" sz="2200" b="1" dirty="0">
                <a:solidFill>
                  <a:srgbClr val="0070C0"/>
                </a:solidFill>
              </a:rPr>
              <a:t>vicious circle of deleveraging.</a:t>
            </a:r>
            <a:r>
              <a:rPr lang="en-US" sz="2200" b="1" dirty="0"/>
              <a:t> </a:t>
            </a:r>
          </a:p>
          <a:p>
            <a:pPr lvl="1"/>
            <a:r>
              <a:rPr lang="en-US" sz="2200" i="1" dirty="0">
                <a:solidFill>
                  <a:srgbClr val="990033"/>
                </a:solidFill>
              </a:rPr>
              <a:t>Balance sheet effect: </a:t>
            </a:r>
            <a:r>
              <a:rPr lang="en-US" sz="2200" b="0" dirty="0"/>
              <a:t>the reduction in a firm’s net worth due to falling asset prices.</a:t>
            </a:r>
          </a:p>
          <a:p>
            <a:pPr lvl="1"/>
            <a:r>
              <a:rPr lang="en-US" sz="2200" i="1" dirty="0">
                <a:solidFill>
                  <a:srgbClr val="990033"/>
                </a:solidFill>
              </a:rPr>
              <a:t>Vicious circle of deleveraging: </a:t>
            </a:r>
            <a:r>
              <a:rPr lang="en-US" sz="2200" b="0" dirty="0"/>
              <a:t>asset sales to cover losses forcing creditors to call in their loans, forcing sales of more assets and causing further declines in asset prices.</a:t>
            </a:r>
          </a:p>
          <a:p>
            <a:r>
              <a:rPr lang="en-US" sz="2200" dirty="0"/>
              <a:t>As a result, </a:t>
            </a:r>
            <a:r>
              <a:rPr lang="en-US" sz="2200" dirty="0">
                <a:solidFill>
                  <a:srgbClr val="0070C0"/>
                </a:solidFill>
              </a:rPr>
              <a:t>credit markets around the world froze. </a:t>
            </a:r>
            <a:r>
              <a:rPr lang="en-US" sz="2200" dirty="0"/>
              <a:t>The New York Fed coordinated a private bailout of LTCM and revived world credit markets.</a:t>
            </a:r>
          </a:p>
        </p:txBody>
      </p:sp>
      <p:pic>
        <p:nvPicPr>
          <p:cNvPr id="54274" name="Picture 2" descr="http://upload.wikimedia.org/wikipedia/en/thumb/2/2c/Ltcm.png/220px-Ltcm.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467100" y="6124574"/>
            <a:ext cx="2095500" cy="50482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30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4531">
                                            <p:txEl>
                                              <p:pRg st="0" end="0"/>
                                            </p:txEl>
                                          </p:spTgt>
                                        </p:tgtEl>
                                        <p:attrNameLst>
                                          <p:attrName>style.visibility</p:attrName>
                                        </p:attrNameLst>
                                      </p:cBhvr>
                                      <p:to>
                                        <p:strVal val="visible"/>
                                      </p:to>
                                    </p:set>
                                    <p:animEffect transition="in" filter="fade">
                                      <p:cBhvr>
                                        <p:cTn id="7" dur="500"/>
                                        <p:tgtEl>
                                          <p:spTgt spid="534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4531">
                                            <p:txEl>
                                              <p:pRg st="1" end="1"/>
                                            </p:txEl>
                                          </p:spTgt>
                                        </p:tgtEl>
                                        <p:attrNameLst>
                                          <p:attrName>style.visibility</p:attrName>
                                        </p:attrNameLst>
                                      </p:cBhvr>
                                      <p:to>
                                        <p:strVal val="visible"/>
                                      </p:to>
                                    </p:set>
                                    <p:animEffect transition="in" filter="fade">
                                      <p:cBhvr>
                                        <p:cTn id="12" dur="500"/>
                                        <p:tgtEl>
                                          <p:spTgt spid="5345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34531">
                                            <p:txEl>
                                              <p:pRg st="2" end="2"/>
                                            </p:txEl>
                                          </p:spTgt>
                                        </p:tgtEl>
                                        <p:attrNameLst>
                                          <p:attrName>style.visibility</p:attrName>
                                        </p:attrNameLst>
                                      </p:cBhvr>
                                      <p:to>
                                        <p:strVal val="visible"/>
                                      </p:to>
                                    </p:set>
                                    <p:animEffect transition="in" filter="fade">
                                      <p:cBhvr>
                                        <p:cTn id="17" dur="500"/>
                                        <p:tgtEl>
                                          <p:spTgt spid="5345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34531">
                                            <p:txEl>
                                              <p:pRg st="3" end="3"/>
                                            </p:txEl>
                                          </p:spTgt>
                                        </p:tgtEl>
                                        <p:attrNameLst>
                                          <p:attrName>style.visibility</p:attrName>
                                        </p:attrNameLst>
                                      </p:cBhvr>
                                      <p:to>
                                        <p:strVal val="visible"/>
                                      </p:to>
                                    </p:set>
                                    <p:animEffect transition="in" filter="fade">
                                      <p:cBhvr>
                                        <p:cTn id="22" dur="500"/>
                                        <p:tgtEl>
                                          <p:spTgt spid="5345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34531">
                                            <p:txEl>
                                              <p:pRg st="4" end="4"/>
                                            </p:txEl>
                                          </p:spTgt>
                                        </p:tgtEl>
                                        <p:attrNameLst>
                                          <p:attrName>style.visibility</p:attrName>
                                        </p:attrNameLst>
                                      </p:cBhvr>
                                      <p:to>
                                        <p:strVal val="visible"/>
                                      </p:to>
                                    </p:set>
                                    <p:animEffect transition="in" filter="fade">
                                      <p:cBhvr>
                                        <p:cTn id="27" dur="500"/>
                                        <p:tgtEl>
                                          <p:spTgt spid="534531">
                                            <p:txEl>
                                              <p:pRg st="4" end="4"/>
                                            </p:txEl>
                                          </p:spTgt>
                                        </p:tgtEl>
                                      </p:cBhvr>
                                    </p:animEffect>
                                  </p:childTnLst>
                                </p:cTn>
                              </p:par>
                            </p:childTnLst>
                          </p:cTn>
                        </p:par>
                        <p:par>
                          <p:cTn id="28" fill="hold" nodeType="withGroup">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534531">
                                            <p:txEl>
                                              <p:pRg st="5" end="5"/>
                                            </p:txEl>
                                          </p:spTgt>
                                        </p:tgtEl>
                                        <p:attrNameLst>
                                          <p:attrName>style.visibility</p:attrName>
                                        </p:attrNameLst>
                                      </p:cBhvr>
                                      <p:to>
                                        <p:strVal val="visible"/>
                                      </p:to>
                                    </p:set>
                                    <p:animEffect transition="in" filter="fade">
                                      <p:cBhvr>
                                        <p:cTn id="31" dur="500"/>
                                        <p:tgtEl>
                                          <p:spTgt spid="534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31" grpId="0" build="p"/>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09" name="Title 1"/>
          <p:cNvSpPr>
            <a:spLocks noGrp="1"/>
          </p:cNvSpPr>
          <p:nvPr>
            <p:ph type="title"/>
          </p:nvPr>
        </p:nvSpPr>
        <p:spPr/>
        <p:txBody>
          <a:bodyPr/>
          <a:lstStyle/>
          <a:p>
            <a:pPr>
              <a:defRPr/>
            </a:pPr>
            <a:r>
              <a:rPr lang="en-US" dirty="0"/>
              <a:t>THE FINANCIAL CRISIS OF 2008</a:t>
            </a:r>
          </a:p>
        </p:txBody>
      </p:sp>
      <p:sp>
        <p:nvSpPr>
          <p:cNvPr id="39941" name="Content Placeholder 2"/>
          <p:cNvSpPr>
            <a:spLocks noGrp="1"/>
          </p:cNvSpPr>
          <p:nvPr>
            <p:ph idx="1"/>
          </p:nvPr>
        </p:nvSpPr>
        <p:spPr/>
        <p:txBody>
          <a:bodyPr/>
          <a:lstStyle/>
          <a:p>
            <a:pPr eaLnBrk="1" hangingPunct="1"/>
            <a:r>
              <a:rPr lang="en-US" dirty="0"/>
              <a:t>2008—The worldwide financial system was in crisis, and banks and other financial institutions wanted to borrow more than $2 trillion.  What could be done?</a:t>
            </a:r>
          </a:p>
        </p:txBody>
      </p:sp>
      <p:pic>
        <p:nvPicPr>
          <p:cNvPr id="39942" name="Picture 4" descr="President_Bush_Nominates_Henry_Paulson_as_Treasury_Secretary_2.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2198688" y="3473450"/>
            <a:ext cx="4506912"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0718672"/>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5554" name="Rectangle 2"/>
          <p:cNvSpPr>
            <a:spLocks noGrp="1" noRot="1" noChangeArrowheads="1"/>
          </p:cNvSpPr>
          <p:nvPr>
            <p:ph type="title"/>
          </p:nvPr>
        </p:nvSpPr>
        <p:spPr/>
        <p:txBody>
          <a:bodyPr/>
          <a:lstStyle/>
          <a:p>
            <a:r>
              <a:rPr lang="en-US" dirty="0"/>
              <a:t>THE FINANCIAL CRISIS OF 2008</a:t>
            </a:r>
          </a:p>
        </p:txBody>
      </p:sp>
      <p:sp>
        <p:nvSpPr>
          <p:cNvPr id="535555" name="Rectangle 3"/>
          <p:cNvSpPr>
            <a:spLocks noGrp="1" noChangeArrowheads="1"/>
          </p:cNvSpPr>
          <p:nvPr>
            <p:ph idx="1"/>
          </p:nvPr>
        </p:nvSpPr>
        <p:spPr>
          <a:xfrm>
            <a:off x="228600" y="838200"/>
            <a:ext cx="8839200" cy="4648200"/>
          </a:xfrm>
        </p:spPr>
        <p:txBody>
          <a:bodyPr>
            <a:noAutofit/>
          </a:bodyPr>
          <a:lstStyle/>
          <a:p>
            <a:r>
              <a:rPr lang="en-US" sz="2400" b="1" dirty="0"/>
              <a:t>Subprime lending </a:t>
            </a:r>
            <a:r>
              <a:rPr lang="en-US" sz="2400" dirty="0"/>
              <a:t>during the </a:t>
            </a:r>
            <a:r>
              <a:rPr lang="en-US" sz="2400" dirty="0">
                <a:solidFill>
                  <a:srgbClr val="0070C0"/>
                </a:solidFill>
              </a:rPr>
              <a:t>U.S. housing bubble </a:t>
            </a:r>
            <a:r>
              <a:rPr lang="en-US" sz="2400" dirty="0"/>
              <a:t>of the mid-2000s spread through the financial system via </a:t>
            </a:r>
            <a:r>
              <a:rPr lang="en-US" sz="2400" b="1" dirty="0"/>
              <a:t>securitization. </a:t>
            </a:r>
          </a:p>
          <a:p>
            <a:pPr lvl="1"/>
            <a:r>
              <a:rPr lang="en-US" sz="2400" i="1" dirty="0">
                <a:solidFill>
                  <a:srgbClr val="990033"/>
                </a:solidFill>
              </a:rPr>
              <a:t>Subprime lending: </a:t>
            </a:r>
            <a:r>
              <a:rPr lang="en-US" sz="2400" b="0" dirty="0"/>
              <a:t>lending to home buyers who don’t meet the usual criteria for being able to make the payments.</a:t>
            </a:r>
          </a:p>
          <a:p>
            <a:pPr lvl="1"/>
            <a:r>
              <a:rPr lang="en-US" sz="2400" i="1" dirty="0">
                <a:solidFill>
                  <a:srgbClr val="990033"/>
                </a:solidFill>
              </a:rPr>
              <a:t>Securitization:</a:t>
            </a:r>
            <a:r>
              <a:rPr lang="en-US" sz="2400" dirty="0"/>
              <a:t> </a:t>
            </a:r>
            <a:r>
              <a:rPr lang="en-US" sz="2400" b="0" dirty="0"/>
              <a:t>a pool of loans assembled and shares of it sold to investors.</a:t>
            </a:r>
            <a:endParaRPr lang="en-US" sz="2400" b="1" dirty="0"/>
          </a:p>
          <a:p>
            <a:r>
              <a:rPr lang="en-US" sz="2400" dirty="0"/>
              <a:t>When the bubble burst, </a:t>
            </a:r>
            <a:r>
              <a:rPr lang="en-US" sz="2400" dirty="0">
                <a:solidFill>
                  <a:srgbClr val="0070C0"/>
                </a:solidFill>
              </a:rPr>
              <a:t>massive losses </a:t>
            </a:r>
            <a:r>
              <a:rPr lang="en-US" sz="2400" dirty="0"/>
              <a:t>by banks and other financial institutions </a:t>
            </a:r>
            <a:r>
              <a:rPr lang="en-US" sz="2400" dirty="0">
                <a:solidFill>
                  <a:srgbClr val="0070C0"/>
                </a:solidFill>
              </a:rPr>
              <a:t>led to widespread collapse in the financial system. </a:t>
            </a:r>
          </a:p>
          <a:p>
            <a:r>
              <a:rPr lang="en-US" sz="2400" dirty="0"/>
              <a:t>To prevent another Great Depression, the </a:t>
            </a:r>
            <a:r>
              <a:rPr lang="en-US" sz="2400" dirty="0">
                <a:solidFill>
                  <a:srgbClr val="0070C0"/>
                </a:solidFill>
              </a:rPr>
              <a:t>Fed and the U.S. Treasury expanded lending</a:t>
            </a:r>
            <a:r>
              <a:rPr lang="en-US" sz="2400" dirty="0"/>
              <a:t> to banks and other financial institutions, provided capital through the purchase of bank shares, and purchased private debt. </a:t>
            </a:r>
          </a:p>
        </p:txBody>
      </p:sp>
    </p:spTree>
    <p:extLst>
      <p:ext uri="{BB962C8B-B14F-4D97-AF65-F5344CB8AC3E}">
        <p14:creationId xmlns:p14="http://schemas.microsoft.com/office/powerpoint/2010/main" val="5120667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5555">
                                            <p:txEl>
                                              <p:pRg st="0" end="0"/>
                                            </p:txEl>
                                          </p:spTgt>
                                        </p:tgtEl>
                                        <p:attrNameLst>
                                          <p:attrName>style.visibility</p:attrName>
                                        </p:attrNameLst>
                                      </p:cBhvr>
                                      <p:to>
                                        <p:strVal val="visible"/>
                                      </p:to>
                                    </p:set>
                                    <p:animEffect transition="in" filter="fade">
                                      <p:cBhvr>
                                        <p:cTn id="7" dur="500"/>
                                        <p:tgtEl>
                                          <p:spTgt spid="535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5555">
                                            <p:txEl>
                                              <p:pRg st="1" end="1"/>
                                            </p:txEl>
                                          </p:spTgt>
                                        </p:tgtEl>
                                        <p:attrNameLst>
                                          <p:attrName>style.visibility</p:attrName>
                                        </p:attrNameLst>
                                      </p:cBhvr>
                                      <p:to>
                                        <p:strVal val="visible"/>
                                      </p:to>
                                    </p:set>
                                    <p:animEffect transition="in" filter="fade">
                                      <p:cBhvr>
                                        <p:cTn id="12" dur="500"/>
                                        <p:tgtEl>
                                          <p:spTgt spid="535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35555">
                                            <p:txEl>
                                              <p:pRg st="2" end="2"/>
                                            </p:txEl>
                                          </p:spTgt>
                                        </p:tgtEl>
                                        <p:attrNameLst>
                                          <p:attrName>style.visibility</p:attrName>
                                        </p:attrNameLst>
                                      </p:cBhvr>
                                      <p:to>
                                        <p:strVal val="visible"/>
                                      </p:to>
                                    </p:set>
                                    <p:animEffect transition="in" filter="fade">
                                      <p:cBhvr>
                                        <p:cTn id="17" dur="500"/>
                                        <p:tgtEl>
                                          <p:spTgt spid="5355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35555">
                                            <p:txEl>
                                              <p:pRg st="3" end="3"/>
                                            </p:txEl>
                                          </p:spTgt>
                                        </p:tgtEl>
                                        <p:attrNameLst>
                                          <p:attrName>style.visibility</p:attrName>
                                        </p:attrNameLst>
                                      </p:cBhvr>
                                      <p:to>
                                        <p:strVal val="visible"/>
                                      </p:to>
                                    </p:set>
                                    <p:animEffect transition="in" filter="fade">
                                      <p:cBhvr>
                                        <p:cTn id="22" dur="500"/>
                                        <p:tgtEl>
                                          <p:spTgt spid="5355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35555">
                                            <p:txEl>
                                              <p:pRg st="4" end="4"/>
                                            </p:txEl>
                                          </p:spTgt>
                                        </p:tgtEl>
                                        <p:attrNameLst>
                                          <p:attrName>style.visibility</p:attrName>
                                        </p:attrNameLst>
                                      </p:cBhvr>
                                      <p:to>
                                        <p:strVal val="visible"/>
                                      </p:to>
                                    </p:set>
                                    <p:animEffect transition="in" filter="fade">
                                      <p:cBhvr>
                                        <p:cTn id="27" dur="500"/>
                                        <p:tgtEl>
                                          <p:spTgt spid="535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5"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914400"/>
            <a:ext cx="8763000" cy="1785104"/>
          </a:xfrm>
          <a:prstGeom prst="rect">
            <a:avLst/>
          </a:prstGeom>
        </p:spPr>
        <p:txBody>
          <a:bodyPr wrap="square">
            <a:spAutoFit/>
          </a:bodyPr>
          <a:lstStyle/>
          <a:p>
            <a:r>
              <a:rPr lang="en-US" sz="2200" b="1" dirty="0">
                <a:solidFill>
                  <a:prstClr val="black"/>
                </a:solidFill>
                <a:latin typeface="Century Gothic"/>
                <a:cs typeface="Century Gothic"/>
              </a:rPr>
              <a:t>Many Americans still don't understand what happened to the economy in 2008.  How did it all go so bad so quickly? Who is responsible? How effective has the response from Washington and Wall Street been? Those are the questions at the heart of </a:t>
            </a:r>
            <a:r>
              <a:rPr lang="en-US" sz="2200" b="1" i="1" dirty="0">
                <a:solidFill>
                  <a:prstClr val="black"/>
                </a:solidFill>
                <a:latin typeface="Century Gothic"/>
                <a:cs typeface="Century Gothic"/>
              </a:rPr>
              <a:t>FRONTLINE’s</a:t>
            </a:r>
            <a:r>
              <a:rPr lang="en-US" sz="2200" b="1" dirty="0">
                <a:solidFill>
                  <a:prstClr val="black"/>
                </a:solidFill>
                <a:latin typeface="Century Gothic"/>
                <a:cs typeface="Century Gothic"/>
              </a:rPr>
              <a:t> “Inside the Meltdown.” Click </a:t>
            </a:r>
            <a:r>
              <a:rPr lang="en-US" sz="2200" b="1" dirty="0">
                <a:solidFill>
                  <a:prstClr val="black"/>
                </a:solidFill>
                <a:latin typeface="Century Gothic"/>
                <a:cs typeface="Century Gothic"/>
                <a:hlinkClick r:id="rId3"/>
              </a:rPr>
              <a:t>here</a:t>
            </a:r>
            <a:r>
              <a:rPr lang="en-US" sz="2200" b="1" dirty="0">
                <a:solidFill>
                  <a:prstClr val="black"/>
                </a:solidFill>
                <a:latin typeface="Century Gothic"/>
                <a:cs typeface="Century Gothic"/>
              </a:rPr>
              <a:t>.  (56:23 minutes)</a:t>
            </a:r>
          </a:p>
        </p:txBody>
      </p:sp>
      <p:sp>
        <p:nvSpPr>
          <p:cNvPr id="6" name="Rectangle 5"/>
          <p:cNvSpPr/>
          <p:nvPr/>
        </p:nvSpPr>
        <p:spPr>
          <a:xfrm>
            <a:off x="1905000" y="5786735"/>
            <a:ext cx="5562600" cy="738664"/>
          </a:xfrm>
          <a:prstGeom prst="rect">
            <a:avLst/>
          </a:prstGeom>
        </p:spPr>
        <p:txBody>
          <a:bodyPr wrap="square">
            <a:spAutoFit/>
          </a:bodyPr>
          <a:lstStyle/>
          <a:p>
            <a:r>
              <a:rPr lang="en-US" sz="1400" dirty="0">
                <a:solidFill>
                  <a:prstClr val="black"/>
                </a:solidFill>
                <a:latin typeface="Calibri"/>
                <a:hlinkClick r:id="rId3"/>
              </a:rPr>
              <a:t>http://www.pbs.org/wgbh/pages/frontline/meltdown/view/</a:t>
            </a:r>
            <a:endParaRPr lang="en-US" sz="1400" dirty="0">
              <a:solidFill>
                <a:prstClr val="black"/>
              </a:solidFill>
              <a:latin typeface="Calibri"/>
            </a:endParaRPr>
          </a:p>
          <a:p>
            <a:r>
              <a:rPr lang="en-US" sz="1400" dirty="0">
                <a:solidFill>
                  <a:prstClr val="black"/>
                </a:solidFill>
                <a:latin typeface="Calibri"/>
              </a:rPr>
              <a:t>!</a:t>
            </a:r>
          </a:p>
          <a:p>
            <a:endParaRPr lang="en-US" sz="1400" dirty="0">
              <a:solidFill>
                <a:prstClr val="black"/>
              </a:solidFill>
              <a:latin typeface="Calibri"/>
            </a:endParaRPr>
          </a:p>
        </p:txBody>
      </p:sp>
      <p:pic>
        <p:nvPicPr>
          <p:cNvPr id="10242" name="Picture 2">
            <a:hlinkClick r:id="rId3"/>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285999" y="2966103"/>
            <a:ext cx="3809677" cy="2820631"/>
          </a:xfrm>
          <a:prstGeom prst="roundRect">
            <a:avLst>
              <a:gd name="adj" fmla="val 2720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27862504"/>
      </p:ext>
    </p:extLst>
  </p:cSld>
  <p:clrMapOvr>
    <a:masterClrMapping/>
  </p:clrMapOvr>
  <p:transition>
    <p:fade thruBlk="1"/>
  </p:transition>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1634" name="Rectangle 2"/>
          <p:cNvSpPr>
            <a:spLocks noGrp="1" noRot="1" noChangeArrowheads="1"/>
          </p:cNvSpPr>
          <p:nvPr>
            <p:ph type="title"/>
          </p:nvPr>
        </p:nvSpPr>
        <p:spPr/>
        <p:txBody>
          <a:bodyPr/>
          <a:lstStyle/>
          <a:p>
            <a:r>
              <a:rPr lang="en-US" dirty="0"/>
              <a:t>THE FINANCIAL CRISIS OF 2008</a:t>
            </a:r>
          </a:p>
        </p:txBody>
      </p:sp>
      <p:sp>
        <p:nvSpPr>
          <p:cNvPr id="581635" name="Rectangle 3"/>
          <p:cNvSpPr>
            <a:spLocks noGrp="1" noChangeArrowheads="1"/>
          </p:cNvSpPr>
          <p:nvPr>
            <p:ph idx="1"/>
          </p:nvPr>
        </p:nvSpPr>
        <p:spPr>
          <a:xfrm>
            <a:off x="152400" y="762000"/>
            <a:ext cx="8991600" cy="4648200"/>
          </a:xfrm>
        </p:spPr>
        <p:txBody>
          <a:bodyPr>
            <a:noAutofit/>
          </a:bodyPr>
          <a:lstStyle/>
          <a:p>
            <a:r>
              <a:rPr lang="en-US" sz="2800" dirty="0"/>
              <a:t>Because much of the crisis originated in nontraditional bank institutions, the crisis of 2008 indicated that a wider safety net and broader regulation are needed in the financial sector.</a:t>
            </a:r>
          </a:p>
        </p:txBody>
      </p:sp>
      <p:sp>
        <p:nvSpPr>
          <p:cNvPr id="3" name="TextBox 2"/>
          <p:cNvSpPr txBox="1"/>
          <p:nvPr/>
        </p:nvSpPr>
        <p:spPr>
          <a:xfrm>
            <a:off x="5540292" y="2691348"/>
            <a:ext cx="3581400" cy="3785652"/>
          </a:xfrm>
          <a:prstGeom prst="rect">
            <a:avLst/>
          </a:prstGeom>
          <a:noFill/>
        </p:spPr>
        <p:txBody>
          <a:bodyPr wrap="square" rtlCol="0">
            <a:spAutoFit/>
          </a:bodyPr>
          <a:lstStyle/>
          <a:p>
            <a:r>
              <a:rPr lang="en-US" sz="2400" b="1" dirty="0">
                <a:solidFill>
                  <a:srgbClr val="990033"/>
                </a:solidFill>
                <a:latin typeface="Century Gothic"/>
                <a:cs typeface="Century Gothic"/>
              </a:rPr>
              <a:t>The TED spread: </a:t>
            </a:r>
            <a:r>
              <a:rPr lang="en-US" sz="2400" b="1" dirty="0">
                <a:solidFill>
                  <a:prstClr val="black">
                    <a:lumMod val="65000"/>
                    <a:lumOff val="35000"/>
                  </a:prstClr>
                </a:solidFill>
                <a:latin typeface="Century Gothic"/>
                <a:cs typeface="Century Gothic"/>
              </a:rPr>
              <a:t>widely used as a measure of financial stress and perceived risk. (It’s the difference between the interest rate at which banks lend to each other and the interest rate on U.S. government debt.)</a:t>
            </a:r>
          </a:p>
        </p:txBody>
      </p:sp>
      <p:pic>
        <p:nvPicPr>
          <p:cNvPr id="6" name="Picture 5" descr="Screen Shot 2015-04-09 at 16.04.46.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81000" y="2743200"/>
            <a:ext cx="5093447" cy="3522248"/>
          </a:xfrm>
          <a:prstGeom prst="rect">
            <a:avLst/>
          </a:prstGeom>
        </p:spPr>
      </p:pic>
    </p:spTree>
    <p:extLst>
      <p:ext uri="{BB962C8B-B14F-4D97-AF65-F5344CB8AC3E}">
        <p14:creationId xmlns:p14="http://schemas.microsoft.com/office/powerpoint/2010/main" val="41398563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35"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637766"/>
            <a:ext cx="8839200" cy="5144034"/>
          </a:xfrm>
          <a:noFill/>
        </p:spPr>
        <p:txBody>
          <a:bodyPr>
            <a:normAutofit fontScale="92500"/>
          </a:bodyPr>
          <a:lstStyle/>
          <a:p>
            <a:r>
              <a:rPr lang="en-US" dirty="0"/>
              <a:t>In July 2010, President Obama signed the </a:t>
            </a:r>
            <a:r>
              <a:rPr lang="en-US" dirty="0">
                <a:solidFill>
                  <a:srgbClr val="0070C0"/>
                </a:solidFill>
              </a:rPr>
              <a:t>Dodd-Frank Act</a:t>
            </a:r>
            <a:r>
              <a:rPr lang="en-US" dirty="0"/>
              <a:t> (Wall Street Reform and Consumer Protection Act). </a:t>
            </a:r>
          </a:p>
          <a:p>
            <a:pPr marL="407988" lvl="1" indent="-298450">
              <a:buFont typeface="Arial"/>
              <a:buChar char="•"/>
            </a:pPr>
            <a:r>
              <a:rPr lang="en-US" dirty="0"/>
              <a:t>Gives a special government committee, the Financial Stability Oversight Council, the right to designate institutions as </a:t>
            </a:r>
            <a:r>
              <a:rPr lang="en-US" dirty="0">
                <a:solidFill>
                  <a:srgbClr val="0070C0"/>
                </a:solidFill>
              </a:rPr>
              <a:t>“systemically important”</a:t>
            </a:r>
            <a:r>
              <a:rPr lang="en-US" dirty="0"/>
              <a:t> and thus </a:t>
            </a:r>
            <a:r>
              <a:rPr lang="en-US" dirty="0">
                <a:solidFill>
                  <a:srgbClr val="0070C0"/>
                </a:solidFill>
              </a:rPr>
              <a:t>subject to normal bank regulation </a:t>
            </a:r>
            <a:r>
              <a:rPr lang="en-US" dirty="0"/>
              <a:t>(even though they are not traditional banks).</a:t>
            </a:r>
          </a:p>
          <a:p>
            <a:pPr marL="407988" lvl="1" indent="-298450">
              <a:buFont typeface="Arial"/>
              <a:buChar char="•"/>
            </a:pPr>
            <a:r>
              <a:rPr lang="en-US" dirty="0"/>
              <a:t>Established </a:t>
            </a:r>
            <a:r>
              <a:rPr lang="en-US" dirty="0">
                <a:solidFill>
                  <a:srgbClr val="0070C0"/>
                </a:solidFill>
              </a:rPr>
              <a:t>new rules on the trading of derivatives:</a:t>
            </a:r>
            <a:r>
              <a:rPr lang="en-US" dirty="0"/>
              <a:t> They must now be traded in exchanges so their prices and volume are more transparent.</a:t>
            </a:r>
          </a:p>
        </p:txBody>
      </p:sp>
      <p:sp>
        <p:nvSpPr>
          <p:cNvPr id="2" name="Title 1"/>
          <p:cNvSpPr>
            <a:spLocks noGrp="1"/>
          </p:cNvSpPr>
          <p:nvPr>
            <p:ph type="title" idx="4294967295"/>
          </p:nvPr>
        </p:nvSpPr>
        <p:spPr>
          <a:xfrm>
            <a:off x="0" y="838200"/>
            <a:ext cx="9144000" cy="838200"/>
          </a:xfrm>
        </p:spPr>
        <p:txBody>
          <a:bodyPr/>
          <a:lstStyle/>
          <a:p>
            <a:r>
              <a:rPr lang="en-US" spc="0" dirty="0">
                <a:solidFill>
                  <a:schemeClr val="accent6">
                    <a:lumMod val="75000"/>
                  </a:schemeClr>
                </a:solidFill>
                <a:latin typeface="Century Gothic"/>
                <a:cs typeface="Century Gothic"/>
              </a:rPr>
              <a:t>Regulation after the 2008 Crisis</a:t>
            </a:r>
          </a:p>
        </p:txBody>
      </p:sp>
      <p:pic>
        <p:nvPicPr>
          <p:cNvPr id="56322" name="Picture 2" descr="C:\Users\solina\Dropbox\Krugman 3e Dynamic PPTs\Krugman 3e material\Images_High Res\CH29\CH29\Krug3e_29UN08.jpg"/>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6660391" y="-16933"/>
            <a:ext cx="2483608" cy="176953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3808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5554" name="Rectangle 2"/>
          <p:cNvSpPr>
            <a:spLocks noGrp="1" noRot="1" noChangeArrowheads="1"/>
          </p:cNvSpPr>
          <p:nvPr>
            <p:ph type="title"/>
          </p:nvPr>
        </p:nvSpPr>
        <p:spPr/>
        <p:txBody>
          <a:bodyPr/>
          <a:lstStyle/>
          <a:p>
            <a:r>
              <a:rPr lang="en-US" dirty="0"/>
              <a:t>Quantitative Easing</a:t>
            </a:r>
          </a:p>
        </p:txBody>
      </p:sp>
      <p:sp>
        <p:nvSpPr>
          <p:cNvPr id="535555" name="Rectangle 3"/>
          <p:cNvSpPr>
            <a:spLocks noGrp="1" noChangeArrowheads="1"/>
          </p:cNvSpPr>
          <p:nvPr>
            <p:ph idx="1"/>
          </p:nvPr>
        </p:nvSpPr>
        <p:spPr>
          <a:xfrm>
            <a:off x="228600" y="838200"/>
            <a:ext cx="8839200" cy="4648200"/>
          </a:xfrm>
        </p:spPr>
        <p:txBody>
          <a:bodyPr>
            <a:noAutofit/>
          </a:bodyPr>
          <a:lstStyle/>
          <a:p>
            <a:pPr marL="285750" indent="-285750">
              <a:buFont typeface="Arial" panose="020B0604020202020204" pitchFamily="34" charset="0"/>
              <a:buChar char="•"/>
            </a:pPr>
            <a:r>
              <a:rPr lang="en-US" sz="1600" b="0" dirty="0"/>
              <a:t>Quantitative easing (QE) is an unconventional monetary policy tool used by central banks to stimulate the economy when traditional monetary policy tools, such as lowering interest rates, become ineffective or reach their lower bounds.</a:t>
            </a:r>
          </a:p>
          <a:p>
            <a:pPr marL="285750" indent="-285750">
              <a:buFont typeface="Arial" panose="020B0604020202020204" pitchFamily="34" charset="0"/>
              <a:buChar char="•"/>
            </a:pPr>
            <a:endParaRPr lang="en-US" sz="1600" b="0" dirty="0"/>
          </a:p>
          <a:p>
            <a:pPr marL="285750" indent="-285750">
              <a:buFont typeface="Arial" panose="020B0604020202020204" pitchFamily="34" charset="0"/>
              <a:buChar char="•"/>
            </a:pPr>
            <a:r>
              <a:rPr lang="en-US" sz="1600" b="0" dirty="0"/>
              <a:t>Under quantitative easing, a central bank creates new money electronically and uses it to purchase financial assets, such as government bonds and other securities, from banks and other financial institutions. </a:t>
            </a:r>
          </a:p>
          <a:p>
            <a:pPr marL="285750" indent="-285750">
              <a:buFont typeface="Arial" panose="020B0604020202020204" pitchFamily="34" charset="0"/>
              <a:buChar char="•"/>
            </a:pPr>
            <a:endParaRPr lang="en-US" sz="1600" b="0" dirty="0"/>
          </a:p>
          <a:p>
            <a:pPr marL="285750" indent="-285750">
              <a:buFont typeface="Arial" panose="020B0604020202020204" pitchFamily="34" charset="0"/>
              <a:buChar char="•"/>
            </a:pPr>
            <a:r>
              <a:rPr lang="en-US" sz="1600" b="0" dirty="0"/>
              <a:t>By purchasing these assets, the central bank increases the demand for them, raising their prices and effectively lowering their yields (interest rates). </a:t>
            </a:r>
          </a:p>
          <a:p>
            <a:pPr marL="285750" indent="-285750">
              <a:buFont typeface="Arial" panose="020B0604020202020204" pitchFamily="34" charset="0"/>
              <a:buChar char="•"/>
            </a:pPr>
            <a:endParaRPr lang="en-US" sz="1600" b="0" dirty="0"/>
          </a:p>
          <a:p>
            <a:pPr marL="285750" indent="-285750">
              <a:buFont typeface="Arial" panose="020B0604020202020204" pitchFamily="34" charset="0"/>
              <a:buChar char="•"/>
            </a:pPr>
            <a:r>
              <a:rPr lang="en-US" sz="1600" b="0" dirty="0"/>
              <a:t>Lower long-term interest rates make borrowing cheaper for businesses and households, which in turn promotes investment, spending, and economic growth.</a:t>
            </a:r>
          </a:p>
          <a:p>
            <a:pPr marL="285750" indent="-285750">
              <a:buFont typeface="Arial" panose="020B0604020202020204" pitchFamily="34" charset="0"/>
              <a:buChar char="•"/>
            </a:pPr>
            <a:endParaRPr lang="en-US" sz="1600" b="0" dirty="0"/>
          </a:p>
          <a:p>
            <a:pPr marL="285750" indent="-285750">
              <a:buFont typeface="Arial" panose="020B0604020202020204" pitchFamily="34" charset="0"/>
              <a:buChar char="•"/>
            </a:pPr>
            <a:r>
              <a:rPr lang="en-US" sz="1600" b="0" dirty="0"/>
              <a:t>While QE can be an effective tool to stimulate economic growth, it also carries risks, such as the potential for higher inflation, asset price bubbles, and the distortion of financial markets.</a:t>
            </a:r>
            <a:endParaRPr lang="en-US" sz="300" dirty="0"/>
          </a:p>
        </p:txBody>
      </p:sp>
    </p:spTree>
    <p:extLst>
      <p:ext uri="{BB962C8B-B14F-4D97-AF65-F5344CB8AC3E}">
        <p14:creationId xmlns:p14="http://schemas.microsoft.com/office/powerpoint/2010/main" val="27900136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5555">
                                            <p:txEl>
                                              <p:pRg st="0" end="0"/>
                                            </p:txEl>
                                          </p:spTgt>
                                        </p:tgtEl>
                                        <p:attrNameLst>
                                          <p:attrName>style.visibility</p:attrName>
                                        </p:attrNameLst>
                                      </p:cBhvr>
                                      <p:to>
                                        <p:strVal val="visible"/>
                                      </p:to>
                                    </p:set>
                                    <p:animEffect transition="in" filter="fade">
                                      <p:cBhvr>
                                        <p:cTn id="7" dur="500"/>
                                        <p:tgtEl>
                                          <p:spTgt spid="535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5555">
                                            <p:txEl>
                                              <p:pRg st="2" end="2"/>
                                            </p:txEl>
                                          </p:spTgt>
                                        </p:tgtEl>
                                        <p:attrNameLst>
                                          <p:attrName>style.visibility</p:attrName>
                                        </p:attrNameLst>
                                      </p:cBhvr>
                                      <p:to>
                                        <p:strVal val="visible"/>
                                      </p:to>
                                    </p:set>
                                    <p:animEffect transition="in" filter="fade">
                                      <p:cBhvr>
                                        <p:cTn id="12" dur="500"/>
                                        <p:tgtEl>
                                          <p:spTgt spid="53555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35555">
                                            <p:txEl>
                                              <p:pRg st="4" end="4"/>
                                            </p:txEl>
                                          </p:spTgt>
                                        </p:tgtEl>
                                        <p:attrNameLst>
                                          <p:attrName>style.visibility</p:attrName>
                                        </p:attrNameLst>
                                      </p:cBhvr>
                                      <p:to>
                                        <p:strVal val="visible"/>
                                      </p:to>
                                    </p:set>
                                    <p:animEffect transition="in" filter="fade">
                                      <p:cBhvr>
                                        <p:cTn id="17" dur="500"/>
                                        <p:tgtEl>
                                          <p:spTgt spid="53555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35555">
                                            <p:txEl>
                                              <p:pRg st="6" end="6"/>
                                            </p:txEl>
                                          </p:spTgt>
                                        </p:tgtEl>
                                        <p:attrNameLst>
                                          <p:attrName>style.visibility</p:attrName>
                                        </p:attrNameLst>
                                      </p:cBhvr>
                                      <p:to>
                                        <p:strVal val="visible"/>
                                      </p:to>
                                    </p:set>
                                    <p:animEffect transition="in" filter="fade">
                                      <p:cBhvr>
                                        <p:cTn id="22" dur="500"/>
                                        <p:tgtEl>
                                          <p:spTgt spid="53555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35555">
                                            <p:txEl>
                                              <p:pRg st="8" end="8"/>
                                            </p:txEl>
                                          </p:spTgt>
                                        </p:tgtEl>
                                        <p:attrNameLst>
                                          <p:attrName>style.visibility</p:attrName>
                                        </p:attrNameLst>
                                      </p:cBhvr>
                                      <p:to>
                                        <p:strVal val="visible"/>
                                      </p:to>
                                    </p:set>
                                    <p:animEffect transition="in" filter="fade">
                                      <p:cBhvr>
                                        <p:cTn id="27" dur="500"/>
                                        <p:tgtEl>
                                          <p:spTgt spid="53555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55" grpId="0" build="p"/>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t>The Federal Funds rate is the rate that banks are charged when they borrow from the Fed.</a:t>
            </a:r>
          </a:p>
          <a:p>
            <a:pPr marL="742950" indent="-742950">
              <a:buFont typeface="+mj-lt"/>
              <a:buAutoNum type="alphaLcParenR"/>
            </a:pPr>
            <a:r>
              <a:rPr lang="en-US" dirty="0"/>
              <a:t>True</a:t>
            </a:r>
          </a:p>
          <a:p>
            <a:pPr marL="742950" indent="-742950">
              <a:buFont typeface="+mj-lt"/>
              <a:buAutoNum type="alphaLcParenR"/>
            </a:pPr>
            <a:r>
              <a:rPr lang="en-US" dirty="0"/>
              <a:t>False</a:t>
            </a:r>
          </a:p>
          <a:p>
            <a:pPr>
              <a:buNone/>
            </a:pPr>
            <a:r>
              <a:rPr lang="en-US" dirty="0"/>
              <a:t> </a:t>
            </a:r>
          </a:p>
        </p:txBody>
      </p:sp>
    </p:spTree>
    <p:extLst>
      <p:ext uri="{BB962C8B-B14F-4D97-AF65-F5344CB8AC3E}">
        <p14:creationId xmlns:p14="http://schemas.microsoft.com/office/powerpoint/2010/main" val="14887804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mt="30000"/>
          </a:blip>
          <a:stretch>
            <a:fillRect/>
          </a:stretch>
        </a:blip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219200"/>
            <a:ext cx="9067800" cy="4495800"/>
          </a:xfrm>
        </p:spPr>
        <p:txBody>
          <a:bodyPr>
            <a:normAutofit fontScale="92500"/>
          </a:bodyPr>
          <a:lstStyle/>
          <a:p>
            <a:pPr>
              <a:spcBef>
                <a:spcPts val="0"/>
              </a:spcBef>
              <a:spcAft>
                <a:spcPts val="1200"/>
              </a:spcAft>
            </a:pPr>
            <a:r>
              <a:rPr lang="en-US" dirty="0">
                <a:solidFill>
                  <a:srgbClr val="E46C0A"/>
                </a:solidFill>
              </a:rPr>
              <a:t>THE PERFECT GIFT: CASH OR A GIFT CARD?</a:t>
            </a:r>
          </a:p>
          <a:p>
            <a:pPr>
              <a:spcBef>
                <a:spcPts val="0"/>
              </a:spcBef>
              <a:spcAft>
                <a:spcPts val="1200"/>
              </a:spcAft>
            </a:pPr>
            <a:r>
              <a:rPr lang="en-US" dirty="0"/>
              <a:t>The best-selling single item for more than 80% of top U.S. retailers?  Gift cards.</a:t>
            </a:r>
          </a:p>
          <a:p>
            <a:pPr>
              <a:spcBef>
                <a:spcPts val="0"/>
              </a:spcBef>
              <a:spcAft>
                <a:spcPts val="1200"/>
              </a:spcAft>
            </a:pPr>
            <a:r>
              <a:rPr lang="en-US" dirty="0"/>
              <a:t>Retailers know that breakage rates are high (</a:t>
            </a:r>
            <a:r>
              <a:rPr lang="en-US" dirty="0" err="1"/>
              <a:t>unuse</a:t>
            </a:r>
            <a:r>
              <a:rPr lang="en-US" dirty="0"/>
              <a:t>)- more than $1billion/year</a:t>
            </a:r>
          </a:p>
          <a:p>
            <a:pPr>
              <a:spcBef>
                <a:spcPts val="0"/>
              </a:spcBef>
              <a:spcAft>
                <a:spcPts val="1200"/>
              </a:spcAft>
            </a:pPr>
            <a:r>
              <a:rPr lang="en-US" dirty="0"/>
              <a:t>Recipients will often sell these cards at a discount to get cash.</a:t>
            </a:r>
          </a:p>
          <a:p>
            <a:pPr>
              <a:spcBef>
                <a:spcPts val="0"/>
              </a:spcBef>
              <a:spcAft>
                <a:spcPts val="1200"/>
              </a:spcAft>
            </a:pPr>
            <a:endParaRPr lang="en-US" dirty="0"/>
          </a:p>
        </p:txBody>
      </p:sp>
    </p:spTree>
    <p:extLst>
      <p:ext uri="{BB962C8B-B14F-4D97-AF65-F5344CB8AC3E}">
        <p14:creationId xmlns:p14="http://schemas.microsoft.com/office/powerpoint/2010/main" val="1940473117"/>
      </p:ext>
    </p:extLst>
  </p:cSld>
  <p:clrMapOvr>
    <a:masterClrMapping/>
  </p:clrMapOvr>
  <p:transition>
    <p:fade thruBlk="1"/>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5ad1a792e7828ca492521aea17b12f2931c3dea"/>
</p:tagLst>
</file>

<file path=ppt/theme/theme1.xml><?xml version="1.0" encoding="utf-8"?>
<a:theme xmlns:a="http://schemas.openxmlformats.org/drawingml/2006/main" name="4e Krugman_Dynamic PPTs_Ch05">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Newest 2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Custom 1">
      <a:majorFont>
        <a:latin typeface="Garamond"/>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0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1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2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1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8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9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newer Krugman 3e theme</Template>
  <TotalTime>15559</TotalTime>
  <Words>5140</Words>
  <Application>Microsoft Macintosh PowerPoint</Application>
  <PresentationFormat>On-screen Show (4:3)</PresentationFormat>
  <Paragraphs>557</Paragraphs>
  <Slides>87</Slides>
  <Notes>55</Notes>
  <HiddenSlides>0</HiddenSlides>
  <MMClips>0</MMClips>
  <ScaleCrop>false</ScaleCrop>
  <HeadingPairs>
    <vt:vector size="6" baseType="variant">
      <vt:variant>
        <vt:lpstr>Fonts Used</vt:lpstr>
      </vt:variant>
      <vt:variant>
        <vt:i4>10</vt:i4>
      </vt:variant>
      <vt:variant>
        <vt:lpstr>Theme</vt:lpstr>
      </vt:variant>
      <vt:variant>
        <vt:i4>11</vt:i4>
      </vt:variant>
      <vt:variant>
        <vt:lpstr>Slide Titles</vt:lpstr>
      </vt:variant>
      <vt:variant>
        <vt:i4>87</vt:i4>
      </vt:variant>
    </vt:vector>
  </HeadingPairs>
  <TitlesOfParts>
    <vt:vector size="108" baseType="lpstr">
      <vt:lpstr>Times</vt:lpstr>
      <vt:lpstr>Arial</vt:lpstr>
      <vt:lpstr>Calibri</vt:lpstr>
      <vt:lpstr>Candara</vt:lpstr>
      <vt:lpstr>Century Gothic</vt:lpstr>
      <vt:lpstr>Gill Sans</vt:lpstr>
      <vt:lpstr>Times New Roman</vt:lpstr>
      <vt:lpstr>Tw Cen MT</vt:lpstr>
      <vt:lpstr>Verdana</vt:lpstr>
      <vt:lpstr>Wingdings</vt:lpstr>
      <vt:lpstr>4e Krugman_Dynamic PPTs_Ch05</vt:lpstr>
      <vt:lpstr>6_Custom Design</vt:lpstr>
      <vt:lpstr>1_Newest 2e theme</vt:lpstr>
      <vt:lpstr>10_Stone ppt Theme1</vt:lpstr>
      <vt:lpstr>11_Stone ppt Theme1</vt:lpstr>
      <vt:lpstr>12_Stone ppt Theme1</vt:lpstr>
      <vt:lpstr>7_Custom Design</vt:lpstr>
      <vt:lpstr>11_Krugman 3e main content</vt:lpstr>
      <vt:lpstr>3_Krugman 3e main content</vt:lpstr>
      <vt:lpstr>8_Custom Design</vt:lpstr>
      <vt:lpstr>9_Custom Design</vt:lpstr>
      <vt:lpstr>Economics 2220 Principles Of Macroeconomics</vt:lpstr>
      <vt:lpstr>PowerPoint Presentation</vt:lpstr>
      <vt:lpstr>MONEY: THE ESSENTIAL CHANNEL BETWEEN MARKETS</vt:lpstr>
      <vt:lpstr>THE MEANING OF MONEY</vt:lpstr>
      <vt:lpstr>THE MEANING OF MONEY</vt:lpstr>
      <vt:lpstr>THE MEANING OF MONEY</vt:lpstr>
      <vt:lpstr>THE MEANING OF MONEY</vt:lpstr>
      <vt:lpstr>THE ROLES OF MONEY</vt:lpstr>
      <vt:lpstr>THE FUNCTIONS OF MONEY</vt:lpstr>
      <vt:lpstr>THE FUNCTIONS OF MONEY</vt:lpstr>
      <vt:lpstr>THE FUNCTIONS OF MONEY</vt:lpstr>
      <vt:lpstr>TYPES OF MONEY</vt:lpstr>
      <vt:lpstr>TYPES OF MONEY</vt:lpstr>
      <vt:lpstr>ANOTHER EXAMPLE OF COMMODITY-BACKED MONEY</vt:lpstr>
      <vt:lpstr>TYPES OF MONEY</vt:lpstr>
      <vt:lpstr>Ponder this</vt:lpstr>
      <vt:lpstr>MEASURING THE MONEY SUPPLY</vt:lpstr>
      <vt:lpstr>THE BIG MONEYS</vt:lpstr>
      <vt:lpstr>MONETARY AGGREGATES, 2013</vt:lpstr>
      <vt:lpstr>PowerPoint Presentation</vt:lpstr>
      <vt:lpstr>THE MONETARY ROLE OF BANKS</vt:lpstr>
      <vt:lpstr>WHAT BANKS DO</vt:lpstr>
      <vt:lpstr>THE MONETARY ROLE OF BANKS</vt:lpstr>
      <vt:lpstr>HOW BANKS CREATE MONEY</vt:lpstr>
      <vt:lpstr>HOW BANKS CREATE MONEY</vt:lpstr>
      <vt:lpstr>HOW BANKS CREATE MONEY</vt:lpstr>
      <vt:lpstr>RESERVES, BANK DEPOSITS, AND THE MONEY MULTIPLIER</vt:lpstr>
      <vt:lpstr>PowerPoint Presentation</vt:lpstr>
      <vt:lpstr>PowerPoint Presentation</vt:lpstr>
      <vt:lpstr>THE MONEY MULTIPLIER IN REALITY</vt:lpstr>
      <vt:lpstr>THE MONEY MULTIPLIER IN REALITY</vt:lpstr>
      <vt:lpstr>THE MONEY MULTIPLIER IN REALITY</vt:lpstr>
      <vt:lpstr>MONEY CREATION</vt:lpstr>
      <vt:lpstr>THE PROBLEM OF BANK RUNS</vt:lpstr>
      <vt:lpstr>BANK PANICS</vt:lpstr>
      <vt:lpstr>BANK REGULATION</vt:lpstr>
      <vt:lpstr>BANK REGULATION</vt:lpstr>
      <vt:lpstr>BANK REGULATION</vt:lpstr>
      <vt:lpstr>It’s a wonderful banking system</vt:lpstr>
      <vt:lpstr>PowerPoint Presentation</vt:lpstr>
      <vt:lpstr>THE FEDERAL RESERVE SYSTEM</vt:lpstr>
      <vt:lpstr>THE FEDERAL RESERVE SYSTEM</vt:lpstr>
      <vt:lpstr>RESERVE REQUIREMENTS AND THE DISCOUNT RATE</vt:lpstr>
      <vt:lpstr>RESERVE REQUIREMENTS AND THE DISCOUNT RATE</vt:lpstr>
      <vt:lpstr>RESERVE REQUIREMENTS AND THE DISCOUNT RATE</vt:lpstr>
      <vt:lpstr>OPEN-MARKET OPERATIONS</vt:lpstr>
      <vt:lpstr>OPEN-MARKET OPERATIONS</vt:lpstr>
      <vt:lpstr>Ponder This</vt:lpstr>
      <vt:lpstr>OPEN-MARKET OPERATIONS</vt:lpstr>
      <vt:lpstr>OPEN-MARKET OPERATIONS</vt:lpstr>
      <vt:lpstr>OPEN-MARKET OPERATIONS</vt:lpstr>
      <vt:lpstr>OPEN-MARKET OPERATIONS</vt:lpstr>
      <vt:lpstr>SHOW ME THE MONEY</vt:lpstr>
      <vt:lpstr>HOW OPEN-MARKET OPERATIONS WORK</vt:lpstr>
      <vt:lpstr>PowerPoint Presentation</vt:lpstr>
      <vt:lpstr>PowerPoint Presentation</vt:lpstr>
      <vt:lpstr>THE DEMAND FOR MONEY</vt:lpstr>
      <vt:lpstr>INTEREST RATES AND THE OPPORTUNITY COST OF HOLDING MONEY</vt:lpstr>
      <vt:lpstr>INTEREST RATES AND THE OPPORTUNITY COST OF HOLDING MONEY</vt:lpstr>
      <vt:lpstr>INTEREST RATES AND THE OPPORTUNITY COST OF HOLDING MONEY</vt:lpstr>
      <vt:lpstr>THE MONEY DEMAND CURVE</vt:lpstr>
      <vt:lpstr>SHIFTS OF THE REAL MONEY DEMAND CURVE</vt:lpstr>
      <vt:lpstr>EQUILIBRIUM IN THE MONEY MARKET</vt:lpstr>
      <vt:lpstr>MONETARY POLICY AND THE INTEREST RATE</vt:lpstr>
      <vt:lpstr>MONETARY POLICY AND THE INTEREST RATE</vt:lpstr>
      <vt:lpstr>SETTING THE FEDERAL FUNDS RATE</vt:lpstr>
      <vt:lpstr>SETTING THE FEDERAL FUNDS RATE</vt:lpstr>
      <vt:lpstr>MONETARY POLICY AND AGGREGATE DEMAND</vt:lpstr>
      <vt:lpstr>MONETARY POLICY AND AGGREGATE DEMAND</vt:lpstr>
      <vt:lpstr>MONETARY POLICY AND AGGREGATE DEMAND</vt:lpstr>
      <vt:lpstr>MONETARY POLICY IN PRACTICE</vt:lpstr>
      <vt:lpstr>THE EUROPEAN CENTRAL BANK</vt:lpstr>
      <vt:lpstr>The Fed’s Balance Sheet</vt:lpstr>
      <vt:lpstr>THE EVOLUTION OF THE AMERICAN BANKING SYSTEM</vt:lpstr>
      <vt:lpstr>THE EVOLUTION OF THE AMERICAN BANKING SYSTEM</vt:lpstr>
      <vt:lpstr>THE EVOLUTION OF THE AMERICAN BANKING SYSTEM</vt:lpstr>
      <vt:lpstr>THE EVOLUTION OF THE AMERICAN BANKING SYSTEM</vt:lpstr>
      <vt:lpstr>THE SAVINGS AND LOAN CRISIS OF THE 1980S</vt:lpstr>
      <vt:lpstr>THE FINANCIAL CRISIS OF 2008</vt:lpstr>
      <vt:lpstr>THE FINANCIAL CRISIS OF 2008</vt:lpstr>
      <vt:lpstr>THE FINANCIAL CRISIS OF 2008</vt:lpstr>
      <vt:lpstr>PowerPoint Presentation</vt:lpstr>
      <vt:lpstr>THE FINANCIAL CRISIS OF 2008</vt:lpstr>
      <vt:lpstr>Regulation after the 2008 Crisis</vt:lpstr>
      <vt:lpstr>Quantitative Easing</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Solina Lindahl</dc:creator>
  <cp:lastModifiedBy>Zhigang Feng</cp:lastModifiedBy>
  <cp:revision>571</cp:revision>
  <dcterms:created xsi:type="dcterms:W3CDTF">2012-07-21T02:43:21Z</dcterms:created>
  <dcterms:modified xsi:type="dcterms:W3CDTF">2023-04-28T21:39:11Z</dcterms:modified>
</cp:coreProperties>
</file>