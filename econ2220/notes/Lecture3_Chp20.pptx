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9.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0.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11.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13.xml" ContentType="application/vnd.openxmlformats-officedocument.theme+xml"/>
  <Override PartName="/ppt/slideLayouts/slideLayout34.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6.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7.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18.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9.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0.xml" ContentType="application/vnd.openxmlformats-officedocument.theme+xml"/>
  <Override PartName="/ppt/slideLayouts/slideLayout48.xml" ContentType="application/vnd.openxmlformats-officedocument.presentationml.slideLayout+xml"/>
  <Override PartName="/ppt/theme/theme21.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 id="2147483667" r:id="rId3"/>
    <p:sldMasterId id="2147483670" r:id="rId4"/>
    <p:sldMasterId id="2147483673" r:id="rId5"/>
    <p:sldMasterId id="2147483677" r:id="rId6"/>
    <p:sldMasterId id="2147483680" r:id="rId7"/>
    <p:sldMasterId id="2147483683" r:id="rId8"/>
    <p:sldMasterId id="2147483686" r:id="rId9"/>
    <p:sldMasterId id="2147483690" r:id="rId10"/>
    <p:sldMasterId id="2147483697" r:id="rId11"/>
    <p:sldMasterId id="2147483712" r:id="rId12"/>
    <p:sldMasterId id="2147483715" r:id="rId13"/>
    <p:sldMasterId id="2147483721" r:id="rId14"/>
    <p:sldMasterId id="2147483723" r:id="rId15"/>
    <p:sldMasterId id="2147483732" r:id="rId16"/>
    <p:sldMasterId id="2147483736" r:id="rId17"/>
    <p:sldMasterId id="2147483740" r:id="rId18"/>
    <p:sldMasterId id="2147483743" r:id="rId19"/>
    <p:sldMasterId id="2147483746" r:id="rId20"/>
    <p:sldMasterId id="2147483749" r:id="rId21"/>
    <p:sldMasterId id="2147483751" r:id="rId22"/>
  </p:sldMasterIdLst>
  <p:notesMasterIdLst>
    <p:notesMasterId r:id="rId53"/>
  </p:notesMasterIdLst>
  <p:handoutMasterIdLst>
    <p:handoutMasterId r:id="rId54"/>
  </p:handoutMasterIdLst>
  <p:sldIdLst>
    <p:sldId id="320" r:id="rId23"/>
    <p:sldId id="259" r:id="rId24"/>
    <p:sldId id="293" r:id="rId25"/>
    <p:sldId id="322" r:id="rId26"/>
    <p:sldId id="280" r:id="rId27"/>
    <p:sldId id="297" r:id="rId28"/>
    <p:sldId id="298" r:id="rId29"/>
    <p:sldId id="299" r:id="rId30"/>
    <p:sldId id="300" r:id="rId31"/>
    <p:sldId id="301" r:id="rId32"/>
    <p:sldId id="302" r:id="rId33"/>
    <p:sldId id="303" r:id="rId34"/>
    <p:sldId id="304" r:id="rId35"/>
    <p:sldId id="305" r:id="rId36"/>
    <p:sldId id="306" r:id="rId37"/>
    <p:sldId id="307" r:id="rId38"/>
    <p:sldId id="309" r:id="rId39"/>
    <p:sldId id="311" r:id="rId40"/>
    <p:sldId id="295" r:id="rId41"/>
    <p:sldId id="312" r:id="rId42"/>
    <p:sldId id="313" r:id="rId43"/>
    <p:sldId id="296" r:id="rId44"/>
    <p:sldId id="314" r:id="rId45"/>
    <p:sldId id="270" r:id="rId46"/>
    <p:sldId id="318" r:id="rId47"/>
    <p:sldId id="274" r:id="rId48"/>
    <p:sldId id="263" r:id="rId49"/>
    <p:sldId id="323" r:id="rId50"/>
    <p:sldId id="275" r:id="rId51"/>
    <p:sldId id="324" r:id="rId52"/>
  </p:sldIdLst>
  <p:sldSz cx="9144000" cy="6858000" type="screen4x3"/>
  <p:notesSz cx="6858000" cy="9144000"/>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009999"/>
    <a:srgbClr val="D09E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107" autoAdjust="0"/>
    <p:restoredTop sz="94660" autoAdjust="0"/>
  </p:normalViewPr>
  <p:slideViewPr>
    <p:cSldViewPr>
      <p:cViewPr varScale="1">
        <p:scale>
          <a:sx n="128" d="100"/>
          <a:sy n="128" d="100"/>
        </p:scale>
        <p:origin x="928" y="184"/>
      </p:cViewPr>
      <p:guideLst>
        <p:guide orient="horz" pos="2160"/>
        <p:guide pos="2880"/>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4.xml"/><Relationship Id="rId39" Type="http://schemas.openxmlformats.org/officeDocument/2006/relationships/slide" Target="slides/slide17.xml"/><Relationship Id="rId21" Type="http://schemas.openxmlformats.org/officeDocument/2006/relationships/slideMaster" Target="slideMasters/slideMaster21.xml"/><Relationship Id="rId34" Type="http://schemas.openxmlformats.org/officeDocument/2006/relationships/slide" Target="slides/slide12.xml"/><Relationship Id="rId42" Type="http://schemas.openxmlformats.org/officeDocument/2006/relationships/slide" Target="slides/slide20.xml"/><Relationship Id="rId47" Type="http://schemas.openxmlformats.org/officeDocument/2006/relationships/slide" Target="slides/slide25.xml"/><Relationship Id="rId50" Type="http://schemas.openxmlformats.org/officeDocument/2006/relationships/slide" Target="slides/slide28.xml"/><Relationship Id="rId55" Type="http://schemas.openxmlformats.org/officeDocument/2006/relationships/tags" Target="tags/tag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7.xml"/><Relationship Id="rId11" Type="http://schemas.openxmlformats.org/officeDocument/2006/relationships/slideMaster" Target="slideMasters/slideMaster11.xml"/><Relationship Id="rId24" Type="http://schemas.openxmlformats.org/officeDocument/2006/relationships/slide" Target="slides/slide2.xml"/><Relationship Id="rId32" Type="http://schemas.openxmlformats.org/officeDocument/2006/relationships/slide" Target="slides/slide10.xml"/><Relationship Id="rId37" Type="http://schemas.openxmlformats.org/officeDocument/2006/relationships/slide" Target="slides/slide15.xml"/><Relationship Id="rId40" Type="http://schemas.openxmlformats.org/officeDocument/2006/relationships/slide" Target="slides/slide18.xml"/><Relationship Id="rId45" Type="http://schemas.openxmlformats.org/officeDocument/2006/relationships/slide" Target="slides/slide23.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Master" Target="slideMasters/slideMaster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slide" Target="slides/slide13.xml"/><Relationship Id="rId43" Type="http://schemas.openxmlformats.org/officeDocument/2006/relationships/slide" Target="slides/slide21.xml"/><Relationship Id="rId48" Type="http://schemas.openxmlformats.org/officeDocument/2006/relationships/slide" Target="slides/slide26.xml"/><Relationship Id="rId56" Type="http://schemas.openxmlformats.org/officeDocument/2006/relationships/commentAuthors" Target="commentAuthors.xml"/><Relationship Id="rId8" Type="http://schemas.openxmlformats.org/officeDocument/2006/relationships/slideMaster" Target="slideMasters/slideMaster8.xml"/><Relationship Id="rId51" Type="http://schemas.openxmlformats.org/officeDocument/2006/relationships/slide" Target="slides/slide2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slide" Target="slides/slide24.xml"/><Relationship Id="rId59" Type="http://schemas.openxmlformats.org/officeDocument/2006/relationships/theme" Target="theme/theme1.xml"/><Relationship Id="rId20" Type="http://schemas.openxmlformats.org/officeDocument/2006/relationships/slideMaster" Target="slideMasters/slideMaster20.xml"/><Relationship Id="rId41" Type="http://schemas.openxmlformats.org/officeDocument/2006/relationships/slide" Target="slides/slide1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openxmlformats.org/officeDocument/2006/relationships/slide" Target="slides/slide27.xml"/><Relationship Id="rId57" Type="http://schemas.openxmlformats.org/officeDocument/2006/relationships/presProps" Target="presProps.xml"/><Relationship Id="rId10" Type="http://schemas.openxmlformats.org/officeDocument/2006/relationships/slideMaster" Target="slideMasters/slideMaster10.xml"/><Relationship Id="rId31" Type="http://schemas.openxmlformats.org/officeDocument/2006/relationships/slide" Target="slides/slide9.xml"/><Relationship Id="rId44" Type="http://schemas.openxmlformats.org/officeDocument/2006/relationships/slide" Target="slides/slide22.xml"/><Relationship Id="rId52" Type="http://schemas.openxmlformats.org/officeDocument/2006/relationships/slide" Target="slides/slide30.xml"/><Relationship Id="rId60"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iagrams/_rels/data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59578F-DC84-48BB-94F8-5A2AF46932C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A574C4-8E62-4AA0-AE80-2F8EBFD62CBB}">
      <dgm:prSet/>
      <dgm:spPr/>
      <dgm:t>
        <a:bodyPr/>
        <a:lstStyle/>
        <a:p>
          <a:r>
            <a:rPr lang="en-US" b="1"/>
            <a:t>Theory of Comparative Advantage:</a:t>
          </a:r>
          <a:endParaRPr lang="en-US"/>
        </a:p>
      </dgm:t>
    </dgm:pt>
    <dgm:pt modelId="{A093839F-FC79-4255-A69E-9A4193A5FAF0}" type="parTrans" cxnId="{FAACE98B-600B-4886-B138-D36DD0142F45}">
      <dgm:prSet/>
      <dgm:spPr/>
      <dgm:t>
        <a:bodyPr/>
        <a:lstStyle/>
        <a:p>
          <a:endParaRPr lang="en-US"/>
        </a:p>
      </dgm:t>
    </dgm:pt>
    <dgm:pt modelId="{1C64AD33-A7D0-4B96-896C-3AF10E53BF8C}" type="sibTrans" cxnId="{FAACE98B-600B-4886-B138-D36DD0142F45}">
      <dgm:prSet/>
      <dgm:spPr/>
      <dgm:t>
        <a:bodyPr/>
        <a:lstStyle/>
        <a:p>
          <a:endParaRPr lang="en-US"/>
        </a:p>
      </dgm:t>
    </dgm:pt>
    <dgm:pt modelId="{F9C97832-42F4-463B-8951-44C1DF026709}">
      <dgm:prSet/>
      <dgm:spPr/>
      <dgm:t>
        <a:bodyPr/>
        <a:lstStyle/>
        <a:p>
          <a:r>
            <a:rPr lang="en-US" b="1"/>
            <a:t>It makes sense to produce the things you’re especially good at producing… and buy everything else from others.</a:t>
          </a:r>
          <a:endParaRPr lang="en-US"/>
        </a:p>
      </dgm:t>
    </dgm:pt>
    <dgm:pt modelId="{9761345B-0D6B-447D-A4D4-DD4DE4928FC0}" type="parTrans" cxnId="{8200CDA9-7D10-4548-861D-9C9B2962D386}">
      <dgm:prSet/>
      <dgm:spPr/>
      <dgm:t>
        <a:bodyPr/>
        <a:lstStyle/>
        <a:p>
          <a:endParaRPr lang="en-US"/>
        </a:p>
      </dgm:t>
    </dgm:pt>
    <dgm:pt modelId="{8E1B530E-C86D-4469-939A-ED4F537A5A78}" type="sibTrans" cxnId="{8200CDA9-7D10-4548-861D-9C9B2962D386}">
      <dgm:prSet/>
      <dgm:spPr/>
      <dgm:t>
        <a:bodyPr/>
        <a:lstStyle/>
        <a:p>
          <a:endParaRPr lang="en-US"/>
        </a:p>
      </dgm:t>
    </dgm:pt>
    <dgm:pt modelId="{F4C7B56E-5F1A-4A5D-BDB9-A273F2A49151}" type="pres">
      <dgm:prSet presAssocID="{9159578F-DC84-48BB-94F8-5A2AF46932C5}" presName="root" presStyleCnt="0">
        <dgm:presLayoutVars>
          <dgm:dir/>
          <dgm:resizeHandles val="exact"/>
        </dgm:presLayoutVars>
      </dgm:prSet>
      <dgm:spPr/>
    </dgm:pt>
    <dgm:pt modelId="{C4E28687-AAC1-4FB8-85AE-5D7904BD9A20}" type="pres">
      <dgm:prSet presAssocID="{63A574C4-8E62-4AA0-AE80-2F8EBFD62CBB}" presName="compNode" presStyleCnt="0"/>
      <dgm:spPr/>
    </dgm:pt>
    <dgm:pt modelId="{5A0B705A-3161-47AB-828E-A27A91F4AC06}" type="pres">
      <dgm:prSet presAssocID="{63A574C4-8E62-4AA0-AE80-2F8EBFD62CBB}" presName="bgRect" presStyleLbl="bgShp" presStyleIdx="0" presStyleCnt="2"/>
      <dgm:spPr/>
    </dgm:pt>
    <dgm:pt modelId="{05292898-4EBB-4392-AEAD-99C38F95831D}" type="pres">
      <dgm:prSet presAssocID="{63A574C4-8E62-4AA0-AE80-2F8EBFD62CB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CC5B124E-6910-4A70-A1D0-94E2414AB893}" type="pres">
      <dgm:prSet presAssocID="{63A574C4-8E62-4AA0-AE80-2F8EBFD62CBB}" presName="spaceRect" presStyleCnt="0"/>
      <dgm:spPr/>
    </dgm:pt>
    <dgm:pt modelId="{9F514E1A-57CA-4DE5-A77C-2533FC12DD9C}" type="pres">
      <dgm:prSet presAssocID="{63A574C4-8E62-4AA0-AE80-2F8EBFD62CBB}" presName="parTx" presStyleLbl="revTx" presStyleIdx="0" presStyleCnt="2">
        <dgm:presLayoutVars>
          <dgm:chMax val="0"/>
          <dgm:chPref val="0"/>
        </dgm:presLayoutVars>
      </dgm:prSet>
      <dgm:spPr/>
    </dgm:pt>
    <dgm:pt modelId="{8ABD7C88-84DF-462E-A735-C842F772A31A}" type="pres">
      <dgm:prSet presAssocID="{1C64AD33-A7D0-4B96-896C-3AF10E53BF8C}" presName="sibTrans" presStyleCnt="0"/>
      <dgm:spPr/>
    </dgm:pt>
    <dgm:pt modelId="{53615C7C-D866-4427-9B04-DE7C14E6310A}" type="pres">
      <dgm:prSet presAssocID="{F9C97832-42F4-463B-8951-44C1DF026709}" presName="compNode" presStyleCnt="0"/>
      <dgm:spPr/>
    </dgm:pt>
    <dgm:pt modelId="{919254E0-CC0F-429A-8328-6345C79D54F6}" type="pres">
      <dgm:prSet presAssocID="{F9C97832-42F4-463B-8951-44C1DF026709}" presName="bgRect" presStyleLbl="bgShp" presStyleIdx="1" presStyleCnt="2"/>
      <dgm:spPr/>
    </dgm:pt>
    <dgm:pt modelId="{675CA38B-ED53-4092-9F33-3AA40DDDE944}" type="pres">
      <dgm:prSet presAssocID="{F9C97832-42F4-463B-8951-44C1DF02670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tist"/>
        </a:ext>
      </dgm:extLst>
    </dgm:pt>
    <dgm:pt modelId="{52631959-2418-4244-8285-E60BCD2C5209}" type="pres">
      <dgm:prSet presAssocID="{F9C97832-42F4-463B-8951-44C1DF026709}" presName="spaceRect" presStyleCnt="0"/>
      <dgm:spPr/>
    </dgm:pt>
    <dgm:pt modelId="{01F431CD-8727-493E-87C6-3B0EFE466B4F}" type="pres">
      <dgm:prSet presAssocID="{F9C97832-42F4-463B-8951-44C1DF026709}" presName="parTx" presStyleLbl="revTx" presStyleIdx="1" presStyleCnt="2">
        <dgm:presLayoutVars>
          <dgm:chMax val="0"/>
          <dgm:chPref val="0"/>
        </dgm:presLayoutVars>
      </dgm:prSet>
      <dgm:spPr/>
    </dgm:pt>
  </dgm:ptLst>
  <dgm:cxnLst>
    <dgm:cxn modelId="{79B01007-056E-4F3C-B9A3-D49600571E38}" type="presOf" srcId="{F9C97832-42F4-463B-8951-44C1DF026709}" destId="{01F431CD-8727-493E-87C6-3B0EFE466B4F}" srcOrd="0" destOrd="0" presId="urn:microsoft.com/office/officeart/2018/2/layout/IconVerticalSolidList"/>
    <dgm:cxn modelId="{6879200A-01C2-49BD-894A-7AA0FE4BD1CD}" type="presOf" srcId="{9159578F-DC84-48BB-94F8-5A2AF46932C5}" destId="{F4C7B56E-5F1A-4A5D-BDB9-A273F2A49151}" srcOrd="0" destOrd="0" presId="urn:microsoft.com/office/officeart/2018/2/layout/IconVerticalSolidList"/>
    <dgm:cxn modelId="{FAACE98B-600B-4886-B138-D36DD0142F45}" srcId="{9159578F-DC84-48BB-94F8-5A2AF46932C5}" destId="{63A574C4-8E62-4AA0-AE80-2F8EBFD62CBB}" srcOrd="0" destOrd="0" parTransId="{A093839F-FC79-4255-A69E-9A4193A5FAF0}" sibTransId="{1C64AD33-A7D0-4B96-896C-3AF10E53BF8C}"/>
    <dgm:cxn modelId="{8200CDA9-7D10-4548-861D-9C9B2962D386}" srcId="{9159578F-DC84-48BB-94F8-5A2AF46932C5}" destId="{F9C97832-42F4-463B-8951-44C1DF026709}" srcOrd="1" destOrd="0" parTransId="{9761345B-0D6B-447D-A4D4-DD4DE4928FC0}" sibTransId="{8E1B530E-C86D-4469-939A-ED4F537A5A78}"/>
    <dgm:cxn modelId="{2CB612FF-4C19-45EA-8EA5-A302460FA923}" type="presOf" srcId="{63A574C4-8E62-4AA0-AE80-2F8EBFD62CBB}" destId="{9F514E1A-57CA-4DE5-A77C-2533FC12DD9C}" srcOrd="0" destOrd="0" presId="urn:microsoft.com/office/officeart/2018/2/layout/IconVerticalSolidList"/>
    <dgm:cxn modelId="{2DC1F622-120A-4E16-9B43-4D841B496391}" type="presParOf" srcId="{F4C7B56E-5F1A-4A5D-BDB9-A273F2A49151}" destId="{C4E28687-AAC1-4FB8-85AE-5D7904BD9A20}" srcOrd="0" destOrd="0" presId="urn:microsoft.com/office/officeart/2018/2/layout/IconVerticalSolidList"/>
    <dgm:cxn modelId="{FC5E74FA-D021-441C-823D-42A8AD384E5E}" type="presParOf" srcId="{C4E28687-AAC1-4FB8-85AE-5D7904BD9A20}" destId="{5A0B705A-3161-47AB-828E-A27A91F4AC06}" srcOrd="0" destOrd="0" presId="urn:microsoft.com/office/officeart/2018/2/layout/IconVerticalSolidList"/>
    <dgm:cxn modelId="{0EB16249-FB52-4D00-9B94-3848010EF83C}" type="presParOf" srcId="{C4E28687-AAC1-4FB8-85AE-5D7904BD9A20}" destId="{05292898-4EBB-4392-AEAD-99C38F95831D}" srcOrd="1" destOrd="0" presId="urn:microsoft.com/office/officeart/2018/2/layout/IconVerticalSolidList"/>
    <dgm:cxn modelId="{329C0D49-76E5-4198-92DB-36F47C209444}" type="presParOf" srcId="{C4E28687-AAC1-4FB8-85AE-5D7904BD9A20}" destId="{CC5B124E-6910-4A70-A1D0-94E2414AB893}" srcOrd="2" destOrd="0" presId="urn:microsoft.com/office/officeart/2018/2/layout/IconVerticalSolidList"/>
    <dgm:cxn modelId="{5497C6D9-AEB9-4155-BD42-6F8D57B3B46E}" type="presParOf" srcId="{C4E28687-AAC1-4FB8-85AE-5D7904BD9A20}" destId="{9F514E1A-57CA-4DE5-A77C-2533FC12DD9C}" srcOrd="3" destOrd="0" presId="urn:microsoft.com/office/officeart/2018/2/layout/IconVerticalSolidList"/>
    <dgm:cxn modelId="{2AD19C42-ED5E-4AC4-8567-535761C590AD}" type="presParOf" srcId="{F4C7B56E-5F1A-4A5D-BDB9-A273F2A49151}" destId="{8ABD7C88-84DF-462E-A735-C842F772A31A}" srcOrd="1" destOrd="0" presId="urn:microsoft.com/office/officeart/2018/2/layout/IconVerticalSolidList"/>
    <dgm:cxn modelId="{C30C4D28-E2BF-421F-92FF-E0A8A8612635}" type="presParOf" srcId="{F4C7B56E-5F1A-4A5D-BDB9-A273F2A49151}" destId="{53615C7C-D866-4427-9B04-DE7C14E6310A}" srcOrd="2" destOrd="0" presId="urn:microsoft.com/office/officeart/2018/2/layout/IconVerticalSolidList"/>
    <dgm:cxn modelId="{D74DECA7-70DB-4EFF-BEBC-36DC21E635EF}" type="presParOf" srcId="{53615C7C-D866-4427-9B04-DE7C14E6310A}" destId="{919254E0-CC0F-429A-8328-6345C79D54F6}" srcOrd="0" destOrd="0" presId="urn:microsoft.com/office/officeart/2018/2/layout/IconVerticalSolidList"/>
    <dgm:cxn modelId="{C72F029D-4DCC-421C-9EE4-59F0AD4683B4}" type="presParOf" srcId="{53615C7C-D866-4427-9B04-DE7C14E6310A}" destId="{675CA38B-ED53-4092-9F33-3AA40DDDE944}" srcOrd="1" destOrd="0" presId="urn:microsoft.com/office/officeart/2018/2/layout/IconVerticalSolidList"/>
    <dgm:cxn modelId="{C52BFA03-10D6-4FE0-86DC-84C4DF6FA13C}" type="presParOf" srcId="{53615C7C-D866-4427-9B04-DE7C14E6310A}" destId="{52631959-2418-4244-8285-E60BCD2C5209}" srcOrd="2" destOrd="0" presId="urn:microsoft.com/office/officeart/2018/2/layout/IconVerticalSolidList"/>
    <dgm:cxn modelId="{E75C461A-C090-4248-8AFF-FCF5944AE4F3}" type="presParOf" srcId="{53615C7C-D866-4427-9B04-DE7C14E6310A}" destId="{01F431CD-8727-493E-87C6-3B0EFE466B4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0B705A-3161-47AB-828E-A27A91F4AC06}">
      <dsp:nvSpPr>
        <dsp:cNvPr id="0" name=""/>
        <dsp:cNvSpPr/>
      </dsp:nvSpPr>
      <dsp:spPr>
        <a:xfrm>
          <a:off x="0" y="755332"/>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292898-4EBB-4392-AEAD-99C38F95831D}">
      <dsp:nvSpPr>
        <dsp:cNvPr id="0" name=""/>
        <dsp:cNvSpPr/>
      </dsp:nvSpPr>
      <dsp:spPr>
        <a:xfrm>
          <a:off x="421824" y="1069086"/>
          <a:ext cx="766953" cy="7669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514E1A-57CA-4DE5-A77C-2533FC12DD9C}">
      <dsp:nvSpPr>
        <dsp:cNvPr id="0" name=""/>
        <dsp:cNvSpPr/>
      </dsp:nvSpPr>
      <dsp:spPr>
        <a:xfrm>
          <a:off x="1610601" y="755332"/>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b="1" kern="1200"/>
            <a:t>Theory of Comparative Advantage:</a:t>
          </a:r>
          <a:endParaRPr lang="en-US" sz="2500" kern="1200"/>
        </a:p>
      </dsp:txBody>
      <dsp:txXfrm>
        <a:off x="1610601" y="755332"/>
        <a:ext cx="7228598" cy="1394460"/>
      </dsp:txXfrm>
    </dsp:sp>
    <dsp:sp modelId="{919254E0-CC0F-429A-8328-6345C79D54F6}">
      <dsp:nvSpPr>
        <dsp:cNvPr id="0" name=""/>
        <dsp:cNvSpPr/>
      </dsp:nvSpPr>
      <dsp:spPr>
        <a:xfrm>
          <a:off x="0" y="2498407"/>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5CA38B-ED53-4092-9F33-3AA40DDDE944}">
      <dsp:nvSpPr>
        <dsp:cNvPr id="0" name=""/>
        <dsp:cNvSpPr/>
      </dsp:nvSpPr>
      <dsp:spPr>
        <a:xfrm>
          <a:off x="421824" y="2812161"/>
          <a:ext cx="766953" cy="7669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F431CD-8727-493E-87C6-3B0EFE466B4F}">
      <dsp:nvSpPr>
        <dsp:cNvPr id="0" name=""/>
        <dsp:cNvSpPr/>
      </dsp:nvSpPr>
      <dsp:spPr>
        <a:xfrm>
          <a:off x="1610601" y="2498407"/>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b="1" kern="1200"/>
            <a:t>It makes sense to produce the things you’re especially good at producing… and buy everything else from others.</a:t>
          </a:r>
          <a:endParaRPr lang="en-US" sz="2500" kern="1200"/>
        </a:p>
      </dsp:txBody>
      <dsp:txXfrm>
        <a:off x="1610601" y="2498407"/>
        <a:ext cx="7228598" cy="139446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5D0FEF-7F6F-8A41-BF41-BE934E9D209D}" type="datetimeFigureOut">
              <a:rPr lang="en-US" smtClean="0"/>
              <a:t>1/29/25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32E5F4-15D1-1240-ADEA-F27EC112D0A5}" type="slidenum">
              <a:rPr lang="en-US" smtClean="0"/>
              <a:t>‹#›</a:t>
            </a:fld>
            <a:endParaRPr lang="en-US"/>
          </a:p>
        </p:txBody>
      </p:sp>
    </p:spTree>
    <p:extLst>
      <p:ext uri="{BB962C8B-B14F-4D97-AF65-F5344CB8AC3E}">
        <p14:creationId xmlns:p14="http://schemas.microsoft.com/office/powerpoint/2010/main" val="2278147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63E508-8602-4246-AC62-1059C96B2451}" type="datetimeFigureOut">
              <a:rPr lang="en-US" smtClean="0"/>
              <a:t>1/29/25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B36305-836F-4DC4-8519-4D39157E5B8B}" type="slidenum">
              <a:rPr lang="en-US" smtClean="0"/>
              <a:t>‹#›</a:t>
            </a:fld>
            <a:endParaRPr lang="en-US"/>
          </a:p>
        </p:txBody>
      </p:sp>
    </p:spTree>
    <p:extLst>
      <p:ext uri="{BB962C8B-B14F-4D97-AF65-F5344CB8AC3E}">
        <p14:creationId xmlns:p14="http://schemas.microsoft.com/office/powerpoint/2010/main" val="4231945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p:cNvSpPr>
            <a:spLocks noGrp="1"/>
          </p:cNvSpPr>
          <p:nvPr>
            <p:ph type="hdr" sz="quarter" idx="11"/>
          </p:nvPr>
        </p:nvSpPr>
        <p:spPr/>
        <p:txBody>
          <a:bodyPr/>
          <a:lstStyle/>
          <a:p>
            <a:r>
              <a:rPr lang="en-US"/>
              <a:t>Professor Zhigang</a:t>
            </a:r>
            <a:endParaRPr lang="en-US" dirty="0"/>
          </a:p>
        </p:txBody>
      </p:sp>
    </p:spTree>
    <p:extLst>
      <p:ext uri="{BB962C8B-B14F-4D97-AF65-F5344CB8AC3E}">
        <p14:creationId xmlns:p14="http://schemas.microsoft.com/office/powerpoint/2010/main" val="4065734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7839F-548C-87A0-C3CB-EE52D399AAC3}"/>
            </a:ext>
          </a:extLst>
        </p:cNvPr>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B520EC2D-6FDD-582A-C500-6398231B7183}"/>
              </a:ext>
            </a:extLst>
          </p:cNvPr>
          <p:cNvSpPr>
            <a:spLocks noGrp="1" noRot="1" noChangeAspect="1" noTextEdit="1"/>
          </p:cNvSpPr>
          <p:nvPr>
            <p:ph type="sldImg"/>
          </p:nvPr>
        </p:nvSpPr>
        <p:spPr>
          <a:ln/>
        </p:spPr>
      </p:sp>
      <p:sp>
        <p:nvSpPr>
          <p:cNvPr id="100355" name="Notes Placeholder 2">
            <a:extLst>
              <a:ext uri="{FF2B5EF4-FFF2-40B4-BE49-F238E27FC236}">
                <a16:creationId xmlns:a16="http://schemas.microsoft.com/office/drawing/2014/main" id="{7FB56CFD-0892-B4C7-DF6D-C23B5FD111BE}"/>
              </a:ext>
            </a:extLst>
          </p:cNvPr>
          <p:cNvSpPr>
            <a:spLocks noGrp="1"/>
          </p:cNvSpPr>
          <p:nvPr>
            <p:ph type="body" idx="1"/>
          </p:nvPr>
        </p:nvSpPr>
        <p:spPr>
          <a:noFill/>
          <a:ln/>
        </p:spPr>
        <p:txBody>
          <a:bodyPr/>
          <a:lstStyle/>
          <a:p>
            <a:endParaRPr lang="en-US"/>
          </a:p>
        </p:txBody>
      </p:sp>
      <p:sp>
        <p:nvSpPr>
          <p:cNvPr id="100356" name="Slide Number Placeholder 3">
            <a:extLst>
              <a:ext uri="{FF2B5EF4-FFF2-40B4-BE49-F238E27FC236}">
                <a16:creationId xmlns:a16="http://schemas.microsoft.com/office/drawing/2014/main" id="{21377A38-B594-853B-C038-7E7911853D03}"/>
              </a:ext>
            </a:extLst>
          </p:cNvPr>
          <p:cNvSpPr>
            <a:spLocks noGrp="1"/>
          </p:cNvSpPr>
          <p:nvPr>
            <p:ph type="sldNum" sz="quarter" idx="5"/>
          </p:nvPr>
        </p:nvSpPr>
        <p:spPr>
          <a:noFill/>
        </p:spPr>
        <p:txBody>
          <a:bodyPr/>
          <a:lstStyle/>
          <a:p>
            <a:fld id="{209743C3-266B-4C90-9D74-8B5E03BDD1FC}" type="slidenum">
              <a:rPr lang="en-US" smtClean="0"/>
              <a:pPr/>
              <a:t>4</a:t>
            </a:fld>
            <a:endParaRPr lang="en-US"/>
          </a:p>
        </p:txBody>
      </p:sp>
    </p:spTree>
    <p:extLst>
      <p:ext uri="{BB962C8B-B14F-4D97-AF65-F5344CB8AC3E}">
        <p14:creationId xmlns:p14="http://schemas.microsoft.com/office/powerpoint/2010/main" val="576117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endParaRPr lang="en-US"/>
          </a:p>
        </p:txBody>
      </p:sp>
      <p:sp>
        <p:nvSpPr>
          <p:cNvPr id="100356" name="Slide Number Placeholder 3"/>
          <p:cNvSpPr>
            <a:spLocks noGrp="1"/>
          </p:cNvSpPr>
          <p:nvPr>
            <p:ph type="sldNum" sz="quarter" idx="5"/>
          </p:nvPr>
        </p:nvSpPr>
        <p:spPr>
          <a:noFill/>
        </p:spPr>
        <p:txBody>
          <a:bodyPr/>
          <a:lstStyle/>
          <a:p>
            <a:fld id="{209743C3-266B-4C90-9D74-8B5E03BDD1FC}"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036A36-B3E5-45FD-A575-0C8D7E54F80E}" type="slidenum">
              <a:rPr lang="en-US" smtClean="0"/>
              <a:pPr>
                <a:defRPr/>
              </a:pPr>
              <a:t>10</a:t>
            </a:fld>
            <a:endParaRPr lang="en-US"/>
          </a:p>
        </p:txBody>
      </p:sp>
    </p:spTree>
    <p:extLst>
      <p:ext uri="{BB962C8B-B14F-4D97-AF65-F5344CB8AC3E}">
        <p14:creationId xmlns:p14="http://schemas.microsoft.com/office/powerpoint/2010/main" val="232841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is B</a:t>
            </a:r>
          </a:p>
        </p:txBody>
      </p:sp>
      <p:sp>
        <p:nvSpPr>
          <p:cNvPr id="4" name="Slide Number Placeholder 3"/>
          <p:cNvSpPr>
            <a:spLocks noGrp="1"/>
          </p:cNvSpPr>
          <p:nvPr>
            <p:ph type="sldNum" sz="quarter" idx="10"/>
          </p:nvPr>
        </p:nvSpPr>
        <p:spPr/>
        <p:txBody>
          <a:bodyPr/>
          <a:lstStyle/>
          <a:p>
            <a:fld id="{9AB36305-836F-4DC4-8519-4D39157E5B8B}" type="slidenum">
              <a:rPr lang="en-US" smtClean="0"/>
              <a:t>12</a:t>
            </a:fld>
            <a:endParaRPr lang="en-US"/>
          </a:p>
        </p:txBody>
      </p:sp>
    </p:spTree>
    <p:extLst>
      <p:ext uri="{BB962C8B-B14F-4D97-AF65-F5344CB8AC3E}">
        <p14:creationId xmlns:p14="http://schemas.microsoft.com/office/powerpoint/2010/main" val="105408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is C</a:t>
            </a:r>
          </a:p>
        </p:txBody>
      </p:sp>
      <p:sp>
        <p:nvSpPr>
          <p:cNvPr id="4" name="Slide Number Placeholder 3"/>
          <p:cNvSpPr>
            <a:spLocks noGrp="1"/>
          </p:cNvSpPr>
          <p:nvPr>
            <p:ph type="sldNum" sz="quarter" idx="10"/>
          </p:nvPr>
        </p:nvSpPr>
        <p:spPr/>
        <p:txBody>
          <a:bodyPr/>
          <a:lstStyle/>
          <a:p>
            <a:fld id="{9AB36305-836F-4DC4-8519-4D39157E5B8B}" type="slidenum">
              <a:rPr lang="en-US" smtClean="0"/>
              <a:t>13</a:t>
            </a:fld>
            <a:endParaRPr lang="en-US"/>
          </a:p>
        </p:txBody>
      </p:sp>
    </p:spTree>
    <p:extLst>
      <p:ext uri="{BB962C8B-B14F-4D97-AF65-F5344CB8AC3E}">
        <p14:creationId xmlns:p14="http://schemas.microsoft.com/office/powerpoint/2010/main" val="3143103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036A36-B3E5-45FD-A575-0C8D7E54F80E}" type="slidenum">
              <a:rPr lang="en-US" smtClean="0"/>
              <a:pPr>
                <a:defRPr/>
              </a:pPr>
              <a:t>16</a:t>
            </a:fld>
            <a:endParaRPr lang="en-US"/>
          </a:p>
        </p:txBody>
      </p:sp>
    </p:spTree>
    <p:extLst>
      <p:ext uri="{BB962C8B-B14F-4D97-AF65-F5344CB8AC3E}">
        <p14:creationId xmlns:p14="http://schemas.microsoft.com/office/powerpoint/2010/main" val="232841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Rot="1" noChangeAspect="1" noChangeArrowheads="1" noTextEdit="1"/>
          </p:cNvSpPr>
          <p:nvPr>
            <p:ph type="sldImg"/>
          </p:nvPr>
        </p:nvSpPr>
        <p:spPr>
          <a:ln/>
        </p:spPr>
      </p:sp>
      <p:sp>
        <p:nvSpPr>
          <p:cNvPr id="65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Rot="1" noChangeAspect="1" noChangeArrowheads="1" noTextEdit="1"/>
          </p:cNvSpPr>
          <p:nvPr>
            <p:ph type="sldImg"/>
          </p:nvPr>
        </p:nvSpPr>
        <p:spPr>
          <a:ln/>
        </p:spPr>
      </p:sp>
      <p:sp>
        <p:nvSpPr>
          <p:cNvPr id="65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Rot="1" noChangeAspect="1" noChangeArrowheads="1" noTextEdit="1"/>
          </p:cNvSpPr>
          <p:nvPr>
            <p:ph type="sldImg"/>
          </p:nvPr>
        </p:nvSpPr>
        <p:spPr>
          <a:ln/>
        </p:spPr>
      </p:sp>
      <p:sp>
        <p:nvSpPr>
          <p:cNvPr id="65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p:spPr>
        <p:txBody>
          <a:bodyPr/>
          <a:lstStyle/>
          <a:p>
            <a:endParaRPr lang="en-US"/>
          </a:p>
        </p:txBody>
      </p:sp>
      <p:sp>
        <p:nvSpPr>
          <p:cNvPr id="104452" name="Slide Number Placeholder 3"/>
          <p:cNvSpPr>
            <a:spLocks noGrp="1"/>
          </p:cNvSpPr>
          <p:nvPr>
            <p:ph type="sldNum" sz="quarter" idx="5"/>
          </p:nvPr>
        </p:nvSpPr>
        <p:spPr>
          <a:noFill/>
        </p:spPr>
        <p:txBody>
          <a:bodyPr/>
          <a:lstStyle/>
          <a:p>
            <a:fld id="{54CB5C9B-0345-4147-A04A-FFD30E1BCAA1}" type="slidenum">
              <a:rPr lang="en-US" smtClean="0"/>
              <a:pPr/>
              <a:t>23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a:t>
            </a:r>
            <a:r>
              <a:rPr lang="en-US" baseline="0" dirty="0"/>
              <a:t> the correct answer.</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24</a:t>
            </a:fld>
            <a:endParaRPr lang="en-US"/>
          </a:p>
        </p:txBody>
      </p:sp>
    </p:spTree>
    <p:extLst>
      <p:ext uri="{BB962C8B-B14F-4D97-AF65-F5344CB8AC3E}">
        <p14:creationId xmlns:p14="http://schemas.microsoft.com/office/powerpoint/2010/main" val="3662492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a:t>
            </a:r>
            <a:r>
              <a:rPr lang="en-US" baseline="0" dirty="0"/>
              <a:t> the correct answer.</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25</a:t>
            </a:fld>
            <a:endParaRPr lang="en-US"/>
          </a:p>
        </p:txBody>
      </p:sp>
    </p:spTree>
    <p:extLst>
      <p:ext uri="{BB962C8B-B14F-4D97-AF65-F5344CB8AC3E}">
        <p14:creationId xmlns:p14="http://schemas.microsoft.com/office/powerpoint/2010/main" val="3662492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t>
            </a:r>
            <a:r>
              <a:rPr lang="en-US" baseline="0" dirty="0"/>
              <a:t> answer is B</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26</a:t>
            </a:fld>
            <a:endParaRPr lang="en-US"/>
          </a:p>
        </p:txBody>
      </p:sp>
    </p:spTree>
    <p:extLst>
      <p:ext uri="{BB962C8B-B14F-4D97-AF65-F5344CB8AC3E}">
        <p14:creationId xmlns:p14="http://schemas.microsoft.com/office/powerpoint/2010/main" val="1120183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“Think, Pair, Share” Activity.</a:t>
            </a:r>
          </a:p>
        </p:txBody>
      </p:sp>
      <p:sp>
        <p:nvSpPr>
          <p:cNvPr id="4" name="Slide Number Placeholder 3"/>
          <p:cNvSpPr>
            <a:spLocks noGrp="1"/>
          </p:cNvSpPr>
          <p:nvPr>
            <p:ph type="sldNum" sz="quarter" idx="10"/>
          </p:nvPr>
        </p:nvSpPr>
        <p:spPr/>
        <p:txBody>
          <a:bodyPr/>
          <a:lstStyle/>
          <a:p>
            <a:fld id="{9AB36305-836F-4DC4-8519-4D39157E5B8B}" type="slidenum">
              <a:rPr lang="en-US" smtClean="0"/>
              <a:t>27</a:t>
            </a:fld>
            <a:endParaRPr lang="en-US"/>
          </a:p>
        </p:txBody>
      </p:sp>
    </p:spTree>
    <p:extLst>
      <p:ext uri="{BB962C8B-B14F-4D97-AF65-F5344CB8AC3E}">
        <p14:creationId xmlns:p14="http://schemas.microsoft.com/office/powerpoint/2010/main" val="3922593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7F679-00F2-1257-FA63-92B83DBDA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743A5-B983-9307-D0CC-76C5AFA18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4962F-BF22-9956-10E7-0DBAD25CD5D2}"/>
              </a:ext>
            </a:extLst>
          </p:cNvPr>
          <p:cNvSpPr>
            <a:spLocks noGrp="1"/>
          </p:cNvSpPr>
          <p:nvPr>
            <p:ph type="body" idx="1"/>
          </p:nvPr>
        </p:nvSpPr>
        <p:spPr/>
        <p:txBody>
          <a:bodyPr/>
          <a:lstStyle/>
          <a:p>
            <a:r>
              <a:rPr lang="en-US" dirty="0"/>
              <a:t>Use this as a “Think, Pair, Share” Activity.</a:t>
            </a:r>
          </a:p>
        </p:txBody>
      </p:sp>
      <p:sp>
        <p:nvSpPr>
          <p:cNvPr id="4" name="Slide Number Placeholder 3">
            <a:extLst>
              <a:ext uri="{FF2B5EF4-FFF2-40B4-BE49-F238E27FC236}">
                <a16:creationId xmlns:a16="http://schemas.microsoft.com/office/drawing/2014/main" id="{4EC739F5-99DB-AECB-3306-3E05EB1E6D1D}"/>
              </a:ext>
            </a:extLst>
          </p:cNvPr>
          <p:cNvSpPr>
            <a:spLocks noGrp="1"/>
          </p:cNvSpPr>
          <p:nvPr>
            <p:ph type="sldNum" sz="quarter" idx="10"/>
          </p:nvPr>
        </p:nvSpPr>
        <p:spPr/>
        <p:txBody>
          <a:bodyPr/>
          <a:lstStyle/>
          <a:p>
            <a:fld id="{9AB36305-836F-4DC4-8519-4D39157E5B8B}" type="slidenum">
              <a:rPr lang="en-US" smtClean="0"/>
              <a:t>28</a:t>
            </a:fld>
            <a:endParaRPr lang="en-US"/>
          </a:p>
        </p:txBody>
      </p:sp>
    </p:spTree>
    <p:extLst>
      <p:ext uri="{BB962C8B-B14F-4D97-AF65-F5344CB8AC3E}">
        <p14:creationId xmlns:p14="http://schemas.microsoft.com/office/powerpoint/2010/main" val="3804903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 more difficult question</a:t>
            </a:r>
            <a:r>
              <a:rPr lang="en-US" baseline="0" dirty="0"/>
              <a:t> because it requires a two-step calculation of cost.  A is correct. </a:t>
            </a:r>
            <a:r>
              <a:rPr lang="en-US" sz="1200" kern="1200" dirty="0">
                <a:solidFill>
                  <a:schemeClr val="tx1"/>
                </a:solidFill>
                <a:latin typeface="+mn-lt"/>
                <a:ea typeface="+mn-ea"/>
                <a:cs typeface="+mn-cs"/>
              </a:rPr>
              <a:t>In Australia, the opportunity cost of harvesting 10 bushels of tomatoes is 20 bushels of apples. In Brazil, the opportunity cost of harvesting 10 bushels of tomatoes is 12.5 bushels of apples. Australia has the absolute advantage in both goods, but also exhibits the higher opportunity cost of growing tomatoes.</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29</a:t>
            </a:fld>
            <a:endParaRPr lang="en-US"/>
          </a:p>
        </p:txBody>
      </p:sp>
    </p:spTree>
    <p:extLst>
      <p:ext uri="{BB962C8B-B14F-4D97-AF65-F5344CB8AC3E}">
        <p14:creationId xmlns:p14="http://schemas.microsoft.com/office/powerpoint/2010/main" val="3242662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75D1A-7F6A-9494-787A-FD83265B9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B2308-D48C-F998-902E-7D8A7067C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3F5D7-F079-463F-4ABB-F90A5916E88D}"/>
              </a:ext>
            </a:extLst>
          </p:cNvPr>
          <p:cNvSpPr>
            <a:spLocks noGrp="1"/>
          </p:cNvSpPr>
          <p:nvPr>
            <p:ph type="body" idx="1"/>
          </p:nvPr>
        </p:nvSpPr>
        <p:spPr/>
        <p:txBody>
          <a:bodyPr/>
          <a:lstStyle/>
          <a:p>
            <a:r>
              <a:rPr lang="en-US" dirty="0"/>
              <a:t>This a more difficult question</a:t>
            </a:r>
            <a:r>
              <a:rPr lang="en-US" baseline="0" dirty="0"/>
              <a:t> because it requires a two-step calculation of cost.  A is correct. </a:t>
            </a:r>
            <a:r>
              <a:rPr lang="en-US" sz="1200" kern="1200" dirty="0">
                <a:solidFill>
                  <a:schemeClr val="tx1"/>
                </a:solidFill>
                <a:latin typeface="+mn-lt"/>
                <a:ea typeface="+mn-ea"/>
                <a:cs typeface="+mn-cs"/>
              </a:rPr>
              <a:t>In Australia, the opportunity cost of harvesting 10 bushels of tomatoes is 20 bushels of apples. In Brazil, the opportunity cost of harvesting 10 bushels of tomatoes is 12.5 bushels of apples. Australia has the absolute advantage in both goods, but also exhibits the higher opportunity cost of growing tomatoes.</a:t>
            </a:r>
            <a:endParaRPr lang="en-US" dirty="0"/>
          </a:p>
        </p:txBody>
      </p:sp>
      <p:sp>
        <p:nvSpPr>
          <p:cNvPr id="4" name="Slide Number Placeholder 3">
            <a:extLst>
              <a:ext uri="{FF2B5EF4-FFF2-40B4-BE49-F238E27FC236}">
                <a16:creationId xmlns:a16="http://schemas.microsoft.com/office/drawing/2014/main" id="{EC59F9AA-9A39-5A77-79D6-38DDFB7EC041}"/>
              </a:ext>
            </a:extLst>
          </p:cNvPr>
          <p:cNvSpPr>
            <a:spLocks noGrp="1"/>
          </p:cNvSpPr>
          <p:nvPr>
            <p:ph type="sldNum" sz="quarter" idx="10"/>
          </p:nvPr>
        </p:nvSpPr>
        <p:spPr/>
        <p:txBody>
          <a:bodyPr/>
          <a:lstStyle/>
          <a:p>
            <a:fld id="{9AB36305-836F-4DC4-8519-4D39157E5B8B}" type="slidenum">
              <a:rPr lang="en-US" smtClean="0"/>
              <a:t>30</a:t>
            </a:fld>
            <a:endParaRPr lang="en-US"/>
          </a:p>
        </p:txBody>
      </p:sp>
    </p:spTree>
    <p:extLst>
      <p:ext uri="{BB962C8B-B14F-4D97-AF65-F5344CB8AC3E}">
        <p14:creationId xmlns:p14="http://schemas.microsoft.com/office/powerpoint/2010/main" val="1610909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hyperlink" Target="http://blogs.worthpublishers.com/econblog/" TargetMode="External"/><Relationship Id="rId3" Type="http://schemas.openxmlformats.org/officeDocument/2006/relationships/hyperlink" Target="http://www.gregmankiw.blogspot.com/" TargetMode="External"/><Relationship Id="rId7" Type="http://schemas.openxmlformats.org/officeDocument/2006/relationships/hyperlink" Target="http://marginalrevolution.com/" TargetMode="External"/><Relationship Id="rId12" Type="http://schemas.openxmlformats.org/officeDocument/2006/relationships/image" Target="../media/image14.png"/><Relationship Id="rId2" Type="http://schemas.openxmlformats.org/officeDocument/2006/relationships/image" Target="../media/image9.jpeg"/><Relationship Id="rId16"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1.png"/><Relationship Id="rId11" Type="http://schemas.openxmlformats.org/officeDocument/2006/relationships/hyperlink" Target="http://www.bls.gov/" TargetMode="External"/><Relationship Id="rId5" Type="http://schemas.openxmlformats.org/officeDocument/2006/relationships/hyperlink" Target="http://krugman.blogs.nytimes.com/" TargetMode="External"/><Relationship Id="rId15" Type="http://schemas.openxmlformats.org/officeDocument/2006/relationships/hyperlink" Target="http://www.bea.gov/" TargetMode="Externa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hyperlink" Target="http://www.freakonomics.com/blog/" TargetMode="External"/><Relationship Id="rId14"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6.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7.xml"/></Relationships>
</file>

<file path=ppt/slideLayouts/_rels/slideLayout39.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hyperlink" Target="http://www.gregmankiw.blogspot.com/" TargetMode="External"/><Relationship Id="rId1" Type="http://schemas.openxmlformats.org/officeDocument/2006/relationships/slideMaster" Target="../slideMasters/slideMaster17.xml"/><Relationship Id="rId6" Type="http://schemas.openxmlformats.org/officeDocument/2006/relationships/hyperlink" Target="http://www.freakonomics.com/blog/" TargetMode="External"/><Relationship Id="rId11"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29.png"/></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prstGeom prst="rect">
            <a:avLst/>
          </a:prstGeo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153536" y="-76200"/>
            <a:ext cx="943896"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a:hlinkClick r:id="" action="ppaction://noaction"/>
          </p:cNvPr>
          <p:cNvSpPr/>
          <p:nvPr/>
        </p:nvSpPr>
        <p:spPr>
          <a:xfrm>
            <a:off x="0" y="5952053"/>
            <a:ext cx="1143000" cy="905947"/>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r>
              <a:rPr lang="en-US" sz="11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a:t>
            </a:r>
            <a:r>
              <a:rPr lang="en-US" sz="11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rPr>
              <a:t>Active Learning</a:t>
            </a:r>
          </a:p>
        </p:txBody>
      </p:sp>
      <p:pic>
        <p:nvPicPr>
          <p:cNvPr id="10" name="Picture 9">
            <a:hlinkClick r:id="" action="ppaction://noaction"/>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sp>
        <p:nvSpPr>
          <p:cNvPr id="11" name="TextBox 10"/>
          <p:cNvSpPr txBox="1"/>
          <p:nvPr/>
        </p:nvSpPr>
        <p:spPr>
          <a:xfrm>
            <a:off x="8126895" y="6209547"/>
            <a:ext cx="634182" cy="523220"/>
          </a:xfrm>
          <a:prstGeom prst="rect">
            <a:avLst/>
          </a:prstGeom>
          <a:noFill/>
        </p:spPr>
        <p:txBody>
          <a:bodyPr wrap="square" rtlCol="0">
            <a:spAutoFit/>
          </a:bodyPr>
          <a:lstStyle/>
          <a:p>
            <a:r>
              <a:rPr lang="en-US" sz="1400" b="1" dirty="0">
                <a:solidFill>
                  <a:schemeClr val="bg1"/>
                </a:solidFill>
                <a:effectLst>
                  <a:outerShdw blurRad="38100" dist="38100" dir="2700000" algn="tl">
                    <a:srgbClr val="000000">
                      <a:alpha val="43137"/>
                    </a:srgbClr>
                  </a:outerShdw>
                </a:effectLst>
                <a:hlinkClick r:id="" action="ppaction://noaction"/>
              </a:rPr>
              <a:t>To Video</a:t>
            </a:r>
            <a:endParaRPr lang="en-US" sz="1400" b="1" dirty="0">
              <a:solidFill>
                <a:schemeClr val="bg1"/>
              </a:solidFill>
              <a:effectLst>
                <a:outerShdw blurRad="38100" dist="38100" dir="2700000" algn="tl">
                  <a:srgbClr val="000000">
                    <a:alpha val="43137"/>
                  </a:srgbClr>
                </a:outerShdw>
              </a:effectLst>
            </a:endParaRPr>
          </a:p>
        </p:txBody>
      </p:sp>
      <p:sp>
        <p:nvSpPr>
          <p:cNvPr id="12"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r>
              <a:rPr lang="en-US"/>
              <a:t>Copyright 2015 Worth Publishers    </a:t>
            </a:r>
          </a:p>
        </p:txBody>
      </p:sp>
    </p:spTree>
    <p:extLst>
      <p:ext uri="{BB962C8B-B14F-4D97-AF65-F5344CB8AC3E}">
        <p14:creationId xmlns:p14="http://schemas.microsoft.com/office/powerpoint/2010/main" val="3614591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6133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Copyright 2015 Worth Publishers    </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0EB2B95-EA4E-4992-810B-4F372A161FC4}" type="slidenum">
              <a:rPr lang="en-US" smtClean="0"/>
              <a:t>‹#›</a:t>
            </a:fld>
            <a:endParaRPr lang="en-US"/>
          </a:p>
        </p:txBody>
      </p:sp>
    </p:spTree>
    <p:extLst>
      <p:ext uri="{BB962C8B-B14F-4D97-AF65-F5344CB8AC3E}">
        <p14:creationId xmlns:p14="http://schemas.microsoft.com/office/powerpoint/2010/main" val="343625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a:t>Copyright 2015 Worth Publishers    </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0EB2B95-EA4E-4992-810B-4F372A161FC4}" type="slidenum">
              <a:rPr lang="en-US" smtClean="0"/>
              <a:t>‹#›</a:t>
            </a:fld>
            <a:endParaRPr lang="en-US"/>
          </a:p>
        </p:txBody>
      </p:sp>
    </p:spTree>
    <p:extLst>
      <p:ext uri="{BB962C8B-B14F-4D97-AF65-F5344CB8AC3E}">
        <p14:creationId xmlns:p14="http://schemas.microsoft.com/office/powerpoint/2010/main" val="4226531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86400"/>
            <a:ext cx="9136063" cy="1371600"/>
          </a:xfrm>
          <a:prstGeom prst="rect">
            <a:avLst/>
          </a:prstGeom>
          <a:solidFill>
            <a:schemeClr val="tx1">
              <a:alpha val="81000"/>
            </a:schemeClr>
          </a:solidFill>
        </p:spPr>
        <p:txBody>
          <a:bodyPr anchor="ctr">
            <a:normAutofit/>
          </a:bodyPr>
          <a:lstStyle/>
          <a:p>
            <a:pPr algn="r">
              <a:defRPr/>
            </a:pPr>
            <a:endParaRPr lang="en-US" sz="4800" spc="50" dirty="0">
              <a:latin typeface="Candara" pitchFamily="34" charset="0"/>
              <a:ea typeface="Tahoma" pitchFamily="34" charset="0"/>
              <a:cs typeface="Tahoma" pitchFamily="34" charset="0"/>
            </a:endParaRPr>
          </a:p>
        </p:txBody>
      </p:sp>
      <p:sp>
        <p:nvSpPr>
          <p:cNvPr id="6" name="TextBox 5"/>
          <p:cNvSpPr txBox="1"/>
          <p:nvPr/>
        </p:nvSpPr>
        <p:spPr>
          <a:xfrm>
            <a:off x="261938" y="5181600"/>
            <a:ext cx="887412" cy="1862138"/>
          </a:xfrm>
          <a:prstGeom prst="rect">
            <a:avLst/>
          </a:prstGeom>
          <a:noFill/>
        </p:spPr>
        <p:txBody>
          <a:bodyPr>
            <a:spAutoFit/>
          </a:bodyPr>
          <a:lstStyle/>
          <a:p>
            <a:pPr>
              <a:defRPr/>
            </a:pPr>
            <a:r>
              <a:rPr lang="en-US" sz="11500" b="1" dirty="0">
                <a:solidFill>
                  <a:schemeClr val="bg1"/>
                </a:solidFill>
                <a:effectLst>
                  <a:outerShdw blurRad="38100" dist="38100" dir="2700000" algn="tl">
                    <a:srgbClr val="000000">
                      <a:alpha val="43137"/>
                    </a:srgbClr>
                  </a:outerShdw>
                </a:effectLst>
                <a:latin typeface="Century Gothic" pitchFamily="34" charset="0"/>
                <a:ea typeface="Tahoma" pitchFamily="34" charset="0"/>
                <a:cs typeface="Tahoma" pitchFamily="34" charset="0"/>
              </a:rPr>
              <a:t>2</a:t>
            </a:r>
          </a:p>
        </p:txBody>
      </p:sp>
      <p:sp>
        <p:nvSpPr>
          <p:cNvPr id="7" name="TextBox 6"/>
          <p:cNvSpPr txBox="1"/>
          <p:nvPr/>
        </p:nvSpPr>
        <p:spPr>
          <a:xfrm rot="16200000">
            <a:off x="-418306" y="5965795"/>
            <a:ext cx="1358900" cy="400110"/>
          </a:xfrm>
          <a:prstGeom prst="rect">
            <a:avLst/>
          </a:prstGeom>
          <a:noFill/>
        </p:spPr>
        <p:txBody>
          <a:bodyPr>
            <a:spAutoFit/>
          </a:bodyPr>
          <a:lstStyle/>
          <a:p>
            <a:pPr>
              <a:defRPr/>
            </a:pPr>
            <a:r>
              <a:rPr lang="en-US" b="1" cap="all" dirty="0">
                <a:solidFill>
                  <a:schemeClr val="bg1">
                    <a:lumMod val="75000"/>
                  </a:schemeClr>
                </a:solidFill>
                <a:latin typeface="Gill Sans MT" pitchFamily="34" charset="0"/>
                <a:ea typeface="+mj-ea"/>
                <a:cs typeface="+mj-cs"/>
              </a:rPr>
              <a:t>Chapter</a:t>
            </a:r>
            <a:endParaRPr lang="en-US" sz="2000" b="1" cap="all" dirty="0">
              <a:solidFill>
                <a:schemeClr val="bg1">
                  <a:lumMod val="75000"/>
                </a:schemeClr>
              </a:solidFill>
              <a:latin typeface="Gill Sans MT" pitchFamily="34" charset="0"/>
              <a:ea typeface="+mj-ea"/>
              <a:cs typeface="+mj-cs"/>
            </a:endParaRPr>
          </a:p>
        </p:txBody>
      </p:sp>
      <p:sp>
        <p:nvSpPr>
          <p:cNvPr id="8" name="TextBox 7"/>
          <p:cNvSpPr txBox="1"/>
          <p:nvPr/>
        </p:nvSpPr>
        <p:spPr>
          <a:xfrm>
            <a:off x="-4763" y="4953000"/>
            <a:ext cx="9148763" cy="338137"/>
          </a:xfrm>
          <a:prstGeom prst="rect">
            <a:avLst/>
          </a:prstGeom>
          <a:solidFill>
            <a:schemeClr val="tx1">
              <a:alpha val="52000"/>
            </a:schemeClr>
          </a:solidFill>
        </p:spPr>
        <p:txBody>
          <a:bodyPr wrap="square">
            <a:spAutoFit/>
          </a:bodyPr>
          <a:lstStyle/>
          <a:p>
            <a:pPr algn="ctr">
              <a:defRPr/>
            </a:pPr>
            <a:r>
              <a:rPr lang="en-US" sz="1600" cap="small" spc="400" dirty="0">
                <a:solidFill>
                  <a:schemeClr val="bg1"/>
                </a:solidFill>
                <a:latin typeface="Tw Cen MT" pitchFamily="34" charset="0"/>
              </a:rPr>
              <a:t>Dynamic PowerPoint™ Slides by </a:t>
            </a:r>
            <a:r>
              <a:rPr lang="en-US" sz="1600" cap="small" spc="400" dirty="0" err="1">
                <a:solidFill>
                  <a:schemeClr val="bg1"/>
                </a:solidFill>
                <a:latin typeface="Tw Cen MT" pitchFamily="34" charset="0"/>
              </a:rPr>
              <a:t>Solina</a:t>
            </a:r>
            <a:r>
              <a:rPr lang="en-US" sz="1600" cap="small" spc="400" dirty="0">
                <a:solidFill>
                  <a:schemeClr val="bg1"/>
                </a:solidFill>
                <a:latin typeface="Tw Cen MT" pitchFamily="34" charset="0"/>
              </a:rPr>
              <a:t> </a:t>
            </a:r>
            <a:r>
              <a:rPr lang="en-US" sz="1600" cap="small" spc="400" dirty="0" err="1">
                <a:solidFill>
                  <a:schemeClr val="bg1"/>
                </a:solidFill>
                <a:latin typeface="Tw Cen MT" pitchFamily="34" charset="0"/>
              </a:rPr>
              <a:t>Lindahl</a:t>
            </a:r>
            <a:endParaRPr lang="en-US" sz="1600" cap="small" spc="400" dirty="0">
              <a:solidFill>
                <a:schemeClr val="bg1"/>
              </a:solidFill>
              <a:latin typeface="Tw Cen MT" pitchFamily="34" charset="0"/>
            </a:endParaRPr>
          </a:p>
        </p:txBody>
      </p:sp>
      <p:pic>
        <p:nvPicPr>
          <p:cNvPr id="159746" name="Picture 2" descr="C:\Users\solina\Dropbox\Krugman 3e Dynamic PPTs\Krugman 3e material\covers\Krugman3e_Econ_FrontCover.jpg"/>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4840941" y="0"/>
            <a:ext cx="4303059" cy="1183341"/>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userDrawn="1"/>
        </p:nvSpPr>
        <p:spPr>
          <a:xfrm>
            <a:off x="1371600" y="5367133"/>
            <a:ext cx="7772400" cy="1371601"/>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pPr algn="r"/>
            <a:r>
              <a:rPr lang="en-US" sz="4400" b="1" i="0" u="none" strike="noStrike" kern="1200" cap="none" spc="100" baseline="0" dirty="0">
                <a:solidFill>
                  <a:srgbClr val="FF3300"/>
                </a:solidFill>
                <a:effectLst/>
                <a:latin typeface="Candara" pitchFamily="34" charset="0"/>
                <a:ea typeface="+mj-ea"/>
                <a:cs typeface="+mj-cs"/>
              </a:rPr>
              <a:t>Economic Models:</a:t>
            </a:r>
          </a:p>
          <a:p>
            <a:pPr algn="r"/>
            <a:r>
              <a:rPr lang="en-US" sz="4400" b="1" i="0" u="none" strike="noStrike" kern="1200" cap="none" spc="100" baseline="0" dirty="0">
                <a:solidFill>
                  <a:srgbClr val="FF3300"/>
                </a:solidFill>
                <a:effectLst/>
                <a:latin typeface="Candara" pitchFamily="34" charset="0"/>
                <a:ea typeface="+mj-ea"/>
                <a:cs typeface="+mj-cs"/>
              </a:rPr>
              <a:t>Trade-Offs and Trade</a:t>
            </a:r>
            <a:endParaRPr lang="en-US" sz="4400" dirty="0"/>
          </a:p>
        </p:txBody>
      </p:sp>
      <p:sp>
        <p:nvSpPr>
          <p:cNvPr id="9"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396492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Copyright 2015 Worth Publishers    </a:t>
            </a:r>
          </a:p>
        </p:txBody>
      </p:sp>
      <p:sp>
        <p:nvSpPr>
          <p:cNvPr id="6" name="Slide Number Placeholder 5"/>
          <p:cNvSpPr>
            <a:spLocks noGrp="1"/>
          </p:cNvSpPr>
          <p:nvPr>
            <p:ph type="sldNum" sz="quarter" idx="12"/>
          </p:nvPr>
        </p:nvSpPr>
        <p:spPr/>
        <p:txBody>
          <a:bodyPr/>
          <a:lstStyle/>
          <a:p>
            <a:fld id="{F4F44DE6-8B77-400C-8F66-8B96B952C9BA}" type="slidenum">
              <a:rPr lang="en-US" smtClean="0"/>
              <a:t>‹#›</a:t>
            </a:fld>
            <a:endParaRPr lang="en-US"/>
          </a:p>
        </p:txBody>
      </p:sp>
      <p:sp>
        <p:nvSpPr>
          <p:cNvPr id="7" name="Text Placeholder 2"/>
          <p:cNvSpPr>
            <a:spLocks noGrp="1"/>
          </p:cNvSpPr>
          <p:nvPr>
            <p:ph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0" indent="0">
              <a:buFontTx/>
              <a:buNone/>
              <a:defRPr sz="3600" b="1">
                <a:latin typeface="Candara" pitchFamily="34" charset="0"/>
              </a:defRPr>
            </a:lvl1pPr>
            <a:lvl2pPr marL="457200" indent="0">
              <a:buFontTx/>
              <a:buNone/>
              <a:defRPr sz="3200" b="1">
                <a:latin typeface="Candara" pitchFamily="34" charset="0"/>
              </a:defRPr>
            </a:lvl2pPr>
            <a:lvl3pPr marL="914400" indent="0">
              <a:buFontTx/>
              <a:buNone/>
              <a:defRPr sz="2800" b="1">
                <a:latin typeface="Candara" pitchFamily="34" charset="0"/>
              </a:defRPr>
            </a:lvl3pPr>
            <a:lvl4pPr marL="1371600" indent="0">
              <a:buFontTx/>
              <a:buNone/>
              <a:defRPr sz="2400" b="1">
                <a:latin typeface="Candara" pitchFamily="34" charset="0"/>
              </a:defRPr>
            </a:lvl4pPr>
            <a:lvl5pPr marL="1828800" indent="0">
              <a:buFontTx/>
              <a:buNone/>
              <a:defRPr sz="2400" b="1">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6961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5715000"/>
            <a:ext cx="9144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514600"/>
            <a:ext cx="9144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8" descr="mf57.jpg"/>
          <p:cNvPicPr>
            <a:picLocks noChangeAspect="1"/>
          </p:cNvPicPr>
          <p:nvPr/>
        </p:nvPicPr>
        <p:blipFill>
          <a:blip r:embed="rId2">
            <a:clrChange>
              <a:clrFrom>
                <a:srgbClr val="FFF1F6"/>
              </a:clrFrom>
              <a:clrTo>
                <a:srgbClr val="FFF1F6">
                  <a:alpha val="0"/>
                </a:srgbClr>
              </a:clrTo>
            </a:clrChange>
            <a:extLst>
              <a:ext uri="{28A0092B-C50C-407E-A947-70E740481C1C}">
                <a14:useLocalDpi xmlns:a14="http://schemas.microsoft.com/office/drawing/2010/main"/>
              </a:ext>
            </a:extLst>
          </a:blip>
          <a:srcRect/>
          <a:stretch>
            <a:fillRect/>
          </a:stretch>
        </p:blipFill>
        <p:spPr bwMode="auto">
          <a:xfrm>
            <a:off x="7467600" y="0"/>
            <a:ext cx="16764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p:cNvSpPr txBox="1">
            <a:spLocks noChangeArrowheads="1"/>
          </p:cNvSpPr>
          <p:nvPr/>
        </p:nvSpPr>
        <p:spPr bwMode="auto">
          <a:xfrm>
            <a:off x="0" y="1676400"/>
            <a:ext cx="9144000" cy="369888"/>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b="1" i="1">
                <a:latin typeface="Arial" charset="0"/>
              </a:rPr>
              <a:t>Some good blogs and other sites to get the juices flowing:</a:t>
            </a:r>
          </a:p>
        </p:txBody>
      </p:sp>
      <p:sp>
        <p:nvSpPr>
          <p:cNvPr id="6" name="Title 1"/>
          <p:cNvSpPr txBox="1">
            <a:spLocks/>
          </p:cNvSpPr>
          <p:nvPr/>
        </p:nvSpPr>
        <p:spPr>
          <a:xfrm>
            <a:off x="0" y="0"/>
            <a:ext cx="6629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1" dirty="0">
                <a:solidFill>
                  <a:schemeClr val="accent6">
                    <a:lumMod val="75000"/>
                  </a:schemeClr>
                </a:solidFill>
                <a:latin typeface="Century Gothic" pitchFamily="34" charset="0"/>
                <a:cs typeface="Arial" pitchFamily="34" charset="0"/>
              </a:rPr>
              <a:t>Food for Thought….</a:t>
            </a:r>
          </a:p>
        </p:txBody>
      </p:sp>
      <p:pic>
        <p:nvPicPr>
          <p:cNvPr id="7" name="Picture 2">
            <a:hlinkClick r:id="rId3"/>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72200" y="3894138"/>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hlinkClick r:id="rId5"/>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403225" y="3768725"/>
            <a:ext cx="2111375" cy="7683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7"/>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497013" y="2878138"/>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9"/>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162550" y="28194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a:hlinkClick r:id="rId11"/>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838200" y="5849938"/>
            <a:ext cx="2667000" cy="3635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3">
            <a:hlinkClick r:id="rId13"/>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2819400" y="4824413"/>
            <a:ext cx="3689350" cy="5857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a:hlinkClick r:id="rId15"/>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5175250" y="5838825"/>
            <a:ext cx="3130550" cy="384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Slide Number Placeholder 4"/>
          <p:cNvSpPr>
            <a:spLocks noGrp="1"/>
          </p:cNvSpPr>
          <p:nvPr>
            <p:ph type="sldNum" sz="quarter" idx="10"/>
          </p:nvPr>
        </p:nvSpPr>
        <p:spPr>
          <a:xfrm>
            <a:off x="6553200" y="6492875"/>
            <a:ext cx="2133600" cy="365125"/>
          </a:xfrm>
        </p:spPr>
        <p:txBody>
          <a:bodyPr/>
          <a:lstStyle>
            <a:lvl1pPr>
              <a:defRPr/>
            </a:lvl1pPr>
          </a:lstStyle>
          <a:p>
            <a:pPr>
              <a:defRPr/>
            </a:pPr>
            <a:fld id="{7C2CC41E-FED2-45C2-81A4-A3B1F8E0267B}" type="slidenum">
              <a:rPr lang="en-US"/>
              <a:pPr>
                <a:defRPr/>
              </a:pPr>
              <a:t>‹#›</a:t>
            </a:fld>
            <a:endParaRPr lang="en-US"/>
          </a:p>
        </p:txBody>
      </p:sp>
      <p:sp>
        <p:nvSpPr>
          <p:cNvPr id="15" name="Footer Placeholder 4"/>
          <p:cNvSpPr>
            <a:spLocks noGrp="1"/>
          </p:cNvSpPr>
          <p:nvPr>
            <p:ph type="ftr" sz="quarter" idx="11"/>
          </p:nvPr>
        </p:nvSpPr>
        <p:spPr>
          <a:xfrm>
            <a:off x="2171700" y="6629400"/>
            <a:ext cx="4800600" cy="228600"/>
          </a:xfrm>
          <a:prstGeom prst="rect">
            <a:avLst/>
          </a:prstGeom>
        </p:spPr>
        <p:txBody>
          <a:bodyPr/>
          <a:lstStyle>
            <a:lvl1pPr>
              <a:defRPr sz="1100" i="0" cap="small" spc="400" baseline="0" smtClean="0"/>
            </a:lvl1pPr>
          </a:lstStyle>
          <a:p>
            <a:pPr>
              <a:defRPr/>
            </a:pPr>
            <a:r>
              <a:rPr lang="en-US"/>
              <a:t>Copyright 2015 Worth Publishers    </a:t>
            </a:r>
          </a:p>
        </p:txBody>
      </p:sp>
    </p:spTree>
    <p:extLst>
      <p:ext uri="{BB962C8B-B14F-4D97-AF65-F5344CB8AC3E}">
        <p14:creationId xmlns:p14="http://schemas.microsoft.com/office/powerpoint/2010/main" val="3205174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1313" indent="0">
              <a:defRPr>
                <a:solidFill>
                  <a:schemeClr val="accent1">
                    <a:lumMod val="75000"/>
                  </a:schemeClr>
                </a:solidFill>
              </a:defRPr>
            </a:lvl1pPr>
            <a:lvl2pPr marL="742950" indent="0">
              <a:defRPr>
                <a:solidFill>
                  <a:schemeClr val="accent1">
                    <a:lumMod val="75000"/>
                  </a:schemeClr>
                </a:solidFill>
              </a:defRPr>
            </a:lvl2pPr>
            <a:lvl3pPr>
              <a:defRPr>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87308"/>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pic>
        <p:nvPicPr>
          <p:cNvPr id="2050" name="Picture 2"/>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5867400" y="51250"/>
            <a:ext cx="3276600" cy="135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Straight Connector 15"/>
          <p:cNvCxnSpPr/>
          <p:nvPr userDrawn="1"/>
        </p:nvCxnSpPr>
        <p:spPr>
          <a:xfrm>
            <a:off x="0" y="5791200"/>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sp>
        <p:nvSpPr>
          <p:cNvPr id="13"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817337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ustom Layou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a:xfrm>
            <a:off x="-4763" y="5486400"/>
            <a:ext cx="9136063" cy="1371600"/>
          </a:xfrm>
          <a:prstGeom prst="rect">
            <a:avLst/>
          </a:prstGeom>
          <a:solidFill>
            <a:schemeClr val="tx1">
              <a:alpha val="81000"/>
            </a:schemeClr>
          </a:solidFill>
        </p:spPr>
        <p:txBody>
          <a:bodyPr anchor="ctr">
            <a:normAutofit/>
          </a:bodyPr>
          <a:lstStyle/>
          <a:p>
            <a:pPr algn="r">
              <a:defRPr/>
            </a:pPr>
            <a:endParaRPr lang="en-US" sz="4800" spc="50" dirty="0">
              <a:latin typeface="Candara" pitchFamily="34" charset="0"/>
              <a:ea typeface="Tahoma" pitchFamily="34" charset="0"/>
              <a:cs typeface="Tahoma" pitchFamily="34" charset="0"/>
            </a:endParaRPr>
          </a:p>
        </p:txBody>
      </p:sp>
      <p:sp>
        <p:nvSpPr>
          <p:cNvPr id="7" name="TextBox 6"/>
          <p:cNvSpPr txBox="1"/>
          <p:nvPr/>
        </p:nvSpPr>
        <p:spPr>
          <a:xfrm rot="16200000">
            <a:off x="-418306" y="5965795"/>
            <a:ext cx="1358900" cy="400110"/>
          </a:xfrm>
          <a:prstGeom prst="rect">
            <a:avLst/>
          </a:prstGeom>
          <a:noFill/>
        </p:spPr>
        <p:txBody>
          <a:bodyPr>
            <a:spAutoFit/>
          </a:bodyPr>
          <a:lstStyle/>
          <a:p>
            <a:pPr>
              <a:defRPr/>
            </a:pPr>
            <a:r>
              <a:rPr lang="en-US" b="1" cap="all" dirty="0">
                <a:solidFill>
                  <a:schemeClr val="bg1">
                    <a:lumMod val="75000"/>
                  </a:schemeClr>
                </a:solidFill>
                <a:latin typeface="Gill Sans MT" pitchFamily="34" charset="0"/>
                <a:ea typeface="+mj-ea"/>
                <a:cs typeface="+mj-cs"/>
              </a:rPr>
              <a:t>Chapter</a:t>
            </a:r>
            <a:endParaRPr lang="en-US" sz="2000" b="1" cap="all" dirty="0">
              <a:solidFill>
                <a:schemeClr val="bg1">
                  <a:lumMod val="75000"/>
                </a:schemeClr>
              </a:solidFill>
              <a:latin typeface="Gill Sans MT" pitchFamily="34" charset="0"/>
              <a:ea typeface="+mj-ea"/>
              <a:cs typeface="+mj-cs"/>
            </a:endParaRPr>
          </a:p>
        </p:txBody>
      </p:sp>
      <p:sp>
        <p:nvSpPr>
          <p:cNvPr id="8" name="TextBox 7"/>
          <p:cNvSpPr txBox="1"/>
          <p:nvPr/>
        </p:nvSpPr>
        <p:spPr>
          <a:xfrm>
            <a:off x="-4763" y="4953000"/>
            <a:ext cx="9148763" cy="338137"/>
          </a:xfrm>
          <a:prstGeom prst="rect">
            <a:avLst/>
          </a:prstGeom>
          <a:solidFill>
            <a:schemeClr val="tx1">
              <a:alpha val="52000"/>
            </a:schemeClr>
          </a:solidFill>
        </p:spPr>
        <p:txBody>
          <a:bodyPr wrap="square">
            <a:spAutoFit/>
          </a:bodyPr>
          <a:lstStyle/>
          <a:p>
            <a:pPr algn="ctr">
              <a:defRPr/>
            </a:pPr>
            <a:r>
              <a:rPr lang="en-US" sz="1600" cap="small" spc="400" dirty="0">
                <a:solidFill>
                  <a:schemeClr val="bg1"/>
                </a:solidFill>
                <a:latin typeface="Tw Cen MT" pitchFamily="34" charset="0"/>
              </a:rPr>
              <a:t>Dynamic PowerPoint™ Slides by </a:t>
            </a:r>
            <a:r>
              <a:rPr lang="en-US" sz="1600" cap="small" spc="400" dirty="0" err="1">
                <a:solidFill>
                  <a:schemeClr val="bg1"/>
                </a:solidFill>
                <a:latin typeface="Tw Cen MT" pitchFamily="34" charset="0"/>
              </a:rPr>
              <a:t>Solina</a:t>
            </a:r>
            <a:r>
              <a:rPr lang="en-US" sz="1600" cap="small" spc="400" dirty="0">
                <a:solidFill>
                  <a:schemeClr val="bg1"/>
                </a:solidFill>
                <a:latin typeface="Tw Cen MT" pitchFamily="34" charset="0"/>
              </a:rPr>
              <a:t> </a:t>
            </a:r>
            <a:r>
              <a:rPr lang="en-US" sz="1600" cap="small" spc="400" dirty="0" err="1">
                <a:solidFill>
                  <a:schemeClr val="bg1"/>
                </a:solidFill>
                <a:latin typeface="Tw Cen MT" pitchFamily="34" charset="0"/>
              </a:rPr>
              <a:t>Lindahl</a:t>
            </a:r>
            <a:endParaRPr lang="en-US" sz="1600" cap="small" spc="400" dirty="0">
              <a:solidFill>
                <a:schemeClr val="bg1"/>
              </a:solidFill>
              <a:latin typeface="Tw Cen MT" pitchFamily="34" charset="0"/>
            </a:endParaRPr>
          </a:p>
        </p:txBody>
      </p:sp>
      <p:sp>
        <p:nvSpPr>
          <p:cNvPr id="10" name="Footer Placeholder 3"/>
          <p:cNvSpPr>
            <a:spLocks noGrp="1"/>
          </p:cNvSpPr>
          <p:nvPr>
            <p:ph type="ftr" sz="quarter" idx="11"/>
          </p:nvPr>
        </p:nvSpPr>
        <p:spPr>
          <a:xfrm>
            <a:off x="2400300" y="6629400"/>
            <a:ext cx="4343400" cy="228600"/>
          </a:xfrm>
          <a:prstGeom prst="rect">
            <a:avLst/>
          </a:prstGeom>
        </p:spPr>
        <p:txBody>
          <a:bodyPr/>
          <a:lstStyle>
            <a:lvl1pPr>
              <a:defRPr/>
            </a:lvl1pPr>
          </a:lstStyle>
          <a:p>
            <a:pPr>
              <a:defRPr/>
            </a:pPr>
            <a:r>
              <a:rPr lang="en-US"/>
              <a:t>Copyright 2015 Worth Publishers    </a:t>
            </a:r>
          </a:p>
        </p:txBody>
      </p:sp>
      <p:sp>
        <p:nvSpPr>
          <p:cNvPr id="11" name="Slide Number Placeholder 4"/>
          <p:cNvSpPr>
            <a:spLocks noGrp="1"/>
          </p:cNvSpPr>
          <p:nvPr>
            <p:ph type="sldNum" sz="quarter" idx="12"/>
          </p:nvPr>
        </p:nvSpPr>
        <p:spPr/>
        <p:txBody>
          <a:bodyPr/>
          <a:lstStyle>
            <a:lvl1pPr>
              <a:defRPr/>
            </a:lvl1pPr>
          </a:lstStyle>
          <a:p>
            <a:pPr>
              <a:defRPr/>
            </a:pPr>
            <a:fld id="{729B2C18-4E02-4E6A-91FC-517D930E6D4E}" type="slidenum">
              <a:rPr lang="en-US"/>
              <a:pPr>
                <a:defRPr/>
              </a:pPr>
              <a:t>‹#›</a:t>
            </a:fld>
            <a:endParaRPr lang="en-US"/>
          </a:p>
        </p:txBody>
      </p:sp>
      <p:pic>
        <p:nvPicPr>
          <p:cNvPr id="159746" name="Picture 2" descr="C:\Users\solina\Dropbox\Krugman 3e Dynamic PPTs\Krugman 3e material\covers\Krugman3e_Econ_FrontCover.jpg"/>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4840941" y="0"/>
            <a:ext cx="4303059" cy="11833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1938" y="5181600"/>
            <a:ext cx="887412" cy="1862138"/>
          </a:xfrm>
          <a:prstGeom prst="rect">
            <a:avLst/>
          </a:prstGeom>
          <a:noFill/>
        </p:spPr>
        <p:txBody>
          <a:bodyPr>
            <a:spAutoFit/>
          </a:bodyPr>
          <a:lstStyle/>
          <a:p>
            <a:pPr>
              <a:defRPr/>
            </a:pPr>
            <a:r>
              <a:rPr lang="en-US" sz="11500" b="1" dirty="0">
                <a:solidFill>
                  <a:schemeClr val="bg1"/>
                </a:solidFill>
                <a:effectLst>
                  <a:outerShdw blurRad="38100" dist="38100" dir="2700000" algn="tl">
                    <a:srgbClr val="000000">
                      <a:alpha val="43137"/>
                    </a:srgbClr>
                  </a:outerShdw>
                </a:effectLst>
                <a:latin typeface="Century Gothic" pitchFamily="34" charset="0"/>
                <a:ea typeface="Tahoma" pitchFamily="34" charset="0"/>
                <a:cs typeface="Tahoma" pitchFamily="34" charset="0"/>
              </a:rPr>
              <a:t>2</a:t>
            </a:r>
          </a:p>
        </p:txBody>
      </p:sp>
      <p:sp>
        <p:nvSpPr>
          <p:cNvPr id="13" name="Title 1"/>
          <p:cNvSpPr>
            <a:spLocks noGrp="1"/>
          </p:cNvSpPr>
          <p:nvPr>
            <p:ph type="title" hasCustomPrompt="1"/>
          </p:nvPr>
        </p:nvSpPr>
        <p:spPr>
          <a:xfrm>
            <a:off x="1371600" y="5486398"/>
            <a:ext cx="7772400" cy="1371601"/>
          </a:xfrm>
          <a:noFill/>
        </p:spPr>
        <p:txBody>
          <a:bodyPr>
            <a:noAutofit/>
          </a:bodyPr>
          <a:lstStyle>
            <a:lvl1pPr algn="r">
              <a:defRPr lang="en-US" sz="5400" b="1" i="0" u="none" strike="noStrike" cap="none" spc="100" baseline="0" smtClean="0">
                <a:solidFill>
                  <a:srgbClr val="FF3300"/>
                </a:solidFill>
                <a:effectLst/>
                <a:latin typeface="Candara" pitchFamily="34" charset="0"/>
              </a:defRPr>
            </a:lvl1pPr>
          </a:lstStyle>
          <a:p>
            <a:r>
              <a:rPr lang="en-US" dirty="0"/>
              <a:t>First Principles</a:t>
            </a:r>
          </a:p>
        </p:txBody>
      </p:sp>
    </p:spTree>
    <p:extLst>
      <p:ext uri="{BB962C8B-B14F-4D97-AF65-F5344CB8AC3E}">
        <p14:creationId xmlns:p14="http://schemas.microsoft.com/office/powerpoint/2010/main" val="1381860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8803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1767197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72400" cy="914400"/>
          </a:xfrm>
          <a:prstGeom prst="rect">
            <a:avLst/>
          </a:prstGeom>
        </p:spPr>
        <p:txBody>
          <a:bodyPr>
            <a:noAutofit/>
          </a:bodyPr>
          <a:lstStyle>
            <a:lvl1pPr>
              <a:defRPr sz="4800">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Font typeface="Arial" pitchFamily="34" charset="0"/>
              <a:buNone/>
              <a:defRPr b="1" u="sng">
                <a:solidFill>
                  <a:srgbClr val="C00000"/>
                </a:solidFill>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Times" charset="0"/>
              </a:defRPr>
            </a:lvl1pPr>
          </a:lstStyle>
          <a:p>
            <a:pPr>
              <a:defRPr/>
            </a:pPr>
            <a:endParaRPr lang="en-US"/>
          </a:p>
        </p:txBody>
      </p:sp>
      <p:sp>
        <p:nvSpPr>
          <p:cNvPr id="8" name="Slide Number Placeholder 5"/>
          <p:cNvSpPr txBox="1">
            <a:spLocks/>
          </p:cNvSpPr>
          <p:nvPr userDrawn="1"/>
        </p:nvSpPr>
        <p:spPr>
          <a:xfrm>
            <a:off x="8686800" y="6478361"/>
            <a:ext cx="457200" cy="365125"/>
          </a:xfrm>
          <a:prstGeom prst="rect">
            <a:avLst/>
          </a:prstGeom>
        </p:spPr>
        <p:txBody>
          <a:bodyPr/>
          <a:lstStyle>
            <a:lvl1pPr>
              <a:defRPr sz="1400">
                <a:latin typeface="Century Gothic"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A61F0A8-952B-4500-9ABC-60817A0249CB}" type="slidenum">
              <a:rPr kumimoji="0" lang="en-US" sz="1400" b="0" i="0" u="none" strike="noStrike" kern="1200" cap="none" spc="0" normalizeH="0" baseline="0" noProof="0" smtClean="0">
                <a:ln>
                  <a:noFill/>
                </a:ln>
                <a:solidFill>
                  <a:schemeClr val="tx1"/>
                </a:solidFill>
                <a:effectLst/>
                <a:uLnTx/>
                <a:uFillTx/>
                <a:latin typeface="Century Gothic"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US" sz="1400" b="0" i="0" u="none" strike="noStrike" kern="1200" cap="none" spc="0" normalizeH="0" baseline="0" noProof="0" dirty="0">
              <a:ln>
                <a:noFill/>
              </a:ln>
              <a:solidFill>
                <a:schemeClr val="tx1"/>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564089288"/>
      </p:ext>
    </p:extLst>
  </p:cSld>
  <p:clrMapOvr>
    <a:masterClrMapping/>
  </p:clrMapOvr>
  <p:transition>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prstGeom prst="rect">
            <a:avLst/>
          </a:prstGeo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153536" y="-76200"/>
            <a:ext cx="943896"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a:hlinkClick r:id="" action="ppaction://noaction"/>
          </p:cNvPr>
          <p:cNvSpPr/>
          <p:nvPr/>
        </p:nvSpPr>
        <p:spPr>
          <a:xfrm>
            <a:off x="0" y="5952053"/>
            <a:ext cx="1143000" cy="905947"/>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r>
              <a:rPr lang="en-US" sz="11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a:t>
            </a:r>
            <a:r>
              <a:rPr lang="en-US" sz="11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rPr>
              <a:t>Active Learning</a:t>
            </a:r>
          </a:p>
        </p:txBody>
      </p:sp>
      <p:pic>
        <p:nvPicPr>
          <p:cNvPr id="10" name="Picture 9">
            <a:hlinkClick r:id="" action="ppaction://noaction"/>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sp>
        <p:nvSpPr>
          <p:cNvPr id="11" name="TextBox 10"/>
          <p:cNvSpPr txBox="1"/>
          <p:nvPr/>
        </p:nvSpPr>
        <p:spPr>
          <a:xfrm>
            <a:off x="8126895" y="6209547"/>
            <a:ext cx="634182" cy="523220"/>
          </a:xfrm>
          <a:prstGeom prst="rect">
            <a:avLst/>
          </a:prstGeom>
          <a:noFill/>
        </p:spPr>
        <p:txBody>
          <a:bodyPr wrap="square" rtlCol="0">
            <a:spAutoFit/>
          </a:bodyPr>
          <a:lstStyle/>
          <a:p>
            <a:r>
              <a:rPr lang="en-US" sz="1400" b="1" dirty="0">
                <a:solidFill>
                  <a:schemeClr val="bg1"/>
                </a:solidFill>
                <a:effectLst>
                  <a:outerShdw blurRad="38100" dist="38100" dir="2700000" algn="tl">
                    <a:srgbClr val="000000">
                      <a:alpha val="43137"/>
                    </a:srgbClr>
                  </a:outerShdw>
                </a:effectLst>
                <a:hlinkClick r:id="" action="ppaction://noaction"/>
              </a:rPr>
              <a:t>To Video</a:t>
            </a:r>
            <a:endParaRPr lang="en-US" sz="1400" b="1" dirty="0">
              <a:solidFill>
                <a:schemeClr val="bg1"/>
              </a:solidFill>
              <a:effectLst>
                <a:outerShdw blurRad="38100" dist="38100" dir="2700000" algn="tl">
                  <a:srgbClr val="000000">
                    <a:alpha val="43137"/>
                  </a:srgbClr>
                </a:outerShdw>
              </a:effectLst>
            </a:endParaRPr>
          </a:p>
        </p:txBody>
      </p:sp>
      <p:sp>
        <p:nvSpPr>
          <p:cNvPr id="12"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614591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pPr>
              <a:defRPr/>
            </a:pPr>
            <a:r>
              <a:rPr lang="en-US"/>
              <a:t>Copyright 2015 Worth Publishers    </a:t>
            </a:r>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8C80E936-C63C-43A2-9E7F-B6560F637838}" type="slidenum">
              <a:rPr lang="en-US" smtClean="0"/>
              <a:pPr>
                <a:defRPr/>
              </a:pPr>
              <a:t>‹#›</a:t>
            </a:fld>
            <a:endParaRPr lang="en-US" dirty="0"/>
          </a:p>
        </p:txBody>
      </p:sp>
    </p:spTree>
    <p:extLst>
      <p:ext uri="{BB962C8B-B14F-4D97-AF65-F5344CB8AC3E}">
        <p14:creationId xmlns:p14="http://schemas.microsoft.com/office/powerpoint/2010/main" val="23640978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4_Custom Layou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Footer Placeholder 3"/>
          <p:cNvSpPr>
            <a:spLocks noGrp="1"/>
          </p:cNvSpPr>
          <p:nvPr>
            <p:ph type="ftr" sz="quarter" idx="11"/>
          </p:nvPr>
        </p:nvSpPr>
        <p:spPr>
          <a:xfrm>
            <a:off x="2400300" y="6629400"/>
            <a:ext cx="4343400" cy="228600"/>
          </a:xfrm>
          <a:prstGeom prst="rect">
            <a:avLst/>
          </a:prstGeom>
        </p:spPr>
        <p:txBody>
          <a:bodyPr/>
          <a:lstStyle>
            <a:lvl1pPr>
              <a:defRPr/>
            </a:lvl1pPr>
          </a:lstStyle>
          <a:p>
            <a:pPr>
              <a:defRPr/>
            </a:pPr>
            <a:r>
              <a:rPr lang="en-US"/>
              <a:t>Copyright 2015 Worth Publishers    </a:t>
            </a:r>
          </a:p>
        </p:txBody>
      </p:sp>
      <p:sp>
        <p:nvSpPr>
          <p:cNvPr id="11" name="Slide Number Placeholder 4"/>
          <p:cNvSpPr>
            <a:spLocks noGrp="1"/>
          </p:cNvSpPr>
          <p:nvPr>
            <p:ph type="sldNum" sz="quarter" idx="12"/>
          </p:nvPr>
        </p:nvSpPr>
        <p:spPr>
          <a:xfrm>
            <a:off x="7239000" y="6629400"/>
            <a:ext cx="1905000" cy="228600"/>
          </a:xfrm>
          <a:prstGeom prst="rect">
            <a:avLst/>
          </a:prstGeom>
        </p:spPr>
        <p:txBody>
          <a:bodyPr/>
          <a:lstStyle>
            <a:lvl1pPr>
              <a:defRPr/>
            </a:lvl1pPr>
          </a:lstStyle>
          <a:p>
            <a:pPr>
              <a:defRPr/>
            </a:pPr>
            <a:fld id="{729B2C18-4E02-4E6A-91FC-517D930E6D4E}" type="slidenum">
              <a:rPr lang="en-US"/>
              <a:pPr>
                <a:defRPr/>
              </a:pPr>
              <a:t>‹#›</a:t>
            </a:fld>
            <a:endParaRPr lang="en-US"/>
          </a:p>
        </p:txBody>
      </p:sp>
      <p:pic>
        <p:nvPicPr>
          <p:cNvPr id="159746" name="Picture 2" descr="C:\Users\solina\Dropbox\Krugman 3e Dynamic PPTs\Krugman 3e material\covers\Krugman3e_Econ_FrontCover.jpg"/>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4840941" y="0"/>
            <a:ext cx="4303059" cy="1183341"/>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p:cNvSpPr>
            <a:spLocks noGrp="1"/>
          </p:cNvSpPr>
          <p:nvPr>
            <p:ph type="title" hasCustomPrompt="1"/>
          </p:nvPr>
        </p:nvSpPr>
        <p:spPr>
          <a:xfrm>
            <a:off x="1371600" y="5486398"/>
            <a:ext cx="7772400" cy="1371601"/>
          </a:xfrm>
          <a:prstGeom prst="rect">
            <a:avLst/>
          </a:prstGeom>
          <a:noFill/>
        </p:spPr>
        <p:txBody>
          <a:bodyPr>
            <a:noAutofit/>
          </a:bodyPr>
          <a:lstStyle>
            <a:lvl1pPr algn="r">
              <a:defRPr lang="en-US" sz="5400" b="1" i="0" u="none" strike="noStrike" cap="none" spc="100" baseline="0" smtClean="0">
                <a:solidFill>
                  <a:srgbClr val="FF3300"/>
                </a:solidFill>
                <a:effectLst/>
                <a:latin typeface="Candara" pitchFamily="34" charset="0"/>
              </a:defRPr>
            </a:lvl1pPr>
          </a:lstStyle>
          <a:p>
            <a:r>
              <a:rPr lang="en-US" dirty="0"/>
              <a:t>First Principles</a:t>
            </a:r>
          </a:p>
        </p:txBody>
      </p:sp>
    </p:spTree>
    <p:extLst>
      <p:ext uri="{BB962C8B-B14F-4D97-AF65-F5344CB8AC3E}">
        <p14:creationId xmlns:p14="http://schemas.microsoft.com/office/powerpoint/2010/main" val="13818605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
        <p:nvSpPr>
          <p:cNvPr id="14" name="Slide Number Placeholder 4"/>
          <p:cNvSpPr>
            <a:spLocks noGrp="1"/>
          </p:cNvSpPr>
          <p:nvPr>
            <p:ph type="sldNum" sz="quarter" idx="10"/>
          </p:nvPr>
        </p:nvSpPr>
        <p:spPr>
          <a:xfrm>
            <a:off x="6553200" y="6492875"/>
            <a:ext cx="2133600" cy="365125"/>
          </a:xfrm>
          <a:prstGeom prst="rect">
            <a:avLst/>
          </a:prstGeom>
        </p:spPr>
        <p:txBody>
          <a:bodyPr/>
          <a:lstStyle>
            <a:lvl1pPr>
              <a:defRPr/>
            </a:lvl1pPr>
          </a:lstStyle>
          <a:p>
            <a:pPr>
              <a:defRPr/>
            </a:pPr>
            <a:fld id="{7C2CC41E-FED2-45C2-81A4-A3B1F8E0267B}" type="slidenum">
              <a:rPr lang="en-US"/>
              <a:pPr>
                <a:defRPr/>
              </a:pPr>
              <a:t>‹#›</a:t>
            </a:fld>
            <a:endParaRPr lang="en-US"/>
          </a:p>
        </p:txBody>
      </p:sp>
      <p:sp>
        <p:nvSpPr>
          <p:cNvPr id="15" name="Footer Placeholder 4"/>
          <p:cNvSpPr>
            <a:spLocks noGrp="1"/>
          </p:cNvSpPr>
          <p:nvPr>
            <p:ph type="ftr" sz="quarter" idx="11"/>
          </p:nvPr>
        </p:nvSpPr>
        <p:spPr>
          <a:xfrm>
            <a:off x="2171700" y="6629400"/>
            <a:ext cx="4800600" cy="228600"/>
          </a:xfrm>
          <a:prstGeom prst="rect">
            <a:avLst/>
          </a:prstGeom>
        </p:spPr>
        <p:txBody>
          <a:bodyPr/>
          <a:lstStyle>
            <a:lvl1pPr>
              <a:defRPr sz="1100" i="0" cap="small" spc="400" baseline="0" smtClean="0"/>
            </a:lvl1pPr>
          </a:lstStyle>
          <a:p>
            <a:pPr>
              <a:defRPr/>
            </a:pPr>
            <a:r>
              <a:rPr lang="en-US"/>
              <a:t>Copyright 2015 Worth Publishers    </a:t>
            </a:r>
          </a:p>
        </p:txBody>
      </p:sp>
    </p:spTree>
    <p:extLst>
      <p:ext uri="{BB962C8B-B14F-4D97-AF65-F5344CB8AC3E}">
        <p14:creationId xmlns:p14="http://schemas.microsoft.com/office/powerpoint/2010/main" val="3205174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1313" indent="0">
              <a:defRPr>
                <a:solidFill>
                  <a:schemeClr val="accent1">
                    <a:lumMod val="75000"/>
                  </a:schemeClr>
                </a:solidFill>
              </a:defRPr>
            </a:lvl1pPr>
            <a:lvl2pPr marL="742950" indent="0">
              <a:defRPr>
                <a:solidFill>
                  <a:schemeClr val="accent1">
                    <a:lumMod val="75000"/>
                  </a:schemeClr>
                </a:solidFill>
              </a:defRPr>
            </a:lvl2pPr>
            <a:lvl3pPr>
              <a:defRPr>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87308"/>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pic>
        <p:nvPicPr>
          <p:cNvPr id="2050" name="Picture 2"/>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5867400" y="51250"/>
            <a:ext cx="3276600" cy="135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Straight Connector 15"/>
          <p:cNvCxnSpPr/>
          <p:nvPr userDrawn="1"/>
        </p:nvCxnSpPr>
        <p:spPr>
          <a:xfrm>
            <a:off x="0" y="5791200"/>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sp>
        <p:nvSpPr>
          <p:cNvPr id="13"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8173374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6133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829145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17671972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2925592"/>
            <a:ext cx="3985858" cy="3924300"/>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0600" y="-31750"/>
            <a:ext cx="8153400" cy="946150"/>
          </a:xfrm>
          <a:noFill/>
        </p:spPr>
        <p:txBody>
          <a:bodyPr>
            <a:normAutofit/>
          </a:bodyPr>
          <a:lstStyle>
            <a:lvl1pPr algn="l">
              <a:defRPr sz="4400" b="0" spc="0" baseline="0">
                <a:solidFill>
                  <a:schemeClr val="accent6"/>
                </a:solidFill>
                <a:effectLst>
                  <a:innerShdw blurRad="63500" dist="50800" dir="13500000">
                    <a:prstClr val="black">
                      <a:alpha val="50000"/>
                    </a:prstClr>
                  </a:innerShdw>
                </a:effectLst>
              </a:defRPr>
            </a:lvl1pPr>
          </a:lstStyle>
          <a:p>
            <a:r>
              <a:rPr lang="en-US" dirty="0"/>
              <a:t>TAKE A LOOK…..</a:t>
            </a:r>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pic>
        <p:nvPicPr>
          <p:cNvPr id="6" name="Picture 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927267147"/>
      </p:ext>
    </p:extLst>
  </p:cSld>
  <p:clrMapOvr>
    <a:masterClrMapping/>
  </p:clrMapOvr>
  <p:transition>
    <p:fade thruBlk="1"/>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86400"/>
            <a:ext cx="9136063" cy="1371600"/>
          </a:xfrm>
          <a:prstGeom prst="rect">
            <a:avLst/>
          </a:prstGeom>
          <a:solidFill>
            <a:schemeClr val="tx1">
              <a:alpha val="81000"/>
            </a:schemeClr>
          </a:solidFill>
        </p:spPr>
        <p:txBody>
          <a:bodyPr anchor="ctr">
            <a:normAutofit/>
          </a:bodyPr>
          <a:lstStyle/>
          <a:p>
            <a:pPr algn="r">
              <a:defRPr/>
            </a:pPr>
            <a:endParaRPr lang="en-US" sz="4800" spc="50" dirty="0">
              <a:latin typeface="Candara" pitchFamily="34" charset="0"/>
              <a:ea typeface="Tahoma" pitchFamily="34" charset="0"/>
              <a:cs typeface="Tahoma" pitchFamily="34" charset="0"/>
            </a:endParaRPr>
          </a:p>
        </p:txBody>
      </p:sp>
      <p:sp>
        <p:nvSpPr>
          <p:cNvPr id="6" name="TextBox 5"/>
          <p:cNvSpPr txBox="1"/>
          <p:nvPr/>
        </p:nvSpPr>
        <p:spPr>
          <a:xfrm>
            <a:off x="261938" y="5181600"/>
            <a:ext cx="887412" cy="1862138"/>
          </a:xfrm>
          <a:prstGeom prst="rect">
            <a:avLst/>
          </a:prstGeom>
          <a:noFill/>
        </p:spPr>
        <p:txBody>
          <a:bodyPr>
            <a:spAutoFit/>
          </a:bodyPr>
          <a:lstStyle/>
          <a:p>
            <a:pPr>
              <a:defRPr/>
            </a:pPr>
            <a:r>
              <a:rPr lang="en-US" sz="11500" b="1" dirty="0">
                <a:solidFill>
                  <a:schemeClr val="bg1"/>
                </a:solidFill>
                <a:effectLst>
                  <a:outerShdw blurRad="38100" dist="38100" dir="2700000" algn="tl">
                    <a:srgbClr val="000000">
                      <a:alpha val="43137"/>
                    </a:srgbClr>
                  </a:outerShdw>
                </a:effectLst>
                <a:latin typeface="Tw Cen MT"/>
                <a:ea typeface="Tahoma" pitchFamily="34" charset="0"/>
                <a:cs typeface="Tw Cen MT"/>
              </a:rPr>
              <a:t>2</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371600" y="5486400"/>
            <a:ext cx="7772400" cy="1371599"/>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4400" b="1" kern="0" spc="500" dirty="0">
                <a:latin typeface="Tw Cen MT"/>
                <a:cs typeface="Tw Cen MT"/>
              </a:rPr>
              <a:t>Economic Models: </a:t>
            </a:r>
          </a:p>
          <a:p>
            <a:r>
              <a:rPr lang="en-US" sz="4400" b="1" kern="0" spc="500" dirty="0">
                <a:latin typeface="Tw Cen MT"/>
                <a:cs typeface="Tw Cen MT"/>
              </a:rPr>
              <a:t>Trade-offs</a:t>
            </a:r>
            <a:r>
              <a:rPr lang="en-US" sz="4400" b="1" kern="0" spc="500" baseline="0" dirty="0">
                <a:latin typeface="Tw Cen MT"/>
                <a:cs typeface="Tw Cen MT"/>
              </a:rPr>
              <a:t> and Trade</a:t>
            </a:r>
            <a:endParaRPr lang="en-US" sz="4400" b="1" kern="0" spc="500" dirty="0">
              <a:latin typeface="Tw Cen MT"/>
              <a:cs typeface="Tw Cen MT"/>
            </a:endParaRPr>
          </a:p>
        </p:txBody>
      </p:sp>
    </p:spTree>
    <p:extLst>
      <p:ext uri="{BB962C8B-B14F-4D97-AF65-F5344CB8AC3E}">
        <p14:creationId xmlns:p14="http://schemas.microsoft.com/office/powerpoint/2010/main" val="42208709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1313" indent="0">
              <a:defRPr b="1">
                <a:solidFill>
                  <a:schemeClr val="tx1"/>
                </a:solidFill>
                <a:latin typeface="Century Gothic"/>
                <a:cs typeface="Century Gothic"/>
              </a:defRPr>
            </a:lvl1pPr>
            <a:lvl2pPr marL="742950" indent="0">
              <a:defRPr b="1">
                <a:solidFill>
                  <a:schemeClr val="tx1"/>
                </a:solidFill>
                <a:latin typeface="Century Gothic"/>
                <a:cs typeface="Century Gothic"/>
              </a:defRPr>
            </a:lvl2pPr>
            <a:lvl3pPr>
              <a:defRPr b="1">
                <a:solidFill>
                  <a:schemeClr val="tx1"/>
                </a:solidFill>
                <a:latin typeface="Century Gothic"/>
                <a:cs typeface="Century Gothic"/>
              </a:defRPr>
            </a:lvl3pPr>
            <a:lvl4pPr>
              <a:defRPr b="1">
                <a:solidFill>
                  <a:schemeClr val="tx1"/>
                </a:solidFill>
                <a:latin typeface="Century Gothic"/>
                <a:cs typeface="Century Gothic"/>
              </a:defRPr>
            </a:lvl4pPr>
            <a:lvl5pP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cxnSp>
        <p:nvCxnSpPr>
          <p:cNvPr id="16" name="Straight Connector 15"/>
          <p:cNvCxnSpPr/>
          <p:nvPr userDrawn="1"/>
        </p:nvCxnSpPr>
        <p:spPr>
          <a:xfrm>
            <a:off x="0" y="5791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676400"/>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2053CD95-D58B-4166-A4E8-9F23792ED764}" type="slidenum">
              <a:rPr lang="en-US"/>
              <a:pPr/>
              <a:t>‹#›</a:t>
            </a:fld>
            <a:endParaRPr lang="en-US"/>
          </a:p>
        </p:txBody>
      </p:sp>
    </p:spTree>
    <p:extLst>
      <p:ext uri="{BB962C8B-B14F-4D97-AF65-F5344CB8AC3E}">
        <p14:creationId xmlns:p14="http://schemas.microsoft.com/office/powerpoint/2010/main" val="9109686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1313" indent="0">
              <a:defRPr>
                <a:solidFill>
                  <a:schemeClr val="accent1">
                    <a:lumMod val="75000"/>
                  </a:schemeClr>
                </a:solidFill>
              </a:defRPr>
            </a:lvl1pPr>
            <a:lvl2pPr marL="742950" indent="0">
              <a:defRPr>
                <a:solidFill>
                  <a:schemeClr val="accent1">
                    <a:lumMod val="75000"/>
                  </a:schemeClr>
                </a:solidFill>
              </a:defRPr>
            </a:lvl2pPr>
            <a:lvl3pPr>
              <a:defRPr>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87308"/>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pic>
        <p:nvPicPr>
          <p:cNvPr id="2050" name="Picture 2"/>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5867400" y="51250"/>
            <a:ext cx="3276600" cy="135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Straight Connector 15"/>
          <p:cNvCxnSpPr/>
          <p:nvPr userDrawn="1"/>
        </p:nvCxnSpPr>
        <p:spPr>
          <a:xfrm>
            <a:off x="0" y="5791200"/>
            <a:ext cx="9144000" cy="0"/>
          </a:xfrm>
          <a:prstGeom prst="line">
            <a:avLst/>
          </a:prstGeom>
          <a:ln w="76200" cmpd="sng">
            <a:solidFill>
              <a:schemeClr val="tx2">
                <a:lumMod val="40000"/>
                <a:lumOff val="60000"/>
                <a:alpha val="49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8173374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slide" Target="../slides/slide2.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 Target="../slides/slide2.xml"/><Relationship Id="rId5" Type="http://schemas.openxmlformats.org/officeDocument/2006/relationships/image" Target="../media/image18.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slide" Target="../slides/slide2.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20.png"/><Relationship Id="rId4" Type="http://schemas.openxmlformats.org/officeDocument/2006/relationships/slide" Target="../slides/slide2.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slide" Target="../slides/slide2.xml"/><Relationship Id="rId4" Type="http://schemas.openxmlformats.org/officeDocument/2006/relationships/image" Target="../media/image21.pn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23.xml"/><Relationship Id="rId7" Type="http://schemas.openxmlformats.org/officeDocument/2006/relationships/theme" Target="../theme/theme10.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slide" Target="../slides/slide2.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slide" Target="../slides/slide2.xml"/><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slide" Target="../slides/slide2.xml"/><Relationship Id="rId4" Type="http://schemas.openxmlformats.org/officeDocument/2006/relationships/image" Target="../media/image18.png"/></Relationships>
</file>

<file path=ppt/slideMasters/_rels/slideMaster13.xml.rels><?xml version="1.0" encoding="UTF-8" standalone="yes"?>
<Relationships xmlns="http://schemas.openxmlformats.org/package/2006/relationships"><Relationship Id="rId3" Type="http://schemas.openxmlformats.org/officeDocument/2006/relationships/theme" Target="../theme/theme1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5" Type="http://schemas.openxmlformats.org/officeDocument/2006/relationships/image" Target="../media/image25.png"/><Relationship Id="rId4" Type="http://schemas.openxmlformats.org/officeDocument/2006/relationships/slide" Target="../slides/slide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theme" Target="../theme/theme14.xml"/><Relationship Id="rId1" Type="http://schemas.openxmlformats.org/officeDocument/2006/relationships/slideLayout" Target="../slideLayouts/slideLayout34.xml"/><Relationship Id="rId4" Type="http://schemas.openxmlformats.org/officeDocument/2006/relationships/slide" Target="../slides/slide2.xml"/></Relationships>
</file>

<file path=ppt/slideMasters/_rels/slideMaster15.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slide" Target="../slides/slide5.xml"/><Relationship Id="rId1"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 Target="../slides/slide2.xml"/><Relationship Id="rId5" Type="http://schemas.openxmlformats.org/officeDocument/2006/relationships/slide" Target="../slides/slide5.xml"/><Relationship Id="rId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5" Type="http://schemas.openxmlformats.org/officeDocument/2006/relationships/theme" Target="../theme/theme17.xml"/><Relationship Id="rId4" Type="http://schemas.openxmlformats.org/officeDocument/2006/relationships/slideLayout" Target="../slideLayouts/slideLayout41.xml"/></Relationships>
</file>

<file path=ppt/slideMasters/_rels/slideMaster18.xml.rels><?xml version="1.0" encoding="UTF-8" standalone="yes"?>
<Relationships xmlns="http://schemas.openxmlformats.org/package/2006/relationships"><Relationship Id="rId3" Type="http://schemas.openxmlformats.org/officeDocument/2006/relationships/theme" Target="../theme/theme1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5" Type="http://schemas.openxmlformats.org/officeDocument/2006/relationships/slide" Target="../slides/slide2.xml"/><Relationship Id="rId4" Type="http://schemas.openxmlformats.org/officeDocument/2006/relationships/slide" Target="../slides/slide5.xml"/></Relationships>
</file>

<file path=ppt/slideMasters/_rels/slideMaster19.xml.rels><?xml version="1.0" encoding="UTF-8" standalone="yes"?>
<Relationships xmlns="http://schemas.openxmlformats.org/package/2006/relationships"><Relationship Id="rId3" Type="http://schemas.openxmlformats.org/officeDocument/2006/relationships/theme" Target="../theme/theme19.xml"/><Relationship Id="rId2" Type="http://schemas.openxmlformats.org/officeDocument/2006/relationships/slideLayout" Target="../slideLayouts/slideLayout45.xml"/><Relationship Id="rId1" Type="http://schemas.openxmlformats.org/officeDocument/2006/relationships/slideLayout" Target="../slideLayouts/slideLayout44.xml"/><Relationship Id="rId5" Type="http://schemas.openxmlformats.org/officeDocument/2006/relationships/slide" Target="../slides/slide2.xml"/><Relationship Id="rId4" Type="http://schemas.openxmlformats.org/officeDocument/2006/relationships/slide" Target="../slides/slide5.xml"/></Relationships>
</file>

<file path=ppt/slideMasters/_rels/slideMaster20.xml.rels><?xml version="1.0" encoding="UTF-8" standalone="yes"?>
<Relationships xmlns="http://schemas.openxmlformats.org/package/2006/relationships"><Relationship Id="rId3" Type="http://schemas.openxmlformats.org/officeDocument/2006/relationships/theme" Target="../theme/theme20.xml"/><Relationship Id="rId2" Type="http://schemas.openxmlformats.org/officeDocument/2006/relationships/slideLayout" Target="../slideLayouts/slideLayout47.xml"/><Relationship Id="rId1" Type="http://schemas.openxmlformats.org/officeDocument/2006/relationships/slideLayout" Target="../slideLayouts/slideLayout46.xml"/><Relationship Id="rId5" Type="http://schemas.openxmlformats.org/officeDocument/2006/relationships/slide" Target="../slides/slide2.xml"/><Relationship Id="rId4" Type="http://schemas.openxmlformats.org/officeDocument/2006/relationships/slide" Target="../slides/slide5.xm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theme" Target="../theme/theme21.xml"/><Relationship Id="rId1" Type="http://schemas.openxmlformats.org/officeDocument/2006/relationships/slideLayout" Target="../slideLayouts/slideLayout48.xml"/><Relationship Id="rId4" Type="http://schemas.openxmlformats.org/officeDocument/2006/relationships/slide" Target="../slides/slide5.xml"/></Relationships>
</file>

<file path=ppt/slideMasters/_rels/slideMaster22.xml.rels><?xml version="1.0" encoding="UTF-8" standalone="yes"?>
<Relationships xmlns="http://schemas.openxmlformats.org/package/2006/relationships"><Relationship Id="rId3" Type="http://schemas.openxmlformats.org/officeDocument/2006/relationships/theme" Target="../theme/theme22.xml"/><Relationship Id="rId2" Type="http://schemas.openxmlformats.org/officeDocument/2006/relationships/slideLayout" Target="../slideLayouts/slideLayout50.xml"/><Relationship Id="rId1" Type="http://schemas.openxmlformats.org/officeDocument/2006/relationships/slideLayout" Target="../slideLayouts/slideLayout49.xml"/><Relationship Id="rId5" Type="http://schemas.openxmlformats.org/officeDocument/2006/relationships/slide" Target="../slides/slide5.xml"/><Relationship Id="rId4" Type="http://schemas.openxmlformats.org/officeDocument/2006/relationships/image" Target="../media/image2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fontAlgn="auto">
              <a:spcBef>
                <a:spcPts val="0"/>
              </a:spcBef>
              <a:spcAft>
                <a:spcPts val="0"/>
              </a:spcAft>
              <a:defRPr sz="1100" i="0" cap="small" spc="400" baseline="0" smtClean="0">
                <a:solidFill>
                  <a:schemeClr val="tx1">
                    <a:lumMod val="50000"/>
                    <a:lumOff val="50000"/>
                  </a:schemeClr>
                </a:solidFill>
                <a:latin typeface="+mn-lt"/>
                <a:cs typeface="+mn-cs"/>
              </a:defRPr>
            </a:lvl1pPr>
          </a:lstStyle>
          <a:p>
            <a:r>
              <a:rPr lang="en-US"/>
              <a:t>Copyright 2015 Worth Publishers    </a:t>
            </a:r>
          </a:p>
        </p:txBody>
      </p:sp>
      <p:sp>
        <p:nvSpPr>
          <p:cNvPr id="8" name="Title 1"/>
          <p:cNvSpPr txBox="1">
            <a:spLocks/>
          </p:cNvSpPr>
          <p:nvPr/>
        </p:nvSpPr>
        <p:spPr>
          <a:xfrm>
            <a:off x="990600" y="120650"/>
            <a:ext cx="8153400" cy="946150"/>
          </a:xfrm>
          <a:prstGeom prst="rect">
            <a:avLst/>
          </a:prstGeom>
          <a:noFill/>
        </p:spPr>
        <p:txBody>
          <a:bodyPr/>
          <a:lstStyle>
            <a:lvl1pPr algn="l" rtl="0" eaLnBrk="0" fontAlgn="base" hangingPunct="0">
              <a:spcBef>
                <a:spcPct val="0"/>
              </a:spcBef>
              <a:spcAft>
                <a:spcPct val="0"/>
              </a:spcAft>
              <a:defRPr sz="4000" b="1" i="1" kern="1200" baseline="0">
                <a:solidFill>
                  <a:schemeClr val="accent6">
                    <a:lumMod val="75000"/>
                  </a:schemeClr>
                </a:solidFill>
                <a:effectLst>
                  <a:outerShdw blurRad="38100" dist="38100" dir="2700000" algn="tl">
                    <a:srgbClr val="000000">
                      <a:alpha val="43137"/>
                    </a:srgbClr>
                  </a:outerShdw>
                </a:effectLst>
                <a:latin typeface="Century Gothic" pitchFamily="34" charset="0"/>
                <a:ea typeface="+mj-ea"/>
                <a:cs typeface="+mj-cs"/>
              </a:defRPr>
            </a:lvl1pPr>
            <a:lvl2pPr algn="ctr" rtl="0" eaLnBrk="0" fontAlgn="base" hangingPunct="0">
              <a:spcBef>
                <a:spcPct val="0"/>
              </a:spcBef>
              <a:spcAft>
                <a:spcPct val="0"/>
              </a:spcAft>
              <a:defRPr sz="4400" b="1" i="1">
                <a:solidFill>
                  <a:schemeClr val="tx1"/>
                </a:solidFill>
                <a:latin typeface="Century Gothic" pitchFamily="34" charset="0"/>
              </a:defRPr>
            </a:lvl2pPr>
            <a:lvl3pPr algn="ctr" rtl="0" eaLnBrk="0" fontAlgn="base" hangingPunct="0">
              <a:spcBef>
                <a:spcPct val="0"/>
              </a:spcBef>
              <a:spcAft>
                <a:spcPct val="0"/>
              </a:spcAft>
              <a:defRPr sz="4400" b="1" i="1">
                <a:solidFill>
                  <a:schemeClr val="tx1"/>
                </a:solidFill>
                <a:latin typeface="Century Gothic" pitchFamily="34" charset="0"/>
              </a:defRPr>
            </a:lvl3pPr>
            <a:lvl4pPr algn="ctr" rtl="0" eaLnBrk="0" fontAlgn="base" hangingPunct="0">
              <a:spcBef>
                <a:spcPct val="0"/>
              </a:spcBef>
              <a:spcAft>
                <a:spcPct val="0"/>
              </a:spcAft>
              <a:defRPr sz="4400" b="1" i="1">
                <a:solidFill>
                  <a:schemeClr val="tx1"/>
                </a:solidFill>
                <a:latin typeface="Century Gothic" pitchFamily="34" charset="0"/>
              </a:defRPr>
            </a:lvl4pPr>
            <a:lvl5pPr algn="ctr" rtl="0" eaLnBrk="0" fontAlgn="base" hangingPunct="0">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a:lstStyle>
          <a:p>
            <a:r>
              <a:rPr lang="en-US"/>
              <a:t>Take a look…..</a:t>
            </a:r>
            <a:endParaRPr lang="en-US" dirty="0"/>
          </a:p>
        </p:txBody>
      </p:sp>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665" r:id="rId1"/>
    <p:sldLayoutId id="2147483666"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914400"/>
          </a:xfrm>
          <a:prstGeom prst="rect">
            <a:avLst/>
          </a:prstGeom>
          <a:blipFill>
            <a:blip r:embed="rId4">
              <a:extLst>
                <a:ext uri="{28A0092B-C50C-407E-A947-70E740481C1C}">
                  <a14:useLocalDpi xmlns:a14="http://schemas.microsoft.com/office/drawing/2010/main"/>
                </a:ext>
              </a:extLst>
            </a:blip>
            <a:stretch>
              <a:fillRect/>
            </a:stretch>
          </a:blip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0" y="1722437"/>
            <a:ext cx="91440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445768626"/>
      </p:ext>
    </p:extLst>
  </p:cSld>
  <p:clrMap bg1="lt1" tx1="dk1" bg2="lt2" tx2="dk2" accent1="accent1" accent2="accent2" accent3="accent3" accent4="accent4" accent5="accent5" accent6="accent6" hlink="hlink" folHlink="folHlink"/>
  <p:sldLayoutIdLst>
    <p:sldLayoutId id="2147483668" r:id="rId1"/>
    <p:sldLayoutId id="2147483669" r:id="rId2"/>
  </p:sldLayoutIdLst>
  <p:hf sldNum="0" hdr="0" dt="0"/>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F44DE6-8B77-400C-8F66-8B96B952C9BA}" type="slidenum">
              <a:rPr lang="en-US" smtClean="0"/>
              <a:t>‹#›</a:t>
            </a:fld>
            <a:endParaRPr lang="en-US"/>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03875306"/>
      </p:ext>
    </p:extLst>
  </p:cSld>
  <p:clrMap bg1="lt1" tx1="dk1" bg2="lt2" tx2="dk2" accent1="accent1" accent2="accent2" accent3="accent3" accent4="accent4" accent5="accent5" accent6="accent6" hlink="hlink" folHlink="folHlink"/>
  <p:sldLayoutIdLst>
    <p:sldLayoutId id="2147483671" r:id="rId1"/>
    <p:sldLayoutId id="2147483672" r:id="rId2"/>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7239000" y="6629400"/>
            <a:ext cx="1905000" cy="228600"/>
          </a:xfrm>
          <a:prstGeom prst="rect">
            <a:avLst/>
          </a:prstGeom>
        </p:spPr>
        <p:txBody>
          <a:bodyPr vert="horz" lIns="91440" tIns="45720" rIns="91440" bIns="45720" rtlCol="0" anchor="ctr"/>
          <a:lstStyle>
            <a:lvl1pPr algn="r">
              <a:defRPr sz="1000" smtClean="0">
                <a:solidFill>
                  <a:schemeClr val="tx1">
                    <a:tint val="75000"/>
                  </a:schemeClr>
                </a:solidFill>
              </a:defRPr>
            </a:lvl1pPr>
          </a:lstStyle>
          <a:p>
            <a:pPr>
              <a:defRPr/>
            </a:pPr>
            <a:fld id="{8C80E936-C63C-43A2-9E7F-B6560F637838}" type="slidenum">
              <a:rPr lang="en-US"/>
              <a:pPr>
                <a:defRPr/>
              </a:pPr>
              <a:t>‹#›</a:t>
            </a:fld>
            <a:endParaRPr lang="en-US" dirty="0"/>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latin typeface="Calibri" pitchFamily="34" charset="0"/>
                <a:cs typeface="Calibri" pitchFamily="34" charset="0"/>
              </a:defRPr>
            </a:lvl1pPr>
          </a:lstStyle>
          <a:p>
            <a:pPr>
              <a:defRPr/>
            </a:pPr>
            <a:r>
              <a:rPr lang="en-US"/>
              <a:t>Copyright 2015 Worth Publishers    </a:t>
            </a:r>
            <a:endParaRPr lang="en-US"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andara" pitchFamily="34" charset="0"/>
          <a:ea typeface="+mn-ea"/>
          <a:cs typeface="+mn-cs"/>
        </a:defRPr>
      </a:lvl1pPr>
      <a:lvl2pPr marL="457200" indent="0" algn="l" rtl="0" eaLnBrk="1" fontAlgn="base" hangingPunct="1">
        <a:spcBef>
          <a:spcPct val="20000"/>
        </a:spcBef>
        <a:spcAft>
          <a:spcPct val="0"/>
        </a:spcAft>
        <a:buFontTx/>
        <a:buNone/>
        <a:defRPr sz="3200" b="1" kern="1200">
          <a:solidFill>
            <a:schemeClr val="tx1"/>
          </a:solidFill>
          <a:latin typeface="Candara" pitchFamily="34" charset="0"/>
          <a:ea typeface="+mn-ea"/>
          <a:cs typeface="+mn-cs"/>
        </a:defRPr>
      </a:lvl2pPr>
      <a:lvl3pPr marL="914400" indent="0" algn="l" rtl="0" eaLnBrk="1" fontAlgn="base" hangingPunct="1">
        <a:spcBef>
          <a:spcPct val="20000"/>
        </a:spcBef>
        <a:spcAft>
          <a:spcPct val="0"/>
        </a:spcAft>
        <a:buFontTx/>
        <a:buNone/>
        <a:defRPr sz="2800" b="1" kern="1200">
          <a:solidFill>
            <a:schemeClr val="tx1"/>
          </a:solidFill>
          <a:latin typeface="Candara" pitchFamily="34" charset="0"/>
          <a:ea typeface="+mn-ea"/>
          <a:cs typeface="+mn-cs"/>
        </a:defRPr>
      </a:lvl3pPr>
      <a:lvl4pPr marL="1371600" indent="0" algn="l" rtl="0" eaLnBrk="1" fontAlgn="base" hangingPunct="1">
        <a:spcBef>
          <a:spcPct val="20000"/>
        </a:spcBef>
        <a:spcAft>
          <a:spcPct val="0"/>
        </a:spcAft>
        <a:buFontTx/>
        <a:buNone/>
        <a:defRPr sz="2400" b="1" kern="1200">
          <a:solidFill>
            <a:schemeClr val="tx1"/>
          </a:solidFill>
          <a:latin typeface="Candara" pitchFamily="34" charset="0"/>
          <a:ea typeface="+mn-ea"/>
          <a:cs typeface="+mn-cs"/>
        </a:defRPr>
      </a:lvl4pPr>
      <a:lvl5pPr marL="1828800" indent="0" algn="l" rtl="0" eaLnBrk="1" fontAlgn="base" hangingPunct="1">
        <a:spcBef>
          <a:spcPct val="20000"/>
        </a:spcBef>
        <a:spcAft>
          <a:spcPct val="0"/>
        </a:spcAft>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lgn="l" fontAlgn="auto">
              <a:spcBef>
                <a:spcPts val="0"/>
              </a:spcBef>
              <a:spcAft>
                <a:spcPts val="0"/>
              </a:spcAft>
              <a:defRPr/>
            </a:pPr>
            <a:r>
              <a:rPr lang="en-US" sz="3200" b="1" spc="60" dirty="0">
                <a:ln w="9000" cmpd="sng">
                  <a:noFill/>
                  <a:prstDash val="solid"/>
                </a:ln>
                <a:solidFill>
                  <a:schemeClr val="accent6">
                    <a:lumMod val="75000"/>
                  </a:scheme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6"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8" r:id="rId3"/>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lgn="l" fontAlgn="auto">
              <a:spcBef>
                <a:spcPts val="0"/>
              </a:spcBef>
              <a:spcAft>
                <a:spcPts val="0"/>
              </a:spcAft>
              <a:defRPr/>
            </a:pPr>
            <a:r>
              <a:rPr lang="en-US" sz="3200" b="1" spc="60" dirty="0">
                <a:ln w="9000" cmpd="sng">
                  <a:noFill/>
                  <a:prstDash val="solid"/>
                </a:ln>
                <a:solidFill>
                  <a:schemeClr val="accent6">
                    <a:lumMod val="75000"/>
                  </a:scheme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Application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pic>
        <p:nvPicPr>
          <p:cNvPr id="2050"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534184" y="304800"/>
            <a:ext cx="1609816" cy="609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1"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681" r:id="rId1"/>
    <p:sldLayoutId id="2147483682"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p:cNvSpPr txBox="1"/>
          <p:nvPr/>
        </p:nvSpPr>
        <p:spPr>
          <a:xfrm>
            <a:off x="7543800" y="0"/>
            <a:ext cx="1600200" cy="954107"/>
          </a:xfrm>
          <a:prstGeom prst="rect">
            <a:avLst/>
          </a:prstGeom>
          <a:solidFill>
            <a:schemeClr val="accent3">
              <a:lumMod val="20000"/>
              <a:lumOff val="80000"/>
            </a:schemeClr>
          </a:solidFill>
        </p:spPr>
        <p:txBody>
          <a:bodyPr wrap="square" rtlCol="0">
            <a:spAutoFit/>
          </a:bodyPr>
          <a:lstStyle/>
          <a:p>
            <a:endParaRPr lang="en-US" sz="1400" dirty="0"/>
          </a:p>
          <a:p>
            <a:endParaRPr lang="en-US" sz="1400" dirty="0"/>
          </a:p>
          <a:p>
            <a:endParaRPr lang="en-US" sz="1400" dirty="0"/>
          </a:p>
          <a:p>
            <a:endParaRPr lang="en-US" sz="1400" dirty="0"/>
          </a:p>
        </p:txBody>
      </p:sp>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lgn="l" fontAlgn="auto">
              <a:spcBef>
                <a:spcPts val="0"/>
              </a:spcBef>
              <a:spcAft>
                <a:spcPts val="0"/>
              </a:spcAft>
              <a:defRPr/>
            </a:pPr>
            <a:r>
              <a:rPr lang="en-US" sz="3200" b="1" spc="60" dirty="0">
                <a:ln w="9000" cmpd="sng">
                  <a:noFill/>
                  <a:prstDash val="solid"/>
                </a:ln>
                <a:solidFill>
                  <a:schemeClr val="accent6">
                    <a:lumMod val="75000"/>
                  </a:scheme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Discussion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pic>
        <p:nvPicPr>
          <p:cNvPr id="2" name="Picture 2" descr="Man thinking"/>
          <p:cNvPicPr>
            <a:picLocks noChangeAspect="1" noChangeArrowheads="1"/>
          </p:cNvPicPr>
          <p:nvPr/>
        </p:nvPicPr>
        <p:blipFill rotWithShape="1">
          <a:blip r:embed="rId5" cstate="screen">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flipH="1">
            <a:off x="7536595" y="108569"/>
            <a:ext cx="780664" cy="8381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2" descr="Man thinking"/>
          <p:cNvPicPr>
            <a:picLocks noChangeAspect="1" noChangeArrowheads="1"/>
          </p:cNvPicPr>
          <p:nvPr/>
        </p:nvPicPr>
        <p:blipFill rotWithShape="1">
          <a:blip r:embed="rId5"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bwMode="auto">
          <a:xfrm>
            <a:off x="8370066" y="108568"/>
            <a:ext cx="780664" cy="8381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684" r:id="rId1"/>
    <p:sldLayoutId id="2147483685"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687" r:id="rId1"/>
    <p:sldLayoutId id="2147483689"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fontAlgn="auto">
              <a:spcBef>
                <a:spcPts val="0"/>
              </a:spcBef>
              <a:spcAft>
                <a:spcPts val="0"/>
              </a:spcAft>
              <a:defRPr sz="1100" i="0" cap="small" spc="400" baseline="0" smtClean="0">
                <a:solidFill>
                  <a:schemeClr val="tx1">
                    <a:lumMod val="50000"/>
                    <a:lumOff val="50000"/>
                  </a:schemeClr>
                </a:solidFill>
                <a:latin typeface="+mn-lt"/>
                <a:cs typeface="+mn-cs"/>
              </a:defRPr>
            </a:lvl1pPr>
          </a:lstStyle>
          <a:p>
            <a:r>
              <a:rPr lang="en-US"/>
              <a:t>Copyright 2015 Worth Publishers    </a:t>
            </a:r>
          </a:p>
        </p:txBody>
      </p:sp>
      <p:sp>
        <p:nvSpPr>
          <p:cNvPr id="8" name="Title 1"/>
          <p:cNvSpPr txBox="1">
            <a:spLocks/>
          </p:cNvSpPr>
          <p:nvPr/>
        </p:nvSpPr>
        <p:spPr>
          <a:xfrm>
            <a:off x="990600" y="120650"/>
            <a:ext cx="8153400" cy="946150"/>
          </a:xfrm>
          <a:prstGeom prst="rect">
            <a:avLst/>
          </a:prstGeom>
          <a:noFill/>
        </p:spPr>
        <p:txBody>
          <a:bodyPr/>
          <a:lstStyle>
            <a:lvl1pPr algn="l" rtl="0" eaLnBrk="0" fontAlgn="base" hangingPunct="0">
              <a:spcBef>
                <a:spcPct val="0"/>
              </a:spcBef>
              <a:spcAft>
                <a:spcPct val="0"/>
              </a:spcAft>
              <a:defRPr sz="4000" b="1" i="1" kern="1200" baseline="0">
                <a:solidFill>
                  <a:schemeClr val="accent6">
                    <a:lumMod val="75000"/>
                  </a:schemeClr>
                </a:solidFill>
                <a:effectLst>
                  <a:outerShdw blurRad="38100" dist="38100" dir="2700000" algn="tl">
                    <a:srgbClr val="000000">
                      <a:alpha val="43137"/>
                    </a:srgbClr>
                  </a:outerShdw>
                </a:effectLst>
                <a:latin typeface="Century Gothic" pitchFamily="34" charset="0"/>
                <a:ea typeface="+mj-ea"/>
                <a:cs typeface="+mj-cs"/>
              </a:defRPr>
            </a:lvl1pPr>
            <a:lvl2pPr algn="ctr" rtl="0" eaLnBrk="0" fontAlgn="base" hangingPunct="0">
              <a:spcBef>
                <a:spcPct val="0"/>
              </a:spcBef>
              <a:spcAft>
                <a:spcPct val="0"/>
              </a:spcAft>
              <a:defRPr sz="4400" b="1" i="1">
                <a:solidFill>
                  <a:schemeClr val="tx1"/>
                </a:solidFill>
                <a:latin typeface="Century Gothic" pitchFamily="34" charset="0"/>
              </a:defRPr>
            </a:lvl2pPr>
            <a:lvl3pPr algn="ctr" rtl="0" eaLnBrk="0" fontAlgn="base" hangingPunct="0">
              <a:spcBef>
                <a:spcPct val="0"/>
              </a:spcBef>
              <a:spcAft>
                <a:spcPct val="0"/>
              </a:spcAft>
              <a:defRPr sz="4400" b="1" i="1">
                <a:solidFill>
                  <a:schemeClr val="tx1"/>
                </a:solidFill>
                <a:latin typeface="Century Gothic" pitchFamily="34" charset="0"/>
              </a:defRPr>
            </a:lvl3pPr>
            <a:lvl4pPr algn="ctr" rtl="0" eaLnBrk="0" fontAlgn="base" hangingPunct="0">
              <a:spcBef>
                <a:spcPct val="0"/>
              </a:spcBef>
              <a:spcAft>
                <a:spcPct val="0"/>
              </a:spcAft>
              <a:defRPr sz="4400" b="1" i="1">
                <a:solidFill>
                  <a:schemeClr val="tx1"/>
                </a:solidFill>
                <a:latin typeface="Century Gothic" pitchFamily="34" charset="0"/>
              </a:defRPr>
            </a:lvl4pPr>
            <a:lvl5pPr algn="ctr" rtl="0" eaLnBrk="0" fontAlgn="base" hangingPunct="0">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a:lstStyle>
          <a:p>
            <a:r>
              <a:rPr lang="en-US"/>
              <a:t>Take a look…..</a:t>
            </a:r>
            <a:endParaRPr lang="en-US" dirty="0"/>
          </a:p>
        </p:txBody>
      </p:sp>
      <p:pic>
        <p:nvPicPr>
          <p:cNvPr id="11" name="Picture 10"/>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9"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9"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lgn="l" fontAlgn="auto">
              <a:spcBef>
                <a:spcPts val="0"/>
              </a:spcBef>
              <a:spcAft>
                <a:spcPts val="0"/>
              </a:spcAft>
              <a:defRPr/>
            </a:pPr>
            <a:r>
              <a:rPr lang="en-US" sz="3200" b="1" spc="60" dirty="0">
                <a:ln w="9000" cmpd="sng">
                  <a:noFill/>
                  <a:prstDash val="solid"/>
                </a:ln>
                <a:solidFill>
                  <a:schemeClr val="accent6">
                    <a:lumMod val="75000"/>
                  </a:scheme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lgn="l" fontAlgn="auto">
              <a:spcBef>
                <a:spcPts val="0"/>
              </a:spcBef>
              <a:spcAft>
                <a:spcPts val="0"/>
              </a:spcAft>
              <a:defRPr/>
            </a:pPr>
            <a:r>
              <a:rPr lang="en-US" sz="3200" b="1" spc="60" dirty="0">
                <a:ln w="9000" cmpd="sng">
                  <a:noFill/>
                  <a:prstDash val="solid"/>
                </a:ln>
                <a:solidFill>
                  <a:schemeClr val="accent6">
                    <a:lumMod val="75000"/>
                  </a:scheme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Application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pic>
        <p:nvPicPr>
          <p:cNvPr id="205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34184" y="304800"/>
            <a:ext cx="1609816" cy="609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1"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6" r:id="rId1"/>
    <p:sldLayoutId id="2147483717"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22"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2"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3"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r>
              <a:rPr lang="en-US"/>
              <a:t>Copyright 2015 Worth Publishers    </a:t>
            </a: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6"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54" r:id="rId4"/>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44" r:id="rId1"/>
    <p:sldLayoutId id="2147483745"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47" r:id="rId1"/>
    <p:sldLayoutId id="2147483748"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50"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1"/>
          <p:cNvSpPr txBox="1">
            <a:spLocks/>
          </p:cNvSpPr>
          <p:nvPr/>
        </p:nvSpPr>
        <p:spPr>
          <a:xfrm>
            <a:off x="990600" y="120650"/>
            <a:ext cx="8153400" cy="946150"/>
          </a:xfrm>
          <a:prstGeom prst="rect">
            <a:avLst/>
          </a:prstGeom>
          <a:noFill/>
        </p:spPr>
        <p:txBody>
          <a:bodyPr/>
          <a:lstStyle>
            <a:lvl1pPr algn="l" rtl="0" eaLnBrk="0" fontAlgn="base" hangingPunct="0">
              <a:spcBef>
                <a:spcPct val="0"/>
              </a:spcBef>
              <a:spcAft>
                <a:spcPct val="0"/>
              </a:spcAft>
              <a:defRPr sz="4000" b="1" i="1" kern="1200" baseline="0">
                <a:solidFill>
                  <a:schemeClr val="accent6">
                    <a:lumMod val="75000"/>
                  </a:schemeClr>
                </a:solidFill>
                <a:effectLst>
                  <a:outerShdw blurRad="38100" dist="38100" dir="2700000" algn="tl">
                    <a:srgbClr val="000000">
                      <a:alpha val="43137"/>
                    </a:srgbClr>
                  </a:outerShdw>
                </a:effectLst>
                <a:latin typeface="Century Gothic" pitchFamily="34" charset="0"/>
                <a:ea typeface="+mj-ea"/>
                <a:cs typeface="+mj-cs"/>
              </a:defRPr>
            </a:lvl1pPr>
            <a:lvl2pPr algn="ctr" rtl="0" eaLnBrk="0" fontAlgn="base" hangingPunct="0">
              <a:spcBef>
                <a:spcPct val="0"/>
              </a:spcBef>
              <a:spcAft>
                <a:spcPct val="0"/>
              </a:spcAft>
              <a:defRPr sz="4400" b="1" i="1">
                <a:solidFill>
                  <a:schemeClr val="tx1"/>
                </a:solidFill>
                <a:latin typeface="Century Gothic" pitchFamily="34" charset="0"/>
              </a:defRPr>
            </a:lvl2pPr>
            <a:lvl3pPr algn="ctr" rtl="0" eaLnBrk="0" fontAlgn="base" hangingPunct="0">
              <a:spcBef>
                <a:spcPct val="0"/>
              </a:spcBef>
              <a:spcAft>
                <a:spcPct val="0"/>
              </a:spcAft>
              <a:defRPr sz="4400" b="1" i="1">
                <a:solidFill>
                  <a:schemeClr val="tx1"/>
                </a:solidFill>
                <a:latin typeface="Century Gothic" pitchFamily="34" charset="0"/>
              </a:defRPr>
            </a:lvl3pPr>
            <a:lvl4pPr algn="ctr" rtl="0" eaLnBrk="0" fontAlgn="base" hangingPunct="0">
              <a:spcBef>
                <a:spcPct val="0"/>
              </a:spcBef>
              <a:spcAft>
                <a:spcPct val="0"/>
              </a:spcAft>
              <a:defRPr sz="4400" b="1" i="1">
                <a:solidFill>
                  <a:schemeClr val="tx1"/>
                </a:solidFill>
                <a:latin typeface="Century Gothic" pitchFamily="34" charset="0"/>
              </a:defRPr>
            </a:lvl4pPr>
            <a:lvl5pPr algn="ctr" rtl="0" eaLnBrk="0" fontAlgn="base" hangingPunct="0">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a:lstStyle>
          <a:p>
            <a:r>
              <a:rPr lang="en-US"/>
              <a:t>Take a look…..</a:t>
            </a:r>
            <a:endParaRPr lang="en-US" dirty="0"/>
          </a:p>
        </p:txBody>
      </p:sp>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3.xml"/><Relationship Id="rId1" Type="http://schemas.openxmlformats.org/officeDocument/2006/relationships/slideLayout" Target="../slideLayouts/slideLayout40.xml"/><Relationship Id="rId5" Type="http://schemas.openxmlformats.org/officeDocument/2006/relationships/slide" Target="slide22.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5.xml"/><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slideLayout" Target="../slideLayouts/slideLayout35.xml"/><Relationship Id="rId5" Type="http://schemas.openxmlformats.org/officeDocument/2006/relationships/image" Target="../media/image44.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5.xml"/><Relationship Id="rId5" Type="http://schemas.openxmlformats.org/officeDocument/2006/relationships/image" Target="../media/image44.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5.xml"/><Relationship Id="rId5" Type="http://schemas.openxmlformats.org/officeDocument/2006/relationships/image" Target="../media/image44.pn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image" Target="../media/image52.png"/><Relationship Id="rId5" Type="http://schemas.openxmlformats.org/officeDocument/2006/relationships/image" Target="../media/image49.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5.xml"/><Relationship Id="rId5" Type="http://schemas.openxmlformats.org/officeDocument/2006/relationships/image" Target="../media/image57.png"/><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5.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6.png"/><Relationship Id="rId2" Type="http://schemas.openxmlformats.org/officeDocument/2006/relationships/image" Target="../media/image59.png"/><Relationship Id="rId1" Type="http://schemas.openxmlformats.org/officeDocument/2006/relationships/slideLayout" Target="../slideLayouts/slideLayout35.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2.xml"/><Relationship Id="rId1" Type="http://schemas.openxmlformats.org/officeDocument/2006/relationships/video" Target="https://www.youtube.com/embed/DwKR08t5BGA?feature=oembed" TargetMode="External"/><Relationship Id="rId5" Type="http://schemas.openxmlformats.org/officeDocument/2006/relationships/image" Target="../media/image69.jpeg"/><Relationship Id="rId4" Type="http://schemas.openxmlformats.org/officeDocument/2006/relationships/hyperlink" Target="https://www.youtube.com/watch?v=DwKR08t5BG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533400"/>
            <a:ext cx="7772400" cy="1470025"/>
          </a:xfrm>
        </p:spPr>
        <p:txBody>
          <a:bodyPr/>
          <a:lstStyle/>
          <a:p>
            <a:r>
              <a:rPr lang="en-US" sz="4000" dirty="0"/>
              <a:t>Economics 2220</a:t>
            </a:r>
            <a:br>
              <a:rPr lang="en-US" sz="4000" dirty="0"/>
            </a:br>
            <a:r>
              <a:rPr lang="en-US" dirty="0"/>
              <a:t>Principles Of Macroeconomics</a:t>
            </a:r>
          </a:p>
        </p:txBody>
      </p:sp>
      <p:sp>
        <p:nvSpPr>
          <p:cNvPr id="3075" name="Rectangle 3"/>
          <p:cNvSpPr>
            <a:spLocks noGrp="1" noChangeArrowheads="1"/>
          </p:cNvSpPr>
          <p:nvPr>
            <p:ph type="subTitle" idx="1"/>
          </p:nvPr>
        </p:nvSpPr>
        <p:spPr>
          <a:xfrm>
            <a:off x="1371600" y="1981200"/>
            <a:ext cx="6400800" cy="533400"/>
          </a:xfrm>
        </p:spPr>
        <p:txBody>
          <a:bodyPr/>
          <a:lstStyle/>
          <a:p>
            <a:r>
              <a:rPr lang="en-US" sz="2800" dirty="0"/>
              <a:t>Professor Zhigang Feng</a:t>
            </a:r>
          </a:p>
        </p:txBody>
      </p:sp>
      <p:sp>
        <p:nvSpPr>
          <p:cNvPr id="3076" name="Text Box 4"/>
          <p:cNvSpPr txBox="1">
            <a:spLocks noChangeArrowheads="1"/>
          </p:cNvSpPr>
          <p:nvPr/>
        </p:nvSpPr>
        <p:spPr bwMode="auto">
          <a:xfrm>
            <a:off x="2544762" y="3505200"/>
            <a:ext cx="5151438" cy="1015663"/>
          </a:xfrm>
          <a:prstGeom prst="rect">
            <a:avLst/>
          </a:prstGeom>
          <a:noFill/>
          <a:ln w="9525">
            <a:noFill/>
            <a:miter lim="800000"/>
            <a:headEnd/>
            <a:tailEnd/>
          </a:ln>
          <a:effectLst/>
        </p:spPr>
        <p:txBody>
          <a:bodyPr>
            <a:spAutoFit/>
          </a:bodyPr>
          <a:lstStyle/>
          <a:p>
            <a:pPr marL="228600" indent="-228600" algn="l">
              <a:spcBef>
                <a:spcPct val="50000"/>
              </a:spcBef>
            </a:pPr>
            <a:r>
              <a:rPr lang="en-US" sz="2400" u="sng" dirty="0"/>
              <a:t>Lecture 3: </a:t>
            </a:r>
          </a:p>
          <a:p>
            <a:pPr marL="228600" indent="-228600" algn="l">
              <a:spcBef>
                <a:spcPct val="50000"/>
              </a:spcBef>
            </a:pPr>
            <a:r>
              <a:rPr lang="en-US" sz="2400" u="sng" dirty="0"/>
              <a:t>Economic Basis for trade</a:t>
            </a:r>
          </a:p>
        </p:txBody>
      </p:sp>
    </p:spTree>
    <p:extLst>
      <p:ext uri="{BB962C8B-B14F-4D97-AF65-F5344CB8AC3E}">
        <p14:creationId xmlns:p14="http://schemas.microsoft.com/office/powerpoint/2010/main" val="3901856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1447801"/>
            <a:ext cx="8915400" cy="4267200"/>
          </a:xfrm>
        </p:spPr>
        <p:txBody>
          <a:bodyPr/>
          <a:lstStyle/>
          <a:p>
            <a:pPr marL="684213" indent="-342900">
              <a:spcBef>
                <a:spcPts val="0"/>
              </a:spcBef>
              <a:spcAft>
                <a:spcPts val="1200"/>
              </a:spcAft>
              <a:buClr>
                <a:schemeClr val="accent3"/>
              </a:buClr>
              <a:buFont typeface="Wingdings" charset="2"/>
              <a:buChar char="§"/>
            </a:pPr>
            <a:endParaRPr lang="en-US" sz="2400" i="1" dirty="0">
              <a:hlinkClick r:id="rId2" action="ppaction://hlinksldjump"/>
            </a:endParaRPr>
          </a:p>
          <a:p>
            <a:pPr marL="684213" indent="-342900">
              <a:spcBef>
                <a:spcPts val="0"/>
              </a:spcBef>
              <a:spcAft>
                <a:spcPts val="1200"/>
              </a:spcAft>
              <a:buClr>
                <a:schemeClr val="accent3"/>
              </a:buClr>
              <a:buFont typeface="Wingdings" charset="2"/>
              <a:buChar char="§"/>
            </a:pPr>
            <a:r>
              <a:rPr lang="en-US" sz="2400" i="1" dirty="0">
                <a:hlinkClick r:id="rId2" action="ppaction://hlinksldjump"/>
              </a:rPr>
              <a:t>Absolute </a:t>
            </a:r>
            <a:r>
              <a:rPr lang="en-US" sz="2400" dirty="0">
                <a:hlinkClick r:id="rId2" action="ppaction://hlinksldjump"/>
              </a:rPr>
              <a:t>advantage</a:t>
            </a:r>
            <a:endParaRPr lang="en-US" sz="2400" dirty="0"/>
          </a:p>
          <a:p>
            <a:pPr marL="684213" indent="-342900">
              <a:spcBef>
                <a:spcPts val="0"/>
              </a:spcBef>
              <a:spcAft>
                <a:spcPts val="1200"/>
              </a:spcAft>
              <a:buClr>
                <a:schemeClr val="accent3"/>
              </a:buClr>
              <a:buFont typeface="Wingdings" charset="2"/>
              <a:buChar char="§"/>
            </a:pPr>
            <a:r>
              <a:rPr lang="en-US" sz="2400" dirty="0">
                <a:hlinkClick r:id="rId3" action="ppaction://hlinksldjump"/>
              </a:rPr>
              <a:t>Comparative</a:t>
            </a:r>
            <a:r>
              <a:rPr lang="en-US" sz="2400" i="1" dirty="0">
                <a:hlinkClick r:id="rId3" action="ppaction://hlinksldjump"/>
              </a:rPr>
              <a:t> advantage</a:t>
            </a:r>
            <a:endParaRPr lang="en-US" sz="2400" i="1" dirty="0"/>
          </a:p>
          <a:p>
            <a:pPr marL="684213" indent="-342900">
              <a:spcBef>
                <a:spcPts val="0"/>
              </a:spcBef>
              <a:spcAft>
                <a:spcPts val="1200"/>
              </a:spcAft>
              <a:buClr>
                <a:schemeClr val="accent3"/>
              </a:buClr>
              <a:buFont typeface="Wingdings" charset="2"/>
              <a:buChar char="§"/>
            </a:pPr>
            <a:r>
              <a:rPr lang="en-US" sz="2400" u="sng" dirty="0">
                <a:solidFill>
                  <a:schemeClr val="accent1"/>
                </a:solidFill>
              </a:rPr>
              <a:t>Gain from trade</a:t>
            </a:r>
          </a:p>
        </p:txBody>
      </p:sp>
      <p:sp>
        <p:nvSpPr>
          <p:cNvPr id="4" name="Rectangle 3"/>
          <p:cNvSpPr/>
          <p:nvPr/>
        </p:nvSpPr>
        <p:spPr>
          <a:xfrm>
            <a:off x="-49096" y="6273798"/>
            <a:ext cx="1268296"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5" name="Rectangle 4"/>
          <p:cNvSpPr/>
          <p:nvPr/>
        </p:nvSpPr>
        <p:spPr>
          <a:xfrm>
            <a:off x="8107268" y="6322368"/>
            <a:ext cx="731932" cy="2308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5" action="ppaction://hlinksldjump"/>
              </a:rPr>
              <a:t>To Video</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910786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2400" dirty="0"/>
              <a:t>COMPARATIVE ADVANTAGE AND GAINS FROM TRADE</a:t>
            </a:r>
          </a:p>
        </p:txBody>
      </p:sp>
      <p:graphicFrame>
        <p:nvGraphicFramePr>
          <p:cNvPr id="6" name="Content Placeholder 2">
            <a:extLst>
              <a:ext uri="{FF2B5EF4-FFF2-40B4-BE49-F238E27FC236}">
                <a16:creationId xmlns:a16="http://schemas.microsoft.com/office/drawing/2014/main" id="{DC04600E-C832-9DAA-C48F-C6033126F9A2}"/>
              </a:ext>
            </a:extLst>
          </p:cNvPr>
          <p:cNvGraphicFramePr>
            <a:graphicFrameLocks noGrp="1"/>
          </p:cNvGraphicFramePr>
          <p:nvPr>
            <p:ph idx="1"/>
            <p:extLst>
              <p:ext uri="{D42A27DB-BD31-4B8C-83A1-F6EECF244321}">
                <p14:modId xmlns:p14="http://schemas.microsoft.com/office/powerpoint/2010/main" val="1540069102"/>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2122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4BB61EA-3BB6-B88E-580F-B8191449B472}"/>
            </a:ext>
          </a:extLst>
        </p:cNvPr>
        <p:cNvGrpSpPr/>
        <p:nvPr/>
      </p:nvGrpSpPr>
      <p:grpSpPr>
        <a:xfrm>
          <a:off x="0" y="0"/>
          <a:ext cx="0" cy="0"/>
          <a:chOff x="0" y="0"/>
          <a:chExt cx="0" cy="0"/>
        </a:xfrm>
      </p:grpSpPr>
      <p:pic>
        <p:nvPicPr>
          <p:cNvPr id="58370" name="Picture 2">
            <a:extLst>
              <a:ext uri="{FF2B5EF4-FFF2-40B4-BE49-F238E27FC236}">
                <a16:creationId xmlns:a16="http://schemas.microsoft.com/office/drawing/2014/main" id="{28794976-659B-01FF-55B9-DC9AB9256C1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1" y="2505086"/>
            <a:ext cx="2895601" cy="3594539"/>
          </a:xfrm>
          <a:prstGeom prst="rect">
            <a:avLst/>
          </a:prstGeom>
          <a:noFill/>
          <a:ln>
            <a:noFill/>
          </a:ln>
        </p:spPr>
      </p:pic>
      <p:sp>
        <p:nvSpPr>
          <p:cNvPr id="3" name="Title 2">
            <a:extLst>
              <a:ext uri="{FF2B5EF4-FFF2-40B4-BE49-F238E27FC236}">
                <a16:creationId xmlns:a16="http://schemas.microsoft.com/office/drawing/2014/main" id="{42DEFBA3-4051-FCD9-6619-11704467A553}"/>
              </a:ext>
            </a:extLst>
          </p:cNvPr>
          <p:cNvSpPr>
            <a:spLocks noGrp="1"/>
          </p:cNvSpPr>
          <p:nvPr>
            <p:ph type="title"/>
          </p:nvPr>
        </p:nvSpPr>
        <p:spPr/>
        <p:txBody>
          <a:bodyPr/>
          <a:lstStyle/>
          <a:p>
            <a:r>
              <a:rPr lang="en-US" dirty="0"/>
              <a:t>ORIGIN OF THE IDEA</a:t>
            </a:r>
          </a:p>
        </p:txBody>
      </p:sp>
      <p:sp>
        <p:nvSpPr>
          <p:cNvPr id="59395" name="Content Placeholder 2">
            <a:extLst>
              <a:ext uri="{FF2B5EF4-FFF2-40B4-BE49-F238E27FC236}">
                <a16:creationId xmlns:a16="http://schemas.microsoft.com/office/drawing/2014/main" id="{7E459336-872E-D4F9-6006-917CD0843544}"/>
              </a:ext>
            </a:extLst>
          </p:cNvPr>
          <p:cNvSpPr>
            <a:spLocks noGrp="1"/>
          </p:cNvSpPr>
          <p:nvPr>
            <p:ph idx="1"/>
          </p:nvPr>
        </p:nvSpPr>
        <p:spPr>
          <a:xfrm>
            <a:off x="228600" y="990600"/>
            <a:ext cx="8839200" cy="5410200"/>
          </a:xfrm>
        </p:spPr>
        <p:txBody>
          <a:bodyPr>
            <a:normAutofit/>
          </a:bodyPr>
          <a:lstStyle/>
          <a:p>
            <a:pPr eaLnBrk="1" hangingPunct="1"/>
            <a:r>
              <a:rPr lang="en-US" dirty="0">
                <a:solidFill>
                  <a:srgbClr val="008000"/>
                </a:solidFill>
              </a:rPr>
              <a:t>David Ricardo (1772–1823)</a:t>
            </a:r>
          </a:p>
          <a:p>
            <a:pPr lvl="1" eaLnBrk="1" hangingPunct="1"/>
            <a:r>
              <a:rPr lang="en-US" dirty="0"/>
              <a:t>Argued against Corn Laws in British Parliament.</a:t>
            </a:r>
          </a:p>
          <a:p>
            <a:pPr marL="3200400" lvl="7" indent="0">
              <a:buNone/>
            </a:pPr>
            <a:r>
              <a:rPr lang="en-US" sz="2800" b="1" dirty="0">
                <a:solidFill>
                  <a:schemeClr val="accent6">
                    <a:lumMod val="75000"/>
                  </a:schemeClr>
                </a:solidFill>
                <a:latin typeface="Candara" pitchFamily="34" charset="0"/>
              </a:rPr>
              <a:t>Corn Laws: high tariffs on imported grain that protected British landowners.</a:t>
            </a:r>
          </a:p>
          <a:p>
            <a:pPr marL="3200400" lvl="7" indent="0">
              <a:buNone/>
            </a:pPr>
            <a:r>
              <a:rPr lang="en-US" sz="2800" b="1" dirty="0">
                <a:latin typeface="Candara" pitchFamily="34" charset="0"/>
              </a:rPr>
              <a:t>His </a:t>
            </a:r>
            <a:r>
              <a:rPr lang="en-US" sz="2800" b="1" i="1" dirty="0">
                <a:solidFill>
                  <a:srgbClr val="990033"/>
                </a:solidFill>
                <a:latin typeface="Candara" pitchFamily="34" charset="0"/>
              </a:rPr>
              <a:t>theory of comparative advantage </a:t>
            </a:r>
            <a:r>
              <a:rPr lang="en-US" sz="2800" b="1" dirty="0">
                <a:latin typeface="Candara" pitchFamily="34" charset="0"/>
              </a:rPr>
              <a:t>is still the ideological foundation for free trade.</a:t>
            </a:r>
          </a:p>
          <a:p>
            <a:pPr eaLnBrk="1" hangingPunct="1"/>
            <a:endParaRPr lang="en-US" dirty="0"/>
          </a:p>
        </p:txBody>
      </p:sp>
    </p:spTree>
    <p:extLst>
      <p:ext uri="{BB962C8B-B14F-4D97-AF65-F5344CB8AC3E}">
        <p14:creationId xmlns:p14="http://schemas.microsoft.com/office/powerpoint/2010/main" val="54616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fade">
                                      <p:cBhvr>
                                        <p:cTn id="7" dur="2000"/>
                                        <p:tgtEl>
                                          <p:spTgt spid="59395">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395">
                                            <p:txEl>
                                              <p:pRg st="2" end="2"/>
                                            </p:txEl>
                                          </p:spTgt>
                                        </p:tgtEl>
                                        <p:attrNameLst>
                                          <p:attrName>style.visibility</p:attrName>
                                        </p:attrNameLst>
                                      </p:cBhvr>
                                      <p:to>
                                        <p:strVal val="visible"/>
                                      </p:to>
                                    </p:set>
                                    <p:animEffect transition="in" filter="fade">
                                      <p:cBhvr>
                                        <p:cTn id="10" dur="2000"/>
                                        <p:tgtEl>
                                          <p:spTgt spid="5939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395">
                                            <p:txEl>
                                              <p:pRg st="3" end="3"/>
                                            </p:txEl>
                                          </p:spTgt>
                                        </p:tgtEl>
                                        <p:attrNameLst>
                                          <p:attrName>style.visibility</p:attrName>
                                        </p:attrNameLst>
                                      </p:cBhvr>
                                      <p:to>
                                        <p:strVal val="visible"/>
                                      </p:to>
                                    </p:set>
                                    <p:animEffect transition="in" filter="fade">
                                      <p:cBhvr>
                                        <p:cTn id="13" dur="2000"/>
                                        <p:tgtEl>
                                          <p:spTgt spid="593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ORIGIN OF THE IDEA</a:t>
            </a:r>
          </a:p>
        </p:txBody>
      </p:sp>
      <p:sp>
        <p:nvSpPr>
          <p:cNvPr id="59395" name="Content Placeholder 2"/>
          <p:cNvSpPr>
            <a:spLocks noGrp="1"/>
          </p:cNvSpPr>
          <p:nvPr>
            <p:ph idx="1"/>
          </p:nvPr>
        </p:nvSpPr>
        <p:spPr/>
        <p:txBody>
          <a:bodyPr>
            <a:normAutofit/>
          </a:bodyPr>
          <a:lstStyle/>
          <a:p>
            <a:pPr eaLnBrk="1" hangingPunct="1"/>
            <a:r>
              <a:rPr lang="en-US" dirty="0">
                <a:solidFill>
                  <a:srgbClr val="008000"/>
                </a:solidFill>
              </a:rPr>
              <a:t>Donald J Trump</a:t>
            </a:r>
            <a:endParaRPr lang="en-US" b="1" dirty="0"/>
          </a:p>
          <a:p>
            <a:pPr marL="3200400" lvl="7" indent="0">
              <a:buNone/>
            </a:pPr>
            <a:r>
              <a:rPr lang="en-US" b="1" dirty="0"/>
              <a:t>To me, the most beautiful word in the dictionary is tariff. And it's my favorite word</a:t>
            </a:r>
            <a:r>
              <a:rPr lang="en-US" dirty="0"/>
              <a:t>.</a:t>
            </a:r>
          </a:p>
          <a:p>
            <a:pPr marL="3200400" lvl="7" indent="0">
              <a:buNone/>
            </a:pPr>
            <a:endParaRPr lang="en-US" dirty="0"/>
          </a:p>
          <a:p>
            <a:pPr marL="3200400" lvl="7" indent="0">
              <a:buNone/>
            </a:pPr>
            <a:r>
              <a:rPr lang="en-US" dirty="0"/>
              <a:t>October 16, 2024 </a:t>
            </a:r>
          </a:p>
        </p:txBody>
      </p:sp>
      <p:pic>
        <p:nvPicPr>
          <p:cNvPr id="1028" name="Picture 4" descr="Former President Donald Trump speaks Tuesday during an interview with Bloomberg Editor-in-Chief John Micklethwait.">
            <a:extLst>
              <a:ext uri="{FF2B5EF4-FFF2-40B4-BE49-F238E27FC236}">
                <a16:creationId xmlns:a16="http://schemas.microsoft.com/office/drawing/2014/main" id="{BC026A39-F787-7F26-734A-96FC2EB6B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 y="3314700"/>
            <a:ext cx="4343518" cy="2897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47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fade">
                                      <p:cBhvr>
                                        <p:cTn id="7" dur="2000"/>
                                        <p:tgtEl>
                                          <p:spTgt spid="59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1066800"/>
          </a:xfrm>
        </p:spPr>
        <p:txBody>
          <a:bodyPr>
            <a:noAutofit/>
          </a:bodyPr>
          <a:lstStyle/>
          <a:p>
            <a:r>
              <a:rPr lang="en-US" sz="3600" dirty="0"/>
              <a:t>COMPARATIVE ADVANTAGE AND GAINS FROM TRADE</a:t>
            </a:r>
          </a:p>
        </p:txBody>
      </p:sp>
      <p:sp>
        <p:nvSpPr>
          <p:cNvPr id="3" name="Content Placeholder 2"/>
          <p:cNvSpPr>
            <a:spLocks noGrp="1"/>
          </p:cNvSpPr>
          <p:nvPr>
            <p:ph idx="1"/>
          </p:nvPr>
        </p:nvSpPr>
        <p:spPr>
          <a:xfrm>
            <a:off x="228600" y="1219200"/>
            <a:ext cx="8839200" cy="4419600"/>
          </a:xfrm>
        </p:spPr>
        <p:txBody>
          <a:bodyPr/>
          <a:lstStyle/>
          <a:p>
            <a:r>
              <a:rPr lang="en-US" dirty="0"/>
              <a:t>Suppose that there are just two goods, computers and shirts, and one input, labor.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019800" y="3429000"/>
            <a:ext cx="2231199"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200" y="3352800"/>
            <a:ext cx="2133600" cy="1870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3733800" y="2895600"/>
            <a:ext cx="1341073" cy="305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711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99"/>
                                        </p:tgtEl>
                                        <p:attrNameLst>
                                          <p:attrName>style.visibility</p:attrName>
                                        </p:attrNameLst>
                                      </p:cBhvr>
                                      <p:to>
                                        <p:strVal val="visible"/>
                                      </p:to>
                                    </p:set>
                                    <p:animEffect transition="in" filter="fade">
                                      <p:cBhvr>
                                        <p:cTn id="11" dur="500"/>
                                        <p:tgtEl>
                                          <p:spTgt spid="4099"/>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4100"/>
                                        </p:tgtEl>
                                        <p:attrNameLst>
                                          <p:attrName>style.visibility</p:attrName>
                                        </p:attrNameLst>
                                      </p:cBhvr>
                                      <p:to>
                                        <p:strVal val="visible"/>
                                      </p:to>
                                    </p:set>
                                    <p:animEffect transition="in" filter="fade">
                                      <p:cBhvr>
                                        <p:cTn id="15" dur="1000"/>
                                        <p:tgtEl>
                                          <p:spTgt spid="4100"/>
                                        </p:tgtEl>
                                      </p:cBhvr>
                                    </p:animEffect>
                                    <p:anim calcmode="lin" valueType="num">
                                      <p:cBhvr>
                                        <p:cTn id="16" dur="1000" fill="hold"/>
                                        <p:tgtEl>
                                          <p:spTgt spid="4100"/>
                                        </p:tgtEl>
                                        <p:attrNameLst>
                                          <p:attrName>ppt_x</p:attrName>
                                        </p:attrNameLst>
                                      </p:cBhvr>
                                      <p:tavLst>
                                        <p:tav tm="0">
                                          <p:val>
                                            <p:strVal val="#ppt_x"/>
                                          </p:val>
                                        </p:tav>
                                        <p:tav tm="100000">
                                          <p:val>
                                            <p:strVal val="#ppt_x"/>
                                          </p:val>
                                        </p:tav>
                                      </p:tavLst>
                                    </p:anim>
                                    <p:anim calcmode="lin" valueType="num">
                                      <p:cBhvr>
                                        <p:cTn id="17" dur="1000" fill="hold"/>
                                        <p:tgtEl>
                                          <p:spTgt spid="4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5438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sz="2800" dirty="0"/>
              <a:t>Assume that in Mexico, it takes 12 units of labor to make one computer and 2 units of labor to produce one shirt</a:t>
            </a:r>
          </a:p>
        </p:txBody>
      </p:sp>
      <p:grpSp>
        <p:nvGrpSpPr>
          <p:cNvPr id="22" name="Group 21"/>
          <p:cNvGrpSpPr/>
          <p:nvPr/>
        </p:nvGrpSpPr>
        <p:grpSpPr>
          <a:xfrm>
            <a:off x="418244" y="2590800"/>
            <a:ext cx="7136805" cy="2338442"/>
            <a:chOff x="418244" y="2590800"/>
            <a:chExt cx="7136805" cy="2338442"/>
          </a:xfrm>
        </p:grpSpPr>
        <p:pic>
          <p:nvPicPr>
            <p:cNvPr id="4"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85800" y="2666026"/>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18244" y="3773389"/>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181958" y="25908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21338603">
              <a:off x="914401" y="35913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486758"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943958" y="3633842"/>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500746"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971800" y="3709068"/>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639158"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172558" y="25997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687782"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200400" y="2610607"/>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Equal 15"/>
            <p:cNvSpPr/>
            <p:nvPr/>
          </p:nvSpPr>
          <p:spPr>
            <a:xfrm>
              <a:off x="4114800" y="2915328"/>
              <a:ext cx="1295400" cy="1260790"/>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1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21449" y="2631390"/>
              <a:ext cx="2133600" cy="18704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1347160" y="5256826"/>
            <a:ext cx="4596440" cy="1383212"/>
            <a:chOff x="1347160" y="5256826"/>
            <a:chExt cx="4596440" cy="1383212"/>
          </a:xfrm>
        </p:grpSpPr>
        <p:pic>
          <p:nvPicPr>
            <p:cNvPr id="18"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47160" y="5334000"/>
              <a:ext cx="1341821" cy="13060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Equal 18"/>
            <p:cNvSpPr/>
            <p:nvPr/>
          </p:nvSpPr>
          <p:spPr>
            <a:xfrm>
              <a:off x="3276600" y="5368610"/>
              <a:ext cx="1295400" cy="1260790"/>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0"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015346" y="5433958"/>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486400" y="5256826"/>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6"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40693" y="0"/>
            <a:ext cx="160070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603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543800" cy="990600"/>
          </a:xfrm>
        </p:spPr>
        <p:txBody>
          <a:bodyPr>
            <a:noAutofit/>
          </a:bodyPr>
          <a:lstStyle/>
          <a:p>
            <a:r>
              <a:rPr lang="en-US" sz="3600" dirty="0"/>
              <a:t>COMPARATIVE ADVANTAGE AND GAINS FROM TRADE</a:t>
            </a:r>
          </a:p>
        </p:txBody>
      </p:sp>
      <p:sp>
        <p:nvSpPr>
          <p:cNvPr id="3" name="Content Placeholder 2"/>
          <p:cNvSpPr>
            <a:spLocks noGrp="1"/>
          </p:cNvSpPr>
          <p:nvPr>
            <p:ph idx="1"/>
          </p:nvPr>
        </p:nvSpPr>
        <p:spPr>
          <a:xfrm>
            <a:off x="228600" y="1143000"/>
            <a:ext cx="8839200" cy="4495800"/>
          </a:xfrm>
        </p:spPr>
        <p:txBody>
          <a:bodyPr/>
          <a:lstStyle/>
          <a:p>
            <a:r>
              <a:rPr lang="en-US" sz="2800" dirty="0"/>
              <a:t>Suppose that Mexico has 24 units of labor. It can produce 2 computers and 0 shirts… </a:t>
            </a:r>
          </a:p>
          <a:p>
            <a:r>
              <a:rPr lang="en-US" sz="2800" dirty="0"/>
              <a:t>or 0 computers and 12 shirts</a:t>
            </a:r>
          </a:p>
          <a:p>
            <a:endParaRPr lang="en-US" sz="2800" dirty="0"/>
          </a:p>
        </p:txBody>
      </p:sp>
      <p:sp>
        <p:nvSpPr>
          <p:cNvPr id="17" name="Equal 16"/>
          <p:cNvSpPr/>
          <p:nvPr/>
        </p:nvSpPr>
        <p:spPr>
          <a:xfrm>
            <a:off x="4163686" y="3958512"/>
            <a:ext cx="908131" cy="745936"/>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18" name="Picture 3"/>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638800" y="3469746"/>
            <a:ext cx="1495745" cy="11066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2" name="Group 31"/>
          <p:cNvGrpSpPr/>
          <p:nvPr/>
        </p:nvGrpSpPr>
        <p:grpSpPr>
          <a:xfrm>
            <a:off x="1564357" y="2947961"/>
            <a:ext cx="2321843" cy="2919439"/>
            <a:chOff x="1564357" y="2947961"/>
            <a:chExt cx="2321843" cy="2919439"/>
          </a:xfrm>
        </p:grpSpPr>
        <p:pic>
          <p:nvPicPr>
            <p:cNvPr id="5"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751925" y="299246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564357" y="364763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099753" y="2947961"/>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rot="21338603">
              <a:off x="1912184" y="353990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313431" y="3714373"/>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633948" y="356506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024280" y="3714373"/>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354509" y="360957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420270" y="304046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794206" y="295322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155400" y="304046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514767" y="295968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8"/>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802841" y="452838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19"/>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615273" y="518355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150669" y="4483881"/>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rot="21338603">
              <a:off x="1963100" y="507582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364347" y="5250293"/>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684864" y="510098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075196" y="5250293"/>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405425" y="514549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471186" y="457638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845122" y="4489148"/>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06316" y="4576385"/>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565683" y="4495600"/>
              <a:ext cx="320517" cy="617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858000" y="3523236"/>
            <a:ext cx="1495745" cy="11066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618018" y="317199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41954" y="317199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265889" y="317199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280017" y="389053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72990" y="389053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665963" y="3890537"/>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301072" y="4629875"/>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501108" y="4629875"/>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701145" y="4629875"/>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294418" y="5421423"/>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97781" y="5421423"/>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701145" y="5421423"/>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40693" y="0"/>
            <a:ext cx="160070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518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1000"/>
                                        <p:tgtEl>
                                          <p:spTgt spid="32"/>
                                        </p:tgtEl>
                                      </p:cBhvr>
                                    </p:animEffect>
                                    <p:anim calcmode="lin" valueType="num">
                                      <p:cBhvr>
                                        <p:cTn id="12" dur="1000" fill="hold"/>
                                        <p:tgtEl>
                                          <p:spTgt spid="32"/>
                                        </p:tgtEl>
                                        <p:attrNameLst>
                                          <p:attrName>ppt_x</p:attrName>
                                        </p:attrNameLst>
                                      </p:cBhvr>
                                      <p:tavLst>
                                        <p:tav tm="0">
                                          <p:val>
                                            <p:strVal val="#ppt_x"/>
                                          </p:val>
                                        </p:tav>
                                        <p:tav tm="100000">
                                          <p:val>
                                            <p:strVal val="#ppt_x"/>
                                          </p:val>
                                        </p:tav>
                                      </p:tavLst>
                                    </p:anim>
                                    <p:anim calcmode="lin" valueType="num">
                                      <p:cBhvr>
                                        <p:cTn id="13" dur="1000" fill="hold"/>
                                        <p:tgtEl>
                                          <p:spTgt spid="3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xit" presetSubtype="0" fill="hold" nodeType="clickEffect">
                                  <p:stCondLst>
                                    <p:cond delay="0"/>
                                  </p:stCondLst>
                                  <p:childTnLst>
                                    <p:animEffect transition="out" filter="fade">
                                      <p:cBhvr>
                                        <p:cTn id="33" dur="1000"/>
                                        <p:tgtEl>
                                          <p:spTgt spid="18"/>
                                        </p:tgtEl>
                                      </p:cBhvr>
                                    </p:animEffect>
                                    <p:anim calcmode="lin" valueType="num">
                                      <p:cBhvr>
                                        <p:cTn id="34" dur="1000"/>
                                        <p:tgtEl>
                                          <p:spTgt spid="18"/>
                                        </p:tgtEl>
                                        <p:attrNameLst>
                                          <p:attrName>ppt_x</p:attrName>
                                        </p:attrNameLst>
                                      </p:cBhvr>
                                      <p:tavLst>
                                        <p:tav tm="0">
                                          <p:val>
                                            <p:strVal val="ppt_x"/>
                                          </p:val>
                                        </p:tav>
                                        <p:tav tm="100000">
                                          <p:val>
                                            <p:strVal val="ppt_x"/>
                                          </p:val>
                                        </p:tav>
                                      </p:tavLst>
                                    </p:anim>
                                    <p:anim calcmode="lin" valueType="num">
                                      <p:cBhvr>
                                        <p:cTn id="35" dur="1000"/>
                                        <p:tgtEl>
                                          <p:spTgt spid="18"/>
                                        </p:tgtEl>
                                        <p:attrNameLst>
                                          <p:attrName>ppt_y</p:attrName>
                                        </p:attrNameLst>
                                      </p:cBhvr>
                                      <p:tavLst>
                                        <p:tav tm="0">
                                          <p:val>
                                            <p:strVal val="ppt_y"/>
                                          </p:val>
                                        </p:tav>
                                        <p:tav tm="100000">
                                          <p:val>
                                            <p:strVal val="ppt_y+.1"/>
                                          </p:val>
                                        </p:tav>
                                      </p:tavLst>
                                    </p:anim>
                                    <p:set>
                                      <p:cBhvr>
                                        <p:cTn id="36" dur="1" fill="hold">
                                          <p:stCondLst>
                                            <p:cond delay="999"/>
                                          </p:stCondLst>
                                        </p:cTn>
                                        <p:tgtEl>
                                          <p:spTgt spid="18"/>
                                        </p:tgtEl>
                                        <p:attrNameLst>
                                          <p:attrName>style.visibility</p:attrName>
                                        </p:attrNameLst>
                                      </p:cBhvr>
                                      <p:to>
                                        <p:strVal val="hidden"/>
                                      </p:to>
                                    </p:set>
                                  </p:childTnLst>
                                </p:cTn>
                              </p:par>
                              <p:par>
                                <p:cTn id="37" presetID="42" presetClass="exit" presetSubtype="0" fill="hold" nodeType="withEffect">
                                  <p:stCondLst>
                                    <p:cond delay="0"/>
                                  </p:stCondLst>
                                  <p:childTnLst>
                                    <p:animEffect transition="out" filter="fade">
                                      <p:cBhvr>
                                        <p:cTn id="38" dur="1000"/>
                                        <p:tgtEl>
                                          <p:spTgt spid="31"/>
                                        </p:tgtEl>
                                      </p:cBhvr>
                                    </p:animEffect>
                                    <p:anim calcmode="lin" valueType="num">
                                      <p:cBhvr>
                                        <p:cTn id="39" dur="1000"/>
                                        <p:tgtEl>
                                          <p:spTgt spid="31"/>
                                        </p:tgtEl>
                                        <p:attrNameLst>
                                          <p:attrName>ppt_x</p:attrName>
                                        </p:attrNameLst>
                                      </p:cBhvr>
                                      <p:tavLst>
                                        <p:tav tm="0">
                                          <p:val>
                                            <p:strVal val="ppt_x"/>
                                          </p:val>
                                        </p:tav>
                                        <p:tav tm="100000">
                                          <p:val>
                                            <p:strVal val="ppt_x"/>
                                          </p:val>
                                        </p:tav>
                                      </p:tavLst>
                                    </p:anim>
                                    <p:anim calcmode="lin" valueType="num">
                                      <p:cBhvr>
                                        <p:cTn id="40" dur="1000"/>
                                        <p:tgtEl>
                                          <p:spTgt spid="31"/>
                                        </p:tgtEl>
                                        <p:attrNameLst>
                                          <p:attrName>ppt_y</p:attrName>
                                        </p:attrNameLst>
                                      </p:cBhvr>
                                      <p:tavLst>
                                        <p:tav tm="0">
                                          <p:val>
                                            <p:strVal val="ppt_y"/>
                                          </p:val>
                                        </p:tav>
                                        <p:tav tm="100000">
                                          <p:val>
                                            <p:strVal val="ppt_y+.1"/>
                                          </p:val>
                                        </p:tav>
                                      </p:tavLst>
                                    </p:anim>
                                    <p:set>
                                      <p:cBhvr>
                                        <p:cTn id="41" dur="1" fill="hold">
                                          <p:stCondLst>
                                            <p:cond delay="999"/>
                                          </p:stCondLst>
                                        </p:cTn>
                                        <p:tgtEl>
                                          <p:spTgt spid="31"/>
                                        </p:tgtEl>
                                        <p:attrNameLst>
                                          <p:attrName>style.visibility</p:attrName>
                                        </p:attrNameLst>
                                      </p:cBhvr>
                                      <p:to>
                                        <p:strVal val="hidden"/>
                                      </p:to>
                                    </p:set>
                                  </p:childTnLst>
                                </p:cTn>
                              </p:par>
                              <p:par>
                                <p:cTn id="42" presetID="10" presetClass="entr" presetSubtype="0" fill="hold" nodeType="with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par>
                                <p:cTn id="45" presetID="42"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1000"/>
                                        <p:tgtEl>
                                          <p:spTgt spid="35"/>
                                        </p:tgtEl>
                                      </p:cBhvr>
                                    </p:animEffect>
                                    <p:anim calcmode="lin" valueType="num">
                                      <p:cBhvr>
                                        <p:cTn id="53" dur="1000" fill="hold"/>
                                        <p:tgtEl>
                                          <p:spTgt spid="35"/>
                                        </p:tgtEl>
                                        <p:attrNameLst>
                                          <p:attrName>ppt_x</p:attrName>
                                        </p:attrNameLst>
                                      </p:cBhvr>
                                      <p:tavLst>
                                        <p:tav tm="0">
                                          <p:val>
                                            <p:strVal val="#ppt_x"/>
                                          </p:val>
                                        </p:tav>
                                        <p:tav tm="100000">
                                          <p:val>
                                            <p:strVal val="#ppt_x"/>
                                          </p:val>
                                        </p:tav>
                                      </p:tavLst>
                                    </p:anim>
                                    <p:anim calcmode="lin" valueType="num">
                                      <p:cBhvr>
                                        <p:cTn id="54" dur="1000" fill="hold"/>
                                        <p:tgtEl>
                                          <p:spTgt spid="35"/>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1000"/>
                                        <p:tgtEl>
                                          <p:spTgt spid="36"/>
                                        </p:tgtEl>
                                      </p:cBhvr>
                                    </p:animEffect>
                                    <p:anim calcmode="lin" valueType="num">
                                      <p:cBhvr>
                                        <p:cTn id="58" dur="1000" fill="hold"/>
                                        <p:tgtEl>
                                          <p:spTgt spid="36"/>
                                        </p:tgtEl>
                                        <p:attrNameLst>
                                          <p:attrName>ppt_x</p:attrName>
                                        </p:attrNameLst>
                                      </p:cBhvr>
                                      <p:tavLst>
                                        <p:tav tm="0">
                                          <p:val>
                                            <p:strVal val="#ppt_x"/>
                                          </p:val>
                                        </p:tav>
                                        <p:tav tm="100000">
                                          <p:val>
                                            <p:strVal val="#ppt_x"/>
                                          </p:val>
                                        </p:tav>
                                      </p:tavLst>
                                    </p:anim>
                                    <p:anim calcmode="lin" valueType="num">
                                      <p:cBhvr>
                                        <p:cTn id="59" dur="1000" fill="hold"/>
                                        <p:tgtEl>
                                          <p:spTgt spid="3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1000"/>
                                        <p:tgtEl>
                                          <p:spTgt spid="37"/>
                                        </p:tgtEl>
                                      </p:cBhvr>
                                    </p:animEffect>
                                    <p:anim calcmode="lin" valueType="num">
                                      <p:cBhvr>
                                        <p:cTn id="63" dur="1000" fill="hold"/>
                                        <p:tgtEl>
                                          <p:spTgt spid="37"/>
                                        </p:tgtEl>
                                        <p:attrNameLst>
                                          <p:attrName>ppt_x</p:attrName>
                                        </p:attrNameLst>
                                      </p:cBhvr>
                                      <p:tavLst>
                                        <p:tav tm="0">
                                          <p:val>
                                            <p:strVal val="#ppt_x"/>
                                          </p:val>
                                        </p:tav>
                                        <p:tav tm="100000">
                                          <p:val>
                                            <p:strVal val="#ppt_x"/>
                                          </p:val>
                                        </p:tav>
                                      </p:tavLst>
                                    </p:anim>
                                    <p:anim calcmode="lin" valueType="num">
                                      <p:cBhvr>
                                        <p:cTn id="64" dur="1000" fill="hold"/>
                                        <p:tgtEl>
                                          <p:spTgt spid="3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1000"/>
                                        <p:tgtEl>
                                          <p:spTgt spid="38"/>
                                        </p:tgtEl>
                                      </p:cBhvr>
                                    </p:animEffect>
                                    <p:anim calcmode="lin" valueType="num">
                                      <p:cBhvr>
                                        <p:cTn id="68" dur="1000" fill="hold"/>
                                        <p:tgtEl>
                                          <p:spTgt spid="38"/>
                                        </p:tgtEl>
                                        <p:attrNameLst>
                                          <p:attrName>ppt_x</p:attrName>
                                        </p:attrNameLst>
                                      </p:cBhvr>
                                      <p:tavLst>
                                        <p:tav tm="0">
                                          <p:val>
                                            <p:strVal val="#ppt_x"/>
                                          </p:val>
                                        </p:tav>
                                        <p:tav tm="100000">
                                          <p:val>
                                            <p:strVal val="#ppt_x"/>
                                          </p:val>
                                        </p:tav>
                                      </p:tavLst>
                                    </p:anim>
                                    <p:anim calcmode="lin" valueType="num">
                                      <p:cBhvr>
                                        <p:cTn id="69" dur="1000" fill="hold"/>
                                        <p:tgtEl>
                                          <p:spTgt spid="3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1000"/>
                                        <p:tgtEl>
                                          <p:spTgt spid="39"/>
                                        </p:tgtEl>
                                      </p:cBhvr>
                                    </p:animEffect>
                                    <p:anim calcmode="lin" valueType="num">
                                      <p:cBhvr>
                                        <p:cTn id="73" dur="1000" fill="hold"/>
                                        <p:tgtEl>
                                          <p:spTgt spid="39"/>
                                        </p:tgtEl>
                                        <p:attrNameLst>
                                          <p:attrName>ppt_x</p:attrName>
                                        </p:attrNameLst>
                                      </p:cBhvr>
                                      <p:tavLst>
                                        <p:tav tm="0">
                                          <p:val>
                                            <p:strVal val="#ppt_x"/>
                                          </p:val>
                                        </p:tav>
                                        <p:tav tm="100000">
                                          <p:val>
                                            <p:strVal val="#ppt_x"/>
                                          </p:val>
                                        </p:tav>
                                      </p:tavLst>
                                    </p:anim>
                                    <p:anim calcmode="lin" valueType="num">
                                      <p:cBhvr>
                                        <p:cTn id="74" dur="1000" fill="hold"/>
                                        <p:tgtEl>
                                          <p:spTgt spid="39"/>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1000"/>
                                        <p:tgtEl>
                                          <p:spTgt spid="40"/>
                                        </p:tgtEl>
                                      </p:cBhvr>
                                    </p:animEffect>
                                    <p:anim calcmode="lin" valueType="num">
                                      <p:cBhvr>
                                        <p:cTn id="78" dur="1000" fill="hold"/>
                                        <p:tgtEl>
                                          <p:spTgt spid="40"/>
                                        </p:tgtEl>
                                        <p:attrNameLst>
                                          <p:attrName>ppt_x</p:attrName>
                                        </p:attrNameLst>
                                      </p:cBhvr>
                                      <p:tavLst>
                                        <p:tav tm="0">
                                          <p:val>
                                            <p:strVal val="#ppt_x"/>
                                          </p:val>
                                        </p:tav>
                                        <p:tav tm="100000">
                                          <p:val>
                                            <p:strVal val="#ppt_x"/>
                                          </p:val>
                                        </p:tav>
                                      </p:tavLst>
                                    </p:anim>
                                    <p:anim calcmode="lin" valueType="num">
                                      <p:cBhvr>
                                        <p:cTn id="79" dur="1000" fill="hold"/>
                                        <p:tgtEl>
                                          <p:spTgt spid="40"/>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1000"/>
                                        <p:tgtEl>
                                          <p:spTgt spid="41"/>
                                        </p:tgtEl>
                                      </p:cBhvr>
                                    </p:animEffect>
                                    <p:anim calcmode="lin" valueType="num">
                                      <p:cBhvr>
                                        <p:cTn id="83" dur="1000" fill="hold"/>
                                        <p:tgtEl>
                                          <p:spTgt spid="41"/>
                                        </p:tgtEl>
                                        <p:attrNameLst>
                                          <p:attrName>ppt_x</p:attrName>
                                        </p:attrNameLst>
                                      </p:cBhvr>
                                      <p:tavLst>
                                        <p:tav tm="0">
                                          <p:val>
                                            <p:strVal val="#ppt_x"/>
                                          </p:val>
                                        </p:tav>
                                        <p:tav tm="100000">
                                          <p:val>
                                            <p:strVal val="#ppt_x"/>
                                          </p:val>
                                        </p:tav>
                                      </p:tavLst>
                                    </p:anim>
                                    <p:anim calcmode="lin" valueType="num">
                                      <p:cBhvr>
                                        <p:cTn id="84" dur="1000" fill="hold"/>
                                        <p:tgtEl>
                                          <p:spTgt spid="4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1000"/>
                                        <p:tgtEl>
                                          <p:spTgt spid="42"/>
                                        </p:tgtEl>
                                      </p:cBhvr>
                                    </p:animEffect>
                                    <p:anim calcmode="lin" valueType="num">
                                      <p:cBhvr>
                                        <p:cTn id="88" dur="1000" fill="hold"/>
                                        <p:tgtEl>
                                          <p:spTgt spid="42"/>
                                        </p:tgtEl>
                                        <p:attrNameLst>
                                          <p:attrName>ppt_x</p:attrName>
                                        </p:attrNameLst>
                                      </p:cBhvr>
                                      <p:tavLst>
                                        <p:tav tm="0">
                                          <p:val>
                                            <p:strVal val="#ppt_x"/>
                                          </p:val>
                                        </p:tav>
                                        <p:tav tm="100000">
                                          <p:val>
                                            <p:strVal val="#ppt_x"/>
                                          </p:val>
                                        </p:tav>
                                      </p:tavLst>
                                    </p:anim>
                                    <p:anim calcmode="lin" valueType="num">
                                      <p:cBhvr>
                                        <p:cTn id="89" dur="1000" fill="hold"/>
                                        <p:tgtEl>
                                          <p:spTgt spid="42"/>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1000"/>
                                        <p:tgtEl>
                                          <p:spTgt spid="43"/>
                                        </p:tgtEl>
                                      </p:cBhvr>
                                    </p:animEffect>
                                    <p:anim calcmode="lin" valueType="num">
                                      <p:cBhvr>
                                        <p:cTn id="93" dur="1000" fill="hold"/>
                                        <p:tgtEl>
                                          <p:spTgt spid="43"/>
                                        </p:tgtEl>
                                        <p:attrNameLst>
                                          <p:attrName>ppt_x</p:attrName>
                                        </p:attrNameLst>
                                      </p:cBhvr>
                                      <p:tavLst>
                                        <p:tav tm="0">
                                          <p:val>
                                            <p:strVal val="#ppt_x"/>
                                          </p:val>
                                        </p:tav>
                                        <p:tav tm="100000">
                                          <p:val>
                                            <p:strVal val="#ppt_x"/>
                                          </p:val>
                                        </p:tav>
                                      </p:tavLst>
                                    </p:anim>
                                    <p:anim calcmode="lin" valueType="num">
                                      <p:cBhvr>
                                        <p:cTn id="94" dur="1000" fill="hold"/>
                                        <p:tgtEl>
                                          <p:spTgt spid="4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1000"/>
                                        <p:tgtEl>
                                          <p:spTgt spid="44"/>
                                        </p:tgtEl>
                                      </p:cBhvr>
                                    </p:animEffect>
                                    <p:anim calcmode="lin" valueType="num">
                                      <p:cBhvr>
                                        <p:cTn id="98" dur="1000" fill="hold"/>
                                        <p:tgtEl>
                                          <p:spTgt spid="44"/>
                                        </p:tgtEl>
                                        <p:attrNameLst>
                                          <p:attrName>ppt_x</p:attrName>
                                        </p:attrNameLst>
                                      </p:cBhvr>
                                      <p:tavLst>
                                        <p:tav tm="0">
                                          <p:val>
                                            <p:strVal val="#ppt_x"/>
                                          </p:val>
                                        </p:tav>
                                        <p:tav tm="100000">
                                          <p:val>
                                            <p:strVal val="#ppt_x"/>
                                          </p:val>
                                        </p:tav>
                                      </p:tavLst>
                                    </p:anim>
                                    <p:anim calcmode="lin" valueType="num">
                                      <p:cBhvr>
                                        <p:cTn id="99" dur="1000" fill="hold"/>
                                        <p:tgtEl>
                                          <p:spTgt spid="4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1000"/>
                                        <p:tgtEl>
                                          <p:spTgt spid="45"/>
                                        </p:tgtEl>
                                      </p:cBhvr>
                                    </p:animEffect>
                                    <p:anim calcmode="lin" valueType="num">
                                      <p:cBhvr>
                                        <p:cTn id="103" dur="1000" fill="hold"/>
                                        <p:tgtEl>
                                          <p:spTgt spid="45"/>
                                        </p:tgtEl>
                                        <p:attrNameLst>
                                          <p:attrName>ppt_x</p:attrName>
                                        </p:attrNameLst>
                                      </p:cBhvr>
                                      <p:tavLst>
                                        <p:tav tm="0">
                                          <p:val>
                                            <p:strVal val="#ppt_x"/>
                                          </p:val>
                                        </p:tav>
                                        <p:tav tm="100000">
                                          <p:val>
                                            <p:strVal val="#ppt_x"/>
                                          </p:val>
                                        </p:tav>
                                      </p:tavLst>
                                    </p:anim>
                                    <p:anim calcmode="lin" valueType="num">
                                      <p:cBhvr>
                                        <p:cTn id="10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5438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sz="2800" dirty="0"/>
              <a:t>The PPF is about trade-offs.</a:t>
            </a:r>
          </a:p>
          <a:p>
            <a:r>
              <a:rPr lang="en-US" sz="2800" dirty="0"/>
              <a:t>If Mexico wants to produce more shirts, it must produce fewer computers.</a:t>
            </a:r>
          </a:p>
          <a:p>
            <a:r>
              <a:rPr lang="en-US" sz="2800" dirty="0"/>
              <a:t>Each computer “costs” 12 workers, </a:t>
            </a:r>
          </a:p>
          <a:p>
            <a:r>
              <a:rPr lang="en-US" sz="2800" dirty="0"/>
              <a:t>who could produce 6 shirts.</a:t>
            </a:r>
          </a:p>
          <a:p>
            <a:r>
              <a:rPr lang="en-US" sz="2800" dirty="0"/>
              <a:t>So a computer “costs” 6 shirts in Mexico.</a:t>
            </a:r>
          </a:p>
        </p:txBody>
      </p:sp>
      <p:grpSp>
        <p:nvGrpSpPr>
          <p:cNvPr id="20" name="Group 19"/>
          <p:cNvGrpSpPr/>
          <p:nvPr/>
        </p:nvGrpSpPr>
        <p:grpSpPr>
          <a:xfrm>
            <a:off x="3200400" y="4681425"/>
            <a:ext cx="2205762" cy="1338375"/>
            <a:chOff x="3581400" y="4639007"/>
            <a:chExt cx="1900962" cy="1210119"/>
          </a:xfrm>
        </p:grpSpPr>
        <p:pic>
          <p:nvPicPr>
            <p:cNvPr id="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738411" y="4677936"/>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581400" y="5250984"/>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029573" y="4639007"/>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21338603">
              <a:off x="3872562" y="5156757"/>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208440" y="5309363"/>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476740" y="5178770"/>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803482" y="5309363"/>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079912" y="5217699"/>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297873" y="4719917"/>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610890" y="4643614"/>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913241" y="4719917"/>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214062" y="4649257"/>
              <a:ext cx="268300" cy="539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7" name="Equal 16"/>
          <p:cNvSpPr/>
          <p:nvPr/>
        </p:nvSpPr>
        <p:spPr>
          <a:xfrm>
            <a:off x="5750663" y="4806947"/>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18"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4800" y="4681425"/>
            <a:ext cx="1544406" cy="11939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Equal 18"/>
          <p:cNvSpPr/>
          <p:nvPr/>
        </p:nvSpPr>
        <p:spPr>
          <a:xfrm>
            <a:off x="2211616" y="4806947"/>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1"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29400" y="455551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453336" y="455551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277271" y="455551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291399" y="527405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484372" y="527405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77345" y="5274056"/>
            <a:ext cx="609600" cy="593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40693" y="0"/>
            <a:ext cx="160070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3642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42"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1000"/>
                                        <p:tgtEl>
                                          <p:spTgt spid="21"/>
                                        </p:tgtEl>
                                      </p:cBhvr>
                                    </p:animEffect>
                                    <p:anim calcmode="lin" valueType="num">
                                      <p:cBhvr>
                                        <p:cTn id="24" dur="1000" fill="hold"/>
                                        <p:tgtEl>
                                          <p:spTgt spid="21"/>
                                        </p:tgtEl>
                                        <p:attrNameLst>
                                          <p:attrName>ppt_x</p:attrName>
                                        </p:attrNameLst>
                                      </p:cBhvr>
                                      <p:tavLst>
                                        <p:tav tm="0">
                                          <p:val>
                                            <p:strVal val="#ppt_x"/>
                                          </p:val>
                                        </p:tav>
                                        <p:tav tm="100000">
                                          <p:val>
                                            <p:strVal val="#ppt_x"/>
                                          </p:val>
                                        </p:tav>
                                      </p:tavLst>
                                    </p:anim>
                                    <p:anim calcmode="lin" valueType="num">
                                      <p:cBhvr>
                                        <p:cTn id="25" dur="1000" fill="hold"/>
                                        <p:tgtEl>
                                          <p:spTgt spid="21"/>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1000"/>
                                        <p:tgtEl>
                                          <p:spTgt spid="24"/>
                                        </p:tgtEl>
                                      </p:cBhvr>
                                    </p:animEffect>
                                    <p:anim calcmode="lin" valueType="num">
                                      <p:cBhvr>
                                        <p:cTn id="39" dur="1000" fill="hold"/>
                                        <p:tgtEl>
                                          <p:spTgt spid="24"/>
                                        </p:tgtEl>
                                        <p:attrNameLst>
                                          <p:attrName>ppt_x</p:attrName>
                                        </p:attrNameLst>
                                      </p:cBhvr>
                                      <p:tavLst>
                                        <p:tav tm="0">
                                          <p:val>
                                            <p:strVal val="#ppt_x"/>
                                          </p:val>
                                        </p:tav>
                                        <p:tav tm="100000">
                                          <p:val>
                                            <p:strVal val="#ppt_x"/>
                                          </p:val>
                                        </p:tav>
                                      </p:tavLst>
                                    </p:anim>
                                    <p:anim calcmode="lin" valueType="num">
                                      <p:cBhvr>
                                        <p:cTn id="40" dur="1000" fill="hold"/>
                                        <p:tgtEl>
                                          <p:spTgt spid="24"/>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5438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a:xfrm>
            <a:off x="228600" y="1371600"/>
            <a:ext cx="8839200" cy="4267200"/>
          </a:xfrm>
        </p:spPr>
        <p:txBody>
          <a:bodyPr/>
          <a:lstStyle/>
          <a:p>
            <a:r>
              <a:rPr lang="en-US" sz="2800" dirty="0"/>
              <a:t>AND…</a:t>
            </a:r>
          </a:p>
          <a:p>
            <a:r>
              <a:rPr lang="en-US" sz="2800" dirty="0"/>
              <a:t>Each shirt “costs” 2 workers,</a:t>
            </a:r>
          </a:p>
          <a:p>
            <a:r>
              <a:rPr lang="en-US" sz="2800" dirty="0"/>
              <a:t>who could produce one-sixth of a computer.</a:t>
            </a:r>
          </a:p>
          <a:p>
            <a:r>
              <a:rPr lang="en-US" sz="2800" dirty="0"/>
              <a:t>So a shirt “costs” one-sixth of a computer in Mexico.</a:t>
            </a:r>
          </a:p>
        </p:txBody>
      </p:sp>
      <p:pic>
        <p:nvPicPr>
          <p:cNvPr id="5"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791238" y="4496729"/>
            <a:ext cx="711978" cy="13652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4503216" y="4545096"/>
            <a:ext cx="613358" cy="11761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Equal 16"/>
          <p:cNvSpPr/>
          <p:nvPr/>
        </p:nvSpPr>
        <p:spPr>
          <a:xfrm>
            <a:off x="5750663" y="4806947"/>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18"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705600" y="4681425"/>
            <a:ext cx="1544406" cy="11939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Equal 18"/>
          <p:cNvSpPr/>
          <p:nvPr/>
        </p:nvSpPr>
        <p:spPr>
          <a:xfrm>
            <a:off x="2211616" y="4806947"/>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1" name="Picture 2"/>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62000" y="4675294"/>
            <a:ext cx="1219200" cy="11866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510847" y="4675294"/>
            <a:ext cx="966956" cy="523220"/>
          </a:xfrm>
          <a:prstGeom prst="rect">
            <a:avLst/>
          </a:prstGeom>
          <a:noFill/>
        </p:spPr>
        <p:txBody>
          <a:bodyPr wrap="square" rtlCol="0">
            <a:spAutoFit/>
          </a:bodyPr>
          <a:lstStyle/>
          <a:p>
            <a:r>
              <a:rPr lang="en-US" sz="2800" b="1" dirty="0">
                <a:latin typeface="Century Gothic"/>
                <a:cs typeface="Century Gothic"/>
              </a:rPr>
              <a:t>1/6</a:t>
            </a:r>
          </a:p>
        </p:txBody>
      </p:sp>
      <p:pic>
        <p:nvPicPr>
          <p:cNvPr id="27" name="Picture 3"/>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7793558" y="4682126"/>
            <a:ext cx="436042" cy="11939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2"/>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540693" y="0"/>
            <a:ext cx="160070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893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xit" presetSubtype="0" fill="hold" nodeType="withEffect">
                                  <p:stCondLst>
                                    <p:cond delay="0"/>
                                  </p:stCondLst>
                                  <p:childTnLst>
                                    <p:animEffect transition="out" filter="fade">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5438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pPr algn="ctr"/>
            <a:r>
              <a:rPr lang="en-US" sz="2400" dirty="0"/>
              <a:t>Mexico’s Production Possibilities Frontier</a:t>
            </a:r>
          </a:p>
        </p:txBody>
      </p:sp>
      <p:graphicFrame>
        <p:nvGraphicFramePr>
          <p:cNvPr id="5" name="Content Placeholder 3"/>
          <p:cNvGraphicFramePr>
            <a:graphicFrameLocks/>
          </p:cNvGraphicFramePr>
          <p:nvPr>
            <p:extLst>
              <p:ext uri="{D42A27DB-BD31-4B8C-83A1-F6EECF244321}">
                <p14:modId xmlns:p14="http://schemas.microsoft.com/office/powerpoint/2010/main" val="344803218"/>
              </p:ext>
            </p:extLst>
          </p:nvPr>
        </p:nvGraphicFramePr>
        <p:xfrm>
          <a:off x="5193252" y="1741563"/>
          <a:ext cx="3581400" cy="1493520"/>
        </p:xfrm>
        <a:graphic>
          <a:graphicData uri="http://schemas.openxmlformats.org/drawingml/2006/table">
            <a:tbl>
              <a:tblPr/>
              <a:tblGrid>
                <a:gridCol w="13716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449540">
                <a:tc gridSpan="2">
                  <a:txBody>
                    <a:bodyPr/>
                    <a:lstStyle/>
                    <a:p>
                      <a:pPr marL="0" marR="0">
                        <a:spcBef>
                          <a:spcPts val="0"/>
                        </a:spcBef>
                        <a:spcAft>
                          <a:spcPts val="0"/>
                        </a:spcAft>
                      </a:pPr>
                      <a:r>
                        <a:rPr lang="en-US" sz="1600" b="1" dirty="0">
                          <a:latin typeface="Century Gothic"/>
                          <a:ea typeface="Batang"/>
                        </a:rPr>
                        <a:t>Production Possibilities</a:t>
                      </a:r>
                      <a:endParaRPr lang="en-US" sz="20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hMerge="1">
                  <a:txBody>
                    <a:bodyPr/>
                    <a:lstStyle/>
                    <a:p>
                      <a:endParaRPr lang="en-US"/>
                    </a:p>
                  </a:txBody>
                  <a:tcPr/>
                </a:tc>
                <a:extLst>
                  <a:ext uri="{0D108BD9-81ED-4DB2-BD59-A6C34878D82A}">
                    <a16:rowId xmlns:a16="http://schemas.microsoft.com/office/drawing/2014/main" val="10000"/>
                  </a:ext>
                </a:extLst>
              </a:tr>
              <a:tr h="312460">
                <a:tc>
                  <a:txBody>
                    <a:bodyPr/>
                    <a:lstStyle/>
                    <a:p>
                      <a:pPr marL="0" marR="0" algn="ctr">
                        <a:spcBef>
                          <a:spcPts val="0"/>
                        </a:spcBef>
                        <a:spcAft>
                          <a:spcPts val="0"/>
                        </a:spcAft>
                      </a:pPr>
                      <a:r>
                        <a:rPr lang="en-US" sz="1600" b="1" dirty="0">
                          <a:solidFill>
                            <a:schemeClr val="accent1">
                              <a:lumMod val="75000"/>
                            </a:schemeClr>
                          </a:solidFill>
                          <a:latin typeface="Century Gothic" pitchFamily="34" charset="0"/>
                          <a:ea typeface="Batang"/>
                        </a:rPr>
                        <a:t>Computers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ctr">
                        <a:spcBef>
                          <a:spcPts val="0"/>
                        </a:spcBef>
                        <a:spcAft>
                          <a:spcPts val="0"/>
                        </a:spcAft>
                      </a:pPr>
                      <a:r>
                        <a:rPr lang="en-US" sz="1600" b="1" dirty="0">
                          <a:solidFill>
                            <a:schemeClr val="accent1">
                              <a:lumMod val="75000"/>
                            </a:schemeClr>
                          </a:solidFill>
                          <a:latin typeface="Century Gothic"/>
                          <a:ea typeface="Batang"/>
                        </a:rPr>
                        <a:t>Shirts</a:t>
                      </a:r>
                      <a:endParaRPr lang="en-US" sz="2000" dirty="0">
                        <a:solidFill>
                          <a:schemeClr val="accent1">
                            <a:lumMod val="75000"/>
                          </a:schemeClr>
                        </a:solidFill>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extLst>
                  <a:ext uri="{0D108BD9-81ED-4DB2-BD59-A6C34878D82A}">
                    <a16:rowId xmlns:a16="http://schemas.microsoft.com/office/drawing/2014/main" val="10001"/>
                  </a:ext>
                </a:extLst>
              </a:tr>
              <a:tr h="224770">
                <a:tc>
                  <a:txBody>
                    <a:bodyPr/>
                    <a:lstStyle/>
                    <a:p>
                      <a:pPr marL="0" marR="0" algn="l">
                        <a:spcBef>
                          <a:spcPts val="0"/>
                        </a:spcBef>
                        <a:spcAft>
                          <a:spcPts val="0"/>
                        </a:spcAft>
                      </a:pPr>
                      <a:r>
                        <a:rPr lang="en-US" sz="1600" b="1" dirty="0">
                          <a:latin typeface="Century Gothic" pitchFamily="34" charset="0"/>
                          <a:ea typeface="Batang"/>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a:latin typeface="Century Gothic" pitchFamily="34" charset="0"/>
                          <a:ea typeface="Batang"/>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extLst>
                  <a:ext uri="{0D108BD9-81ED-4DB2-BD59-A6C34878D82A}">
                    <a16:rowId xmlns:a16="http://schemas.microsoft.com/office/drawing/2014/main" val="10002"/>
                  </a:ext>
                </a:extLst>
              </a:tr>
              <a:tr h="224770">
                <a:tc>
                  <a:txBody>
                    <a:bodyPr/>
                    <a:lstStyle/>
                    <a:p>
                      <a:pPr marL="0" marR="0" algn="l">
                        <a:spcBef>
                          <a:spcPts val="0"/>
                        </a:spcBef>
                        <a:spcAft>
                          <a:spcPts val="0"/>
                        </a:spcAft>
                      </a:pPr>
                      <a:r>
                        <a:rPr lang="en-US" sz="1600" b="1" dirty="0">
                          <a:latin typeface="Century Gothic" pitchFamily="34" charset="0"/>
                          <a:ea typeface="Batang"/>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a:latin typeface="Century Gothic" pitchFamily="34" charset="0"/>
                          <a:ea typeface="Batang"/>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extLst>
                  <a:ext uri="{0D108BD9-81ED-4DB2-BD59-A6C34878D82A}">
                    <a16:rowId xmlns:a16="http://schemas.microsoft.com/office/drawing/2014/main" val="10003"/>
                  </a:ext>
                </a:extLst>
              </a:tr>
              <a:tr h="224770">
                <a:tc>
                  <a:txBody>
                    <a:bodyPr/>
                    <a:lstStyle/>
                    <a:p>
                      <a:pPr marL="0" marR="0" algn="l">
                        <a:spcBef>
                          <a:spcPts val="0"/>
                        </a:spcBef>
                        <a:spcAft>
                          <a:spcPts val="0"/>
                        </a:spcAft>
                      </a:pPr>
                      <a:r>
                        <a:rPr lang="en-US" sz="1600" b="1" dirty="0">
                          <a:latin typeface="Century Gothic" pitchFamily="34" charset="0"/>
                          <a:ea typeface="Batang"/>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tc>
                  <a:txBody>
                    <a:bodyPr/>
                    <a:lstStyle/>
                    <a:p>
                      <a:pPr marL="0" marR="0" algn="l">
                        <a:spcBef>
                          <a:spcPts val="0"/>
                        </a:spcBef>
                        <a:spcAft>
                          <a:spcPts val="0"/>
                        </a:spcAft>
                      </a:pPr>
                      <a:r>
                        <a:rPr lang="en-US" sz="1600" b="1" dirty="0">
                          <a:latin typeface="Century Gothic" pitchFamily="34" charset="0"/>
                          <a:ea typeface="Batang"/>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AFF"/>
                    </a:solidFill>
                  </a:tcPr>
                </a:tc>
                <a:extLst>
                  <a:ext uri="{0D108BD9-81ED-4DB2-BD59-A6C34878D82A}">
                    <a16:rowId xmlns:a16="http://schemas.microsoft.com/office/drawing/2014/main" val="10004"/>
                  </a:ext>
                </a:extLst>
              </a:tr>
            </a:tbl>
          </a:graphicData>
        </a:graphic>
      </p:graphicFrame>
      <p:sp>
        <p:nvSpPr>
          <p:cNvPr id="6" name="Oval 5"/>
          <p:cNvSpPr/>
          <p:nvPr/>
        </p:nvSpPr>
        <p:spPr>
          <a:xfrm>
            <a:off x="5204904" y="25020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7" name="Oval 6"/>
          <p:cNvSpPr/>
          <p:nvPr/>
        </p:nvSpPr>
        <p:spPr>
          <a:xfrm>
            <a:off x="6543336" y="25020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9" name="Oval 8"/>
          <p:cNvSpPr/>
          <p:nvPr/>
        </p:nvSpPr>
        <p:spPr>
          <a:xfrm>
            <a:off x="5210448" y="27306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10" name="Oval 9"/>
          <p:cNvSpPr/>
          <p:nvPr/>
        </p:nvSpPr>
        <p:spPr>
          <a:xfrm>
            <a:off x="6571515" y="27306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12" name="Oval 11"/>
          <p:cNvSpPr/>
          <p:nvPr/>
        </p:nvSpPr>
        <p:spPr>
          <a:xfrm>
            <a:off x="5204904" y="29592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cxnSp>
        <p:nvCxnSpPr>
          <p:cNvPr id="23" name="Straight Connector 22"/>
          <p:cNvCxnSpPr/>
          <p:nvPr/>
        </p:nvCxnSpPr>
        <p:spPr bwMode="auto">
          <a:xfrm>
            <a:off x="1084944" y="4405699"/>
            <a:ext cx="3791856" cy="1309301"/>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26" name="Straight Connector 25"/>
          <p:cNvCxnSpPr/>
          <p:nvPr/>
        </p:nvCxnSpPr>
        <p:spPr bwMode="auto">
          <a:xfrm rot="5400000">
            <a:off x="-1066800" y="3563256"/>
            <a:ext cx="42672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a:off x="1084944" y="5696856"/>
            <a:ext cx="42672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9" name="TextBox 28"/>
          <p:cNvSpPr txBox="1"/>
          <p:nvPr/>
        </p:nvSpPr>
        <p:spPr>
          <a:xfrm>
            <a:off x="609600" y="1600200"/>
            <a:ext cx="457200" cy="276999"/>
          </a:xfrm>
          <a:prstGeom prst="rect">
            <a:avLst/>
          </a:prstGeom>
          <a:noFill/>
        </p:spPr>
        <p:txBody>
          <a:bodyPr wrap="square" rtlCol="0">
            <a:spAutoFit/>
          </a:bodyPr>
          <a:lstStyle/>
          <a:p>
            <a:r>
              <a:rPr lang="en-US" sz="1200" b="1" dirty="0">
                <a:latin typeface="Century Gothic"/>
                <a:cs typeface="Century Gothic"/>
              </a:rPr>
              <a:t>6</a:t>
            </a:r>
          </a:p>
        </p:txBody>
      </p:sp>
      <p:sp>
        <p:nvSpPr>
          <p:cNvPr id="38" name="TextBox 37"/>
          <p:cNvSpPr txBox="1"/>
          <p:nvPr/>
        </p:nvSpPr>
        <p:spPr>
          <a:xfrm>
            <a:off x="609600" y="2286000"/>
            <a:ext cx="457200" cy="276999"/>
          </a:xfrm>
          <a:prstGeom prst="rect">
            <a:avLst/>
          </a:prstGeom>
          <a:noFill/>
        </p:spPr>
        <p:txBody>
          <a:bodyPr wrap="square" rtlCol="0">
            <a:spAutoFit/>
          </a:bodyPr>
          <a:lstStyle/>
          <a:p>
            <a:r>
              <a:rPr lang="en-US" sz="1200" b="1" dirty="0">
                <a:latin typeface="Century Gothic"/>
                <a:cs typeface="Century Gothic"/>
              </a:rPr>
              <a:t>5</a:t>
            </a:r>
          </a:p>
        </p:txBody>
      </p:sp>
      <p:sp>
        <p:nvSpPr>
          <p:cNvPr id="39" name="TextBox 38"/>
          <p:cNvSpPr txBox="1"/>
          <p:nvPr/>
        </p:nvSpPr>
        <p:spPr>
          <a:xfrm>
            <a:off x="609600" y="2895600"/>
            <a:ext cx="457200" cy="276999"/>
          </a:xfrm>
          <a:prstGeom prst="rect">
            <a:avLst/>
          </a:prstGeom>
          <a:noFill/>
        </p:spPr>
        <p:txBody>
          <a:bodyPr wrap="square" rtlCol="0">
            <a:spAutoFit/>
          </a:bodyPr>
          <a:lstStyle/>
          <a:p>
            <a:r>
              <a:rPr lang="en-US" sz="1200" b="1" dirty="0">
                <a:latin typeface="Century Gothic"/>
                <a:cs typeface="Century Gothic"/>
              </a:rPr>
              <a:t>4</a:t>
            </a:r>
          </a:p>
        </p:txBody>
      </p:sp>
      <p:sp>
        <p:nvSpPr>
          <p:cNvPr id="40" name="TextBox 39"/>
          <p:cNvSpPr txBox="1"/>
          <p:nvPr/>
        </p:nvSpPr>
        <p:spPr>
          <a:xfrm>
            <a:off x="609600" y="3657600"/>
            <a:ext cx="457200" cy="276999"/>
          </a:xfrm>
          <a:prstGeom prst="rect">
            <a:avLst/>
          </a:prstGeom>
          <a:noFill/>
        </p:spPr>
        <p:txBody>
          <a:bodyPr wrap="square" rtlCol="0">
            <a:spAutoFit/>
          </a:bodyPr>
          <a:lstStyle/>
          <a:p>
            <a:r>
              <a:rPr lang="en-US" sz="1200" b="1" dirty="0">
                <a:latin typeface="Century Gothic"/>
                <a:cs typeface="Century Gothic"/>
              </a:rPr>
              <a:t>3</a:t>
            </a:r>
          </a:p>
        </p:txBody>
      </p:sp>
      <p:sp>
        <p:nvSpPr>
          <p:cNvPr id="41" name="TextBox 40"/>
          <p:cNvSpPr txBox="1"/>
          <p:nvPr/>
        </p:nvSpPr>
        <p:spPr>
          <a:xfrm>
            <a:off x="609600" y="4267200"/>
            <a:ext cx="457200" cy="276999"/>
          </a:xfrm>
          <a:prstGeom prst="rect">
            <a:avLst/>
          </a:prstGeom>
          <a:noFill/>
        </p:spPr>
        <p:txBody>
          <a:bodyPr wrap="square" rtlCol="0">
            <a:spAutoFit/>
          </a:bodyPr>
          <a:lstStyle/>
          <a:p>
            <a:r>
              <a:rPr lang="en-US" sz="1200" b="1" dirty="0">
                <a:latin typeface="Century Gothic"/>
                <a:cs typeface="Century Gothic"/>
              </a:rPr>
              <a:t>2</a:t>
            </a:r>
          </a:p>
        </p:txBody>
      </p:sp>
      <p:sp>
        <p:nvSpPr>
          <p:cNvPr id="42" name="TextBox 41"/>
          <p:cNvSpPr txBox="1"/>
          <p:nvPr/>
        </p:nvSpPr>
        <p:spPr>
          <a:xfrm>
            <a:off x="609600" y="4953000"/>
            <a:ext cx="457200" cy="276999"/>
          </a:xfrm>
          <a:prstGeom prst="rect">
            <a:avLst/>
          </a:prstGeom>
          <a:noFill/>
        </p:spPr>
        <p:txBody>
          <a:bodyPr wrap="square" rtlCol="0">
            <a:spAutoFit/>
          </a:bodyPr>
          <a:lstStyle/>
          <a:p>
            <a:r>
              <a:rPr lang="en-US" sz="1200" b="1" dirty="0">
                <a:latin typeface="Century Gothic"/>
                <a:cs typeface="Century Gothic"/>
              </a:rPr>
              <a:t>1</a:t>
            </a:r>
          </a:p>
        </p:txBody>
      </p:sp>
      <p:sp>
        <p:nvSpPr>
          <p:cNvPr id="43" name="TextBox 42"/>
          <p:cNvSpPr txBox="1"/>
          <p:nvPr/>
        </p:nvSpPr>
        <p:spPr>
          <a:xfrm>
            <a:off x="1447800" y="5791200"/>
            <a:ext cx="457200" cy="276999"/>
          </a:xfrm>
          <a:prstGeom prst="rect">
            <a:avLst/>
          </a:prstGeom>
          <a:noFill/>
        </p:spPr>
        <p:txBody>
          <a:bodyPr wrap="square" rtlCol="0">
            <a:spAutoFit/>
          </a:bodyPr>
          <a:lstStyle/>
          <a:p>
            <a:r>
              <a:rPr lang="en-US" sz="1200" b="1" dirty="0">
                <a:latin typeface="Century Gothic"/>
                <a:cs typeface="Century Gothic"/>
              </a:rPr>
              <a:t>2</a:t>
            </a:r>
          </a:p>
        </p:txBody>
      </p:sp>
      <p:sp>
        <p:nvSpPr>
          <p:cNvPr id="44" name="TextBox 43"/>
          <p:cNvSpPr txBox="1"/>
          <p:nvPr/>
        </p:nvSpPr>
        <p:spPr>
          <a:xfrm>
            <a:off x="4648200" y="5791200"/>
            <a:ext cx="457200" cy="276999"/>
          </a:xfrm>
          <a:prstGeom prst="rect">
            <a:avLst/>
          </a:prstGeom>
          <a:noFill/>
        </p:spPr>
        <p:txBody>
          <a:bodyPr wrap="square" rtlCol="0">
            <a:spAutoFit/>
          </a:bodyPr>
          <a:lstStyle/>
          <a:p>
            <a:r>
              <a:rPr lang="en-US" sz="1200" b="1" dirty="0">
                <a:latin typeface="Century Gothic"/>
                <a:cs typeface="Century Gothic"/>
              </a:rPr>
              <a:t>12</a:t>
            </a:r>
          </a:p>
        </p:txBody>
      </p:sp>
      <p:sp>
        <p:nvSpPr>
          <p:cNvPr id="45" name="TextBox 44"/>
          <p:cNvSpPr txBox="1"/>
          <p:nvPr/>
        </p:nvSpPr>
        <p:spPr>
          <a:xfrm>
            <a:off x="3962400" y="5791200"/>
            <a:ext cx="457200" cy="276999"/>
          </a:xfrm>
          <a:prstGeom prst="rect">
            <a:avLst/>
          </a:prstGeom>
          <a:noFill/>
        </p:spPr>
        <p:txBody>
          <a:bodyPr wrap="square" rtlCol="0">
            <a:spAutoFit/>
          </a:bodyPr>
          <a:lstStyle/>
          <a:p>
            <a:r>
              <a:rPr lang="en-US" sz="1200" b="1" dirty="0">
                <a:latin typeface="Century Gothic"/>
                <a:cs typeface="Century Gothic"/>
              </a:rPr>
              <a:t>10</a:t>
            </a:r>
          </a:p>
        </p:txBody>
      </p:sp>
      <p:sp>
        <p:nvSpPr>
          <p:cNvPr id="46" name="TextBox 45"/>
          <p:cNvSpPr txBox="1"/>
          <p:nvPr/>
        </p:nvSpPr>
        <p:spPr>
          <a:xfrm>
            <a:off x="3429000" y="5791200"/>
            <a:ext cx="457200" cy="276999"/>
          </a:xfrm>
          <a:prstGeom prst="rect">
            <a:avLst/>
          </a:prstGeom>
          <a:noFill/>
        </p:spPr>
        <p:txBody>
          <a:bodyPr wrap="square" rtlCol="0">
            <a:spAutoFit/>
          </a:bodyPr>
          <a:lstStyle/>
          <a:p>
            <a:r>
              <a:rPr lang="en-US" sz="1200" b="1" dirty="0">
                <a:latin typeface="Century Gothic"/>
                <a:cs typeface="Century Gothic"/>
              </a:rPr>
              <a:t>8</a:t>
            </a:r>
          </a:p>
        </p:txBody>
      </p:sp>
      <p:sp>
        <p:nvSpPr>
          <p:cNvPr id="47" name="TextBox 46"/>
          <p:cNvSpPr txBox="1"/>
          <p:nvPr/>
        </p:nvSpPr>
        <p:spPr>
          <a:xfrm>
            <a:off x="2743200" y="5791200"/>
            <a:ext cx="457200" cy="276999"/>
          </a:xfrm>
          <a:prstGeom prst="rect">
            <a:avLst/>
          </a:prstGeom>
          <a:noFill/>
        </p:spPr>
        <p:txBody>
          <a:bodyPr wrap="square" rtlCol="0">
            <a:spAutoFit/>
          </a:bodyPr>
          <a:lstStyle/>
          <a:p>
            <a:r>
              <a:rPr lang="en-US" sz="1200" b="1" dirty="0">
                <a:latin typeface="Century Gothic"/>
                <a:cs typeface="Century Gothic"/>
              </a:rPr>
              <a:t>6</a:t>
            </a:r>
          </a:p>
        </p:txBody>
      </p:sp>
      <p:sp>
        <p:nvSpPr>
          <p:cNvPr id="48" name="TextBox 47"/>
          <p:cNvSpPr txBox="1"/>
          <p:nvPr/>
        </p:nvSpPr>
        <p:spPr>
          <a:xfrm>
            <a:off x="2057400" y="5791200"/>
            <a:ext cx="457200" cy="276999"/>
          </a:xfrm>
          <a:prstGeom prst="rect">
            <a:avLst/>
          </a:prstGeom>
          <a:noFill/>
        </p:spPr>
        <p:txBody>
          <a:bodyPr wrap="square" rtlCol="0">
            <a:spAutoFit/>
          </a:bodyPr>
          <a:lstStyle/>
          <a:p>
            <a:r>
              <a:rPr lang="en-US" sz="1200" b="1" dirty="0">
                <a:latin typeface="Century Gothic"/>
                <a:cs typeface="Century Gothic"/>
              </a:rPr>
              <a:t>4</a:t>
            </a:r>
          </a:p>
        </p:txBody>
      </p:sp>
      <p:sp>
        <p:nvSpPr>
          <p:cNvPr id="8" name="Oval 7"/>
          <p:cNvSpPr/>
          <p:nvPr/>
        </p:nvSpPr>
        <p:spPr>
          <a:xfrm>
            <a:off x="1008744" y="4329946"/>
            <a:ext cx="152400" cy="151506"/>
          </a:xfrm>
          <a:prstGeom prst="ellipse">
            <a:avLst/>
          </a:prstGeom>
          <a:solidFill>
            <a:srgbClr val="FFFF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11" name="Oval 10"/>
          <p:cNvSpPr/>
          <p:nvPr/>
        </p:nvSpPr>
        <p:spPr>
          <a:xfrm>
            <a:off x="2828472" y="4956886"/>
            <a:ext cx="152400" cy="151506"/>
          </a:xfrm>
          <a:prstGeom prst="ellipse">
            <a:avLst/>
          </a:prstGeom>
          <a:solidFill>
            <a:srgbClr val="FFFF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14" name="Oval 13"/>
          <p:cNvSpPr/>
          <p:nvPr/>
        </p:nvSpPr>
        <p:spPr>
          <a:xfrm>
            <a:off x="4675910" y="5607248"/>
            <a:ext cx="152400" cy="151506"/>
          </a:xfrm>
          <a:prstGeom prst="ellipse">
            <a:avLst/>
          </a:prstGeom>
          <a:solidFill>
            <a:srgbClr val="FFFF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cxnSp>
        <p:nvCxnSpPr>
          <p:cNvPr id="57" name="Straight Arrow Connector 56"/>
          <p:cNvCxnSpPr/>
          <p:nvPr/>
        </p:nvCxnSpPr>
        <p:spPr bwMode="auto">
          <a:xfrm flipH="1">
            <a:off x="1905000" y="2743200"/>
            <a:ext cx="685800" cy="185031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58" name="TextBox 57"/>
          <p:cNvSpPr txBox="1"/>
          <p:nvPr/>
        </p:nvSpPr>
        <p:spPr>
          <a:xfrm>
            <a:off x="2514600" y="2286000"/>
            <a:ext cx="1143000" cy="369332"/>
          </a:xfrm>
          <a:prstGeom prst="rect">
            <a:avLst/>
          </a:prstGeom>
          <a:noFill/>
          <a:effectLst/>
        </p:spPr>
        <p:txBody>
          <a:bodyPr wrap="square" rtlCol="0">
            <a:spAutoFit/>
          </a:bodyPr>
          <a:lstStyle/>
          <a:p>
            <a:r>
              <a:rPr lang="en-US" b="1" dirty="0">
                <a:latin typeface="Century Gothic"/>
                <a:cs typeface="Century Gothic"/>
              </a:rPr>
              <a:t>The PPF</a:t>
            </a:r>
          </a:p>
        </p:txBody>
      </p:sp>
      <p:sp>
        <p:nvSpPr>
          <p:cNvPr id="60" name="Text Box 6"/>
          <p:cNvSpPr txBox="1">
            <a:spLocks noChangeArrowheads="1"/>
          </p:cNvSpPr>
          <p:nvPr/>
        </p:nvSpPr>
        <p:spPr bwMode="auto">
          <a:xfrm>
            <a:off x="69923" y="1062962"/>
            <a:ext cx="1402948" cy="369332"/>
          </a:xfrm>
          <a:prstGeom prst="rect">
            <a:avLst/>
          </a:prstGeom>
          <a:noFill/>
          <a:ln w="9525">
            <a:noFill/>
            <a:miter lim="800000"/>
            <a:headEnd/>
            <a:tailEnd/>
          </a:ln>
        </p:spPr>
        <p:txBody>
          <a:bodyPr wrap="none">
            <a:spAutoFit/>
          </a:bodyPr>
          <a:lstStyle/>
          <a:p>
            <a:r>
              <a:rPr lang="en-US" sz="1800" b="1" dirty="0">
                <a:latin typeface="Century Gothic"/>
                <a:cs typeface="Century Gothic"/>
              </a:rPr>
              <a:t>Computers</a:t>
            </a:r>
          </a:p>
        </p:txBody>
      </p:sp>
      <p:sp>
        <p:nvSpPr>
          <p:cNvPr id="61" name="Text Box 8"/>
          <p:cNvSpPr txBox="1">
            <a:spLocks noChangeArrowheads="1"/>
          </p:cNvSpPr>
          <p:nvPr/>
        </p:nvSpPr>
        <p:spPr bwMode="auto">
          <a:xfrm>
            <a:off x="5228772" y="5698867"/>
            <a:ext cx="742511" cy="369332"/>
          </a:xfrm>
          <a:prstGeom prst="rect">
            <a:avLst/>
          </a:prstGeom>
          <a:noFill/>
          <a:ln w="9525">
            <a:noFill/>
            <a:miter lim="800000"/>
            <a:headEnd/>
            <a:tailEnd/>
          </a:ln>
        </p:spPr>
        <p:txBody>
          <a:bodyPr wrap="none">
            <a:spAutoFit/>
          </a:bodyPr>
          <a:lstStyle/>
          <a:p>
            <a:r>
              <a:rPr lang="en-US" sz="1800" b="1" dirty="0">
                <a:latin typeface="Century Gothic"/>
                <a:cs typeface="Century Gothic"/>
              </a:rPr>
              <a:t>Shirts</a:t>
            </a:r>
          </a:p>
        </p:txBody>
      </p:sp>
      <p:sp>
        <p:nvSpPr>
          <p:cNvPr id="53" name="Oval 52"/>
          <p:cNvSpPr/>
          <p:nvPr/>
        </p:nvSpPr>
        <p:spPr>
          <a:xfrm>
            <a:off x="6599487" y="2959239"/>
            <a:ext cx="3048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noFill/>
              <a:latin typeface="Century Gothic"/>
              <a:cs typeface="Century Gothic"/>
            </a:endParaRPr>
          </a:p>
        </p:txBody>
      </p:sp>
      <p:sp>
        <p:nvSpPr>
          <p:cNvPr id="30" name="TextBox 29"/>
          <p:cNvSpPr txBox="1"/>
          <p:nvPr/>
        </p:nvSpPr>
        <p:spPr>
          <a:xfrm>
            <a:off x="4876800" y="3733800"/>
            <a:ext cx="4038600" cy="1631216"/>
          </a:xfrm>
          <a:prstGeom prst="rect">
            <a:avLst/>
          </a:prstGeom>
          <a:noFill/>
        </p:spPr>
        <p:txBody>
          <a:bodyPr wrap="square" rtlCol="0">
            <a:spAutoFit/>
          </a:bodyPr>
          <a:lstStyle/>
          <a:p>
            <a:r>
              <a:rPr lang="en-US" sz="2000" b="1" i="1" dirty="0">
                <a:solidFill>
                  <a:schemeClr val="tx1">
                    <a:lumMod val="75000"/>
                    <a:lumOff val="25000"/>
                  </a:schemeClr>
                </a:solidFill>
                <a:latin typeface="Century Gothic"/>
                <a:cs typeface="Century Gothic"/>
              </a:rPr>
              <a:t>The slope = the trade-off (“cost”) of one good for the other</a:t>
            </a:r>
            <a:r>
              <a:rPr lang="en-US" sz="2000" b="1" dirty="0">
                <a:solidFill>
                  <a:schemeClr val="tx1">
                    <a:lumMod val="75000"/>
                    <a:lumOff val="25000"/>
                  </a:schemeClr>
                </a:solidFill>
                <a:latin typeface="Century Gothic"/>
                <a:cs typeface="Century Gothic"/>
              </a:rPr>
              <a:t>.</a:t>
            </a:r>
            <a:r>
              <a:rPr lang="en-US" sz="2000" b="1" i="1" dirty="0">
                <a:solidFill>
                  <a:schemeClr val="tx1">
                    <a:lumMod val="75000"/>
                    <a:lumOff val="25000"/>
                  </a:schemeClr>
                </a:solidFill>
                <a:latin typeface="Century Gothic"/>
                <a:cs typeface="Century Gothic"/>
              </a:rPr>
              <a:t> (One-sixth  of  a computer = 1 shirt: 1 shirt “costs” 6 computers.)</a:t>
            </a:r>
          </a:p>
        </p:txBody>
      </p:sp>
      <p:pic>
        <p:nvPicPr>
          <p:cNvPr id="56"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540693" y="0"/>
            <a:ext cx="160070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01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2000"/>
                                        <p:tgtEl>
                                          <p:spTgt spid="6"/>
                                        </p:tgtEl>
                                      </p:cBhvr>
                                    </p:animEffect>
                                    <p:set>
                                      <p:cBhvr>
                                        <p:cTn id="23" dur="1" fill="hold">
                                          <p:stCondLst>
                                            <p:cond delay="1999"/>
                                          </p:stCondLst>
                                        </p:cTn>
                                        <p:tgtEl>
                                          <p:spTgt spid="6"/>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2000"/>
                                        <p:tgtEl>
                                          <p:spTgt spid="7"/>
                                        </p:tgtEl>
                                      </p:cBhvr>
                                    </p:animEffect>
                                    <p:set>
                                      <p:cBhvr>
                                        <p:cTn id="26" dur="1" fill="hold">
                                          <p:stCondLst>
                                            <p:cond delay="1999"/>
                                          </p:stCondLst>
                                        </p:cTn>
                                        <p:tgtEl>
                                          <p:spTgt spid="7"/>
                                        </p:tgtEl>
                                        <p:attrNameLst>
                                          <p:attrName>style.visibility</p:attrName>
                                        </p:attrNameLst>
                                      </p:cBhvr>
                                      <p:to>
                                        <p:strVal val="hidden"/>
                                      </p:to>
                                    </p:set>
                                  </p:childTnLst>
                                </p:cTn>
                              </p:par>
                              <p:par>
                                <p:cTn id="27" presetID="9"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2000"/>
                                        <p:tgtEl>
                                          <p:spTgt spid="9"/>
                                        </p:tgtEl>
                                      </p:cBhvr>
                                    </p:animEffect>
                                    <p:set>
                                      <p:cBhvr>
                                        <p:cTn id="40" dur="1" fill="hold">
                                          <p:stCondLst>
                                            <p:cond delay="1999"/>
                                          </p:stCondLst>
                                        </p:cTn>
                                        <p:tgtEl>
                                          <p:spTgt spid="9"/>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2000"/>
                                        <p:tgtEl>
                                          <p:spTgt spid="10"/>
                                        </p:tgtEl>
                                      </p:cBhvr>
                                    </p:animEffect>
                                    <p:set>
                                      <p:cBhvr>
                                        <p:cTn id="43" dur="1" fill="hold">
                                          <p:stCondLst>
                                            <p:cond delay="1999"/>
                                          </p:stCondLst>
                                        </p:cTn>
                                        <p:tgtEl>
                                          <p:spTgt spid="10"/>
                                        </p:tgtEl>
                                        <p:attrNameLst>
                                          <p:attrName>style.visibility</p:attrName>
                                        </p:attrNameLst>
                                      </p:cBhvr>
                                      <p:to>
                                        <p:strVal val="hidden"/>
                                      </p:to>
                                    </p:set>
                                  </p:childTnLst>
                                </p:cTn>
                              </p:par>
                              <p:par>
                                <p:cTn id="44" presetID="9"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dissolve">
                                      <p:cBhvr>
                                        <p:cTn id="49" dur="500"/>
                                        <p:tgtEl>
                                          <p:spTgt spid="53"/>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2000"/>
                                        <p:tgtEl>
                                          <p:spTgt spid="12"/>
                                        </p:tgtEl>
                                      </p:cBhvr>
                                    </p:animEffect>
                                    <p:set>
                                      <p:cBhvr>
                                        <p:cTn id="57" dur="1" fill="hold">
                                          <p:stCondLst>
                                            <p:cond delay="1999"/>
                                          </p:stCondLst>
                                        </p:cTn>
                                        <p:tgtEl>
                                          <p:spTgt spid="12"/>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2000"/>
                                        <p:tgtEl>
                                          <p:spTgt spid="53"/>
                                        </p:tgtEl>
                                      </p:cBhvr>
                                    </p:animEffect>
                                    <p:set>
                                      <p:cBhvr>
                                        <p:cTn id="60" dur="1" fill="hold">
                                          <p:stCondLst>
                                            <p:cond delay="1999"/>
                                          </p:stCondLst>
                                        </p:cTn>
                                        <p:tgtEl>
                                          <p:spTgt spid="53"/>
                                        </p:tgtEl>
                                        <p:attrNameLst>
                                          <p:attrName>style.visibility</p:attrName>
                                        </p:attrNameLst>
                                      </p:cBhvr>
                                      <p:to>
                                        <p:strVal val="hidden"/>
                                      </p:to>
                                    </p:set>
                                  </p:childTnLst>
                                </p:cTn>
                              </p:par>
                              <p:par>
                                <p:cTn id="61" presetID="22" presetClass="entr" presetSubtype="1"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up)">
                                      <p:cBhvr>
                                        <p:cTn id="63" dur="30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dissolve">
                                      <p:cBhvr>
                                        <p:cTn id="68" dur="500"/>
                                        <p:tgtEl>
                                          <p:spTgt spid="58"/>
                                        </p:tgtEl>
                                      </p:cBhvr>
                                    </p:animEffect>
                                  </p:childTnLst>
                                </p:cTn>
                              </p:par>
                              <p:par>
                                <p:cTn id="69" presetID="9" presetClass="entr" presetSubtype="0" fill="hold" nodeType="with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dissolve">
                                      <p:cBhvr>
                                        <p:cTn id="71" dur="500"/>
                                        <p:tgtEl>
                                          <p:spTgt spid="5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9" grpId="0" animBg="1"/>
      <p:bldP spid="9" grpId="1" animBg="1"/>
      <p:bldP spid="10" grpId="0" animBg="1"/>
      <p:bldP spid="10" grpId="1" animBg="1"/>
      <p:bldP spid="12" grpId="0" animBg="1"/>
      <p:bldP spid="12" grpId="1" animBg="1"/>
      <p:bldP spid="8" grpId="0" animBg="1"/>
      <p:bldP spid="11" grpId="0" animBg="1"/>
      <p:bldP spid="14" grpId="0" animBg="1"/>
      <p:bldP spid="58" grpId="0"/>
      <p:bldP spid="53" grpId="0" animBg="1"/>
      <p:bldP spid="53" grpId="1" animBg="1"/>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800" dirty="0"/>
              <a:t>Erin has a choice between two activities: She can repair one transmission per hour or she can repair two fuel injectors per hour. What is the opportunity cost of repairing one fuel injector?</a:t>
            </a:r>
          </a:p>
          <a:p>
            <a:pPr marL="514350" indent="-514350">
              <a:buFont typeface="+mj-lt"/>
              <a:buAutoNum type="alphaLcParenR"/>
            </a:pPr>
            <a:r>
              <a:rPr lang="en-US" sz="2800" dirty="0"/>
              <a:t>1 transmission</a:t>
            </a:r>
          </a:p>
          <a:p>
            <a:pPr marL="514350" indent="-514350">
              <a:buFont typeface="+mj-lt"/>
              <a:buAutoNum type="alphaLcParenR"/>
            </a:pPr>
            <a:r>
              <a:rPr lang="en-US" sz="2800" dirty="0"/>
              <a:t>0.5 transmission</a:t>
            </a:r>
          </a:p>
          <a:p>
            <a:pPr marL="514350" indent="-514350">
              <a:buFont typeface="+mj-lt"/>
              <a:buAutoNum type="alphaLcParenR"/>
            </a:pPr>
            <a:r>
              <a:rPr lang="en-US" sz="2800" dirty="0"/>
              <a:t>2 transmissions</a:t>
            </a:r>
          </a:p>
        </p:txBody>
      </p:sp>
      <p:sp>
        <p:nvSpPr>
          <p:cNvPr id="7" name="Rectangle 6"/>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67929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David can write either one more book this year or five more articles this year. What is the opportunity cost of writing half of a book this year, in terms of articles?</a:t>
            </a:r>
          </a:p>
          <a:p>
            <a:pPr marL="514350" indent="-514350">
              <a:buFont typeface="+mj-lt"/>
              <a:buAutoNum type="alphaLcParenR"/>
            </a:pPr>
            <a:r>
              <a:rPr lang="en-US" sz="3200" dirty="0"/>
              <a:t>0.2 article</a:t>
            </a:r>
          </a:p>
          <a:p>
            <a:pPr marL="514350" indent="-514350">
              <a:buFont typeface="+mj-lt"/>
              <a:buAutoNum type="alphaLcParenR"/>
            </a:pPr>
            <a:r>
              <a:rPr lang="en-US" sz="3200" dirty="0"/>
              <a:t>1 article</a:t>
            </a:r>
          </a:p>
          <a:p>
            <a:pPr marL="514350" indent="-514350">
              <a:buFont typeface="+mj-lt"/>
              <a:buAutoNum type="alphaLcParenR"/>
            </a:pPr>
            <a:r>
              <a:rPr lang="en-US" sz="3200" dirty="0"/>
              <a:t>2.5 articles</a:t>
            </a:r>
          </a:p>
          <a:p>
            <a:pPr marL="514350" indent="-514350">
              <a:buFont typeface="+mj-lt"/>
              <a:buAutoNum type="alphaLcParenR"/>
            </a:pPr>
            <a:r>
              <a:rPr lang="en-US" sz="3200" dirty="0"/>
              <a:t>10 articles</a:t>
            </a:r>
          </a:p>
        </p:txBody>
      </p:sp>
      <p:sp>
        <p:nvSpPr>
          <p:cNvPr id="7" name="Rectangle 6"/>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26514662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dirty="0"/>
              <a:t>Enter the U.S. with its own production and cost ratios.</a:t>
            </a:r>
          </a:p>
          <a:p>
            <a:endParaRPr lang="en-US" dirty="0"/>
          </a:p>
        </p:txBody>
      </p:sp>
      <p:pic>
        <p:nvPicPr>
          <p:cNvPr id="7" name="Picture 4"/>
          <p:cNvPicPr>
            <a:picLocks noChangeAspect="1" noChangeArrowheads="1"/>
          </p:cNvPicPr>
          <p:nvPr/>
        </p:nvPicPr>
        <p:blipFill rotWithShape="1">
          <a:blip r:embed="rId2" cstate="screen">
            <a:clrChange>
              <a:clrFrom>
                <a:srgbClr val="0B0B30"/>
              </a:clrFrom>
              <a:clrTo>
                <a:srgbClr val="0B0B30">
                  <a:alpha val="0"/>
                </a:srgbClr>
              </a:clrTo>
            </a:clrChange>
            <a:extLst>
              <a:ext uri="{28A0092B-C50C-407E-A947-70E740481C1C}">
                <a14:useLocalDpi xmlns:a14="http://schemas.microsoft.com/office/drawing/2010/main"/>
              </a:ext>
            </a:extLst>
          </a:blip>
          <a:srcRect/>
          <a:stretch/>
        </p:blipFill>
        <p:spPr bwMode="auto">
          <a:xfrm>
            <a:off x="574921" y="2743200"/>
            <a:ext cx="693787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579540" y="3948544"/>
            <a:ext cx="6937870" cy="2528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77843" y="3581400"/>
            <a:ext cx="891414" cy="469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32017" y="4961693"/>
            <a:ext cx="879047" cy="502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101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3914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sz="2800" dirty="0"/>
              <a:t>Assume that in the United States,  there are 24 units of labor, and it takes 1 unit of labor to produce either good.</a:t>
            </a:r>
          </a:p>
        </p:txBody>
      </p:sp>
      <p:grpSp>
        <p:nvGrpSpPr>
          <p:cNvPr id="25" name="Group 24"/>
          <p:cNvGrpSpPr/>
          <p:nvPr/>
        </p:nvGrpSpPr>
        <p:grpSpPr>
          <a:xfrm>
            <a:off x="3124200" y="2362200"/>
            <a:ext cx="2603351" cy="1744471"/>
            <a:chOff x="418244" y="2590800"/>
            <a:chExt cx="3239356" cy="2338442"/>
          </a:xfrm>
        </p:grpSpPr>
        <p:pic>
          <p:nvPicPr>
            <p:cNvPr id="4"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85800" y="2666026"/>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18244" y="3773389"/>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181958" y="25908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21338603">
              <a:off x="914401" y="35913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486758"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943958" y="3633842"/>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500746"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971800" y="3709068"/>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639158"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172558" y="25997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687782"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200400" y="2610607"/>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9" name="Equal 18"/>
          <p:cNvSpPr/>
          <p:nvPr/>
        </p:nvSpPr>
        <p:spPr>
          <a:xfrm>
            <a:off x="2234240" y="2966904"/>
            <a:ext cx="647700" cy="642381"/>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61172" y="52387"/>
            <a:ext cx="1782828"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Equal 25"/>
          <p:cNvSpPr/>
          <p:nvPr/>
        </p:nvSpPr>
        <p:spPr>
          <a:xfrm>
            <a:off x="5943600" y="3112711"/>
            <a:ext cx="647700" cy="642381"/>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pSp>
        <p:nvGrpSpPr>
          <p:cNvPr id="27" name="Group 26"/>
          <p:cNvGrpSpPr/>
          <p:nvPr/>
        </p:nvGrpSpPr>
        <p:grpSpPr>
          <a:xfrm>
            <a:off x="3124200" y="3986158"/>
            <a:ext cx="2615902" cy="1687174"/>
            <a:chOff x="418244" y="2590800"/>
            <a:chExt cx="3239356" cy="2338442"/>
          </a:xfrm>
        </p:grpSpPr>
        <p:pic>
          <p:nvPicPr>
            <p:cNvPr id="28"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85800" y="2666026"/>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28"/>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418244" y="3773389"/>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181958" y="25908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rot="21338603">
              <a:off x="914401" y="35913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486758"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943958" y="3633842"/>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500746" y="3886200"/>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971800" y="3709068"/>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639158"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172558" y="2599703"/>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687782" y="2747151"/>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3200400" y="2610607"/>
              <a:ext cx="457200" cy="10430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45" name="Group 44"/>
          <p:cNvGrpSpPr/>
          <p:nvPr/>
        </p:nvGrpSpPr>
        <p:grpSpPr>
          <a:xfrm>
            <a:off x="6934200" y="2782222"/>
            <a:ext cx="1934966" cy="540535"/>
            <a:chOff x="6934200" y="2782222"/>
            <a:chExt cx="1934966" cy="540535"/>
          </a:xfrm>
        </p:grpSpPr>
        <p:pic>
          <p:nvPicPr>
            <p:cNvPr id="17"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46" name="Group 45"/>
          <p:cNvGrpSpPr/>
          <p:nvPr/>
        </p:nvGrpSpPr>
        <p:grpSpPr>
          <a:xfrm>
            <a:off x="6934200" y="3421865"/>
            <a:ext cx="1934966" cy="540535"/>
            <a:chOff x="6934200" y="2782222"/>
            <a:chExt cx="1934966" cy="540535"/>
          </a:xfrm>
        </p:grpSpPr>
        <p:pic>
          <p:nvPicPr>
            <p:cNvPr id="47"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0" name="Group 49"/>
          <p:cNvGrpSpPr/>
          <p:nvPr/>
        </p:nvGrpSpPr>
        <p:grpSpPr>
          <a:xfrm>
            <a:off x="6934200" y="4031465"/>
            <a:ext cx="1934966" cy="540535"/>
            <a:chOff x="6934200" y="2782222"/>
            <a:chExt cx="1934966" cy="540535"/>
          </a:xfrm>
        </p:grpSpPr>
        <p:pic>
          <p:nvPicPr>
            <p:cNvPr id="51"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4" name="Group 53"/>
          <p:cNvGrpSpPr/>
          <p:nvPr/>
        </p:nvGrpSpPr>
        <p:grpSpPr>
          <a:xfrm>
            <a:off x="7010400" y="4717265"/>
            <a:ext cx="1934966" cy="540535"/>
            <a:chOff x="6934200" y="2782222"/>
            <a:chExt cx="1934966" cy="540535"/>
          </a:xfrm>
        </p:grpSpPr>
        <p:pic>
          <p:nvPicPr>
            <p:cNvPr id="55"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8" name="Group 57"/>
          <p:cNvGrpSpPr/>
          <p:nvPr/>
        </p:nvGrpSpPr>
        <p:grpSpPr>
          <a:xfrm>
            <a:off x="7086600" y="5403065"/>
            <a:ext cx="1934966" cy="540535"/>
            <a:chOff x="6934200" y="2782222"/>
            <a:chExt cx="1934966" cy="540535"/>
          </a:xfrm>
        </p:grpSpPr>
        <p:pic>
          <p:nvPicPr>
            <p:cNvPr id="59"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2" name="Group 61"/>
          <p:cNvGrpSpPr/>
          <p:nvPr/>
        </p:nvGrpSpPr>
        <p:grpSpPr>
          <a:xfrm>
            <a:off x="7086600" y="5936465"/>
            <a:ext cx="1934966" cy="540535"/>
            <a:chOff x="6934200" y="2782222"/>
            <a:chExt cx="1934966" cy="540535"/>
          </a:xfrm>
        </p:grpSpPr>
        <p:pic>
          <p:nvPicPr>
            <p:cNvPr id="63"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9" name="Group 68"/>
          <p:cNvGrpSpPr/>
          <p:nvPr/>
        </p:nvGrpSpPr>
        <p:grpSpPr>
          <a:xfrm>
            <a:off x="90055" y="2899827"/>
            <a:ext cx="1845166" cy="452973"/>
            <a:chOff x="220417" y="2807370"/>
            <a:chExt cx="1845166" cy="452973"/>
          </a:xfrm>
        </p:grpSpPr>
        <p:pic>
          <p:nvPicPr>
            <p:cNvPr id="66"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0" name="Group 69"/>
          <p:cNvGrpSpPr/>
          <p:nvPr/>
        </p:nvGrpSpPr>
        <p:grpSpPr>
          <a:xfrm>
            <a:off x="106744" y="3382798"/>
            <a:ext cx="1845166" cy="452973"/>
            <a:chOff x="220417" y="2807370"/>
            <a:chExt cx="1845166" cy="452973"/>
          </a:xfrm>
        </p:grpSpPr>
        <p:pic>
          <p:nvPicPr>
            <p:cNvPr id="71"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3"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4" name="Group 73"/>
          <p:cNvGrpSpPr/>
          <p:nvPr/>
        </p:nvGrpSpPr>
        <p:grpSpPr>
          <a:xfrm>
            <a:off x="76200" y="3886200"/>
            <a:ext cx="1845166" cy="452973"/>
            <a:chOff x="220417" y="2807370"/>
            <a:chExt cx="1845166" cy="452973"/>
          </a:xfrm>
        </p:grpSpPr>
        <p:pic>
          <p:nvPicPr>
            <p:cNvPr id="75"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7"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8" name="Group 77"/>
          <p:cNvGrpSpPr/>
          <p:nvPr/>
        </p:nvGrpSpPr>
        <p:grpSpPr>
          <a:xfrm>
            <a:off x="-4092" y="6030367"/>
            <a:ext cx="1845166" cy="452973"/>
            <a:chOff x="220417" y="2807370"/>
            <a:chExt cx="1845166" cy="452973"/>
          </a:xfrm>
        </p:grpSpPr>
        <p:pic>
          <p:nvPicPr>
            <p:cNvPr id="79"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0"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2" name="Group 81"/>
          <p:cNvGrpSpPr/>
          <p:nvPr/>
        </p:nvGrpSpPr>
        <p:grpSpPr>
          <a:xfrm>
            <a:off x="76200" y="4957227"/>
            <a:ext cx="1845166" cy="452973"/>
            <a:chOff x="220417" y="2807370"/>
            <a:chExt cx="1845166" cy="452973"/>
          </a:xfrm>
        </p:grpSpPr>
        <p:pic>
          <p:nvPicPr>
            <p:cNvPr id="83"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4"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5"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6" name="Group 85"/>
          <p:cNvGrpSpPr/>
          <p:nvPr/>
        </p:nvGrpSpPr>
        <p:grpSpPr>
          <a:xfrm>
            <a:off x="76200" y="5490627"/>
            <a:ext cx="1845166" cy="452973"/>
            <a:chOff x="220417" y="2807370"/>
            <a:chExt cx="1845166" cy="452973"/>
          </a:xfrm>
        </p:grpSpPr>
        <p:pic>
          <p:nvPicPr>
            <p:cNvPr id="87"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0" name="Group 89">
            <a:extLst>
              <a:ext uri="{FF2B5EF4-FFF2-40B4-BE49-F238E27FC236}">
                <a16:creationId xmlns:a16="http://schemas.microsoft.com/office/drawing/2014/main" id="{F806167E-386F-4CD1-9FAF-D6A75959FF3D}"/>
              </a:ext>
            </a:extLst>
          </p:cNvPr>
          <p:cNvGrpSpPr/>
          <p:nvPr/>
        </p:nvGrpSpPr>
        <p:grpSpPr>
          <a:xfrm>
            <a:off x="80291" y="4356435"/>
            <a:ext cx="1845166" cy="452973"/>
            <a:chOff x="220417" y="2807370"/>
            <a:chExt cx="1845166" cy="452973"/>
          </a:xfrm>
        </p:grpSpPr>
        <p:pic>
          <p:nvPicPr>
            <p:cNvPr id="91" name="Picture 2">
              <a:extLst>
                <a:ext uri="{FF2B5EF4-FFF2-40B4-BE49-F238E27FC236}">
                  <a16:creationId xmlns:a16="http://schemas.microsoft.com/office/drawing/2014/main" id="{021AAC7B-15F4-476E-A197-D14E847E896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 name="Picture 2">
              <a:extLst>
                <a:ext uri="{FF2B5EF4-FFF2-40B4-BE49-F238E27FC236}">
                  <a16:creationId xmlns:a16="http://schemas.microsoft.com/office/drawing/2014/main" id="{4E259A72-4C6F-41F9-8926-79A471405823}"/>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3" name="Picture 2">
              <a:extLst>
                <a:ext uri="{FF2B5EF4-FFF2-40B4-BE49-F238E27FC236}">
                  <a16:creationId xmlns:a16="http://schemas.microsoft.com/office/drawing/2014/main" id="{5D58BB05-09FC-42C5-96A1-3E05AA5D2C1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4" name="Group 93">
            <a:extLst>
              <a:ext uri="{FF2B5EF4-FFF2-40B4-BE49-F238E27FC236}">
                <a16:creationId xmlns:a16="http://schemas.microsoft.com/office/drawing/2014/main" id="{26918B6A-6E96-4879-8F60-9CFEBF0233EC}"/>
              </a:ext>
            </a:extLst>
          </p:cNvPr>
          <p:cNvGrpSpPr/>
          <p:nvPr/>
        </p:nvGrpSpPr>
        <p:grpSpPr>
          <a:xfrm>
            <a:off x="67089" y="2388295"/>
            <a:ext cx="1845166" cy="452973"/>
            <a:chOff x="220417" y="2807370"/>
            <a:chExt cx="1845166" cy="452973"/>
          </a:xfrm>
        </p:grpSpPr>
        <p:pic>
          <p:nvPicPr>
            <p:cNvPr id="95" name="Picture 2">
              <a:extLst>
                <a:ext uri="{FF2B5EF4-FFF2-40B4-BE49-F238E27FC236}">
                  <a16:creationId xmlns:a16="http://schemas.microsoft.com/office/drawing/2014/main" id="{770DFD90-5C13-4163-B948-F65E8A8A779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002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6" name="Picture 2">
              <a:extLst>
                <a:ext uri="{FF2B5EF4-FFF2-40B4-BE49-F238E27FC236}">
                  <a16:creationId xmlns:a16="http://schemas.microsoft.com/office/drawing/2014/main" id="{C0B4EF41-FCA9-4E5B-90A8-7B2C255765B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14400"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2">
              <a:extLst>
                <a:ext uri="{FF2B5EF4-FFF2-40B4-BE49-F238E27FC236}">
                  <a16:creationId xmlns:a16="http://schemas.microsoft.com/office/drawing/2014/main" id="{6A29C64C-A97D-4840-9DE6-3697E175068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20417" y="2807370"/>
              <a:ext cx="465383" cy="4529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8" name="Group 97">
            <a:extLst>
              <a:ext uri="{FF2B5EF4-FFF2-40B4-BE49-F238E27FC236}">
                <a16:creationId xmlns:a16="http://schemas.microsoft.com/office/drawing/2014/main" id="{53A845E6-4D3E-4C70-98C6-38B9D9DB61AF}"/>
              </a:ext>
            </a:extLst>
          </p:cNvPr>
          <p:cNvGrpSpPr/>
          <p:nvPr/>
        </p:nvGrpSpPr>
        <p:grpSpPr>
          <a:xfrm>
            <a:off x="6949250" y="2347740"/>
            <a:ext cx="1934966" cy="540535"/>
            <a:chOff x="6934200" y="2782222"/>
            <a:chExt cx="1934966" cy="540535"/>
          </a:xfrm>
        </p:grpSpPr>
        <p:pic>
          <p:nvPicPr>
            <p:cNvPr id="99" name="Picture 3">
              <a:extLst>
                <a:ext uri="{FF2B5EF4-FFF2-40B4-BE49-F238E27FC236}">
                  <a16:creationId xmlns:a16="http://schemas.microsoft.com/office/drawing/2014/main" id="{09A7E3D7-79E4-4002-AA11-42284EDE25F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0" name="Picture 3">
              <a:extLst>
                <a:ext uri="{FF2B5EF4-FFF2-40B4-BE49-F238E27FC236}">
                  <a16:creationId xmlns:a16="http://schemas.microsoft.com/office/drawing/2014/main" id="{F2101BB6-9FD6-43AA-A68D-17EF6DB8857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 name="Picture 3">
              <a:extLst>
                <a:ext uri="{FF2B5EF4-FFF2-40B4-BE49-F238E27FC236}">
                  <a16:creationId xmlns:a16="http://schemas.microsoft.com/office/drawing/2014/main" id="{13E7E35A-A70E-4820-8C53-2A61AC0D495A}"/>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02" name="Group 101">
            <a:extLst>
              <a:ext uri="{FF2B5EF4-FFF2-40B4-BE49-F238E27FC236}">
                <a16:creationId xmlns:a16="http://schemas.microsoft.com/office/drawing/2014/main" id="{2B532AB3-6A7C-469C-A8E2-0F25FECC9A2B}"/>
              </a:ext>
            </a:extLst>
          </p:cNvPr>
          <p:cNvGrpSpPr/>
          <p:nvPr/>
        </p:nvGrpSpPr>
        <p:grpSpPr>
          <a:xfrm>
            <a:off x="7131124" y="6344672"/>
            <a:ext cx="1934966" cy="540535"/>
            <a:chOff x="6934200" y="2782222"/>
            <a:chExt cx="1934966" cy="540535"/>
          </a:xfrm>
        </p:grpSpPr>
        <p:pic>
          <p:nvPicPr>
            <p:cNvPr id="103" name="Picture 3">
              <a:extLst>
                <a:ext uri="{FF2B5EF4-FFF2-40B4-BE49-F238E27FC236}">
                  <a16:creationId xmlns:a16="http://schemas.microsoft.com/office/drawing/2014/main" id="{D8AC2AC2-EB56-45F0-9F3D-49955E0059A8}"/>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34200"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 name="Picture 3">
              <a:extLst>
                <a:ext uri="{FF2B5EF4-FFF2-40B4-BE49-F238E27FC236}">
                  <a16:creationId xmlns:a16="http://schemas.microsoft.com/office/drawing/2014/main" id="{DA4D1E54-568E-4050-B54F-863F96EC05B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93393"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5" name="Picture 3">
              <a:extLst>
                <a:ext uri="{FF2B5EF4-FFF2-40B4-BE49-F238E27FC236}">
                  <a16:creationId xmlns:a16="http://schemas.microsoft.com/office/drawing/2014/main" id="{B9CB6BBA-3EF5-4212-BBC6-8E3946339AA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252586" y="2782222"/>
              <a:ext cx="616580" cy="540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550641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73914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sz="2800" dirty="0"/>
              <a:t>Each shirt “costs” 1 worker,</a:t>
            </a:r>
          </a:p>
          <a:p>
            <a:r>
              <a:rPr lang="en-US" sz="2800" dirty="0"/>
              <a:t>who could produce 1 computer.</a:t>
            </a:r>
          </a:p>
          <a:p>
            <a:r>
              <a:rPr lang="en-US" sz="2800" dirty="0"/>
              <a:t>So a shirt “costs” 1 computer in the United States.</a:t>
            </a:r>
          </a:p>
        </p:txBody>
      </p:sp>
      <p:sp>
        <p:nvSpPr>
          <p:cNvPr id="17" name="Equal 16"/>
          <p:cNvSpPr/>
          <p:nvPr/>
        </p:nvSpPr>
        <p:spPr>
          <a:xfrm>
            <a:off x="5750663" y="4806947"/>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9" name="Equal 18"/>
          <p:cNvSpPr/>
          <p:nvPr/>
        </p:nvSpPr>
        <p:spPr>
          <a:xfrm>
            <a:off x="2438400" y="4806946"/>
            <a:ext cx="760184" cy="652445"/>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13"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61172" y="52387"/>
            <a:ext cx="1782828"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55278" y="4197941"/>
            <a:ext cx="1921702" cy="1870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294372" y="4197941"/>
            <a:ext cx="2133600" cy="1870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3505200" y="3341318"/>
            <a:ext cx="1341073" cy="305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3803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p:txBody>
          <a:bodyPr/>
          <a:lstStyle/>
          <a:p>
            <a:r>
              <a:rPr lang="en-US" sz="2400" dirty="0"/>
              <a:t>Summary of costs: each country has a different opportunity cost for each good.  </a:t>
            </a:r>
          </a:p>
          <a:p>
            <a:r>
              <a:rPr lang="en-US" sz="2400" dirty="0"/>
              <a:t>Take a look at the opportunity costs for computers:</a:t>
            </a:r>
          </a:p>
        </p:txBody>
      </p:sp>
      <p:pic>
        <p:nvPicPr>
          <p:cNvPr id="4"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69758" y="2871787"/>
            <a:ext cx="1782828" cy="9382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143000" y="2871787"/>
            <a:ext cx="1600701" cy="914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6" name="Group 35"/>
          <p:cNvGrpSpPr/>
          <p:nvPr/>
        </p:nvGrpSpPr>
        <p:grpSpPr>
          <a:xfrm>
            <a:off x="164445" y="4191000"/>
            <a:ext cx="3768470" cy="1113880"/>
            <a:chOff x="665394" y="4676084"/>
            <a:chExt cx="4025463" cy="1199281"/>
          </a:xfrm>
        </p:grpSpPr>
        <p:pic>
          <p:nvPicPr>
            <p:cNvPr id="28"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65394" y="4681425"/>
              <a:ext cx="1544406" cy="11939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Equal 28"/>
            <p:cNvSpPr/>
            <p:nvPr/>
          </p:nvSpPr>
          <p:spPr>
            <a:xfrm>
              <a:off x="2211616" y="4912472"/>
              <a:ext cx="532085" cy="546920"/>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3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71799" y="467608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81400" y="467608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191000" y="467608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205128" y="539462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612436" y="539462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19744" y="5394624"/>
              <a:ext cx="485729" cy="472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8" name="Equal 37"/>
          <p:cNvSpPr/>
          <p:nvPr/>
        </p:nvSpPr>
        <p:spPr>
          <a:xfrm>
            <a:off x="7574659" y="4779605"/>
            <a:ext cx="273941" cy="262026"/>
          </a:xfrm>
          <a:prstGeom prst="mathEqual">
            <a:avLst>
              <a:gd name="adj1" fmla="val 10333"/>
              <a:gd name="adj2" fmla="val 1395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39"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787946" y="4535025"/>
            <a:ext cx="692507" cy="75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823726" y="4535025"/>
            <a:ext cx="768867" cy="75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TextBox 42"/>
          <p:cNvSpPr txBox="1"/>
          <p:nvPr/>
        </p:nvSpPr>
        <p:spPr>
          <a:xfrm>
            <a:off x="-13855" y="5646003"/>
            <a:ext cx="9144000" cy="830997"/>
          </a:xfrm>
          <a:prstGeom prst="rect">
            <a:avLst/>
          </a:prstGeom>
          <a:solidFill>
            <a:schemeClr val="accent3">
              <a:lumMod val="60000"/>
              <a:lumOff val="40000"/>
            </a:schemeClr>
          </a:solidFill>
          <a:effectLst>
            <a:outerShdw blurRad="50800" dist="38100" dir="2700000" algn="tl" rotWithShape="0">
              <a:prstClr val="black">
                <a:alpha val="40000"/>
              </a:prstClr>
            </a:outerShdw>
          </a:effectLst>
        </p:spPr>
        <p:txBody>
          <a:bodyPr wrap="square">
            <a:spAutoFit/>
          </a:bodyPr>
          <a:lstStyle/>
          <a:p>
            <a:pPr algn="ctr">
              <a:defRPr/>
            </a:pPr>
            <a:r>
              <a:rPr lang="en-US" sz="2400" b="1" dirty="0">
                <a:latin typeface="Century Gothic"/>
                <a:cs typeface="Century Gothic"/>
              </a:rPr>
              <a:t>Would there be a benefit to trade?   </a:t>
            </a:r>
          </a:p>
          <a:p>
            <a:pPr algn="ctr">
              <a:defRPr/>
            </a:pPr>
            <a:r>
              <a:rPr lang="en-US" sz="2400" b="1" dirty="0">
                <a:latin typeface="Century Gothic"/>
                <a:cs typeface="Century Gothic"/>
              </a:rPr>
              <a:t>If so, who should produce what?</a:t>
            </a:r>
          </a:p>
        </p:txBody>
      </p:sp>
    </p:spTree>
    <p:extLst>
      <p:ext uri="{BB962C8B-B14F-4D97-AF65-F5344CB8AC3E}">
        <p14:creationId xmlns:p14="http://schemas.microsoft.com/office/powerpoint/2010/main" val="314529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1000"/>
                                        <p:tgtEl>
                                          <p:spTgt spid="39"/>
                                        </p:tgtEl>
                                      </p:cBhvr>
                                    </p:animEffect>
                                    <p:anim calcmode="lin" valueType="num">
                                      <p:cBhvr>
                                        <p:cTn id="23" dur="1000" fill="hold"/>
                                        <p:tgtEl>
                                          <p:spTgt spid="39"/>
                                        </p:tgtEl>
                                        <p:attrNameLst>
                                          <p:attrName>ppt_x</p:attrName>
                                        </p:attrNameLst>
                                      </p:cBhvr>
                                      <p:tavLst>
                                        <p:tav tm="0">
                                          <p:val>
                                            <p:strVal val="#ppt_x"/>
                                          </p:val>
                                        </p:tav>
                                        <p:tav tm="100000">
                                          <p:val>
                                            <p:strVal val="#ppt_x"/>
                                          </p:val>
                                        </p:tav>
                                      </p:tavLst>
                                    </p:anim>
                                    <p:anim calcmode="lin" valueType="num">
                                      <p:cBhvr>
                                        <p:cTn id="24" dur="1000" fill="hold"/>
                                        <p:tgtEl>
                                          <p:spTgt spid="3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1000"/>
                                        <p:tgtEl>
                                          <p:spTgt spid="40"/>
                                        </p:tgtEl>
                                      </p:cBhvr>
                                    </p:animEffect>
                                    <p:anim calcmode="lin" valueType="num">
                                      <p:cBhvr>
                                        <p:cTn id="33" dur="1000" fill="hold"/>
                                        <p:tgtEl>
                                          <p:spTgt spid="40"/>
                                        </p:tgtEl>
                                        <p:attrNameLst>
                                          <p:attrName>ppt_x</p:attrName>
                                        </p:attrNameLst>
                                      </p:cBhvr>
                                      <p:tavLst>
                                        <p:tav tm="0">
                                          <p:val>
                                            <p:strVal val="#ppt_x"/>
                                          </p:val>
                                        </p:tav>
                                        <p:tav tm="100000">
                                          <p:val>
                                            <p:strVal val="#ppt_x"/>
                                          </p:val>
                                        </p:tav>
                                      </p:tavLst>
                                    </p:anim>
                                    <p:anim calcmode="lin" valueType="num">
                                      <p:cBhvr>
                                        <p:cTn id="3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838200"/>
          </a:xfrm>
        </p:spPr>
        <p:txBody>
          <a:bodyPr>
            <a:noAutofit/>
          </a:bodyPr>
          <a:lstStyle/>
          <a:p>
            <a:r>
              <a:rPr lang="en-US" sz="3600" dirty="0"/>
              <a:t>COMPARATIVE ADVANTAGE AND GAINS FROM TRADE</a:t>
            </a:r>
          </a:p>
        </p:txBody>
      </p:sp>
      <p:sp>
        <p:nvSpPr>
          <p:cNvPr id="3" name="Content Placeholder 2"/>
          <p:cNvSpPr>
            <a:spLocks noGrp="1"/>
          </p:cNvSpPr>
          <p:nvPr>
            <p:ph idx="1"/>
          </p:nvPr>
        </p:nvSpPr>
        <p:spPr>
          <a:xfrm>
            <a:off x="152400" y="1219200"/>
            <a:ext cx="8839200" cy="4648200"/>
          </a:xfrm>
        </p:spPr>
        <p:txBody>
          <a:bodyPr>
            <a:normAutofit fontScale="85000" lnSpcReduction="10000"/>
          </a:bodyPr>
          <a:lstStyle/>
          <a:p>
            <a:r>
              <a:rPr lang="en-US" dirty="0"/>
              <a:t>A country has a </a:t>
            </a:r>
            <a:r>
              <a:rPr lang="en-US" i="1" dirty="0">
                <a:solidFill>
                  <a:srgbClr val="990033"/>
                </a:solidFill>
              </a:rPr>
              <a:t>comparative advantage </a:t>
            </a:r>
            <a:r>
              <a:rPr lang="en-US" dirty="0"/>
              <a:t>in producing goods for which it has the lowest opportunity cost.</a:t>
            </a:r>
          </a:p>
          <a:p>
            <a:endParaRPr lang="en-US" dirty="0"/>
          </a:p>
          <a:p>
            <a:r>
              <a:rPr lang="en-US" dirty="0"/>
              <a:t>The </a:t>
            </a:r>
            <a:r>
              <a:rPr lang="en-US" dirty="0">
                <a:solidFill>
                  <a:schemeClr val="accent1">
                    <a:lumMod val="75000"/>
                  </a:schemeClr>
                </a:solidFill>
              </a:rPr>
              <a:t>U.S. has the comparative advantage in </a:t>
            </a:r>
            <a:r>
              <a:rPr lang="en-US" dirty="0"/>
              <a:t>(is the lower-cost producer of) </a:t>
            </a:r>
            <a:r>
              <a:rPr lang="en-US" dirty="0">
                <a:solidFill>
                  <a:schemeClr val="accent1">
                    <a:lumMod val="75000"/>
                  </a:schemeClr>
                </a:solidFill>
              </a:rPr>
              <a:t>computers:</a:t>
            </a:r>
            <a:r>
              <a:rPr lang="en-US" dirty="0"/>
              <a:t> Each computer costs 1 shirt. (Mexico = 6 shirts.)</a:t>
            </a:r>
          </a:p>
          <a:p>
            <a:endParaRPr lang="en-US" dirty="0"/>
          </a:p>
          <a:p>
            <a:r>
              <a:rPr lang="en-US" dirty="0">
                <a:solidFill>
                  <a:schemeClr val="accent1">
                    <a:lumMod val="75000"/>
                  </a:schemeClr>
                </a:solidFill>
              </a:rPr>
              <a:t>Mexico</a:t>
            </a:r>
            <a:r>
              <a:rPr lang="en-US" dirty="0"/>
              <a:t> </a:t>
            </a:r>
            <a:r>
              <a:rPr lang="en-US" dirty="0">
                <a:solidFill>
                  <a:schemeClr val="accent1">
                    <a:lumMod val="75000"/>
                  </a:schemeClr>
                </a:solidFill>
              </a:rPr>
              <a:t>has the comparative advantage in </a:t>
            </a:r>
            <a:r>
              <a:rPr lang="en-US" dirty="0"/>
              <a:t>(is the lower-cost producer of) </a:t>
            </a:r>
            <a:r>
              <a:rPr lang="en-US" dirty="0">
                <a:solidFill>
                  <a:schemeClr val="accent1">
                    <a:lumMod val="75000"/>
                  </a:schemeClr>
                </a:solidFill>
              </a:rPr>
              <a:t>shirts: </a:t>
            </a:r>
            <a:r>
              <a:rPr lang="en-US" dirty="0"/>
              <a:t>Each shirt costs one-sixth of a computer.  (United States = 1 computer.)</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908544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rrowheads="1"/>
          </p:cNvSpPr>
          <p:nvPr>
            <p:ph type="title"/>
          </p:nvPr>
        </p:nvSpPr>
        <p:spPr>
          <a:xfrm>
            <a:off x="0" y="0"/>
            <a:ext cx="9144000" cy="914400"/>
          </a:xfrm>
        </p:spPr>
        <p:txBody>
          <a:bodyPr>
            <a:noAutofit/>
          </a:bodyPr>
          <a:lstStyle/>
          <a:p>
            <a:r>
              <a:rPr lang="en-US" sz="3600" dirty="0"/>
              <a:t>COMPARATIVE ADVANTAGE AND GAINS FROM TRADE</a:t>
            </a:r>
            <a:endParaRPr lang="en-US" sz="3200" dirty="0"/>
          </a:p>
        </p:txBody>
      </p:sp>
      <p:sp>
        <p:nvSpPr>
          <p:cNvPr id="610317" name="Rectangle 13"/>
          <p:cNvSpPr>
            <a:spLocks noChangeArrowheads="1"/>
          </p:cNvSpPr>
          <p:nvPr/>
        </p:nvSpPr>
        <p:spPr bwMode="auto">
          <a:xfrm>
            <a:off x="3644900"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40</a:t>
            </a:r>
            <a:endParaRPr lang="en-US" sz="1400">
              <a:latin typeface="Century Gothic"/>
              <a:cs typeface="Century Gothic"/>
            </a:endParaRPr>
          </a:p>
        </p:txBody>
      </p:sp>
      <p:sp>
        <p:nvSpPr>
          <p:cNvPr id="610318" name="Rectangle 14"/>
          <p:cNvSpPr>
            <a:spLocks noChangeArrowheads="1"/>
          </p:cNvSpPr>
          <p:nvPr/>
        </p:nvSpPr>
        <p:spPr bwMode="auto">
          <a:xfrm>
            <a:off x="76358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19" name="Rectangle 15"/>
          <p:cNvSpPr>
            <a:spLocks noChangeArrowheads="1"/>
          </p:cNvSpPr>
          <p:nvPr/>
        </p:nvSpPr>
        <p:spPr bwMode="auto">
          <a:xfrm>
            <a:off x="676275" y="232410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610325" name="Rectangle 21"/>
          <p:cNvSpPr>
            <a:spLocks noChangeArrowheads="1"/>
          </p:cNvSpPr>
          <p:nvPr/>
        </p:nvSpPr>
        <p:spPr bwMode="auto">
          <a:xfrm>
            <a:off x="5942013"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6</a:t>
            </a:r>
            <a:endParaRPr lang="en-US" sz="1400">
              <a:latin typeface="Century Gothic"/>
              <a:cs typeface="Century Gothic"/>
            </a:endParaRPr>
          </a:p>
        </p:txBody>
      </p:sp>
      <p:sp>
        <p:nvSpPr>
          <p:cNvPr id="610326" name="Rectangle 22"/>
          <p:cNvSpPr>
            <a:spLocks noChangeArrowheads="1"/>
          </p:cNvSpPr>
          <p:nvPr/>
        </p:nvSpPr>
        <p:spPr bwMode="auto">
          <a:xfrm>
            <a:off x="539273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29" name="Rectangle 25"/>
          <p:cNvSpPr>
            <a:spLocks noChangeArrowheads="1"/>
          </p:cNvSpPr>
          <p:nvPr/>
        </p:nvSpPr>
        <p:spPr bwMode="auto">
          <a:xfrm>
            <a:off x="5392738" y="42545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8</a:t>
            </a:r>
            <a:endParaRPr lang="en-US" sz="1400">
              <a:latin typeface="Century Gothic"/>
              <a:cs typeface="Century Gothic"/>
            </a:endParaRPr>
          </a:p>
        </p:txBody>
      </p:sp>
      <p:sp>
        <p:nvSpPr>
          <p:cNvPr id="610331" name="Rectangle 27"/>
          <p:cNvSpPr>
            <a:spLocks noChangeArrowheads="1"/>
          </p:cNvSpPr>
          <p:nvPr/>
        </p:nvSpPr>
        <p:spPr bwMode="auto">
          <a:xfrm>
            <a:off x="5305425" y="40576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10</a:t>
            </a:r>
            <a:endParaRPr lang="en-US" sz="1400">
              <a:latin typeface="Century Gothic"/>
              <a:cs typeface="Century Gothic"/>
            </a:endParaRPr>
          </a:p>
        </p:txBody>
      </p:sp>
      <p:sp>
        <p:nvSpPr>
          <p:cNvPr id="610332" name="Rectangle 28"/>
          <p:cNvSpPr>
            <a:spLocks noChangeArrowheads="1"/>
          </p:cNvSpPr>
          <p:nvPr/>
        </p:nvSpPr>
        <p:spPr bwMode="auto">
          <a:xfrm>
            <a:off x="1066800" y="927556"/>
            <a:ext cx="26026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(a) </a:t>
            </a:r>
            <a:r>
              <a:rPr lang="en-US" sz="1400" b="1" dirty="0">
                <a:latin typeface="Century Gothic"/>
                <a:cs typeface="Century Gothic"/>
              </a:rPr>
              <a:t>U.S. Production Possibilities</a:t>
            </a:r>
          </a:p>
        </p:txBody>
      </p:sp>
      <p:sp>
        <p:nvSpPr>
          <p:cNvPr id="610333" name="Line 29"/>
          <p:cNvSpPr>
            <a:spLocks noChangeShapeType="1"/>
          </p:cNvSpPr>
          <p:nvPr/>
        </p:nvSpPr>
        <p:spPr bwMode="auto">
          <a:xfrm>
            <a:off x="912813" y="2449513"/>
            <a:ext cx="2819400" cy="2614612"/>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4" name="Freeform 30"/>
          <p:cNvSpPr>
            <a:spLocks/>
          </p:cNvSpPr>
          <p:nvPr/>
        </p:nvSpPr>
        <p:spPr bwMode="auto">
          <a:xfrm>
            <a:off x="912813" y="1776413"/>
            <a:ext cx="3522662" cy="3287712"/>
          </a:xfrm>
          <a:custGeom>
            <a:avLst/>
            <a:gdLst>
              <a:gd name="T0" fmla="*/ 1777 w 1777"/>
              <a:gd name="T1" fmla="*/ 1339 h 1339"/>
              <a:gd name="T2" fmla="*/ 0 w 1777"/>
              <a:gd name="T3" fmla="*/ 1339 h 1339"/>
              <a:gd name="T4" fmla="*/ 0 w 1777"/>
              <a:gd name="T5" fmla="*/ 0 h 1339"/>
            </a:gdLst>
            <a:ahLst/>
            <a:cxnLst>
              <a:cxn ang="0">
                <a:pos x="T0" y="T1"/>
              </a:cxn>
              <a:cxn ang="0">
                <a:pos x="T2" y="T3"/>
              </a:cxn>
              <a:cxn ang="0">
                <a:pos x="T4" y="T5"/>
              </a:cxn>
            </a:cxnLst>
            <a:rect l="0" t="0" r="r" b="b"/>
            <a:pathLst>
              <a:path w="1777" h="1339">
                <a:moveTo>
                  <a:pt x="1777" y="1339"/>
                </a:moveTo>
                <a:lnTo>
                  <a:pt x="0" y="1339"/>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38" name="Line 34"/>
          <p:cNvSpPr>
            <a:spLocks noChangeShapeType="1"/>
          </p:cNvSpPr>
          <p:nvPr/>
        </p:nvSpPr>
        <p:spPr bwMode="auto">
          <a:xfrm flipV="1">
            <a:off x="2218878" y="2827337"/>
            <a:ext cx="336997" cy="681037"/>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9" name="Freeform 35"/>
          <p:cNvSpPr>
            <a:spLocks/>
          </p:cNvSpPr>
          <p:nvPr/>
        </p:nvSpPr>
        <p:spPr bwMode="auto">
          <a:xfrm>
            <a:off x="1978025" y="2300288"/>
            <a:ext cx="1679575" cy="554037"/>
          </a:xfrm>
          <a:custGeom>
            <a:avLst/>
            <a:gdLst>
              <a:gd name="T0" fmla="*/ 283 w 283"/>
              <a:gd name="T1" fmla="*/ 80 h 96"/>
              <a:gd name="T2" fmla="*/ 267 w 283"/>
              <a:gd name="T3" fmla="*/ 96 h 96"/>
              <a:gd name="T4" fmla="*/ 16 w 283"/>
              <a:gd name="T5" fmla="*/ 96 h 96"/>
              <a:gd name="T6" fmla="*/ 0 w 283"/>
              <a:gd name="T7" fmla="*/ 80 h 96"/>
              <a:gd name="T8" fmla="*/ 0 w 283"/>
              <a:gd name="T9" fmla="*/ 16 h 96"/>
              <a:gd name="T10" fmla="*/ 16 w 283"/>
              <a:gd name="T11" fmla="*/ 0 h 96"/>
              <a:gd name="T12" fmla="*/ 267 w 283"/>
              <a:gd name="T13" fmla="*/ 0 h 96"/>
              <a:gd name="T14" fmla="*/ 283 w 283"/>
              <a:gd name="T15" fmla="*/ 16 h 96"/>
              <a:gd name="T16" fmla="*/ 283 w 283"/>
              <a:gd name="T17" fmla="*/ 8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40" name="Rectangle 36"/>
          <p:cNvSpPr>
            <a:spLocks noChangeArrowheads="1"/>
          </p:cNvSpPr>
          <p:nvPr/>
        </p:nvSpPr>
        <p:spPr bwMode="auto">
          <a:xfrm>
            <a:off x="2057400" y="2362200"/>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1400" dirty="0">
                <a:solidFill>
                  <a:srgbClr val="000000"/>
                </a:solidFill>
                <a:latin typeface="Century Gothic"/>
                <a:cs typeface="Century Gothic"/>
              </a:rPr>
              <a:t>U.S. consumption</a:t>
            </a:r>
          </a:p>
          <a:p>
            <a:r>
              <a:rPr lang="en-US" sz="1400" dirty="0">
                <a:solidFill>
                  <a:srgbClr val="000000"/>
                </a:solidFill>
                <a:latin typeface="Century Gothic"/>
                <a:cs typeface="Century Gothic"/>
              </a:rPr>
              <a:t>without trade</a:t>
            </a:r>
          </a:p>
        </p:txBody>
      </p:sp>
      <p:sp>
        <p:nvSpPr>
          <p:cNvPr id="610345" name="Line 41"/>
          <p:cNvSpPr>
            <a:spLocks noChangeShapeType="1"/>
          </p:cNvSpPr>
          <p:nvPr/>
        </p:nvSpPr>
        <p:spPr bwMode="auto">
          <a:xfrm>
            <a:off x="5562600" y="4164807"/>
            <a:ext cx="2133600" cy="894483"/>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46" name="Freeform 42"/>
          <p:cNvSpPr>
            <a:spLocks/>
          </p:cNvSpPr>
          <p:nvPr/>
        </p:nvSpPr>
        <p:spPr bwMode="auto">
          <a:xfrm>
            <a:off x="5562600" y="1776413"/>
            <a:ext cx="3519488" cy="3295650"/>
          </a:xfrm>
          <a:custGeom>
            <a:avLst/>
            <a:gdLst>
              <a:gd name="T0" fmla="*/ 1776 w 1776"/>
              <a:gd name="T1" fmla="*/ 1342 h 1342"/>
              <a:gd name="T2" fmla="*/ 0 w 1776"/>
              <a:gd name="T3" fmla="*/ 1342 h 1342"/>
              <a:gd name="T4" fmla="*/ 0 w 1776"/>
              <a:gd name="T5" fmla="*/ 0 h 1342"/>
            </a:gdLst>
            <a:ahLst/>
            <a:cxnLst>
              <a:cxn ang="0">
                <a:pos x="T0" y="T1"/>
              </a:cxn>
              <a:cxn ang="0">
                <a:pos x="T2" y="T3"/>
              </a:cxn>
              <a:cxn ang="0">
                <a:pos x="T4" y="T5"/>
              </a:cxn>
            </a:cxnLst>
            <a:rect l="0" t="0" r="r" b="b"/>
            <a:pathLst>
              <a:path w="1776" h="1342">
                <a:moveTo>
                  <a:pt x="1776" y="1342"/>
                </a:moveTo>
                <a:lnTo>
                  <a:pt x="0" y="1342"/>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49" name="Freeform 45"/>
          <p:cNvSpPr>
            <a:spLocks/>
          </p:cNvSpPr>
          <p:nvPr/>
        </p:nvSpPr>
        <p:spPr bwMode="auto">
          <a:xfrm>
            <a:off x="6343650" y="3227388"/>
            <a:ext cx="2190750" cy="561975"/>
          </a:xfrm>
          <a:custGeom>
            <a:avLst/>
            <a:gdLst>
              <a:gd name="T0" fmla="*/ 300 w 300"/>
              <a:gd name="T1" fmla="*/ 81 h 97"/>
              <a:gd name="T2" fmla="*/ 284 w 300"/>
              <a:gd name="T3" fmla="*/ 97 h 97"/>
              <a:gd name="T4" fmla="*/ 16 w 300"/>
              <a:gd name="T5" fmla="*/ 97 h 97"/>
              <a:gd name="T6" fmla="*/ 0 w 300"/>
              <a:gd name="T7" fmla="*/ 81 h 97"/>
              <a:gd name="T8" fmla="*/ 0 w 300"/>
              <a:gd name="T9" fmla="*/ 16 h 97"/>
              <a:gd name="T10" fmla="*/ 16 w 300"/>
              <a:gd name="T11" fmla="*/ 0 h 97"/>
              <a:gd name="T12" fmla="*/ 284 w 300"/>
              <a:gd name="T13" fmla="*/ 0 h 97"/>
              <a:gd name="T14" fmla="*/ 300 w 300"/>
              <a:gd name="T15" fmla="*/ 16 h 97"/>
              <a:gd name="T16" fmla="*/ 300 w 300"/>
              <a:gd name="T17"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97">
                <a:moveTo>
                  <a:pt x="300" y="81"/>
                </a:moveTo>
                <a:cubicBezTo>
                  <a:pt x="300" y="89"/>
                  <a:pt x="293" y="97"/>
                  <a:pt x="284" y="97"/>
                </a:cubicBezTo>
                <a:cubicBezTo>
                  <a:pt x="16" y="97"/>
                  <a:pt x="16" y="97"/>
                  <a:pt x="16" y="97"/>
                </a:cubicBezTo>
                <a:cubicBezTo>
                  <a:pt x="7" y="97"/>
                  <a:pt x="0" y="89"/>
                  <a:pt x="0" y="81"/>
                </a:cubicBezTo>
                <a:cubicBezTo>
                  <a:pt x="0" y="16"/>
                  <a:pt x="0" y="16"/>
                  <a:pt x="0" y="16"/>
                </a:cubicBezTo>
                <a:cubicBezTo>
                  <a:pt x="0" y="7"/>
                  <a:pt x="7" y="0"/>
                  <a:pt x="16" y="0"/>
                </a:cubicBezTo>
                <a:cubicBezTo>
                  <a:pt x="284" y="0"/>
                  <a:pt x="284" y="0"/>
                  <a:pt x="284" y="0"/>
                </a:cubicBezTo>
                <a:cubicBezTo>
                  <a:pt x="293" y="0"/>
                  <a:pt x="300" y="7"/>
                  <a:pt x="300" y="16"/>
                </a:cubicBezTo>
                <a:lnTo>
                  <a:pt x="300"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62" name="Rectangle 58"/>
          <p:cNvSpPr>
            <a:spLocks noChangeArrowheads="1"/>
          </p:cNvSpPr>
          <p:nvPr/>
        </p:nvSpPr>
        <p:spPr bwMode="auto">
          <a:xfrm>
            <a:off x="3965575" y="4572000"/>
            <a:ext cx="3109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U.S. </a:t>
            </a:r>
          </a:p>
          <a:p>
            <a:pPr>
              <a:lnSpc>
                <a:spcPct val="100000"/>
              </a:lnSpc>
              <a:spcBef>
                <a:spcPct val="0"/>
              </a:spcBef>
              <a:buClrTx/>
              <a:buSzTx/>
              <a:buFontTx/>
              <a:buNone/>
            </a:pPr>
            <a:r>
              <a:rPr lang="en-US" sz="1400" dirty="0">
                <a:solidFill>
                  <a:srgbClr val="000000"/>
                </a:solidFill>
                <a:latin typeface="Century Gothic"/>
                <a:cs typeface="Century Gothic"/>
              </a:rPr>
              <a:t>PPF</a:t>
            </a:r>
            <a:endParaRPr lang="en-US" sz="1400" dirty="0">
              <a:latin typeface="Century Gothic"/>
              <a:cs typeface="Century Gothic"/>
            </a:endParaRPr>
          </a:p>
        </p:txBody>
      </p:sp>
      <p:sp>
        <p:nvSpPr>
          <p:cNvPr id="610363" name="Rectangle 59"/>
          <p:cNvSpPr>
            <a:spLocks noChangeArrowheads="1"/>
          </p:cNvSpPr>
          <p:nvPr/>
        </p:nvSpPr>
        <p:spPr bwMode="auto">
          <a:xfrm>
            <a:off x="7751315" y="4591050"/>
            <a:ext cx="69596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Brazilian</a:t>
            </a:r>
            <a:endParaRPr lang="en-US" sz="1400" dirty="0">
              <a:latin typeface="Century Gothic"/>
              <a:cs typeface="Century Gothic"/>
            </a:endParaRPr>
          </a:p>
        </p:txBody>
      </p:sp>
      <p:sp>
        <p:nvSpPr>
          <p:cNvPr id="610364" name="Rectangle 60"/>
          <p:cNvSpPr>
            <a:spLocks noChangeArrowheads="1"/>
          </p:cNvSpPr>
          <p:nvPr/>
        </p:nvSpPr>
        <p:spPr bwMode="auto">
          <a:xfrm>
            <a:off x="7751315" y="4811713"/>
            <a:ext cx="2995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PPF</a:t>
            </a:r>
            <a:endParaRPr lang="en-US" sz="1400">
              <a:latin typeface="Century Gothic"/>
              <a:cs typeface="Century Gothic"/>
            </a:endParaRPr>
          </a:p>
        </p:txBody>
      </p:sp>
      <p:sp>
        <p:nvSpPr>
          <p:cNvPr id="610439" name="Rectangle 135"/>
          <p:cNvSpPr>
            <a:spLocks noChangeArrowheads="1"/>
          </p:cNvSpPr>
          <p:nvPr/>
        </p:nvSpPr>
        <p:spPr bwMode="auto">
          <a:xfrm>
            <a:off x="141072" y="14478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0" name="Rectangle 136"/>
          <p:cNvSpPr>
            <a:spLocks noChangeArrowheads="1"/>
          </p:cNvSpPr>
          <p:nvPr/>
        </p:nvSpPr>
        <p:spPr bwMode="auto">
          <a:xfrm>
            <a:off x="4343400" y="15240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1" name="Rectangle 137"/>
          <p:cNvSpPr>
            <a:spLocks noChangeArrowheads="1"/>
          </p:cNvSpPr>
          <p:nvPr/>
        </p:nvSpPr>
        <p:spPr bwMode="auto">
          <a:xfrm>
            <a:off x="7239000" y="53471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2" name="Rectangle 138"/>
          <p:cNvSpPr>
            <a:spLocks noChangeArrowheads="1"/>
          </p:cNvSpPr>
          <p:nvPr/>
        </p:nvSpPr>
        <p:spPr bwMode="auto">
          <a:xfrm>
            <a:off x="3810000" y="53471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5" name="Rectangle 141"/>
          <p:cNvSpPr>
            <a:spLocks noChangeArrowheads="1"/>
          </p:cNvSpPr>
          <p:nvPr/>
        </p:nvSpPr>
        <p:spPr bwMode="auto">
          <a:xfrm>
            <a:off x="5489145" y="927556"/>
            <a:ext cx="30117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 </a:t>
            </a:r>
            <a:r>
              <a:rPr lang="en-US" sz="1400" b="1" dirty="0">
                <a:latin typeface="Century Gothic"/>
                <a:cs typeface="Century Gothic"/>
              </a:rPr>
              <a:t>Brazilian Production Possibilities</a:t>
            </a:r>
          </a:p>
        </p:txBody>
      </p:sp>
      <p:sp>
        <p:nvSpPr>
          <p:cNvPr id="610447" name="Rectangle 143"/>
          <p:cNvSpPr>
            <a:spLocks noChangeArrowheads="1"/>
          </p:cNvSpPr>
          <p:nvPr/>
        </p:nvSpPr>
        <p:spPr bwMode="auto">
          <a:xfrm>
            <a:off x="6477000" y="3308350"/>
            <a:ext cx="1981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dirty="0">
                <a:solidFill>
                  <a:srgbClr val="000000"/>
                </a:solidFill>
                <a:latin typeface="Century Gothic"/>
                <a:cs typeface="Century Gothic"/>
              </a:rPr>
              <a:t>Brazilian consumption</a:t>
            </a:r>
          </a:p>
          <a:p>
            <a:r>
              <a:rPr lang="en-US" sz="1400" dirty="0">
                <a:solidFill>
                  <a:srgbClr val="000000"/>
                </a:solidFill>
                <a:latin typeface="Century Gothic"/>
                <a:cs typeface="Century Gothic"/>
              </a:rPr>
              <a:t>without trade</a:t>
            </a:r>
          </a:p>
        </p:txBody>
      </p:sp>
      <p:cxnSp>
        <p:nvCxnSpPr>
          <p:cNvPr id="4" name="Straight Connector 3"/>
          <p:cNvCxnSpPr/>
          <p:nvPr/>
        </p:nvCxnSpPr>
        <p:spPr>
          <a:xfrm>
            <a:off x="912813" y="3581400"/>
            <a:ext cx="11887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rot="16200000">
            <a:off x="1402079" y="4297680"/>
            <a:ext cx="146304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42" name="Oval 47"/>
          <p:cNvSpPr>
            <a:spLocks noChangeArrowheads="1"/>
          </p:cNvSpPr>
          <p:nvPr/>
        </p:nvSpPr>
        <p:spPr bwMode="auto">
          <a:xfrm>
            <a:off x="2084599" y="3530598"/>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44" name="Rectangle 15"/>
          <p:cNvSpPr>
            <a:spLocks noChangeArrowheads="1"/>
          </p:cNvSpPr>
          <p:nvPr/>
        </p:nvSpPr>
        <p:spPr bwMode="auto">
          <a:xfrm>
            <a:off x="672571" y="344328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18</a:t>
            </a:r>
            <a:endParaRPr lang="en-US" sz="1400" dirty="0">
              <a:latin typeface="Century Gothic"/>
              <a:cs typeface="Century Gothic"/>
            </a:endParaRPr>
          </a:p>
        </p:txBody>
      </p:sp>
      <p:sp>
        <p:nvSpPr>
          <p:cNvPr id="145" name="Rectangle 15"/>
          <p:cNvSpPr>
            <a:spLocks noChangeArrowheads="1"/>
          </p:cNvSpPr>
          <p:nvPr/>
        </p:nvSpPr>
        <p:spPr bwMode="auto">
          <a:xfrm>
            <a:off x="2023535" y="505929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16</a:t>
            </a:r>
            <a:endParaRPr lang="en-US" sz="1400" dirty="0">
              <a:latin typeface="Century Gothic"/>
              <a:cs typeface="Century Gothic"/>
            </a:endParaRPr>
          </a:p>
        </p:txBody>
      </p:sp>
      <p:sp>
        <p:nvSpPr>
          <p:cNvPr id="146" name="Line 34"/>
          <p:cNvSpPr>
            <a:spLocks noChangeShapeType="1"/>
          </p:cNvSpPr>
          <p:nvPr/>
        </p:nvSpPr>
        <p:spPr bwMode="auto">
          <a:xfrm flipV="1">
            <a:off x="6019800" y="3756819"/>
            <a:ext cx="344488" cy="58658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47" name="Oval 47"/>
          <p:cNvSpPr>
            <a:spLocks noChangeArrowheads="1"/>
          </p:cNvSpPr>
          <p:nvPr/>
        </p:nvSpPr>
        <p:spPr bwMode="auto">
          <a:xfrm>
            <a:off x="5952067" y="4293658"/>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 name="TextBox 5"/>
          <p:cNvSpPr txBox="1"/>
          <p:nvPr/>
        </p:nvSpPr>
        <p:spPr>
          <a:xfrm>
            <a:off x="0" y="5722203"/>
            <a:ext cx="9144000" cy="830997"/>
          </a:xfrm>
          <a:prstGeom prst="rect">
            <a:avLst/>
          </a:prstGeom>
          <a:noFill/>
        </p:spPr>
        <p:txBody>
          <a:bodyPr wrap="square" rtlCol="0">
            <a:spAutoFit/>
          </a:bodyPr>
          <a:lstStyle/>
          <a:p>
            <a:r>
              <a:rPr lang="en-US" sz="2400" b="1" i="1" dirty="0">
                <a:solidFill>
                  <a:schemeClr val="tx1">
                    <a:lumMod val="75000"/>
                    <a:lumOff val="25000"/>
                  </a:schemeClr>
                </a:solidFill>
                <a:latin typeface="Century Gothic"/>
                <a:cs typeface="Century Gothic"/>
              </a:rPr>
              <a:t>Since each country has a different opportunity cost, it makes sense to specialize and trade…</a:t>
            </a:r>
          </a:p>
        </p:txBody>
      </p:sp>
      <p:cxnSp>
        <p:nvCxnSpPr>
          <p:cNvPr id="149" name="Straight Connector 148"/>
          <p:cNvCxnSpPr/>
          <p:nvPr/>
        </p:nvCxnSpPr>
        <p:spPr>
          <a:xfrm>
            <a:off x="5562600" y="4352395"/>
            <a:ext cx="45720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a:off x="5621496" y="4709161"/>
            <a:ext cx="7315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51" name="Picture 3"/>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981200" y="1143000"/>
            <a:ext cx="4003008" cy="19426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2" name="Rectangle 19"/>
          <p:cNvSpPr>
            <a:spLocks noChangeArrowheads="1"/>
          </p:cNvSpPr>
          <p:nvPr/>
        </p:nvSpPr>
        <p:spPr bwMode="auto">
          <a:xfrm>
            <a:off x="7665858"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Tree>
    <p:extLst>
      <p:ext uri="{BB962C8B-B14F-4D97-AF65-F5344CB8AC3E}">
        <p14:creationId xmlns:p14="http://schemas.microsoft.com/office/powerpoint/2010/main" val="4550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1"/>
                                        </p:tgtEl>
                                        <p:attrNameLst>
                                          <p:attrName>style.visibility</p:attrName>
                                        </p:attrNameLst>
                                      </p:cBhvr>
                                      <p:to>
                                        <p:strVal val="visible"/>
                                      </p:to>
                                    </p:set>
                                    <p:animEffect transition="in" filter="fade">
                                      <p:cBhvr>
                                        <p:cTn id="12"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rrowheads="1"/>
          </p:cNvSpPr>
          <p:nvPr>
            <p:ph type="title"/>
          </p:nvPr>
        </p:nvSpPr>
        <p:spPr>
          <a:xfrm>
            <a:off x="0" y="0"/>
            <a:ext cx="9144000" cy="914400"/>
          </a:xfrm>
        </p:spPr>
        <p:txBody>
          <a:bodyPr>
            <a:noAutofit/>
          </a:bodyPr>
          <a:lstStyle/>
          <a:p>
            <a:r>
              <a:rPr lang="en-US" sz="3600" dirty="0"/>
              <a:t>COMPARATIVE ADVANTAGE AND GAINS FROM TRADE</a:t>
            </a:r>
            <a:endParaRPr lang="en-US" sz="3200" dirty="0"/>
          </a:p>
        </p:txBody>
      </p:sp>
      <p:sp>
        <p:nvSpPr>
          <p:cNvPr id="610317" name="Rectangle 13"/>
          <p:cNvSpPr>
            <a:spLocks noChangeArrowheads="1"/>
          </p:cNvSpPr>
          <p:nvPr/>
        </p:nvSpPr>
        <p:spPr bwMode="auto">
          <a:xfrm>
            <a:off x="3644900"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40</a:t>
            </a:r>
            <a:endParaRPr lang="en-US" sz="1400">
              <a:latin typeface="Century Gothic"/>
              <a:cs typeface="Century Gothic"/>
            </a:endParaRPr>
          </a:p>
        </p:txBody>
      </p:sp>
      <p:sp>
        <p:nvSpPr>
          <p:cNvPr id="610318" name="Rectangle 14"/>
          <p:cNvSpPr>
            <a:spLocks noChangeArrowheads="1"/>
          </p:cNvSpPr>
          <p:nvPr/>
        </p:nvSpPr>
        <p:spPr bwMode="auto">
          <a:xfrm>
            <a:off x="76358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19" name="Rectangle 15"/>
          <p:cNvSpPr>
            <a:spLocks noChangeArrowheads="1"/>
          </p:cNvSpPr>
          <p:nvPr/>
        </p:nvSpPr>
        <p:spPr bwMode="auto">
          <a:xfrm>
            <a:off x="676275" y="232410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610323" name="Rectangle 19"/>
          <p:cNvSpPr>
            <a:spLocks noChangeArrowheads="1"/>
          </p:cNvSpPr>
          <p:nvPr/>
        </p:nvSpPr>
        <p:spPr bwMode="auto">
          <a:xfrm>
            <a:off x="7665858"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610325" name="Rectangle 21"/>
          <p:cNvSpPr>
            <a:spLocks noChangeArrowheads="1"/>
          </p:cNvSpPr>
          <p:nvPr/>
        </p:nvSpPr>
        <p:spPr bwMode="auto">
          <a:xfrm>
            <a:off x="5942013"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6</a:t>
            </a:r>
            <a:endParaRPr lang="en-US" sz="1400">
              <a:latin typeface="Century Gothic"/>
              <a:cs typeface="Century Gothic"/>
            </a:endParaRPr>
          </a:p>
        </p:txBody>
      </p:sp>
      <p:sp>
        <p:nvSpPr>
          <p:cNvPr id="610326" name="Rectangle 22"/>
          <p:cNvSpPr>
            <a:spLocks noChangeArrowheads="1"/>
          </p:cNvSpPr>
          <p:nvPr/>
        </p:nvSpPr>
        <p:spPr bwMode="auto">
          <a:xfrm>
            <a:off x="539273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29" name="Rectangle 25"/>
          <p:cNvSpPr>
            <a:spLocks noChangeArrowheads="1"/>
          </p:cNvSpPr>
          <p:nvPr/>
        </p:nvSpPr>
        <p:spPr bwMode="auto">
          <a:xfrm>
            <a:off x="5392738" y="42545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8</a:t>
            </a:r>
            <a:endParaRPr lang="en-US" sz="1400">
              <a:latin typeface="Century Gothic"/>
              <a:cs typeface="Century Gothic"/>
            </a:endParaRPr>
          </a:p>
        </p:txBody>
      </p:sp>
      <p:sp>
        <p:nvSpPr>
          <p:cNvPr id="610331" name="Rectangle 27"/>
          <p:cNvSpPr>
            <a:spLocks noChangeArrowheads="1"/>
          </p:cNvSpPr>
          <p:nvPr/>
        </p:nvSpPr>
        <p:spPr bwMode="auto">
          <a:xfrm>
            <a:off x="5305425" y="40576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10</a:t>
            </a:r>
            <a:endParaRPr lang="en-US" sz="1400">
              <a:latin typeface="Century Gothic"/>
              <a:cs typeface="Century Gothic"/>
            </a:endParaRPr>
          </a:p>
        </p:txBody>
      </p:sp>
      <p:sp>
        <p:nvSpPr>
          <p:cNvPr id="610332" name="Rectangle 28"/>
          <p:cNvSpPr>
            <a:spLocks noChangeArrowheads="1"/>
          </p:cNvSpPr>
          <p:nvPr/>
        </p:nvSpPr>
        <p:spPr bwMode="auto">
          <a:xfrm>
            <a:off x="1066800" y="1066800"/>
            <a:ext cx="26026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(a) </a:t>
            </a:r>
            <a:r>
              <a:rPr lang="en-US" sz="1400" b="1" dirty="0">
                <a:latin typeface="Century Gothic"/>
                <a:cs typeface="Century Gothic"/>
              </a:rPr>
              <a:t>U.S. Production Possibilities</a:t>
            </a:r>
          </a:p>
        </p:txBody>
      </p:sp>
      <p:sp>
        <p:nvSpPr>
          <p:cNvPr id="610333" name="Line 29"/>
          <p:cNvSpPr>
            <a:spLocks noChangeShapeType="1"/>
          </p:cNvSpPr>
          <p:nvPr/>
        </p:nvSpPr>
        <p:spPr bwMode="auto">
          <a:xfrm>
            <a:off x="912813" y="2449513"/>
            <a:ext cx="2819400" cy="2614612"/>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4" name="Freeform 30"/>
          <p:cNvSpPr>
            <a:spLocks/>
          </p:cNvSpPr>
          <p:nvPr/>
        </p:nvSpPr>
        <p:spPr bwMode="auto">
          <a:xfrm>
            <a:off x="912813" y="1776413"/>
            <a:ext cx="3522662" cy="3287712"/>
          </a:xfrm>
          <a:custGeom>
            <a:avLst/>
            <a:gdLst>
              <a:gd name="T0" fmla="*/ 1777 w 1777"/>
              <a:gd name="T1" fmla="*/ 1339 h 1339"/>
              <a:gd name="T2" fmla="*/ 0 w 1777"/>
              <a:gd name="T3" fmla="*/ 1339 h 1339"/>
              <a:gd name="T4" fmla="*/ 0 w 1777"/>
              <a:gd name="T5" fmla="*/ 0 h 1339"/>
            </a:gdLst>
            <a:ahLst/>
            <a:cxnLst>
              <a:cxn ang="0">
                <a:pos x="T0" y="T1"/>
              </a:cxn>
              <a:cxn ang="0">
                <a:pos x="T2" y="T3"/>
              </a:cxn>
              <a:cxn ang="0">
                <a:pos x="T4" y="T5"/>
              </a:cxn>
            </a:cxnLst>
            <a:rect l="0" t="0" r="r" b="b"/>
            <a:pathLst>
              <a:path w="1777" h="1339">
                <a:moveTo>
                  <a:pt x="1777" y="1339"/>
                </a:moveTo>
                <a:lnTo>
                  <a:pt x="0" y="1339"/>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38" name="Line 34"/>
          <p:cNvSpPr>
            <a:spLocks noChangeShapeType="1"/>
          </p:cNvSpPr>
          <p:nvPr/>
        </p:nvSpPr>
        <p:spPr bwMode="auto">
          <a:xfrm flipV="1">
            <a:off x="2218878" y="2827337"/>
            <a:ext cx="336997" cy="681037"/>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9" name="Freeform 35"/>
          <p:cNvSpPr>
            <a:spLocks/>
          </p:cNvSpPr>
          <p:nvPr/>
        </p:nvSpPr>
        <p:spPr bwMode="auto">
          <a:xfrm>
            <a:off x="1978025" y="2300288"/>
            <a:ext cx="1679575" cy="554037"/>
          </a:xfrm>
          <a:custGeom>
            <a:avLst/>
            <a:gdLst>
              <a:gd name="T0" fmla="*/ 283 w 283"/>
              <a:gd name="T1" fmla="*/ 80 h 96"/>
              <a:gd name="T2" fmla="*/ 267 w 283"/>
              <a:gd name="T3" fmla="*/ 96 h 96"/>
              <a:gd name="T4" fmla="*/ 16 w 283"/>
              <a:gd name="T5" fmla="*/ 96 h 96"/>
              <a:gd name="T6" fmla="*/ 0 w 283"/>
              <a:gd name="T7" fmla="*/ 80 h 96"/>
              <a:gd name="T8" fmla="*/ 0 w 283"/>
              <a:gd name="T9" fmla="*/ 16 h 96"/>
              <a:gd name="T10" fmla="*/ 16 w 283"/>
              <a:gd name="T11" fmla="*/ 0 h 96"/>
              <a:gd name="T12" fmla="*/ 267 w 283"/>
              <a:gd name="T13" fmla="*/ 0 h 96"/>
              <a:gd name="T14" fmla="*/ 283 w 283"/>
              <a:gd name="T15" fmla="*/ 16 h 96"/>
              <a:gd name="T16" fmla="*/ 283 w 283"/>
              <a:gd name="T17" fmla="*/ 8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40" name="Rectangle 36"/>
          <p:cNvSpPr>
            <a:spLocks noChangeArrowheads="1"/>
          </p:cNvSpPr>
          <p:nvPr/>
        </p:nvSpPr>
        <p:spPr bwMode="auto">
          <a:xfrm>
            <a:off x="2057400" y="2362200"/>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1400" dirty="0">
                <a:solidFill>
                  <a:srgbClr val="000000"/>
                </a:solidFill>
                <a:latin typeface="Century Gothic"/>
                <a:cs typeface="Century Gothic"/>
              </a:rPr>
              <a:t>U.S. consumption</a:t>
            </a:r>
          </a:p>
          <a:p>
            <a:r>
              <a:rPr lang="en-US" sz="1400" dirty="0">
                <a:solidFill>
                  <a:srgbClr val="000000"/>
                </a:solidFill>
                <a:latin typeface="Century Gothic"/>
                <a:cs typeface="Century Gothic"/>
              </a:rPr>
              <a:t>without trade</a:t>
            </a:r>
          </a:p>
        </p:txBody>
      </p:sp>
      <p:sp>
        <p:nvSpPr>
          <p:cNvPr id="610345" name="Line 41"/>
          <p:cNvSpPr>
            <a:spLocks noChangeShapeType="1"/>
          </p:cNvSpPr>
          <p:nvPr/>
        </p:nvSpPr>
        <p:spPr bwMode="auto">
          <a:xfrm>
            <a:off x="5562600" y="4164807"/>
            <a:ext cx="2133600" cy="894483"/>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46" name="Freeform 42"/>
          <p:cNvSpPr>
            <a:spLocks/>
          </p:cNvSpPr>
          <p:nvPr/>
        </p:nvSpPr>
        <p:spPr bwMode="auto">
          <a:xfrm>
            <a:off x="5562600" y="1776413"/>
            <a:ext cx="3519488" cy="3295650"/>
          </a:xfrm>
          <a:custGeom>
            <a:avLst/>
            <a:gdLst>
              <a:gd name="T0" fmla="*/ 1776 w 1776"/>
              <a:gd name="T1" fmla="*/ 1342 h 1342"/>
              <a:gd name="T2" fmla="*/ 0 w 1776"/>
              <a:gd name="T3" fmla="*/ 1342 h 1342"/>
              <a:gd name="T4" fmla="*/ 0 w 1776"/>
              <a:gd name="T5" fmla="*/ 0 h 1342"/>
            </a:gdLst>
            <a:ahLst/>
            <a:cxnLst>
              <a:cxn ang="0">
                <a:pos x="T0" y="T1"/>
              </a:cxn>
              <a:cxn ang="0">
                <a:pos x="T2" y="T3"/>
              </a:cxn>
              <a:cxn ang="0">
                <a:pos x="T4" y="T5"/>
              </a:cxn>
            </a:cxnLst>
            <a:rect l="0" t="0" r="r" b="b"/>
            <a:pathLst>
              <a:path w="1776" h="1342">
                <a:moveTo>
                  <a:pt x="1776" y="1342"/>
                </a:moveTo>
                <a:lnTo>
                  <a:pt x="0" y="1342"/>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49" name="Freeform 45"/>
          <p:cNvSpPr>
            <a:spLocks/>
          </p:cNvSpPr>
          <p:nvPr/>
        </p:nvSpPr>
        <p:spPr bwMode="auto">
          <a:xfrm>
            <a:off x="6343650" y="3227388"/>
            <a:ext cx="2266950" cy="561975"/>
          </a:xfrm>
          <a:custGeom>
            <a:avLst/>
            <a:gdLst>
              <a:gd name="T0" fmla="*/ 300 w 300"/>
              <a:gd name="T1" fmla="*/ 81 h 97"/>
              <a:gd name="T2" fmla="*/ 284 w 300"/>
              <a:gd name="T3" fmla="*/ 97 h 97"/>
              <a:gd name="T4" fmla="*/ 16 w 300"/>
              <a:gd name="T5" fmla="*/ 97 h 97"/>
              <a:gd name="T6" fmla="*/ 0 w 300"/>
              <a:gd name="T7" fmla="*/ 81 h 97"/>
              <a:gd name="T8" fmla="*/ 0 w 300"/>
              <a:gd name="T9" fmla="*/ 16 h 97"/>
              <a:gd name="T10" fmla="*/ 16 w 300"/>
              <a:gd name="T11" fmla="*/ 0 h 97"/>
              <a:gd name="T12" fmla="*/ 284 w 300"/>
              <a:gd name="T13" fmla="*/ 0 h 97"/>
              <a:gd name="T14" fmla="*/ 300 w 300"/>
              <a:gd name="T15" fmla="*/ 16 h 97"/>
              <a:gd name="T16" fmla="*/ 300 w 300"/>
              <a:gd name="T17"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97">
                <a:moveTo>
                  <a:pt x="300" y="81"/>
                </a:moveTo>
                <a:cubicBezTo>
                  <a:pt x="300" y="89"/>
                  <a:pt x="293" y="97"/>
                  <a:pt x="284" y="97"/>
                </a:cubicBezTo>
                <a:cubicBezTo>
                  <a:pt x="16" y="97"/>
                  <a:pt x="16" y="97"/>
                  <a:pt x="16" y="97"/>
                </a:cubicBezTo>
                <a:cubicBezTo>
                  <a:pt x="7" y="97"/>
                  <a:pt x="0" y="89"/>
                  <a:pt x="0" y="81"/>
                </a:cubicBezTo>
                <a:cubicBezTo>
                  <a:pt x="0" y="16"/>
                  <a:pt x="0" y="16"/>
                  <a:pt x="0" y="16"/>
                </a:cubicBezTo>
                <a:cubicBezTo>
                  <a:pt x="0" y="7"/>
                  <a:pt x="7" y="0"/>
                  <a:pt x="16" y="0"/>
                </a:cubicBezTo>
                <a:cubicBezTo>
                  <a:pt x="284" y="0"/>
                  <a:pt x="284" y="0"/>
                  <a:pt x="284" y="0"/>
                </a:cubicBezTo>
                <a:cubicBezTo>
                  <a:pt x="293" y="0"/>
                  <a:pt x="300" y="7"/>
                  <a:pt x="300" y="16"/>
                </a:cubicBezTo>
                <a:lnTo>
                  <a:pt x="300"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62" name="Rectangle 58"/>
          <p:cNvSpPr>
            <a:spLocks noChangeArrowheads="1"/>
          </p:cNvSpPr>
          <p:nvPr/>
        </p:nvSpPr>
        <p:spPr bwMode="auto">
          <a:xfrm>
            <a:off x="3965575" y="4572000"/>
            <a:ext cx="3109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U.S. </a:t>
            </a:r>
          </a:p>
          <a:p>
            <a:pPr>
              <a:lnSpc>
                <a:spcPct val="100000"/>
              </a:lnSpc>
              <a:spcBef>
                <a:spcPct val="0"/>
              </a:spcBef>
              <a:buClrTx/>
              <a:buSzTx/>
              <a:buFontTx/>
              <a:buNone/>
            </a:pPr>
            <a:r>
              <a:rPr lang="en-US" sz="1400" dirty="0">
                <a:solidFill>
                  <a:srgbClr val="000000"/>
                </a:solidFill>
                <a:latin typeface="Century Gothic"/>
                <a:cs typeface="Century Gothic"/>
              </a:rPr>
              <a:t>PPF</a:t>
            </a:r>
            <a:endParaRPr lang="en-US" sz="1400" dirty="0">
              <a:latin typeface="Century Gothic"/>
              <a:cs typeface="Century Gothic"/>
            </a:endParaRPr>
          </a:p>
        </p:txBody>
      </p:sp>
      <p:sp>
        <p:nvSpPr>
          <p:cNvPr id="610363" name="Rectangle 59"/>
          <p:cNvSpPr>
            <a:spLocks noChangeArrowheads="1"/>
          </p:cNvSpPr>
          <p:nvPr/>
        </p:nvSpPr>
        <p:spPr bwMode="auto">
          <a:xfrm>
            <a:off x="7751315" y="4591050"/>
            <a:ext cx="69596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Brazilian</a:t>
            </a:r>
            <a:endParaRPr lang="en-US" sz="1400" dirty="0">
              <a:latin typeface="Century Gothic"/>
              <a:cs typeface="Century Gothic"/>
            </a:endParaRPr>
          </a:p>
        </p:txBody>
      </p:sp>
      <p:sp>
        <p:nvSpPr>
          <p:cNvPr id="610364" name="Rectangle 60"/>
          <p:cNvSpPr>
            <a:spLocks noChangeArrowheads="1"/>
          </p:cNvSpPr>
          <p:nvPr/>
        </p:nvSpPr>
        <p:spPr bwMode="auto">
          <a:xfrm>
            <a:off x="7751315" y="4811713"/>
            <a:ext cx="2995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PPF</a:t>
            </a:r>
            <a:endParaRPr lang="en-US" sz="1400">
              <a:latin typeface="Century Gothic"/>
              <a:cs typeface="Century Gothic"/>
            </a:endParaRPr>
          </a:p>
        </p:txBody>
      </p:sp>
      <p:sp>
        <p:nvSpPr>
          <p:cNvPr id="610439" name="Rectangle 135"/>
          <p:cNvSpPr>
            <a:spLocks noChangeArrowheads="1"/>
          </p:cNvSpPr>
          <p:nvPr/>
        </p:nvSpPr>
        <p:spPr bwMode="auto">
          <a:xfrm>
            <a:off x="141072" y="14478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0" name="Rectangle 136"/>
          <p:cNvSpPr>
            <a:spLocks noChangeArrowheads="1"/>
          </p:cNvSpPr>
          <p:nvPr/>
        </p:nvSpPr>
        <p:spPr bwMode="auto">
          <a:xfrm>
            <a:off x="4343400" y="15240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1" name="Rectangle 137"/>
          <p:cNvSpPr>
            <a:spLocks noChangeArrowheads="1"/>
          </p:cNvSpPr>
          <p:nvPr/>
        </p:nvSpPr>
        <p:spPr bwMode="auto">
          <a:xfrm>
            <a:off x="7265599" y="53471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2" name="Rectangle 138"/>
          <p:cNvSpPr>
            <a:spLocks noChangeArrowheads="1"/>
          </p:cNvSpPr>
          <p:nvPr/>
        </p:nvSpPr>
        <p:spPr bwMode="auto">
          <a:xfrm>
            <a:off x="3810000" y="53471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5" name="Rectangle 141"/>
          <p:cNvSpPr>
            <a:spLocks noChangeArrowheads="1"/>
          </p:cNvSpPr>
          <p:nvPr/>
        </p:nvSpPr>
        <p:spPr bwMode="auto">
          <a:xfrm>
            <a:off x="5489145" y="1066800"/>
            <a:ext cx="30117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 </a:t>
            </a:r>
            <a:r>
              <a:rPr lang="en-US" sz="1400" b="1" dirty="0">
                <a:latin typeface="Century Gothic"/>
                <a:cs typeface="Century Gothic"/>
              </a:rPr>
              <a:t>Brazilian Production Possibilities</a:t>
            </a:r>
          </a:p>
        </p:txBody>
      </p:sp>
      <p:sp>
        <p:nvSpPr>
          <p:cNvPr id="610447" name="Rectangle 143"/>
          <p:cNvSpPr>
            <a:spLocks noChangeArrowheads="1"/>
          </p:cNvSpPr>
          <p:nvPr/>
        </p:nvSpPr>
        <p:spPr bwMode="auto">
          <a:xfrm>
            <a:off x="6477000" y="3308350"/>
            <a:ext cx="2133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dirty="0">
                <a:solidFill>
                  <a:srgbClr val="000000"/>
                </a:solidFill>
                <a:latin typeface="Century Gothic"/>
                <a:cs typeface="Century Gothic"/>
              </a:rPr>
              <a:t>Brazilian consumption</a:t>
            </a:r>
          </a:p>
          <a:p>
            <a:r>
              <a:rPr lang="en-US" sz="1400" dirty="0">
                <a:solidFill>
                  <a:srgbClr val="000000"/>
                </a:solidFill>
                <a:latin typeface="Century Gothic"/>
                <a:cs typeface="Century Gothic"/>
              </a:rPr>
              <a:t>without trade</a:t>
            </a:r>
          </a:p>
        </p:txBody>
      </p:sp>
      <p:cxnSp>
        <p:nvCxnSpPr>
          <p:cNvPr id="4" name="Straight Connector 3"/>
          <p:cNvCxnSpPr/>
          <p:nvPr/>
        </p:nvCxnSpPr>
        <p:spPr>
          <a:xfrm>
            <a:off x="912813" y="3581400"/>
            <a:ext cx="11887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rot="16200000">
            <a:off x="1402079" y="4297680"/>
            <a:ext cx="146304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42" name="Oval 47"/>
          <p:cNvSpPr>
            <a:spLocks noChangeArrowheads="1"/>
          </p:cNvSpPr>
          <p:nvPr/>
        </p:nvSpPr>
        <p:spPr bwMode="auto">
          <a:xfrm>
            <a:off x="2084599" y="3530598"/>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44" name="Rectangle 15"/>
          <p:cNvSpPr>
            <a:spLocks noChangeArrowheads="1"/>
          </p:cNvSpPr>
          <p:nvPr/>
        </p:nvSpPr>
        <p:spPr bwMode="auto">
          <a:xfrm>
            <a:off x="672571" y="344328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18</a:t>
            </a:r>
            <a:endParaRPr lang="en-US" sz="1400" dirty="0">
              <a:latin typeface="Century Gothic"/>
              <a:cs typeface="Century Gothic"/>
            </a:endParaRPr>
          </a:p>
        </p:txBody>
      </p:sp>
      <p:sp>
        <p:nvSpPr>
          <p:cNvPr id="145" name="Rectangle 15"/>
          <p:cNvSpPr>
            <a:spLocks noChangeArrowheads="1"/>
          </p:cNvSpPr>
          <p:nvPr/>
        </p:nvSpPr>
        <p:spPr bwMode="auto">
          <a:xfrm>
            <a:off x="2023535" y="505929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16</a:t>
            </a:r>
            <a:endParaRPr lang="en-US" sz="1400" dirty="0">
              <a:latin typeface="Century Gothic"/>
              <a:cs typeface="Century Gothic"/>
            </a:endParaRPr>
          </a:p>
        </p:txBody>
      </p:sp>
      <p:sp>
        <p:nvSpPr>
          <p:cNvPr id="146" name="Line 34"/>
          <p:cNvSpPr>
            <a:spLocks noChangeShapeType="1"/>
          </p:cNvSpPr>
          <p:nvPr/>
        </p:nvSpPr>
        <p:spPr bwMode="auto">
          <a:xfrm flipV="1">
            <a:off x="6019800" y="3756819"/>
            <a:ext cx="344488" cy="58658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47" name="Oval 47"/>
          <p:cNvSpPr>
            <a:spLocks noChangeArrowheads="1"/>
          </p:cNvSpPr>
          <p:nvPr/>
        </p:nvSpPr>
        <p:spPr bwMode="auto">
          <a:xfrm>
            <a:off x="5952067" y="4293658"/>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 name="TextBox 5"/>
          <p:cNvSpPr txBox="1"/>
          <p:nvPr/>
        </p:nvSpPr>
        <p:spPr>
          <a:xfrm>
            <a:off x="0" y="5486400"/>
            <a:ext cx="9082088" cy="1200328"/>
          </a:xfrm>
          <a:prstGeom prst="rect">
            <a:avLst/>
          </a:prstGeom>
          <a:noFill/>
        </p:spPr>
        <p:txBody>
          <a:bodyPr wrap="square" rtlCol="0">
            <a:spAutoFit/>
          </a:bodyPr>
          <a:lstStyle/>
          <a:p>
            <a:r>
              <a:rPr lang="en-US" sz="2400" b="1" dirty="0">
                <a:solidFill>
                  <a:srgbClr val="990033"/>
                </a:solidFill>
                <a:latin typeface="Century Gothic"/>
                <a:cs typeface="Century Gothic"/>
              </a:rPr>
              <a:t>More airplanes</a:t>
            </a:r>
            <a:r>
              <a:rPr lang="en-US" sz="2400" b="1" i="1" dirty="0">
                <a:solidFill>
                  <a:srgbClr val="990033"/>
                </a:solidFill>
                <a:latin typeface="Century Gothic"/>
                <a:cs typeface="Century Gothic"/>
              </a:rPr>
              <a:t> will be produced with the same resources (up from 26 (18 + 8) to 30 large jets and up from 22 (16+6) to 30 small jets). </a:t>
            </a:r>
          </a:p>
        </p:txBody>
      </p:sp>
      <p:cxnSp>
        <p:nvCxnSpPr>
          <p:cNvPr id="149" name="Straight Connector 148"/>
          <p:cNvCxnSpPr/>
          <p:nvPr/>
        </p:nvCxnSpPr>
        <p:spPr>
          <a:xfrm>
            <a:off x="5562600" y="4352395"/>
            <a:ext cx="45720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a:off x="5621496" y="4709161"/>
            <a:ext cx="7315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244996" y="1524744"/>
            <a:ext cx="2793603" cy="707886"/>
          </a:xfrm>
          <a:prstGeom prst="rect">
            <a:avLst/>
          </a:prstGeom>
          <a:noFill/>
        </p:spPr>
        <p:txBody>
          <a:bodyPr wrap="square" rtlCol="0">
            <a:spAutoFit/>
          </a:bodyPr>
          <a:lstStyle/>
          <a:p>
            <a:r>
              <a:rPr lang="en-US" sz="2000" b="1" i="1" dirty="0">
                <a:solidFill>
                  <a:srgbClr val="990033"/>
                </a:solidFill>
                <a:latin typeface="Century Gothic"/>
                <a:cs typeface="Century Gothic"/>
              </a:rPr>
              <a:t>If the U.S. specializes in large jets…</a:t>
            </a:r>
          </a:p>
        </p:txBody>
      </p:sp>
      <p:sp>
        <p:nvSpPr>
          <p:cNvPr id="41" name="TextBox 40"/>
          <p:cNvSpPr txBox="1"/>
          <p:nvPr/>
        </p:nvSpPr>
        <p:spPr>
          <a:xfrm>
            <a:off x="5912644" y="1524000"/>
            <a:ext cx="2621756" cy="1015663"/>
          </a:xfrm>
          <a:prstGeom prst="rect">
            <a:avLst/>
          </a:prstGeom>
          <a:noFill/>
        </p:spPr>
        <p:txBody>
          <a:bodyPr wrap="square" rtlCol="0">
            <a:spAutoFit/>
          </a:bodyPr>
          <a:lstStyle/>
          <a:p>
            <a:r>
              <a:rPr lang="en-US" sz="2000" b="1" i="1" dirty="0">
                <a:solidFill>
                  <a:srgbClr val="990033"/>
                </a:solidFill>
                <a:latin typeface="Century Gothic"/>
                <a:cs typeface="Century Gothic"/>
              </a:rPr>
              <a:t>And Brazil specializes in small jets…</a:t>
            </a:r>
          </a:p>
        </p:txBody>
      </p:sp>
    </p:spTree>
    <p:extLst>
      <p:ext uri="{BB962C8B-B14F-4D97-AF65-F5344CB8AC3E}">
        <p14:creationId xmlns:p14="http://schemas.microsoft.com/office/powerpoint/2010/main" val="320111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par>
                          <p:cTn id="8" fill="hold">
                            <p:stCondLst>
                              <p:cond delay="500"/>
                            </p:stCondLst>
                            <p:childTnLst>
                              <p:par>
                                <p:cTn id="9" presetID="42" presetClass="path" presetSubtype="0" accel="50000" decel="50000" fill="hold" grpId="0" nodeType="afterEffect">
                                  <p:stCondLst>
                                    <p:cond delay="0"/>
                                  </p:stCondLst>
                                  <p:childTnLst>
                                    <p:animMotion origin="layout" path="M 5E-6 3.7037E-7 L -0.13438 -0.16782 " pathEditMode="relative" rAng="0" ptsTypes="AA">
                                      <p:cBhvr>
                                        <p:cTn id="10" dur="2000" fill="hold"/>
                                        <p:tgtEl>
                                          <p:spTgt spid="142"/>
                                        </p:tgtEl>
                                        <p:attrNameLst>
                                          <p:attrName>ppt_x</p:attrName>
                                          <p:attrName>ppt_y</p:attrName>
                                        </p:attrNameLst>
                                      </p:cBhvr>
                                      <p:rCtr x="-6719" y="-8403"/>
                                    </p:animMotion>
                                  </p:childTnLst>
                                </p:cTn>
                              </p:par>
                              <p:par>
                                <p:cTn id="11" presetID="10" presetClass="exit" presetSubtype="0" fill="hold" nodeType="with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144"/>
                                        </p:tgtEl>
                                      </p:cBhvr>
                                    </p:animEffect>
                                    <p:set>
                                      <p:cBhvr>
                                        <p:cTn id="16" dur="1" fill="hold">
                                          <p:stCondLst>
                                            <p:cond delay="499"/>
                                          </p:stCondLst>
                                        </p:cTn>
                                        <p:tgtEl>
                                          <p:spTgt spid="144"/>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41"/>
                                        </p:tgtEl>
                                      </p:cBhvr>
                                    </p:animEffect>
                                    <p:set>
                                      <p:cBhvr>
                                        <p:cTn id="19" dur="1" fill="hold">
                                          <p:stCondLst>
                                            <p:cond delay="499"/>
                                          </p:stCondLst>
                                        </p:cTn>
                                        <p:tgtEl>
                                          <p:spTgt spid="14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145"/>
                                        </p:tgtEl>
                                      </p:cBhvr>
                                    </p:animEffect>
                                    <p:set>
                                      <p:cBhvr>
                                        <p:cTn id="22" dur="1" fill="hold">
                                          <p:stCondLst>
                                            <p:cond delay="499"/>
                                          </p:stCondLst>
                                        </p:cTn>
                                        <p:tgtEl>
                                          <p:spTgt spid="14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par>
                          <p:cTn id="28" fill="hold">
                            <p:stCondLst>
                              <p:cond delay="500"/>
                            </p:stCondLst>
                            <p:childTnLst>
                              <p:par>
                                <p:cTn id="29" presetID="42" presetClass="path" presetSubtype="0" accel="50000" decel="50000" fill="hold" grpId="0" nodeType="afterEffect">
                                  <p:stCondLst>
                                    <p:cond delay="0"/>
                                  </p:stCondLst>
                                  <p:childTnLst>
                                    <p:animMotion origin="layout" path="M 0.00417 0.00278 L 0.1875 0.10278 " pathEditMode="relative" rAng="0" ptsTypes="AA">
                                      <p:cBhvr>
                                        <p:cTn id="30" dur="2000" fill="hold"/>
                                        <p:tgtEl>
                                          <p:spTgt spid="147"/>
                                        </p:tgtEl>
                                        <p:attrNameLst>
                                          <p:attrName>ppt_x</p:attrName>
                                          <p:attrName>ppt_y</p:attrName>
                                        </p:attrNameLst>
                                      </p:cBhvr>
                                      <p:rCtr x="9167" y="5000"/>
                                    </p:animMotion>
                                  </p:childTnLst>
                                </p:cTn>
                              </p:par>
                              <p:par>
                                <p:cTn id="31" presetID="10" presetClass="exit" presetSubtype="0" fill="hold" nodeType="withEffect">
                                  <p:stCondLst>
                                    <p:cond delay="0"/>
                                  </p:stCondLst>
                                  <p:childTnLst>
                                    <p:animEffect transition="out" filter="fade">
                                      <p:cBhvr>
                                        <p:cTn id="32" dur="500"/>
                                        <p:tgtEl>
                                          <p:spTgt spid="149"/>
                                        </p:tgtEl>
                                      </p:cBhvr>
                                    </p:animEffect>
                                    <p:set>
                                      <p:cBhvr>
                                        <p:cTn id="33" dur="1" fill="hold">
                                          <p:stCondLst>
                                            <p:cond delay="499"/>
                                          </p:stCondLst>
                                        </p:cTn>
                                        <p:tgtEl>
                                          <p:spTgt spid="149"/>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150"/>
                                        </p:tgtEl>
                                      </p:cBhvr>
                                    </p:animEffect>
                                    <p:set>
                                      <p:cBhvr>
                                        <p:cTn id="36" dur="1" fill="hold">
                                          <p:stCondLst>
                                            <p:cond delay="499"/>
                                          </p:stCondLst>
                                        </p:cTn>
                                        <p:tgtEl>
                                          <p:spTgt spid="150"/>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610329"/>
                                        </p:tgtEl>
                                      </p:cBhvr>
                                    </p:animEffect>
                                    <p:set>
                                      <p:cBhvr>
                                        <p:cTn id="39" dur="1" fill="hold">
                                          <p:stCondLst>
                                            <p:cond delay="499"/>
                                          </p:stCondLst>
                                        </p:cTn>
                                        <p:tgtEl>
                                          <p:spTgt spid="610329"/>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610325"/>
                                        </p:tgtEl>
                                      </p:cBhvr>
                                    </p:animEffect>
                                    <p:set>
                                      <p:cBhvr>
                                        <p:cTn id="42" dur="1" fill="hold">
                                          <p:stCondLst>
                                            <p:cond delay="499"/>
                                          </p:stCondLst>
                                        </p:cTn>
                                        <p:tgtEl>
                                          <p:spTgt spid="610325"/>
                                        </p:tgtEl>
                                        <p:attrNameLst>
                                          <p:attrName>style.visibility</p:attrName>
                                        </p:attrNameLst>
                                      </p:cBhvr>
                                      <p:to>
                                        <p:strVal val="hidden"/>
                                      </p:to>
                                    </p:set>
                                  </p:childTnLst>
                                </p:cTn>
                              </p:par>
                            </p:childTnLst>
                          </p:cTn>
                        </p:par>
                        <p:par>
                          <p:cTn id="43" fill="hold">
                            <p:stCondLst>
                              <p:cond delay="2500"/>
                            </p:stCondLst>
                            <p:childTnLst>
                              <p:par>
                                <p:cTn id="44" presetID="10" presetClass="entr" presetSubtype="0"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25" grpId="0"/>
      <p:bldP spid="610329" grpId="0"/>
      <p:bldP spid="142" grpId="0" animBg="1"/>
      <p:bldP spid="144" grpId="0"/>
      <p:bldP spid="145" grpId="0"/>
      <p:bldP spid="147" grpId="0" animBg="1"/>
      <p:bldP spid="6" grpId="0"/>
      <p:bldP spid="40" grpId="0"/>
      <p:bldP spid="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rrowheads="1"/>
          </p:cNvSpPr>
          <p:nvPr>
            <p:ph type="title"/>
          </p:nvPr>
        </p:nvSpPr>
        <p:spPr>
          <a:xfrm>
            <a:off x="0" y="0"/>
            <a:ext cx="9144000" cy="914400"/>
          </a:xfrm>
        </p:spPr>
        <p:txBody>
          <a:bodyPr>
            <a:noAutofit/>
          </a:bodyPr>
          <a:lstStyle/>
          <a:p>
            <a:r>
              <a:rPr lang="en-US" sz="3600" dirty="0"/>
              <a:t>COMPARATIVE ADVANTAGE AND GAINS FROM TRADE</a:t>
            </a:r>
            <a:endParaRPr lang="en-US" sz="3200" dirty="0"/>
          </a:p>
        </p:txBody>
      </p:sp>
      <p:sp>
        <p:nvSpPr>
          <p:cNvPr id="610317" name="Rectangle 13"/>
          <p:cNvSpPr>
            <a:spLocks noChangeArrowheads="1"/>
          </p:cNvSpPr>
          <p:nvPr/>
        </p:nvSpPr>
        <p:spPr bwMode="auto">
          <a:xfrm>
            <a:off x="3644900"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40</a:t>
            </a:r>
            <a:endParaRPr lang="en-US" sz="1400">
              <a:latin typeface="Century Gothic"/>
              <a:cs typeface="Century Gothic"/>
            </a:endParaRPr>
          </a:p>
        </p:txBody>
      </p:sp>
      <p:sp>
        <p:nvSpPr>
          <p:cNvPr id="610318" name="Rectangle 14"/>
          <p:cNvSpPr>
            <a:spLocks noChangeArrowheads="1"/>
          </p:cNvSpPr>
          <p:nvPr/>
        </p:nvSpPr>
        <p:spPr bwMode="auto">
          <a:xfrm>
            <a:off x="76358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19" name="Rectangle 15"/>
          <p:cNvSpPr>
            <a:spLocks noChangeArrowheads="1"/>
          </p:cNvSpPr>
          <p:nvPr/>
        </p:nvSpPr>
        <p:spPr bwMode="auto">
          <a:xfrm>
            <a:off x="676275" y="232410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610323" name="Rectangle 19"/>
          <p:cNvSpPr>
            <a:spLocks noChangeArrowheads="1"/>
          </p:cNvSpPr>
          <p:nvPr/>
        </p:nvSpPr>
        <p:spPr bwMode="auto">
          <a:xfrm>
            <a:off x="7665858" y="51038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610325" name="Rectangle 21"/>
          <p:cNvSpPr>
            <a:spLocks noChangeArrowheads="1"/>
          </p:cNvSpPr>
          <p:nvPr/>
        </p:nvSpPr>
        <p:spPr bwMode="auto">
          <a:xfrm>
            <a:off x="5942013"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6</a:t>
            </a:r>
            <a:endParaRPr lang="en-US" sz="1400" dirty="0">
              <a:latin typeface="Century Gothic"/>
              <a:cs typeface="Century Gothic"/>
            </a:endParaRPr>
          </a:p>
        </p:txBody>
      </p:sp>
      <p:sp>
        <p:nvSpPr>
          <p:cNvPr id="610326" name="Rectangle 22"/>
          <p:cNvSpPr>
            <a:spLocks noChangeArrowheads="1"/>
          </p:cNvSpPr>
          <p:nvPr/>
        </p:nvSpPr>
        <p:spPr bwMode="auto">
          <a:xfrm>
            <a:off x="5392738" y="5103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610329" name="Rectangle 25"/>
          <p:cNvSpPr>
            <a:spLocks noChangeArrowheads="1"/>
          </p:cNvSpPr>
          <p:nvPr/>
        </p:nvSpPr>
        <p:spPr bwMode="auto">
          <a:xfrm>
            <a:off x="5392738" y="42545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8</a:t>
            </a:r>
            <a:endParaRPr lang="en-US" sz="1400">
              <a:latin typeface="Century Gothic"/>
              <a:cs typeface="Century Gothic"/>
            </a:endParaRPr>
          </a:p>
        </p:txBody>
      </p:sp>
      <p:sp>
        <p:nvSpPr>
          <p:cNvPr id="610331" name="Rectangle 27"/>
          <p:cNvSpPr>
            <a:spLocks noChangeArrowheads="1"/>
          </p:cNvSpPr>
          <p:nvPr/>
        </p:nvSpPr>
        <p:spPr bwMode="auto">
          <a:xfrm>
            <a:off x="5305425" y="40576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10</a:t>
            </a:r>
            <a:endParaRPr lang="en-US" sz="1400">
              <a:latin typeface="Century Gothic"/>
              <a:cs typeface="Century Gothic"/>
            </a:endParaRPr>
          </a:p>
        </p:txBody>
      </p:sp>
      <p:sp>
        <p:nvSpPr>
          <p:cNvPr id="610332" name="Rectangle 28"/>
          <p:cNvSpPr>
            <a:spLocks noChangeArrowheads="1"/>
          </p:cNvSpPr>
          <p:nvPr/>
        </p:nvSpPr>
        <p:spPr bwMode="auto">
          <a:xfrm>
            <a:off x="762000" y="1066800"/>
            <a:ext cx="26417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(a) </a:t>
            </a:r>
            <a:r>
              <a:rPr lang="en-US" sz="1400" b="1" dirty="0">
                <a:latin typeface="Century Gothic"/>
                <a:cs typeface="Century Gothic"/>
              </a:rPr>
              <a:t>U.S. Production Possibilities</a:t>
            </a:r>
          </a:p>
        </p:txBody>
      </p:sp>
      <p:sp>
        <p:nvSpPr>
          <p:cNvPr id="610333" name="Line 29"/>
          <p:cNvSpPr>
            <a:spLocks noChangeShapeType="1"/>
          </p:cNvSpPr>
          <p:nvPr/>
        </p:nvSpPr>
        <p:spPr bwMode="auto">
          <a:xfrm>
            <a:off x="912813" y="2449513"/>
            <a:ext cx="2819400" cy="2614612"/>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4" name="Freeform 30"/>
          <p:cNvSpPr>
            <a:spLocks/>
          </p:cNvSpPr>
          <p:nvPr/>
        </p:nvSpPr>
        <p:spPr bwMode="auto">
          <a:xfrm>
            <a:off x="912813" y="1776413"/>
            <a:ext cx="3522662" cy="3287712"/>
          </a:xfrm>
          <a:custGeom>
            <a:avLst/>
            <a:gdLst>
              <a:gd name="T0" fmla="*/ 1777 w 1777"/>
              <a:gd name="T1" fmla="*/ 1339 h 1339"/>
              <a:gd name="T2" fmla="*/ 0 w 1777"/>
              <a:gd name="T3" fmla="*/ 1339 h 1339"/>
              <a:gd name="T4" fmla="*/ 0 w 1777"/>
              <a:gd name="T5" fmla="*/ 0 h 1339"/>
            </a:gdLst>
            <a:ahLst/>
            <a:cxnLst>
              <a:cxn ang="0">
                <a:pos x="T0" y="T1"/>
              </a:cxn>
              <a:cxn ang="0">
                <a:pos x="T2" y="T3"/>
              </a:cxn>
              <a:cxn ang="0">
                <a:pos x="T4" y="T5"/>
              </a:cxn>
            </a:cxnLst>
            <a:rect l="0" t="0" r="r" b="b"/>
            <a:pathLst>
              <a:path w="1777" h="1339">
                <a:moveTo>
                  <a:pt x="1777" y="1339"/>
                </a:moveTo>
                <a:lnTo>
                  <a:pt x="0" y="1339"/>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38" name="Line 34"/>
          <p:cNvSpPr>
            <a:spLocks noChangeShapeType="1"/>
          </p:cNvSpPr>
          <p:nvPr/>
        </p:nvSpPr>
        <p:spPr bwMode="auto">
          <a:xfrm flipV="1">
            <a:off x="2133600" y="2827336"/>
            <a:ext cx="422276" cy="75406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39" name="Freeform 35"/>
          <p:cNvSpPr>
            <a:spLocks/>
          </p:cNvSpPr>
          <p:nvPr/>
        </p:nvSpPr>
        <p:spPr bwMode="auto">
          <a:xfrm>
            <a:off x="1978025" y="2300288"/>
            <a:ext cx="1679575" cy="554037"/>
          </a:xfrm>
          <a:custGeom>
            <a:avLst/>
            <a:gdLst>
              <a:gd name="T0" fmla="*/ 283 w 283"/>
              <a:gd name="T1" fmla="*/ 80 h 96"/>
              <a:gd name="T2" fmla="*/ 267 w 283"/>
              <a:gd name="T3" fmla="*/ 96 h 96"/>
              <a:gd name="T4" fmla="*/ 16 w 283"/>
              <a:gd name="T5" fmla="*/ 96 h 96"/>
              <a:gd name="T6" fmla="*/ 0 w 283"/>
              <a:gd name="T7" fmla="*/ 80 h 96"/>
              <a:gd name="T8" fmla="*/ 0 w 283"/>
              <a:gd name="T9" fmla="*/ 16 h 96"/>
              <a:gd name="T10" fmla="*/ 16 w 283"/>
              <a:gd name="T11" fmla="*/ 0 h 96"/>
              <a:gd name="T12" fmla="*/ 267 w 283"/>
              <a:gd name="T13" fmla="*/ 0 h 96"/>
              <a:gd name="T14" fmla="*/ 283 w 283"/>
              <a:gd name="T15" fmla="*/ 16 h 96"/>
              <a:gd name="T16" fmla="*/ 283 w 283"/>
              <a:gd name="T17" fmla="*/ 8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40" name="Rectangle 36"/>
          <p:cNvSpPr>
            <a:spLocks noChangeArrowheads="1"/>
          </p:cNvSpPr>
          <p:nvPr/>
        </p:nvSpPr>
        <p:spPr bwMode="auto">
          <a:xfrm>
            <a:off x="2057400" y="2362200"/>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1400" dirty="0">
                <a:solidFill>
                  <a:srgbClr val="000000"/>
                </a:solidFill>
                <a:latin typeface="Century Gothic"/>
                <a:cs typeface="Century Gothic"/>
              </a:rPr>
              <a:t>U.S. consumption</a:t>
            </a:r>
          </a:p>
          <a:p>
            <a:r>
              <a:rPr lang="en-US" sz="1400" dirty="0">
                <a:solidFill>
                  <a:srgbClr val="000000"/>
                </a:solidFill>
                <a:latin typeface="Century Gothic"/>
                <a:cs typeface="Century Gothic"/>
              </a:rPr>
              <a:t>without trade</a:t>
            </a:r>
          </a:p>
        </p:txBody>
      </p:sp>
      <p:sp>
        <p:nvSpPr>
          <p:cNvPr id="610345" name="Line 41"/>
          <p:cNvSpPr>
            <a:spLocks noChangeShapeType="1"/>
          </p:cNvSpPr>
          <p:nvPr/>
        </p:nvSpPr>
        <p:spPr bwMode="auto">
          <a:xfrm>
            <a:off x="5562600" y="4164807"/>
            <a:ext cx="2133600" cy="894483"/>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0346" name="Freeform 42"/>
          <p:cNvSpPr>
            <a:spLocks/>
          </p:cNvSpPr>
          <p:nvPr/>
        </p:nvSpPr>
        <p:spPr bwMode="auto">
          <a:xfrm>
            <a:off x="5562600" y="1776413"/>
            <a:ext cx="3519488" cy="3295650"/>
          </a:xfrm>
          <a:custGeom>
            <a:avLst/>
            <a:gdLst>
              <a:gd name="T0" fmla="*/ 1776 w 1776"/>
              <a:gd name="T1" fmla="*/ 1342 h 1342"/>
              <a:gd name="T2" fmla="*/ 0 w 1776"/>
              <a:gd name="T3" fmla="*/ 1342 h 1342"/>
              <a:gd name="T4" fmla="*/ 0 w 1776"/>
              <a:gd name="T5" fmla="*/ 0 h 1342"/>
            </a:gdLst>
            <a:ahLst/>
            <a:cxnLst>
              <a:cxn ang="0">
                <a:pos x="T0" y="T1"/>
              </a:cxn>
              <a:cxn ang="0">
                <a:pos x="T2" y="T3"/>
              </a:cxn>
              <a:cxn ang="0">
                <a:pos x="T4" y="T5"/>
              </a:cxn>
            </a:cxnLst>
            <a:rect l="0" t="0" r="r" b="b"/>
            <a:pathLst>
              <a:path w="1776" h="1342">
                <a:moveTo>
                  <a:pt x="1776" y="1342"/>
                </a:moveTo>
                <a:lnTo>
                  <a:pt x="0" y="1342"/>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0349" name="Freeform 45"/>
          <p:cNvSpPr>
            <a:spLocks/>
          </p:cNvSpPr>
          <p:nvPr/>
        </p:nvSpPr>
        <p:spPr bwMode="auto">
          <a:xfrm>
            <a:off x="6343650" y="3227388"/>
            <a:ext cx="2190750" cy="561975"/>
          </a:xfrm>
          <a:custGeom>
            <a:avLst/>
            <a:gdLst>
              <a:gd name="T0" fmla="*/ 300 w 300"/>
              <a:gd name="T1" fmla="*/ 81 h 97"/>
              <a:gd name="T2" fmla="*/ 284 w 300"/>
              <a:gd name="T3" fmla="*/ 97 h 97"/>
              <a:gd name="T4" fmla="*/ 16 w 300"/>
              <a:gd name="T5" fmla="*/ 97 h 97"/>
              <a:gd name="T6" fmla="*/ 0 w 300"/>
              <a:gd name="T7" fmla="*/ 81 h 97"/>
              <a:gd name="T8" fmla="*/ 0 w 300"/>
              <a:gd name="T9" fmla="*/ 16 h 97"/>
              <a:gd name="T10" fmla="*/ 16 w 300"/>
              <a:gd name="T11" fmla="*/ 0 h 97"/>
              <a:gd name="T12" fmla="*/ 284 w 300"/>
              <a:gd name="T13" fmla="*/ 0 h 97"/>
              <a:gd name="T14" fmla="*/ 300 w 300"/>
              <a:gd name="T15" fmla="*/ 16 h 97"/>
              <a:gd name="T16" fmla="*/ 300 w 300"/>
              <a:gd name="T17"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97">
                <a:moveTo>
                  <a:pt x="300" y="81"/>
                </a:moveTo>
                <a:cubicBezTo>
                  <a:pt x="300" y="89"/>
                  <a:pt x="293" y="97"/>
                  <a:pt x="284" y="97"/>
                </a:cubicBezTo>
                <a:cubicBezTo>
                  <a:pt x="16" y="97"/>
                  <a:pt x="16" y="97"/>
                  <a:pt x="16" y="97"/>
                </a:cubicBezTo>
                <a:cubicBezTo>
                  <a:pt x="7" y="97"/>
                  <a:pt x="0" y="89"/>
                  <a:pt x="0" y="81"/>
                </a:cubicBezTo>
                <a:cubicBezTo>
                  <a:pt x="0" y="16"/>
                  <a:pt x="0" y="16"/>
                  <a:pt x="0" y="16"/>
                </a:cubicBezTo>
                <a:cubicBezTo>
                  <a:pt x="0" y="7"/>
                  <a:pt x="7" y="0"/>
                  <a:pt x="16" y="0"/>
                </a:cubicBezTo>
                <a:cubicBezTo>
                  <a:pt x="284" y="0"/>
                  <a:pt x="284" y="0"/>
                  <a:pt x="284" y="0"/>
                </a:cubicBezTo>
                <a:cubicBezTo>
                  <a:pt x="293" y="0"/>
                  <a:pt x="300" y="7"/>
                  <a:pt x="300" y="16"/>
                </a:cubicBezTo>
                <a:lnTo>
                  <a:pt x="300"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0362" name="Rectangle 58"/>
          <p:cNvSpPr>
            <a:spLocks noChangeArrowheads="1"/>
          </p:cNvSpPr>
          <p:nvPr/>
        </p:nvSpPr>
        <p:spPr bwMode="auto">
          <a:xfrm>
            <a:off x="3965575" y="4572000"/>
            <a:ext cx="3063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U.S. </a:t>
            </a:r>
          </a:p>
          <a:p>
            <a:pPr>
              <a:lnSpc>
                <a:spcPct val="100000"/>
              </a:lnSpc>
              <a:spcBef>
                <a:spcPct val="0"/>
              </a:spcBef>
              <a:buClrTx/>
              <a:buSzTx/>
              <a:buFontTx/>
              <a:buNone/>
            </a:pPr>
            <a:r>
              <a:rPr lang="en-US" sz="1400" dirty="0">
                <a:solidFill>
                  <a:srgbClr val="000000"/>
                </a:solidFill>
                <a:latin typeface="Century Gothic"/>
                <a:cs typeface="Century Gothic"/>
              </a:rPr>
              <a:t>PPF</a:t>
            </a:r>
            <a:endParaRPr lang="en-US" sz="1400" dirty="0">
              <a:latin typeface="Century Gothic"/>
              <a:cs typeface="Century Gothic"/>
            </a:endParaRPr>
          </a:p>
        </p:txBody>
      </p:sp>
      <p:sp>
        <p:nvSpPr>
          <p:cNvPr id="610363" name="Rectangle 59"/>
          <p:cNvSpPr>
            <a:spLocks noChangeArrowheads="1"/>
          </p:cNvSpPr>
          <p:nvPr/>
        </p:nvSpPr>
        <p:spPr bwMode="auto">
          <a:xfrm>
            <a:off x="7751315" y="4591050"/>
            <a:ext cx="7150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Brazilian</a:t>
            </a:r>
            <a:endParaRPr lang="en-US" sz="1400" dirty="0">
              <a:latin typeface="Century Gothic"/>
              <a:cs typeface="Century Gothic"/>
            </a:endParaRPr>
          </a:p>
        </p:txBody>
      </p:sp>
      <p:sp>
        <p:nvSpPr>
          <p:cNvPr id="610364" name="Rectangle 60"/>
          <p:cNvSpPr>
            <a:spLocks noChangeArrowheads="1"/>
          </p:cNvSpPr>
          <p:nvPr/>
        </p:nvSpPr>
        <p:spPr bwMode="auto">
          <a:xfrm>
            <a:off x="7751315" y="4811713"/>
            <a:ext cx="2995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PPF</a:t>
            </a:r>
            <a:endParaRPr lang="en-US" sz="1400">
              <a:latin typeface="Century Gothic"/>
              <a:cs typeface="Century Gothic"/>
            </a:endParaRPr>
          </a:p>
        </p:txBody>
      </p:sp>
      <p:sp>
        <p:nvSpPr>
          <p:cNvPr id="610439" name="Rectangle 135"/>
          <p:cNvSpPr>
            <a:spLocks noChangeArrowheads="1"/>
          </p:cNvSpPr>
          <p:nvPr/>
        </p:nvSpPr>
        <p:spPr bwMode="auto">
          <a:xfrm>
            <a:off x="141072" y="14478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0" name="Rectangle 136"/>
          <p:cNvSpPr>
            <a:spLocks noChangeArrowheads="1"/>
          </p:cNvSpPr>
          <p:nvPr/>
        </p:nvSpPr>
        <p:spPr bwMode="auto">
          <a:xfrm>
            <a:off x="4343400" y="15240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610441" name="Rectangle 137"/>
          <p:cNvSpPr>
            <a:spLocks noChangeArrowheads="1"/>
          </p:cNvSpPr>
          <p:nvPr/>
        </p:nvSpPr>
        <p:spPr bwMode="auto">
          <a:xfrm>
            <a:off x="7233965" y="5347156"/>
            <a:ext cx="183383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2" name="Rectangle 138"/>
          <p:cNvSpPr>
            <a:spLocks noChangeArrowheads="1"/>
          </p:cNvSpPr>
          <p:nvPr/>
        </p:nvSpPr>
        <p:spPr bwMode="auto">
          <a:xfrm>
            <a:off x="3810000" y="5347156"/>
            <a:ext cx="183383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610445" name="Rectangle 141"/>
          <p:cNvSpPr>
            <a:spLocks noChangeArrowheads="1"/>
          </p:cNvSpPr>
          <p:nvPr/>
        </p:nvSpPr>
        <p:spPr bwMode="auto">
          <a:xfrm>
            <a:off x="5870145" y="1066800"/>
            <a:ext cx="30117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 </a:t>
            </a:r>
            <a:r>
              <a:rPr lang="en-US" sz="1400" b="1" dirty="0">
                <a:latin typeface="Century Gothic"/>
                <a:cs typeface="Century Gothic"/>
              </a:rPr>
              <a:t>Brazilian Production Possibilities</a:t>
            </a:r>
          </a:p>
        </p:txBody>
      </p:sp>
      <p:sp>
        <p:nvSpPr>
          <p:cNvPr id="610447" name="Rectangle 143"/>
          <p:cNvSpPr>
            <a:spLocks noChangeArrowheads="1"/>
          </p:cNvSpPr>
          <p:nvPr/>
        </p:nvSpPr>
        <p:spPr bwMode="auto">
          <a:xfrm>
            <a:off x="6477000" y="3308350"/>
            <a:ext cx="2057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dirty="0">
                <a:solidFill>
                  <a:srgbClr val="000000"/>
                </a:solidFill>
                <a:latin typeface="Century Gothic"/>
                <a:cs typeface="Century Gothic"/>
              </a:rPr>
              <a:t>Brazilian consumption</a:t>
            </a:r>
          </a:p>
          <a:p>
            <a:r>
              <a:rPr lang="en-US" sz="1400" dirty="0">
                <a:solidFill>
                  <a:srgbClr val="000000"/>
                </a:solidFill>
                <a:latin typeface="Century Gothic"/>
                <a:cs typeface="Century Gothic"/>
              </a:rPr>
              <a:t>without trade</a:t>
            </a:r>
          </a:p>
        </p:txBody>
      </p:sp>
      <p:cxnSp>
        <p:nvCxnSpPr>
          <p:cNvPr id="4" name="Straight Connector 3"/>
          <p:cNvCxnSpPr/>
          <p:nvPr/>
        </p:nvCxnSpPr>
        <p:spPr>
          <a:xfrm>
            <a:off x="912813" y="3581400"/>
            <a:ext cx="11887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rot="16200000">
            <a:off x="1402079" y="4297680"/>
            <a:ext cx="146304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42" name="Oval 47"/>
          <p:cNvSpPr>
            <a:spLocks noChangeArrowheads="1"/>
          </p:cNvSpPr>
          <p:nvPr/>
        </p:nvSpPr>
        <p:spPr bwMode="auto">
          <a:xfrm>
            <a:off x="863601" y="2421466"/>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44" name="Rectangle 15"/>
          <p:cNvSpPr>
            <a:spLocks noChangeArrowheads="1"/>
          </p:cNvSpPr>
          <p:nvPr/>
        </p:nvSpPr>
        <p:spPr bwMode="auto">
          <a:xfrm>
            <a:off x="672571" y="344328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18</a:t>
            </a:r>
            <a:endParaRPr lang="en-US" sz="1400" dirty="0">
              <a:latin typeface="Century Gothic"/>
              <a:cs typeface="Century Gothic"/>
            </a:endParaRPr>
          </a:p>
        </p:txBody>
      </p:sp>
      <p:sp>
        <p:nvSpPr>
          <p:cNvPr id="145" name="Rectangle 15"/>
          <p:cNvSpPr>
            <a:spLocks noChangeArrowheads="1"/>
          </p:cNvSpPr>
          <p:nvPr/>
        </p:nvSpPr>
        <p:spPr bwMode="auto">
          <a:xfrm>
            <a:off x="2023535" y="505929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16</a:t>
            </a:r>
            <a:endParaRPr lang="en-US" sz="1400" dirty="0">
              <a:latin typeface="Century Gothic"/>
              <a:cs typeface="Century Gothic"/>
            </a:endParaRPr>
          </a:p>
        </p:txBody>
      </p:sp>
      <p:sp>
        <p:nvSpPr>
          <p:cNvPr id="146" name="Line 34"/>
          <p:cNvSpPr>
            <a:spLocks noChangeShapeType="1"/>
          </p:cNvSpPr>
          <p:nvPr/>
        </p:nvSpPr>
        <p:spPr bwMode="auto">
          <a:xfrm flipV="1">
            <a:off x="6019800" y="3756819"/>
            <a:ext cx="344488" cy="58658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47" name="Oval 47"/>
          <p:cNvSpPr>
            <a:spLocks noChangeArrowheads="1"/>
          </p:cNvSpPr>
          <p:nvPr/>
        </p:nvSpPr>
        <p:spPr bwMode="auto">
          <a:xfrm>
            <a:off x="5952067" y="4293658"/>
            <a:ext cx="117345" cy="1174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 name="TextBox 5"/>
          <p:cNvSpPr txBox="1"/>
          <p:nvPr/>
        </p:nvSpPr>
        <p:spPr>
          <a:xfrm>
            <a:off x="0" y="5486400"/>
            <a:ext cx="9144000" cy="1200329"/>
          </a:xfrm>
          <a:prstGeom prst="rect">
            <a:avLst/>
          </a:prstGeom>
          <a:noFill/>
        </p:spPr>
        <p:txBody>
          <a:bodyPr wrap="square" rtlCol="0">
            <a:spAutoFit/>
          </a:bodyPr>
          <a:lstStyle/>
          <a:p>
            <a:r>
              <a:rPr lang="en-US" sz="2400" b="1" i="1" dirty="0">
                <a:solidFill>
                  <a:srgbClr val="990033"/>
                </a:solidFill>
                <a:latin typeface="Century Gothic"/>
                <a:cs typeface="Century Gothic"/>
              </a:rPr>
              <a:t>Both countries will be happy to export their goods for any price ABOVE their cost of production and import for any price BELOW their cost of production. </a:t>
            </a:r>
          </a:p>
        </p:txBody>
      </p:sp>
      <p:cxnSp>
        <p:nvCxnSpPr>
          <p:cNvPr id="149" name="Straight Connector 148"/>
          <p:cNvCxnSpPr/>
          <p:nvPr/>
        </p:nvCxnSpPr>
        <p:spPr>
          <a:xfrm>
            <a:off x="5562600" y="4343400"/>
            <a:ext cx="45720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a:off x="5621496" y="4709161"/>
            <a:ext cx="7315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066800" y="1295400"/>
            <a:ext cx="3098403" cy="1015663"/>
          </a:xfrm>
          <a:prstGeom prst="rect">
            <a:avLst/>
          </a:prstGeom>
          <a:noFill/>
        </p:spPr>
        <p:txBody>
          <a:bodyPr wrap="square" rtlCol="0">
            <a:spAutoFit/>
          </a:bodyPr>
          <a:lstStyle/>
          <a:p>
            <a:r>
              <a:rPr lang="en-US" sz="2000" b="1" i="1" dirty="0">
                <a:solidFill>
                  <a:schemeClr val="tx1">
                    <a:lumMod val="75000"/>
                    <a:lumOff val="25000"/>
                  </a:schemeClr>
                </a:solidFill>
                <a:latin typeface="Century Gothic"/>
                <a:cs typeface="Century Gothic"/>
              </a:rPr>
              <a:t>Then the U.S. will send some large jets to Brazil in return for  small jets…</a:t>
            </a:r>
          </a:p>
        </p:txBody>
      </p:sp>
      <p:sp>
        <p:nvSpPr>
          <p:cNvPr id="41" name="TextBox 40"/>
          <p:cNvSpPr txBox="1"/>
          <p:nvPr/>
        </p:nvSpPr>
        <p:spPr>
          <a:xfrm>
            <a:off x="5912644" y="1295400"/>
            <a:ext cx="3002756" cy="1323439"/>
          </a:xfrm>
          <a:prstGeom prst="rect">
            <a:avLst/>
          </a:prstGeom>
          <a:noFill/>
        </p:spPr>
        <p:txBody>
          <a:bodyPr wrap="square" rtlCol="0">
            <a:spAutoFit/>
          </a:bodyPr>
          <a:lstStyle/>
          <a:p>
            <a:r>
              <a:rPr lang="en-US" sz="2000" b="1" i="1" dirty="0">
                <a:solidFill>
                  <a:schemeClr val="tx1">
                    <a:lumMod val="75000"/>
                    <a:lumOff val="25000"/>
                  </a:schemeClr>
                </a:solidFill>
                <a:latin typeface="Century Gothic"/>
                <a:cs typeface="Century Gothic"/>
              </a:rPr>
              <a:t>And Brazil will send some small jets to the U.S. in return for  large jets…</a:t>
            </a:r>
          </a:p>
        </p:txBody>
      </p:sp>
      <p:sp>
        <p:nvSpPr>
          <p:cNvPr id="2" name="Rectangle 1"/>
          <p:cNvSpPr/>
          <p:nvPr/>
        </p:nvSpPr>
        <p:spPr>
          <a:xfrm>
            <a:off x="2808072" y="3251537"/>
            <a:ext cx="2906928" cy="1015663"/>
          </a:xfrm>
          <a:prstGeom prst="rect">
            <a:avLst/>
          </a:prstGeom>
        </p:spPr>
        <p:txBody>
          <a:bodyPr wrap="square">
            <a:spAutoFit/>
          </a:bodyPr>
          <a:lstStyle/>
          <a:p>
            <a:r>
              <a:rPr lang="en-US" sz="2000" b="1" dirty="0">
                <a:solidFill>
                  <a:srgbClr val="990033"/>
                </a:solidFill>
                <a:latin typeface="Century Gothic"/>
                <a:cs typeface="Century Gothic"/>
              </a:rPr>
              <a:t>Both are happy with 1 large jet trading for 2 small jets.</a:t>
            </a:r>
          </a:p>
        </p:txBody>
      </p:sp>
      <p:cxnSp>
        <p:nvCxnSpPr>
          <p:cNvPr id="42" name="Straight Connector 41"/>
          <p:cNvCxnSpPr/>
          <p:nvPr/>
        </p:nvCxnSpPr>
        <p:spPr>
          <a:xfrm>
            <a:off x="914400" y="3429000"/>
            <a:ext cx="146304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a:off x="1590039" y="4223168"/>
            <a:ext cx="164592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4" name="Rectangle 15"/>
          <p:cNvSpPr>
            <a:spLocks noChangeArrowheads="1"/>
          </p:cNvSpPr>
          <p:nvPr/>
        </p:nvSpPr>
        <p:spPr bwMode="auto">
          <a:xfrm>
            <a:off x="2331858" y="5054601"/>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20</a:t>
            </a:r>
            <a:endParaRPr lang="en-US" sz="1400" dirty="0">
              <a:latin typeface="Century Gothic"/>
              <a:cs typeface="Century Gothic"/>
            </a:endParaRPr>
          </a:p>
        </p:txBody>
      </p:sp>
      <p:sp>
        <p:nvSpPr>
          <p:cNvPr id="45" name="Rectangle 15"/>
          <p:cNvSpPr>
            <a:spLocks noChangeArrowheads="1"/>
          </p:cNvSpPr>
          <p:nvPr/>
        </p:nvSpPr>
        <p:spPr bwMode="auto">
          <a:xfrm>
            <a:off x="685800" y="3289756"/>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20</a:t>
            </a:r>
            <a:endParaRPr lang="en-US" sz="1400" dirty="0">
              <a:latin typeface="Century Gothic"/>
              <a:cs typeface="Century Gothic"/>
            </a:endParaRPr>
          </a:p>
        </p:txBody>
      </p:sp>
      <p:sp>
        <p:nvSpPr>
          <p:cNvPr id="46" name="Line 34"/>
          <p:cNvSpPr>
            <a:spLocks noChangeShapeType="1"/>
          </p:cNvSpPr>
          <p:nvPr/>
        </p:nvSpPr>
        <p:spPr bwMode="auto">
          <a:xfrm flipV="1">
            <a:off x="2514601" y="2944017"/>
            <a:ext cx="1219200" cy="456189"/>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7" name="Freeform 35"/>
          <p:cNvSpPr>
            <a:spLocks/>
          </p:cNvSpPr>
          <p:nvPr/>
        </p:nvSpPr>
        <p:spPr bwMode="auto">
          <a:xfrm>
            <a:off x="3730625" y="2667000"/>
            <a:ext cx="1679575" cy="554037"/>
          </a:xfrm>
          <a:custGeom>
            <a:avLst/>
            <a:gdLst>
              <a:gd name="T0" fmla="*/ 283 w 283"/>
              <a:gd name="T1" fmla="*/ 80 h 96"/>
              <a:gd name="T2" fmla="*/ 267 w 283"/>
              <a:gd name="T3" fmla="*/ 96 h 96"/>
              <a:gd name="T4" fmla="*/ 16 w 283"/>
              <a:gd name="T5" fmla="*/ 96 h 96"/>
              <a:gd name="T6" fmla="*/ 0 w 283"/>
              <a:gd name="T7" fmla="*/ 80 h 96"/>
              <a:gd name="T8" fmla="*/ 0 w 283"/>
              <a:gd name="T9" fmla="*/ 16 h 96"/>
              <a:gd name="T10" fmla="*/ 16 w 283"/>
              <a:gd name="T11" fmla="*/ 0 h 96"/>
              <a:gd name="T12" fmla="*/ 267 w 283"/>
              <a:gd name="T13" fmla="*/ 0 h 96"/>
              <a:gd name="T14" fmla="*/ 283 w 283"/>
              <a:gd name="T15" fmla="*/ 16 h 96"/>
              <a:gd name="T16" fmla="*/ 283 w 283"/>
              <a:gd name="T17" fmla="*/ 8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96">
                <a:moveTo>
                  <a:pt x="283" y="80"/>
                </a:moveTo>
                <a:cubicBezTo>
                  <a:pt x="283" y="89"/>
                  <a:pt x="276" y="96"/>
                  <a:pt x="267" y="96"/>
                </a:cubicBezTo>
                <a:cubicBezTo>
                  <a:pt x="16" y="96"/>
                  <a:pt x="16" y="96"/>
                  <a:pt x="16" y="96"/>
                </a:cubicBezTo>
                <a:cubicBezTo>
                  <a:pt x="7" y="96"/>
                  <a:pt x="0" y="89"/>
                  <a:pt x="0" y="80"/>
                </a:cubicBezTo>
                <a:cubicBezTo>
                  <a:pt x="0" y="16"/>
                  <a:pt x="0" y="16"/>
                  <a:pt x="0" y="16"/>
                </a:cubicBezTo>
                <a:cubicBezTo>
                  <a:pt x="0" y="7"/>
                  <a:pt x="7" y="0"/>
                  <a:pt x="16" y="0"/>
                </a:cubicBezTo>
                <a:cubicBezTo>
                  <a:pt x="267" y="0"/>
                  <a:pt x="267" y="0"/>
                  <a:pt x="267" y="0"/>
                </a:cubicBezTo>
                <a:cubicBezTo>
                  <a:pt x="276" y="0"/>
                  <a:pt x="283" y="7"/>
                  <a:pt x="283" y="16"/>
                </a:cubicBezTo>
                <a:lnTo>
                  <a:pt x="283" y="80"/>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48" name="Rectangle 36"/>
          <p:cNvSpPr>
            <a:spLocks noChangeArrowheads="1"/>
          </p:cNvSpPr>
          <p:nvPr/>
        </p:nvSpPr>
        <p:spPr bwMode="auto">
          <a:xfrm>
            <a:off x="3810000" y="2728574"/>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sz="1400" dirty="0">
                <a:solidFill>
                  <a:srgbClr val="000000"/>
                </a:solidFill>
                <a:latin typeface="Century Gothic"/>
                <a:cs typeface="Century Gothic"/>
              </a:rPr>
              <a:t>U.S. consumption</a:t>
            </a:r>
          </a:p>
          <a:p>
            <a:r>
              <a:rPr lang="en-US" sz="1400" dirty="0">
                <a:solidFill>
                  <a:srgbClr val="000000"/>
                </a:solidFill>
                <a:latin typeface="Century Gothic"/>
                <a:cs typeface="Century Gothic"/>
              </a:rPr>
              <a:t>with trade</a:t>
            </a:r>
          </a:p>
        </p:txBody>
      </p:sp>
      <p:cxnSp>
        <p:nvCxnSpPr>
          <p:cNvPr id="49" name="Straight Connector 48"/>
          <p:cNvCxnSpPr/>
          <p:nvPr/>
        </p:nvCxnSpPr>
        <p:spPr>
          <a:xfrm>
            <a:off x="5562600" y="4157132"/>
            <a:ext cx="64008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a:off x="5836920" y="4646507"/>
            <a:ext cx="822960" cy="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2" name="Rectangle 21"/>
          <p:cNvSpPr>
            <a:spLocks noChangeArrowheads="1"/>
          </p:cNvSpPr>
          <p:nvPr/>
        </p:nvSpPr>
        <p:spPr bwMode="auto">
          <a:xfrm>
            <a:off x="6208715" y="509693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10</a:t>
            </a:r>
            <a:endParaRPr lang="en-US" sz="1400" dirty="0">
              <a:latin typeface="Century Gothic"/>
              <a:cs typeface="Century Gothic"/>
            </a:endParaRPr>
          </a:p>
        </p:txBody>
      </p:sp>
      <p:sp>
        <p:nvSpPr>
          <p:cNvPr id="53" name="Freeform 45"/>
          <p:cNvSpPr>
            <a:spLocks/>
          </p:cNvSpPr>
          <p:nvPr/>
        </p:nvSpPr>
        <p:spPr bwMode="auto">
          <a:xfrm>
            <a:off x="6800850" y="3913189"/>
            <a:ext cx="1962150" cy="561975"/>
          </a:xfrm>
          <a:custGeom>
            <a:avLst/>
            <a:gdLst>
              <a:gd name="T0" fmla="*/ 300 w 300"/>
              <a:gd name="T1" fmla="*/ 81 h 97"/>
              <a:gd name="T2" fmla="*/ 284 w 300"/>
              <a:gd name="T3" fmla="*/ 97 h 97"/>
              <a:gd name="T4" fmla="*/ 16 w 300"/>
              <a:gd name="T5" fmla="*/ 97 h 97"/>
              <a:gd name="T6" fmla="*/ 0 w 300"/>
              <a:gd name="T7" fmla="*/ 81 h 97"/>
              <a:gd name="T8" fmla="*/ 0 w 300"/>
              <a:gd name="T9" fmla="*/ 16 h 97"/>
              <a:gd name="T10" fmla="*/ 16 w 300"/>
              <a:gd name="T11" fmla="*/ 0 h 97"/>
              <a:gd name="T12" fmla="*/ 284 w 300"/>
              <a:gd name="T13" fmla="*/ 0 h 97"/>
              <a:gd name="T14" fmla="*/ 300 w 300"/>
              <a:gd name="T15" fmla="*/ 16 h 97"/>
              <a:gd name="T16" fmla="*/ 300 w 300"/>
              <a:gd name="T17"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97">
                <a:moveTo>
                  <a:pt x="300" y="81"/>
                </a:moveTo>
                <a:cubicBezTo>
                  <a:pt x="300" y="89"/>
                  <a:pt x="293" y="97"/>
                  <a:pt x="284" y="97"/>
                </a:cubicBezTo>
                <a:cubicBezTo>
                  <a:pt x="16" y="97"/>
                  <a:pt x="16" y="97"/>
                  <a:pt x="16" y="97"/>
                </a:cubicBezTo>
                <a:cubicBezTo>
                  <a:pt x="7" y="97"/>
                  <a:pt x="0" y="89"/>
                  <a:pt x="0" y="81"/>
                </a:cubicBezTo>
                <a:cubicBezTo>
                  <a:pt x="0" y="16"/>
                  <a:pt x="0" y="16"/>
                  <a:pt x="0" y="16"/>
                </a:cubicBezTo>
                <a:cubicBezTo>
                  <a:pt x="0" y="7"/>
                  <a:pt x="7" y="0"/>
                  <a:pt x="16" y="0"/>
                </a:cubicBezTo>
                <a:cubicBezTo>
                  <a:pt x="284" y="0"/>
                  <a:pt x="284" y="0"/>
                  <a:pt x="284" y="0"/>
                </a:cubicBezTo>
                <a:cubicBezTo>
                  <a:pt x="293" y="0"/>
                  <a:pt x="300" y="7"/>
                  <a:pt x="300" y="16"/>
                </a:cubicBezTo>
                <a:lnTo>
                  <a:pt x="300" y="81"/>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 name="Rectangle 143"/>
          <p:cNvSpPr>
            <a:spLocks noChangeArrowheads="1"/>
          </p:cNvSpPr>
          <p:nvPr/>
        </p:nvSpPr>
        <p:spPr bwMode="auto">
          <a:xfrm>
            <a:off x="6858000" y="3994151"/>
            <a:ext cx="1981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sz="1400" dirty="0">
                <a:solidFill>
                  <a:srgbClr val="000000"/>
                </a:solidFill>
                <a:latin typeface="Century Gothic"/>
                <a:cs typeface="Century Gothic"/>
              </a:rPr>
              <a:t>Brazilian consumption</a:t>
            </a:r>
          </a:p>
          <a:p>
            <a:r>
              <a:rPr lang="en-US" sz="1400" dirty="0">
                <a:solidFill>
                  <a:srgbClr val="000000"/>
                </a:solidFill>
                <a:latin typeface="Century Gothic"/>
                <a:cs typeface="Century Gothic"/>
              </a:rPr>
              <a:t>with trade</a:t>
            </a:r>
          </a:p>
        </p:txBody>
      </p:sp>
      <p:sp>
        <p:nvSpPr>
          <p:cNvPr id="55" name="Line 34"/>
          <p:cNvSpPr>
            <a:spLocks noChangeShapeType="1"/>
          </p:cNvSpPr>
          <p:nvPr/>
        </p:nvSpPr>
        <p:spPr bwMode="auto">
          <a:xfrm flipV="1">
            <a:off x="6300086" y="4194176"/>
            <a:ext cx="521402" cy="4085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 name="TextBox 2"/>
          <p:cNvSpPr txBox="1"/>
          <p:nvPr/>
        </p:nvSpPr>
        <p:spPr>
          <a:xfrm>
            <a:off x="3121026" y="685800"/>
            <a:ext cx="3508374" cy="461665"/>
          </a:xfrm>
          <a:prstGeom prst="rect">
            <a:avLst/>
          </a:prstGeom>
          <a:noFill/>
        </p:spPr>
        <p:txBody>
          <a:bodyPr wrap="square" rtlCol="0">
            <a:spAutoFit/>
          </a:bodyPr>
          <a:lstStyle/>
          <a:p>
            <a:r>
              <a:rPr lang="en-US" sz="2400" b="1" i="1" dirty="0">
                <a:solidFill>
                  <a:srgbClr val="990033"/>
                </a:solidFill>
                <a:latin typeface="Century Gothic"/>
                <a:cs typeface="Century Gothic"/>
              </a:rPr>
              <a:t>Both countries gain.</a:t>
            </a:r>
          </a:p>
        </p:txBody>
      </p:sp>
    </p:spTree>
    <p:extLst>
      <p:ext uri="{BB962C8B-B14F-4D97-AF65-F5344CB8AC3E}">
        <p14:creationId xmlns:p14="http://schemas.microsoft.com/office/powerpoint/2010/main" val="231888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0" nodeType="clickEffect">
                                  <p:stCondLst>
                                    <p:cond delay="0"/>
                                  </p:stCondLst>
                                  <p:childTnLst>
                                    <p:animMotion origin="layout" path="M -0.00347 -0.00231 L 0.16232 0.14213 " pathEditMode="relative" rAng="0" ptsTypes="AA">
                                      <p:cBhvr>
                                        <p:cTn id="25" dur="2000" fill="hold"/>
                                        <p:tgtEl>
                                          <p:spTgt spid="142"/>
                                        </p:tgtEl>
                                        <p:attrNameLst>
                                          <p:attrName>ppt_x</p:attrName>
                                          <p:attrName>ppt_y</p:attrName>
                                        </p:attrNameLst>
                                      </p:cBhvr>
                                      <p:rCtr x="8281" y="7222"/>
                                    </p:animMotion>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5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5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0" nodeType="clickEffect">
                                  <p:stCondLst>
                                    <p:cond delay="0"/>
                                  </p:stCondLst>
                                  <p:childTnLst>
                                    <p:animMotion origin="layout" path="M -1.66667E-6 -2.22222E-6 L 0.02604 -0.02361 " pathEditMode="relative" rAng="0" ptsTypes="AA">
                                      <p:cBhvr>
                                        <p:cTn id="51" dur="2000" fill="hold"/>
                                        <p:tgtEl>
                                          <p:spTgt spid="147"/>
                                        </p:tgtEl>
                                        <p:attrNameLst>
                                          <p:attrName>ppt_x</p:attrName>
                                          <p:attrName>ppt_y</p:attrName>
                                        </p:attrNameLst>
                                      </p:cBhvr>
                                      <p:rCtr x="1302" y="-1181"/>
                                    </p:animMotion>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fade">
                                      <p:cBhvr>
                                        <p:cTn id="55" dur="500"/>
                                        <p:tgtEl>
                                          <p:spTgt spid="49"/>
                                        </p:tgtEl>
                                      </p:cBhvr>
                                    </p:animEffect>
                                  </p:childTnLst>
                                </p:cTn>
                              </p:par>
                              <p:par>
                                <p:cTn id="56" presetID="10" presetClass="entr" presetSubtype="0" fill="hold"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500"/>
                                        <p:tgtEl>
                                          <p:spTgt spid="5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500"/>
                                        <p:tgtEl>
                                          <p:spTgt spid="5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fade">
                                      <p:cBhvr>
                                        <p:cTn id="67" dur="500"/>
                                        <p:tgtEl>
                                          <p:spTgt spid="5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7" grpId="0" animBg="1"/>
      <p:bldP spid="6" grpId="0"/>
      <p:bldP spid="40" grpId="0"/>
      <p:bldP spid="41" grpId="0"/>
      <p:bldP spid="2" grpId="0"/>
      <p:bldP spid="44" grpId="0"/>
      <p:bldP spid="45" grpId="0"/>
      <p:bldP spid="46" grpId="0" animBg="1"/>
      <p:bldP spid="47" grpId="0" animBg="1"/>
      <p:bldP spid="48" grpId="0"/>
      <p:bldP spid="53" grpId="0" animBg="1"/>
      <p:bldP spid="54" grpId="0"/>
      <p:bldP spid="55"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600" dirty="0"/>
              <a:t>COMPARATIVE ADVANTAGE VS. ABSOLUTE ADVANTAGE</a:t>
            </a:r>
          </a:p>
        </p:txBody>
      </p:sp>
      <p:sp>
        <p:nvSpPr>
          <p:cNvPr id="6" name="Content Placeholder 5"/>
          <p:cNvSpPr>
            <a:spLocks noGrp="1"/>
          </p:cNvSpPr>
          <p:nvPr>
            <p:ph idx="1"/>
          </p:nvPr>
        </p:nvSpPr>
        <p:spPr>
          <a:xfrm>
            <a:off x="152400" y="1066800"/>
            <a:ext cx="8839200" cy="4343400"/>
          </a:xfrm>
        </p:spPr>
        <p:txBody>
          <a:bodyPr>
            <a:normAutofit/>
          </a:bodyPr>
          <a:lstStyle/>
          <a:p>
            <a:r>
              <a:rPr lang="en-US" sz="2400" dirty="0">
                <a:solidFill>
                  <a:srgbClr val="990033"/>
                </a:solidFill>
              </a:rPr>
              <a:t>Absolute advantage: </a:t>
            </a:r>
            <a:r>
              <a:rPr lang="en-US" sz="2400" b="0" dirty="0"/>
              <a:t>a country can produce more output per worker than other countries.</a:t>
            </a:r>
            <a:endParaRPr lang="en-US" sz="2400" dirty="0"/>
          </a:p>
        </p:txBody>
      </p:sp>
      <p:sp>
        <p:nvSpPr>
          <p:cNvPr id="9" name="Rectangle 13"/>
          <p:cNvSpPr>
            <a:spLocks noChangeArrowheads="1"/>
          </p:cNvSpPr>
          <p:nvPr/>
        </p:nvSpPr>
        <p:spPr bwMode="auto">
          <a:xfrm>
            <a:off x="3644900" y="57134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40</a:t>
            </a:r>
            <a:endParaRPr lang="en-US" sz="1400">
              <a:latin typeface="Century Gothic"/>
              <a:cs typeface="Century Gothic"/>
            </a:endParaRPr>
          </a:p>
        </p:txBody>
      </p:sp>
      <p:sp>
        <p:nvSpPr>
          <p:cNvPr id="10" name="Rectangle 14"/>
          <p:cNvSpPr>
            <a:spLocks noChangeArrowheads="1"/>
          </p:cNvSpPr>
          <p:nvPr/>
        </p:nvSpPr>
        <p:spPr bwMode="auto">
          <a:xfrm>
            <a:off x="763588" y="57134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11" name="Rectangle 15"/>
          <p:cNvSpPr>
            <a:spLocks noChangeArrowheads="1"/>
          </p:cNvSpPr>
          <p:nvPr/>
        </p:nvSpPr>
        <p:spPr bwMode="auto">
          <a:xfrm>
            <a:off x="676275" y="293370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13" name="Rectangle 22"/>
          <p:cNvSpPr>
            <a:spLocks noChangeArrowheads="1"/>
          </p:cNvSpPr>
          <p:nvPr/>
        </p:nvSpPr>
        <p:spPr bwMode="auto">
          <a:xfrm>
            <a:off x="5392738" y="57134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0</a:t>
            </a:r>
            <a:endParaRPr lang="en-US" sz="1400">
              <a:latin typeface="Century Gothic"/>
              <a:cs typeface="Century Gothic"/>
            </a:endParaRPr>
          </a:p>
        </p:txBody>
      </p:sp>
      <p:sp>
        <p:nvSpPr>
          <p:cNvPr id="15" name="Rectangle 27"/>
          <p:cNvSpPr>
            <a:spLocks noChangeArrowheads="1"/>
          </p:cNvSpPr>
          <p:nvPr/>
        </p:nvSpPr>
        <p:spPr bwMode="auto">
          <a:xfrm>
            <a:off x="5305425" y="46672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10</a:t>
            </a:r>
            <a:endParaRPr lang="en-US" sz="1400">
              <a:latin typeface="Century Gothic"/>
              <a:cs typeface="Century Gothic"/>
            </a:endParaRPr>
          </a:p>
        </p:txBody>
      </p:sp>
      <p:sp>
        <p:nvSpPr>
          <p:cNvPr id="16" name="Rectangle 28"/>
          <p:cNvSpPr>
            <a:spLocks noChangeArrowheads="1"/>
          </p:cNvSpPr>
          <p:nvPr/>
        </p:nvSpPr>
        <p:spPr bwMode="auto">
          <a:xfrm>
            <a:off x="1066800" y="1918156"/>
            <a:ext cx="26026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(a) </a:t>
            </a:r>
            <a:r>
              <a:rPr lang="en-US" sz="1400" b="1" dirty="0">
                <a:latin typeface="Century Gothic"/>
                <a:cs typeface="Century Gothic"/>
              </a:rPr>
              <a:t>U.S. Production Possibilities</a:t>
            </a:r>
          </a:p>
        </p:txBody>
      </p:sp>
      <p:sp>
        <p:nvSpPr>
          <p:cNvPr id="17" name="Line 29"/>
          <p:cNvSpPr>
            <a:spLocks noChangeShapeType="1"/>
          </p:cNvSpPr>
          <p:nvPr/>
        </p:nvSpPr>
        <p:spPr bwMode="auto">
          <a:xfrm>
            <a:off x="912813" y="3059113"/>
            <a:ext cx="2819400" cy="2614612"/>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8" name="Freeform 30"/>
          <p:cNvSpPr>
            <a:spLocks/>
          </p:cNvSpPr>
          <p:nvPr/>
        </p:nvSpPr>
        <p:spPr bwMode="auto">
          <a:xfrm>
            <a:off x="912813" y="2386013"/>
            <a:ext cx="3522662" cy="3287712"/>
          </a:xfrm>
          <a:custGeom>
            <a:avLst/>
            <a:gdLst>
              <a:gd name="T0" fmla="*/ 1777 w 1777"/>
              <a:gd name="T1" fmla="*/ 1339 h 1339"/>
              <a:gd name="T2" fmla="*/ 0 w 1777"/>
              <a:gd name="T3" fmla="*/ 1339 h 1339"/>
              <a:gd name="T4" fmla="*/ 0 w 1777"/>
              <a:gd name="T5" fmla="*/ 0 h 1339"/>
            </a:gdLst>
            <a:ahLst/>
            <a:cxnLst>
              <a:cxn ang="0">
                <a:pos x="T0" y="T1"/>
              </a:cxn>
              <a:cxn ang="0">
                <a:pos x="T2" y="T3"/>
              </a:cxn>
              <a:cxn ang="0">
                <a:pos x="T4" y="T5"/>
              </a:cxn>
            </a:cxnLst>
            <a:rect l="0" t="0" r="r" b="b"/>
            <a:pathLst>
              <a:path w="1777" h="1339">
                <a:moveTo>
                  <a:pt x="1777" y="1339"/>
                </a:moveTo>
                <a:lnTo>
                  <a:pt x="0" y="1339"/>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22" name="Line 41"/>
          <p:cNvSpPr>
            <a:spLocks noChangeShapeType="1"/>
          </p:cNvSpPr>
          <p:nvPr/>
        </p:nvSpPr>
        <p:spPr bwMode="auto">
          <a:xfrm>
            <a:off x="5562600" y="4774407"/>
            <a:ext cx="2133600" cy="894483"/>
          </a:xfrm>
          <a:prstGeom prst="line">
            <a:avLst/>
          </a:prstGeom>
          <a:noFill/>
          <a:ln w="28575">
            <a:solidFill>
              <a:srgbClr val="0076A3"/>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3" name="Freeform 42"/>
          <p:cNvSpPr>
            <a:spLocks/>
          </p:cNvSpPr>
          <p:nvPr/>
        </p:nvSpPr>
        <p:spPr bwMode="auto">
          <a:xfrm>
            <a:off x="5562600" y="2386013"/>
            <a:ext cx="3519488" cy="3295650"/>
          </a:xfrm>
          <a:custGeom>
            <a:avLst/>
            <a:gdLst>
              <a:gd name="T0" fmla="*/ 1776 w 1776"/>
              <a:gd name="T1" fmla="*/ 1342 h 1342"/>
              <a:gd name="T2" fmla="*/ 0 w 1776"/>
              <a:gd name="T3" fmla="*/ 1342 h 1342"/>
              <a:gd name="T4" fmla="*/ 0 w 1776"/>
              <a:gd name="T5" fmla="*/ 0 h 1342"/>
            </a:gdLst>
            <a:ahLst/>
            <a:cxnLst>
              <a:cxn ang="0">
                <a:pos x="T0" y="T1"/>
              </a:cxn>
              <a:cxn ang="0">
                <a:pos x="T2" y="T3"/>
              </a:cxn>
              <a:cxn ang="0">
                <a:pos x="T4" y="T5"/>
              </a:cxn>
            </a:cxnLst>
            <a:rect l="0" t="0" r="r" b="b"/>
            <a:pathLst>
              <a:path w="1776" h="1342">
                <a:moveTo>
                  <a:pt x="1776" y="1342"/>
                </a:moveTo>
                <a:lnTo>
                  <a:pt x="0" y="1342"/>
                </a:lnTo>
                <a:lnTo>
                  <a:pt x="0" y="0"/>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25" name="Rectangle 58"/>
          <p:cNvSpPr>
            <a:spLocks noChangeArrowheads="1"/>
          </p:cNvSpPr>
          <p:nvPr/>
        </p:nvSpPr>
        <p:spPr bwMode="auto">
          <a:xfrm>
            <a:off x="3965575" y="5181600"/>
            <a:ext cx="3109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U.S. </a:t>
            </a:r>
          </a:p>
          <a:p>
            <a:pPr>
              <a:lnSpc>
                <a:spcPct val="100000"/>
              </a:lnSpc>
              <a:spcBef>
                <a:spcPct val="0"/>
              </a:spcBef>
              <a:buClrTx/>
              <a:buSzTx/>
              <a:buFontTx/>
              <a:buNone/>
            </a:pPr>
            <a:r>
              <a:rPr lang="en-US" sz="1400" dirty="0">
                <a:solidFill>
                  <a:srgbClr val="000000"/>
                </a:solidFill>
                <a:latin typeface="Century Gothic"/>
                <a:cs typeface="Century Gothic"/>
              </a:rPr>
              <a:t>PPF</a:t>
            </a:r>
            <a:endParaRPr lang="en-US" sz="1400" dirty="0">
              <a:latin typeface="Century Gothic"/>
              <a:cs typeface="Century Gothic"/>
            </a:endParaRPr>
          </a:p>
        </p:txBody>
      </p:sp>
      <p:sp>
        <p:nvSpPr>
          <p:cNvPr id="26" name="Rectangle 59"/>
          <p:cNvSpPr>
            <a:spLocks noChangeArrowheads="1"/>
          </p:cNvSpPr>
          <p:nvPr/>
        </p:nvSpPr>
        <p:spPr bwMode="auto">
          <a:xfrm>
            <a:off x="7751315" y="5200650"/>
            <a:ext cx="69596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Brazilian</a:t>
            </a:r>
            <a:endParaRPr lang="en-US" sz="1400" dirty="0">
              <a:latin typeface="Century Gothic"/>
              <a:cs typeface="Century Gothic"/>
            </a:endParaRPr>
          </a:p>
        </p:txBody>
      </p:sp>
      <p:sp>
        <p:nvSpPr>
          <p:cNvPr id="27" name="Rectangle 60"/>
          <p:cNvSpPr>
            <a:spLocks noChangeArrowheads="1"/>
          </p:cNvSpPr>
          <p:nvPr/>
        </p:nvSpPr>
        <p:spPr bwMode="auto">
          <a:xfrm>
            <a:off x="7751315" y="5421313"/>
            <a:ext cx="2995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a:solidFill>
                  <a:srgbClr val="000000"/>
                </a:solidFill>
                <a:latin typeface="Century Gothic"/>
                <a:cs typeface="Century Gothic"/>
              </a:rPr>
              <a:t>PPF</a:t>
            </a:r>
            <a:endParaRPr lang="en-US" sz="1400">
              <a:latin typeface="Century Gothic"/>
              <a:cs typeface="Century Gothic"/>
            </a:endParaRPr>
          </a:p>
        </p:txBody>
      </p:sp>
      <p:sp>
        <p:nvSpPr>
          <p:cNvPr id="28" name="Rectangle 135"/>
          <p:cNvSpPr>
            <a:spLocks noChangeArrowheads="1"/>
          </p:cNvSpPr>
          <p:nvPr/>
        </p:nvSpPr>
        <p:spPr bwMode="auto">
          <a:xfrm>
            <a:off x="141072" y="20574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29" name="Rectangle 136"/>
          <p:cNvSpPr>
            <a:spLocks noChangeArrowheads="1"/>
          </p:cNvSpPr>
          <p:nvPr/>
        </p:nvSpPr>
        <p:spPr bwMode="auto">
          <a:xfrm>
            <a:off x="4343400" y="2133600"/>
            <a:ext cx="961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400" b="1" dirty="0">
                <a:latin typeface="Century Gothic"/>
                <a:cs typeface="Century Gothic"/>
              </a:rPr>
              <a:t>Quantity of</a:t>
            </a:r>
          </a:p>
          <a:p>
            <a:r>
              <a:rPr lang="en-US" sz="1400" b="1" dirty="0">
                <a:latin typeface="Century Gothic"/>
                <a:cs typeface="Century Gothic"/>
              </a:rPr>
              <a:t>large jets</a:t>
            </a:r>
            <a:endParaRPr lang="en-US" sz="1400" dirty="0">
              <a:latin typeface="Century Gothic"/>
              <a:cs typeface="Century Gothic"/>
            </a:endParaRPr>
          </a:p>
        </p:txBody>
      </p:sp>
      <p:sp>
        <p:nvSpPr>
          <p:cNvPr id="30" name="Rectangle 137"/>
          <p:cNvSpPr>
            <a:spLocks noChangeArrowheads="1"/>
          </p:cNvSpPr>
          <p:nvPr/>
        </p:nvSpPr>
        <p:spPr bwMode="auto">
          <a:xfrm>
            <a:off x="7315200" y="59567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31" name="Rectangle 138"/>
          <p:cNvSpPr>
            <a:spLocks noChangeArrowheads="1"/>
          </p:cNvSpPr>
          <p:nvPr/>
        </p:nvSpPr>
        <p:spPr bwMode="auto">
          <a:xfrm>
            <a:off x="3810000" y="5956756"/>
            <a:ext cx="18022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b="1" dirty="0">
                <a:latin typeface="Century Gothic"/>
                <a:cs typeface="Century Gothic"/>
              </a:rPr>
              <a:t>Quantity of small jets</a:t>
            </a:r>
            <a:endParaRPr lang="en-US" sz="1400" dirty="0">
              <a:latin typeface="Century Gothic"/>
              <a:cs typeface="Century Gothic"/>
            </a:endParaRPr>
          </a:p>
        </p:txBody>
      </p:sp>
      <p:sp>
        <p:nvSpPr>
          <p:cNvPr id="32" name="Rectangle 141"/>
          <p:cNvSpPr>
            <a:spLocks noChangeArrowheads="1"/>
          </p:cNvSpPr>
          <p:nvPr/>
        </p:nvSpPr>
        <p:spPr bwMode="auto">
          <a:xfrm>
            <a:off x="5489145" y="1918156"/>
            <a:ext cx="30117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(b) </a:t>
            </a:r>
            <a:r>
              <a:rPr lang="en-US" sz="1400" b="1" dirty="0">
                <a:latin typeface="Century Gothic"/>
                <a:cs typeface="Century Gothic"/>
              </a:rPr>
              <a:t>Brazilian Production Possibilities</a:t>
            </a:r>
          </a:p>
        </p:txBody>
      </p:sp>
      <p:sp>
        <p:nvSpPr>
          <p:cNvPr id="44" name="Rectangle 19"/>
          <p:cNvSpPr>
            <a:spLocks noChangeArrowheads="1"/>
          </p:cNvSpPr>
          <p:nvPr/>
        </p:nvSpPr>
        <p:spPr bwMode="auto">
          <a:xfrm>
            <a:off x="7665858" y="57134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spcBef>
                <a:spcPct val="0"/>
              </a:spcBef>
              <a:buClrTx/>
              <a:buSzTx/>
              <a:buFontTx/>
              <a:buNone/>
            </a:pPr>
            <a:r>
              <a:rPr lang="en-US" sz="1400" dirty="0">
                <a:solidFill>
                  <a:srgbClr val="000000"/>
                </a:solidFill>
                <a:latin typeface="Century Gothic"/>
                <a:cs typeface="Century Gothic"/>
              </a:rPr>
              <a:t>30</a:t>
            </a:r>
            <a:endParaRPr lang="en-US" sz="1400" dirty="0">
              <a:latin typeface="Century Gothic"/>
              <a:cs typeface="Century Gothic"/>
            </a:endParaRPr>
          </a:p>
        </p:txBody>
      </p:sp>
      <p:sp>
        <p:nvSpPr>
          <p:cNvPr id="45" name="Rectangle 44"/>
          <p:cNvSpPr/>
          <p:nvPr/>
        </p:nvSpPr>
        <p:spPr>
          <a:xfrm>
            <a:off x="2121214" y="2729805"/>
            <a:ext cx="3365186" cy="1200328"/>
          </a:xfrm>
          <a:prstGeom prst="rect">
            <a:avLst/>
          </a:prstGeom>
        </p:spPr>
        <p:txBody>
          <a:bodyPr wrap="square">
            <a:spAutoFit/>
          </a:bodyPr>
          <a:lstStyle/>
          <a:p>
            <a:r>
              <a:rPr lang="en-US" sz="2400" b="1" dirty="0">
                <a:solidFill>
                  <a:srgbClr val="990033"/>
                </a:solidFill>
                <a:latin typeface="Century Gothic"/>
                <a:cs typeface="Century Gothic"/>
              </a:rPr>
              <a:t>U.S. has the absolute advantage in BOTH large and small jets.</a:t>
            </a:r>
          </a:p>
        </p:txBody>
      </p:sp>
    </p:spTree>
    <p:extLst>
      <p:ext uri="{BB962C8B-B14F-4D97-AF65-F5344CB8AC3E}">
        <p14:creationId xmlns:p14="http://schemas.microsoft.com/office/powerpoint/2010/main" val="239961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idx="1"/>
          </p:nvPr>
        </p:nvSpPr>
        <p:spPr>
          <a:xfrm>
            <a:off x="457200" y="990600"/>
            <a:ext cx="8534400" cy="5135563"/>
          </a:xfrm>
        </p:spPr>
        <p:txBody>
          <a:bodyPr>
            <a:normAutofit/>
          </a:bodyPr>
          <a:lstStyle/>
          <a:p>
            <a:pPr eaLnBrk="1" hangingPunct="1">
              <a:lnSpc>
                <a:spcPct val="90000"/>
              </a:lnSpc>
              <a:spcBef>
                <a:spcPts val="0"/>
              </a:spcBef>
              <a:spcAft>
                <a:spcPts val="1200"/>
              </a:spcAft>
            </a:pPr>
            <a:r>
              <a:rPr lang="en-US" sz="3200" dirty="0">
                <a:solidFill>
                  <a:srgbClr val="990033"/>
                </a:solidFill>
                <a:latin typeface="Century Gothic"/>
                <a:cs typeface="Century Gothic"/>
              </a:rPr>
              <a:t>Don’t confuse </a:t>
            </a:r>
            <a:r>
              <a:rPr lang="en-US" sz="3200" i="1" u="sng" dirty="0">
                <a:solidFill>
                  <a:srgbClr val="990033"/>
                </a:solidFill>
                <a:latin typeface="Century Gothic"/>
                <a:cs typeface="Century Gothic"/>
              </a:rPr>
              <a:t>absolute</a:t>
            </a:r>
            <a:r>
              <a:rPr lang="en-US" sz="3200" dirty="0">
                <a:solidFill>
                  <a:srgbClr val="990033"/>
                </a:solidFill>
                <a:latin typeface="Century Gothic"/>
                <a:cs typeface="Century Gothic"/>
              </a:rPr>
              <a:t> with </a:t>
            </a:r>
            <a:r>
              <a:rPr lang="en-US" sz="3200" i="1" u="sng" dirty="0">
                <a:solidFill>
                  <a:srgbClr val="990033"/>
                </a:solidFill>
                <a:latin typeface="Century Gothic"/>
                <a:cs typeface="Century Gothic"/>
              </a:rPr>
              <a:t>comparative</a:t>
            </a:r>
            <a:r>
              <a:rPr lang="en-US" sz="3200" u="sng" dirty="0">
                <a:solidFill>
                  <a:srgbClr val="990033"/>
                </a:solidFill>
                <a:latin typeface="Century Gothic"/>
                <a:cs typeface="Century Gothic"/>
              </a:rPr>
              <a:t> </a:t>
            </a:r>
            <a:r>
              <a:rPr lang="en-US" sz="3200" dirty="0">
                <a:solidFill>
                  <a:srgbClr val="990033"/>
                </a:solidFill>
                <a:latin typeface="Century Gothic"/>
                <a:cs typeface="Century Gothic"/>
              </a:rPr>
              <a:t>advantage.</a:t>
            </a:r>
          </a:p>
          <a:p>
            <a:pPr lvl="1">
              <a:lnSpc>
                <a:spcPct val="90000"/>
              </a:lnSpc>
              <a:spcBef>
                <a:spcPts val="0"/>
              </a:spcBef>
              <a:spcAft>
                <a:spcPts val="1200"/>
              </a:spcAft>
            </a:pPr>
            <a:r>
              <a:rPr lang="en-US" b="0" dirty="0">
                <a:latin typeface="Century Gothic"/>
                <a:cs typeface="Century Gothic"/>
              </a:rPr>
              <a:t>Just because the United States can produce </a:t>
            </a:r>
            <a:r>
              <a:rPr lang="en-US" dirty="0">
                <a:solidFill>
                  <a:schemeClr val="accent1">
                    <a:lumMod val="75000"/>
                  </a:schemeClr>
                </a:solidFill>
                <a:latin typeface="Century Gothic"/>
                <a:cs typeface="Century Gothic"/>
              </a:rPr>
              <a:t>more</a:t>
            </a:r>
            <a:r>
              <a:rPr lang="en-US" b="0" dirty="0">
                <a:solidFill>
                  <a:schemeClr val="accent1">
                    <a:lumMod val="75000"/>
                  </a:schemeClr>
                </a:solidFill>
                <a:latin typeface="Century Gothic"/>
                <a:cs typeface="Century Gothic"/>
              </a:rPr>
              <a:t> </a:t>
            </a:r>
            <a:r>
              <a:rPr lang="en-US" b="0" dirty="0">
                <a:latin typeface="Century Gothic"/>
                <a:cs typeface="Century Gothic"/>
              </a:rPr>
              <a:t>of both goods doesn’t mean we’re better off without trade. </a:t>
            </a:r>
            <a:endParaRPr lang="en-US" sz="3200" b="0" dirty="0">
              <a:latin typeface="Century Gothic"/>
              <a:cs typeface="Century Gothic"/>
            </a:endParaRPr>
          </a:p>
          <a:p>
            <a:pPr>
              <a:lnSpc>
                <a:spcPct val="90000"/>
              </a:lnSpc>
              <a:spcBef>
                <a:spcPts val="0"/>
              </a:spcBef>
              <a:spcAft>
                <a:spcPts val="1200"/>
              </a:spcAft>
            </a:pPr>
            <a:r>
              <a:rPr lang="en-US" sz="3200" dirty="0">
                <a:latin typeface="Century Gothic"/>
                <a:cs typeface="Century Gothic"/>
              </a:rPr>
              <a:t>Pay attention to </a:t>
            </a:r>
            <a:r>
              <a:rPr lang="en-US" sz="3200" dirty="0">
                <a:solidFill>
                  <a:schemeClr val="accent1">
                    <a:lumMod val="75000"/>
                  </a:schemeClr>
                </a:solidFill>
                <a:latin typeface="Century Gothic"/>
                <a:cs typeface="Century Gothic"/>
              </a:rPr>
              <a:t>opportunity costs:</a:t>
            </a:r>
          </a:p>
          <a:p>
            <a:pPr lvl="1">
              <a:lnSpc>
                <a:spcPct val="90000"/>
              </a:lnSpc>
              <a:spcBef>
                <a:spcPts val="0"/>
              </a:spcBef>
              <a:spcAft>
                <a:spcPts val="1200"/>
              </a:spcAft>
            </a:pPr>
            <a:r>
              <a:rPr lang="en-US" b="0" dirty="0">
                <a:latin typeface="Century Gothic"/>
                <a:cs typeface="Century Gothic"/>
              </a:rPr>
              <a:t>If it’s </a:t>
            </a:r>
            <a:r>
              <a:rPr lang="en-US" dirty="0">
                <a:solidFill>
                  <a:srgbClr val="990033"/>
                </a:solidFill>
                <a:latin typeface="Century Gothic"/>
                <a:cs typeface="Century Gothic"/>
              </a:rPr>
              <a:t>cheaper</a:t>
            </a:r>
            <a:r>
              <a:rPr lang="en-US" b="0" dirty="0">
                <a:latin typeface="Century Gothic"/>
                <a:cs typeface="Century Gothic"/>
              </a:rPr>
              <a:t> for Brazil to produce </a:t>
            </a:r>
            <a:r>
              <a:rPr lang="en-US" b="0" dirty="0">
                <a:solidFill>
                  <a:srgbClr val="000000"/>
                </a:solidFill>
                <a:latin typeface="Century Gothic"/>
                <a:cs typeface="Century Gothic"/>
              </a:rPr>
              <a:t>small jets than it is for the United </a:t>
            </a:r>
            <a:r>
              <a:rPr lang="en-US" b="0" dirty="0">
                <a:latin typeface="Century Gothic"/>
                <a:cs typeface="Century Gothic"/>
              </a:rPr>
              <a:t>States, the United States will want to import small jets from Brazil.</a:t>
            </a:r>
          </a:p>
        </p:txBody>
      </p:sp>
      <p:pic>
        <p:nvPicPr>
          <p:cNvPr id="14338" name="Picture 2" descr="http://www.embraer.com/nva/img/airplanes/comercial/175.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5304524"/>
            <a:ext cx="2743200" cy="155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80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2691">
                                            <p:txEl>
                                              <p:pRg st="1" end="1"/>
                                            </p:txEl>
                                          </p:spTgt>
                                        </p:tgtEl>
                                        <p:attrNameLst>
                                          <p:attrName>style.visibility</p:attrName>
                                        </p:attrNameLst>
                                      </p:cBhvr>
                                      <p:to>
                                        <p:strVal val="visible"/>
                                      </p:to>
                                    </p:set>
                                    <p:animEffect transition="in" filter="fade">
                                      <p:cBhvr>
                                        <p:cTn id="7" dur="2000"/>
                                        <p:tgtEl>
                                          <p:spTgt spid="2426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2691">
                                            <p:txEl>
                                              <p:pRg st="2" end="2"/>
                                            </p:txEl>
                                          </p:spTgt>
                                        </p:tgtEl>
                                        <p:attrNameLst>
                                          <p:attrName>style.visibility</p:attrName>
                                        </p:attrNameLst>
                                      </p:cBhvr>
                                      <p:to>
                                        <p:strVal val="visible"/>
                                      </p:to>
                                    </p:set>
                                    <p:animEffect transition="in" filter="fade">
                                      <p:cBhvr>
                                        <p:cTn id="12" dur="2000"/>
                                        <p:tgtEl>
                                          <p:spTgt spid="242691">
                                            <p:txEl>
                                              <p:pRg st="2" end="2"/>
                                            </p:txEl>
                                          </p:spTgt>
                                        </p:tgtEl>
                                      </p:cBhvr>
                                    </p:animEffect>
                                  </p:childTnLst>
                                </p:cTn>
                              </p:par>
                            </p:childTnLst>
                          </p:cTn>
                        </p:par>
                        <p:par>
                          <p:cTn id="13" fill="hold">
                            <p:stCondLst>
                              <p:cond delay="2000"/>
                            </p:stCondLst>
                            <p:childTnLst>
                              <p:par>
                                <p:cTn id="14" presetID="10" presetClass="entr" presetSubtype="0" fill="hold" grpId="0" nodeType="afterEffect">
                                  <p:stCondLst>
                                    <p:cond delay="0"/>
                                  </p:stCondLst>
                                  <p:childTnLst>
                                    <p:set>
                                      <p:cBhvr>
                                        <p:cTn id="15" dur="1" fill="hold">
                                          <p:stCondLst>
                                            <p:cond delay="0"/>
                                          </p:stCondLst>
                                        </p:cTn>
                                        <p:tgtEl>
                                          <p:spTgt spid="242691">
                                            <p:txEl>
                                              <p:pRg st="3" end="3"/>
                                            </p:txEl>
                                          </p:spTgt>
                                        </p:tgtEl>
                                        <p:attrNameLst>
                                          <p:attrName>style.visibility</p:attrName>
                                        </p:attrNameLst>
                                      </p:cBhvr>
                                      <p:to>
                                        <p:strVal val="visible"/>
                                      </p:to>
                                    </p:set>
                                    <p:animEffect transition="in" filter="fade">
                                      <p:cBhvr>
                                        <p:cTn id="16" dur="2000"/>
                                        <p:tgtEl>
                                          <p:spTgt spid="242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914400"/>
            <a:ext cx="8763000" cy="5638800"/>
          </a:xfrm>
        </p:spPr>
        <p:txBody>
          <a:bodyPr>
            <a:normAutofit/>
          </a:bodyPr>
          <a:lstStyle/>
          <a:p>
            <a:r>
              <a:rPr lang="en-US" sz="2400" b="0" dirty="0"/>
              <a:t>If </a:t>
            </a:r>
            <a:r>
              <a:rPr lang="en-US" sz="2400" dirty="0" err="1">
                <a:solidFill>
                  <a:srgbClr val="990033"/>
                </a:solidFill>
              </a:rPr>
              <a:t>Texia</a:t>
            </a:r>
            <a:r>
              <a:rPr lang="en-US" sz="2400" dirty="0">
                <a:solidFill>
                  <a:srgbClr val="990033"/>
                </a:solidFill>
              </a:rPr>
              <a:t> </a:t>
            </a:r>
            <a:r>
              <a:rPr lang="en-US" sz="2400" b="0" dirty="0"/>
              <a:t>specializes in food, it can produce </a:t>
            </a:r>
            <a:r>
              <a:rPr lang="en-US" sz="2400" dirty="0">
                <a:solidFill>
                  <a:srgbClr val="990033"/>
                </a:solidFill>
              </a:rPr>
              <a:t>1,000 units of food and 0 units of clothing this year. </a:t>
            </a:r>
            <a:r>
              <a:rPr lang="en-US" sz="2400" b="0" dirty="0"/>
              <a:t>If it specializes in clothing, it can produce </a:t>
            </a:r>
            <a:r>
              <a:rPr lang="en-US" sz="2400" dirty="0">
                <a:solidFill>
                  <a:srgbClr val="990033"/>
                </a:solidFill>
              </a:rPr>
              <a:t>500 units of clothing and 0 units of food. </a:t>
            </a:r>
            <a:r>
              <a:rPr lang="en-US" sz="2400" dirty="0">
                <a:solidFill>
                  <a:schemeClr val="accent1">
                    <a:lumMod val="75000"/>
                  </a:schemeClr>
                </a:solidFill>
              </a:rPr>
              <a:t>This year </a:t>
            </a:r>
            <a:r>
              <a:rPr lang="en-US" sz="2400" dirty="0" err="1">
                <a:solidFill>
                  <a:schemeClr val="accent1">
                    <a:lumMod val="75000"/>
                  </a:schemeClr>
                </a:solidFill>
              </a:rPr>
              <a:t>Urbania</a:t>
            </a:r>
            <a:r>
              <a:rPr lang="en-US" sz="2400" dirty="0">
                <a:solidFill>
                  <a:schemeClr val="accent1">
                    <a:lumMod val="75000"/>
                  </a:schemeClr>
                </a:solidFill>
              </a:rPr>
              <a:t> </a:t>
            </a:r>
            <a:r>
              <a:rPr lang="en-US" sz="2400" b="0" dirty="0"/>
              <a:t>can produce either </a:t>
            </a:r>
            <a:r>
              <a:rPr lang="en-US" sz="2400" dirty="0">
                <a:solidFill>
                  <a:schemeClr val="tx2"/>
                </a:solidFill>
              </a:rPr>
              <a:t>500 units of food and 0 units of </a:t>
            </a:r>
            <a:r>
              <a:rPr lang="en-US" sz="2400" dirty="0">
                <a:solidFill>
                  <a:srgbClr val="1F497D"/>
                </a:solidFill>
              </a:rPr>
              <a:t>clothing</a:t>
            </a:r>
            <a:r>
              <a:rPr lang="en-US" sz="2400" b="0" dirty="0">
                <a:solidFill>
                  <a:srgbClr val="1F497D"/>
                </a:solidFill>
              </a:rPr>
              <a:t> or </a:t>
            </a:r>
            <a:r>
              <a:rPr lang="en-US" sz="2400" dirty="0">
                <a:solidFill>
                  <a:srgbClr val="1F497D"/>
                </a:solidFill>
              </a:rPr>
              <a:t>200 units of clothing and 0 units of food</a:t>
            </a:r>
            <a:r>
              <a:rPr lang="en-US" sz="2400" dirty="0">
                <a:solidFill>
                  <a:schemeClr val="accent1">
                    <a:lumMod val="75000"/>
                  </a:schemeClr>
                </a:solidFill>
              </a:rPr>
              <a:t>.  </a:t>
            </a:r>
            <a:r>
              <a:rPr lang="en-US" sz="2000" b="0" i="1" dirty="0">
                <a:solidFill>
                  <a:srgbClr val="000000"/>
                </a:solidFill>
              </a:rPr>
              <a:t>(assume linear </a:t>
            </a:r>
            <a:r>
              <a:rPr lang="en-US" sz="2000" b="0" i="1" dirty="0"/>
              <a:t>production possibility frontiers) </a:t>
            </a:r>
          </a:p>
          <a:p>
            <a:r>
              <a:rPr lang="en-US" sz="2400" dirty="0"/>
              <a:t>_______has the </a:t>
            </a:r>
            <a:r>
              <a:rPr lang="en-US" sz="2400" i="1" dirty="0">
                <a:solidFill>
                  <a:schemeClr val="accent6">
                    <a:lumMod val="75000"/>
                  </a:schemeClr>
                </a:solidFill>
              </a:rPr>
              <a:t>absolute</a:t>
            </a:r>
            <a:r>
              <a:rPr lang="en-US" sz="2400" i="1" dirty="0"/>
              <a:t> advantage </a:t>
            </a:r>
            <a:r>
              <a:rPr lang="en-US" sz="2400" dirty="0"/>
              <a:t>in the production of clothing and ________has the </a:t>
            </a:r>
            <a:r>
              <a:rPr lang="en-US" sz="2400" i="1" dirty="0">
                <a:solidFill>
                  <a:srgbClr val="E46C0A"/>
                </a:solidFill>
              </a:rPr>
              <a:t>absolute</a:t>
            </a:r>
            <a:r>
              <a:rPr lang="en-US" sz="2400" i="1" dirty="0"/>
              <a:t> advantage </a:t>
            </a:r>
            <a:r>
              <a:rPr lang="en-US" sz="2400" dirty="0"/>
              <a:t>in the production of food.</a:t>
            </a:r>
          </a:p>
          <a:p>
            <a:pPr marL="914400" lvl="1" indent="-457200">
              <a:buAutoNum type="alphaLcParenR"/>
            </a:pPr>
            <a:r>
              <a:rPr lang="en-US" sz="2400" dirty="0" err="1"/>
              <a:t>Texia</a:t>
            </a:r>
            <a:r>
              <a:rPr lang="en-US" sz="2400" dirty="0"/>
              <a:t>; </a:t>
            </a:r>
            <a:r>
              <a:rPr lang="en-US" sz="2400" dirty="0" err="1"/>
              <a:t>Texia</a:t>
            </a:r>
            <a:endParaRPr lang="en-US" sz="2400" dirty="0"/>
          </a:p>
          <a:p>
            <a:pPr marL="914400" lvl="1" indent="-457200">
              <a:buAutoNum type="alphaLcParenR"/>
            </a:pPr>
            <a:r>
              <a:rPr lang="en-US" sz="2400" dirty="0" err="1"/>
              <a:t>Texia</a:t>
            </a:r>
            <a:r>
              <a:rPr lang="en-US" sz="2400" dirty="0"/>
              <a:t>; </a:t>
            </a:r>
            <a:r>
              <a:rPr lang="en-US" sz="2400" dirty="0" err="1"/>
              <a:t>Urbania</a:t>
            </a:r>
            <a:r>
              <a:rPr lang="en-US" sz="2400" dirty="0"/>
              <a:t> </a:t>
            </a:r>
          </a:p>
          <a:p>
            <a:pPr marL="914400" lvl="1" indent="-457200">
              <a:buAutoNum type="alphaLcParenR"/>
            </a:pPr>
            <a:r>
              <a:rPr lang="en-US" sz="2400" dirty="0" err="1"/>
              <a:t>Urbania</a:t>
            </a:r>
            <a:r>
              <a:rPr lang="en-US" sz="2400" dirty="0"/>
              <a:t>; </a:t>
            </a:r>
            <a:r>
              <a:rPr lang="en-US" sz="2400" dirty="0" err="1"/>
              <a:t>Texia</a:t>
            </a:r>
            <a:r>
              <a:rPr lang="en-US" sz="2400" dirty="0"/>
              <a:t>    </a:t>
            </a:r>
          </a:p>
          <a:p>
            <a:pPr marL="914400" lvl="1" indent="-457200">
              <a:buAutoNum type="alphaLcParenR"/>
            </a:pPr>
            <a:r>
              <a:rPr lang="en-US" sz="2400" dirty="0" err="1"/>
              <a:t>Urbania</a:t>
            </a:r>
            <a:r>
              <a:rPr lang="en-US" sz="2400" dirty="0"/>
              <a:t>; </a:t>
            </a:r>
            <a:r>
              <a:rPr lang="en-US" sz="2400" dirty="0" err="1"/>
              <a:t>Urbania</a:t>
            </a:r>
            <a:endParaRPr lang="en-US" sz="2400" dirty="0"/>
          </a:p>
        </p:txBody>
      </p:sp>
      <p:sp>
        <p:nvSpPr>
          <p:cNvPr id="5" name="Rectangle 4"/>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48334768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914400"/>
            <a:ext cx="8839200" cy="5486400"/>
          </a:xfrm>
        </p:spPr>
        <p:txBody>
          <a:bodyPr>
            <a:noAutofit/>
          </a:bodyPr>
          <a:lstStyle/>
          <a:p>
            <a:r>
              <a:rPr lang="en-US" sz="2400" b="0" dirty="0"/>
              <a:t>If </a:t>
            </a:r>
            <a:r>
              <a:rPr lang="en-US" sz="2400" dirty="0" err="1">
                <a:solidFill>
                  <a:srgbClr val="990033"/>
                </a:solidFill>
              </a:rPr>
              <a:t>Texia</a:t>
            </a:r>
            <a:r>
              <a:rPr lang="en-US" sz="2400" dirty="0">
                <a:solidFill>
                  <a:srgbClr val="990033"/>
                </a:solidFill>
              </a:rPr>
              <a:t> </a:t>
            </a:r>
            <a:r>
              <a:rPr lang="en-US" sz="2400" b="0" dirty="0"/>
              <a:t>specializes in food, it can produce </a:t>
            </a:r>
            <a:r>
              <a:rPr lang="en-US" sz="2400" dirty="0">
                <a:solidFill>
                  <a:srgbClr val="990033"/>
                </a:solidFill>
              </a:rPr>
              <a:t>1,000 units of food and 0 units of clothing this year. </a:t>
            </a:r>
            <a:r>
              <a:rPr lang="en-US" sz="2400" b="0" dirty="0"/>
              <a:t>If it specializes in clothing, it can produce </a:t>
            </a:r>
            <a:r>
              <a:rPr lang="en-US" sz="2400" dirty="0">
                <a:solidFill>
                  <a:srgbClr val="990033"/>
                </a:solidFill>
              </a:rPr>
              <a:t>500 units of clothing and 0 units of food. </a:t>
            </a:r>
            <a:r>
              <a:rPr lang="en-US" sz="2400" dirty="0">
                <a:solidFill>
                  <a:schemeClr val="accent1">
                    <a:lumMod val="75000"/>
                  </a:schemeClr>
                </a:solidFill>
              </a:rPr>
              <a:t>This year </a:t>
            </a:r>
            <a:r>
              <a:rPr lang="en-US" sz="2400" dirty="0" err="1">
                <a:solidFill>
                  <a:schemeClr val="accent1">
                    <a:lumMod val="75000"/>
                  </a:schemeClr>
                </a:solidFill>
              </a:rPr>
              <a:t>Urbania</a:t>
            </a:r>
            <a:r>
              <a:rPr lang="en-US" sz="2400" dirty="0">
                <a:solidFill>
                  <a:schemeClr val="accent1">
                    <a:lumMod val="75000"/>
                  </a:schemeClr>
                </a:solidFill>
              </a:rPr>
              <a:t> </a:t>
            </a:r>
            <a:r>
              <a:rPr lang="en-US" sz="2400" b="0" dirty="0"/>
              <a:t>can produce either </a:t>
            </a:r>
            <a:r>
              <a:rPr lang="en-US" sz="2400" dirty="0">
                <a:solidFill>
                  <a:schemeClr val="tx2"/>
                </a:solidFill>
              </a:rPr>
              <a:t>500 units of food and 0 units of </a:t>
            </a:r>
            <a:r>
              <a:rPr lang="en-US" sz="2400" dirty="0">
                <a:solidFill>
                  <a:srgbClr val="1F497D"/>
                </a:solidFill>
              </a:rPr>
              <a:t>clothing</a:t>
            </a:r>
            <a:r>
              <a:rPr lang="en-US" sz="2400" b="0" dirty="0">
                <a:solidFill>
                  <a:srgbClr val="1F497D"/>
                </a:solidFill>
              </a:rPr>
              <a:t> or </a:t>
            </a:r>
            <a:r>
              <a:rPr lang="en-US" sz="2400" dirty="0">
                <a:solidFill>
                  <a:srgbClr val="1F497D"/>
                </a:solidFill>
              </a:rPr>
              <a:t>200 units of clothing and 0 units of food</a:t>
            </a:r>
            <a:r>
              <a:rPr lang="en-US" sz="2400" dirty="0">
                <a:solidFill>
                  <a:schemeClr val="accent1">
                    <a:lumMod val="75000"/>
                  </a:schemeClr>
                </a:solidFill>
              </a:rPr>
              <a:t>.  </a:t>
            </a:r>
            <a:r>
              <a:rPr lang="en-US" sz="2000" b="0" i="1" dirty="0"/>
              <a:t>(assume linear production possibility frontiers) </a:t>
            </a:r>
          </a:p>
          <a:p>
            <a:r>
              <a:rPr lang="en-US" sz="2400" dirty="0"/>
              <a:t>_______has the </a:t>
            </a:r>
            <a:r>
              <a:rPr lang="en-US" sz="2400" i="1" dirty="0">
                <a:solidFill>
                  <a:schemeClr val="accent2"/>
                </a:solidFill>
              </a:rPr>
              <a:t>comparative</a:t>
            </a:r>
            <a:r>
              <a:rPr lang="en-US" sz="2400" i="1" dirty="0"/>
              <a:t> advantage </a:t>
            </a:r>
            <a:r>
              <a:rPr lang="en-US" sz="2400" dirty="0"/>
              <a:t>in the production of clothing and ________has the </a:t>
            </a:r>
            <a:r>
              <a:rPr lang="en-US" sz="2400" i="1" dirty="0">
                <a:solidFill>
                  <a:srgbClr val="C0504D"/>
                </a:solidFill>
              </a:rPr>
              <a:t>comparative</a:t>
            </a:r>
            <a:r>
              <a:rPr lang="en-US" sz="2400" i="1" dirty="0"/>
              <a:t> advantage </a:t>
            </a:r>
            <a:r>
              <a:rPr lang="en-US" sz="2400" dirty="0"/>
              <a:t>in the production of food.</a:t>
            </a:r>
          </a:p>
          <a:p>
            <a:pPr marL="914400" lvl="1" indent="-457200">
              <a:buAutoNum type="alphaLcParenR"/>
            </a:pPr>
            <a:r>
              <a:rPr lang="en-US" sz="2400" dirty="0" err="1"/>
              <a:t>Texia</a:t>
            </a:r>
            <a:r>
              <a:rPr lang="en-US" sz="2400" dirty="0"/>
              <a:t>; </a:t>
            </a:r>
            <a:r>
              <a:rPr lang="en-US" sz="2400" dirty="0" err="1"/>
              <a:t>Texia</a:t>
            </a:r>
            <a:r>
              <a:rPr lang="en-US" sz="2400" dirty="0"/>
              <a:t>  		</a:t>
            </a:r>
          </a:p>
          <a:p>
            <a:pPr marL="914400" lvl="1" indent="-457200">
              <a:buAutoNum type="alphaLcParenR"/>
            </a:pPr>
            <a:r>
              <a:rPr lang="en-US" sz="2400" dirty="0" err="1"/>
              <a:t>Texia</a:t>
            </a:r>
            <a:r>
              <a:rPr lang="en-US" sz="2400" dirty="0"/>
              <a:t>; </a:t>
            </a:r>
            <a:r>
              <a:rPr lang="en-US" sz="2400" dirty="0" err="1"/>
              <a:t>Urbania</a:t>
            </a:r>
            <a:r>
              <a:rPr lang="en-US" sz="2400" dirty="0"/>
              <a:t> </a:t>
            </a:r>
          </a:p>
          <a:p>
            <a:pPr marL="914400" lvl="1" indent="-457200">
              <a:buAutoNum type="alphaLcParenR"/>
            </a:pPr>
            <a:r>
              <a:rPr lang="en-US" sz="2400" dirty="0" err="1"/>
              <a:t>Urbania</a:t>
            </a:r>
            <a:r>
              <a:rPr lang="en-US" sz="2400" dirty="0"/>
              <a:t>; </a:t>
            </a:r>
            <a:r>
              <a:rPr lang="en-US" sz="2400" dirty="0" err="1"/>
              <a:t>Texia</a:t>
            </a:r>
            <a:endParaRPr lang="en-US" sz="2400" dirty="0"/>
          </a:p>
          <a:p>
            <a:pPr marL="914400" lvl="1" indent="-457200">
              <a:buAutoNum type="alphaLcParenR"/>
            </a:pPr>
            <a:r>
              <a:rPr lang="en-US" sz="2400" dirty="0" err="1"/>
              <a:t>Urbania</a:t>
            </a:r>
            <a:r>
              <a:rPr lang="en-US" sz="2400" dirty="0"/>
              <a:t>; </a:t>
            </a:r>
            <a:r>
              <a:rPr lang="en-US" sz="2400" dirty="0" err="1"/>
              <a:t>Urbania</a:t>
            </a:r>
            <a:endParaRPr lang="en-US" sz="2400" dirty="0"/>
          </a:p>
        </p:txBody>
      </p:sp>
      <p:sp>
        <p:nvSpPr>
          <p:cNvPr id="5" name="Rectangle 4"/>
          <p:cNvSpPr/>
          <p:nvPr/>
        </p:nvSpPr>
        <p:spPr>
          <a:xfrm>
            <a:off x="57476" y="6273801"/>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84440989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143000"/>
            <a:ext cx="8763000" cy="5060950"/>
          </a:xfrm>
        </p:spPr>
        <p:txBody>
          <a:bodyPr>
            <a:noAutofit/>
          </a:bodyPr>
          <a:lstStyle/>
          <a:p>
            <a:r>
              <a:rPr lang="en-US" sz="2800" dirty="0"/>
              <a:t>If a country specializes according to its own comparative advantage and then trades with other nations: </a:t>
            </a:r>
          </a:p>
          <a:p>
            <a:pPr marL="742950" indent="-742950">
              <a:buFont typeface="+mj-lt"/>
              <a:buAutoNum type="alphaLcParenR"/>
            </a:pPr>
            <a:r>
              <a:rPr lang="en-US" sz="2800" dirty="0"/>
              <a:t>it will operate at a point inside its production possibilities frontier.</a:t>
            </a:r>
          </a:p>
          <a:p>
            <a:pPr marL="742950" indent="-742950">
              <a:buFont typeface="+mj-lt"/>
              <a:buAutoNum type="alphaLcParenR"/>
            </a:pPr>
            <a:r>
              <a:rPr lang="en-US" sz="2800" dirty="0"/>
              <a:t>it can consume at a higher level than the domestic production possibilities frontier.</a:t>
            </a:r>
          </a:p>
          <a:p>
            <a:pPr marL="742950" indent="-742950">
              <a:buFont typeface="+mj-lt"/>
              <a:buAutoNum type="alphaLcParenR"/>
            </a:pPr>
            <a:r>
              <a:rPr lang="en-US" sz="2800" dirty="0"/>
              <a:t>its production possibilities frontier will shift or rotate inward.</a:t>
            </a:r>
          </a:p>
          <a:p>
            <a:pPr marL="742950" indent="-742950">
              <a:buFont typeface="+mj-lt"/>
              <a:buAutoNum type="alphaLcParenR"/>
            </a:pPr>
            <a:r>
              <a:rPr lang="en-US" sz="2800" dirty="0"/>
              <a:t>it can consume at the same level as the domestic production possibilities frontier.</a:t>
            </a:r>
          </a:p>
        </p:txBody>
      </p:sp>
      <p:sp>
        <p:nvSpPr>
          <p:cNvPr id="5" name="Rectangle 4"/>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87586955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143000"/>
            <a:ext cx="8458200" cy="5213350"/>
          </a:xfrm>
        </p:spPr>
        <p:txBody>
          <a:bodyPr>
            <a:noAutofit/>
          </a:bodyPr>
          <a:lstStyle/>
          <a:p>
            <a:pPr>
              <a:spcBef>
                <a:spcPts val="0"/>
              </a:spcBef>
              <a:spcAft>
                <a:spcPts val="3000"/>
              </a:spcAft>
            </a:pPr>
            <a:r>
              <a:rPr lang="en-US" sz="3200" dirty="0">
                <a:solidFill>
                  <a:srgbClr val="990033"/>
                </a:solidFill>
              </a:rPr>
              <a:t>Write down, then discuss with a partner:</a:t>
            </a:r>
          </a:p>
          <a:p>
            <a:pPr>
              <a:spcBef>
                <a:spcPts val="0"/>
              </a:spcBef>
              <a:spcAft>
                <a:spcPts val="3000"/>
              </a:spcAft>
            </a:pPr>
            <a:r>
              <a:rPr lang="en-US" sz="3200" dirty="0"/>
              <a:t>What do you think? Would the U.S. economy be better off if we did not import so much clothing from Bangladesh?  </a:t>
            </a:r>
          </a:p>
          <a:p>
            <a:pPr>
              <a:spcBef>
                <a:spcPts val="0"/>
              </a:spcBef>
              <a:spcAft>
                <a:spcPts val="3000"/>
              </a:spcAft>
            </a:pPr>
            <a:r>
              <a:rPr lang="en-US" sz="3200" dirty="0">
                <a:solidFill>
                  <a:schemeClr val="accent1">
                    <a:lumMod val="75000"/>
                  </a:schemeClr>
                </a:solidFill>
              </a:rPr>
              <a:t>List the groups who you think would gain and the groups who would lose if Bangladesh clothing imports were restricted.</a:t>
            </a:r>
          </a:p>
        </p:txBody>
      </p:sp>
      <p:sp>
        <p:nvSpPr>
          <p:cNvPr id="6" name="Rectangle 5"/>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834652192"/>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73EF7-61B3-1617-0550-28A8BDDAB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0B469-76F9-8D4F-4781-0E08CDBB5E7D}"/>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90EDE77-BD04-EBB1-8E1D-07407563283E}"/>
              </a:ext>
            </a:extLst>
          </p:cNvPr>
          <p:cNvGraphicFramePr>
            <a:graphicFrameLocks noGrp="1"/>
          </p:cNvGraphicFramePr>
          <p:nvPr>
            <p:ph idx="1"/>
            <p:extLst>
              <p:ext uri="{D42A27DB-BD31-4B8C-83A1-F6EECF244321}">
                <p14:modId xmlns:p14="http://schemas.microsoft.com/office/powerpoint/2010/main" val="3271335882"/>
              </p:ext>
            </p:extLst>
          </p:nvPr>
        </p:nvGraphicFramePr>
        <p:xfrm>
          <a:off x="228600" y="1919606"/>
          <a:ext cx="8458200" cy="3200400"/>
        </p:xfrm>
        <a:graphic>
          <a:graphicData uri="http://schemas.openxmlformats.org/drawingml/2006/table">
            <a:tbl>
              <a:tblPr/>
              <a:tblGrid>
                <a:gridCol w="2819400">
                  <a:extLst>
                    <a:ext uri="{9D8B030D-6E8A-4147-A177-3AD203B41FA5}">
                      <a16:colId xmlns:a16="http://schemas.microsoft.com/office/drawing/2014/main" val="988302761"/>
                    </a:ext>
                  </a:extLst>
                </a:gridCol>
                <a:gridCol w="2819400">
                  <a:extLst>
                    <a:ext uri="{9D8B030D-6E8A-4147-A177-3AD203B41FA5}">
                      <a16:colId xmlns:a16="http://schemas.microsoft.com/office/drawing/2014/main" val="373041614"/>
                    </a:ext>
                  </a:extLst>
                </a:gridCol>
                <a:gridCol w="2819400">
                  <a:extLst>
                    <a:ext uri="{9D8B030D-6E8A-4147-A177-3AD203B41FA5}">
                      <a16:colId xmlns:a16="http://schemas.microsoft.com/office/drawing/2014/main" val="67675537"/>
                    </a:ext>
                  </a:extLst>
                </a:gridCol>
              </a:tblGrid>
              <a:tr h="0">
                <a:tc>
                  <a:txBody>
                    <a:bodyPr/>
                    <a:lstStyle/>
                    <a:p>
                      <a:r>
                        <a:rPr lang="en-US" b="1" dirty="0"/>
                        <a:t>Factor</a:t>
                      </a:r>
                      <a:endParaRPr lang="en-US" dirty="0"/>
                    </a:p>
                  </a:txBody>
                  <a:tcPr anchor="ctr">
                    <a:lnL>
                      <a:noFill/>
                    </a:lnL>
                    <a:lnR>
                      <a:noFill/>
                    </a:lnR>
                    <a:lnT>
                      <a:noFill/>
                    </a:lnT>
                    <a:lnB>
                      <a:noFill/>
                    </a:lnB>
                    <a:solidFill>
                      <a:schemeClr val="accent3">
                        <a:lumMod val="20000"/>
                        <a:lumOff val="80000"/>
                      </a:schemeClr>
                    </a:solidFill>
                  </a:tcPr>
                </a:tc>
                <a:tc>
                  <a:txBody>
                    <a:bodyPr/>
                    <a:lstStyle/>
                    <a:p>
                      <a:r>
                        <a:rPr lang="en-US" b="1"/>
                        <a:t>Benefit of Restrictions</a:t>
                      </a:r>
                      <a:endParaRPr lang="en-US"/>
                    </a:p>
                  </a:txBody>
                  <a:tcPr anchor="ctr">
                    <a:lnL>
                      <a:noFill/>
                    </a:lnL>
                    <a:lnR>
                      <a:noFill/>
                    </a:lnR>
                    <a:lnT>
                      <a:noFill/>
                    </a:lnT>
                    <a:lnB>
                      <a:noFill/>
                    </a:lnB>
                    <a:solidFill>
                      <a:schemeClr val="accent3">
                        <a:lumMod val="20000"/>
                        <a:lumOff val="80000"/>
                      </a:schemeClr>
                    </a:solidFill>
                  </a:tcPr>
                </a:tc>
                <a:tc>
                  <a:txBody>
                    <a:bodyPr/>
                    <a:lstStyle/>
                    <a:p>
                      <a:r>
                        <a:rPr lang="en-US" b="1"/>
                        <a:t>Cost of Restrictions</a:t>
                      </a:r>
                      <a:endParaRPr lang="en-US"/>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772343605"/>
                  </a:ext>
                </a:extLst>
              </a:tr>
              <a:tr h="0">
                <a:tc>
                  <a:txBody>
                    <a:bodyPr/>
                    <a:lstStyle/>
                    <a:p>
                      <a:r>
                        <a:rPr lang="en-US" b="1" dirty="0"/>
                        <a:t>Jobs</a:t>
                      </a:r>
                      <a:endParaRPr lang="en-US" dirty="0"/>
                    </a:p>
                  </a:txBody>
                  <a:tcPr anchor="ctr">
                    <a:lnL>
                      <a:noFill/>
                    </a:lnL>
                    <a:lnR>
                      <a:noFill/>
                    </a:lnR>
                    <a:lnT>
                      <a:noFill/>
                    </a:lnT>
                    <a:lnB>
                      <a:noFill/>
                    </a:lnB>
                    <a:solidFill>
                      <a:schemeClr val="accent3">
                        <a:lumMod val="20000"/>
                        <a:lumOff val="80000"/>
                      </a:schemeClr>
                    </a:solidFill>
                  </a:tcPr>
                </a:tc>
                <a:tc>
                  <a:txBody>
                    <a:bodyPr/>
                    <a:lstStyle/>
                    <a:p>
                      <a:r>
                        <a:rPr lang="en-US" dirty="0"/>
                        <a:t>Potential U.S. manufacturing jobs</a:t>
                      </a:r>
                    </a:p>
                  </a:txBody>
                  <a:tcPr anchor="ctr">
                    <a:lnL>
                      <a:noFill/>
                    </a:lnL>
                    <a:lnR>
                      <a:noFill/>
                    </a:lnR>
                    <a:lnT>
                      <a:noFill/>
                    </a:lnT>
                    <a:lnB>
                      <a:noFill/>
                    </a:lnB>
                    <a:solidFill>
                      <a:schemeClr val="accent3">
                        <a:lumMod val="20000"/>
                        <a:lumOff val="80000"/>
                      </a:schemeClr>
                    </a:solidFill>
                  </a:tcPr>
                </a:tc>
                <a:tc>
                  <a:txBody>
                    <a:bodyPr/>
                    <a:lstStyle/>
                    <a:p>
                      <a:r>
                        <a:rPr lang="en-US"/>
                        <a:t>Higher consumer prices, job losses in retail/logistics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092870551"/>
                  </a:ext>
                </a:extLst>
              </a:tr>
              <a:tr h="0">
                <a:tc>
                  <a:txBody>
                    <a:bodyPr/>
                    <a:lstStyle/>
                    <a:p>
                      <a:r>
                        <a:rPr lang="en-US" b="1"/>
                        <a:t>Prices</a:t>
                      </a:r>
                      <a:endParaRPr lang="en-US"/>
                    </a:p>
                  </a:txBody>
                  <a:tcPr anchor="ctr">
                    <a:lnL>
                      <a:noFill/>
                    </a:lnL>
                    <a:lnR>
                      <a:noFill/>
                    </a:lnR>
                    <a:lnT>
                      <a:noFill/>
                    </a:lnT>
                    <a:lnB>
                      <a:noFill/>
                    </a:lnB>
                    <a:solidFill>
                      <a:schemeClr val="accent3">
                        <a:lumMod val="20000"/>
                        <a:lumOff val="80000"/>
                      </a:schemeClr>
                    </a:solidFill>
                  </a:tcPr>
                </a:tc>
                <a:tc>
                  <a:txBody>
                    <a:bodyPr/>
                    <a:lstStyle/>
                    <a:p>
                      <a:r>
                        <a:rPr lang="en-US" dirty="0"/>
                        <a:t>–</a:t>
                      </a:r>
                    </a:p>
                  </a:txBody>
                  <a:tcPr anchor="ctr">
                    <a:lnL>
                      <a:noFill/>
                    </a:lnL>
                    <a:lnR>
                      <a:noFill/>
                    </a:lnR>
                    <a:lnT>
                      <a:noFill/>
                    </a:lnT>
                    <a:lnB>
                      <a:noFill/>
                    </a:lnB>
                    <a:solidFill>
                      <a:schemeClr val="accent3">
                        <a:lumMod val="20000"/>
                        <a:lumOff val="80000"/>
                      </a:schemeClr>
                    </a:solidFill>
                  </a:tcPr>
                </a:tc>
                <a:tc>
                  <a:txBody>
                    <a:bodyPr/>
                    <a:lstStyle/>
                    <a:p>
                      <a:r>
                        <a:rPr lang="en-US"/>
                        <a:t>Inflation in apparel (10–30% price hikes estimated)</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777411991"/>
                  </a:ext>
                </a:extLst>
              </a:tr>
              <a:tr h="0">
                <a:tc>
                  <a:txBody>
                    <a:bodyPr/>
                    <a:lstStyle/>
                    <a:p>
                      <a:r>
                        <a:rPr lang="en-US" b="1"/>
                        <a:t>Global Equity</a:t>
                      </a:r>
                      <a:endParaRPr lang="en-US"/>
                    </a:p>
                  </a:txBody>
                  <a:tcPr anchor="ctr">
                    <a:lnL>
                      <a:noFill/>
                    </a:lnL>
                    <a:lnR>
                      <a:noFill/>
                    </a:lnR>
                    <a:lnT>
                      <a:noFill/>
                    </a:lnT>
                    <a:lnB>
                      <a:noFill/>
                    </a:lnB>
                    <a:solidFill>
                      <a:schemeClr val="accent3">
                        <a:lumMod val="20000"/>
                        <a:lumOff val="80000"/>
                      </a:schemeClr>
                    </a:solidFill>
                  </a:tcPr>
                </a:tc>
                <a:tc>
                  <a:txBody>
                    <a:bodyPr/>
                    <a:lstStyle/>
                    <a:p>
                      <a:r>
                        <a:rPr lang="en-US" dirty="0"/>
                        <a:t>–</a:t>
                      </a:r>
                    </a:p>
                  </a:txBody>
                  <a:tcPr anchor="ctr">
                    <a:lnL>
                      <a:noFill/>
                    </a:lnL>
                    <a:lnR>
                      <a:noFill/>
                    </a:lnR>
                    <a:lnT>
                      <a:noFill/>
                    </a:lnT>
                    <a:lnB>
                      <a:noFill/>
                    </a:lnB>
                    <a:solidFill>
                      <a:schemeClr val="accent3">
                        <a:lumMod val="20000"/>
                        <a:lumOff val="80000"/>
                      </a:schemeClr>
                    </a:solidFill>
                  </a:tcPr>
                </a:tc>
                <a:tc>
                  <a:txBody>
                    <a:bodyPr/>
                    <a:lstStyle/>
                    <a:p>
                      <a:r>
                        <a:rPr lang="en-US" dirty="0"/>
                        <a:t>Harm to Bangladeshi workers (avg. wage: $113/month)</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69083358"/>
                  </a:ext>
                </a:extLst>
              </a:tr>
              <a:tr h="0">
                <a:tc>
                  <a:txBody>
                    <a:bodyPr/>
                    <a:lstStyle/>
                    <a:p>
                      <a:r>
                        <a:rPr lang="en-US" b="1"/>
                        <a:t>Supply Chain Resilience</a:t>
                      </a:r>
                      <a:endParaRPr lang="en-US"/>
                    </a:p>
                  </a:txBody>
                  <a:tcPr anchor="ctr">
                    <a:lnL>
                      <a:noFill/>
                    </a:lnL>
                    <a:lnR>
                      <a:noFill/>
                    </a:lnR>
                    <a:lnT>
                      <a:noFill/>
                    </a:lnT>
                    <a:lnB>
                      <a:noFill/>
                    </a:lnB>
                    <a:solidFill>
                      <a:schemeClr val="accent3">
                        <a:lumMod val="20000"/>
                        <a:lumOff val="80000"/>
                      </a:schemeClr>
                    </a:solidFill>
                  </a:tcPr>
                </a:tc>
                <a:tc>
                  <a:txBody>
                    <a:bodyPr/>
                    <a:lstStyle/>
                    <a:p>
                      <a:r>
                        <a:rPr lang="en-US"/>
                        <a:t>Reduced reliance on distant suppliers</a:t>
                      </a:r>
                    </a:p>
                  </a:txBody>
                  <a:tcPr anchor="ctr">
                    <a:lnL>
                      <a:noFill/>
                    </a:lnL>
                    <a:lnR>
                      <a:noFill/>
                    </a:lnR>
                    <a:lnT>
                      <a:noFill/>
                    </a:lnT>
                    <a:lnB>
                      <a:noFill/>
                    </a:lnB>
                    <a:solidFill>
                      <a:schemeClr val="accent3">
                        <a:lumMod val="20000"/>
                        <a:lumOff val="80000"/>
                      </a:schemeClr>
                    </a:solidFill>
                  </a:tcPr>
                </a:tc>
                <a:tc>
                  <a:txBody>
                    <a:bodyPr/>
                    <a:lstStyle/>
                    <a:p>
                      <a:r>
                        <a:rPr lang="en-US" dirty="0"/>
                        <a:t>Increased vulnerability to domestic production shocks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184951610"/>
                  </a:ext>
                </a:extLst>
              </a:tr>
            </a:tbl>
          </a:graphicData>
        </a:graphic>
      </p:graphicFrame>
      <p:sp>
        <p:nvSpPr>
          <p:cNvPr id="6" name="Rectangle 5">
            <a:extLst>
              <a:ext uri="{FF2B5EF4-FFF2-40B4-BE49-F238E27FC236}">
                <a16:creationId xmlns:a16="http://schemas.microsoft.com/office/drawing/2014/main" id="{8751DF5E-4EB5-3497-3632-A0FEAEE9E3F7}"/>
              </a:ext>
            </a:extLst>
          </p:cNvPr>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5" name="Rectangle 1">
            <a:extLst>
              <a:ext uri="{FF2B5EF4-FFF2-40B4-BE49-F238E27FC236}">
                <a16:creationId xmlns:a16="http://schemas.microsoft.com/office/drawing/2014/main" id="{B3BFFDF3-EF17-75D6-76F2-FAAD662B99AA}"/>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83231172"/>
      </p:ext>
    </p:extLst>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6200" y="990600"/>
            <a:ext cx="8915400" cy="5365750"/>
          </a:xfrm>
        </p:spPr>
        <p:txBody>
          <a:bodyPr>
            <a:noAutofit/>
          </a:bodyPr>
          <a:lstStyle/>
          <a:p>
            <a:r>
              <a:rPr lang="en-US" sz="2400" dirty="0"/>
              <a:t>Suppose that in Australia, it takes 2 hours to harvest 10 bushels of apples and 4 hours to harvest 10 bushels of tomatoes. Suppose a worker in Brazil can harvest 10 bushels of apples in 4 hours or 10 bushels of tomatoes in 5 hours. Which of these statements is </a:t>
            </a:r>
            <a:r>
              <a:rPr lang="en-US" sz="2400" i="1" dirty="0"/>
              <a:t>TRUE</a:t>
            </a:r>
            <a:r>
              <a:rPr lang="en-US" sz="2400" dirty="0"/>
              <a:t>? </a:t>
            </a:r>
          </a:p>
          <a:p>
            <a:pPr marL="742950" indent="-742950">
              <a:buFont typeface="+mj-lt"/>
              <a:buAutoNum type="alphaLcParenR"/>
            </a:pPr>
            <a:r>
              <a:rPr lang="en-US" sz="2400" dirty="0"/>
              <a:t>Brazil has a comparative advantage in producing tomatoes.</a:t>
            </a:r>
          </a:p>
          <a:p>
            <a:pPr marL="742950" indent="-742950">
              <a:buFont typeface="+mj-lt"/>
              <a:buAutoNum type="alphaLcParenR"/>
            </a:pPr>
            <a:r>
              <a:rPr lang="en-US" sz="2400" dirty="0"/>
              <a:t>Brazil has a comparative advantage in producing apples.</a:t>
            </a:r>
          </a:p>
          <a:p>
            <a:pPr marL="742950" indent="-742950">
              <a:buFont typeface="+mj-lt"/>
              <a:buAutoNum type="alphaLcParenR"/>
            </a:pPr>
            <a:r>
              <a:rPr lang="en-US" sz="2400" dirty="0"/>
              <a:t>Brazil has an absolute advantage in producing both goods.</a:t>
            </a:r>
          </a:p>
          <a:p>
            <a:pPr marL="742950" indent="-742950">
              <a:buFont typeface="+mj-lt"/>
              <a:buAutoNum type="alphaLcParenR"/>
            </a:pPr>
            <a:r>
              <a:rPr lang="en-US" sz="2400" dirty="0"/>
              <a:t>In trade between these two countries, Australia would gain and Brazil would lose.</a:t>
            </a:r>
          </a:p>
        </p:txBody>
      </p:sp>
      <p:sp>
        <p:nvSpPr>
          <p:cNvPr id="5" name="Rectangle 4"/>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92153795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6451-E757-EC18-7765-7C73E4F7C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4BA4C-2F3A-D03D-1103-1724E5BE25E7}"/>
              </a:ext>
            </a:extLst>
          </p:cNvPr>
          <p:cNvSpPr>
            <a:spLocks noGrp="1"/>
          </p:cNvSpPr>
          <p:nvPr>
            <p:ph type="title"/>
          </p:nvPr>
        </p:nvSpPr>
        <p:spPr/>
        <p:txBody>
          <a:bodyPr/>
          <a:lstStyle/>
          <a:p>
            <a:endParaRPr lang="en-US"/>
          </a:p>
        </p:txBody>
      </p:sp>
      <p:sp>
        <p:nvSpPr>
          <p:cNvPr id="5" name="Rectangle 4">
            <a:extLst>
              <a:ext uri="{FF2B5EF4-FFF2-40B4-BE49-F238E27FC236}">
                <a16:creationId xmlns:a16="http://schemas.microsoft.com/office/drawing/2014/main" id="{4ED3020B-007A-17A6-19DB-AF4DD64B80D2}"/>
              </a:ext>
            </a:extLst>
          </p:cNvPr>
          <p:cNvSpPr/>
          <p:nvPr/>
        </p:nvSpPr>
        <p:spPr>
          <a:xfrm>
            <a:off x="0" y="6273801"/>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7" name="Content Placeholder 3">
            <a:extLst>
              <a:ext uri="{FF2B5EF4-FFF2-40B4-BE49-F238E27FC236}">
                <a16:creationId xmlns:a16="http://schemas.microsoft.com/office/drawing/2014/main" id="{83A6435B-602B-2D77-E846-1ABB8FFF9B78}"/>
              </a:ext>
            </a:extLst>
          </p:cNvPr>
          <p:cNvSpPr txBox="1">
            <a:spLocks/>
          </p:cNvSpPr>
          <p:nvPr/>
        </p:nvSpPr>
        <p:spPr bwMode="auto">
          <a:xfrm>
            <a:off x="152400" y="1295400"/>
            <a:ext cx="8686800" cy="137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0" indent="0" algn="l" rtl="0" eaLnBrk="1" fontAlgn="base" hangingPunct="1">
              <a:spcBef>
                <a:spcPct val="20000"/>
              </a:spcBef>
              <a:spcAft>
                <a:spcPct val="0"/>
              </a:spcAft>
              <a:buFontTx/>
              <a:buNone/>
              <a:defRPr sz="3600" b="1" kern="1200" spc="100" baseline="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baseline="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baseline="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baseline="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baseline="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Take a look at how NAFTA works by clicking </a:t>
            </a:r>
            <a:r>
              <a:rPr lang="en-US" sz="2400" dirty="0">
                <a:hlinkClick r:id="rId4"/>
              </a:rPr>
              <a:t>here</a:t>
            </a:r>
            <a:r>
              <a:rPr lang="en-US" sz="2400" dirty="0"/>
              <a:t> or on the picture below.  (5:54 minutes)</a:t>
            </a:r>
          </a:p>
        </p:txBody>
      </p:sp>
      <p:pic>
        <p:nvPicPr>
          <p:cNvPr id="8" name="Online Media 1" descr="NAFTA explained by avocados. And shoes.">
            <a:hlinkClick r:id="" action="ppaction://media"/>
            <a:extLst>
              <a:ext uri="{FF2B5EF4-FFF2-40B4-BE49-F238E27FC236}">
                <a16:creationId xmlns:a16="http://schemas.microsoft.com/office/drawing/2014/main" id="{4EDA4AE9-8997-9C12-9A85-37A56C7886A1}"/>
              </a:ext>
            </a:extLst>
          </p:cNvPr>
          <p:cNvPicPr>
            <a:picLocks noRot="1" noChangeAspect="1"/>
          </p:cNvPicPr>
          <p:nvPr>
            <a:videoFile r:link="rId1"/>
          </p:nvPr>
        </p:nvPicPr>
        <p:blipFill>
          <a:blip r:embed="rId5"/>
          <a:stretch>
            <a:fillRect/>
          </a:stretch>
        </p:blipFill>
        <p:spPr>
          <a:xfrm>
            <a:off x="762000" y="2133600"/>
            <a:ext cx="7044267" cy="4191000"/>
          </a:xfrm>
          <a:prstGeom prst="rect">
            <a:avLst/>
          </a:prstGeom>
        </p:spPr>
      </p:pic>
    </p:spTree>
    <p:extLst>
      <p:ext uri="{BB962C8B-B14F-4D97-AF65-F5344CB8AC3E}">
        <p14:creationId xmlns:p14="http://schemas.microsoft.com/office/powerpoint/2010/main" val="169622405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36b51b489c4ca4a433848442769c5724e52fb9"/>
</p:tagLst>
</file>

<file path=ppt/theme/theme1.xml><?xml version="1.0" encoding="utf-8"?>
<a:theme xmlns:a="http://schemas.openxmlformats.org/drawingml/2006/main" name="Krugman 3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Newest 2e theme">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FF3300"/>
      </a:accent4>
      <a:accent5>
        <a:srgbClr val="990033"/>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7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8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9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newer Krugman 3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Krugman 3e practic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Krugman 3e business cas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Krugman 3e Pitfalls">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4e Krugman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1_newer Krugman 3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Krugman 3e theme</Template>
  <TotalTime>8040</TotalTime>
  <Words>1954</Words>
  <Application>Microsoft Macintosh PowerPoint</Application>
  <PresentationFormat>On-screen Show (4:3)</PresentationFormat>
  <Paragraphs>305</Paragraphs>
  <Slides>30</Slides>
  <Notes>18</Notes>
  <HiddenSlides>0</HiddenSlides>
  <MMClips>1</MMClips>
  <ScaleCrop>false</ScaleCrop>
  <HeadingPairs>
    <vt:vector size="6" baseType="variant">
      <vt:variant>
        <vt:lpstr>Fonts Used</vt:lpstr>
      </vt:variant>
      <vt:variant>
        <vt:i4>10</vt:i4>
      </vt:variant>
      <vt:variant>
        <vt:lpstr>Theme</vt:lpstr>
      </vt:variant>
      <vt:variant>
        <vt:i4>22</vt:i4>
      </vt:variant>
      <vt:variant>
        <vt:lpstr>Slide Titles</vt:lpstr>
      </vt:variant>
      <vt:variant>
        <vt:i4>30</vt:i4>
      </vt:variant>
    </vt:vector>
  </HeadingPairs>
  <TitlesOfParts>
    <vt:vector size="62" baseType="lpstr">
      <vt:lpstr>Times</vt:lpstr>
      <vt:lpstr>Arial</vt:lpstr>
      <vt:lpstr>Calibri</vt:lpstr>
      <vt:lpstr>Candara</vt:lpstr>
      <vt:lpstr>Century Gothic</vt:lpstr>
      <vt:lpstr>Gill Sans</vt:lpstr>
      <vt:lpstr>Gill Sans MT</vt:lpstr>
      <vt:lpstr>Times New Roman</vt:lpstr>
      <vt:lpstr>Tw Cen MT</vt:lpstr>
      <vt:lpstr>Wingdings</vt:lpstr>
      <vt:lpstr>Krugman 3e theme</vt:lpstr>
      <vt:lpstr>2_Custom Design</vt:lpstr>
      <vt:lpstr>1_Custom Design</vt:lpstr>
      <vt:lpstr>4_Custom Design</vt:lpstr>
      <vt:lpstr>Newest 2e theme</vt:lpstr>
      <vt:lpstr>7_Stone ppt Theme1</vt:lpstr>
      <vt:lpstr>8_Stone ppt Theme1</vt:lpstr>
      <vt:lpstr>9_Stone ppt Theme1</vt:lpstr>
      <vt:lpstr>Custom Design</vt:lpstr>
      <vt:lpstr>newer Krugman 3e theme</vt:lpstr>
      <vt:lpstr>Krugman 3e main content</vt:lpstr>
      <vt:lpstr>Krugman 3e practice</vt:lpstr>
      <vt:lpstr>Krugman 3e business case</vt:lpstr>
      <vt:lpstr>Krugman 3e Pitfalls</vt:lpstr>
      <vt:lpstr>4e Krugman Theme</vt:lpstr>
      <vt:lpstr>6_Custom Design</vt:lpstr>
      <vt:lpstr>1_Newest 2e theme</vt:lpstr>
      <vt:lpstr>10_Stone ppt Theme1</vt:lpstr>
      <vt:lpstr>11_Stone ppt Theme1</vt:lpstr>
      <vt:lpstr>12_Stone ppt Theme1</vt:lpstr>
      <vt:lpstr>7_Custom Design</vt:lpstr>
      <vt:lpstr>1_newer Krugman 3e theme</vt:lpstr>
      <vt:lpstr>Economics 2220 Principles Of Macroeconomics</vt:lpstr>
      <vt:lpstr>PowerPoint Presentation</vt:lpstr>
      <vt:lpstr>COMPARATIVE ADVANTAGE AND GAINS FROM TRADE</vt:lpstr>
      <vt:lpstr>ORIGIN OF THE IDEA</vt:lpstr>
      <vt:lpstr>ORIGIN OF THE IDEA</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PowerPoint Presentation</vt:lpstr>
      <vt:lpstr>PowerPoint Presentation</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COMPARATIVE ADVANTAGE AND GAINS FROM TRADE</vt:lpstr>
      <vt:lpstr>COMPARATIVE ADVANTAGE VS. ABSOLUTE ADVANTAGE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Models: Trade-Offs and Trade</dc:title>
  <dc:subject/>
  <dc:creator>Solina Lindahl</dc:creator>
  <cp:keywords/>
  <dc:description/>
  <cp:lastModifiedBy>Zhigang Feng</cp:lastModifiedBy>
  <cp:revision>137</cp:revision>
  <dcterms:created xsi:type="dcterms:W3CDTF">2012-06-20T14:36:21Z</dcterms:created>
  <dcterms:modified xsi:type="dcterms:W3CDTF">2025-01-29T22:08:44Z</dcterms:modified>
  <cp:category/>
</cp:coreProperties>
</file>