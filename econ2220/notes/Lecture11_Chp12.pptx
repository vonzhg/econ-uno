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6.xml" ContentType="application/vnd.openxmlformats-officedocument.theme+xml"/>
  <Override PartName="/ppt/slideLayouts/slideLayout18.xml" ContentType="application/vnd.openxmlformats-officedocument.presentationml.slideLayout+xml"/>
  <Override PartName="/ppt/theme/theme7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9.xml" ContentType="application/vnd.openxmlformats-officedocument.theme+xml"/>
  <Override PartName="/ppt/slideLayouts/slideLayout23.xml" ContentType="application/vnd.openxmlformats-officedocument.presentationml.slideLayout+xml"/>
  <Override PartName="/ppt/theme/theme10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1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14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15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16.xml" ContentType="application/vnd.openxmlformats-officedocument.theme+xml"/>
  <Override PartName="/ppt/slideLayouts/slideLayout47.xml" ContentType="application/vnd.openxmlformats-officedocument.presentationml.slideLayout+xml"/>
  <Override PartName="/ppt/theme/theme17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18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19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0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1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  <p:sldMasterId id="2147483700" r:id="rId2"/>
    <p:sldMasterId id="2147483704" r:id="rId3"/>
    <p:sldMasterId id="2147483708" r:id="rId4"/>
    <p:sldMasterId id="2147483711" r:id="rId5"/>
    <p:sldMasterId id="2147483714" r:id="rId6"/>
    <p:sldMasterId id="2147483717" r:id="rId7"/>
    <p:sldMasterId id="2147483719" r:id="rId8"/>
    <p:sldMasterId id="2147483811" r:id="rId9"/>
    <p:sldMasterId id="2147483853" r:id="rId10"/>
    <p:sldMasterId id="2147483855" r:id="rId11"/>
    <p:sldMasterId id="2147483859" r:id="rId12"/>
    <p:sldMasterId id="2147483862" r:id="rId13"/>
    <p:sldMasterId id="2147483866" r:id="rId14"/>
    <p:sldMasterId id="2147483871" r:id="rId15"/>
    <p:sldMasterId id="2147483881" r:id="rId16"/>
    <p:sldMasterId id="2147483886" r:id="rId17"/>
    <p:sldMasterId id="2147483888" r:id="rId18"/>
    <p:sldMasterId id="2147483891" r:id="rId19"/>
    <p:sldMasterId id="2147483895" r:id="rId20"/>
    <p:sldMasterId id="2147483898" r:id="rId21"/>
    <p:sldMasterId id="2147483901" r:id="rId22"/>
  </p:sldMasterIdLst>
  <p:notesMasterIdLst>
    <p:notesMasterId r:id="rId77"/>
  </p:notesMasterIdLst>
  <p:handoutMasterIdLst>
    <p:handoutMasterId r:id="rId78"/>
  </p:handoutMasterIdLst>
  <p:sldIdLst>
    <p:sldId id="322" r:id="rId23"/>
    <p:sldId id="264" r:id="rId24"/>
    <p:sldId id="316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317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4" r:id="rId44"/>
    <p:sldId id="285" r:id="rId45"/>
    <p:sldId id="286" r:id="rId46"/>
    <p:sldId id="287" r:id="rId47"/>
    <p:sldId id="288" r:id="rId48"/>
    <p:sldId id="289" r:id="rId49"/>
    <p:sldId id="318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19" r:id="rId64"/>
    <p:sldId id="320" r:id="rId65"/>
    <p:sldId id="305" r:id="rId66"/>
    <p:sldId id="306" r:id="rId67"/>
    <p:sldId id="307" r:id="rId68"/>
    <p:sldId id="308" r:id="rId69"/>
    <p:sldId id="310" r:id="rId70"/>
    <p:sldId id="311" r:id="rId71"/>
    <p:sldId id="312" r:id="rId72"/>
    <p:sldId id="313" r:id="rId73"/>
    <p:sldId id="314" r:id="rId74"/>
    <p:sldId id="315" r:id="rId75"/>
    <p:sldId id="321" r:id="rId76"/>
  </p:sldIdLst>
  <p:sldSz cx="9144000" cy="6858000" type="screen4x3"/>
  <p:notesSz cx="6858000" cy="9144000"/>
  <p:custDataLst>
    <p:tags r:id="rId7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e" initials="K" lastIdx="11" clrIdx="0"/>
  <p:cmAuthor id="1" name="Bonilla, Edgar" initials="EB" lastIdx="4" clrIdx="1"/>
  <p:cmAuthor id="2" name="Solina Lindahl" initials="SL" lastIdx="9" clrIdx="2"/>
  <p:cmAuthor id="3" name="hbadmin" initials="h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0851" autoAdjust="0"/>
  </p:normalViewPr>
  <p:slideViewPr>
    <p:cSldViewPr>
      <p:cViewPr varScale="1">
        <p:scale>
          <a:sx n="57" d="100"/>
          <a:sy n="57" d="100"/>
        </p:scale>
        <p:origin x="180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-3800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4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20.xml"/><Relationship Id="rId47" Type="http://schemas.openxmlformats.org/officeDocument/2006/relationships/slide" Target="slides/slide25.xml"/><Relationship Id="rId63" Type="http://schemas.openxmlformats.org/officeDocument/2006/relationships/slide" Target="slides/slide41.xml"/><Relationship Id="rId68" Type="http://schemas.openxmlformats.org/officeDocument/2006/relationships/slide" Target="slides/slide46.xml"/><Relationship Id="rId84" Type="http://schemas.openxmlformats.org/officeDocument/2006/relationships/tableStyles" Target="tableStyles.xml"/><Relationship Id="rId16" Type="http://schemas.openxmlformats.org/officeDocument/2006/relationships/slideMaster" Target="slideMasters/slideMaster16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10.xml"/><Relationship Id="rId37" Type="http://schemas.openxmlformats.org/officeDocument/2006/relationships/slide" Target="slides/slide15.xml"/><Relationship Id="rId53" Type="http://schemas.openxmlformats.org/officeDocument/2006/relationships/slide" Target="slides/slide31.xml"/><Relationship Id="rId58" Type="http://schemas.openxmlformats.org/officeDocument/2006/relationships/slide" Target="slides/slide36.xml"/><Relationship Id="rId74" Type="http://schemas.openxmlformats.org/officeDocument/2006/relationships/slide" Target="slides/slide52.xml"/><Relationship Id="rId79" Type="http://schemas.openxmlformats.org/officeDocument/2006/relationships/tags" Target="tags/tag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39.xml"/><Relationship Id="rId82" Type="http://schemas.openxmlformats.org/officeDocument/2006/relationships/viewProps" Target="viewProps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5.xml"/><Relationship Id="rId30" Type="http://schemas.openxmlformats.org/officeDocument/2006/relationships/slide" Target="slides/slide8.xml"/><Relationship Id="rId35" Type="http://schemas.openxmlformats.org/officeDocument/2006/relationships/slide" Target="slides/slide13.xml"/><Relationship Id="rId43" Type="http://schemas.openxmlformats.org/officeDocument/2006/relationships/slide" Target="slides/slide21.xml"/><Relationship Id="rId48" Type="http://schemas.openxmlformats.org/officeDocument/2006/relationships/slide" Target="slides/slide26.xml"/><Relationship Id="rId56" Type="http://schemas.openxmlformats.org/officeDocument/2006/relationships/slide" Target="slides/slide34.xml"/><Relationship Id="rId64" Type="http://schemas.openxmlformats.org/officeDocument/2006/relationships/slide" Target="slides/slide42.xml"/><Relationship Id="rId69" Type="http://schemas.openxmlformats.org/officeDocument/2006/relationships/slide" Target="slides/slide47.xml"/><Relationship Id="rId77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9.xml"/><Relationship Id="rId72" Type="http://schemas.openxmlformats.org/officeDocument/2006/relationships/slide" Target="slides/slide50.xml"/><Relationship Id="rId80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3.xml"/><Relationship Id="rId33" Type="http://schemas.openxmlformats.org/officeDocument/2006/relationships/slide" Target="slides/slide11.xml"/><Relationship Id="rId38" Type="http://schemas.openxmlformats.org/officeDocument/2006/relationships/slide" Target="slides/slide16.xml"/><Relationship Id="rId46" Type="http://schemas.openxmlformats.org/officeDocument/2006/relationships/slide" Target="slides/slide24.xml"/><Relationship Id="rId59" Type="http://schemas.openxmlformats.org/officeDocument/2006/relationships/slide" Target="slides/slide37.xml"/><Relationship Id="rId67" Type="http://schemas.openxmlformats.org/officeDocument/2006/relationships/slide" Target="slides/slide45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9.xml"/><Relationship Id="rId54" Type="http://schemas.openxmlformats.org/officeDocument/2006/relationships/slide" Target="slides/slide32.xml"/><Relationship Id="rId62" Type="http://schemas.openxmlformats.org/officeDocument/2006/relationships/slide" Target="slides/slide40.xml"/><Relationship Id="rId70" Type="http://schemas.openxmlformats.org/officeDocument/2006/relationships/slide" Target="slides/slide48.xml"/><Relationship Id="rId75" Type="http://schemas.openxmlformats.org/officeDocument/2006/relationships/slide" Target="slides/slide53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slide" Target="slides/slide14.xml"/><Relationship Id="rId49" Type="http://schemas.openxmlformats.org/officeDocument/2006/relationships/slide" Target="slides/slide27.xml"/><Relationship Id="rId57" Type="http://schemas.openxmlformats.org/officeDocument/2006/relationships/slide" Target="slides/slide35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9.xml"/><Relationship Id="rId44" Type="http://schemas.openxmlformats.org/officeDocument/2006/relationships/slide" Target="slides/slide22.xml"/><Relationship Id="rId52" Type="http://schemas.openxmlformats.org/officeDocument/2006/relationships/slide" Target="slides/slide30.xml"/><Relationship Id="rId60" Type="http://schemas.openxmlformats.org/officeDocument/2006/relationships/slide" Target="slides/slide38.xml"/><Relationship Id="rId65" Type="http://schemas.openxmlformats.org/officeDocument/2006/relationships/slide" Target="slides/slide43.xml"/><Relationship Id="rId73" Type="http://schemas.openxmlformats.org/officeDocument/2006/relationships/slide" Target="slides/slide51.xml"/><Relationship Id="rId78" Type="http://schemas.openxmlformats.org/officeDocument/2006/relationships/handoutMaster" Target="handoutMasters/handoutMaster1.xml"/><Relationship Id="rId8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17.xml"/><Relationship Id="rId34" Type="http://schemas.openxmlformats.org/officeDocument/2006/relationships/slide" Target="slides/slide12.xml"/><Relationship Id="rId50" Type="http://schemas.openxmlformats.org/officeDocument/2006/relationships/slide" Target="slides/slide28.xml"/><Relationship Id="rId55" Type="http://schemas.openxmlformats.org/officeDocument/2006/relationships/slide" Target="slides/slide33.xml"/><Relationship Id="rId76" Type="http://schemas.openxmlformats.org/officeDocument/2006/relationships/slide" Target="slides/slide54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4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7.xml"/><Relationship Id="rId24" Type="http://schemas.openxmlformats.org/officeDocument/2006/relationships/slide" Target="slides/slide2.xml"/><Relationship Id="rId40" Type="http://schemas.openxmlformats.org/officeDocument/2006/relationships/slide" Target="slides/slide18.xml"/><Relationship Id="rId45" Type="http://schemas.openxmlformats.org/officeDocument/2006/relationships/slide" Target="slides/slide23.xml"/><Relationship Id="rId66" Type="http://schemas.openxmlformats.org/officeDocument/2006/relationships/slide" Target="slides/slide4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7D7A8-C652-304E-B365-B25232E336F2}" type="datetimeFigureOut">
              <a:rPr lang="en-US" smtClean="0"/>
              <a:t>10/28/21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D5F51-2719-624B-AA3D-8BBD63EA2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971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7F735-3B07-40E0-90B2-09F3232ABD28}" type="datetimeFigureOut">
              <a:rPr lang="en-US" smtClean="0"/>
              <a:t>10/28/21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470D8-1F41-4A2B-8AFF-DD19730E7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5513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Photo credit: </a:t>
            </a:r>
            <a:r>
              <a:rPr lang="en-US" sz="13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PhotoAlto</a:t>
            </a:r>
            <a:r>
              <a:rPr lang="en-US" sz="13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3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Alamy</a:t>
            </a:r>
            <a:r>
              <a:rPr lang="en-US" sz="13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36305-836F-4DC4-8519-4D39157E5B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1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132C7D-CF53-45A1-BA98-F033666C081A}" type="slidenum">
              <a:rPr lang="en-US">
                <a:solidFill>
                  <a:prstClr val="black"/>
                </a:solidFill>
                <a:latin typeface="Calibri"/>
              </a:rPr>
              <a:pPr/>
              <a:t>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8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283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2838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F0BB817C-5FF7-465E-9946-E622F75C0F3C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4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CA996A-4F62-49B9-9EBA-EA3E3A356049}" type="slidenum">
              <a:rPr lang="en-US">
                <a:solidFill>
                  <a:prstClr val="black"/>
                </a:solidFill>
                <a:latin typeface="Calibri"/>
              </a:rPr>
              <a:pPr/>
              <a:t>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0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304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3043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C39DF02A-4A0C-4382-8492-C0B1827C1D44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6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34C228-6166-46B1-A87B-3906E23F7267}" type="slidenum">
              <a:rPr lang="en-US">
                <a:solidFill>
                  <a:prstClr val="black"/>
                </a:solidFill>
                <a:latin typeface="Calibri"/>
              </a:rPr>
              <a:pPr/>
              <a:t>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2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324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3248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F01FCF13-BDB4-4FC1-8714-B5A17EEDC0BA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7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BCDD14-2771-4103-86D3-BBFDD1916797}" type="slidenum">
              <a:rPr lang="en-US">
                <a:solidFill>
                  <a:prstClr val="black"/>
                </a:solidFill>
                <a:latin typeface="Calibri"/>
              </a:rPr>
              <a:pPr/>
              <a:t>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4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345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3453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603468E4-0678-4521-838A-5903205F145C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9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8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228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65599F1-3CBF-4874-8AF4-FE2CAC117700}" type="slidenum">
              <a:rPr lang="en-US">
                <a:solidFill>
                  <a:prstClr val="black"/>
                </a:solidFill>
                <a:latin typeface="Calibri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44E631-D6F8-4495-A464-78C758BFC5C1}" type="slidenum">
              <a:rPr lang="en-US">
                <a:solidFill>
                  <a:prstClr val="black"/>
                </a:solidFill>
                <a:latin typeface="Calibri"/>
              </a:rPr>
              <a:pPr/>
              <a:t>13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6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365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3658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0E283FF4-E917-419B-A94B-E466F171D5FF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13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372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76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09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3BD341-9516-4CF9-8691-67B4FB042243}" type="slidenum">
              <a:rPr lang="en-US">
                <a:solidFill>
                  <a:prstClr val="black"/>
                </a:solidFill>
                <a:latin typeface="Calibri"/>
              </a:rPr>
              <a:pPr/>
              <a:t>18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8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386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53862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CB056B79-7AFD-42D0-B266-740C868B6D73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18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3BD341-9516-4CF9-8691-67B4FB042243}" type="slidenum">
              <a:rPr lang="en-US">
                <a:solidFill>
                  <a:prstClr val="black"/>
                </a:solidFill>
                <a:latin typeface="Calibri"/>
              </a:rPr>
              <a:pPr/>
              <a:t>19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8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386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53862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CB056B79-7AFD-42D0-B266-740C868B6D73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19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3BD341-9516-4CF9-8691-67B4FB042243}" type="slidenum">
              <a:rPr lang="en-US">
                <a:solidFill>
                  <a:prstClr val="black"/>
                </a:solidFill>
                <a:latin typeface="Calibri"/>
              </a:rPr>
              <a:pPr/>
              <a:t>20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8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386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  <a:buClr>
                <a:schemeClr val="hlink"/>
              </a:buClr>
              <a:buSzPct val="70000"/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53862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CB056B79-7AFD-42D0-B266-740C868B6D73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20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56D917E-A408-40D2-81A5-40B3B64743E9}" type="slidenum">
              <a:rPr lang="en-US">
                <a:solidFill>
                  <a:prstClr val="black"/>
                </a:solidFill>
                <a:latin typeface="Calibri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61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49B841-F9F2-439D-B02C-5FC3424061A9}" type="slidenum">
              <a:rPr lang="en-US">
                <a:solidFill>
                  <a:prstClr val="black"/>
                </a:solidFill>
                <a:latin typeface="Calibri"/>
              </a:rPr>
              <a:pPr/>
              <a:t>23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0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406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4067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2FC178D5-A271-431E-9FA0-B746017AC30D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23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4F2E5E-FEFC-484F-9220-33520CA9BCD8}" type="slidenum">
              <a:rPr lang="en-US">
                <a:solidFill>
                  <a:prstClr val="black"/>
                </a:solidFill>
                <a:latin typeface="Calibri"/>
              </a:rPr>
              <a:pPr/>
              <a:t>24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0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5056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5D57C32A-FABA-45AA-8889-57A67D7CC563}" type="slidenum">
              <a:rPr lang="zh-CN" altLang="en-US" sz="1200">
                <a:solidFill>
                  <a:prstClr val="black"/>
                </a:solidFill>
                <a:latin typeface="Calibri" pitchFamily="34" charset="0"/>
                <a:ea typeface="宋体"/>
              </a:rPr>
              <a:pPr algn="r"/>
              <a:t>24</a:t>
            </a:fld>
            <a:endParaRPr lang="en-US" altLang="zh-CN" sz="1200">
              <a:solidFill>
                <a:prstClr val="black"/>
              </a:solidFill>
              <a:latin typeface="Calibri" pitchFamily="34" charset="0"/>
              <a:ea typeface="宋体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D6581E-CE8D-4596-9AED-D832DB1C5B2A}" type="slidenum">
              <a:rPr lang="en-US">
                <a:solidFill>
                  <a:prstClr val="black"/>
                </a:solidFill>
                <a:latin typeface="Calibri"/>
              </a:rPr>
              <a:pPr/>
              <a:t>25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2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427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4272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4360E5ED-0E37-4E05-AD81-C2FD12E39B85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25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D6581E-CE8D-4596-9AED-D832DB1C5B2A}" type="slidenum">
              <a:rPr lang="en-US">
                <a:solidFill>
                  <a:prstClr val="black"/>
                </a:solidFill>
                <a:latin typeface="Calibri"/>
              </a:rPr>
              <a:pPr/>
              <a:t>26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2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427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 courtesy of Library of Congress</a:t>
            </a:r>
          </a:p>
        </p:txBody>
      </p:sp>
      <p:sp>
        <p:nvSpPr>
          <p:cNvPr id="54272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4360E5ED-0E37-4E05-AD81-C2FD12E39B85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26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CAEC339-B786-4141-A573-56502925AEF4}" type="slidenum">
              <a:rPr lang="en-US" smtClean="0">
                <a:solidFill>
                  <a:prstClr val="black"/>
                </a:solidFill>
                <a:latin typeface="Calibri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CD8784-0EC0-469C-8A0C-D2402DF01FED}" type="slidenum">
              <a:rPr lang="en-US">
                <a:solidFill>
                  <a:prstClr val="black"/>
                </a:solidFill>
                <a:latin typeface="Calibri"/>
              </a:rPr>
              <a:pPr/>
              <a:t>30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4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447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4477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90DC34EF-066B-4AD8-888B-698A668B5B6F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30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1285D8-C05C-40E9-A064-912428A0076A}" type="slidenum">
              <a:rPr lang="en-US">
                <a:solidFill>
                  <a:prstClr val="black"/>
                </a:solidFill>
                <a:latin typeface="Calibri"/>
              </a:rPr>
              <a:pPr/>
              <a:t>31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6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468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4682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B149997E-0E0F-4FD6-BE4A-8FE69CEB7103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31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1285D8-C05C-40E9-A064-912428A0076A}" type="slidenum">
              <a:rPr lang="en-US">
                <a:solidFill>
                  <a:prstClr val="black"/>
                </a:solidFill>
                <a:latin typeface="Calibri"/>
              </a:rPr>
              <a:pPr/>
              <a:t>32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6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468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46820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B149997E-0E0F-4FD6-BE4A-8FE69CEB7103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32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9184A0-119D-4930-98FA-3AA3B4233FEF}" type="slidenum">
              <a:rPr lang="en-US">
                <a:solidFill>
                  <a:prstClr val="black"/>
                </a:solidFill>
                <a:latin typeface="Calibri"/>
              </a:rPr>
              <a:pPr/>
              <a:t>33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8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488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4886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0371820A-020D-4FDB-B788-F29B463C83EE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33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9184A0-119D-4930-98FA-3AA3B4233FEF}" type="slidenum">
              <a:rPr lang="en-US">
                <a:solidFill>
                  <a:prstClr val="black"/>
                </a:solidFill>
                <a:latin typeface="Calibri"/>
              </a:rPr>
              <a:pPr/>
              <a:t>34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48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488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4886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0371820A-020D-4FDB-B788-F29B463C83EE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34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6816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196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078BB0-11C8-4717-A2E4-E4A8CDE28AC1}" type="slidenum">
              <a:rPr lang="en-US">
                <a:solidFill>
                  <a:prstClr val="black"/>
                </a:solidFill>
                <a:latin typeface="Calibri"/>
              </a:rPr>
              <a:pPr/>
              <a:t>38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0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509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50916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9F602C03-42B5-404C-A696-FFB1E351778E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38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114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129FF0-BFF5-4464-8B56-2634F9A66983}" type="slidenum">
              <a:rPr lang="en-US">
                <a:solidFill>
                  <a:prstClr val="black"/>
                </a:solidFill>
                <a:latin typeface="Calibri"/>
              </a:rPr>
              <a:pPr/>
              <a:t>40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2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529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5296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4BF5CAE8-8A2C-4AF8-AB69-1E1114BC40F8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40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129FF0-BFF5-4464-8B56-2634F9A66983}" type="slidenum">
              <a:rPr lang="en-US">
                <a:solidFill>
                  <a:prstClr val="black"/>
                </a:solidFill>
                <a:latin typeface="Calibri"/>
              </a:rPr>
              <a:pPr/>
              <a:t>41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2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529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5296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4BF5CAE8-8A2C-4AF8-AB69-1E1114BC40F8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41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photo credits unless otherwise noted from </a:t>
            </a:r>
            <a:r>
              <a:rPr lang="en-US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Freeimages.com</a:t>
            </a: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(Formerly </a:t>
            </a:r>
            <a:r>
              <a:rPr lang="en-US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Stockxchange</a:t>
            </a:r>
            <a:r>
              <a:rPr lang="en-US" sz="1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or </a:t>
            </a:r>
            <a:r>
              <a:rPr lang="en-US" sz="13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Morguefile.com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36305-836F-4DC4-8519-4D39157E5B8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156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25AAEA-B2F0-49BE-B8A7-B6CBB4E14CFC}" type="slidenum">
              <a:rPr lang="en-US">
                <a:solidFill>
                  <a:prstClr val="black"/>
                </a:solidFill>
                <a:latin typeface="Calibri"/>
              </a:rPr>
              <a:pPr/>
              <a:t>44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5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550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5501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33AAADE4-60B8-45C8-B01A-E34004A568E2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44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129FF0-BFF5-4464-8B56-2634F9A66983}" type="slidenum">
              <a:rPr lang="en-US">
                <a:solidFill>
                  <a:prstClr val="black"/>
                </a:solidFill>
                <a:latin typeface="Calibri"/>
              </a:rPr>
              <a:pPr/>
              <a:t>45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52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sp>
      <p:sp>
        <p:nvSpPr>
          <p:cNvPr id="5529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52964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37931725" indent="-37474525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/>
            <a:fld id="{4BF5CAE8-8A2C-4AF8-AB69-1E1114BC40F8}" type="slidenum">
              <a:rPr lang="en-US" sz="1200">
                <a:solidFill>
                  <a:prstClr val="black"/>
                </a:solidFill>
                <a:latin typeface="Calibri" pitchFamily="34" charset="0"/>
                <a:ea typeface="ＭＳ Ｐゴシック" pitchFamily="34" charset="-128"/>
              </a:rPr>
              <a:pPr algn="r"/>
              <a:t>45</a:t>
            </a:fld>
            <a:endParaRPr lang="en-US" sz="1200">
              <a:solidFill>
                <a:prstClr val="black"/>
              </a:solidFill>
              <a:latin typeface="Calibri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D32D03-70B0-40BB-AB6D-3628FDC555F7}" type="slidenum">
              <a:rPr lang="en-US">
                <a:solidFill>
                  <a:prstClr val="black"/>
                </a:solidFill>
                <a:latin typeface="Calibri"/>
              </a:rPr>
              <a:pPr/>
              <a:t>50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2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D32D03-70B0-40BB-AB6D-3628FDC555F7}" type="slidenum">
              <a:rPr lang="en-US">
                <a:solidFill>
                  <a:prstClr val="black"/>
                </a:solidFill>
                <a:latin typeface="Calibri"/>
              </a:rPr>
              <a:pPr/>
              <a:t>51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22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</a:t>
            </a:r>
            <a:r>
              <a:rPr lang="en-US" baseline="0" dirty="0"/>
              <a:t> credit: </a:t>
            </a:r>
            <a:r>
              <a:rPr lang="en-US" baseline="0" dirty="0" err="1"/>
              <a:t>Bettmann</a:t>
            </a:r>
            <a:r>
              <a:rPr lang="en-US" baseline="0" dirty="0"/>
              <a:t>/Corbis</a:t>
            </a:r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 image credits courtesy of Morgue File and/or </a:t>
            </a:r>
            <a:r>
              <a:rPr lang="en-US" dirty="0" err="1"/>
              <a:t>FreeImages.com</a:t>
            </a:r>
            <a:r>
              <a:rPr lang="en-US" dirty="0"/>
              <a:t> unless otherwise specified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647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credit: Peter </a:t>
            </a:r>
            <a:r>
              <a:rPr lang="en-US" dirty="0" err="1"/>
              <a:t>Titmuss</a:t>
            </a:r>
            <a:r>
              <a:rPr lang="en-US" dirty="0"/>
              <a:t>/</a:t>
            </a:r>
            <a:r>
              <a:rPr lang="en-US" dirty="0" err="1"/>
              <a:t>Alamy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4470D8-1F41-4A2B-8AFF-DD19730E7B3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1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hyperlink" Target="http://krugman.blogs.nytimes.com/" TargetMode="Externa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hyperlink" Target="http://www.gregmankiw.blogspot.com/" TargetMode="External"/><Relationship Id="rId1" Type="http://schemas.openxmlformats.org/officeDocument/2006/relationships/slideMaster" Target="../slideMasters/slideMaster3.xml"/><Relationship Id="rId6" Type="http://schemas.openxmlformats.org/officeDocument/2006/relationships/hyperlink" Target="http://www.freakonomics.com/blog/" TargetMode="Externa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hyperlink" Target="http://research.stlouisfed.org/fred2/" TargetMode="External"/><Relationship Id="rId4" Type="http://schemas.openxmlformats.org/officeDocument/2006/relationships/hyperlink" Target="http://marginalrevolution.com/" TargetMode="External"/><Relationship Id="rId9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entury Gothic"/>
                <a:cs typeface="Century Gothic"/>
              </a:defRPr>
            </a:lvl1pPr>
            <a:lvl2pPr>
              <a:defRPr sz="2800" baseline="0">
                <a:latin typeface="Century Gothic"/>
                <a:cs typeface="Century Gothic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03844364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00886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5" name="Picture 4" descr="Screen Shot 2014-12-20 at 5.27.50 PM.png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0130" y="15463"/>
            <a:ext cx="1532200" cy="15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/>
              <a:t>ECONOMICS</a:t>
            </a:r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85422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Copyright 2015 Worth Publishers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07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/>
              <a:t>ECONOMICS</a:t>
            </a:r>
            <a:endParaRPr lang="en-US" dirty="0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55206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andara" pitchFamily="34" charset="0"/>
              </a:defRPr>
            </a:lvl1pPr>
            <a:lvl2pPr>
              <a:defRPr sz="2800" baseline="0">
                <a:latin typeface="Candara" pitchFamily="34" charset="0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324100" y="6629400"/>
            <a:ext cx="4800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100" i="0" kern="120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Copyright 2013 Worth Publishers</a:t>
            </a:r>
          </a:p>
        </p:txBody>
      </p:sp>
    </p:spTree>
    <p:extLst>
      <p:ext uri="{BB962C8B-B14F-4D97-AF65-F5344CB8AC3E}">
        <p14:creationId xmlns:p14="http://schemas.microsoft.com/office/powerpoint/2010/main" val="926553203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4763" y="5410200"/>
            <a:ext cx="9136063" cy="1447800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txBody>
          <a:bodyPr anchor="ctr">
            <a:normAutofit/>
          </a:bodyPr>
          <a:lstStyle/>
          <a:p>
            <a:pPr algn="r">
              <a:defRPr/>
            </a:pPr>
            <a:endParaRPr lang="en-US" sz="6000" spc="50" dirty="0">
              <a:latin typeface="Candar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4435" y="5737304"/>
            <a:ext cx="24384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6600" b="1" spc="-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/>
                <a:ea typeface="Tahoma" pitchFamily="34" charset="0"/>
                <a:cs typeface="Tw Cen MT"/>
              </a:rPr>
              <a:t>12(27)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418306" y="5981184"/>
            <a:ext cx="1358900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kern="0" cap="all" spc="300" dirty="0">
                <a:solidFill>
                  <a:schemeClr val="bg1">
                    <a:lumMod val="75000"/>
                  </a:schemeClr>
                </a:solidFill>
                <a:latin typeface="Tw Cen MT"/>
                <a:ea typeface="+mj-ea"/>
                <a:cs typeface="Tw Cen MT"/>
              </a:rPr>
              <a:t>Chapter</a:t>
            </a:r>
            <a:endParaRPr lang="en-US" sz="2000" b="1" kern="0" cap="all" spc="300" dirty="0">
              <a:solidFill>
                <a:schemeClr val="bg1">
                  <a:lumMod val="75000"/>
                </a:schemeClr>
              </a:solidFill>
              <a:latin typeface="Tw Cen MT"/>
              <a:ea typeface="+mj-ea"/>
              <a:cs typeface="Tw Cen M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-15356"/>
            <a:ext cx="7696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sz="1400" b="1" i="0" kern="0" cap="small" spc="400" dirty="0">
                <a:solidFill>
                  <a:schemeClr val="tx1">
                    <a:lumMod val="50000"/>
                    <a:lumOff val="50000"/>
                  </a:schemeClr>
                </a:solidFill>
                <a:latin typeface="Tw Cen MT" pitchFamily="34" charset="0"/>
              </a:rPr>
              <a:t>Slides by Solina Lindahl</a:t>
            </a:r>
          </a:p>
        </p:txBody>
      </p:sp>
      <p:sp>
        <p:nvSpPr>
          <p:cNvPr id="12" name="Title 1"/>
          <p:cNvSpPr txBox="1">
            <a:spLocks/>
          </p:cNvSpPr>
          <p:nvPr userDrawn="1"/>
        </p:nvSpPr>
        <p:spPr>
          <a:xfrm>
            <a:off x="1371600" y="5410200"/>
            <a:ext cx="7772400" cy="14478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5400" b="1" i="0" u="none" strike="noStrike" kern="1200" cap="none" spc="100" baseline="0" smtClean="0">
                <a:solidFill>
                  <a:srgbClr val="FF3300"/>
                </a:solidFill>
                <a:effectLst/>
                <a:latin typeface="Candara" pitchFamily="34" charset="0"/>
                <a:ea typeface="+mj-ea"/>
                <a:cs typeface="+mj-cs"/>
              </a:defRPr>
            </a:lvl1pPr>
          </a:lstStyle>
          <a:p>
            <a:r>
              <a:rPr lang="en-US" sz="4400" b="1" kern="0" spc="500" dirty="0">
                <a:latin typeface="Tw Cen MT"/>
                <a:cs typeface="Tw Cen MT"/>
              </a:rPr>
              <a:t>Aggregate Demand and Aggregate Supply</a:t>
            </a:r>
          </a:p>
        </p:txBody>
      </p:sp>
    </p:spTree>
    <p:extLst>
      <p:ext uri="{BB962C8B-B14F-4D97-AF65-F5344CB8AC3E}">
        <p14:creationId xmlns:p14="http://schemas.microsoft.com/office/powerpoint/2010/main" val="422087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0" y="6019800"/>
            <a:ext cx="9144000" cy="0"/>
          </a:xfrm>
          <a:prstGeom prst="line">
            <a:avLst/>
          </a:prstGeom>
          <a:ln w="57150" cmpd="sng">
            <a:solidFill>
              <a:srgbClr val="F8EF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0" y="2286000"/>
            <a:ext cx="9144000" cy="0"/>
          </a:xfrm>
          <a:prstGeom prst="line">
            <a:avLst/>
          </a:prstGeom>
          <a:ln w="57150" cmpd="sng">
            <a:solidFill>
              <a:srgbClr val="F8EF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0" y="1490246"/>
            <a:ext cx="9144000" cy="338554"/>
          </a:xfrm>
          <a:prstGeom prst="rect">
            <a:avLst/>
          </a:prstGeom>
          <a:solidFill>
            <a:srgbClr val="CCFF33">
              <a:alpha val="4705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 b="0" i="0" spc="300" dirty="0">
                <a:solidFill>
                  <a:srgbClr val="F79646"/>
                </a:solidFill>
                <a:latin typeface="+mn-lt"/>
              </a:rPr>
              <a:t>SOME GOOD BLOGS AND OTHER SITES TO GET THE JUICES FLOWING: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7391400" cy="784225"/>
          </a:xfrm>
          <a:prstGeom prst="rect">
            <a:avLst/>
          </a:prstGeom>
          <a:noFill/>
          <a:effectLst/>
        </p:spPr>
        <p:txBody>
          <a:bodyPr/>
          <a:lstStyle>
            <a:lvl1pPr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r>
              <a:rPr lang="en-US" sz="4800" b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FOOD FOR</a:t>
            </a:r>
            <a:r>
              <a:rPr lang="en-US" sz="4800" b="0" baseline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 </a:t>
            </a:r>
            <a:r>
              <a:rPr lang="en-US" sz="4800" b="0" dirty="0">
                <a:solidFill>
                  <a:schemeClr val="accent6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Arial" pitchFamily="34" charset="0"/>
              </a:rPr>
              <a:t>THOUGHT….</a:t>
            </a:r>
          </a:p>
        </p:txBody>
      </p:sp>
      <p:pic>
        <p:nvPicPr>
          <p:cNvPr id="7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29200" y="4572000"/>
            <a:ext cx="2724150" cy="51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45213" y="3048000"/>
            <a:ext cx="2998787" cy="53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4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0400" y="2971800"/>
            <a:ext cx="2686050" cy="657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15" name="Picture 14" descr="Screen Shot 2014-12-20 at 8.46.54 PM.png">
            <a:hlinkClick r:id="rId8"/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74" y="2971800"/>
            <a:ext cx="2692400" cy="5921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 descr="Screen Shot 2014-12-20 at 8.49.18 PM.png">
            <a:hlinkClick r:id="rId10"/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00" y="4343400"/>
            <a:ext cx="2336800" cy="8416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60000">
            <a:off x="8016447" y="97714"/>
            <a:ext cx="787093" cy="13285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517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2813" indent="-5715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120015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 marL="137160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 marL="17145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 marL="21717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pic>
        <p:nvPicPr>
          <p:cNvPr id="10" name="Picture 9">
            <a:hlinkClick r:id="" action="ppaction://noaction"/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4496" y="6028188"/>
            <a:ext cx="1143000" cy="856979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>
            <a:off x="0" y="1219200"/>
            <a:ext cx="9144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3200400" cy="1477207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95250" y="95250"/>
            <a:ext cx="304799" cy="2667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33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912813" indent="-5715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1pPr>
            <a:lvl2pPr marL="120015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2pPr>
            <a:lvl3pPr marL="1371600" indent="-4572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3pPr>
            <a:lvl4pPr marL="17145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4pPr>
            <a:lvl5pPr marL="2171700" indent="-342900">
              <a:buClr>
                <a:schemeClr val="accent3"/>
              </a:buClr>
              <a:buFont typeface="Wingdings" charset="2"/>
              <a:buChar char="§"/>
              <a:defRPr b="1">
                <a:solidFill>
                  <a:schemeClr val="tx1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ight Arrow 8">
            <a:hlinkClick r:id="" action="ppaction://noaction"/>
          </p:cNvPr>
          <p:cNvSpPr/>
          <p:nvPr userDrawn="1"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0" y="1219200"/>
            <a:ext cx="9144000" cy="0"/>
          </a:xfrm>
          <a:prstGeom prst="line">
            <a:avLst/>
          </a:prstGeom>
          <a:ln w="76200" cmpd="sng">
            <a:solidFill>
              <a:srgbClr val="F8EF59">
                <a:alpha val="49000"/>
              </a:srgb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4" name="Down Arrow Callout 3"/>
          <p:cNvSpPr/>
          <p:nvPr userDrawn="1"/>
        </p:nvSpPr>
        <p:spPr>
          <a:xfrm>
            <a:off x="0" y="-29407"/>
            <a:ext cx="3200400" cy="1477207"/>
          </a:xfrm>
          <a:prstGeom prst="downArrowCallout">
            <a:avLst>
              <a:gd name="adj1" fmla="val 32640"/>
              <a:gd name="adj2" fmla="val 28183"/>
              <a:gd name="adj3" fmla="val 25000"/>
              <a:gd name="adj4" fmla="val 61794"/>
            </a:avLst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</a:rPr>
              <a:t>     What you will learn in this chapter</a:t>
            </a:r>
          </a:p>
        </p:txBody>
      </p:sp>
      <p:sp>
        <p:nvSpPr>
          <p:cNvPr id="6" name="Isosceles Triangle 5"/>
          <p:cNvSpPr/>
          <p:nvPr userDrawn="1"/>
        </p:nvSpPr>
        <p:spPr>
          <a:xfrm rot="5400000">
            <a:off x="95250" y="95250"/>
            <a:ext cx="304799" cy="266700"/>
          </a:xfrm>
          <a:prstGeom prst="triangle">
            <a:avLst>
              <a:gd name="adj" fmla="val 52591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055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Note: These lecture notes are incomplete without having attended lectures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2FA7F4-C54F-4EDE-89B4-6D4F0F75950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10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entury Gothic"/>
                <a:cs typeface="Century Gothic"/>
              </a:defRPr>
            </a:lvl1pPr>
            <a:lvl2pPr>
              <a:defRPr sz="3200" baseline="0">
                <a:latin typeface="Century Gothic"/>
                <a:cs typeface="Century Gothic"/>
              </a:defRPr>
            </a:lvl2pPr>
            <a:lvl3pPr>
              <a:defRPr sz="2800" baseline="0">
                <a:latin typeface="Century Gothic"/>
                <a:cs typeface="Century Gothic"/>
              </a:defRPr>
            </a:lvl3pPr>
            <a:lvl4pPr>
              <a:defRPr sz="2400" baseline="0">
                <a:latin typeface="Century Gothic"/>
                <a:cs typeface="Century Gothic"/>
              </a:defRPr>
            </a:lvl4pPr>
            <a:lvl5pPr>
              <a:defRPr sz="2400" baseline="0"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06293393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9852625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40984043"/>
      </p:ext>
    </p:extLst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entury Gothic"/>
                <a:cs typeface="Century Gothic"/>
              </a:defRPr>
            </a:lvl1pPr>
            <a:lvl2pPr>
              <a:defRPr sz="3200" baseline="0">
                <a:latin typeface="Century Gothic"/>
                <a:cs typeface="Century Gothic"/>
              </a:defRPr>
            </a:lvl2pPr>
            <a:lvl3pPr>
              <a:defRPr sz="2800" baseline="0">
                <a:latin typeface="Century Gothic"/>
                <a:cs typeface="Century Gothic"/>
              </a:defRPr>
            </a:lvl3pPr>
            <a:lvl4pPr>
              <a:defRPr sz="2400" baseline="0">
                <a:latin typeface="Century Gothic"/>
                <a:cs typeface="Century Gothic"/>
              </a:defRPr>
            </a:lvl4pPr>
            <a:lvl5pPr>
              <a:defRPr sz="2400" baseline="0">
                <a:latin typeface="Century Gothic"/>
                <a:cs typeface="Century Gothic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359308934"/>
      </p:ext>
    </p:extLst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57200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3167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767197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0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4BACC6">
                    <a:lumMod val="75000"/>
                  </a:srgbClr>
                </a:solidFill>
              </a:rPr>
              <a:t>ECONOMICS</a:t>
            </a: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3214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4F44DE6-8B77-400C-8F66-8B96B952C9BA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44739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>
                <a:solidFill>
                  <a:srgbClr val="4BACC6">
                    <a:lumMod val="75000"/>
                  </a:srgbClr>
                </a:solidFill>
              </a:rPr>
              <a:t>ECONOMICS</a:t>
            </a:r>
            <a:endParaRPr lang="en-US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8492248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172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08650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517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03489" y="0"/>
            <a:ext cx="1140511" cy="771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88659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861850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6299959"/>
      </p:ext>
    </p:extLst>
  </p:cSld>
  <p:clrMapOvr>
    <a:masterClrMapping/>
  </p:clrMapOvr>
  <p:transition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2527753"/>
      </p:ext>
    </p:extLst>
  </p:cSld>
  <p:clrMapOvr>
    <a:masterClrMapping/>
  </p:clrMapOvr>
  <p:transition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andara" pitchFamily="34" charset="0"/>
              </a:defRPr>
            </a:lvl1pPr>
            <a:lvl2pPr>
              <a:defRPr sz="2800" baseline="0">
                <a:latin typeface="Candara" pitchFamily="34" charset="0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324100" y="6629400"/>
            <a:ext cx="4800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100" i="0" kern="120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2013 Worth Publishers</a:t>
            </a:r>
          </a:p>
        </p:txBody>
      </p:sp>
    </p:spTree>
    <p:extLst>
      <p:ext uri="{BB962C8B-B14F-4D97-AF65-F5344CB8AC3E}">
        <p14:creationId xmlns:p14="http://schemas.microsoft.com/office/powerpoint/2010/main" val="839276619"/>
      </p:ext>
    </p:extLst>
  </p:cSld>
  <p:clrMapOvr>
    <a:masterClrMapping/>
  </p:clrMapOvr>
  <p:transition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153536" y="-76200"/>
            <a:ext cx="943896" cy="99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ight Arrow 8">
            <a:hlinkClick r:id="" action="ppaction://noaction"/>
          </p:cNvPr>
          <p:cNvSpPr/>
          <p:nvPr/>
        </p:nvSpPr>
        <p:spPr>
          <a:xfrm>
            <a:off x="0" y="5952053"/>
            <a:ext cx="1143000" cy="905947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1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To </a:t>
            </a:r>
            <a:r>
              <a:rPr lang="en-US" sz="11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</a:t>
            </a:r>
          </a:p>
        </p:txBody>
      </p:sp>
      <p:pic>
        <p:nvPicPr>
          <p:cNvPr id="10" name="Picture 9">
            <a:hlinkClick r:id="" action="ppaction://noaction"/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4496" y="6028188"/>
            <a:ext cx="1143000" cy="856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26895" y="6209547"/>
            <a:ext cx="634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hlinkClick r:id="" action="ppaction://noaction"/>
              </a:rPr>
              <a:t>To Video</a:t>
            </a:r>
            <a:endParaRPr lang="en-US" sz="14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63719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7ABB6EB-A417-44F4-A17E-A78750F4F63C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94225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5961766"/>
      </p:ext>
    </p:extLst>
  </p:cSld>
  <p:clrMapOvr>
    <a:masterClrMapping/>
  </p:clrMapOvr>
  <p:transition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77535812"/>
      </p:ext>
    </p:extLst>
  </p:cSld>
  <p:clrMapOvr>
    <a:masterClrMapping/>
  </p:clrMapOvr>
  <p:transition>
    <p:fade thruBlk="1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85826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pic>
        <p:nvPicPr>
          <p:cNvPr id="5" name="Picture 4" descr="Screen Shot 2014-12-20 at 5.27.50 PM.png"/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0130" y="15463"/>
            <a:ext cx="1532200" cy="150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5218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>
                <a:solidFill>
                  <a:srgbClr val="4BACC6">
                    <a:lumMod val="75000"/>
                  </a:srgbClr>
                </a:solidFill>
              </a:rPr>
              <a:t>ECONOMICS</a:t>
            </a:r>
            <a:endParaRPr lang="en-US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35361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65570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i="0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>
                <a:solidFill>
                  <a:srgbClr val="4BACC6">
                    <a:lumMod val="75000"/>
                  </a:srgbClr>
                </a:solidFill>
              </a:rPr>
              <a:t>ECONOMICS</a:t>
            </a:r>
            <a:endParaRPr lang="en-US" dirty="0">
              <a:solidFill>
                <a:srgbClr val="4BACC6">
                  <a:lumMod val="75000"/>
                </a:srgbClr>
              </a:solidFill>
            </a:endParaRPr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455229" y="6603259"/>
            <a:ext cx="7096993" cy="22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1757738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00" y="2438400"/>
            <a:ext cx="5245100" cy="3932581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686800" cy="1371600"/>
          </a:xfrm>
        </p:spPr>
        <p:txBody>
          <a:bodyPr>
            <a:noAutofit/>
          </a:bodyPr>
          <a:lstStyle>
            <a:lvl1pPr>
              <a:defRPr sz="3200" baseline="0">
                <a:latin typeface="Candara" pitchFamily="34" charset="0"/>
              </a:defRPr>
            </a:lvl1pPr>
            <a:lvl2pPr>
              <a:defRPr sz="2800" baseline="0">
                <a:latin typeface="Candara" pitchFamily="34" charset="0"/>
              </a:defRPr>
            </a:lvl2pPr>
            <a:lvl3pPr>
              <a:defRPr sz="2400" baseline="0">
                <a:latin typeface="Candara" pitchFamily="34" charset="0"/>
              </a:defRPr>
            </a:lvl3pPr>
            <a:lvl4pPr>
              <a:defRPr sz="2000" baseline="0">
                <a:latin typeface="Candara" pitchFamily="34" charset="0"/>
              </a:defRPr>
            </a:lvl4pPr>
            <a:lvl5pPr>
              <a:defRPr sz="20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Footer Placeholder 4"/>
          <p:cNvSpPr txBox="1">
            <a:spLocks/>
          </p:cNvSpPr>
          <p:nvPr/>
        </p:nvSpPr>
        <p:spPr>
          <a:xfrm>
            <a:off x="2324100" y="6629400"/>
            <a:ext cx="48006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100" i="0" kern="120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2013 Worth Publishers</a:t>
            </a:r>
          </a:p>
        </p:txBody>
      </p:sp>
    </p:spTree>
    <p:extLst>
      <p:ext uri="{BB962C8B-B14F-4D97-AF65-F5344CB8AC3E}">
        <p14:creationId xmlns:p14="http://schemas.microsoft.com/office/powerpoint/2010/main" val="385998333"/>
      </p:ext>
    </p:extLst>
  </p:cSld>
  <p:clrMapOvr>
    <a:masterClrMapping/>
  </p:clrMapOvr>
  <p:transition>
    <p:fade thruBlk="1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331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5277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Copyright 2015 Worth Publishers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4F44DE6-8B77-400C-8F66-8B96B952C9BA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46898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077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03489" y="0"/>
            <a:ext cx="1140511" cy="771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20639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183959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EDEAC-A05C-4A4A-9B91-AB252F06053A}" type="slidenum">
              <a:rPr lang="en-US">
                <a:solidFill>
                  <a:prstClr val="black"/>
                </a:solidFill>
                <a:latin typeface="Calibri"/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050854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45708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0840929"/>
      </p:ext>
    </p:extLst>
  </p:cSld>
  <p:clrMapOvr>
    <a:masterClrMapping/>
  </p:clrMapOvr>
  <p:transition>
    <p:fade thruBlk="1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0995862"/>
      </p:ext>
    </p:extLst>
  </p:cSld>
  <p:clrMapOvr>
    <a:masterClrMapping/>
  </p:clrMapOvr>
  <p:transition>
    <p:fade thruBlk="1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401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03489" y="0"/>
            <a:ext cx="1140511" cy="771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95315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183260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9641754"/>
      </p:ext>
    </p:extLst>
  </p:cSld>
  <p:clrMapOvr>
    <a:masterClrMapping/>
  </p:clrMapOvr>
  <p:transition>
    <p:fade thruBlk="1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4649215"/>
      </p:ext>
    </p:extLst>
  </p:cSld>
  <p:clrMapOvr>
    <a:masterClrMapping/>
  </p:clrMapOvr>
  <p:transition>
    <p:fade thruBlk="1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4763" y="5486400"/>
            <a:ext cx="9136063" cy="1371600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txBody>
          <a:bodyPr anchor="ctr">
            <a:normAutofit/>
          </a:bodyPr>
          <a:lstStyle/>
          <a:p>
            <a:pPr algn="r">
              <a:defRPr/>
            </a:pPr>
            <a:endParaRPr lang="en-US" sz="4800" spc="50" dirty="0">
              <a:solidFill>
                <a:prstClr val="black"/>
              </a:solidFill>
              <a:latin typeface="Candar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1938" y="5181600"/>
            <a:ext cx="887412" cy="1862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15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ea typeface="Tahoma" pitchFamily="34" charset="0"/>
                <a:cs typeface="Tahoma" pitchFamily="34" charset="0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-418306" y="5965795"/>
            <a:ext cx="13589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cap="all" dirty="0">
                <a:solidFill>
                  <a:prstClr val="white">
                    <a:lumMod val="75000"/>
                  </a:prstClr>
                </a:solidFill>
                <a:latin typeface="Gill Sans MT" pitchFamily="34" charset="0"/>
              </a:rPr>
              <a:t>Chapter</a:t>
            </a:r>
            <a:endParaRPr lang="en-US" sz="2000" b="1" cap="all" dirty="0">
              <a:solidFill>
                <a:prstClr val="white">
                  <a:lumMod val="75000"/>
                </a:prstClr>
              </a:solidFill>
              <a:latin typeface="Gill Sans MT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4763" y="4953000"/>
            <a:ext cx="9148763" cy="338137"/>
          </a:xfrm>
          <a:prstGeom prst="rect">
            <a:avLst/>
          </a:prstGeom>
          <a:solidFill>
            <a:schemeClr val="tx1">
              <a:alpha val="52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cap="small" spc="400" dirty="0">
                <a:solidFill>
                  <a:prstClr val="white"/>
                </a:solidFill>
                <a:latin typeface="Tw Cen MT" pitchFamily="34" charset="0"/>
              </a:rPr>
              <a:t>Dynamic PowerPoint™ Slides by </a:t>
            </a:r>
            <a:r>
              <a:rPr lang="en-US" sz="1600" cap="small" spc="400" dirty="0" err="1">
                <a:solidFill>
                  <a:prstClr val="white"/>
                </a:solidFill>
                <a:latin typeface="Tw Cen MT" pitchFamily="34" charset="0"/>
              </a:rPr>
              <a:t>Solina</a:t>
            </a:r>
            <a:r>
              <a:rPr lang="en-US" sz="1600" cap="small" spc="400" dirty="0">
                <a:solidFill>
                  <a:prstClr val="white"/>
                </a:solidFill>
                <a:latin typeface="Tw Cen MT" pitchFamily="34" charset="0"/>
              </a:rPr>
              <a:t> </a:t>
            </a:r>
            <a:r>
              <a:rPr lang="en-US" sz="1600" cap="small" spc="400" dirty="0" err="1">
                <a:solidFill>
                  <a:prstClr val="white"/>
                </a:solidFill>
                <a:latin typeface="Tw Cen MT" pitchFamily="34" charset="0"/>
              </a:rPr>
              <a:t>Lindahl</a:t>
            </a:r>
            <a:endParaRPr lang="en-US" sz="1600" cap="small" spc="400" dirty="0">
              <a:solidFill>
                <a:prstClr val="white"/>
              </a:solidFill>
              <a:latin typeface="Tw Cen MT" pitchFamily="34" charset="0"/>
            </a:endParaRPr>
          </a:p>
        </p:txBody>
      </p:sp>
      <p:pic>
        <p:nvPicPr>
          <p:cNvPr id="159746" name="Picture 2" descr="C:\Users\solina\Dropbox\Krugman 3e Dynamic PPTs\Krugman 3e material\covers\Krugman3e_Econ_FrontCover.jpg"/>
          <p:cNvPicPr>
            <a:picLocks noChangeAspect="1" noChangeArrowheads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40941" y="0"/>
            <a:ext cx="4303059" cy="118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 userDrawn="1"/>
        </p:nvSpPr>
        <p:spPr>
          <a:xfrm>
            <a:off x="1371600" y="5486398"/>
            <a:ext cx="7772400" cy="137160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5400" b="1" i="0" u="none" strike="noStrike" kern="1200" cap="none" spc="100" baseline="0" smtClean="0">
                <a:solidFill>
                  <a:srgbClr val="FF3300"/>
                </a:solidFill>
                <a:effectLst/>
                <a:latin typeface="Candara" pitchFamily="34" charset="0"/>
                <a:ea typeface="+mj-ea"/>
                <a:cs typeface="+mj-cs"/>
              </a:defRPr>
            </a:lvl1pPr>
          </a:lstStyle>
          <a:p>
            <a:r>
              <a:rPr dirty="0"/>
              <a:t>First Principles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730024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F44DE6-8B77-400C-8F66-8B96B952C9BA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599724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 baseline="0">
                <a:latin typeface="Candara" pitchFamily="34" charset="0"/>
              </a:defRPr>
            </a:lvl1pPr>
            <a:lvl2pPr>
              <a:defRPr sz="3200" baseline="0">
                <a:latin typeface="Candara" pitchFamily="34" charset="0"/>
              </a:defRPr>
            </a:lvl2pPr>
            <a:lvl3pPr>
              <a:defRPr sz="2800" baseline="0">
                <a:latin typeface="Candara" pitchFamily="34" charset="0"/>
              </a:defRPr>
            </a:lvl3pPr>
            <a:lvl4pPr>
              <a:defRPr sz="2400" baseline="0">
                <a:latin typeface="Candara" pitchFamily="34" charset="0"/>
              </a:defRPr>
            </a:lvl4pPr>
            <a:lvl5pPr>
              <a:defRPr sz="2400" baseline="0">
                <a:latin typeface="Candara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0871300"/>
      </p:ext>
    </p:extLst>
  </p:cSld>
  <p:clrMapOvr>
    <a:masterClrMapping/>
  </p:clrMapOvr>
  <p:transition>
    <p:fade thruBlk="1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2019300"/>
            <a:ext cx="3086100" cy="3573463"/>
          </a:xfrm>
        </p:spPr>
        <p:txBody>
          <a:bodyPr/>
          <a:lstStyle>
            <a:lvl1pPr>
              <a:defRPr sz="2800">
                <a:latin typeface="Century Gothic" pitchFamily="34" charset="0"/>
              </a:defRPr>
            </a:lvl1pPr>
            <a:lvl2pPr>
              <a:defRPr sz="2400">
                <a:latin typeface="Century Gothic" pitchFamily="34" charset="0"/>
              </a:defRPr>
            </a:lvl2pPr>
            <a:lvl3pPr>
              <a:defRPr sz="2000">
                <a:latin typeface="Century Gothic" pitchFamily="34" charset="0"/>
              </a:defRPr>
            </a:lvl3pPr>
            <a:lvl4pPr>
              <a:defRPr sz="1800">
                <a:latin typeface="Century Gothic" pitchFamily="34" charset="0"/>
              </a:defRPr>
            </a:lvl4pPr>
            <a:lvl5pPr>
              <a:defRPr sz="18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143000"/>
            <a:ext cx="5867400" cy="4983163"/>
          </a:xfrm>
        </p:spPr>
        <p:txBody>
          <a:bodyPr>
            <a:normAutofit/>
          </a:bodyPr>
          <a:lstStyle>
            <a:lvl1pPr>
              <a:defRPr sz="3200">
                <a:latin typeface="Century Gothic" pitchFamily="34" charset="0"/>
              </a:defRPr>
            </a:lvl1pPr>
            <a:lvl2pPr>
              <a:defRPr sz="2800">
                <a:latin typeface="Century Gothic" pitchFamily="34" charset="0"/>
              </a:defRPr>
            </a:lvl2pPr>
            <a:lvl3pPr>
              <a:defRPr sz="2400">
                <a:latin typeface="Century Gothic" pitchFamily="34" charset="0"/>
              </a:defRPr>
            </a:lvl3pPr>
            <a:lvl4pPr>
              <a:defRPr sz="2000">
                <a:latin typeface="Century Gothic" pitchFamily="34" charset="0"/>
              </a:defRPr>
            </a:lvl4pPr>
            <a:lvl5pPr>
              <a:defRPr sz="2000">
                <a:latin typeface="Century Gothic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0374779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" Target="../slides/slide2.xml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slide" Target="../slides/slide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slide" Target="../slides/slide2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Relationship Id="rId4" Type="http://schemas.openxmlformats.org/officeDocument/2006/relationships/slide" Target="../slides/slide2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slide" Target="../slides/slide2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3.xml"/><Relationship Id="rId4" Type="http://schemas.openxmlformats.org/officeDocument/2006/relationships/slide" Target="../slides/slide2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slide" Target="../slides/slide2.xml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5" Type="http://schemas.openxmlformats.org/officeDocument/2006/relationships/slide" Target="../slides/slide2.xml"/><Relationship Id="rId4" Type="http://schemas.openxmlformats.org/officeDocument/2006/relationships/image" Target="../media/image1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" Target="../slides/slide2.xml"/><Relationship Id="rId5" Type="http://schemas.openxmlformats.org/officeDocument/2006/relationships/image" Target="../media/image14.png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6.png"/><Relationship Id="rId4" Type="http://schemas.openxmlformats.org/officeDocument/2006/relationships/slide" Target="../slides/slide2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" Target="../slides/slide2.xml"/><Relationship Id="rId5" Type="http://schemas.openxmlformats.org/officeDocument/2006/relationships/slideLayout" Target="../slideLayouts/slideLayout38.xml"/><Relationship Id="rId10" Type="http://schemas.openxmlformats.org/officeDocument/2006/relationships/theme" Target="../theme/theme15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" Target="../slides/slide2.xml"/><Relationship Id="rId5" Type="http://schemas.openxmlformats.org/officeDocument/2006/relationships/theme" Target="../theme/theme16.xml"/><Relationship Id="rId4" Type="http://schemas.openxmlformats.org/officeDocument/2006/relationships/slideLayout" Target="../slideLayouts/slideLayout46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47.xml"/><Relationship Id="rId4" Type="http://schemas.openxmlformats.org/officeDocument/2006/relationships/slide" Target="../slides/slide2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5" Type="http://schemas.openxmlformats.org/officeDocument/2006/relationships/slide" Target="../slides/slide2.xml"/><Relationship Id="rId4" Type="http://schemas.openxmlformats.org/officeDocument/2006/relationships/image" Target="../media/image13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5" Type="http://schemas.openxmlformats.org/officeDocument/2006/relationships/slide" Target="../slides/slide2.xml"/><Relationship Id="rId4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theme" Target="../theme/theme20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16.png"/><Relationship Id="rId4" Type="http://schemas.openxmlformats.org/officeDocument/2006/relationships/slide" Target="../slides/slide2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theme" Target="../theme/theme21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2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5" Type="http://schemas.openxmlformats.org/officeDocument/2006/relationships/slide" Target="../slides/slide2.xml"/><Relationship Id="rId4" Type="http://schemas.openxmlformats.org/officeDocument/2006/relationships/image" Target="../media/image1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30388"/>
            <a:ext cx="8686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3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3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rgbClr val="CBF577">
              <a:alpha val="66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APPLICATION VIDEO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hlinkClick r:id="rId8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8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274680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22" r:id="rId3"/>
    <p:sldLayoutId id="2147483741" r:id="rId4"/>
    <p:sldLayoutId id="2147483787" r:id="rId5"/>
    <p:sldLayoutId id="2147483810" r:id="rId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400" b="0" kern="1200" spc="0" baseline="0"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  <a:latin typeface="Century Gothic"/>
          <a:ea typeface="+mj-ea"/>
          <a:cs typeface="Century Gothic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870" r:id="rId4"/>
    <p:sldLayoutId id="2147483904" r:id="rId5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Candara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rgbClr val="CBF577">
              <a:alpha val="66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PRACTICE QUESTION</a:t>
            </a:r>
          </a:p>
        </p:txBody>
      </p:sp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hlinkClick r:id="rId3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3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5">
              <a:lumMod val="40000"/>
              <a:lumOff val="60000"/>
              <a:alpha val="66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BUSINESS</a:t>
            </a:r>
            <a:r>
              <a:rPr lang="en-US" sz="3200" b="0" spc="60" baseline="0" dirty="0">
                <a:ln w="9000" cmpd="sng">
                  <a:noFill/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 CASE</a:t>
            </a:r>
            <a:endParaRPr lang="en-US" sz="3200" b="0" spc="60" dirty="0">
              <a:ln w="9000" cmpd="sng">
                <a:noFill/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139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11" name="Right Arrow 10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0" y="0"/>
            <a:ext cx="89916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bg2">
              <a:lumMod val="90000"/>
              <a:alpha val="66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0" spc="60" dirty="0">
                <a:ln w="9000" cmpd="sng">
                  <a:noFill/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entury Gothic" pitchFamily="34" charset="0"/>
                <a:cs typeface="Courier New" pitchFamily="49" charset="0"/>
              </a:rPr>
              <a:t>LEARN BY DOING: DISCUSS</a:t>
            </a:r>
          </a:p>
        </p:txBody>
      </p:sp>
    </p:spTree>
    <p:extLst>
      <p:ext uri="{BB962C8B-B14F-4D97-AF65-F5344CB8AC3E}">
        <p14:creationId xmlns:p14="http://schemas.microsoft.com/office/powerpoint/2010/main" val="399945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869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23558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6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" y="0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410234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 txBox="1">
            <a:spLocks/>
          </p:cNvSpPr>
          <p:nvPr/>
        </p:nvSpPr>
        <p:spPr>
          <a:xfrm>
            <a:off x="3854173" y="0"/>
            <a:ext cx="2853083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b="1" i="1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IN ACTION</a:t>
            </a:r>
          </a:p>
        </p:txBody>
      </p:sp>
      <p:sp>
        <p:nvSpPr>
          <p:cNvPr id="13" name="Oval 12"/>
          <p:cNvSpPr/>
          <p:nvPr/>
        </p:nvSpPr>
        <p:spPr>
          <a:xfrm>
            <a:off x="3263367" y="228600"/>
            <a:ext cx="474870" cy="48591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6225" dir="6960000" sx="122000" sy="122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rgbClr val="F79646">
                  <a:lumMod val="75000"/>
                </a:srgbClr>
              </a:solidFill>
              <a:latin typeface="Verdana"/>
              <a:cs typeface="Verdana"/>
            </a:endParaRPr>
          </a:p>
        </p:txBody>
      </p:sp>
      <p:sp>
        <p:nvSpPr>
          <p:cNvPr id="4" name="Isosceles Triangle 3"/>
          <p:cNvSpPr/>
          <p:nvPr/>
        </p:nvSpPr>
        <p:spPr>
          <a:xfrm rot="5400000">
            <a:off x="3379193" y="248348"/>
            <a:ext cx="337086" cy="381002"/>
          </a:xfrm>
          <a:prstGeom prst="triangle">
            <a:avLst>
              <a:gd name="adj" fmla="val 4997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774700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12700" y="88900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66800" y="6553200"/>
            <a:ext cx="7543800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latin typeface="Candara" pitchFamily="34" charset="0"/>
            </a:endParaRPr>
          </a:p>
          <a:p>
            <a:endParaRPr lang="en-US" sz="1000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06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841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1" i="0" kern="1200" cap="all" spc="-200" baseline="0">
          <a:solidFill>
            <a:schemeClr val="accent5">
              <a:lumMod val="75000"/>
            </a:schemeClr>
          </a:solidFill>
          <a:latin typeface="Verdana"/>
          <a:ea typeface="+mj-ea"/>
          <a:cs typeface="Verdana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" y="392043"/>
            <a:ext cx="3263366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ECONOMICS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410234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Placeholder 1"/>
          <p:cNvSpPr txBox="1">
            <a:spLocks/>
          </p:cNvSpPr>
          <p:nvPr/>
        </p:nvSpPr>
        <p:spPr>
          <a:xfrm>
            <a:off x="3854173" y="392043"/>
            <a:ext cx="2853083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600" b="1" i="1" kern="1200" cap="all" spc="-200" baseline="0">
                <a:solidFill>
                  <a:schemeClr val="accent5">
                    <a:lumMod val="75000"/>
                  </a:schemeClr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IN ACTION</a:t>
            </a:r>
          </a:p>
        </p:txBody>
      </p:sp>
      <p:sp>
        <p:nvSpPr>
          <p:cNvPr id="13" name="Oval 12"/>
          <p:cNvSpPr/>
          <p:nvPr/>
        </p:nvSpPr>
        <p:spPr>
          <a:xfrm>
            <a:off x="3263367" y="589723"/>
            <a:ext cx="474870" cy="485913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76225" dir="6960000" sx="122000" sy="122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rgbClr val="F79646">
                  <a:lumMod val="75000"/>
                </a:srgbClr>
              </a:solidFill>
              <a:latin typeface="Verdana"/>
              <a:cs typeface="Verdana"/>
            </a:endParaRPr>
          </a:p>
        </p:txBody>
      </p:sp>
      <p:sp>
        <p:nvSpPr>
          <p:cNvPr id="4" name="Isosceles Triangle 3"/>
          <p:cNvSpPr/>
          <p:nvPr/>
        </p:nvSpPr>
        <p:spPr>
          <a:xfrm rot="5400000">
            <a:off x="3379193" y="640391"/>
            <a:ext cx="337086" cy="381002"/>
          </a:xfrm>
          <a:prstGeom prst="triangle">
            <a:avLst>
              <a:gd name="adj" fmla="val 49975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166743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-12700" y="480943"/>
            <a:ext cx="9144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066800" y="6553200"/>
            <a:ext cx="7543800" cy="228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r>
              <a:rPr lang="en-US" sz="1000" kern="0" cap="all" spc="1060"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48912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1" i="0" kern="1200" cap="all" spc="-200" baseline="0">
          <a:solidFill>
            <a:schemeClr val="accent5">
              <a:lumMod val="75000"/>
            </a:schemeClr>
          </a:solidFill>
          <a:latin typeface="Verdana"/>
          <a:ea typeface="+mj-ea"/>
          <a:cs typeface="Verdana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067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6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5">
              <a:lumMod val="20000"/>
              <a:lumOff val="80000"/>
              <a:alpha val="44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 w="127000" cmpd="sng">
            <a:solidFill>
              <a:schemeClr val="tx2">
                <a:lumMod val="20000"/>
                <a:lumOff val="80000"/>
                <a:alpha val="71000"/>
              </a:scheme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500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r" defTabSz="914400" rtl="0" eaLnBrk="1" latinLnBrk="0" hangingPunct="1">
        <a:spcBef>
          <a:spcPct val="0"/>
        </a:spcBef>
        <a:buNone/>
        <a:defRPr sz="4400" b="1" kern="1200" spc="-200" baseline="0">
          <a:solidFill>
            <a:schemeClr val="accent6">
              <a:lumMod val="75000"/>
            </a:schemeClr>
          </a:solidFill>
          <a:latin typeface="Candara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75438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Learning: Practice</a:t>
            </a:r>
          </a:p>
        </p:txBody>
      </p:sp>
      <p:pic>
        <p:nvPicPr>
          <p:cNvPr id="12292" name="Picture 11" descr="Pencil_8160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5042" y="47416"/>
            <a:ext cx="224895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98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30388"/>
            <a:ext cx="86868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defRPr>
            </a:lvl1pPr>
          </a:lstStyle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90600" y="120650"/>
            <a:ext cx="8153400" cy="94615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i="1" kern="1200" baseline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 b="1" i="1">
                <a:solidFill>
                  <a:schemeClr val="tx1"/>
                </a:solidFill>
                <a:latin typeface="Century Gothic" pitchFamily="34" charset="0"/>
              </a:defRPr>
            </a:lvl9pPr>
          </a:lstStyle>
          <a:p>
            <a:r>
              <a:rPr lang="en-US" dirty="0">
                <a:solidFill>
                  <a:srgbClr val="F79646">
                    <a:lumMod val="75000"/>
                  </a:srgbClr>
                </a:solidFill>
              </a:rPr>
              <a:t>Take a look…..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133"/>
            <a:ext cx="990600" cy="1104743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6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32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</p:sldLayoutIdLst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2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75438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Learning: Application</a:t>
            </a:r>
          </a:p>
        </p:txBody>
      </p:sp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Box 12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34184" y="304800"/>
            <a:ext cx="1609816" cy="60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098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8382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hlinkClick r:id="rId11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11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38203" y="6603259"/>
            <a:ext cx="7096993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sz="1000" kern="0" cap="all" spc="1060">
                <a:solidFill>
                  <a:prstClr val="white">
                    <a:lumMod val="50000"/>
                  </a:prstClr>
                </a:solidFill>
                <a:latin typeface="Gill Sans"/>
                <a:cs typeface="Gill Sans"/>
              </a:rPr>
              <a:t>Copyright 2015 Worth Publishers</a:t>
            </a:r>
            <a:endParaRPr lang="en-US" sz="1000" kern="0" cap="all" spc="1060" dirty="0">
              <a:solidFill>
                <a:prstClr val="white">
                  <a:lumMod val="50000"/>
                </a:prstClr>
              </a:solidFill>
              <a:latin typeface="Gill Sans"/>
              <a:cs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5837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400" b="0" kern="1200" spc="0" baseline="0">
          <a:solidFill>
            <a:schemeClr val="accent3"/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  <a:latin typeface="Century Gothic"/>
          <a:ea typeface="+mj-ea"/>
          <a:cs typeface="Century Gothic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5">
              <a:lumMod val="20000"/>
              <a:lumOff val="80000"/>
              <a:alpha val="44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 w="127000" cmpd="sng">
            <a:solidFill>
              <a:schemeClr val="tx2">
                <a:lumMod val="20000"/>
                <a:lumOff val="80000"/>
                <a:alpha val="71000"/>
              </a:scheme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hlinkClick r:id="rId6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6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501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r" defTabSz="914400" rtl="0" eaLnBrk="1" latinLnBrk="0" hangingPunct="1">
        <a:spcBef>
          <a:spcPct val="0"/>
        </a:spcBef>
        <a:buNone/>
        <a:defRPr sz="4400" b="1" kern="1200" spc="-200" baseline="0">
          <a:solidFill>
            <a:schemeClr val="accent6">
              <a:lumMod val="75000"/>
            </a:schemeClr>
          </a:solidFill>
          <a:latin typeface="Candara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194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6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75438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Learning: Practice</a:t>
            </a:r>
          </a:p>
        </p:txBody>
      </p:sp>
      <p:pic>
        <p:nvPicPr>
          <p:cNvPr id="12292" name="Picture 11" descr="Pencil_8160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5042" y="47416"/>
            <a:ext cx="224895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00582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  <a:solidFill>
            <a:schemeClr val="accent5">
              <a:lumMod val="20000"/>
              <a:lumOff val="80000"/>
              <a:alpha val="44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838200"/>
            <a:ext cx="9144000" cy="0"/>
          </a:xfrm>
          <a:prstGeom prst="line">
            <a:avLst/>
          </a:prstGeom>
          <a:ln w="127000" cmpd="sng">
            <a:solidFill>
              <a:schemeClr val="tx2">
                <a:lumMod val="20000"/>
                <a:lumOff val="80000"/>
                <a:alpha val="71000"/>
              </a:schemeClr>
            </a:solidFill>
            <a:prstDash val="soli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9820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dt="0"/>
  <p:txStyles>
    <p:titleStyle>
      <a:lvl1pPr algn="r" defTabSz="914400" rtl="0" eaLnBrk="1" latinLnBrk="0" hangingPunct="1">
        <a:spcBef>
          <a:spcPct val="0"/>
        </a:spcBef>
        <a:buNone/>
        <a:defRPr sz="4400" b="1" kern="1200" spc="-200" baseline="0">
          <a:solidFill>
            <a:schemeClr val="accent6">
              <a:lumMod val="75000"/>
            </a:schemeClr>
          </a:solidFill>
          <a:latin typeface="Candara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Tx/>
        <a:buNone/>
        <a:defRPr sz="32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Tx/>
        <a:buNone/>
        <a:defRPr sz="28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Tx/>
        <a:buNone/>
        <a:defRPr sz="24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2000" b="1" kern="1200">
          <a:solidFill>
            <a:schemeClr val="tx1"/>
          </a:solidFill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75438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Learning: Application</a:t>
            </a:r>
          </a:p>
        </p:txBody>
      </p:sp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Box 12">
            <a:hlinkClick r:id="rId4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4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34184" y="304800"/>
            <a:ext cx="1609816" cy="60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37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44DE6-8B77-400C-8F66-8B96B952C9BA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966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/>
        </p:nvSpPr>
        <p:spPr>
          <a:xfrm>
            <a:off x="0" y="0"/>
            <a:ext cx="7543800" cy="1161633"/>
          </a:xfrm>
          <a:prstGeom prst="rightArrow">
            <a:avLst>
              <a:gd name="adj1" fmla="val 50000"/>
              <a:gd name="adj2" fmla="val 78749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</a:rPr>
              <a:t>Active Learning: Practice</a:t>
            </a:r>
          </a:p>
        </p:txBody>
      </p:sp>
      <p:pic>
        <p:nvPicPr>
          <p:cNvPr id="12292" name="Picture 11" descr="Pencil_8160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95042" y="47416"/>
            <a:ext cx="224895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28600" y="1295400"/>
            <a:ext cx="8458200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462841" y="6168900"/>
            <a:ext cx="609600" cy="625492"/>
          </a:xfrm>
          <a:prstGeom prst="ellipse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>
            <a:hlinkClick r:id="rId5" action="ppaction://hlinksldjump"/>
          </p:cNvPr>
          <p:cNvSpPr txBox="1"/>
          <p:nvPr/>
        </p:nvSpPr>
        <p:spPr>
          <a:xfrm>
            <a:off x="8493643" y="6262990"/>
            <a:ext cx="654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prstClr val="black"/>
                </a:solidFill>
                <a:latin typeface="Candara" pitchFamily="34" charset="0"/>
                <a:hlinkClick r:id="rId5" action="ppaction://hlinksldjump"/>
              </a:rPr>
              <a:t>Back to Table of contents</a:t>
            </a:r>
            <a:endParaRPr lang="en-US" sz="800" b="1" dirty="0">
              <a:solidFill>
                <a:prstClr val="black"/>
              </a:solidFill>
              <a:latin typeface="Candara" pitchFamily="34" charset="0"/>
            </a:endParaRPr>
          </a:p>
          <a:p>
            <a:endParaRPr lang="en-US" sz="1000" dirty="0">
              <a:solidFill>
                <a:prstClr val="black"/>
              </a:solidFill>
              <a:latin typeface="Candara" pitchFamily="34" charset="0"/>
            </a:endParaRPr>
          </a:p>
        </p:txBody>
      </p:sp>
      <p:sp>
        <p:nvSpPr>
          <p:cNvPr id="8" name="Right Arrow 7">
            <a:hlinkClick r:id="" action="ppaction://noaction"/>
          </p:cNvPr>
          <p:cNvSpPr/>
          <p:nvPr/>
        </p:nvSpPr>
        <p:spPr>
          <a:xfrm>
            <a:off x="0" y="6081474"/>
            <a:ext cx="1524000" cy="776526"/>
          </a:xfrm>
          <a:prstGeom prst="rightArrow">
            <a:avLst>
              <a:gd name="adj1" fmla="val 47162"/>
              <a:gd name="adj2" fmla="val 48581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  <a:p>
            <a:pPr algn="ctr">
              <a:defRPr/>
            </a:pPr>
            <a:endParaRPr lang="en-US" sz="9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1700" y="6629400"/>
            <a:ext cx="4800600" cy="228600"/>
          </a:xfrm>
          <a:prstGeom prst="rect">
            <a:avLst/>
          </a:prstGeom>
        </p:spPr>
        <p:txBody>
          <a:bodyPr/>
          <a:lstStyle>
            <a:lvl1pPr algn="ctr">
              <a:defRPr sz="1100" i="0" cap="small" spc="400" baseline="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Copyright 2015 Worth Publishers</a:t>
            </a: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8950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</p:sldLayoutIdLst>
  <p:transition>
    <p:fade thruBlk="1"/>
  </p:transition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1" i="1" kern="1200">
          <a:noFill/>
          <a:latin typeface="Century Gothic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 b="1" i="1">
          <a:solidFill>
            <a:schemeClr val="tx1"/>
          </a:solidFill>
          <a:latin typeface="Century Gothic" pitchFamily="3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6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32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8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FontTx/>
        <a:buNone/>
        <a:defRPr sz="2400" b="1" kern="1200" spc="100">
          <a:solidFill>
            <a:schemeClr val="tx1"/>
          </a:solidFill>
          <a:latin typeface="Candara" pitchFamily="34" charset="0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openxmlformats.org/officeDocument/2006/relationships/slide" Target="slide1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50.xml"/><Relationship Id="rId5" Type="http://schemas.openxmlformats.org/officeDocument/2006/relationships/slide" Target="slide29.xml"/><Relationship Id="rId4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hyperlink" Target="http://upload.wikimedia.org/wikipedia/commons/5/54/Lange-MigrantMother02.jpg" TargetMode="External"/><Relationship Id="rId7" Type="http://schemas.openxmlformats.org/officeDocument/2006/relationships/hyperlink" Target="http://upload.wikimedia.org/wikipedia/commons/b/bf/Langechildren.jp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28.png"/><Relationship Id="rId5" Type="http://schemas.openxmlformats.org/officeDocument/2006/relationships/hyperlink" Target="http://upload.wikimedia.org/wikipedia/commons/7/79/Volunteers_of_America_Soup_Kitchen_WDC.gif" TargetMode="External"/><Relationship Id="rId4" Type="http://schemas.openxmlformats.org/officeDocument/2006/relationships/image" Target="../media/image27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7.xml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49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533400"/>
            <a:ext cx="7772400" cy="1470025"/>
          </a:xfrm>
        </p:spPr>
        <p:txBody>
          <a:bodyPr/>
          <a:lstStyle/>
          <a:p>
            <a:r>
              <a:rPr lang="en-US" sz="2800" dirty="0"/>
              <a:t>Economics 2220</a:t>
            </a:r>
            <a:br>
              <a:rPr lang="en-US" sz="2800" dirty="0"/>
            </a:br>
            <a:r>
              <a:rPr lang="en-US" dirty="0"/>
              <a:t>Principles Of Macroeconomics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r>
              <a:rPr lang="en-US" sz="2400" dirty="0"/>
              <a:t>Professor Zhigang Feng</a:t>
            </a:r>
          </a:p>
          <a:p>
            <a:endParaRPr lang="en-US" sz="2400" dirty="0"/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2819400" y="3276600"/>
            <a:ext cx="5791200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28600" indent="-228600">
              <a:spcBef>
                <a:spcPct val="50000"/>
              </a:spcBef>
            </a:pPr>
            <a:r>
              <a:rPr lang="en-US" sz="2800" u="sng" dirty="0"/>
              <a:t>Lecture 11: </a:t>
            </a:r>
          </a:p>
          <a:p>
            <a:pPr marL="228600" indent="-228600">
              <a:spcBef>
                <a:spcPct val="50000"/>
              </a:spcBef>
            </a:pPr>
            <a:r>
              <a:rPr lang="en-US" sz="2800" u="sng" dirty="0"/>
              <a:t>Aggregate Demand and Aggregate Supply </a:t>
            </a:r>
          </a:p>
        </p:txBody>
      </p:sp>
    </p:spTree>
    <p:extLst>
      <p:ext uri="{BB962C8B-B14F-4D97-AF65-F5344CB8AC3E}">
        <p14:creationId xmlns:p14="http://schemas.microsoft.com/office/powerpoint/2010/main" val="3385319253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" y="1295400"/>
            <a:ext cx="8991600" cy="4953000"/>
          </a:xfrm>
        </p:spPr>
        <p:txBody>
          <a:bodyPr/>
          <a:lstStyle/>
          <a:p>
            <a:pPr marL="461962" indent="-342900"/>
            <a:r>
              <a:rPr lang="en-US" sz="2400" b="0" dirty="0"/>
              <a:t>How the </a:t>
            </a:r>
            <a:r>
              <a:rPr lang="en-US" sz="2400" dirty="0">
                <a:hlinkClick r:id="rId2" action="ppaction://hlinksldjump"/>
              </a:rPr>
              <a:t>aggregate demand curve </a:t>
            </a:r>
            <a:r>
              <a:rPr lang="en-US" sz="2400" b="0" dirty="0"/>
              <a:t>illustrates the relationship between the aggregate price level and the quantity of aggregate output demanded in the economy</a:t>
            </a:r>
          </a:p>
          <a:p>
            <a:pPr marL="461962" indent="-342900"/>
            <a:r>
              <a:rPr lang="en-US" sz="2400" b="0" dirty="0"/>
              <a:t>How the </a:t>
            </a:r>
            <a:r>
              <a:rPr lang="en-US" sz="2400" dirty="0">
                <a:hlinkClick r:id="rId3" action="ppaction://hlinksldjump"/>
              </a:rPr>
              <a:t>aggregate supply curve </a:t>
            </a:r>
            <a:r>
              <a:rPr lang="en-US" sz="2400" b="0" dirty="0"/>
              <a:t>illustrates the relationship between the aggregate price level and the quantity of aggregate output supplied in the economy</a:t>
            </a:r>
          </a:p>
          <a:p>
            <a:pPr marL="461962" indent="-342900"/>
            <a:r>
              <a:rPr lang="en-US" sz="2400" b="0" dirty="0"/>
              <a:t>Why the aggregate supply curve is different in the short run from the </a:t>
            </a:r>
            <a:r>
              <a:rPr lang="en-US" sz="2400" dirty="0">
                <a:hlinkClick r:id="rId4" action="ppaction://hlinksldjump"/>
              </a:rPr>
              <a:t>long run</a:t>
            </a:r>
            <a:endParaRPr lang="en-US" sz="2400" dirty="0"/>
          </a:p>
          <a:p>
            <a:pPr marL="461962" indent="-342900"/>
            <a:r>
              <a:rPr lang="en-US" sz="2400" b="0" dirty="0"/>
              <a:t>How the </a:t>
            </a:r>
            <a:r>
              <a:rPr lang="en-US" sz="2400" i="1" dirty="0">
                <a:hlinkClick r:id="rId5" action="ppaction://hlinksldjump"/>
              </a:rPr>
              <a:t>AD–AS </a:t>
            </a:r>
            <a:r>
              <a:rPr lang="en-US" sz="2400" dirty="0">
                <a:hlinkClick r:id="rId5" action="ppaction://hlinksldjump"/>
              </a:rPr>
              <a:t>model </a:t>
            </a:r>
            <a:r>
              <a:rPr lang="en-US" sz="2400" b="0" dirty="0"/>
              <a:t>is used to analyze economic fluctuations</a:t>
            </a:r>
          </a:p>
          <a:p>
            <a:pPr marL="461962" indent="-342900"/>
            <a:r>
              <a:rPr lang="en-US" sz="2400" b="0" dirty="0"/>
              <a:t>How monetary policy and fiscal policy can </a:t>
            </a:r>
            <a:r>
              <a:rPr lang="en-US" sz="2400" dirty="0">
                <a:hlinkClick r:id="rId6" action="ppaction://hlinksldjump"/>
              </a:rPr>
              <a:t>stabilize</a:t>
            </a:r>
            <a:r>
              <a:rPr lang="en-US" sz="2400" b="0" dirty="0"/>
              <a:t> the economy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7" action="ppaction://hlinksldjump"/>
              </a:rPr>
              <a:t>To First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7" action="ppaction://hlinksldjump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482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screen">
            <a:alphaModFix amt="5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7200"/>
            <a:ext cx="9144000" cy="640108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SHOCKS TO THE SYSTEM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0" y="3657600"/>
            <a:ext cx="9144000" cy="2895600"/>
          </a:xfrm>
          <a:solidFill>
            <a:schemeClr val="bg1">
              <a:alpha val="83000"/>
            </a:schemeClr>
          </a:solidFill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solidFill>
                  <a:srgbClr val="990033"/>
                </a:solidFill>
              </a:rPr>
              <a:t>What causes recessions?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solidFill>
                  <a:srgbClr val="990033"/>
                </a:solidFill>
              </a:rPr>
              <a:t>Why is inflation high in some recessions and not others?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b="0" dirty="0"/>
              <a:t>The economy’s behavior  can be explained, predicted, and potentially manipulated by looking at: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i="1" dirty="0">
                <a:solidFill>
                  <a:srgbClr val="0070C0"/>
                </a:solidFill>
              </a:rPr>
              <a:t>total (aggregate) demand.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i="1" dirty="0">
                <a:solidFill>
                  <a:srgbClr val="0070C0"/>
                </a:solidFill>
              </a:rPr>
              <a:t>total (aggregate) supply.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236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7"/>
          <p:cNvSpPr>
            <a:spLocks noChangeArrowheads="1"/>
          </p:cNvSpPr>
          <p:nvPr/>
        </p:nvSpPr>
        <p:spPr bwMode="auto">
          <a:xfrm>
            <a:off x="914400" y="3832225"/>
            <a:ext cx="3197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7.9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63" name="Rectangle 42"/>
          <p:cNvSpPr>
            <a:spLocks noChangeArrowheads="1"/>
          </p:cNvSpPr>
          <p:nvPr/>
        </p:nvSpPr>
        <p:spPr bwMode="auto">
          <a:xfrm>
            <a:off x="3900488" y="3622675"/>
            <a:ext cx="51170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1933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64" name="Rectangle 82"/>
          <p:cNvSpPr>
            <a:spLocks noChangeArrowheads="1"/>
          </p:cNvSpPr>
          <p:nvPr/>
        </p:nvSpPr>
        <p:spPr bwMode="auto">
          <a:xfrm>
            <a:off x="1065213" y="6237288"/>
            <a:ext cx="1279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65" name="Rectangle 84"/>
          <p:cNvSpPr>
            <a:spLocks noChangeArrowheads="1"/>
          </p:cNvSpPr>
          <p:nvPr/>
        </p:nvSpPr>
        <p:spPr bwMode="auto">
          <a:xfrm>
            <a:off x="3757613" y="6237288"/>
            <a:ext cx="38378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716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66" name="Line 90"/>
          <p:cNvSpPr>
            <a:spLocks noChangeShapeType="1"/>
          </p:cNvSpPr>
          <p:nvPr/>
        </p:nvSpPr>
        <p:spPr bwMode="auto">
          <a:xfrm flipV="1">
            <a:off x="3971925" y="6029325"/>
            <a:ext cx="3175" cy="15557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7367" name="Line 91"/>
          <p:cNvSpPr>
            <a:spLocks noChangeShapeType="1"/>
          </p:cNvSpPr>
          <p:nvPr/>
        </p:nvSpPr>
        <p:spPr bwMode="auto">
          <a:xfrm flipV="1">
            <a:off x="5346700" y="6029325"/>
            <a:ext cx="1588" cy="15557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7368" name="Line 92"/>
          <p:cNvSpPr>
            <a:spLocks noChangeShapeType="1"/>
          </p:cNvSpPr>
          <p:nvPr/>
        </p:nvSpPr>
        <p:spPr bwMode="auto">
          <a:xfrm>
            <a:off x="1262063" y="3971925"/>
            <a:ext cx="141287" cy="317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7369" name="Line 93"/>
          <p:cNvSpPr>
            <a:spLocks noChangeShapeType="1"/>
          </p:cNvSpPr>
          <p:nvPr/>
        </p:nvSpPr>
        <p:spPr bwMode="auto">
          <a:xfrm flipH="1" flipV="1">
            <a:off x="1892300" y="2476500"/>
            <a:ext cx="4338638" cy="3103563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7370" name="Oval 94"/>
          <p:cNvSpPr>
            <a:spLocks noChangeArrowheads="1"/>
          </p:cNvSpPr>
          <p:nvPr/>
        </p:nvSpPr>
        <p:spPr bwMode="auto">
          <a:xfrm>
            <a:off x="3913188" y="3908425"/>
            <a:ext cx="115887" cy="1301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71" name="Freeform 96"/>
          <p:cNvSpPr>
            <a:spLocks/>
          </p:cNvSpPr>
          <p:nvPr/>
        </p:nvSpPr>
        <p:spPr bwMode="auto">
          <a:xfrm>
            <a:off x="1262063" y="2144018"/>
            <a:ext cx="6000750" cy="4040882"/>
          </a:xfrm>
          <a:custGeom>
            <a:avLst/>
            <a:gdLst>
              <a:gd name="T0" fmla="*/ 5999487 w 2433"/>
              <a:gd name="T1" fmla="*/ 4735292 h 1720"/>
              <a:gd name="T2" fmla="*/ 0 w 2433"/>
              <a:gd name="T3" fmla="*/ 4735292 h 1720"/>
              <a:gd name="T4" fmla="*/ 0 w 2433"/>
              <a:gd name="T5" fmla="*/ 0 h 1720"/>
              <a:gd name="T6" fmla="*/ 0 60000 65536"/>
              <a:gd name="T7" fmla="*/ 0 60000 65536"/>
              <a:gd name="T8" fmla="*/ 0 60000 65536"/>
              <a:gd name="T9" fmla="*/ 0 w 2433"/>
              <a:gd name="T10" fmla="*/ 0 h 1720"/>
              <a:gd name="T11" fmla="*/ 2433 w 2433"/>
              <a:gd name="T12" fmla="*/ 1720 h 17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33" h="1720">
                <a:moveTo>
                  <a:pt x="2433" y="1720"/>
                </a:moveTo>
                <a:lnTo>
                  <a:pt x="0" y="1720"/>
                </a:lnTo>
                <a:lnTo>
                  <a:pt x="0" y="0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72" name="Rectangle 12"/>
          <p:cNvSpPr>
            <a:spLocks noChangeArrowheads="1"/>
          </p:cNvSpPr>
          <p:nvPr/>
        </p:nvSpPr>
        <p:spPr bwMode="auto">
          <a:xfrm>
            <a:off x="5718175" y="6292850"/>
            <a:ext cx="2362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 (billions of 2005 dollars)</a:t>
            </a:r>
          </a:p>
        </p:txBody>
      </p:sp>
      <p:sp>
        <p:nvSpPr>
          <p:cNvPr id="527373" name="Rectangle 13"/>
          <p:cNvSpPr>
            <a:spLocks noChangeArrowheads="1"/>
          </p:cNvSpPr>
          <p:nvPr/>
        </p:nvSpPr>
        <p:spPr bwMode="auto">
          <a:xfrm>
            <a:off x="0" y="1066800"/>
            <a:ext cx="18923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level (GDP deflator,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2005 = 100)</a:t>
            </a:r>
          </a:p>
        </p:txBody>
      </p:sp>
      <p:sp>
        <p:nvSpPr>
          <p:cNvPr id="527374" name="Rectangle 14"/>
          <p:cNvSpPr>
            <a:spLocks noChangeArrowheads="1"/>
          </p:cNvSpPr>
          <p:nvPr/>
        </p:nvSpPr>
        <p:spPr bwMode="auto">
          <a:xfrm>
            <a:off x="5489575" y="5529263"/>
            <a:ext cx="22860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demand</a:t>
            </a:r>
          </a:p>
          <a:p>
            <a:pPr>
              <a:spcBef>
                <a:spcPct val="0"/>
              </a:spcBef>
            </a:pPr>
            <a:r>
              <a:rPr lang="en-US" sz="160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curve, </a:t>
            </a:r>
            <a:r>
              <a:rPr lang="en-US" sz="1600" i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</a:p>
        </p:txBody>
      </p:sp>
      <p:sp>
        <p:nvSpPr>
          <p:cNvPr id="527375" name="Line 15"/>
          <p:cNvSpPr>
            <a:spLocks noChangeShapeType="1"/>
          </p:cNvSpPr>
          <p:nvPr/>
        </p:nvSpPr>
        <p:spPr bwMode="auto">
          <a:xfrm>
            <a:off x="3965575" y="4005263"/>
            <a:ext cx="0" cy="2181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7376" name="Line 16"/>
          <p:cNvSpPr>
            <a:spLocks noChangeShapeType="1"/>
          </p:cNvSpPr>
          <p:nvPr/>
        </p:nvSpPr>
        <p:spPr bwMode="auto">
          <a:xfrm flipH="1" flipV="1">
            <a:off x="1382713" y="3973513"/>
            <a:ext cx="24733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7377" name="Line 43"/>
          <p:cNvSpPr>
            <a:spLocks noChangeShapeType="1"/>
          </p:cNvSpPr>
          <p:nvPr/>
        </p:nvSpPr>
        <p:spPr bwMode="auto">
          <a:xfrm flipV="1">
            <a:off x="4683125" y="4076699"/>
            <a:ext cx="1111250" cy="857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7378" name="Freeform 44"/>
          <p:cNvSpPr>
            <a:spLocks/>
          </p:cNvSpPr>
          <p:nvPr/>
        </p:nvSpPr>
        <p:spPr bwMode="auto">
          <a:xfrm>
            <a:off x="5794375" y="3516313"/>
            <a:ext cx="2185988" cy="1589087"/>
          </a:xfrm>
          <a:custGeom>
            <a:avLst/>
            <a:gdLst>
              <a:gd name="T0" fmla="*/ 2184770 w 375"/>
              <a:gd name="T1" fmla="*/ 1007958 h 174"/>
              <a:gd name="T2" fmla="*/ 2085727 w 375"/>
              <a:gd name="T3" fmla="*/ 1131514 h 174"/>
              <a:gd name="T4" fmla="*/ 99043 w 375"/>
              <a:gd name="T5" fmla="*/ 1131514 h 174"/>
              <a:gd name="T6" fmla="*/ 0 w 375"/>
              <a:gd name="T7" fmla="*/ 1007958 h 174"/>
              <a:gd name="T8" fmla="*/ 0 w 375"/>
              <a:gd name="T9" fmla="*/ 123556 h 174"/>
              <a:gd name="T10" fmla="*/ 99043 w 375"/>
              <a:gd name="T11" fmla="*/ 0 h 174"/>
              <a:gd name="T12" fmla="*/ 2085727 w 375"/>
              <a:gd name="T13" fmla="*/ 0 h 174"/>
              <a:gd name="T14" fmla="*/ 2184770 w 375"/>
              <a:gd name="T15" fmla="*/ 123556 h 174"/>
              <a:gd name="T16" fmla="*/ 2184770 w 375"/>
              <a:gd name="T17" fmla="*/ 1007958 h 17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75"/>
              <a:gd name="T28" fmla="*/ 0 h 174"/>
              <a:gd name="T29" fmla="*/ 375 w 375"/>
              <a:gd name="T30" fmla="*/ 174 h 17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75" h="174">
                <a:moveTo>
                  <a:pt x="375" y="155"/>
                </a:moveTo>
                <a:cubicBezTo>
                  <a:pt x="375" y="166"/>
                  <a:pt x="368" y="174"/>
                  <a:pt x="358" y="174"/>
                </a:cubicBezTo>
                <a:cubicBezTo>
                  <a:pt x="17" y="174"/>
                  <a:pt x="17" y="174"/>
                  <a:pt x="17" y="174"/>
                </a:cubicBezTo>
                <a:cubicBezTo>
                  <a:pt x="8" y="174"/>
                  <a:pt x="0" y="166"/>
                  <a:pt x="0" y="155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358" y="0"/>
                  <a:pt x="358" y="0"/>
                  <a:pt x="358" y="0"/>
                </a:cubicBezTo>
                <a:cubicBezTo>
                  <a:pt x="368" y="0"/>
                  <a:pt x="375" y="9"/>
                  <a:pt x="375" y="19"/>
                </a:cubicBezTo>
                <a:lnTo>
                  <a:pt x="375" y="155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79" name="Line 97"/>
          <p:cNvSpPr>
            <a:spLocks noChangeShapeType="1"/>
          </p:cNvSpPr>
          <p:nvPr/>
        </p:nvSpPr>
        <p:spPr bwMode="auto">
          <a:xfrm>
            <a:off x="4105275" y="3881438"/>
            <a:ext cx="1100138" cy="787400"/>
          </a:xfrm>
          <a:prstGeom prst="line">
            <a:avLst/>
          </a:prstGeom>
          <a:noFill/>
          <a:ln w="1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7380" name="Freeform 98"/>
          <p:cNvSpPr>
            <a:spLocks/>
          </p:cNvSpPr>
          <p:nvPr/>
        </p:nvSpPr>
        <p:spPr bwMode="auto">
          <a:xfrm>
            <a:off x="5141913" y="4597400"/>
            <a:ext cx="169862" cy="150813"/>
          </a:xfrm>
          <a:custGeom>
            <a:avLst/>
            <a:gdLst>
              <a:gd name="T0" fmla="*/ 52804 w 29"/>
              <a:gd name="T1" fmla="*/ 65834 h 23"/>
              <a:gd name="T2" fmla="*/ 58671 w 29"/>
              <a:gd name="T3" fmla="*/ 0 h 23"/>
              <a:gd name="T4" fmla="*/ 58671 w 29"/>
              <a:gd name="T5" fmla="*/ 0 h 23"/>
              <a:gd name="T6" fmla="*/ 111474 w 29"/>
              <a:gd name="T7" fmla="*/ 79001 h 23"/>
              <a:gd name="T8" fmla="*/ 170145 w 29"/>
              <a:gd name="T9" fmla="*/ 151418 h 23"/>
              <a:gd name="T10" fmla="*/ 88006 w 29"/>
              <a:gd name="T11" fmla="*/ 118501 h 23"/>
              <a:gd name="T12" fmla="*/ 0 w 29"/>
              <a:gd name="T13" fmla="*/ 98751 h 23"/>
              <a:gd name="T14" fmla="*/ 0 w 29"/>
              <a:gd name="T15" fmla="*/ 98751 h 23"/>
              <a:gd name="T16" fmla="*/ 52804 w 29"/>
              <a:gd name="T17" fmla="*/ 65834 h 2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"/>
              <a:gd name="T28" fmla="*/ 0 h 23"/>
              <a:gd name="T29" fmla="*/ 29 w 29"/>
              <a:gd name="T30" fmla="*/ 23 h 2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" h="23">
                <a:moveTo>
                  <a:pt x="9" y="10"/>
                </a:moveTo>
                <a:cubicBezTo>
                  <a:pt x="10" y="0"/>
                  <a:pt x="10" y="0"/>
                  <a:pt x="10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9" y="12"/>
                  <a:pt x="19" y="12"/>
                  <a:pt x="19" y="12"/>
                </a:cubicBezTo>
                <a:cubicBezTo>
                  <a:pt x="22" y="16"/>
                  <a:pt x="26" y="19"/>
                  <a:pt x="29" y="23"/>
                </a:cubicBezTo>
                <a:cubicBezTo>
                  <a:pt x="25" y="21"/>
                  <a:pt x="20" y="20"/>
                  <a:pt x="15" y="18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0" y="15"/>
                  <a:pt x="0" y="15"/>
                </a:cubicBezTo>
                <a:lnTo>
                  <a:pt x="9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81" name="Freeform 99"/>
          <p:cNvSpPr>
            <a:spLocks/>
          </p:cNvSpPr>
          <p:nvPr/>
        </p:nvSpPr>
        <p:spPr bwMode="auto">
          <a:xfrm>
            <a:off x="4902200" y="4429125"/>
            <a:ext cx="169863" cy="149225"/>
          </a:xfrm>
          <a:custGeom>
            <a:avLst/>
            <a:gdLst>
              <a:gd name="T0" fmla="*/ 52804 w 29"/>
              <a:gd name="T1" fmla="*/ 64637 h 23"/>
              <a:gd name="T2" fmla="*/ 52804 w 29"/>
              <a:gd name="T3" fmla="*/ 0 h 23"/>
              <a:gd name="T4" fmla="*/ 58671 w 29"/>
              <a:gd name="T5" fmla="*/ 0 h 23"/>
              <a:gd name="T6" fmla="*/ 111474 w 29"/>
              <a:gd name="T7" fmla="*/ 77565 h 23"/>
              <a:gd name="T8" fmla="*/ 170145 w 29"/>
              <a:gd name="T9" fmla="*/ 148666 h 23"/>
              <a:gd name="T10" fmla="*/ 88006 w 29"/>
              <a:gd name="T11" fmla="*/ 109884 h 23"/>
              <a:gd name="T12" fmla="*/ 0 w 29"/>
              <a:gd name="T13" fmla="*/ 96956 h 23"/>
              <a:gd name="T14" fmla="*/ 0 w 29"/>
              <a:gd name="T15" fmla="*/ 90492 h 23"/>
              <a:gd name="T16" fmla="*/ 52804 w 29"/>
              <a:gd name="T17" fmla="*/ 64637 h 2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"/>
              <a:gd name="T28" fmla="*/ 0 h 23"/>
              <a:gd name="T29" fmla="*/ 29 w 29"/>
              <a:gd name="T30" fmla="*/ 23 h 2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" h="23">
                <a:moveTo>
                  <a:pt x="9" y="10"/>
                </a:move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9" y="12"/>
                  <a:pt x="19" y="12"/>
                  <a:pt x="19" y="12"/>
                </a:cubicBezTo>
                <a:cubicBezTo>
                  <a:pt x="22" y="16"/>
                  <a:pt x="26" y="19"/>
                  <a:pt x="29" y="23"/>
                </a:cubicBezTo>
                <a:cubicBezTo>
                  <a:pt x="25" y="21"/>
                  <a:pt x="20" y="19"/>
                  <a:pt x="15" y="17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4"/>
                  <a:pt x="0" y="14"/>
                  <a:pt x="0" y="14"/>
                </a:cubicBezTo>
                <a:lnTo>
                  <a:pt x="9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82" name="Freeform 100"/>
          <p:cNvSpPr>
            <a:spLocks/>
          </p:cNvSpPr>
          <p:nvPr/>
        </p:nvSpPr>
        <p:spPr bwMode="auto">
          <a:xfrm>
            <a:off x="4657725" y="4252913"/>
            <a:ext cx="176213" cy="149225"/>
          </a:xfrm>
          <a:custGeom>
            <a:avLst/>
            <a:gdLst>
              <a:gd name="T0" fmla="*/ 58359 w 30"/>
              <a:gd name="T1" fmla="*/ 64637 h 23"/>
              <a:gd name="T2" fmla="*/ 58359 w 30"/>
              <a:gd name="T3" fmla="*/ 0 h 23"/>
              <a:gd name="T4" fmla="*/ 58359 w 30"/>
              <a:gd name="T5" fmla="*/ 0 h 23"/>
              <a:gd name="T6" fmla="*/ 110882 w 30"/>
              <a:gd name="T7" fmla="*/ 77565 h 23"/>
              <a:gd name="T8" fmla="*/ 175077 w 30"/>
              <a:gd name="T9" fmla="*/ 148666 h 23"/>
              <a:gd name="T10" fmla="*/ 93374 w 30"/>
              <a:gd name="T11" fmla="*/ 116347 h 23"/>
              <a:gd name="T12" fmla="*/ 5836 w 30"/>
              <a:gd name="T13" fmla="*/ 96956 h 23"/>
              <a:gd name="T14" fmla="*/ 0 w 30"/>
              <a:gd name="T15" fmla="*/ 96956 h 23"/>
              <a:gd name="T16" fmla="*/ 58359 w 30"/>
              <a:gd name="T17" fmla="*/ 64637 h 2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23"/>
              <a:gd name="T29" fmla="*/ 30 w 30"/>
              <a:gd name="T30" fmla="*/ 23 h 2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23">
                <a:moveTo>
                  <a:pt x="10" y="10"/>
                </a:moveTo>
                <a:cubicBezTo>
                  <a:pt x="10" y="0"/>
                  <a:pt x="10" y="0"/>
                  <a:pt x="10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9" y="12"/>
                  <a:pt x="19" y="12"/>
                  <a:pt x="19" y="12"/>
                </a:cubicBezTo>
                <a:cubicBezTo>
                  <a:pt x="23" y="16"/>
                  <a:pt x="26" y="19"/>
                  <a:pt x="30" y="23"/>
                </a:cubicBezTo>
                <a:cubicBezTo>
                  <a:pt x="25" y="21"/>
                  <a:pt x="20" y="20"/>
                  <a:pt x="16" y="18"/>
                </a:cubicBezTo>
                <a:cubicBezTo>
                  <a:pt x="1" y="15"/>
                  <a:pt x="1" y="15"/>
                  <a:pt x="1" y="15"/>
                </a:cubicBezTo>
                <a:cubicBezTo>
                  <a:pt x="0" y="15"/>
                  <a:pt x="0" y="15"/>
                  <a:pt x="0" y="15"/>
                </a:cubicBezTo>
                <a:lnTo>
                  <a:pt x="10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83" name="Freeform 101"/>
          <p:cNvSpPr>
            <a:spLocks/>
          </p:cNvSpPr>
          <p:nvPr/>
        </p:nvSpPr>
        <p:spPr bwMode="auto">
          <a:xfrm>
            <a:off x="4419600" y="4076700"/>
            <a:ext cx="169863" cy="150813"/>
          </a:xfrm>
          <a:custGeom>
            <a:avLst/>
            <a:gdLst>
              <a:gd name="T0" fmla="*/ 52804 w 29"/>
              <a:gd name="T1" fmla="*/ 72417 h 23"/>
              <a:gd name="T2" fmla="*/ 52804 w 29"/>
              <a:gd name="T3" fmla="*/ 0 h 23"/>
              <a:gd name="T4" fmla="*/ 58671 w 29"/>
              <a:gd name="T5" fmla="*/ 0 h 23"/>
              <a:gd name="T6" fmla="*/ 105607 w 29"/>
              <a:gd name="T7" fmla="*/ 85584 h 23"/>
              <a:gd name="T8" fmla="*/ 170145 w 29"/>
              <a:gd name="T9" fmla="*/ 151418 h 23"/>
              <a:gd name="T10" fmla="*/ 88006 w 29"/>
              <a:gd name="T11" fmla="*/ 118501 h 23"/>
              <a:gd name="T12" fmla="*/ 0 w 29"/>
              <a:gd name="T13" fmla="*/ 98751 h 23"/>
              <a:gd name="T14" fmla="*/ 0 w 29"/>
              <a:gd name="T15" fmla="*/ 98751 h 23"/>
              <a:gd name="T16" fmla="*/ 52804 w 29"/>
              <a:gd name="T17" fmla="*/ 72417 h 2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"/>
              <a:gd name="T28" fmla="*/ 0 h 23"/>
              <a:gd name="T29" fmla="*/ 29 w 29"/>
              <a:gd name="T30" fmla="*/ 23 h 2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" h="23">
                <a:moveTo>
                  <a:pt x="9" y="11"/>
                </a:moveTo>
                <a:cubicBezTo>
                  <a:pt x="9" y="0"/>
                  <a:pt x="9" y="0"/>
                  <a:pt x="9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8" y="13"/>
                  <a:pt x="18" y="13"/>
                  <a:pt x="18" y="13"/>
                </a:cubicBezTo>
                <a:cubicBezTo>
                  <a:pt x="22" y="16"/>
                  <a:pt x="26" y="20"/>
                  <a:pt x="29" y="23"/>
                </a:cubicBezTo>
                <a:cubicBezTo>
                  <a:pt x="24" y="22"/>
                  <a:pt x="20" y="20"/>
                  <a:pt x="15" y="18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5"/>
                  <a:pt x="0" y="15"/>
                  <a:pt x="0" y="15"/>
                </a:cubicBezTo>
                <a:lnTo>
                  <a:pt x="9" y="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84" name="Freeform 102"/>
          <p:cNvSpPr>
            <a:spLocks/>
          </p:cNvSpPr>
          <p:nvPr/>
        </p:nvSpPr>
        <p:spPr bwMode="auto">
          <a:xfrm>
            <a:off x="4175125" y="3908425"/>
            <a:ext cx="174625" cy="149225"/>
          </a:xfrm>
          <a:custGeom>
            <a:avLst/>
            <a:gdLst>
              <a:gd name="T0" fmla="*/ 52523 w 30"/>
              <a:gd name="T1" fmla="*/ 64637 h 23"/>
              <a:gd name="T2" fmla="*/ 58359 w 30"/>
              <a:gd name="T3" fmla="*/ 0 h 23"/>
              <a:gd name="T4" fmla="*/ 58359 w 30"/>
              <a:gd name="T5" fmla="*/ 0 h 23"/>
              <a:gd name="T6" fmla="*/ 110882 w 30"/>
              <a:gd name="T7" fmla="*/ 77565 h 23"/>
              <a:gd name="T8" fmla="*/ 175077 w 30"/>
              <a:gd name="T9" fmla="*/ 148666 h 23"/>
              <a:gd name="T10" fmla="*/ 87539 w 30"/>
              <a:gd name="T11" fmla="*/ 116347 h 23"/>
              <a:gd name="T12" fmla="*/ 0 w 30"/>
              <a:gd name="T13" fmla="*/ 96956 h 23"/>
              <a:gd name="T14" fmla="*/ 0 w 30"/>
              <a:gd name="T15" fmla="*/ 90492 h 23"/>
              <a:gd name="T16" fmla="*/ 52523 w 30"/>
              <a:gd name="T17" fmla="*/ 64637 h 2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23"/>
              <a:gd name="T29" fmla="*/ 30 w 30"/>
              <a:gd name="T30" fmla="*/ 23 h 2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23">
                <a:moveTo>
                  <a:pt x="9" y="10"/>
                </a:moveTo>
                <a:cubicBezTo>
                  <a:pt x="10" y="0"/>
                  <a:pt x="10" y="0"/>
                  <a:pt x="10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19" y="12"/>
                  <a:pt x="19" y="12"/>
                  <a:pt x="19" y="12"/>
                </a:cubicBezTo>
                <a:cubicBezTo>
                  <a:pt x="22" y="16"/>
                  <a:pt x="26" y="19"/>
                  <a:pt x="30" y="23"/>
                </a:cubicBezTo>
                <a:cubicBezTo>
                  <a:pt x="25" y="21"/>
                  <a:pt x="20" y="19"/>
                  <a:pt x="15" y="18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4"/>
                  <a:pt x="0" y="14"/>
                  <a:pt x="0" y="14"/>
                </a:cubicBezTo>
                <a:lnTo>
                  <a:pt x="9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85" name="Rectangle 25"/>
          <p:cNvSpPr>
            <a:spLocks noChangeArrowheads="1"/>
          </p:cNvSpPr>
          <p:nvPr/>
        </p:nvSpPr>
        <p:spPr bwMode="auto">
          <a:xfrm>
            <a:off x="5867400" y="3505200"/>
            <a:ext cx="218598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 movement down the AD curve leads to a lower aggregate price level and higher aggregate output.</a:t>
            </a:r>
          </a:p>
        </p:txBody>
      </p:sp>
      <p:sp>
        <p:nvSpPr>
          <p:cNvPr id="527386" name="Rectangle 83"/>
          <p:cNvSpPr>
            <a:spLocks noChangeArrowheads="1"/>
          </p:cNvSpPr>
          <p:nvPr/>
        </p:nvSpPr>
        <p:spPr bwMode="auto">
          <a:xfrm>
            <a:off x="5186363" y="6237288"/>
            <a:ext cx="5756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1,000</a:t>
            </a:r>
            <a:endParaRPr lang="en-US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7387" name="Oval 95"/>
          <p:cNvSpPr>
            <a:spLocks noChangeArrowheads="1"/>
          </p:cNvSpPr>
          <p:nvPr/>
        </p:nvSpPr>
        <p:spPr bwMode="auto">
          <a:xfrm>
            <a:off x="5286375" y="4878388"/>
            <a:ext cx="119063" cy="128587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grpSp>
        <p:nvGrpSpPr>
          <p:cNvPr id="527388" name="Group 28"/>
          <p:cNvGrpSpPr>
            <a:grpSpLocks/>
          </p:cNvGrpSpPr>
          <p:nvPr/>
        </p:nvGrpSpPr>
        <p:grpSpPr bwMode="auto">
          <a:xfrm>
            <a:off x="914400" y="4129086"/>
            <a:ext cx="488950" cy="920749"/>
            <a:chOff x="1246" y="1950"/>
            <a:chExt cx="308" cy="580"/>
          </a:xfrm>
        </p:grpSpPr>
        <p:sp>
          <p:nvSpPr>
            <p:cNvPr id="527389" name="Rectangle 6"/>
            <p:cNvSpPr>
              <a:spLocks noChangeArrowheads="1"/>
            </p:cNvSpPr>
            <p:nvPr/>
          </p:nvSpPr>
          <p:spPr bwMode="auto">
            <a:xfrm>
              <a:off x="1246" y="2356"/>
              <a:ext cx="20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dirty="0">
                  <a:solidFill>
                    <a:srgbClr val="000000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4.2</a:t>
              </a:r>
              <a:endParaRPr lang="en-US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sp>
          <p:nvSpPr>
            <p:cNvPr id="527390" name="Line 89"/>
            <p:cNvSpPr>
              <a:spLocks noChangeShapeType="1"/>
            </p:cNvSpPr>
            <p:nvPr/>
          </p:nvSpPr>
          <p:spPr bwMode="auto">
            <a:xfrm>
              <a:off x="1465" y="2462"/>
              <a:ext cx="89" cy="1"/>
            </a:xfrm>
            <a:prstGeom prst="line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entury Gothic"/>
                <a:cs typeface="Century Gothic"/>
              </a:endParaRPr>
            </a:p>
          </p:txBody>
        </p:sp>
        <p:sp>
          <p:nvSpPr>
            <p:cNvPr id="527391" name="Line 103"/>
            <p:cNvSpPr>
              <a:spLocks noChangeShapeType="1"/>
            </p:cNvSpPr>
            <p:nvPr/>
          </p:nvSpPr>
          <p:spPr bwMode="auto">
            <a:xfrm>
              <a:off x="1319" y="1950"/>
              <a:ext cx="2" cy="35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entury Gothic"/>
                <a:cs typeface="Century Gothic"/>
              </a:endParaRPr>
            </a:p>
          </p:txBody>
        </p:sp>
        <p:sp>
          <p:nvSpPr>
            <p:cNvPr id="527392" name="Freeform 104"/>
            <p:cNvSpPr>
              <a:spLocks/>
            </p:cNvSpPr>
            <p:nvPr/>
          </p:nvSpPr>
          <p:spPr bwMode="auto">
            <a:xfrm>
              <a:off x="1298" y="2283"/>
              <a:ext cx="40" cy="73"/>
            </a:xfrm>
            <a:custGeom>
              <a:avLst/>
              <a:gdLst>
                <a:gd name="T0" fmla="*/ 34971 w 11"/>
                <a:gd name="T1" fmla="*/ 19272 h 18"/>
                <a:gd name="T2" fmla="*/ 64113 w 11"/>
                <a:gd name="T3" fmla="*/ 0 h 18"/>
                <a:gd name="T4" fmla="*/ 64113 w 11"/>
                <a:gd name="T5" fmla="*/ 0 h 18"/>
                <a:gd name="T6" fmla="*/ 46628 w 11"/>
                <a:gd name="T7" fmla="*/ 57815 h 18"/>
                <a:gd name="T8" fmla="*/ 34971 w 11"/>
                <a:gd name="T9" fmla="*/ 115629 h 18"/>
                <a:gd name="T10" fmla="*/ 23314 w 11"/>
                <a:gd name="T11" fmla="*/ 57815 h 18"/>
                <a:gd name="T12" fmla="*/ 0 w 11"/>
                <a:gd name="T13" fmla="*/ 0 h 18"/>
                <a:gd name="T14" fmla="*/ 0 w 11"/>
                <a:gd name="T15" fmla="*/ 0 h 18"/>
                <a:gd name="T16" fmla="*/ 34971 w 11"/>
                <a:gd name="T17" fmla="*/ 19272 h 1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"/>
                <a:gd name="T28" fmla="*/ 0 h 18"/>
                <a:gd name="T29" fmla="*/ 11 w 11"/>
                <a:gd name="T30" fmla="*/ 18 h 1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" h="18">
                  <a:moveTo>
                    <a:pt x="6" y="3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7" y="12"/>
                    <a:pt x="6" y="15"/>
                    <a:pt x="6" y="18"/>
                  </a:cubicBezTo>
                  <a:cubicBezTo>
                    <a:pt x="5" y="15"/>
                    <a:pt x="4" y="12"/>
                    <a:pt x="4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en-US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</p:grpSp>
      <p:sp>
        <p:nvSpPr>
          <p:cNvPr id="527393" name="Line 105"/>
          <p:cNvSpPr>
            <a:spLocks noChangeShapeType="1"/>
          </p:cNvSpPr>
          <p:nvPr/>
        </p:nvSpPr>
        <p:spPr bwMode="auto">
          <a:xfrm>
            <a:off x="4270375" y="6367463"/>
            <a:ext cx="838200" cy="3175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7394" name="Line 34"/>
          <p:cNvSpPr>
            <a:spLocks noChangeShapeType="1"/>
          </p:cNvSpPr>
          <p:nvPr/>
        </p:nvSpPr>
        <p:spPr bwMode="auto">
          <a:xfrm>
            <a:off x="5337175" y="5072063"/>
            <a:ext cx="0" cy="9620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7395" name="Line 35"/>
          <p:cNvSpPr>
            <a:spLocks noChangeShapeType="1"/>
          </p:cNvSpPr>
          <p:nvPr/>
        </p:nvSpPr>
        <p:spPr bwMode="auto">
          <a:xfrm flipH="1" flipV="1">
            <a:off x="1382713" y="4943475"/>
            <a:ext cx="3886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7396" name="Rectangle 36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pc="0" dirty="0"/>
              <a:t>THE AGGREGATE DEMAND CURVE</a:t>
            </a:r>
          </a:p>
        </p:txBody>
      </p:sp>
      <p:sp>
        <p:nvSpPr>
          <p:cNvPr id="38" name="Rectangle 3"/>
          <p:cNvSpPr>
            <a:spLocks noGrp="1" noChangeArrowheads="1"/>
          </p:cNvSpPr>
          <p:nvPr>
            <p:ph idx="1"/>
          </p:nvPr>
        </p:nvSpPr>
        <p:spPr>
          <a:xfrm>
            <a:off x="2362200" y="990600"/>
            <a:ext cx="6705600" cy="1981200"/>
          </a:xfrm>
        </p:spPr>
        <p:txBody>
          <a:bodyPr>
            <a:normAutofit/>
          </a:bodyPr>
          <a:lstStyle/>
          <a:p>
            <a:r>
              <a:rPr lang="en-US" sz="2400" b="1" i="1" dirty="0">
                <a:solidFill>
                  <a:srgbClr val="990033"/>
                </a:solidFill>
              </a:rPr>
              <a:t>Aggregate demand curve: </a:t>
            </a:r>
            <a:r>
              <a:rPr lang="en-US" sz="2400" dirty="0"/>
              <a:t>the relationship between the </a:t>
            </a:r>
            <a:r>
              <a:rPr lang="en-US" sz="2400" dirty="0">
                <a:solidFill>
                  <a:srgbClr val="0070C0"/>
                </a:solidFill>
              </a:rPr>
              <a:t>aggregate price level </a:t>
            </a:r>
            <a:r>
              <a:rPr lang="en-US" sz="2400" dirty="0"/>
              <a:t>and the </a:t>
            </a:r>
            <a:r>
              <a:rPr lang="en-US" sz="2400" dirty="0">
                <a:solidFill>
                  <a:srgbClr val="0070C0"/>
                </a:solidFill>
              </a:rPr>
              <a:t>quantity of aggregate output </a:t>
            </a:r>
            <a:r>
              <a:rPr lang="en-US" sz="2400" dirty="0"/>
              <a:t>demanded by households, businesses, the government, and the rest of the world.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918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7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7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7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27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2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7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2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2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2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2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2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2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2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2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2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2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27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2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2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362" grpId="0"/>
      <p:bldP spid="527363" grpId="0"/>
      <p:bldP spid="527364" grpId="0"/>
      <p:bldP spid="527365" grpId="0"/>
      <p:bldP spid="527366" grpId="0" animBg="1"/>
      <p:bldP spid="527367" grpId="0" animBg="1"/>
      <p:bldP spid="527368" grpId="0" animBg="1"/>
      <p:bldP spid="527369" grpId="0" animBg="1"/>
      <p:bldP spid="527370" grpId="0" animBg="1"/>
      <p:bldP spid="527371" grpId="0" animBg="1"/>
      <p:bldP spid="527372" grpId="0"/>
      <p:bldP spid="527373" grpId="0"/>
      <p:bldP spid="527374" grpId="0"/>
      <p:bldP spid="527375" grpId="0" animBg="1"/>
      <p:bldP spid="527376" grpId="0" animBg="1"/>
      <p:bldP spid="527377" grpId="0" animBg="1"/>
      <p:bldP spid="527378" grpId="0" animBg="1"/>
      <p:bldP spid="527379" grpId="0" animBg="1"/>
      <p:bldP spid="527380" grpId="0" animBg="1"/>
      <p:bldP spid="527381" grpId="0" animBg="1"/>
      <p:bldP spid="527382" grpId="0" animBg="1"/>
      <p:bldP spid="527383" grpId="0" animBg="1"/>
      <p:bldP spid="527384" grpId="0" animBg="1"/>
      <p:bldP spid="527385" grpId="0"/>
      <p:bldP spid="527386" grpId="0"/>
      <p:bldP spid="527387" grpId="0" animBg="1"/>
      <p:bldP spid="527393" grpId="0" animBg="1"/>
      <p:bldP spid="527394" grpId="0" animBg="1"/>
      <p:bldP spid="527395" grpId="0" animBg="1"/>
      <p:bldP spid="3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US" sz="4000" spc="0" dirty="0"/>
              <a:t>THE SHAPE OF THE AGGREGATE DEMAND CURVE</a:t>
            </a:r>
          </a:p>
        </p:txBody>
      </p:sp>
      <p:sp>
        <p:nvSpPr>
          <p:cNvPr id="497667" name="Rectangle 3"/>
          <p:cNvSpPr>
            <a:spLocks noGrp="1" noChangeArrowheads="1"/>
          </p:cNvSpPr>
          <p:nvPr>
            <p:ph idx="1"/>
          </p:nvPr>
        </p:nvSpPr>
        <p:spPr>
          <a:xfrm>
            <a:off x="32709" y="1143000"/>
            <a:ext cx="8839200" cy="5562600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48"/>
              </a:spcBef>
              <a:spcAft>
                <a:spcPts val="1200"/>
              </a:spcAft>
            </a:pPr>
            <a:r>
              <a:rPr lang="en-US" dirty="0"/>
              <a:t>Recall: </a:t>
            </a:r>
            <a:r>
              <a:rPr lang="pl-PL" dirty="0">
                <a:solidFill>
                  <a:srgbClr val="990033"/>
                </a:solidFill>
              </a:rPr>
              <a:t>GDP = </a:t>
            </a:r>
            <a:r>
              <a:rPr lang="pl-PL" i="1" dirty="0">
                <a:solidFill>
                  <a:srgbClr val="990033"/>
                </a:solidFill>
              </a:rPr>
              <a:t>C </a:t>
            </a:r>
            <a:r>
              <a:rPr lang="pl-PL" dirty="0">
                <a:solidFill>
                  <a:srgbClr val="990033"/>
                </a:solidFill>
              </a:rPr>
              <a:t>+ </a:t>
            </a:r>
            <a:r>
              <a:rPr lang="pl-PL" i="1" dirty="0">
                <a:solidFill>
                  <a:srgbClr val="990033"/>
                </a:solidFill>
              </a:rPr>
              <a:t>I </a:t>
            </a:r>
            <a:r>
              <a:rPr lang="pl-PL" dirty="0">
                <a:solidFill>
                  <a:srgbClr val="990033"/>
                </a:solidFill>
              </a:rPr>
              <a:t>+ </a:t>
            </a:r>
            <a:r>
              <a:rPr lang="pl-PL" i="1" dirty="0">
                <a:solidFill>
                  <a:srgbClr val="990033"/>
                </a:solidFill>
              </a:rPr>
              <a:t>G </a:t>
            </a:r>
            <a:r>
              <a:rPr lang="pl-PL" dirty="0">
                <a:solidFill>
                  <a:srgbClr val="990033"/>
                </a:solidFill>
              </a:rPr>
              <a:t>+ </a:t>
            </a:r>
            <a:r>
              <a:rPr lang="pl-PL" i="1" dirty="0">
                <a:solidFill>
                  <a:srgbClr val="990033"/>
                </a:solidFill>
              </a:rPr>
              <a:t>X </a:t>
            </a:r>
            <a:r>
              <a:rPr lang="pl-PL" dirty="0">
                <a:solidFill>
                  <a:srgbClr val="990033"/>
                </a:solidFill>
              </a:rPr>
              <a:t>− </a:t>
            </a:r>
            <a:r>
              <a:rPr lang="pl-PL" i="1" dirty="0">
                <a:solidFill>
                  <a:srgbClr val="990033"/>
                </a:solidFill>
              </a:rPr>
              <a:t>IM</a:t>
            </a:r>
            <a:endParaRPr lang="en-US" dirty="0">
              <a:solidFill>
                <a:srgbClr val="990033"/>
              </a:solidFill>
            </a:endParaRPr>
          </a:p>
          <a:p>
            <a:pPr>
              <a:spcBef>
                <a:spcPts val="48"/>
              </a:spcBef>
              <a:spcAft>
                <a:spcPts val="1200"/>
              </a:spcAft>
            </a:pPr>
            <a:r>
              <a:rPr lang="en-US" dirty="0">
                <a:solidFill>
                  <a:srgbClr val="0070C0"/>
                </a:solidFill>
              </a:rPr>
              <a:t>Why does a rise in the aggregate price level </a:t>
            </a:r>
            <a:r>
              <a:rPr lang="en-US" i="1" dirty="0">
                <a:solidFill>
                  <a:srgbClr val="0070C0"/>
                </a:solidFill>
              </a:rPr>
              <a:t>reduce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rgbClr val="990033"/>
                </a:solidFill>
              </a:rPr>
              <a:t>C, I, </a:t>
            </a:r>
            <a:r>
              <a:rPr lang="en-US" dirty="0">
                <a:solidFill>
                  <a:srgbClr val="990033"/>
                </a:solidFill>
              </a:rPr>
              <a:t>and </a:t>
            </a:r>
            <a:r>
              <a:rPr lang="en-US" i="1" dirty="0">
                <a:solidFill>
                  <a:srgbClr val="990033"/>
                </a:solidFill>
              </a:rPr>
              <a:t>X </a:t>
            </a:r>
            <a:r>
              <a:rPr lang="en-US" dirty="0">
                <a:solidFill>
                  <a:srgbClr val="990033"/>
                </a:solidFill>
              </a:rPr>
              <a:t>− </a:t>
            </a:r>
            <a:r>
              <a:rPr lang="en-US" i="1" dirty="0">
                <a:solidFill>
                  <a:srgbClr val="990033"/>
                </a:solidFill>
              </a:rPr>
              <a:t>IM? </a:t>
            </a:r>
          </a:p>
          <a:p>
            <a:pPr>
              <a:spcBef>
                <a:spcPts val="48"/>
              </a:spcBef>
              <a:spcAft>
                <a:spcPts val="1200"/>
              </a:spcAft>
            </a:pPr>
            <a:r>
              <a:rPr lang="en-US" i="1" dirty="0"/>
              <a:t>(Why does the </a:t>
            </a:r>
            <a:r>
              <a:rPr lang="en-US" dirty="0"/>
              <a:t>AD</a:t>
            </a:r>
            <a:r>
              <a:rPr lang="en-US" i="1" dirty="0"/>
              <a:t> curve slope downward?)</a:t>
            </a:r>
          </a:p>
          <a:p>
            <a:pPr>
              <a:spcBef>
                <a:spcPts val="48"/>
              </a:spcBef>
              <a:spcAft>
                <a:spcPts val="1200"/>
              </a:spcAft>
            </a:pPr>
            <a:r>
              <a:rPr lang="en-US" dirty="0"/>
              <a:t>Two reasons: </a:t>
            </a:r>
          </a:p>
          <a:p>
            <a:pPr marL="971550" lvl="1" indent="-514350">
              <a:spcBef>
                <a:spcPts val="48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i="1" dirty="0">
                <a:solidFill>
                  <a:srgbClr val="990033"/>
                </a:solidFill>
              </a:rPr>
              <a:t>The w</a:t>
            </a:r>
            <a:r>
              <a:rPr lang="en-US" b="1" i="1" dirty="0">
                <a:solidFill>
                  <a:srgbClr val="990033"/>
                </a:solidFill>
              </a:rPr>
              <a:t>ealth effect: </a:t>
            </a:r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higher aggregate price level reduces the purchasing power</a:t>
            </a:r>
            <a:r>
              <a:rPr lang="en-US" dirty="0"/>
              <a:t> of households’ wealth and reduces consumer spending. </a:t>
            </a:r>
          </a:p>
          <a:p>
            <a:pPr marL="971550" lvl="1" indent="-514350">
              <a:spcBef>
                <a:spcPts val="48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i="1" dirty="0">
                <a:solidFill>
                  <a:srgbClr val="990033"/>
                </a:solidFill>
              </a:rPr>
              <a:t>The interest rate effect: </a:t>
            </a:r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higher aggregate price level</a:t>
            </a:r>
            <a:r>
              <a:rPr lang="en-US" dirty="0"/>
              <a:t> makes households hold more money and  </a:t>
            </a:r>
            <a:r>
              <a:rPr lang="en-US" dirty="0">
                <a:solidFill>
                  <a:srgbClr val="0070C0"/>
                </a:solidFill>
              </a:rPr>
              <a:t>leads to a rise in interest rates </a:t>
            </a:r>
            <a:r>
              <a:rPr lang="en-US" dirty="0"/>
              <a:t>(and a fall in investment spending and consumer spending).</a:t>
            </a:r>
          </a:p>
          <a:p>
            <a:pPr>
              <a:spcBef>
                <a:spcPts val="48"/>
              </a:spcBef>
              <a:spcAft>
                <a:spcPts val="12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29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7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7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7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7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7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97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26" name="Line 18"/>
          <p:cNvSpPr>
            <a:spLocks noChangeShapeType="1"/>
          </p:cNvSpPr>
          <p:nvPr/>
        </p:nvSpPr>
        <p:spPr bwMode="auto">
          <a:xfrm flipV="1">
            <a:off x="1143000" y="1566446"/>
            <a:ext cx="5638800" cy="48768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9411" name="Rectangle 20"/>
          <p:cNvSpPr>
            <a:spLocks noChangeArrowheads="1"/>
          </p:cNvSpPr>
          <p:nvPr/>
        </p:nvSpPr>
        <p:spPr bwMode="auto">
          <a:xfrm>
            <a:off x="3317875" y="6514684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9413" name="Rectangle 24"/>
          <p:cNvSpPr>
            <a:spLocks noChangeArrowheads="1"/>
          </p:cNvSpPr>
          <p:nvPr/>
        </p:nvSpPr>
        <p:spPr bwMode="auto">
          <a:xfrm>
            <a:off x="3087688" y="4073109"/>
            <a:ext cx="214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9415" name="Line 30"/>
          <p:cNvSpPr>
            <a:spLocks noChangeShapeType="1"/>
          </p:cNvSpPr>
          <p:nvPr/>
        </p:nvSpPr>
        <p:spPr bwMode="auto">
          <a:xfrm flipV="1">
            <a:off x="3427413" y="6319421"/>
            <a:ext cx="3175" cy="1619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9416" name="Rectangle 38"/>
          <p:cNvSpPr>
            <a:spLocks noChangeArrowheads="1"/>
          </p:cNvSpPr>
          <p:nvPr/>
        </p:nvSpPr>
        <p:spPr bwMode="auto">
          <a:xfrm>
            <a:off x="39688" y="4893846"/>
            <a:ext cx="8441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9418" name="Rectangle 45"/>
          <p:cNvSpPr>
            <a:spLocks noChangeArrowheads="1"/>
          </p:cNvSpPr>
          <p:nvPr/>
        </p:nvSpPr>
        <p:spPr bwMode="auto">
          <a:xfrm>
            <a:off x="6713538" y="3250784"/>
            <a:ext cx="91991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Planned1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9421" name="Line 49"/>
          <p:cNvSpPr>
            <a:spLocks noChangeShapeType="1"/>
          </p:cNvSpPr>
          <p:nvPr/>
        </p:nvSpPr>
        <p:spPr bwMode="auto">
          <a:xfrm flipV="1">
            <a:off x="1127125" y="3487321"/>
            <a:ext cx="5497513" cy="1624013"/>
          </a:xfrm>
          <a:prstGeom prst="line">
            <a:avLst/>
          </a:prstGeom>
          <a:noFill/>
          <a:ln w="38100">
            <a:solidFill>
              <a:srgbClr val="F371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9422" name="Oval 52"/>
          <p:cNvSpPr>
            <a:spLocks noChangeArrowheads="1"/>
          </p:cNvSpPr>
          <p:nvPr/>
        </p:nvSpPr>
        <p:spPr bwMode="auto">
          <a:xfrm>
            <a:off x="3363913" y="4373146"/>
            <a:ext cx="155575" cy="13335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9423" name="Freeform 53"/>
          <p:cNvSpPr>
            <a:spLocks/>
          </p:cNvSpPr>
          <p:nvPr/>
        </p:nvSpPr>
        <p:spPr bwMode="auto">
          <a:xfrm>
            <a:off x="1143000" y="1752600"/>
            <a:ext cx="7061200" cy="4728746"/>
          </a:xfrm>
          <a:custGeom>
            <a:avLst/>
            <a:gdLst>
              <a:gd name="T0" fmla="*/ 0 w 2140"/>
              <a:gd name="T1" fmla="*/ 0 h 1933"/>
              <a:gd name="T2" fmla="*/ 0 w 2140"/>
              <a:gd name="T3" fmla="*/ 5489706 h 1933"/>
              <a:gd name="T4" fmla="*/ 7060324 w 2140"/>
              <a:gd name="T5" fmla="*/ 5489706 h 1933"/>
              <a:gd name="T6" fmla="*/ 0 60000 65536"/>
              <a:gd name="T7" fmla="*/ 0 60000 65536"/>
              <a:gd name="T8" fmla="*/ 0 60000 65536"/>
              <a:gd name="T9" fmla="*/ 0 w 2140"/>
              <a:gd name="T10" fmla="*/ 0 h 1933"/>
              <a:gd name="T11" fmla="*/ 2140 w 2140"/>
              <a:gd name="T12" fmla="*/ 1933 h 19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0" h="1933">
                <a:moveTo>
                  <a:pt x="0" y="0"/>
                </a:moveTo>
                <a:lnTo>
                  <a:pt x="0" y="1933"/>
                </a:lnTo>
                <a:lnTo>
                  <a:pt x="2140" y="1933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9424" name="Rectangle 16"/>
          <p:cNvSpPr>
            <a:spLocks noChangeArrowheads="1"/>
          </p:cNvSpPr>
          <p:nvPr/>
        </p:nvSpPr>
        <p:spPr bwMode="auto">
          <a:xfrm>
            <a:off x="0" y="1150203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spending</a:t>
            </a:r>
          </a:p>
        </p:txBody>
      </p:sp>
      <p:sp>
        <p:nvSpPr>
          <p:cNvPr id="529425" name="Rectangle 17"/>
          <p:cNvSpPr>
            <a:spLocks noChangeArrowheads="1"/>
          </p:cNvSpPr>
          <p:nvPr/>
        </p:nvSpPr>
        <p:spPr bwMode="auto">
          <a:xfrm>
            <a:off x="6516687" y="1219200"/>
            <a:ext cx="17963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45-degree line</a:t>
            </a:r>
          </a:p>
        </p:txBody>
      </p:sp>
      <p:sp>
        <p:nvSpPr>
          <p:cNvPr id="529427" name="Rectangle 19"/>
          <p:cNvSpPr>
            <a:spLocks noChangeArrowheads="1"/>
          </p:cNvSpPr>
          <p:nvPr/>
        </p:nvSpPr>
        <p:spPr bwMode="auto">
          <a:xfrm>
            <a:off x="7086600" y="6595646"/>
            <a:ext cx="1295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29428" name="Rectangle 22"/>
          <p:cNvSpPr>
            <a:spLocks noChangeArrowheads="1"/>
          </p:cNvSpPr>
          <p:nvPr/>
        </p:nvSpPr>
        <p:spPr bwMode="auto">
          <a:xfrm>
            <a:off x="5753100" y="6535321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9430" name="Line 31"/>
          <p:cNvSpPr>
            <a:spLocks noChangeShapeType="1"/>
          </p:cNvSpPr>
          <p:nvPr/>
        </p:nvSpPr>
        <p:spPr bwMode="auto">
          <a:xfrm flipV="1">
            <a:off x="5816599" y="6319421"/>
            <a:ext cx="3175" cy="16192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9431" name="Rectangle 26"/>
          <p:cNvSpPr>
            <a:spLocks noChangeArrowheads="1"/>
          </p:cNvSpPr>
          <p:nvPr/>
        </p:nvSpPr>
        <p:spPr bwMode="auto">
          <a:xfrm>
            <a:off x="5492750" y="2047459"/>
            <a:ext cx="214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9433" name="Line 28"/>
          <p:cNvSpPr>
            <a:spLocks noChangeShapeType="1"/>
          </p:cNvSpPr>
          <p:nvPr/>
        </p:nvSpPr>
        <p:spPr bwMode="auto">
          <a:xfrm flipV="1">
            <a:off x="1846263" y="3836571"/>
            <a:ext cx="3175" cy="925513"/>
          </a:xfrm>
          <a:prstGeom prst="line">
            <a:avLst/>
          </a:prstGeom>
          <a:noFill/>
          <a:ln w="41275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9434" name="Rectangle 32"/>
          <p:cNvSpPr>
            <a:spLocks noChangeArrowheads="1"/>
          </p:cNvSpPr>
          <p:nvPr/>
        </p:nvSpPr>
        <p:spPr bwMode="auto">
          <a:xfrm>
            <a:off x="6673850" y="1961734"/>
            <a:ext cx="91991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Planned2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9436" name="Rectangle 35"/>
          <p:cNvSpPr>
            <a:spLocks noChangeArrowheads="1"/>
          </p:cNvSpPr>
          <p:nvPr/>
        </p:nvSpPr>
        <p:spPr bwMode="auto">
          <a:xfrm>
            <a:off x="39688" y="3552409"/>
            <a:ext cx="84410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9439" name="Line 50"/>
          <p:cNvSpPr>
            <a:spLocks noChangeShapeType="1"/>
          </p:cNvSpPr>
          <p:nvPr/>
        </p:nvSpPr>
        <p:spPr bwMode="auto">
          <a:xfrm flipV="1">
            <a:off x="1127125" y="2191921"/>
            <a:ext cx="5470525" cy="1582738"/>
          </a:xfrm>
          <a:prstGeom prst="line">
            <a:avLst/>
          </a:prstGeom>
          <a:noFill/>
          <a:ln w="38100">
            <a:solidFill>
              <a:srgbClr val="9F21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9440" name="Oval 51"/>
          <p:cNvSpPr>
            <a:spLocks noChangeArrowheads="1"/>
          </p:cNvSpPr>
          <p:nvPr/>
        </p:nvSpPr>
        <p:spPr bwMode="auto">
          <a:xfrm>
            <a:off x="5749925" y="2339559"/>
            <a:ext cx="153988" cy="13335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29441" name="Line 54"/>
          <p:cNvSpPr>
            <a:spLocks noChangeShapeType="1"/>
          </p:cNvSpPr>
          <p:nvPr/>
        </p:nvSpPr>
        <p:spPr bwMode="auto">
          <a:xfrm>
            <a:off x="3632200" y="6659146"/>
            <a:ext cx="1962150" cy="3175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9442" name="Line 34"/>
          <p:cNvSpPr>
            <a:spLocks noChangeShapeType="1"/>
          </p:cNvSpPr>
          <p:nvPr/>
        </p:nvSpPr>
        <p:spPr bwMode="auto">
          <a:xfrm flipH="1">
            <a:off x="5820304" y="2505187"/>
            <a:ext cx="1587" cy="37750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9443" name="Line 35"/>
          <p:cNvSpPr>
            <a:spLocks noChangeShapeType="1"/>
          </p:cNvSpPr>
          <p:nvPr/>
        </p:nvSpPr>
        <p:spPr bwMode="auto">
          <a:xfrm flipH="1">
            <a:off x="3425825" y="4482684"/>
            <a:ext cx="0" cy="18145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29444" name="Rectangle 36"/>
          <p:cNvSpPr>
            <a:spLocks noGrp="1" noRot="1" noChangeArrowheads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Autofit/>
          </a:bodyPr>
          <a:lstStyle/>
          <a:p>
            <a:r>
              <a:rPr lang="en-US" sz="3600" spc="0" dirty="0"/>
              <a:t>THE AGGREGATE DEMAND CURVE</a:t>
            </a:r>
            <a:r>
              <a:rPr lang="en-US" altLang="zh-CN" sz="3600" spc="0" dirty="0">
                <a:ea typeface="宋体" pitchFamily="2" charset="-122"/>
              </a:rPr>
              <a:t> AND THE INCOME–EXPENDITURE MODEL</a:t>
            </a:r>
            <a:endParaRPr lang="en-US" sz="3600" spc="0" dirty="0">
              <a:ea typeface="宋体" pitchFamily="2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25298" y="1197114"/>
            <a:ext cx="46833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We now drop the assumption that the overall price level is fixed. 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03913" y="4069140"/>
            <a:ext cx="330834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The AD curve is the application of the income–expenditure model at different prices.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9050" y="1905000"/>
            <a:ext cx="358774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solidFill>
                  <a:srgbClr val="0070C0"/>
                </a:solidFill>
                <a:latin typeface="Century Gothic"/>
                <a:cs typeface="Century Gothic"/>
              </a:rPr>
              <a:t>When the aggregate price level changes, the </a:t>
            </a:r>
            <a:r>
              <a:rPr lang="en-US" sz="2000" b="1" dirty="0" err="1">
                <a:solidFill>
                  <a:srgbClr val="0070C0"/>
                </a:solidFill>
                <a:latin typeface="Century Gothic"/>
                <a:cs typeface="Century Gothic"/>
              </a:rPr>
              <a:t>AE</a:t>
            </a:r>
            <a:r>
              <a:rPr lang="en-US" sz="2000" b="1" i="1" baseline="-25000" dirty="0" err="1">
                <a:solidFill>
                  <a:srgbClr val="0070C0"/>
                </a:solidFill>
                <a:latin typeface="Century Gothic"/>
                <a:cs typeface="Century Gothic"/>
              </a:rPr>
              <a:t>Planned</a:t>
            </a:r>
            <a:r>
              <a:rPr lang="en-US" sz="2000" b="1" i="1" dirty="0">
                <a:solidFill>
                  <a:srgbClr val="0070C0"/>
                </a:solidFill>
                <a:latin typeface="Century Gothic"/>
                <a:cs typeface="Century Gothic"/>
              </a:rPr>
              <a:t> curve shifts</a:t>
            </a:r>
          </a:p>
        </p:txBody>
      </p:sp>
    </p:spTree>
    <p:extLst>
      <p:ext uri="{BB962C8B-B14F-4D97-AF65-F5344CB8AC3E}">
        <p14:creationId xmlns:p14="http://schemas.microsoft.com/office/powerpoint/2010/main" val="62757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2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2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29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2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2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29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9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2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28" grpId="0"/>
      <p:bldP spid="529430" grpId="0" animBg="1"/>
      <p:bldP spid="529431" grpId="0"/>
      <p:bldP spid="529433" grpId="0" animBg="1"/>
      <p:bldP spid="529434" grpId="0"/>
      <p:bldP spid="529439" grpId="0" animBg="1"/>
      <p:bldP spid="529440" grpId="0" animBg="1"/>
      <p:bldP spid="529441" grpId="0" animBg="1"/>
      <p:bldP spid="529442" grpId="0" animBg="1"/>
      <p:bldP spid="3" grpId="0"/>
      <p:bldP spid="39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80" name="Line 24"/>
          <p:cNvSpPr>
            <a:spLocks noChangeShapeType="1"/>
          </p:cNvSpPr>
          <p:nvPr/>
        </p:nvSpPr>
        <p:spPr bwMode="auto">
          <a:xfrm flipV="1">
            <a:off x="4154488" y="1111250"/>
            <a:ext cx="2286000" cy="25146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1458" name="Line 2"/>
          <p:cNvSpPr>
            <a:spLocks noChangeShapeType="1"/>
          </p:cNvSpPr>
          <p:nvPr/>
        </p:nvSpPr>
        <p:spPr bwMode="auto">
          <a:xfrm flipH="1">
            <a:off x="5024438" y="2738437"/>
            <a:ext cx="1587" cy="37607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1459" name="Rectangle 21"/>
          <p:cNvSpPr>
            <a:spLocks noChangeArrowheads="1"/>
          </p:cNvSpPr>
          <p:nvPr/>
        </p:nvSpPr>
        <p:spPr bwMode="auto">
          <a:xfrm>
            <a:off x="4916488" y="3702050"/>
            <a:ext cx="304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</a:p>
        </p:txBody>
      </p:sp>
      <p:sp>
        <p:nvSpPr>
          <p:cNvPr id="531460" name="Rectangle 59"/>
          <p:cNvSpPr>
            <a:spLocks noChangeArrowheads="1"/>
          </p:cNvSpPr>
          <p:nvPr/>
        </p:nvSpPr>
        <p:spPr bwMode="auto">
          <a:xfrm>
            <a:off x="6319838" y="5799137"/>
            <a:ext cx="34468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61" name="Line 60"/>
          <p:cNvSpPr>
            <a:spLocks noChangeShapeType="1"/>
          </p:cNvSpPr>
          <p:nvPr/>
        </p:nvSpPr>
        <p:spPr bwMode="auto">
          <a:xfrm>
            <a:off x="4462463" y="4341812"/>
            <a:ext cx="1846262" cy="1530350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1462" name="Freeform 61"/>
          <p:cNvSpPr>
            <a:spLocks/>
          </p:cNvSpPr>
          <p:nvPr/>
        </p:nvSpPr>
        <p:spPr bwMode="auto">
          <a:xfrm>
            <a:off x="4152900" y="4151312"/>
            <a:ext cx="2635250" cy="2378075"/>
          </a:xfrm>
          <a:custGeom>
            <a:avLst/>
            <a:gdLst>
              <a:gd name="T0" fmla="*/ 2635356 w 2138"/>
              <a:gd name="T1" fmla="*/ 2378081 h 1795"/>
              <a:gd name="T2" fmla="*/ 0 w 2138"/>
              <a:gd name="T3" fmla="*/ 2378081 h 1795"/>
              <a:gd name="T4" fmla="*/ 0 w 2138"/>
              <a:gd name="T5" fmla="*/ 0 h 1795"/>
              <a:gd name="T6" fmla="*/ 0 60000 65536"/>
              <a:gd name="T7" fmla="*/ 0 60000 65536"/>
              <a:gd name="T8" fmla="*/ 0 60000 65536"/>
              <a:gd name="T9" fmla="*/ 0 w 2138"/>
              <a:gd name="T10" fmla="*/ 0 h 1795"/>
              <a:gd name="T11" fmla="*/ 2138 w 2138"/>
              <a:gd name="T12" fmla="*/ 1795 h 17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8" h="1795">
                <a:moveTo>
                  <a:pt x="2138" y="1795"/>
                </a:moveTo>
                <a:lnTo>
                  <a:pt x="0" y="1795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2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63" name="Oval 63"/>
          <p:cNvSpPr>
            <a:spLocks noChangeAspect="1" noChangeArrowheads="1"/>
          </p:cNvSpPr>
          <p:nvPr/>
        </p:nvSpPr>
        <p:spPr bwMode="auto">
          <a:xfrm>
            <a:off x="4983163" y="4772025"/>
            <a:ext cx="82550" cy="889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64" name="Rectangle 76"/>
          <p:cNvSpPr>
            <a:spLocks noChangeArrowheads="1"/>
          </p:cNvSpPr>
          <p:nvPr/>
        </p:nvSpPr>
        <p:spPr bwMode="auto">
          <a:xfrm>
            <a:off x="3916460" y="4730750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66" name="Line 86"/>
          <p:cNvSpPr>
            <a:spLocks noChangeShapeType="1"/>
          </p:cNvSpPr>
          <p:nvPr/>
        </p:nvSpPr>
        <p:spPr bwMode="auto">
          <a:xfrm flipV="1">
            <a:off x="4154488" y="2178050"/>
            <a:ext cx="2133600" cy="827087"/>
          </a:xfrm>
          <a:prstGeom prst="line">
            <a:avLst/>
          </a:prstGeom>
          <a:noFill/>
          <a:ln w="38100">
            <a:solidFill>
              <a:srgbClr val="F3716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1467" name="Freeform 105"/>
          <p:cNvSpPr>
            <a:spLocks/>
          </p:cNvSpPr>
          <p:nvPr/>
        </p:nvSpPr>
        <p:spPr bwMode="auto">
          <a:xfrm>
            <a:off x="4152900" y="1150937"/>
            <a:ext cx="2635250" cy="2484438"/>
          </a:xfrm>
          <a:custGeom>
            <a:avLst/>
            <a:gdLst>
              <a:gd name="T0" fmla="*/ 2635356 w 2138"/>
              <a:gd name="T1" fmla="*/ 2484068 h 1875"/>
              <a:gd name="T2" fmla="*/ 0 w 2138"/>
              <a:gd name="T3" fmla="*/ 2484068 h 1875"/>
              <a:gd name="T4" fmla="*/ 0 w 2138"/>
              <a:gd name="T5" fmla="*/ 0 h 1875"/>
              <a:gd name="T6" fmla="*/ 0 60000 65536"/>
              <a:gd name="T7" fmla="*/ 0 60000 65536"/>
              <a:gd name="T8" fmla="*/ 0 60000 65536"/>
              <a:gd name="T9" fmla="*/ 0 w 2138"/>
              <a:gd name="T10" fmla="*/ 0 h 1875"/>
              <a:gd name="T11" fmla="*/ 2138 w 2138"/>
              <a:gd name="T12" fmla="*/ 1875 h 18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8" h="1875">
                <a:moveTo>
                  <a:pt x="2138" y="1875"/>
                </a:moveTo>
                <a:lnTo>
                  <a:pt x="0" y="1875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2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68" name="Oval 107"/>
          <p:cNvSpPr>
            <a:spLocks noChangeAspect="1" noChangeArrowheads="1"/>
          </p:cNvSpPr>
          <p:nvPr/>
        </p:nvSpPr>
        <p:spPr bwMode="auto">
          <a:xfrm>
            <a:off x="4992688" y="2635250"/>
            <a:ext cx="85725" cy="920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2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69" name="Rectangle 13"/>
          <p:cNvSpPr>
            <a:spLocks noChangeArrowheads="1"/>
          </p:cNvSpPr>
          <p:nvPr/>
        </p:nvSpPr>
        <p:spPr bwMode="auto">
          <a:xfrm>
            <a:off x="6288088" y="3625850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31470" name="Rectangle 14"/>
          <p:cNvSpPr>
            <a:spLocks noChangeArrowheads="1"/>
          </p:cNvSpPr>
          <p:nvPr/>
        </p:nvSpPr>
        <p:spPr bwMode="auto">
          <a:xfrm>
            <a:off x="6516688" y="6521450"/>
            <a:ext cx="1295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31471" name="Rectangle 15"/>
          <p:cNvSpPr>
            <a:spLocks noChangeArrowheads="1"/>
          </p:cNvSpPr>
          <p:nvPr/>
        </p:nvSpPr>
        <p:spPr bwMode="auto">
          <a:xfrm>
            <a:off x="2971800" y="958850"/>
            <a:ext cx="12954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spending</a:t>
            </a:r>
          </a:p>
        </p:txBody>
      </p:sp>
      <p:sp>
        <p:nvSpPr>
          <p:cNvPr id="531472" name="Rectangle 16"/>
          <p:cNvSpPr>
            <a:spLocks noChangeArrowheads="1"/>
          </p:cNvSpPr>
          <p:nvPr/>
        </p:nvSpPr>
        <p:spPr bwMode="auto">
          <a:xfrm>
            <a:off x="2895600" y="3930650"/>
            <a:ext cx="129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31473" name="Rectangle 35"/>
          <p:cNvSpPr>
            <a:spLocks noChangeArrowheads="1"/>
          </p:cNvSpPr>
          <p:nvPr/>
        </p:nvSpPr>
        <p:spPr bwMode="auto">
          <a:xfrm>
            <a:off x="3127375" y="2182812"/>
            <a:ext cx="8441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  <a:p>
            <a:pPr>
              <a:spcBef>
                <a:spcPct val="0"/>
              </a:spcBef>
            </a:pP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75" name="Rectangle 35"/>
          <p:cNvSpPr>
            <a:spLocks noChangeArrowheads="1"/>
          </p:cNvSpPr>
          <p:nvPr/>
        </p:nvSpPr>
        <p:spPr bwMode="auto">
          <a:xfrm>
            <a:off x="6251575" y="2106612"/>
            <a:ext cx="91991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Planned1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  <a:p>
            <a:pPr>
              <a:spcBef>
                <a:spcPct val="0"/>
              </a:spcBef>
            </a:pP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77" name="Rectangle 21"/>
          <p:cNvSpPr>
            <a:spLocks noChangeArrowheads="1"/>
          </p:cNvSpPr>
          <p:nvPr/>
        </p:nvSpPr>
        <p:spPr bwMode="auto">
          <a:xfrm>
            <a:off x="6364288" y="958850"/>
            <a:ext cx="17963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45-degree line</a:t>
            </a:r>
          </a:p>
        </p:txBody>
      </p:sp>
      <p:sp>
        <p:nvSpPr>
          <p:cNvPr id="531478" name="Rectangle 26"/>
          <p:cNvSpPr>
            <a:spLocks noChangeArrowheads="1"/>
          </p:cNvSpPr>
          <p:nvPr/>
        </p:nvSpPr>
        <p:spPr bwMode="auto">
          <a:xfrm>
            <a:off x="4914900" y="2203450"/>
            <a:ext cx="214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81" name="Rectangle 25"/>
          <p:cNvSpPr>
            <a:spLocks noChangeArrowheads="1"/>
          </p:cNvSpPr>
          <p:nvPr/>
        </p:nvSpPr>
        <p:spPr bwMode="auto">
          <a:xfrm>
            <a:off x="6692900" y="2847975"/>
            <a:ext cx="2476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b="1" i="1" dirty="0">
                <a:solidFill>
                  <a:srgbClr val="0070C0"/>
                </a:solidFill>
                <a:latin typeface="Century Gothic"/>
                <a:ea typeface="ＭＳ Ｐゴシック" pitchFamily="34" charset="-128"/>
                <a:cs typeface="Century Gothic"/>
              </a:rPr>
              <a:t>(a) Change in Income–expenditure equilibrium</a:t>
            </a:r>
          </a:p>
        </p:txBody>
      </p:sp>
      <p:sp>
        <p:nvSpPr>
          <p:cNvPr id="531482" name="Rectangle 26"/>
          <p:cNvSpPr>
            <a:spLocks noChangeArrowheads="1"/>
          </p:cNvSpPr>
          <p:nvPr/>
        </p:nvSpPr>
        <p:spPr bwMode="auto">
          <a:xfrm>
            <a:off x="6486525" y="4876800"/>
            <a:ext cx="226607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b="1" i="1" dirty="0">
                <a:solidFill>
                  <a:srgbClr val="0070C0"/>
                </a:solidFill>
                <a:latin typeface="Century Gothic"/>
                <a:ea typeface="ＭＳ Ｐゴシック" pitchFamily="34" charset="-128"/>
                <a:cs typeface="Century Gothic"/>
              </a:rPr>
              <a:t>(b) Aggregate Demand</a:t>
            </a:r>
          </a:p>
        </p:txBody>
      </p:sp>
      <p:sp>
        <p:nvSpPr>
          <p:cNvPr id="531483" name="Rectangle 21"/>
          <p:cNvSpPr>
            <a:spLocks noChangeArrowheads="1"/>
          </p:cNvSpPr>
          <p:nvPr/>
        </p:nvSpPr>
        <p:spPr bwMode="auto">
          <a:xfrm>
            <a:off x="4840288" y="652145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</a:p>
        </p:txBody>
      </p:sp>
      <p:sp>
        <p:nvSpPr>
          <p:cNvPr id="531485" name="Line 29"/>
          <p:cNvSpPr>
            <a:spLocks noChangeShapeType="1"/>
          </p:cNvSpPr>
          <p:nvPr/>
        </p:nvSpPr>
        <p:spPr bwMode="auto">
          <a:xfrm>
            <a:off x="5907088" y="1797050"/>
            <a:ext cx="0" cy="4724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1486" name="Line 84"/>
          <p:cNvSpPr>
            <a:spLocks noChangeShapeType="1"/>
          </p:cNvSpPr>
          <p:nvPr/>
        </p:nvSpPr>
        <p:spPr bwMode="auto">
          <a:xfrm flipV="1">
            <a:off x="4418013" y="2408238"/>
            <a:ext cx="1588" cy="431800"/>
          </a:xfrm>
          <a:prstGeom prst="line">
            <a:avLst/>
          </a:prstGeom>
          <a:noFill/>
          <a:ln w="1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1487" name="Freeform 85"/>
          <p:cNvSpPr>
            <a:spLocks/>
          </p:cNvSpPr>
          <p:nvPr/>
        </p:nvSpPr>
        <p:spPr bwMode="auto">
          <a:xfrm>
            <a:off x="4392613" y="2339975"/>
            <a:ext cx="52388" cy="93663"/>
          </a:xfrm>
          <a:custGeom>
            <a:avLst/>
            <a:gdLst>
              <a:gd name="T0" fmla="*/ 25885 w 18"/>
              <a:gd name="T1" fmla="*/ 75251 h 30"/>
              <a:gd name="T2" fmla="*/ 0 w 18"/>
              <a:gd name="T3" fmla="*/ 94064 h 30"/>
              <a:gd name="T4" fmla="*/ 0 w 18"/>
              <a:gd name="T5" fmla="*/ 90929 h 30"/>
              <a:gd name="T6" fmla="*/ 14381 w 18"/>
              <a:gd name="T7" fmla="*/ 47032 h 30"/>
              <a:gd name="T8" fmla="*/ 25885 w 18"/>
              <a:gd name="T9" fmla="*/ 0 h 30"/>
              <a:gd name="T10" fmla="*/ 34513 w 18"/>
              <a:gd name="T11" fmla="*/ 47032 h 30"/>
              <a:gd name="T12" fmla="*/ 51770 w 18"/>
              <a:gd name="T13" fmla="*/ 90929 h 30"/>
              <a:gd name="T14" fmla="*/ 48894 w 18"/>
              <a:gd name="T15" fmla="*/ 94064 h 30"/>
              <a:gd name="T16" fmla="*/ 25885 w 18"/>
              <a:gd name="T17" fmla="*/ 75251 h 3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8"/>
              <a:gd name="T28" fmla="*/ 0 h 30"/>
              <a:gd name="T29" fmla="*/ 18 w 18"/>
              <a:gd name="T30" fmla="*/ 30 h 3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8" h="30">
                <a:moveTo>
                  <a:pt x="9" y="24"/>
                </a:moveTo>
                <a:cubicBezTo>
                  <a:pt x="0" y="30"/>
                  <a:pt x="0" y="30"/>
                  <a:pt x="0" y="30"/>
                </a:cubicBezTo>
                <a:cubicBezTo>
                  <a:pt x="0" y="29"/>
                  <a:pt x="0" y="29"/>
                  <a:pt x="0" y="29"/>
                </a:cubicBezTo>
                <a:cubicBezTo>
                  <a:pt x="5" y="15"/>
                  <a:pt x="5" y="15"/>
                  <a:pt x="5" y="15"/>
                </a:cubicBezTo>
                <a:cubicBezTo>
                  <a:pt x="6" y="10"/>
                  <a:pt x="8" y="5"/>
                  <a:pt x="9" y="0"/>
                </a:cubicBezTo>
                <a:cubicBezTo>
                  <a:pt x="10" y="5"/>
                  <a:pt x="11" y="10"/>
                  <a:pt x="12" y="15"/>
                </a:cubicBezTo>
                <a:cubicBezTo>
                  <a:pt x="18" y="29"/>
                  <a:pt x="18" y="29"/>
                  <a:pt x="18" y="29"/>
                </a:cubicBezTo>
                <a:cubicBezTo>
                  <a:pt x="17" y="30"/>
                  <a:pt x="17" y="30"/>
                  <a:pt x="17" y="30"/>
                </a:cubicBezTo>
                <a:lnTo>
                  <a:pt x="9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2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88" name="Line 87"/>
          <p:cNvSpPr>
            <a:spLocks noChangeShapeType="1"/>
          </p:cNvSpPr>
          <p:nvPr/>
        </p:nvSpPr>
        <p:spPr bwMode="auto">
          <a:xfrm flipV="1">
            <a:off x="4151313" y="1568450"/>
            <a:ext cx="2060575" cy="793750"/>
          </a:xfrm>
          <a:prstGeom prst="line">
            <a:avLst/>
          </a:prstGeom>
          <a:noFill/>
          <a:ln w="38100">
            <a:solidFill>
              <a:srgbClr val="9F21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1490" name="Oval 106"/>
          <p:cNvSpPr>
            <a:spLocks noChangeAspect="1" noChangeArrowheads="1"/>
          </p:cNvSpPr>
          <p:nvPr/>
        </p:nvSpPr>
        <p:spPr bwMode="auto">
          <a:xfrm>
            <a:off x="5865814" y="1644650"/>
            <a:ext cx="82550" cy="889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91" name="Rectangle 35"/>
          <p:cNvSpPr>
            <a:spLocks noChangeArrowheads="1"/>
          </p:cNvSpPr>
          <p:nvPr/>
        </p:nvSpPr>
        <p:spPr bwMode="auto">
          <a:xfrm>
            <a:off x="6251576" y="1573213"/>
            <a:ext cx="91991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AE</a:t>
            </a:r>
            <a:r>
              <a:rPr lang="en-US" sz="1600" i="1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Planned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93" name="Rectangle 26"/>
          <p:cNvSpPr>
            <a:spLocks noChangeArrowheads="1"/>
          </p:cNvSpPr>
          <p:nvPr/>
        </p:nvSpPr>
        <p:spPr bwMode="auto">
          <a:xfrm>
            <a:off x="5676901" y="1289050"/>
            <a:ext cx="214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1495" name="Rectangle 21"/>
          <p:cNvSpPr>
            <a:spLocks noChangeArrowheads="1"/>
          </p:cNvSpPr>
          <p:nvPr/>
        </p:nvSpPr>
        <p:spPr bwMode="auto">
          <a:xfrm>
            <a:off x="5754688" y="3702050"/>
            <a:ext cx="304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</a:p>
        </p:txBody>
      </p:sp>
      <p:sp>
        <p:nvSpPr>
          <p:cNvPr id="531496" name="Line 40"/>
          <p:cNvSpPr>
            <a:spLocks noChangeShapeType="1"/>
          </p:cNvSpPr>
          <p:nvPr/>
        </p:nvSpPr>
        <p:spPr bwMode="auto">
          <a:xfrm>
            <a:off x="5221288" y="385445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grpSp>
        <p:nvGrpSpPr>
          <p:cNvPr id="531497" name="Group 41"/>
          <p:cNvGrpSpPr>
            <a:grpSpLocks/>
          </p:cNvGrpSpPr>
          <p:nvPr/>
        </p:nvGrpSpPr>
        <p:grpSpPr bwMode="auto">
          <a:xfrm>
            <a:off x="3929063" y="4797425"/>
            <a:ext cx="2206625" cy="2028825"/>
            <a:chOff x="2162" y="2706"/>
            <a:chExt cx="1390" cy="1278"/>
          </a:xfrm>
        </p:grpSpPr>
        <p:sp>
          <p:nvSpPr>
            <p:cNvPr id="531498" name="Rectangle 74"/>
            <p:cNvSpPr>
              <a:spLocks noChangeArrowheads="1"/>
            </p:cNvSpPr>
            <p:nvPr/>
          </p:nvSpPr>
          <p:spPr bwMode="auto">
            <a:xfrm>
              <a:off x="2162" y="3120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i="1" dirty="0">
                  <a:solidFill>
                    <a:srgbClr val="000000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P</a:t>
              </a:r>
              <a:r>
                <a:rPr lang="en-US" sz="1400" baseline="-25000" dirty="0">
                  <a:solidFill>
                    <a:srgbClr val="000000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2</a:t>
              </a:r>
              <a:endParaRPr lang="en-US" sz="14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sp>
          <p:nvSpPr>
            <p:cNvPr id="531499" name="Rectangle 75"/>
            <p:cNvSpPr>
              <a:spLocks noChangeArrowheads="1"/>
            </p:cNvSpPr>
            <p:nvPr/>
          </p:nvSpPr>
          <p:spPr bwMode="auto">
            <a:xfrm>
              <a:off x="2248" y="3160"/>
              <a:ext cx="0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endParaRPr lang="en-US" sz="14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grpSp>
          <p:nvGrpSpPr>
            <p:cNvPr id="531500" name="Group 44"/>
            <p:cNvGrpSpPr>
              <a:grpSpLocks/>
            </p:cNvGrpSpPr>
            <p:nvPr/>
          </p:nvGrpSpPr>
          <p:grpSpPr bwMode="auto">
            <a:xfrm>
              <a:off x="2916" y="2706"/>
              <a:ext cx="636" cy="1278"/>
              <a:chOff x="2916" y="2706"/>
              <a:chExt cx="636" cy="1278"/>
            </a:xfrm>
          </p:grpSpPr>
          <p:sp>
            <p:nvSpPr>
              <p:cNvPr id="531501" name="Oval 62"/>
              <p:cNvSpPr>
                <a:spLocks noChangeAspect="1" noChangeArrowheads="1"/>
              </p:cNvSpPr>
              <p:nvPr/>
            </p:nvSpPr>
            <p:spPr bwMode="auto">
              <a:xfrm>
                <a:off x="3382" y="3149"/>
                <a:ext cx="52" cy="5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6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31502" name="Line 92"/>
              <p:cNvSpPr>
                <a:spLocks noChangeShapeType="1"/>
              </p:cNvSpPr>
              <p:nvPr/>
            </p:nvSpPr>
            <p:spPr bwMode="auto">
              <a:xfrm>
                <a:off x="2916" y="2706"/>
                <a:ext cx="433" cy="370"/>
              </a:xfrm>
              <a:prstGeom prst="line">
                <a:avLst/>
              </a:prstGeom>
              <a:noFill/>
              <a:ln w="19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531503" name="Freeform 93"/>
              <p:cNvSpPr>
                <a:spLocks/>
              </p:cNvSpPr>
              <p:nvPr/>
            </p:nvSpPr>
            <p:spPr bwMode="auto">
              <a:xfrm>
                <a:off x="3328" y="3053"/>
                <a:ext cx="52" cy="49"/>
              </a:xfrm>
              <a:custGeom>
                <a:avLst/>
                <a:gdLst>
                  <a:gd name="T0" fmla="*/ 26546 w 28"/>
                  <a:gd name="T1" fmla="*/ 34393 h 25"/>
                  <a:gd name="T2" fmla="*/ 29495 w 28"/>
                  <a:gd name="T3" fmla="*/ 0 h 25"/>
                  <a:gd name="T4" fmla="*/ 32445 w 28"/>
                  <a:gd name="T5" fmla="*/ 0 h 25"/>
                  <a:gd name="T6" fmla="*/ 53091 w 28"/>
                  <a:gd name="T7" fmla="*/ 43773 h 25"/>
                  <a:gd name="T8" fmla="*/ 82586 w 28"/>
                  <a:gd name="T9" fmla="*/ 78166 h 25"/>
                  <a:gd name="T10" fmla="*/ 41293 w 28"/>
                  <a:gd name="T11" fmla="*/ 59406 h 25"/>
                  <a:gd name="T12" fmla="*/ 0 w 28"/>
                  <a:gd name="T13" fmla="*/ 43773 h 25"/>
                  <a:gd name="T14" fmla="*/ 0 w 28"/>
                  <a:gd name="T15" fmla="*/ 43773 h 25"/>
                  <a:gd name="T16" fmla="*/ 26546 w 28"/>
                  <a:gd name="T17" fmla="*/ 34393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8"/>
                  <a:gd name="T28" fmla="*/ 0 h 25"/>
                  <a:gd name="T29" fmla="*/ 28 w 28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8" h="25">
                    <a:moveTo>
                      <a:pt x="9" y="11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21" y="18"/>
                      <a:pt x="25" y="21"/>
                      <a:pt x="28" y="25"/>
                    </a:cubicBezTo>
                    <a:cubicBezTo>
                      <a:pt x="23" y="23"/>
                      <a:pt x="19" y="21"/>
                      <a:pt x="14" y="19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9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6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31504" name="Freeform 94"/>
              <p:cNvSpPr>
                <a:spLocks/>
              </p:cNvSpPr>
              <p:nvPr/>
            </p:nvSpPr>
            <p:spPr bwMode="auto">
              <a:xfrm>
                <a:off x="3257" y="2994"/>
                <a:ext cx="53" cy="49"/>
              </a:xfrm>
              <a:custGeom>
                <a:avLst/>
                <a:gdLst>
                  <a:gd name="T0" fmla="*/ 29328 w 29"/>
                  <a:gd name="T1" fmla="*/ 31266 h 25"/>
                  <a:gd name="T2" fmla="*/ 32261 w 29"/>
                  <a:gd name="T3" fmla="*/ 0 h 25"/>
                  <a:gd name="T4" fmla="*/ 32261 w 29"/>
                  <a:gd name="T5" fmla="*/ 0 h 25"/>
                  <a:gd name="T6" fmla="*/ 55724 w 29"/>
                  <a:gd name="T7" fmla="*/ 40646 h 25"/>
                  <a:gd name="T8" fmla="*/ 85052 w 29"/>
                  <a:gd name="T9" fmla="*/ 78166 h 25"/>
                  <a:gd name="T10" fmla="*/ 43992 w 29"/>
                  <a:gd name="T11" fmla="*/ 56280 h 25"/>
                  <a:gd name="T12" fmla="*/ 0 w 29"/>
                  <a:gd name="T13" fmla="*/ 43773 h 25"/>
                  <a:gd name="T14" fmla="*/ 0 w 29"/>
                  <a:gd name="T15" fmla="*/ 43773 h 25"/>
                  <a:gd name="T16" fmla="*/ 29328 w 29"/>
                  <a:gd name="T17" fmla="*/ 31266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9"/>
                  <a:gd name="T28" fmla="*/ 0 h 25"/>
                  <a:gd name="T29" fmla="*/ 29 w 29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9" h="25">
                    <a:moveTo>
                      <a:pt x="10" y="1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2" y="17"/>
                      <a:pt x="25" y="21"/>
                      <a:pt x="29" y="25"/>
                    </a:cubicBezTo>
                    <a:cubicBezTo>
                      <a:pt x="24" y="23"/>
                      <a:pt x="19" y="20"/>
                      <a:pt x="15" y="18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6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31505" name="Freeform 95"/>
              <p:cNvSpPr>
                <a:spLocks/>
              </p:cNvSpPr>
              <p:nvPr/>
            </p:nvSpPr>
            <p:spPr bwMode="auto">
              <a:xfrm>
                <a:off x="3188" y="2932"/>
                <a:ext cx="51" cy="49"/>
              </a:xfrm>
              <a:custGeom>
                <a:avLst/>
                <a:gdLst>
                  <a:gd name="T0" fmla="*/ 26149 w 28"/>
                  <a:gd name="T1" fmla="*/ 31266 h 25"/>
                  <a:gd name="T2" fmla="*/ 29055 w 28"/>
                  <a:gd name="T3" fmla="*/ 0 h 25"/>
                  <a:gd name="T4" fmla="*/ 31960 w 28"/>
                  <a:gd name="T5" fmla="*/ 0 h 25"/>
                  <a:gd name="T6" fmla="*/ 52298 w 28"/>
                  <a:gd name="T7" fmla="*/ 40646 h 25"/>
                  <a:gd name="T8" fmla="*/ 81353 w 28"/>
                  <a:gd name="T9" fmla="*/ 78166 h 25"/>
                  <a:gd name="T10" fmla="*/ 40677 w 28"/>
                  <a:gd name="T11" fmla="*/ 59406 h 25"/>
                  <a:gd name="T12" fmla="*/ 0 w 28"/>
                  <a:gd name="T13" fmla="*/ 43773 h 25"/>
                  <a:gd name="T14" fmla="*/ 0 w 28"/>
                  <a:gd name="T15" fmla="*/ 43773 h 25"/>
                  <a:gd name="T16" fmla="*/ 26149 w 28"/>
                  <a:gd name="T17" fmla="*/ 31266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8"/>
                  <a:gd name="T28" fmla="*/ 0 h 25"/>
                  <a:gd name="T29" fmla="*/ 28 w 28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8" h="25">
                    <a:moveTo>
                      <a:pt x="9" y="1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8" y="13"/>
                      <a:pt x="18" y="13"/>
                      <a:pt x="18" y="13"/>
                    </a:cubicBezTo>
                    <a:cubicBezTo>
                      <a:pt x="22" y="17"/>
                      <a:pt x="25" y="21"/>
                      <a:pt x="28" y="25"/>
                    </a:cubicBezTo>
                    <a:cubicBezTo>
                      <a:pt x="23" y="23"/>
                      <a:pt x="19" y="21"/>
                      <a:pt x="14" y="19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9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6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31506" name="Freeform 96"/>
              <p:cNvSpPr>
                <a:spLocks/>
              </p:cNvSpPr>
              <p:nvPr/>
            </p:nvSpPr>
            <p:spPr bwMode="auto">
              <a:xfrm>
                <a:off x="3116" y="2871"/>
                <a:ext cx="52" cy="49"/>
              </a:xfrm>
              <a:custGeom>
                <a:avLst/>
                <a:gdLst>
                  <a:gd name="T0" fmla="*/ 29495 w 28"/>
                  <a:gd name="T1" fmla="*/ 34393 h 25"/>
                  <a:gd name="T2" fmla="*/ 32445 w 28"/>
                  <a:gd name="T3" fmla="*/ 0 h 25"/>
                  <a:gd name="T4" fmla="*/ 32445 w 28"/>
                  <a:gd name="T5" fmla="*/ 0 h 25"/>
                  <a:gd name="T6" fmla="*/ 56041 w 28"/>
                  <a:gd name="T7" fmla="*/ 43773 h 25"/>
                  <a:gd name="T8" fmla="*/ 82586 w 28"/>
                  <a:gd name="T9" fmla="*/ 78166 h 25"/>
                  <a:gd name="T10" fmla="*/ 44243 w 28"/>
                  <a:gd name="T11" fmla="*/ 59406 h 25"/>
                  <a:gd name="T12" fmla="*/ 0 w 28"/>
                  <a:gd name="T13" fmla="*/ 43773 h 25"/>
                  <a:gd name="T14" fmla="*/ 0 w 28"/>
                  <a:gd name="T15" fmla="*/ 43773 h 25"/>
                  <a:gd name="T16" fmla="*/ 29495 w 28"/>
                  <a:gd name="T17" fmla="*/ 34393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8"/>
                  <a:gd name="T28" fmla="*/ 0 h 25"/>
                  <a:gd name="T29" fmla="*/ 28 w 28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8" h="25">
                    <a:moveTo>
                      <a:pt x="10" y="11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22" y="18"/>
                      <a:pt x="25" y="21"/>
                      <a:pt x="28" y="25"/>
                    </a:cubicBezTo>
                    <a:cubicBezTo>
                      <a:pt x="24" y="23"/>
                      <a:pt x="19" y="21"/>
                      <a:pt x="15" y="19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10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6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31507" name="Freeform 97"/>
              <p:cNvSpPr>
                <a:spLocks/>
              </p:cNvSpPr>
              <p:nvPr/>
            </p:nvSpPr>
            <p:spPr bwMode="auto">
              <a:xfrm>
                <a:off x="3044" y="2812"/>
                <a:ext cx="54" cy="49"/>
              </a:xfrm>
              <a:custGeom>
                <a:avLst/>
                <a:gdLst>
                  <a:gd name="T0" fmla="*/ 29328 w 29"/>
                  <a:gd name="T1" fmla="*/ 31266 h 25"/>
                  <a:gd name="T2" fmla="*/ 32261 w 29"/>
                  <a:gd name="T3" fmla="*/ 0 h 25"/>
                  <a:gd name="T4" fmla="*/ 35194 w 29"/>
                  <a:gd name="T5" fmla="*/ 0 h 25"/>
                  <a:gd name="T6" fmla="*/ 55724 w 29"/>
                  <a:gd name="T7" fmla="*/ 40646 h 25"/>
                  <a:gd name="T8" fmla="*/ 85052 w 29"/>
                  <a:gd name="T9" fmla="*/ 78166 h 25"/>
                  <a:gd name="T10" fmla="*/ 43992 w 29"/>
                  <a:gd name="T11" fmla="*/ 56280 h 25"/>
                  <a:gd name="T12" fmla="*/ 2933 w 29"/>
                  <a:gd name="T13" fmla="*/ 43773 h 25"/>
                  <a:gd name="T14" fmla="*/ 0 w 29"/>
                  <a:gd name="T15" fmla="*/ 40646 h 25"/>
                  <a:gd name="T16" fmla="*/ 29328 w 29"/>
                  <a:gd name="T17" fmla="*/ 31266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9"/>
                  <a:gd name="T28" fmla="*/ 0 h 25"/>
                  <a:gd name="T29" fmla="*/ 29 w 29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9" h="25">
                    <a:moveTo>
                      <a:pt x="10" y="1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2" y="17"/>
                      <a:pt x="25" y="21"/>
                      <a:pt x="29" y="25"/>
                    </a:cubicBezTo>
                    <a:cubicBezTo>
                      <a:pt x="24" y="22"/>
                      <a:pt x="20" y="20"/>
                      <a:pt x="15" y="18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10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6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31508" name="Freeform 98"/>
              <p:cNvSpPr>
                <a:spLocks/>
              </p:cNvSpPr>
              <p:nvPr/>
            </p:nvSpPr>
            <p:spPr bwMode="auto">
              <a:xfrm>
                <a:off x="2966" y="2741"/>
                <a:ext cx="51" cy="49"/>
              </a:xfrm>
              <a:custGeom>
                <a:avLst/>
                <a:gdLst>
                  <a:gd name="T0" fmla="*/ 29055 w 28"/>
                  <a:gd name="T1" fmla="*/ 31266 h 25"/>
                  <a:gd name="T2" fmla="*/ 31960 w 28"/>
                  <a:gd name="T3" fmla="*/ 0 h 25"/>
                  <a:gd name="T4" fmla="*/ 31960 w 28"/>
                  <a:gd name="T5" fmla="*/ 0 h 25"/>
                  <a:gd name="T6" fmla="*/ 55204 w 28"/>
                  <a:gd name="T7" fmla="*/ 40646 h 25"/>
                  <a:gd name="T8" fmla="*/ 81353 w 28"/>
                  <a:gd name="T9" fmla="*/ 78166 h 25"/>
                  <a:gd name="T10" fmla="*/ 43582 w 28"/>
                  <a:gd name="T11" fmla="*/ 56280 h 25"/>
                  <a:gd name="T12" fmla="*/ 0 w 28"/>
                  <a:gd name="T13" fmla="*/ 43773 h 25"/>
                  <a:gd name="T14" fmla="*/ 0 w 28"/>
                  <a:gd name="T15" fmla="*/ 40646 h 25"/>
                  <a:gd name="T16" fmla="*/ 29055 w 28"/>
                  <a:gd name="T17" fmla="*/ 31266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8"/>
                  <a:gd name="T28" fmla="*/ 0 h 25"/>
                  <a:gd name="T29" fmla="*/ 28 w 28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8" h="25">
                    <a:moveTo>
                      <a:pt x="10" y="1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2" y="17"/>
                      <a:pt x="25" y="21"/>
                      <a:pt x="28" y="25"/>
                    </a:cubicBezTo>
                    <a:cubicBezTo>
                      <a:pt x="24" y="22"/>
                      <a:pt x="19" y="20"/>
                      <a:pt x="15" y="18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10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6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31509" name="Rectangle 21"/>
              <p:cNvSpPr>
                <a:spLocks noChangeArrowheads="1"/>
              </p:cNvSpPr>
              <p:nvPr/>
            </p:nvSpPr>
            <p:spPr bwMode="auto">
              <a:xfrm>
                <a:off x="3312" y="3792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sz="1400" i="1" dirty="0">
                    <a:solidFill>
                      <a:srgbClr val="000000"/>
                    </a:solidFill>
                    <a:latin typeface="Century Gothic"/>
                    <a:ea typeface="ＭＳ Ｐゴシック" pitchFamily="34" charset="-128"/>
                    <a:cs typeface="Century Gothic"/>
                  </a:rPr>
                  <a:t>Y</a:t>
                </a:r>
                <a:r>
                  <a:rPr lang="en-US" sz="1600" baseline="-25000" dirty="0">
                    <a:solidFill>
                      <a:srgbClr val="000000"/>
                    </a:solidFill>
                    <a:latin typeface="Century Gothic"/>
                    <a:ea typeface="ＭＳ Ｐゴシック" pitchFamily="34" charset="-128"/>
                    <a:cs typeface="Century Gothic"/>
                  </a:rPr>
                  <a:t>2</a:t>
                </a:r>
              </a:p>
            </p:txBody>
          </p:sp>
          <p:sp>
            <p:nvSpPr>
              <p:cNvPr id="531510" name="Line 54"/>
              <p:cNvSpPr>
                <a:spLocks noChangeShapeType="1"/>
              </p:cNvSpPr>
              <p:nvPr/>
            </p:nvSpPr>
            <p:spPr bwMode="auto">
              <a:xfrm>
                <a:off x="2976" y="388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entury Gothic"/>
                  <a:cs typeface="Century Gothic"/>
                </a:endParaRPr>
              </a:p>
            </p:txBody>
          </p:sp>
        </p:grpSp>
        <p:sp>
          <p:nvSpPr>
            <p:cNvPr id="531511" name="Line 55"/>
            <p:cNvSpPr>
              <a:spLocks noChangeShapeType="1"/>
            </p:cNvSpPr>
            <p:nvPr/>
          </p:nvSpPr>
          <p:spPr bwMode="auto">
            <a:xfrm>
              <a:off x="2208" y="283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entury Gothic"/>
                <a:cs typeface="Century Gothic"/>
              </a:endParaRPr>
            </a:p>
          </p:txBody>
        </p:sp>
      </p:grpSp>
      <p:sp>
        <p:nvSpPr>
          <p:cNvPr id="531512" name="Rectangle 56"/>
          <p:cNvSpPr>
            <a:spLocks noGrp="1" noRot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>
            <a:noAutofit/>
          </a:bodyPr>
          <a:lstStyle/>
          <a:p>
            <a:r>
              <a:rPr lang="en-US" sz="3600" spc="0" dirty="0"/>
              <a:t>THE AGGREGATE DEMAND CURVE</a:t>
            </a:r>
            <a:r>
              <a:rPr lang="en-US" altLang="zh-CN" sz="3600" spc="0" dirty="0">
                <a:ea typeface="宋体" pitchFamily="2" charset="-122"/>
              </a:rPr>
              <a:t> AND THE INCOME–EXPENDITURE MODEL</a:t>
            </a:r>
            <a:endParaRPr lang="en-US" sz="3600" spc="0" dirty="0">
              <a:ea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" y="1111250"/>
            <a:ext cx="3127374" cy="5632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If the </a:t>
            </a:r>
            <a:r>
              <a:rPr lang="en-US" sz="2400" b="1" i="1" dirty="0">
                <a:solidFill>
                  <a:srgbClr val="990033"/>
                </a:solidFill>
                <a:latin typeface="Century Gothic"/>
                <a:cs typeface="Century Gothic"/>
              </a:rPr>
              <a:t>price level drops,</a:t>
            </a:r>
            <a:r>
              <a:rPr lang="en-US" sz="24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 </a:t>
            </a:r>
            <a:r>
              <a:rPr lang="en-US" sz="2400" b="1" i="1" dirty="0">
                <a:solidFill>
                  <a:srgbClr val="990033"/>
                </a:solidFill>
                <a:latin typeface="Century Gothic"/>
                <a:cs typeface="Century Gothic"/>
              </a:rPr>
              <a:t>planned spending rises </a:t>
            </a:r>
            <a:r>
              <a:rPr lang="en-US" sz="24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at all output levels (from the wealth and interest-rate effects).</a:t>
            </a:r>
          </a:p>
          <a:p>
            <a:r>
              <a:rPr lang="en-US" sz="24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This leads to a multiplier process that moves the income–expenditure equilibrium from E</a:t>
            </a:r>
            <a:r>
              <a:rPr lang="en-US" sz="2400" b="1" i="1" baseline="-2500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1</a:t>
            </a:r>
            <a:r>
              <a:rPr lang="en-US" sz="24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 to E</a:t>
            </a:r>
            <a:r>
              <a:rPr lang="en-US" sz="2400" b="1" i="1" baseline="-2500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2</a:t>
            </a:r>
            <a:r>
              <a:rPr lang="en-US" sz="24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 and raises real GDP from Y</a:t>
            </a:r>
            <a:r>
              <a:rPr lang="en-US" sz="2400" b="1" i="1" baseline="-2500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1</a:t>
            </a:r>
            <a:r>
              <a:rPr lang="en-US" sz="24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 to Y</a:t>
            </a:r>
            <a:r>
              <a:rPr lang="en-US" sz="2400" b="1" i="1" baseline="-2500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2</a:t>
            </a:r>
            <a:r>
              <a:rPr lang="en-US" sz="24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1579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485" grpId="0" animBg="1"/>
      <p:bldP spid="531486" grpId="0" animBg="1"/>
      <p:bldP spid="531487" grpId="0" animBg="1"/>
      <p:bldP spid="531488" grpId="0" animBg="1"/>
      <p:bldP spid="531490" grpId="0" animBg="1"/>
      <p:bldP spid="531491" grpId="0"/>
      <p:bldP spid="53149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SHIFTS OF THE AGGREGATE DEMAND CURVE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839200" cy="50292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What happens when something changes spending patterns at every price level?</a:t>
            </a:r>
          </a:p>
          <a:p>
            <a:r>
              <a:rPr lang="en-US" sz="2800" dirty="0"/>
              <a:t>The aggregate demand curve </a:t>
            </a:r>
            <a:r>
              <a:rPr lang="en-US" sz="2800" i="1" dirty="0"/>
              <a:t>shifts</a:t>
            </a:r>
            <a:r>
              <a:rPr lang="en-US" sz="2800" dirty="0"/>
              <a:t> because of changes in: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expectations.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wealth.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size of the existing stock of physical capital.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government policies.</a:t>
            </a:r>
          </a:p>
          <a:p>
            <a:pPr lvl="2"/>
            <a:r>
              <a:rPr lang="en-US" dirty="0"/>
              <a:t>Fiscal policy</a:t>
            </a:r>
          </a:p>
          <a:p>
            <a:pPr lvl="2"/>
            <a:r>
              <a:rPr lang="en-US" dirty="0"/>
              <a:t>Monetary policy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26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8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8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8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8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8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8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8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86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39"/>
          <p:cNvSpPr>
            <a:spLocks noChangeArrowheads="1"/>
          </p:cNvSpPr>
          <p:nvPr/>
        </p:nvSpPr>
        <p:spPr bwMode="auto">
          <a:xfrm>
            <a:off x="8270875" y="5201821"/>
            <a:ext cx="36154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3508" name="Rectangle 43"/>
          <p:cNvSpPr>
            <a:spLocks noChangeArrowheads="1"/>
          </p:cNvSpPr>
          <p:nvPr/>
        </p:nvSpPr>
        <p:spPr bwMode="auto">
          <a:xfrm>
            <a:off x="3113088" y="5241509"/>
            <a:ext cx="36154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3510" name="Freeform 82"/>
          <p:cNvSpPr>
            <a:spLocks/>
          </p:cNvSpPr>
          <p:nvPr/>
        </p:nvSpPr>
        <p:spPr bwMode="auto">
          <a:xfrm>
            <a:off x="1219200" y="2369721"/>
            <a:ext cx="3205163" cy="3400425"/>
          </a:xfrm>
          <a:custGeom>
            <a:avLst/>
            <a:gdLst>
              <a:gd name="T0" fmla="*/ 3205167 w 1587"/>
              <a:gd name="T1" fmla="*/ 3401077 h 1416"/>
              <a:gd name="T2" fmla="*/ 0 w 1587"/>
              <a:gd name="T3" fmla="*/ 3401077 h 1416"/>
              <a:gd name="T4" fmla="*/ 0 w 1587"/>
              <a:gd name="T5" fmla="*/ 0 h 1416"/>
              <a:gd name="T6" fmla="*/ 0 60000 65536"/>
              <a:gd name="T7" fmla="*/ 0 60000 65536"/>
              <a:gd name="T8" fmla="*/ 0 60000 65536"/>
              <a:gd name="T9" fmla="*/ 0 w 1587"/>
              <a:gd name="T10" fmla="*/ 0 h 1416"/>
              <a:gd name="T11" fmla="*/ 1587 w 1587"/>
              <a:gd name="T12" fmla="*/ 1416 h 14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7" h="1416">
                <a:moveTo>
                  <a:pt x="1587" y="1416"/>
                </a:moveTo>
                <a:lnTo>
                  <a:pt x="0" y="1416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2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3511" name="Rectangle 37"/>
          <p:cNvSpPr>
            <a:spLocks noChangeArrowheads="1"/>
          </p:cNvSpPr>
          <p:nvPr/>
        </p:nvSpPr>
        <p:spPr bwMode="auto">
          <a:xfrm>
            <a:off x="4005263" y="5236746"/>
            <a:ext cx="36154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3513" name="Line 83"/>
          <p:cNvSpPr>
            <a:spLocks noChangeShapeType="1"/>
          </p:cNvSpPr>
          <p:nvPr/>
        </p:nvSpPr>
        <p:spPr bwMode="auto">
          <a:xfrm>
            <a:off x="2406650" y="4068346"/>
            <a:ext cx="590550" cy="1588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3514" name="Line 87"/>
          <p:cNvSpPr>
            <a:spLocks noChangeShapeType="1"/>
          </p:cNvSpPr>
          <p:nvPr/>
        </p:nvSpPr>
        <p:spPr bwMode="auto">
          <a:xfrm flipH="1" flipV="1">
            <a:off x="2178050" y="2603084"/>
            <a:ext cx="1835150" cy="2673350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3515" name="Line 88"/>
          <p:cNvSpPr>
            <a:spLocks noChangeShapeType="1"/>
          </p:cNvSpPr>
          <p:nvPr/>
        </p:nvSpPr>
        <p:spPr bwMode="auto">
          <a:xfrm flipH="1" flipV="1">
            <a:off x="1295400" y="2598321"/>
            <a:ext cx="1835150" cy="2673350"/>
          </a:xfrm>
          <a:prstGeom prst="line">
            <a:avLst/>
          </a:prstGeom>
          <a:noFill/>
          <a:ln w="38100">
            <a:solidFill>
              <a:srgbClr val="AEC5E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3516" name="Line 89"/>
          <p:cNvSpPr>
            <a:spLocks noChangeShapeType="1"/>
          </p:cNvSpPr>
          <p:nvPr/>
        </p:nvSpPr>
        <p:spPr bwMode="auto">
          <a:xfrm flipH="1" flipV="1">
            <a:off x="6459538" y="2563396"/>
            <a:ext cx="1841500" cy="2673350"/>
          </a:xfrm>
          <a:prstGeom prst="line">
            <a:avLst/>
          </a:prstGeom>
          <a:noFill/>
          <a:ln w="38100">
            <a:solidFill>
              <a:srgbClr val="AEC5E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3517" name="Rectangle 41"/>
          <p:cNvSpPr>
            <a:spLocks noChangeArrowheads="1"/>
          </p:cNvSpPr>
          <p:nvPr/>
        </p:nvSpPr>
        <p:spPr bwMode="auto">
          <a:xfrm>
            <a:off x="7407275" y="5201821"/>
            <a:ext cx="36154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3519" name="Line 85"/>
          <p:cNvSpPr>
            <a:spLocks noChangeShapeType="1"/>
          </p:cNvSpPr>
          <p:nvPr/>
        </p:nvSpPr>
        <p:spPr bwMode="auto">
          <a:xfrm flipH="1">
            <a:off x="7037388" y="4419184"/>
            <a:ext cx="587375" cy="3175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3520" name="Line 90"/>
          <p:cNvSpPr>
            <a:spLocks noChangeShapeType="1"/>
          </p:cNvSpPr>
          <p:nvPr/>
        </p:nvSpPr>
        <p:spPr bwMode="auto">
          <a:xfrm flipH="1" flipV="1">
            <a:off x="5588000" y="2563396"/>
            <a:ext cx="1835150" cy="2678113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3521" name="Freeform 91"/>
          <p:cNvSpPr>
            <a:spLocks/>
          </p:cNvSpPr>
          <p:nvPr/>
        </p:nvSpPr>
        <p:spPr bwMode="auto">
          <a:xfrm>
            <a:off x="5510213" y="2334796"/>
            <a:ext cx="3206750" cy="3400425"/>
          </a:xfrm>
          <a:custGeom>
            <a:avLst/>
            <a:gdLst>
              <a:gd name="T0" fmla="*/ 3207186 w 1588"/>
              <a:gd name="T1" fmla="*/ 3401077 h 1416"/>
              <a:gd name="T2" fmla="*/ 0 w 1588"/>
              <a:gd name="T3" fmla="*/ 3401077 h 1416"/>
              <a:gd name="T4" fmla="*/ 0 w 1588"/>
              <a:gd name="T5" fmla="*/ 0 h 1416"/>
              <a:gd name="T6" fmla="*/ 0 60000 65536"/>
              <a:gd name="T7" fmla="*/ 0 60000 65536"/>
              <a:gd name="T8" fmla="*/ 0 60000 65536"/>
              <a:gd name="T9" fmla="*/ 0 w 1588"/>
              <a:gd name="T10" fmla="*/ 0 h 1416"/>
              <a:gd name="T11" fmla="*/ 1588 w 1588"/>
              <a:gd name="T12" fmla="*/ 1416 h 14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8" h="1416">
                <a:moveTo>
                  <a:pt x="1588" y="1416"/>
                </a:moveTo>
                <a:lnTo>
                  <a:pt x="0" y="1416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2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3522" name="Rectangle 18"/>
          <p:cNvSpPr>
            <a:spLocks noChangeArrowheads="1"/>
          </p:cNvSpPr>
          <p:nvPr/>
        </p:nvSpPr>
        <p:spPr bwMode="auto">
          <a:xfrm>
            <a:off x="3721100" y="5757446"/>
            <a:ext cx="1447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33523" name="Rectangle 19"/>
          <p:cNvSpPr>
            <a:spLocks noChangeArrowheads="1"/>
          </p:cNvSpPr>
          <p:nvPr/>
        </p:nvSpPr>
        <p:spPr bwMode="auto">
          <a:xfrm>
            <a:off x="7543800" y="5722521"/>
            <a:ext cx="1447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33524" name="Rectangle 20"/>
          <p:cNvSpPr>
            <a:spLocks noChangeArrowheads="1"/>
          </p:cNvSpPr>
          <p:nvPr/>
        </p:nvSpPr>
        <p:spPr bwMode="auto">
          <a:xfrm>
            <a:off x="4233863" y="1972846"/>
            <a:ext cx="1295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33525" name="Rectangle 21"/>
          <p:cNvSpPr>
            <a:spLocks noChangeArrowheads="1"/>
          </p:cNvSpPr>
          <p:nvPr/>
        </p:nvSpPr>
        <p:spPr bwMode="auto">
          <a:xfrm>
            <a:off x="304800" y="1379121"/>
            <a:ext cx="22018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(a) Rightward Shift</a:t>
            </a:r>
          </a:p>
        </p:txBody>
      </p:sp>
      <p:sp>
        <p:nvSpPr>
          <p:cNvPr id="533526" name="Rectangle 22"/>
          <p:cNvSpPr>
            <a:spLocks noChangeArrowheads="1"/>
          </p:cNvSpPr>
          <p:nvPr/>
        </p:nvSpPr>
        <p:spPr bwMode="auto">
          <a:xfrm>
            <a:off x="4953000" y="1355309"/>
            <a:ext cx="20356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(b) </a:t>
            </a:r>
            <a:r>
              <a:rPr lang="en-US" b="1">
                <a:solidFill>
                  <a:prstClr val="black"/>
                </a:solidFill>
                <a:latin typeface="Century Gothic"/>
                <a:cs typeface="Century Gothic"/>
              </a:rPr>
              <a:t>Leftward Shift</a:t>
            </a:r>
          </a:p>
        </p:txBody>
      </p:sp>
      <p:sp>
        <p:nvSpPr>
          <p:cNvPr id="533527" name="Rectangle 23"/>
          <p:cNvSpPr>
            <a:spLocks noChangeArrowheads="1"/>
          </p:cNvSpPr>
          <p:nvPr/>
        </p:nvSpPr>
        <p:spPr bwMode="auto">
          <a:xfrm>
            <a:off x="0" y="1972846"/>
            <a:ext cx="1295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33528" name="Rectangle 24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r>
              <a:rPr lang="en-US" sz="4000" spc="0" dirty="0"/>
              <a:t>SHIFTS OF THE AGGREGATE DEMAND CURVE</a:t>
            </a:r>
          </a:p>
        </p:txBody>
      </p:sp>
      <p:sp>
        <p:nvSpPr>
          <p:cNvPr id="533529" name="Freeform 272"/>
          <p:cNvSpPr>
            <a:spLocks/>
          </p:cNvSpPr>
          <p:nvPr/>
        </p:nvSpPr>
        <p:spPr bwMode="auto">
          <a:xfrm>
            <a:off x="2971800" y="2667000"/>
            <a:ext cx="1676400" cy="998121"/>
          </a:xfrm>
          <a:custGeom>
            <a:avLst/>
            <a:gdLst>
              <a:gd name="T0" fmla="*/ 1603375 w 229"/>
              <a:gd name="T1" fmla="*/ 1146655 h 172"/>
              <a:gd name="T2" fmla="*/ 1484347 w 229"/>
              <a:gd name="T3" fmla="*/ 1289050 h 172"/>
              <a:gd name="T4" fmla="*/ 119028 w 229"/>
              <a:gd name="T5" fmla="*/ 1289050 h 172"/>
              <a:gd name="T6" fmla="*/ 0 w 229"/>
              <a:gd name="T7" fmla="*/ 1146655 h 172"/>
              <a:gd name="T8" fmla="*/ 0 w 229"/>
              <a:gd name="T9" fmla="*/ 142395 h 172"/>
              <a:gd name="T10" fmla="*/ 119028 w 229"/>
              <a:gd name="T11" fmla="*/ 0 h 172"/>
              <a:gd name="T12" fmla="*/ 1484347 w 229"/>
              <a:gd name="T13" fmla="*/ 0 h 172"/>
              <a:gd name="T14" fmla="*/ 1603375 w 229"/>
              <a:gd name="T15" fmla="*/ 142395 h 172"/>
              <a:gd name="T16" fmla="*/ 1603375 w 229"/>
              <a:gd name="T17" fmla="*/ 1146655 h 17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29"/>
              <a:gd name="T28" fmla="*/ 0 h 172"/>
              <a:gd name="T29" fmla="*/ 229 w 229"/>
              <a:gd name="T30" fmla="*/ 172 h 17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29" h="172">
                <a:moveTo>
                  <a:pt x="229" y="153"/>
                </a:moveTo>
                <a:cubicBezTo>
                  <a:pt x="229" y="163"/>
                  <a:pt x="221" y="172"/>
                  <a:pt x="212" y="172"/>
                </a:cubicBezTo>
                <a:cubicBezTo>
                  <a:pt x="17" y="172"/>
                  <a:pt x="17" y="172"/>
                  <a:pt x="17" y="172"/>
                </a:cubicBezTo>
                <a:cubicBezTo>
                  <a:pt x="8" y="172"/>
                  <a:pt x="0" y="163"/>
                  <a:pt x="0" y="153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212" y="0"/>
                  <a:pt x="212" y="0"/>
                  <a:pt x="212" y="0"/>
                </a:cubicBezTo>
                <a:cubicBezTo>
                  <a:pt x="221" y="0"/>
                  <a:pt x="229" y="9"/>
                  <a:pt x="229" y="19"/>
                </a:cubicBezTo>
                <a:lnTo>
                  <a:pt x="229" y="153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3530" name="Rectangle 26"/>
          <p:cNvSpPr>
            <a:spLocks noChangeArrowheads="1"/>
          </p:cNvSpPr>
          <p:nvPr/>
        </p:nvSpPr>
        <p:spPr bwMode="auto">
          <a:xfrm>
            <a:off x="2971800" y="2743200"/>
            <a:ext cx="1600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Increase in aggregate demand</a:t>
            </a:r>
          </a:p>
        </p:txBody>
      </p:sp>
      <p:sp>
        <p:nvSpPr>
          <p:cNvPr id="533532" name="Freeform 272"/>
          <p:cNvSpPr>
            <a:spLocks/>
          </p:cNvSpPr>
          <p:nvPr/>
        </p:nvSpPr>
        <p:spPr bwMode="auto">
          <a:xfrm>
            <a:off x="6629400" y="1912520"/>
            <a:ext cx="1600200" cy="906879"/>
          </a:xfrm>
          <a:custGeom>
            <a:avLst/>
            <a:gdLst>
              <a:gd name="T0" fmla="*/ 1603375 w 229"/>
              <a:gd name="T1" fmla="*/ 1146655 h 172"/>
              <a:gd name="T2" fmla="*/ 1484347 w 229"/>
              <a:gd name="T3" fmla="*/ 1289050 h 172"/>
              <a:gd name="T4" fmla="*/ 119028 w 229"/>
              <a:gd name="T5" fmla="*/ 1289050 h 172"/>
              <a:gd name="T6" fmla="*/ 0 w 229"/>
              <a:gd name="T7" fmla="*/ 1146655 h 172"/>
              <a:gd name="T8" fmla="*/ 0 w 229"/>
              <a:gd name="T9" fmla="*/ 142395 h 172"/>
              <a:gd name="T10" fmla="*/ 119028 w 229"/>
              <a:gd name="T11" fmla="*/ 0 h 172"/>
              <a:gd name="T12" fmla="*/ 1484347 w 229"/>
              <a:gd name="T13" fmla="*/ 0 h 172"/>
              <a:gd name="T14" fmla="*/ 1603375 w 229"/>
              <a:gd name="T15" fmla="*/ 142395 h 172"/>
              <a:gd name="T16" fmla="*/ 1603375 w 229"/>
              <a:gd name="T17" fmla="*/ 1146655 h 17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29"/>
              <a:gd name="T28" fmla="*/ 0 h 172"/>
              <a:gd name="T29" fmla="*/ 229 w 229"/>
              <a:gd name="T30" fmla="*/ 172 h 17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29" h="172">
                <a:moveTo>
                  <a:pt x="229" y="153"/>
                </a:moveTo>
                <a:cubicBezTo>
                  <a:pt x="229" y="163"/>
                  <a:pt x="221" y="172"/>
                  <a:pt x="212" y="172"/>
                </a:cubicBezTo>
                <a:cubicBezTo>
                  <a:pt x="17" y="172"/>
                  <a:pt x="17" y="172"/>
                  <a:pt x="17" y="172"/>
                </a:cubicBezTo>
                <a:cubicBezTo>
                  <a:pt x="8" y="172"/>
                  <a:pt x="0" y="163"/>
                  <a:pt x="0" y="153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212" y="0"/>
                  <a:pt x="212" y="0"/>
                  <a:pt x="212" y="0"/>
                </a:cubicBezTo>
                <a:cubicBezTo>
                  <a:pt x="221" y="0"/>
                  <a:pt x="229" y="9"/>
                  <a:pt x="229" y="19"/>
                </a:cubicBezTo>
                <a:lnTo>
                  <a:pt x="229" y="153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3533" name="Rectangle 29"/>
          <p:cNvSpPr>
            <a:spLocks noChangeArrowheads="1"/>
          </p:cNvSpPr>
          <p:nvPr/>
        </p:nvSpPr>
        <p:spPr bwMode="auto">
          <a:xfrm>
            <a:off x="6634452" y="1912521"/>
            <a:ext cx="23336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Decrease in aggregate demand</a:t>
            </a:r>
          </a:p>
        </p:txBody>
      </p:sp>
    </p:spTree>
    <p:extLst>
      <p:ext uri="{BB962C8B-B14F-4D97-AF65-F5344CB8AC3E}">
        <p14:creationId xmlns:p14="http://schemas.microsoft.com/office/powerpoint/2010/main" val="43167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687 0.00439 L -1.66667E-6 3.7037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5335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44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3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33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687 -0.00116 L 1.66667E-6 -7.40741E-7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5335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44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3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3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11" grpId="0"/>
      <p:bldP spid="533513" grpId="0" animBg="1"/>
      <p:bldP spid="533514" grpId="0" animBg="1"/>
      <p:bldP spid="533514" grpId="1" animBg="1"/>
      <p:bldP spid="533517" grpId="0"/>
      <p:bldP spid="533519" grpId="0" animBg="1"/>
      <p:bldP spid="533520" grpId="0" animBg="1"/>
      <p:bldP spid="533520" grpId="1" animBg="1"/>
      <p:bldP spid="533529" grpId="0" animBg="1"/>
      <p:bldP spid="533530" grpId="0"/>
      <p:bldP spid="533532" grpId="0" animBg="1"/>
      <p:bldP spid="5335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486400"/>
          </a:xfrm>
        </p:spPr>
        <p:txBody>
          <a:bodyPr>
            <a:normAutofit fontScale="92500"/>
          </a:bodyPr>
          <a:lstStyle/>
          <a:p>
            <a:pPr>
              <a:spcBef>
                <a:spcPts val="72"/>
              </a:spcBef>
              <a:spcAft>
                <a:spcPts val="1200"/>
              </a:spcAft>
            </a:pPr>
            <a:r>
              <a:rPr lang="en-US" sz="2800" dirty="0">
                <a:solidFill>
                  <a:srgbClr val="0070C0"/>
                </a:solidFill>
                <a:latin typeface="Century Gothic"/>
                <a:cs typeface="Century Gothic"/>
              </a:rPr>
              <a:t>CHANGES IN WEALTH: A MOVEMENT ALONG VS. A SHIFT OF THE AGGREGATE DEMAND CURVE</a:t>
            </a:r>
          </a:p>
          <a:p>
            <a:pPr>
              <a:spcBef>
                <a:spcPts val="72"/>
              </a:spcBef>
              <a:spcAft>
                <a:spcPts val="1200"/>
              </a:spcAft>
            </a:pPr>
            <a:r>
              <a:rPr lang="en-US" sz="2800" dirty="0">
                <a:solidFill>
                  <a:srgbClr val="990033"/>
                </a:solidFill>
                <a:latin typeface="Century Gothic"/>
                <a:cs typeface="Century Gothic"/>
              </a:rPr>
              <a:t>Q: 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cs typeface="Century Gothic"/>
              </a:rPr>
              <a:t>Which is it: Does a change in wealth move us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cs typeface="Century Gothic"/>
              </a:rPr>
              <a:t>along the AD curve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cs typeface="Century Gothic"/>
              </a:rPr>
              <a:t> (wealth effect) or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cs typeface="Century Gothic"/>
              </a:rPr>
              <a:t>shift it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cs typeface="Century Gothic"/>
              </a:rPr>
              <a:t>?</a:t>
            </a:r>
          </a:p>
          <a:p>
            <a:pPr>
              <a:spcBef>
                <a:spcPts val="72"/>
              </a:spcBef>
              <a:spcAft>
                <a:spcPts val="1200"/>
              </a:spcAft>
            </a:pPr>
            <a:r>
              <a:rPr lang="en-US" sz="2800" dirty="0">
                <a:solidFill>
                  <a:srgbClr val="990033"/>
                </a:solidFill>
                <a:latin typeface="Century Gothic"/>
                <a:cs typeface="Century Gothic"/>
              </a:rPr>
              <a:t>A: </a:t>
            </a:r>
            <a:r>
              <a:rPr lang="en-US" sz="2800" dirty="0">
                <a:latin typeface="Century Gothic"/>
                <a:cs typeface="Century Gothic"/>
              </a:rPr>
              <a:t>it depends on the </a:t>
            </a:r>
            <a:r>
              <a:rPr lang="en-US" sz="2800" dirty="0">
                <a:solidFill>
                  <a:srgbClr val="0070C0"/>
                </a:solidFill>
                <a:latin typeface="Century Gothic"/>
                <a:cs typeface="Century Gothic"/>
              </a:rPr>
              <a:t>source</a:t>
            </a:r>
            <a:r>
              <a:rPr lang="en-US" sz="2800" dirty="0">
                <a:latin typeface="Century Gothic"/>
                <a:cs typeface="Century Gothic"/>
              </a:rPr>
              <a:t> of the change in wealth.</a:t>
            </a:r>
          </a:p>
          <a:p>
            <a:pPr lvl="1">
              <a:spcBef>
                <a:spcPts val="72"/>
              </a:spcBef>
              <a:spcAft>
                <a:spcPts val="1200"/>
              </a:spcAft>
            </a:pPr>
            <a:r>
              <a:rPr lang="en-US" sz="2800" dirty="0">
                <a:latin typeface="Century Gothic"/>
                <a:cs typeface="Century Gothic"/>
              </a:rPr>
              <a:t>If it’s a </a:t>
            </a:r>
            <a:r>
              <a:rPr lang="en-US" sz="2800" dirty="0">
                <a:solidFill>
                  <a:srgbClr val="0070C0"/>
                </a:solidFill>
                <a:latin typeface="Century Gothic"/>
                <a:cs typeface="Century Gothic"/>
              </a:rPr>
              <a:t>change in price level </a:t>
            </a:r>
            <a:r>
              <a:rPr lang="en-US" sz="2800" dirty="0">
                <a:latin typeface="Century Gothic"/>
                <a:cs typeface="Century Gothic"/>
              </a:rPr>
              <a:t>that affects our wealth, it’s a </a:t>
            </a:r>
            <a:r>
              <a:rPr lang="en-US" sz="2800" dirty="0">
                <a:solidFill>
                  <a:srgbClr val="0070C0"/>
                </a:solidFill>
                <a:latin typeface="Century Gothic"/>
                <a:cs typeface="Century Gothic"/>
              </a:rPr>
              <a:t>movement along the </a:t>
            </a:r>
            <a:r>
              <a:rPr lang="en-US" sz="2800" i="1" dirty="0">
                <a:solidFill>
                  <a:srgbClr val="0070C0"/>
                </a:solidFill>
                <a:latin typeface="Century Gothic"/>
                <a:cs typeface="Century Gothic"/>
              </a:rPr>
              <a:t>AD.</a:t>
            </a:r>
          </a:p>
          <a:p>
            <a:pPr lvl="2">
              <a:spcBef>
                <a:spcPts val="72"/>
              </a:spcBef>
              <a:spcAft>
                <a:spcPts val="1200"/>
              </a:spcAft>
            </a:pP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cs typeface="Century Gothic"/>
              </a:rPr>
              <a:t>Example: Rapid inflation shrinks our wealth.</a:t>
            </a:r>
          </a:p>
          <a:p>
            <a:pPr lvl="1">
              <a:spcBef>
                <a:spcPts val="72"/>
              </a:spcBef>
              <a:spcAft>
                <a:spcPts val="1200"/>
              </a:spcAft>
            </a:pPr>
            <a:r>
              <a:rPr lang="en-US" sz="2800" dirty="0">
                <a:latin typeface="Century Gothic"/>
                <a:cs typeface="Century Gothic"/>
              </a:rPr>
              <a:t>If it’s a </a:t>
            </a:r>
            <a:r>
              <a:rPr lang="en-US" sz="2800" dirty="0">
                <a:solidFill>
                  <a:srgbClr val="990033"/>
                </a:solidFill>
                <a:latin typeface="Century Gothic"/>
                <a:cs typeface="Century Gothic"/>
              </a:rPr>
              <a:t>change in something else that affects our wealth</a:t>
            </a:r>
            <a:r>
              <a:rPr lang="en-US" sz="2800" dirty="0">
                <a:latin typeface="Century Gothic"/>
                <a:cs typeface="Century Gothic"/>
              </a:rPr>
              <a:t>, it’s a </a:t>
            </a:r>
            <a:r>
              <a:rPr lang="en-US" sz="2800" dirty="0">
                <a:solidFill>
                  <a:srgbClr val="990033"/>
                </a:solidFill>
                <a:latin typeface="Century Gothic"/>
                <a:cs typeface="Century Gothic"/>
              </a:rPr>
              <a:t>shift in the </a:t>
            </a:r>
            <a:r>
              <a:rPr lang="en-US" sz="2800" i="1" dirty="0">
                <a:solidFill>
                  <a:srgbClr val="990033"/>
                </a:solidFill>
                <a:latin typeface="Century Gothic"/>
                <a:cs typeface="Century Gothic"/>
              </a:rPr>
              <a:t>AD.</a:t>
            </a:r>
            <a:endParaRPr lang="en-US" sz="2400" i="1" dirty="0">
              <a:solidFill>
                <a:srgbClr val="990033"/>
              </a:solidFill>
              <a:latin typeface="Century Gothic"/>
              <a:cs typeface="Century Gothic"/>
            </a:endParaRPr>
          </a:p>
          <a:p>
            <a:pPr lvl="2">
              <a:spcBef>
                <a:spcPts val="72"/>
              </a:spcBef>
              <a:spcAft>
                <a:spcPts val="1200"/>
              </a:spcAft>
            </a:pP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cs typeface="Century Gothic"/>
              </a:rPr>
              <a:t>	Example: The housing market crashes.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08152"/>
            <a:ext cx="1905000" cy="12752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309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Font typeface="Arial" pitchFamily="34" charset="0"/>
              <a:buNone/>
              <a:defRPr/>
            </a:pPr>
            <a:r>
              <a:rPr lang="en-US" sz="3200" dirty="0"/>
              <a:t>If the economy is in equilibrium and the real estate market collapses, what will likely happen?</a:t>
            </a:r>
          </a:p>
          <a:p>
            <a:pPr marL="514350" indent="-514350">
              <a:buFont typeface="+mj-lt"/>
              <a:buAutoNum type="alphaLcParenR"/>
              <a:defRPr/>
            </a:pPr>
            <a:r>
              <a:rPr lang="en-US" sz="3200" dirty="0"/>
              <a:t>The </a:t>
            </a:r>
            <a:r>
              <a:rPr lang="en-US" sz="3200" i="1" dirty="0"/>
              <a:t>AD</a:t>
            </a:r>
            <a:r>
              <a:rPr lang="en-US" sz="3200" dirty="0"/>
              <a:t> curve will shift rightward.</a:t>
            </a:r>
          </a:p>
          <a:p>
            <a:pPr marL="514350" indent="-514350">
              <a:buFont typeface="+mj-lt"/>
              <a:buAutoNum type="alphaLcParenR"/>
              <a:defRPr/>
            </a:pPr>
            <a:r>
              <a:rPr lang="en-US" sz="3200" dirty="0"/>
              <a:t>The </a:t>
            </a:r>
            <a:r>
              <a:rPr lang="en-US" sz="3200" i="1" dirty="0"/>
              <a:t>AD</a:t>
            </a:r>
            <a:r>
              <a:rPr lang="en-US" sz="3200" dirty="0"/>
              <a:t> curve will shift leftward.</a:t>
            </a:r>
          </a:p>
          <a:p>
            <a:pPr marL="514350" indent="-514350">
              <a:buFont typeface="+mj-lt"/>
              <a:buAutoNum type="alphaLcParenR"/>
              <a:defRPr/>
            </a:pPr>
            <a:r>
              <a:rPr lang="en-US" sz="3200" dirty="0"/>
              <a:t>The </a:t>
            </a:r>
            <a:r>
              <a:rPr lang="en-US" sz="3200" i="1" dirty="0"/>
              <a:t>SRAS</a:t>
            </a:r>
            <a:r>
              <a:rPr lang="en-US" sz="3200" dirty="0"/>
              <a:t> curve will shift rightward.</a:t>
            </a:r>
          </a:p>
          <a:p>
            <a:pPr marL="514350" indent="-514350">
              <a:buFont typeface="+mj-lt"/>
              <a:buAutoNum type="alphaLcParenR"/>
              <a:defRPr/>
            </a:pPr>
            <a:r>
              <a:rPr lang="en-US" sz="3200" dirty="0"/>
              <a:t>The </a:t>
            </a:r>
            <a:r>
              <a:rPr lang="en-US" sz="3200" i="1" dirty="0"/>
              <a:t>SRAS</a:t>
            </a:r>
            <a:r>
              <a:rPr lang="en-US" sz="3200" dirty="0"/>
              <a:t> curve will shift leftward.</a:t>
            </a:r>
          </a:p>
          <a:p>
            <a:pPr marL="514350" indent="-514350">
              <a:buNone/>
              <a:defRPr/>
            </a:pP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3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3" action="ppaction://hlinksldjump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49095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838200"/>
            <a:ext cx="8839200" cy="5638800"/>
          </a:xfrm>
        </p:spPr>
        <p:txBody>
          <a:bodyPr/>
          <a:lstStyle/>
          <a:p>
            <a:r>
              <a:rPr lang="en-US" dirty="0">
                <a:solidFill>
                  <a:srgbClr val="E46C0A"/>
                </a:solidFill>
                <a:latin typeface="Century Gothic"/>
                <a:cs typeface="Century Gothic"/>
              </a:rPr>
              <a:t>MOVING ALONG THE AGGREGATE DEMAND CURVE, 1979-1980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entury Gothic"/>
                <a:cs typeface="Century Gothic"/>
              </a:rPr>
              <a:t>Q: </a:t>
            </a:r>
            <a:r>
              <a:rPr lang="en-US" dirty="0">
                <a:latin typeface="Century Gothic"/>
                <a:cs typeface="Century Gothic"/>
              </a:rPr>
              <a:t>How do distinguish between shifts of the AD curve and movements along it?</a:t>
            </a:r>
          </a:p>
          <a:p>
            <a:r>
              <a:rPr lang="en-US" dirty="0">
                <a:solidFill>
                  <a:srgbClr val="376092"/>
                </a:solidFill>
                <a:latin typeface="Century Gothic"/>
                <a:cs typeface="Century Gothic"/>
              </a:rPr>
              <a:t>A: </a:t>
            </a:r>
            <a:r>
              <a:rPr lang="en-US" dirty="0">
                <a:latin typeface="Century Gothic"/>
                <a:cs typeface="Century Gothic"/>
              </a:rPr>
              <a:t>Sometimes it’s hard… except in 1979</a:t>
            </a:r>
          </a:p>
          <a:p>
            <a:pPr lvl="1"/>
            <a:r>
              <a:rPr lang="en-US" dirty="0">
                <a:latin typeface="Century Gothic"/>
                <a:cs typeface="Century Gothic"/>
              </a:rPr>
              <a:t>Prices rose 14.8% while consumer and investment spending dropped.</a:t>
            </a:r>
          </a:p>
          <a:p>
            <a:r>
              <a:rPr lang="en-US" dirty="0">
                <a:solidFill>
                  <a:srgbClr val="E46C0A"/>
                </a:solidFill>
                <a:latin typeface="Century Gothic"/>
                <a:cs typeface="Century Gothic"/>
              </a:rPr>
              <a:t>The culprit? A leftward shift in the short-run aggregate supply curve along the AD curve.</a:t>
            </a:r>
          </a:p>
        </p:txBody>
      </p:sp>
    </p:spTree>
    <p:extLst>
      <p:ext uri="{BB962C8B-B14F-4D97-AF65-F5344CB8AC3E}">
        <p14:creationId xmlns:p14="http://schemas.microsoft.com/office/powerpoint/2010/main" val="3996258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Freeform 51"/>
          <p:cNvSpPr>
            <a:spLocks/>
          </p:cNvSpPr>
          <p:nvPr/>
        </p:nvSpPr>
        <p:spPr bwMode="auto">
          <a:xfrm>
            <a:off x="670982" y="2438400"/>
            <a:ext cx="6263218" cy="3667125"/>
          </a:xfrm>
          <a:custGeom>
            <a:avLst/>
            <a:gdLst>
              <a:gd name="T0" fmla="*/ 6235227 w 2466"/>
              <a:gd name="T1" fmla="*/ 4735292 h 1720"/>
              <a:gd name="T2" fmla="*/ 0 w 2466"/>
              <a:gd name="T3" fmla="*/ 4735292 h 1720"/>
              <a:gd name="T4" fmla="*/ 0 w 2466"/>
              <a:gd name="T5" fmla="*/ 0 h 1720"/>
              <a:gd name="T6" fmla="*/ 0 60000 65536"/>
              <a:gd name="T7" fmla="*/ 0 60000 65536"/>
              <a:gd name="T8" fmla="*/ 0 60000 65536"/>
              <a:gd name="T9" fmla="*/ 0 w 2466"/>
              <a:gd name="T10" fmla="*/ 0 h 1720"/>
              <a:gd name="T11" fmla="*/ 2466 w 2466"/>
              <a:gd name="T12" fmla="*/ 1720 h 17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66" h="1720">
                <a:moveTo>
                  <a:pt x="2466" y="1720"/>
                </a:moveTo>
                <a:lnTo>
                  <a:pt x="0" y="1720"/>
                </a:lnTo>
                <a:lnTo>
                  <a:pt x="0" y="0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55" name="Line 52"/>
          <p:cNvSpPr>
            <a:spLocks noChangeShapeType="1"/>
          </p:cNvSpPr>
          <p:nvPr/>
        </p:nvSpPr>
        <p:spPr bwMode="auto">
          <a:xfrm flipV="1">
            <a:off x="1218143" y="2474913"/>
            <a:ext cx="4281487" cy="2744787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56" name="Rectangle 90"/>
          <p:cNvSpPr>
            <a:spLocks noChangeArrowheads="1"/>
          </p:cNvSpPr>
          <p:nvPr/>
        </p:nvSpPr>
        <p:spPr bwMode="auto">
          <a:xfrm>
            <a:off x="359305" y="6157913"/>
            <a:ext cx="1137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0</a:t>
            </a: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57" name="Rectangle 91"/>
          <p:cNvSpPr>
            <a:spLocks noChangeArrowheads="1"/>
          </p:cNvSpPr>
          <p:nvPr/>
        </p:nvSpPr>
        <p:spPr bwMode="auto">
          <a:xfrm>
            <a:off x="4275668" y="6157913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1,057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58" name="Line 97"/>
          <p:cNvSpPr>
            <a:spLocks noChangeShapeType="1"/>
          </p:cNvSpPr>
          <p:nvPr/>
        </p:nvSpPr>
        <p:spPr bwMode="auto">
          <a:xfrm flipH="1">
            <a:off x="4436005" y="5919788"/>
            <a:ext cx="6350" cy="215900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59" name="Rectangle 7"/>
          <p:cNvSpPr>
            <a:spLocks noChangeArrowheads="1"/>
          </p:cNvSpPr>
          <p:nvPr/>
        </p:nvSpPr>
        <p:spPr bwMode="auto">
          <a:xfrm>
            <a:off x="4712230" y="6135688"/>
            <a:ext cx="368776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 (billions of 2009 dollars)</a:t>
            </a:r>
          </a:p>
        </p:txBody>
      </p:sp>
      <p:sp>
        <p:nvSpPr>
          <p:cNvPr id="535560" name="Rectangle 8"/>
          <p:cNvSpPr>
            <a:spLocks noChangeArrowheads="1"/>
          </p:cNvSpPr>
          <p:nvPr/>
        </p:nvSpPr>
        <p:spPr bwMode="auto">
          <a:xfrm>
            <a:off x="0" y="1150203"/>
            <a:ext cx="15240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level (GDP deflator,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2005 = 100)</a:t>
            </a:r>
          </a:p>
        </p:txBody>
      </p:sp>
      <p:sp>
        <p:nvSpPr>
          <p:cNvPr id="535561" name="Rectangle 9"/>
          <p:cNvSpPr>
            <a:spLocks noChangeArrowheads="1"/>
          </p:cNvSpPr>
          <p:nvPr/>
        </p:nvSpPr>
        <p:spPr bwMode="auto">
          <a:xfrm>
            <a:off x="5045605" y="1854200"/>
            <a:ext cx="22860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Short-run aggregate</a:t>
            </a:r>
          </a:p>
          <a:p>
            <a:pPr>
              <a:spcBef>
                <a:spcPct val="0"/>
              </a:spcBef>
            </a:pPr>
            <a:r>
              <a: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supply curve, 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</a:p>
        </p:txBody>
      </p:sp>
      <p:sp>
        <p:nvSpPr>
          <p:cNvPr id="535562" name="Line 10"/>
          <p:cNvSpPr>
            <a:spLocks noChangeShapeType="1"/>
          </p:cNvSpPr>
          <p:nvPr/>
        </p:nvSpPr>
        <p:spPr bwMode="auto">
          <a:xfrm flipH="1">
            <a:off x="4436005" y="3240088"/>
            <a:ext cx="0" cy="26606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63" name="Rectangle 7"/>
          <p:cNvSpPr>
            <a:spLocks noChangeArrowheads="1"/>
          </p:cNvSpPr>
          <p:nvPr/>
        </p:nvSpPr>
        <p:spPr bwMode="auto">
          <a:xfrm>
            <a:off x="249168" y="2984500"/>
            <a:ext cx="28423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9.9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64" name="Rectangle 49"/>
          <p:cNvSpPr>
            <a:spLocks noChangeArrowheads="1"/>
          </p:cNvSpPr>
          <p:nvPr/>
        </p:nvSpPr>
        <p:spPr bwMode="auto">
          <a:xfrm>
            <a:off x="4502680" y="3157538"/>
            <a:ext cx="45485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1929</a:t>
            </a: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65" name="Oval 54"/>
          <p:cNvSpPr>
            <a:spLocks noChangeArrowheads="1"/>
          </p:cNvSpPr>
          <p:nvPr/>
        </p:nvSpPr>
        <p:spPr bwMode="auto">
          <a:xfrm>
            <a:off x="4385205" y="3086100"/>
            <a:ext cx="117475" cy="13176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66" name="Line 98"/>
          <p:cNvSpPr>
            <a:spLocks noChangeShapeType="1"/>
          </p:cNvSpPr>
          <p:nvPr/>
        </p:nvSpPr>
        <p:spPr bwMode="auto">
          <a:xfrm>
            <a:off x="560918" y="3152775"/>
            <a:ext cx="144462" cy="1588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67" name="Line 15"/>
          <p:cNvSpPr>
            <a:spLocks noChangeShapeType="1"/>
          </p:cNvSpPr>
          <p:nvPr/>
        </p:nvSpPr>
        <p:spPr bwMode="auto">
          <a:xfrm flipH="1">
            <a:off x="730780" y="3149600"/>
            <a:ext cx="35782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68" name="Rectangle 8"/>
          <p:cNvSpPr>
            <a:spLocks noChangeArrowheads="1"/>
          </p:cNvSpPr>
          <p:nvPr/>
        </p:nvSpPr>
        <p:spPr bwMode="auto">
          <a:xfrm>
            <a:off x="218018" y="3725863"/>
            <a:ext cx="28423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7.3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69" name="Rectangle 50"/>
          <p:cNvSpPr>
            <a:spLocks noChangeArrowheads="1"/>
          </p:cNvSpPr>
          <p:nvPr/>
        </p:nvSpPr>
        <p:spPr bwMode="auto">
          <a:xfrm>
            <a:off x="3340630" y="3876675"/>
            <a:ext cx="45485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1933</a:t>
            </a: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70" name="Oval 53"/>
          <p:cNvSpPr>
            <a:spLocks noChangeArrowheads="1"/>
          </p:cNvSpPr>
          <p:nvPr/>
        </p:nvSpPr>
        <p:spPr bwMode="auto">
          <a:xfrm>
            <a:off x="3234268" y="3802063"/>
            <a:ext cx="119062" cy="1301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71" name="Freeform 56"/>
          <p:cNvSpPr>
            <a:spLocks/>
          </p:cNvSpPr>
          <p:nvPr/>
        </p:nvSpPr>
        <p:spPr bwMode="auto">
          <a:xfrm>
            <a:off x="1828800" y="1524000"/>
            <a:ext cx="2438400" cy="1363663"/>
          </a:xfrm>
          <a:custGeom>
            <a:avLst/>
            <a:gdLst>
              <a:gd name="T0" fmla="*/ 1994970 w 334"/>
              <a:gd name="T1" fmla="*/ 1016027 h 175"/>
              <a:gd name="T2" fmla="*/ 1893430 w 334"/>
              <a:gd name="T3" fmla="*/ 1139774 h 175"/>
              <a:gd name="T4" fmla="*/ 101540 w 334"/>
              <a:gd name="T5" fmla="*/ 1139774 h 175"/>
              <a:gd name="T6" fmla="*/ 0 w 334"/>
              <a:gd name="T7" fmla="*/ 1016027 h 175"/>
              <a:gd name="T8" fmla="*/ 0 w 334"/>
              <a:gd name="T9" fmla="*/ 123747 h 175"/>
              <a:gd name="T10" fmla="*/ 101540 w 334"/>
              <a:gd name="T11" fmla="*/ 0 h 175"/>
              <a:gd name="T12" fmla="*/ 1893430 w 334"/>
              <a:gd name="T13" fmla="*/ 0 h 175"/>
              <a:gd name="T14" fmla="*/ 1994970 w 334"/>
              <a:gd name="T15" fmla="*/ 123747 h 175"/>
              <a:gd name="T16" fmla="*/ 1994970 w 334"/>
              <a:gd name="T17" fmla="*/ 1016027 h 17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4"/>
              <a:gd name="T28" fmla="*/ 0 h 175"/>
              <a:gd name="T29" fmla="*/ 334 w 334"/>
              <a:gd name="T30" fmla="*/ 175 h 17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4" h="175">
                <a:moveTo>
                  <a:pt x="334" y="156"/>
                </a:moveTo>
                <a:cubicBezTo>
                  <a:pt x="334" y="167"/>
                  <a:pt x="326" y="175"/>
                  <a:pt x="317" y="175"/>
                </a:cubicBezTo>
                <a:cubicBezTo>
                  <a:pt x="17" y="175"/>
                  <a:pt x="17" y="175"/>
                  <a:pt x="17" y="175"/>
                </a:cubicBezTo>
                <a:cubicBezTo>
                  <a:pt x="8" y="175"/>
                  <a:pt x="0" y="167"/>
                  <a:pt x="0" y="15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7" y="0"/>
                </a:cubicBezTo>
                <a:cubicBezTo>
                  <a:pt x="317" y="0"/>
                  <a:pt x="317" y="0"/>
                  <a:pt x="317" y="0"/>
                </a:cubicBezTo>
                <a:cubicBezTo>
                  <a:pt x="326" y="0"/>
                  <a:pt x="334" y="8"/>
                  <a:pt x="334" y="19"/>
                </a:cubicBezTo>
                <a:lnTo>
                  <a:pt x="334" y="156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72" name="Rectangle 89"/>
          <p:cNvSpPr>
            <a:spLocks noChangeArrowheads="1"/>
          </p:cNvSpPr>
          <p:nvPr/>
        </p:nvSpPr>
        <p:spPr bwMode="auto">
          <a:xfrm>
            <a:off x="3072343" y="6130925"/>
            <a:ext cx="51165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 $778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73" name="Line 92"/>
          <p:cNvSpPr>
            <a:spLocks noChangeShapeType="1"/>
          </p:cNvSpPr>
          <p:nvPr/>
        </p:nvSpPr>
        <p:spPr bwMode="auto">
          <a:xfrm>
            <a:off x="3294593" y="5922963"/>
            <a:ext cx="3175" cy="15557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74" name="Line 99"/>
          <p:cNvSpPr>
            <a:spLocks noChangeShapeType="1"/>
          </p:cNvSpPr>
          <p:nvPr/>
        </p:nvSpPr>
        <p:spPr bwMode="auto">
          <a:xfrm>
            <a:off x="576793" y="3865563"/>
            <a:ext cx="144462" cy="3175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75" name="Line 23"/>
          <p:cNvSpPr>
            <a:spLocks noChangeShapeType="1"/>
          </p:cNvSpPr>
          <p:nvPr/>
        </p:nvSpPr>
        <p:spPr bwMode="auto">
          <a:xfrm flipH="1">
            <a:off x="3299355" y="3967163"/>
            <a:ext cx="0" cy="18700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76" name="Line 55"/>
          <p:cNvSpPr>
            <a:spLocks noChangeShapeType="1"/>
          </p:cNvSpPr>
          <p:nvPr/>
        </p:nvSpPr>
        <p:spPr bwMode="auto">
          <a:xfrm>
            <a:off x="2860411" y="2865437"/>
            <a:ext cx="1053305" cy="746919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77" name="Line 85"/>
          <p:cNvSpPr>
            <a:spLocks noChangeShapeType="1"/>
          </p:cNvSpPr>
          <p:nvPr/>
        </p:nvSpPr>
        <p:spPr bwMode="auto">
          <a:xfrm flipH="1">
            <a:off x="3674005" y="3367088"/>
            <a:ext cx="652463" cy="412750"/>
          </a:xfrm>
          <a:prstGeom prst="line">
            <a:avLst/>
          </a:prstGeom>
          <a:noFill/>
          <a:ln w="1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78" name="Freeform 86"/>
          <p:cNvSpPr>
            <a:spLocks/>
          </p:cNvSpPr>
          <p:nvPr/>
        </p:nvSpPr>
        <p:spPr bwMode="auto">
          <a:xfrm>
            <a:off x="3575580" y="3703638"/>
            <a:ext cx="173038" cy="142875"/>
          </a:xfrm>
          <a:custGeom>
            <a:avLst/>
            <a:gdLst>
              <a:gd name="T0" fmla="*/ 118577 w 29"/>
              <a:gd name="T1" fmla="*/ 65073 h 22"/>
              <a:gd name="T2" fmla="*/ 171937 w 29"/>
              <a:gd name="T3" fmla="*/ 97609 h 22"/>
              <a:gd name="T4" fmla="*/ 171937 w 29"/>
              <a:gd name="T5" fmla="*/ 97609 h 22"/>
              <a:gd name="T6" fmla="*/ 83004 w 29"/>
              <a:gd name="T7" fmla="*/ 110624 h 22"/>
              <a:gd name="T8" fmla="*/ 0 w 29"/>
              <a:gd name="T9" fmla="*/ 143160 h 22"/>
              <a:gd name="T10" fmla="*/ 65217 w 29"/>
              <a:gd name="T11" fmla="*/ 78087 h 22"/>
              <a:gd name="T12" fmla="*/ 118577 w 29"/>
              <a:gd name="T13" fmla="*/ 0 h 22"/>
              <a:gd name="T14" fmla="*/ 118577 w 29"/>
              <a:gd name="T15" fmla="*/ 0 h 22"/>
              <a:gd name="T16" fmla="*/ 118577 w 29"/>
              <a:gd name="T17" fmla="*/ 65073 h 2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"/>
              <a:gd name="T28" fmla="*/ 0 h 22"/>
              <a:gd name="T29" fmla="*/ 29 w 29"/>
              <a:gd name="T30" fmla="*/ 22 h 2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" h="22">
                <a:moveTo>
                  <a:pt x="20" y="10"/>
                </a:move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14" y="17"/>
                  <a:pt x="14" y="17"/>
                  <a:pt x="14" y="17"/>
                </a:cubicBezTo>
                <a:cubicBezTo>
                  <a:pt x="9" y="19"/>
                  <a:pt x="4" y="20"/>
                  <a:pt x="0" y="22"/>
                </a:cubicBezTo>
                <a:cubicBezTo>
                  <a:pt x="3" y="18"/>
                  <a:pt x="7" y="15"/>
                  <a:pt x="11" y="12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0" y="0"/>
                  <a:pt x="20" y="0"/>
                </a:cubicBezTo>
                <a:lnTo>
                  <a:pt x="20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79" name="Freeform 87"/>
          <p:cNvSpPr>
            <a:spLocks/>
          </p:cNvSpPr>
          <p:nvPr/>
        </p:nvSpPr>
        <p:spPr bwMode="auto">
          <a:xfrm>
            <a:off x="3826405" y="3540125"/>
            <a:ext cx="174625" cy="144463"/>
          </a:xfrm>
          <a:custGeom>
            <a:avLst/>
            <a:gdLst>
              <a:gd name="T0" fmla="*/ 120321 w 29"/>
              <a:gd name="T1" fmla="*/ 65073 h 22"/>
              <a:gd name="T2" fmla="*/ 174466 w 29"/>
              <a:gd name="T3" fmla="*/ 97609 h 22"/>
              <a:gd name="T4" fmla="*/ 174466 w 29"/>
              <a:gd name="T5" fmla="*/ 97609 h 22"/>
              <a:gd name="T6" fmla="*/ 84225 w 29"/>
              <a:gd name="T7" fmla="*/ 110624 h 22"/>
              <a:gd name="T8" fmla="*/ 0 w 29"/>
              <a:gd name="T9" fmla="*/ 143160 h 22"/>
              <a:gd name="T10" fmla="*/ 66177 w 29"/>
              <a:gd name="T11" fmla="*/ 78087 h 22"/>
              <a:gd name="T12" fmla="*/ 120321 w 29"/>
              <a:gd name="T13" fmla="*/ 0 h 22"/>
              <a:gd name="T14" fmla="*/ 126337 w 29"/>
              <a:gd name="T15" fmla="*/ 0 h 22"/>
              <a:gd name="T16" fmla="*/ 120321 w 29"/>
              <a:gd name="T17" fmla="*/ 65073 h 2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"/>
              <a:gd name="T28" fmla="*/ 0 h 22"/>
              <a:gd name="T29" fmla="*/ 29 w 29"/>
              <a:gd name="T30" fmla="*/ 22 h 2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" h="22">
                <a:moveTo>
                  <a:pt x="20" y="10"/>
                </a:move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14" y="17"/>
                  <a:pt x="14" y="17"/>
                  <a:pt x="14" y="17"/>
                </a:cubicBezTo>
                <a:cubicBezTo>
                  <a:pt x="9" y="19"/>
                  <a:pt x="5" y="21"/>
                  <a:pt x="0" y="22"/>
                </a:cubicBezTo>
                <a:cubicBezTo>
                  <a:pt x="4" y="19"/>
                  <a:pt x="7" y="15"/>
                  <a:pt x="11" y="12"/>
                </a:cubicBezTo>
                <a:cubicBezTo>
                  <a:pt x="20" y="0"/>
                  <a:pt x="20" y="0"/>
                  <a:pt x="20" y="0"/>
                </a:cubicBezTo>
                <a:cubicBezTo>
                  <a:pt x="21" y="0"/>
                  <a:pt x="21" y="0"/>
                  <a:pt x="21" y="0"/>
                </a:cubicBezTo>
                <a:lnTo>
                  <a:pt x="20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80" name="Freeform 88"/>
          <p:cNvSpPr>
            <a:spLocks/>
          </p:cNvSpPr>
          <p:nvPr/>
        </p:nvSpPr>
        <p:spPr bwMode="auto">
          <a:xfrm>
            <a:off x="4077230" y="3378200"/>
            <a:ext cx="179388" cy="142875"/>
          </a:xfrm>
          <a:custGeom>
            <a:avLst/>
            <a:gdLst>
              <a:gd name="T0" fmla="*/ 125666 w 30"/>
              <a:gd name="T1" fmla="*/ 65073 h 22"/>
              <a:gd name="T2" fmla="*/ 179523 w 30"/>
              <a:gd name="T3" fmla="*/ 97609 h 22"/>
              <a:gd name="T4" fmla="*/ 179523 w 30"/>
              <a:gd name="T5" fmla="*/ 97609 h 22"/>
              <a:gd name="T6" fmla="*/ 89762 w 30"/>
              <a:gd name="T7" fmla="*/ 117131 h 22"/>
              <a:gd name="T8" fmla="*/ 0 w 30"/>
              <a:gd name="T9" fmla="*/ 143160 h 22"/>
              <a:gd name="T10" fmla="*/ 65825 w 30"/>
              <a:gd name="T11" fmla="*/ 78087 h 22"/>
              <a:gd name="T12" fmla="*/ 125666 w 30"/>
              <a:gd name="T13" fmla="*/ 0 h 22"/>
              <a:gd name="T14" fmla="*/ 125666 w 30"/>
              <a:gd name="T15" fmla="*/ 0 h 22"/>
              <a:gd name="T16" fmla="*/ 125666 w 30"/>
              <a:gd name="T17" fmla="*/ 65073 h 2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22"/>
              <a:gd name="T29" fmla="*/ 30 w 30"/>
              <a:gd name="T30" fmla="*/ 22 h 2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22">
                <a:moveTo>
                  <a:pt x="21" y="10"/>
                </a:moveTo>
                <a:cubicBezTo>
                  <a:pt x="30" y="15"/>
                  <a:pt x="30" y="15"/>
                  <a:pt x="30" y="15"/>
                </a:cubicBezTo>
                <a:cubicBezTo>
                  <a:pt x="30" y="15"/>
                  <a:pt x="30" y="15"/>
                  <a:pt x="30" y="15"/>
                </a:cubicBezTo>
                <a:cubicBezTo>
                  <a:pt x="15" y="18"/>
                  <a:pt x="15" y="18"/>
                  <a:pt x="15" y="18"/>
                </a:cubicBezTo>
                <a:cubicBezTo>
                  <a:pt x="10" y="19"/>
                  <a:pt x="5" y="21"/>
                  <a:pt x="0" y="22"/>
                </a:cubicBezTo>
                <a:cubicBezTo>
                  <a:pt x="4" y="19"/>
                  <a:pt x="8" y="15"/>
                  <a:pt x="11" y="12"/>
                </a:cubicBez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lnTo>
                  <a:pt x="21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5581" name="Line 100"/>
          <p:cNvSpPr>
            <a:spLocks noChangeShapeType="1"/>
          </p:cNvSpPr>
          <p:nvPr/>
        </p:nvSpPr>
        <p:spPr bwMode="auto">
          <a:xfrm>
            <a:off x="379412" y="3290887"/>
            <a:ext cx="1588" cy="366713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82" name="Line 30"/>
          <p:cNvSpPr>
            <a:spLocks noChangeShapeType="1"/>
          </p:cNvSpPr>
          <p:nvPr/>
        </p:nvSpPr>
        <p:spPr bwMode="auto">
          <a:xfrm flipH="1">
            <a:off x="686330" y="3870325"/>
            <a:ext cx="25669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83" name="Rectangle 31"/>
          <p:cNvSpPr>
            <a:spLocks noChangeArrowheads="1"/>
          </p:cNvSpPr>
          <p:nvPr/>
        </p:nvSpPr>
        <p:spPr bwMode="auto">
          <a:xfrm>
            <a:off x="1905000" y="1524000"/>
            <a:ext cx="230399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 movement down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the SRAS curve leads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to deflation and lower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output.</a:t>
            </a:r>
          </a:p>
        </p:txBody>
      </p:sp>
      <p:sp>
        <p:nvSpPr>
          <p:cNvPr id="535584" name="Line 102"/>
          <p:cNvSpPr>
            <a:spLocks noChangeShapeType="1"/>
          </p:cNvSpPr>
          <p:nvPr/>
        </p:nvSpPr>
        <p:spPr bwMode="auto">
          <a:xfrm flipH="1">
            <a:off x="3644900" y="6288088"/>
            <a:ext cx="622300" cy="0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5585" name="Rectangle 33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US" sz="4000" spc="0" dirty="0"/>
              <a:t>THE SHORT-RUN AGGREGATE SUPPLY CURVE</a:t>
            </a:r>
          </a:p>
        </p:txBody>
      </p:sp>
      <p:sp>
        <p:nvSpPr>
          <p:cNvPr id="35" name="Rectangle 3"/>
          <p:cNvSpPr>
            <a:spLocks noGrp="1" noChangeArrowheads="1"/>
          </p:cNvSpPr>
          <p:nvPr>
            <p:ph idx="1"/>
          </p:nvPr>
        </p:nvSpPr>
        <p:spPr>
          <a:xfrm>
            <a:off x="5562600" y="3048000"/>
            <a:ext cx="3505200" cy="2971800"/>
          </a:xfrm>
        </p:spPr>
        <p:txBody>
          <a:bodyPr>
            <a:normAutofit/>
          </a:bodyPr>
          <a:lstStyle/>
          <a:p>
            <a:r>
              <a:rPr lang="en-US" sz="2400" b="1" i="1" dirty="0">
                <a:solidFill>
                  <a:srgbClr val="990033"/>
                </a:solidFill>
              </a:rPr>
              <a:t>Aggregate </a:t>
            </a:r>
            <a:r>
              <a:rPr lang="en-US" sz="2400" i="1" dirty="0">
                <a:solidFill>
                  <a:srgbClr val="990033"/>
                </a:solidFill>
              </a:rPr>
              <a:t>supply curve </a:t>
            </a:r>
            <a:r>
              <a:rPr lang="en-US" sz="2400" dirty="0"/>
              <a:t>shows the relationship between the </a:t>
            </a:r>
            <a:r>
              <a:rPr lang="en-US" sz="2400" dirty="0">
                <a:solidFill>
                  <a:srgbClr val="0070C0"/>
                </a:solidFill>
              </a:rPr>
              <a:t>aggregate price level</a:t>
            </a:r>
            <a:r>
              <a:rPr lang="en-US" sz="2400" dirty="0"/>
              <a:t> and the </a:t>
            </a:r>
            <a:r>
              <a:rPr lang="en-US" sz="2400" dirty="0">
                <a:solidFill>
                  <a:srgbClr val="0070C0"/>
                </a:solidFill>
              </a:rPr>
              <a:t>quantity of aggregate output in the economy.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878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3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35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5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3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3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53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35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3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3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3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3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3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68" grpId="0"/>
      <p:bldP spid="535569" grpId="0"/>
      <p:bldP spid="535572" grpId="0"/>
      <p:bldP spid="535573" grpId="0" animBg="1"/>
      <p:bldP spid="535574" grpId="0" animBg="1"/>
      <p:bldP spid="535575" grpId="0" animBg="1"/>
      <p:bldP spid="535576" grpId="0" animBg="1"/>
      <p:bldP spid="535577" grpId="0" animBg="1"/>
      <p:bldP spid="535578" grpId="0" animBg="1"/>
      <p:bldP spid="535579" grpId="0" animBg="1"/>
      <p:bldP spid="535580" grpId="0" animBg="1"/>
      <p:bldP spid="535581" grpId="0" animBg="1"/>
      <p:bldP spid="535582" grpId="0" animBg="1"/>
      <p:bldP spid="535583" grpId="0"/>
      <p:bldP spid="535584" grpId="0" animBg="1"/>
      <p:bldP spid="3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>
            <a:noAutofit/>
          </a:bodyPr>
          <a:lstStyle/>
          <a:p>
            <a:r>
              <a:rPr lang="en-US" sz="4000" spc="0" dirty="0"/>
              <a:t>THE SHORT-RUN AGGREGATE SUPPLY CURVE</a:t>
            </a:r>
          </a:p>
        </p:txBody>
      </p:sp>
      <p:sp>
        <p:nvSpPr>
          <p:cNvPr id="506883" name="Rectangle 3"/>
          <p:cNvSpPr>
            <a:spLocks noGrp="1" noChangeArrowheads="1"/>
          </p:cNvSpPr>
          <p:nvPr>
            <p:ph idx="1"/>
          </p:nvPr>
        </p:nvSpPr>
        <p:spPr>
          <a:xfrm>
            <a:off x="279072" y="1066800"/>
            <a:ext cx="8839200" cy="4648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990033"/>
                </a:solidFill>
              </a:rPr>
              <a:t>Why does the </a:t>
            </a:r>
            <a:r>
              <a:rPr lang="en-US" i="1" dirty="0">
                <a:solidFill>
                  <a:srgbClr val="990033"/>
                </a:solidFill>
              </a:rPr>
              <a:t>SRAS</a:t>
            </a:r>
            <a:r>
              <a:rPr lang="en-US" dirty="0">
                <a:solidFill>
                  <a:srgbClr val="990033"/>
                </a:solidFill>
              </a:rPr>
              <a:t> curve slope upward?</a:t>
            </a:r>
          </a:p>
          <a:p>
            <a:r>
              <a:rPr lang="en-US" dirty="0"/>
              <a:t>Because nominal wages are sticky in the short run </a:t>
            </a:r>
          </a:p>
          <a:p>
            <a:pPr lvl="1"/>
            <a:r>
              <a:rPr lang="en-US" i="1" dirty="0">
                <a:solidFill>
                  <a:srgbClr val="990033"/>
                </a:solidFill>
              </a:rPr>
              <a:t>N</a:t>
            </a:r>
            <a:r>
              <a:rPr lang="en-US" b="1" i="1" dirty="0">
                <a:solidFill>
                  <a:srgbClr val="990033"/>
                </a:solidFill>
              </a:rPr>
              <a:t>ominal wage:</a:t>
            </a:r>
            <a:r>
              <a:rPr lang="en-US" i="1" dirty="0">
                <a:solidFill>
                  <a:srgbClr val="990033"/>
                </a:solidFill>
              </a:rPr>
              <a:t> </a:t>
            </a:r>
            <a:r>
              <a:rPr lang="en-US" dirty="0"/>
              <a:t>the dollar amount of the wage paid.</a:t>
            </a:r>
          </a:p>
          <a:p>
            <a:pPr lvl="1"/>
            <a:r>
              <a:rPr lang="en-US" i="1" dirty="0">
                <a:solidFill>
                  <a:srgbClr val="990033"/>
                </a:solidFill>
              </a:rPr>
              <a:t>Sticky wages: </a:t>
            </a:r>
            <a:r>
              <a:rPr lang="en-US" dirty="0"/>
              <a:t>nominal wages that are slow to fall even in the face of high unemployment and slow to rise even in the face of labor shortages.</a:t>
            </a:r>
          </a:p>
          <a:p>
            <a:endParaRPr lang="en-US" dirty="0"/>
          </a:p>
        </p:txBody>
      </p:sp>
      <p:pic>
        <p:nvPicPr>
          <p:cNvPr id="59394" name="Picture 2" descr="http://www.sxc.hu/pic/l/d/de/deziner02/387331_7874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4758267"/>
            <a:ext cx="3200400" cy="2133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35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6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6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6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6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66800"/>
          </a:xfrm>
          <a:solidFill>
            <a:schemeClr val="bg1">
              <a:alpha val="78000"/>
            </a:schemeClr>
          </a:solidFill>
        </p:spPr>
        <p:txBody>
          <a:bodyPr>
            <a:normAutofit fontScale="90000"/>
          </a:bodyPr>
          <a:lstStyle/>
          <a:p>
            <a:r>
              <a:rPr lang="en-US" spc="0" dirty="0"/>
              <a:t>THE SHORT-RUN AGGREGATE SUPPLY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6400"/>
            <a:ext cx="9144000" cy="4343400"/>
          </a:xfrm>
          <a:solidFill>
            <a:schemeClr val="bg1">
              <a:alpha val="66000"/>
            </a:schemeClr>
          </a:solidFill>
        </p:spPr>
        <p:txBody>
          <a:bodyPr>
            <a:normAutofit fontScale="92500" lnSpcReduction="10000"/>
          </a:bodyPr>
          <a:lstStyle/>
          <a:p>
            <a:pPr marL="0" lvl="1"/>
            <a:r>
              <a:rPr lang="en-US" dirty="0"/>
              <a:t>How do sticky wages affect </a:t>
            </a:r>
            <a:r>
              <a:rPr lang="en-US" i="1" dirty="0"/>
              <a:t>SRAS</a:t>
            </a:r>
            <a:r>
              <a:rPr lang="en-US" dirty="0"/>
              <a:t>?</a:t>
            </a:r>
          </a:p>
          <a:p>
            <a:r>
              <a:rPr lang="en-US" sz="2800" i="1" dirty="0">
                <a:solidFill>
                  <a:srgbClr val="0070C0"/>
                </a:solidFill>
              </a:rPr>
              <a:t>Profit per unit= price per unit − production cost per unit.</a:t>
            </a:r>
          </a:p>
          <a:p>
            <a:r>
              <a:rPr lang="en-US" b="0" dirty="0"/>
              <a:t>Nominal wages are often determined by contracts that were signed some time ago.</a:t>
            </a:r>
          </a:p>
          <a:p>
            <a:pPr lvl="1"/>
            <a:r>
              <a:rPr lang="en-US" i="1" dirty="0">
                <a:solidFill>
                  <a:srgbClr val="0070C0"/>
                </a:solidFill>
              </a:rPr>
              <a:t>Even when there are no formal contracts, there are often informal agreements between management and workers.</a:t>
            </a:r>
          </a:p>
          <a:p>
            <a:pPr marL="0" lvl="1"/>
            <a:r>
              <a:rPr lang="en-US" sz="3200" dirty="0"/>
              <a:t>A higher aggregate price level leads to higher profits and increased aggregate output in the short run.</a:t>
            </a:r>
          </a:p>
        </p:txBody>
      </p:sp>
    </p:spTree>
    <p:extLst>
      <p:ext uri="{BB962C8B-B14F-4D97-AF65-F5344CB8AC3E}">
        <p14:creationId xmlns:p14="http://schemas.microsoft.com/office/powerpoint/2010/main" val="3685886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THE SHORT-RUN AGGREGATE SUPPLY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4648200"/>
          </a:xfrm>
        </p:spPr>
        <p:txBody>
          <a:bodyPr/>
          <a:lstStyle/>
          <a:p>
            <a:r>
              <a:rPr lang="en-US" dirty="0"/>
              <a:t>One more point:</a:t>
            </a:r>
          </a:p>
          <a:p>
            <a:r>
              <a:rPr lang="en-US" dirty="0"/>
              <a:t>Many firms are in very competitive industries, so they have no control over price.</a:t>
            </a:r>
          </a:p>
          <a:p>
            <a:r>
              <a:rPr lang="en-US" dirty="0">
                <a:solidFill>
                  <a:srgbClr val="0070C0"/>
                </a:solidFill>
              </a:rPr>
              <a:t>Some aren’t—and can raise price when demand is strong. </a:t>
            </a:r>
          </a:p>
          <a:p>
            <a:r>
              <a:rPr lang="en-US" dirty="0"/>
              <a:t>(more support for the positive slope of the </a:t>
            </a:r>
            <a:r>
              <a:rPr lang="en-US" i="1" dirty="0"/>
              <a:t>SRAS</a:t>
            </a:r>
            <a:r>
              <a:rPr lang="en-US" dirty="0"/>
              <a:t>)</a:t>
            </a:r>
          </a:p>
        </p:txBody>
      </p:sp>
      <p:pic>
        <p:nvPicPr>
          <p:cNvPr id="71682" name="Picture 2" descr="http://www.crunchbase.com/assets/images/resized/0005/4061/54061v1-max-250x25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7600" y="4941902"/>
            <a:ext cx="1295400" cy="157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08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>
            <a:noAutofit/>
          </a:bodyPr>
          <a:lstStyle/>
          <a:p>
            <a:r>
              <a:rPr lang="en-US" sz="4000" spc="0" dirty="0"/>
              <a:t>SHIFTS OF THE SHORT-RUN AGGREGATE SUPPLY CURVE</a:t>
            </a:r>
          </a:p>
        </p:txBody>
      </p:sp>
      <p:sp>
        <p:nvSpPr>
          <p:cNvPr id="50995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839200" cy="46482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What happens when something changes production levels at every price level?</a:t>
            </a:r>
          </a:p>
          <a:p>
            <a:r>
              <a:rPr lang="en-US" dirty="0"/>
              <a:t>The </a:t>
            </a:r>
            <a:r>
              <a:rPr lang="en-US" i="1" dirty="0"/>
              <a:t>SRAS</a:t>
            </a:r>
            <a:r>
              <a:rPr lang="en-US" dirty="0"/>
              <a:t> curve </a:t>
            </a:r>
            <a:r>
              <a:rPr lang="en-US" i="1" dirty="0"/>
              <a:t>shifts</a:t>
            </a:r>
            <a:r>
              <a:rPr lang="en-US" dirty="0"/>
              <a:t> because of changes in:</a:t>
            </a:r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Commodity prices.</a:t>
            </a:r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Nominal wages.</a:t>
            </a:r>
          </a:p>
          <a:p>
            <a:pPr lvl="1"/>
            <a:r>
              <a:rPr lang="en-US" sz="3200" dirty="0">
                <a:solidFill>
                  <a:srgbClr val="0070C0"/>
                </a:solidFill>
              </a:rPr>
              <a:t>Productivity. </a:t>
            </a:r>
          </a:p>
          <a:p>
            <a:r>
              <a:rPr lang="en-US" dirty="0"/>
              <a:t>Each of these factors changes producers’ profits and therefore shifts the </a:t>
            </a:r>
            <a:r>
              <a:rPr lang="en-US" i="1" dirty="0"/>
              <a:t>SRAS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493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9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9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9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09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95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6"/>
          <p:cNvSpPr>
            <a:spLocks noChangeArrowheads="1"/>
          </p:cNvSpPr>
          <p:nvPr/>
        </p:nvSpPr>
        <p:spPr bwMode="auto">
          <a:xfrm>
            <a:off x="757238" y="2133600"/>
            <a:ext cx="3382962" cy="348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03" name="Freeform 73"/>
          <p:cNvSpPr>
            <a:spLocks/>
          </p:cNvSpPr>
          <p:nvPr/>
        </p:nvSpPr>
        <p:spPr bwMode="auto">
          <a:xfrm>
            <a:off x="5202238" y="2133600"/>
            <a:ext cx="3381375" cy="3484563"/>
          </a:xfrm>
          <a:custGeom>
            <a:avLst/>
            <a:gdLst>
              <a:gd name="T0" fmla="*/ 3380794 w 1809"/>
              <a:gd name="T1" fmla="*/ 3484665 h 1415"/>
              <a:gd name="T2" fmla="*/ 0 w 1809"/>
              <a:gd name="T3" fmla="*/ 3484665 h 1415"/>
              <a:gd name="T4" fmla="*/ 0 w 1809"/>
              <a:gd name="T5" fmla="*/ 0 h 1415"/>
              <a:gd name="T6" fmla="*/ 0 60000 65536"/>
              <a:gd name="T7" fmla="*/ 0 60000 65536"/>
              <a:gd name="T8" fmla="*/ 0 60000 65536"/>
              <a:gd name="T9" fmla="*/ 0 w 1809"/>
              <a:gd name="T10" fmla="*/ 0 h 1415"/>
              <a:gd name="T11" fmla="*/ 1809 w 1809"/>
              <a:gd name="T12" fmla="*/ 1415 h 14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9" h="1415">
                <a:moveTo>
                  <a:pt x="1809" y="1415"/>
                </a:moveTo>
                <a:lnTo>
                  <a:pt x="0" y="1415"/>
                </a:lnTo>
                <a:lnTo>
                  <a:pt x="0" y="0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04" name="Freeform 87"/>
          <p:cNvSpPr>
            <a:spLocks/>
          </p:cNvSpPr>
          <p:nvPr/>
        </p:nvSpPr>
        <p:spPr bwMode="auto">
          <a:xfrm>
            <a:off x="757238" y="2133600"/>
            <a:ext cx="3382962" cy="3484563"/>
          </a:xfrm>
          <a:custGeom>
            <a:avLst/>
            <a:gdLst>
              <a:gd name="T0" fmla="*/ 3382663 w 1810"/>
              <a:gd name="T1" fmla="*/ 3484665 h 1415"/>
              <a:gd name="T2" fmla="*/ 0 w 1810"/>
              <a:gd name="T3" fmla="*/ 3484665 h 1415"/>
              <a:gd name="T4" fmla="*/ 0 w 1810"/>
              <a:gd name="T5" fmla="*/ 0 h 1415"/>
              <a:gd name="T6" fmla="*/ 0 60000 65536"/>
              <a:gd name="T7" fmla="*/ 0 60000 65536"/>
              <a:gd name="T8" fmla="*/ 0 60000 65536"/>
              <a:gd name="T9" fmla="*/ 0 w 1810"/>
              <a:gd name="T10" fmla="*/ 0 h 1415"/>
              <a:gd name="T11" fmla="*/ 1810 w 1810"/>
              <a:gd name="T12" fmla="*/ 1415 h 14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10" h="1415">
                <a:moveTo>
                  <a:pt x="1810" y="1415"/>
                </a:moveTo>
                <a:lnTo>
                  <a:pt x="0" y="1415"/>
                </a:lnTo>
                <a:lnTo>
                  <a:pt x="0" y="0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05" name="Line 91"/>
          <p:cNvSpPr>
            <a:spLocks noChangeShapeType="1"/>
          </p:cNvSpPr>
          <p:nvPr/>
        </p:nvSpPr>
        <p:spPr bwMode="auto">
          <a:xfrm flipV="1">
            <a:off x="2043113" y="2774950"/>
            <a:ext cx="1562100" cy="2635250"/>
          </a:xfrm>
          <a:prstGeom prst="line">
            <a:avLst/>
          </a:prstGeom>
          <a:noFill/>
          <a:ln w="38100">
            <a:solidFill>
              <a:srgbClr val="FAC0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7606" name="Line 92"/>
          <p:cNvSpPr>
            <a:spLocks noChangeShapeType="1"/>
          </p:cNvSpPr>
          <p:nvPr/>
        </p:nvSpPr>
        <p:spPr bwMode="auto">
          <a:xfrm flipV="1">
            <a:off x="5449888" y="2565400"/>
            <a:ext cx="1562100" cy="2635250"/>
          </a:xfrm>
          <a:prstGeom prst="line">
            <a:avLst/>
          </a:prstGeom>
          <a:noFill/>
          <a:ln w="38100">
            <a:solidFill>
              <a:srgbClr val="FAC0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7607" name="Rectangle 7"/>
          <p:cNvSpPr>
            <a:spLocks noChangeArrowheads="1"/>
          </p:cNvSpPr>
          <p:nvPr/>
        </p:nvSpPr>
        <p:spPr bwMode="auto">
          <a:xfrm>
            <a:off x="3429000" y="5692775"/>
            <a:ext cx="1447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37608" name="Rectangle 8"/>
          <p:cNvSpPr>
            <a:spLocks noChangeArrowheads="1"/>
          </p:cNvSpPr>
          <p:nvPr/>
        </p:nvSpPr>
        <p:spPr bwMode="auto">
          <a:xfrm>
            <a:off x="0" y="1501775"/>
            <a:ext cx="1295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37609" name="Rectangle 9"/>
          <p:cNvSpPr>
            <a:spLocks noChangeArrowheads="1"/>
          </p:cNvSpPr>
          <p:nvPr/>
        </p:nvSpPr>
        <p:spPr bwMode="auto">
          <a:xfrm>
            <a:off x="4191000" y="1501775"/>
            <a:ext cx="1676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37610" name="Rectangle 10"/>
          <p:cNvSpPr>
            <a:spLocks noChangeArrowheads="1"/>
          </p:cNvSpPr>
          <p:nvPr/>
        </p:nvSpPr>
        <p:spPr bwMode="auto">
          <a:xfrm>
            <a:off x="7696200" y="5692775"/>
            <a:ext cx="12192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37611" name="Rectangle 39"/>
          <p:cNvSpPr>
            <a:spLocks noChangeArrowheads="1"/>
          </p:cNvSpPr>
          <p:nvPr/>
        </p:nvSpPr>
        <p:spPr bwMode="auto">
          <a:xfrm>
            <a:off x="2379663" y="2284413"/>
            <a:ext cx="6594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13" name="Line 90"/>
          <p:cNvSpPr>
            <a:spLocks noChangeShapeType="1"/>
          </p:cNvSpPr>
          <p:nvPr/>
        </p:nvSpPr>
        <p:spPr bwMode="auto">
          <a:xfrm flipV="1">
            <a:off x="1003300" y="2565400"/>
            <a:ext cx="1558925" cy="2635250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7615" name="Freeform 97"/>
          <p:cNvSpPr>
            <a:spLocks/>
          </p:cNvSpPr>
          <p:nvPr/>
        </p:nvSpPr>
        <p:spPr bwMode="auto">
          <a:xfrm>
            <a:off x="2623344" y="4648200"/>
            <a:ext cx="2177256" cy="944563"/>
          </a:xfrm>
          <a:custGeom>
            <a:avLst/>
            <a:gdLst>
              <a:gd name="T0" fmla="*/ 1431558 w 324"/>
              <a:gd name="T1" fmla="*/ 493263 h 101"/>
              <a:gd name="T2" fmla="*/ 1360864 w 324"/>
              <a:gd name="T3" fmla="*/ 586113 h 101"/>
              <a:gd name="T4" fmla="*/ 70694 w 324"/>
              <a:gd name="T5" fmla="*/ 586113 h 101"/>
              <a:gd name="T6" fmla="*/ 0 w 324"/>
              <a:gd name="T7" fmla="*/ 493263 h 101"/>
              <a:gd name="T8" fmla="*/ 0 w 324"/>
              <a:gd name="T9" fmla="*/ 92850 h 101"/>
              <a:gd name="T10" fmla="*/ 70694 w 324"/>
              <a:gd name="T11" fmla="*/ 0 h 101"/>
              <a:gd name="T12" fmla="*/ 1360864 w 324"/>
              <a:gd name="T13" fmla="*/ 0 h 101"/>
              <a:gd name="T14" fmla="*/ 1431558 w 324"/>
              <a:gd name="T15" fmla="*/ 92850 h 101"/>
              <a:gd name="T16" fmla="*/ 1431558 w 324"/>
              <a:gd name="T17" fmla="*/ 493263 h 1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4"/>
              <a:gd name="T28" fmla="*/ 0 h 101"/>
              <a:gd name="T29" fmla="*/ 324 w 324"/>
              <a:gd name="T30" fmla="*/ 101 h 10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4" h="101">
                <a:moveTo>
                  <a:pt x="324" y="85"/>
                </a:moveTo>
                <a:cubicBezTo>
                  <a:pt x="324" y="94"/>
                  <a:pt x="317" y="101"/>
                  <a:pt x="308" y="101"/>
                </a:cubicBezTo>
                <a:cubicBezTo>
                  <a:pt x="16" y="101"/>
                  <a:pt x="16" y="101"/>
                  <a:pt x="16" y="101"/>
                </a:cubicBezTo>
                <a:cubicBezTo>
                  <a:pt x="7" y="101"/>
                  <a:pt x="0" y="94"/>
                  <a:pt x="0" y="8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308" y="0"/>
                  <a:pt x="308" y="0"/>
                  <a:pt x="308" y="0"/>
                </a:cubicBezTo>
                <a:cubicBezTo>
                  <a:pt x="317" y="0"/>
                  <a:pt x="324" y="7"/>
                  <a:pt x="324" y="16"/>
                </a:cubicBezTo>
                <a:lnTo>
                  <a:pt x="324" y="85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16" name="Rectangle 16"/>
          <p:cNvSpPr>
            <a:spLocks noChangeArrowheads="1"/>
          </p:cNvSpPr>
          <p:nvPr/>
        </p:nvSpPr>
        <p:spPr bwMode="auto">
          <a:xfrm>
            <a:off x="2590800" y="4724400"/>
            <a:ext cx="221218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Decrease in short-run aggregate supply</a:t>
            </a:r>
          </a:p>
        </p:txBody>
      </p:sp>
      <p:sp>
        <p:nvSpPr>
          <p:cNvPr id="537617" name="Line 93"/>
          <p:cNvSpPr>
            <a:spLocks noChangeShapeType="1"/>
          </p:cNvSpPr>
          <p:nvPr/>
        </p:nvSpPr>
        <p:spPr bwMode="auto">
          <a:xfrm flipV="1">
            <a:off x="6486525" y="2774950"/>
            <a:ext cx="1565275" cy="2635250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7618" name="Line 94"/>
          <p:cNvSpPr>
            <a:spLocks noChangeShapeType="1"/>
          </p:cNvSpPr>
          <p:nvPr/>
        </p:nvSpPr>
        <p:spPr bwMode="auto">
          <a:xfrm>
            <a:off x="6523038" y="3513138"/>
            <a:ext cx="909637" cy="3175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7620" name="Freeform 116"/>
          <p:cNvSpPr>
            <a:spLocks/>
          </p:cNvSpPr>
          <p:nvPr/>
        </p:nvSpPr>
        <p:spPr bwMode="auto">
          <a:xfrm>
            <a:off x="6869329" y="4724400"/>
            <a:ext cx="2176462" cy="862949"/>
          </a:xfrm>
          <a:custGeom>
            <a:avLst/>
            <a:gdLst>
              <a:gd name="T0" fmla="*/ 1431558 w 324"/>
              <a:gd name="T1" fmla="*/ 493263 h 101"/>
              <a:gd name="T2" fmla="*/ 1360864 w 324"/>
              <a:gd name="T3" fmla="*/ 586113 h 101"/>
              <a:gd name="T4" fmla="*/ 70694 w 324"/>
              <a:gd name="T5" fmla="*/ 586113 h 101"/>
              <a:gd name="T6" fmla="*/ 0 w 324"/>
              <a:gd name="T7" fmla="*/ 493263 h 101"/>
              <a:gd name="T8" fmla="*/ 0 w 324"/>
              <a:gd name="T9" fmla="*/ 92850 h 101"/>
              <a:gd name="T10" fmla="*/ 70694 w 324"/>
              <a:gd name="T11" fmla="*/ 0 h 101"/>
              <a:gd name="T12" fmla="*/ 1360864 w 324"/>
              <a:gd name="T13" fmla="*/ 0 h 101"/>
              <a:gd name="T14" fmla="*/ 1431558 w 324"/>
              <a:gd name="T15" fmla="*/ 92850 h 101"/>
              <a:gd name="T16" fmla="*/ 1431558 w 324"/>
              <a:gd name="T17" fmla="*/ 493263 h 1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4"/>
              <a:gd name="T28" fmla="*/ 0 h 101"/>
              <a:gd name="T29" fmla="*/ 324 w 324"/>
              <a:gd name="T30" fmla="*/ 101 h 10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4" h="101">
                <a:moveTo>
                  <a:pt x="324" y="85"/>
                </a:moveTo>
                <a:cubicBezTo>
                  <a:pt x="324" y="94"/>
                  <a:pt x="317" y="101"/>
                  <a:pt x="308" y="101"/>
                </a:cubicBezTo>
                <a:cubicBezTo>
                  <a:pt x="16" y="101"/>
                  <a:pt x="16" y="101"/>
                  <a:pt x="16" y="101"/>
                </a:cubicBezTo>
                <a:cubicBezTo>
                  <a:pt x="7" y="101"/>
                  <a:pt x="0" y="94"/>
                  <a:pt x="0" y="8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308" y="0"/>
                  <a:pt x="308" y="0"/>
                  <a:pt x="308" y="0"/>
                </a:cubicBezTo>
                <a:cubicBezTo>
                  <a:pt x="317" y="0"/>
                  <a:pt x="324" y="7"/>
                  <a:pt x="324" y="16"/>
                </a:cubicBezTo>
                <a:lnTo>
                  <a:pt x="324" y="85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21" name="Rectangle 21"/>
          <p:cNvSpPr>
            <a:spLocks noChangeArrowheads="1"/>
          </p:cNvSpPr>
          <p:nvPr/>
        </p:nvSpPr>
        <p:spPr bwMode="auto">
          <a:xfrm>
            <a:off x="6934200" y="4724400"/>
            <a:ext cx="21161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Increase in short-run aggregate supply</a:t>
            </a:r>
          </a:p>
        </p:txBody>
      </p:sp>
      <p:sp>
        <p:nvSpPr>
          <p:cNvPr id="537622" name="Rectangle 22"/>
          <p:cNvSpPr>
            <a:spLocks noChangeArrowheads="1"/>
          </p:cNvSpPr>
          <p:nvPr/>
        </p:nvSpPr>
        <p:spPr bwMode="auto">
          <a:xfrm>
            <a:off x="1600200" y="1196975"/>
            <a:ext cx="20356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(a) Leftward Shift</a:t>
            </a:r>
          </a:p>
        </p:txBody>
      </p:sp>
      <p:sp>
        <p:nvSpPr>
          <p:cNvPr id="537623" name="Rectangle 23"/>
          <p:cNvSpPr>
            <a:spLocks noChangeArrowheads="1"/>
          </p:cNvSpPr>
          <p:nvPr/>
        </p:nvSpPr>
        <p:spPr bwMode="auto">
          <a:xfrm>
            <a:off x="5943600" y="1212850"/>
            <a:ext cx="22018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(b) Rightward Shift</a:t>
            </a:r>
          </a:p>
        </p:txBody>
      </p:sp>
      <p:sp>
        <p:nvSpPr>
          <p:cNvPr id="537624" name="Rectangle 39"/>
          <p:cNvSpPr>
            <a:spLocks noChangeArrowheads="1"/>
          </p:cNvSpPr>
          <p:nvPr/>
        </p:nvSpPr>
        <p:spPr bwMode="auto">
          <a:xfrm>
            <a:off x="3505200" y="2416175"/>
            <a:ext cx="6594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26" name="Rectangle 39"/>
          <p:cNvSpPr>
            <a:spLocks noChangeArrowheads="1"/>
          </p:cNvSpPr>
          <p:nvPr/>
        </p:nvSpPr>
        <p:spPr bwMode="auto">
          <a:xfrm>
            <a:off x="6646863" y="2208213"/>
            <a:ext cx="6594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28" name="Rectangle 39"/>
          <p:cNvSpPr>
            <a:spLocks noChangeArrowheads="1"/>
          </p:cNvSpPr>
          <p:nvPr/>
        </p:nvSpPr>
        <p:spPr bwMode="auto">
          <a:xfrm>
            <a:off x="7772400" y="2339975"/>
            <a:ext cx="6594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30" name="Line 94"/>
          <p:cNvSpPr>
            <a:spLocks noChangeShapeType="1"/>
          </p:cNvSpPr>
          <p:nvPr/>
        </p:nvSpPr>
        <p:spPr bwMode="auto">
          <a:xfrm flipH="1">
            <a:off x="2133600" y="3482975"/>
            <a:ext cx="909638" cy="3175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7631" name="Rectangle 31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US" sz="4000" spc="0" dirty="0"/>
              <a:t>SHIFTS OF THE SHORT-RUN AGGREGATE SUPPLY CURVE</a:t>
            </a:r>
          </a:p>
        </p:txBody>
      </p:sp>
    </p:spTree>
    <p:extLst>
      <p:ext uri="{BB962C8B-B14F-4D97-AF65-F5344CB8AC3E}">
        <p14:creationId xmlns:p14="http://schemas.microsoft.com/office/powerpoint/2010/main" val="272515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5 -0.00047 L 0 3.33333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5376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5 -0.00324 L 3.33333E-6 1.11022E-1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5376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11" grpId="0"/>
      <p:bldP spid="537613" grpId="0" animBg="1"/>
      <p:bldP spid="537613" grpId="1" animBg="1"/>
      <p:bldP spid="537615" grpId="0" animBg="1"/>
      <p:bldP spid="537616" grpId="0"/>
      <p:bldP spid="537617" grpId="0" animBg="1"/>
      <p:bldP spid="537617" grpId="1" animBg="1"/>
      <p:bldP spid="537618" grpId="0" animBg="1"/>
      <p:bldP spid="537620" grpId="0" animBg="1"/>
      <p:bldP spid="537621" grpId="0"/>
      <p:bldP spid="537628" grpId="0"/>
      <p:bldP spid="5376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3" name="Freeform 73"/>
          <p:cNvSpPr>
            <a:spLocks/>
          </p:cNvSpPr>
          <p:nvPr/>
        </p:nvSpPr>
        <p:spPr bwMode="auto">
          <a:xfrm>
            <a:off x="5202238" y="2133600"/>
            <a:ext cx="3381375" cy="3484563"/>
          </a:xfrm>
          <a:custGeom>
            <a:avLst/>
            <a:gdLst>
              <a:gd name="T0" fmla="*/ 3380794 w 1809"/>
              <a:gd name="T1" fmla="*/ 3484665 h 1415"/>
              <a:gd name="T2" fmla="*/ 0 w 1809"/>
              <a:gd name="T3" fmla="*/ 3484665 h 1415"/>
              <a:gd name="T4" fmla="*/ 0 w 1809"/>
              <a:gd name="T5" fmla="*/ 0 h 1415"/>
              <a:gd name="T6" fmla="*/ 0 60000 65536"/>
              <a:gd name="T7" fmla="*/ 0 60000 65536"/>
              <a:gd name="T8" fmla="*/ 0 60000 65536"/>
              <a:gd name="T9" fmla="*/ 0 w 1809"/>
              <a:gd name="T10" fmla="*/ 0 h 1415"/>
              <a:gd name="T11" fmla="*/ 1809 w 1809"/>
              <a:gd name="T12" fmla="*/ 1415 h 14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9" h="1415">
                <a:moveTo>
                  <a:pt x="1809" y="1415"/>
                </a:moveTo>
                <a:lnTo>
                  <a:pt x="0" y="1415"/>
                </a:lnTo>
                <a:lnTo>
                  <a:pt x="0" y="0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06" name="Line 92"/>
          <p:cNvSpPr>
            <a:spLocks noChangeShapeType="1"/>
          </p:cNvSpPr>
          <p:nvPr/>
        </p:nvSpPr>
        <p:spPr bwMode="auto">
          <a:xfrm flipV="1">
            <a:off x="5449888" y="2565400"/>
            <a:ext cx="1562100" cy="2635250"/>
          </a:xfrm>
          <a:prstGeom prst="line">
            <a:avLst/>
          </a:prstGeom>
          <a:noFill/>
          <a:ln w="38100">
            <a:solidFill>
              <a:srgbClr val="FAC0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7609" name="Rectangle 9"/>
          <p:cNvSpPr>
            <a:spLocks noChangeArrowheads="1"/>
          </p:cNvSpPr>
          <p:nvPr/>
        </p:nvSpPr>
        <p:spPr bwMode="auto">
          <a:xfrm>
            <a:off x="4419600" y="1377216"/>
            <a:ext cx="12588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price </a:t>
            </a:r>
          </a:p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level</a:t>
            </a:r>
          </a:p>
        </p:txBody>
      </p:sp>
      <p:sp>
        <p:nvSpPr>
          <p:cNvPr id="537610" name="Rectangle 10"/>
          <p:cNvSpPr>
            <a:spLocks noChangeArrowheads="1"/>
          </p:cNvSpPr>
          <p:nvPr/>
        </p:nvSpPr>
        <p:spPr bwMode="auto">
          <a:xfrm>
            <a:off x="7696200" y="5692775"/>
            <a:ext cx="12192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37617" name="Line 93"/>
          <p:cNvSpPr>
            <a:spLocks noChangeShapeType="1"/>
          </p:cNvSpPr>
          <p:nvPr/>
        </p:nvSpPr>
        <p:spPr bwMode="auto">
          <a:xfrm flipV="1">
            <a:off x="6486525" y="2774950"/>
            <a:ext cx="1565275" cy="2635250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7618" name="Line 94"/>
          <p:cNvSpPr>
            <a:spLocks noChangeShapeType="1"/>
          </p:cNvSpPr>
          <p:nvPr/>
        </p:nvSpPr>
        <p:spPr bwMode="auto">
          <a:xfrm>
            <a:off x="6523038" y="3513138"/>
            <a:ext cx="909637" cy="3175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7620" name="Freeform 116"/>
          <p:cNvSpPr>
            <a:spLocks/>
          </p:cNvSpPr>
          <p:nvPr/>
        </p:nvSpPr>
        <p:spPr bwMode="auto">
          <a:xfrm>
            <a:off x="7010400" y="4724400"/>
            <a:ext cx="2057400" cy="868363"/>
          </a:xfrm>
          <a:custGeom>
            <a:avLst/>
            <a:gdLst>
              <a:gd name="T0" fmla="*/ 1431558 w 324"/>
              <a:gd name="T1" fmla="*/ 493263 h 101"/>
              <a:gd name="T2" fmla="*/ 1360864 w 324"/>
              <a:gd name="T3" fmla="*/ 586113 h 101"/>
              <a:gd name="T4" fmla="*/ 70694 w 324"/>
              <a:gd name="T5" fmla="*/ 586113 h 101"/>
              <a:gd name="T6" fmla="*/ 0 w 324"/>
              <a:gd name="T7" fmla="*/ 493263 h 101"/>
              <a:gd name="T8" fmla="*/ 0 w 324"/>
              <a:gd name="T9" fmla="*/ 92850 h 101"/>
              <a:gd name="T10" fmla="*/ 70694 w 324"/>
              <a:gd name="T11" fmla="*/ 0 h 101"/>
              <a:gd name="T12" fmla="*/ 1360864 w 324"/>
              <a:gd name="T13" fmla="*/ 0 h 101"/>
              <a:gd name="T14" fmla="*/ 1431558 w 324"/>
              <a:gd name="T15" fmla="*/ 92850 h 101"/>
              <a:gd name="T16" fmla="*/ 1431558 w 324"/>
              <a:gd name="T17" fmla="*/ 493263 h 1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4"/>
              <a:gd name="T28" fmla="*/ 0 h 101"/>
              <a:gd name="T29" fmla="*/ 324 w 324"/>
              <a:gd name="T30" fmla="*/ 101 h 10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4" h="101">
                <a:moveTo>
                  <a:pt x="324" y="85"/>
                </a:moveTo>
                <a:cubicBezTo>
                  <a:pt x="324" y="94"/>
                  <a:pt x="317" y="101"/>
                  <a:pt x="308" y="101"/>
                </a:cubicBezTo>
                <a:cubicBezTo>
                  <a:pt x="16" y="101"/>
                  <a:pt x="16" y="101"/>
                  <a:pt x="16" y="101"/>
                </a:cubicBezTo>
                <a:cubicBezTo>
                  <a:pt x="7" y="101"/>
                  <a:pt x="0" y="94"/>
                  <a:pt x="0" y="8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308" y="0"/>
                  <a:pt x="308" y="0"/>
                  <a:pt x="308" y="0"/>
                </a:cubicBezTo>
                <a:cubicBezTo>
                  <a:pt x="317" y="0"/>
                  <a:pt x="324" y="7"/>
                  <a:pt x="324" y="16"/>
                </a:cubicBezTo>
                <a:lnTo>
                  <a:pt x="324" y="85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21" name="Rectangle 21"/>
          <p:cNvSpPr>
            <a:spLocks noChangeArrowheads="1"/>
          </p:cNvSpPr>
          <p:nvPr/>
        </p:nvSpPr>
        <p:spPr bwMode="auto">
          <a:xfrm>
            <a:off x="7010400" y="4724400"/>
            <a:ext cx="2057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Increase in short-run aggregate supply</a:t>
            </a:r>
          </a:p>
        </p:txBody>
      </p:sp>
      <p:sp>
        <p:nvSpPr>
          <p:cNvPr id="537623" name="Rectangle 23"/>
          <p:cNvSpPr>
            <a:spLocks noChangeArrowheads="1"/>
          </p:cNvSpPr>
          <p:nvPr/>
        </p:nvSpPr>
        <p:spPr bwMode="auto">
          <a:xfrm>
            <a:off x="5943600" y="1212850"/>
            <a:ext cx="220185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(b) Rightward Shift</a:t>
            </a:r>
          </a:p>
        </p:txBody>
      </p:sp>
      <p:sp>
        <p:nvSpPr>
          <p:cNvPr id="537626" name="Rectangle 39"/>
          <p:cNvSpPr>
            <a:spLocks noChangeArrowheads="1"/>
          </p:cNvSpPr>
          <p:nvPr/>
        </p:nvSpPr>
        <p:spPr bwMode="auto">
          <a:xfrm>
            <a:off x="6646863" y="2208213"/>
            <a:ext cx="6594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28" name="Rectangle 39"/>
          <p:cNvSpPr>
            <a:spLocks noChangeArrowheads="1"/>
          </p:cNvSpPr>
          <p:nvPr/>
        </p:nvSpPr>
        <p:spPr bwMode="auto">
          <a:xfrm>
            <a:off x="7829823" y="2339975"/>
            <a:ext cx="6594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31" name="Rectangle 31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Autofit/>
          </a:bodyPr>
          <a:lstStyle/>
          <a:p>
            <a:r>
              <a:rPr lang="en-US" sz="4000" spc="0" dirty="0"/>
              <a:t>SHIFTS OF THE SHORT-RUN AGGREGATE SUPPLY CURVE</a:t>
            </a:r>
          </a:p>
        </p:txBody>
      </p:sp>
      <p:sp>
        <p:nvSpPr>
          <p:cNvPr id="30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4724400" cy="4648200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i="1" dirty="0"/>
              <a:t>SRAS</a:t>
            </a:r>
            <a:r>
              <a:rPr lang="en-US" sz="2400" dirty="0"/>
              <a:t> curve shifts RIGHT because of a(n):</a:t>
            </a:r>
          </a:p>
          <a:p>
            <a:pPr marL="566738" lvl="1" indent="-282575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decrease in commodity prices.</a:t>
            </a:r>
          </a:p>
          <a:p>
            <a:pPr marL="566738" lvl="1" indent="-282575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decrease in nominal wages.</a:t>
            </a:r>
          </a:p>
          <a:p>
            <a:pPr marL="566738" lvl="1" indent="-282575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increase in productivity .</a:t>
            </a:r>
          </a:p>
          <a:p>
            <a:r>
              <a:rPr lang="en-US" sz="2400" dirty="0"/>
              <a:t>Each of these factors increases producers’ profits and shifts the </a:t>
            </a:r>
            <a:r>
              <a:rPr lang="en-US" sz="2400" i="1" dirty="0"/>
              <a:t>SRAS</a:t>
            </a:r>
            <a:r>
              <a:rPr lang="en-US" sz="2400" dirty="0"/>
              <a:t> right.</a:t>
            </a:r>
          </a:p>
        </p:txBody>
      </p:sp>
    </p:spTree>
    <p:extLst>
      <p:ext uri="{BB962C8B-B14F-4D97-AF65-F5344CB8AC3E}">
        <p14:creationId xmlns:p14="http://schemas.microsoft.com/office/powerpoint/2010/main" val="423624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7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5 -0.00324 L 3.33333E-6 1.11022E-1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376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37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17" grpId="0" animBg="1"/>
      <p:bldP spid="537617" grpId="1" animBg="1"/>
      <p:bldP spid="537618" grpId="0" animBg="1"/>
      <p:bldP spid="537620" grpId="0" animBg="1"/>
      <p:bldP spid="537621" grpId="0"/>
      <p:bldP spid="537628" grpId="0"/>
      <p:bldP spid="3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6"/>
          <p:cNvSpPr>
            <a:spLocks noChangeArrowheads="1"/>
          </p:cNvSpPr>
          <p:nvPr/>
        </p:nvSpPr>
        <p:spPr bwMode="auto">
          <a:xfrm>
            <a:off x="757238" y="2655471"/>
            <a:ext cx="3382962" cy="348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04" name="Freeform 87"/>
          <p:cNvSpPr>
            <a:spLocks/>
          </p:cNvSpPr>
          <p:nvPr/>
        </p:nvSpPr>
        <p:spPr bwMode="auto">
          <a:xfrm>
            <a:off x="757238" y="2655471"/>
            <a:ext cx="3382962" cy="3484563"/>
          </a:xfrm>
          <a:custGeom>
            <a:avLst/>
            <a:gdLst>
              <a:gd name="T0" fmla="*/ 3382663 w 1810"/>
              <a:gd name="T1" fmla="*/ 3484665 h 1415"/>
              <a:gd name="T2" fmla="*/ 0 w 1810"/>
              <a:gd name="T3" fmla="*/ 3484665 h 1415"/>
              <a:gd name="T4" fmla="*/ 0 w 1810"/>
              <a:gd name="T5" fmla="*/ 0 h 1415"/>
              <a:gd name="T6" fmla="*/ 0 60000 65536"/>
              <a:gd name="T7" fmla="*/ 0 60000 65536"/>
              <a:gd name="T8" fmla="*/ 0 60000 65536"/>
              <a:gd name="T9" fmla="*/ 0 w 1810"/>
              <a:gd name="T10" fmla="*/ 0 h 1415"/>
              <a:gd name="T11" fmla="*/ 1810 w 1810"/>
              <a:gd name="T12" fmla="*/ 1415 h 14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10" h="1415">
                <a:moveTo>
                  <a:pt x="1810" y="1415"/>
                </a:moveTo>
                <a:lnTo>
                  <a:pt x="0" y="1415"/>
                </a:lnTo>
                <a:lnTo>
                  <a:pt x="0" y="0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05" name="Line 91"/>
          <p:cNvSpPr>
            <a:spLocks noChangeShapeType="1"/>
          </p:cNvSpPr>
          <p:nvPr/>
        </p:nvSpPr>
        <p:spPr bwMode="auto">
          <a:xfrm flipV="1">
            <a:off x="2043113" y="3296821"/>
            <a:ext cx="1562100" cy="2635250"/>
          </a:xfrm>
          <a:prstGeom prst="line">
            <a:avLst/>
          </a:prstGeom>
          <a:noFill/>
          <a:ln w="38100">
            <a:solidFill>
              <a:srgbClr val="FAC0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7607" name="Rectangle 7"/>
          <p:cNvSpPr>
            <a:spLocks noChangeArrowheads="1"/>
          </p:cNvSpPr>
          <p:nvPr/>
        </p:nvSpPr>
        <p:spPr bwMode="auto">
          <a:xfrm>
            <a:off x="3429000" y="6214646"/>
            <a:ext cx="1447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37608" name="Rectangle 8"/>
          <p:cNvSpPr>
            <a:spLocks noChangeArrowheads="1"/>
          </p:cNvSpPr>
          <p:nvPr/>
        </p:nvSpPr>
        <p:spPr bwMode="auto">
          <a:xfrm>
            <a:off x="0" y="2023646"/>
            <a:ext cx="1295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37611" name="Rectangle 39"/>
          <p:cNvSpPr>
            <a:spLocks noChangeArrowheads="1"/>
          </p:cNvSpPr>
          <p:nvPr/>
        </p:nvSpPr>
        <p:spPr bwMode="auto">
          <a:xfrm>
            <a:off x="2379663" y="2806284"/>
            <a:ext cx="6594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13" name="Line 90"/>
          <p:cNvSpPr>
            <a:spLocks noChangeShapeType="1"/>
          </p:cNvSpPr>
          <p:nvPr/>
        </p:nvSpPr>
        <p:spPr bwMode="auto">
          <a:xfrm flipV="1">
            <a:off x="1003300" y="3087271"/>
            <a:ext cx="1558925" cy="2635250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7615" name="Freeform 97"/>
          <p:cNvSpPr>
            <a:spLocks/>
          </p:cNvSpPr>
          <p:nvPr/>
        </p:nvSpPr>
        <p:spPr bwMode="auto">
          <a:xfrm>
            <a:off x="2588419" y="5181600"/>
            <a:ext cx="2212181" cy="933034"/>
          </a:xfrm>
          <a:custGeom>
            <a:avLst/>
            <a:gdLst>
              <a:gd name="T0" fmla="*/ 1431558 w 324"/>
              <a:gd name="T1" fmla="*/ 493263 h 101"/>
              <a:gd name="T2" fmla="*/ 1360864 w 324"/>
              <a:gd name="T3" fmla="*/ 586113 h 101"/>
              <a:gd name="T4" fmla="*/ 70694 w 324"/>
              <a:gd name="T5" fmla="*/ 586113 h 101"/>
              <a:gd name="T6" fmla="*/ 0 w 324"/>
              <a:gd name="T7" fmla="*/ 493263 h 101"/>
              <a:gd name="T8" fmla="*/ 0 w 324"/>
              <a:gd name="T9" fmla="*/ 92850 h 101"/>
              <a:gd name="T10" fmla="*/ 70694 w 324"/>
              <a:gd name="T11" fmla="*/ 0 h 101"/>
              <a:gd name="T12" fmla="*/ 1360864 w 324"/>
              <a:gd name="T13" fmla="*/ 0 h 101"/>
              <a:gd name="T14" fmla="*/ 1431558 w 324"/>
              <a:gd name="T15" fmla="*/ 92850 h 101"/>
              <a:gd name="T16" fmla="*/ 1431558 w 324"/>
              <a:gd name="T17" fmla="*/ 493263 h 1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4"/>
              <a:gd name="T28" fmla="*/ 0 h 101"/>
              <a:gd name="T29" fmla="*/ 324 w 324"/>
              <a:gd name="T30" fmla="*/ 101 h 10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4" h="101">
                <a:moveTo>
                  <a:pt x="324" y="85"/>
                </a:moveTo>
                <a:cubicBezTo>
                  <a:pt x="324" y="94"/>
                  <a:pt x="317" y="101"/>
                  <a:pt x="308" y="101"/>
                </a:cubicBezTo>
                <a:cubicBezTo>
                  <a:pt x="16" y="101"/>
                  <a:pt x="16" y="101"/>
                  <a:pt x="16" y="101"/>
                </a:cubicBezTo>
                <a:cubicBezTo>
                  <a:pt x="7" y="101"/>
                  <a:pt x="0" y="94"/>
                  <a:pt x="0" y="85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ubicBezTo>
                  <a:pt x="308" y="0"/>
                  <a:pt x="308" y="0"/>
                  <a:pt x="308" y="0"/>
                </a:cubicBezTo>
                <a:cubicBezTo>
                  <a:pt x="317" y="0"/>
                  <a:pt x="324" y="7"/>
                  <a:pt x="324" y="16"/>
                </a:cubicBezTo>
                <a:lnTo>
                  <a:pt x="324" y="85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16" name="Rectangle 16"/>
          <p:cNvSpPr>
            <a:spLocks noChangeArrowheads="1"/>
          </p:cNvSpPr>
          <p:nvPr/>
        </p:nvSpPr>
        <p:spPr bwMode="auto">
          <a:xfrm>
            <a:off x="2590800" y="5257800"/>
            <a:ext cx="221218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Decrease in short-run aggregate supply</a:t>
            </a:r>
          </a:p>
        </p:txBody>
      </p:sp>
      <p:sp>
        <p:nvSpPr>
          <p:cNvPr id="537622" name="Rectangle 22"/>
          <p:cNvSpPr>
            <a:spLocks noChangeArrowheads="1"/>
          </p:cNvSpPr>
          <p:nvPr/>
        </p:nvSpPr>
        <p:spPr bwMode="auto">
          <a:xfrm>
            <a:off x="1600200" y="1718846"/>
            <a:ext cx="20356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(a) Leftward Shift</a:t>
            </a:r>
          </a:p>
        </p:txBody>
      </p:sp>
      <p:sp>
        <p:nvSpPr>
          <p:cNvPr id="537624" name="Rectangle 39"/>
          <p:cNvSpPr>
            <a:spLocks noChangeArrowheads="1"/>
          </p:cNvSpPr>
          <p:nvPr/>
        </p:nvSpPr>
        <p:spPr bwMode="auto">
          <a:xfrm>
            <a:off x="3505200" y="2938046"/>
            <a:ext cx="6594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7630" name="Line 94"/>
          <p:cNvSpPr>
            <a:spLocks noChangeShapeType="1"/>
          </p:cNvSpPr>
          <p:nvPr/>
        </p:nvSpPr>
        <p:spPr bwMode="auto">
          <a:xfrm flipH="1">
            <a:off x="2133600" y="4004846"/>
            <a:ext cx="909638" cy="3175"/>
          </a:xfrm>
          <a:prstGeom prst="line">
            <a:avLst/>
          </a:prstGeom>
          <a:noFill/>
          <a:ln w="31750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7631" name="Rectangle 31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219200"/>
          </a:xfrm>
        </p:spPr>
        <p:txBody>
          <a:bodyPr>
            <a:noAutofit/>
          </a:bodyPr>
          <a:lstStyle/>
          <a:p>
            <a:r>
              <a:rPr lang="en-US" sz="4000" spc="0" dirty="0"/>
              <a:t>SHIFTS OF THE SHORT-RUN AGGREGATE SUPPLY CURVE</a:t>
            </a:r>
          </a:p>
        </p:txBody>
      </p:sp>
      <p:sp>
        <p:nvSpPr>
          <p:cNvPr id="30" name="Rectangle 3"/>
          <p:cNvSpPr>
            <a:spLocks noGrp="1" noChangeArrowheads="1"/>
          </p:cNvSpPr>
          <p:nvPr>
            <p:ph idx="1"/>
          </p:nvPr>
        </p:nvSpPr>
        <p:spPr>
          <a:xfrm>
            <a:off x="4953000" y="1512471"/>
            <a:ext cx="4114800" cy="4648200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i="1" dirty="0"/>
              <a:t>SRAS</a:t>
            </a:r>
            <a:r>
              <a:rPr lang="en-US" sz="2400" dirty="0"/>
              <a:t> curve shifts LEFT because of a(n):</a:t>
            </a:r>
          </a:p>
          <a:p>
            <a:pPr marL="566738" lvl="1" indent="-282575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increase in commodity prices.</a:t>
            </a:r>
          </a:p>
          <a:p>
            <a:pPr marL="566738" lvl="1" indent="-282575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increase in nominal wages.</a:t>
            </a:r>
          </a:p>
          <a:p>
            <a:pPr marL="566738" lvl="1" indent="-282575">
              <a:buFont typeface="Wingdings" charset="2"/>
              <a:buChar char="§"/>
            </a:pPr>
            <a:r>
              <a:rPr lang="en-US" sz="2400" dirty="0">
                <a:solidFill>
                  <a:srgbClr val="0070C0"/>
                </a:solidFill>
              </a:rPr>
              <a:t>decline in productivity.</a:t>
            </a:r>
          </a:p>
          <a:p>
            <a:r>
              <a:rPr lang="en-US" sz="2400" dirty="0"/>
              <a:t>Each of these factors reduces producers’ profits and shifts the </a:t>
            </a:r>
            <a:r>
              <a:rPr lang="en-US" sz="2400" i="1" dirty="0"/>
              <a:t>SRAS</a:t>
            </a:r>
            <a:r>
              <a:rPr lang="en-US" sz="2400" dirty="0"/>
              <a:t> left.</a:t>
            </a:r>
          </a:p>
        </p:txBody>
      </p:sp>
    </p:spTree>
    <p:extLst>
      <p:ext uri="{BB962C8B-B14F-4D97-AF65-F5344CB8AC3E}">
        <p14:creationId xmlns:p14="http://schemas.microsoft.com/office/powerpoint/2010/main" val="303398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5 -0.00047 L 0 3.33333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5376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11" grpId="0"/>
      <p:bldP spid="537613" grpId="0" animBg="1"/>
      <p:bldP spid="537613" grpId="1" animBg="1"/>
      <p:bldP spid="537615" grpId="0" animBg="1"/>
      <p:bldP spid="537616" grpId="0"/>
      <p:bldP spid="537630" grpId="0" animBg="1"/>
      <p:bldP spid="3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  <a:defRPr/>
            </a:pPr>
            <a:r>
              <a:rPr lang="en-US" sz="3200" dirty="0"/>
              <a:t>The short-run aggregate supply curve will shift to the right:</a:t>
            </a:r>
          </a:p>
          <a:p>
            <a:pPr marL="742950" indent="-742950">
              <a:buFont typeface="+mj-lt"/>
              <a:buAutoNum type="alphaLcParenR"/>
              <a:defRPr/>
            </a:pPr>
            <a:r>
              <a:rPr lang="en-US" sz="3200" dirty="0"/>
              <a:t>when input costs rise.</a:t>
            </a:r>
          </a:p>
          <a:p>
            <a:pPr marL="742950" indent="-742950">
              <a:buFont typeface="+mj-lt"/>
              <a:buAutoNum type="alphaLcParenR"/>
              <a:defRPr/>
            </a:pPr>
            <a:r>
              <a:rPr lang="en-US" sz="3200" dirty="0"/>
              <a:t>when taxes rise.</a:t>
            </a:r>
          </a:p>
          <a:p>
            <a:pPr marL="742950" indent="-742950">
              <a:buFont typeface="+mj-lt"/>
              <a:buAutoNum type="alphaLcParenR"/>
              <a:defRPr/>
            </a:pPr>
            <a:r>
              <a:rPr lang="en-US" sz="3200" dirty="0"/>
              <a:t>when interest rates rise.</a:t>
            </a:r>
          </a:p>
          <a:p>
            <a:pPr marL="742950" indent="-742950">
              <a:buFont typeface="+mj-lt"/>
              <a:buAutoNum type="alphaLcParenR"/>
              <a:defRPr/>
            </a:pPr>
            <a:r>
              <a:rPr lang="en-US" sz="3200" dirty="0"/>
              <a:t>when productivity rises.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3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3" action="ppaction://hlinksldjump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72960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LONG-RUN AGGREGATE SUPPLY CURVE</a:t>
            </a:r>
          </a:p>
        </p:txBody>
      </p:sp>
      <p:sp>
        <p:nvSpPr>
          <p:cNvPr id="51097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839200" cy="4648200"/>
          </a:xfrm>
        </p:spPr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b="1" i="1" dirty="0">
                <a:solidFill>
                  <a:srgbClr val="990033"/>
                </a:solidFill>
              </a:rPr>
              <a:t>long-run aggregate supply curve </a:t>
            </a:r>
            <a:r>
              <a:rPr lang="en-US" dirty="0"/>
              <a:t>shows the relationship between the </a:t>
            </a:r>
            <a:r>
              <a:rPr lang="en-US" dirty="0">
                <a:solidFill>
                  <a:srgbClr val="0070C0"/>
                </a:solidFill>
              </a:rPr>
              <a:t>aggregate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price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level </a:t>
            </a:r>
            <a:r>
              <a:rPr lang="en-US" dirty="0"/>
              <a:t>and the </a:t>
            </a:r>
            <a:r>
              <a:rPr lang="en-US" dirty="0">
                <a:solidFill>
                  <a:srgbClr val="0070C0"/>
                </a:solidFill>
              </a:rPr>
              <a:t>quantity of aggregate output supplied </a:t>
            </a:r>
            <a:r>
              <a:rPr lang="en-US" dirty="0"/>
              <a:t>that would exist </a:t>
            </a:r>
            <a:r>
              <a:rPr lang="en-US" dirty="0">
                <a:solidFill>
                  <a:srgbClr val="0070C0"/>
                </a:solidFill>
              </a:rPr>
              <a:t>if all prices,</a:t>
            </a:r>
            <a:r>
              <a:rPr lang="en-US" dirty="0"/>
              <a:t> including nominal wages, </a:t>
            </a:r>
            <a:r>
              <a:rPr lang="en-US" dirty="0">
                <a:solidFill>
                  <a:srgbClr val="0070C0"/>
                </a:solidFill>
              </a:rPr>
              <a:t>were fully flexible.</a:t>
            </a:r>
          </a:p>
          <a:p>
            <a:r>
              <a:rPr lang="en-US" i="1" dirty="0">
                <a:solidFill>
                  <a:srgbClr val="990033"/>
                </a:solidFill>
              </a:rPr>
              <a:t>The long run </a:t>
            </a:r>
            <a:r>
              <a:rPr lang="en-US" dirty="0"/>
              <a:t>is the time it takes for all prices (including nominal wages) to adjust.</a:t>
            </a:r>
          </a:p>
          <a:p>
            <a:r>
              <a:rPr lang="en-US" dirty="0"/>
              <a:t>Now there is </a:t>
            </a:r>
            <a:r>
              <a:rPr lang="en-US" dirty="0">
                <a:solidFill>
                  <a:srgbClr val="0070C0"/>
                </a:solidFill>
              </a:rPr>
              <a:t>no change to profits </a:t>
            </a:r>
            <a:r>
              <a:rPr lang="en-US" dirty="0"/>
              <a:t>SIMPLY BECAUSE PRICES HAVE CHANGED.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9597"/>
          <a:stretch/>
        </p:blipFill>
        <p:spPr>
          <a:xfrm>
            <a:off x="6629400" y="3962400"/>
            <a:ext cx="213360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794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Line 2"/>
          <p:cNvSpPr>
            <a:spLocks noChangeShapeType="1"/>
          </p:cNvSpPr>
          <p:nvPr/>
        </p:nvSpPr>
        <p:spPr bwMode="auto">
          <a:xfrm flipV="1">
            <a:off x="5676900" y="2084386"/>
            <a:ext cx="800100" cy="354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9651" name="Rectangle 7"/>
          <p:cNvSpPr>
            <a:spLocks noChangeArrowheads="1"/>
          </p:cNvSpPr>
          <p:nvPr/>
        </p:nvSpPr>
        <p:spPr bwMode="auto">
          <a:xfrm>
            <a:off x="1679575" y="1814513"/>
            <a:ext cx="39794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15.0</a:t>
            </a: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9652" name="Line 49"/>
          <p:cNvSpPr>
            <a:spLocks noChangeShapeType="1"/>
          </p:cNvSpPr>
          <p:nvPr/>
        </p:nvSpPr>
        <p:spPr bwMode="auto">
          <a:xfrm flipV="1">
            <a:off x="4576763" y="5843588"/>
            <a:ext cx="768350" cy="139700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9653" name="Freeform 86"/>
          <p:cNvSpPr>
            <a:spLocks/>
          </p:cNvSpPr>
          <p:nvPr/>
        </p:nvSpPr>
        <p:spPr bwMode="auto">
          <a:xfrm>
            <a:off x="3429000" y="5791200"/>
            <a:ext cx="1219200" cy="609600"/>
          </a:xfrm>
          <a:custGeom>
            <a:avLst/>
            <a:gdLst>
              <a:gd name="T0" fmla="*/ 1028330 w 172"/>
              <a:gd name="T1" fmla="*/ 503856 h 99"/>
              <a:gd name="T2" fmla="*/ 926693 w 172"/>
              <a:gd name="T3" fmla="*/ 631415 h 99"/>
              <a:gd name="T4" fmla="*/ 101637 w 172"/>
              <a:gd name="T5" fmla="*/ 631415 h 99"/>
              <a:gd name="T6" fmla="*/ 0 w 172"/>
              <a:gd name="T7" fmla="*/ 503856 h 99"/>
              <a:gd name="T8" fmla="*/ 0 w 172"/>
              <a:gd name="T9" fmla="*/ 121181 h 99"/>
              <a:gd name="T10" fmla="*/ 101637 w 172"/>
              <a:gd name="T11" fmla="*/ 0 h 99"/>
              <a:gd name="T12" fmla="*/ 926693 w 172"/>
              <a:gd name="T13" fmla="*/ 0 h 99"/>
              <a:gd name="T14" fmla="*/ 1028330 w 172"/>
              <a:gd name="T15" fmla="*/ 121181 h 99"/>
              <a:gd name="T16" fmla="*/ 1028330 w 172"/>
              <a:gd name="T17" fmla="*/ 503856 h 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72"/>
              <a:gd name="T28" fmla="*/ 0 h 99"/>
              <a:gd name="T29" fmla="*/ 172 w 172"/>
              <a:gd name="T30" fmla="*/ 99 h 9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72" h="99">
                <a:moveTo>
                  <a:pt x="172" y="79"/>
                </a:moveTo>
                <a:cubicBezTo>
                  <a:pt x="172" y="90"/>
                  <a:pt x="164" y="99"/>
                  <a:pt x="155" y="99"/>
                </a:cubicBezTo>
                <a:cubicBezTo>
                  <a:pt x="17" y="99"/>
                  <a:pt x="17" y="99"/>
                  <a:pt x="17" y="99"/>
                </a:cubicBezTo>
                <a:cubicBezTo>
                  <a:pt x="8" y="99"/>
                  <a:pt x="0" y="90"/>
                  <a:pt x="0" y="7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164" y="0"/>
                  <a:pt x="172" y="9"/>
                  <a:pt x="172" y="19"/>
                </a:cubicBezTo>
                <a:lnTo>
                  <a:pt x="172" y="7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9654" name="Rectangle 98"/>
          <p:cNvSpPr>
            <a:spLocks noChangeArrowheads="1"/>
          </p:cNvSpPr>
          <p:nvPr/>
        </p:nvSpPr>
        <p:spPr bwMode="auto">
          <a:xfrm>
            <a:off x="1946275" y="5694363"/>
            <a:ext cx="1137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0</a:t>
            </a: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9655" name="Rectangle 99"/>
          <p:cNvSpPr>
            <a:spLocks noChangeArrowheads="1"/>
          </p:cNvSpPr>
          <p:nvPr/>
        </p:nvSpPr>
        <p:spPr bwMode="auto">
          <a:xfrm>
            <a:off x="5380038" y="5694363"/>
            <a:ext cx="45485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$800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9656" name="Line 103"/>
          <p:cNvSpPr>
            <a:spLocks noChangeShapeType="1"/>
          </p:cNvSpPr>
          <p:nvPr/>
        </p:nvSpPr>
        <p:spPr bwMode="auto">
          <a:xfrm>
            <a:off x="2147888" y="1979613"/>
            <a:ext cx="144462" cy="31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9657" name="Line 105"/>
          <p:cNvSpPr>
            <a:spLocks noChangeShapeType="1"/>
          </p:cNvSpPr>
          <p:nvPr/>
        </p:nvSpPr>
        <p:spPr bwMode="auto">
          <a:xfrm flipV="1">
            <a:off x="5673725" y="1614488"/>
            <a:ext cx="3175" cy="4024312"/>
          </a:xfrm>
          <a:prstGeom prst="line">
            <a:avLst/>
          </a:prstGeom>
          <a:noFill/>
          <a:ln w="38100">
            <a:solidFill>
              <a:srgbClr val="F7944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9658" name="Oval 106"/>
          <p:cNvSpPr>
            <a:spLocks noChangeArrowheads="1"/>
          </p:cNvSpPr>
          <p:nvPr/>
        </p:nvSpPr>
        <p:spPr bwMode="auto">
          <a:xfrm>
            <a:off x="5613400" y="1914525"/>
            <a:ext cx="119063" cy="1301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9659" name="Freeform 108"/>
          <p:cNvSpPr>
            <a:spLocks/>
          </p:cNvSpPr>
          <p:nvPr/>
        </p:nvSpPr>
        <p:spPr bwMode="auto">
          <a:xfrm>
            <a:off x="2147888" y="996950"/>
            <a:ext cx="6092825" cy="4641850"/>
          </a:xfrm>
          <a:custGeom>
            <a:avLst/>
            <a:gdLst>
              <a:gd name="T0" fmla="*/ 6091460 w 2405"/>
              <a:gd name="T1" fmla="*/ 4641170 h 1720"/>
              <a:gd name="T2" fmla="*/ 0 w 2405"/>
              <a:gd name="T3" fmla="*/ 4641170 h 1720"/>
              <a:gd name="T4" fmla="*/ 0 w 2405"/>
              <a:gd name="T5" fmla="*/ 0 h 1720"/>
              <a:gd name="T6" fmla="*/ 0 60000 65536"/>
              <a:gd name="T7" fmla="*/ 0 60000 65536"/>
              <a:gd name="T8" fmla="*/ 0 60000 65536"/>
              <a:gd name="T9" fmla="*/ 0 w 2405"/>
              <a:gd name="T10" fmla="*/ 0 h 1720"/>
              <a:gd name="T11" fmla="*/ 2405 w 2405"/>
              <a:gd name="T12" fmla="*/ 1720 h 17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5" h="1720">
                <a:moveTo>
                  <a:pt x="2405" y="1720"/>
                </a:moveTo>
                <a:lnTo>
                  <a:pt x="0" y="1720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9660" name="Rectangle 12"/>
          <p:cNvSpPr>
            <a:spLocks noChangeArrowheads="1"/>
          </p:cNvSpPr>
          <p:nvPr/>
        </p:nvSpPr>
        <p:spPr bwMode="auto">
          <a:xfrm>
            <a:off x="6400800" y="5686425"/>
            <a:ext cx="2362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 (billions of 2005 dollars)</a:t>
            </a:r>
          </a:p>
        </p:txBody>
      </p:sp>
      <p:sp>
        <p:nvSpPr>
          <p:cNvPr id="539661" name="Rectangle 13"/>
          <p:cNvSpPr>
            <a:spLocks noChangeArrowheads="1"/>
          </p:cNvSpPr>
          <p:nvPr/>
        </p:nvSpPr>
        <p:spPr bwMode="auto">
          <a:xfrm>
            <a:off x="0" y="1161871"/>
            <a:ext cx="2209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</a:t>
            </a: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level (GDP deflator,</a:t>
            </a:r>
          </a:p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2005 = 100)</a:t>
            </a:r>
          </a:p>
        </p:txBody>
      </p:sp>
      <p:sp>
        <p:nvSpPr>
          <p:cNvPr id="539662" name="Rectangle 14"/>
          <p:cNvSpPr>
            <a:spLocks noChangeArrowheads="1"/>
          </p:cNvSpPr>
          <p:nvPr/>
        </p:nvSpPr>
        <p:spPr bwMode="auto">
          <a:xfrm>
            <a:off x="3505200" y="5791200"/>
            <a:ext cx="1447800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Potential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output, Y</a:t>
            </a:r>
            <a:r>
              <a:rPr lang="en-US" sz="1600" i="1" baseline="-250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</a:p>
        </p:txBody>
      </p:sp>
      <p:sp>
        <p:nvSpPr>
          <p:cNvPr id="539663" name="Rectangle 15"/>
          <p:cNvSpPr>
            <a:spLocks noChangeArrowheads="1"/>
          </p:cNvSpPr>
          <p:nvPr/>
        </p:nvSpPr>
        <p:spPr bwMode="auto">
          <a:xfrm>
            <a:off x="4724400" y="962025"/>
            <a:ext cx="22860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Long-run aggregate</a:t>
            </a:r>
          </a:p>
          <a:p>
            <a:pPr>
              <a:spcBef>
                <a:spcPct val="0"/>
              </a:spcBef>
            </a:pPr>
            <a:r>
              <a:rPr lang="en-US" sz="160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supply curve, </a:t>
            </a:r>
            <a:r>
              <a:rPr lang="en-US" sz="1600" i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LRAS</a:t>
            </a:r>
          </a:p>
        </p:txBody>
      </p:sp>
      <p:sp>
        <p:nvSpPr>
          <p:cNvPr id="539664" name="Line 16"/>
          <p:cNvSpPr>
            <a:spLocks noChangeShapeType="1"/>
          </p:cNvSpPr>
          <p:nvPr/>
        </p:nvSpPr>
        <p:spPr bwMode="auto">
          <a:xfrm flipH="1">
            <a:off x="2343150" y="1981200"/>
            <a:ext cx="3302000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9665" name="Rectangle 8"/>
          <p:cNvSpPr>
            <a:spLocks noChangeArrowheads="1"/>
          </p:cNvSpPr>
          <p:nvPr/>
        </p:nvSpPr>
        <p:spPr bwMode="auto">
          <a:xfrm>
            <a:off x="1790700" y="3671888"/>
            <a:ext cx="28423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7.5</a:t>
            </a: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9666" name="Line 48"/>
          <p:cNvSpPr>
            <a:spLocks noChangeShapeType="1"/>
          </p:cNvSpPr>
          <p:nvPr/>
        </p:nvSpPr>
        <p:spPr bwMode="auto">
          <a:xfrm>
            <a:off x="1447800" y="2790825"/>
            <a:ext cx="452438" cy="31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9667" name="Freeform 50"/>
          <p:cNvSpPr>
            <a:spLocks/>
          </p:cNvSpPr>
          <p:nvPr/>
        </p:nvSpPr>
        <p:spPr bwMode="auto">
          <a:xfrm>
            <a:off x="6400800" y="1550987"/>
            <a:ext cx="2286000" cy="1116013"/>
          </a:xfrm>
          <a:custGeom>
            <a:avLst/>
            <a:gdLst>
              <a:gd name="T0" fmla="*/ 1990806 w 333"/>
              <a:gd name="T1" fmla="*/ 995832 h 175"/>
              <a:gd name="T2" fmla="*/ 1889173 w 333"/>
              <a:gd name="T3" fmla="*/ 1117119 h 175"/>
              <a:gd name="T4" fmla="*/ 101633 w 333"/>
              <a:gd name="T5" fmla="*/ 1117119 h 175"/>
              <a:gd name="T6" fmla="*/ 0 w 333"/>
              <a:gd name="T7" fmla="*/ 995832 h 175"/>
              <a:gd name="T8" fmla="*/ 0 w 333"/>
              <a:gd name="T9" fmla="*/ 121287 h 175"/>
              <a:gd name="T10" fmla="*/ 101633 w 333"/>
              <a:gd name="T11" fmla="*/ 0 h 175"/>
              <a:gd name="T12" fmla="*/ 1889173 w 333"/>
              <a:gd name="T13" fmla="*/ 0 h 175"/>
              <a:gd name="T14" fmla="*/ 1990806 w 333"/>
              <a:gd name="T15" fmla="*/ 121287 h 175"/>
              <a:gd name="T16" fmla="*/ 1990806 w 333"/>
              <a:gd name="T17" fmla="*/ 995832 h 17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3"/>
              <a:gd name="T28" fmla="*/ 0 h 175"/>
              <a:gd name="T29" fmla="*/ 333 w 333"/>
              <a:gd name="T30" fmla="*/ 175 h 17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3" h="175">
                <a:moveTo>
                  <a:pt x="333" y="156"/>
                </a:moveTo>
                <a:cubicBezTo>
                  <a:pt x="333" y="167"/>
                  <a:pt x="325" y="175"/>
                  <a:pt x="316" y="175"/>
                </a:cubicBezTo>
                <a:cubicBezTo>
                  <a:pt x="17" y="175"/>
                  <a:pt x="17" y="175"/>
                  <a:pt x="17" y="175"/>
                </a:cubicBezTo>
                <a:cubicBezTo>
                  <a:pt x="8" y="175"/>
                  <a:pt x="0" y="167"/>
                  <a:pt x="0" y="15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316" y="0"/>
                  <a:pt x="316" y="0"/>
                  <a:pt x="316" y="0"/>
                </a:cubicBezTo>
                <a:cubicBezTo>
                  <a:pt x="325" y="0"/>
                  <a:pt x="333" y="9"/>
                  <a:pt x="333" y="19"/>
                </a:cubicBezTo>
                <a:lnTo>
                  <a:pt x="333" y="156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9668" name="Freeform 70"/>
          <p:cNvSpPr>
            <a:spLocks/>
          </p:cNvSpPr>
          <p:nvPr/>
        </p:nvSpPr>
        <p:spPr bwMode="auto">
          <a:xfrm>
            <a:off x="152400" y="2562225"/>
            <a:ext cx="1323975" cy="1019175"/>
          </a:xfrm>
          <a:custGeom>
            <a:avLst/>
            <a:gdLst>
              <a:gd name="T0" fmla="*/ 1172700 w 196"/>
              <a:gd name="T1" fmla="*/ 745164 h 136"/>
              <a:gd name="T2" fmla="*/ 1070986 w 196"/>
              <a:gd name="T3" fmla="*/ 866173 h 136"/>
              <a:gd name="T4" fmla="*/ 101714 w 196"/>
              <a:gd name="T5" fmla="*/ 866173 h 136"/>
              <a:gd name="T6" fmla="*/ 0 w 196"/>
              <a:gd name="T7" fmla="*/ 745164 h 136"/>
              <a:gd name="T8" fmla="*/ 0 w 196"/>
              <a:gd name="T9" fmla="*/ 121009 h 136"/>
              <a:gd name="T10" fmla="*/ 101714 w 196"/>
              <a:gd name="T11" fmla="*/ 0 h 136"/>
              <a:gd name="T12" fmla="*/ 1070986 w 196"/>
              <a:gd name="T13" fmla="*/ 0 h 136"/>
              <a:gd name="T14" fmla="*/ 1172700 w 196"/>
              <a:gd name="T15" fmla="*/ 121009 h 136"/>
              <a:gd name="T16" fmla="*/ 1172700 w 196"/>
              <a:gd name="T17" fmla="*/ 745164 h 1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96"/>
              <a:gd name="T28" fmla="*/ 0 h 136"/>
              <a:gd name="T29" fmla="*/ 196 w 196"/>
              <a:gd name="T30" fmla="*/ 136 h 1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96" h="136">
                <a:moveTo>
                  <a:pt x="196" y="117"/>
                </a:moveTo>
                <a:cubicBezTo>
                  <a:pt x="196" y="127"/>
                  <a:pt x="188" y="136"/>
                  <a:pt x="179" y="136"/>
                </a:cubicBezTo>
                <a:cubicBezTo>
                  <a:pt x="17" y="136"/>
                  <a:pt x="17" y="136"/>
                  <a:pt x="17" y="136"/>
                </a:cubicBezTo>
                <a:cubicBezTo>
                  <a:pt x="8" y="136"/>
                  <a:pt x="0" y="127"/>
                  <a:pt x="0" y="117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188" y="0"/>
                  <a:pt x="196" y="9"/>
                  <a:pt x="196" y="19"/>
                </a:cubicBezTo>
                <a:lnTo>
                  <a:pt x="196" y="117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9669" name="Line 104"/>
          <p:cNvSpPr>
            <a:spLocks noChangeShapeType="1"/>
          </p:cNvSpPr>
          <p:nvPr/>
        </p:nvSpPr>
        <p:spPr bwMode="auto">
          <a:xfrm>
            <a:off x="2147888" y="3803650"/>
            <a:ext cx="144462" cy="31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9670" name="Oval 107"/>
          <p:cNvSpPr>
            <a:spLocks noChangeArrowheads="1"/>
          </p:cNvSpPr>
          <p:nvPr/>
        </p:nvSpPr>
        <p:spPr bwMode="auto">
          <a:xfrm>
            <a:off x="5613400" y="3738563"/>
            <a:ext cx="119063" cy="1270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39671" name="Rectangle 23"/>
          <p:cNvSpPr>
            <a:spLocks noChangeArrowheads="1"/>
          </p:cNvSpPr>
          <p:nvPr/>
        </p:nvSpPr>
        <p:spPr bwMode="auto">
          <a:xfrm>
            <a:off x="152400" y="2504182"/>
            <a:ext cx="13716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 fall in the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price level…</a:t>
            </a:r>
          </a:p>
        </p:txBody>
      </p:sp>
      <p:sp>
        <p:nvSpPr>
          <p:cNvPr id="539672" name="Rectangle 24"/>
          <p:cNvSpPr>
            <a:spLocks noChangeArrowheads="1"/>
          </p:cNvSpPr>
          <p:nvPr/>
        </p:nvSpPr>
        <p:spPr bwMode="auto">
          <a:xfrm>
            <a:off x="6400800" y="1550987"/>
            <a:ext cx="23622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…leaves the quantity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of aggregate output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supplied unchanged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 the long run.</a:t>
            </a:r>
          </a:p>
        </p:txBody>
      </p:sp>
      <p:sp>
        <p:nvSpPr>
          <p:cNvPr id="539673" name="Line 25"/>
          <p:cNvSpPr>
            <a:spLocks noChangeShapeType="1"/>
          </p:cNvSpPr>
          <p:nvPr/>
        </p:nvSpPr>
        <p:spPr bwMode="auto">
          <a:xfrm flipH="1">
            <a:off x="2246313" y="3797300"/>
            <a:ext cx="3302000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9674" name="Line 26"/>
          <p:cNvSpPr>
            <a:spLocks noChangeShapeType="1"/>
          </p:cNvSpPr>
          <p:nvPr/>
        </p:nvSpPr>
        <p:spPr bwMode="auto">
          <a:xfrm>
            <a:off x="1905000" y="2181225"/>
            <a:ext cx="0" cy="12954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39675" name="Rectangle 27"/>
          <p:cNvSpPr>
            <a:spLocks noGrp="1" noRot="1" noChangeArrowheads="1"/>
          </p:cNvSpPr>
          <p:nvPr>
            <p:ph type="title"/>
          </p:nvPr>
        </p:nvSpPr>
        <p:spPr>
          <a:xfrm>
            <a:off x="-13315" y="0"/>
            <a:ext cx="9144000" cy="1066800"/>
          </a:xfrm>
        </p:spPr>
        <p:txBody>
          <a:bodyPr>
            <a:normAutofit fontScale="90000"/>
          </a:bodyPr>
          <a:lstStyle/>
          <a:p>
            <a:pPr algn="l"/>
            <a:r>
              <a:rPr lang="en-US" spc="0" dirty="0"/>
              <a:t>LONG-RUN AGGREGATE SUPPLY CURVE</a:t>
            </a:r>
          </a:p>
        </p:txBody>
      </p:sp>
      <p:sp>
        <p:nvSpPr>
          <p:cNvPr id="2" name="Rectangle 1"/>
          <p:cNvSpPr/>
          <p:nvPr/>
        </p:nvSpPr>
        <p:spPr>
          <a:xfrm>
            <a:off x="5867399" y="2895600"/>
            <a:ext cx="328136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990033"/>
                </a:solidFill>
                <a:latin typeface="Century Gothic"/>
                <a:cs typeface="Century Gothic"/>
              </a:rPr>
              <a:t>Potential output </a:t>
            </a:r>
            <a:r>
              <a:rPr lang="en-US" sz="2400" dirty="0">
                <a:solidFill>
                  <a:prstClr val="black"/>
                </a:solidFill>
                <a:latin typeface="Century Gothic"/>
                <a:cs typeface="Century Gothic"/>
              </a:rPr>
              <a:t>is the level of real GDP the economy would produce if all prices, including nominal wages, were fully flexible.</a:t>
            </a:r>
          </a:p>
        </p:txBody>
      </p:sp>
    </p:spTree>
    <p:extLst>
      <p:ext uri="{BB962C8B-B14F-4D97-AF65-F5344CB8AC3E}">
        <p14:creationId xmlns:p14="http://schemas.microsoft.com/office/powerpoint/2010/main" val="144904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9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3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3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3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3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3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3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3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0" grpId="0" animBg="1"/>
      <p:bldP spid="539652" grpId="0" animBg="1"/>
      <p:bldP spid="539653" grpId="0" animBg="1"/>
      <p:bldP spid="539655" grpId="0"/>
      <p:bldP spid="539662" grpId="0"/>
      <p:bldP spid="539665" grpId="0"/>
      <p:bldP spid="539666" grpId="0" animBg="1"/>
      <p:bldP spid="539667" grpId="0" animBg="1"/>
      <p:bldP spid="539668" grpId="0" animBg="1"/>
      <p:bldP spid="539669" grpId="0" animBg="1"/>
      <p:bldP spid="539670" grpId="0" animBg="1"/>
      <p:bldP spid="539671" grpId="0"/>
      <p:bldP spid="539672" grpId="0"/>
      <p:bldP spid="539673" grpId="0" animBg="1"/>
      <p:bldP spid="539674" grpId="0" animBg="1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altLang="zh-CN" sz="4000" spc="0" dirty="0">
                <a:ea typeface="宋体" pitchFamily="2" charset="-122"/>
              </a:rPr>
              <a:t>ACTUAL AND POTENTIAL OUTPUT, 1990–2014</a:t>
            </a:r>
            <a:endParaRPr lang="zh-CN" altLang="en-US" sz="4000" spc="0" dirty="0">
              <a:ea typeface="宋体" pitchFamily="2" charset="-122"/>
            </a:endParaRPr>
          </a:p>
        </p:txBody>
      </p:sp>
      <p:pic>
        <p:nvPicPr>
          <p:cNvPr id="6" name="Picture 5" descr="Screen Shot 2015-04-06 at 6.59.0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19200"/>
            <a:ext cx="9144000" cy="51172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019800"/>
            <a:ext cx="7620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Sources: Congressional Budget Office; Bureau of Economic Analysis.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383484"/>
            <a:ext cx="7086600" cy="1447800"/>
          </a:xfrm>
        </p:spPr>
        <p:txBody>
          <a:bodyPr>
            <a:normAutofit/>
          </a:bodyPr>
          <a:lstStyle/>
          <a:p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level of real GDP is almost always either </a:t>
            </a:r>
            <a:r>
              <a:rPr lang="en-US" sz="2400" i="1" dirty="0">
                <a:solidFill>
                  <a:srgbClr val="0070C0"/>
                </a:solidFill>
              </a:rPr>
              <a:t>above or below potential output 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because of </a:t>
            </a:r>
            <a:r>
              <a:rPr lang="en-US" sz="2400" i="1" dirty="0">
                <a:solidFill>
                  <a:srgbClr val="990033"/>
                </a:solidFill>
              </a:rPr>
              <a:t>short-run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175418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7"/>
          <p:cNvSpPr>
            <a:spLocks noChangeArrowheads="1"/>
          </p:cNvSpPr>
          <p:nvPr/>
        </p:nvSpPr>
        <p:spPr bwMode="auto">
          <a:xfrm>
            <a:off x="2438400" y="5328821"/>
            <a:ext cx="211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00" name="Rectangle 9"/>
          <p:cNvSpPr>
            <a:spLocks noChangeArrowheads="1"/>
          </p:cNvSpPr>
          <p:nvPr/>
        </p:nvSpPr>
        <p:spPr bwMode="auto">
          <a:xfrm>
            <a:off x="1889125" y="5328821"/>
            <a:ext cx="21265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endParaRPr lang="en-US" sz="16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02" name="Rectangle 13"/>
          <p:cNvSpPr>
            <a:spLocks noChangeArrowheads="1"/>
          </p:cNvSpPr>
          <p:nvPr/>
        </p:nvSpPr>
        <p:spPr bwMode="auto">
          <a:xfrm>
            <a:off x="304800" y="3738146"/>
            <a:ext cx="2115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04" name="Rectangle 35"/>
          <p:cNvSpPr>
            <a:spLocks noChangeArrowheads="1"/>
          </p:cNvSpPr>
          <p:nvPr/>
        </p:nvSpPr>
        <p:spPr bwMode="auto">
          <a:xfrm>
            <a:off x="1771650" y="2403059"/>
            <a:ext cx="44323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LRAS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07" name="Rectangle 38"/>
          <p:cNvSpPr>
            <a:spLocks noChangeArrowheads="1"/>
          </p:cNvSpPr>
          <p:nvPr/>
        </p:nvSpPr>
        <p:spPr bwMode="auto">
          <a:xfrm>
            <a:off x="3299355" y="2968208"/>
            <a:ext cx="8239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11" name="Line 46"/>
          <p:cNvSpPr>
            <a:spLocks noChangeShapeType="1"/>
          </p:cNvSpPr>
          <p:nvPr/>
        </p:nvSpPr>
        <p:spPr bwMode="auto">
          <a:xfrm flipV="1">
            <a:off x="1947863" y="2626896"/>
            <a:ext cx="1587" cy="2684463"/>
          </a:xfrm>
          <a:prstGeom prst="line">
            <a:avLst/>
          </a:prstGeom>
          <a:noFill/>
          <a:ln w="38100">
            <a:solidFill>
              <a:srgbClr val="F7944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1712" name="Line 47"/>
          <p:cNvSpPr>
            <a:spLocks noChangeShapeType="1"/>
          </p:cNvSpPr>
          <p:nvPr/>
        </p:nvSpPr>
        <p:spPr bwMode="auto">
          <a:xfrm flipV="1">
            <a:off x="1347788" y="3198396"/>
            <a:ext cx="1917700" cy="1546225"/>
          </a:xfrm>
          <a:prstGeom prst="line">
            <a:avLst/>
          </a:prstGeom>
          <a:noFill/>
          <a:ln w="38100">
            <a:solidFill>
              <a:srgbClr val="FAC0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1713" name="Freeform 49"/>
          <p:cNvSpPr>
            <a:spLocks/>
          </p:cNvSpPr>
          <p:nvPr/>
        </p:nvSpPr>
        <p:spPr bwMode="auto">
          <a:xfrm>
            <a:off x="522288" y="2272884"/>
            <a:ext cx="3405187" cy="3038475"/>
          </a:xfrm>
          <a:custGeom>
            <a:avLst/>
            <a:gdLst>
              <a:gd name="T0" fmla="*/ 3406219 w 1918"/>
              <a:gd name="T1" fmla="*/ 3039142 h 1560"/>
              <a:gd name="T2" fmla="*/ 0 w 1918"/>
              <a:gd name="T3" fmla="*/ 3039142 h 1560"/>
              <a:gd name="T4" fmla="*/ 0 w 1918"/>
              <a:gd name="T5" fmla="*/ 0 h 1560"/>
              <a:gd name="T6" fmla="*/ 0 60000 65536"/>
              <a:gd name="T7" fmla="*/ 0 60000 65536"/>
              <a:gd name="T8" fmla="*/ 0 60000 65536"/>
              <a:gd name="T9" fmla="*/ 0 w 1918"/>
              <a:gd name="T10" fmla="*/ 0 h 1560"/>
              <a:gd name="T11" fmla="*/ 1918 w 1918"/>
              <a:gd name="T12" fmla="*/ 1560 h 15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8" h="1560">
                <a:moveTo>
                  <a:pt x="1918" y="1560"/>
                </a:moveTo>
                <a:lnTo>
                  <a:pt x="0" y="1560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2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14" name="Oval 50"/>
          <p:cNvSpPr>
            <a:spLocks noChangeArrowheads="1"/>
          </p:cNvSpPr>
          <p:nvPr/>
        </p:nvSpPr>
        <p:spPr bwMode="auto">
          <a:xfrm>
            <a:off x="2447396" y="3783653"/>
            <a:ext cx="91440" cy="9144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33" name="Rectangle 37"/>
          <p:cNvSpPr>
            <a:spLocks noChangeArrowheads="1"/>
          </p:cNvSpPr>
          <p:nvPr/>
        </p:nvSpPr>
        <p:spPr bwMode="auto">
          <a:xfrm>
            <a:off x="3159125" y="5376446"/>
            <a:ext cx="1447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41734" name="Rectangle 38"/>
          <p:cNvSpPr>
            <a:spLocks noChangeArrowheads="1"/>
          </p:cNvSpPr>
          <p:nvPr/>
        </p:nvSpPr>
        <p:spPr bwMode="auto">
          <a:xfrm>
            <a:off x="152400" y="1587084"/>
            <a:ext cx="1600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41738" name="Line 48"/>
          <p:cNvSpPr>
            <a:spLocks noChangeShapeType="1"/>
          </p:cNvSpPr>
          <p:nvPr/>
        </p:nvSpPr>
        <p:spPr bwMode="auto">
          <a:xfrm flipV="1">
            <a:off x="1025525" y="3014247"/>
            <a:ext cx="1917700" cy="1550988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grpSp>
        <p:nvGrpSpPr>
          <p:cNvPr id="541739" name="Group 43"/>
          <p:cNvGrpSpPr>
            <a:grpSpLocks/>
          </p:cNvGrpSpPr>
          <p:nvPr/>
        </p:nvGrpSpPr>
        <p:grpSpPr bwMode="auto">
          <a:xfrm>
            <a:off x="2532064" y="2949159"/>
            <a:ext cx="1963738" cy="1998663"/>
            <a:chOff x="1920" y="1621"/>
            <a:chExt cx="1237" cy="1259"/>
          </a:xfrm>
        </p:grpSpPr>
        <p:grpSp>
          <p:nvGrpSpPr>
            <p:cNvPr id="541740" name="Group 44"/>
            <p:cNvGrpSpPr>
              <a:grpSpLocks/>
            </p:cNvGrpSpPr>
            <p:nvPr/>
          </p:nvGrpSpPr>
          <p:grpSpPr bwMode="auto">
            <a:xfrm>
              <a:off x="2096" y="1621"/>
              <a:ext cx="160" cy="238"/>
              <a:chOff x="2096" y="1621"/>
              <a:chExt cx="160" cy="238"/>
            </a:xfrm>
          </p:grpSpPr>
          <p:sp>
            <p:nvSpPr>
              <p:cNvPr id="541744" name="Rectangle 34"/>
              <p:cNvSpPr>
                <a:spLocks noChangeArrowheads="1"/>
              </p:cNvSpPr>
              <p:nvPr/>
            </p:nvSpPr>
            <p:spPr bwMode="auto">
              <a:xfrm>
                <a:off x="2230" y="1621"/>
                <a:ext cx="0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endParaRPr lang="en-US" sz="1400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41745" name="Line 44"/>
              <p:cNvSpPr>
                <a:spLocks noChangeShapeType="1"/>
              </p:cNvSpPr>
              <p:nvPr/>
            </p:nvSpPr>
            <p:spPr bwMode="auto">
              <a:xfrm flipH="1">
                <a:off x="2152" y="1824"/>
                <a:ext cx="104" cy="1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541746" name="Freeform 45"/>
              <p:cNvSpPr>
                <a:spLocks/>
              </p:cNvSpPr>
              <p:nvPr/>
            </p:nvSpPr>
            <p:spPr bwMode="auto">
              <a:xfrm>
                <a:off x="2096" y="1808"/>
                <a:ext cx="77" cy="51"/>
              </a:xfrm>
              <a:custGeom>
                <a:avLst/>
                <a:gdLst>
                  <a:gd name="T0" fmla="*/ 101412 w 29"/>
                  <a:gd name="T1" fmla="*/ 40912 h 18"/>
                  <a:gd name="T2" fmla="*/ 122539 w 29"/>
                  <a:gd name="T3" fmla="*/ 0 h 18"/>
                  <a:gd name="T4" fmla="*/ 122539 w 29"/>
                  <a:gd name="T5" fmla="*/ 0 h 18"/>
                  <a:gd name="T6" fmla="*/ 63382 w 29"/>
                  <a:gd name="T7" fmla="*/ 27274 h 18"/>
                  <a:gd name="T8" fmla="*/ 0 w 29"/>
                  <a:gd name="T9" fmla="*/ 40912 h 18"/>
                  <a:gd name="T10" fmla="*/ 63382 w 29"/>
                  <a:gd name="T11" fmla="*/ 54549 h 18"/>
                  <a:gd name="T12" fmla="*/ 122539 w 29"/>
                  <a:gd name="T13" fmla="*/ 81823 h 18"/>
                  <a:gd name="T14" fmla="*/ 122539 w 29"/>
                  <a:gd name="T15" fmla="*/ 81823 h 18"/>
                  <a:gd name="T16" fmla="*/ 101412 w 29"/>
                  <a:gd name="T17" fmla="*/ 40912 h 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9"/>
                  <a:gd name="T28" fmla="*/ 0 h 18"/>
                  <a:gd name="T29" fmla="*/ 29 w 29"/>
                  <a:gd name="T30" fmla="*/ 18 h 1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9" h="18">
                    <a:moveTo>
                      <a:pt x="24" y="9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0" y="7"/>
                      <a:pt x="5" y="8"/>
                      <a:pt x="0" y="9"/>
                    </a:cubicBezTo>
                    <a:cubicBezTo>
                      <a:pt x="5" y="10"/>
                      <a:pt x="10" y="11"/>
                      <a:pt x="15" y="12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8"/>
                      <a:pt x="29" y="18"/>
                      <a:pt x="29" y="18"/>
                    </a:cubicBezTo>
                    <a:lnTo>
                      <a:pt x="2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4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</p:grpSp>
        <p:sp>
          <p:nvSpPr>
            <p:cNvPr id="541747" name="Line 51"/>
            <p:cNvSpPr>
              <a:spLocks noChangeShapeType="1"/>
            </p:cNvSpPr>
            <p:nvPr/>
          </p:nvSpPr>
          <p:spPr bwMode="auto">
            <a:xfrm flipH="1" flipV="1">
              <a:off x="2199" y="1834"/>
              <a:ext cx="180" cy="533"/>
            </a:xfrm>
            <a:prstGeom prst="line">
              <a:avLst/>
            </a:prstGeom>
            <a:noFill/>
            <a:ln w="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entury Gothic"/>
                <a:cs typeface="Century Gothic"/>
              </a:endParaRPr>
            </a:p>
          </p:txBody>
        </p:sp>
        <p:grpSp>
          <p:nvGrpSpPr>
            <p:cNvPr id="541748" name="Group 52"/>
            <p:cNvGrpSpPr>
              <a:grpSpLocks/>
            </p:cNvGrpSpPr>
            <p:nvPr/>
          </p:nvGrpSpPr>
          <p:grpSpPr bwMode="auto">
            <a:xfrm>
              <a:off x="1920" y="2352"/>
              <a:ext cx="1237" cy="528"/>
              <a:chOff x="1920" y="2352"/>
              <a:chExt cx="1237" cy="528"/>
            </a:xfrm>
          </p:grpSpPr>
          <p:sp>
            <p:nvSpPr>
              <p:cNvPr id="541749" name="Freeform 52"/>
              <p:cNvSpPr>
                <a:spLocks/>
              </p:cNvSpPr>
              <p:nvPr/>
            </p:nvSpPr>
            <p:spPr bwMode="auto">
              <a:xfrm>
                <a:off x="1920" y="2352"/>
                <a:ext cx="1189" cy="528"/>
              </a:xfrm>
              <a:custGeom>
                <a:avLst/>
                <a:gdLst>
                  <a:gd name="T0" fmla="*/ 763647 w 182"/>
                  <a:gd name="T1" fmla="*/ 884599 h 211"/>
                  <a:gd name="T2" fmla="*/ 692317 w 182"/>
                  <a:gd name="T3" fmla="*/ 972137 h 211"/>
                  <a:gd name="T4" fmla="*/ 71330 w 182"/>
                  <a:gd name="T5" fmla="*/ 972137 h 211"/>
                  <a:gd name="T6" fmla="*/ 0 w 182"/>
                  <a:gd name="T7" fmla="*/ 884599 h 211"/>
                  <a:gd name="T8" fmla="*/ 0 w 182"/>
                  <a:gd name="T9" fmla="*/ 87538 h 211"/>
                  <a:gd name="T10" fmla="*/ 71330 w 182"/>
                  <a:gd name="T11" fmla="*/ 0 h 211"/>
                  <a:gd name="T12" fmla="*/ 692317 w 182"/>
                  <a:gd name="T13" fmla="*/ 0 h 211"/>
                  <a:gd name="T14" fmla="*/ 763647 w 182"/>
                  <a:gd name="T15" fmla="*/ 87538 h 211"/>
                  <a:gd name="T16" fmla="*/ 763647 w 182"/>
                  <a:gd name="T17" fmla="*/ 884599 h 21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82"/>
                  <a:gd name="T28" fmla="*/ 0 h 211"/>
                  <a:gd name="T29" fmla="*/ 182 w 182"/>
                  <a:gd name="T30" fmla="*/ 211 h 21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82" h="211">
                    <a:moveTo>
                      <a:pt x="182" y="192"/>
                    </a:moveTo>
                    <a:cubicBezTo>
                      <a:pt x="182" y="203"/>
                      <a:pt x="174" y="211"/>
                      <a:pt x="165" y="211"/>
                    </a:cubicBezTo>
                    <a:cubicBezTo>
                      <a:pt x="17" y="211"/>
                      <a:pt x="17" y="211"/>
                      <a:pt x="17" y="211"/>
                    </a:cubicBezTo>
                    <a:cubicBezTo>
                      <a:pt x="8" y="211"/>
                      <a:pt x="0" y="203"/>
                      <a:pt x="0" y="19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8"/>
                      <a:pt x="8" y="0"/>
                      <a:pt x="17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4" y="0"/>
                      <a:pt x="182" y="8"/>
                      <a:pt x="182" y="19"/>
                    </a:cubicBezTo>
                    <a:lnTo>
                      <a:pt x="182" y="192"/>
                    </a:lnTo>
                    <a:close/>
                  </a:path>
                </a:pathLst>
              </a:custGeom>
              <a:solidFill>
                <a:srgbClr val="D7E2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2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41750" name="Rectangle 54"/>
              <p:cNvSpPr>
                <a:spLocks noChangeArrowheads="1"/>
              </p:cNvSpPr>
              <p:nvPr/>
            </p:nvSpPr>
            <p:spPr bwMode="auto">
              <a:xfrm>
                <a:off x="1920" y="2352"/>
                <a:ext cx="1237" cy="5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600" i="1" dirty="0">
                    <a:solidFill>
                      <a:prstClr val="black"/>
                    </a:solidFill>
                    <a:latin typeface="Century Gothic"/>
                    <a:ea typeface="ＭＳ Ｐゴシック" pitchFamily="34" charset="-128"/>
                    <a:cs typeface="Century Gothic"/>
                  </a:rPr>
                  <a:t>A rise in nominal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600" i="1" dirty="0">
                    <a:solidFill>
                      <a:prstClr val="black"/>
                    </a:solidFill>
                    <a:latin typeface="Century Gothic"/>
                    <a:ea typeface="ＭＳ Ｐゴシック" pitchFamily="34" charset="-128"/>
                    <a:cs typeface="Century Gothic"/>
                  </a:rPr>
                  <a:t>wages shifts SRAS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600" i="1" dirty="0">
                    <a:solidFill>
                      <a:prstClr val="black"/>
                    </a:solidFill>
                    <a:latin typeface="Century Gothic"/>
                    <a:ea typeface="ＭＳ Ｐゴシック" pitchFamily="34" charset="-128"/>
                    <a:cs typeface="Century Gothic"/>
                  </a:rPr>
                  <a:t>leftward.</a:t>
                </a:r>
              </a:p>
            </p:txBody>
          </p:sp>
        </p:grpSp>
      </p:grpSp>
      <p:sp>
        <p:nvSpPr>
          <p:cNvPr id="541765" name="Line 69"/>
          <p:cNvSpPr>
            <a:spLocks noChangeShapeType="1"/>
          </p:cNvSpPr>
          <p:nvPr/>
        </p:nvSpPr>
        <p:spPr bwMode="auto">
          <a:xfrm flipH="1">
            <a:off x="553085" y="3811171"/>
            <a:ext cx="1920240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1767" name="Line 71"/>
          <p:cNvSpPr>
            <a:spLocks noChangeShapeType="1"/>
          </p:cNvSpPr>
          <p:nvPr/>
        </p:nvSpPr>
        <p:spPr bwMode="auto">
          <a:xfrm flipH="1">
            <a:off x="2490259" y="3903245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1769" name="Rectangle 108"/>
          <p:cNvSpPr>
            <a:spLocks noChangeArrowheads="1"/>
          </p:cNvSpPr>
          <p:nvPr/>
        </p:nvSpPr>
        <p:spPr bwMode="auto">
          <a:xfrm>
            <a:off x="2397125" y="3547646"/>
            <a:ext cx="3048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</a:p>
        </p:txBody>
      </p:sp>
      <p:sp>
        <p:nvSpPr>
          <p:cNvPr id="541770" name="Rectangle 74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FROM THE SHORT RUN TO THE LONG RUN</a:t>
            </a:r>
          </a:p>
        </p:txBody>
      </p:sp>
      <p:sp>
        <p:nvSpPr>
          <p:cNvPr id="77" name="Rectangle 38"/>
          <p:cNvSpPr>
            <a:spLocks noChangeArrowheads="1"/>
          </p:cNvSpPr>
          <p:nvPr/>
        </p:nvSpPr>
        <p:spPr bwMode="auto">
          <a:xfrm>
            <a:off x="2716213" y="2722602"/>
            <a:ext cx="8239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48200" y="2338428"/>
            <a:ext cx="42846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If the economy finds itself at </a:t>
            </a:r>
            <a:r>
              <a:rPr lang="en-US" sz="24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P</a:t>
            </a:r>
            <a:r>
              <a:rPr lang="en-US" sz="2400" b="1" baseline="-250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1 </a:t>
            </a:r>
            <a:r>
              <a:rPr 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 on </a:t>
            </a:r>
            <a:r>
              <a:rPr lang="en-US" sz="24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SRAS</a:t>
            </a:r>
            <a:r>
              <a:rPr lang="en-US" sz="2400" b="1" baseline="-250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1</a:t>
            </a:r>
            <a:r>
              <a:rPr 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, aggregate output supplied exceeds potential output (temporarily). </a:t>
            </a:r>
            <a:r>
              <a:rPr lang="en-US" sz="2400" b="1" dirty="0">
                <a:solidFill>
                  <a:srgbClr val="0070C0"/>
                </a:solidFill>
                <a:latin typeface="Century Gothic"/>
                <a:cs typeface="Century Gothic"/>
              </a:rPr>
              <a:t>Eventually, </a:t>
            </a:r>
            <a:r>
              <a:rPr lang="en-US" sz="2400" b="1" dirty="0">
                <a:solidFill>
                  <a:srgbClr val="990033"/>
                </a:solidFill>
                <a:latin typeface="Century Gothic"/>
                <a:cs typeface="Century Gothic"/>
              </a:rPr>
              <a:t>low unemployment </a:t>
            </a:r>
            <a:r>
              <a:rPr lang="en-US" sz="2400" b="1" dirty="0">
                <a:solidFill>
                  <a:srgbClr val="0070C0"/>
                </a:solidFill>
                <a:latin typeface="Century Gothic"/>
                <a:cs typeface="Century Gothic"/>
              </a:rPr>
              <a:t>will cause </a:t>
            </a:r>
            <a:r>
              <a:rPr lang="en-US" sz="2400" b="1" dirty="0">
                <a:solidFill>
                  <a:srgbClr val="990033"/>
                </a:solidFill>
                <a:latin typeface="Century Gothic"/>
                <a:cs typeface="Century Gothic"/>
              </a:rPr>
              <a:t>nominal wages to rise,</a:t>
            </a:r>
            <a:r>
              <a:rPr lang="en-US" sz="2400" b="1" dirty="0">
                <a:solidFill>
                  <a:srgbClr val="0070C0"/>
                </a:solidFill>
                <a:latin typeface="Century Gothic"/>
                <a:cs typeface="Century Gothic"/>
              </a:rPr>
              <a:t> and </a:t>
            </a:r>
            <a:r>
              <a:rPr lang="en-US" sz="2400" b="1" i="1" dirty="0">
                <a:solidFill>
                  <a:srgbClr val="0070C0"/>
                </a:solidFill>
                <a:latin typeface="Century Gothic"/>
                <a:cs typeface="Century Gothic"/>
              </a:rPr>
              <a:t>SRAS</a:t>
            </a:r>
            <a:r>
              <a:rPr lang="en-US" sz="2400" b="1" dirty="0">
                <a:solidFill>
                  <a:srgbClr val="0070C0"/>
                </a:solidFill>
                <a:latin typeface="Century Gothic"/>
                <a:cs typeface="Century Gothic"/>
              </a:rPr>
              <a:t> will shift left.</a:t>
            </a:r>
          </a:p>
        </p:txBody>
      </p:sp>
    </p:spTree>
    <p:extLst>
      <p:ext uri="{BB962C8B-B14F-4D97-AF65-F5344CB8AC3E}">
        <p14:creationId xmlns:p14="http://schemas.microsoft.com/office/powerpoint/2010/main" val="192789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347 0.00926 L -0.00139 -0.0018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417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43" y="-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1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738" grpId="0" animBg="1"/>
      <p:bldP spid="541738" grpId="1" animBg="1"/>
      <p:bldP spid="7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715" name="Rectangle 73"/>
          <p:cNvSpPr>
            <a:spLocks noChangeArrowheads="1"/>
          </p:cNvSpPr>
          <p:nvPr/>
        </p:nvSpPr>
        <p:spPr bwMode="auto">
          <a:xfrm>
            <a:off x="6038850" y="5210175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17" name="Rectangle 75"/>
          <p:cNvSpPr>
            <a:spLocks noChangeArrowheads="1"/>
          </p:cNvSpPr>
          <p:nvPr/>
        </p:nvSpPr>
        <p:spPr bwMode="auto">
          <a:xfrm>
            <a:off x="6650038" y="5210175"/>
            <a:ext cx="2024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400" baseline="-25000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19" name="Rectangle 79"/>
          <p:cNvSpPr>
            <a:spLocks noChangeArrowheads="1"/>
          </p:cNvSpPr>
          <p:nvPr/>
        </p:nvSpPr>
        <p:spPr bwMode="auto">
          <a:xfrm>
            <a:off x="5064125" y="3590925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25" name="Rectangle 101"/>
          <p:cNvSpPr>
            <a:spLocks noChangeArrowheads="1"/>
          </p:cNvSpPr>
          <p:nvPr/>
        </p:nvSpPr>
        <p:spPr bwMode="auto">
          <a:xfrm>
            <a:off x="6530975" y="2284413"/>
            <a:ext cx="44323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LRAS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28" name="Rectangle 108"/>
          <p:cNvSpPr>
            <a:spLocks noChangeArrowheads="1"/>
          </p:cNvSpPr>
          <p:nvPr/>
        </p:nvSpPr>
        <p:spPr bwMode="auto">
          <a:xfrm>
            <a:off x="6019800" y="3429000"/>
            <a:ext cx="3048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</a:p>
        </p:txBody>
      </p:sp>
      <p:sp>
        <p:nvSpPr>
          <p:cNvPr id="541729" name="Line 112"/>
          <p:cNvSpPr>
            <a:spLocks noChangeShapeType="1"/>
          </p:cNvSpPr>
          <p:nvPr/>
        </p:nvSpPr>
        <p:spPr bwMode="auto">
          <a:xfrm flipV="1">
            <a:off x="6708775" y="2508250"/>
            <a:ext cx="1588" cy="2684463"/>
          </a:xfrm>
          <a:prstGeom prst="line">
            <a:avLst/>
          </a:prstGeom>
          <a:noFill/>
          <a:ln w="38100">
            <a:solidFill>
              <a:srgbClr val="F7944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1730" name="Line 114"/>
          <p:cNvSpPr>
            <a:spLocks noChangeShapeType="1"/>
          </p:cNvSpPr>
          <p:nvPr/>
        </p:nvSpPr>
        <p:spPr bwMode="auto">
          <a:xfrm flipV="1">
            <a:off x="5661025" y="2508250"/>
            <a:ext cx="1916113" cy="1546225"/>
          </a:xfrm>
          <a:prstGeom prst="line">
            <a:avLst/>
          </a:prstGeom>
          <a:noFill/>
          <a:ln w="38100">
            <a:solidFill>
              <a:srgbClr val="FAC0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1731" name="Freeform 115"/>
          <p:cNvSpPr>
            <a:spLocks/>
          </p:cNvSpPr>
          <p:nvPr/>
        </p:nvSpPr>
        <p:spPr bwMode="auto">
          <a:xfrm>
            <a:off x="5283200" y="2163763"/>
            <a:ext cx="3322638" cy="3028950"/>
          </a:xfrm>
          <a:custGeom>
            <a:avLst/>
            <a:gdLst>
              <a:gd name="T0" fmla="*/ 3322751 w 1871"/>
              <a:gd name="T1" fmla="*/ 3029402 h 1555"/>
              <a:gd name="T2" fmla="*/ 0 w 1871"/>
              <a:gd name="T3" fmla="*/ 3029402 h 1555"/>
              <a:gd name="T4" fmla="*/ 0 w 1871"/>
              <a:gd name="T5" fmla="*/ 0 h 1555"/>
              <a:gd name="T6" fmla="*/ 0 60000 65536"/>
              <a:gd name="T7" fmla="*/ 0 60000 65536"/>
              <a:gd name="T8" fmla="*/ 0 60000 65536"/>
              <a:gd name="T9" fmla="*/ 0 w 1871"/>
              <a:gd name="T10" fmla="*/ 0 h 1555"/>
              <a:gd name="T11" fmla="*/ 1871 w 1871"/>
              <a:gd name="T12" fmla="*/ 1555 h 15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1" h="1555">
                <a:moveTo>
                  <a:pt x="1871" y="1555"/>
                </a:moveTo>
                <a:lnTo>
                  <a:pt x="0" y="1555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2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32" name="Oval 116"/>
          <p:cNvSpPr>
            <a:spLocks noChangeArrowheads="1"/>
          </p:cNvSpPr>
          <p:nvPr/>
        </p:nvSpPr>
        <p:spPr bwMode="auto">
          <a:xfrm>
            <a:off x="6070600" y="3663950"/>
            <a:ext cx="65088" cy="6985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35" name="Rectangle 39"/>
          <p:cNvSpPr>
            <a:spLocks noChangeArrowheads="1"/>
          </p:cNvSpPr>
          <p:nvPr/>
        </p:nvSpPr>
        <p:spPr bwMode="auto">
          <a:xfrm>
            <a:off x="7696200" y="5257800"/>
            <a:ext cx="1447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41736" name="Rectangle 40"/>
          <p:cNvSpPr>
            <a:spLocks noChangeArrowheads="1"/>
          </p:cNvSpPr>
          <p:nvPr/>
        </p:nvSpPr>
        <p:spPr bwMode="auto">
          <a:xfrm>
            <a:off x="4495800" y="1447800"/>
            <a:ext cx="1600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41757" name="Line 110"/>
          <p:cNvSpPr>
            <a:spLocks noChangeShapeType="1"/>
          </p:cNvSpPr>
          <p:nvPr/>
        </p:nvSpPr>
        <p:spPr bwMode="auto">
          <a:xfrm>
            <a:off x="7183438" y="2895600"/>
            <a:ext cx="207963" cy="0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1758" name="Freeform 111"/>
          <p:cNvSpPr>
            <a:spLocks/>
          </p:cNvSpPr>
          <p:nvPr/>
        </p:nvSpPr>
        <p:spPr bwMode="auto">
          <a:xfrm>
            <a:off x="7331075" y="2852738"/>
            <a:ext cx="120650" cy="84138"/>
          </a:xfrm>
          <a:custGeom>
            <a:avLst/>
            <a:gdLst>
              <a:gd name="T0" fmla="*/ 20821 w 29"/>
              <a:gd name="T1" fmla="*/ 41886 h 18"/>
              <a:gd name="T2" fmla="*/ 0 w 29"/>
              <a:gd name="T3" fmla="*/ 4654 h 18"/>
              <a:gd name="T4" fmla="*/ 0 w 29"/>
              <a:gd name="T5" fmla="*/ 0 h 18"/>
              <a:gd name="T6" fmla="*/ 58299 w 29"/>
              <a:gd name="T7" fmla="*/ 27924 h 18"/>
              <a:gd name="T8" fmla="*/ 120763 w 29"/>
              <a:gd name="T9" fmla="*/ 41886 h 18"/>
              <a:gd name="T10" fmla="*/ 58299 w 29"/>
              <a:gd name="T11" fmla="*/ 60502 h 18"/>
              <a:gd name="T12" fmla="*/ 0 w 29"/>
              <a:gd name="T13" fmla="*/ 83772 h 18"/>
              <a:gd name="T14" fmla="*/ 0 w 29"/>
              <a:gd name="T15" fmla="*/ 83772 h 18"/>
              <a:gd name="T16" fmla="*/ 20821 w 29"/>
              <a:gd name="T17" fmla="*/ 41886 h 1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"/>
              <a:gd name="T28" fmla="*/ 0 h 18"/>
              <a:gd name="T29" fmla="*/ 29 w 29"/>
              <a:gd name="T30" fmla="*/ 18 h 1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" h="18">
                <a:moveTo>
                  <a:pt x="5" y="9"/>
                </a:moveTo>
                <a:cubicBezTo>
                  <a:pt x="0" y="1"/>
                  <a:pt x="0" y="1"/>
                  <a:pt x="0" y="1"/>
                </a:cubicBezTo>
                <a:cubicBezTo>
                  <a:pt x="0" y="0"/>
                  <a:pt x="0" y="0"/>
                  <a:pt x="0" y="0"/>
                </a:cubicBezTo>
                <a:cubicBezTo>
                  <a:pt x="14" y="6"/>
                  <a:pt x="14" y="6"/>
                  <a:pt x="14" y="6"/>
                </a:cubicBezTo>
                <a:cubicBezTo>
                  <a:pt x="19" y="7"/>
                  <a:pt x="24" y="8"/>
                  <a:pt x="29" y="9"/>
                </a:cubicBezTo>
                <a:cubicBezTo>
                  <a:pt x="24" y="10"/>
                  <a:pt x="19" y="11"/>
                  <a:pt x="14" y="13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8"/>
                  <a:pt x="0" y="18"/>
                </a:cubicBezTo>
                <a:lnTo>
                  <a:pt x="5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59" name="Line 113"/>
          <p:cNvSpPr>
            <a:spLocks noChangeShapeType="1"/>
          </p:cNvSpPr>
          <p:nvPr/>
        </p:nvSpPr>
        <p:spPr bwMode="auto">
          <a:xfrm flipV="1">
            <a:off x="5965825" y="2622550"/>
            <a:ext cx="1919288" cy="1547813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1760" name="Line 117"/>
          <p:cNvSpPr>
            <a:spLocks noChangeShapeType="1"/>
          </p:cNvSpPr>
          <p:nvPr/>
        </p:nvSpPr>
        <p:spPr bwMode="auto">
          <a:xfrm flipH="1" flipV="1">
            <a:off x="7239000" y="2895600"/>
            <a:ext cx="266700" cy="266700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1761" name="Freeform 118"/>
          <p:cNvSpPr>
            <a:spLocks/>
          </p:cNvSpPr>
          <p:nvPr/>
        </p:nvSpPr>
        <p:spPr bwMode="auto">
          <a:xfrm>
            <a:off x="7315200" y="3200400"/>
            <a:ext cx="1828800" cy="971550"/>
          </a:xfrm>
          <a:custGeom>
            <a:avLst/>
            <a:gdLst>
              <a:gd name="T0" fmla="*/ 761871 w 182"/>
              <a:gd name="T1" fmla="*/ 884599 h 211"/>
              <a:gd name="T2" fmla="*/ 690707 w 182"/>
              <a:gd name="T3" fmla="*/ 972137 h 211"/>
              <a:gd name="T4" fmla="*/ 71164 w 182"/>
              <a:gd name="T5" fmla="*/ 972137 h 211"/>
              <a:gd name="T6" fmla="*/ 0 w 182"/>
              <a:gd name="T7" fmla="*/ 884599 h 211"/>
              <a:gd name="T8" fmla="*/ 0 w 182"/>
              <a:gd name="T9" fmla="*/ 87538 h 211"/>
              <a:gd name="T10" fmla="*/ 71164 w 182"/>
              <a:gd name="T11" fmla="*/ 0 h 211"/>
              <a:gd name="T12" fmla="*/ 690707 w 182"/>
              <a:gd name="T13" fmla="*/ 0 h 211"/>
              <a:gd name="T14" fmla="*/ 761871 w 182"/>
              <a:gd name="T15" fmla="*/ 87538 h 211"/>
              <a:gd name="T16" fmla="*/ 761871 w 182"/>
              <a:gd name="T17" fmla="*/ 884599 h 21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82"/>
              <a:gd name="T28" fmla="*/ 0 h 211"/>
              <a:gd name="T29" fmla="*/ 182 w 182"/>
              <a:gd name="T30" fmla="*/ 211 h 21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82" h="211">
                <a:moveTo>
                  <a:pt x="182" y="192"/>
                </a:moveTo>
                <a:cubicBezTo>
                  <a:pt x="182" y="203"/>
                  <a:pt x="174" y="211"/>
                  <a:pt x="165" y="211"/>
                </a:cubicBezTo>
                <a:cubicBezTo>
                  <a:pt x="17" y="211"/>
                  <a:pt x="17" y="211"/>
                  <a:pt x="17" y="211"/>
                </a:cubicBezTo>
                <a:cubicBezTo>
                  <a:pt x="7" y="211"/>
                  <a:pt x="0" y="203"/>
                  <a:pt x="0" y="19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7" y="0"/>
                  <a:pt x="17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74" y="0"/>
                  <a:pt x="182" y="8"/>
                  <a:pt x="182" y="19"/>
                </a:cubicBezTo>
                <a:lnTo>
                  <a:pt x="182" y="192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2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1762" name="Rectangle 66"/>
          <p:cNvSpPr>
            <a:spLocks noChangeArrowheads="1"/>
          </p:cNvSpPr>
          <p:nvPr/>
        </p:nvSpPr>
        <p:spPr bwMode="auto">
          <a:xfrm>
            <a:off x="7315200" y="3276600"/>
            <a:ext cx="1828800" cy="85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 fall in nominal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wages shifts SRAS rightward</a:t>
            </a: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.</a:t>
            </a:r>
          </a:p>
        </p:txBody>
      </p:sp>
      <p:sp>
        <p:nvSpPr>
          <p:cNvPr id="541766" name="Line 70"/>
          <p:cNvSpPr>
            <a:spLocks noChangeShapeType="1"/>
          </p:cNvSpPr>
          <p:nvPr/>
        </p:nvSpPr>
        <p:spPr bwMode="auto">
          <a:xfrm flipH="1">
            <a:off x="5257800" y="3692525"/>
            <a:ext cx="838200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1768" name="Line 72"/>
          <p:cNvSpPr>
            <a:spLocks noChangeShapeType="1"/>
          </p:cNvSpPr>
          <p:nvPr/>
        </p:nvSpPr>
        <p:spPr bwMode="auto">
          <a:xfrm flipH="1">
            <a:off x="6096000" y="37338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1770" name="Rectangle 74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FROM THE SHORT RUN TO THE LONG RUN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200" y="2122944"/>
            <a:ext cx="428466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If the economy finds itself at </a:t>
            </a:r>
            <a:r>
              <a:rPr lang="en-US" sz="24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P</a:t>
            </a:r>
            <a:r>
              <a:rPr lang="en-US" sz="2400" b="1" baseline="-250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1 </a:t>
            </a:r>
            <a:r>
              <a:rPr 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 on </a:t>
            </a:r>
            <a:r>
              <a:rPr lang="en-US" sz="24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SRAS</a:t>
            </a:r>
            <a:r>
              <a:rPr lang="en-US" sz="2400" b="1" baseline="-250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1</a:t>
            </a:r>
            <a:r>
              <a:rPr 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cs typeface="Century Gothic"/>
              </a:rPr>
              <a:t>, aggregate output supplied falls short of potential output (temporarily). </a:t>
            </a:r>
            <a:r>
              <a:rPr lang="en-US" sz="2400" b="1" dirty="0">
                <a:solidFill>
                  <a:srgbClr val="0070C0"/>
                </a:solidFill>
                <a:latin typeface="Century Gothic"/>
                <a:cs typeface="Century Gothic"/>
              </a:rPr>
              <a:t>Eventually, </a:t>
            </a:r>
            <a:r>
              <a:rPr lang="en-US" sz="2400" b="1" dirty="0">
                <a:solidFill>
                  <a:srgbClr val="990033"/>
                </a:solidFill>
                <a:latin typeface="Century Gothic"/>
                <a:cs typeface="Century Gothic"/>
              </a:rPr>
              <a:t>high unemployment </a:t>
            </a:r>
            <a:r>
              <a:rPr lang="en-US" sz="2400" b="1" dirty="0">
                <a:solidFill>
                  <a:srgbClr val="0070C0"/>
                </a:solidFill>
                <a:latin typeface="Century Gothic"/>
                <a:cs typeface="Century Gothic"/>
              </a:rPr>
              <a:t>will cause </a:t>
            </a:r>
            <a:r>
              <a:rPr lang="en-US" sz="2400" b="1" dirty="0">
                <a:solidFill>
                  <a:srgbClr val="990033"/>
                </a:solidFill>
                <a:latin typeface="Century Gothic"/>
                <a:cs typeface="Century Gothic"/>
              </a:rPr>
              <a:t>nominal wages to fall, </a:t>
            </a:r>
            <a:r>
              <a:rPr lang="en-US" sz="2400" b="1" dirty="0">
                <a:solidFill>
                  <a:srgbClr val="0070C0"/>
                </a:solidFill>
                <a:latin typeface="Century Gothic"/>
                <a:cs typeface="Century Gothic"/>
              </a:rPr>
              <a:t>and </a:t>
            </a:r>
            <a:r>
              <a:rPr lang="en-US" sz="2400" b="1" i="1" dirty="0">
                <a:solidFill>
                  <a:srgbClr val="0070C0"/>
                </a:solidFill>
                <a:latin typeface="Century Gothic"/>
                <a:cs typeface="Century Gothic"/>
              </a:rPr>
              <a:t>SRAS</a:t>
            </a:r>
            <a:r>
              <a:rPr lang="en-US" sz="2400" b="1" dirty="0">
                <a:solidFill>
                  <a:srgbClr val="0070C0"/>
                </a:solidFill>
                <a:latin typeface="Century Gothic"/>
                <a:cs typeface="Century Gothic"/>
              </a:rPr>
              <a:t> will shift right.</a:t>
            </a:r>
          </a:p>
        </p:txBody>
      </p:sp>
      <p:sp>
        <p:nvSpPr>
          <p:cNvPr id="76" name="Rectangle 38"/>
          <p:cNvSpPr>
            <a:spLocks noChangeArrowheads="1"/>
          </p:cNvSpPr>
          <p:nvPr/>
        </p:nvSpPr>
        <p:spPr bwMode="auto">
          <a:xfrm>
            <a:off x="7862888" y="2430918"/>
            <a:ext cx="8239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77" name="Rectangle 38"/>
          <p:cNvSpPr>
            <a:spLocks noChangeArrowheads="1"/>
          </p:cNvSpPr>
          <p:nvPr/>
        </p:nvSpPr>
        <p:spPr bwMode="auto">
          <a:xfrm>
            <a:off x="7346950" y="2280033"/>
            <a:ext cx="8239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9875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166 -0.00486 L 0.01771 1.1111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5417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9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4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1757" grpId="0" animBg="1"/>
      <p:bldP spid="541758" grpId="0" animBg="1"/>
      <p:bldP spid="541759" grpId="0" animBg="1"/>
      <p:bldP spid="541759" grpId="1" animBg="1"/>
      <p:bldP spid="541760" grpId="0" animBg="1"/>
      <p:bldP spid="541761" grpId="0" animBg="1"/>
      <p:bldP spid="541762" grpId="0"/>
      <p:bldP spid="7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090" name="Picture 2" descr="File:Lange-MigrantMother02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57388" y="0"/>
            <a:ext cx="5229225" cy="679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5094" name="Picture 6" descr="File:Volunteers of America Soup Kitchen WDC.gif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6063" y="36513"/>
            <a:ext cx="8651875" cy="680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5092" name="Picture 4" descr="File:Langechildren.jpg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12925" y="0"/>
            <a:ext cx="55038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47800"/>
          </a:xfrm>
          <a:solidFill>
            <a:schemeClr val="tx1">
              <a:alpha val="53000"/>
            </a:schemeClr>
          </a:solidFill>
        </p:spPr>
        <p:txBody>
          <a:bodyPr>
            <a:normAutofit fontScale="90000"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Century Gothic"/>
                <a:cs typeface="Century Gothic"/>
              </a:rPr>
              <a:t>1933: 25% unemployment. </a:t>
            </a:r>
            <a:br>
              <a:rPr lang="en-US" sz="3600" dirty="0">
                <a:solidFill>
                  <a:schemeClr val="bg1"/>
                </a:solidFill>
                <a:latin typeface="Century Gothic"/>
                <a:cs typeface="Century Gothic"/>
              </a:rPr>
            </a:br>
            <a:r>
              <a:rPr lang="en-US" sz="3600" dirty="0">
                <a:solidFill>
                  <a:schemeClr val="bg1"/>
                </a:solidFill>
                <a:latin typeface="Century Gothic"/>
                <a:cs typeface="Century Gothic"/>
              </a:rPr>
              <a:t>Real GDP had dropped by 27%.</a:t>
            </a:r>
            <a:br>
              <a:rPr lang="en-US" sz="3600" dirty="0">
                <a:solidFill>
                  <a:schemeClr val="bg1"/>
                </a:solidFill>
                <a:latin typeface="Century Gothic"/>
                <a:cs typeface="Century Gothic"/>
              </a:rPr>
            </a:br>
            <a:r>
              <a:rPr lang="en-US" sz="3600" dirty="0">
                <a:solidFill>
                  <a:schemeClr val="bg1"/>
                </a:solidFill>
                <a:latin typeface="Century Gothic"/>
                <a:cs typeface="Century Gothic"/>
              </a:rPr>
              <a:t>What made it happen?</a:t>
            </a:r>
          </a:p>
        </p:txBody>
      </p:sp>
    </p:spTree>
    <p:extLst>
      <p:ext uri="{BB962C8B-B14F-4D97-AF65-F5344CB8AC3E}">
        <p14:creationId xmlns:p14="http://schemas.microsoft.com/office/powerpoint/2010/main" val="197276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3450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4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/>
                                        <p:tgtEl>
                                          <p:spTgt spid="3450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838200"/>
            <a:ext cx="8839200" cy="266700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entury Gothic"/>
                <a:cs typeface="Century Gothic"/>
              </a:rPr>
              <a:t>STICKY WAGES IN THE GREAT RECESSION</a:t>
            </a:r>
          </a:p>
          <a:p>
            <a:r>
              <a:rPr lang="en-US" dirty="0">
                <a:latin typeface="Century Gothic"/>
                <a:cs typeface="Century Gothic"/>
              </a:rPr>
              <a:t>If the theory of sticky wages were true, we’d find evidence that wages fail to fall even during periods of high unemployment.  We do.</a:t>
            </a:r>
          </a:p>
          <a:p>
            <a:endParaRPr lang="en-US" dirty="0">
              <a:latin typeface="Century Gothic"/>
              <a:cs typeface="Century Gothic"/>
            </a:endParaRPr>
          </a:p>
          <a:p>
            <a:endParaRPr lang="en-US" dirty="0">
              <a:latin typeface="Century Gothic"/>
              <a:cs typeface="Century Gothic"/>
            </a:endParaRPr>
          </a:p>
        </p:txBody>
      </p:sp>
      <p:pic>
        <p:nvPicPr>
          <p:cNvPr id="4" name="Picture 3" descr="Screen Shot 2015-04-06 at 7.05.0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048000"/>
            <a:ext cx="5486400" cy="347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537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</a:t>
            </a:r>
            <a:r>
              <a:rPr lang="en-US" sz="4000" i="1" dirty="0"/>
              <a:t>AD–AS </a:t>
            </a:r>
            <a:r>
              <a:rPr lang="en-US" sz="4000" dirty="0"/>
              <a:t>MODEL</a:t>
            </a:r>
          </a:p>
        </p:txBody>
      </p:sp>
      <p:sp>
        <p:nvSpPr>
          <p:cNvPr id="51200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762000"/>
            <a:ext cx="8839200" cy="46482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i="1" dirty="0"/>
              <a:t>AD-AS</a:t>
            </a:r>
            <a:r>
              <a:rPr lang="en-US" b="1" dirty="0"/>
              <a:t> model</a:t>
            </a:r>
            <a:r>
              <a:rPr lang="en-US" dirty="0"/>
              <a:t> uses the aggregate supply curve and the  aggregate demand curve together to analyze economic fluctuations.</a:t>
            </a:r>
          </a:p>
          <a:p>
            <a:endParaRPr lang="en-US" dirty="0"/>
          </a:p>
        </p:txBody>
      </p:sp>
      <p:pic>
        <p:nvPicPr>
          <p:cNvPr id="2" name="Picture 1" descr="Screen Shot 2015-04-06 at 7.07.0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819400"/>
            <a:ext cx="6705600" cy="388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43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7"/>
          <p:cNvSpPr>
            <a:spLocks noChangeArrowheads="1"/>
          </p:cNvSpPr>
          <p:nvPr/>
        </p:nvSpPr>
        <p:spPr bwMode="auto">
          <a:xfrm>
            <a:off x="4752975" y="6405563"/>
            <a:ext cx="22762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3748" name="Rectangle 11"/>
          <p:cNvSpPr>
            <a:spLocks noChangeArrowheads="1"/>
          </p:cNvSpPr>
          <p:nvPr/>
        </p:nvSpPr>
        <p:spPr bwMode="auto">
          <a:xfrm>
            <a:off x="1206500" y="3702050"/>
            <a:ext cx="22762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3750" name="Rectangle 29"/>
          <p:cNvSpPr>
            <a:spLocks noChangeArrowheads="1"/>
          </p:cNvSpPr>
          <p:nvPr/>
        </p:nvSpPr>
        <p:spPr bwMode="auto">
          <a:xfrm>
            <a:off x="5040313" y="3721100"/>
            <a:ext cx="28969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3752" name="Rectangle 32"/>
          <p:cNvSpPr>
            <a:spLocks noChangeArrowheads="1"/>
          </p:cNvSpPr>
          <p:nvPr/>
        </p:nvSpPr>
        <p:spPr bwMode="auto">
          <a:xfrm>
            <a:off x="6740525" y="2173288"/>
            <a:ext cx="51494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3755" name="Rectangle 35"/>
          <p:cNvSpPr>
            <a:spLocks noChangeArrowheads="1"/>
          </p:cNvSpPr>
          <p:nvPr/>
        </p:nvSpPr>
        <p:spPr bwMode="auto">
          <a:xfrm>
            <a:off x="6353175" y="5316538"/>
            <a:ext cx="34468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3756" name="Line 36"/>
          <p:cNvSpPr>
            <a:spLocks noChangeShapeType="1"/>
          </p:cNvSpPr>
          <p:nvPr/>
        </p:nvSpPr>
        <p:spPr bwMode="auto">
          <a:xfrm flipH="1" flipV="1">
            <a:off x="3405188" y="2368550"/>
            <a:ext cx="2968625" cy="3013075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3757" name="Line 37"/>
          <p:cNvSpPr>
            <a:spLocks noChangeShapeType="1"/>
          </p:cNvSpPr>
          <p:nvPr/>
        </p:nvSpPr>
        <p:spPr bwMode="auto">
          <a:xfrm flipV="1">
            <a:off x="2536825" y="2486025"/>
            <a:ext cx="4370388" cy="2909888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3758" name="Freeform 38"/>
          <p:cNvSpPr>
            <a:spLocks/>
          </p:cNvSpPr>
          <p:nvPr/>
        </p:nvSpPr>
        <p:spPr bwMode="auto">
          <a:xfrm>
            <a:off x="1524000" y="1647825"/>
            <a:ext cx="6162675" cy="4735513"/>
          </a:xfrm>
          <a:custGeom>
            <a:avLst/>
            <a:gdLst>
              <a:gd name="T0" fmla="*/ 6163484 w 2329"/>
              <a:gd name="T1" fmla="*/ 4735977 h 1722"/>
              <a:gd name="T2" fmla="*/ 0 w 2329"/>
              <a:gd name="T3" fmla="*/ 4735977 h 1722"/>
              <a:gd name="T4" fmla="*/ 0 w 2329"/>
              <a:gd name="T5" fmla="*/ 0 h 1722"/>
              <a:gd name="T6" fmla="*/ 0 60000 65536"/>
              <a:gd name="T7" fmla="*/ 0 60000 65536"/>
              <a:gd name="T8" fmla="*/ 0 60000 65536"/>
              <a:gd name="T9" fmla="*/ 0 w 2329"/>
              <a:gd name="T10" fmla="*/ 0 h 1722"/>
              <a:gd name="T11" fmla="*/ 2329 w 2329"/>
              <a:gd name="T12" fmla="*/ 1722 h 17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9" h="1722">
                <a:moveTo>
                  <a:pt x="2329" y="1722"/>
                </a:moveTo>
                <a:lnTo>
                  <a:pt x="0" y="1722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3759" name="Freeform 39"/>
          <p:cNvSpPr>
            <a:spLocks/>
          </p:cNvSpPr>
          <p:nvPr/>
        </p:nvSpPr>
        <p:spPr bwMode="auto">
          <a:xfrm>
            <a:off x="5943600" y="3656013"/>
            <a:ext cx="1981200" cy="914400"/>
          </a:xfrm>
          <a:custGeom>
            <a:avLst/>
            <a:gdLst>
              <a:gd name="T0" fmla="*/ 1500513 w 240"/>
              <a:gd name="T1" fmla="*/ 765140 h 137"/>
              <a:gd name="T2" fmla="*/ 1394227 w 240"/>
              <a:gd name="T3" fmla="*/ 888340 h 137"/>
              <a:gd name="T4" fmla="*/ 106286 w 240"/>
              <a:gd name="T5" fmla="*/ 888340 h 137"/>
              <a:gd name="T6" fmla="*/ 0 w 240"/>
              <a:gd name="T7" fmla="*/ 765140 h 137"/>
              <a:gd name="T8" fmla="*/ 0 w 240"/>
              <a:gd name="T9" fmla="*/ 123200 h 137"/>
              <a:gd name="T10" fmla="*/ 106286 w 240"/>
              <a:gd name="T11" fmla="*/ 0 h 137"/>
              <a:gd name="T12" fmla="*/ 1394227 w 240"/>
              <a:gd name="T13" fmla="*/ 0 h 137"/>
              <a:gd name="T14" fmla="*/ 1500513 w 240"/>
              <a:gd name="T15" fmla="*/ 123200 h 137"/>
              <a:gd name="T16" fmla="*/ 1500513 w 240"/>
              <a:gd name="T17" fmla="*/ 765140 h 13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40"/>
              <a:gd name="T28" fmla="*/ 0 h 137"/>
              <a:gd name="T29" fmla="*/ 240 w 240"/>
              <a:gd name="T30" fmla="*/ 137 h 13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40" h="137">
                <a:moveTo>
                  <a:pt x="240" y="118"/>
                </a:moveTo>
                <a:cubicBezTo>
                  <a:pt x="240" y="128"/>
                  <a:pt x="232" y="137"/>
                  <a:pt x="223" y="137"/>
                </a:cubicBezTo>
                <a:cubicBezTo>
                  <a:pt x="17" y="137"/>
                  <a:pt x="17" y="137"/>
                  <a:pt x="17" y="137"/>
                </a:cubicBezTo>
                <a:cubicBezTo>
                  <a:pt x="8" y="137"/>
                  <a:pt x="0" y="128"/>
                  <a:pt x="0" y="1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7" y="0"/>
                </a:cubicBezTo>
                <a:cubicBezTo>
                  <a:pt x="223" y="0"/>
                  <a:pt x="223" y="0"/>
                  <a:pt x="223" y="0"/>
                </a:cubicBezTo>
                <a:cubicBezTo>
                  <a:pt x="232" y="0"/>
                  <a:pt x="240" y="8"/>
                  <a:pt x="240" y="19"/>
                </a:cubicBezTo>
                <a:lnTo>
                  <a:pt x="240" y="118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3760" name="Oval 55"/>
          <p:cNvSpPr>
            <a:spLocks noChangeArrowheads="1"/>
          </p:cNvSpPr>
          <p:nvPr/>
        </p:nvSpPr>
        <p:spPr bwMode="auto">
          <a:xfrm>
            <a:off x="4800600" y="3778250"/>
            <a:ext cx="123825" cy="1301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3761" name="Rectangle 17"/>
          <p:cNvSpPr>
            <a:spLocks noChangeArrowheads="1"/>
          </p:cNvSpPr>
          <p:nvPr/>
        </p:nvSpPr>
        <p:spPr bwMode="auto">
          <a:xfrm>
            <a:off x="7010400" y="6415088"/>
            <a:ext cx="1447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43762" name="Rectangle 18"/>
          <p:cNvSpPr>
            <a:spLocks noChangeArrowheads="1"/>
          </p:cNvSpPr>
          <p:nvPr/>
        </p:nvSpPr>
        <p:spPr bwMode="auto">
          <a:xfrm>
            <a:off x="0" y="1233488"/>
            <a:ext cx="2362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43763" name="Rectangle 19"/>
          <p:cNvSpPr>
            <a:spLocks noChangeArrowheads="1"/>
          </p:cNvSpPr>
          <p:nvPr/>
        </p:nvSpPr>
        <p:spPr bwMode="auto">
          <a:xfrm>
            <a:off x="5943600" y="3656013"/>
            <a:ext cx="220980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Short-run macroeconomic equilibrium</a:t>
            </a:r>
          </a:p>
        </p:txBody>
      </p:sp>
      <p:sp>
        <p:nvSpPr>
          <p:cNvPr id="543764" name="Line 20"/>
          <p:cNvSpPr>
            <a:spLocks noChangeShapeType="1"/>
          </p:cNvSpPr>
          <p:nvPr/>
        </p:nvSpPr>
        <p:spPr bwMode="auto">
          <a:xfrm flipH="1">
            <a:off x="4852988" y="3948113"/>
            <a:ext cx="0" cy="24304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3765" name="Line 21"/>
          <p:cNvSpPr>
            <a:spLocks noChangeShapeType="1"/>
          </p:cNvSpPr>
          <p:nvPr/>
        </p:nvSpPr>
        <p:spPr bwMode="auto">
          <a:xfrm flipH="1">
            <a:off x="1524000" y="3824288"/>
            <a:ext cx="3302000" cy="15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3766" name="Line 22"/>
          <p:cNvSpPr>
            <a:spLocks noChangeShapeType="1"/>
          </p:cNvSpPr>
          <p:nvPr/>
        </p:nvSpPr>
        <p:spPr bwMode="auto">
          <a:xfrm>
            <a:off x="5410200" y="3824288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3767" name="Rectangle 23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</a:t>
            </a:r>
            <a:r>
              <a:rPr lang="en-US" sz="4000" i="1" dirty="0"/>
              <a:t>AD–AS </a:t>
            </a:r>
            <a:r>
              <a:rPr lang="en-US" sz="4000" dirty="0"/>
              <a:t>MODEL</a:t>
            </a:r>
          </a:p>
        </p:txBody>
      </p:sp>
      <p:sp>
        <p:nvSpPr>
          <p:cNvPr id="26" name="Freeform 39"/>
          <p:cNvSpPr>
            <a:spLocks/>
          </p:cNvSpPr>
          <p:nvPr/>
        </p:nvSpPr>
        <p:spPr bwMode="auto">
          <a:xfrm>
            <a:off x="3886200" y="5525869"/>
            <a:ext cx="2133600" cy="646331"/>
          </a:xfrm>
          <a:custGeom>
            <a:avLst/>
            <a:gdLst>
              <a:gd name="T0" fmla="*/ 1500513 w 240"/>
              <a:gd name="T1" fmla="*/ 765140 h 137"/>
              <a:gd name="T2" fmla="*/ 1394227 w 240"/>
              <a:gd name="T3" fmla="*/ 888340 h 137"/>
              <a:gd name="T4" fmla="*/ 106286 w 240"/>
              <a:gd name="T5" fmla="*/ 888340 h 137"/>
              <a:gd name="T6" fmla="*/ 0 w 240"/>
              <a:gd name="T7" fmla="*/ 765140 h 137"/>
              <a:gd name="T8" fmla="*/ 0 w 240"/>
              <a:gd name="T9" fmla="*/ 123200 h 137"/>
              <a:gd name="T10" fmla="*/ 106286 w 240"/>
              <a:gd name="T11" fmla="*/ 0 h 137"/>
              <a:gd name="T12" fmla="*/ 1394227 w 240"/>
              <a:gd name="T13" fmla="*/ 0 h 137"/>
              <a:gd name="T14" fmla="*/ 1500513 w 240"/>
              <a:gd name="T15" fmla="*/ 123200 h 137"/>
              <a:gd name="T16" fmla="*/ 1500513 w 240"/>
              <a:gd name="T17" fmla="*/ 765140 h 13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40"/>
              <a:gd name="T28" fmla="*/ 0 h 137"/>
              <a:gd name="T29" fmla="*/ 240 w 240"/>
              <a:gd name="T30" fmla="*/ 137 h 13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40" h="137">
                <a:moveTo>
                  <a:pt x="240" y="118"/>
                </a:moveTo>
                <a:cubicBezTo>
                  <a:pt x="240" y="128"/>
                  <a:pt x="232" y="137"/>
                  <a:pt x="223" y="137"/>
                </a:cubicBezTo>
                <a:cubicBezTo>
                  <a:pt x="17" y="137"/>
                  <a:pt x="17" y="137"/>
                  <a:pt x="17" y="137"/>
                </a:cubicBezTo>
                <a:cubicBezTo>
                  <a:pt x="8" y="137"/>
                  <a:pt x="0" y="128"/>
                  <a:pt x="0" y="1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7" y="0"/>
                </a:cubicBezTo>
                <a:cubicBezTo>
                  <a:pt x="223" y="0"/>
                  <a:pt x="223" y="0"/>
                  <a:pt x="223" y="0"/>
                </a:cubicBezTo>
                <a:cubicBezTo>
                  <a:pt x="232" y="0"/>
                  <a:pt x="240" y="8"/>
                  <a:pt x="240" y="19"/>
                </a:cubicBezTo>
                <a:lnTo>
                  <a:pt x="240" y="118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27" name="Rectangle 19"/>
          <p:cNvSpPr>
            <a:spLocks noChangeArrowheads="1"/>
          </p:cNvSpPr>
          <p:nvPr/>
        </p:nvSpPr>
        <p:spPr bwMode="auto">
          <a:xfrm>
            <a:off x="3886200" y="5525869"/>
            <a:ext cx="2286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Short-run equilibrium output</a:t>
            </a:r>
          </a:p>
        </p:txBody>
      </p:sp>
      <p:sp>
        <p:nvSpPr>
          <p:cNvPr id="28" name="Freeform 39"/>
          <p:cNvSpPr>
            <a:spLocks/>
          </p:cNvSpPr>
          <p:nvPr/>
        </p:nvSpPr>
        <p:spPr bwMode="auto">
          <a:xfrm>
            <a:off x="1905000" y="3468469"/>
            <a:ext cx="2362200" cy="1027331"/>
          </a:xfrm>
          <a:custGeom>
            <a:avLst/>
            <a:gdLst>
              <a:gd name="T0" fmla="*/ 1500513 w 240"/>
              <a:gd name="T1" fmla="*/ 765140 h 137"/>
              <a:gd name="T2" fmla="*/ 1394227 w 240"/>
              <a:gd name="T3" fmla="*/ 888340 h 137"/>
              <a:gd name="T4" fmla="*/ 106286 w 240"/>
              <a:gd name="T5" fmla="*/ 888340 h 137"/>
              <a:gd name="T6" fmla="*/ 0 w 240"/>
              <a:gd name="T7" fmla="*/ 765140 h 137"/>
              <a:gd name="T8" fmla="*/ 0 w 240"/>
              <a:gd name="T9" fmla="*/ 123200 h 137"/>
              <a:gd name="T10" fmla="*/ 106286 w 240"/>
              <a:gd name="T11" fmla="*/ 0 h 137"/>
              <a:gd name="T12" fmla="*/ 1394227 w 240"/>
              <a:gd name="T13" fmla="*/ 0 h 137"/>
              <a:gd name="T14" fmla="*/ 1500513 w 240"/>
              <a:gd name="T15" fmla="*/ 123200 h 137"/>
              <a:gd name="T16" fmla="*/ 1500513 w 240"/>
              <a:gd name="T17" fmla="*/ 765140 h 13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40"/>
              <a:gd name="T28" fmla="*/ 0 h 137"/>
              <a:gd name="T29" fmla="*/ 240 w 240"/>
              <a:gd name="T30" fmla="*/ 137 h 13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40" h="137">
                <a:moveTo>
                  <a:pt x="240" y="118"/>
                </a:moveTo>
                <a:cubicBezTo>
                  <a:pt x="240" y="128"/>
                  <a:pt x="232" y="137"/>
                  <a:pt x="223" y="137"/>
                </a:cubicBezTo>
                <a:cubicBezTo>
                  <a:pt x="17" y="137"/>
                  <a:pt x="17" y="137"/>
                  <a:pt x="17" y="137"/>
                </a:cubicBezTo>
                <a:cubicBezTo>
                  <a:pt x="8" y="137"/>
                  <a:pt x="0" y="128"/>
                  <a:pt x="0" y="1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7" y="0"/>
                </a:cubicBezTo>
                <a:cubicBezTo>
                  <a:pt x="223" y="0"/>
                  <a:pt x="223" y="0"/>
                  <a:pt x="223" y="0"/>
                </a:cubicBezTo>
                <a:cubicBezTo>
                  <a:pt x="232" y="0"/>
                  <a:pt x="240" y="8"/>
                  <a:pt x="240" y="19"/>
                </a:cubicBezTo>
                <a:lnTo>
                  <a:pt x="240" y="118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29" name="Rectangle 19"/>
          <p:cNvSpPr>
            <a:spLocks noChangeArrowheads="1"/>
          </p:cNvSpPr>
          <p:nvPr/>
        </p:nvSpPr>
        <p:spPr bwMode="auto">
          <a:xfrm>
            <a:off x="1905000" y="3505200"/>
            <a:ext cx="2438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Short-run equilibrium aggregate price level</a:t>
            </a:r>
          </a:p>
        </p:txBody>
      </p:sp>
    </p:spTree>
    <p:extLst>
      <p:ext uri="{BB962C8B-B14F-4D97-AF65-F5344CB8AC3E}">
        <p14:creationId xmlns:p14="http://schemas.microsoft.com/office/powerpoint/2010/main" val="129275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3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3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59" grpId="0" animBg="1"/>
      <p:bldP spid="543763" grpId="0"/>
      <p:bldP spid="543766" grpId="0" animBg="1"/>
      <p:bldP spid="26" grpId="0" animBg="1"/>
      <p:bldP spid="27" grpId="0"/>
      <p:bldP spid="28" grpId="0" animBg="1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Line 243"/>
          <p:cNvSpPr>
            <a:spLocks noChangeShapeType="1"/>
          </p:cNvSpPr>
          <p:nvPr/>
        </p:nvSpPr>
        <p:spPr bwMode="auto">
          <a:xfrm flipV="1">
            <a:off x="2900363" y="4009609"/>
            <a:ext cx="1608137" cy="1497012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796" name="Rectangle 253"/>
          <p:cNvSpPr>
            <a:spLocks noChangeArrowheads="1"/>
          </p:cNvSpPr>
          <p:nvPr/>
        </p:nvSpPr>
        <p:spPr bwMode="auto">
          <a:xfrm>
            <a:off x="3271838" y="6108284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00" name="Line 424"/>
          <p:cNvSpPr>
            <a:spLocks noChangeShapeType="1"/>
          </p:cNvSpPr>
          <p:nvPr/>
        </p:nvSpPr>
        <p:spPr bwMode="auto">
          <a:xfrm>
            <a:off x="2224088" y="4706521"/>
            <a:ext cx="1588" cy="119063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01" name="Freeform 425"/>
          <p:cNvSpPr>
            <a:spLocks/>
          </p:cNvSpPr>
          <p:nvPr/>
        </p:nvSpPr>
        <p:spPr bwMode="auto">
          <a:xfrm>
            <a:off x="2198688" y="4803359"/>
            <a:ext cx="49213" cy="88900"/>
          </a:xfrm>
          <a:custGeom>
            <a:avLst/>
            <a:gdLst>
              <a:gd name="T0" fmla="*/ 22514 w 11"/>
              <a:gd name="T1" fmla="*/ 11113 h 18"/>
              <a:gd name="T2" fmla="*/ 0 w 11"/>
              <a:gd name="T3" fmla="*/ 0 h 18"/>
              <a:gd name="T4" fmla="*/ 0 w 11"/>
              <a:gd name="T5" fmla="*/ 0 h 18"/>
              <a:gd name="T6" fmla="*/ 15009 w 11"/>
              <a:gd name="T7" fmla="*/ 33338 h 18"/>
              <a:gd name="T8" fmla="*/ 22514 w 11"/>
              <a:gd name="T9" fmla="*/ 66675 h 18"/>
              <a:gd name="T10" fmla="*/ 30018 w 11"/>
              <a:gd name="T11" fmla="*/ 33338 h 18"/>
              <a:gd name="T12" fmla="*/ 41275 w 11"/>
              <a:gd name="T13" fmla="*/ 0 h 18"/>
              <a:gd name="T14" fmla="*/ 41275 w 11"/>
              <a:gd name="T15" fmla="*/ 0 h 18"/>
              <a:gd name="T16" fmla="*/ 22514 w 11"/>
              <a:gd name="T17" fmla="*/ 11113 h 1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"/>
              <a:gd name="T28" fmla="*/ 0 h 18"/>
              <a:gd name="T29" fmla="*/ 11 w 11"/>
              <a:gd name="T30" fmla="*/ 18 h 1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" h="18">
                <a:moveTo>
                  <a:pt x="6" y="3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4" y="9"/>
                  <a:pt x="4" y="9"/>
                  <a:pt x="4" y="9"/>
                </a:cubicBezTo>
                <a:cubicBezTo>
                  <a:pt x="4" y="12"/>
                  <a:pt x="5" y="15"/>
                  <a:pt x="6" y="18"/>
                </a:cubicBezTo>
                <a:cubicBezTo>
                  <a:pt x="6" y="15"/>
                  <a:pt x="7" y="12"/>
                  <a:pt x="8" y="9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0"/>
                  <a:pt x="11" y="0"/>
                  <a:pt x="11" y="0"/>
                </a:cubicBezTo>
                <a:lnTo>
                  <a:pt x="6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02" name="Rectangle 428"/>
          <p:cNvSpPr>
            <a:spLocks noChangeArrowheads="1"/>
          </p:cNvSpPr>
          <p:nvPr/>
        </p:nvSpPr>
        <p:spPr bwMode="auto">
          <a:xfrm>
            <a:off x="2133600" y="4898609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05" name="Freeform 300"/>
          <p:cNvSpPr>
            <a:spLocks/>
          </p:cNvSpPr>
          <p:nvPr/>
        </p:nvSpPr>
        <p:spPr bwMode="auto">
          <a:xfrm>
            <a:off x="3581400" y="3014246"/>
            <a:ext cx="1905000" cy="533400"/>
          </a:xfrm>
          <a:custGeom>
            <a:avLst/>
            <a:gdLst>
              <a:gd name="T0" fmla="*/ 933450 w 249"/>
              <a:gd name="T1" fmla="*/ 277898 h 93"/>
              <a:gd name="T2" fmla="*/ 869720 w 249"/>
              <a:gd name="T3" fmla="*/ 349250 h 93"/>
              <a:gd name="T4" fmla="*/ 63730 w 249"/>
              <a:gd name="T5" fmla="*/ 349250 h 93"/>
              <a:gd name="T6" fmla="*/ 0 w 249"/>
              <a:gd name="T7" fmla="*/ 277898 h 93"/>
              <a:gd name="T8" fmla="*/ 0 w 249"/>
              <a:gd name="T9" fmla="*/ 71352 h 93"/>
              <a:gd name="T10" fmla="*/ 63730 w 249"/>
              <a:gd name="T11" fmla="*/ 0 h 93"/>
              <a:gd name="T12" fmla="*/ 869720 w 249"/>
              <a:gd name="T13" fmla="*/ 0 h 93"/>
              <a:gd name="T14" fmla="*/ 933450 w 249"/>
              <a:gd name="T15" fmla="*/ 71352 h 93"/>
              <a:gd name="T16" fmla="*/ 933450 w 249"/>
              <a:gd name="T17" fmla="*/ 277898 h 9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49"/>
              <a:gd name="T28" fmla="*/ 0 h 93"/>
              <a:gd name="T29" fmla="*/ 249 w 249"/>
              <a:gd name="T30" fmla="*/ 93 h 9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49" h="93">
                <a:moveTo>
                  <a:pt x="249" y="74"/>
                </a:moveTo>
                <a:cubicBezTo>
                  <a:pt x="249" y="85"/>
                  <a:pt x="241" y="93"/>
                  <a:pt x="232" y="93"/>
                </a:cubicBezTo>
                <a:cubicBezTo>
                  <a:pt x="17" y="93"/>
                  <a:pt x="17" y="93"/>
                  <a:pt x="17" y="93"/>
                </a:cubicBezTo>
                <a:cubicBezTo>
                  <a:pt x="8" y="93"/>
                  <a:pt x="0" y="85"/>
                  <a:pt x="0" y="74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41" y="0"/>
                  <a:pt x="249" y="9"/>
                  <a:pt x="249" y="19"/>
                </a:cubicBezTo>
                <a:lnTo>
                  <a:pt x="249" y="74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07" name="Line 242"/>
          <p:cNvSpPr>
            <a:spLocks noChangeShapeType="1"/>
          </p:cNvSpPr>
          <p:nvPr/>
        </p:nvSpPr>
        <p:spPr bwMode="auto">
          <a:xfrm flipH="1" flipV="1">
            <a:off x="2530475" y="3607971"/>
            <a:ext cx="1127125" cy="2212975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08" name="Line 299"/>
          <p:cNvSpPr>
            <a:spLocks noChangeShapeType="1"/>
          </p:cNvSpPr>
          <p:nvPr/>
        </p:nvSpPr>
        <p:spPr bwMode="auto">
          <a:xfrm flipH="1">
            <a:off x="3397250" y="3690521"/>
            <a:ext cx="476250" cy="598488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11" name="Rectangle 419"/>
          <p:cNvSpPr>
            <a:spLocks noChangeArrowheads="1"/>
          </p:cNvSpPr>
          <p:nvPr/>
        </p:nvSpPr>
        <p:spPr bwMode="auto">
          <a:xfrm>
            <a:off x="3571875" y="5803484"/>
            <a:ext cx="36154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13" name="Rectangle 21"/>
          <p:cNvSpPr>
            <a:spLocks noChangeArrowheads="1"/>
          </p:cNvSpPr>
          <p:nvPr/>
        </p:nvSpPr>
        <p:spPr bwMode="auto">
          <a:xfrm>
            <a:off x="3657600" y="2987226"/>
            <a:ext cx="19050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 negative demand shock...</a:t>
            </a:r>
          </a:p>
        </p:txBody>
      </p:sp>
      <p:sp>
        <p:nvSpPr>
          <p:cNvPr id="545814" name="Line 22"/>
          <p:cNvSpPr>
            <a:spLocks noChangeShapeType="1"/>
          </p:cNvSpPr>
          <p:nvPr/>
        </p:nvSpPr>
        <p:spPr bwMode="auto">
          <a:xfrm flipH="1">
            <a:off x="2362200" y="513091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15" name="Line 23"/>
          <p:cNvSpPr>
            <a:spLocks noChangeShapeType="1"/>
          </p:cNvSpPr>
          <p:nvPr/>
        </p:nvSpPr>
        <p:spPr bwMode="auto">
          <a:xfrm flipH="1">
            <a:off x="3298295" y="5189121"/>
            <a:ext cx="0" cy="8858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16" name="Line 241"/>
          <p:cNvSpPr>
            <a:spLocks noChangeShapeType="1"/>
          </p:cNvSpPr>
          <p:nvPr/>
        </p:nvSpPr>
        <p:spPr bwMode="auto">
          <a:xfrm flipH="1" flipV="1">
            <a:off x="3170238" y="3239671"/>
            <a:ext cx="1108075" cy="2160588"/>
          </a:xfrm>
          <a:prstGeom prst="line">
            <a:avLst/>
          </a:prstGeom>
          <a:noFill/>
          <a:ln w="38100">
            <a:solidFill>
              <a:srgbClr val="AEC5E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18" name="Freeform 245"/>
          <p:cNvSpPr>
            <a:spLocks/>
          </p:cNvSpPr>
          <p:nvPr/>
        </p:nvSpPr>
        <p:spPr bwMode="auto">
          <a:xfrm>
            <a:off x="2378075" y="2960271"/>
            <a:ext cx="3405188" cy="3124200"/>
          </a:xfrm>
          <a:custGeom>
            <a:avLst/>
            <a:gdLst>
              <a:gd name="T0" fmla="*/ 2852738 w 1797"/>
              <a:gd name="T1" fmla="*/ 2309813 h 1455"/>
              <a:gd name="T2" fmla="*/ 0 w 1797"/>
              <a:gd name="T3" fmla="*/ 2309813 h 1455"/>
              <a:gd name="T4" fmla="*/ 0 w 1797"/>
              <a:gd name="T5" fmla="*/ 0 h 1455"/>
              <a:gd name="T6" fmla="*/ 0 60000 65536"/>
              <a:gd name="T7" fmla="*/ 0 60000 65536"/>
              <a:gd name="T8" fmla="*/ 0 60000 65536"/>
              <a:gd name="T9" fmla="*/ 0 w 1797"/>
              <a:gd name="T10" fmla="*/ 0 h 1455"/>
              <a:gd name="T11" fmla="*/ 1797 w 1797"/>
              <a:gd name="T12" fmla="*/ 1455 h 14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97" h="1455">
                <a:moveTo>
                  <a:pt x="1797" y="1455"/>
                </a:moveTo>
                <a:lnTo>
                  <a:pt x="0" y="1455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19" name="Line 247"/>
          <p:cNvSpPr>
            <a:spLocks noChangeShapeType="1"/>
          </p:cNvSpPr>
          <p:nvPr/>
        </p:nvSpPr>
        <p:spPr bwMode="auto">
          <a:xfrm flipH="1">
            <a:off x="3505200" y="6236871"/>
            <a:ext cx="300038" cy="3175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20" name="Freeform 248"/>
          <p:cNvSpPr>
            <a:spLocks/>
          </p:cNvSpPr>
          <p:nvPr/>
        </p:nvSpPr>
        <p:spPr bwMode="auto">
          <a:xfrm>
            <a:off x="3443288" y="6206709"/>
            <a:ext cx="84137" cy="60325"/>
          </a:xfrm>
          <a:custGeom>
            <a:avLst/>
            <a:gdLst>
              <a:gd name="T0" fmla="*/ 56398 w 19"/>
              <a:gd name="T1" fmla="*/ 22225 h 12"/>
              <a:gd name="T2" fmla="*/ 71438 w 19"/>
              <a:gd name="T3" fmla="*/ 40746 h 12"/>
              <a:gd name="T4" fmla="*/ 67678 w 19"/>
              <a:gd name="T5" fmla="*/ 44450 h 12"/>
              <a:gd name="T6" fmla="*/ 37599 w 19"/>
              <a:gd name="T7" fmla="*/ 29633 h 12"/>
              <a:gd name="T8" fmla="*/ 0 w 19"/>
              <a:gd name="T9" fmla="*/ 22225 h 12"/>
              <a:gd name="T10" fmla="*/ 37599 w 19"/>
              <a:gd name="T11" fmla="*/ 14817 h 12"/>
              <a:gd name="T12" fmla="*/ 67678 w 19"/>
              <a:gd name="T13" fmla="*/ 0 h 12"/>
              <a:gd name="T14" fmla="*/ 71438 w 19"/>
              <a:gd name="T15" fmla="*/ 3704 h 12"/>
              <a:gd name="T16" fmla="*/ 56398 w 19"/>
              <a:gd name="T17" fmla="*/ 22225 h 1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9"/>
              <a:gd name="T28" fmla="*/ 0 h 12"/>
              <a:gd name="T29" fmla="*/ 19 w 19"/>
              <a:gd name="T30" fmla="*/ 12 h 1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9" h="12">
                <a:moveTo>
                  <a:pt x="15" y="6"/>
                </a:moveTo>
                <a:cubicBezTo>
                  <a:pt x="19" y="11"/>
                  <a:pt x="19" y="11"/>
                  <a:pt x="19" y="11"/>
                </a:cubicBezTo>
                <a:cubicBezTo>
                  <a:pt x="18" y="12"/>
                  <a:pt x="18" y="12"/>
                  <a:pt x="18" y="12"/>
                </a:cubicBezTo>
                <a:cubicBezTo>
                  <a:pt x="10" y="8"/>
                  <a:pt x="10" y="8"/>
                  <a:pt x="10" y="8"/>
                </a:cubicBezTo>
                <a:cubicBezTo>
                  <a:pt x="7" y="7"/>
                  <a:pt x="3" y="7"/>
                  <a:pt x="0" y="6"/>
                </a:cubicBezTo>
                <a:cubicBezTo>
                  <a:pt x="3" y="5"/>
                  <a:pt x="7" y="5"/>
                  <a:pt x="10" y="4"/>
                </a:cubicBezTo>
                <a:cubicBezTo>
                  <a:pt x="18" y="0"/>
                  <a:pt x="18" y="0"/>
                  <a:pt x="18" y="0"/>
                </a:cubicBezTo>
                <a:cubicBezTo>
                  <a:pt x="19" y="1"/>
                  <a:pt x="19" y="1"/>
                  <a:pt x="19" y="1"/>
                </a:cubicBezTo>
                <a:lnTo>
                  <a:pt x="15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21" name="Rectangle 251"/>
          <p:cNvSpPr>
            <a:spLocks noChangeArrowheads="1"/>
          </p:cNvSpPr>
          <p:nvPr/>
        </p:nvSpPr>
        <p:spPr bwMode="auto">
          <a:xfrm>
            <a:off x="3813175" y="6108284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23" name="Rectangle 257"/>
          <p:cNvSpPr>
            <a:spLocks noChangeArrowheads="1"/>
          </p:cNvSpPr>
          <p:nvPr/>
        </p:nvSpPr>
        <p:spPr bwMode="auto">
          <a:xfrm>
            <a:off x="3994150" y="4514434"/>
            <a:ext cx="18755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25" name="Rectangle 259"/>
          <p:cNvSpPr>
            <a:spLocks noChangeArrowheads="1"/>
          </p:cNvSpPr>
          <p:nvPr/>
        </p:nvSpPr>
        <p:spPr bwMode="auto">
          <a:xfrm>
            <a:off x="3479800" y="5089108"/>
            <a:ext cx="18755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26" name="Rectangle 261"/>
          <p:cNvSpPr>
            <a:spLocks noChangeArrowheads="1"/>
          </p:cNvSpPr>
          <p:nvPr/>
        </p:nvSpPr>
        <p:spPr bwMode="auto">
          <a:xfrm>
            <a:off x="4540250" y="3885784"/>
            <a:ext cx="44971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29" name="Rectangle 264"/>
          <p:cNvSpPr>
            <a:spLocks noChangeArrowheads="1"/>
          </p:cNvSpPr>
          <p:nvPr/>
        </p:nvSpPr>
        <p:spPr bwMode="auto">
          <a:xfrm>
            <a:off x="4179888" y="5430421"/>
            <a:ext cx="36154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31" name="Oval 267"/>
          <p:cNvSpPr>
            <a:spLocks noChangeArrowheads="1"/>
          </p:cNvSpPr>
          <p:nvPr/>
        </p:nvSpPr>
        <p:spPr bwMode="auto">
          <a:xfrm>
            <a:off x="3824288" y="4555180"/>
            <a:ext cx="88900" cy="9144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32" name="Freeform 268"/>
          <p:cNvSpPr>
            <a:spLocks/>
          </p:cNvSpPr>
          <p:nvPr/>
        </p:nvSpPr>
        <p:spPr bwMode="auto">
          <a:xfrm>
            <a:off x="5715000" y="4690646"/>
            <a:ext cx="2133600" cy="1066800"/>
          </a:xfrm>
          <a:custGeom>
            <a:avLst/>
            <a:gdLst>
              <a:gd name="T0" fmla="*/ 1038225 w 277"/>
              <a:gd name="T1" fmla="*/ 576565 h 173"/>
              <a:gd name="T2" fmla="*/ 974507 w 277"/>
              <a:gd name="T3" fmla="*/ 647700 h 173"/>
              <a:gd name="T4" fmla="*/ 67466 w 277"/>
              <a:gd name="T5" fmla="*/ 647700 h 173"/>
              <a:gd name="T6" fmla="*/ 0 w 277"/>
              <a:gd name="T7" fmla="*/ 576565 h 173"/>
              <a:gd name="T8" fmla="*/ 0 w 277"/>
              <a:gd name="T9" fmla="*/ 71135 h 173"/>
              <a:gd name="T10" fmla="*/ 67466 w 277"/>
              <a:gd name="T11" fmla="*/ 0 h 173"/>
              <a:gd name="T12" fmla="*/ 974507 w 277"/>
              <a:gd name="T13" fmla="*/ 0 h 173"/>
              <a:gd name="T14" fmla="*/ 1038225 w 277"/>
              <a:gd name="T15" fmla="*/ 71135 h 173"/>
              <a:gd name="T16" fmla="*/ 1038225 w 277"/>
              <a:gd name="T17" fmla="*/ 576565 h 17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7"/>
              <a:gd name="T28" fmla="*/ 0 h 173"/>
              <a:gd name="T29" fmla="*/ 277 w 277"/>
              <a:gd name="T30" fmla="*/ 173 h 17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7" h="173">
                <a:moveTo>
                  <a:pt x="277" y="154"/>
                </a:moveTo>
                <a:cubicBezTo>
                  <a:pt x="277" y="165"/>
                  <a:pt x="269" y="173"/>
                  <a:pt x="260" y="173"/>
                </a:cubicBezTo>
                <a:cubicBezTo>
                  <a:pt x="18" y="173"/>
                  <a:pt x="18" y="173"/>
                  <a:pt x="18" y="173"/>
                </a:cubicBezTo>
                <a:cubicBezTo>
                  <a:pt x="8" y="173"/>
                  <a:pt x="0" y="165"/>
                  <a:pt x="0" y="154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8" y="0"/>
                </a:cubicBezTo>
                <a:cubicBezTo>
                  <a:pt x="260" y="0"/>
                  <a:pt x="260" y="0"/>
                  <a:pt x="260" y="0"/>
                </a:cubicBezTo>
                <a:cubicBezTo>
                  <a:pt x="269" y="0"/>
                  <a:pt x="277" y="9"/>
                  <a:pt x="277" y="19"/>
                </a:cubicBezTo>
                <a:lnTo>
                  <a:pt x="277" y="154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44" name="Freeform 414"/>
          <p:cNvSpPr>
            <a:spLocks/>
          </p:cNvSpPr>
          <p:nvPr/>
        </p:nvSpPr>
        <p:spPr bwMode="auto">
          <a:xfrm>
            <a:off x="3568700" y="4628734"/>
            <a:ext cx="123825" cy="127000"/>
          </a:xfrm>
          <a:custGeom>
            <a:avLst/>
            <a:gdLst>
              <a:gd name="T0" fmla="*/ 71097 w 28"/>
              <a:gd name="T1" fmla="*/ 37465 h 25"/>
              <a:gd name="T2" fmla="*/ 104775 w 28"/>
              <a:gd name="T3" fmla="*/ 48705 h 25"/>
              <a:gd name="T4" fmla="*/ 104775 w 28"/>
              <a:gd name="T5" fmla="*/ 52451 h 25"/>
              <a:gd name="T6" fmla="*/ 48646 w 28"/>
              <a:gd name="T7" fmla="*/ 67437 h 25"/>
              <a:gd name="T8" fmla="*/ 0 w 28"/>
              <a:gd name="T9" fmla="*/ 93663 h 25"/>
              <a:gd name="T10" fmla="*/ 33678 w 28"/>
              <a:gd name="T11" fmla="*/ 48705 h 25"/>
              <a:gd name="T12" fmla="*/ 63613 w 28"/>
              <a:gd name="T13" fmla="*/ 0 h 25"/>
              <a:gd name="T14" fmla="*/ 63613 w 28"/>
              <a:gd name="T15" fmla="*/ 0 h 25"/>
              <a:gd name="T16" fmla="*/ 71097 w 28"/>
              <a:gd name="T17" fmla="*/ 37465 h 2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8"/>
              <a:gd name="T28" fmla="*/ 0 h 25"/>
              <a:gd name="T29" fmla="*/ 28 w 28"/>
              <a:gd name="T30" fmla="*/ 25 h 2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8" h="25">
                <a:moveTo>
                  <a:pt x="19" y="10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4"/>
                  <a:pt x="28" y="14"/>
                </a:cubicBezTo>
                <a:cubicBezTo>
                  <a:pt x="13" y="18"/>
                  <a:pt x="13" y="18"/>
                  <a:pt x="13" y="18"/>
                </a:cubicBezTo>
                <a:cubicBezTo>
                  <a:pt x="9" y="20"/>
                  <a:pt x="5" y="23"/>
                  <a:pt x="0" y="25"/>
                </a:cubicBezTo>
                <a:cubicBezTo>
                  <a:pt x="3" y="21"/>
                  <a:pt x="6" y="17"/>
                  <a:pt x="9" y="13"/>
                </a:cubicBezTo>
                <a:cubicBezTo>
                  <a:pt x="17" y="0"/>
                  <a:pt x="17" y="0"/>
                  <a:pt x="17" y="0"/>
                </a:cubicBezTo>
                <a:cubicBezTo>
                  <a:pt x="17" y="0"/>
                  <a:pt x="17" y="0"/>
                  <a:pt x="17" y="0"/>
                </a:cubicBezTo>
                <a:lnTo>
                  <a:pt x="19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51" name="Rectangle 426"/>
          <p:cNvSpPr>
            <a:spLocks noChangeArrowheads="1"/>
          </p:cNvSpPr>
          <p:nvPr/>
        </p:nvSpPr>
        <p:spPr bwMode="auto">
          <a:xfrm>
            <a:off x="2133600" y="4466809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55" name="Rectangle 63"/>
          <p:cNvSpPr>
            <a:spLocks noChangeArrowheads="1"/>
          </p:cNvSpPr>
          <p:nvPr/>
        </p:nvSpPr>
        <p:spPr bwMode="auto">
          <a:xfrm>
            <a:off x="5257800" y="6214646"/>
            <a:ext cx="1447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45856" name="Rectangle 64"/>
          <p:cNvSpPr>
            <a:spLocks noChangeArrowheads="1"/>
          </p:cNvSpPr>
          <p:nvPr/>
        </p:nvSpPr>
        <p:spPr bwMode="auto">
          <a:xfrm>
            <a:off x="304800" y="2633246"/>
            <a:ext cx="23622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grpSp>
        <p:nvGrpSpPr>
          <p:cNvPr id="545859" name="Group 67"/>
          <p:cNvGrpSpPr>
            <a:grpSpLocks/>
          </p:cNvGrpSpPr>
          <p:nvPr/>
        </p:nvGrpSpPr>
        <p:grpSpPr bwMode="auto">
          <a:xfrm>
            <a:off x="3330575" y="4628734"/>
            <a:ext cx="4518025" cy="1131887"/>
            <a:chOff x="1090" y="2169"/>
            <a:chExt cx="2846" cy="713"/>
          </a:xfrm>
        </p:grpSpPr>
        <p:grpSp>
          <p:nvGrpSpPr>
            <p:cNvPr id="545860" name="Group 68"/>
            <p:cNvGrpSpPr>
              <a:grpSpLocks/>
            </p:cNvGrpSpPr>
            <p:nvPr/>
          </p:nvGrpSpPr>
          <p:grpSpPr bwMode="auto">
            <a:xfrm>
              <a:off x="1090" y="2169"/>
              <a:ext cx="1502" cy="376"/>
              <a:chOff x="1090" y="2169"/>
              <a:chExt cx="1502" cy="376"/>
            </a:xfrm>
          </p:grpSpPr>
          <p:sp>
            <p:nvSpPr>
              <p:cNvPr id="545861" name="Line 246"/>
              <p:cNvSpPr>
                <a:spLocks noChangeShapeType="1"/>
              </p:cNvSpPr>
              <p:nvPr/>
            </p:nvSpPr>
            <p:spPr bwMode="auto">
              <a:xfrm flipH="1" flipV="1">
                <a:off x="1316" y="2223"/>
                <a:ext cx="1276" cy="322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545862" name="Line 411"/>
              <p:cNvSpPr>
                <a:spLocks noChangeShapeType="1"/>
              </p:cNvSpPr>
              <p:nvPr/>
            </p:nvSpPr>
            <p:spPr bwMode="auto">
              <a:xfrm flipH="1">
                <a:off x="1135" y="2169"/>
                <a:ext cx="192" cy="176"/>
              </a:xfrm>
              <a:prstGeom prst="line">
                <a:avLst/>
              </a:prstGeom>
              <a:noFill/>
              <a:ln w="19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545863" name="Freeform 412"/>
              <p:cNvSpPr>
                <a:spLocks/>
              </p:cNvSpPr>
              <p:nvPr/>
            </p:nvSpPr>
            <p:spPr bwMode="auto">
              <a:xfrm>
                <a:off x="1090" y="2307"/>
                <a:ext cx="79" cy="80"/>
              </a:xfrm>
              <a:custGeom>
                <a:avLst/>
                <a:gdLst>
                  <a:gd name="T0" fmla="*/ 67355 w 28"/>
                  <a:gd name="T1" fmla="*/ 37465 h 25"/>
                  <a:gd name="T2" fmla="*/ 104775 w 28"/>
                  <a:gd name="T3" fmla="*/ 52451 h 25"/>
                  <a:gd name="T4" fmla="*/ 104775 w 28"/>
                  <a:gd name="T5" fmla="*/ 52451 h 25"/>
                  <a:gd name="T6" fmla="*/ 48646 w 28"/>
                  <a:gd name="T7" fmla="*/ 71184 h 25"/>
                  <a:gd name="T8" fmla="*/ 0 w 28"/>
                  <a:gd name="T9" fmla="*/ 93663 h 25"/>
                  <a:gd name="T10" fmla="*/ 33678 w 28"/>
                  <a:gd name="T11" fmla="*/ 52451 h 25"/>
                  <a:gd name="T12" fmla="*/ 59871 w 28"/>
                  <a:gd name="T13" fmla="*/ 0 h 25"/>
                  <a:gd name="T14" fmla="*/ 63613 w 28"/>
                  <a:gd name="T15" fmla="*/ 0 h 25"/>
                  <a:gd name="T16" fmla="*/ 67355 w 28"/>
                  <a:gd name="T17" fmla="*/ 37465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8"/>
                  <a:gd name="T28" fmla="*/ 0 h 25"/>
                  <a:gd name="T29" fmla="*/ 28 w 28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8" h="25">
                    <a:moveTo>
                      <a:pt x="18" y="10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13" y="19"/>
                      <a:pt x="13" y="19"/>
                      <a:pt x="13" y="19"/>
                    </a:cubicBezTo>
                    <a:cubicBezTo>
                      <a:pt x="9" y="21"/>
                      <a:pt x="4" y="23"/>
                      <a:pt x="0" y="25"/>
                    </a:cubicBezTo>
                    <a:cubicBezTo>
                      <a:pt x="3" y="21"/>
                      <a:pt x="6" y="18"/>
                      <a:pt x="9" y="14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18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4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45864" name="Freeform 413"/>
              <p:cNvSpPr>
                <a:spLocks/>
              </p:cNvSpPr>
              <p:nvPr/>
            </p:nvSpPr>
            <p:spPr bwMode="auto">
              <a:xfrm>
                <a:off x="1163" y="2239"/>
                <a:ext cx="79" cy="80"/>
              </a:xfrm>
              <a:custGeom>
                <a:avLst/>
                <a:gdLst>
                  <a:gd name="T0" fmla="*/ 71097 w 28"/>
                  <a:gd name="T1" fmla="*/ 37465 h 25"/>
                  <a:gd name="T2" fmla="*/ 104775 w 28"/>
                  <a:gd name="T3" fmla="*/ 48705 h 25"/>
                  <a:gd name="T4" fmla="*/ 104775 w 28"/>
                  <a:gd name="T5" fmla="*/ 48705 h 25"/>
                  <a:gd name="T6" fmla="*/ 52388 w 28"/>
                  <a:gd name="T7" fmla="*/ 67437 h 25"/>
                  <a:gd name="T8" fmla="*/ 0 w 28"/>
                  <a:gd name="T9" fmla="*/ 93663 h 25"/>
                  <a:gd name="T10" fmla="*/ 33678 w 28"/>
                  <a:gd name="T11" fmla="*/ 48705 h 25"/>
                  <a:gd name="T12" fmla="*/ 63613 w 28"/>
                  <a:gd name="T13" fmla="*/ 0 h 25"/>
                  <a:gd name="T14" fmla="*/ 63613 w 28"/>
                  <a:gd name="T15" fmla="*/ 0 h 25"/>
                  <a:gd name="T16" fmla="*/ 71097 w 28"/>
                  <a:gd name="T17" fmla="*/ 37465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8"/>
                  <a:gd name="T28" fmla="*/ 0 h 25"/>
                  <a:gd name="T29" fmla="*/ 28 w 28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8" h="25">
                    <a:moveTo>
                      <a:pt x="19" y="10"/>
                    </a:move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9" y="20"/>
                      <a:pt x="5" y="23"/>
                      <a:pt x="0" y="25"/>
                    </a:cubicBezTo>
                    <a:cubicBezTo>
                      <a:pt x="3" y="21"/>
                      <a:pt x="6" y="17"/>
                      <a:pt x="9" y="13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4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</p:grpSp>
        <p:sp>
          <p:nvSpPr>
            <p:cNvPr id="545865" name="Rectangle 73"/>
            <p:cNvSpPr>
              <a:spLocks noChangeArrowheads="1"/>
            </p:cNvSpPr>
            <p:nvPr/>
          </p:nvSpPr>
          <p:spPr bwMode="auto">
            <a:xfrm>
              <a:off x="2592" y="2208"/>
              <a:ext cx="1344" cy="6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...leads to a lower aggregate price level and lower aggregate output.</a:t>
              </a:r>
            </a:p>
          </p:txBody>
        </p:sp>
      </p:grpSp>
      <p:sp>
        <p:nvSpPr>
          <p:cNvPr id="545872" name="Line 80"/>
          <p:cNvSpPr>
            <a:spLocks noChangeShapeType="1"/>
          </p:cNvSpPr>
          <p:nvPr/>
        </p:nvSpPr>
        <p:spPr bwMode="auto">
          <a:xfrm flipH="1">
            <a:off x="2389188" y="4573171"/>
            <a:ext cx="1420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75" name="Line 83"/>
          <p:cNvSpPr>
            <a:spLocks noChangeShapeType="1"/>
          </p:cNvSpPr>
          <p:nvPr/>
        </p:nvSpPr>
        <p:spPr bwMode="auto">
          <a:xfrm>
            <a:off x="3859213" y="4649371"/>
            <a:ext cx="0" cy="13779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903" name="Rectangle 111"/>
          <p:cNvSpPr>
            <a:spLocks noGrp="1" noRot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>
            <a:noAutofit/>
          </a:bodyPr>
          <a:lstStyle/>
          <a:p>
            <a:r>
              <a:rPr lang="en-US" sz="4000" spc="0" dirty="0"/>
              <a:t>SHIFTS OF AGGREGATE DEMAND: SHORT-RUN EFFECTS</a:t>
            </a:r>
          </a:p>
        </p:txBody>
      </p:sp>
      <p:sp>
        <p:nvSpPr>
          <p:cNvPr id="113" name="Oval 267"/>
          <p:cNvSpPr>
            <a:spLocks noChangeArrowheads="1"/>
          </p:cNvSpPr>
          <p:nvPr/>
        </p:nvSpPr>
        <p:spPr bwMode="auto">
          <a:xfrm>
            <a:off x="3268130" y="5087098"/>
            <a:ext cx="88900" cy="9144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114" name="Rectangle 79"/>
          <p:cNvSpPr>
            <a:spLocks noChangeArrowheads="1"/>
          </p:cNvSpPr>
          <p:nvPr/>
        </p:nvSpPr>
        <p:spPr bwMode="auto">
          <a:xfrm>
            <a:off x="1371600" y="1595735"/>
            <a:ext cx="73005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ＭＳ Ｐゴシック" pitchFamily="34" charset="-128"/>
                <a:cs typeface="Century Gothic"/>
              </a:rPr>
              <a:t>A negative demand shock: Total spending falls.</a:t>
            </a:r>
          </a:p>
        </p:txBody>
      </p:sp>
    </p:spTree>
    <p:extLst>
      <p:ext uri="{BB962C8B-B14F-4D97-AF65-F5344CB8AC3E}">
        <p14:creationId xmlns:p14="http://schemas.microsoft.com/office/powerpoint/2010/main" val="2108587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5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4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614 -0.04468 L 2.5E-6 7.40741E-7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458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16" y="2222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5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4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45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4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45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4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4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796" grpId="0"/>
      <p:bldP spid="545800" grpId="0" animBg="1"/>
      <p:bldP spid="545801" grpId="0" animBg="1"/>
      <p:bldP spid="545802" grpId="0"/>
      <p:bldP spid="545805" grpId="0" animBg="1"/>
      <p:bldP spid="545807" grpId="0" animBg="1"/>
      <p:bldP spid="545807" grpId="1" animBg="1"/>
      <p:bldP spid="545813" grpId="0"/>
      <p:bldP spid="545814" grpId="0" animBg="1"/>
      <p:bldP spid="545815" grpId="0" animBg="1"/>
      <p:bldP spid="545819" grpId="0" animBg="1"/>
      <p:bldP spid="545820" grpId="0" animBg="1"/>
      <p:bldP spid="545825" grpId="0"/>
      <p:bldP spid="545832" grpId="0" animBg="1"/>
      <p:bldP spid="545844" grpId="0" animBg="1"/>
      <p:bldP spid="1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890" name="Line 326"/>
          <p:cNvSpPr>
            <a:spLocks noChangeShapeType="1"/>
          </p:cNvSpPr>
          <p:nvPr/>
        </p:nvSpPr>
        <p:spPr bwMode="auto">
          <a:xfrm flipH="1" flipV="1">
            <a:off x="3527425" y="3025359"/>
            <a:ext cx="1114425" cy="2141538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17" name="Line 244"/>
          <p:cNvSpPr>
            <a:spLocks noChangeShapeType="1"/>
          </p:cNvSpPr>
          <p:nvPr/>
        </p:nvSpPr>
        <p:spPr bwMode="auto">
          <a:xfrm flipV="1">
            <a:off x="3257550" y="3792121"/>
            <a:ext cx="1611313" cy="1479550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33" name="Line 327"/>
          <p:cNvSpPr>
            <a:spLocks noChangeShapeType="1"/>
          </p:cNvSpPr>
          <p:nvPr/>
        </p:nvSpPr>
        <p:spPr bwMode="auto">
          <a:xfrm flipH="1" flipV="1">
            <a:off x="2916238" y="3371434"/>
            <a:ext cx="1133475" cy="2185987"/>
          </a:xfrm>
          <a:prstGeom prst="line">
            <a:avLst/>
          </a:prstGeom>
          <a:noFill/>
          <a:ln w="38100">
            <a:solidFill>
              <a:srgbClr val="AEC5E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34" name="Freeform 328"/>
          <p:cNvSpPr>
            <a:spLocks/>
          </p:cNvSpPr>
          <p:nvPr/>
        </p:nvSpPr>
        <p:spPr bwMode="auto">
          <a:xfrm>
            <a:off x="2733675" y="2734846"/>
            <a:ext cx="3438525" cy="3106738"/>
          </a:xfrm>
          <a:custGeom>
            <a:avLst/>
            <a:gdLst>
              <a:gd name="T0" fmla="*/ 2881313 w 1815"/>
              <a:gd name="T1" fmla="*/ 2295525 h 1446"/>
              <a:gd name="T2" fmla="*/ 0 w 1815"/>
              <a:gd name="T3" fmla="*/ 2295525 h 1446"/>
              <a:gd name="T4" fmla="*/ 0 w 1815"/>
              <a:gd name="T5" fmla="*/ 0 h 1446"/>
              <a:gd name="T6" fmla="*/ 0 60000 65536"/>
              <a:gd name="T7" fmla="*/ 0 60000 65536"/>
              <a:gd name="T8" fmla="*/ 0 60000 65536"/>
              <a:gd name="T9" fmla="*/ 0 w 1815"/>
              <a:gd name="T10" fmla="*/ 0 h 1446"/>
              <a:gd name="T11" fmla="*/ 1815 w 1815"/>
              <a:gd name="T12" fmla="*/ 1446 h 14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15" h="1446">
                <a:moveTo>
                  <a:pt x="1815" y="1446"/>
                </a:moveTo>
                <a:lnTo>
                  <a:pt x="0" y="1446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35" name="Rectangle 332"/>
          <p:cNvSpPr>
            <a:spLocks noChangeArrowheads="1"/>
          </p:cNvSpPr>
          <p:nvPr/>
        </p:nvSpPr>
        <p:spPr bwMode="auto">
          <a:xfrm>
            <a:off x="3635375" y="5879684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38" name="Rectangle 338"/>
          <p:cNvSpPr>
            <a:spLocks noChangeArrowheads="1"/>
          </p:cNvSpPr>
          <p:nvPr/>
        </p:nvSpPr>
        <p:spPr bwMode="auto">
          <a:xfrm>
            <a:off x="3786188" y="4773196"/>
            <a:ext cx="18755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40" name="Rectangle 340"/>
          <p:cNvSpPr>
            <a:spLocks noChangeArrowheads="1"/>
          </p:cNvSpPr>
          <p:nvPr/>
        </p:nvSpPr>
        <p:spPr bwMode="auto">
          <a:xfrm>
            <a:off x="4900613" y="3644484"/>
            <a:ext cx="44971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43" name="Oval 345"/>
          <p:cNvSpPr>
            <a:spLocks noChangeArrowheads="1"/>
          </p:cNvSpPr>
          <p:nvPr/>
        </p:nvSpPr>
        <p:spPr bwMode="auto">
          <a:xfrm>
            <a:off x="3643313" y="4806534"/>
            <a:ext cx="88900" cy="10001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45" name="Line 415"/>
          <p:cNvSpPr>
            <a:spLocks noChangeShapeType="1"/>
          </p:cNvSpPr>
          <p:nvPr/>
        </p:nvSpPr>
        <p:spPr bwMode="auto">
          <a:xfrm flipV="1">
            <a:off x="3668713" y="4462046"/>
            <a:ext cx="322262" cy="258763"/>
          </a:xfrm>
          <a:prstGeom prst="line">
            <a:avLst/>
          </a:prstGeom>
          <a:noFill/>
          <a:ln w="1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46" name="Freeform 416"/>
          <p:cNvSpPr>
            <a:spLocks/>
          </p:cNvSpPr>
          <p:nvPr/>
        </p:nvSpPr>
        <p:spPr bwMode="auto">
          <a:xfrm>
            <a:off x="3938588" y="4400134"/>
            <a:ext cx="128587" cy="122237"/>
          </a:xfrm>
          <a:custGeom>
            <a:avLst/>
            <a:gdLst>
              <a:gd name="T0" fmla="*/ 37224 w 29"/>
              <a:gd name="T1" fmla="*/ 49014 h 24"/>
              <a:gd name="T2" fmla="*/ 0 w 29"/>
              <a:gd name="T3" fmla="*/ 33933 h 24"/>
              <a:gd name="T4" fmla="*/ 0 w 29"/>
              <a:gd name="T5" fmla="*/ 33933 h 24"/>
              <a:gd name="T6" fmla="*/ 55836 w 29"/>
              <a:gd name="T7" fmla="*/ 18852 h 24"/>
              <a:gd name="T8" fmla="*/ 107950 w 29"/>
              <a:gd name="T9" fmla="*/ 0 h 24"/>
              <a:gd name="T10" fmla="*/ 70726 w 29"/>
              <a:gd name="T11" fmla="*/ 41474 h 24"/>
              <a:gd name="T12" fmla="*/ 40947 w 29"/>
              <a:gd name="T13" fmla="*/ 90488 h 24"/>
              <a:gd name="T14" fmla="*/ 37224 w 29"/>
              <a:gd name="T15" fmla="*/ 90488 h 24"/>
              <a:gd name="T16" fmla="*/ 37224 w 29"/>
              <a:gd name="T17" fmla="*/ 49014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"/>
              <a:gd name="T28" fmla="*/ 0 h 24"/>
              <a:gd name="T29" fmla="*/ 29 w 29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" h="24">
                <a:moveTo>
                  <a:pt x="10" y="13"/>
                </a:moveTo>
                <a:cubicBezTo>
                  <a:pt x="0" y="9"/>
                  <a:pt x="0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15" y="5"/>
                  <a:pt x="15" y="5"/>
                  <a:pt x="15" y="5"/>
                </a:cubicBezTo>
                <a:cubicBezTo>
                  <a:pt x="20" y="4"/>
                  <a:pt x="24" y="2"/>
                  <a:pt x="29" y="0"/>
                </a:cubicBezTo>
                <a:cubicBezTo>
                  <a:pt x="26" y="3"/>
                  <a:pt x="22" y="7"/>
                  <a:pt x="19" y="11"/>
                </a:cubicBezTo>
                <a:cubicBezTo>
                  <a:pt x="11" y="24"/>
                  <a:pt x="11" y="24"/>
                  <a:pt x="11" y="24"/>
                </a:cubicBezTo>
                <a:cubicBezTo>
                  <a:pt x="10" y="24"/>
                  <a:pt x="10" y="24"/>
                  <a:pt x="10" y="24"/>
                </a:cubicBezTo>
                <a:lnTo>
                  <a:pt x="10" y="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47" name="Freeform 417"/>
          <p:cNvSpPr>
            <a:spLocks/>
          </p:cNvSpPr>
          <p:nvPr/>
        </p:nvSpPr>
        <p:spPr bwMode="auto">
          <a:xfrm>
            <a:off x="3813175" y="4496971"/>
            <a:ext cx="128588" cy="122238"/>
          </a:xfrm>
          <a:custGeom>
            <a:avLst/>
            <a:gdLst>
              <a:gd name="T0" fmla="*/ 37224 w 29"/>
              <a:gd name="T1" fmla="*/ 52785 h 24"/>
              <a:gd name="T2" fmla="*/ 0 w 29"/>
              <a:gd name="T3" fmla="*/ 37703 h 24"/>
              <a:gd name="T4" fmla="*/ 3722 w 29"/>
              <a:gd name="T5" fmla="*/ 37703 h 24"/>
              <a:gd name="T6" fmla="*/ 55836 w 29"/>
              <a:gd name="T7" fmla="*/ 22622 h 24"/>
              <a:gd name="T8" fmla="*/ 107950 w 29"/>
              <a:gd name="T9" fmla="*/ 0 h 24"/>
              <a:gd name="T10" fmla="*/ 70726 w 29"/>
              <a:gd name="T11" fmla="*/ 45244 h 24"/>
              <a:gd name="T12" fmla="*/ 40947 w 29"/>
              <a:gd name="T13" fmla="*/ 90488 h 24"/>
              <a:gd name="T14" fmla="*/ 37224 w 29"/>
              <a:gd name="T15" fmla="*/ 90488 h 24"/>
              <a:gd name="T16" fmla="*/ 37224 w 29"/>
              <a:gd name="T17" fmla="*/ 52785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"/>
              <a:gd name="T28" fmla="*/ 0 h 24"/>
              <a:gd name="T29" fmla="*/ 29 w 29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" h="24">
                <a:moveTo>
                  <a:pt x="10" y="14"/>
                </a:moveTo>
                <a:cubicBezTo>
                  <a:pt x="0" y="10"/>
                  <a:pt x="0" y="10"/>
                  <a:pt x="0" y="10"/>
                </a:cubicBezTo>
                <a:cubicBezTo>
                  <a:pt x="1" y="10"/>
                  <a:pt x="1" y="10"/>
                  <a:pt x="1" y="10"/>
                </a:cubicBezTo>
                <a:cubicBezTo>
                  <a:pt x="15" y="6"/>
                  <a:pt x="15" y="6"/>
                  <a:pt x="15" y="6"/>
                </a:cubicBezTo>
                <a:cubicBezTo>
                  <a:pt x="20" y="4"/>
                  <a:pt x="25" y="2"/>
                  <a:pt x="29" y="0"/>
                </a:cubicBezTo>
                <a:cubicBezTo>
                  <a:pt x="26" y="4"/>
                  <a:pt x="22" y="8"/>
                  <a:pt x="19" y="12"/>
                </a:cubicBezTo>
                <a:cubicBezTo>
                  <a:pt x="11" y="24"/>
                  <a:pt x="11" y="24"/>
                  <a:pt x="11" y="24"/>
                </a:cubicBezTo>
                <a:cubicBezTo>
                  <a:pt x="10" y="24"/>
                  <a:pt x="10" y="24"/>
                  <a:pt x="10" y="24"/>
                </a:cubicBezTo>
                <a:lnTo>
                  <a:pt x="10" y="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48" name="Freeform 418"/>
          <p:cNvSpPr>
            <a:spLocks/>
          </p:cNvSpPr>
          <p:nvPr/>
        </p:nvSpPr>
        <p:spPr bwMode="auto">
          <a:xfrm>
            <a:off x="3687763" y="4603334"/>
            <a:ext cx="128587" cy="120650"/>
          </a:xfrm>
          <a:custGeom>
            <a:avLst/>
            <a:gdLst>
              <a:gd name="T0" fmla="*/ 33502 w 29"/>
              <a:gd name="T1" fmla="*/ 48154 h 24"/>
              <a:gd name="T2" fmla="*/ 0 w 29"/>
              <a:gd name="T3" fmla="*/ 33338 h 24"/>
              <a:gd name="T4" fmla="*/ 0 w 29"/>
              <a:gd name="T5" fmla="*/ 33338 h 24"/>
              <a:gd name="T6" fmla="*/ 55836 w 29"/>
              <a:gd name="T7" fmla="*/ 18521 h 24"/>
              <a:gd name="T8" fmla="*/ 107950 w 29"/>
              <a:gd name="T9" fmla="*/ 0 h 24"/>
              <a:gd name="T10" fmla="*/ 70726 w 29"/>
              <a:gd name="T11" fmla="*/ 40746 h 24"/>
              <a:gd name="T12" fmla="*/ 40947 w 29"/>
              <a:gd name="T13" fmla="*/ 88900 h 24"/>
              <a:gd name="T14" fmla="*/ 37224 w 29"/>
              <a:gd name="T15" fmla="*/ 88900 h 24"/>
              <a:gd name="T16" fmla="*/ 33502 w 29"/>
              <a:gd name="T17" fmla="*/ 48154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"/>
              <a:gd name="T28" fmla="*/ 0 h 24"/>
              <a:gd name="T29" fmla="*/ 29 w 29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" h="24">
                <a:moveTo>
                  <a:pt x="9" y="13"/>
                </a:moveTo>
                <a:cubicBezTo>
                  <a:pt x="0" y="9"/>
                  <a:pt x="0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15" y="5"/>
                  <a:pt x="15" y="5"/>
                  <a:pt x="15" y="5"/>
                </a:cubicBezTo>
                <a:cubicBezTo>
                  <a:pt x="20" y="4"/>
                  <a:pt x="24" y="2"/>
                  <a:pt x="29" y="0"/>
                </a:cubicBezTo>
                <a:cubicBezTo>
                  <a:pt x="26" y="3"/>
                  <a:pt x="22" y="7"/>
                  <a:pt x="19" y="11"/>
                </a:cubicBezTo>
                <a:cubicBezTo>
                  <a:pt x="11" y="24"/>
                  <a:pt x="11" y="24"/>
                  <a:pt x="11" y="24"/>
                </a:cubicBezTo>
                <a:cubicBezTo>
                  <a:pt x="10" y="24"/>
                  <a:pt x="10" y="24"/>
                  <a:pt x="10" y="24"/>
                </a:cubicBezTo>
                <a:lnTo>
                  <a:pt x="9" y="1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49" name="Rectangle 421"/>
          <p:cNvSpPr>
            <a:spLocks noChangeArrowheads="1"/>
          </p:cNvSpPr>
          <p:nvPr/>
        </p:nvSpPr>
        <p:spPr bwMode="auto">
          <a:xfrm>
            <a:off x="3930650" y="5555834"/>
            <a:ext cx="36154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53" name="Rectangle 434"/>
          <p:cNvSpPr>
            <a:spLocks noChangeArrowheads="1"/>
          </p:cNvSpPr>
          <p:nvPr/>
        </p:nvSpPr>
        <p:spPr bwMode="auto">
          <a:xfrm>
            <a:off x="2493963" y="4711284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57" name="Rectangle 65"/>
          <p:cNvSpPr>
            <a:spLocks noChangeArrowheads="1"/>
          </p:cNvSpPr>
          <p:nvPr/>
        </p:nvSpPr>
        <p:spPr bwMode="auto">
          <a:xfrm>
            <a:off x="5181600" y="5986046"/>
            <a:ext cx="1447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45858" name="Rectangle 66"/>
          <p:cNvSpPr>
            <a:spLocks noChangeArrowheads="1"/>
          </p:cNvSpPr>
          <p:nvPr/>
        </p:nvSpPr>
        <p:spPr bwMode="auto">
          <a:xfrm>
            <a:off x="457200" y="2328446"/>
            <a:ext cx="23622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grpSp>
        <p:nvGrpSpPr>
          <p:cNvPr id="545866" name="Group 74"/>
          <p:cNvGrpSpPr>
            <a:grpSpLocks/>
          </p:cNvGrpSpPr>
          <p:nvPr/>
        </p:nvGrpSpPr>
        <p:grpSpPr bwMode="auto">
          <a:xfrm>
            <a:off x="4037013" y="4081047"/>
            <a:ext cx="4192656" cy="1570038"/>
            <a:chOff x="4127" y="1968"/>
            <a:chExt cx="2806" cy="989"/>
          </a:xfrm>
        </p:grpSpPr>
        <p:sp>
          <p:nvSpPr>
            <p:cNvPr id="545867" name="Line 329"/>
            <p:cNvSpPr>
              <a:spLocks noChangeShapeType="1"/>
            </p:cNvSpPr>
            <p:nvPr/>
          </p:nvSpPr>
          <p:spPr bwMode="auto">
            <a:xfrm flipH="1" flipV="1">
              <a:off x="4127" y="2218"/>
              <a:ext cx="1531" cy="95"/>
            </a:xfrm>
            <a:prstGeom prst="line">
              <a:avLst/>
            </a:prstGeom>
            <a:noFill/>
            <a:ln w="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entury Gothic"/>
                <a:cs typeface="Century Gothic"/>
              </a:endParaRPr>
            </a:p>
          </p:txBody>
        </p:sp>
        <p:sp>
          <p:nvSpPr>
            <p:cNvPr id="545868" name="Freeform 347"/>
            <p:cNvSpPr>
              <a:spLocks/>
            </p:cNvSpPr>
            <p:nvPr/>
          </p:nvSpPr>
          <p:spPr bwMode="auto">
            <a:xfrm>
              <a:off x="5658" y="1968"/>
              <a:ext cx="1224" cy="981"/>
            </a:xfrm>
            <a:custGeom>
              <a:avLst/>
              <a:gdLst>
                <a:gd name="T0" fmla="*/ 1081088 w 288"/>
                <a:gd name="T1" fmla="*/ 577979 h 173"/>
                <a:gd name="T2" fmla="*/ 1017274 w 288"/>
                <a:gd name="T3" fmla="*/ 649288 h 173"/>
                <a:gd name="T4" fmla="*/ 63814 w 288"/>
                <a:gd name="T5" fmla="*/ 649288 h 173"/>
                <a:gd name="T6" fmla="*/ 0 w 288"/>
                <a:gd name="T7" fmla="*/ 577979 h 173"/>
                <a:gd name="T8" fmla="*/ 0 w 288"/>
                <a:gd name="T9" fmla="*/ 71309 h 173"/>
                <a:gd name="T10" fmla="*/ 63814 w 288"/>
                <a:gd name="T11" fmla="*/ 0 h 173"/>
                <a:gd name="T12" fmla="*/ 1017274 w 288"/>
                <a:gd name="T13" fmla="*/ 0 h 173"/>
                <a:gd name="T14" fmla="*/ 1081088 w 288"/>
                <a:gd name="T15" fmla="*/ 71309 h 173"/>
                <a:gd name="T16" fmla="*/ 1081088 w 288"/>
                <a:gd name="T17" fmla="*/ 577979 h 1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88"/>
                <a:gd name="T28" fmla="*/ 0 h 173"/>
                <a:gd name="T29" fmla="*/ 288 w 288"/>
                <a:gd name="T30" fmla="*/ 173 h 17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88" h="173">
                  <a:moveTo>
                    <a:pt x="288" y="154"/>
                  </a:moveTo>
                  <a:cubicBezTo>
                    <a:pt x="288" y="165"/>
                    <a:pt x="280" y="173"/>
                    <a:pt x="271" y="173"/>
                  </a:cubicBezTo>
                  <a:cubicBezTo>
                    <a:pt x="17" y="173"/>
                    <a:pt x="17" y="173"/>
                    <a:pt x="17" y="173"/>
                  </a:cubicBezTo>
                  <a:cubicBezTo>
                    <a:pt x="7" y="173"/>
                    <a:pt x="0" y="165"/>
                    <a:pt x="0" y="15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7" y="0"/>
                    <a:pt x="17" y="0"/>
                  </a:cubicBezTo>
                  <a:cubicBezTo>
                    <a:pt x="271" y="0"/>
                    <a:pt x="271" y="0"/>
                    <a:pt x="271" y="0"/>
                  </a:cubicBezTo>
                  <a:cubicBezTo>
                    <a:pt x="280" y="0"/>
                    <a:pt x="288" y="9"/>
                    <a:pt x="288" y="19"/>
                  </a:cubicBezTo>
                  <a:lnTo>
                    <a:pt x="288" y="154"/>
                  </a:lnTo>
                  <a:close/>
                </a:path>
              </a:pathLst>
            </a:custGeom>
            <a:solidFill>
              <a:srgbClr val="D7E2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en-US" sz="140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sp>
          <p:nvSpPr>
            <p:cNvPr id="545869" name="Rectangle 77"/>
            <p:cNvSpPr>
              <a:spLocks noChangeArrowheads="1"/>
            </p:cNvSpPr>
            <p:nvPr/>
          </p:nvSpPr>
          <p:spPr bwMode="auto">
            <a:xfrm>
              <a:off x="5628" y="1968"/>
              <a:ext cx="1305" cy="9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...leads to a higher</a:t>
              </a:r>
            </a:p>
            <a:p>
              <a:pPr>
                <a:spcBef>
                  <a:spcPct val="0"/>
                </a:spcBef>
              </a:pP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aggregate price</a:t>
              </a:r>
            </a:p>
            <a:p>
              <a:pPr>
                <a:spcBef>
                  <a:spcPct val="0"/>
                </a:spcBef>
              </a:pP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level and higher</a:t>
              </a:r>
            </a:p>
            <a:p>
              <a:pPr>
                <a:spcBef>
                  <a:spcPct val="0"/>
                </a:spcBef>
              </a:pP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aggregate output.</a:t>
              </a:r>
            </a:p>
          </p:txBody>
        </p:sp>
      </p:grpSp>
      <p:sp>
        <p:nvSpPr>
          <p:cNvPr id="545871" name="Rectangle 79"/>
          <p:cNvSpPr>
            <a:spLocks noChangeArrowheads="1"/>
          </p:cNvSpPr>
          <p:nvPr/>
        </p:nvSpPr>
        <p:spPr bwMode="auto">
          <a:xfrm>
            <a:off x="1371600" y="1524000"/>
            <a:ext cx="71332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ＭＳ Ｐゴシック" pitchFamily="34" charset="-128"/>
                <a:cs typeface="Century Gothic"/>
              </a:rPr>
              <a:t>A positive demand shock: Total spending rises.</a:t>
            </a:r>
          </a:p>
        </p:txBody>
      </p:sp>
      <p:sp>
        <p:nvSpPr>
          <p:cNvPr id="545873" name="Line 81"/>
          <p:cNvSpPr>
            <a:spLocks noChangeShapeType="1"/>
          </p:cNvSpPr>
          <p:nvPr/>
        </p:nvSpPr>
        <p:spPr bwMode="auto">
          <a:xfrm flipH="1">
            <a:off x="2743200" y="4843046"/>
            <a:ext cx="8794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74" name="Line 82"/>
          <p:cNvSpPr>
            <a:spLocks noChangeShapeType="1"/>
          </p:cNvSpPr>
          <p:nvPr/>
        </p:nvSpPr>
        <p:spPr bwMode="auto">
          <a:xfrm flipH="1">
            <a:off x="3692525" y="4944646"/>
            <a:ext cx="0" cy="8858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77" name="Rectangle 336"/>
          <p:cNvSpPr>
            <a:spLocks noChangeArrowheads="1"/>
          </p:cNvSpPr>
          <p:nvPr/>
        </p:nvSpPr>
        <p:spPr bwMode="auto">
          <a:xfrm>
            <a:off x="4322763" y="4279484"/>
            <a:ext cx="18755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78" name="Oval 346"/>
          <p:cNvSpPr>
            <a:spLocks noChangeArrowheads="1"/>
          </p:cNvSpPr>
          <p:nvPr/>
        </p:nvSpPr>
        <p:spPr bwMode="auto">
          <a:xfrm>
            <a:off x="4194175" y="4309647"/>
            <a:ext cx="88900" cy="1016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80" name="Line 430"/>
          <p:cNvSpPr>
            <a:spLocks noChangeShapeType="1"/>
          </p:cNvSpPr>
          <p:nvPr/>
        </p:nvSpPr>
        <p:spPr bwMode="auto">
          <a:xfrm flipV="1">
            <a:off x="2581275" y="4566822"/>
            <a:ext cx="1587" cy="123825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81" name="Freeform 431"/>
          <p:cNvSpPr>
            <a:spLocks/>
          </p:cNvSpPr>
          <p:nvPr/>
        </p:nvSpPr>
        <p:spPr bwMode="auto">
          <a:xfrm>
            <a:off x="2554288" y="4501734"/>
            <a:ext cx="49212" cy="92075"/>
          </a:xfrm>
          <a:custGeom>
            <a:avLst/>
            <a:gdLst>
              <a:gd name="T0" fmla="*/ 22514 w 11"/>
              <a:gd name="T1" fmla="*/ 56886 h 18"/>
              <a:gd name="T2" fmla="*/ 0 w 11"/>
              <a:gd name="T3" fmla="*/ 68263 h 18"/>
              <a:gd name="T4" fmla="*/ 0 w 11"/>
              <a:gd name="T5" fmla="*/ 68263 h 18"/>
              <a:gd name="T6" fmla="*/ 15009 w 11"/>
              <a:gd name="T7" fmla="*/ 34132 h 18"/>
              <a:gd name="T8" fmla="*/ 22514 w 11"/>
              <a:gd name="T9" fmla="*/ 0 h 18"/>
              <a:gd name="T10" fmla="*/ 30018 w 11"/>
              <a:gd name="T11" fmla="*/ 34132 h 18"/>
              <a:gd name="T12" fmla="*/ 41275 w 11"/>
              <a:gd name="T13" fmla="*/ 68263 h 18"/>
              <a:gd name="T14" fmla="*/ 41275 w 11"/>
              <a:gd name="T15" fmla="*/ 68263 h 18"/>
              <a:gd name="T16" fmla="*/ 22514 w 11"/>
              <a:gd name="T17" fmla="*/ 56886 h 1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"/>
              <a:gd name="T28" fmla="*/ 0 h 18"/>
              <a:gd name="T29" fmla="*/ 11 w 11"/>
              <a:gd name="T30" fmla="*/ 18 h 1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" h="18">
                <a:moveTo>
                  <a:pt x="6" y="15"/>
                </a:moveTo>
                <a:cubicBezTo>
                  <a:pt x="0" y="18"/>
                  <a:pt x="0" y="18"/>
                  <a:pt x="0" y="18"/>
                </a:cubicBezTo>
                <a:cubicBezTo>
                  <a:pt x="0" y="18"/>
                  <a:pt x="0" y="18"/>
                  <a:pt x="0" y="18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5" y="3"/>
                  <a:pt x="6" y="0"/>
                </a:cubicBezTo>
                <a:cubicBezTo>
                  <a:pt x="6" y="3"/>
                  <a:pt x="7" y="6"/>
                  <a:pt x="8" y="9"/>
                </a:cubicBezTo>
                <a:cubicBezTo>
                  <a:pt x="11" y="18"/>
                  <a:pt x="11" y="18"/>
                  <a:pt x="11" y="18"/>
                </a:cubicBezTo>
                <a:cubicBezTo>
                  <a:pt x="11" y="18"/>
                  <a:pt x="11" y="18"/>
                  <a:pt x="11" y="18"/>
                </a:cubicBezTo>
                <a:lnTo>
                  <a:pt x="6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82" name="Rectangle 432"/>
          <p:cNvSpPr>
            <a:spLocks noChangeArrowheads="1"/>
          </p:cNvSpPr>
          <p:nvPr/>
        </p:nvSpPr>
        <p:spPr bwMode="auto">
          <a:xfrm>
            <a:off x="2493963" y="4260434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85" name="Line 249"/>
          <p:cNvSpPr>
            <a:spLocks noChangeShapeType="1"/>
          </p:cNvSpPr>
          <p:nvPr/>
        </p:nvSpPr>
        <p:spPr bwMode="auto">
          <a:xfrm>
            <a:off x="3859212" y="5992185"/>
            <a:ext cx="263525" cy="3175"/>
          </a:xfrm>
          <a:prstGeom prst="line">
            <a:avLst/>
          </a:prstGeom>
          <a:noFill/>
          <a:ln w="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86" name="Freeform 250"/>
          <p:cNvSpPr>
            <a:spLocks/>
          </p:cNvSpPr>
          <p:nvPr/>
        </p:nvSpPr>
        <p:spPr bwMode="auto">
          <a:xfrm>
            <a:off x="4046538" y="5978109"/>
            <a:ext cx="79375" cy="60325"/>
          </a:xfrm>
          <a:custGeom>
            <a:avLst/>
            <a:gdLst>
              <a:gd name="T0" fmla="*/ 11113 w 18"/>
              <a:gd name="T1" fmla="*/ 22225 h 12"/>
              <a:gd name="T2" fmla="*/ 0 w 18"/>
              <a:gd name="T3" fmla="*/ 40746 h 12"/>
              <a:gd name="T4" fmla="*/ 0 w 18"/>
              <a:gd name="T5" fmla="*/ 44450 h 12"/>
              <a:gd name="T6" fmla="*/ 33338 w 18"/>
              <a:gd name="T7" fmla="*/ 29633 h 12"/>
              <a:gd name="T8" fmla="*/ 66675 w 18"/>
              <a:gd name="T9" fmla="*/ 22225 h 12"/>
              <a:gd name="T10" fmla="*/ 33338 w 18"/>
              <a:gd name="T11" fmla="*/ 14817 h 12"/>
              <a:gd name="T12" fmla="*/ 0 w 18"/>
              <a:gd name="T13" fmla="*/ 0 h 12"/>
              <a:gd name="T14" fmla="*/ 0 w 18"/>
              <a:gd name="T15" fmla="*/ 3704 h 12"/>
              <a:gd name="T16" fmla="*/ 11113 w 18"/>
              <a:gd name="T17" fmla="*/ 22225 h 1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8"/>
              <a:gd name="T28" fmla="*/ 0 h 12"/>
              <a:gd name="T29" fmla="*/ 18 w 18"/>
              <a:gd name="T30" fmla="*/ 12 h 1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8" h="12">
                <a:moveTo>
                  <a:pt x="3" y="6"/>
                </a:moveTo>
                <a:cubicBezTo>
                  <a:pt x="0" y="11"/>
                  <a:pt x="0" y="11"/>
                  <a:pt x="0" y="11"/>
                </a:cubicBezTo>
                <a:cubicBezTo>
                  <a:pt x="0" y="12"/>
                  <a:pt x="0" y="12"/>
                  <a:pt x="0" y="12"/>
                </a:cubicBezTo>
                <a:cubicBezTo>
                  <a:pt x="9" y="8"/>
                  <a:pt x="9" y="8"/>
                  <a:pt x="9" y="8"/>
                </a:cubicBezTo>
                <a:cubicBezTo>
                  <a:pt x="12" y="7"/>
                  <a:pt x="15" y="7"/>
                  <a:pt x="18" y="6"/>
                </a:cubicBezTo>
                <a:cubicBezTo>
                  <a:pt x="15" y="5"/>
                  <a:pt x="12" y="5"/>
                  <a:pt x="9" y="4"/>
                </a:cubicBezTo>
                <a:cubicBezTo>
                  <a:pt x="0" y="0"/>
                  <a:pt x="0" y="0"/>
                  <a:pt x="0" y="0"/>
                </a:cubicBezTo>
                <a:cubicBezTo>
                  <a:pt x="0" y="1"/>
                  <a:pt x="0" y="1"/>
                  <a:pt x="0" y="1"/>
                </a:cubicBezTo>
                <a:lnTo>
                  <a:pt x="3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87" name="Rectangle 330"/>
          <p:cNvSpPr>
            <a:spLocks noChangeArrowheads="1"/>
          </p:cNvSpPr>
          <p:nvPr/>
        </p:nvSpPr>
        <p:spPr bwMode="auto">
          <a:xfrm>
            <a:off x="4137025" y="5879684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91" name="Rectangle 343"/>
          <p:cNvSpPr>
            <a:spLocks noChangeArrowheads="1"/>
          </p:cNvSpPr>
          <p:nvPr/>
        </p:nvSpPr>
        <p:spPr bwMode="auto">
          <a:xfrm>
            <a:off x="4578350" y="5171659"/>
            <a:ext cx="36154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94" name="Freeform 373"/>
          <p:cNvSpPr>
            <a:spLocks/>
          </p:cNvSpPr>
          <p:nvPr/>
        </p:nvSpPr>
        <p:spPr bwMode="auto">
          <a:xfrm>
            <a:off x="4572000" y="2361784"/>
            <a:ext cx="2133600" cy="609600"/>
          </a:xfrm>
          <a:custGeom>
            <a:avLst/>
            <a:gdLst>
              <a:gd name="T0" fmla="*/ 933450 w 249"/>
              <a:gd name="T1" fmla="*/ 277898 h 93"/>
              <a:gd name="T2" fmla="*/ 869720 w 249"/>
              <a:gd name="T3" fmla="*/ 349250 h 93"/>
              <a:gd name="T4" fmla="*/ 67478 w 249"/>
              <a:gd name="T5" fmla="*/ 349250 h 93"/>
              <a:gd name="T6" fmla="*/ 0 w 249"/>
              <a:gd name="T7" fmla="*/ 277898 h 93"/>
              <a:gd name="T8" fmla="*/ 0 w 249"/>
              <a:gd name="T9" fmla="*/ 71352 h 93"/>
              <a:gd name="T10" fmla="*/ 67478 w 249"/>
              <a:gd name="T11" fmla="*/ 0 h 93"/>
              <a:gd name="T12" fmla="*/ 869720 w 249"/>
              <a:gd name="T13" fmla="*/ 0 h 93"/>
              <a:gd name="T14" fmla="*/ 933450 w 249"/>
              <a:gd name="T15" fmla="*/ 71352 h 93"/>
              <a:gd name="T16" fmla="*/ 933450 w 249"/>
              <a:gd name="T17" fmla="*/ 277898 h 9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49"/>
              <a:gd name="T28" fmla="*/ 0 h 93"/>
              <a:gd name="T29" fmla="*/ 249 w 249"/>
              <a:gd name="T30" fmla="*/ 93 h 9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49" h="93">
                <a:moveTo>
                  <a:pt x="249" y="74"/>
                </a:moveTo>
                <a:cubicBezTo>
                  <a:pt x="249" y="85"/>
                  <a:pt x="242" y="93"/>
                  <a:pt x="232" y="93"/>
                </a:cubicBezTo>
                <a:cubicBezTo>
                  <a:pt x="18" y="93"/>
                  <a:pt x="18" y="93"/>
                  <a:pt x="18" y="93"/>
                </a:cubicBezTo>
                <a:cubicBezTo>
                  <a:pt x="8" y="93"/>
                  <a:pt x="0" y="85"/>
                  <a:pt x="0" y="74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8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42" y="0"/>
                  <a:pt x="249" y="9"/>
                  <a:pt x="249" y="19"/>
                </a:cubicBezTo>
                <a:lnTo>
                  <a:pt x="249" y="74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5897" name="Rectangle 105"/>
          <p:cNvSpPr>
            <a:spLocks noChangeArrowheads="1"/>
          </p:cNvSpPr>
          <p:nvPr/>
        </p:nvSpPr>
        <p:spPr bwMode="auto">
          <a:xfrm>
            <a:off x="4572000" y="2361784"/>
            <a:ext cx="2057400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 positive demand shock...</a:t>
            </a:r>
          </a:p>
        </p:txBody>
      </p:sp>
      <p:sp>
        <p:nvSpPr>
          <p:cNvPr id="545898" name="Line 106"/>
          <p:cNvSpPr>
            <a:spLocks noChangeShapeType="1"/>
          </p:cNvSpPr>
          <p:nvPr/>
        </p:nvSpPr>
        <p:spPr bwMode="auto">
          <a:xfrm flipH="1">
            <a:off x="2735263" y="4344572"/>
            <a:ext cx="1420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899" name="Line 107"/>
          <p:cNvSpPr>
            <a:spLocks noChangeShapeType="1"/>
          </p:cNvSpPr>
          <p:nvPr/>
        </p:nvSpPr>
        <p:spPr bwMode="auto">
          <a:xfrm>
            <a:off x="4232275" y="4447759"/>
            <a:ext cx="0" cy="13779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5903" name="Rectangle 111"/>
          <p:cNvSpPr>
            <a:spLocks noGrp="1" noRot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>
            <a:noAutofit/>
          </a:bodyPr>
          <a:lstStyle/>
          <a:p>
            <a:r>
              <a:rPr lang="en-US" sz="4000" spc="0" dirty="0"/>
              <a:t>SHIFTS OF AGGREGATE DEMAND: SHORT-RUN EFFECTS</a:t>
            </a:r>
          </a:p>
        </p:txBody>
      </p:sp>
    </p:spTree>
    <p:extLst>
      <p:ext uri="{BB962C8B-B14F-4D97-AF65-F5344CB8AC3E}">
        <p14:creationId xmlns:p14="http://schemas.microsoft.com/office/powerpoint/2010/main" val="364300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833 0.07222 L 0.0033 0.00277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5458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73" y="-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5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4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4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45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4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4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4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890" grpId="0" animBg="1"/>
      <p:bldP spid="545890" grpId="1" animBg="1"/>
      <p:bldP spid="545845" grpId="0" animBg="1"/>
      <p:bldP spid="545846" grpId="0" animBg="1"/>
      <p:bldP spid="545847" grpId="0" animBg="1"/>
      <p:bldP spid="545848" grpId="0" animBg="1"/>
      <p:bldP spid="545877" grpId="0"/>
      <p:bldP spid="545878" grpId="0" animBg="1"/>
      <p:bldP spid="545880" grpId="0" animBg="1"/>
      <p:bldP spid="545881" grpId="0" animBg="1"/>
      <p:bldP spid="545882" grpId="0"/>
      <p:bldP spid="545885" grpId="0" animBg="1"/>
      <p:bldP spid="545887" grpId="0"/>
      <p:bldP spid="545891" grpId="0"/>
      <p:bldP spid="545898" grpId="0" animBg="1"/>
      <p:bldP spid="54589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Line 47"/>
          <p:cNvSpPr>
            <a:spLocks noChangeShapeType="1"/>
          </p:cNvSpPr>
          <p:nvPr/>
        </p:nvSpPr>
        <p:spPr bwMode="auto">
          <a:xfrm flipV="1">
            <a:off x="2835274" y="2810930"/>
            <a:ext cx="2727326" cy="2587624"/>
          </a:xfrm>
          <a:prstGeom prst="line">
            <a:avLst/>
          </a:prstGeom>
          <a:noFill/>
          <a:ln w="38100">
            <a:solidFill>
              <a:srgbClr val="FAC0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99" name="Line 243"/>
          <p:cNvSpPr>
            <a:spLocks noChangeShapeType="1"/>
          </p:cNvSpPr>
          <p:nvPr/>
        </p:nvSpPr>
        <p:spPr bwMode="auto">
          <a:xfrm flipV="1">
            <a:off x="3318933" y="3254085"/>
            <a:ext cx="2570162" cy="2403930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842" name="Freeform 347"/>
          <p:cNvSpPr>
            <a:spLocks/>
          </p:cNvSpPr>
          <p:nvPr/>
        </p:nvSpPr>
        <p:spPr bwMode="auto">
          <a:xfrm>
            <a:off x="6477000" y="4264024"/>
            <a:ext cx="1905000" cy="1527175"/>
          </a:xfrm>
          <a:custGeom>
            <a:avLst/>
            <a:gdLst>
              <a:gd name="T0" fmla="*/ 1081088 w 288"/>
              <a:gd name="T1" fmla="*/ 577979 h 173"/>
              <a:gd name="T2" fmla="*/ 1017274 w 288"/>
              <a:gd name="T3" fmla="*/ 649288 h 173"/>
              <a:gd name="T4" fmla="*/ 63814 w 288"/>
              <a:gd name="T5" fmla="*/ 649288 h 173"/>
              <a:gd name="T6" fmla="*/ 0 w 288"/>
              <a:gd name="T7" fmla="*/ 577979 h 173"/>
              <a:gd name="T8" fmla="*/ 0 w 288"/>
              <a:gd name="T9" fmla="*/ 71309 h 173"/>
              <a:gd name="T10" fmla="*/ 63814 w 288"/>
              <a:gd name="T11" fmla="*/ 0 h 173"/>
              <a:gd name="T12" fmla="*/ 1017274 w 288"/>
              <a:gd name="T13" fmla="*/ 0 h 173"/>
              <a:gd name="T14" fmla="*/ 1081088 w 288"/>
              <a:gd name="T15" fmla="*/ 71309 h 173"/>
              <a:gd name="T16" fmla="*/ 1081088 w 288"/>
              <a:gd name="T17" fmla="*/ 577979 h 17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88"/>
              <a:gd name="T28" fmla="*/ 0 h 173"/>
              <a:gd name="T29" fmla="*/ 288 w 288"/>
              <a:gd name="T30" fmla="*/ 173 h 17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88" h="173">
                <a:moveTo>
                  <a:pt x="288" y="154"/>
                </a:moveTo>
                <a:cubicBezTo>
                  <a:pt x="288" y="165"/>
                  <a:pt x="280" y="173"/>
                  <a:pt x="271" y="173"/>
                </a:cubicBezTo>
                <a:cubicBezTo>
                  <a:pt x="17" y="173"/>
                  <a:pt x="17" y="173"/>
                  <a:pt x="17" y="173"/>
                </a:cubicBezTo>
                <a:cubicBezTo>
                  <a:pt x="7" y="173"/>
                  <a:pt x="0" y="165"/>
                  <a:pt x="0" y="154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7" y="0"/>
                  <a:pt x="17" y="0"/>
                </a:cubicBezTo>
                <a:cubicBezTo>
                  <a:pt x="271" y="0"/>
                  <a:pt x="271" y="0"/>
                  <a:pt x="271" y="0"/>
                </a:cubicBezTo>
                <a:cubicBezTo>
                  <a:pt x="280" y="0"/>
                  <a:pt x="288" y="9"/>
                  <a:pt x="288" y="19"/>
                </a:cubicBezTo>
                <a:lnTo>
                  <a:pt x="288" y="154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59" name="Rectangle 19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SHIFTS OF THE </a:t>
            </a:r>
            <a:r>
              <a:rPr lang="en-US" sz="4000" i="1" spc="0" dirty="0"/>
              <a:t>SRAS</a:t>
            </a:r>
            <a:r>
              <a:rPr lang="en-US" sz="4000" spc="0" dirty="0"/>
              <a:t> CURVE</a:t>
            </a:r>
          </a:p>
        </p:txBody>
      </p:sp>
      <p:sp>
        <p:nvSpPr>
          <p:cNvPr id="547886" name="Rectangle 253"/>
          <p:cNvSpPr>
            <a:spLocks noChangeArrowheads="1"/>
          </p:cNvSpPr>
          <p:nvPr/>
        </p:nvSpPr>
        <p:spPr bwMode="auto">
          <a:xfrm>
            <a:off x="3962400" y="5864225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89" name="Line 242"/>
          <p:cNvSpPr>
            <a:spLocks noChangeShapeType="1"/>
          </p:cNvSpPr>
          <p:nvPr/>
        </p:nvSpPr>
        <p:spPr bwMode="auto">
          <a:xfrm flipH="1" flipV="1">
            <a:off x="3352798" y="2968623"/>
            <a:ext cx="1251215" cy="2457451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890" name="Rectangle 419"/>
          <p:cNvSpPr>
            <a:spLocks noChangeArrowheads="1"/>
          </p:cNvSpPr>
          <p:nvPr/>
        </p:nvSpPr>
        <p:spPr bwMode="auto">
          <a:xfrm>
            <a:off x="4572000" y="5426075"/>
            <a:ext cx="30320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91" name="Line 51"/>
          <p:cNvSpPr>
            <a:spLocks noChangeShapeType="1"/>
          </p:cNvSpPr>
          <p:nvPr/>
        </p:nvSpPr>
        <p:spPr bwMode="auto">
          <a:xfrm flipH="1">
            <a:off x="4019550" y="4340225"/>
            <a:ext cx="0" cy="14351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892" name="Freeform 245"/>
          <p:cNvSpPr>
            <a:spLocks/>
          </p:cNvSpPr>
          <p:nvPr/>
        </p:nvSpPr>
        <p:spPr bwMode="auto">
          <a:xfrm>
            <a:off x="2530475" y="2663825"/>
            <a:ext cx="3405188" cy="3124200"/>
          </a:xfrm>
          <a:custGeom>
            <a:avLst/>
            <a:gdLst>
              <a:gd name="T0" fmla="*/ 2852738 w 1797"/>
              <a:gd name="T1" fmla="*/ 2309813 h 1455"/>
              <a:gd name="T2" fmla="*/ 0 w 1797"/>
              <a:gd name="T3" fmla="*/ 2309813 h 1455"/>
              <a:gd name="T4" fmla="*/ 0 w 1797"/>
              <a:gd name="T5" fmla="*/ 0 h 1455"/>
              <a:gd name="T6" fmla="*/ 0 60000 65536"/>
              <a:gd name="T7" fmla="*/ 0 60000 65536"/>
              <a:gd name="T8" fmla="*/ 0 60000 65536"/>
              <a:gd name="T9" fmla="*/ 0 w 1797"/>
              <a:gd name="T10" fmla="*/ 0 h 1455"/>
              <a:gd name="T11" fmla="*/ 1797 w 1797"/>
              <a:gd name="T12" fmla="*/ 1455 h 14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97" h="1455">
                <a:moveTo>
                  <a:pt x="1797" y="1455"/>
                </a:moveTo>
                <a:lnTo>
                  <a:pt x="0" y="1455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93" name="Rectangle 257"/>
          <p:cNvSpPr>
            <a:spLocks noChangeArrowheads="1"/>
          </p:cNvSpPr>
          <p:nvPr/>
        </p:nvSpPr>
        <p:spPr bwMode="auto">
          <a:xfrm>
            <a:off x="4419600" y="4645025"/>
            <a:ext cx="18755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94" name="Rectangle 258"/>
          <p:cNvSpPr>
            <a:spLocks noChangeArrowheads="1"/>
          </p:cNvSpPr>
          <p:nvPr/>
        </p:nvSpPr>
        <p:spPr bwMode="auto">
          <a:xfrm flipH="1">
            <a:off x="4495800" y="4721225"/>
            <a:ext cx="15240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 </a:t>
            </a:r>
            <a:endParaRPr lang="en-US" sz="14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95" name="Rectangle 259"/>
          <p:cNvSpPr>
            <a:spLocks noChangeArrowheads="1"/>
          </p:cNvSpPr>
          <p:nvPr/>
        </p:nvSpPr>
        <p:spPr bwMode="auto">
          <a:xfrm>
            <a:off x="3967163" y="3862388"/>
            <a:ext cx="18755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97" name="Oval 267"/>
          <p:cNvSpPr>
            <a:spLocks noChangeArrowheads="1"/>
          </p:cNvSpPr>
          <p:nvPr/>
        </p:nvSpPr>
        <p:spPr bwMode="auto">
          <a:xfrm>
            <a:off x="3976688" y="4241800"/>
            <a:ext cx="88900" cy="1016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98" name="Rectangle 426"/>
          <p:cNvSpPr>
            <a:spLocks noChangeArrowheads="1"/>
          </p:cNvSpPr>
          <p:nvPr/>
        </p:nvSpPr>
        <p:spPr bwMode="auto">
          <a:xfrm>
            <a:off x="2266950" y="4090988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900" name="Rectangle 60"/>
          <p:cNvSpPr>
            <a:spLocks noChangeArrowheads="1"/>
          </p:cNvSpPr>
          <p:nvPr/>
        </p:nvSpPr>
        <p:spPr bwMode="auto">
          <a:xfrm>
            <a:off x="5105400" y="5864225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47901" name="Rectangle 61"/>
          <p:cNvSpPr>
            <a:spLocks noChangeArrowheads="1"/>
          </p:cNvSpPr>
          <p:nvPr/>
        </p:nvSpPr>
        <p:spPr bwMode="auto">
          <a:xfrm>
            <a:off x="1371600" y="2054225"/>
            <a:ext cx="15478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47903" name="Line 63"/>
          <p:cNvSpPr>
            <a:spLocks noChangeShapeType="1"/>
          </p:cNvSpPr>
          <p:nvPr/>
        </p:nvSpPr>
        <p:spPr bwMode="auto">
          <a:xfrm flipH="1">
            <a:off x="2541588" y="4276725"/>
            <a:ext cx="14208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906" name="Rectangle 428"/>
          <p:cNvSpPr>
            <a:spLocks noChangeArrowheads="1"/>
          </p:cNvSpPr>
          <p:nvPr/>
        </p:nvSpPr>
        <p:spPr bwMode="auto">
          <a:xfrm>
            <a:off x="2266950" y="4700588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908" name="Line 247"/>
          <p:cNvSpPr>
            <a:spLocks noChangeShapeType="1"/>
          </p:cNvSpPr>
          <p:nvPr/>
        </p:nvSpPr>
        <p:spPr bwMode="auto">
          <a:xfrm flipV="1">
            <a:off x="4038600" y="6245225"/>
            <a:ext cx="300038" cy="3175"/>
          </a:xfrm>
          <a:prstGeom prst="line">
            <a:avLst/>
          </a:prstGeom>
          <a:noFill/>
          <a:ln w="0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909" name="Rectangle 251"/>
          <p:cNvSpPr>
            <a:spLocks noChangeArrowheads="1"/>
          </p:cNvSpPr>
          <p:nvPr/>
        </p:nvSpPr>
        <p:spPr bwMode="auto">
          <a:xfrm>
            <a:off x="4248150" y="5843588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911" name="Line 71"/>
          <p:cNvSpPr>
            <a:spLocks noChangeShapeType="1"/>
          </p:cNvSpPr>
          <p:nvPr/>
        </p:nvSpPr>
        <p:spPr bwMode="auto">
          <a:xfrm>
            <a:off x="4267200" y="4797425"/>
            <a:ext cx="0" cy="10144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912" name="Oval 345"/>
          <p:cNvSpPr>
            <a:spLocks noChangeArrowheads="1"/>
          </p:cNvSpPr>
          <p:nvPr/>
        </p:nvSpPr>
        <p:spPr bwMode="auto">
          <a:xfrm>
            <a:off x="4228042" y="4729692"/>
            <a:ext cx="88900" cy="1000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913" name="Line 73"/>
          <p:cNvSpPr>
            <a:spLocks noChangeShapeType="1"/>
          </p:cNvSpPr>
          <p:nvPr/>
        </p:nvSpPr>
        <p:spPr bwMode="auto">
          <a:xfrm flipH="1">
            <a:off x="2590800" y="4780491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915" name="Line 247"/>
          <p:cNvSpPr>
            <a:spLocks noChangeShapeType="1"/>
          </p:cNvSpPr>
          <p:nvPr/>
        </p:nvSpPr>
        <p:spPr bwMode="auto">
          <a:xfrm rot="5400000">
            <a:off x="2060575" y="4489450"/>
            <a:ext cx="300038" cy="3175"/>
          </a:xfrm>
          <a:prstGeom prst="line">
            <a:avLst/>
          </a:prstGeom>
          <a:noFill/>
          <a:ln w="0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grpSp>
        <p:nvGrpSpPr>
          <p:cNvPr id="547918" name="Group 78"/>
          <p:cNvGrpSpPr>
            <a:grpSpLocks/>
          </p:cNvGrpSpPr>
          <p:nvPr/>
        </p:nvGrpSpPr>
        <p:grpSpPr bwMode="auto">
          <a:xfrm rot="10800000">
            <a:off x="4114800" y="4187825"/>
            <a:ext cx="295275" cy="409575"/>
            <a:chOff x="3031" y="3511"/>
            <a:chExt cx="186" cy="258"/>
          </a:xfrm>
        </p:grpSpPr>
        <p:sp>
          <p:nvSpPr>
            <p:cNvPr id="547919" name="Freeform 412"/>
            <p:cNvSpPr>
              <a:spLocks/>
            </p:cNvSpPr>
            <p:nvPr/>
          </p:nvSpPr>
          <p:spPr bwMode="auto">
            <a:xfrm rot="6365449">
              <a:off x="3031" y="3511"/>
              <a:ext cx="79" cy="80"/>
            </a:xfrm>
            <a:custGeom>
              <a:avLst/>
              <a:gdLst>
                <a:gd name="T0" fmla="*/ 67355 w 28"/>
                <a:gd name="T1" fmla="*/ 37465 h 25"/>
                <a:gd name="T2" fmla="*/ 104775 w 28"/>
                <a:gd name="T3" fmla="*/ 52451 h 25"/>
                <a:gd name="T4" fmla="*/ 104775 w 28"/>
                <a:gd name="T5" fmla="*/ 52451 h 25"/>
                <a:gd name="T6" fmla="*/ 48646 w 28"/>
                <a:gd name="T7" fmla="*/ 71184 h 25"/>
                <a:gd name="T8" fmla="*/ 0 w 28"/>
                <a:gd name="T9" fmla="*/ 93663 h 25"/>
                <a:gd name="T10" fmla="*/ 33678 w 28"/>
                <a:gd name="T11" fmla="*/ 52451 h 25"/>
                <a:gd name="T12" fmla="*/ 59871 w 28"/>
                <a:gd name="T13" fmla="*/ 0 h 25"/>
                <a:gd name="T14" fmla="*/ 63613 w 28"/>
                <a:gd name="T15" fmla="*/ 0 h 25"/>
                <a:gd name="T16" fmla="*/ 67355 w 28"/>
                <a:gd name="T17" fmla="*/ 37465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8"/>
                <a:gd name="T28" fmla="*/ 0 h 25"/>
                <a:gd name="T29" fmla="*/ 28 w 28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8" h="25">
                  <a:moveTo>
                    <a:pt x="18" y="10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9" y="21"/>
                    <a:pt x="4" y="23"/>
                    <a:pt x="0" y="25"/>
                  </a:cubicBezTo>
                  <a:cubicBezTo>
                    <a:pt x="3" y="21"/>
                    <a:pt x="6" y="18"/>
                    <a:pt x="9" y="1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18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/>
            <a:lstStyle/>
            <a:p>
              <a:pPr>
                <a:spcBef>
                  <a:spcPct val="0"/>
                </a:spcBef>
              </a:pPr>
              <a:endParaRPr lang="en-US" sz="140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grpSp>
          <p:nvGrpSpPr>
            <p:cNvPr id="547920" name="Group 80"/>
            <p:cNvGrpSpPr>
              <a:grpSpLocks/>
            </p:cNvGrpSpPr>
            <p:nvPr/>
          </p:nvGrpSpPr>
          <p:grpSpPr bwMode="auto">
            <a:xfrm>
              <a:off x="3041" y="3577"/>
              <a:ext cx="176" cy="192"/>
              <a:chOff x="3041" y="3577"/>
              <a:chExt cx="176" cy="192"/>
            </a:xfrm>
          </p:grpSpPr>
          <p:sp>
            <p:nvSpPr>
              <p:cNvPr id="547921" name="Line 411"/>
              <p:cNvSpPr>
                <a:spLocks noChangeShapeType="1"/>
              </p:cNvSpPr>
              <p:nvPr/>
            </p:nvSpPr>
            <p:spPr bwMode="auto">
              <a:xfrm rot="6365449" flipH="1">
                <a:off x="3033" y="3585"/>
                <a:ext cx="192" cy="176"/>
              </a:xfrm>
              <a:prstGeom prst="line">
                <a:avLst/>
              </a:prstGeom>
              <a:noFill/>
              <a:ln w="19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547922" name="Freeform 413"/>
              <p:cNvSpPr>
                <a:spLocks/>
              </p:cNvSpPr>
              <p:nvPr/>
            </p:nvSpPr>
            <p:spPr bwMode="auto">
              <a:xfrm rot="6365449">
                <a:off x="3076" y="3600"/>
                <a:ext cx="79" cy="80"/>
              </a:xfrm>
              <a:custGeom>
                <a:avLst/>
                <a:gdLst>
                  <a:gd name="T0" fmla="*/ 71097 w 28"/>
                  <a:gd name="T1" fmla="*/ 37465 h 25"/>
                  <a:gd name="T2" fmla="*/ 104775 w 28"/>
                  <a:gd name="T3" fmla="*/ 48705 h 25"/>
                  <a:gd name="T4" fmla="*/ 104775 w 28"/>
                  <a:gd name="T5" fmla="*/ 48705 h 25"/>
                  <a:gd name="T6" fmla="*/ 52388 w 28"/>
                  <a:gd name="T7" fmla="*/ 67437 h 25"/>
                  <a:gd name="T8" fmla="*/ 0 w 28"/>
                  <a:gd name="T9" fmla="*/ 93663 h 25"/>
                  <a:gd name="T10" fmla="*/ 33678 w 28"/>
                  <a:gd name="T11" fmla="*/ 48705 h 25"/>
                  <a:gd name="T12" fmla="*/ 63613 w 28"/>
                  <a:gd name="T13" fmla="*/ 0 h 25"/>
                  <a:gd name="T14" fmla="*/ 63613 w 28"/>
                  <a:gd name="T15" fmla="*/ 0 h 25"/>
                  <a:gd name="T16" fmla="*/ 71097 w 28"/>
                  <a:gd name="T17" fmla="*/ 37465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8"/>
                  <a:gd name="T28" fmla="*/ 0 h 25"/>
                  <a:gd name="T29" fmla="*/ 28 w 28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8" h="25">
                    <a:moveTo>
                      <a:pt x="19" y="10"/>
                    </a:move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9" y="20"/>
                      <a:pt x="5" y="23"/>
                      <a:pt x="0" y="25"/>
                    </a:cubicBezTo>
                    <a:cubicBezTo>
                      <a:pt x="3" y="21"/>
                      <a:pt x="6" y="17"/>
                      <a:pt x="9" y="13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/>
              <a:lstStyle/>
              <a:p>
                <a:pPr>
                  <a:spcBef>
                    <a:spcPct val="0"/>
                  </a:spcBef>
                </a:pPr>
                <a:endParaRPr lang="en-US" sz="14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</p:grpSp>
      </p:grpSp>
      <p:sp>
        <p:nvSpPr>
          <p:cNvPr id="547929" name="Line 329"/>
          <p:cNvSpPr>
            <a:spLocks noChangeShapeType="1"/>
          </p:cNvSpPr>
          <p:nvPr/>
        </p:nvSpPr>
        <p:spPr bwMode="auto">
          <a:xfrm flipH="1" flipV="1">
            <a:off x="4191000" y="4264025"/>
            <a:ext cx="2317750" cy="793750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930" name="Rectangle 90"/>
          <p:cNvSpPr>
            <a:spLocks noChangeArrowheads="1"/>
          </p:cNvSpPr>
          <p:nvPr/>
        </p:nvSpPr>
        <p:spPr bwMode="auto">
          <a:xfrm>
            <a:off x="6508750" y="4340225"/>
            <a:ext cx="202565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...leads to higher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output, lower aggregate price level.</a:t>
            </a:r>
          </a:p>
        </p:txBody>
      </p:sp>
      <p:sp>
        <p:nvSpPr>
          <p:cNvPr id="547932" name="Freeform 373"/>
          <p:cNvSpPr>
            <a:spLocks/>
          </p:cNvSpPr>
          <p:nvPr/>
        </p:nvSpPr>
        <p:spPr bwMode="auto">
          <a:xfrm>
            <a:off x="3200400" y="2057400"/>
            <a:ext cx="1905000" cy="609600"/>
          </a:xfrm>
          <a:custGeom>
            <a:avLst/>
            <a:gdLst>
              <a:gd name="T0" fmla="*/ 933450 w 249"/>
              <a:gd name="T1" fmla="*/ 277898 h 93"/>
              <a:gd name="T2" fmla="*/ 869720 w 249"/>
              <a:gd name="T3" fmla="*/ 349250 h 93"/>
              <a:gd name="T4" fmla="*/ 67478 w 249"/>
              <a:gd name="T5" fmla="*/ 349250 h 93"/>
              <a:gd name="T6" fmla="*/ 0 w 249"/>
              <a:gd name="T7" fmla="*/ 277898 h 93"/>
              <a:gd name="T8" fmla="*/ 0 w 249"/>
              <a:gd name="T9" fmla="*/ 71352 h 93"/>
              <a:gd name="T10" fmla="*/ 67478 w 249"/>
              <a:gd name="T11" fmla="*/ 0 h 93"/>
              <a:gd name="T12" fmla="*/ 869720 w 249"/>
              <a:gd name="T13" fmla="*/ 0 h 93"/>
              <a:gd name="T14" fmla="*/ 933450 w 249"/>
              <a:gd name="T15" fmla="*/ 71352 h 93"/>
              <a:gd name="T16" fmla="*/ 933450 w 249"/>
              <a:gd name="T17" fmla="*/ 277898 h 9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49"/>
              <a:gd name="T28" fmla="*/ 0 h 93"/>
              <a:gd name="T29" fmla="*/ 249 w 249"/>
              <a:gd name="T30" fmla="*/ 93 h 9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49" h="93">
                <a:moveTo>
                  <a:pt x="249" y="74"/>
                </a:moveTo>
                <a:cubicBezTo>
                  <a:pt x="249" y="85"/>
                  <a:pt x="242" y="93"/>
                  <a:pt x="232" y="93"/>
                </a:cubicBezTo>
                <a:cubicBezTo>
                  <a:pt x="18" y="93"/>
                  <a:pt x="18" y="93"/>
                  <a:pt x="18" y="93"/>
                </a:cubicBezTo>
                <a:cubicBezTo>
                  <a:pt x="8" y="93"/>
                  <a:pt x="0" y="85"/>
                  <a:pt x="0" y="74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8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42" y="0"/>
                  <a:pt x="249" y="9"/>
                  <a:pt x="249" y="19"/>
                </a:cubicBezTo>
                <a:lnTo>
                  <a:pt x="249" y="74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933" name="Rectangle 93"/>
          <p:cNvSpPr>
            <a:spLocks noChangeArrowheads="1"/>
          </p:cNvSpPr>
          <p:nvPr/>
        </p:nvSpPr>
        <p:spPr bwMode="auto">
          <a:xfrm>
            <a:off x="3200400" y="2057400"/>
            <a:ext cx="21336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 positive supply shock...</a:t>
            </a:r>
          </a:p>
        </p:txBody>
      </p:sp>
      <p:sp>
        <p:nvSpPr>
          <p:cNvPr id="95" name="Rectangle 79"/>
          <p:cNvSpPr>
            <a:spLocks noChangeArrowheads="1"/>
          </p:cNvSpPr>
          <p:nvPr/>
        </p:nvSpPr>
        <p:spPr bwMode="auto">
          <a:xfrm>
            <a:off x="116889" y="1066800"/>
            <a:ext cx="90271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ＭＳ Ｐゴシック" pitchFamily="34" charset="-128"/>
                <a:cs typeface="Century Gothic"/>
              </a:rPr>
              <a:t>A positive supply shock: Total production increases at every price level.</a:t>
            </a:r>
          </a:p>
        </p:txBody>
      </p:sp>
      <p:sp>
        <p:nvSpPr>
          <p:cNvPr id="97" name="Rectangle 261"/>
          <p:cNvSpPr>
            <a:spLocks noChangeArrowheads="1"/>
          </p:cNvSpPr>
          <p:nvPr/>
        </p:nvSpPr>
        <p:spPr bwMode="auto">
          <a:xfrm>
            <a:off x="5570536" y="2514600"/>
            <a:ext cx="75406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98" name="Rectangle 261"/>
          <p:cNvSpPr>
            <a:spLocks noChangeArrowheads="1"/>
          </p:cNvSpPr>
          <p:nvPr/>
        </p:nvSpPr>
        <p:spPr bwMode="auto">
          <a:xfrm>
            <a:off x="5959475" y="2984956"/>
            <a:ext cx="74612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5469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81481E-6 L -0.04063 -0.05995 " pathEditMode="relative" rAng="0" ptsTypes="AA">
                                      <p:cBhvr>
                                        <p:cTn id="9" dur="2000" spd="-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31" y="-3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47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4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4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4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7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4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99" grpId="1" animBg="1"/>
      <p:bldP spid="547842" grpId="0" animBg="1"/>
      <p:bldP spid="547893" grpId="0"/>
      <p:bldP spid="547894" grpId="0"/>
      <p:bldP spid="547906" grpId="0"/>
      <p:bldP spid="547908" grpId="0" animBg="1"/>
      <p:bldP spid="547909" grpId="0"/>
      <p:bldP spid="547911" grpId="0" animBg="1"/>
      <p:bldP spid="547912" grpId="0" animBg="1"/>
      <p:bldP spid="547913" grpId="0" animBg="1"/>
      <p:bldP spid="547915" grpId="0" animBg="1"/>
      <p:bldP spid="547929" grpId="0" animBg="1"/>
      <p:bldP spid="547930" grpId="0"/>
      <p:bldP spid="9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4" name="Line 47"/>
          <p:cNvSpPr>
            <a:spLocks noChangeShapeType="1"/>
          </p:cNvSpPr>
          <p:nvPr/>
        </p:nvSpPr>
        <p:spPr bwMode="auto">
          <a:xfrm flipV="1">
            <a:off x="3292474" y="3048000"/>
            <a:ext cx="2727326" cy="2587624"/>
          </a:xfrm>
          <a:prstGeom prst="line">
            <a:avLst/>
          </a:prstGeom>
          <a:noFill/>
          <a:ln w="38100">
            <a:solidFill>
              <a:srgbClr val="FAC0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845" name="Rectangle 428"/>
          <p:cNvSpPr>
            <a:spLocks noChangeArrowheads="1"/>
          </p:cNvSpPr>
          <p:nvPr/>
        </p:nvSpPr>
        <p:spPr bwMode="auto">
          <a:xfrm>
            <a:off x="2054225" y="4852987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47" name="Line 242"/>
          <p:cNvSpPr>
            <a:spLocks noChangeShapeType="1"/>
          </p:cNvSpPr>
          <p:nvPr/>
        </p:nvSpPr>
        <p:spPr bwMode="auto">
          <a:xfrm flipH="1" flipV="1">
            <a:off x="2971800" y="2791398"/>
            <a:ext cx="1387474" cy="2710875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848" name="Rectangle 419"/>
          <p:cNvSpPr>
            <a:spLocks noChangeArrowheads="1"/>
          </p:cNvSpPr>
          <p:nvPr/>
        </p:nvSpPr>
        <p:spPr bwMode="auto">
          <a:xfrm>
            <a:off x="4343400" y="5502275"/>
            <a:ext cx="30320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49" name="Freeform 245"/>
          <p:cNvSpPr>
            <a:spLocks/>
          </p:cNvSpPr>
          <p:nvPr/>
        </p:nvSpPr>
        <p:spPr bwMode="auto">
          <a:xfrm>
            <a:off x="2317750" y="2816224"/>
            <a:ext cx="3405188" cy="3124200"/>
          </a:xfrm>
          <a:custGeom>
            <a:avLst/>
            <a:gdLst>
              <a:gd name="T0" fmla="*/ 2852738 w 1797"/>
              <a:gd name="T1" fmla="*/ 2309813 h 1455"/>
              <a:gd name="T2" fmla="*/ 0 w 1797"/>
              <a:gd name="T3" fmla="*/ 2309813 h 1455"/>
              <a:gd name="T4" fmla="*/ 0 w 1797"/>
              <a:gd name="T5" fmla="*/ 0 h 1455"/>
              <a:gd name="T6" fmla="*/ 0 60000 65536"/>
              <a:gd name="T7" fmla="*/ 0 60000 65536"/>
              <a:gd name="T8" fmla="*/ 0 60000 65536"/>
              <a:gd name="T9" fmla="*/ 0 w 1797"/>
              <a:gd name="T10" fmla="*/ 0 h 1455"/>
              <a:gd name="T11" fmla="*/ 1797 w 1797"/>
              <a:gd name="T12" fmla="*/ 1455 h 14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97" h="1455">
                <a:moveTo>
                  <a:pt x="1797" y="1455"/>
                </a:moveTo>
                <a:lnTo>
                  <a:pt x="0" y="1455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50" name="Rectangle 251"/>
          <p:cNvSpPr>
            <a:spLocks noChangeArrowheads="1"/>
          </p:cNvSpPr>
          <p:nvPr/>
        </p:nvSpPr>
        <p:spPr bwMode="auto">
          <a:xfrm>
            <a:off x="4035425" y="5961904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52" name="Rectangle 257"/>
          <p:cNvSpPr>
            <a:spLocks noChangeArrowheads="1"/>
          </p:cNvSpPr>
          <p:nvPr/>
        </p:nvSpPr>
        <p:spPr bwMode="auto">
          <a:xfrm>
            <a:off x="4206875" y="4797424"/>
            <a:ext cx="18755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54" name="Rectangle 14"/>
          <p:cNvSpPr>
            <a:spLocks noChangeArrowheads="1"/>
          </p:cNvSpPr>
          <p:nvPr/>
        </p:nvSpPr>
        <p:spPr bwMode="auto">
          <a:xfrm>
            <a:off x="5867400" y="6016624"/>
            <a:ext cx="1447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47855" name="Rectangle 15"/>
          <p:cNvSpPr>
            <a:spLocks noChangeArrowheads="1"/>
          </p:cNvSpPr>
          <p:nvPr/>
        </p:nvSpPr>
        <p:spPr bwMode="auto">
          <a:xfrm>
            <a:off x="609600" y="2206624"/>
            <a:ext cx="1676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47857" name="Line 17"/>
          <p:cNvSpPr>
            <a:spLocks noChangeShapeType="1"/>
          </p:cNvSpPr>
          <p:nvPr/>
        </p:nvSpPr>
        <p:spPr bwMode="auto">
          <a:xfrm>
            <a:off x="4054475" y="4949824"/>
            <a:ext cx="0" cy="10144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858" name="Oval 345"/>
          <p:cNvSpPr>
            <a:spLocks noChangeArrowheads="1"/>
          </p:cNvSpPr>
          <p:nvPr/>
        </p:nvSpPr>
        <p:spPr bwMode="auto">
          <a:xfrm>
            <a:off x="4006850" y="4873624"/>
            <a:ext cx="88900" cy="1000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59" name="Rectangle 19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SHIFTS OF THE SRAS CURVE</a:t>
            </a:r>
          </a:p>
        </p:txBody>
      </p:sp>
      <p:sp>
        <p:nvSpPr>
          <p:cNvPr id="547860" name="Line 20"/>
          <p:cNvSpPr>
            <a:spLocks noChangeShapeType="1"/>
          </p:cNvSpPr>
          <p:nvPr/>
        </p:nvSpPr>
        <p:spPr bwMode="auto">
          <a:xfrm flipH="1">
            <a:off x="2378075" y="4924423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861" name="Rectangle 261"/>
          <p:cNvSpPr>
            <a:spLocks noChangeArrowheads="1"/>
          </p:cNvSpPr>
          <p:nvPr/>
        </p:nvSpPr>
        <p:spPr bwMode="auto">
          <a:xfrm>
            <a:off x="6096000" y="2832556"/>
            <a:ext cx="75406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4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64" name="Rectangle 261"/>
          <p:cNvSpPr>
            <a:spLocks noChangeArrowheads="1"/>
          </p:cNvSpPr>
          <p:nvPr/>
        </p:nvSpPr>
        <p:spPr bwMode="auto">
          <a:xfrm>
            <a:off x="5349875" y="2438400"/>
            <a:ext cx="74612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baseline="-25000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66" name="Rectangle 253"/>
          <p:cNvSpPr>
            <a:spLocks noChangeArrowheads="1"/>
          </p:cNvSpPr>
          <p:nvPr/>
        </p:nvSpPr>
        <p:spPr bwMode="auto">
          <a:xfrm>
            <a:off x="3759087" y="5978371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68" name="Line 28"/>
          <p:cNvSpPr>
            <a:spLocks noChangeShapeType="1"/>
          </p:cNvSpPr>
          <p:nvPr/>
        </p:nvSpPr>
        <p:spPr bwMode="auto">
          <a:xfrm flipH="1">
            <a:off x="3806825" y="4492625"/>
            <a:ext cx="0" cy="14351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869" name="Line 247"/>
          <p:cNvSpPr>
            <a:spLocks noChangeShapeType="1"/>
          </p:cNvSpPr>
          <p:nvPr/>
        </p:nvSpPr>
        <p:spPr bwMode="auto">
          <a:xfrm flipH="1">
            <a:off x="3825875" y="6397625"/>
            <a:ext cx="300038" cy="3175"/>
          </a:xfrm>
          <a:prstGeom prst="line">
            <a:avLst/>
          </a:prstGeom>
          <a:noFill/>
          <a:ln w="0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871" name="Line 243"/>
          <p:cNvSpPr>
            <a:spLocks noChangeShapeType="1"/>
          </p:cNvSpPr>
          <p:nvPr/>
        </p:nvSpPr>
        <p:spPr bwMode="auto">
          <a:xfrm flipV="1">
            <a:off x="2840038" y="2958644"/>
            <a:ext cx="2570162" cy="2403930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873" name="Rectangle 259"/>
          <p:cNvSpPr>
            <a:spLocks noChangeArrowheads="1"/>
          </p:cNvSpPr>
          <p:nvPr/>
        </p:nvSpPr>
        <p:spPr bwMode="auto">
          <a:xfrm>
            <a:off x="3749675" y="3959225"/>
            <a:ext cx="18755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74" name="Oval 267"/>
          <p:cNvSpPr>
            <a:spLocks noChangeArrowheads="1"/>
          </p:cNvSpPr>
          <p:nvPr/>
        </p:nvSpPr>
        <p:spPr bwMode="auto">
          <a:xfrm>
            <a:off x="3763963" y="4394200"/>
            <a:ext cx="88900" cy="1016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75" name="Rectangle 426"/>
          <p:cNvSpPr>
            <a:spLocks noChangeArrowheads="1"/>
          </p:cNvSpPr>
          <p:nvPr/>
        </p:nvSpPr>
        <p:spPr bwMode="auto">
          <a:xfrm>
            <a:off x="2054225" y="4243387"/>
            <a:ext cx="19797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4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4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877" name="Line 37"/>
          <p:cNvSpPr>
            <a:spLocks noChangeShapeType="1"/>
          </p:cNvSpPr>
          <p:nvPr/>
        </p:nvSpPr>
        <p:spPr bwMode="auto">
          <a:xfrm flipH="1">
            <a:off x="2328863" y="4429125"/>
            <a:ext cx="14208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7878" name="Line 247"/>
          <p:cNvSpPr>
            <a:spLocks noChangeShapeType="1"/>
          </p:cNvSpPr>
          <p:nvPr/>
        </p:nvSpPr>
        <p:spPr bwMode="auto">
          <a:xfrm rot="5400000" flipH="1" flipV="1">
            <a:off x="1847850" y="4641850"/>
            <a:ext cx="300038" cy="3175"/>
          </a:xfrm>
          <a:prstGeom prst="line">
            <a:avLst/>
          </a:prstGeom>
          <a:noFill/>
          <a:ln w="0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grpSp>
        <p:nvGrpSpPr>
          <p:cNvPr id="547880" name="Group 40"/>
          <p:cNvGrpSpPr>
            <a:grpSpLocks/>
          </p:cNvGrpSpPr>
          <p:nvPr/>
        </p:nvGrpSpPr>
        <p:grpSpPr bwMode="auto">
          <a:xfrm>
            <a:off x="3902075" y="4340224"/>
            <a:ext cx="295275" cy="409575"/>
            <a:chOff x="3031" y="3511"/>
            <a:chExt cx="186" cy="258"/>
          </a:xfrm>
        </p:grpSpPr>
        <p:sp>
          <p:nvSpPr>
            <p:cNvPr id="547881" name="Freeform 412"/>
            <p:cNvSpPr>
              <a:spLocks/>
            </p:cNvSpPr>
            <p:nvPr/>
          </p:nvSpPr>
          <p:spPr bwMode="auto">
            <a:xfrm rot="6365449">
              <a:off x="3031" y="3511"/>
              <a:ext cx="79" cy="80"/>
            </a:xfrm>
            <a:custGeom>
              <a:avLst/>
              <a:gdLst>
                <a:gd name="T0" fmla="*/ 67355 w 28"/>
                <a:gd name="T1" fmla="*/ 37465 h 25"/>
                <a:gd name="T2" fmla="*/ 104775 w 28"/>
                <a:gd name="T3" fmla="*/ 52451 h 25"/>
                <a:gd name="T4" fmla="*/ 104775 w 28"/>
                <a:gd name="T5" fmla="*/ 52451 h 25"/>
                <a:gd name="T6" fmla="*/ 48646 w 28"/>
                <a:gd name="T7" fmla="*/ 71184 h 25"/>
                <a:gd name="T8" fmla="*/ 0 w 28"/>
                <a:gd name="T9" fmla="*/ 93663 h 25"/>
                <a:gd name="T10" fmla="*/ 33678 w 28"/>
                <a:gd name="T11" fmla="*/ 52451 h 25"/>
                <a:gd name="T12" fmla="*/ 59871 w 28"/>
                <a:gd name="T13" fmla="*/ 0 h 25"/>
                <a:gd name="T14" fmla="*/ 63613 w 28"/>
                <a:gd name="T15" fmla="*/ 0 h 25"/>
                <a:gd name="T16" fmla="*/ 67355 w 28"/>
                <a:gd name="T17" fmla="*/ 37465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8"/>
                <a:gd name="T28" fmla="*/ 0 h 25"/>
                <a:gd name="T29" fmla="*/ 28 w 28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8" h="25">
                  <a:moveTo>
                    <a:pt x="18" y="10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9" y="21"/>
                    <a:pt x="4" y="23"/>
                    <a:pt x="0" y="25"/>
                  </a:cubicBezTo>
                  <a:cubicBezTo>
                    <a:pt x="3" y="21"/>
                    <a:pt x="6" y="18"/>
                    <a:pt x="9" y="1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18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 vert="eaVert"/>
            <a:lstStyle/>
            <a:p>
              <a:pPr>
                <a:spcBef>
                  <a:spcPct val="0"/>
                </a:spcBef>
              </a:pPr>
              <a:endParaRPr lang="en-US" sz="140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grpSp>
          <p:nvGrpSpPr>
            <p:cNvPr id="547882" name="Group 42"/>
            <p:cNvGrpSpPr>
              <a:grpSpLocks/>
            </p:cNvGrpSpPr>
            <p:nvPr/>
          </p:nvGrpSpPr>
          <p:grpSpPr bwMode="auto">
            <a:xfrm>
              <a:off x="3041" y="3577"/>
              <a:ext cx="176" cy="192"/>
              <a:chOff x="3041" y="3577"/>
              <a:chExt cx="176" cy="192"/>
            </a:xfrm>
          </p:grpSpPr>
          <p:sp>
            <p:nvSpPr>
              <p:cNvPr id="547883" name="Line 411"/>
              <p:cNvSpPr>
                <a:spLocks noChangeShapeType="1"/>
              </p:cNvSpPr>
              <p:nvPr/>
            </p:nvSpPr>
            <p:spPr bwMode="auto">
              <a:xfrm rot="6365449" flipH="1">
                <a:off x="3033" y="3585"/>
                <a:ext cx="192" cy="176"/>
              </a:xfrm>
              <a:prstGeom prst="line">
                <a:avLst/>
              </a:prstGeom>
              <a:noFill/>
              <a:ln w="19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547884" name="Freeform 413"/>
              <p:cNvSpPr>
                <a:spLocks/>
              </p:cNvSpPr>
              <p:nvPr/>
            </p:nvSpPr>
            <p:spPr bwMode="auto">
              <a:xfrm rot="6365449">
                <a:off x="3076" y="3600"/>
                <a:ext cx="79" cy="80"/>
              </a:xfrm>
              <a:custGeom>
                <a:avLst/>
                <a:gdLst>
                  <a:gd name="T0" fmla="*/ 71097 w 28"/>
                  <a:gd name="T1" fmla="*/ 37465 h 25"/>
                  <a:gd name="T2" fmla="*/ 104775 w 28"/>
                  <a:gd name="T3" fmla="*/ 48705 h 25"/>
                  <a:gd name="T4" fmla="*/ 104775 w 28"/>
                  <a:gd name="T5" fmla="*/ 48705 h 25"/>
                  <a:gd name="T6" fmla="*/ 52388 w 28"/>
                  <a:gd name="T7" fmla="*/ 67437 h 25"/>
                  <a:gd name="T8" fmla="*/ 0 w 28"/>
                  <a:gd name="T9" fmla="*/ 93663 h 25"/>
                  <a:gd name="T10" fmla="*/ 33678 w 28"/>
                  <a:gd name="T11" fmla="*/ 48705 h 25"/>
                  <a:gd name="T12" fmla="*/ 63613 w 28"/>
                  <a:gd name="T13" fmla="*/ 0 h 25"/>
                  <a:gd name="T14" fmla="*/ 63613 w 28"/>
                  <a:gd name="T15" fmla="*/ 0 h 25"/>
                  <a:gd name="T16" fmla="*/ 71097 w 28"/>
                  <a:gd name="T17" fmla="*/ 37465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8"/>
                  <a:gd name="T28" fmla="*/ 0 h 25"/>
                  <a:gd name="T29" fmla="*/ 28 w 28"/>
                  <a:gd name="T30" fmla="*/ 25 h 2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8" h="25">
                    <a:moveTo>
                      <a:pt x="19" y="10"/>
                    </a:move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9" y="20"/>
                      <a:pt x="5" y="23"/>
                      <a:pt x="0" y="25"/>
                    </a:cubicBezTo>
                    <a:cubicBezTo>
                      <a:pt x="3" y="21"/>
                      <a:pt x="6" y="17"/>
                      <a:pt x="9" y="13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 vert="eaVert"/>
              <a:lstStyle/>
              <a:p>
                <a:pPr>
                  <a:spcBef>
                    <a:spcPct val="0"/>
                  </a:spcBef>
                </a:pPr>
                <a:endParaRPr lang="en-US" sz="14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</p:grpSp>
      </p:grpSp>
      <p:sp>
        <p:nvSpPr>
          <p:cNvPr id="547925" name="Freeform 300"/>
          <p:cNvSpPr>
            <a:spLocks/>
          </p:cNvSpPr>
          <p:nvPr/>
        </p:nvSpPr>
        <p:spPr bwMode="auto">
          <a:xfrm>
            <a:off x="3200400" y="2162174"/>
            <a:ext cx="1905000" cy="612547"/>
          </a:xfrm>
          <a:custGeom>
            <a:avLst/>
            <a:gdLst>
              <a:gd name="T0" fmla="*/ 933450 w 249"/>
              <a:gd name="T1" fmla="*/ 277898 h 93"/>
              <a:gd name="T2" fmla="*/ 869720 w 249"/>
              <a:gd name="T3" fmla="*/ 349250 h 93"/>
              <a:gd name="T4" fmla="*/ 63730 w 249"/>
              <a:gd name="T5" fmla="*/ 349250 h 93"/>
              <a:gd name="T6" fmla="*/ 0 w 249"/>
              <a:gd name="T7" fmla="*/ 277898 h 93"/>
              <a:gd name="T8" fmla="*/ 0 w 249"/>
              <a:gd name="T9" fmla="*/ 71352 h 93"/>
              <a:gd name="T10" fmla="*/ 63730 w 249"/>
              <a:gd name="T11" fmla="*/ 0 h 93"/>
              <a:gd name="T12" fmla="*/ 869720 w 249"/>
              <a:gd name="T13" fmla="*/ 0 h 93"/>
              <a:gd name="T14" fmla="*/ 933450 w 249"/>
              <a:gd name="T15" fmla="*/ 71352 h 93"/>
              <a:gd name="T16" fmla="*/ 933450 w 249"/>
              <a:gd name="T17" fmla="*/ 277898 h 9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49"/>
              <a:gd name="T28" fmla="*/ 0 h 93"/>
              <a:gd name="T29" fmla="*/ 249 w 249"/>
              <a:gd name="T30" fmla="*/ 93 h 9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49" h="93">
                <a:moveTo>
                  <a:pt x="249" y="74"/>
                </a:moveTo>
                <a:cubicBezTo>
                  <a:pt x="249" y="85"/>
                  <a:pt x="241" y="93"/>
                  <a:pt x="232" y="93"/>
                </a:cubicBezTo>
                <a:cubicBezTo>
                  <a:pt x="17" y="93"/>
                  <a:pt x="17" y="93"/>
                  <a:pt x="17" y="93"/>
                </a:cubicBezTo>
                <a:cubicBezTo>
                  <a:pt x="8" y="93"/>
                  <a:pt x="0" y="85"/>
                  <a:pt x="0" y="74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232" y="0"/>
                  <a:pt x="232" y="0"/>
                  <a:pt x="232" y="0"/>
                </a:cubicBezTo>
                <a:cubicBezTo>
                  <a:pt x="241" y="0"/>
                  <a:pt x="249" y="9"/>
                  <a:pt x="249" y="19"/>
                </a:cubicBezTo>
                <a:lnTo>
                  <a:pt x="249" y="74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926" name="Rectangle 86"/>
          <p:cNvSpPr>
            <a:spLocks noChangeArrowheads="1"/>
          </p:cNvSpPr>
          <p:nvPr/>
        </p:nvSpPr>
        <p:spPr bwMode="auto">
          <a:xfrm>
            <a:off x="3200400" y="2162175"/>
            <a:ext cx="19050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 negative supply shock...</a:t>
            </a:r>
          </a:p>
        </p:txBody>
      </p:sp>
      <p:sp>
        <p:nvSpPr>
          <p:cNvPr id="547927" name="Freeform 268"/>
          <p:cNvSpPr>
            <a:spLocks/>
          </p:cNvSpPr>
          <p:nvPr/>
        </p:nvSpPr>
        <p:spPr bwMode="auto">
          <a:xfrm>
            <a:off x="6400800" y="3962400"/>
            <a:ext cx="1676400" cy="1920874"/>
          </a:xfrm>
          <a:custGeom>
            <a:avLst/>
            <a:gdLst>
              <a:gd name="T0" fmla="*/ 1038225 w 277"/>
              <a:gd name="T1" fmla="*/ 576565 h 173"/>
              <a:gd name="T2" fmla="*/ 974507 w 277"/>
              <a:gd name="T3" fmla="*/ 647700 h 173"/>
              <a:gd name="T4" fmla="*/ 67466 w 277"/>
              <a:gd name="T5" fmla="*/ 647700 h 173"/>
              <a:gd name="T6" fmla="*/ 0 w 277"/>
              <a:gd name="T7" fmla="*/ 576565 h 173"/>
              <a:gd name="T8" fmla="*/ 0 w 277"/>
              <a:gd name="T9" fmla="*/ 71135 h 173"/>
              <a:gd name="T10" fmla="*/ 67466 w 277"/>
              <a:gd name="T11" fmla="*/ 0 h 173"/>
              <a:gd name="T12" fmla="*/ 974507 w 277"/>
              <a:gd name="T13" fmla="*/ 0 h 173"/>
              <a:gd name="T14" fmla="*/ 1038225 w 277"/>
              <a:gd name="T15" fmla="*/ 71135 h 173"/>
              <a:gd name="T16" fmla="*/ 1038225 w 277"/>
              <a:gd name="T17" fmla="*/ 576565 h 17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7"/>
              <a:gd name="T28" fmla="*/ 0 h 173"/>
              <a:gd name="T29" fmla="*/ 277 w 277"/>
              <a:gd name="T30" fmla="*/ 173 h 17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7" h="173">
                <a:moveTo>
                  <a:pt x="277" y="154"/>
                </a:moveTo>
                <a:cubicBezTo>
                  <a:pt x="277" y="165"/>
                  <a:pt x="269" y="173"/>
                  <a:pt x="260" y="173"/>
                </a:cubicBezTo>
                <a:cubicBezTo>
                  <a:pt x="18" y="173"/>
                  <a:pt x="18" y="173"/>
                  <a:pt x="18" y="173"/>
                </a:cubicBezTo>
                <a:cubicBezTo>
                  <a:pt x="8" y="173"/>
                  <a:pt x="0" y="165"/>
                  <a:pt x="0" y="154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8" y="0"/>
                </a:cubicBezTo>
                <a:cubicBezTo>
                  <a:pt x="260" y="0"/>
                  <a:pt x="260" y="0"/>
                  <a:pt x="260" y="0"/>
                </a:cubicBezTo>
                <a:cubicBezTo>
                  <a:pt x="269" y="0"/>
                  <a:pt x="277" y="9"/>
                  <a:pt x="277" y="19"/>
                </a:cubicBezTo>
                <a:lnTo>
                  <a:pt x="277" y="154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7928" name="Rectangle 88"/>
          <p:cNvSpPr>
            <a:spLocks noChangeArrowheads="1"/>
          </p:cNvSpPr>
          <p:nvPr/>
        </p:nvSpPr>
        <p:spPr bwMode="auto">
          <a:xfrm>
            <a:off x="6400800" y="4038600"/>
            <a:ext cx="1752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...leads to a 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cs typeface="Century Gothic"/>
              </a:rPr>
              <a:t>lower aggregate output and a higher </a:t>
            </a: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level.</a:t>
            </a:r>
          </a:p>
        </p:txBody>
      </p:sp>
      <p:sp>
        <p:nvSpPr>
          <p:cNvPr id="547934" name="Line 329"/>
          <p:cNvSpPr>
            <a:spLocks noChangeShapeType="1"/>
          </p:cNvSpPr>
          <p:nvPr/>
        </p:nvSpPr>
        <p:spPr bwMode="auto">
          <a:xfrm flipH="1" flipV="1">
            <a:off x="4114800" y="4645023"/>
            <a:ext cx="2286000" cy="44132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96" name="Rectangle 79"/>
          <p:cNvSpPr>
            <a:spLocks noChangeArrowheads="1"/>
          </p:cNvSpPr>
          <p:nvPr/>
        </p:nvSpPr>
        <p:spPr bwMode="auto">
          <a:xfrm>
            <a:off x="116888" y="1066800"/>
            <a:ext cx="89509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b="1" i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/>
                <a:ea typeface="ＭＳ Ｐゴシック" pitchFamily="34" charset="-128"/>
                <a:cs typeface="Century Gothic"/>
              </a:rPr>
              <a:t>A negative supply shock: Total production falls at every price level.</a:t>
            </a:r>
          </a:p>
        </p:txBody>
      </p:sp>
    </p:spTree>
    <p:extLst>
      <p:ext uri="{BB962C8B-B14F-4D97-AF65-F5344CB8AC3E}">
        <p14:creationId xmlns:p14="http://schemas.microsoft.com/office/powerpoint/2010/main" val="72379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47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729 0.02107 L 0.02396 -0.0289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5478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-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7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7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4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4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4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47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7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47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4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7864" grpId="0"/>
      <p:bldP spid="547866" grpId="0"/>
      <p:bldP spid="547868" grpId="0" animBg="1"/>
      <p:bldP spid="547869" grpId="0" animBg="1"/>
      <p:bldP spid="547871" grpId="0" animBg="1"/>
      <p:bldP spid="547871" grpId="1" animBg="1"/>
      <p:bldP spid="547873" grpId="0"/>
      <p:bldP spid="547874" grpId="0" animBg="1"/>
      <p:bldP spid="547875" grpId="0"/>
      <p:bldP spid="547877" grpId="0" animBg="1"/>
      <p:bldP spid="547878" grpId="0" animBg="1"/>
      <p:bldP spid="547925" grpId="0" animBg="1"/>
      <p:bldP spid="5479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solidFill>
            <a:schemeClr val="bg1">
              <a:alpha val="62000"/>
            </a:schemeClr>
          </a:solidFill>
        </p:spPr>
        <p:txBody>
          <a:bodyPr>
            <a:normAutofit fontScale="90000"/>
          </a:bodyPr>
          <a:lstStyle/>
          <a:p>
            <a:r>
              <a:rPr lang="en-US" spc="0" dirty="0"/>
              <a:t>NEGATIVE SUPPLY SHOCKS AND STAGFLATION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05200"/>
            <a:ext cx="9144000" cy="2133600"/>
          </a:xfrm>
          <a:solidFill>
            <a:schemeClr val="tx1">
              <a:alpha val="65000"/>
            </a:schemeClr>
          </a:solidFill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Especially nasty for society is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stagflation:</a:t>
            </a:r>
            <a:r>
              <a:rPr lang="en-US" b="0" dirty="0">
                <a:solidFill>
                  <a:schemeClr val="bg1"/>
                </a:solidFill>
              </a:rPr>
              <a:t> the combination of inflation and falling aggregate output that comes with a negative supply shock.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7886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creen Shot 2015-04-07 at 10.00.1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739183"/>
            <a:ext cx="5029200" cy="4118818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8600" y="1637766"/>
            <a:ext cx="8839200" cy="4305834"/>
          </a:xfrm>
        </p:spPr>
        <p:txBody>
          <a:bodyPr>
            <a:normAutofit/>
          </a:bodyPr>
          <a:lstStyle/>
          <a:p>
            <a:pPr lvl="1"/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/>
                <a:cs typeface="Century Gothic"/>
              </a:rPr>
              <a:t>Which type of recession is more common?  Demand shocks are the usual culprit.  </a:t>
            </a:r>
          </a:p>
          <a:p>
            <a:pPr lvl="1"/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/>
                <a:cs typeface="Century Gothic"/>
              </a:rPr>
              <a:t>Negative supply shock are rare but nasty.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8382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pc="0" dirty="0">
                <a:solidFill>
                  <a:srgbClr val="E46C0A"/>
                </a:solidFill>
                <a:latin typeface="Century Gothic"/>
                <a:cs typeface="Century Gothic"/>
              </a:rPr>
              <a:t>Supply Shocks vs. demand shocks in action</a:t>
            </a:r>
          </a:p>
        </p:txBody>
      </p:sp>
    </p:spTree>
    <p:extLst>
      <p:ext uri="{BB962C8B-B14F-4D97-AF65-F5344CB8AC3E}">
        <p14:creationId xmlns:p14="http://schemas.microsoft.com/office/powerpoint/2010/main" val="29818826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2800" y="3200400"/>
            <a:ext cx="2453191" cy="3657600"/>
          </a:xfrm>
          <a:prstGeom prst="rect">
            <a:avLst/>
          </a:prstGeom>
        </p:spPr>
      </p:pic>
      <p:sp>
        <p:nvSpPr>
          <p:cNvPr id="5140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LONG-RUN MACROECONOMIC EQUILIBRIUM</a:t>
            </a:r>
          </a:p>
        </p:txBody>
      </p:sp>
      <p:sp>
        <p:nvSpPr>
          <p:cNvPr id="51405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839200" cy="4648200"/>
          </a:xfrm>
        </p:spPr>
        <p:txBody>
          <a:bodyPr/>
          <a:lstStyle/>
          <a:p>
            <a:r>
              <a:rPr lang="en-US" dirty="0"/>
              <a:t>The economy is in </a:t>
            </a:r>
            <a:r>
              <a:rPr lang="en-US" b="1" i="1" dirty="0">
                <a:solidFill>
                  <a:srgbClr val="990033"/>
                </a:solidFill>
              </a:rPr>
              <a:t>long-run macroeconomic equilibrium</a:t>
            </a:r>
            <a:r>
              <a:rPr lang="en-US" b="1" dirty="0"/>
              <a:t> </a:t>
            </a:r>
            <a:r>
              <a:rPr lang="en-US" dirty="0"/>
              <a:t>when the point of short-run macroeconomic equilibrium is on the long-run aggregate supply curve.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4422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6"/>
          <p:cNvSpPr>
            <a:spLocks noChangeArrowheads="1"/>
          </p:cNvSpPr>
          <p:nvPr/>
        </p:nvSpPr>
        <p:spPr bwMode="auto">
          <a:xfrm>
            <a:off x="4703763" y="6176963"/>
            <a:ext cx="2309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9892" name="Rectangle 8"/>
          <p:cNvSpPr>
            <a:spLocks noChangeArrowheads="1"/>
          </p:cNvSpPr>
          <p:nvPr/>
        </p:nvSpPr>
        <p:spPr bwMode="auto">
          <a:xfrm>
            <a:off x="1087438" y="3802063"/>
            <a:ext cx="22762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9894" name="Rectangle 11"/>
          <p:cNvSpPr>
            <a:spLocks noChangeArrowheads="1"/>
          </p:cNvSpPr>
          <p:nvPr/>
        </p:nvSpPr>
        <p:spPr bwMode="auto">
          <a:xfrm>
            <a:off x="6718300" y="2320925"/>
            <a:ext cx="51494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9897" name="Rectangle 14"/>
          <p:cNvSpPr>
            <a:spLocks noChangeArrowheads="1"/>
          </p:cNvSpPr>
          <p:nvPr/>
        </p:nvSpPr>
        <p:spPr bwMode="auto">
          <a:xfrm>
            <a:off x="4538663" y="1909763"/>
            <a:ext cx="5075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LRAS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9900" name="Rectangle 17"/>
          <p:cNvSpPr>
            <a:spLocks noChangeArrowheads="1"/>
          </p:cNvSpPr>
          <p:nvPr/>
        </p:nvSpPr>
        <p:spPr bwMode="auto">
          <a:xfrm>
            <a:off x="6230938" y="5419725"/>
            <a:ext cx="34468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9901" name="Freeform 18"/>
          <p:cNvSpPr>
            <a:spLocks/>
          </p:cNvSpPr>
          <p:nvPr/>
        </p:nvSpPr>
        <p:spPr bwMode="auto">
          <a:xfrm>
            <a:off x="6126163" y="3694112"/>
            <a:ext cx="2027238" cy="1030287"/>
          </a:xfrm>
          <a:custGeom>
            <a:avLst/>
            <a:gdLst>
              <a:gd name="T0" fmla="*/ 1565327 w 240"/>
              <a:gd name="T1" fmla="*/ 743871 h 137"/>
              <a:gd name="T2" fmla="*/ 1454450 w 240"/>
              <a:gd name="T3" fmla="*/ 863647 h 137"/>
              <a:gd name="T4" fmla="*/ 110877 w 240"/>
              <a:gd name="T5" fmla="*/ 863647 h 137"/>
              <a:gd name="T6" fmla="*/ 0 w 240"/>
              <a:gd name="T7" fmla="*/ 743871 h 137"/>
              <a:gd name="T8" fmla="*/ 0 w 240"/>
              <a:gd name="T9" fmla="*/ 119776 h 137"/>
              <a:gd name="T10" fmla="*/ 110877 w 240"/>
              <a:gd name="T11" fmla="*/ 0 h 137"/>
              <a:gd name="T12" fmla="*/ 1454450 w 240"/>
              <a:gd name="T13" fmla="*/ 0 h 137"/>
              <a:gd name="T14" fmla="*/ 1565327 w 240"/>
              <a:gd name="T15" fmla="*/ 119776 h 137"/>
              <a:gd name="T16" fmla="*/ 1565327 w 240"/>
              <a:gd name="T17" fmla="*/ 743871 h 13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40"/>
              <a:gd name="T28" fmla="*/ 0 h 137"/>
              <a:gd name="T29" fmla="*/ 240 w 240"/>
              <a:gd name="T30" fmla="*/ 137 h 13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40" h="137">
                <a:moveTo>
                  <a:pt x="240" y="118"/>
                </a:moveTo>
                <a:cubicBezTo>
                  <a:pt x="240" y="129"/>
                  <a:pt x="232" y="137"/>
                  <a:pt x="223" y="137"/>
                </a:cubicBezTo>
                <a:cubicBezTo>
                  <a:pt x="17" y="137"/>
                  <a:pt x="17" y="137"/>
                  <a:pt x="17" y="137"/>
                </a:cubicBezTo>
                <a:cubicBezTo>
                  <a:pt x="8" y="137"/>
                  <a:pt x="0" y="129"/>
                  <a:pt x="0" y="118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223" y="0"/>
                  <a:pt x="223" y="0"/>
                  <a:pt x="223" y="0"/>
                </a:cubicBezTo>
                <a:cubicBezTo>
                  <a:pt x="232" y="0"/>
                  <a:pt x="240" y="9"/>
                  <a:pt x="240" y="19"/>
                </a:cubicBezTo>
                <a:lnTo>
                  <a:pt x="240" y="118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9902" name="Line 32"/>
          <p:cNvSpPr>
            <a:spLocks noChangeShapeType="1"/>
          </p:cNvSpPr>
          <p:nvPr/>
        </p:nvSpPr>
        <p:spPr bwMode="auto">
          <a:xfrm flipH="1" flipV="1">
            <a:off x="4824413" y="6507163"/>
            <a:ext cx="738187" cy="198437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9903" name="Freeform 33"/>
          <p:cNvSpPr>
            <a:spLocks/>
          </p:cNvSpPr>
          <p:nvPr/>
        </p:nvSpPr>
        <p:spPr bwMode="auto">
          <a:xfrm>
            <a:off x="5181600" y="6324600"/>
            <a:ext cx="1828800" cy="457200"/>
          </a:xfrm>
          <a:custGeom>
            <a:avLst/>
            <a:gdLst>
              <a:gd name="T0" fmla="*/ 1018705 w 156"/>
              <a:gd name="T1" fmla="*/ 496369 h 98"/>
              <a:gd name="T2" fmla="*/ 907692 w 156"/>
              <a:gd name="T3" fmla="*/ 615749 h 98"/>
              <a:gd name="T4" fmla="*/ 111013 w 156"/>
              <a:gd name="T5" fmla="*/ 615749 h 98"/>
              <a:gd name="T6" fmla="*/ 0 w 156"/>
              <a:gd name="T7" fmla="*/ 496369 h 98"/>
              <a:gd name="T8" fmla="*/ 0 w 156"/>
              <a:gd name="T9" fmla="*/ 119380 h 98"/>
              <a:gd name="T10" fmla="*/ 111013 w 156"/>
              <a:gd name="T11" fmla="*/ 0 h 98"/>
              <a:gd name="T12" fmla="*/ 907692 w 156"/>
              <a:gd name="T13" fmla="*/ 0 h 98"/>
              <a:gd name="T14" fmla="*/ 1018705 w 156"/>
              <a:gd name="T15" fmla="*/ 119380 h 98"/>
              <a:gd name="T16" fmla="*/ 1018705 w 156"/>
              <a:gd name="T17" fmla="*/ 496369 h 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6"/>
              <a:gd name="T28" fmla="*/ 0 h 98"/>
              <a:gd name="T29" fmla="*/ 156 w 156"/>
              <a:gd name="T30" fmla="*/ 98 h 9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6" h="98">
                <a:moveTo>
                  <a:pt x="156" y="79"/>
                </a:moveTo>
                <a:cubicBezTo>
                  <a:pt x="156" y="89"/>
                  <a:pt x="148" y="98"/>
                  <a:pt x="139" y="98"/>
                </a:cubicBezTo>
                <a:cubicBezTo>
                  <a:pt x="17" y="98"/>
                  <a:pt x="17" y="98"/>
                  <a:pt x="17" y="98"/>
                </a:cubicBezTo>
                <a:cubicBezTo>
                  <a:pt x="8" y="98"/>
                  <a:pt x="0" y="89"/>
                  <a:pt x="0" y="7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7" y="0"/>
                </a:cubicBezTo>
                <a:cubicBezTo>
                  <a:pt x="139" y="0"/>
                  <a:pt x="139" y="0"/>
                  <a:pt x="139" y="0"/>
                </a:cubicBezTo>
                <a:cubicBezTo>
                  <a:pt x="148" y="0"/>
                  <a:pt x="156" y="8"/>
                  <a:pt x="156" y="19"/>
                </a:cubicBezTo>
                <a:lnTo>
                  <a:pt x="156" y="7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9904" name="Line 41"/>
          <p:cNvSpPr>
            <a:spLocks noChangeShapeType="1"/>
          </p:cNvSpPr>
          <p:nvPr/>
        </p:nvSpPr>
        <p:spPr bwMode="auto">
          <a:xfrm>
            <a:off x="4797425" y="2219325"/>
            <a:ext cx="3175" cy="3941763"/>
          </a:xfrm>
          <a:prstGeom prst="line">
            <a:avLst/>
          </a:prstGeom>
          <a:noFill/>
          <a:ln w="38100">
            <a:solidFill>
              <a:srgbClr val="F7944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9905" name="Freeform 60"/>
          <p:cNvSpPr>
            <a:spLocks/>
          </p:cNvSpPr>
          <p:nvPr/>
        </p:nvSpPr>
        <p:spPr bwMode="auto">
          <a:xfrm>
            <a:off x="1374775" y="2154238"/>
            <a:ext cx="6429375" cy="4006850"/>
          </a:xfrm>
          <a:custGeom>
            <a:avLst/>
            <a:gdLst>
              <a:gd name="T0" fmla="*/ 6429715 w 2329"/>
              <a:gd name="T1" fmla="*/ 4558138 h 1710"/>
              <a:gd name="T2" fmla="*/ 0 w 2329"/>
              <a:gd name="T3" fmla="*/ 4558138 h 1710"/>
              <a:gd name="T4" fmla="*/ 0 w 2329"/>
              <a:gd name="T5" fmla="*/ 0 h 1710"/>
              <a:gd name="T6" fmla="*/ 0 60000 65536"/>
              <a:gd name="T7" fmla="*/ 0 60000 65536"/>
              <a:gd name="T8" fmla="*/ 0 60000 65536"/>
              <a:gd name="T9" fmla="*/ 0 w 2329"/>
              <a:gd name="T10" fmla="*/ 0 h 1710"/>
              <a:gd name="T11" fmla="*/ 2329 w 2329"/>
              <a:gd name="T12" fmla="*/ 1710 h 17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9" h="1710">
                <a:moveTo>
                  <a:pt x="2329" y="1710"/>
                </a:moveTo>
                <a:lnTo>
                  <a:pt x="0" y="1710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9906" name="Rectangle 61"/>
          <p:cNvSpPr>
            <a:spLocks noChangeArrowheads="1"/>
          </p:cNvSpPr>
          <p:nvPr/>
        </p:nvSpPr>
        <p:spPr bwMode="auto">
          <a:xfrm>
            <a:off x="4999038" y="3825875"/>
            <a:ext cx="28474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LR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9908" name="Line 63"/>
          <p:cNvSpPr>
            <a:spLocks noChangeShapeType="1"/>
          </p:cNvSpPr>
          <p:nvPr/>
        </p:nvSpPr>
        <p:spPr bwMode="auto">
          <a:xfrm flipH="1" flipV="1">
            <a:off x="3276600" y="2514600"/>
            <a:ext cx="3100388" cy="2924175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9909" name="Line 64"/>
          <p:cNvSpPr>
            <a:spLocks noChangeShapeType="1"/>
          </p:cNvSpPr>
          <p:nvPr/>
        </p:nvSpPr>
        <p:spPr bwMode="auto">
          <a:xfrm flipV="1">
            <a:off x="2370138" y="2628900"/>
            <a:ext cx="4559300" cy="2820988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9910" name="Oval 65"/>
          <p:cNvSpPr>
            <a:spLocks noChangeArrowheads="1"/>
          </p:cNvSpPr>
          <p:nvPr/>
        </p:nvSpPr>
        <p:spPr bwMode="auto">
          <a:xfrm>
            <a:off x="4730750" y="3895725"/>
            <a:ext cx="130175" cy="1254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49911" name="Rectangle 23"/>
          <p:cNvSpPr>
            <a:spLocks noChangeArrowheads="1"/>
          </p:cNvSpPr>
          <p:nvPr/>
        </p:nvSpPr>
        <p:spPr bwMode="auto">
          <a:xfrm>
            <a:off x="7345363" y="6208713"/>
            <a:ext cx="1447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49912" name="Rectangle 24"/>
          <p:cNvSpPr>
            <a:spLocks noChangeArrowheads="1"/>
          </p:cNvSpPr>
          <p:nvPr/>
        </p:nvSpPr>
        <p:spPr bwMode="auto">
          <a:xfrm>
            <a:off x="0" y="1797050"/>
            <a:ext cx="15700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49913" name="Rectangle 25"/>
          <p:cNvSpPr>
            <a:spLocks noChangeArrowheads="1"/>
          </p:cNvSpPr>
          <p:nvPr/>
        </p:nvSpPr>
        <p:spPr bwMode="auto">
          <a:xfrm>
            <a:off x="6202363" y="3770313"/>
            <a:ext cx="2590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Long-run macroeconomic equilibrium</a:t>
            </a:r>
          </a:p>
        </p:txBody>
      </p:sp>
      <p:sp>
        <p:nvSpPr>
          <p:cNvPr id="549914" name="Rectangle 26"/>
          <p:cNvSpPr>
            <a:spLocks noChangeArrowheads="1"/>
          </p:cNvSpPr>
          <p:nvPr/>
        </p:nvSpPr>
        <p:spPr bwMode="auto">
          <a:xfrm>
            <a:off x="5232398" y="6349998"/>
            <a:ext cx="200660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Potential output</a:t>
            </a:r>
          </a:p>
        </p:txBody>
      </p:sp>
      <p:sp>
        <p:nvSpPr>
          <p:cNvPr id="549915" name="Line 27"/>
          <p:cNvSpPr>
            <a:spLocks noChangeShapeType="1"/>
          </p:cNvSpPr>
          <p:nvPr/>
        </p:nvSpPr>
        <p:spPr bwMode="auto">
          <a:xfrm flipH="1">
            <a:off x="1401763" y="3943350"/>
            <a:ext cx="3302000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9916" name="Line 28"/>
          <p:cNvSpPr>
            <a:spLocks noChangeShapeType="1"/>
          </p:cNvSpPr>
          <p:nvPr/>
        </p:nvSpPr>
        <p:spPr bwMode="auto">
          <a:xfrm>
            <a:off x="5440363" y="3998913"/>
            <a:ext cx="6858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49917" name="Rectangle 29"/>
          <p:cNvSpPr>
            <a:spLocks noGrp="1" noRot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>
            <a:normAutofit fontScale="90000"/>
          </a:bodyPr>
          <a:lstStyle/>
          <a:p>
            <a:pPr algn="l"/>
            <a:r>
              <a:rPr lang="en-US" spc="0" dirty="0"/>
              <a:t>LONG-RUN MACROECONOMIC EQUILIBRIUM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1524000" y="1035050"/>
            <a:ext cx="7620000" cy="869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32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b="1" kern="1200">
                <a:solidFill>
                  <a:schemeClr val="tx1"/>
                </a:solidFill>
                <a:latin typeface="Candara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>
                <a:solidFill>
                  <a:prstClr val="black"/>
                </a:solidFill>
                <a:latin typeface="Century Gothic"/>
                <a:cs typeface="Century Gothic"/>
              </a:rPr>
              <a:t>This economy is in </a:t>
            </a:r>
            <a:r>
              <a:rPr lang="en-US" sz="2400" i="1" dirty="0">
                <a:solidFill>
                  <a:srgbClr val="0070C0"/>
                </a:solidFill>
                <a:latin typeface="Century Gothic"/>
                <a:cs typeface="Century Gothic"/>
              </a:rPr>
              <a:t>short run </a:t>
            </a:r>
            <a:r>
              <a:rPr lang="en-US" sz="2400" i="1" dirty="0">
                <a:solidFill>
                  <a:prstClr val="black"/>
                </a:solidFill>
                <a:latin typeface="Century Gothic"/>
                <a:cs typeface="Century Gothic"/>
              </a:rPr>
              <a:t>AND </a:t>
            </a:r>
            <a:r>
              <a:rPr lang="en-US" sz="2400" i="1" dirty="0">
                <a:solidFill>
                  <a:srgbClr val="990033"/>
                </a:solidFill>
                <a:latin typeface="Century Gothic"/>
                <a:cs typeface="Century Gothic"/>
              </a:rPr>
              <a:t>long-run </a:t>
            </a:r>
          </a:p>
          <a:p>
            <a:r>
              <a:rPr lang="en-US" sz="2400" i="1" dirty="0">
                <a:solidFill>
                  <a:srgbClr val="990033"/>
                </a:solidFill>
                <a:latin typeface="Century Gothic"/>
                <a:cs typeface="Century Gothic"/>
              </a:rPr>
              <a:t>macroeconomic equilibrium.</a:t>
            </a:r>
            <a:endParaRPr lang="en-US" sz="2400" i="1" dirty="0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5883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9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9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9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9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9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901" grpId="0" animBg="1"/>
      <p:bldP spid="549902" grpId="0" animBg="1"/>
      <p:bldP spid="549903" grpId="0" animBg="1"/>
      <p:bldP spid="549913" grpId="0"/>
      <p:bldP spid="549914" grpId="0"/>
      <p:bldP spid="549916" grpId="0" animBg="1"/>
      <p:bldP spid="3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pc="0" dirty="0"/>
              <a:t>WHAT HAPPENS WHEN THERE IS A SHOCK?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839200" cy="4648200"/>
          </a:xfrm>
        </p:spPr>
        <p:txBody>
          <a:bodyPr/>
          <a:lstStyle/>
          <a:p>
            <a:r>
              <a:rPr lang="en-US" dirty="0"/>
              <a:t>If a demand or supply shock hits the economy, </a:t>
            </a:r>
            <a:r>
              <a:rPr lang="en-US" i="1" dirty="0"/>
              <a:t>AD</a:t>
            </a:r>
            <a:r>
              <a:rPr lang="en-US" dirty="0"/>
              <a:t> or </a:t>
            </a:r>
            <a:r>
              <a:rPr lang="en-US" i="1" dirty="0"/>
              <a:t>SRAS</a:t>
            </a:r>
            <a:r>
              <a:rPr lang="en-US" dirty="0"/>
              <a:t> shifts and moves the economy to a new short-run equilibrium.</a:t>
            </a:r>
          </a:p>
        </p:txBody>
      </p:sp>
      <p:pic>
        <p:nvPicPr>
          <p:cNvPr id="5" name="Picture 2" descr="http://www.sxc.hu/pic/l/r/ro/rore_d/963386_52326955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19800" y="905933"/>
            <a:ext cx="2514600" cy="3352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8686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97397E-6 3.84224E-6 L -0.04286 0.19107 C -0.05119 0.22947 -0.05137 0.26833 -0.05102 0.30765 C -0.0505 0.35369 -0.0439 0.37982 -0.03488 0.39185 L 0.0158 0.43442 " pathEditMode="relative" rAng="-3708221" ptsTypes="FffFF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8" y="217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3" grpI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59" name="Line 66"/>
          <p:cNvSpPr>
            <a:spLocks noChangeShapeType="1"/>
          </p:cNvSpPr>
          <p:nvPr/>
        </p:nvSpPr>
        <p:spPr bwMode="auto">
          <a:xfrm flipV="1">
            <a:off x="2228850" y="2627312"/>
            <a:ext cx="3725863" cy="2479675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57" name="Line 63"/>
          <p:cNvSpPr>
            <a:spLocks noChangeShapeType="1"/>
          </p:cNvSpPr>
          <p:nvPr/>
        </p:nvSpPr>
        <p:spPr bwMode="auto">
          <a:xfrm>
            <a:off x="4211638" y="2489200"/>
            <a:ext cx="1587" cy="3459162"/>
          </a:xfrm>
          <a:prstGeom prst="line">
            <a:avLst/>
          </a:prstGeom>
          <a:noFill/>
          <a:ln w="38100">
            <a:solidFill>
              <a:srgbClr val="F7944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38" name="Line 65"/>
          <p:cNvSpPr>
            <a:spLocks noChangeShapeType="1"/>
          </p:cNvSpPr>
          <p:nvPr/>
        </p:nvSpPr>
        <p:spPr bwMode="auto">
          <a:xfrm flipH="1" flipV="1">
            <a:off x="2154238" y="2922587"/>
            <a:ext cx="2530475" cy="2566988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41" name="Line 5"/>
          <p:cNvSpPr>
            <a:spLocks noChangeShapeType="1"/>
          </p:cNvSpPr>
          <p:nvPr/>
        </p:nvSpPr>
        <p:spPr bwMode="auto">
          <a:xfrm flipH="1">
            <a:off x="1385888" y="3776662"/>
            <a:ext cx="2770187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42" name="Rectangle 7"/>
          <p:cNvSpPr>
            <a:spLocks noChangeArrowheads="1"/>
          </p:cNvSpPr>
          <p:nvPr/>
        </p:nvSpPr>
        <p:spPr bwMode="auto">
          <a:xfrm>
            <a:off x="4116388" y="5967412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44" name="Rectangle 13"/>
          <p:cNvSpPr>
            <a:spLocks noChangeArrowheads="1"/>
          </p:cNvSpPr>
          <p:nvPr/>
        </p:nvSpPr>
        <p:spPr bwMode="auto">
          <a:xfrm>
            <a:off x="1090613" y="3619500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45" name="Rectangle 31"/>
          <p:cNvSpPr>
            <a:spLocks noChangeArrowheads="1"/>
          </p:cNvSpPr>
          <p:nvPr/>
        </p:nvSpPr>
        <p:spPr bwMode="auto">
          <a:xfrm>
            <a:off x="4367213" y="3673475"/>
            <a:ext cx="214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48" name="Rectangle 41"/>
          <p:cNvSpPr>
            <a:spLocks noChangeArrowheads="1"/>
          </p:cNvSpPr>
          <p:nvPr/>
        </p:nvSpPr>
        <p:spPr bwMode="auto">
          <a:xfrm>
            <a:off x="5729288" y="2362200"/>
            <a:ext cx="58504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52" name="Rectangle 49"/>
          <p:cNvSpPr>
            <a:spLocks noChangeArrowheads="1"/>
          </p:cNvSpPr>
          <p:nvPr/>
        </p:nvSpPr>
        <p:spPr bwMode="auto">
          <a:xfrm>
            <a:off x="3986213" y="2225675"/>
            <a:ext cx="5075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LRAS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55" name="Rectangle 52"/>
          <p:cNvSpPr>
            <a:spLocks noChangeArrowheads="1"/>
          </p:cNvSpPr>
          <p:nvPr/>
        </p:nvSpPr>
        <p:spPr bwMode="auto">
          <a:xfrm>
            <a:off x="5486400" y="5051425"/>
            <a:ext cx="4113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58" name="Line 64"/>
          <p:cNvSpPr>
            <a:spLocks noChangeShapeType="1"/>
          </p:cNvSpPr>
          <p:nvPr/>
        </p:nvSpPr>
        <p:spPr bwMode="auto">
          <a:xfrm flipH="1" flipV="1">
            <a:off x="2970213" y="2528887"/>
            <a:ext cx="2532062" cy="2566988"/>
          </a:xfrm>
          <a:prstGeom prst="line">
            <a:avLst/>
          </a:prstGeom>
          <a:noFill/>
          <a:ln w="38100">
            <a:solidFill>
              <a:srgbClr val="AEC5E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60" name="Oval 68"/>
          <p:cNvSpPr>
            <a:spLocks noChangeArrowheads="1"/>
          </p:cNvSpPr>
          <p:nvPr/>
        </p:nvSpPr>
        <p:spPr bwMode="auto">
          <a:xfrm>
            <a:off x="4159250" y="3727450"/>
            <a:ext cx="106363" cy="11271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62" name="Freeform 76"/>
          <p:cNvSpPr>
            <a:spLocks/>
          </p:cNvSpPr>
          <p:nvPr/>
        </p:nvSpPr>
        <p:spPr bwMode="auto">
          <a:xfrm>
            <a:off x="1371600" y="1981200"/>
            <a:ext cx="6832600" cy="3967162"/>
          </a:xfrm>
          <a:custGeom>
            <a:avLst/>
            <a:gdLst>
              <a:gd name="T0" fmla="*/ 6838066 w 3031"/>
              <a:gd name="T1" fmla="*/ 4853066 h 2072"/>
              <a:gd name="T2" fmla="*/ 0 w 3031"/>
              <a:gd name="T3" fmla="*/ 4853066 h 2072"/>
              <a:gd name="T4" fmla="*/ 0 w 3031"/>
              <a:gd name="T5" fmla="*/ 0 h 2072"/>
              <a:gd name="T6" fmla="*/ 0 60000 65536"/>
              <a:gd name="T7" fmla="*/ 0 60000 65536"/>
              <a:gd name="T8" fmla="*/ 0 60000 65536"/>
              <a:gd name="T9" fmla="*/ 0 w 3031"/>
              <a:gd name="T10" fmla="*/ 0 h 2072"/>
              <a:gd name="T11" fmla="*/ 3031 w 3031"/>
              <a:gd name="T12" fmla="*/ 2072 h 20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1" h="2072">
                <a:moveTo>
                  <a:pt x="3031" y="2072"/>
                </a:moveTo>
                <a:lnTo>
                  <a:pt x="0" y="2072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64" name="Line 186"/>
          <p:cNvSpPr>
            <a:spLocks noChangeShapeType="1"/>
          </p:cNvSpPr>
          <p:nvPr/>
        </p:nvSpPr>
        <p:spPr bwMode="auto">
          <a:xfrm>
            <a:off x="4313238" y="6208712"/>
            <a:ext cx="288925" cy="1588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65" name="Freeform 187"/>
          <p:cNvSpPr>
            <a:spLocks/>
          </p:cNvSpPr>
          <p:nvPr/>
        </p:nvSpPr>
        <p:spPr bwMode="auto">
          <a:xfrm>
            <a:off x="4648200" y="6019800"/>
            <a:ext cx="990600" cy="609600"/>
          </a:xfrm>
          <a:custGeom>
            <a:avLst/>
            <a:gdLst>
              <a:gd name="T0" fmla="*/ 825712 w 155"/>
              <a:gd name="T1" fmla="*/ 436154 h 98"/>
              <a:gd name="T2" fmla="*/ 735150 w 155"/>
              <a:gd name="T3" fmla="*/ 541052 h 98"/>
              <a:gd name="T4" fmla="*/ 90562 w 155"/>
              <a:gd name="T5" fmla="*/ 541052 h 98"/>
              <a:gd name="T6" fmla="*/ 0 w 155"/>
              <a:gd name="T7" fmla="*/ 436154 h 98"/>
              <a:gd name="T8" fmla="*/ 0 w 155"/>
              <a:gd name="T9" fmla="*/ 104898 h 98"/>
              <a:gd name="T10" fmla="*/ 90562 w 155"/>
              <a:gd name="T11" fmla="*/ 0 h 98"/>
              <a:gd name="T12" fmla="*/ 735150 w 155"/>
              <a:gd name="T13" fmla="*/ 0 h 98"/>
              <a:gd name="T14" fmla="*/ 825712 w 155"/>
              <a:gd name="T15" fmla="*/ 104898 h 98"/>
              <a:gd name="T16" fmla="*/ 825712 w 155"/>
              <a:gd name="T17" fmla="*/ 436154 h 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5"/>
              <a:gd name="T28" fmla="*/ 0 h 98"/>
              <a:gd name="T29" fmla="*/ 155 w 155"/>
              <a:gd name="T30" fmla="*/ 98 h 9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5" h="98">
                <a:moveTo>
                  <a:pt x="155" y="79"/>
                </a:moveTo>
                <a:cubicBezTo>
                  <a:pt x="155" y="89"/>
                  <a:pt x="147" y="98"/>
                  <a:pt x="138" y="98"/>
                </a:cubicBezTo>
                <a:cubicBezTo>
                  <a:pt x="17" y="98"/>
                  <a:pt x="17" y="98"/>
                  <a:pt x="17" y="98"/>
                </a:cubicBezTo>
                <a:cubicBezTo>
                  <a:pt x="7" y="98"/>
                  <a:pt x="0" y="89"/>
                  <a:pt x="0" y="7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7" y="0"/>
                  <a:pt x="17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147" y="0"/>
                  <a:pt x="155" y="8"/>
                  <a:pt x="155" y="19"/>
                </a:cubicBezTo>
                <a:lnTo>
                  <a:pt x="155" y="7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66" name="Rectangle 30"/>
          <p:cNvSpPr>
            <a:spLocks noChangeArrowheads="1"/>
          </p:cNvSpPr>
          <p:nvPr/>
        </p:nvSpPr>
        <p:spPr bwMode="auto">
          <a:xfrm>
            <a:off x="7239000" y="6019800"/>
            <a:ext cx="1447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51967" name="Rectangle 31"/>
          <p:cNvSpPr>
            <a:spLocks noChangeArrowheads="1"/>
          </p:cNvSpPr>
          <p:nvPr/>
        </p:nvSpPr>
        <p:spPr bwMode="auto">
          <a:xfrm>
            <a:off x="0" y="1331912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51968" name="Rectangle 32"/>
          <p:cNvSpPr>
            <a:spLocks noChangeArrowheads="1"/>
          </p:cNvSpPr>
          <p:nvPr/>
        </p:nvSpPr>
        <p:spPr bwMode="auto">
          <a:xfrm>
            <a:off x="4648200" y="6019800"/>
            <a:ext cx="1219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Potential</a:t>
            </a:r>
          </a:p>
          <a:p>
            <a:pPr>
              <a:spcBef>
                <a:spcPct val="0"/>
              </a:spcBef>
            </a:pPr>
            <a:r>
              <a:rPr lang="en-US" sz="1600" i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output</a:t>
            </a:r>
          </a:p>
        </p:txBody>
      </p:sp>
      <p:sp>
        <p:nvSpPr>
          <p:cNvPr id="551983" name="Line 78"/>
          <p:cNvSpPr>
            <a:spLocks noChangeShapeType="1"/>
          </p:cNvSpPr>
          <p:nvPr/>
        </p:nvSpPr>
        <p:spPr bwMode="auto">
          <a:xfrm flipH="1" flipV="1">
            <a:off x="3419475" y="1853202"/>
            <a:ext cx="446088" cy="2031410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84" name="Freeform 126"/>
          <p:cNvSpPr>
            <a:spLocks/>
          </p:cNvSpPr>
          <p:nvPr/>
        </p:nvSpPr>
        <p:spPr bwMode="auto">
          <a:xfrm>
            <a:off x="1524000" y="1143000"/>
            <a:ext cx="4648200" cy="958995"/>
          </a:xfrm>
          <a:custGeom>
            <a:avLst/>
            <a:gdLst>
              <a:gd name="T0" fmla="*/ 2120680 w 398"/>
              <a:gd name="T1" fmla="*/ 1028563 h 205"/>
              <a:gd name="T2" fmla="*/ 2030098 w 398"/>
              <a:gd name="T3" fmla="*/ 1133631 h 205"/>
              <a:gd name="T4" fmla="*/ 90582 w 398"/>
              <a:gd name="T5" fmla="*/ 1133631 h 205"/>
              <a:gd name="T6" fmla="*/ 0 w 398"/>
              <a:gd name="T7" fmla="*/ 1028563 h 205"/>
              <a:gd name="T8" fmla="*/ 0 w 398"/>
              <a:gd name="T9" fmla="*/ 105068 h 205"/>
              <a:gd name="T10" fmla="*/ 90582 w 398"/>
              <a:gd name="T11" fmla="*/ 0 h 205"/>
              <a:gd name="T12" fmla="*/ 2030098 w 398"/>
              <a:gd name="T13" fmla="*/ 0 h 205"/>
              <a:gd name="T14" fmla="*/ 2120680 w 398"/>
              <a:gd name="T15" fmla="*/ 105068 h 205"/>
              <a:gd name="T16" fmla="*/ 2120680 w 398"/>
              <a:gd name="T17" fmla="*/ 1028563 h 20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98"/>
              <a:gd name="T28" fmla="*/ 0 h 205"/>
              <a:gd name="T29" fmla="*/ 398 w 398"/>
              <a:gd name="T30" fmla="*/ 205 h 20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98" h="205">
                <a:moveTo>
                  <a:pt x="398" y="186"/>
                </a:moveTo>
                <a:cubicBezTo>
                  <a:pt x="398" y="196"/>
                  <a:pt x="391" y="205"/>
                  <a:pt x="381" y="205"/>
                </a:cubicBezTo>
                <a:cubicBezTo>
                  <a:pt x="17" y="205"/>
                  <a:pt x="17" y="205"/>
                  <a:pt x="17" y="205"/>
                </a:cubicBezTo>
                <a:cubicBezTo>
                  <a:pt x="7" y="205"/>
                  <a:pt x="0" y="196"/>
                  <a:pt x="0" y="18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7" y="0"/>
                  <a:pt x="17" y="0"/>
                </a:cubicBezTo>
                <a:cubicBezTo>
                  <a:pt x="381" y="0"/>
                  <a:pt x="381" y="0"/>
                  <a:pt x="381" y="0"/>
                </a:cubicBezTo>
                <a:cubicBezTo>
                  <a:pt x="391" y="0"/>
                  <a:pt x="398" y="9"/>
                  <a:pt x="398" y="19"/>
                </a:cubicBezTo>
                <a:lnTo>
                  <a:pt x="398" y="186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85" name="Rectangle 49"/>
          <p:cNvSpPr>
            <a:spLocks noChangeArrowheads="1"/>
          </p:cNvSpPr>
          <p:nvPr/>
        </p:nvSpPr>
        <p:spPr bwMode="auto">
          <a:xfrm>
            <a:off x="1600200" y="1219200"/>
            <a:ext cx="44291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2. …reduces the aggregate price level and aggregate output and leads to higher unemployment in the short run…</a:t>
            </a:r>
          </a:p>
        </p:txBody>
      </p:sp>
      <p:sp>
        <p:nvSpPr>
          <p:cNvPr id="551986" name="Rectangle 54"/>
          <p:cNvSpPr>
            <a:spLocks noChangeArrowheads="1"/>
          </p:cNvSpPr>
          <p:nvPr/>
        </p:nvSpPr>
        <p:spPr bwMode="auto">
          <a:xfrm>
            <a:off x="4676775" y="5437187"/>
            <a:ext cx="4113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88" name="Freeform 56"/>
          <p:cNvSpPr>
            <a:spLocks/>
          </p:cNvSpPr>
          <p:nvPr/>
        </p:nvSpPr>
        <p:spPr bwMode="auto">
          <a:xfrm>
            <a:off x="2743200" y="6477000"/>
            <a:ext cx="1905000" cy="381000"/>
          </a:xfrm>
          <a:custGeom>
            <a:avLst/>
            <a:gdLst>
              <a:gd name="T0" fmla="*/ 1369419 w 257"/>
              <a:gd name="T1" fmla="*/ 203732 h 57"/>
              <a:gd name="T2" fmla="*/ 1278835 w 257"/>
              <a:gd name="T3" fmla="*/ 313857 h 57"/>
              <a:gd name="T4" fmla="*/ 90584 w 257"/>
              <a:gd name="T5" fmla="*/ 313857 h 57"/>
              <a:gd name="T6" fmla="*/ 0 w 257"/>
              <a:gd name="T7" fmla="*/ 203732 h 57"/>
              <a:gd name="T8" fmla="*/ 0 w 257"/>
              <a:gd name="T9" fmla="*/ 104619 h 57"/>
              <a:gd name="T10" fmla="*/ 90584 w 257"/>
              <a:gd name="T11" fmla="*/ 0 h 57"/>
              <a:gd name="T12" fmla="*/ 1278835 w 257"/>
              <a:gd name="T13" fmla="*/ 0 h 57"/>
              <a:gd name="T14" fmla="*/ 1369419 w 257"/>
              <a:gd name="T15" fmla="*/ 104619 h 57"/>
              <a:gd name="T16" fmla="*/ 1369419 w 257"/>
              <a:gd name="T17" fmla="*/ 203732 h 5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57"/>
              <a:gd name="T28" fmla="*/ 0 h 57"/>
              <a:gd name="T29" fmla="*/ 257 w 257"/>
              <a:gd name="T30" fmla="*/ 57 h 5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57" h="57">
                <a:moveTo>
                  <a:pt x="257" y="37"/>
                </a:moveTo>
                <a:cubicBezTo>
                  <a:pt x="257" y="48"/>
                  <a:pt x="249" y="57"/>
                  <a:pt x="240" y="57"/>
                </a:cubicBezTo>
                <a:cubicBezTo>
                  <a:pt x="17" y="57"/>
                  <a:pt x="17" y="57"/>
                  <a:pt x="17" y="57"/>
                </a:cubicBezTo>
                <a:cubicBezTo>
                  <a:pt x="7" y="57"/>
                  <a:pt x="0" y="48"/>
                  <a:pt x="0" y="37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7" y="0"/>
                  <a:pt x="17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249" y="0"/>
                  <a:pt x="257" y="9"/>
                  <a:pt x="257" y="19"/>
                </a:cubicBezTo>
                <a:lnTo>
                  <a:pt x="257" y="37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89" name="Rectangle 53"/>
          <p:cNvSpPr>
            <a:spLocks noChangeArrowheads="1"/>
          </p:cNvSpPr>
          <p:nvPr/>
        </p:nvSpPr>
        <p:spPr bwMode="auto">
          <a:xfrm>
            <a:off x="2743200" y="6477000"/>
            <a:ext cx="2209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Recessionary gap</a:t>
            </a:r>
          </a:p>
        </p:txBody>
      </p:sp>
      <p:sp>
        <p:nvSpPr>
          <p:cNvPr id="551990" name="Line 54"/>
          <p:cNvSpPr>
            <a:spLocks noChangeShapeType="1"/>
          </p:cNvSpPr>
          <p:nvPr/>
        </p:nvSpPr>
        <p:spPr bwMode="auto">
          <a:xfrm flipH="1">
            <a:off x="1371600" y="4267200"/>
            <a:ext cx="2049463" cy="15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91" name="Rectangle 9"/>
          <p:cNvSpPr>
            <a:spLocks noChangeArrowheads="1"/>
          </p:cNvSpPr>
          <p:nvPr/>
        </p:nvSpPr>
        <p:spPr bwMode="auto">
          <a:xfrm>
            <a:off x="3387725" y="5967412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3" name="Freeform 75"/>
          <p:cNvSpPr>
            <a:spLocks/>
          </p:cNvSpPr>
          <p:nvPr/>
        </p:nvSpPr>
        <p:spPr bwMode="auto">
          <a:xfrm>
            <a:off x="3487738" y="6261100"/>
            <a:ext cx="723900" cy="139700"/>
          </a:xfrm>
          <a:custGeom>
            <a:avLst/>
            <a:gdLst>
              <a:gd name="T0" fmla="*/ 0 w 136"/>
              <a:gd name="T1" fmla="*/ 0 h 25"/>
              <a:gd name="T2" fmla="*/ 63899 w 136"/>
              <a:gd name="T3" fmla="*/ 82915 h 25"/>
              <a:gd name="T4" fmla="*/ 319496 w 136"/>
              <a:gd name="T5" fmla="*/ 82915 h 25"/>
              <a:gd name="T6" fmla="*/ 362095 w 136"/>
              <a:gd name="T7" fmla="*/ 138191 h 25"/>
              <a:gd name="T8" fmla="*/ 404694 w 136"/>
              <a:gd name="T9" fmla="*/ 82915 h 25"/>
              <a:gd name="T10" fmla="*/ 660291 w 136"/>
              <a:gd name="T11" fmla="*/ 82915 h 25"/>
              <a:gd name="T12" fmla="*/ 724190 w 136"/>
              <a:gd name="T13" fmla="*/ 0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6"/>
              <a:gd name="T22" fmla="*/ 0 h 25"/>
              <a:gd name="T23" fmla="*/ 136 w 136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6" h="25">
                <a:moveTo>
                  <a:pt x="0" y="0"/>
                </a:moveTo>
                <a:cubicBezTo>
                  <a:pt x="0" y="10"/>
                  <a:pt x="2" y="15"/>
                  <a:pt x="12" y="15"/>
                </a:cubicBezTo>
                <a:cubicBezTo>
                  <a:pt x="14" y="15"/>
                  <a:pt x="59" y="15"/>
                  <a:pt x="60" y="15"/>
                </a:cubicBezTo>
                <a:cubicBezTo>
                  <a:pt x="63" y="15"/>
                  <a:pt x="68" y="17"/>
                  <a:pt x="68" y="25"/>
                </a:cubicBezTo>
                <a:cubicBezTo>
                  <a:pt x="68" y="17"/>
                  <a:pt x="73" y="15"/>
                  <a:pt x="76" y="15"/>
                </a:cubicBezTo>
                <a:cubicBezTo>
                  <a:pt x="77" y="15"/>
                  <a:pt x="122" y="15"/>
                  <a:pt x="124" y="15"/>
                </a:cubicBezTo>
                <a:cubicBezTo>
                  <a:pt x="134" y="15"/>
                  <a:pt x="136" y="10"/>
                  <a:pt x="136" y="0"/>
                </a:cubicBezTo>
              </a:path>
            </a:pathLst>
          </a:custGeom>
          <a:noFill/>
          <a:ln w="15">
            <a:solidFill>
              <a:srgbClr val="6D6F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4" name="Freeform 173"/>
          <p:cNvSpPr>
            <a:spLocks/>
          </p:cNvSpPr>
          <p:nvPr/>
        </p:nvSpPr>
        <p:spPr bwMode="auto">
          <a:xfrm>
            <a:off x="5257800" y="3581400"/>
            <a:ext cx="1371600" cy="1143000"/>
          </a:xfrm>
          <a:custGeom>
            <a:avLst/>
            <a:gdLst>
              <a:gd name="T0" fmla="*/ 1342346 w 252"/>
              <a:gd name="T1" fmla="*/ 609158 h 129"/>
              <a:gd name="T2" fmla="*/ 1251791 w 252"/>
              <a:gd name="T3" fmla="*/ 714376 h 129"/>
              <a:gd name="T4" fmla="*/ 95882 w 252"/>
              <a:gd name="T5" fmla="*/ 714376 h 129"/>
              <a:gd name="T6" fmla="*/ 0 w 252"/>
              <a:gd name="T7" fmla="*/ 609158 h 129"/>
              <a:gd name="T8" fmla="*/ 0 w 252"/>
              <a:gd name="T9" fmla="*/ 105218 h 129"/>
              <a:gd name="T10" fmla="*/ 95882 w 252"/>
              <a:gd name="T11" fmla="*/ 0 h 129"/>
              <a:gd name="T12" fmla="*/ 1251791 w 252"/>
              <a:gd name="T13" fmla="*/ 0 h 129"/>
              <a:gd name="T14" fmla="*/ 1342346 w 252"/>
              <a:gd name="T15" fmla="*/ 105218 h 129"/>
              <a:gd name="T16" fmla="*/ 1342346 w 252"/>
              <a:gd name="T17" fmla="*/ 609158 h 12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52"/>
              <a:gd name="T28" fmla="*/ 0 h 129"/>
              <a:gd name="T29" fmla="*/ 252 w 252"/>
              <a:gd name="T30" fmla="*/ 129 h 12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52" h="129">
                <a:moveTo>
                  <a:pt x="252" y="110"/>
                </a:moveTo>
                <a:cubicBezTo>
                  <a:pt x="252" y="121"/>
                  <a:pt x="244" y="129"/>
                  <a:pt x="235" y="129"/>
                </a:cubicBezTo>
                <a:cubicBezTo>
                  <a:pt x="18" y="129"/>
                  <a:pt x="18" y="129"/>
                  <a:pt x="18" y="129"/>
                </a:cubicBezTo>
                <a:cubicBezTo>
                  <a:pt x="8" y="129"/>
                  <a:pt x="0" y="121"/>
                  <a:pt x="0" y="110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8" y="0"/>
                </a:cubicBezTo>
                <a:cubicBezTo>
                  <a:pt x="235" y="0"/>
                  <a:pt x="235" y="0"/>
                  <a:pt x="235" y="0"/>
                </a:cubicBezTo>
                <a:cubicBezTo>
                  <a:pt x="244" y="0"/>
                  <a:pt x="252" y="9"/>
                  <a:pt x="252" y="19"/>
                </a:cubicBezTo>
                <a:lnTo>
                  <a:pt x="252" y="110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5" name="Line 164"/>
          <p:cNvSpPr>
            <a:spLocks noChangeShapeType="1"/>
          </p:cNvSpPr>
          <p:nvPr/>
        </p:nvSpPr>
        <p:spPr bwMode="auto">
          <a:xfrm flipH="1">
            <a:off x="3549650" y="3738562"/>
            <a:ext cx="528638" cy="349250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96" name="Freeform 165"/>
          <p:cNvSpPr>
            <a:spLocks/>
          </p:cNvSpPr>
          <p:nvPr/>
        </p:nvSpPr>
        <p:spPr bwMode="auto">
          <a:xfrm>
            <a:off x="3455988" y="4027487"/>
            <a:ext cx="160337" cy="127000"/>
          </a:xfrm>
          <a:custGeom>
            <a:avLst/>
            <a:gdLst>
              <a:gd name="T0" fmla="*/ 106787 w 30"/>
              <a:gd name="T1" fmla="*/ 54991 h 23"/>
              <a:gd name="T2" fmla="*/ 160180 w 30"/>
              <a:gd name="T3" fmla="*/ 82487 h 23"/>
              <a:gd name="T4" fmla="*/ 154841 w 30"/>
              <a:gd name="T5" fmla="*/ 82487 h 23"/>
              <a:gd name="T6" fmla="*/ 74751 w 30"/>
              <a:gd name="T7" fmla="*/ 98984 h 23"/>
              <a:gd name="T8" fmla="*/ 0 w 30"/>
              <a:gd name="T9" fmla="*/ 126480 h 23"/>
              <a:gd name="T10" fmla="*/ 58733 w 30"/>
              <a:gd name="T11" fmla="*/ 65990 h 23"/>
              <a:gd name="T12" fmla="*/ 106787 w 30"/>
              <a:gd name="T13" fmla="*/ 0 h 23"/>
              <a:gd name="T14" fmla="*/ 106787 w 30"/>
              <a:gd name="T15" fmla="*/ 0 h 23"/>
              <a:gd name="T16" fmla="*/ 106787 w 30"/>
              <a:gd name="T17" fmla="*/ 54991 h 2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23"/>
              <a:gd name="T29" fmla="*/ 30 w 30"/>
              <a:gd name="T30" fmla="*/ 23 h 2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23">
                <a:moveTo>
                  <a:pt x="20" y="10"/>
                </a:moveTo>
                <a:cubicBezTo>
                  <a:pt x="30" y="15"/>
                  <a:pt x="30" y="15"/>
                  <a:pt x="30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14" y="18"/>
                  <a:pt x="14" y="18"/>
                  <a:pt x="14" y="18"/>
                </a:cubicBezTo>
                <a:cubicBezTo>
                  <a:pt x="10" y="19"/>
                  <a:pt x="5" y="21"/>
                  <a:pt x="0" y="23"/>
                </a:cubicBezTo>
                <a:cubicBezTo>
                  <a:pt x="4" y="19"/>
                  <a:pt x="7" y="16"/>
                  <a:pt x="11" y="12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0" y="0"/>
                  <a:pt x="20" y="0"/>
                </a:cubicBezTo>
                <a:lnTo>
                  <a:pt x="20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7" name="Freeform 166"/>
          <p:cNvSpPr>
            <a:spLocks/>
          </p:cNvSpPr>
          <p:nvPr/>
        </p:nvSpPr>
        <p:spPr bwMode="auto">
          <a:xfrm>
            <a:off x="3640138" y="3905250"/>
            <a:ext cx="160337" cy="127000"/>
          </a:xfrm>
          <a:custGeom>
            <a:avLst/>
            <a:gdLst>
              <a:gd name="T0" fmla="*/ 112126 w 30"/>
              <a:gd name="T1" fmla="*/ 54991 h 23"/>
              <a:gd name="T2" fmla="*/ 160180 w 30"/>
              <a:gd name="T3" fmla="*/ 76988 h 23"/>
              <a:gd name="T4" fmla="*/ 154841 w 30"/>
              <a:gd name="T5" fmla="*/ 76988 h 23"/>
              <a:gd name="T6" fmla="*/ 80090 w 30"/>
              <a:gd name="T7" fmla="*/ 93485 h 23"/>
              <a:gd name="T8" fmla="*/ 0 w 30"/>
              <a:gd name="T9" fmla="*/ 126480 h 23"/>
              <a:gd name="T10" fmla="*/ 58733 w 30"/>
              <a:gd name="T11" fmla="*/ 65990 h 23"/>
              <a:gd name="T12" fmla="*/ 106787 w 30"/>
              <a:gd name="T13" fmla="*/ 0 h 23"/>
              <a:gd name="T14" fmla="*/ 106787 w 30"/>
              <a:gd name="T15" fmla="*/ 0 h 23"/>
              <a:gd name="T16" fmla="*/ 112126 w 30"/>
              <a:gd name="T17" fmla="*/ 54991 h 2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23"/>
              <a:gd name="T29" fmla="*/ 30 w 30"/>
              <a:gd name="T30" fmla="*/ 23 h 2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23">
                <a:moveTo>
                  <a:pt x="21" y="10"/>
                </a:moveTo>
                <a:cubicBezTo>
                  <a:pt x="30" y="14"/>
                  <a:pt x="30" y="14"/>
                  <a:pt x="30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15" y="17"/>
                  <a:pt x="15" y="17"/>
                  <a:pt x="15" y="17"/>
                </a:cubicBezTo>
                <a:cubicBezTo>
                  <a:pt x="10" y="19"/>
                  <a:pt x="5" y="21"/>
                  <a:pt x="0" y="23"/>
                </a:cubicBezTo>
                <a:cubicBezTo>
                  <a:pt x="4" y="19"/>
                  <a:pt x="8" y="15"/>
                  <a:pt x="11" y="12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0" y="0"/>
                  <a:pt x="20" y="0"/>
                </a:cubicBezTo>
                <a:lnTo>
                  <a:pt x="21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8" name="Freeform 167"/>
          <p:cNvSpPr>
            <a:spLocks/>
          </p:cNvSpPr>
          <p:nvPr/>
        </p:nvSpPr>
        <p:spPr bwMode="auto">
          <a:xfrm>
            <a:off x="3865563" y="3756025"/>
            <a:ext cx="153987" cy="128587"/>
          </a:xfrm>
          <a:custGeom>
            <a:avLst/>
            <a:gdLst>
              <a:gd name="T0" fmla="*/ 105801 w 29"/>
              <a:gd name="T1" fmla="*/ 56010 h 23"/>
              <a:gd name="T2" fmla="*/ 153411 w 29"/>
              <a:gd name="T3" fmla="*/ 84014 h 23"/>
              <a:gd name="T4" fmla="*/ 153411 w 29"/>
              <a:gd name="T5" fmla="*/ 84014 h 23"/>
              <a:gd name="T6" fmla="*/ 74060 w 29"/>
              <a:gd name="T7" fmla="*/ 100817 h 23"/>
              <a:gd name="T8" fmla="*/ 0 w 29"/>
              <a:gd name="T9" fmla="*/ 128822 h 23"/>
              <a:gd name="T10" fmla="*/ 58190 w 29"/>
              <a:gd name="T11" fmla="*/ 67211 h 23"/>
              <a:gd name="T12" fmla="*/ 105801 w 29"/>
              <a:gd name="T13" fmla="*/ 0 h 23"/>
              <a:gd name="T14" fmla="*/ 105801 w 29"/>
              <a:gd name="T15" fmla="*/ 0 h 23"/>
              <a:gd name="T16" fmla="*/ 105801 w 29"/>
              <a:gd name="T17" fmla="*/ 56010 h 2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"/>
              <a:gd name="T28" fmla="*/ 0 h 23"/>
              <a:gd name="T29" fmla="*/ 29 w 29"/>
              <a:gd name="T30" fmla="*/ 23 h 2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" h="23">
                <a:moveTo>
                  <a:pt x="20" y="10"/>
                </a:move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14" y="18"/>
                  <a:pt x="14" y="18"/>
                  <a:pt x="14" y="18"/>
                </a:cubicBezTo>
                <a:cubicBezTo>
                  <a:pt x="10" y="19"/>
                  <a:pt x="5" y="21"/>
                  <a:pt x="0" y="23"/>
                </a:cubicBezTo>
                <a:cubicBezTo>
                  <a:pt x="4" y="19"/>
                  <a:pt x="7" y="16"/>
                  <a:pt x="11" y="12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0" y="0"/>
                  <a:pt x="20" y="0"/>
                </a:cubicBezTo>
                <a:lnTo>
                  <a:pt x="20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9" name="Rectangle 35"/>
          <p:cNvSpPr>
            <a:spLocks noChangeArrowheads="1"/>
          </p:cNvSpPr>
          <p:nvPr/>
        </p:nvSpPr>
        <p:spPr bwMode="auto">
          <a:xfrm>
            <a:off x="3234268" y="4415368"/>
            <a:ext cx="214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2000" name="Oval 69"/>
          <p:cNvSpPr>
            <a:spLocks noChangeArrowheads="1"/>
          </p:cNvSpPr>
          <p:nvPr/>
        </p:nvSpPr>
        <p:spPr bwMode="auto">
          <a:xfrm>
            <a:off x="3432175" y="4214812"/>
            <a:ext cx="109538" cy="1127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2003" name="Line 67"/>
          <p:cNvSpPr>
            <a:spLocks noChangeShapeType="1"/>
          </p:cNvSpPr>
          <p:nvPr/>
        </p:nvSpPr>
        <p:spPr bwMode="auto">
          <a:xfrm flipV="1">
            <a:off x="3465512" y="4267200"/>
            <a:ext cx="14287" cy="1663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2004" name="Rectangle 68"/>
          <p:cNvSpPr>
            <a:spLocks noChangeArrowheads="1"/>
          </p:cNvSpPr>
          <p:nvPr/>
        </p:nvSpPr>
        <p:spPr bwMode="auto">
          <a:xfrm>
            <a:off x="5334000" y="3581400"/>
            <a:ext cx="17526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1. An initial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negative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demand shock…</a:t>
            </a:r>
          </a:p>
        </p:txBody>
      </p:sp>
      <p:sp>
        <p:nvSpPr>
          <p:cNvPr id="552005" name="Line 69"/>
          <p:cNvSpPr>
            <a:spLocks noChangeShapeType="1"/>
          </p:cNvSpPr>
          <p:nvPr/>
        </p:nvSpPr>
        <p:spPr bwMode="auto">
          <a:xfrm>
            <a:off x="1143000" y="3886200"/>
            <a:ext cx="0" cy="2921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2008" name="Rectangle 13"/>
          <p:cNvSpPr>
            <a:spLocks noChangeArrowheads="1"/>
          </p:cNvSpPr>
          <p:nvPr/>
        </p:nvSpPr>
        <p:spPr bwMode="auto">
          <a:xfrm>
            <a:off x="1066800" y="4191000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2009" name="Rectangle 73"/>
          <p:cNvSpPr>
            <a:spLocks noGrp="1" noRot="1" noChangeArrowheads="1"/>
          </p:cNvSpPr>
          <p:nvPr>
            <p:ph type="title"/>
          </p:nvPr>
        </p:nvSpPr>
        <p:spPr>
          <a:xfrm>
            <a:off x="0" y="152400"/>
            <a:ext cx="9144000" cy="838200"/>
          </a:xfrm>
        </p:spPr>
        <p:txBody>
          <a:bodyPr>
            <a:noAutofit/>
          </a:bodyPr>
          <a:lstStyle/>
          <a:p>
            <a:r>
              <a:rPr lang="en-US" sz="4000" spc="0" dirty="0"/>
              <a:t>SHORT-RUN EFFECTS OF A NEGATIVE DEMAND SHOCK</a:t>
            </a:r>
          </a:p>
        </p:txBody>
      </p:sp>
    </p:spTree>
    <p:extLst>
      <p:ext uri="{BB962C8B-B14F-4D97-AF65-F5344CB8AC3E}">
        <p14:creationId xmlns:p14="http://schemas.microsoft.com/office/powerpoint/2010/main" val="1331980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5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33 -0.07778 L 5.55112E-17 1.11022E-1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519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5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5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5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5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5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5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5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5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5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38" grpId="0" animBg="1"/>
      <p:bldP spid="551938" grpId="1" animBg="1"/>
      <p:bldP spid="551983" grpId="0" animBg="1"/>
      <p:bldP spid="551984" grpId="0" animBg="1"/>
      <p:bldP spid="551985" grpId="0"/>
      <p:bldP spid="551986" grpId="0"/>
      <p:bldP spid="551988" grpId="0" animBg="1"/>
      <p:bldP spid="551989" grpId="0"/>
      <p:bldP spid="551990" grpId="0" animBg="1"/>
      <p:bldP spid="551991" grpId="0"/>
      <p:bldP spid="551993" grpId="0" animBg="1"/>
      <p:bldP spid="551994" grpId="0" animBg="1"/>
      <p:bldP spid="551995" grpId="0" animBg="1"/>
      <p:bldP spid="551996" grpId="0" animBg="1"/>
      <p:bldP spid="551997" grpId="0" animBg="1"/>
      <p:bldP spid="551998" grpId="0" animBg="1"/>
      <p:bldP spid="551999" grpId="0"/>
      <p:bldP spid="552000" grpId="0" animBg="1"/>
      <p:bldP spid="552003" grpId="0" animBg="1"/>
      <p:bldP spid="552004" grpId="0"/>
      <p:bldP spid="552005" grpId="0" animBg="1"/>
      <p:bldP spid="55200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59" name="Line 66"/>
          <p:cNvSpPr>
            <a:spLocks noChangeShapeType="1"/>
          </p:cNvSpPr>
          <p:nvPr/>
        </p:nvSpPr>
        <p:spPr bwMode="auto">
          <a:xfrm flipV="1">
            <a:off x="2228850" y="2627312"/>
            <a:ext cx="3725863" cy="2479675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57" name="Line 63"/>
          <p:cNvSpPr>
            <a:spLocks noChangeShapeType="1"/>
          </p:cNvSpPr>
          <p:nvPr/>
        </p:nvSpPr>
        <p:spPr bwMode="auto">
          <a:xfrm>
            <a:off x="3471335" y="2489200"/>
            <a:ext cx="1587" cy="3459162"/>
          </a:xfrm>
          <a:prstGeom prst="line">
            <a:avLst/>
          </a:prstGeom>
          <a:noFill/>
          <a:ln w="38100">
            <a:solidFill>
              <a:srgbClr val="F7944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38" name="Line 65"/>
          <p:cNvSpPr>
            <a:spLocks noChangeShapeType="1"/>
          </p:cNvSpPr>
          <p:nvPr/>
        </p:nvSpPr>
        <p:spPr bwMode="auto">
          <a:xfrm flipH="1" flipV="1">
            <a:off x="2923645" y="2489358"/>
            <a:ext cx="2530475" cy="2566988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41" name="Line 5"/>
          <p:cNvSpPr>
            <a:spLocks noChangeShapeType="1"/>
          </p:cNvSpPr>
          <p:nvPr/>
        </p:nvSpPr>
        <p:spPr bwMode="auto">
          <a:xfrm flipH="1">
            <a:off x="1385888" y="3776662"/>
            <a:ext cx="2770187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42" name="Rectangle 7"/>
          <p:cNvSpPr>
            <a:spLocks noChangeArrowheads="1"/>
          </p:cNvSpPr>
          <p:nvPr/>
        </p:nvSpPr>
        <p:spPr bwMode="auto">
          <a:xfrm>
            <a:off x="4116388" y="5967412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44" name="Rectangle 13"/>
          <p:cNvSpPr>
            <a:spLocks noChangeArrowheads="1"/>
          </p:cNvSpPr>
          <p:nvPr/>
        </p:nvSpPr>
        <p:spPr bwMode="auto">
          <a:xfrm>
            <a:off x="1090613" y="3619500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45" name="Rectangle 31"/>
          <p:cNvSpPr>
            <a:spLocks noChangeArrowheads="1"/>
          </p:cNvSpPr>
          <p:nvPr/>
        </p:nvSpPr>
        <p:spPr bwMode="auto">
          <a:xfrm>
            <a:off x="4367213" y="3673475"/>
            <a:ext cx="214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48" name="Rectangle 41"/>
          <p:cNvSpPr>
            <a:spLocks noChangeArrowheads="1"/>
          </p:cNvSpPr>
          <p:nvPr/>
        </p:nvSpPr>
        <p:spPr bwMode="auto">
          <a:xfrm>
            <a:off x="5729288" y="2362200"/>
            <a:ext cx="58504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52" name="Rectangle 49"/>
          <p:cNvSpPr>
            <a:spLocks noChangeArrowheads="1"/>
          </p:cNvSpPr>
          <p:nvPr/>
        </p:nvSpPr>
        <p:spPr bwMode="auto">
          <a:xfrm>
            <a:off x="3217863" y="2209800"/>
            <a:ext cx="5075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LRAS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55" name="Rectangle 52"/>
          <p:cNvSpPr>
            <a:spLocks noChangeArrowheads="1"/>
          </p:cNvSpPr>
          <p:nvPr/>
        </p:nvSpPr>
        <p:spPr bwMode="auto">
          <a:xfrm>
            <a:off x="5486400" y="5051425"/>
            <a:ext cx="4113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58" name="Line 64"/>
          <p:cNvSpPr>
            <a:spLocks noChangeShapeType="1"/>
          </p:cNvSpPr>
          <p:nvPr/>
        </p:nvSpPr>
        <p:spPr bwMode="auto">
          <a:xfrm flipH="1" flipV="1">
            <a:off x="2116138" y="2870993"/>
            <a:ext cx="2532062" cy="2566988"/>
          </a:xfrm>
          <a:prstGeom prst="line">
            <a:avLst/>
          </a:prstGeom>
          <a:noFill/>
          <a:ln w="38100">
            <a:solidFill>
              <a:srgbClr val="AEC5E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60" name="Oval 68"/>
          <p:cNvSpPr>
            <a:spLocks noChangeArrowheads="1"/>
          </p:cNvSpPr>
          <p:nvPr/>
        </p:nvSpPr>
        <p:spPr bwMode="auto">
          <a:xfrm>
            <a:off x="4159250" y="3727450"/>
            <a:ext cx="106363" cy="11271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62" name="Freeform 76"/>
          <p:cNvSpPr>
            <a:spLocks/>
          </p:cNvSpPr>
          <p:nvPr/>
        </p:nvSpPr>
        <p:spPr bwMode="auto">
          <a:xfrm>
            <a:off x="1371600" y="1828800"/>
            <a:ext cx="6832600" cy="4119562"/>
          </a:xfrm>
          <a:custGeom>
            <a:avLst/>
            <a:gdLst>
              <a:gd name="T0" fmla="*/ 6838066 w 3031"/>
              <a:gd name="T1" fmla="*/ 4853066 h 2072"/>
              <a:gd name="T2" fmla="*/ 0 w 3031"/>
              <a:gd name="T3" fmla="*/ 4853066 h 2072"/>
              <a:gd name="T4" fmla="*/ 0 w 3031"/>
              <a:gd name="T5" fmla="*/ 0 h 2072"/>
              <a:gd name="T6" fmla="*/ 0 60000 65536"/>
              <a:gd name="T7" fmla="*/ 0 60000 65536"/>
              <a:gd name="T8" fmla="*/ 0 60000 65536"/>
              <a:gd name="T9" fmla="*/ 0 w 3031"/>
              <a:gd name="T10" fmla="*/ 0 h 2072"/>
              <a:gd name="T11" fmla="*/ 3031 w 3031"/>
              <a:gd name="T12" fmla="*/ 2072 h 20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1" h="2072">
                <a:moveTo>
                  <a:pt x="3031" y="2072"/>
                </a:moveTo>
                <a:lnTo>
                  <a:pt x="0" y="2072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64" name="Line 186"/>
          <p:cNvSpPr>
            <a:spLocks noChangeShapeType="1"/>
          </p:cNvSpPr>
          <p:nvPr/>
        </p:nvSpPr>
        <p:spPr bwMode="auto">
          <a:xfrm flipV="1">
            <a:off x="2584432" y="6072187"/>
            <a:ext cx="749849" cy="184679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65" name="Freeform 187"/>
          <p:cNvSpPr>
            <a:spLocks/>
          </p:cNvSpPr>
          <p:nvPr/>
        </p:nvSpPr>
        <p:spPr bwMode="auto">
          <a:xfrm>
            <a:off x="1600200" y="6019800"/>
            <a:ext cx="990600" cy="609600"/>
          </a:xfrm>
          <a:custGeom>
            <a:avLst/>
            <a:gdLst>
              <a:gd name="T0" fmla="*/ 825712 w 155"/>
              <a:gd name="T1" fmla="*/ 436154 h 98"/>
              <a:gd name="T2" fmla="*/ 735150 w 155"/>
              <a:gd name="T3" fmla="*/ 541052 h 98"/>
              <a:gd name="T4" fmla="*/ 90562 w 155"/>
              <a:gd name="T5" fmla="*/ 541052 h 98"/>
              <a:gd name="T6" fmla="*/ 0 w 155"/>
              <a:gd name="T7" fmla="*/ 436154 h 98"/>
              <a:gd name="T8" fmla="*/ 0 w 155"/>
              <a:gd name="T9" fmla="*/ 104898 h 98"/>
              <a:gd name="T10" fmla="*/ 90562 w 155"/>
              <a:gd name="T11" fmla="*/ 0 h 98"/>
              <a:gd name="T12" fmla="*/ 735150 w 155"/>
              <a:gd name="T13" fmla="*/ 0 h 98"/>
              <a:gd name="T14" fmla="*/ 825712 w 155"/>
              <a:gd name="T15" fmla="*/ 104898 h 98"/>
              <a:gd name="T16" fmla="*/ 825712 w 155"/>
              <a:gd name="T17" fmla="*/ 436154 h 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5"/>
              <a:gd name="T28" fmla="*/ 0 h 98"/>
              <a:gd name="T29" fmla="*/ 155 w 155"/>
              <a:gd name="T30" fmla="*/ 98 h 9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5" h="98">
                <a:moveTo>
                  <a:pt x="155" y="79"/>
                </a:moveTo>
                <a:cubicBezTo>
                  <a:pt x="155" y="89"/>
                  <a:pt x="147" y="98"/>
                  <a:pt x="138" y="98"/>
                </a:cubicBezTo>
                <a:cubicBezTo>
                  <a:pt x="17" y="98"/>
                  <a:pt x="17" y="98"/>
                  <a:pt x="17" y="98"/>
                </a:cubicBezTo>
                <a:cubicBezTo>
                  <a:pt x="7" y="98"/>
                  <a:pt x="0" y="89"/>
                  <a:pt x="0" y="7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7" y="0"/>
                  <a:pt x="17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147" y="0"/>
                  <a:pt x="155" y="8"/>
                  <a:pt x="155" y="19"/>
                </a:cubicBezTo>
                <a:lnTo>
                  <a:pt x="155" y="7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66" name="Rectangle 30"/>
          <p:cNvSpPr>
            <a:spLocks noChangeArrowheads="1"/>
          </p:cNvSpPr>
          <p:nvPr/>
        </p:nvSpPr>
        <p:spPr bwMode="auto">
          <a:xfrm>
            <a:off x="7086600" y="6019800"/>
            <a:ext cx="1447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51967" name="Rectangle 31"/>
          <p:cNvSpPr>
            <a:spLocks noChangeArrowheads="1"/>
          </p:cNvSpPr>
          <p:nvPr/>
        </p:nvSpPr>
        <p:spPr bwMode="auto">
          <a:xfrm>
            <a:off x="76200" y="1331912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51968" name="Rectangle 32"/>
          <p:cNvSpPr>
            <a:spLocks noChangeArrowheads="1"/>
          </p:cNvSpPr>
          <p:nvPr/>
        </p:nvSpPr>
        <p:spPr bwMode="auto">
          <a:xfrm>
            <a:off x="1600200" y="6019800"/>
            <a:ext cx="1219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Potential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output</a:t>
            </a:r>
          </a:p>
        </p:txBody>
      </p:sp>
      <p:sp>
        <p:nvSpPr>
          <p:cNvPr id="551983" name="Line 78"/>
          <p:cNvSpPr>
            <a:spLocks noChangeShapeType="1"/>
          </p:cNvSpPr>
          <p:nvPr/>
        </p:nvSpPr>
        <p:spPr bwMode="auto">
          <a:xfrm flipV="1">
            <a:off x="3865562" y="2257960"/>
            <a:ext cx="940593" cy="1626651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84" name="Freeform 126"/>
          <p:cNvSpPr>
            <a:spLocks/>
          </p:cNvSpPr>
          <p:nvPr/>
        </p:nvSpPr>
        <p:spPr bwMode="auto">
          <a:xfrm>
            <a:off x="4168776" y="962561"/>
            <a:ext cx="3070224" cy="1295400"/>
          </a:xfrm>
          <a:custGeom>
            <a:avLst/>
            <a:gdLst>
              <a:gd name="T0" fmla="*/ 2120680 w 398"/>
              <a:gd name="T1" fmla="*/ 1028563 h 205"/>
              <a:gd name="T2" fmla="*/ 2030098 w 398"/>
              <a:gd name="T3" fmla="*/ 1133631 h 205"/>
              <a:gd name="T4" fmla="*/ 90582 w 398"/>
              <a:gd name="T5" fmla="*/ 1133631 h 205"/>
              <a:gd name="T6" fmla="*/ 0 w 398"/>
              <a:gd name="T7" fmla="*/ 1028563 h 205"/>
              <a:gd name="T8" fmla="*/ 0 w 398"/>
              <a:gd name="T9" fmla="*/ 105068 h 205"/>
              <a:gd name="T10" fmla="*/ 90582 w 398"/>
              <a:gd name="T11" fmla="*/ 0 h 205"/>
              <a:gd name="T12" fmla="*/ 2030098 w 398"/>
              <a:gd name="T13" fmla="*/ 0 h 205"/>
              <a:gd name="T14" fmla="*/ 2120680 w 398"/>
              <a:gd name="T15" fmla="*/ 105068 h 205"/>
              <a:gd name="T16" fmla="*/ 2120680 w 398"/>
              <a:gd name="T17" fmla="*/ 1028563 h 20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98"/>
              <a:gd name="T28" fmla="*/ 0 h 205"/>
              <a:gd name="T29" fmla="*/ 398 w 398"/>
              <a:gd name="T30" fmla="*/ 205 h 20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98" h="205">
                <a:moveTo>
                  <a:pt x="398" y="186"/>
                </a:moveTo>
                <a:cubicBezTo>
                  <a:pt x="398" y="196"/>
                  <a:pt x="391" y="205"/>
                  <a:pt x="381" y="205"/>
                </a:cubicBezTo>
                <a:cubicBezTo>
                  <a:pt x="17" y="205"/>
                  <a:pt x="17" y="205"/>
                  <a:pt x="17" y="205"/>
                </a:cubicBezTo>
                <a:cubicBezTo>
                  <a:pt x="7" y="205"/>
                  <a:pt x="0" y="196"/>
                  <a:pt x="0" y="18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7" y="0"/>
                  <a:pt x="17" y="0"/>
                </a:cubicBezTo>
                <a:cubicBezTo>
                  <a:pt x="381" y="0"/>
                  <a:pt x="381" y="0"/>
                  <a:pt x="381" y="0"/>
                </a:cubicBezTo>
                <a:cubicBezTo>
                  <a:pt x="391" y="0"/>
                  <a:pt x="398" y="9"/>
                  <a:pt x="398" y="19"/>
                </a:cubicBezTo>
                <a:lnTo>
                  <a:pt x="398" y="186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85" name="Rectangle 49"/>
          <p:cNvSpPr>
            <a:spLocks noChangeArrowheads="1"/>
          </p:cNvSpPr>
          <p:nvPr/>
        </p:nvSpPr>
        <p:spPr bwMode="auto">
          <a:xfrm>
            <a:off x="4168775" y="962561"/>
            <a:ext cx="307022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2. …increases the aggregate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price level and aggregate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output and leads to lower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unemployment in the short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run…</a:t>
            </a:r>
          </a:p>
        </p:txBody>
      </p:sp>
      <p:sp>
        <p:nvSpPr>
          <p:cNvPr id="551986" name="Rectangle 54"/>
          <p:cNvSpPr>
            <a:spLocks noChangeArrowheads="1"/>
          </p:cNvSpPr>
          <p:nvPr/>
        </p:nvSpPr>
        <p:spPr bwMode="auto">
          <a:xfrm>
            <a:off x="4676775" y="5437187"/>
            <a:ext cx="4113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88" name="Freeform 56"/>
          <p:cNvSpPr>
            <a:spLocks/>
          </p:cNvSpPr>
          <p:nvPr/>
        </p:nvSpPr>
        <p:spPr bwMode="auto">
          <a:xfrm>
            <a:off x="2819400" y="6477000"/>
            <a:ext cx="1676400" cy="381000"/>
          </a:xfrm>
          <a:custGeom>
            <a:avLst/>
            <a:gdLst>
              <a:gd name="T0" fmla="*/ 1369419 w 257"/>
              <a:gd name="T1" fmla="*/ 203732 h 57"/>
              <a:gd name="T2" fmla="*/ 1278835 w 257"/>
              <a:gd name="T3" fmla="*/ 313857 h 57"/>
              <a:gd name="T4" fmla="*/ 90584 w 257"/>
              <a:gd name="T5" fmla="*/ 313857 h 57"/>
              <a:gd name="T6" fmla="*/ 0 w 257"/>
              <a:gd name="T7" fmla="*/ 203732 h 57"/>
              <a:gd name="T8" fmla="*/ 0 w 257"/>
              <a:gd name="T9" fmla="*/ 104619 h 57"/>
              <a:gd name="T10" fmla="*/ 90584 w 257"/>
              <a:gd name="T11" fmla="*/ 0 h 57"/>
              <a:gd name="T12" fmla="*/ 1278835 w 257"/>
              <a:gd name="T13" fmla="*/ 0 h 57"/>
              <a:gd name="T14" fmla="*/ 1369419 w 257"/>
              <a:gd name="T15" fmla="*/ 104619 h 57"/>
              <a:gd name="T16" fmla="*/ 1369419 w 257"/>
              <a:gd name="T17" fmla="*/ 203732 h 5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57"/>
              <a:gd name="T28" fmla="*/ 0 h 57"/>
              <a:gd name="T29" fmla="*/ 257 w 257"/>
              <a:gd name="T30" fmla="*/ 57 h 5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57" h="57">
                <a:moveTo>
                  <a:pt x="257" y="37"/>
                </a:moveTo>
                <a:cubicBezTo>
                  <a:pt x="257" y="48"/>
                  <a:pt x="249" y="57"/>
                  <a:pt x="240" y="57"/>
                </a:cubicBezTo>
                <a:cubicBezTo>
                  <a:pt x="17" y="57"/>
                  <a:pt x="17" y="57"/>
                  <a:pt x="17" y="57"/>
                </a:cubicBezTo>
                <a:cubicBezTo>
                  <a:pt x="7" y="57"/>
                  <a:pt x="0" y="48"/>
                  <a:pt x="0" y="37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7" y="0"/>
                  <a:pt x="17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249" y="0"/>
                  <a:pt x="257" y="9"/>
                  <a:pt x="257" y="19"/>
                </a:cubicBezTo>
                <a:lnTo>
                  <a:pt x="257" y="37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89" name="Rectangle 53"/>
          <p:cNvSpPr>
            <a:spLocks noChangeArrowheads="1"/>
          </p:cNvSpPr>
          <p:nvPr/>
        </p:nvSpPr>
        <p:spPr bwMode="auto">
          <a:xfrm>
            <a:off x="2819400" y="6477000"/>
            <a:ext cx="179305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Inflationary gap</a:t>
            </a:r>
          </a:p>
        </p:txBody>
      </p:sp>
      <p:sp>
        <p:nvSpPr>
          <p:cNvPr id="551990" name="Line 54"/>
          <p:cNvSpPr>
            <a:spLocks noChangeShapeType="1"/>
          </p:cNvSpPr>
          <p:nvPr/>
        </p:nvSpPr>
        <p:spPr bwMode="auto">
          <a:xfrm flipH="1">
            <a:off x="1371600" y="4267200"/>
            <a:ext cx="2049463" cy="15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91" name="Rectangle 9"/>
          <p:cNvSpPr>
            <a:spLocks noChangeArrowheads="1"/>
          </p:cNvSpPr>
          <p:nvPr/>
        </p:nvSpPr>
        <p:spPr bwMode="auto">
          <a:xfrm>
            <a:off x="3387725" y="5967412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3" name="Freeform 75"/>
          <p:cNvSpPr>
            <a:spLocks/>
          </p:cNvSpPr>
          <p:nvPr/>
        </p:nvSpPr>
        <p:spPr bwMode="auto">
          <a:xfrm>
            <a:off x="3487738" y="6261100"/>
            <a:ext cx="723900" cy="139700"/>
          </a:xfrm>
          <a:custGeom>
            <a:avLst/>
            <a:gdLst>
              <a:gd name="T0" fmla="*/ 0 w 136"/>
              <a:gd name="T1" fmla="*/ 0 h 25"/>
              <a:gd name="T2" fmla="*/ 63899 w 136"/>
              <a:gd name="T3" fmla="*/ 82915 h 25"/>
              <a:gd name="T4" fmla="*/ 319496 w 136"/>
              <a:gd name="T5" fmla="*/ 82915 h 25"/>
              <a:gd name="T6" fmla="*/ 362095 w 136"/>
              <a:gd name="T7" fmla="*/ 138191 h 25"/>
              <a:gd name="T8" fmla="*/ 404694 w 136"/>
              <a:gd name="T9" fmla="*/ 82915 h 25"/>
              <a:gd name="T10" fmla="*/ 660291 w 136"/>
              <a:gd name="T11" fmla="*/ 82915 h 25"/>
              <a:gd name="T12" fmla="*/ 724190 w 136"/>
              <a:gd name="T13" fmla="*/ 0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6"/>
              <a:gd name="T22" fmla="*/ 0 h 25"/>
              <a:gd name="T23" fmla="*/ 136 w 136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6" h="25">
                <a:moveTo>
                  <a:pt x="0" y="0"/>
                </a:moveTo>
                <a:cubicBezTo>
                  <a:pt x="0" y="10"/>
                  <a:pt x="2" y="15"/>
                  <a:pt x="12" y="15"/>
                </a:cubicBezTo>
                <a:cubicBezTo>
                  <a:pt x="14" y="15"/>
                  <a:pt x="59" y="15"/>
                  <a:pt x="60" y="15"/>
                </a:cubicBezTo>
                <a:cubicBezTo>
                  <a:pt x="63" y="15"/>
                  <a:pt x="68" y="17"/>
                  <a:pt x="68" y="25"/>
                </a:cubicBezTo>
                <a:cubicBezTo>
                  <a:pt x="68" y="17"/>
                  <a:pt x="73" y="15"/>
                  <a:pt x="76" y="15"/>
                </a:cubicBezTo>
                <a:cubicBezTo>
                  <a:pt x="77" y="15"/>
                  <a:pt x="122" y="15"/>
                  <a:pt x="124" y="15"/>
                </a:cubicBezTo>
                <a:cubicBezTo>
                  <a:pt x="134" y="15"/>
                  <a:pt x="136" y="10"/>
                  <a:pt x="136" y="0"/>
                </a:cubicBezTo>
              </a:path>
            </a:pathLst>
          </a:custGeom>
          <a:noFill/>
          <a:ln w="15">
            <a:solidFill>
              <a:srgbClr val="6D6F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4" name="Freeform 173"/>
          <p:cNvSpPr>
            <a:spLocks/>
          </p:cNvSpPr>
          <p:nvPr/>
        </p:nvSpPr>
        <p:spPr bwMode="auto">
          <a:xfrm>
            <a:off x="5257800" y="3581400"/>
            <a:ext cx="1828800" cy="1143000"/>
          </a:xfrm>
          <a:custGeom>
            <a:avLst/>
            <a:gdLst>
              <a:gd name="T0" fmla="*/ 1342346 w 252"/>
              <a:gd name="T1" fmla="*/ 609158 h 129"/>
              <a:gd name="T2" fmla="*/ 1251791 w 252"/>
              <a:gd name="T3" fmla="*/ 714376 h 129"/>
              <a:gd name="T4" fmla="*/ 95882 w 252"/>
              <a:gd name="T5" fmla="*/ 714376 h 129"/>
              <a:gd name="T6" fmla="*/ 0 w 252"/>
              <a:gd name="T7" fmla="*/ 609158 h 129"/>
              <a:gd name="T8" fmla="*/ 0 w 252"/>
              <a:gd name="T9" fmla="*/ 105218 h 129"/>
              <a:gd name="T10" fmla="*/ 95882 w 252"/>
              <a:gd name="T11" fmla="*/ 0 h 129"/>
              <a:gd name="T12" fmla="*/ 1251791 w 252"/>
              <a:gd name="T13" fmla="*/ 0 h 129"/>
              <a:gd name="T14" fmla="*/ 1342346 w 252"/>
              <a:gd name="T15" fmla="*/ 105218 h 129"/>
              <a:gd name="T16" fmla="*/ 1342346 w 252"/>
              <a:gd name="T17" fmla="*/ 609158 h 12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52"/>
              <a:gd name="T28" fmla="*/ 0 h 129"/>
              <a:gd name="T29" fmla="*/ 252 w 252"/>
              <a:gd name="T30" fmla="*/ 129 h 12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52" h="129">
                <a:moveTo>
                  <a:pt x="252" y="110"/>
                </a:moveTo>
                <a:cubicBezTo>
                  <a:pt x="252" y="121"/>
                  <a:pt x="244" y="129"/>
                  <a:pt x="235" y="129"/>
                </a:cubicBezTo>
                <a:cubicBezTo>
                  <a:pt x="18" y="129"/>
                  <a:pt x="18" y="129"/>
                  <a:pt x="18" y="129"/>
                </a:cubicBezTo>
                <a:cubicBezTo>
                  <a:pt x="8" y="129"/>
                  <a:pt x="0" y="121"/>
                  <a:pt x="0" y="110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8" y="0"/>
                </a:cubicBezTo>
                <a:cubicBezTo>
                  <a:pt x="235" y="0"/>
                  <a:pt x="235" y="0"/>
                  <a:pt x="235" y="0"/>
                </a:cubicBezTo>
                <a:cubicBezTo>
                  <a:pt x="244" y="0"/>
                  <a:pt x="252" y="9"/>
                  <a:pt x="252" y="19"/>
                </a:cubicBezTo>
                <a:lnTo>
                  <a:pt x="252" y="110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9" name="Rectangle 35"/>
          <p:cNvSpPr>
            <a:spLocks noChangeArrowheads="1"/>
          </p:cNvSpPr>
          <p:nvPr/>
        </p:nvSpPr>
        <p:spPr bwMode="auto">
          <a:xfrm>
            <a:off x="3234268" y="4415368"/>
            <a:ext cx="214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2000" name="Oval 69"/>
          <p:cNvSpPr>
            <a:spLocks noChangeArrowheads="1"/>
          </p:cNvSpPr>
          <p:nvPr/>
        </p:nvSpPr>
        <p:spPr bwMode="auto">
          <a:xfrm>
            <a:off x="3432175" y="4214812"/>
            <a:ext cx="109538" cy="1127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2003" name="Line 67"/>
          <p:cNvSpPr>
            <a:spLocks noChangeShapeType="1"/>
          </p:cNvSpPr>
          <p:nvPr/>
        </p:nvSpPr>
        <p:spPr bwMode="auto">
          <a:xfrm flipV="1">
            <a:off x="4176713" y="3810000"/>
            <a:ext cx="14287" cy="210312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2004" name="Rectangle 68"/>
          <p:cNvSpPr>
            <a:spLocks noChangeArrowheads="1"/>
          </p:cNvSpPr>
          <p:nvPr/>
        </p:nvSpPr>
        <p:spPr bwMode="auto">
          <a:xfrm>
            <a:off x="5334000" y="3581400"/>
            <a:ext cx="17526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1. An initial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positive demand shock…</a:t>
            </a:r>
          </a:p>
        </p:txBody>
      </p:sp>
      <p:sp>
        <p:nvSpPr>
          <p:cNvPr id="552008" name="Rectangle 13"/>
          <p:cNvSpPr>
            <a:spLocks noChangeArrowheads="1"/>
          </p:cNvSpPr>
          <p:nvPr/>
        </p:nvSpPr>
        <p:spPr bwMode="auto">
          <a:xfrm>
            <a:off x="1066800" y="4191000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2009" name="Rectangle 73"/>
          <p:cNvSpPr>
            <a:spLocks noGrp="1" noRot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>
            <a:noAutofit/>
          </a:bodyPr>
          <a:lstStyle/>
          <a:p>
            <a:r>
              <a:rPr lang="en-US" sz="4000" spc="0" dirty="0"/>
              <a:t>SHORT-RUN EFFECTS OF A POSITIVE DEMAND SHOCK</a:t>
            </a:r>
          </a:p>
        </p:txBody>
      </p:sp>
    </p:spTree>
    <p:extLst>
      <p:ext uri="{BB962C8B-B14F-4D97-AF65-F5344CB8AC3E}">
        <p14:creationId xmlns:p14="http://schemas.microsoft.com/office/powerpoint/2010/main" val="372003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5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-0.05833 0.07778 " pathEditMode="relative" rAng="0" ptsTypes="AA">
                                      <p:cBhvr>
                                        <p:cTn id="17" dur="2000" spd="-100000" fill="hold"/>
                                        <p:tgtEl>
                                          <p:spTgt spid="5519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3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1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5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55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5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5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5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5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5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5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38" grpId="0" animBg="1"/>
      <p:bldP spid="551938" grpId="1" animBg="1"/>
      <p:bldP spid="551941" grpId="0" animBg="1"/>
      <p:bldP spid="551942" grpId="0"/>
      <p:bldP spid="551944" grpId="0"/>
      <p:bldP spid="551945" grpId="0"/>
      <p:bldP spid="551955" grpId="0"/>
      <p:bldP spid="551960" grpId="0" animBg="1"/>
      <p:bldP spid="551983" grpId="0" animBg="1"/>
      <p:bldP spid="551984" grpId="0" animBg="1"/>
      <p:bldP spid="551985" grpId="0"/>
      <p:bldP spid="551988" grpId="0" animBg="1"/>
      <p:bldP spid="551989" grpId="0"/>
      <p:bldP spid="551993" grpId="0" animBg="1"/>
      <p:bldP spid="551994" grpId="0" animBg="1"/>
      <p:bldP spid="552003" grpId="0" animBg="1"/>
      <p:bldP spid="55200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GAP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990600"/>
                <a:ext cx="9067800" cy="47244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20"/>
                  </a:spcBef>
                  <a:spcAft>
                    <a:spcPts val="1800"/>
                  </a:spcAft>
                </a:pPr>
                <a:r>
                  <a:rPr lang="en-US" sz="2800" i="1" dirty="0">
                    <a:solidFill>
                      <a:srgbClr val="990033"/>
                    </a:solidFill>
                  </a:rPr>
                  <a:t>Recessionary gap:  </a:t>
                </a:r>
                <a:r>
                  <a:rPr lang="en-US" sz="2800" dirty="0"/>
                  <a:t>When</a:t>
                </a:r>
                <a:r>
                  <a:rPr lang="en-US" sz="2800" i="1" dirty="0">
                    <a:solidFill>
                      <a:srgbClr val="990033"/>
                    </a:solidFill>
                  </a:rPr>
                  <a:t> </a:t>
                </a:r>
                <a:r>
                  <a:rPr lang="en-US" sz="2800" dirty="0"/>
                  <a:t>aggregate output is below potential output</a:t>
                </a:r>
              </a:p>
              <a:p>
                <a:pPr>
                  <a:spcBef>
                    <a:spcPts val="120"/>
                  </a:spcBef>
                  <a:spcAft>
                    <a:spcPts val="1800"/>
                  </a:spcAft>
                </a:pPr>
                <a:r>
                  <a:rPr lang="en-US" sz="2800" i="1" dirty="0">
                    <a:solidFill>
                      <a:srgbClr val="990033"/>
                    </a:solidFill>
                  </a:rPr>
                  <a:t>Inflationary gap: </a:t>
                </a:r>
                <a:r>
                  <a:rPr lang="en-US" sz="2800" dirty="0"/>
                  <a:t>When aggregate output is above potential output</a:t>
                </a:r>
              </a:p>
              <a:p>
                <a:pPr>
                  <a:spcBef>
                    <a:spcPts val="120"/>
                  </a:spcBef>
                  <a:spcAft>
                    <a:spcPts val="1800"/>
                  </a:spcAft>
                </a:pPr>
                <a:r>
                  <a:rPr lang="en-US" sz="2800" i="1" dirty="0">
                    <a:solidFill>
                      <a:srgbClr val="990033"/>
                    </a:solidFill>
                  </a:rPr>
                  <a:t>Output gap: </a:t>
                </a:r>
                <a:r>
                  <a:rPr lang="en-US" sz="2800" dirty="0"/>
                  <a:t>the % difference between actual aggregate output and potential output</a:t>
                </a:r>
                <a:endParaRPr lang="en-US" sz="4800" dirty="0"/>
              </a:p>
              <a:p>
                <a:pPr>
                  <a:spcBef>
                    <a:spcPts val="120"/>
                  </a:spcBef>
                  <a:spcAft>
                    <a:spcPts val="1800"/>
                  </a:spcAft>
                </a:pPr>
                <a:endParaRPr lang="en-US" sz="2000" dirty="0"/>
              </a:p>
              <a:p>
                <a:pPr>
                  <a:spcBef>
                    <a:spcPts val="120"/>
                  </a:spcBef>
                  <a:spcAft>
                    <a:spcPts val="1800"/>
                  </a:spcAft>
                </a:pPr>
                <a:r>
                  <a:rPr lang="en-US" sz="2000" dirty="0"/>
                  <a:t>Output gap  = 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000" dirty="0"/>
                              <m:t>Actual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aggregate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output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 –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Potential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output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sz="2000" dirty="0"/>
                              <m:t>Potential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output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 </m:t>
                            </m:r>
                          </m:den>
                        </m:f>
                      </m:e>
                    </m:box>
                  </m:oMath>
                </a14:m>
                <a:r>
                  <a:rPr lang="en-US" sz="2000" dirty="0"/>
                  <a:t>  x 100</a:t>
                </a:r>
              </a:p>
              <a:p>
                <a:pPr>
                  <a:spcBef>
                    <a:spcPts val="120"/>
                  </a:spcBef>
                  <a:spcAft>
                    <a:spcPts val="1800"/>
                  </a:spcAft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990600"/>
                <a:ext cx="9067800" cy="4724400"/>
              </a:xfrm>
              <a:blipFill>
                <a:blip r:embed="rId2"/>
                <a:stretch>
                  <a:fillRect l="-1412" t="-1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0404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0931"/>
          <a:stretch/>
        </p:blipFill>
        <p:spPr>
          <a:xfrm>
            <a:off x="5562600" y="4734173"/>
            <a:ext cx="3581400" cy="2123827"/>
          </a:xfrm>
          <a:prstGeom prst="rect">
            <a:avLst/>
          </a:prstGeom>
        </p:spPr>
      </p:pic>
      <p:sp>
        <p:nvSpPr>
          <p:cNvPr id="51609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GAP RECAP</a:t>
            </a:r>
          </a:p>
        </p:txBody>
      </p:sp>
      <p:sp>
        <p:nvSpPr>
          <p:cNvPr id="51609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839200" cy="4648200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US" dirty="0">
                <a:solidFill>
                  <a:srgbClr val="0070C0"/>
                </a:solidFill>
              </a:rPr>
              <a:t>What happens next? Are we stuck in a gap forever?</a:t>
            </a:r>
          </a:p>
          <a:p>
            <a:pPr>
              <a:spcAft>
                <a:spcPts val="1800"/>
              </a:spcAft>
            </a:pPr>
            <a:r>
              <a:rPr lang="en-US" dirty="0"/>
              <a:t>We’ll discuss </a:t>
            </a: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how policy makers can attempt to move us back to potential output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next…</a:t>
            </a:r>
            <a:endParaRPr lang="en-US" i="1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dirty="0"/>
              <a:t>But the economy may correct itself </a:t>
            </a:r>
            <a:r>
              <a:rPr lang="en-US" dirty="0">
                <a:solidFill>
                  <a:srgbClr val="990033"/>
                </a:solidFill>
              </a:rPr>
              <a:t>in the long run </a:t>
            </a:r>
            <a:r>
              <a:rPr lang="en-US" dirty="0"/>
              <a:t>if wages and prices fully adjust.</a:t>
            </a:r>
          </a:p>
          <a:p>
            <a:pPr>
              <a:spcAft>
                <a:spcPts val="18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3824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9"/>
          <p:cNvSpPr>
            <a:spLocks noChangeArrowheads="1"/>
          </p:cNvSpPr>
          <p:nvPr/>
        </p:nvSpPr>
        <p:spPr bwMode="auto">
          <a:xfrm>
            <a:off x="4125913" y="6049963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3988" name="Rectangle 13"/>
          <p:cNvSpPr>
            <a:spLocks noChangeArrowheads="1"/>
          </p:cNvSpPr>
          <p:nvPr/>
        </p:nvSpPr>
        <p:spPr bwMode="auto">
          <a:xfrm>
            <a:off x="944563" y="3595688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3990" name="Rectangle 31"/>
          <p:cNvSpPr>
            <a:spLocks noChangeArrowheads="1"/>
          </p:cNvSpPr>
          <p:nvPr/>
        </p:nvSpPr>
        <p:spPr bwMode="auto">
          <a:xfrm>
            <a:off x="4270375" y="3267075"/>
            <a:ext cx="214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3992" name="Rectangle 33"/>
          <p:cNvSpPr>
            <a:spLocks noChangeArrowheads="1"/>
          </p:cNvSpPr>
          <p:nvPr/>
        </p:nvSpPr>
        <p:spPr bwMode="auto">
          <a:xfrm>
            <a:off x="4257675" y="4606925"/>
            <a:ext cx="1858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</a:p>
        </p:txBody>
      </p:sp>
      <p:sp>
        <p:nvSpPr>
          <p:cNvPr id="553993" name="Rectangle 37"/>
          <p:cNvSpPr>
            <a:spLocks noChangeArrowheads="1"/>
          </p:cNvSpPr>
          <p:nvPr/>
        </p:nvSpPr>
        <p:spPr bwMode="auto">
          <a:xfrm>
            <a:off x="944563" y="4918075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3995" name="Rectangle 39"/>
          <p:cNvSpPr>
            <a:spLocks noChangeArrowheads="1"/>
          </p:cNvSpPr>
          <p:nvPr/>
        </p:nvSpPr>
        <p:spPr bwMode="auto">
          <a:xfrm>
            <a:off x="944563" y="4410075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3996" name="Rectangle 45"/>
          <p:cNvSpPr>
            <a:spLocks noChangeArrowheads="1"/>
          </p:cNvSpPr>
          <p:nvPr/>
        </p:nvSpPr>
        <p:spPr bwMode="auto">
          <a:xfrm>
            <a:off x="6773863" y="2903538"/>
            <a:ext cx="58504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00" name="Rectangle 49"/>
          <p:cNvSpPr>
            <a:spLocks noChangeArrowheads="1"/>
          </p:cNvSpPr>
          <p:nvPr/>
        </p:nvSpPr>
        <p:spPr bwMode="auto">
          <a:xfrm>
            <a:off x="3971925" y="2032000"/>
            <a:ext cx="5075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LRAS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03" name="Rectangle 54"/>
          <p:cNvSpPr>
            <a:spLocks noChangeArrowheads="1"/>
          </p:cNvSpPr>
          <p:nvPr/>
        </p:nvSpPr>
        <p:spPr bwMode="auto">
          <a:xfrm>
            <a:off x="4491038" y="5572125"/>
            <a:ext cx="4113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04" name="Line 62"/>
          <p:cNvSpPr>
            <a:spLocks noChangeShapeType="1"/>
          </p:cNvSpPr>
          <p:nvPr/>
        </p:nvSpPr>
        <p:spPr bwMode="auto">
          <a:xfrm>
            <a:off x="4208463" y="2308225"/>
            <a:ext cx="1587" cy="3722688"/>
          </a:xfrm>
          <a:prstGeom prst="line">
            <a:avLst/>
          </a:prstGeom>
          <a:noFill/>
          <a:ln w="38100">
            <a:solidFill>
              <a:srgbClr val="F7944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4005" name="Line 64"/>
          <p:cNvSpPr>
            <a:spLocks noChangeShapeType="1"/>
          </p:cNvSpPr>
          <p:nvPr/>
        </p:nvSpPr>
        <p:spPr bwMode="auto">
          <a:xfrm flipH="1" flipV="1">
            <a:off x="2055813" y="2862263"/>
            <a:ext cx="2647950" cy="2687637"/>
          </a:xfrm>
          <a:prstGeom prst="line">
            <a:avLst/>
          </a:prstGeom>
          <a:noFill/>
          <a:ln w="38100">
            <a:solidFill>
              <a:srgbClr val="AEC5E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4006" name="Line 66"/>
          <p:cNvSpPr>
            <a:spLocks noChangeShapeType="1"/>
          </p:cNvSpPr>
          <p:nvPr/>
        </p:nvSpPr>
        <p:spPr bwMode="auto">
          <a:xfrm flipV="1">
            <a:off x="3111500" y="3181350"/>
            <a:ext cx="3895725" cy="2593975"/>
          </a:xfrm>
          <a:prstGeom prst="line">
            <a:avLst/>
          </a:prstGeom>
          <a:noFill/>
          <a:ln w="38100">
            <a:solidFill>
              <a:srgbClr val="FAC0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4007" name="Oval 69"/>
          <p:cNvSpPr>
            <a:spLocks noChangeArrowheads="1"/>
          </p:cNvSpPr>
          <p:nvPr/>
        </p:nvSpPr>
        <p:spPr bwMode="auto">
          <a:xfrm>
            <a:off x="4151313" y="4986338"/>
            <a:ext cx="114300" cy="1174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08" name="Freeform 75"/>
          <p:cNvSpPr>
            <a:spLocks/>
          </p:cNvSpPr>
          <p:nvPr/>
        </p:nvSpPr>
        <p:spPr bwMode="auto">
          <a:xfrm>
            <a:off x="1238250" y="1904999"/>
            <a:ext cx="7072313" cy="4125913"/>
          </a:xfrm>
          <a:custGeom>
            <a:avLst/>
            <a:gdLst>
              <a:gd name="T0" fmla="*/ 7078393 w 2999"/>
              <a:gd name="T1" fmla="*/ 5066515 h 2068"/>
              <a:gd name="T2" fmla="*/ 0 w 2999"/>
              <a:gd name="T3" fmla="*/ 5066515 h 2068"/>
              <a:gd name="T4" fmla="*/ 0 w 2999"/>
              <a:gd name="T5" fmla="*/ 0 h 2068"/>
              <a:gd name="T6" fmla="*/ 0 60000 65536"/>
              <a:gd name="T7" fmla="*/ 0 60000 65536"/>
              <a:gd name="T8" fmla="*/ 0 60000 65536"/>
              <a:gd name="T9" fmla="*/ 0 w 2999"/>
              <a:gd name="T10" fmla="*/ 0 h 2068"/>
              <a:gd name="T11" fmla="*/ 2999 w 2999"/>
              <a:gd name="T12" fmla="*/ 2068 h 20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99" h="2068">
                <a:moveTo>
                  <a:pt x="2999" y="2068"/>
                </a:moveTo>
                <a:lnTo>
                  <a:pt x="0" y="2068"/>
                </a:lnTo>
                <a:lnTo>
                  <a:pt x="0" y="0"/>
                </a:lnTo>
              </a:path>
            </a:pathLst>
          </a:cu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09" name="Line 186"/>
          <p:cNvSpPr>
            <a:spLocks noChangeShapeType="1"/>
          </p:cNvSpPr>
          <p:nvPr/>
        </p:nvSpPr>
        <p:spPr bwMode="auto">
          <a:xfrm>
            <a:off x="3884613" y="6256338"/>
            <a:ext cx="246062" cy="1587"/>
          </a:xfrm>
          <a:prstGeom prst="line">
            <a:avLst/>
          </a:prstGeom>
          <a:noFill/>
          <a:ln w="4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4010" name="Freeform 187"/>
          <p:cNvSpPr>
            <a:spLocks/>
          </p:cNvSpPr>
          <p:nvPr/>
        </p:nvSpPr>
        <p:spPr bwMode="auto">
          <a:xfrm>
            <a:off x="2819400" y="6069013"/>
            <a:ext cx="1082675" cy="568325"/>
          </a:xfrm>
          <a:custGeom>
            <a:avLst/>
            <a:gdLst>
              <a:gd name="T0" fmla="*/ 863852 w 155"/>
              <a:gd name="T1" fmla="*/ 458192 h 98"/>
              <a:gd name="T2" fmla="*/ 769107 w 155"/>
              <a:gd name="T3" fmla="*/ 568390 h 98"/>
              <a:gd name="T4" fmla="*/ 94745 w 155"/>
              <a:gd name="T5" fmla="*/ 568390 h 98"/>
              <a:gd name="T6" fmla="*/ 0 w 155"/>
              <a:gd name="T7" fmla="*/ 458192 h 98"/>
              <a:gd name="T8" fmla="*/ 0 w 155"/>
              <a:gd name="T9" fmla="*/ 110198 h 98"/>
              <a:gd name="T10" fmla="*/ 94745 w 155"/>
              <a:gd name="T11" fmla="*/ 0 h 98"/>
              <a:gd name="T12" fmla="*/ 769107 w 155"/>
              <a:gd name="T13" fmla="*/ 0 h 98"/>
              <a:gd name="T14" fmla="*/ 863852 w 155"/>
              <a:gd name="T15" fmla="*/ 110198 h 98"/>
              <a:gd name="T16" fmla="*/ 863852 w 155"/>
              <a:gd name="T17" fmla="*/ 458192 h 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5"/>
              <a:gd name="T28" fmla="*/ 0 h 98"/>
              <a:gd name="T29" fmla="*/ 155 w 155"/>
              <a:gd name="T30" fmla="*/ 98 h 9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5" h="98">
                <a:moveTo>
                  <a:pt x="155" y="79"/>
                </a:moveTo>
                <a:cubicBezTo>
                  <a:pt x="155" y="89"/>
                  <a:pt x="148" y="98"/>
                  <a:pt x="138" y="98"/>
                </a:cubicBezTo>
                <a:cubicBezTo>
                  <a:pt x="17" y="98"/>
                  <a:pt x="17" y="98"/>
                  <a:pt x="17" y="98"/>
                </a:cubicBezTo>
                <a:cubicBezTo>
                  <a:pt x="8" y="98"/>
                  <a:pt x="0" y="89"/>
                  <a:pt x="0" y="7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7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148" y="0"/>
                  <a:pt x="155" y="8"/>
                  <a:pt x="155" y="19"/>
                </a:cubicBezTo>
                <a:lnTo>
                  <a:pt x="155" y="7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11" name="Line 195"/>
          <p:cNvSpPr>
            <a:spLocks noChangeShapeType="1"/>
          </p:cNvSpPr>
          <p:nvPr/>
        </p:nvSpPr>
        <p:spPr bwMode="auto">
          <a:xfrm flipV="1">
            <a:off x="1023938" y="3894138"/>
            <a:ext cx="3175" cy="509587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4012" name="Rectangle 28"/>
          <p:cNvSpPr>
            <a:spLocks noChangeArrowheads="1"/>
          </p:cNvSpPr>
          <p:nvPr/>
        </p:nvSpPr>
        <p:spPr bwMode="auto">
          <a:xfrm>
            <a:off x="7367588" y="606425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54013" name="Rectangle 29"/>
          <p:cNvSpPr>
            <a:spLocks noChangeArrowheads="1"/>
          </p:cNvSpPr>
          <p:nvPr/>
        </p:nvSpPr>
        <p:spPr bwMode="auto">
          <a:xfrm>
            <a:off x="170656" y="1100138"/>
            <a:ext cx="15478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54014" name="Rectangle 30"/>
          <p:cNvSpPr>
            <a:spLocks noChangeArrowheads="1"/>
          </p:cNvSpPr>
          <p:nvPr/>
        </p:nvSpPr>
        <p:spPr bwMode="auto">
          <a:xfrm>
            <a:off x="2819400" y="6064250"/>
            <a:ext cx="1066800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Potential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output</a:t>
            </a:r>
          </a:p>
        </p:txBody>
      </p:sp>
      <p:sp>
        <p:nvSpPr>
          <p:cNvPr id="554016" name="Line 178"/>
          <p:cNvSpPr>
            <a:spLocks noChangeShapeType="1"/>
          </p:cNvSpPr>
          <p:nvPr/>
        </p:nvSpPr>
        <p:spPr bwMode="auto">
          <a:xfrm flipH="1" flipV="1">
            <a:off x="4491038" y="3859213"/>
            <a:ext cx="469900" cy="468313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4017" name="Freeform 179"/>
          <p:cNvSpPr>
            <a:spLocks/>
          </p:cNvSpPr>
          <p:nvPr/>
        </p:nvSpPr>
        <p:spPr bwMode="auto">
          <a:xfrm>
            <a:off x="4403725" y="3771900"/>
            <a:ext cx="149225" cy="150813"/>
          </a:xfrm>
          <a:custGeom>
            <a:avLst/>
            <a:gdLst>
              <a:gd name="T0" fmla="*/ 93624 w 27"/>
              <a:gd name="T1" fmla="*/ 93475 h 26"/>
              <a:gd name="T2" fmla="*/ 82609 w 27"/>
              <a:gd name="T3" fmla="*/ 151897 h 26"/>
              <a:gd name="T4" fmla="*/ 82609 w 27"/>
              <a:gd name="T5" fmla="*/ 151897 h 26"/>
              <a:gd name="T6" fmla="*/ 49566 w 27"/>
              <a:gd name="T7" fmla="*/ 70106 h 26"/>
              <a:gd name="T8" fmla="*/ 0 w 27"/>
              <a:gd name="T9" fmla="*/ 0 h 26"/>
              <a:gd name="T10" fmla="*/ 71595 w 27"/>
              <a:gd name="T11" fmla="*/ 46738 h 26"/>
              <a:gd name="T12" fmla="*/ 148697 w 27"/>
              <a:gd name="T13" fmla="*/ 75949 h 26"/>
              <a:gd name="T14" fmla="*/ 148697 w 27"/>
              <a:gd name="T15" fmla="*/ 81791 h 26"/>
              <a:gd name="T16" fmla="*/ 93624 w 27"/>
              <a:gd name="T17" fmla="*/ 93475 h 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"/>
              <a:gd name="T28" fmla="*/ 0 h 26"/>
              <a:gd name="T29" fmla="*/ 27 w 27"/>
              <a:gd name="T30" fmla="*/ 26 h 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" h="26">
                <a:moveTo>
                  <a:pt x="17" y="16"/>
                </a:moveTo>
                <a:cubicBezTo>
                  <a:pt x="15" y="26"/>
                  <a:pt x="15" y="26"/>
                  <a:pt x="15" y="26"/>
                </a:cubicBezTo>
                <a:cubicBezTo>
                  <a:pt x="15" y="26"/>
                  <a:pt x="15" y="26"/>
                  <a:pt x="15" y="26"/>
                </a:cubicBezTo>
                <a:cubicBezTo>
                  <a:pt x="9" y="12"/>
                  <a:pt x="9" y="12"/>
                  <a:pt x="9" y="12"/>
                </a:cubicBezTo>
                <a:cubicBezTo>
                  <a:pt x="6" y="8"/>
                  <a:pt x="3" y="4"/>
                  <a:pt x="0" y="0"/>
                </a:cubicBezTo>
                <a:cubicBezTo>
                  <a:pt x="5" y="2"/>
                  <a:pt x="9" y="5"/>
                  <a:pt x="13" y="8"/>
                </a:cubicBezTo>
                <a:cubicBezTo>
                  <a:pt x="27" y="13"/>
                  <a:pt x="27" y="13"/>
                  <a:pt x="27" y="13"/>
                </a:cubicBezTo>
                <a:cubicBezTo>
                  <a:pt x="27" y="14"/>
                  <a:pt x="27" y="14"/>
                  <a:pt x="27" y="14"/>
                </a:cubicBezTo>
                <a:lnTo>
                  <a:pt x="1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18" name="Freeform 180"/>
          <p:cNvSpPr>
            <a:spLocks/>
          </p:cNvSpPr>
          <p:nvPr/>
        </p:nvSpPr>
        <p:spPr bwMode="auto">
          <a:xfrm>
            <a:off x="4572000" y="3940175"/>
            <a:ext cx="149225" cy="149225"/>
          </a:xfrm>
          <a:custGeom>
            <a:avLst/>
            <a:gdLst>
              <a:gd name="T0" fmla="*/ 93624 w 27"/>
              <a:gd name="T1" fmla="*/ 91968 h 26"/>
              <a:gd name="T2" fmla="*/ 82609 w 27"/>
              <a:gd name="T3" fmla="*/ 149448 h 26"/>
              <a:gd name="T4" fmla="*/ 82609 w 27"/>
              <a:gd name="T5" fmla="*/ 149448 h 26"/>
              <a:gd name="T6" fmla="*/ 49566 w 27"/>
              <a:gd name="T7" fmla="*/ 68976 h 26"/>
              <a:gd name="T8" fmla="*/ 0 w 27"/>
              <a:gd name="T9" fmla="*/ 0 h 26"/>
              <a:gd name="T10" fmla="*/ 71595 w 27"/>
              <a:gd name="T11" fmla="*/ 45984 h 26"/>
              <a:gd name="T12" fmla="*/ 148697 w 27"/>
              <a:gd name="T13" fmla="*/ 74724 h 26"/>
              <a:gd name="T14" fmla="*/ 148697 w 27"/>
              <a:gd name="T15" fmla="*/ 80472 h 26"/>
              <a:gd name="T16" fmla="*/ 93624 w 27"/>
              <a:gd name="T17" fmla="*/ 91968 h 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"/>
              <a:gd name="T28" fmla="*/ 0 h 26"/>
              <a:gd name="T29" fmla="*/ 27 w 27"/>
              <a:gd name="T30" fmla="*/ 26 h 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" h="26">
                <a:moveTo>
                  <a:pt x="17" y="16"/>
                </a:moveTo>
                <a:cubicBezTo>
                  <a:pt x="15" y="26"/>
                  <a:pt x="15" y="26"/>
                  <a:pt x="15" y="26"/>
                </a:cubicBezTo>
                <a:cubicBezTo>
                  <a:pt x="15" y="26"/>
                  <a:pt x="15" y="26"/>
                  <a:pt x="15" y="26"/>
                </a:cubicBezTo>
                <a:cubicBezTo>
                  <a:pt x="9" y="12"/>
                  <a:pt x="9" y="12"/>
                  <a:pt x="9" y="12"/>
                </a:cubicBezTo>
                <a:cubicBezTo>
                  <a:pt x="6" y="8"/>
                  <a:pt x="3" y="4"/>
                  <a:pt x="0" y="0"/>
                </a:cubicBezTo>
                <a:cubicBezTo>
                  <a:pt x="4" y="2"/>
                  <a:pt x="9" y="5"/>
                  <a:pt x="13" y="8"/>
                </a:cubicBezTo>
                <a:cubicBezTo>
                  <a:pt x="27" y="13"/>
                  <a:pt x="27" y="13"/>
                  <a:pt x="27" y="13"/>
                </a:cubicBezTo>
                <a:cubicBezTo>
                  <a:pt x="27" y="14"/>
                  <a:pt x="27" y="14"/>
                  <a:pt x="27" y="14"/>
                </a:cubicBezTo>
                <a:lnTo>
                  <a:pt x="1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19" name="Freeform 181"/>
          <p:cNvSpPr>
            <a:spLocks/>
          </p:cNvSpPr>
          <p:nvPr/>
        </p:nvSpPr>
        <p:spPr bwMode="auto">
          <a:xfrm>
            <a:off x="4772025" y="4137025"/>
            <a:ext cx="149225" cy="155575"/>
          </a:xfrm>
          <a:custGeom>
            <a:avLst/>
            <a:gdLst>
              <a:gd name="T0" fmla="*/ 93624 w 27"/>
              <a:gd name="T1" fmla="*/ 98724 h 27"/>
              <a:gd name="T2" fmla="*/ 77102 w 27"/>
              <a:gd name="T3" fmla="*/ 156797 h 27"/>
              <a:gd name="T4" fmla="*/ 77102 w 27"/>
              <a:gd name="T5" fmla="*/ 156797 h 27"/>
              <a:gd name="T6" fmla="*/ 44058 w 27"/>
              <a:gd name="T7" fmla="*/ 75495 h 27"/>
              <a:gd name="T8" fmla="*/ 0 w 27"/>
              <a:gd name="T9" fmla="*/ 0 h 27"/>
              <a:gd name="T10" fmla="*/ 66088 w 27"/>
              <a:gd name="T11" fmla="*/ 46458 h 27"/>
              <a:gd name="T12" fmla="*/ 143190 w 27"/>
              <a:gd name="T13" fmla="*/ 81302 h 27"/>
              <a:gd name="T14" fmla="*/ 148697 w 27"/>
              <a:gd name="T15" fmla="*/ 81302 h 27"/>
              <a:gd name="T16" fmla="*/ 93624 w 27"/>
              <a:gd name="T17" fmla="*/ 98724 h 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"/>
              <a:gd name="T28" fmla="*/ 0 h 27"/>
              <a:gd name="T29" fmla="*/ 27 w 27"/>
              <a:gd name="T30" fmla="*/ 27 h 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" h="27">
                <a:moveTo>
                  <a:pt x="17" y="17"/>
                </a:moveTo>
                <a:cubicBezTo>
                  <a:pt x="14" y="27"/>
                  <a:pt x="14" y="27"/>
                  <a:pt x="14" y="27"/>
                </a:cubicBezTo>
                <a:cubicBezTo>
                  <a:pt x="14" y="27"/>
                  <a:pt x="14" y="27"/>
                  <a:pt x="14" y="27"/>
                </a:cubicBezTo>
                <a:cubicBezTo>
                  <a:pt x="8" y="13"/>
                  <a:pt x="8" y="13"/>
                  <a:pt x="8" y="13"/>
                </a:cubicBezTo>
                <a:cubicBezTo>
                  <a:pt x="5" y="9"/>
                  <a:pt x="2" y="4"/>
                  <a:pt x="0" y="0"/>
                </a:cubicBezTo>
                <a:cubicBezTo>
                  <a:pt x="4" y="3"/>
                  <a:pt x="8" y="5"/>
                  <a:pt x="12" y="8"/>
                </a:cubicBezTo>
                <a:cubicBezTo>
                  <a:pt x="26" y="14"/>
                  <a:pt x="26" y="14"/>
                  <a:pt x="26" y="14"/>
                </a:cubicBezTo>
                <a:cubicBezTo>
                  <a:pt x="27" y="14"/>
                  <a:pt x="27" y="14"/>
                  <a:pt x="27" y="14"/>
                </a:cubicBezTo>
                <a:lnTo>
                  <a:pt x="17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21" name="Rectangle 41"/>
          <p:cNvSpPr>
            <a:spLocks noChangeArrowheads="1"/>
          </p:cNvSpPr>
          <p:nvPr/>
        </p:nvSpPr>
        <p:spPr bwMode="auto">
          <a:xfrm>
            <a:off x="5797550" y="2279650"/>
            <a:ext cx="58504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600" i="1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25" name="Line 65"/>
          <p:cNvSpPr>
            <a:spLocks noChangeShapeType="1"/>
          </p:cNvSpPr>
          <p:nvPr/>
        </p:nvSpPr>
        <p:spPr bwMode="auto">
          <a:xfrm flipV="1">
            <a:off x="2133600" y="2555875"/>
            <a:ext cx="3897313" cy="2595563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4029" name="Freeform 79"/>
          <p:cNvSpPr>
            <a:spLocks/>
          </p:cNvSpPr>
          <p:nvPr/>
        </p:nvSpPr>
        <p:spPr bwMode="auto">
          <a:xfrm>
            <a:off x="5006975" y="1143000"/>
            <a:ext cx="3832225" cy="1135063"/>
          </a:xfrm>
          <a:custGeom>
            <a:avLst/>
            <a:gdLst>
              <a:gd name="T0" fmla="*/ 3110811 w 558"/>
              <a:gd name="T1" fmla="*/ 867634 h 169"/>
              <a:gd name="T2" fmla="*/ 3016037 w 558"/>
              <a:gd name="T3" fmla="*/ 977534 h 169"/>
              <a:gd name="T4" fmla="*/ 94774 w 558"/>
              <a:gd name="T5" fmla="*/ 977534 h 169"/>
              <a:gd name="T6" fmla="*/ 0 w 558"/>
              <a:gd name="T7" fmla="*/ 867634 h 169"/>
              <a:gd name="T8" fmla="*/ 0 w 558"/>
              <a:gd name="T9" fmla="*/ 109900 h 169"/>
              <a:gd name="T10" fmla="*/ 94774 w 558"/>
              <a:gd name="T11" fmla="*/ 0 h 169"/>
              <a:gd name="T12" fmla="*/ 3016037 w 558"/>
              <a:gd name="T13" fmla="*/ 0 h 169"/>
              <a:gd name="T14" fmla="*/ 3110811 w 558"/>
              <a:gd name="T15" fmla="*/ 109900 h 169"/>
              <a:gd name="T16" fmla="*/ 3110811 w 558"/>
              <a:gd name="T17" fmla="*/ 867634 h 1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58"/>
              <a:gd name="T28" fmla="*/ 0 h 169"/>
              <a:gd name="T29" fmla="*/ 558 w 558"/>
              <a:gd name="T30" fmla="*/ 169 h 16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58" h="169">
                <a:moveTo>
                  <a:pt x="558" y="150"/>
                </a:moveTo>
                <a:cubicBezTo>
                  <a:pt x="558" y="161"/>
                  <a:pt x="551" y="169"/>
                  <a:pt x="541" y="169"/>
                </a:cubicBezTo>
                <a:cubicBezTo>
                  <a:pt x="17" y="169"/>
                  <a:pt x="17" y="169"/>
                  <a:pt x="17" y="169"/>
                </a:cubicBezTo>
                <a:cubicBezTo>
                  <a:pt x="8" y="169"/>
                  <a:pt x="0" y="161"/>
                  <a:pt x="0" y="150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541" y="0"/>
                  <a:pt x="541" y="0"/>
                  <a:pt x="541" y="0"/>
                </a:cubicBezTo>
                <a:cubicBezTo>
                  <a:pt x="551" y="0"/>
                  <a:pt x="558" y="9"/>
                  <a:pt x="558" y="19"/>
                </a:cubicBezTo>
                <a:lnTo>
                  <a:pt x="558" y="150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30" name="Rectangle 46"/>
          <p:cNvSpPr>
            <a:spLocks noChangeArrowheads="1"/>
          </p:cNvSpPr>
          <p:nvPr/>
        </p:nvSpPr>
        <p:spPr bwMode="auto">
          <a:xfrm>
            <a:off x="5005388" y="1143000"/>
            <a:ext cx="375761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3. …until a rise in nominal wages in the long run reduces short-run aggregate supply and moves the economy back to potential output.</a:t>
            </a:r>
          </a:p>
        </p:txBody>
      </p:sp>
      <p:grpSp>
        <p:nvGrpSpPr>
          <p:cNvPr id="554031" name="Group 47"/>
          <p:cNvGrpSpPr>
            <a:grpSpLocks/>
          </p:cNvGrpSpPr>
          <p:nvPr/>
        </p:nvGrpSpPr>
        <p:grpSpPr bwMode="auto">
          <a:xfrm>
            <a:off x="1719263" y="1676401"/>
            <a:ext cx="4130676" cy="3816351"/>
            <a:chOff x="1146" y="692"/>
            <a:chExt cx="2602" cy="2404"/>
          </a:xfrm>
        </p:grpSpPr>
        <p:sp>
          <p:nvSpPr>
            <p:cNvPr id="554032" name="Rectangle 52"/>
            <p:cNvSpPr>
              <a:spLocks noChangeArrowheads="1"/>
            </p:cNvSpPr>
            <p:nvPr/>
          </p:nvSpPr>
          <p:spPr bwMode="auto">
            <a:xfrm>
              <a:off x="3489" y="2871"/>
              <a:ext cx="25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600" i="1" dirty="0">
                  <a:solidFill>
                    <a:srgbClr val="000000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AD</a:t>
              </a:r>
              <a:r>
                <a:rPr lang="en-US" sz="1600" baseline="-25000" dirty="0">
                  <a:solidFill>
                    <a:srgbClr val="000000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2</a:t>
              </a:r>
              <a:endPara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sp>
          <p:nvSpPr>
            <p:cNvPr id="554033" name="Rectangle 53"/>
            <p:cNvSpPr>
              <a:spLocks noChangeArrowheads="1"/>
            </p:cNvSpPr>
            <p:nvPr/>
          </p:nvSpPr>
          <p:spPr bwMode="auto">
            <a:xfrm>
              <a:off x="3668" y="2941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endParaRPr lang="en-US" sz="1600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sp>
          <p:nvSpPr>
            <p:cNvPr id="554034" name="Line 63"/>
            <p:cNvSpPr>
              <a:spLocks noChangeShapeType="1"/>
            </p:cNvSpPr>
            <p:nvPr/>
          </p:nvSpPr>
          <p:spPr bwMode="auto">
            <a:xfrm flipH="1" flipV="1">
              <a:off x="1896" y="1181"/>
              <a:ext cx="1668" cy="1692"/>
            </a:xfrm>
            <a:prstGeom prst="line">
              <a:avLst/>
            </a:prstGeom>
            <a:noFill/>
            <a:ln w="38100">
              <a:solidFill>
                <a:srgbClr val="3C5DA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entury Gothic"/>
                <a:cs typeface="Century Gothic"/>
              </a:endParaRPr>
            </a:p>
          </p:txBody>
        </p:sp>
        <p:sp>
          <p:nvSpPr>
            <p:cNvPr id="554035" name="Line 72"/>
            <p:cNvSpPr>
              <a:spLocks noChangeShapeType="1"/>
            </p:cNvSpPr>
            <p:nvPr/>
          </p:nvSpPr>
          <p:spPr bwMode="auto">
            <a:xfrm>
              <a:off x="1646" y="1677"/>
              <a:ext cx="58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entury Gothic"/>
                <a:cs typeface="Century Gothic"/>
              </a:endParaRPr>
            </a:p>
          </p:txBody>
        </p:sp>
        <p:sp>
          <p:nvSpPr>
            <p:cNvPr id="554036" name="Freeform 73"/>
            <p:cNvSpPr>
              <a:spLocks/>
            </p:cNvSpPr>
            <p:nvPr/>
          </p:nvSpPr>
          <p:spPr bwMode="auto">
            <a:xfrm>
              <a:off x="2198" y="1644"/>
              <a:ext cx="101" cy="65"/>
            </a:xfrm>
            <a:custGeom>
              <a:avLst/>
              <a:gdLst>
                <a:gd name="T0" fmla="*/ 27672 w 29"/>
                <a:gd name="T1" fmla="*/ 51449 h 18"/>
                <a:gd name="T2" fmla="*/ 0 w 29"/>
                <a:gd name="T3" fmla="*/ 0 h 18"/>
                <a:gd name="T4" fmla="*/ 0 w 29"/>
                <a:gd name="T5" fmla="*/ 0 h 18"/>
                <a:gd name="T6" fmla="*/ 77481 w 29"/>
                <a:gd name="T7" fmla="*/ 34299 h 18"/>
                <a:gd name="T8" fmla="*/ 160497 w 29"/>
                <a:gd name="T9" fmla="*/ 51449 h 18"/>
                <a:gd name="T10" fmla="*/ 77481 w 29"/>
                <a:gd name="T11" fmla="*/ 68599 h 18"/>
                <a:gd name="T12" fmla="*/ 0 w 29"/>
                <a:gd name="T13" fmla="*/ 102898 h 18"/>
                <a:gd name="T14" fmla="*/ 0 w 29"/>
                <a:gd name="T15" fmla="*/ 102898 h 18"/>
                <a:gd name="T16" fmla="*/ 27672 w 29"/>
                <a:gd name="T17" fmla="*/ 51449 h 1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9"/>
                <a:gd name="T28" fmla="*/ 0 h 18"/>
                <a:gd name="T29" fmla="*/ 29 w 29"/>
                <a:gd name="T30" fmla="*/ 18 h 1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9" h="18">
                  <a:moveTo>
                    <a:pt x="5" y="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9" y="7"/>
                    <a:pt x="24" y="8"/>
                    <a:pt x="29" y="9"/>
                  </a:cubicBezTo>
                  <a:cubicBezTo>
                    <a:pt x="24" y="10"/>
                    <a:pt x="19" y="11"/>
                    <a:pt x="14" y="1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lnTo>
                    <a:pt x="5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en-US" sz="160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sp>
          <p:nvSpPr>
            <p:cNvPr id="554037" name="Line 77"/>
            <p:cNvSpPr>
              <a:spLocks noChangeShapeType="1"/>
            </p:cNvSpPr>
            <p:nvPr/>
          </p:nvSpPr>
          <p:spPr bwMode="auto">
            <a:xfrm flipH="1" flipV="1">
              <a:off x="1660" y="936"/>
              <a:ext cx="187" cy="741"/>
            </a:xfrm>
            <a:prstGeom prst="line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prstClr val="black"/>
                </a:solidFill>
                <a:latin typeface="Century Gothic"/>
                <a:cs typeface="Century Gothic"/>
              </a:endParaRPr>
            </a:p>
          </p:txBody>
        </p:sp>
        <p:sp>
          <p:nvSpPr>
            <p:cNvPr id="554038" name="Freeform 127"/>
            <p:cNvSpPr>
              <a:spLocks/>
            </p:cNvSpPr>
            <p:nvPr/>
          </p:nvSpPr>
          <p:spPr bwMode="auto">
            <a:xfrm>
              <a:off x="1187" y="692"/>
              <a:ext cx="1324" cy="394"/>
            </a:xfrm>
            <a:custGeom>
              <a:avLst/>
              <a:gdLst>
                <a:gd name="T0" fmla="*/ 1711183 w 307"/>
                <a:gd name="T1" fmla="*/ 416763 h 91"/>
                <a:gd name="T2" fmla="*/ 1616427 w 307"/>
                <a:gd name="T3" fmla="*/ 526742 h 91"/>
                <a:gd name="T4" fmla="*/ 100330 w 307"/>
                <a:gd name="T5" fmla="*/ 526742 h 91"/>
                <a:gd name="T6" fmla="*/ 0 w 307"/>
                <a:gd name="T7" fmla="*/ 416763 h 91"/>
                <a:gd name="T8" fmla="*/ 0 w 307"/>
                <a:gd name="T9" fmla="*/ 109979 h 91"/>
                <a:gd name="T10" fmla="*/ 100330 w 307"/>
                <a:gd name="T11" fmla="*/ 0 h 91"/>
                <a:gd name="T12" fmla="*/ 1616427 w 307"/>
                <a:gd name="T13" fmla="*/ 0 h 91"/>
                <a:gd name="T14" fmla="*/ 1711183 w 307"/>
                <a:gd name="T15" fmla="*/ 109979 h 91"/>
                <a:gd name="T16" fmla="*/ 1711183 w 307"/>
                <a:gd name="T17" fmla="*/ 416763 h 9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7"/>
                <a:gd name="T28" fmla="*/ 0 h 91"/>
                <a:gd name="T29" fmla="*/ 307 w 307"/>
                <a:gd name="T30" fmla="*/ 91 h 9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7" h="91">
                  <a:moveTo>
                    <a:pt x="307" y="72"/>
                  </a:moveTo>
                  <a:cubicBezTo>
                    <a:pt x="307" y="82"/>
                    <a:pt x="299" y="91"/>
                    <a:pt x="290" y="91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8" y="91"/>
                    <a:pt x="0" y="82"/>
                    <a:pt x="0" y="72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290" y="0"/>
                    <a:pt x="290" y="0"/>
                    <a:pt x="290" y="0"/>
                  </a:cubicBezTo>
                  <a:cubicBezTo>
                    <a:pt x="299" y="0"/>
                    <a:pt x="307" y="8"/>
                    <a:pt x="307" y="19"/>
                  </a:cubicBezTo>
                  <a:lnTo>
                    <a:pt x="307" y="72"/>
                  </a:lnTo>
                  <a:close/>
                </a:path>
              </a:pathLst>
            </a:custGeom>
            <a:solidFill>
              <a:srgbClr val="D7E2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en-US" sz="160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sp>
          <p:nvSpPr>
            <p:cNvPr id="554039" name="Rectangle 55"/>
            <p:cNvSpPr>
              <a:spLocks noChangeArrowheads="1"/>
            </p:cNvSpPr>
            <p:nvPr/>
          </p:nvSpPr>
          <p:spPr bwMode="auto">
            <a:xfrm>
              <a:off x="1146" y="692"/>
              <a:ext cx="139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55563" indent="-55563">
                <a:spcBef>
                  <a:spcPct val="0"/>
                </a:spcBef>
                <a:buFontTx/>
                <a:buAutoNum type="arabicPeriod"/>
              </a:pP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 An initial  positive </a:t>
              </a:r>
            </a:p>
            <a:p>
              <a:pPr marL="55563" indent="-55563">
                <a:spcBef>
                  <a:spcPct val="0"/>
                </a:spcBef>
              </a:pP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demand shock…</a:t>
              </a:r>
            </a:p>
          </p:txBody>
        </p:sp>
      </p:grpSp>
      <p:sp>
        <p:nvSpPr>
          <p:cNvPr id="554040" name="Line 56"/>
          <p:cNvSpPr>
            <a:spLocks noChangeShapeType="1"/>
          </p:cNvSpPr>
          <p:nvPr/>
        </p:nvSpPr>
        <p:spPr bwMode="auto">
          <a:xfrm flipH="1" flipV="1">
            <a:off x="1238250" y="3744913"/>
            <a:ext cx="2887663" cy="63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4041" name="Line 57"/>
          <p:cNvSpPr>
            <a:spLocks noChangeShapeType="1"/>
          </p:cNvSpPr>
          <p:nvPr/>
        </p:nvSpPr>
        <p:spPr bwMode="auto">
          <a:xfrm flipH="1">
            <a:off x="1257300" y="5026025"/>
            <a:ext cx="28543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4042" name="Freeform 56"/>
          <p:cNvSpPr>
            <a:spLocks/>
          </p:cNvSpPr>
          <p:nvPr/>
        </p:nvSpPr>
        <p:spPr bwMode="auto">
          <a:xfrm>
            <a:off x="4038600" y="6521450"/>
            <a:ext cx="1828800" cy="336550"/>
          </a:xfrm>
          <a:custGeom>
            <a:avLst/>
            <a:gdLst>
              <a:gd name="T0" fmla="*/ 1439753 w 258"/>
              <a:gd name="T1" fmla="*/ 213103 h 57"/>
              <a:gd name="T2" fmla="*/ 1344886 w 258"/>
              <a:gd name="T3" fmla="*/ 328294 h 57"/>
              <a:gd name="T4" fmla="*/ 94867 w 258"/>
              <a:gd name="T5" fmla="*/ 328294 h 57"/>
              <a:gd name="T6" fmla="*/ 0 w 258"/>
              <a:gd name="T7" fmla="*/ 213103 h 57"/>
              <a:gd name="T8" fmla="*/ 0 w 258"/>
              <a:gd name="T9" fmla="*/ 109431 h 57"/>
              <a:gd name="T10" fmla="*/ 94867 w 258"/>
              <a:gd name="T11" fmla="*/ 0 h 57"/>
              <a:gd name="T12" fmla="*/ 1344886 w 258"/>
              <a:gd name="T13" fmla="*/ 0 h 57"/>
              <a:gd name="T14" fmla="*/ 1439753 w 258"/>
              <a:gd name="T15" fmla="*/ 109431 h 57"/>
              <a:gd name="T16" fmla="*/ 1439753 w 258"/>
              <a:gd name="T17" fmla="*/ 213103 h 5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58"/>
              <a:gd name="T28" fmla="*/ 0 h 57"/>
              <a:gd name="T29" fmla="*/ 258 w 258"/>
              <a:gd name="T30" fmla="*/ 57 h 5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58" h="57">
                <a:moveTo>
                  <a:pt x="258" y="37"/>
                </a:moveTo>
                <a:cubicBezTo>
                  <a:pt x="258" y="48"/>
                  <a:pt x="250" y="57"/>
                  <a:pt x="241" y="57"/>
                </a:cubicBezTo>
                <a:cubicBezTo>
                  <a:pt x="17" y="57"/>
                  <a:pt x="17" y="57"/>
                  <a:pt x="17" y="57"/>
                </a:cubicBezTo>
                <a:cubicBezTo>
                  <a:pt x="8" y="57"/>
                  <a:pt x="0" y="48"/>
                  <a:pt x="0" y="37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7" y="0"/>
                </a:cubicBezTo>
                <a:cubicBezTo>
                  <a:pt x="241" y="0"/>
                  <a:pt x="241" y="0"/>
                  <a:pt x="241" y="0"/>
                </a:cubicBezTo>
                <a:cubicBezTo>
                  <a:pt x="250" y="0"/>
                  <a:pt x="258" y="9"/>
                  <a:pt x="258" y="19"/>
                </a:cubicBezTo>
                <a:lnTo>
                  <a:pt x="258" y="37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43" name="Rectangle 59"/>
          <p:cNvSpPr>
            <a:spLocks noChangeArrowheads="1"/>
          </p:cNvSpPr>
          <p:nvPr/>
        </p:nvSpPr>
        <p:spPr bwMode="auto">
          <a:xfrm>
            <a:off x="4038599" y="6521450"/>
            <a:ext cx="198120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Inflationary gap</a:t>
            </a:r>
          </a:p>
        </p:txBody>
      </p:sp>
      <p:sp>
        <p:nvSpPr>
          <p:cNvPr id="554044" name="Rectangle 7"/>
          <p:cNvSpPr>
            <a:spLocks noChangeArrowheads="1"/>
          </p:cNvSpPr>
          <p:nvPr/>
        </p:nvSpPr>
        <p:spPr bwMode="auto">
          <a:xfrm>
            <a:off x="4860925" y="6049963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46" name="Freeform 74"/>
          <p:cNvSpPr>
            <a:spLocks/>
          </p:cNvSpPr>
          <p:nvPr/>
        </p:nvSpPr>
        <p:spPr bwMode="auto">
          <a:xfrm>
            <a:off x="4203700" y="6357938"/>
            <a:ext cx="754063" cy="144462"/>
          </a:xfrm>
          <a:custGeom>
            <a:avLst/>
            <a:gdLst>
              <a:gd name="T0" fmla="*/ 0 w 135"/>
              <a:gd name="T1" fmla="*/ 0 h 25"/>
              <a:gd name="T2" fmla="*/ 66926 w 135"/>
              <a:gd name="T3" fmla="*/ 86729 h 25"/>
              <a:gd name="T4" fmla="*/ 334632 w 135"/>
              <a:gd name="T5" fmla="*/ 86729 h 25"/>
              <a:gd name="T6" fmla="*/ 379249 w 135"/>
              <a:gd name="T7" fmla="*/ 144548 h 25"/>
              <a:gd name="T8" fmla="*/ 418289 w 135"/>
              <a:gd name="T9" fmla="*/ 86729 h 25"/>
              <a:gd name="T10" fmla="*/ 685995 w 135"/>
              <a:gd name="T11" fmla="*/ 86729 h 25"/>
              <a:gd name="T12" fmla="*/ 752921 w 135"/>
              <a:gd name="T13" fmla="*/ 0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5"/>
              <a:gd name="T23" fmla="*/ 135 w 135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5">
                <a:moveTo>
                  <a:pt x="0" y="0"/>
                </a:moveTo>
                <a:cubicBezTo>
                  <a:pt x="0" y="10"/>
                  <a:pt x="2" y="15"/>
                  <a:pt x="12" y="15"/>
                </a:cubicBezTo>
                <a:cubicBezTo>
                  <a:pt x="14" y="15"/>
                  <a:pt x="58" y="15"/>
                  <a:pt x="60" y="15"/>
                </a:cubicBezTo>
                <a:cubicBezTo>
                  <a:pt x="62" y="15"/>
                  <a:pt x="68" y="17"/>
                  <a:pt x="68" y="25"/>
                </a:cubicBezTo>
                <a:cubicBezTo>
                  <a:pt x="68" y="17"/>
                  <a:pt x="73" y="15"/>
                  <a:pt x="75" y="15"/>
                </a:cubicBezTo>
                <a:cubicBezTo>
                  <a:pt x="77" y="15"/>
                  <a:pt x="121" y="15"/>
                  <a:pt x="123" y="15"/>
                </a:cubicBezTo>
                <a:cubicBezTo>
                  <a:pt x="133" y="15"/>
                  <a:pt x="135" y="10"/>
                  <a:pt x="135" y="0"/>
                </a:cubicBezTo>
              </a:path>
            </a:pathLst>
          </a:custGeom>
          <a:noFill/>
          <a:ln w="14">
            <a:solidFill>
              <a:srgbClr val="6D6F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48" name="Line 197"/>
          <p:cNvSpPr>
            <a:spLocks noChangeShapeType="1"/>
          </p:cNvSpPr>
          <p:nvPr/>
        </p:nvSpPr>
        <p:spPr bwMode="auto">
          <a:xfrm flipV="1">
            <a:off x="966788" y="4692650"/>
            <a:ext cx="3175" cy="196850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grpSp>
        <p:nvGrpSpPr>
          <p:cNvPr id="554049" name="Group 65"/>
          <p:cNvGrpSpPr>
            <a:grpSpLocks/>
          </p:cNvGrpSpPr>
          <p:nvPr/>
        </p:nvGrpSpPr>
        <p:grpSpPr bwMode="auto">
          <a:xfrm>
            <a:off x="4318000" y="4403724"/>
            <a:ext cx="4167188" cy="1463675"/>
            <a:chOff x="2799" y="2410"/>
            <a:chExt cx="2625" cy="922"/>
          </a:xfrm>
        </p:grpSpPr>
        <p:sp>
          <p:nvSpPr>
            <p:cNvPr id="554050" name="Freeform 139"/>
            <p:cNvSpPr>
              <a:spLocks/>
            </p:cNvSpPr>
            <p:nvPr/>
          </p:nvSpPr>
          <p:spPr bwMode="auto">
            <a:xfrm>
              <a:off x="3792" y="2410"/>
              <a:ext cx="1600" cy="922"/>
            </a:xfrm>
            <a:custGeom>
              <a:avLst/>
              <a:gdLst>
                <a:gd name="T0" fmla="*/ 2218636 w 398"/>
                <a:gd name="T1" fmla="*/ 1078102 h 205"/>
                <a:gd name="T2" fmla="*/ 2123870 w 398"/>
                <a:gd name="T3" fmla="*/ 1188231 h 205"/>
                <a:gd name="T4" fmla="*/ 94766 w 398"/>
                <a:gd name="T5" fmla="*/ 1188231 h 205"/>
                <a:gd name="T6" fmla="*/ 0 w 398"/>
                <a:gd name="T7" fmla="*/ 1078102 h 205"/>
                <a:gd name="T8" fmla="*/ 0 w 398"/>
                <a:gd name="T9" fmla="*/ 110129 h 205"/>
                <a:gd name="T10" fmla="*/ 94766 w 398"/>
                <a:gd name="T11" fmla="*/ 0 h 205"/>
                <a:gd name="T12" fmla="*/ 2123870 w 398"/>
                <a:gd name="T13" fmla="*/ 0 h 205"/>
                <a:gd name="T14" fmla="*/ 2218636 w 398"/>
                <a:gd name="T15" fmla="*/ 110129 h 205"/>
                <a:gd name="T16" fmla="*/ 2218636 w 398"/>
                <a:gd name="T17" fmla="*/ 1078102 h 2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98"/>
                <a:gd name="T28" fmla="*/ 0 h 205"/>
                <a:gd name="T29" fmla="*/ 398 w 398"/>
                <a:gd name="T30" fmla="*/ 205 h 20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98" h="205">
                  <a:moveTo>
                    <a:pt x="398" y="186"/>
                  </a:moveTo>
                  <a:cubicBezTo>
                    <a:pt x="398" y="196"/>
                    <a:pt x="391" y="205"/>
                    <a:pt x="381" y="205"/>
                  </a:cubicBezTo>
                  <a:cubicBezTo>
                    <a:pt x="17" y="205"/>
                    <a:pt x="17" y="205"/>
                    <a:pt x="17" y="205"/>
                  </a:cubicBezTo>
                  <a:cubicBezTo>
                    <a:pt x="7" y="205"/>
                    <a:pt x="0" y="196"/>
                    <a:pt x="0" y="186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7" y="0"/>
                    <a:pt x="17" y="0"/>
                  </a:cubicBezTo>
                  <a:cubicBezTo>
                    <a:pt x="381" y="0"/>
                    <a:pt x="381" y="0"/>
                    <a:pt x="381" y="0"/>
                  </a:cubicBezTo>
                  <a:cubicBezTo>
                    <a:pt x="391" y="0"/>
                    <a:pt x="398" y="9"/>
                    <a:pt x="398" y="19"/>
                  </a:cubicBezTo>
                  <a:lnTo>
                    <a:pt x="398" y="186"/>
                  </a:lnTo>
                  <a:close/>
                </a:path>
              </a:pathLst>
            </a:custGeom>
            <a:solidFill>
              <a:srgbClr val="D7E2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en-US" sz="140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endParaRPr>
            </a:p>
          </p:txBody>
        </p:sp>
        <p:grpSp>
          <p:nvGrpSpPr>
            <p:cNvPr id="554051" name="Group 67"/>
            <p:cNvGrpSpPr>
              <a:grpSpLocks/>
            </p:cNvGrpSpPr>
            <p:nvPr/>
          </p:nvGrpSpPr>
          <p:grpSpPr bwMode="auto">
            <a:xfrm>
              <a:off x="2799" y="2422"/>
              <a:ext cx="1000" cy="834"/>
              <a:chOff x="2799" y="2422"/>
              <a:chExt cx="1000" cy="834"/>
            </a:xfrm>
          </p:grpSpPr>
          <p:sp>
            <p:nvSpPr>
              <p:cNvPr id="554052" name="Rectangle 34"/>
              <p:cNvSpPr>
                <a:spLocks noChangeArrowheads="1"/>
              </p:cNvSpPr>
              <p:nvPr/>
            </p:nvSpPr>
            <p:spPr bwMode="auto">
              <a:xfrm>
                <a:off x="2815" y="2604"/>
                <a:ext cx="0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endParaRPr lang="en-US" sz="16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54053" name="Rectangle 35"/>
              <p:cNvSpPr>
                <a:spLocks noChangeArrowheads="1"/>
              </p:cNvSpPr>
              <p:nvPr/>
            </p:nvSpPr>
            <p:spPr bwMode="auto">
              <a:xfrm>
                <a:off x="3300" y="2422"/>
                <a:ext cx="135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600" i="1" dirty="0">
                    <a:solidFill>
                      <a:srgbClr val="000000"/>
                    </a:solidFill>
                    <a:latin typeface="Century Gothic"/>
                    <a:ea typeface="ＭＳ Ｐゴシック" pitchFamily="34" charset="-128"/>
                    <a:cs typeface="Century Gothic"/>
                  </a:rPr>
                  <a:t>E</a:t>
                </a:r>
                <a:r>
                  <a:rPr lang="en-US" sz="1600" baseline="-25000" dirty="0">
                    <a:solidFill>
                      <a:srgbClr val="000000"/>
                    </a:solidFill>
                    <a:latin typeface="Century Gothic"/>
                    <a:ea typeface="ＭＳ Ｐゴシック" pitchFamily="34" charset="-128"/>
                    <a:cs typeface="Century Gothic"/>
                  </a:rPr>
                  <a:t>2</a:t>
                </a:r>
                <a:endPara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54054" name="Rectangle 36"/>
              <p:cNvSpPr>
                <a:spLocks noChangeArrowheads="1"/>
              </p:cNvSpPr>
              <p:nvPr/>
            </p:nvSpPr>
            <p:spPr bwMode="auto">
              <a:xfrm>
                <a:off x="3368" y="2492"/>
                <a:ext cx="0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0"/>
                  </a:spcBef>
                </a:pPr>
                <a:endParaRPr lang="en-US" sz="1600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54055" name="Line 76"/>
              <p:cNvSpPr>
                <a:spLocks noChangeShapeType="1"/>
              </p:cNvSpPr>
              <p:nvPr/>
            </p:nvSpPr>
            <p:spPr bwMode="auto">
              <a:xfrm flipH="1" flipV="1">
                <a:off x="2938" y="2745"/>
                <a:ext cx="861" cy="511"/>
              </a:xfrm>
              <a:prstGeom prst="line">
                <a:avLst/>
              </a:prstGeom>
              <a:noFill/>
              <a:ln w="4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554056" name="Line 182"/>
              <p:cNvSpPr>
                <a:spLocks noChangeShapeType="1"/>
              </p:cNvSpPr>
              <p:nvPr/>
            </p:nvSpPr>
            <p:spPr bwMode="auto">
              <a:xfrm flipV="1">
                <a:off x="2799" y="2614"/>
                <a:ext cx="333" cy="22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prstClr val="black"/>
                  </a:solidFill>
                  <a:latin typeface="Century Gothic"/>
                  <a:cs typeface="Century Gothic"/>
                </a:endParaRPr>
              </a:p>
            </p:txBody>
          </p:sp>
          <p:sp>
            <p:nvSpPr>
              <p:cNvPr id="554057" name="Freeform 183"/>
              <p:cNvSpPr>
                <a:spLocks/>
              </p:cNvSpPr>
              <p:nvPr/>
            </p:nvSpPr>
            <p:spPr bwMode="auto">
              <a:xfrm>
                <a:off x="3093" y="2573"/>
                <a:ext cx="103" cy="84"/>
              </a:xfrm>
              <a:custGeom>
                <a:avLst/>
                <a:gdLst>
                  <a:gd name="T0" fmla="*/ 50542 w 29"/>
                  <a:gd name="T1" fmla="*/ 74777 h 23"/>
                  <a:gd name="T2" fmla="*/ 0 w 29"/>
                  <a:gd name="T3" fmla="*/ 46017 h 23"/>
                  <a:gd name="T4" fmla="*/ 0 w 29"/>
                  <a:gd name="T5" fmla="*/ 46017 h 23"/>
                  <a:gd name="T6" fmla="*/ 84237 w 29"/>
                  <a:gd name="T7" fmla="*/ 28760 h 23"/>
                  <a:gd name="T8" fmla="*/ 162858 w 29"/>
                  <a:gd name="T9" fmla="*/ 0 h 23"/>
                  <a:gd name="T10" fmla="*/ 106700 w 29"/>
                  <a:gd name="T11" fmla="*/ 57521 h 23"/>
                  <a:gd name="T12" fmla="*/ 56158 w 29"/>
                  <a:gd name="T13" fmla="*/ 132298 h 23"/>
                  <a:gd name="T14" fmla="*/ 50542 w 29"/>
                  <a:gd name="T15" fmla="*/ 132298 h 23"/>
                  <a:gd name="T16" fmla="*/ 50542 w 29"/>
                  <a:gd name="T17" fmla="*/ 74777 h 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9"/>
                  <a:gd name="T28" fmla="*/ 0 h 23"/>
                  <a:gd name="T29" fmla="*/ 29 w 29"/>
                  <a:gd name="T30" fmla="*/ 23 h 2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9" h="23">
                    <a:moveTo>
                      <a:pt x="9" y="13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20" y="3"/>
                      <a:pt x="25" y="1"/>
                      <a:pt x="29" y="0"/>
                    </a:cubicBezTo>
                    <a:cubicBezTo>
                      <a:pt x="26" y="3"/>
                      <a:pt x="22" y="7"/>
                      <a:pt x="19" y="10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3"/>
                      <a:pt x="9" y="23"/>
                      <a:pt x="9" y="23"/>
                    </a:cubicBezTo>
                    <a:lnTo>
                      <a:pt x="9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6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54058" name="Freeform 184"/>
              <p:cNvSpPr>
                <a:spLocks/>
              </p:cNvSpPr>
              <p:nvPr/>
            </p:nvSpPr>
            <p:spPr bwMode="auto">
              <a:xfrm>
                <a:off x="2970" y="2654"/>
                <a:ext cx="102" cy="83"/>
              </a:xfrm>
              <a:custGeom>
                <a:avLst/>
                <a:gdLst>
                  <a:gd name="T0" fmla="*/ 50542 w 29"/>
                  <a:gd name="T1" fmla="*/ 74777 h 23"/>
                  <a:gd name="T2" fmla="*/ 0 w 29"/>
                  <a:gd name="T3" fmla="*/ 51769 h 23"/>
                  <a:gd name="T4" fmla="*/ 0 w 29"/>
                  <a:gd name="T5" fmla="*/ 46017 h 23"/>
                  <a:gd name="T6" fmla="*/ 84237 w 29"/>
                  <a:gd name="T7" fmla="*/ 28760 h 23"/>
                  <a:gd name="T8" fmla="*/ 162858 w 29"/>
                  <a:gd name="T9" fmla="*/ 0 h 23"/>
                  <a:gd name="T10" fmla="*/ 101084 w 29"/>
                  <a:gd name="T11" fmla="*/ 63273 h 23"/>
                  <a:gd name="T12" fmla="*/ 56158 w 29"/>
                  <a:gd name="T13" fmla="*/ 132298 h 23"/>
                  <a:gd name="T14" fmla="*/ 50542 w 29"/>
                  <a:gd name="T15" fmla="*/ 132298 h 23"/>
                  <a:gd name="T16" fmla="*/ 50542 w 29"/>
                  <a:gd name="T17" fmla="*/ 74777 h 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9"/>
                  <a:gd name="T28" fmla="*/ 0 h 23"/>
                  <a:gd name="T29" fmla="*/ 29 w 29"/>
                  <a:gd name="T30" fmla="*/ 23 h 2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9" h="23">
                    <a:moveTo>
                      <a:pt x="9" y="13"/>
                    </a:moveTo>
                    <a:cubicBezTo>
                      <a:pt x="0" y="9"/>
                      <a:pt x="0" y="9"/>
                      <a:pt x="0" y="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20" y="4"/>
                      <a:pt x="24" y="2"/>
                      <a:pt x="29" y="0"/>
                    </a:cubicBezTo>
                    <a:cubicBezTo>
                      <a:pt x="26" y="4"/>
                      <a:pt x="22" y="7"/>
                      <a:pt x="18" y="11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3"/>
                      <a:pt x="9" y="23"/>
                      <a:pt x="9" y="23"/>
                    </a:cubicBezTo>
                    <a:lnTo>
                      <a:pt x="9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6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  <p:sp>
            <p:nvSpPr>
              <p:cNvPr id="554059" name="Freeform 185"/>
              <p:cNvSpPr>
                <a:spLocks/>
              </p:cNvSpPr>
              <p:nvPr/>
            </p:nvSpPr>
            <p:spPr bwMode="auto">
              <a:xfrm>
                <a:off x="2837" y="2745"/>
                <a:ext cx="101" cy="85"/>
              </a:xfrm>
              <a:custGeom>
                <a:avLst/>
                <a:gdLst>
                  <a:gd name="T0" fmla="*/ 49809 w 29"/>
                  <a:gd name="T1" fmla="*/ 76162 h 23"/>
                  <a:gd name="T2" fmla="*/ 0 w 29"/>
                  <a:gd name="T3" fmla="*/ 46869 h 23"/>
                  <a:gd name="T4" fmla="*/ 0 w 29"/>
                  <a:gd name="T5" fmla="*/ 46869 h 23"/>
                  <a:gd name="T6" fmla="*/ 83016 w 29"/>
                  <a:gd name="T7" fmla="*/ 29293 h 23"/>
                  <a:gd name="T8" fmla="*/ 160497 w 29"/>
                  <a:gd name="T9" fmla="*/ 0 h 23"/>
                  <a:gd name="T10" fmla="*/ 99619 w 29"/>
                  <a:gd name="T11" fmla="*/ 58587 h 23"/>
                  <a:gd name="T12" fmla="*/ 49809 w 29"/>
                  <a:gd name="T13" fmla="*/ 134749 h 23"/>
                  <a:gd name="T14" fmla="*/ 49809 w 29"/>
                  <a:gd name="T15" fmla="*/ 134749 h 23"/>
                  <a:gd name="T16" fmla="*/ 49809 w 29"/>
                  <a:gd name="T17" fmla="*/ 76162 h 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9"/>
                  <a:gd name="T28" fmla="*/ 0 h 23"/>
                  <a:gd name="T29" fmla="*/ 29 w 29"/>
                  <a:gd name="T30" fmla="*/ 23 h 2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9" h="23">
                    <a:moveTo>
                      <a:pt x="9" y="13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9" y="3"/>
                      <a:pt x="24" y="1"/>
                      <a:pt x="29" y="0"/>
                    </a:cubicBezTo>
                    <a:cubicBezTo>
                      <a:pt x="25" y="3"/>
                      <a:pt x="22" y="7"/>
                      <a:pt x="18" y="10"/>
                    </a:cubicBezTo>
                    <a:cubicBezTo>
                      <a:pt x="9" y="23"/>
                      <a:pt x="9" y="23"/>
                      <a:pt x="9" y="23"/>
                    </a:cubicBezTo>
                    <a:cubicBezTo>
                      <a:pt x="9" y="23"/>
                      <a:pt x="9" y="23"/>
                      <a:pt x="9" y="23"/>
                    </a:cubicBezTo>
                    <a:lnTo>
                      <a:pt x="9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endParaRPr lang="en-US" sz="160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endParaRPr>
              </a:p>
            </p:txBody>
          </p:sp>
        </p:grpSp>
        <p:sp>
          <p:nvSpPr>
            <p:cNvPr id="554060" name="Rectangle 76"/>
            <p:cNvSpPr>
              <a:spLocks noChangeArrowheads="1"/>
            </p:cNvSpPr>
            <p:nvPr/>
          </p:nvSpPr>
          <p:spPr bwMode="auto">
            <a:xfrm>
              <a:off x="3792" y="2448"/>
              <a:ext cx="1632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2. …increases</a:t>
              </a:r>
            </a:p>
            <a:p>
              <a:pPr>
                <a:spcBef>
                  <a:spcPct val="0"/>
                </a:spcBef>
              </a:pP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aggregate price level</a:t>
              </a:r>
            </a:p>
            <a:p>
              <a:pPr>
                <a:spcBef>
                  <a:spcPct val="0"/>
                </a:spcBef>
              </a:pP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and aggregate output,</a:t>
              </a:r>
            </a:p>
            <a:p>
              <a:pPr>
                <a:spcBef>
                  <a:spcPct val="0"/>
                </a:spcBef>
              </a:pPr>
              <a:r>
                <a:rPr lang="en-US" sz="1600" i="1" dirty="0">
                  <a:solidFill>
                    <a:prstClr val="black"/>
                  </a:solidFill>
                  <a:latin typeface="Century Gothic"/>
                  <a:ea typeface="ＭＳ Ｐゴシック" pitchFamily="34" charset="-128"/>
                  <a:cs typeface="Century Gothic"/>
                </a:rPr>
                <a:t>reduces unemployment in the short run…</a:t>
              </a:r>
            </a:p>
          </p:txBody>
        </p:sp>
      </p:grpSp>
      <p:sp>
        <p:nvSpPr>
          <p:cNvPr id="554061" name="Line 77"/>
          <p:cNvSpPr>
            <a:spLocks noChangeShapeType="1"/>
          </p:cNvSpPr>
          <p:nvPr/>
        </p:nvSpPr>
        <p:spPr bwMode="auto">
          <a:xfrm flipH="1">
            <a:off x="1211263" y="4527550"/>
            <a:ext cx="36226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4062" name="Line 78"/>
          <p:cNvSpPr>
            <a:spLocks noChangeShapeType="1"/>
          </p:cNvSpPr>
          <p:nvPr/>
        </p:nvSpPr>
        <p:spPr bwMode="auto">
          <a:xfrm flipH="1">
            <a:off x="4963056" y="4554538"/>
            <a:ext cx="1587" cy="14335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4063" name="Oval 68"/>
          <p:cNvSpPr>
            <a:spLocks noChangeArrowheads="1"/>
          </p:cNvSpPr>
          <p:nvPr/>
        </p:nvSpPr>
        <p:spPr bwMode="auto">
          <a:xfrm>
            <a:off x="4911725" y="4484688"/>
            <a:ext cx="111125" cy="114300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64" name="Oval 67"/>
          <p:cNvSpPr>
            <a:spLocks noChangeArrowheads="1"/>
          </p:cNvSpPr>
          <p:nvPr/>
        </p:nvSpPr>
        <p:spPr bwMode="auto">
          <a:xfrm>
            <a:off x="4151313" y="3708400"/>
            <a:ext cx="114300" cy="11747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4066" name="Rectangle 82"/>
          <p:cNvSpPr>
            <a:spLocks noGrp="1" noRot="1" noChangeArrowheads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>
            <a:noAutofit/>
          </a:bodyPr>
          <a:lstStyle/>
          <a:p>
            <a:r>
              <a:rPr lang="en-US" sz="3600" spc="0" dirty="0"/>
              <a:t>SHORT-RUN VERSUS LONG-RUN EFFECTS OF A POSITIVE DEMAND SHOCK</a:t>
            </a:r>
          </a:p>
        </p:txBody>
      </p:sp>
    </p:spTree>
    <p:extLst>
      <p:ext uri="{BB962C8B-B14F-4D97-AF65-F5344CB8AC3E}">
        <p14:creationId xmlns:p14="http://schemas.microsoft.com/office/powerpoint/2010/main" val="246890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5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32 0.07152 L -4.16667E-6 4.44444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540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24" y="-3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5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4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554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5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55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554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5540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5540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540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88" grpId="0"/>
      <p:bldP spid="553990" grpId="0"/>
      <p:bldP spid="554011" grpId="0" animBg="1"/>
      <p:bldP spid="554016" grpId="0" animBg="1"/>
      <p:bldP spid="554017" grpId="0" animBg="1"/>
      <p:bldP spid="554018" grpId="0" animBg="1"/>
      <p:bldP spid="554019" grpId="0" animBg="1"/>
      <p:bldP spid="554021" grpId="0"/>
      <p:bldP spid="554025" grpId="0" animBg="1"/>
      <p:bldP spid="554025" grpId="1" animBg="1"/>
      <p:bldP spid="554029" grpId="0" animBg="1"/>
      <p:bldP spid="554030" grpId="0"/>
      <p:bldP spid="554040" grpId="0" animBg="1"/>
      <p:bldP spid="554042" grpId="0" animBg="1"/>
      <p:bldP spid="554043" grpId="0"/>
      <p:bldP spid="554046" grpId="0" animBg="1"/>
      <p:bldP spid="55406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59" name="Line 66"/>
          <p:cNvSpPr>
            <a:spLocks noChangeShapeType="1"/>
          </p:cNvSpPr>
          <p:nvPr/>
        </p:nvSpPr>
        <p:spPr bwMode="auto">
          <a:xfrm flipV="1">
            <a:off x="2152650" y="2627312"/>
            <a:ext cx="3725863" cy="2479675"/>
          </a:xfrm>
          <a:prstGeom prst="line">
            <a:avLst/>
          </a:prstGeom>
          <a:noFill/>
          <a:ln w="38100">
            <a:solidFill>
              <a:srgbClr val="FAC0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38" name="Line 65"/>
          <p:cNvSpPr>
            <a:spLocks noChangeShapeType="1"/>
          </p:cNvSpPr>
          <p:nvPr/>
        </p:nvSpPr>
        <p:spPr bwMode="auto">
          <a:xfrm flipH="1" flipV="1">
            <a:off x="2078038" y="2922587"/>
            <a:ext cx="2530475" cy="2566988"/>
          </a:xfrm>
          <a:prstGeom prst="line">
            <a:avLst/>
          </a:prstGeom>
          <a:noFill/>
          <a:ln w="38100">
            <a:solidFill>
              <a:srgbClr val="3C5DA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39" name="Line 3"/>
          <p:cNvSpPr>
            <a:spLocks noChangeShapeType="1"/>
          </p:cNvSpPr>
          <p:nvPr/>
        </p:nvSpPr>
        <p:spPr bwMode="auto">
          <a:xfrm flipH="1">
            <a:off x="1295400" y="5002212"/>
            <a:ext cx="2770188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40" name="Line 67"/>
          <p:cNvSpPr>
            <a:spLocks noChangeShapeType="1"/>
          </p:cNvSpPr>
          <p:nvPr/>
        </p:nvSpPr>
        <p:spPr bwMode="auto">
          <a:xfrm flipV="1">
            <a:off x="3086100" y="3224212"/>
            <a:ext cx="3724275" cy="2479675"/>
          </a:xfrm>
          <a:prstGeom prst="line">
            <a:avLst/>
          </a:prstGeom>
          <a:noFill/>
          <a:ln w="38100">
            <a:solidFill>
              <a:srgbClr val="EE313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41" name="Line 5"/>
          <p:cNvSpPr>
            <a:spLocks noChangeShapeType="1"/>
          </p:cNvSpPr>
          <p:nvPr/>
        </p:nvSpPr>
        <p:spPr bwMode="auto">
          <a:xfrm flipH="1">
            <a:off x="1309688" y="3776662"/>
            <a:ext cx="2770187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42" name="Rectangle 7"/>
          <p:cNvSpPr>
            <a:spLocks noChangeArrowheads="1"/>
          </p:cNvSpPr>
          <p:nvPr/>
        </p:nvSpPr>
        <p:spPr bwMode="auto">
          <a:xfrm>
            <a:off x="4040188" y="5967412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44" name="Rectangle 13"/>
          <p:cNvSpPr>
            <a:spLocks noChangeArrowheads="1"/>
          </p:cNvSpPr>
          <p:nvPr/>
        </p:nvSpPr>
        <p:spPr bwMode="auto">
          <a:xfrm>
            <a:off x="1014413" y="3619500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45" name="Rectangle 31"/>
          <p:cNvSpPr>
            <a:spLocks noChangeArrowheads="1"/>
          </p:cNvSpPr>
          <p:nvPr/>
        </p:nvSpPr>
        <p:spPr bwMode="auto">
          <a:xfrm>
            <a:off x="4291013" y="3673475"/>
            <a:ext cx="214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48" name="Rectangle 41"/>
          <p:cNvSpPr>
            <a:spLocks noChangeArrowheads="1"/>
          </p:cNvSpPr>
          <p:nvPr/>
        </p:nvSpPr>
        <p:spPr bwMode="auto">
          <a:xfrm>
            <a:off x="5653088" y="2362200"/>
            <a:ext cx="58504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600" i="1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52" name="Rectangle 49"/>
          <p:cNvSpPr>
            <a:spLocks noChangeArrowheads="1"/>
          </p:cNvSpPr>
          <p:nvPr/>
        </p:nvSpPr>
        <p:spPr bwMode="auto">
          <a:xfrm>
            <a:off x="3910013" y="2225675"/>
            <a:ext cx="5075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 err="1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LRAS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55" name="Rectangle 52"/>
          <p:cNvSpPr>
            <a:spLocks noChangeArrowheads="1"/>
          </p:cNvSpPr>
          <p:nvPr/>
        </p:nvSpPr>
        <p:spPr bwMode="auto">
          <a:xfrm>
            <a:off x="5410200" y="5051425"/>
            <a:ext cx="4113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1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57" name="Line 63"/>
          <p:cNvSpPr>
            <a:spLocks noChangeShapeType="1"/>
          </p:cNvSpPr>
          <p:nvPr/>
        </p:nvSpPr>
        <p:spPr bwMode="auto">
          <a:xfrm>
            <a:off x="4135438" y="2489200"/>
            <a:ext cx="1587" cy="3459162"/>
          </a:xfrm>
          <a:prstGeom prst="line">
            <a:avLst/>
          </a:prstGeom>
          <a:noFill/>
          <a:ln w="38100">
            <a:solidFill>
              <a:srgbClr val="F7944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58" name="Line 64"/>
          <p:cNvSpPr>
            <a:spLocks noChangeShapeType="1"/>
          </p:cNvSpPr>
          <p:nvPr/>
        </p:nvSpPr>
        <p:spPr bwMode="auto">
          <a:xfrm flipH="1" flipV="1">
            <a:off x="2894013" y="2528887"/>
            <a:ext cx="2532062" cy="2566988"/>
          </a:xfrm>
          <a:prstGeom prst="line">
            <a:avLst/>
          </a:prstGeom>
          <a:noFill/>
          <a:ln w="38100">
            <a:solidFill>
              <a:srgbClr val="AEC5E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60" name="Oval 68"/>
          <p:cNvSpPr>
            <a:spLocks noChangeArrowheads="1"/>
          </p:cNvSpPr>
          <p:nvPr/>
        </p:nvSpPr>
        <p:spPr bwMode="auto">
          <a:xfrm>
            <a:off x="4083050" y="3727450"/>
            <a:ext cx="106363" cy="112712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61" name="Oval 70"/>
          <p:cNvSpPr>
            <a:spLocks noChangeArrowheads="1"/>
          </p:cNvSpPr>
          <p:nvPr/>
        </p:nvSpPr>
        <p:spPr bwMode="auto">
          <a:xfrm>
            <a:off x="4083050" y="4953000"/>
            <a:ext cx="106363" cy="109537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62" name="Freeform 76"/>
          <p:cNvSpPr>
            <a:spLocks/>
          </p:cNvSpPr>
          <p:nvPr/>
        </p:nvSpPr>
        <p:spPr bwMode="auto">
          <a:xfrm>
            <a:off x="1295400" y="2286000"/>
            <a:ext cx="6832600" cy="3662362"/>
          </a:xfrm>
          <a:custGeom>
            <a:avLst/>
            <a:gdLst>
              <a:gd name="T0" fmla="*/ 6838066 w 3031"/>
              <a:gd name="T1" fmla="*/ 4853066 h 2072"/>
              <a:gd name="T2" fmla="*/ 0 w 3031"/>
              <a:gd name="T3" fmla="*/ 4853066 h 2072"/>
              <a:gd name="T4" fmla="*/ 0 w 3031"/>
              <a:gd name="T5" fmla="*/ 0 h 2072"/>
              <a:gd name="T6" fmla="*/ 0 60000 65536"/>
              <a:gd name="T7" fmla="*/ 0 60000 65536"/>
              <a:gd name="T8" fmla="*/ 0 60000 65536"/>
              <a:gd name="T9" fmla="*/ 0 w 3031"/>
              <a:gd name="T10" fmla="*/ 0 h 2072"/>
              <a:gd name="T11" fmla="*/ 3031 w 3031"/>
              <a:gd name="T12" fmla="*/ 2072 h 20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31" h="2072">
                <a:moveTo>
                  <a:pt x="3031" y="2072"/>
                </a:moveTo>
                <a:lnTo>
                  <a:pt x="0" y="2072"/>
                </a:lnTo>
                <a:lnTo>
                  <a:pt x="0" y="0"/>
                </a:lnTo>
              </a:path>
            </a:pathLst>
          </a:cu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63" name="Line 168"/>
          <p:cNvSpPr>
            <a:spLocks noChangeShapeType="1"/>
          </p:cNvSpPr>
          <p:nvPr/>
        </p:nvSpPr>
        <p:spPr bwMode="auto">
          <a:xfrm>
            <a:off x="3549650" y="4225924"/>
            <a:ext cx="530225" cy="561975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64" name="Line 186"/>
          <p:cNvSpPr>
            <a:spLocks noChangeShapeType="1"/>
          </p:cNvSpPr>
          <p:nvPr/>
        </p:nvSpPr>
        <p:spPr bwMode="auto">
          <a:xfrm>
            <a:off x="4237038" y="6208712"/>
            <a:ext cx="288925" cy="1588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65" name="Freeform 187"/>
          <p:cNvSpPr>
            <a:spLocks/>
          </p:cNvSpPr>
          <p:nvPr/>
        </p:nvSpPr>
        <p:spPr bwMode="auto">
          <a:xfrm>
            <a:off x="4572000" y="6019800"/>
            <a:ext cx="990600" cy="609600"/>
          </a:xfrm>
          <a:custGeom>
            <a:avLst/>
            <a:gdLst>
              <a:gd name="T0" fmla="*/ 825712 w 155"/>
              <a:gd name="T1" fmla="*/ 436154 h 98"/>
              <a:gd name="T2" fmla="*/ 735150 w 155"/>
              <a:gd name="T3" fmla="*/ 541052 h 98"/>
              <a:gd name="T4" fmla="*/ 90562 w 155"/>
              <a:gd name="T5" fmla="*/ 541052 h 98"/>
              <a:gd name="T6" fmla="*/ 0 w 155"/>
              <a:gd name="T7" fmla="*/ 436154 h 98"/>
              <a:gd name="T8" fmla="*/ 0 w 155"/>
              <a:gd name="T9" fmla="*/ 104898 h 98"/>
              <a:gd name="T10" fmla="*/ 90562 w 155"/>
              <a:gd name="T11" fmla="*/ 0 h 98"/>
              <a:gd name="T12" fmla="*/ 735150 w 155"/>
              <a:gd name="T13" fmla="*/ 0 h 98"/>
              <a:gd name="T14" fmla="*/ 825712 w 155"/>
              <a:gd name="T15" fmla="*/ 104898 h 98"/>
              <a:gd name="T16" fmla="*/ 825712 w 155"/>
              <a:gd name="T17" fmla="*/ 436154 h 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5"/>
              <a:gd name="T28" fmla="*/ 0 h 98"/>
              <a:gd name="T29" fmla="*/ 155 w 155"/>
              <a:gd name="T30" fmla="*/ 98 h 9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5" h="98">
                <a:moveTo>
                  <a:pt x="155" y="79"/>
                </a:moveTo>
                <a:cubicBezTo>
                  <a:pt x="155" y="89"/>
                  <a:pt x="147" y="98"/>
                  <a:pt x="138" y="98"/>
                </a:cubicBezTo>
                <a:cubicBezTo>
                  <a:pt x="17" y="98"/>
                  <a:pt x="17" y="98"/>
                  <a:pt x="17" y="98"/>
                </a:cubicBezTo>
                <a:cubicBezTo>
                  <a:pt x="7" y="98"/>
                  <a:pt x="0" y="89"/>
                  <a:pt x="0" y="7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7" y="0"/>
                  <a:pt x="17" y="0"/>
                </a:cubicBezTo>
                <a:cubicBezTo>
                  <a:pt x="138" y="0"/>
                  <a:pt x="138" y="0"/>
                  <a:pt x="138" y="0"/>
                </a:cubicBezTo>
                <a:cubicBezTo>
                  <a:pt x="147" y="0"/>
                  <a:pt x="155" y="8"/>
                  <a:pt x="155" y="19"/>
                </a:cubicBezTo>
                <a:lnTo>
                  <a:pt x="155" y="79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66" name="Rectangle 30"/>
          <p:cNvSpPr>
            <a:spLocks noChangeArrowheads="1"/>
          </p:cNvSpPr>
          <p:nvPr/>
        </p:nvSpPr>
        <p:spPr bwMode="auto">
          <a:xfrm>
            <a:off x="7391400" y="6096000"/>
            <a:ext cx="1447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Real GDP</a:t>
            </a:r>
          </a:p>
        </p:txBody>
      </p:sp>
      <p:sp>
        <p:nvSpPr>
          <p:cNvPr id="551967" name="Rectangle 31"/>
          <p:cNvSpPr>
            <a:spLocks noChangeArrowheads="1"/>
          </p:cNvSpPr>
          <p:nvPr/>
        </p:nvSpPr>
        <p:spPr bwMode="auto">
          <a:xfrm>
            <a:off x="0" y="1331912"/>
            <a:ext cx="1524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Aggregate price level</a:t>
            </a:r>
          </a:p>
        </p:txBody>
      </p:sp>
      <p:sp>
        <p:nvSpPr>
          <p:cNvPr id="551968" name="Rectangle 32"/>
          <p:cNvSpPr>
            <a:spLocks noChangeArrowheads="1"/>
          </p:cNvSpPr>
          <p:nvPr/>
        </p:nvSpPr>
        <p:spPr bwMode="auto">
          <a:xfrm>
            <a:off x="4572000" y="6019800"/>
            <a:ext cx="1219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Potential</a:t>
            </a:r>
          </a:p>
          <a:p>
            <a:pPr>
              <a:spcBef>
                <a:spcPct val="0"/>
              </a:spcBef>
            </a:pPr>
            <a:r>
              <a:rPr lang="en-US" sz="1600" i="1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output</a:t>
            </a:r>
          </a:p>
        </p:txBody>
      </p:sp>
      <p:sp>
        <p:nvSpPr>
          <p:cNvPr id="551969" name="Freeform 169"/>
          <p:cNvSpPr>
            <a:spLocks/>
          </p:cNvSpPr>
          <p:nvPr/>
        </p:nvSpPr>
        <p:spPr bwMode="auto">
          <a:xfrm>
            <a:off x="3978805" y="4674659"/>
            <a:ext cx="144462" cy="147637"/>
          </a:xfrm>
          <a:custGeom>
            <a:avLst/>
            <a:gdLst>
              <a:gd name="T0" fmla="*/ 53477 w 27"/>
              <a:gd name="T1" fmla="*/ 54652 h 27"/>
              <a:gd name="T2" fmla="*/ 64172 w 27"/>
              <a:gd name="T3" fmla="*/ 0 h 27"/>
              <a:gd name="T4" fmla="*/ 64172 w 27"/>
              <a:gd name="T5" fmla="*/ 0 h 27"/>
              <a:gd name="T6" fmla="*/ 96258 w 27"/>
              <a:gd name="T7" fmla="*/ 76513 h 27"/>
              <a:gd name="T8" fmla="*/ 144387 w 27"/>
              <a:gd name="T9" fmla="*/ 147560 h 27"/>
              <a:gd name="T10" fmla="*/ 74867 w 27"/>
              <a:gd name="T11" fmla="*/ 103839 h 27"/>
              <a:gd name="T12" fmla="*/ 0 w 27"/>
              <a:gd name="T13" fmla="*/ 71047 h 27"/>
              <a:gd name="T14" fmla="*/ 0 w 27"/>
              <a:gd name="T15" fmla="*/ 65582 h 27"/>
              <a:gd name="T16" fmla="*/ 53477 w 27"/>
              <a:gd name="T17" fmla="*/ 54652 h 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"/>
              <a:gd name="T28" fmla="*/ 0 h 27"/>
              <a:gd name="T29" fmla="*/ 27 w 27"/>
              <a:gd name="T30" fmla="*/ 27 h 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" h="27">
                <a:moveTo>
                  <a:pt x="10" y="10"/>
                </a:moveTo>
                <a:cubicBezTo>
                  <a:pt x="12" y="0"/>
                  <a:pt x="12" y="0"/>
                  <a:pt x="12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8" y="14"/>
                  <a:pt x="18" y="14"/>
                  <a:pt x="18" y="14"/>
                </a:cubicBezTo>
                <a:cubicBezTo>
                  <a:pt x="21" y="18"/>
                  <a:pt x="24" y="22"/>
                  <a:pt x="27" y="27"/>
                </a:cubicBezTo>
                <a:cubicBezTo>
                  <a:pt x="22" y="24"/>
                  <a:pt x="18" y="21"/>
                  <a:pt x="14" y="19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2"/>
                  <a:pt x="0" y="12"/>
                  <a:pt x="0" y="12"/>
                </a:cubicBezTo>
                <a:lnTo>
                  <a:pt x="10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70" name="Freeform 170"/>
          <p:cNvSpPr>
            <a:spLocks/>
          </p:cNvSpPr>
          <p:nvPr/>
        </p:nvSpPr>
        <p:spPr bwMode="auto">
          <a:xfrm>
            <a:off x="3810000" y="4495800"/>
            <a:ext cx="144463" cy="142875"/>
          </a:xfrm>
          <a:custGeom>
            <a:avLst/>
            <a:gdLst>
              <a:gd name="T0" fmla="*/ 53477 w 27"/>
              <a:gd name="T1" fmla="*/ 54952 h 26"/>
              <a:gd name="T2" fmla="*/ 64172 w 27"/>
              <a:gd name="T3" fmla="*/ 0 h 26"/>
              <a:gd name="T4" fmla="*/ 69520 w 27"/>
              <a:gd name="T5" fmla="*/ 0 h 26"/>
              <a:gd name="T6" fmla="*/ 101606 w 27"/>
              <a:gd name="T7" fmla="*/ 76933 h 26"/>
              <a:gd name="T8" fmla="*/ 144387 w 27"/>
              <a:gd name="T9" fmla="*/ 142876 h 26"/>
              <a:gd name="T10" fmla="*/ 74867 w 27"/>
              <a:gd name="T11" fmla="*/ 98914 h 26"/>
              <a:gd name="T12" fmla="*/ 0 w 27"/>
              <a:gd name="T13" fmla="*/ 71438 h 26"/>
              <a:gd name="T14" fmla="*/ 0 w 27"/>
              <a:gd name="T15" fmla="*/ 65943 h 26"/>
              <a:gd name="T16" fmla="*/ 53477 w 27"/>
              <a:gd name="T17" fmla="*/ 54952 h 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"/>
              <a:gd name="T28" fmla="*/ 0 h 26"/>
              <a:gd name="T29" fmla="*/ 27 w 27"/>
              <a:gd name="T30" fmla="*/ 26 h 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" h="26">
                <a:moveTo>
                  <a:pt x="10" y="10"/>
                </a:moveTo>
                <a:cubicBezTo>
                  <a:pt x="12" y="0"/>
                  <a:pt x="12" y="0"/>
                  <a:pt x="12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9" y="14"/>
                  <a:pt x="19" y="14"/>
                  <a:pt x="19" y="14"/>
                </a:cubicBezTo>
                <a:cubicBezTo>
                  <a:pt x="21" y="18"/>
                  <a:pt x="24" y="22"/>
                  <a:pt x="27" y="26"/>
                </a:cubicBezTo>
                <a:cubicBezTo>
                  <a:pt x="23" y="24"/>
                  <a:pt x="18" y="21"/>
                  <a:pt x="14" y="18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2"/>
                  <a:pt x="0" y="12"/>
                  <a:pt x="0" y="12"/>
                </a:cubicBezTo>
                <a:lnTo>
                  <a:pt x="10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71" name="Freeform 171"/>
          <p:cNvSpPr>
            <a:spLocks/>
          </p:cNvSpPr>
          <p:nvPr/>
        </p:nvSpPr>
        <p:spPr bwMode="auto">
          <a:xfrm>
            <a:off x="3625850" y="4302125"/>
            <a:ext cx="141288" cy="149225"/>
          </a:xfrm>
          <a:custGeom>
            <a:avLst/>
            <a:gdLst>
              <a:gd name="T0" fmla="*/ 52641 w 27"/>
              <a:gd name="T1" fmla="*/ 55519 h 27"/>
              <a:gd name="T2" fmla="*/ 63169 w 27"/>
              <a:gd name="T3" fmla="*/ 0 h 27"/>
              <a:gd name="T4" fmla="*/ 63169 w 27"/>
              <a:gd name="T5" fmla="*/ 0 h 27"/>
              <a:gd name="T6" fmla="*/ 100018 w 27"/>
              <a:gd name="T7" fmla="*/ 77727 h 27"/>
              <a:gd name="T8" fmla="*/ 142131 w 27"/>
              <a:gd name="T9" fmla="*/ 149902 h 27"/>
              <a:gd name="T10" fmla="*/ 73698 w 27"/>
              <a:gd name="T11" fmla="*/ 105487 h 27"/>
              <a:gd name="T12" fmla="*/ 0 w 27"/>
              <a:gd name="T13" fmla="*/ 72175 h 27"/>
              <a:gd name="T14" fmla="*/ 0 w 27"/>
              <a:gd name="T15" fmla="*/ 72175 h 27"/>
              <a:gd name="T16" fmla="*/ 52641 w 27"/>
              <a:gd name="T17" fmla="*/ 55519 h 2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"/>
              <a:gd name="T28" fmla="*/ 0 h 27"/>
              <a:gd name="T29" fmla="*/ 27 w 27"/>
              <a:gd name="T30" fmla="*/ 27 h 2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" h="27">
                <a:moveTo>
                  <a:pt x="10" y="10"/>
                </a:moveTo>
                <a:cubicBezTo>
                  <a:pt x="12" y="0"/>
                  <a:pt x="12" y="0"/>
                  <a:pt x="12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19" y="14"/>
                  <a:pt x="19" y="14"/>
                  <a:pt x="19" y="14"/>
                </a:cubicBezTo>
                <a:cubicBezTo>
                  <a:pt x="21" y="18"/>
                  <a:pt x="24" y="23"/>
                  <a:pt x="27" y="27"/>
                </a:cubicBezTo>
                <a:cubicBezTo>
                  <a:pt x="23" y="24"/>
                  <a:pt x="18" y="21"/>
                  <a:pt x="14" y="19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3"/>
                  <a:pt x="0" y="13"/>
                  <a:pt x="0" y="13"/>
                </a:cubicBezTo>
                <a:lnTo>
                  <a:pt x="10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72" name="Freeform 79"/>
          <p:cNvSpPr>
            <a:spLocks/>
          </p:cNvSpPr>
          <p:nvPr/>
        </p:nvSpPr>
        <p:spPr bwMode="auto">
          <a:xfrm>
            <a:off x="6172200" y="3962400"/>
            <a:ext cx="2590800" cy="1828800"/>
          </a:xfrm>
          <a:custGeom>
            <a:avLst/>
            <a:gdLst>
              <a:gd name="T0" fmla="*/ 2077816 w 390"/>
              <a:gd name="T1" fmla="*/ 1255722 h 246"/>
              <a:gd name="T2" fmla="*/ 1987245 w 390"/>
              <a:gd name="T3" fmla="*/ 1360827 h 246"/>
              <a:gd name="T4" fmla="*/ 90571 w 390"/>
              <a:gd name="T5" fmla="*/ 1360827 h 246"/>
              <a:gd name="T6" fmla="*/ 0 w 390"/>
              <a:gd name="T7" fmla="*/ 1255722 h 246"/>
              <a:gd name="T8" fmla="*/ 0 w 390"/>
              <a:gd name="T9" fmla="*/ 105105 h 246"/>
              <a:gd name="T10" fmla="*/ 90571 w 390"/>
              <a:gd name="T11" fmla="*/ 0 h 246"/>
              <a:gd name="T12" fmla="*/ 1987245 w 390"/>
              <a:gd name="T13" fmla="*/ 0 h 246"/>
              <a:gd name="T14" fmla="*/ 2077816 w 390"/>
              <a:gd name="T15" fmla="*/ 105105 h 246"/>
              <a:gd name="T16" fmla="*/ 2077816 w 390"/>
              <a:gd name="T17" fmla="*/ 1255722 h 24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90"/>
              <a:gd name="T28" fmla="*/ 0 h 246"/>
              <a:gd name="T29" fmla="*/ 390 w 390"/>
              <a:gd name="T30" fmla="*/ 246 h 24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90" h="246">
                <a:moveTo>
                  <a:pt x="390" y="227"/>
                </a:moveTo>
                <a:cubicBezTo>
                  <a:pt x="390" y="237"/>
                  <a:pt x="383" y="246"/>
                  <a:pt x="373" y="246"/>
                </a:cubicBezTo>
                <a:cubicBezTo>
                  <a:pt x="17" y="246"/>
                  <a:pt x="17" y="246"/>
                  <a:pt x="17" y="246"/>
                </a:cubicBezTo>
                <a:cubicBezTo>
                  <a:pt x="8" y="246"/>
                  <a:pt x="0" y="237"/>
                  <a:pt x="0" y="227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8"/>
                  <a:pt x="8" y="0"/>
                  <a:pt x="17" y="0"/>
                </a:cubicBezTo>
                <a:cubicBezTo>
                  <a:pt x="373" y="0"/>
                  <a:pt x="373" y="0"/>
                  <a:pt x="373" y="0"/>
                </a:cubicBezTo>
                <a:cubicBezTo>
                  <a:pt x="383" y="0"/>
                  <a:pt x="390" y="8"/>
                  <a:pt x="390" y="19"/>
                </a:cubicBezTo>
                <a:lnTo>
                  <a:pt x="390" y="227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73" name="Rectangle 33"/>
          <p:cNvSpPr>
            <a:spLocks noChangeArrowheads="1"/>
          </p:cNvSpPr>
          <p:nvPr/>
        </p:nvSpPr>
        <p:spPr bwMode="auto">
          <a:xfrm>
            <a:off x="4291013" y="4900612"/>
            <a:ext cx="214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75" name="Rectangle 37"/>
          <p:cNvSpPr>
            <a:spLocks noChangeArrowheads="1"/>
          </p:cNvSpPr>
          <p:nvPr/>
        </p:nvSpPr>
        <p:spPr bwMode="auto">
          <a:xfrm>
            <a:off x="990600" y="4876800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3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77" name="Rectangle 45"/>
          <p:cNvSpPr>
            <a:spLocks noChangeArrowheads="1"/>
          </p:cNvSpPr>
          <p:nvPr/>
        </p:nvSpPr>
        <p:spPr bwMode="auto">
          <a:xfrm>
            <a:off x="6589713" y="2959100"/>
            <a:ext cx="58504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SRAS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81" name="Rectangle 45"/>
          <p:cNvSpPr>
            <a:spLocks noChangeArrowheads="1"/>
          </p:cNvSpPr>
          <p:nvPr/>
        </p:nvSpPr>
        <p:spPr bwMode="auto">
          <a:xfrm>
            <a:off x="6248400" y="3962400"/>
            <a:ext cx="2514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3. …until a fall in nominal wages in the long run increases short-run aggregate supply and moves the economy back to potential output.</a:t>
            </a:r>
          </a:p>
        </p:txBody>
      </p:sp>
      <p:sp>
        <p:nvSpPr>
          <p:cNvPr id="551983" name="Line 78"/>
          <p:cNvSpPr>
            <a:spLocks noChangeShapeType="1"/>
          </p:cNvSpPr>
          <p:nvPr/>
        </p:nvSpPr>
        <p:spPr bwMode="auto">
          <a:xfrm flipH="1" flipV="1">
            <a:off x="3473450" y="2357437"/>
            <a:ext cx="315913" cy="1527175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84" name="Freeform 126"/>
          <p:cNvSpPr>
            <a:spLocks/>
          </p:cNvSpPr>
          <p:nvPr/>
        </p:nvSpPr>
        <p:spPr bwMode="auto">
          <a:xfrm>
            <a:off x="1447800" y="1143000"/>
            <a:ext cx="3429000" cy="1077218"/>
          </a:xfrm>
          <a:custGeom>
            <a:avLst/>
            <a:gdLst>
              <a:gd name="T0" fmla="*/ 2120680 w 398"/>
              <a:gd name="T1" fmla="*/ 1028563 h 205"/>
              <a:gd name="T2" fmla="*/ 2030098 w 398"/>
              <a:gd name="T3" fmla="*/ 1133631 h 205"/>
              <a:gd name="T4" fmla="*/ 90582 w 398"/>
              <a:gd name="T5" fmla="*/ 1133631 h 205"/>
              <a:gd name="T6" fmla="*/ 0 w 398"/>
              <a:gd name="T7" fmla="*/ 1028563 h 205"/>
              <a:gd name="T8" fmla="*/ 0 w 398"/>
              <a:gd name="T9" fmla="*/ 105068 h 205"/>
              <a:gd name="T10" fmla="*/ 90582 w 398"/>
              <a:gd name="T11" fmla="*/ 0 h 205"/>
              <a:gd name="T12" fmla="*/ 2030098 w 398"/>
              <a:gd name="T13" fmla="*/ 0 h 205"/>
              <a:gd name="T14" fmla="*/ 2120680 w 398"/>
              <a:gd name="T15" fmla="*/ 105068 h 205"/>
              <a:gd name="T16" fmla="*/ 2120680 w 398"/>
              <a:gd name="T17" fmla="*/ 1028563 h 20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98"/>
              <a:gd name="T28" fmla="*/ 0 h 205"/>
              <a:gd name="T29" fmla="*/ 398 w 398"/>
              <a:gd name="T30" fmla="*/ 205 h 20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98" h="205">
                <a:moveTo>
                  <a:pt x="398" y="186"/>
                </a:moveTo>
                <a:cubicBezTo>
                  <a:pt x="398" y="196"/>
                  <a:pt x="391" y="205"/>
                  <a:pt x="381" y="205"/>
                </a:cubicBezTo>
                <a:cubicBezTo>
                  <a:pt x="17" y="205"/>
                  <a:pt x="17" y="205"/>
                  <a:pt x="17" y="205"/>
                </a:cubicBezTo>
                <a:cubicBezTo>
                  <a:pt x="7" y="205"/>
                  <a:pt x="0" y="196"/>
                  <a:pt x="0" y="186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7" y="0"/>
                  <a:pt x="17" y="0"/>
                </a:cubicBezTo>
                <a:cubicBezTo>
                  <a:pt x="381" y="0"/>
                  <a:pt x="381" y="0"/>
                  <a:pt x="381" y="0"/>
                </a:cubicBezTo>
                <a:cubicBezTo>
                  <a:pt x="391" y="0"/>
                  <a:pt x="398" y="9"/>
                  <a:pt x="398" y="19"/>
                </a:cubicBezTo>
                <a:lnTo>
                  <a:pt x="398" y="186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4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85" name="Rectangle 49"/>
          <p:cNvSpPr>
            <a:spLocks noChangeArrowheads="1"/>
          </p:cNvSpPr>
          <p:nvPr/>
        </p:nvSpPr>
        <p:spPr bwMode="auto">
          <a:xfrm>
            <a:off x="1447799" y="1143000"/>
            <a:ext cx="350520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2. …reduces the aggregate price level and aggregate output and leads to higher unemployment in the short run…</a:t>
            </a:r>
          </a:p>
        </p:txBody>
      </p:sp>
      <p:sp>
        <p:nvSpPr>
          <p:cNvPr id="551986" name="Rectangle 54"/>
          <p:cNvSpPr>
            <a:spLocks noChangeArrowheads="1"/>
          </p:cNvSpPr>
          <p:nvPr/>
        </p:nvSpPr>
        <p:spPr bwMode="auto">
          <a:xfrm>
            <a:off x="4600575" y="5437187"/>
            <a:ext cx="41136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AD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88" name="Freeform 56"/>
          <p:cNvSpPr>
            <a:spLocks/>
          </p:cNvSpPr>
          <p:nvPr/>
        </p:nvSpPr>
        <p:spPr bwMode="auto">
          <a:xfrm>
            <a:off x="2590801" y="6477000"/>
            <a:ext cx="1935162" cy="381000"/>
          </a:xfrm>
          <a:custGeom>
            <a:avLst/>
            <a:gdLst>
              <a:gd name="T0" fmla="*/ 1369419 w 257"/>
              <a:gd name="T1" fmla="*/ 203732 h 57"/>
              <a:gd name="T2" fmla="*/ 1278835 w 257"/>
              <a:gd name="T3" fmla="*/ 313857 h 57"/>
              <a:gd name="T4" fmla="*/ 90584 w 257"/>
              <a:gd name="T5" fmla="*/ 313857 h 57"/>
              <a:gd name="T6" fmla="*/ 0 w 257"/>
              <a:gd name="T7" fmla="*/ 203732 h 57"/>
              <a:gd name="T8" fmla="*/ 0 w 257"/>
              <a:gd name="T9" fmla="*/ 104619 h 57"/>
              <a:gd name="T10" fmla="*/ 90584 w 257"/>
              <a:gd name="T11" fmla="*/ 0 h 57"/>
              <a:gd name="T12" fmla="*/ 1278835 w 257"/>
              <a:gd name="T13" fmla="*/ 0 h 57"/>
              <a:gd name="T14" fmla="*/ 1369419 w 257"/>
              <a:gd name="T15" fmla="*/ 104619 h 57"/>
              <a:gd name="T16" fmla="*/ 1369419 w 257"/>
              <a:gd name="T17" fmla="*/ 203732 h 5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57"/>
              <a:gd name="T28" fmla="*/ 0 h 57"/>
              <a:gd name="T29" fmla="*/ 257 w 257"/>
              <a:gd name="T30" fmla="*/ 57 h 5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57" h="57">
                <a:moveTo>
                  <a:pt x="257" y="37"/>
                </a:moveTo>
                <a:cubicBezTo>
                  <a:pt x="257" y="48"/>
                  <a:pt x="249" y="57"/>
                  <a:pt x="240" y="57"/>
                </a:cubicBezTo>
                <a:cubicBezTo>
                  <a:pt x="17" y="57"/>
                  <a:pt x="17" y="57"/>
                  <a:pt x="17" y="57"/>
                </a:cubicBezTo>
                <a:cubicBezTo>
                  <a:pt x="7" y="57"/>
                  <a:pt x="0" y="48"/>
                  <a:pt x="0" y="37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7" y="0"/>
                  <a:pt x="17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249" y="0"/>
                  <a:pt x="257" y="9"/>
                  <a:pt x="257" y="19"/>
                </a:cubicBezTo>
                <a:lnTo>
                  <a:pt x="257" y="37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89" name="Rectangle 53"/>
          <p:cNvSpPr>
            <a:spLocks noChangeArrowheads="1"/>
          </p:cNvSpPr>
          <p:nvPr/>
        </p:nvSpPr>
        <p:spPr bwMode="auto">
          <a:xfrm>
            <a:off x="2590800" y="6477000"/>
            <a:ext cx="198962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Recessionary gap</a:t>
            </a:r>
          </a:p>
        </p:txBody>
      </p:sp>
      <p:sp>
        <p:nvSpPr>
          <p:cNvPr id="551990" name="Line 54"/>
          <p:cNvSpPr>
            <a:spLocks noChangeShapeType="1"/>
          </p:cNvSpPr>
          <p:nvPr/>
        </p:nvSpPr>
        <p:spPr bwMode="auto">
          <a:xfrm flipH="1">
            <a:off x="1295400" y="4267200"/>
            <a:ext cx="2049463" cy="15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92" name="Rectangle 10"/>
          <p:cNvSpPr>
            <a:spLocks noChangeArrowheads="1"/>
          </p:cNvSpPr>
          <p:nvPr/>
        </p:nvSpPr>
        <p:spPr bwMode="auto">
          <a:xfrm>
            <a:off x="3325427" y="5957872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Y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3" name="Freeform 75"/>
          <p:cNvSpPr>
            <a:spLocks/>
          </p:cNvSpPr>
          <p:nvPr/>
        </p:nvSpPr>
        <p:spPr bwMode="auto">
          <a:xfrm>
            <a:off x="3411538" y="6261100"/>
            <a:ext cx="723900" cy="139700"/>
          </a:xfrm>
          <a:custGeom>
            <a:avLst/>
            <a:gdLst>
              <a:gd name="T0" fmla="*/ 0 w 136"/>
              <a:gd name="T1" fmla="*/ 0 h 25"/>
              <a:gd name="T2" fmla="*/ 63899 w 136"/>
              <a:gd name="T3" fmla="*/ 82915 h 25"/>
              <a:gd name="T4" fmla="*/ 319496 w 136"/>
              <a:gd name="T5" fmla="*/ 82915 h 25"/>
              <a:gd name="T6" fmla="*/ 362095 w 136"/>
              <a:gd name="T7" fmla="*/ 138191 h 25"/>
              <a:gd name="T8" fmla="*/ 404694 w 136"/>
              <a:gd name="T9" fmla="*/ 82915 h 25"/>
              <a:gd name="T10" fmla="*/ 660291 w 136"/>
              <a:gd name="T11" fmla="*/ 82915 h 25"/>
              <a:gd name="T12" fmla="*/ 724190 w 136"/>
              <a:gd name="T13" fmla="*/ 0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6"/>
              <a:gd name="T22" fmla="*/ 0 h 25"/>
              <a:gd name="T23" fmla="*/ 136 w 136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6" h="25">
                <a:moveTo>
                  <a:pt x="0" y="0"/>
                </a:moveTo>
                <a:cubicBezTo>
                  <a:pt x="0" y="10"/>
                  <a:pt x="2" y="15"/>
                  <a:pt x="12" y="15"/>
                </a:cubicBezTo>
                <a:cubicBezTo>
                  <a:pt x="14" y="15"/>
                  <a:pt x="59" y="15"/>
                  <a:pt x="60" y="15"/>
                </a:cubicBezTo>
                <a:cubicBezTo>
                  <a:pt x="63" y="15"/>
                  <a:pt x="68" y="17"/>
                  <a:pt x="68" y="25"/>
                </a:cubicBezTo>
                <a:cubicBezTo>
                  <a:pt x="68" y="17"/>
                  <a:pt x="73" y="15"/>
                  <a:pt x="76" y="15"/>
                </a:cubicBezTo>
                <a:cubicBezTo>
                  <a:pt x="77" y="15"/>
                  <a:pt x="122" y="15"/>
                  <a:pt x="124" y="15"/>
                </a:cubicBezTo>
                <a:cubicBezTo>
                  <a:pt x="134" y="15"/>
                  <a:pt x="136" y="10"/>
                  <a:pt x="136" y="0"/>
                </a:cubicBezTo>
              </a:path>
            </a:pathLst>
          </a:custGeom>
          <a:noFill/>
          <a:ln w="15">
            <a:solidFill>
              <a:srgbClr val="6D6F7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4" name="Freeform 173"/>
          <p:cNvSpPr>
            <a:spLocks/>
          </p:cNvSpPr>
          <p:nvPr/>
        </p:nvSpPr>
        <p:spPr bwMode="auto">
          <a:xfrm>
            <a:off x="1371600" y="3886200"/>
            <a:ext cx="1143000" cy="1065212"/>
          </a:xfrm>
          <a:custGeom>
            <a:avLst/>
            <a:gdLst>
              <a:gd name="T0" fmla="*/ 1342346 w 252"/>
              <a:gd name="T1" fmla="*/ 609158 h 129"/>
              <a:gd name="T2" fmla="*/ 1251791 w 252"/>
              <a:gd name="T3" fmla="*/ 714376 h 129"/>
              <a:gd name="T4" fmla="*/ 95882 w 252"/>
              <a:gd name="T5" fmla="*/ 714376 h 129"/>
              <a:gd name="T6" fmla="*/ 0 w 252"/>
              <a:gd name="T7" fmla="*/ 609158 h 129"/>
              <a:gd name="T8" fmla="*/ 0 w 252"/>
              <a:gd name="T9" fmla="*/ 105218 h 129"/>
              <a:gd name="T10" fmla="*/ 95882 w 252"/>
              <a:gd name="T11" fmla="*/ 0 h 129"/>
              <a:gd name="T12" fmla="*/ 1251791 w 252"/>
              <a:gd name="T13" fmla="*/ 0 h 129"/>
              <a:gd name="T14" fmla="*/ 1342346 w 252"/>
              <a:gd name="T15" fmla="*/ 105218 h 129"/>
              <a:gd name="T16" fmla="*/ 1342346 w 252"/>
              <a:gd name="T17" fmla="*/ 609158 h 12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52"/>
              <a:gd name="T28" fmla="*/ 0 h 129"/>
              <a:gd name="T29" fmla="*/ 252 w 252"/>
              <a:gd name="T30" fmla="*/ 129 h 12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52" h="129">
                <a:moveTo>
                  <a:pt x="252" y="110"/>
                </a:moveTo>
                <a:cubicBezTo>
                  <a:pt x="252" y="121"/>
                  <a:pt x="244" y="129"/>
                  <a:pt x="235" y="129"/>
                </a:cubicBezTo>
                <a:cubicBezTo>
                  <a:pt x="18" y="129"/>
                  <a:pt x="18" y="129"/>
                  <a:pt x="18" y="129"/>
                </a:cubicBezTo>
                <a:cubicBezTo>
                  <a:pt x="8" y="129"/>
                  <a:pt x="0" y="121"/>
                  <a:pt x="0" y="110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9"/>
                  <a:pt x="8" y="0"/>
                  <a:pt x="18" y="0"/>
                </a:cubicBezTo>
                <a:cubicBezTo>
                  <a:pt x="235" y="0"/>
                  <a:pt x="235" y="0"/>
                  <a:pt x="235" y="0"/>
                </a:cubicBezTo>
                <a:cubicBezTo>
                  <a:pt x="244" y="0"/>
                  <a:pt x="252" y="9"/>
                  <a:pt x="252" y="19"/>
                </a:cubicBezTo>
                <a:lnTo>
                  <a:pt x="252" y="110"/>
                </a:lnTo>
                <a:close/>
              </a:path>
            </a:pathLst>
          </a:custGeom>
          <a:solidFill>
            <a:srgbClr val="D7E2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5" name="Line 164"/>
          <p:cNvSpPr>
            <a:spLocks noChangeShapeType="1"/>
          </p:cNvSpPr>
          <p:nvPr/>
        </p:nvSpPr>
        <p:spPr bwMode="auto">
          <a:xfrm flipH="1">
            <a:off x="3473450" y="3738562"/>
            <a:ext cx="528638" cy="349250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1996" name="Freeform 165"/>
          <p:cNvSpPr>
            <a:spLocks/>
          </p:cNvSpPr>
          <p:nvPr/>
        </p:nvSpPr>
        <p:spPr bwMode="auto">
          <a:xfrm>
            <a:off x="3379788" y="4027487"/>
            <a:ext cx="160337" cy="127000"/>
          </a:xfrm>
          <a:custGeom>
            <a:avLst/>
            <a:gdLst>
              <a:gd name="T0" fmla="*/ 106787 w 30"/>
              <a:gd name="T1" fmla="*/ 54991 h 23"/>
              <a:gd name="T2" fmla="*/ 160180 w 30"/>
              <a:gd name="T3" fmla="*/ 82487 h 23"/>
              <a:gd name="T4" fmla="*/ 154841 w 30"/>
              <a:gd name="T5" fmla="*/ 82487 h 23"/>
              <a:gd name="T6" fmla="*/ 74751 w 30"/>
              <a:gd name="T7" fmla="*/ 98984 h 23"/>
              <a:gd name="T8" fmla="*/ 0 w 30"/>
              <a:gd name="T9" fmla="*/ 126480 h 23"/>
              <a:gd name="T10" fmla="*/ 58733 w 30"/>
              <a:gd name="T11" fmla="*/ 65990 h 23"/>
              <a:gd name="T12" fmla="*/ 106787 w 30"/>
              <a:gd name="T13" fmla="*/ 0 h 23"/>
              <a:gd name="T14" fmla="*/ 106787 w 30"/>
              <a:gd name="T15" fmla="*/ 0 h 23"/>
              <a:gd name="T16" fmla="*/ 106787 w 30"/>
              <a:gd name="T17" fmla="*/ 54991 h 2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23"/>
              <a:gd name="T29" fmla="*/ 30 w 30"/>
              <a:gd name="T30" fmla="*/ 23 h 2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23">
                <a:moveTo>
                  <a:pt x="20" y="10"/>
                </a:moveTo>
                <a:cubicBezTo>
                  <a:pt x="30" y="15"/>
                  <a:pt x="30" y="15"/>
                  <a:pt x="30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14" y="18"/>
                  <a:pt x="14" y="18"/>
                  <a:pt x="14" y="18"/>
                </a:cubicBezTo>
                <a:cubicBezTo>
                  <a:pt x="10" y="19"/>
                  <a:pt x="5" y="21"/>
                  <a:pt x="0" y="23"/>
                </a:cubicBezTo>
                <a:cubicBezTo>
                  <a:pt x="4" y="19"/>
                  <a:pt x="7" y="16"/>
                  <a:pt x="11" y="12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0" y="0"/>
                  <a:pt x="20" y="0"/>
                </a:cubicBezTo>
                <a:lnTo>
                  <a:pt x="20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7" name="Freeform 166"/>
          <p:cNvSpPr>
            <a:spLocks/>
          </p:cNvSpPr>
          <p:nvPr/>
        </p:nvSpPr>
        <p:spPr bwMode="auto">
          <a:xfrm>
            <a:off x="3563938" y="3905250"/>
            <a:ext cx="160337" cy="127000"/>
          </a:xfrm>
          <a:custGeom>
            <a:avLst/>
            <a:gdLst>
              <a:gd name="T0" fmla="*/ 112126 w 30"/>
              <a:gd name="T1" fmla="*/ 54991 h 23"/>
              <a:gd name="T2" fmla="*/ 160180 w 30"/>
              <a:gd name="T3" fmla="*/ 76988 h 23"/>
              <a:gd name="T4" fmla="*/ 154841 w 30"/>
              <a:gd name="T5" fmla="*/ 76988 h 23"/>
              <a:gd name="T6" fmla="*/ 80090 w 30"/>
              <a:gd name="T7" fmla="*/ 93485 h 23"/>
              <a:gd name="T8" fmla="*/ 0 w 30"/>
              <a:gd name="T9" fmla="*/ 126480 h 23"/>
              <a:gd name="T10" fmla="*/ 58733 w 30"/>
              <a:gd name="T11" fmla="*/ 65990 h 23"/>
              <a:gd name="T12" fmla="*/ 106787 w 30"/>
              <a:gd name="T13" fmla="*/ 0 h 23"/>
              <a:gd name="T14" fmla="*/ 106787 w 30"/>
              <a:gd name="T15" fmla="*/ 0 h 23"/>
              <a:gd name="T16" fmla="*/ 112126 w 30"/>
              <a:gd name="T17" fmla="*/ 54991 h 2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23"/>
              <a:gd name="T29" fmla="*/ 30 w 30"/>
              <a:gd name="T30" fmla="*/ 23 h 2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23">
                <a:moveTo>
                  <a:pt x="21" y="10"/>
                </a:moveTo>
                <a:cubicBezTo>
                  <a:pt x="30" y="14"/>
                  <a:pt x="30" y="14"/>
                  <a:pt x="30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15" y="17"/>
                  <a:pt x="15" y="17"/>
                  <a:pt x="15" y="17"/>
                </a:cubicBezTo>
                <a:cubicBezTo>
                  <a:pt x="10" y="19"/>
                  <a:pt x="5" y="21"/>
                  <a:pt x="0" y="23"/>
                </a:cubicBezTo>
                <a:cubicBezTo>
                  <a:pt x="4" y="19"/>
                  <a:pt x="8" y="15"/>
                  <a:pt x="11" y="12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0" y="0"/>
                  <a:pt x="20" y="0"/>
                </a:cubicBezTo>
                <a:lnTo>
                  <a:pt x="21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8" name="Freeform 167"/>
          <p:cNvSpPr>
            <a:spLocks/>
          </p:cNvSpPr>
          <p:nvPr/>
        </p:nvSpPr>
        <p:spPr bwMode="auto">
          <a:xfrm>
            <a:off x="3789363" y="3756025"/>
            <a:ext cx="153987" cy="128587"/>
          </a:xfrm>
          <a:custGeom>
            <a:avLst/>
            <a:gdLst>
              <a:gd name="T0" fmla="*/ 105801 w 29"/>
              <a:gd name="T1" fmla="*/ 56010 h 23"/>
              <a:gd name="T2" fmla="*/ 153411 w 29"/>
              <a:gd name="T3" fmla="*/ 84014 h 23"/>
              <a:gd name="T4" fmla="*/ 153411 w 29"/>
              <a:gd name="T5" fmla="*/ 84014 h 23"/>
              <a:gd name="T6" fmla="*/ 74060 w 29"/>
              <a:gd name="T7" fmla="*/ 100817 h 23"/>
              <a:gd name="T8" fmla="*/ 0 w 29"/>
              <a:gd name="T9" fmla="*/ 128822 h 23"/>
              <a:gd name="T10" fmla="*/ 58190 w 29"/>
              <a:gd name="T11" fmla="*/ 67211 h 23"/>
              <a:gd name="T12" fmla="*/ 105801 w 29"/>
              <a:gd name="T13" fmla="*/ 0 h 23"/>
              <a:gd name="T14" fmla="*/ 105801 w 29"/>
              <a:gd name="T15" fmla="*/ 0 h 23"/>
              <a:gd name="T16" fmla="*/ 105801 w 29"/>
              <a:gd name="T17" fmla="*/ 56010 h 2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"/>
              <a:gd name="T28" fmla="*/ 0 h 23"/>
              <a:gd name="T29" fmla="*/ 29 w 29"/>
              <a:gd name="T30" fmla="*/ 23 h 2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" h="23">
                <a:moveTo>
                  <a:pt x="20" y="10"/>
                </a:move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9" y="15"/>
                  <a:pt x="29" y="15"/>
                </a:cubicBezTo>
                <a:cubicBezTo>
                  <a:pt x="14" y="18"/>
                  <a:pt x="14" y="18"/>
                  <a:pt x="14" y="18"/>
                </a:cubicBezTo>
                <a:cubicBezTo>
                  <a:pt x="10" y="19"/>
                  <a:pt x="5" y="21"/>
                  <a:pt x="0" y="23"/>
                </a:cubicBezTo>
                <a:cubicBezTo>
                  <a:pt x="4" y="19"/>
                  <a:pt x="7" y="16"/>
                  <a:pt x="11" y="12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0" y="0"/>
                  <a:pt x="20" y="0"/>
                </a:cubicBezTo>
                <a:lnTo>
                  <a:pt x="20" y="1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1999" name="Rectangle 35"/>
          <p:cNvSpPr>
            <a:spLocks noChangeArrowheads="1"/>
          </p:cNvSpPr>
          <p:nvPr/>
        </p:nvSpPr>
        <p:spPr bwMode="auto">
          <a:xfrm>
            <a:off x="3124200" y="4451350"/>
            <a:ext cx="2143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E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2000" name="Oval 69"/>
          <p:cNvSpPr>
            <a:spLocks noChangeArrowheads="1"/>
          </p:cNvSpPr>
          <p:nvPr/>
        </p:nvSpPr>
        <p:spPr bwMode="auto">
          <a:xfrm>
            <a:off x="3355975" y="4214812"/>
            <a:ext cx="109538" cy="1127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sz="160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2001" name="Line 73"/>
          <p:cNvSpPr>
            <a:spLocks noChangeShapeType="1"/>
          </p:cNvSpPr>
          <p:nvPr/>
        </p:nvSpPr>
        <p:spPr bwMode="auto">
          <a:xfrm flipH="1">
            <a:off x="2627313" y="3279775"/>
            <a:ext cx="877887" cy="3175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2002" name="Line 172"/>
          <p:cNvSpPr>
            <a:spLocks noChangeShapeType="1"/>
          </p:cNvSpPr>
          <p:nvPr/>
        </p:nvSpPr>
        <p:spPr bwMode="auto">
          <a:xfrm flipV="1">
            <a:off x="2695575" y="3279775"/>
            <a:ext cx="160338" cy="630237"/>
          </a:xfrm>
          <a:prstGeom prst="line">
            <a:avLst/>
          </a:prstGeom>
          <a:noFill/>
          <a:ln w="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2003" name="Line 67"/>
          <p:cNvSpPr>
            <a:spLocks noChangeShapeType="1"/>
          </p:cNvSpPr>
          <p:nvPr/>
        </p:nvSpPr>
        <p:spPr bwMode="auto">
          <a:xfrm flipV="1">
            <a:off x="3389312" y="4267200"/>
            <a:ext cx="14287" cy="1663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2004" name="Rectangle 68"/>
          <p:cNvSpPr>
            <a:spLocks noChangeArrowheads="1"/>
          </p:cNvSpPr>
          <p:nvPr/>
        </p:nvSpPr>
        <p:spPr bwMode="auto">
          <a:xfrm>
            <a:off x="1371600" y="3886200"/>
            <a:ext cx="130889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1. An initial</a:t>
            </a:r>
          </a:p>
          <a:p>
            <a:pPr>
              <a:spcBef>
                <a:spcPct val="0"/>
              </a:spcBef>
            </a:pPr>
            <a:r>
              <a:rPr lang="en-US" sz="1600" i="1" dirty="0">
                <a:solidFill>
                  <a:prstClr val="black"/>
                </a:solidFill>
                <a:latin typeface="Century Gothic"/>
                <a:ea typeface="ＭＳ Ｐゴシック" pitchFamily="34" charset="-128"/>
                <a:cs typeface="Century Gothic"/>
              </a:rPr>
              <a:t>negative demand shock…</a:t>
            </a:r>
          </a:p>
        </p:txBody>
      </p:sp>
      <p:sp>
        <p:nvSpPr>
          <p:cNvPr id="552005" name="Line 69"/>
          <p:cNvSpPr>
            <a:spLocks noChangeShapeType="1"/>
          </p:cNvSpPr>
          <p:nvPr/>
        </p:nvSpPr>
        <p:spPr bwMode="auto">
          <a:xfrm>
            <a:off x="1066800" y="3886200"/>
            <a:ext cx="0" cy="2921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2006" name="Line 70"/>
          <p:cNvSpPr>
            <a:spLocks noChangeShapeType="1"/>
          </p:cNvSpPr>
          <p:nvPr/>
        </p:nvSpPr>
        <p:spPr bwMode="auto">
          <a:xfrm>
            <a:off x="1066800" y="4495800"/>
            <a:ext cx="0" cy="2921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prstClr val="black"/>
              </a:solidFill>
              <a:latin typeface="Century Gothic"/>
              <a:cs typeface="Century Gothic"/>
            </a:endParaRPr>
          </a:p>
        </p:txBody>
      </p:sp>
      <p:sp>
        <p:nvSpPr>
          <p:cNvPr id="552008" name="Rectangle 13"/>
          <p:cNvSpPr>
            <a:spLocks noChangeArrowheads="1"/>
          </p:cNvSpPr>
          <p:nvPr/>
        </p:nvSpPr>
        <p:spPr bwMode="auto">
          <a:xfrm>
            <a:off x="990600" y="4191000"/>
            <a:ext cx="2257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i="1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P</a:t>
            </a:r>
            <a:r>
              <a:rPr lang="en-US" sz="1600" baseline="-25000" dirty="0">
                <a:solidFill>
                  <a:srgbClr val="000000"/>
                </a:solidFill>
                <a:latin typeface="Century Gothic"/>
                <a:ea typeface="ＭＳ Ｐゴシック" pitchFamily="34" charset="-128"/>
                <a:cs typeface="Century Gothic"/>
              </a:rPr>
              <a:t>2</a:t>
            </a:r>
            <a:endParaRPr lang="en-US" sz="1600" i="1" dirty="0">
              <a:solidFill>
                <a:prstClr val="black"/>
              </a:solidFill>
              <a:latin typeface="Century Gothic"/>
              <a:ea typeface="ＭＳ Ｐゴシック" pitchFamily="34" charset="-128"/>
              <a:cs typeface="Century Gothic"/>
            </a:endParaRPr>
          </a:p>
        </p:txBody>
      </p:sp>
      <p:sp>
        <p:nvSpPr>
          <p:cNvPr id="552009" name="Rectangle 73"/>
          <p:cNvSpPr>
            <a:spLocks noGrp="1" noRot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r>
              <a:rPr lang="en-US" sz="3600" spc="0" dirty="0"/>
              <a:t>SHORT-RUN VERSUS LONG-RUN EFFECTS OF A NEGATIVE DEMAND SHOCK</a:t>
            </a:r>
          </a:p>
        </p:txBody>
      </p:sp>
    </p:spTree>
    <p:extLst>
      <p:ext uri="{BB962C8B-B14F-4D97-AF65-F5344CB8AC3E}">
        <p14:creationId xmlns:p14="http://schemas.microsoft.com/office/powerpoint/2010/main" val="291453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5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448 -0.10649 L 4.16667E-6 4.07407E-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519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15" y="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5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5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519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519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519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5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5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5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55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39" grpId="0" animBg="1"/>
      <p:bldP spid="551940" grpId="0" animBg="1"/>
      <p:bldP spid="551940" grpId="1" animBg="1"/>
      <p:bldP spid="551961" grpId="0" animBg="1"/>
      <p:bldP spid="551963" grpId="0" animBg="1"/>
      <p:bldP spid="551969" grpId="0" animBg="1"/>
      <p:bldP spid="551970" grpId="0" animBg="1"/>
      <p:bldP spid="551971" grpId="0" animBg="1"/>
      <p:bldP spid="551972" grpId="0" animBg="1"/>
      <p:bldP spid="551973" grpId="0"/>
      <p:bldP spid="551975" grpId="0"/>
      <p:bldP spid="551977" grpId="0"/>
      <p:bldP spid="551981" grpId="0"/>
      <p:bldP spid="551988" grpId="0" animBg="1"/>
      <p:bldP spid="551989" grpId="0"/>
      <p:bldP spid="551993" grpId="0" animBg="1"/>
      <p:bldP spid="55200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3200" dirty="0"/>
              <a:t>With a partner, answer the following: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3200" dirty="0"/>
              <a:t>The </a:t>
            </a:r>
            <a:r>
              <a:rPr lang="en-US" sz="3200" i="1" dirty="0"/>
              <a:t>AD–AS </a:t>
            </a:r>
            <a:r>
              <a:rPr lang="en-US" sz="3200" dirty="0"/>
              <a:t>model is said to have a self-correcting mechanism. 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3200" dirty="0"/>
              <a:t>Explain to each other what this means and how this self-correcting mechanism works. 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3200" dirty="0"/>
              <a:t>Use a graph to illustrate your answer.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189026"/>
      </p:ext>
    </p:extLst>
  </p:cSld>
  <p:clrMapOvr>
    <a:masterClrMapping/>
  </p:clrMapOvr>
  <p:transition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060950"/>
          </a:xfrm>
        </p:spPr>
        <p:txBody>
          <a:bodyPr>
            <a:noAutofit/>
          </a:bodyPr>
          <a:lstStyle/>
          <a:p>
            <a:r>
              <a:rPr lang="en-US" sz="2400" dirty="0"/>
              <a:t>Suppose an economy is in short-run equilibrium; the level of real GDP is less than potential output. Which of the following statements is true?</a:t>
            </a:r>
          </a:p>
          <a:p>
            <a:pPr marL="627063" indent="-398463">
              <a:buFont typeface="+mj-lt"/>
              <a:buAutoNum type="alphaLcParenR"/>
            </a:pPr>
            <a:r>
              <a:rPr lang="en-US" sz="2400" dirty="0"/>
              <a:t>In the long run, nominal wages will fall and the </a:t>
            </a:r>
            <a:r>
              <a:rPr lang="en-US" sz="2400" i="1" dirty="0"/>
              <a:t>SRAS </a:t>
            </a:r>
            <a:r>
              <a:rPr lang="en-US" sz="2400" dirty="0"/>
              <a:t>curve will shift left, restoring the economy to potential output.</a:t>
            </a:r>
          </a:p>
          <a:p>
            <a:pPr marL="627063" indent="-398463">
              <a:buFont typeface="+mj-lt"/>
              <a:buAutoNum type="alphaLcParenR"/>
            </a:pPr>
            <a:r>
              <a:rPr lang="en-US" sz="2400" dirty="0"/>
              <a:t>In the long run, nominal wages will fall and the </a:t>
            </a:r>
            <a:r>
              <a:rPr lang="en-US" sz="2400" i="1" dirty="0"/>
              <a:t>SRAS </a:t>
            </a:r>
            <a:r>
              <a:rPr lang="en-US" sz="2400" dirty="0"/>
              <a:t>curve will shift right, restoring the economy to potential output.</a:t>
            </a:r>
          </a:p>
          <a:p>
            <a:pPr marL="627063" indent="-398463">
              <a:buFont typeface="+mj-lt"/>
              <a:buAutoNum type="alphaLcParenR"/>
            </a:pPr>
            <a:r>
              <a:rPr lang="en-US" sz="2400" dirty="0"/>
              <a:t>In the long run, nominal wages will fall and the </a:t>
            </a:r>
            <a:r>
              <a:rPr lang="en-US" sz="2400" i="1" dirty="0"/>
              <a:t>AD </a:t>
            </a:r>
            <a:r>
              <a:rPr lang="en-US" sz="2400" dirty="0"/>
              <a:t>curve will shift left, restoring the economy to potential output.</a:t>
            </a:r>
          </a:p>
          <a:p>
            <a:pPr marL="627063" indent="-398463">
              <a:buFont typeface="+mj-lt"/>
              <a:buAutoNum type="alphaLcParenR"/>
            </a:pPr>
            <a:r>
              <a:rPr lang="en-US" sz="2400" dirty="0"/>
              <a:t>In the long run, nominal wages will fall and the </a:t>
            </a:r>
            <a:r>
              <a:rPr lang="en-US" sz="2400" i="1" dirty="0"/>
              <a:t>AD </a:t>
            </a:r>
            <a:r>
              <a:rPr lang="en-US" sz="2400" dirty="0"/>
              <a:t>curve will shift right, restoring the economy to potential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Active Learni</a:t>
            </a: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" action="ppaction://noaction"/>
              </a:rPr>
              <a:t>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25970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060950"/>
          </a:xfrm>
        </p:spPr>
        <p:txBody>
          <a:bodyPr>
            <a:noAutofit/>
          </a:bodyPr>
          <a:lstStyle/>
          <a:p>
            <a:r>
              <a:rPr lang="en-US" sz="2400" dirty="0"/>
              <a:t>Suppose short-run equilibrium real GDP for an economy is greater than potential output. This implies that:</a:t>
            </a:r>
          </a:p>
          <a:p>
            <a:pPr marL="515938" indent="-515938">
              <a:buFont typeface="+mj-lt"/>
              <a:buAutoNum type="alphaLcParenR"/>
            </a:pPr>
            <a:r>
              <a:rPr lang="en-US" sz="2400" dirty="0"/>
              <a:t>nominal wages will have to adjust upward as the economy moves from the short run to the long run.</a:t>
            </a:r>
          </a:p>
          <a:p>
            <a:pPr marL="515938" indent="-515938">
              <a:buFont typeface="+mj-lt"/>
              <a:buAutoNum type="alphaLcParenR"/>
            </a:pPr>
            <a:r>
              <a:rPr lang="en-US" sz="2400" dirty="0"/>
              <a:t>the level of unemployment is very low.</a:t>
            </a:r>
          </a:p>
          <a:p>
            <a:pPr marL="515938" indent="-515938">
              <a:buFont typeface="+mj-lt"/>
              <a:buAutoNum type="alphaLcParenR"/>
            </a:pPr>
            <a:r>
              <a:rPr lang="en-US" sz="2400" dirty="0"/>
              <a:t>jobs are plentiful.</a:t>
            </a:r>
          </a:p>
          <a:p>
            <a:pPr marL="515938" indent="-515938">
              <a:buFont typeface="+mj-lt"/>
              <a:buAutoNum type="alphaLcParenR"/>
            </a:pPr>
            <a:r>
              <a:rPr lang="en-US" sz="2400" dirty="0"/>
              <a:t>to reach long-run equilibrium, the </a:t>
            </a:r>
            <a:r>
              <a:rPr lang="en-US" sz="2400" i="1" dirty="0"/>
              <a:t>SRAS </a:t>
            </a:r>
            <a:r>
              <a:rPr lang="en-US" sz="2400" dirty="0"/>
              <a:t>curve will shift to the left, resulting in a higher aggregate price level.</a:t>
            </a:r>
          </a:p>
          <a:p>
            <a:pPr marL="515938" indent="-515938">
              <a:buFont typeface="+mj-lt"/>
              <a:buAutoNum type="alphaLcParenR"/>
            </a:pPr>
            <a:r>
              <a:rPr lang="en-US" sz="2400" dirty="0"/>
              <a:t>Answers (a), (b), (c), and (d) are all correct.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8" y="6273798"/>
            <a:ext cx="11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To Next </a:t>
            </a:r>
          </a:p>
          <a:p>
            <a:pPr algn="ctr">
              <a:defRPr/>
            </a:pPr>
            <a:r>
              <a:rPr lang="en-US" sz="1000" b="1" spc="60" dirty="0">
                <a:ln w="9000" cmpd="sng">
                  <a:noFill/>
                  <a:prstDash val="solid"/>
                </a:ln>
                <a:solidFill>
                  <a:srgbClr val="F79646">
                    <a:lumMod val="75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latin typeface="Century Gothic" pitchFamily="34" charset="0"/>
                <a:cs typeface="Courier New" pitchFamily="49" charset="0"/>
                <a:hlinkClick r:id="rId2" action="ppaction://hlinksldjump"/>
              </a:rPr>
              <a:t>Active Learning</a:t>
            </a:r>
            <a:endParaRPr lang="en-US" sz="1000" b="1" spc="60" dirty="0">
              <a:ln w="9000" cmpd="sng">
                <a:noFill/>
                <a:prstDash val="solid"/>
              </a:ln>
              <a:solidFill>
                <a:srgbClr val="F79646">
                  <a:lumMod val="75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Century Gothic" pitchFamily="34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53616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Use a graph of the </a:t>
            </a:r>
            <a:r>
              <a:rPr lang="en-US" sz="3200" i="1" dirty="0"/>
              <a:t>AD–AS </a:t>
            </a:r>
            <a:r>
              <a:rPr lang="en-US" sz="3200" dirty="0"/>
              <a:t>model to illustrate long-run economic growth in an economy.</a:t>
            </a:r>
          </a:p>
          <a:p>
            <a:r>
              <a:rPr lang="en-US" sz="3200" dirty="0"/>
              <a:t>Explain your graph and how it illustrates economic growth. Assume in your answer that </a:t>
            </a:r>
            <a:r>
              <a:rPr lang="en-US" sz="3200" i="1" dirty="0"/>
              <a:t>AD </a:t>
            </a:r>
            <a:r>
              <a:rPr lang="en-US" sz="3200" dirty="0"/>
              <a:t>does </a:t>
            </a:r>
            <a:r>
              <a:rPr lang="en-US" sz="3200" i="1" dirty="0"/>
              <a:t>not </a:t>
            </a:r>
            <a:r>
              <a:rPr lang="en-US" sz="3200" dirty="0"/>
              <a:t>change over time.</a:t>
            </a:r>
          </a:p>
        </p:txBody>
      </p:sp>
    </p:spTree>
    <p:extLst>
      <p:ext uri="{BB962C8B-B14F-4D97-AF65-F5344CB8AC3E}">
        <p14:creationId xmlns:p14="http://schemas.microsoft.com/office/powerpoint/2010/main" val="380594772"/>
      </p:ext>
    </p:extLst>
  </p:cSld>
  <p:clrMapOvr>
    <a:masterClrMapping/>
  </p:clrMapOvr>
  <p:transition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Rot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pc="0" dirty="0"/>
              <a:t>MACROECONOMIC POLICY</a:t>
            </a:r>
          </a:p>
        </p:txBody>
      </p:sp>
      <p:sp>
        <p:nvSpPr>
          <p:cNvPr id="521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sym typeface="Wingdings" pitchFamily="2" charset="2"/>
              </a:rPr>
              <a:t>It’s true that the economy is self-correcting in the long run.</a:t>
            </a:r>
          </a:p>
          <a:p>
            <a:r>
              <a:rPr lang="en-US" sz="3200" i="1" dirty="0">
                <a:solidFill>
                  <a:srgbClr val="0070C0"/>
                </a:solidFill>
                <a:sym typeface="Wingdings" pitchFamily="2" charset="2"/>
              </a:rPr>
              <a:t>Most economists think it takes a decade or longer</a:t>
            </a:r>
          </a:p>
          <a:p>
            <a:r>
              <a:rPr lang="en-US" sz="3200" b="1" i="1" dirty="0">
                <a:solidFill>
                  <a:srgbClr val="990033"/>
                </a:solidFill>
                <a:sym typeface="Wingdings" pitchFamily="2" charset="2"/>
              </a:rPr>
              <a:t>Stabilization policy: </a:t>
            </a:r>
            <a:r>
              <a:rPr lang="en-US" sz="3200" dirty="0">
                <a:sym typeface="Wingdings" pitchFamily="2" charset="2"/>
              </a:rPr>
              <a:t>the use of government policy to reduce the severity of recessions and rein in excessively strong expansions.</a:t>
            </a:r>
          </a:p>
          <a:p>
            <a:pPr lvl="1"/>
            <a:r>
              <a:rPr lang="en-US" sz="2800" i="1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itchFamily="2" charset="2"/>
              </a:rPr>
              <a:t>John Maynard Keynes (1883–1946) created the modern field of macroeconomics.</a:t>
            </a:r>
          </a:p>
        </p:txBody>
      </p:sp>
    </p:spTree>
    <p:extLst>
      <p:ext uri="{BB962C8B-B14F-4D97-AF65-F5344CB8AC3E}">
        <p14:creationId xmlns:p14="http://schemas.microsoft.com/office/powerpoint/2010/main" val="35366630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pc="0" dirty="0"/>
              <a:t>MACROECONOMIC POLICY</a:t>
            </a:r>
          </a:p>
        </p:txBody>
      </p:sp>
      <p:sp>
        <p:nvSpPr>
          <p:cNvPr id="521219" name="Rectangle 3"/>
          <p:cNvSpPr>
            <a:spLocks noGrp="1" noChangeArrowheads="1"/>
          </p:cNvSpPr>
          <p:nvPr>
            <p:ph idx="1"/>
          </p:nvPr>
        </p:nvSpPr>
        <p:spPr>
          <a:xfrm>
            <a:off x="0" y="3657600"/>
            <a:ext cx="9144000" cy="3200400"/>
          </a:xfrm>
          <a:solidFill>
            <a:schemeClr val="tx1">
              <a:alpha val="66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“But this </a:t>
            </a:r>
            <a:r>
              <a:rPr lang="en-US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 run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a misleading guide to current affairs. In the long run we are all dead. Economists set themselves too easy, too useless a task if in tempestuous seasons they can only tell us that when the storm is long past the ocean is flat again.”  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—J. M. Keynes</a:t>
            </a:r>
          </a:p>
        </p:txBody>
      </p:sp>
    </p:spTree>
    <p:extLst>
      <p:ext uri="{BB962C8B-B14F-4D97-AF65-F5344CB8AC3E}">
        <p14:creationId xmlns:p14="http://schemas.microsoft.com/office/powerpoint/2010/main" val="9041435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Shot 2015-04-07 at 11.12.3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761" y="2895600"/>
            <a:ext cx="5240639" cy="39658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71600"/>
            <a:ext cx="8839200" cy="46482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cs typeface="Century Gothic"/>
              </a:rPr>
              <a:t>Governments don’t always offset demand shocks; there are costs to intervention.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>
                <a:latin typeface="Century Gothic"/>
                <a:cs typeface="Century Gothic"/>
              </a:rPr>
              <a:t>Unemployment has been more stable since WWII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762000"/>
            <a:ext cx="9144000" cy="838200"/>
          </a:xfrm>
        </p:spPr>
        <p:txBody>
          <a:bodyPr>
            <a:normAutofit/>
          </a:bodyPr>
          <a:lstStyle/>
          <a:p>
            <a:r>
              <a:rPr lang="en-US" spc="0" dirty="0">
                <a:solidFill>
                  <a:schemeClr val="accent6">
                    <a:lumMod val="75000"/>
                  </a:schemeClr>
                </a:solidFill>
                <a:latin typeface="Century Gothic"/>
                <a:cs typeface="Century Gothic"/>
              </a:rPr>
              <a:t>Is stabilization policy stabilizing?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4343400"/>
            <a:ext cx="3657600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Sources: Christina </a:t>
            </a:r>
            <a:r>
              <a:rPr lang="en-US" sz="1050" i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Romer</a:t>
            </a:r>
            <a:r>
              <a:rPr lang="en-US" sz="1050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, “Spurious Volatility in Historical Unemployment Data.”</a:t>
            </a:r>
          </a:p>
          <a:p>
            <a:r>
              <a:rPr lang="en-US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Journal of Political Economy 94</a:t>
            </a:r>
            <a:r>
              <a:rPr lang="en-US" sz="1050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, no. 1 (1986): 1–37 (years 1890–1928); Bureau of Labor Statistics (years 1929–2014).</a:t>
            </a:r>
          </a:p>
        </p:txBody>
      </p:sp>
    </p:spTree>
    <p:extLst>
      <p:ext uri="{BB962C8B-B14F-4D97-AF65-F5344CB8AC3E}">
        <p14:creationId xmlns:p14="http://schemas.microsoft.com/office/powerpoint/2010/main" val="20486827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spc="0" dirty="0"/>
              <a:t>RESPONDING TO SUPPLY SHOCKS</a:t>
            </a:r>
          </a:p>
        </p:txBody>
      </p:sp>
      <p:sp>
        <p:nvSpPr>
          <p:cNvPr id="51917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685800"/>
            <a:ext cx="8839200" cy="4648200"/>
          </a:xfrm>
        </p:spPr>
        <p:txBody>
          <a:bodyPr/>
          <a:lstStyle/>
          <a:p>
            <a:r>
              <a:rPr lang="en-US" sz="3200" b="1" dirty="0"/>
              <a:t>Negative supply shocks</a:t>
            </a:r>
            <a:r>
              <a:rPr lang="en-US" sz="3200" dirty="0"/>
              <a:t> pose a policy dilemma: </a:t>
            </a:r>
          </a:p>
          <a:p>
            <a:r>
              <a:rPr lang="en-US" sz="3200" dirty="0"/>
              <a:t>To </a:t>
            </a:r>
            <a:r>
              <a:rPr lang="en-US" sz="3200" dirty="0">
                <a:solidFill>
                  <a:srgbClr val="0070C0"/>
                </a:solidFill>
              </a:rPr>
              <a:t>stabilize aggregate output </a:t>
            </a:r>
            <a:r>
              <a:rPr lang="en-US" sz="3200" dirty="0"/>
              <a:t>requires increasing aggregate demand. This </a:t>
            </a:r>
            <a:r>
              <a:rPr lang="en-US" sz="3200" dirty="0">
                <a:solidFill>
                  <a:srgbClr val="0070C0"/>
                </a:solidFill>
              </a:rPr>
              <a:t>will lead to inflation. </a:t>
            </a:r>
          </a:p>
          <a:p>
            <a:r>
              <a:rPr lang="en-US" sz="3200" dirty="0"/>
              <a:t>But to </a:t>
            </a:r>
            <a:r>
              <a:rPr lang="en-US" sz="3200" dirty="0">
                <a:solidFill>
                  <a:srgbClr val="990033"/>
                </a:solidFill>
              </a:rPr>
              <a:t>stabilize prices </a:t>
            </a:r>
            <a:r>
              <a:rPr lang="en-US" sz="3200" dirty="0"/>
              <a:t>requires reducing aggregate demand. This </a:t>
            </a:r>
            <a:r>
              <a:rPr lang="en-US" sz="3200" dirty="0">
                <a:solidFill>
                  <a:srgbClr val="990033"/>
                </a:solidFill>
              </a:rPr>
              <a:t>will deepen the output slump.</a:t>
            </a:r>
          </a:p>
          <a:p>
            <a:endParaRPr lang="en-US" dirty="0"/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67000" y="4232075"/>
            <a:ext cx="3200400" cy="26597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638800" y="4388584"/>
            <a:ext cx="3429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prstClr val="black">
                    <a:lumMod val="65000"/>
                    <a:lumOff val="35000"/>
                  </a:prstClr>
                </a:solidFill>
                <a:latin typeface="Century Gothic"/>
                <a:cs typeface="Century Gothic"/>
              </a:rPr>
              <a:t>Ben Bernanke’s job:  was harder during the stagflation of 2008 than normal for the chair of the Federal Reserve</a:t>
            </a:r>
          </a:p>
        </p:txBody>
      </p:sp>
    </p:spTree>
    <p:extLst>
      <p:ext uri="{BB962C8B-B14F-4D97-AF65-F5344CB8AC3E}">
        <p14:creationId xmlns:p14="http://schemas.microsoft.com/office/powerpoint/2010/main" val="48773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9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9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9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71" grpId="0" build="p"/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122" y="1676400"/>
            <a:ext cx="9144000" cy="1447800"/>
          </a:xfrm>
          <a:solidFill>
            <a:schemeClr val="bg1">
              <a:alpha val="72000"/>
            </a:schemeClr>
          </a:solidFill>
        </p:spPr>
        <p:txBody>
          <a:bodyPr>
            <a:noAutofit/>
          </a:bodyPr>
          <a:lstStyle/>
          <a:p>
            <a:r>
              <a:rPr lang="en-US" sz="2800" dirty="0">
                <a:latin typeface="Century Gothic"/>
              </a:rPr>
              <a:t>2011 saw Maersk’s profits drop 30% due to rising oil prices… many companies began “slow steaming” to 17 (from 20) knots to save </a:t>
            </a:r>
            <a:r>
              <a:rPr lang="en-US" sz="2800">
                <a:latin typeface="Century Gothic"/>
              </a:rPr>
              <a:t>fuel.</a:t>
            </a:r>
          </a:p>
        </p:txBody>
      </p:sp>
      <p:pic>
        <p:nvPicPr>
          <p:cNvPr id="4" name="Picture 3" descr="Screen Shot 2015-04-07 at 11.19.0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891520"/>
            <a:ext cx="4495800" cy="296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53981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5ad1a792e7828ca492521aea17b12f2931c3dea"/>
</p:tagLst>
</file>

<file path=ppt/theme/theme1.xml><?xml version="1.0" encoding="utf-8"?>
<a:theme xmlns:a="http://schemas.openxmlformats.org/drawingml/2006/main" name="4e Krugman_Dynamic PPTs_Ch05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Newest 2e them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Custom 1">
      <a:majorFont>
        <a:latin typeface="Garamon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1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2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7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1_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3_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Krugman 3e Pitfalls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Krugman 3e practic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newer Krugman 3e them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Krugman 3e business cas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8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1_Krugman 3e main content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1_Krugman 3e Pitfalls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1_Krugman 3e practic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2_Custom Design">
  <a:themeElements>
    <a:clrScheme name="Krugman 3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1_Krugman 3e business case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7_Stone ppt Theme1">
  <a:themeElements>
    <a:clrScheme name="Custom 2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F81BD"/>
      </a:hlink>
      <a:folHlink>
        <a:srgbClr val="C3D69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newer Krugman 3e theme</Template>
  <TotalTime>12467</TotalTime>
  <Words>3267</Words>
  <Application>Microsoft Macintosh PowerPoint</Application>
  <PresentationFormat>On-screen Show (4:3)</PresentationFormat>
  <Paragraphs>584</Paragraphs>
  <Slides>54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22</vt:i4>
      </vt:variant>
      <vt:variant>
        <vt:lpstr>Slide Titles</vt:lpstr>
      </vt:variant>
      <vt:variant>
        <vt:i4>54</vt:i4>
      </vt:variant>
    </vt:vector>
  </HeadingPairs>
  <TitlesOfParts>
    <vt:vector size="86" baseType="lpstr">
      <vt:lpstr>Arial</vt:lpstr>
      <vt:lpstr>Calibri</vt:lpstr>
      <vt:lpstr>Cambria Math</vt:lpstr>
      <vt:lpstr>Candara</vt:lpstr>
      <vt:lpstr>Century Gothic</vt:lpstr>
      <vt:lpstr>Gill Sans</vt:lpstr>
      <vt:lpstr>Gill Sans MT</vt:lpstr>
      <vt:lpstr>Tw Cen MT</vt:lpstr>
      <vt:lpstr>Verdana</vt:lpstr>
      <vt:lpstr>Wingdings</vt:lpstr>
      <vt:lpstr>4e Krugman_Dynamic PPTs_Ch05</vt:lpstr>
      <vt:lpstr>6_Custom Design</vt:lpstr>
      <vt:lpstr>1_Newest 2e theme</vt:lpstr>
      <vt:lpstr>10_Stone ppt Theme1</vt:lpstr>
      <vt:lpstr>11_Stone ppt Theme1</vt:lpstr>
      <vt:lpstr>12_Stone ppt Theme1</vt:lpstr>
      <vt:lpstr>7_Custom Design</vt:lpstr>
      <vt:lpstr>11_Krugman 3e main content</vt:lpstr>
      <vt:lpstr>3_Krugman 3e main content</vt:lpstr>
      <vt:lpstr>Krugman 3e Pitfalls</vt:lpstr>
      <vt:lpstr>Krugman 3e main content</vt:lpstr>
      <vt:lpstr>Krugman 3e practice</vt:lpstr>
      <vt:lpstr>newer Krugman 3e theme</vt:lpstr>
      <vt:lpstr>Krugman 3e business case</vt:lpstr>
      <vt:lpstr>8_Custom Design</vt:lpstr>
      <vt:lpstr>1_Krugman 3e main content</vt:lpstr>
      <vt:lpstr>1_Krugman 3e Pitfalls</vt:lpstr>
      <vt:lpstr>1_Krugman 3e practice</vt:lpstr>
      <vt:lpstr>2_Custom Design</vt:lpstr>
      <vt:lpstr>1_Krugman 3e business case</vt:lpstr>
      <vt:lpstr>4_Custom Design</vt:lpstr>
      <vt:lpstr>7_Stone ppt Theme1</vt:lpstr>
      <vt:lpstr>Economics 2220 Principles Of Macroeconomics</vt:lpstr>
      <vt:lpstr>PowerPoint Presentation</vt:lpstr>
      <vt:lpstr>SHOCKS TO THE SYSTEM </vt:lpstr>
      <vt:lpstr>THE AGGREGATE DEMAND CURVE</vt:lpstr>
      <vt:lpstr>THE SHAPE OF THE AGGREGATE DEMAND CURVE</vt:lpstr>
      <vt:lpstr>THE AGGREGATE DEMAND CURVE AND THE INCOME–EXPENDITURE MODEL</vt:lpstr>
      <vt:lpstr>THE AGGREGATE DEMAND CURVE AND THE INCOME–EXPENDITURE MODEL</vt:lpstr>
      <vt:lpstr>SHIFTS OF THE AGGREGATE DEMAND CURVE</vt:lpstr>
      <vt:lpstr>SHIFTS OF THE AGGREGATE DEMAND CURVE</vt:lpstr>
      <vt:lpstr>PowerPoint Presentation</vt:lpstr>
      <vt:lpstr>PowerPoint Presentation</vt:lpstr>
      <vt:lpstr>PowerPoint Presentation</vt:lpstr>
      <vt:lpstr>THE SHORT-RUN AGGREGATE SUPPLY CURVE</vt:lpstr>
      <vt:lpstr>THE SHORT-RUN AGGREGATE SUPPLY CURVE</vt:lpstr>
      <vt:lpstr>THE SHORT-RUN AGGREGATE SUPPLY CURVE</vt:lpstr>
      <vt:lpstr>THE SHORT-RUN AGGREGATE SUPPLY CURVE</vt:lpstr>
      <vt:lpstr>SHIFTS OF THE SHORT-RUN AGGREGATE SUPPLY CURVE</vt:lpstr>
      <vt:lpstr>SHIFTS OF THE SHORT-RUN AGGREGATE SUPPLY CURVE</vt:lpstr>
      <vt:lpstr>SHIFTS OF THE SHORT-RUN AGGREGATE SUPPLY CURVE</vt:lpstr>
      <vt:lpstr>SHIFTS OF THE SHORT-RUN AGGREGATE SUPPLY CURVE</vt:lpstr>
      <vt:lpstr>PowerPoint Presentation</vt:lpstr>
      <vt:lpstr>LONG-RUN AGGREGATE SUPPLY CURVE</vt:lpstr>
      <vt:lpstr>LONG-RUN AGGREGATE SUPPLY CURVE</vt:lpstr>
      <vt:lpstr>ACTUAL AND POTENTIAL OUTPUT, 1990–2014</vt:lpstr>
      <vt:lpstr>FROM THE SHORT RUN TO THE LONG RUN</vt:lpstr>
      <vt:lpstr>FROM THE SHORT RUN TO THE LONG RUN</vt:lpstr>
      <vt:lpstr>1933: 25% unemployment.  Real GDP had dropped by 27%. What made it happen?</vt:lpstr>
      <vt:lpstr>PowerPoint Presentation</vt:lpstr>
      <vt:lpstr>THE AD–AS MODEL</vt:lpstr>
      <vt:lpstr>THE AD–AS MODEL</vt:lpstr>
      <vt:lpstr>SHIFTS OF AGGREGATE DEMAND: SHORT-RUN EFFECTS</vt:lpstr>
      <vt:lpstr>SHIFTS OF AGGREGATE DEMAND: SHORT-RUN EFFECTS</vt:lpstr>
      <vt:lpstr>SHIFTS OF THE SRAS CURVE</vt:lpstr>
      <vt:lpstr>SHIFTS OF THE SRAS CURVE</vt:lpstr>
      <vt:lpstr>NEGATIVE SUPPLY SHOCKS AND STAGFLATION</vt:lpstr>
      <vt:lpstr>Supply Shocks vs. demand shocks in action</vt:lpstr>
      <vt:lpstr>LONG-RUN MACROECONOMIC EQUILIBRIUM</vt:lpstr>
      <vt:lpstr>LONG-RUN MACROECONOMIC EQUILIBRIUM</vt:lpstr>
      <vt:lpstr>WHAT HAPPENS WHEN THERE IS A SHOCK?</vt:lpstr>
      <vt:lpstr>SHORT-RUN EFFECTS OF A NEGATIVE DEMAND SHOCK</vt:lpstr>
      <vt:lpstr>SHORT-RUN EFFECTS OF A POSITIVE DEMAND SHOCK</vt:lpstr>
      <vt:lpstr>GAP RECAP</vt:lpstr>
      <vt:lpstr>GAP RECAP</vt:lpstr>
      <vt:lpstr>SHORT-RUN VERSUS LONG-RUN EFFECTS OF A POSITIVE DEMAND SHOCK</vt:lpstr>
      <vt:lpstr>SHORT-RUN VERSUS LONG-RUN EFFECTS OF A NEGATIVE DEMAND SHOCK</vt:lpstr>
      <vt:lpstr>PowerPoint Presentation</vt:lpstr>
      <vt:lpstr>PowerPoint Presentation</vt:lpstr>
      <vt:lpstr>PowerPoint Presentation</vt:lpstr>
      <vt:lpstr>PowerPoint Presentation</vt:lpstr>
      <vt:lpstr>MACROECONOMIC POLICY</vt:lpstr>
      <vt:lpstr>MACROECONOMIC POLICY</vt:lpstr>
      <vt:lpstr>Is stabilization policy stabilizing?</vt:lpstr>
      <vt:lpstr>RESPONDING TO SUPPLY SHOCKS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Solina Lindahl</dc:creator>
  <cp:keywords/>
  <dc:description/>
  <cp:lastModifiedBy>Zhigang Feng</cp:lastModifiedBy>
  <cp:revision>471</cp:revision>
  <dcterms:created xsi:type="dcterms:W3CDTF">2012-07-21T02:43:21Z</dcterms:created>
  <dcterms:modified xsi:type="dcterms:W3CDTF">2021-10-28T18:19:59Z</dcterms:modified>
  <cp:category/>
</cp:coreProperties>
</file>