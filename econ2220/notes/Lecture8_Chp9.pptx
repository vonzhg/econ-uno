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6.xml" ContentType="application/vnd.openxmlformats-officedocument.theme+xml"/>
  <Override PartName="/ppt/slideLayouts/slideLayout20.xml" ContentType="application/vnd.openxmlformats-officedocument.presentationml.slideLayout+xml"/>
  <Override PartName="/ppt/theme/theme7.xml" ContentType="application/vnd.openxmlformats-officedocument.theme+xml"/>
  <Override PartName="/ppt/slideLayouts/slideLayout21.xml" ContentType="application/vnd.openxmlformats-officedocument.presentationml.slideLayout+xml"/>
  <Override PartName="/ppt/theme/theme8.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9.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10.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11.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 id="2147483700" r:id="rId2"/>
    <p:sldMasterId id="2147483704" r:id="rId3"/>
    <p:sldMasterId id="2147483708" r:id="rId4"/>
    <p:sldMasterId id="2147483711" r:id="rId5"/>
    <p:sldMasterId id="2147483714" r:id="rId6"/>
    <p:sldMasterId id="2147483717" r:id="rId7"/>
    <p:sldMasterId id="2147483719" r:id="rId8"/>
    <p:sldMasterId id="2147483788" r:id="rId9"/>
    <p:sldMasterId id="2147483795" r:id="rId10"/>
    <p:sldMasterId id="2147483803" r:id="rId11"/>
    <p:sldMasterId id="2147483806" r:id="rId12"/>
  </p:sldMasterIdLst>
  <p:notesMasterIdLst>
    <p:notesMasterId r:id="rId62"/>
  </p:notesMasterIdLst>
  <p:handoutMasterIdLst>
    <p:handoutMasterId r:id="rId63"/>
  </p:handoutMasterIdLst>
  <p:sldIdLst>
    <p:sldId id="320" r:id="rId13"/>
    <p:sldId id="261" r:id="rId14"/>
    <p:sldId id="263" r:id="rId15"/>
    <p:sldId id="264" r:id="rId16"/>
    <p:sldId id="268" r:id="rId17"/>
    <p:sldId id="309" r:id="rId18"/>
    <p:sldId id="267" r:id="rId19"/>
    <p:sldId id="269" r:id="rId20"/>
    <p:sldId id="310" r:id="rId21"/>
    <p:sldId id="274" r:id="rId22"/>
    <p:sldId id="271" r:id="rId23"/>
    <p:sldId id="272" r:id="rId24"/>
    <p:sldId id="311" r:id="rId25"/>
    <p:sldId id="312" r:id="rId26"/>
    <p:sldId id="275" r:id="rId27"/>
    <p:sldId id="276" r:id="rId28"/>
    <p:sldId id="277" r:id="rId29"/>
    <p:sldId id="279" r:id="rId30"/>
    <p:sldId id="278" r:id="rId31"/>
    <p:sldId id="280" r:id="rId32"/>
    <p:sldId id="281" r:id="rId33"/>
    <p:sldId id="282" r:id="rId34"/>
    <p:sldId id="283" r:id="rId35"/>
    <p:sldId id="285" r:id="rId36"/>
    <p:sldId id="313" r:id="rId37"/>
    <p:sldId id="286" r:id="rId38"/>
    <p:sldId id="287" r:id="rId39"/>
    <p:sldId id="288" r:id="rId40"/>
    <p:sldId id="314" r:id="rId41"/>
    <p:sldId id="291" r:id="rId42"/>
    <p:sldId id="292" r:id="rId43"/>
    <p:sldId id="293" r:id="rId44"/>
    <p:sldId id="294" r:id="rId45"/>
    <p:sldId id="315" r:id="rId46"/>
    <p:sldId id="316" r:id="rId47"/>
    <p:sldId id="296" r:id="rId48"/>
    <p:sldId id="317" r:id="rId49"/>
    <p:sldId id="298" r:id="rId50"/>
    <p:sldId id="318" r:id="rId51"/>
    <p:sldId id="299" r:id="rId52"/>
    <p:sldId id="300" r:id="rId53"/>
    <p:sldId id="301" r:id="rId54"/>
    <p:sldId id="302" r:id="rId55"/>
    <p:sldId id="303" r:id="rId56"/>
    <p:sldId id="304" r:id="rId57"/>
    <p:sldId id="305" r:id="rId58"/>
    <p:sldId id="306" r:id="rId59"/>
    <p:sldId id="307" r:id="rId60"/>
    <p:sldId id="308" r:id="rId61"/>
  </p:sldIdLst>
  <p:sldSz cx="9144000" cy="6858000" type="screen4x3"/>
  <p:notesSz cx="6858000" cy="9144000"/>
  <p:custDataLst>
    <p:tags r:id="rId6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Kate" initials="K" lastIdx="11" clrIdx="0"/>
  <p:cmAuthor id="1" name="Bonilla, Edgar" initials="EB" lastIdx="4" clrIdx="1"/>
  <p:cmAuthor id="2" name="Solina Lindahl" initials="SL" lastIdx="9" clrIdx="2"/>
  <p:cmAuthor id="3" name="hbadmin" initials="h"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33"/>
  </p:clrMru>
  <p:extLst>
    <p:ext uri="{E76CE94A-603C-4142-B9EB-6D1370010A27}">
      <p14:discardImageEditData xmlns:p14="http://schemas.microsoft.com/office/powerpoint/2010/main" val="1"/>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0884" autoAdjust="0"/>
  </p:normalViewPr>
  <p:slideViewPr>
    <p:cSldViewPr>
      <p:cViewPr varScale="1">
        <p:scale>
          <a:sx n="116" d="100"/>
          <a:sy n="116" d="100"/>
        </p:scale>
        <p:origin x="856" y="232"/>
      </p:cViewPr>
      <p:guideLst>
        <p:guide orient="horz" pos="2160"/>
        <p:guide pos="2880"/>
      </p:guideLst>
    </p:cSldViewPr>
  </p:slideViewPr>
  <p:notesTextViewPr>
    <p:cViewPr>
      <p:scale>
        <a:sx n="1" d="1"/>
        <a:sy n="1" d="1"/>
      </p:scale>
      <p:origin x="0" y="0"/>
    </p:cViewPr>
  </p:notesTextViewPr>
  <p:notesViewPr>
    <p:cSldViewPr snapToGrid="0" snapToObjects="1">
      <p:cViewPr varScale="1">
        <p:scale>
          <a:sx n="89" d="100"/>
          <a:sy n="89" d="100"/>
        </p:scale>
        <p:origin x="-3800" y="-10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slideMaster" Target="slideMasters/slideMaster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49.xml"/><Relationship Id="rId19" Type="http://schemas.openxmlformats.org/officeDocument/2006/relationships/slide" Target="slides/slide7.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Master" Target="slideMasters/slideMaster8.xml"/><Relationship Id="rId51" Type="http://schemas.openxmlformats.org/officeDocument/2006/relationships/slide" Target="slides/slide39.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viewProps" Target="viewProp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s>
</file>

<file path=ppt/diagrams/_rels/data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ata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svg"/><Relationship Id="rId1" Type="http://schemas.openxmlformats.org/officeDocument/2006/relationships/image" Target="../media/image26.png"/><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052636-14B0-4E54-A70F-38851DA94D8F}"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2BB09C5-8F54-4069-95D4-D155AAE4BEAB}">
      <dgm:prSet/>
      <dgm:spPr/>
      <dgm:t>
        <a:bodyPr/>
        <a:lstStyle/>
        <a:p>
          <a:r>
            <a:rPr lang="en-US" b="1"/>
            <a:t>The unemployment rate is a good indicator of how easy or difficult it is to find a job given the current state of the economy.</a:t>
          </a:r>
          <a:endParaRPr lang="en-US"/>
        </a:p>
      </dgm:t>
    </dgm:pt>
    <dgm:pt modelId="{57D9119C-AF2D-4474-8F66-88E8F75BCB15}" type="parTrans" cxnId="{A71ECEB7-48B0-4BC9-8FF0-D791F5AA3433}">
      <dgm:prSet/>
      <dgm:spPr/>
      <dgm:t>
        <a:bodyPr/>
        <a:lstStyle/>
        <a:p>
          <a:endParaRPr lang="en-US"/>
        </a:p>
      </dgm:t>
    </dgm:pt>
    <dgm:pt modelId="{1E4F6476-CA30-47C2-AD0E-4A4323F7BD0B}" type="sibTrans" cxnId="{A71ECEB7-48B0-4BC9-8FF0-D791F5AA3433}">
      <dgm:prSet/>
      <dgm:spPr/>
      <dgm:t>
        <a:bodyPr/>
        <a:lstStyle/>
        <a:p>
          <a:endParaRPr lang="en-US"/>
        </a:p>
      </dgm:t>
    </dgm:pt>
    <dgm:pt modelId="{135AAFA2-2600-4DDB-A732-74AF2E237CF4}">
      <dgm:prSet/>
      <dgm:spPr/>
      <dgm:t>
        <a:bodyPr/>
        <a:lstStyle/>
        <a:p>
          <a:r>
            <a:rPr lang="en-US" b="1"/>
            <a:t>It can overstate the true level of unemployment.</a:t>
          </a:r>
          <a:endParaRPr lang="en-US"/>
        </a:p>
      </dgm:t>
    </dgm:pt>
    <dgm:pt modelId="{7B7F300B-AE66-4D92-8141-67016AE99709}" type="parTrans" cxnId="{EE5A24B9-5E63-46DE-80EE-2A1DA9C3C172}">
      <dgm:prSet/>
      <dgm:spPr/>
      <dgm:t>
        <a:bodyPr/>
        <a:lstStyle/>
        <a:p>
          <a:endParaRPr lang="en-US"/>
        </a:p>
      </dgm:t>
    </dgm:pt>
    <dgm:pt modelId="{320673B7-E4E5-472A-9C6F-0AA10D4076EC}" type="sibTrans" cxnId="{EE5A24B9-5E63-46DE-80EE-2A1DA9C3C172}">
      <dgm:prSet/>
      <dgm:spPr/>
      <dgm:t>
        <a:bodyPr/>
        <a:lstStyle/>
        <a:p>
          <a:endParaRPr lang="en-US"/>
        </a:p>
      </dgm:t>
    </dgm:pt>
    <dgm:pt modelId="{4117AFAA-1426-4549-A4DD-CED1F169C39E}">
      <dgm:prSet/>
      <dgm:spPr/>
      <dgm:t>
        <a:bodyPr/>
        <a:lstStyle/>
        <a:p>
          <a:r>
            <a:rPr lang="en-US" b="0"/>
            <a:t>Even if the labor market is healthy, it takes time to find the right job. (Meanwhile, you’re “unemployed.”)</a:t>
          </a:r>
          <a:endParaRPr lang="en-US"/>
        </a:p>
      </dgm:t>
    </dgm:pt>
    <dgm:pt modelId="{A87CBCCD-E4EF-4D04-B459-1FCDAABAD7BD}" type="parTrans" cxnId="{6CE504A8-5570-4D08-8214-054DECE8EDDA}">
      <dgm:prSet/>
      <dgm:spPr/>
      <dgm:t>
        <a:bodyPr/>
        <a:lstStyle/>
        <a:p>
          <a:endParaRPr lang="en-US"/>
        </a:p>
      </dgm:t>
    </dgm:pt>
    <dgm:pt modelId="{2CAF0EE5-5F09-4B50-8339-E761B76ECE52}" type="sibTrans" cxnId="{6CE504A8-5570-4D08-8214-054DECE8EDDA}">
      <dgm:prSet/>
      <dgm:spPr/>
      <dgm:t>
        <a:bodyPr/>
        <a:lstStyle/>
        <a:p>
          <a:endParaRPr lang="en-US"/>
        </a:p>
      </dgm:t>
    </dgm:pt>
    <dgm:pt modelId="{31FB141E-F1F3-4B14-A6A2-97A75EB1A710}">
      <dgm:prSet/>
      <dgm:spPr/>
      <dgm:t>
        <a:bodyPr/>
        <a:lstStyle/>
        <a:p>
          <a:r>
            <a:rPr lang="en-US" b="1"/>
            <a:t>It can understate the true level of unemployment.</a:t>
          </a:r>
          <a:endParaRPr lang="en-US"/>
        </a:p>
      </dgm:t>
    </dgm:pt>
    <dgm:pt modelId="{57D712F4-B726-4052-898A-3643ED89EE54}" type="parTrans" cxnId="{FB609E5A-E5E0-408D-9B32-72EDF62209DB}">
      <dgm:prSet/>
      <dgm:spPr/>
      <dgm:t>
        <a:bodyPr/>
        <a:lstStyle/>
        <a:p>
          <a:endParaRPr lang="en-US"/>
        </a:p>
      </dgm:t>
    </dgm:pt>
    <dgm:pt modelId="{1EADE983-6202-485F-8F2D-59C97DBC6CFB}" type="sibTrans" cxnId="{FB609E5A-E5E0-408D-9B32-72EDF62209DB}">
      <dgm:prSet/>
      <dgm:spPr/>
      <dgm:t>
        <a:bodyPr/>
        <a:lstStyle/>
        <a:p>
          <a:endParaRPr lang="en-US"/>
        </a:p>
      </dgm:t>
    </dgm:pt>
    <dgm:pt modelId="{5C41C281-3D22-4A03-ADA4-AC17D1C607AE}">
      <dgm:prSet/>
      <dgm:spPr/>
      <dgm:t>
        <a:bodyPr/>
        <a:lstStyle/>
        <a:p>
          <a:r>
            <a:rPr lang="en-US" b="0"/>
            <a:t>You are not “unemployed” if you have given up looking for a job because there are no jobs available.</a:t>
          </a:r>
          <a:endParaRPr lang="en-US"/>
        </a:p>
      </dgm:t>
    </dgm:pt>
    <dgm:pt modelId="{1FEE221E-C529-45C9-9170-3815E353316A}" type="parTrans" cxnId="{85D87530-17C7-4C4F-99F8-803FFC9011BB}">
      <dgm:prSet/>
      <dgm:spPr/>
      <dgm:t>
        <a:bodyPr/>
        <a:lstStyle/>
        <a:p>
          <a:endParaRPr lang="en-US"/>
        </a:p>
      </dgm:t>
    </dgm:pt>
    <dgm:pt modelId="{01F3F92A-A1DA-4487-A9FF-3F468F3FF3AF}" type="sibTrans" cxnId="{85D87530-17C7-4C4F-99F8-803FFC9011BB}">
      <dgm:prSet/>
      <dgm:spPr/>
      <dgm:t>
        <a:bodyPr/>
        <a:lstStyle/>
        <a:p>
          <a:endParaRPr lang="en-US"/>
        </a:p>
      </dgm:t>
    </dgm:pt>
    <dgm:pt modelId="{F0610D76-35F6-4902-9300-F18EB80B1236}" type="pres">
      <dgm:prSet presAssocID="{72052636-14B0-4E54-A70F-38851DA94D8F}" presName="root" presStyleCnt="0">
        <dgm:presLayoutVars>
          <dgm:dir/>
          <dgm:resizeHandles val="exact"/>
        </dgm:presLayoutVars>
      </dgm:prSet>
      <dgm:spPr/>
    </dgm:pt>
    <dgm:pt modelId="{27B327D2-3321-4D0E-A4EB-12079B823B5D}" type="pres">
      <dgm:prSet presAssocID="{F2BB09C5-8F54-4069-95D4-D155AAE4BEAB}" presName="compNode" presStyleCnt="0"/>
      <dgm:spPr/>
    </dgm:pt>
    <dgm:pt modelId="{D695589B-4974-4E8A-B370-63E39D437CE4}" type="pres">
      <dgm:prSet presAssocID="{F2BB09C5-8F54-4069-95D4-D155AAE4BEAB}" presName="bgRect" presStyleLbl="bgShp" presStyleIdx="0" presStyleCnt="3"/>
      <dgm:spPr/>
    </dgm:pt>
    <dgm:pt modelId="{0491492E-FF84-4B22-B9A7-9EBA484339B3}" type="pres">
      <dgm:prSet presAssocID="{F2BB09C5-8F54-4069-95D4-D155AAE4BEA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ffice Worker"/>
        </a:ext>
      </dgm:extLst>
    </dgm:pt>
    <dgm:pt modelId="{6E219E5A-A8FB-4297-A2FA-A230DCBDDC8D}" type="pres">
      <dgm:prSet presAssocID="{F2BB09C5-8F54-4069-95D4-D155AAE4BEAB}" presName="spaceRect" presStyleCnt="0"/>
      <dgm:spPr/>
    </dgm:pt>
    <dgm:pt modelId="{F7E0849C-8D2E-46B1-B994-C9EBAE30C8F1}" type="pres">
      <dgm:prSet presAssocID="{F2BB09C5-8F54-4069-95D4-D155AAE4BEAB}" presName="parTx" presStyleLbl="revTx" presStyleIdx="0" presStyleCnt="5">
        <dgm:presLayoutVars>
          <dgm:chMax val="0"/>
          <dgm:chPref val="0"/>
        </dgm:presLayoutVars>
      </dgm:prSet>
      <dgm:spPr/>
    </dgm:pt>
    <dgm:pt modelId="{2D8BE75B-08A7-426A-87C7-30F0547DE347}" type="pres">
      <dgm:prSet presAssocID="{1E4F6476-CA30-47C2-AD0E-4A4323F7BD0B}" presName="sibTrans" presStyleCnt="0"/>
      <dgm:spPr/>
    </dgm:pt>
    <dgm:pt modelId="{9853B5B6-2F77-47D6-8EBD-1748EE27B487}" type="pres">
      <dgm:prSet presAssocID="{135AAFA2-2600-4DDB-A732-74AF2E237CF4}" presName="compNode" presStyleCnt="0"/>
      <dgm:spPr/>
    </dgm:pt>
    <dgm:pt modelId="{C2F2E92B-EB0C-47F3-A09C-87619BF83604}" type="pres">
      <dgm:prSet presAssocID="{135AAFA2-2600-4DDB-A732-74AF2E237CF4}" presName="bgRect" presStyleLbl="bgShp" presStyleIdx="1" presStyleCnt="3"/>
      <dgm:spPr/>
    </dgm:pt>
    <dgm:pt modelId="{63BFC4BE-DAA1-4233-A55F-28C7F0C8A11A}" type="pres">
      <dgm:prSet presAssocID="{135AAFA2-2600-4DDB-A732-74AF2E237CF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lder"/>
        </a:ext>
      </dgm:extLst>
    </dgm:pt>
    <dgm:pt modelId="{94F416EF-33B5-44D3-A278-062B9F03DB2D}" type="pres">
      <dgm:prSet presAssocID="{135AAFA2-2600-4DDB-A732-74AF2E237CF4}" presName="spaceRect" presStyleCnt="0"/>
      <dgm:spPr/>
    </dgm:pt>
    <dgm:pt modelId="{6021F20C-AF8E-49AB-A0BC-26519A3C8F44}" type="pres">
      <dgm:prSet presAssocID="{135AAFA2-2600-4DDB-A732-74AF2E237CF4}" presName="parTx" presStyleLbl="revTx" presStyleIdx="1" presStyleCnt="5">
        <dgm:presLayoutVars>
          <dgm:chMax val="0"/>
          <dgm:chPref val="0"/>
        </dgm:presLayoutVars>
      </dgm:prSet>
      <dgm:spPr/>
    </dgm:pt>
    <dgm:pt modelId="{E6E4D911-C878-4DEE-9998-D9E8FCD23C8A}" type="pres">
      <dgm:prSet presAssocID="{135AAFA2-2600-4DDB-A732-74AF2E237CF4}" presName="desTx" presStyleLbl="revTx" presStyleIdx="2" presStyleCnt="5">
        <dgm:presLayoutVars/>
      </dgm:prSet>
      <dgm:spPr/>
    </dgm:pt>
    <dgm:pt modelId="{EB5E8882-7821-4C50-BF74-F1DF307AD81E}" type="pres">
      <dgm:prSet presAssocID="{320673B7-E4E5-472A-9C6F-0AA10D4076EC}" presName="sibTrans" presStyleCnt="0"/>
      <dgm:spPr/>
    </dgm:pt>
    <dgm:pt modelId="{D38AB1AA-66F8-4B2E-8327-3612844A1DBC}" type="pres">
      <dgm:prSet presAssocID="{31FB141E-F1F3-4B14-A6A2-97A75EB1A710}" presName="compNode" presStyleCnt="0"/>
      <dgm:spPr/>
    </dgm:pt>
    <dgm:pt modelId="{9C1EE2AA-700B-4608-9750-3CAD2011C723}" type="pres">
      <dgm:prSet presAssocID="{31FB141E-F1F3-4B14-A6A2-97A75EB1A710}" presName="bgRect" presStyleLbl="bgShp" presStyleIdx="2" presStyleCnt="3"/>
      <dgm:spPr/>
    </dgm:pt>
    <dgm:pt modelId="{838886C5-4437-4FA1-8EE8-61EC53137584}" type="pres">
      <dgm:prSet presAssocID="{31FB141E-F1F3-4B14-A6A2-97A75EB1A71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ploma Roll"/>
        </a:ext>
      </dgm:extLst>
    </dgm:pt>
    <dgm:pt modelId="{0CCF8C72-51DD-4707-ABFA-C19EA6E86D10}" type="pres">
      <dgm:prSet presAssocID="{31FB141E-F1F3-4B14-A6A2-97A75EB1A710}" presName="spaceRect" presStyleCnt="0"/>
      <dgm:spPr/>
    </dgm:pt>
    <dgm:pt modelId="{C2B88D8D-0390-4E58-95A6-281559AD5A99}" type="pres">
      <dgm:prSet presAssocID="{31FB141E-F1F3-4B14-A6A2-97A75EB1A710}" presName="parTx" presStyleLbl="revTx" presStyleIdx="3" presStyleCnt="5">
        <dgm:presLayoutVars>
          <dgm:chMax val="0"/>
          <dgm:chPref val="0"/>
        </dgm:presLayoutVars>
      </dgm:prSet>
      <dgm:spPr/>
    </dgm:pt>
    <dgm:pt modelId="{0F0A095B-9545-429E-A5BA-86A82FB9E223}" type="pres">
      <dgm:prSet presAssocID="{31FB141E-F1F3-4B14-A6A2-97A75EB1A710}" presName="desTx" presStyleLbl="revTx" presStyleIdx="4" presStyleCnt="5">
        <dgm:presLayoutVars/>
      </dgm:prSet>
      <dgm:spPr/>
    </dgm:pt>
  </dgm:ptLst>
  <dgm:cxnLst>
    <dgm:cxn modelId="{85D87530-17C7-4C4F-99F8-803FFC9011BB}" srcId="{31FB141E-F1F3-4B14-A6A2-97A75EB1A710}" destId="{5C41C281-3D22-4A03-ADA4-AC17D1C607AE}" srcOrd="0" destOrd="0" parTransId="{1FEE221E-C529-45C9-9170-3815E353316A}" sibTransId="{01F3F92A-A1DA-4487-A9FF-3F468F3FF3AF}"/>
    <dgm:cxn modelId="{FB609E5A-E5E0-408D-9B32-72EDF62209DB}" srcId="{72052636-14B0-4E54-A70F-38851DA94D8F}" destId="{31FB141E-F1F3-4B14-A6A2-97A75EB1A710}" srcOrd="2" destOrd="0" parTransId="{57D712F4-B726-4052-898A-3643ED89EE54}" sibTransId="{1EADE983-6202-485F-8F2D-59C97DBC6CFB}"/>
    <dgm:cxn modelId="{39A4266C-90C5-46F8-A573-9900219BC335}" type="presOf" srcId="{31FB141E-F1F3-4B14-A6A2-97A75EB1A710}" destId="{C2B88D8D-0390-4E58-95A6-281559AD5A99}" srcOrd="0" destOrd="0" presId="urn:microsoft.com/office/officeart/2018/2/layout/IconVerticalSolidList"/>
    <dgm:cxn modelId="{059FFB79-494D-4385-8B5C-A906C67DED27}" type="presOf" srcId="{5C41C281-3D22-4A03-ADA4-AC17D1C607AE}" destId="{0F0A095B-9545-429E-A5BA-86A82FB9E223}" srcOrd="0" destOrd="0" presId="urn:microsoft.com/office/officeart/2018/2/layout/IconVerticalSolidList"/>
    <dgm:cxn modelId="{FF204B84-FCCE-450E-80CD-27B805885A39}" type="presOf" srcId="{4117AFAA-1426-4549-A4DD-CED1F169C39E}" destId="{E6E4D911-C878-4DEE-9998-D9E8FCD23C8A}" srcOrd="0" destOrd="0" presId="urn:microsoft.com/office/officeart/2018/2/layout/IconVerticalSolidList"/>
    <dgm:cxn modelId="{FD1AF390-154D-4135-9880-D7895AB21304}" type="presOf" srcId="{135AAFA2-2600-4DDB-A732-74AF2E237CF4}" destId="{6021F20C-AF8E-49AB-A0BC-26519A3C8F44}" srcOrd="0" destOrd="0" presId="urn:microsoft.com/office/officeart/2018/2/layout/IconVerticalSolidList"/>
    <dgm:cxn modelId="{6CE504A8-5570-4D08-8214-054DECE8EDDA}" srcId="{135AAFA2-2600-4DDB-A732-74AF2E237CF4}" destId="{4117AFAA-1426-4549-A4DD-CED1F169C39E}" srcOrd="0" destOrd="0" parTransId="{A87CBCCD-E4EF-4D04-B459-1FCDAABAD7BD}" sibTransId="{2CAF0EE5-5F09-4B50-8339-E761B76ECE52}"/>
    <dgm:cxn modelId="{A71ECEB7-48B0-4BC9-8FF0-D791F5AA3433}" srcId="{72052636-14B0-4E54-A70F-38851DA94D8F}" destId="{F2BB09C5-8F54-4069-95D4-D155AAE4BEAB}" srcOrd="0" destOrd="0" parTransId="{57D9119C-AF2D-4474-8F66-88E8F75BCB15}" sibTransId="{1E4F6476-CA30-47C2-AD0E-4A4323F7BD0B}"/>
    <dgm:cxn modelId="{EE5A24B9-5E63-46DE-80EE-2A1DA9C3C172}" srcId="{72052636-14B0-4E54-A70F-38851DA94D8F}" destId="{135AAFA2-2600-4DDB-A732-74AF2E237CF4}" srcOrd="1" destOrd="0" parTransId="{7B7F300B-AE66-4D92-8141-67016AE99709}" sibTransId="{320673B7-E4E5-472A-9C6F-0AA10D4076EC}"/>
    <dgm:cxn modelId="{7C6404C2-6320-41D4-B367-9ED858101E79}" type="presOf" srcId="{F2BB09C5-8F54-4069-95D4-D155AAE4BEAB}" destId="{F7E0849C-8D2E-46B1-B994-C9EBAE30C8F1}" srcOrd="0" destOrd="0" presId="urn:microsoft.com/office/officeart/2018/2/layout/IconVerticalSolidList"/>
    <dgm:cxn modelId="{84D8B1EE-3882-4F14-8CB9-5D412400C36C}" type="presOf" srcId="{72052636-14B0-4E54-A70F-38851DA94D8F}" destId="{F0610D76-35F6-4902-9300-F18EB80B1236}" srcOrd="0" destOrd="0" presId="urn:microsoft.com/office/officeart/2018/2/layout/IconVerticalSolidList"/>
    <dgm:cxn modelId="{C2EBC88F-15A9-4A7A-9444-BE1779CA7DA9}" type="presParOf" srcId="{F0610D76-35F6-4902-9300-F18EB80B1236}" destId="{27B327D2-3321-4D0E-A4EB-12079B823B5D}" srcOrd="0" destOrd="0" presId="urn:microsoft.com/office/officeart/2018/2/layout/IconVerticalSolidList"/>
    <dgm:cxn modelId="{92C99C56-2B74-4B84-A2F1-B3F91F4141EA}" type="presParOf" srcId="{27B327D2-3321-4D0E-A4EB-12079B823B5D}" destId="{D695589B-4974-4E8A-B370-63E39D437CE4}" srcOrd="0" destOrd="0" presId="urn:microsoft.com/office/officeart/2018/2/layout/IconVerticalSolidList"/>
    <dgm:cxn modelId="{2FD7CBB3-DACE-4E30-80BF-8FB5D491D1A8}" type="presParOf" srcId="{27B327D2-3321-4D0E-A4EB-12079B823B5D}" destId="{0491492E-FF84-4B22-B9A7-9EBA484339B3}" srcOrd="1" destOrd="0" presId="urn:microsoft.com/office/officeart/2018/2/layout/IconVerticalSolidList"/>
    <dgm:cxn modelId="{F342A392-66D6-4A04-8B46-1983B3BB1D59}" type="presParOf" srcId="{27B327D2-3321-4D0E-A4EB-12079B823B5D}" destId="{6E219E5A-A8FB-4297-A2FA-A230DCBDDC8D}" srcOrd="2" destOrd="0" presId="urn:microsoft.com/office/officeart/2018/2/layout/IconVerticalSolidList"/>
    <dgm:cxn modelId="{A0A709AD-8BE2-4A72-BB77-61114F3E098A}" type="presParOf" srcId="{27B327D2-3321-4D0E-A4EB-12079B823B5D}" destId="{F7E0849C-8D2E-46B1-B994-C9EBAE30C8F1}" srcOrd="3" destOrd="0" presId="urn:microsoft.com/office/officeart/2018/2/layout/IconVerticalSolidList"/>
    <dgm:cxn modelId="{A19A9094-C0A1-4B80-9B1E-764BD47B852C}" type="presParOf" srcId="{F0610D76-35F6-4902-9300-F18EB80B1236}" destId="{2D8BE75B-08A7-426A-87C7-30F0547DE347}" srcOrd="1" destOrd="0" presId="urn:microsoft.com/office/officeart/2018/2/layout/IconVerticalSolidList"/>
    <dgm:cxn modelId="{5A1733D8-F331-4ECD-9151-B33C065028BA}" type="presParOf" srcId="{F0610D76-35F6-4902-9300-F18EB80B1236}" destId="{9853B5B6-2F77-47D6-8EBD-1748EE27B487}" srcOrd="2" destOrd="0" presId="urn:microsoft.com/office/officeart/2018/2/layout/IconVerticalSolidList"/>
    <dgm:cxn modelId="{E3BD3160-917B-42C1-8C86-8FA5962612FD}" type="presParOf" srcId="{9853B5B6-2F77-47D6-8EBD-1748EE27B487}" destId="{C2F2E92B-EB0C-47F3-A09C-87619BF83604}" srcOrd="0" destOrd="0" presId="urn:microsoft.com/office/officeart/2018/2/layout/IconVerticalSolidList"/>
    <dgm:cxn modelId="{2758AFD9-E3FE-4B17-B947-BAF8F1CF089A}" type="presParOf" srcId="{9853B5B6-2F77-47D6-8EBD-1748EE27B487}" destId="{63BFC4BE-DAA1-4233-A55F-28C7F0C8A11A}" srcOrd="1" destOrd="0" presId="urn:microsoft.com/office/officeart/2018/2/layout/IconVerticalSolidList"/>
    <dgm:cxn modelId="{CAF15B4D-6B13-4CF5-A384-13D0A88BD455}" type="presParOf" srcId="{9853B5B6-2F77-47D6-8EBD-1748EE27B487}" destId="{94F416EF-33B5-44D3-A278-062B9F03DB2D}" srcOrd="2" destOrd="0" presId="urn:microsoft.com/office/officeart/2018/2/layout/IconVerticalSolidList"/>
    <dgm:cxn modelId="{1F608856-D3E2-4C42-B61D-247ADBB6BC9F}" type="presParOf" srcId="{9853B5B6-2F77-47D6-8EBD-1748EE27B487}" destId="{6021F20C-AF8E-49AB-A0BC-26519A3C8F44}" srcOrd="3" destOrd="0" presId="urn:microsoft.com/office/officeart/2018/2/layout/IconVerticalSolidList"/>
    <dgm:cxn modelId="{A76B8DD1-3411-4D35-ABAD-DA1A08AC09E5}" type="presParOf" srcId="{9853B5B6-2F77-47D6-8EBD-1748EE27B487}" destId="{E6E4D911-C878-4DEE-9998-D9E8FCD23C8A}" srcOrd="4" destOrd="0" presId="urn:microsoft.com/office/officeart/2018/2/layout/IconVerticalSolidList"/>
    <dgm:cxn modelId="{B4D12216-340E-4CC7-BA81-D6914417595D}" type="presParOf" srcId="{F0610D76-35F6-4902-9300-F18EB80B1236}" destId="{EB5E8882-7821-4C50-BF74-F1DF307AD81E}" srcOrd="3" destOrd="0" presId="urn:microsoft.com/office/officeart/2018/2/layout/IconVerticalSolidList"/>
    <dgm:cxn modelId="{638F2BF2-E6FC-4B84-8A48-D9D639CC2A02}" type="presParOf" srcId="{F0610D76-35F6-4902-9300-F18EB80B1236}" destId="{D38AB1AA-66F8-4B2E-8327-3612844A1DBC}" srcOrd="4" destOrd="0" presId="urn:microsoft.com/office/officeart/2018/2/layout/IconVerticalSolidList"/>
    <dgm:cxn modelId="{D2E10D5F-5129-43B2-9EBF-4BBBEC2461B9}" type="presParOf" srcId="{D38AB1AA-66F8-4B2E-8327-3612844A1DBC}" destId="{9C1EE2AA-700B-4608-9750-3CAD2011C723}" srcOrd="0" destOrd="0" presId="urn:microsoft.com/office/officeart/2018/2/layout/IconVerticalSolidList"/>
    <dgm:cxn modelId="{A0390343-935E-44F0-BE65-07A7E1B97859}" type="presParOf" srcId="{D38AB1AA-66F8-4B2E-8327-3612844A1DBC}" destId="{838886C5-4437-4FA1-8EE8-61EC53137584}" srcOrd="1" destOrd="0" presId="urn:microsoft.com/office/officeart/2018/2/layout/IconVerticalSolidList"/>
    <dgm:cxn modelId="{EC16148D-DA13-43AB-BD38-EFE5763185D6}" type="presParOf" srcId="{D38AB1AA-66F8-4B2E-8327-3612844A1DBC}" destId="{0CCF8C72-51DD-4707-ABFA-C19EA6E86D10}" srcOrd="2" destOrd="0" presId="urn:microsoft.com/office/officeart/2018/2/layout/IconVerticalSolidList"/>
    <dgm:cxn modelId="{4CD0E700-F401-493E-A81D-EA2F522D53B5}" type="presParOf" srcId="{D38AB1AA-66F8-4B2E-8327-3612844A1DBC}" destId="{C2B88D8D-0390-4E58-95A6-281559AD5A99}" srcOrd="3" destOrd="0" presId="urn:microsoft.com/office/officeart/2018/2/layout/IconVerticalSolidList"/>
    <dgm:cxn modelId="{8E2FB42D-67E9-401C-AA74-A6DED72B52C1}" type="presParOf" srcId="{D38AB1AA-66F8-4B2E-8327-3612844A1DBC}" destId="{0F0A095B-9545-429E-A5BA-86A82FB9E223}"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4C7C5F-D6D8-4BB3-A09A-529EA2AA86A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31A9CF01-34BE-4528-A08C-B9325B44A02A}">
      <dgm:prSet/>
      <dgm:spPr/>
      <dgm:t>
        <a:bodyPr/>
        <a:lstStyle/>
        <a:p>
          <a:r>
            <a:rPr lang="en-US" b="1" i="1"/>
            <a:t>Discouraged workers: </a:t>
          </a:r>
          <a:r>
            <a:rPr lang="en-US" b="0"/>
            <a:t>nonworking people who have given up looking for work for the time being.  Not considered unemployed.</a:t>
          </a:r>
          <a:endParaRPr lang="en-US"/>
        </a:p>
      </dgm:t>
    </dgm:pt>
    <dgm:pt modelId="{DCD1716A-BCE6-41C4-9B64-FC92FA797426}" type="parTrans" cxnId="{F64434A8-C74E-440A-B0AC-832CDC1840CF}">
      <dgm:prSet/>
      <dgm:spPr/>
      <dgm:t>
        <a:bodyPr/>
        <a:lstStyle/>
        <a:p>
          <a:endParaRPr lang="en-US"/>
        </a:p>
      </dgm:t>
    </dgm:pt>
    <dgm:pt modelId="{BE9A2D67-D33D-423E-B06E-2E5C4332F108}" type="sibTrans" cxnId="{F64434A8-C74E-440A-B0AC-832CDC1840CF}">
      <dgm:prSet/>
      <dgm:spPr/>
      <dgm:t>
        <a:bodyPr/>
        <a:lstStyle/>
        <a:p>
          <a:endParaRPr lang="en-US"/>
        </a:p>
      </dgm:t>
    </dgm:pt>
    <dgm:pt modelId="{CC018468-02BD-4BD1-8479-6228CB5EE4B9}">
      <dgm:prSet/>
      <dgm:spPr/>
      <dgm:t>
        <a:bodyPr/>
        <a:lstStyle/>
        <a:p>
          <a:r>
            <a:rPr lang="en-US" b="1" i="1"/>
            <a:t>The deeper the recession, the more discouraged workers there are.</a:t>
          </a:r>
          <a:endParaRPr lang="en-US"/>
        </a:p>
      </dgm:t>
    </dgm:pt>
    <dgm:pt modelId="{18EC081D-1DE4-4E36-AA90-EE45EF780AF7}" type="parTrans" cxnId="{7D40D2DF-7337-48C9-8E1D-8E5FC20F5936}">
      <dgm:prSet/>
      <dgm:spPr/>
      <dgm:t>
        <a:bodyPr/>
        <a:lstStyle/>
        <a:p>
          <a:endParaRPr lang="en-US"/>
        </a:p>
      </dgm:t>
    </dgm:pt>
    <dgm:pt modelId="{5C5F0297-CE94-40C6-9A0D-5CE6323D4338}" type="sibTrans" cxnId="{7D40D2DF-7337-48C9-8E1D-8E5FC20F5936}">
      <dgm:prSet/>
      <dgm:spPr/>
      <dgm:t>
        <a:bodyPr/>
        <a:lstStyle/>
        <a:p>
          <a:endParaRPr lang="en-US"/>
        </a:p>
      </dgm:t>
    </dgm:pt>
    <dgm:pt modelId="{1F4581A4-0BFA-4C86-B169-62C19E2BE938}">
      <dgm:prSet/>
      <dgm:spPr/>
      <dgm:t>
        <a:bodyPr/>
        <a:lstStyle/>
        <a:p>
          <a:r>
            <a:rPr lang="en-US" b="1" i="1"/>
            <a:t>Marginally attached workers:</a:t>
          </a:r>
          <a:r>
            <a:rPr lang="en-US" b="1"/>
            <a:t>  </a:t>
          </a:r>
          <a:r>
            <a:rPr lang="en-US" b="0"/>
            <a:t>those</a:t>
          </a:r>
          <a:r>
            <a:rPr lang="en-US" b="1"/>
            <a:t> </a:t>
          </a:r>
          <a:r>
            <a:rPr lang="en-US" b="0"/>
            <a:t>who were available and actively looked for work recently but are not currently looking (in the past 12 months but NOT in the past 4 weeks)</a:t>
          </a:r>
          <a:endParaRPr lang="en-US"/>
        </a:p>
      </dgm:t>
    </dgm:pt>
    <dgm:pt modelId="{C540D354-848C-4A4A-A852-AF7865B7870B}" type="parTrans" cxnId="{9DB71666-899A-42C4-9808-B6E447AB1D82}">
      <dgm:prSet/>
      <dgm:spPr/>
      <dgm:t>
        <a:bodyPr/>
        <a:lstStyle/>
        <a:p>
          <a:endParaRPr lang="en-US"/>
        </a:p>
      </dgm:t>
    </dgm:pt>
    <dgm:pt modelId="{B8073053-CA80-4C05-BA09-A62A6A8D614E}" type="sibTrans" cxnId="{9DB71666-899A-42C4-9808-B6E447AB1D82}">
      <dgm:prSet/>
      <dgm:spPr/>
      <dgm:t>
        <a:bodyPr/>
        <a:lstStyle/>
        <a:p>
          <a:endParaRPr lang="en-US"/>
        </a:p>
      </dgm:t>
    </dgm:pt>
    <dgm:pt modelId="{6FC0CE38-E9CC-4247-BC8D-070C00BB7F04}">
      <dgm:prSet/>
      <dgm:spPr/>
      <dgm:t>
        <a:bodyPr/>
        <a:lstStyle/>
        <a:p>
          <a:r>
            <a:rPr lang="en-US" b="1" i="1"/>
            <a:t>Underemployed workers: </a:t>
          </a:r>
          <a:r>
            <a:rPr lang="en-US" b="0"/>
            <a:t>people who work part time because they cannot find full-time jobs.</a:t>
          </a:r>
          <a:endParaRPr lang="en-US"/>
        </a:p>
      </dgm:t>
    </dgm:pt>
    <dgm:pt modelId="{E5A7D3FB-255F-451B-B1AD-EC2FA6F1B09B}" type="parTrans" cxnId="{D82869DA-4DBE-4236-B8AD-EE3C63C7BC9E}">
      <dgm:prSet/>
      <dgm:spPr/>
      <dgm:t>
        <a:bodyPr/>
        <a:lstStyle/>
        <a:p>
          <a:endParaRPr lang="en-US"/>
        </a:p>
      </dgm:t>
    </dgm:pt>
    <dgm:pt modelId="{BCFB8802-A08E-429C-8CA0-08837E49EB95}" type="sibTrans" cxnId="{D82869DA-4DBE-4236-B8AD-EE3C63C7BC9E}">
      <dgm:prSet/>
      <dgm:spPr/>
      <dgm:t>
        <a:bodyPr/>
        <a:lstStyle/>
        <a:p>
          <a:endParaRPr lang="en-US"/>
        </a:p>
      </dgm:t>
    </dgm:pt>
    <dgm:pt modelId="{D4917B95-808B-4E62-8D1C-137C15E88F32}" type="pres">
      <dgm:prSet presAssocID="{1F4C7C5F-D6D8-4BB3-A09A-529EA2AA86A5}" presName="root" presStyleCnt="0">
        <dgm:presLayoutVars>
          <dgm:dir/>
          <dgm:resizeHandles val="exact"/>
        </dgm:presLayoutVars>
      </dgm:prSet>
      <dgm:spPr/>
    </dgm:pt>
    <dgm:pt modelId="{697F8994-2617-4B54-AD63-DACF39A142EA}" type="pres">
      <dgm:prSet presAssocID="{31A9CF01-34BE-4528-A08C-B9325B44A02A}" presName="compNode" presStyleCnt="0"/>
      <dgm:spPr/>
    </dgm:pt>
    <dgm:pt modelId="{68576BFF-135F-4AF2-A2FF-9932BDCA38CE}" type="pres">
      <dgm:prSet presAssocID="{31A9CF01-34BE-4528-A08C-B9325B44A02A}" presName="bgRect" presStyleLbl="bgShp" presStyleIdx="0" presStyleCnt="3"/>
      <dgm:spPr/>
    </dgm:pt>
    <dgm:pt modelId="{C36D5FD2-C6BD-457C-88F1-97ECE966C8C9}" type="pres">
      <dgm:prSet presAssocID="{31A9CF01-34BE-4528-A08C-B9325B44A02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wnward trend"/>
        </a:ext>
      </dgm:extLst>
    </dgm:pt>
    <dgm:pt modelId="{EA74A347-3BE9-4FEC-ADF5-5A65D7934BB7}" type="pres">
      <dgm:prSet presAssocID="{31A9CF01-34BE-4528-A08C-B9325B44A02A}" presName="spaceRect" presStyleCnt="0"/>
      <dgm:spPr/>
    </dgm:pt>
    <dgm:pt modelId="{FB309382-0E1E-4E25-A2B6-1EBC72005744}" type="pres">
      <dgm:prSet presAssocID="{31A9CF01-34BE-4528-A08C-B9325B44A02A}" presName="parTx" presStyleLbl="revTx" presStyleIdx="0" presStyleCnt="4">
        <dgm:presLayoutVars>
          <dgm:chMax val="0"/>
          <dgm:chPref val="0"/>
        </dgm:presLayoutVars>
      </dgm:prSet>
      <dgm:spPr/>
    </dgm:pt>
    <dgm:pt modelId="{02097263-4ABE-4E84-9450-40573F2324C7}" type="pres">
      <dgm:prSet presAssocID="{31A9CF01-34BE-4528-A08C-B9325B44A02A}" presName="desTx" presStyleLbl="revTx" presStyleIdx="1" presStyleCnt="4">
        <dgm:presLayoutVars/>
      </dgm:prSet>
      <dgm:spPr/>
    </dgm:pt>
    <dgm:pt modelId="{4696937D-7AE3-4BE7-8063-E67F4E9184A9}" type="pres">
      <dgm:prSet presAssocID="{BE9A2D67-D33D-423E-B06E-2E5C4332F108}" presName="sibTrans" presStyleCnt="0"/>
      <dgm:spPr/>
    </dgm:pt>
    <dgm:pt modelId="{C06E0554-7E95-4025-92E0-8BD5B030EC46}" type="pres">
      <dgm:prSet presAssocID="{1F4581A4-0BFA-4C86-B169-62C19E2BE938}" presName="compNode" presStyleCnt="0"/>
      <dgm:spPr/>
    </dgm:pt>
    <dgm:pt modelId="{055C9273-1278-4A8A-A1B5-D59890384C39}" type="pres">
      <dgm:prSet presAssocID="{1F4581A4-0BFA-4C86-B169-62C19E2BE938}" presName="bgRect" presStyleLbl="bgShp" presStyleIdx="1" presStyleCnt="3"/>
      <dgm:spPr/>
    </dgm:pt>
    <dgm:pt modelId="{D4CCA82F-3066-4ABE-8829-535E38404B7B}" type="pres">
      <dgm:prSet presAssocID="{1F4581A4-0BFA-4C86-B169-62C19E2BE93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ffice Worker"/>
        </a:ext>
      </dgm:extLst>
    </dgm:pt>
    <dgm:pt modelId="{45DFDEB6-8B73-4541-A48D-1D2B0C591D61}" type="pres">
      <dgm:prSet presAssocID="{1F4581A4-0BFA-4C86-B169-62C19E2BE938}" presName="spaceRect" presStyleCnt="0"/>
      <dgm:spPr/>
    </dgm:pt>
    <dgm:pt modelId="{E725AA3F-2251-403E-BE32-C9D76AA33D54}" type="pres">
      <dgm:prSet presAssocID="{1F4581A4-0BFA-4C86-B169-62C19E2BE938}" presName="parTx" presStyleLbl="revTx" presStyleIdx="2" presStyleCnt="4">
        <dgm:presLayoutVars>
          <dgm:chMax val="0"/>
          <dgm:chPref val="0"/>
        </dgm:presLayoutVars>
      </dgm:prSet>
      <dgm:spPr/>
    </dgm:pt>
    <dgm:pt modelId="{38967803-781C-438C-A81C-4D214046EC58}" type="pres">
      <dgm:prSet presAssocID="{B8073053-CA80-4C05-BA09-A62A6A8D614E}" presName="sibTrans" presStyleCnt="0"/>
      <dgm:spPr/>
    </dgm:pt>
    <dgm:pt modelId="{60D2E8E0-B742-467D-B2C4-19E9F1C3FFC0}" type="pres">
      <dgm:prSet presAssocID="{6FC0CE38-E9CC-4247-BC8D-070C00BB7F04}" presName="compNode" presStyleCnt="0"/>
      <dgm:spPr/>
    </dgm:pt>
    <dgm:pt modelId="{0F13E671-AB96-4B2B-BEF9-9737DBF89F0A}" type="pres">
      <dgm:prSet presAssocID="{6FC0CE38-E9CC-4247-BC8D-070C00BB7F04}" presName="bgRect" presStyleLbl="bgShp" presStyleIdx="2" presStyleCnt="3"/>
      <dgm:spPr/>
    </dgm:pt>
    <dgm:pt modelId="{A0F0E53D-11FD-432F-83BE-D47C4B9C99AB}" type="pres">
      <dgm:prSet presAssocID="{6FC0CE38-E9CC-4247-BC8D-070C00BB7F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rawl"/>
        </a:ext>
      </dgm:extLst>
    </dgm:pt>
    <dgm:pt modelId="{08516CBD-D363-43C7-84ED-7ED2D847A455}" type="pres">
      <dgm:prSet presAssocID="{6FC0CE38-E9CC-4247-BC8D-070C00BB7F04}" presName="spaceRect" presStyleCnt="0"/>
      <dgm:spPr/>
    </dgm:pt>
    <dgm:pt modelId="{137F7DC7-704E-429D-92B5-8682635BA3C0}" type="pres">
      <dgm:prSet presAssocID="{6FC0CE38-E9CC-4247-BC8D-070C00BB7F04}" presName="parTx" presStyleLbl="revTx" presStyleIdx="3" presStyleCnt="4">
        <dgm:presLayoutVars>
          <dgm:chMax val="0"/>
          <dgm:chPref val="0"/>
        </dgm:presLayoutVars>
      </dgm:prSet>
      <dgm:spPr/>
    </dgm:pt>
  </dgm:ptLst>
  <dgm:cxnLst>
    <dgm:cxn modelId="{B664A002-D681-4D01-9A3B-44F23D5A0445}" type="presOf" srcId="{31A9CF01-34BE-4528-A08C-B9325B44A02A}" destId="{FB309382-0E1E-4E25-A2B6-1EBC72005744}" srcOrd="0" destOrd="0" presId="urn:microsoft.com/office/officeart/2018/2/layout/IconVerticalSolidList"/>
    <dgm:cxn modelId="{C73A4410-0201-48BE-BE26-C7659F6070F2}" type="presOf" srcId="{1F4C7C5F-D6D8-4BB3-A09A-529EA2AA86A5}" destId="{D4917B95-808B-4E62-8D1C-137C15E88F32}" srcOrd="0" destOrd="0" presId="urn:microsoft.com/office/officeart/2018/2/layout/IconVerticalSolidList"/>
    <dgm:cxn modelId="{9DB71666-899A-42C4-9808-B6E447AB1D82}" srcId="{1F4C7C5F-D6D8-4BB3-A09A-529EA2AA86A5}" destId="{1F4581A4-0BFA-4C86-B169-62C19E2BE938}" srcOrd="1" destOrd="0" parTransId="{C540D354-848C-4A4A-A852-AF7865B7870B}" sibTransId="{B8073053-CA80-4C05-BA09-A62A6A8D614E}"/>
    <dgm:cxn modelId="{04AF0E76-D136-4EFF-A1BA-896B1EE0078E}" type="presOf" srcId="{CC018468-02BD-4BD1-8479-6228CB5EE4B9}" destId="{02097263-4ABE-4E84-9450-40573F2324C7}" srcOrd="0" destOrd="0" presId="urn:microsoft.com/office/officeart/2018/2/layout/IconVerticalSolidList"/>
    <dgm:cxn modelId="{B03B4D9F-64E6-4366-90B4-529FE10B202F}" type="presOf" srcId="{1F4581A4-0BFA-4C86-B169-62C19E2BE938}" destId="{E725AA3F-2251-403E-BE32-C9D76AA33D54}" srcOrd="0" destOrd="0" presId="urn:microsoft.com/office/officeart/2018/2/layout/IconVerticalSolidList"/>
    <dgm:cxn modelId="{459D699F-C81B-4F81-8908-8E839CEBAA58}" type="presOf" srcId="{6FC0CE38-E9CC-4247-BC8D-070C00BB7F04}" destId="{137F7DC7-704E-429D-92B5-8682635BA3C0}" srcOrd="0" destOrd="0" presId="urn:microsoft.com/office/officeart/2018/2/layout/IconVerticalSolidList"/>
    <dgm:cxn modelId="{F64434A8-C74E-440A-B0AC-832CDC1840CF}" srcId="{1F4C7C5F-D6D8-4BB3-A09A-529EA2AA86A5}" destId="{31A9CF01-34BE-4528-A08C-B9325B44A02A}" srcOrd="0" destOrd="0" parTransId="{DCD1716A-BCE6-41C4-9B64-FC92FA797426}" sibTransId="{BE9A2D67-D33D-423E-B06E-2E5C4332F108}"/>
    <dgm:cxn modelId="{D82869DA-4DBE-4236-B8AD-EE3C63C7BC9E}" srcId="{1F4C7C5F-D6D8-4BB3-A09A-529EA2AA86A5}" destId="{6FC0CE38-E9CC-4247-BC8D-070C00BB7F04}" srcOrd="2" destOrd="0" parTransId="{E5A7D3FB-255F-451B-B1AD-EC2FA6F1B09B}" sibTransId="{BCFB8802-A08E-429C-8CA0-08837E49EB95}"/>
    <dgm:cxn modelId="{7D40D2DF-7337-48C9-8E1D-8E5FC20F5936}" srcId="{31A9CF01-34BE-4528-A08C-B9325B44A02A}" destId="{CC018468-02BD-4BD1-8479-6228CB5EE4B9}" srcOrd="0" destOrd="0" parTransId="{18EC081D-1DE4-4E36-AA90-EE45EF780AF7}" sibTransId="{5C5F0297-CE94-40C6-9A0D-5CE6323D4338}"/>
    <dgm:cxn modelId="{D7501C1B-3583-43DB-B9B6-14C528D6988E}" type="presParOf" srcId="{D4917B95-808B-4E62-8D1C-137C15E88F32}" destId="{697F8994-2617-4B54-AD63-DACF39A142EA}" srcOrd="0" destOrd="0" presId="urn:microsoft.com/office/officeart/2018/2/layout/IconVerticalSolidList"/>
    <dgm:cxn modelId="{51D06EA9-DD20-43BB-93C0-087EC14EC62C}" type="presParOf" srcId="{697F8994-2617-4B54-AD63-DACF39A142EA}" destId="{68576BFF-135F-4AF2-A2FF-9932BDCA38CE}" srcOrd="0" destOrd="0" presId="urn:microsoft.com/office/officeart/2018/2/layout/IconVerticalSolidList"/>
    <dgm:cxn modelId="{1AAE36F5-1D37-4CE2-8933-0BF288E84DF4}" type="presParOf" srcId="{697F8994-2617-4B54-AD63-DACF39A142EA}" destId="{C36D5FD2-C6BD-457C-88F1-97ECE966C8C9}" srcOrd="1" destOrd="0" presId="urn:microsoft.com/office/officeart/2018/2/layout/IconVerticalSolidList"/>
    <dgm:cxn modelId="{E7097678-BB68-4203-B4A1-3ABECB223CCC}" type="presParOf" srcId="{697F8994-2617-4B54-AD63-DACF39A142EA}" destId="{EA74A347-3BE9-4FEC-ADF5-5A65D7934BB7}" srcOrd="2" destOrd="0" presId="urn:microsoft.com/office/officeart/2018/2/layout/IconVerticalSolidList"/>
    <dgm:cxn modelId="{FB9B228D-9642-4BAB-AE58-468B3F547109}" type="presParOf" srcId="{697F8994-2617-4B54-AD63-DACF39A142EA}" destId="{FB309382-0E1E-4E25-A2B6-1EBC72005744}" srcOrd="3" destOrd="0" presId="urn:microsoft.com/office/officeart/2018/2/layout/IconVerticalSolidList"/>
    <dgm:cxn modelId="{C5399AB6-3F0F-4A1F-BDAB-8C3980E004FC}" type="presParOf" srcId="{697F8994-2617-4B54-AD63-DACF39A142EA}" destId="{02097263-4ABE-4E84-9450-40573F2324C7}" srcOrd="4" destOrd="0" presId="urn:microsoft.com/office/officeart/2018/2/layout/IconVerticalSolidList"/>
    <dgm:cxn modelId="{3B3682FF-B881-4072-89DE-6D16FB321BAC}" type="presParOf" srcId="{D4917B95-808B-4E62-8D1C-137C15E88F32}" destId="{4696937D-7AE3-4BE7-8063-E67F4E9184A9}" srcOrd="1" destOrd="0" presId="urn:microsoft.com/office/officeart/2018/2/layout/IconVerticalSolidList"/>
    <dgm:cxn modelId="{5040F210-673F-4BF6-BAC4-3BBD37E1459A}" type="presParOf" srcId="{D4917B95-808B-4E62-8D1C-137C15E88F32}" destId="{C06E0554-7E95-4025-92E0-8BD5B030EC46}" srcOrd="2" destOrd="0" presId="urn:microsoft.com/office/officeart/2018/2/layout/IconVerticalSolidList"/>
    <dgm:cxn modelId="{4E66549A-A242-4EB2-B74E-5AD124DD8942}" type="presParOf" srcId="{C06E0554-7E95-4025-92E0-8BD5B030EC46}" destId="{055C9273-1278-4A8A-A1B5-D59890384C39}" srcOrd="0" destOrd="0" presId="urn:microsoft.com/office/officeart/2018/2/layout/IconVerticalSolidList"/>
    <dgm:cxn modelId="{A88245AC-6BAB-4B6A-AE6F-E05CA94F53F0}" type="presParOf" srcId="{C06E0554-7E95-4025-92E0-8BD5B030EC46}" destId="{D4CCA82F-3066-4ABE-8829-535E38404B7B}" srcOrd="1" destOrd="0" presId="urn:microsoft.com/office/officeart/2018/2/layout/IconVerticalSolidList"/>
    <dgm:cxn modelId="{E447AAE9-04CE-4F5F-A2B9-96A484C7B8C8}" type="presParOf" srcId="{C06E0554-7E95-4025-92E0-8BD5B030EC46}" destId="{45DFDEB6-8B73-4541-A48D-1D2B0C591D61}" srcOrd="2" destOrd="0" presId="urn:microsoft.com/office/officeart/2018/2/layout/IconVerticalSolidList"/>
    <dgm:cxn modelId="{5516C82D-6917-498F-B614-5A4521A7507B}" type="presParOf" srcId="{C06E0554-7E95-4025-92E0-8BD5B030EC46}" destId="{E725AA3F-2251-403E-BE32-C9D76AA33D54}" srcOrd="3" destOrd="0" presId="urn:microsoft.com/office/officeart/2018/2/layout/IconVerticalSolidList"/>
    <dgm:cxn modelId="{CA5C44BD-DE7D-40E4-B60F-9DE4C596C2EC}" type="presParOf" srcId="{D4917B95-808B-4E62-8D1C-137C15E88F32}" destId="{38967803-781C-438C-A81C-4D214046EC58}" srcOrd="3" destOrd="0" presId="urn:microsoft.com/office/officeart/2018/2/layout/IconVerticalSolidList"/>
    <dgm:cxn modelId="{6B74E60C-328F-47DE-8216-F06D1970F954}" type="presParOf" srcId="{D4917B95-808B-4E62-8D1C-137C15E88F32}" destId="{60D2E8E0-B742-467D-B2C4-19E9F1C3FFC0}" srcOrd="4" destOrd="0" presId="urn:microsoft.com/office/officeart/2018/2/layout/IconVerticalSolidList"/>
    <dgm:cxn modelId="{952F683C-4037-471C-BA97-1007BA32BDFD}" type="presParOf" srcId="{60D2E8E0-B742-467D-B2C4-19E9F1C3FFC0}" destId="{0F13E671-AB96-4B2B-BEF9-9737DBF89F0A}" srcOrd="0" destOrd="0" presId="urn:microsoft.com/office/officeart/2018/2/layout/IconVerticalSolidList"/>
    <dgm:cxn modelId="{8915ECEA-95C4-4FF7-BD73-3DC780359FE9}" type="presParOf" srcId="{60D2E8E0-B742-467D-B2C4-19E9F1C3FFC0}" destId="{A0F0E53D-11FD-432F-83BE-D47C4B9C99AB}" srcOrd="1" destOrd="0" presId="urn:microsoft.com/office/officeart/2018/2/layout/IconVerticalSolidList"/>
    <dgm:cxn modelId="{3F22F168-1C10-42A0-817B-AF3CA1201732}" type="presParOf" srcId="{60D2E8E0-B742-467D-B2C4-19E9F1C3FFC0}" destId="{08516CBD-D363-43C7-84ED-7ED2D847A455}" srcOrd="2" destOrd="0" presId="urn:microsoft.com/office/officeart/2018/2/layout/IconVerticalSolidList"/>
    <dgm:cxn modelId="{FC8C7102-2BA0-489C-8709-F2E301B05B98}" type="presParOf" srcId="{60D2E8E0-B742-467D-B2C4-19E9F1C3FFC0}" destId="{137F7DC7-704E-429D-92B5-8682635BA3C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11CCB3-E365-4309-AF57-A90111DDBF9C}" type="doc">
      <dgm:prSet loTypeId="urn:microsoft.com/office/officeart/2005/8/layout/vList2" loCatId="list" qsTypeId="urn:microsoft.com/office/officeart/2005/8/quickstyle/simple1" qsCatId="simple" csTypeId="urn:microsoft.com/office/officeart/2005/8/colors/accent2_2" csCatId="accent2"/>
      <dgm:spPr/>
      <dgm:t>
        <a:bodyPr/>
        <a:lstStyle/>
        <a:p>
          <a:endParaRPr lang="en-US"/>
        </a:p>
      </dgm:t>
    </dgm:pt>
    <dgm:pt modelId="{ACDBA032-9BA2-4C62-ACF3-703C7A9FAF70}">
      <dgm:prSet/>
      <dgm:spPr/>
      <dgm:t>
        <a:bodyPr/>
        <a:lstStyle/>
        <a:p>
          <a:r>
            <a:rPr lang="en-US" b="1"/>
            <a:t>We need estimates of the natural rate of unemployment both to make forecasts and to conduct policy analyses.</a:t>
          </a:r>
          <a:endParaRPr lang="en-US"/>
        </a:p>
      </dgm:t>
    </dgm:pt>
    <dgm:pt modelId="{1F552AF6-7F7C-4BA4-AEF6-11E0A804BA28}" type="parTrans" cxnId="{0DD2FAB0-D7B7-40C0-9AD9-15B0AF348A96}">
      <dgm:prSet/>
      <dgm:spPr/>
      <dgm:t>
        <a:bodyPr/>
        <a:lstStyle/>
        <a:p>
          <a:endParaRPr lang="en-US"/>
        </a:p>
      </dgm:t>
    </dgm:pt>
    <dgm:pt modelId="{36044FE9-EC81-4354-BCCA-84090C5E92CE}" type="sibTrans" cxnId="{0DD2FAB0-D7B7-40C0-9AD9-15B0AF348A96}">
      <dgm:prSet/>
      <dgm:spPr/>
      <dgm:t>
        <a:bodyPr/>
        <a:lstStyle/>
        <a:p>
          <a:endParaRPr lang="en-US"/>
        </a:p>
      </dgm:t>
    </dgm:pt>
    <dgm:pt modelId="{2BA53272-9E82-4579-9D35-789E01A10DC3}">
      <dgm:prSet/>
      <dgm:spPr/>
      <dgm:t>
        <a:bodyPr/>
        <a:lstStyle/>
        <a:p>
          <a:r>
            <a:rPr lang="en-US" b="1" i="1"/>
            <a:t>What causes it to change?</a:t>
          </a:r>
          <a:endParaRPr lang="en-US"/>
        </a:p>
      </dgm:t>
    </dgm:pt>
    <dgm:pt modelId="{0061EB51-A8BD-403D-94C6-086F7C552AF3}" type="parTrans" cxnId="{D0B349F3-D0FD-4FF7-AC1E-FE78B890CACF}">
      <dgm:prSet/>
      <dgm:spPr/>
      <dgm:t>
        <a:bodyPr/>
        <a:lstStyle/>
        <a:p>
          <a:endParaRPr lang="en-US"/>
        </a:p>
      </dgm:t>
    </dgm:pt>
    <dgm:pt modelId="{7B2BDB99-713F-47E5-90EC-F058450B13C9}" type="sibTrans" cxnId="{D0B349F3-D0FD-4FF7-AC1E-FE78B890CACF}">
      <dgm:prSet/>
      <dgm:spPr/>
      <dgm:t>
        <a:bodyPr/>
        <a:lstStyle/>
        <a:p>
          <a:endParaRPr lang="en-US"/>
        </a:p>
      </dgm:t>
    </dgm:pt>
    <dgm:pt modelId="{D870EAC9-F071-4D6D-9FCE-6C0AF0F65F6B}">
      <dgm:prSet/>
      <dgm:spPr/>
      <dgm:t>
        <a:bodyPr/>
        <a:lstStyle/>
        <a:p>
          <a:r>
            <a:rPr lang="en-US" b="1"/>
            <a:t>Changes in characteristics of the labor force</a:t>
          </a:r>
          <a:endParaRPr lang="en-US"/>
        </a:p>
      </dgm:t>
    </dgm:pt>
    <dgm:pt modelId="{825B77D0-8AE3-4064-B738-20E254A2C77C}" type="parTrans" cxnId="{13BC895C-A465-454B-B4FA-3AE32C5D1B6F}">
      <dgm:prSet/>
      <dgm:spPr/>
      <dgm:t>
        <a:bodyPr/>
        <a:lstStyle/>
        <a:p>
          <a:endParaRPr lang="en-US"/>
        </a:p>
      </dgm:t>
    </dgm:pt>
    <dgm:pt modelId="{9AB42244-23EE-4366-B4DA-4CBEA911D9D1}" type="sibTrans" cxnId="{13BC895C-A465-454B-B4FA-3AE32C5D1B6F}">
      <dgm:prSet/>
      <dgm:spPr/>
      <dgm:t>
        <a:bodyPr/>
        <a:lstStyle/>
        <a:p>
          <a:endParaRPr lang="en-US"/>
        </a:p>
      </dgm:t>
    </dgm:pt>
    <dgm:pt modelId="{6750000A-8429-4E00-95EC-FCE8F2FE1C7B}">
      <dgm:prSet/>
      <dgm:spPr/>
      <dgm:t>
        <a:bodyPr/>
        <a:lstStyle/>
        <a:p>
          <a:r>
            <a:rPr lang="en-US" b="1"/>
            <a:t>Changing demographics</a:t>
          </a:r>
          <a:endParaRPr lang="en-US"/>
        </a:p>
      </dgm:t>
    </dgm:pt>
    <dgm:pt modelId="{A619ADE5-84C1-49D4-8C34-98E84196D958}" type="parTrans" cxnId="{749EBE96-022B-43D6-9CBB-5A2F22CEABB8}">
      <dgm:prSet/>
      <dgm:spPr/>
      <dgm:t>
        <a:bodyPr/>
        <a:lstStyle/>
        <a:p>
          <a:endParaRPr lang="en-US"/>
        </a:p>
      </dgm:t>
    </dgm:pt>
    <dgm:pt modelId="{C13DE71F-C218-4584-9940-D717F0921E4A}" type="sibTrans" cxnId="{749EBE96-022B-43D6-9CBB-5A2F22CEABB8}">
      <dgm:prSet/>
      <dgm:spPr/>
      <dgm:t>
        <a:bodyPr/>
        <a:lstStyle/>
        <a:p>
          <a:endParaRPr lang="en-US"/>
        </a:p>
      </dgm:t>
    </dgm:pt>
    <dgm:pt modelId="{C48F9A6D-AED2-439E-8A81-D72CB2336D7F}">
      <dgm:prSet/>
      <dgm:spPr/>
      <dgm:t>
        <a:bodyPr/>
        <a:lstStyle/>
        <a:p>
          <a:r>
            <a:rPr lang="en-US" b="1"/>
            <a:t>Changes in labor market institutions</a:t>
          </a:r>
          <a:endParaRPr lang="en-US"/>
        </a:p>
      </dgm:t>
    </dgm:pt>
    <dgm:pt modelId="{F06F8DC3-C007-4748-BFBB-0AD41D35AA71}" type="parTrans" cxnId="{2DB800DD-59EA-4BD1-8A01-D76800DC9A2B}">
      <dgm:prSet/>
      <dgm:spPr/>
      <dgm:t>
        <a:bodyPr/>
        <a:lstStyle/>
        <a:p>
          <a:endParaRPr lang="en-US"/>
        </a:p>
      </dgm:t>
    </dgm:pt>
    <dgm:pt modelId="{69281185-2ACF-42D0-91E2-AB19C90BE842}" type="sibTrans" cxnId="{2DB800DD-59EA-4BD1-8A01-D76800DC9A2B}">
      <dgm:prSet/>
      <dgm:spPr/>
      <dgm:t>
        <a:bodyPr/>
        <a:lstStyle/>
        <a:p>
          <a:endParaRPr lang="en-US"/>
        </a:p>
      </dgm:t>
    </dgm:pt>
    <dgm:pt modelId="{71363D93-2891-4997-B321-3EE3B4E8772F}">
      <dgm:prSet/>
      <dgm:spPr/>
      <dgm:t>
        <a:bodyPr/>
        <a:lstStyle/>
        <a:p>
          <a:r>
            <a:rPr lang="en-US" b="1"/>
            <a:t>Unions, temp agencies, and new technology</a:t>
          </a:r>
          <a:endParaRPr lang="en-US"/>
        </a:p>
      </dgm:t>
    </dgm:pt>
    <dgm:pt modelId="{2F81C49E-10F9-478C-A20B-77360FCB6DEE}" type="parTrans" cxnId="{C91F306A-18AC-45CD-992A-63EC34BD28C3}">
      <dgm:prSet/>
      <dgm:spPr/>
      <dgm:t>
        <a:bodyPr/>
        <a:lstStyle/>
        <a:p>
          <a:endParaRPr lang="en-US"/>
        </a:p>
      </dgm:t>
    </dgm:pt>
    <dgm:pt modelId="{4C20ABE3-9D2B-4EF7-A8F4-963396C4B539}" type="sibTrans" cxnId="{C91F306A-18AC-45CD-992A-63EC34BD28C3}">
      <dgm:prSet/>
      <dgm:spPr/>
      <dgm:t>
        <a:bodyPr/>
        <a:lstStyle/>
        <a:p>
          <a:endParaRPr lang="en-US"/>
        </a:p>
      </dgm:t>
    </dgm:pt>
    <dgm:pt modelId="{82DF65F1-EE93-4AFA-A9FC-34C04F09852A}">
      <dgm:prSet/>
      <dgm:spPr/>
      <dgm:t>
        <a:bodyPr/>
        <a:lstStyle/>
        <a:p>
          <a:r>
            <a:rPr lang="en-US" b="1"/>
            <a:t>Changes in government policies</a:t>
          </a:r>
          <a:endParaRPr lang="en-US"/>
        </a:p>
      </dgm:t>
    </dgm:pt>
    <dgm:pt modelId="{A646E5CA-C87D-4701-9AD3-33EA5E41AC50}" type="parTrans" cxnId="{BCAC387B-9E44-48FF-AED7-F4FF02703C96}">
      <dgm:prSet/>
      <dgm:spPr/>
      <dgm:t>
        <a:bodyPr/>
        <a:lstStyle/>
        <a:p>
          <a:endParaRPr lang="en-US"/>
        </a:p>
      </dgm:t>
    </dgm:pt>
    <dgm:pt modelId="{38D9943B-54CE-4462-9EC8-FE07432D49CA}" type="sibTrans" cxnId="{BCAC387B-9E44-48FF-AED7-F4FF02703C96}">
      <dgm:prSet/>
      <dgm:spPr/>
      <dgm:t>
        <a:bodyPr/>
        <a:lstStyle/>
        <a:p>
          <a:endParaRPr lang="en-US"/>
        </a:p>
      </dgm:t>
    </dgm:pt>
    <dgm:pt modelId="{C19FFEE8-A2D8-4D4B-9158-465D43D9358D}">
      <dgm:prSet/>
      <dgm:spPr/>
      <dgm:t>
        <a:bodyPr/>
        <a:lstStyle/>
        <a:p>
          <a:r>
            <a:rPr lang="en-US" b="1"/>
            <a:t>Job training programs</a:t>
          </a:r>
          <a:endParaRPr lang="en-US"/>
        </a:p>
      </dgm:t>
    </dgm:pt>
    <dgm:pt modelId="{21AE35E6-C324-446E-868C-F3B332E602EF}" type="parTrans" cxnId="{3897DBBB-E97F-42AB-8441-62DFF37A40AD}">
      <dgm:prSet/>
      <dgm:spPr/>
      <dgm:t>
        <a:bodyPr/>
        <a:lstStyle/>
        <a:p>
          <a:endParaRPr lang="en-US"/>
        </a:p>
      </dgm:t>
    </dgm:pt>
    <dgm:pt modelId="{2F5AC494-D5AA-4ADB-905F-AB4A2C8B9BFC}" type="sibTrans" cxnId="{3897DBBB-E97F-42AB-8441-62DFF37A40AD}">
      <dgm:prSet/>
      <dgm:spPr/>
      <dgm:t>
        <a:bodyPr/>
        <a:lstStyle/>
        <a:p>
          <a:endParaRPr lang="en-US"/>
        </a:p>
      </dgm:t>
    </dgm:pt>
    <dgm:pt modelId="{6E04C6EA-A142-6B49-B0BD-683187D619D1}" type="pres">
      <dgm:prSet presAssocID="{D311CCB3-E365-4309-AF57-A90111DDBF9C}" presName="linear" presStyleCnt="0">
        <dgm:presLayoutVars>
          <dgm:animLvl val="lvl"/>
          <dgm:resizeHandles val="exact"/>
        </dgm:presLayoutVars>
      </dgm:prSet>
      <dgm:spPr/>
    </dgm:pt>
    <dgm:pt modelId="{3DC04DAD-9E2D-5A4C-8368-E8925FEC97EF}" type="pres">
      <dgm:prSet presAssocID="{ACDBA032-9BA2-4C62-ACF3-703C7A9FAF70}" presName="parentText" presStyleLbl="node1" presStyleIdx="0" presStyleCnt="2">
        <dgm:presLayoutVars>
          <dgm:chMax val="0"/>
          <dgm:bulletEnabled val="1"/>
        </dgm:presLayoutVars>
      </dgm:prSet>
      <dgm:spPr/>
    </dgm:pt>
    <dgm:pt modelId="{B19E87D6-9F04-7742-A098-83FF8D25F52D}" type="pres">
      <dgm:prSet presAssocID="{36044FE9-EC81-4354-BCCA-84090C5E92CE}" presName="spacer" presStyleCnt="0"/>
      <dgm:spPr/>
    </dgm:pt>
    <dgm:pt modelId="{737859D3-2478-8B4B-89E3-1BF6C992881C}" type="pres">
      <dgm:prSet presAssocID="{2BA53272-9E82-4579-9D35-789E01A10DC3}" presName="parentText" presStyleLbl="node1" presStyleIdx="1" presStyleCnt="2">
        <dgm:presLayoutVars>
          <dgm:chMax val="0"/>
          <dgm:bulletEnabled val="1"/>
        </dgm:presLayoutVars>
      </dgm:prSet>
      <dgm:spPr/>
    </dgm:pt>
    <dgm:pt modelId="{1F384F7C-DDCC-4E45-8254-20BD0F8523F3}" type="pres">
      <dgm:prSet presAssocID="{2BA53272-9E82-4579-9D35-789E01A10DC3}" presName="childText" presStyleLbl="revTx" presStyleIdx="0" presStyleCnt="1">
        <dgm:presLayoutVars>
          <dgm:bulletEnabled val="1"/>
        </dgm:presLayoutVars>
      </dgm:prSet>
      <dgm:spPr/>
    </dgm:pt>
  </dgm:ptLst>
  <dgm:cxnLst>
    <dgm:cxn modelId="{CD51E91C-8851-C049-BEF2-7BE4F6E37EE5}" type="presOf" srcId="{D311CCB3-E365-4309-AF57-A90111DDBF9C}" destId="{6E04C6EA-A142-6B49-B0BD-683187D619D1}" srcOrd="0" destOrd="0" presId="urn:microsoft.com/office/officeart/2005/8/layout/vList2"/>
    <dgm:cxn modelId="{4BA90627-5220-D848-B451-25B298620BD6}" type="presOf" srcId="{C48F9A6D-AED2-439E-8A81-D72CB2336D7F}" destId="{1F384F7C-DDCC-4E45-8254-20BD0F8523F3}" srcOrd="0" destOrd="2" presId="urn:microsoft.com/office/officeart/2005/8/layout/vList2"/>
    <dgm:cxn modelId="{1404563C-2685-5C4B-A414-B6A957E87977}" type="presOf" srcId="{ACDBA032-9BA2-4C62-ACF3-703C7A9FAF70}" destId="{3DC04DAD-9E2D-5A4C-8368-E8925FEC97EF}" srcOrd="0" destOrd="0" presId="urn:microsoft.com/office/officeart/2005/8/layout/vList2"/>
    <dgm:cxn modelId="{11E03449-B54E-B74F-986D-641985714CF2}" type="presOf" srcId="{2BA53272-9E82-4579-9D35-789E01A10DC3}" destId="{737859D3-2478-8B4B-89E3-1BF6C992881C}" srcOrd="0" destOrd="0" presId="urn:microsoft.com/office/officeart/2005/8/layout/vList2"/>
    <dgm:cxn modelId="{13BC895C-A465-454B-B4FA-3AE32C5D1B6F}" srcId="{2BA53272-9E82-4579-9D35-789E01A10DC3}" destId="{D870EAC9-F071-4D6D-9FCE-6C0AF0F65F6B}" srcOrd="0" destOrd="0" parTransId="{825B77D0-8AE3-4064-B738-20E254A2C77C}" sibTransId="{9AB42244-23EE-4366-B4DA-4CBEA911D9D1}"/>
    <dgm:cxn modelId="{C91F306A-18AC-45CD-992A-63EC34BD28C3}" srcId="{C48F9A6D-AED2-439E-8A81-D72CB2336D7F}" destId="{71363D93-2891-4997-B321-3EE3B4E8772F}" srcOrd="0" destOrd="0" parTransId="{2F81C49E-10F9-478C-A20B-77360FCB6DEE}" sibTransId="{4C20ABE3-9D2B-4EF7-A8F4-963396C4B539}"/>
    <dgm:cxn modelId="{9C31DD73-0E21-7141-ADAF-607A5D5AC01B}" type="presOf" srcId="{D870EAC9-F071-4D6D-9FCE-6C0AF0F65F6B}" destId="{1F384F7C-DDCC-4E45-8254-20BD0F8523F3}" srcOrd="0" destOrd="0" presId="urn:microsoft.com/office/officeart/2005/8/layout/vList2"/>
    <dgm:cxn modelId="{BCAC387B-9E44-48FF-AED7-F4FF02703C96}" srcId="{2BA53272-9E82-4579-9D35-789E01A10DC3}" destId="{82DF65F1-EE93-4AFA-A9FC-34C04F09852A}" srcOrd="2" destOrd="0" parTransId="{A646E5CA-C87D-4701-9AD3-33EA5E41AC50}" sibTransId="{38D9943B-54CE-4462-9EC8-FE07432D49CA}"/>
    <dgm:cxn modelId="{4EC6B97D-9A82-0E46-89B8-C7A6AA96874C}" type="presOf" srcId="{C19FFEE8-A2D8-4D4B-9158-465D43D9358D}" destId="{1F384F7C-DDCC-4E45-8254-20BD0F8523F3}" srcOrd="0" destOrd="5" presId="urn:microsoft.com/office/officeart/2005/8/layout/vList2"/>
    <dgm:cxn modelId="{B6CA9390-38A1-9948-99B8-432E26D09EA3}" type="presOf" srcId="{82DF65F1-EE93-4AFA-A9FC-34C04F09852A}" destId="{1F384F7C-DDCC-4E45-8254-20BD0F8523F3}" srcOrd="0" destOrd="4" presId="urn:microsoft.com/office/officeart/2005/8/layout/vList2"/>
    <dgm:cxn modelId="{749EBE96-022B-43D6-9CBB-5A2F22CEABB8}" srcId="{D870EAC9-F071-4D6D-9FCE-6C0AF0F65F6B}" destId="{6750000A-8429-4E00-95EC-FCE8F2FE1C7B}" srcOrd="0" destOrd="0" parTransId="{A619ADE5-84C1-49D4-8C34-98E84196D958}" sibTransId="{C13DE71F-C218-4584-9940-D717F0921E4A}"/>
    <dgm:cxn modelId="{882B93A3-8213-B74A-B02A-488FF202BB7E}" type="presOf" srcId="{71363D93-2891-4997-B321-3EE3B4E8772F}" destId="{1F384F7C-DDCC-4E45-8254-20BD0F8523F3}" srcOrd="0" destOrd="3" presId="urn:microsoft.com/office/officeart/2005/8/layout/vList2"/>
    <dgm:cxn modelId="{0DD2FAB0-D7B7-40C0-9AD9-15B0AF348A96}" srcId="{D311CCB3-E365-4309-AF57-A90111DDBF9C}" destId="{ACDBA032-9BA2-4C62-ACF3-703C7A9FAF70}" srcOrd="0" destOrd="0" parTransId="{1F552AF6-7F7C-4BA4-AEF6-11E0A804BA28}" sibTransId="{36044FE9-EC81-4354-BCCA-84090C5E92CE}"/>
    <dgm:cxn modelId="{5C86C9B2-838A-2B47-905B-B964CF7B1C84}" type="presOf" srcId="{6750000A-8429-4E00-95EC-FCE8F2FE1C7B}" destId="{1F384F7C-DDCC-4E45-8254-20BD0F8523F3}" srcOrd="0" destOrd="1" presId="urn:microsoft.com/office/officeart/2005/8/layout/vList2"/>
    <dgm:cxn modelId="{3897DBBB-E97F-42AB-8441-62DFF37A40AD}" srcId="{82DF65F1-EE93-4AFA-A9FC-34C04F09852A}" destId="{C19FFEE8-A2D8-4D4B-9158-465D43D9358D}" srcOrd="0" destOrd="0" parTransId="{21AE35E6-C324-446E-868C-F3B332E602EF}" sibTransId="{2F5AC494-D5AA-4ADB-905F-AB4A2C8B9BFC}"/>
    <dgm:cxn modelId="{2DB800DD-59EA-4BD1-8A01-D76800DC9A2B}" srcId="{2BA53272-9E82-4579-9D35-789E01A10DC3}" destId="{C48F9A6D-AED2-439E-8A81-D72CB2336D7F}" srcOrd="1" destOrd="0" parTransId="{F06F8DC3-C007-4748-BFBB-0AD41D35AA71}" sibTransId="{69281185-2ACF-42D0-91E2-AB19C90BE842}"/>
    <dgm:cxn modelId="{D0B349F3-D0FD-4FF7-AC1E-FE78B890CACF}" srcId="{D311CCB3-E365-4309-AF57-A90111DDBF9C}" destId="{2BA53272-9E82-4579-9D35-789E01A10DC3}" srcOrd="1" destOrd="0" parTransId="{0061EB51-A8BD-403D-94C6-086F7C552AF3}" sibTransId="{7B2BDB99-713F-47E5-90EC-F058450B13C9}"/>
    <dgm:cxn modelId="{613ADF44-9511-5543-9336-B0606017DE25}" type="presParOf" srcId="{6E04C6EA-A142-6B49-B0BD-683187D619D1}" destId="{3DC04DAD-9E2D-5A4C-8368-E8925FEC97EF}" srcOrd="0" destOrd="0" presId="urn:microsoft.com/office/officeart/2005/8/layout/vList2"/>
    <dgm:cxn modelId="{ECB4C0B0-C252-1244-9F94-552A569F7D07}" type="presParOf" srcId="{6E04C6EA-A142-6B49-B0BD-683187D619D1}" destId="{B19E87D6-9F04-7742-A098-83FF8D25F52D}" srcOrd="1" destOrd="0" presId="urn:microsoft.com/office/officeart/2005/8/layout/vList2"/>
    <dgm:cxn modelId="{20CEF188-56A3-5F4F-B797-5A65997F5BB4}" type="presParOf" srcId="{6E04C6EA-A142-6B49-B0BD-683187D619D1}" destId="{737859D3-2478-8B4B-89E3-1BF6C992881C}" srcOrd="2" destOrd="0" presId="urn:microsoft.com/office/officeart/2005/8/layout/vList2"/>
    <dgm:cxn modelId="{EADF38E4-DD9E-5846-83A1-0A1800B4A2B9}" type="presParOf" srcId="{6E04C6EA-A142-6B49-B0BD-683187D619D1}" destId="{1F384F7C-DDCC-4E45-8254-20BD0F8523F3}"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C69165F-0B4B-444E-9077-132CE0CDF73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5668CF1C-2200-4A3E-9A02-CCEF8890C6B2}">
      <dgm:prSet/>
      <dgm:spPr/>
      <dgm:t>
        <a:bodyPr/>
        <a:lstStyle/>
        <a:p>
          <a:r>
            <a:rPr lang="en-US" b="1"/>
            <a:t>Inflation does not make everyone poorer because incomes often rise with prices.</a:t>
          </a:r>
          <a:endParaRPr lang="en-US"/>
        </a:p>
      </dgm:t>
    </dgm:pt>
    <dgm:pt modelId="{68F1B06A-1C0C-4388-8C62-A7DC1B32FEC3}" type="parTrans" cxnId="{5C7D9C7D-CC7B-4A80-B6DE-0089B516970D}">
      <dgm:prSet/>
      <dgm:spPr/>
      <dgm:t>
        <a:bodyPr/>
        <a:lstStyle/>
        <a:p>
          <a:endParaRPr lang="en-US"/>
        </a:p>
      </dgm:t>
    </dgm:pt>
    <dgm:pt modelId="{8CA556FF-16AA-4483-8D12-B1358C9D8EAC}" type="sibTrans" cxnId="{5C7D9C7D-CC7B-4A80-B6DE-0089B516970D}">
      <dgm:prSet/>
      <dgm:spPr/>
      <dgm:t>
        <a:bodyPr/>
        <a:lstStyle/>
        <a:p>
          <a:endParaRPr lang="en-US"/>
        </a:p>
      </dgm:t>
    </dgm:pt>
    <dgm:pt modelId="{8F8498BF-5831-4B74-84CB-039C5742707C}">
      <dgm:prSet/>
      <dgm:spPr/>
      <dgm:t>
        <a:bodyPr/>
        <a:lstStyle/>
        <a:p>
          <a:r>
            <a:rPr lang="en-US" b="1"/>
            <a:t>A better measure?  Real wages.</a:t>
          </a:r>
          <a:endParaRPr lang="en-US"/>
        </a:p>
      </dgm:t>
    </dgm:pt>
    <dgm:pt modelId="{F502B9FF-E3C6-435B-B0AD-C9047981A00D}" type="parTrans" cxnId="{91F9FBC2-EF4E-4641-A9A5-AFC98054F19F}">
      <dgm:prSet/>
      <dgm:spPr/>
      <dgm:t>
        <a:bodyPr/>
        <a:lstStyle/>
        <a:p>
          <a:endParaRPr lang="en-US"/>
        </a:p>
      </dgm:t>
    </dgm:pt>
    <dgm:pt modelId="{D3FF3091-6D9D-4592-8F0D-FC26605A40D2}" type="sibTrans" cxnId="{91F9FBC2-EF4E-4641-A9A5-AFC98054F19F}">
      <dgm:prSet/>
      <dgm:spPr/>
      <dgm:t>
        <a:bodyPr/>
        <a:lstStyle/>
        <a:p>
          <a:endParaRPr lang="en-US"/>
        </a:p>
      </dgm:t>
    </dgm:pt>
    <dgm:pt modelId="{2544705A-B971-4648-9770-67CC2A589194}">
      <dgm:prSet/>
      <dgm:spPr/>
      <dgm:t>
        <a:bodyPr/>
        <a:lstStyle/>
        <a:p>
          <a:r>
            <a:rPr lang="en-US" b="1" i="1"/>
            <a:t>Real wage </a:t>
          </a:r>
          <a:r>
            <a:rPr lang="en-US" b="0"/>
            <a:t>is the wage rate divided by the price level.</a:t>
          </a:r>
          <a:endParaRPr lang="en-US"/>
        </a:p>
      </dgm:t>
    </dgm:pt>
    <dgm:pt modelId="{65164D80-9CA7-4625-A94A-03233427FC6D}" type="parTrans" cxnId="{5512248D-42A8-4FFF-AB25-43402B4CECE0}">
      <dgm:prSet/>
      <dgm:spPr/>
      <dgm:t>
        <a:bodyPr/>
        <a:lstStyle/>
        <a:p>
          <a:endParaRPr lang="en-US"/>
        </a:p>
      </dgm:t>
    </dgm:pt>
    <dgm:pt modelId="{729493E1-1F8B-4571-8C53-1F5BD4126ABF}" type="sibTrans" cxnId="{5512248D-42A8-4FFF-AB25-43402B4CECE0}">
      <dgm:prSet/>
      <dgm:spPr/>
      <dgm:t>
        <a:bodyPr/>
        <a:lstStyle/>
        <a:p>
          <a:endParaRPr lang="en-US"/>
        </a:p>
      </dgm:t>
    </dgm:pt>
    <dgm:pt modelId="{BF4EF85E-6044-4E89-A272-80BDD0ECDC97}">
      <dgm:prSet/>
      <dgm:spPr/>
      <dgm:t>
        <a:bodyPr/>
        <a:lstStyle/>
        <a:p>
          <a:r>
            <a:rPr lang="en-US" b="1" i="1"/>
            <a:t>Real income </a:t>
          </a:r>
          <a:r>
            <a:rPr lang="en-US" b="0"/>
            <a:t>is income divided by the price level.</a:t>
          </a:r>
          <a:endParaRPr lang="en-US"/>
        </a:p>
      </dgm:t>
    </dgm:pt>
    <dgm:pt modelId="{1AA26216-CFF7-422A-8318-18BA1B746FB6}" type="parTrans" cxnId="{D91BB9C6-5AB6-43DA-ACB8-1705295D50F8}">
      <dgm:prSet/>
      <dgm:spPr/>
      <dgm:t>
        <a:bodyPr/>
        <a:lstStyle/>
        <a:p>
          <a:endParaRPr lang="en-US"/>
        </a:p>
      </dgm:t>
    </dgm:pt>
    <dgm:pt modelId="{65D2D367-C61E-4DBD-BB1F-A29AEE573B47}" type="sibTrans" cxnId="{D91BB9C6-5AB6-43DA-ACB8-1705295D50F8}">
      <dgm:prSet/>
      <dgm:spPr/>
      <dgm:t>
        <a:bodyPr/>
        <a:lstStyle/>
        <a:p>
          <a:endParaRPr lang="en-US"/>
        </a:p>
      </dgm:t>
    </dgm:pt>
    <dgm:pt modelId="{0B41E15B-275D-B344-93BF-243A33FDEFFB}" type="pres">
      <dgm:prSet presAssocID="{5C69165F-0B4B-444E-9077-132CE0CDF73C}" presName="vert0" presStyleCnt="0">
        <dgm:presLayoutVars>
          <dgm:dir/>
          <dgm:animOne val="branch"/>
          <dgm:animLvl val="lvl"/>
        </dgm:presLayoutVars>
      </dgm:prSet>
      <dgm:spPr/>
    </dgm:pt>
    <dgm:pt modelId="{70832491-AEA1-2749-96E8-2655C0954195}" type="pres">
      <dgm:prSet presAssocID="{5668CF1C-2200-4A3E-9A02-CCEF8890C6B2}" presName="thickLine" presStyleLbl="alignNode1" presStyleIdx="0" presStyleCnt="4"/>
      <dgm:spPr/>
    </dgm:pt>
    <dgm:pt modelId="{009C2DA0-5360-EC41-8BF4-7D46ABACD1D3}" type="pres">
      <dgm:prSet presAssocID="{5668CF1C-2200-4A3E-9A02-CCEF8890C6B2}" presName="horz1" presStyleCnt="0"/>
      <dgm:spPr/>
    </dgm:pt>
    <dgm:pt modelId="{86CF2CD5-AB6E-5641-A3F3-84CB4CF26AF2}" type="pres">
      <dgm:prSet presAssocID="{5668CF1C-2200-4A3E-9A02-CCEF8890C6B2}" presName="tx1" presStyleLbl="revTx" presStyleIdx="0" presStyleCnt="4"/>
      <dgm:spPr/>
    </dgm:pt>
    <dgm:pt modelId="{ED2FD839-D380-E042-98D8-BC6219A9C579}" type="pres">
      <dgm:prSet presAssocID="{5668CF1C-2200-4A3E-9A02-CCEF8890C6B2}" presName="vert1" presStyleCnt="0"/>
      <dgm:spPr/>
    </dgm:pt>
    <dgm:pt modelId="{EDE97174-E7F9-CF49-BEF2-7DD612D715D1}" type="pres">
      <dgm:prSet presAssocID="{8F8498BF-5831-4B74-84CB-039C5742707C}" presName="thickLine" presStyleLbl="alignNode1" presStyleIdx="1" presStyleCnt="4"/>
      <dgm:spPr/>
    </dgm:pt>
    <dgm:pt modelId="{5FDAE1C7-72FE-D94E-B9DE-465267B40BB1}" type="pres">
      <dgm:prSet presAssocID="{8F8498BF-5831-4B74-84CB-039C5742707C}" presName="horz1" presStyleCnt="0"/>
      <dgm:spPr/>
    </dgm:pt>
    <dgm:pt modelId="{94EF7F24-E09E-8343-B401-0631C56E53A2}" type="pres">
      <dgm:prSet presAssocID="{8F8498BF-5831-4B74-84CB-039C5742707C}" presName="tx1" presStyleLbl="revTx" presStyleIdx="1" presStyleCnt="4"/>
      <dgm:spPr/>
    </dgm:pt>
    <dgm:pt modelId="{B6193AF3-6F9C-8A41-9B72-01B27B84D759}" type="pres">
      <dgm:prSet presAssocID="{8F8498BF-5831-4B74-84CB-039C5742707C}" presName="vert1" presStyleCnt="0"/>
      <dgm:spPr/>
    </dgm:pt>
    <dgm:pt modelId="{B2CB05B8-A119-264D-82B9-6A88CBDDCB05}" type="pres">
      <dgm:prSet presAssocID="{2544705A-B971-4648-9770-67CC2A589194}" presName="thickLine" presStyleLbl="alignNode1" presStyleIdx="2" presStyleCnt="4"/>
      <dgm:spPr/>
    </dgm:pt>
    <dgm:pt modelId="{9CEA810C-A8E1-A84A-A999-61FAF06FB226}" type="pres">
      <dgm:prSet presAssocID="{2544705A-B971-4648-9770-67CC2A589194}" presName="horz1" presStyleCnt="0"/>
      <dgm:spPr/>
    </dgm:pt>
    <dgm:pt modelId="{19C3A820-B9C4-9D47-85ED-8C5046F39D90}" type="pres">
      <dgm:prSet presAssocID="{2544705A-B971-4648-9770-67CC2A589194}" presName="tx1" presStyleLbl="revTx" presStyleIdx="2" presStyleCnt="4"/>
      <dgm:spPr/>
    </dgm:pt>
    <dgm:pt modelId="{3D23273F-8249-7644-8090-3947157CF308}" type="pres">
      <dgm:prSet presAssocID="{2544705A-B971-4648-9770-67CC2A589194}" presName="vert1" presStyleCnt="0"/>
      <dgm:spPr/>
    </dgm:pt>
    <dgm:pt modelId="{0C4851F0-7DBA-A74B-9B85-D2498F876016}" type="pres">
      <dgm:prSet presAssocID="{BF4EF85E-6044-4E89-A272-80BDD0ECDC97}" presName="thickLine" presStyleLbl="alignNode1" presStyleIdx="3" presStyleCnt="4"/>
      <dgm:spPr/>
    </dgm:pt>
    <dgm:pt modelId="{5DD9CA77-9ABD-D547-B6AD-FA4EE9708379}" type="pres">
      <dgm:prSet presAssocID="{BF4EF85E-6044-4E89-A272-80BDD0ECDC97}" presName="horz1" presStyleCnt="0"/>
      <dgm:spPr/>
    </dgm:pt>
    <dgm:pt modelId="{BF297730-48B3-1145-99FD-2C45F8EA93CE}" type="pres">
      <dgm:prSet presAssocID="{BF4EF85E-6044-4E89-A272-80BDD0ECDC97}" presName="tx1" presStyleLbl="revTx" presStyleIdx="3" presStyleCnt="4"/>
      <dgm:spPr/>
    </dgm:pt>
    <dgm:pt modelId="{C0EB82D3-DCA6-1543-A8DD-7D1D4793DF59}" type="pres">
      <dgm:prSet presAssocID="{BF4EF85E-6044-4E89-A272-80BDD0ECDC97}" presName="vert1" presStyleCnt="0"/>
      <dgm:spPr/>
    </dgm:pt>
  </dgm:ptLst>
  <dgm:cxnLst>
    <dgm:cxn modelId="{BA904002-2DE6-474F-B65B-F1F35008428A}" type="presOf" srcId="{8F8498BF-5831-4B74-84CB-039C5742707C}" destId="{94EF7F24-E09E-8343-B401-0631C56E53A2}" srcOrd="0" destOrd="0" presId="urn:microsoft.com/office/officeart/2008/layout/LinedList"/>
    <dgm:cxn modelId="{94682215-BEEC-574F-A09C-F66764EFF674}" type="presOf" srcId="{5668CF1C-2200-4A3E-9A02-CCEF8890C6B2}" destId="{86CF2CD5-AB6E-5641-A3F3-84CB4CF26AF2}" srcOrd="0" destOrd="0" presId="urn:microsoft.com/office/officeart/2008/layout/LinedList"/>
    <dgm:cxn modelId="{9FF49D52-AA44-6445-A94D-799C2C44B33C}" type="presOf" srcId="{5C69165F-0B4B-444E-9077-132CE0CDF73C}" destId="{0B41E15B-275D-B344-93BF-243A33FDEFFB}" srcOrd="0" destOrd="0" presId="urn:microsoft.com/office/officeart/2008/layout/LinedList"/>
    <dgm:cxn modelId="{5C7D9C7D-CC7B-4A80-B6DE-0089B516970D}" srcId="{5C69165F-0B4B-444E-9077-132CE0CDF73C}" destId="{5668CF1C-2200-4A3E-9A02-CCEF8890C6B2}" srcOrd="0" destOrd="0" parTransId="{68F1B06A-1C0C-4388-8C62-A7DC1B32FEC3}" sibTransId="{8CA556FF-16AA-4483-8D12-B1358C9D8EAC}"/>
    <dgm:cxn modelId="{5512248D-42A8-4FFF-AB25-43402B4CECE0}" srcId="{5C69165F-0B4B-444E-9077-132CE0CDF73C}" destId="{2544705A-B971-4648-9770-67CC2A589194}" srcOrd="2" destOrd="0" parTransId="{65164D80-9CA7-4625-A94A-03233427FC6D}" sibTransId="{729493E1-1F8B-4571-8C53-1F5BD4126ABF}"/>
    <dgm:cxn modelId="{CBFCA3B4-03A4-DC47-A4C7-AEAD211DDFE1}" type="presOf" srcId="{2544705A-B971-4648-9770-67CC2A589194}" destId="{19C3A820-B9C4-9D47-85ED-8C5046F39D90}" srcOrd="0" destOrd="0" presId="urn:microsoft.com/office/officeart/2008/layout/LinedList"/>
    <dgm:cxn modelId="{91F9FBC2-EF4E-4641-A9A5-AFC98054F19F}" srcId="{5C69165F-0B4B-444E-9077-132CE0CDF73C}" destId="{8F8498BF-5831-4B74-84CB-039C5742707C}" srcOrd="1" destOrd="0" parTransId="{F502B9FF-E3C6-435B-B0AD-C9047981A00D}" sibTransId="{D3FF3091-6D9D-4592-8F0D-FC26605A40D2}"/>
    <dgm:cxn modelId="{D91BB9C6-5AB6-43DA-ACB8-1705295D50F8}" srcId="{5C69165F-0B4B-444E-9077-132CE0CDF73C}" destId="{BF4EF85E-6044-4E89-A272-80BDD0ECDC97}" srcOrd="3" destOrd="0" parTransId="{1AA26216-CFF7-422A-8318-18BA1B746FB6}" sibTransId="{65D2D367-C61E-4DBD-BB1F-A29AEE573B47}"/>
    <dgm:cxn modelId="{E9A1EFED-D9FD-3040-B0C9-5C9C207FD28C}" type="presOf" srcId="{BF4EF85E-6044-4E89-A272-80BDD0ECDC97}" destId="{BF297730-48B3-1145-99FD-2C45F8EA93CE}" srcOrd="0" destOrd="0" presId="urn:microsoft.com/office/officeart/2008/layout/LinedList"/>
    <dgm:cxn modelId="{DC14D255-0CA1-A74A-A2F0-B5AD41383BF5}" type="presParOf" srcId="{0B41E15B-275D-B344-93BF-243A33FDEFFB}" destId="{70832491-AEA1-2749-96E8-2655C0954195}" srcOrd="0" destOrd="0" presId="urn:microsoft.com/office/officeart/2008/layout/LinedList"/>
    <dgm:cxn modelId="{245FB05C-7752-A544-B896-101EEB20998C}" type="presParOf" srcId="{0B41E15B-275D-B344-93BF-243A33FDEFFB}" destId="{009C2DA0-5360-EC41-8BF4-7D46ABACD1D3}" srcOrd="1" destOrd="0" presId="urn:microsoft.com/office/officeart/2008/layout/LinedList"/>
    <dgm:cxn modelId="{62C5EA5A-1309-FE47-8F51-6BF6EC6E7BED}" type="presParOf" srcId="{009C2DA0-5360-EC41-8BF4-7D46ABACD1D3}" destId="{86CF2CD5-AB6E-5641-A3F3-84CB4CF26AF2}" srcOrd="0" destOrd="0" presId="urn:microsoft.com/office/officeart/2008/layout/LinedList"/>
    <dgm:cxn modelId="{AD54BC8C-A8D1-2C45-B1D0-88421208C265}" type="presParOf" srcId="{009C2DA0-5360-EC41-8BF4-7D46ABACD1D3}" destId="{ED2FD839-D380-E042-98D8-BC6219A9C579}" srcOrd="1" destOrd="0" presId="urn:microsoft.com/office/officeart/2008/layout/LinedList"/>
    <dgm:cxn modelId="{9456C298-FBFB-9249-9ABF-70A17F2FE931}" type="presParOf" srcId="{0B41E15B-275D-B344-93BF-243A33FDEFFB}" destId="{EDE97174-E7F9-CF49-BEF2-7DD612D715D1}" srcOrd="2" destOrd="0" presId="urn:microsoft.com/office/officeart/2008/layout/LinedList"/>
    <dgm:cxn modelId="{2E3F1F7C-D676-F14A-A727-4723BE6C4E3C}" type="presParOf" srcId="{0B41E15B-275D-B344-93BF-243A33FDEFFB}" destId="{5FDAE1C7-72FE-D94E-B9DE-465267B40BB1}" srcOrd="3" destOrd="0" presId="urn:microsoft.com/office/officeart/2008/layout/LinedList"/>
    <dgm:cxn modelId="{3BC5ACFB-66BE-B84A-AD80-4416338B4D2F}" type="presParOf" srcId="{5FDAE1C7-72FE-D94E-B9DE-465267B40BB1}" destId="{94EF7F24-E09E-8343-B401-0631C56E53A2}" srcOrd="0" destOrd="0" presId="urn:microsoft.com/office/officeart/2008/layout/LinedList"/>
    <dgm:cxn modelId="{9ABBCE92-1C71-7145-B3DB-3C47D9994568}" type="presParOf" srcId="{5FDAE1C7-72FE-D94E-B9DE-465267B40BB1}" destId="{B6193AF3-6F9C-8A41-9B72-01B27B84D759}" srcOrd="1" destOrd="0" presId="urn:microsoft.com/office/officeart/2008/layout/LinedList"/>
    <dgm:cxn modelId="{2422685C-5EF7-B24E-A196-388D4DE74E53}" type="presParOf" srcId="{0B41E15B-275D-B344-93BF-243A33FDEFFB}" destId="{B2CB05B8-A119-264D-82B9-6A88CBDDCB05}" srcOrd="4" destOrd="0" presId="urn:microsoft.com/office/officeart/2008/layout/LinedList"/>
    <dgm:cxn modelId="{AC78D04A-1CBC-4B49-A533-066B5A5B02CE}" type="presParOf" srcId="{0B41E15B-275D-B344-93BF-243A33FDEFFB}" destId="{9CEA810C-A8E1-A84A-A999-61FAF06FB226}" srcOrd="5" destOrd="0" presId="urn:microsoft.com/office/officeart/2008/layout/LinedList"/>
    <dgm:cxn modelId="{34E14277-0DAD-5D46-B396-DCD29BB60421}" type="presParOf" srcId="{9CEA810C-A8E1-A84A-A999-61FAF06FB226}" destId="{19C3A820-B9C4-9D47-85ED-8C5046F39D90}" srcOrd="0" destOrd="0" presId="urn:microsoft.com/office/officeart/2008/layout/LinedList"/>
    <dgm:cxn modelId="{749DB626-6030-D041-B323-622E3CCDACCF}" type="presParOf" srcId="{9CEA810C-A8E1-A84A-A999-61FAF06FB226}" destId="{3D23273F-8249-7644-8090-3947157CF308}" srcOrd="1" destOrd="0" presId="urn:microsoft.com/office/officeart/2008/layout/LinedList"/>
    <dgm:cxn modelId="{A865FF33-F13D-1D4C-BA3C-606A0B3C4D46}" type="presParOf" srcId="{0B41E15B-275D-B344-93BF-243A33FDEFFB}" destId="{0C4851F0-7DBA-A74B-9B85-D2498F876016}" srcOrd="6" destOrd="0" presId="urn:microsoft.com/office/officeart/2008/layout/LinedList"/>
    <dgm:cxn modelId="{20EBC100-429A-8442-9998-9D690D81C98C}" type="presParOf" srcId="{0B41E15B-275D-B344-93BF-243A33FDEFFB}" destId="{5DD9CA77-9ABD-D547-B6AD-FA4EE9708379}" srcOrd="7" destOrd="0" presId="urn:microsoft.com/office/officeart/2008/layout/LinedList"/>
    <dgm:cxn modelId="{15A06BE7-DC85-4A48-A512-220E370C82B4}" type="presParOf" srcId="{5DD9CA77-9ABD-D547-B6AD-FA4EE9708379}" destId="{BF297730-48B3-1145-99FD-2C45F8EA93CE}" srcOrd="0" destOrd="0" presId="urn:microsoft.com/office/officeart/2008/layout/LinedList"/>
    <dgm:cxn modelId="{4E03C356-E052-2D4F-995E-C3BBBEC70C10}" type="presParOf" srcId="{5DD9CA77-9ABD-D547-B6AD-FA4EE9708379}" destId="{C0EB82D3-DCA6-1543-A8DD-7D1D4793DF5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4A68657-101F-48C4-85E5-B19BF52A54E3}"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2C0E1837-7F7B-4E5A-AEED-E8C7EB29642A}">
      <dgm:prSet/>
      <dgm:spPr/>
      <dgm:t>
        <a:bodyPr/>
        <a:lstStyle/>
        <a:p>
          <a:r>
            <a:rPr lang="en-US"/>
            <a:t>If inflation is different from predictions, some will lose and some will benefit.</a:t>
          </a:r>
        </a:p>
      </dgm:t>
    </dgm:pt>
    <dgm:pt modelId="{AA04F58C-3206-4389-944D-D42610160EBA}" type="parTrans" cxnId="{1119E538-C85E-4E1D-9194-AEA5CD6B28F6}">
      <dgm:prSet/>
      <dgm:spPr/>
      <dgm:t>
        <a:bodyPr/>
        <a:lstStyle/>
        <a:p>
          <a:endParaRPr lang="en-US"/>
        </a:p>
      </dgm:t>
    </dgm:pt>
    <dgm:pt modelId="{4246A831-32DB-4B2A-8385-A8C1137EAE54}" type="sibTrans" cxnId="{1119E538-C85E-4E1D-9194-AEA5CD6B28F6}">
      <dgm:prSet/>
      <dgm:spPr/>
      <dgm:t>
        <a:bodyPr/>
        <a:lstStyle/>
        <a:p>
          <a:endParaRPr lang="en-US"/>
        </a:p>
      </dgm:t>
    </dgm:pt>
    <dgm:pt modelId="{39541272-3EBA-400E-B79D-6F7209ACD361}">
      <dgm:prSet/>
      <dgm:spPr/>
      <dgm:t>
        <a:bodyPr/>
        <a:lstStyle/>
        <a:p>
          <a:r>
            <a:rPr lang="en-US" i="1"/>
            <a:t>Interest rate: </a:t>
          </a:r>
          <a:r>
            <a:rPr lang="en-US" b="0"/>
            <a:t>the price (calculated as a percentage of the amount borrowed) that a lender charges for the use of his or her savings for one year.</a:t>
          </a:r>
          <a:endParaRPr lang="en-US"/>
        </a:p>
      </dgm:t>
    </dgm:pt>
    <dgm:pt modelId="{819537FE-417C-465A-BE58-7C233CB32856}" type="parTrans" cxnId="{D1A51AA7-A09E-4C04-9BE3-82AED2B78239}">
      <dgm:prSet/>
      <dgm:spPr/>
      <dgm:t>
        <a:bodyPr/>
        <a:lstStyle/>
        <a:p>
          <a:endParaRPr lang="en-US"/>
        </a:p>
      </dgm:t>
    </dgm:pt>
    <dgm:pt modelId="{A8D5B08E-BD45-466A-9B42-748A224555FE}" type="sibTrans" cxnId="{D1A51AA7-A09E-4C04-9BE3-82AED2B78239}">
      <dgm:prSet/>
      <dgm:spPr/>
      <dgm:t>
        <a:bodyPr/>
        <a:lstStyle/>
        <a:p>
          <a:endParaRPr lang="en-US"/>
        </a:p>
      </dgm:t>
    </dgm:pt>
    <dgm:pt modelId="{84C10703-5890-4A74-8046-5D318C4D85F3}">
      <dgm:prSet/>
      <dgm:spPr/>
      <dgm:t>
        <a:bodyPr/>
        <a:lstStyle/>
        <a:p>
          <a:r>
            <a:rPr lang="en-US" i="1"/>
            <a:t>Nominal interest rate: </a:t>
          </a:r>
          <a:r>
            <a:rPr lang="en-US" b="0"/>
            <a:t>the interest rate expressed in dollar terms.</a:t>
          </a:r>
          <a:endParaRPr lang="en-US"/>
        </a:p>
      </dgm:t>
    </dgm:pt>
    <dgm:pt modelId="{26D81BAC-7C05-4537-B5C0-E1A397243ADC}" type="parTrans" cxnId="{B2AB9535-024B-4794-AAE9-8351324CC932}">
      <dgm:prSet/>
      <dgm:spPr/>
      <dgm:t>
        <a:bodyPr/>
        <a:lstStyle/>
        <a:p>
          <a:endParaRPr lang="en-US"/>
        </a:p>
      </dgm:t>
    </dgm:pt>
    <dgm:pt modelId="{E895089D-92A3-4C01-A4B4-7228ED353EE3}" type="sibTrans" cxnId="{B2AB9535-024B-4794-AAE9-8351324CC932}">
      <dgm:prSet/>
      <dgm:spPr/>
      <dgm:t>
        <a:bodyPr/>
        <a:lstStyle/>
        <a:p>
          <a:endParaRPr lang="en-US"/>
        </a:p>
      </dgm:t>
    </dgm:pt>
    <dgm:pt modelId="{01973DF7-AC6C-4880-8604-1A749982A9AB}">
      <dgm:prSet/>
      <dgm:spPr/>
      <dgm:t>
        <a:bodyPr/>
        <a:lstStyle/>
        <a:p>
          <a:r>
            <a:rPr lang="en-US" i="1"/>
            <a:t>Real interest rate: </a:t>
          </a:r>
          <a:r>
            <a:rPr lang="en-US" b="0"/>
            <a:t>the nominal interest rate minus the rate of inflation.</a:t>
          </a:r>
          <a:endParaRPr lang="en-US"/>
        </a:p>
      </dgm:t>
    </dgm:pt>
    <dgm:pt modelId="{9BE1C76F-CDDB-409F-B47A-76B78666213B}" type="parTrans" cxnId="{8B82C457-7F79-4591-B1C7-51A21FD9C56A}">
      <dgm:prSet/>
      <dgm:spPr/>
      <dgm:t>
        <a:bodyPr/>
        <a:lstStyle/>
        <a:p>
          <a:endParaRPr lang="en-US"/>
        </a:p>
      </dgm:t>
    </dgm:pt>
    <dgm:pt modelId="{7A460D32-22EF-4DB0-86C5-94AD2C8B9BF3}" type="sibTrans" cxnId="{8B82C457-7F79-4591-B1C7-51A21FD9C56A}">
      <dgm:prSet/>
      <dgm:spPr/>
      <dgm:t>
        <a:bodyPr/>
        <a:lstStyle/>
        <a:p>
          <a:endParaRPr lang="en-US"/>
        </a:p>
      </dgm:t>
    </dgm:pt>
    <dgm:pt modelId="{4A69D0FE-F460-E540-95CC-26D5857B9609}" type="pres">
      <dgm:prSet presAssocID="{24A68657-101F-48C4-85E5-B19BF52A54E3}" presName="vert0" presStyleCnt="0">
        <dgm:presLayoutVars>
          <dgm:dir/>
          <dgm:animOne val="branch"/>
          <dgm:animLvl val="lvl"/>
        </dgm:presLayoutVars>
      </dgm:prSet>
      <dgm:spPr/>
    </dgm:pt>
    <dgm:pt modelId="{0A94C6EC-8A0E-494D-8D60-DB08017F8C9D}" type="pres">
      <dgm:prSet presAssocID="{2C0E1837-7F7B-4E5A-AEED-E8C7EB29642A}" presName="thickLine" presStyleLbl="alignNode1" presStyleIdx="0" presStyleCnt="4"/>
      <dgm:spPr/>
    </dgm:pt>
    <dgm:pt modelId="{0BA1A38F-4334-3E42-9A5E-068A7B169EAC}" type="pres">
      <dgm:prSet presAssocID="{2C0E1837-7F7B-4E5A-AEED-E8C7EB29642A}" presName="horz1" presStyleCnt="0"/>
      <dgm:spPr/>
    </dgm:pt>
    <dgm:pt modelId="{D6158FA8-7634-3141-BCE0-EF2E616FEEAC}" type="pres">
      <dgm:prSet presAssocID="{2C0E1837-7F7B-4E5A-AEED-E8C7EB29642A}" presName="tx1" presStyleLbl="revTx" presStyleIdx="0" presStyleCnt="4"/>
      <dgm:spPr/>
    </dgm:pt>
    <dgm:pt modelId="{99F241CD-9579-D440-BDBB-A71645456D94}" type="pres">
      <dgm:prSet presAssocID="{2C0E1837-7F7B-4E5A-AEED-E8C7EB29642A}" presName="vert1" presStyleCnt="0"/>
      <dgm:spPr/>
    </dgm:pt>
    <dgm:pt modelId="{0C931CBE-77B7-5144-A03E-F98D59DFAC58}" type="pres">
      <dgm:prSet presAssocID="{39541272-3EBA-400E-B79D-6F7209ACD361}" presName="thickLine" presStyleLbl="alignNode1" presStyleIdx="1" presStyleCnt="4"/>
      <dgm:spPr/>
    </dgm:pt>
    <dgm:pt modelId="{FCE5F504-85B7-4E49-B255-125B66991FAC}" type="pres">
      <dgm:prSet presAssocID="{39541272-3EBA-400E-B79D-6F7209ACD361}" presName="horz1" presStyleCnt="0"/>
      <dgm:spPr/>
    </dgm:pt>
    <dgm:pt modelId="{16D2E64D-C985-CC4D-9AA6-730262B68060}" type="pres">
      <dgm:prSet presAssocID="{39541272-3EBA-400E-B79D-6F7209ACD361}" presName="tx1" presStyleLbl="revTx" presStyleIdx="1" presStyleCnt="4"/>
      <dgm:spPr/>
    </dgm:pt>
    <dgm:pt modelId="{140B1B11-CD55-7442-9E9C-4632F40E08EA}" type="pres">
      <dgm:prSet presAssocID="{39541272-3EBA-400E-B79D-6F7209ACD361}" presName="vert1" presStyleCnt="0"/>
      <dgm:spPr/>
    </dgm:pt>
    <dgm:pt modelId="{7187F81D-C695-B14F-89D5-A41CDD50E9E4}" type="pres">
      <dgm:prSet presAssocID="{84C10703-5890-4A74-8046-5D318C4D85F3}" presName="thickLine" presStyleLbl="alignNode1" presStyleIdx="2" presStyleCnt="4"/>
      <dgm:spPr/>
    </dgm:pt>
    <dgm:pt modelId="{43A3C3F5-287C-744D-A39D-8537742FD2FB}" type="pres">
      <dgm:prSet presAssocID="{84C10703-5890-4A74-8046-5D318C4D85F3}" presName="horz1" presStyleCnt="0"/>
      <dgm:spPr/>
    </dgm:pt>
    <dgm:pt modelId="{7C855DEF-C52D-0D49-9093-6BA821272BD8}" type="pres">
      <dgm:prSet presAssocID="{84C10703-5890-4A74-8046-5D318C4D85F3}" presName="tx1" presStyleLbl="revTx" presStyleIdx="2" presStyleCnt="4"/>
      <dgm:spPr/>
    </dgm:pt>
    <dgm:pt modelId="{4BEBC8E2-AF51-7346-96B9-D67EE73D61A1}" type="pres">
      <dgm:prSet presAssocID="{84C10703-5890-4A74-8046-5D318C4D85F3}" presName="vert1" presStyleCnt="0"/>
      <dgm:spPr/>
    </dgm:pt>
    <dgm:pt modelId="{87F5F071-FD93-9C46-A6F5-42C79688FCFF}" type="pres">
      <dgm:prSet presAssocID="{01973DF7-AC6C-4880-8604-1A749982A9AB}" presName="thickLine" presStyleLbl="alignNode1" presStyleIdx="3" presStyleCnt="4"/>
      <dgm:spPr/>
    </dgm:pt>
    <dgm:pt modelId="{36548237-2670-4D4A-A454-C99AEA7276E0}" type="pres">
      <dgm:prSet presAssocID="{01973DF7-AC6C-4880-8604-1A749982A9AB}" presName="horz1" presStyleCnt="0"/>
      <dgm:spPr/>
    </dgm:pt>
    <dgm:pt modelId="{F8DA634A-8E4D-134D-9A85-EC7303C03E1A}" type="pres">
      <dgm:prSet presAssocID="{01973DF7-AC6C-4880-8604-1A749982A9AB}" presName="tx1" presStyleLbl="revTx" presStyleIdx="3" presStyleCnt="4"/>
      <dgm:spPr/>
    </dgm:pt>
    <dgm:pt modelId="{E152FADF-C58F-5E4A-9F1E-0E255E9CB34A}" type="pres">
      <dgm:prSet presAssocID="{01973DF7-AC6C-4880-8604-1A749982A9AB}" presName="vert1" presStyleCnt="0"/>
      <dgm:spPr/>
    </dgm:pt>
  </dgm:ptLst>
  <dgm:cxnLst>
    <dgm:cxn modelId="{B2AB9535-024B-4794-AAE9-8351324CC932}" srcId="{24A68657-101F-48C4-85E5-B19BF52A54E3}" destId="{84C10703-5890-4A74-8046-5D318C4D85F3}" srcOrd="2" destOrd="0" parTransId="{26D81BAC-7C05-4537-B5C0-E1A397243ADC}" sibTransId="{E895089D-92A3-4C01-A4B4-7228ED353EE3}"/>
    <dgm:cxn modelId="{1119E538-C85E-4E1D-9194-AEA5CD6B28F6}" srcId="{24A68657-101F-48C4-85E5-B19BF52A54E3}" destId="{2C0E1837-7F7B-4E5A-AEED-E8C7EB29642A}" srcOrd="0" destOrd="0" parTransId="{AA04F58C-3206-4389-944D-D42610160EBA}" sibTransId="{4246A831-32DB-4B2A-8385-A8C1137EAE54}"/>
    <dgm:cxn modelId="{17711B41-5CA9-0F47-8530-95725AB6FD22}" type="presOf" srcId="{24A68657-101F-48C4-85E5-B19BF52A54E3}" destId="{4A69D0FE-F460-E540-95CC-26D5857B9609}" srcOrd="0" destOrd="0" presId="urn:microsoft.com/office/officeart/2008/layout/LinedList"/>
    <dgm:cxn modelId="{8B82C457-7F79-4591-B1C7-51A21FD9C56A}" srcId="{24A68657-101F-48C4-85E5-B19BF52A54E3}" destId="{01973DF7-AC6C-4880-8604-1A749982A9AB}" srcOrd="3" destOrd="0" parTransId="{9BE1C76F-CDDB-409F-B47A-76B78666213B}" sibTransId="{7A460D32-22EF-4DB0-86C5-94AD2C8B9BF3}"/>
    <dgm:cxn modelId="{F141C159-3AB6-B34A-BA86-788995506EA2}" type="presOf" srcId="{01973DF7-AC6C-4880-8604-1A749982A9AB}" destId="{F8DA634A-8E4D-134D-9A85-EC7303C03E1A}" srcOrd="0" destOrd="0" presId="urn:microsoft.com/office/officeart/2008/layout/LinedList"/>
    <dgm:cxn modelId="{6DB68266-14F7-6247-A1B1-D4E8907BA322}" type="presOf" srcId="{84C10703-5890-4A74-8046-5D318C4D85F3}" destId="{7C855DEF-C52D-0D49-9093-6BA821272BD8}" srcOrd="0" destOrd="0" presId="urn:microsoft.com/office/officeart/2008/layout/LinedList"/>
    <dgm:cxn modelId="{D1A51AA7-A09E-4C04-9BE3-82AED2B78239}" srcId="{24A68657-101F-48C4-85E5-B19BF52A54E3}" destId="{39541272-3EBA-400E-B79D-6F7209ACD361}" srcOrd="1" destOrd="0" parTransId="{819537FE-417C-465A-BE58-7C233CB32856}" sibTransId="{A8D5B08E-BD45-466A-9B42-748A224555FE}"/>
    <dgm:cxn modelId="{80AD16D9-9BDB-7647-9D10-5EA8CAF57381}" type="presOf" srcId="{2C0E1837-7F7B-4E5A-AEED-E8C7EB29642A}" destId="{D6158FA8-7634-3141-BCE0-EF2E616FEEAC}" srcOrd="0" destOrd="0" presId="urn:microsoft.com/office/officeart/2008/layout/LinedList"/>
    <dgm:cxn modelId="{EDFA67E3-9208-0348-8A45-06D31D632499}" type="presOf" srcId="{39541272-3EBA-400E-B79D-6F7209ACD361}" destId="{16D2E64D-C985-CC4D-9AA6-730262B68060}" srcOrd="0" destOrd="0" presId="urn:microsoft.com/office/officeart/2008/layout/LinedList"/>
    <dgm:cxn modelId="{1DCE54DA-18F0-B34A-9DBF-C0815829CAED}" type="presParOf" srcId="{4A69D0FE-F460-E540-95CC-26D5857B9609}" destId="{0A94C6EC-8A0E-494D-8D60-DB08017F8C9D}" srcOrd="0" destOrd="0" presId="urn:microsoft.com/office/officeart/2008/layout/LinedList"/>
    <dgm:cxn modelId="{17D7E3F9-4F86-5145-9FD8-C54DB35EBE0B}" type="presParOf" srcId="{4A69D0FE-F460-E540-95CC-26D5857B9609}" destId="{0BA1A38F-4334-3E42-9A5E-068A7B169EAC}" srcOrd="1" destOrd="0" presId="urn:microsoft.com/office/officeart/2008/layout/LinedList"/>
    <dgm:cxn modelId="{CEEFF494-6B8C-9B4C-91B3-ACB12061E051}" type="presParOf" srcId="{0BA1A38F-4334-3E42-9A5E-068A7B169EAC}" destId="{D6158FA8-7634-3141-BCE0-EF2E616FEEAC}" srcOrd="0" destOrd="0" presId="urn:microsoft.com/office/officeart/2008/layout/LinedList"/>
    <dgm:cxn modelId="{DE3E0457-DE2A-1945-94BD-FB423A2D7862}" type="presParOf" srcId="{0BA1A38F-4334-3E42-9A5E-068A7B169EAC}" destId="{99F241CD-9579-D440-BDBB-A71645456D94}" srcOrd="1" destOrd="0" presId="urn:microsoft.com/office/officeart/2008/layout/LinedList"/>
    <dgm:cxn modelId="{B4D9CCE2-A524-434E-9840-DAEA75416F80}" type="presParOf" srcId="{4A69D0FE-F460-E540-95CC-26D5857B9609}" destId="{0C931CBE-77B7-5144-A03E-F98D59DFAC58}" srcOrd="2" destOrd="0" presId="urn:microsoft.com/office/officeart/2008/layout/LinedList"/>
    <dgm:cxn modelId="{4B418295-4E8F-8842-88F6-F82DAFA49F35}" type="presParOf" srcId="{4A69D0FE-F460-E540-95CC-26D5857B9609}" destId="{FCE5F504-85B7-4E49-B255-125B66991FAC}" srcOrd="3" destOrd="0" presId="urn:microsoft.com/office/officeart/2008/layout/LinedList"/>
    <dgm:cxn modelId="{A32A84C5-6700-8D42-A117-6F0BF0275AD7}" type="presParOf" srcId="{FCE5F504-85B7-4E49-B255-125B66991FAC}" destId="{16D2E64D-C985-CC4D-9AA6-730262B68060}" srcOrd="0" destOrd="0" presId="urn:microsoft.com/office/officeart/2008/layout/LinedList"/>
    <dgm:cxn modelId="{91010D9E-5890-FF48-992A-44E59128C08F}" type="presParOf" srcId="{FCE5F504-85B7-4E49-B255-125B66991FAC}" destId="{140B1B11-CD55-7442-9E9C-4632F40E08EA}" srcOrd="1" destOrd="0" presId="urn:microsoft.com/office/officeart/2008/layout/LinedList"/>
    <dgm:cxn modelId="{5BF7BCEC-E692-7C4A-A7C9-8C4D9347E357}" type="presParOf" srcId="{4A69D0FE-F460-E540-95CC-26D5857B9609}" destId="{7187F81D-C695-B14F-89D5-A41CDD50E9E4}" srcOrd="4" destOrd="0" presId="urn:microsoft.com/office/officeart/2008/layout/LinedList"/>
    <dgm:cxn modelId="{050B3705-64F4-2C4E-B2E8-6FCCF109D9F2}" type="presParOf" srcId="{4A69D0FE-F460-E540-95CC-26D5857B9609}" destId="{43A3C3F5-287C-744D-A39D-8537742FD2FB}" srcOrd="5" destOrd="0" presId="urn:microsoft.com/office/officeart/2008/layout/LinedList"/>
    <dgm:cxn modelId="{2B7ACFCB-63C7-6140-8125-D9E8A8B4B134}" type="presParOf" srcId="{43A3C3F5-287C-744D-A39D-8537742FD2FB}" destId="{7C855DEF-C52D-0D49-9093-6BA821272BD8}" srcOrd="0" destOrd="0" presId="urn:microsoft.com/office/officeart/2008/layout/LinedList"/>
    <dgm:cxn modelId="{272E891F-D223-384D-B32F-BAB0AD26AD99}" type="presParOf" srcId="{43A3C3F5-287C-744D-A39D-8537742FD2FB}" destId="{4BEBC8E2-AF51-7346-96B9-D67EE73D61A1}" srcOrd="1" destOrd="0" presId="urn:microsoft.com/office/officeart/2008/layout/LinedList"/>
    <dgm:cxn modelId="{CDCDB688-B326-074A-99A0-48DBBA0A613E}" type="presParOf" srcId="{4A69D0FE-F460-E540-95CC-26D5857B9609}" destId="{87F5F071-FD93-9C46-A6F5-42C79688FCFF}" srcOrd="6" destOrd="0" presId="urn:microsoft.com/office/officeart/2008/layout/LinedList"/>
    <dgm:cxn modelId="{7159D4B5-C712-0944-9C05-D8F8847F9BC8}" type="presParOf" srcId="{4A69D0FE-F460-E540-95CC-26D5857B9609}" destId="{36548237-2670-4D4A-A454-C99AEA7276E0}" srcOrd="7" destOrd="0" presId="urn:microsoft.com/office/officeart/2008/layout/LinedList"/>
    <dgm:cxn modelId="{487C9B6E-54EE-FB4A-A316-C5C916CAA35F}" type="presParOf" srcId="{36548237-2670-4D4A-A454-C99AEA7276E0}" destId="{F8DA634A-8E4D-134D-9A85-EC7303C03E1A}" srcOrd="0" destOrd="0" presId="urn:microsoft.com/office/officeart/2008/layout/LinedList"/>
    <dgm:cxn modelId="{AD5788AA-1BF1-3542-B572-0D0BB85E7B03}" type="presParOf" srcId="{36548237-2670-4D4A-A454-C99AEA7276E0}" destId="{E152FADF-C58F-5E4A-9F1E-0E255E9CB34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95589B-4974-4E8A-B370-63E39D437CE4}">
      <dsp:nvSpPr>
        <dsp:cNvPr id="0" name=""/>
        <dsp:cNvSpPr/>
      </dsp:nvSpPr>
      <dsp:spPr>
        <a:xfrm>
          <a:off x="0" y="567"/>
          <a:ext cx="8839200" cy="132773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91492E-FF84-4B22-B9A7-9EBA484339B3}">
      <dsp:nvSpPr>
        <dsp:cNvPr id="0" name=""/>
        <dsp:cNvSpPr/>
      </dsp:nvSpPr>
      <dsp:spPr>
        <a:xfrm>
          <a:off x="401639" y="299307"/>
          <a:ext cx="730253" cy="7302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E0849C-8D2E-46B1-B994-C9EBAE30C8F1}">
      <dsp:nvSpPr>
        <dsp:cNvPr id="0" name=""/>
        <dsp:cNvSpPr/>
      </dsp:nvSpPr>
      <dsp:spPr>
        <a:xfrm>
          <a:off x="1533531" y="567"/>
          <a:ext cx="7305668"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1111250">
            <a:lnSpc>
              <a:spcPct val="90000"/>
            </a:lnSpc>
            <a:spcBef>
              <a:spcPct val="0"/>
            </a:spcBef>
            <a:spcAft>
              <a:spcPct val="35000"/>
            </a:spcAft>
            <a:buNone/>
          </a:pPr>
          <a:r>
            <a:rPr lang="en-US" sz="2500" b="1" kern="1200"/>
            <a:t>The unemployment rate is a good indicator of how easy or difficult it is to find a job given the current state of the economy.</a:t>
          </a:r>
          <a:endParaRPr lang="en-US" sz="2500" kern="1200"/>
        </a:p>
      </dsp:txBody>
      <dsp:txXfrm>
        <a:off x="1533531" y="567"/>
        <a:ext cx="7305668" cy="1327732"/>
      </dsp:txXfrm>
    </dsp:sp>
    <dsp:sp modelId="{C2F2E92B-EB0C-47F3-A09C-87619BF83604}">
      <dsp:nvSpPr>
        <dsp:cNvPr id="0" name=""/>
        <dsp:cNvSpPr/>
      </dsp:nvSpPr>
      <dsp:spPr>
        <a:xfrm>
          <a:off x="0" y="1660233"/>
          <a:ext cx="8839200" cy="132773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BFC4BE-DAA1-4233-A55F-28C7F0C8A11A}">
      <dsp:nvSpPr>
        <dsp:cNvPr id="0" name=""/>
        <dsp:cNvSpPr/>
      </dsp:nvSpPr>
      <dsp:spPr>
        <a:xfrm>
          <a:off x="401639" y="1958973"/>
          <a:ext cx="730253" cy="7302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021F20C-AF8E-49AB-A0BC-26519A3C8F44}">
      <dsp:nvSpPr>
        <dsp:cNvPr id="0" name=""/>
        <dsp:cNvSpPr/>
      </dsp:nvSpPr>
      <dsp:spPr>
        <a:xfrm>
          <a:off x="1533531" y="1660233"/>
          <a:ext cx="3977640"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1111250">
            <a:lnSpc>
              <a:spcPct val="90000"/>
            </a:lnSpc>
            <a:spcBef>
              <a:spcPct val="0"/>
            </a:spcBef>
            <a:spcAft>
              <a:spcPct val="35000"/>
            </a:spcAft>
            <a:buNone/>
          </a:pPr>
          <a:r>
            <a:rPr lang="en-US" sz="2500" b="1" kern="1200"/>
            <a:t>It can overstate the true level of unemployment.</a:t>
          </a:r>
          <a:endParaRPr lang="en-US" sz="2500" kern="1200"/>
        </a:p>
      </dsp:txBody>
      <dsp:txXfrm>
        <a:off x="1533531" y="1660233"/>
        <a:ext cx="3977640" cy="1327732"/>
      </dsp:txXfrm>
    </dsp:sp>
    <dsp:sp modelId="{E6E4D911-C878-4DEE-9998-D9E8FCD23C8A}">
      <dsp:nvSpPr>
        <dsp:cNvPr id="0" name=""/>
        <dsp:cNvSpPr/>
      </dsp:nvSpPr>
      <dsp:spPr>
        <a:xfrm>
          <a:off x="5511171" y="1660233"/>
          <a:ext cx="3328028"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800100">
            <a:lnSpc>
              <a:spcPct val="90000"/>
            </a:lnSpc>
            <a:spcBef>
              <a:spcPct val="0"/>
            </a:spcBef>
            <a:spcAft>
              <a:spcPct val="35000"/>
            </a:spcAft>
            <a:buNone/>
          </a:pPr>
          <a:r>
            <a:rPr lang="en-US" sz="1800" b="0" kern="1200"/>
            <a:t>Even if the labor market is healthy, it takes time to find the right job. (Meanwhile, you’re “unemployed.”)</a:t>
          </a:r>
          <a:endParaRPr lang="en-US" sz="1800" kern="1200"/>
        </a:p>
      </dsp:txBody>
      <dsp:txXfrm>
        <a:off x="5511171" y="1660233"/>
        <a:ext cx="3328028" cy="1327732"/>
      </dsp:txXfrm>
    </dsp:sp>
    <dsp:sp modelId="{9C1EE2AA-700B-4608-9750-3CAD2011C723}">
      <dsp:nvSpPr>
        <dsp:cNvPr id="0" name=""/>
        <dsp:cNvSpPr/>
      </dsp:nvSpPr>
      <dsp:spPr>
        <a:xfrm>
          <a:off x="0" y="3319899"/>
          <a:ext cx="8839200" cy="132773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8886C5-4437-4FA1-8EE8-61EC53137584}">
      <dsp:nvSpPr>
        <dsp:cNvPr id="0" name=""/>
        <dsp:cNvSpPr/>
      </dsp:nvSpPr>
      <dsp:spPr>
        <a:xfrm>
          <a:off x="401639" y="3618639"/>
          <a:ext cx="730253" cy="7302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2B88D8D-0390-4E58-95A6-281559AD5A99}">
      <dsp:nvSpPr>
        <dsp:cNvPr id="0" name=""/>
        <dsp:cNvSpPr/>
      </dsp:nvSpPr>
      <dsp:spPr>
        <a:xfrm>
          <a:off x="1533531" y="3319899"/>
          <a:ext cx="3977640"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1111250">
            <a:lnSpc>
              <a:spcPct val="90000"/>
            </a:lnSpc>
            <a:spcBef>
              <a:spcPct val="0"/>
            </a:spcBef>
            <a:spcAft>
              <a:spcPct val="35000"/>
            </a:spcAft>
            <a:buNone/>
          </a:pPr>
          <a:r>
            <a:rPr lang="en-US" sz="2500" b="1" kern="1200"/>
            <a:t>It can understate the true level of unemployment.</a:t>
          </a:r>
          <a:endParaRPr lang="en-US" sz="2500" kern="1200"/>
        </a:p>
      </dsp:txBody>
      <dsp:txXfrm>
        <a:off x="1533531" y="3319899"/>
        <a:ext cx="3977640" cy="1327732"/>
      </dsp:txXfrm>
    </dsp:sp>
    <dsp:sp modelId="{0F0A095B-9545-429E-A5BA-86A82FB9E223}">
      <dsp:nvSpPr>
        <dsp:cNvPr id="0" name=""/>
        <dsp:cNvSpPr/>
      </dsp:nvSpPr>
      <dsp:spPr>
        <a:xfrm>
          <a:off x="5511171" y="3319899"/>
          <a:ext cx="3328028"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800100">
            <a:lnSpc>
              <a:spcPct val="90000"/>
            </a:lnSpc>
            <a:spcBef>
              <a:spcPct val="0"/>
            </a:spcBef>
            <a:spcAft>
              <a:spcPct val="35000"/>
            </a:spcAft>
            <a:buNone/>
          </a:pPr>
          <a:r>
            <a:rPr lang="en-US" sz="1800" b="0" kern="1200"/>
            <a:t>You are not “unemployed” if you have given up looking for a job because there are no jobs available.</a:t>
          </a:r>
          <a:endParaRPr lang="en-US" sz="1800" kern="1200"/>
        </a:p>
      </dsp:txBody>
      <dsp:txXfrm>
        <a:off x="5511171" y="3319899"/>
        <a:ext cx="3328028" cy="1327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576BFF-135F-4AF2-A2FF-9932BDCA38CE}">
      <dsp:nvSpPr>
        <dsp:cNvPr id="0" name=""/>
        <dsp:cNvSpPr/>
      </dsp:nvSpPr>
      <dsp:spPr>
        <a:xfrm>
          <a:off x="0" y="567"/>
          <a:ext cx="8839200" cy="132773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6D5FD2-C6BD-457C-88F1-97ECE966C8C9}">
      <dsp:nvSpPr>
        <dsp:cNvPr id="0" name=""/>
        <dsp:cNvSpPr/>
      </dsp:nvSpPr>
      <dsp:spPr>
        <a:xfrm>
          <a:off x="401639" y="299307"/>
          <a:ext cx="730253" cy="7302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B309382-0E1E-4E25-A2B6-1EBC72005744}">
      <dsp:nvSpPr>
        <dsp:cNvPr id="0" name=""/>
        <dsp:cNvSpPr/>
      </dsp:nvSpPr>
      <dsp:spPr>
        <a:xfrm>
          <a:off x="1533531" y="567"/>
          <a:ext cx="3977640"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800100">
            <a:lnSpc>
              <a:spcPct val="90000"/>
            </a:lnSpc>
            <a:spcBef>
              <a:spcPct val="0"/>
            </a:spcBef>
            <a:spcAft>
              <a:spcPct val="35000"/>
            </a:spcAft>
            <a:buNone/>
          </a:pPr>
          <a:r>
            <a:rPr lang="en-US" sz="1800" b="1" i="1" kern="1200"/>
            <a:t>Discouraged workers: </a:t>
          </a:r>
          <a:r>
            <a:rPr lang="en-US" sz="1800" b="0" kern="1200"/>
            <a:t>nonworking people who have given up looking for work for the time being.  Not considered unemployed.</a:t>
          </a:r>
          <a:endParaRPr lang="en-US" sz="1800" kern="1200"/>
        </a:p>
      </dsp:txBody>
      <dsp:txXfrm>
        <a:off x="1533531" y="567"/>
        <a:ext cx="3977640" cy="1327732"/>
      </dsp:txXfrm>
    </dsp:sp>
    <dsp:sp modelId="{02097263-4ABE-4E84-9450-40573F2324C7}">
      <dsp:nvSpPr>
        <dsp:cNvPr id="0" name=""/>
        <dsp:cNvSpPr/>
      </dsp:nvSpPr>
      <dsp:spPr>
        <a:xfrm>
          <a:off x="5511171" y="567"/>
          <a:ext cx="3328028"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622300">
            <a:lnSpc>
              <a:spcPct val="90000"/>
            </a:lnSpc>
            <a:spcBef>
              <a:spcPct val="0"/>
            </a:spcBef>
            <a:spcAft>
              <a:spcPct val="35000"/>
            </a:spcAft>
            <a:buNone/>
          </a:pPr>
          <a:r>
            <a:rPr lang="en-US" sz="1400" b="1" i="1" kern="1200"/>
            <a:t>The deeper the recession, the more discouraged workers there are.</a:t>
          </a:r>
          <a:endParaRPr lang="en-US" sz="1400" kern="1200"/>
        </a:p>
      </dsp:txBody>
      <dsp:txXfrm>
        <a:off x="5511171" y="567"/>
        <a:ext cx="3328028" cy="1327732"/>
      </dsp:txXfrm>
    </dsp:sp>
    <dsp:sp modelId="{055C9273-1278-4A8A-A1B5-D59890384C39}">
      <dsp:nvSpPr>
        <dsp:cNvPr id="0" name=""/>
        <dsp:cNvSpPr/>
      </dsp:nvSpPr>
      <dsp:spPr>
        <a:xfrm>
          <a:off x="0" y="1660233"/>
          <a:ext cx="8839200" cy="132773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CCA82F-3066-4ABE-8829-535E38404B7B}">
      <dsp:nvSpPr>
        <dsp:cNvPr id="0" name=""/>
        <dsp:cNvSpPr/>
      </dsp:nvSpPr>
      <dsp:spPr>
        <a:xfrm>
          <a:off x="401639" y="1958973"/>
          <a:ext cx="730253" cy="7302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725AA3F-2251-403E-BE32-C9D76AA33D54}">
      <dsp:nvSpPr>
        <dsp:cNvPr id="0" name=""/>
        <dsp:cNvSpPr/>
      </dsp:nvSpPr>
      <dsp:spPr>
        <a:xfrm>
          <a:off x="1533531" y="1660233"/>
          <a:ext cx="7305668"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800100">
            <a:lnSpc>
              <a:spcPct val="90000"/>
            </a:lnSpc>
            <a:spcBef>
              <a:spcPct val="0"/>
            </a:spcBef>
            <a:spcAft>
              <a:spcPct val="35000"/>
            </a:spcAft>
            <a:buNone/>
          </a:pPr>
          <a:r>
            <a:rPr lang="en-US" sz="1800" b="1" i="1" kern="1200"/>
            <a:t>Marginally attached workers:</a:t>
          </a:r>
          <a:r>
            <a:rPr lang="en-US" sz="1800" b="1" kern="1200"/>
            <a:t>  </a:t>
          </a:r>
          <a:r>
            <a:rPr lang="en-US" sz="1800" b="0" kern="1200"/>
            <a:t>those</a:t>
          </a:r>
          <a:r>
            <a:rPr lang="en-US" sz="1800" b="1" kern="1200"/>
            <a:t> </a:t>
          </a:r>
          <a:r>
            <a:rPr lang="en-US" sz="1800" b="0" kern="1200"/>
            <a:t>who were available and actively looked for work recently but are not currently looking (in the past 12 months but NOT in the past 4 weeks)</a:t>
          </a:r>
          <a:endParaRPr lang="en-US" sz="1800" kern="1200"/>
        </a:p>
      </dsp:txBody>
      <dsp:txXfrm>
        <a:off x="1533531" y="1660233"/>
        <a:ext cx="7305668" cy="1327732"/>
      </dsp:txXfrm>
    </dsp:sp>
    <dsp:sp modelId="{0F13E671-AB96-4B2B-BEF9-9737DBF89F0A}">
      <dsp:nvSpPr>
        <dsp:cNvPr id="0" name=""/>
        <dsp:cNvSpPr/>
      </dsp:nvSpPr>
      <dsp:spPr>
        <a:xfrm>
          <a:off x="0" y="3319899"/>
          <a:ext cx="8839200" cy="132773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F0E53D-11FD-432F-83BE-D47C4B9C99AB}">
      <dsp:nvSpPr>
        <dsp:cNvPr id="0" name=""/>
        <dsp:cNvSpPr/>
      </dsp:nvSpPr>
      <dsp:spPr>
        <a:xfrm>
          <a:off x="401639" y="3618639"/>
          <a:ext cx="730253" cy="73025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37F7DC7-704E-429D-92B5-8682635BA3C0}">
      <dsp:nvSpPr>
        <dsp:cNvPr id="0" name=""/>
        <dsp:cNvSpPr/>
      </dsp:nvSpPr>
      <dsp:spPr>
        <a:xfrm>
          <a:off x="1533531" y="3319899"/>
          <a:ext cx="7305668" cy="1327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0518" tIns="140518" rIns="140518" bIns="140518" numCol="1" spcCol="1270" anchor="ctr" anchorCtr="0">
          <a:noAutofit/>
        </a:bodyPr>
        <a:lstStyle/>
        <a:p>
          <a:pPr marL="0" lvl="0" indent="0" algn="l" defTabSz="800100">
            <a:lnSpc>
              <a:spcPct val="90000"/>
            </a:lnSpc>
            <a:spcBef>
              <a:spcPct val="0"/>
            </a:spcBef>
            <a:spcAft>
              <a:spcPct val="35000"/>
            </a:spcAft>
            <a:buNone/>
          </a:pPr>
          <a:r>
            <a:rPr lang="en-US" sz="1800" b="1" i="1" kern="1200"/>
            <a:t>Underemployed workers: </a:t>
          </a:r>
          <a:r>
            <a:rPr lang="en-US" sz="1800" b="0" kern="1200"/>
            <a:t>people who work part time because they cannot find full-time jobs.</a:t>
          </a:r>
          <a:endParaRPr lang="en-US" sz="1800" kern="1200"/>
        </a:p>
      </dsp:txBody>
      <dsp:txXfrm>
        <a:off x="1533531" y="3319899"/>
        <a:ext cx="7305668" cy="13277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04DAD-9E2D-5A4C-8368-E8925FEC97EF}">
      <dsp:nvSpPr>
        <dsp:cNvPr id="0" name=""/>
        <dsp:cNvSpPr/>
      </dsp:nvSpPr>
      <dsp:spPr>
        <a:xfrm>
          <a:off x="0" y="39719"/>
          <a:ext cx="8839200" cy="11138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a:t>We need estimates of the natural rate of unemployment both to make forecasts and to conduct policy analyses.</a:t>
          </a:r>
          <a:endParaRPr lang="en-US" sz="2800" kern="1200"/>
        </a:p>
      </dsp:txBody>
      <dsp:txXfrm>
        <a:off x="54373" y="94092"/>
        <a:ext cx="8730454" cy="1005094"/>
      </dsp:txXfrm>
    </dsp:sp>
    <dsp:sp modelId="{737859D3-2478-8B4B-89E3-1BF6C992881C}">
      <dsp:nvSpPr>
        <dsp:cNvPr id="0" name=""/>
        <dsp:cNvSpPr/>
      </dsp:nvSpPr>
      <dsp:spPr>
        <a:xfrm>
          <a:off x="0" y="1234200"/>
          <a:ext cx="8839200" cy="11138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1" kern="1200"/>
            <a:t>What causes it to change?</a:t>
          </a:r>
          <a:endParaRPr lang="en-US" sz="2800" kern="1200"/>
        </a:p>
      </dsp:txBody>
      <dsp:txXfrm>
        <a:off x="54373" y="1288573"/>
        <a:ext cx="8730454" cy="1005094"/>
      </dsp:txXfrm>
    </dsp:sp>
    <dsp:sp modelId="{1F384F7C-DDCC-4E45-8254-20BD0F8523F3}">
      <dsp:nvSpPr>
        <dsp:cNvPr id="0" name=""/>
        <dsp:cNvSpPr/>
      </dsp:nvSpPr>
      <dsp:spPr>
        <a:xfrm>
          <a:off x="0" y="2348040"/>
          <a:ext cx="8839200" cy="22604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80645"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b="1" kern="1200"/>
            <a:t>Changes in characteristics of the labor force</a:t>
          </a:r>
          <a:endParaRPr lang="en-US" sz="2200" kern="1200"/>
        </a:p>
        <a:p>
          <a:pPr marL="457200" lvl="2" indent="-228600" algn="l" defTabSz="977900">
            <a:lnSpc>
              <a:spcPct val="90000"/>
            </a:lnSpc>
            <a:spcBef>
              <a:spcPct val="0"/>
            </a:spcBef>
            <a:spcAft>
              <a:spcPct val="20000"/>
            </a:spcAft>
            <a:buChar char="•"/>
          </a:pPr>
          <a:r>
            <a:rPr lang="en-US" sz="2200" b="1" kern="1200"/>
            <a:t>Changing demographics</a:t>
          </a:r>
          <a:endParaRPr lang="en-US" sz="2200" kern="1200"/>
        </a:p>
        <a:p>
          <a:pPr marL="228600" lvl="1" indent="-228600" algn="l" defTabSz="977900">
            <a:lnSpc>
              <a:spcPct val="90000"/>
            </a:lnSpc>
            <a:spcBef>
              <a:spcPct val="0"/>
            </a:spcBef>
            <a:spcAft>
              <a:spcPct val="20000"/>
            </a:spcAft>
            <a:buChar char="•"/>
          </a:pPr>
          <a:r>
            <a:rPr lang="en-US" sz="2200" b="1" kern="1200"/>
            <a:t>Changes in labor market institutions</a:t>
          </a:r>
          <a:endParaRPr lang="en-US" sz="2200" kern="1200"/>
        </a:p>
        <a:p>
          <a:pPr marL="457200" lvl="2" indent="-228600" algn="l" defTabSz="977900">
            <a:lnSpc>
              <a:spcPct val="90000"/>
            </a:lnSpc>
            <a:spcBef>
              <a:spcPct val="0"/>
            </a:spcBef>
            <a:spcAft>
              <a:spcPct val="20000"/>
            </a:spcAft>
            <a:buChar char="•"/>
          </a:pPr>
          <a:r>
            <a:rPr lang="en-US" sz="2200" b="1" kern="1200"/>
            <a:t>Unions, temp agencies, and new technology</a:t>
          </a:r>
          <a:endParaRPr lang="en-US" sz="2200" kern="1200"/>
        </a:p>
        <a:p>
          <a:pPr marL="228600" lvl="1" indent="-228600" algn="l" defTabSz="977900">
            <a:lnSpc>
              <a:spcPct val="90000"/>
            </a:lnSpc>
            <a:spcBef>
              <a:spcPct val="0"/>
            </a:spcBef>
            <a:spcAft>
              <a:spcPct val="20000"/>
            </a:spcAft>
            <a:buChar char="•"/>
          </a:pPr>
          <a:r>
            <a:rPr lang="en-US" sz="2200" b="1" kern="1200"/>
            <a:t>Changes in government policies</a:t>
          </a:r>
          <a:endParaRPr lang="en-US" sz="2200" kern="1200"/>
        </a:p>
        <a:p>
          <a:pPr marL="457200" lvl="2" indent="-228600" algn="l" defTabSz="977900">
            <a:lnSpc>
              <a:spcPct val="90000"/>
            </a:lnSpc>
            <a:spcBef>
              <a:spcPct val="0"/>
            </a:spcBef>
            <a:spcAft>
              <a:spcPct val="20000"/>
            </a:spcAft>
            <a:buChar char="•"/>
          </a:pPr>
          <a:r>
            <a:rPr lang="en-US" sz="2200" b="1" kern="1200"/>
            <a:t>Job training programs</a:t>
          </a:r>
          <a:endParaRPr lang="en-US" sz="2200" kern="1200"/>
        </a:p>
      </dsp:txBody>
      <dsp:txXfrm>
        <a:off x="0" y="2348040"/>
        <a:ext cx="8839200" cy="22604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832491-AEA1-2749-96E8-2655C0954195}">
      <dsp:nvSpPr>
        <dsp:cNvPr id="0" name=""/>
        <dsp:cNvSpPr/>
      </dsp:nvSpPr>
      <dsp:spPr>
        <a:xfrm>
          <a:off x="0" y="0"/>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CF2CD5-AB6E-5641-A3F3-84CB4CF26AF2}">
      <dsp:nvSpPr>
        <dsp:cNvPr id="0" name=""/>
        <dsp:cNvSpPr/>
      </dsp:nvSpPr>
      <dsp:spPr>
        <a:xfrm>
          <a:off x="0" y="0"/>
          <a:ext cx="8839200" cy="1162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Inflation does not make everyone poorer because incomes often rise with prices.</a:t>
          </a:r>
          <a:endParaRPr lang="en-US" sz="3200" kern="1200"/>
        </a:p>
      </dsp:txBody>
      <dsp:txXfrm>
        <a:off x="0" y="0"/>
        <a:ext cx="8839200" cy="1162049"/>
      </dsp:txXfrm>
    </dsp:sp>
    <dsp:sp modelId="{EDE97174-E7F9-CF49-BEF2-7DD612D715D1}">
      <dsp:nvSpPr>
        <dsp:cNvPr id="0" name=""/>
        <dsp:cNvSpPr/>
      </dsp:nvSpPr>
      <dsp:spPr>
        <a:xfrm>
          <a:off x="0" y="1162050"/>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EF7F24-E09E-8343-B401-0631C56E53A2}">
      <dsp:nvSpPr>
        <dsp:cNvPr id="0" name=""/>
        <dsp:cNvSpPr/>
      </dsp:nvSpPr>
      <dsp:spPr>
        <a:xfrm>
          <a:off x="0" y="1162049"/>
          <a:ext cx="8839200" cy="1162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kern="1200"/>
            <a:t>A better measure?  Real wages.</a:t>
          </a:r>
          <a:endParaRPr lang="en-US" sz="3200" kern="1200"/>
        </a:p>
      </dsp:txBody>
      <dsp:txXfrm>
        <a:off x="0" y="1162049"/>
        <a:ext cx="8839200" cy="1162049"/>
      </dsp:txXfrm>
    </dsp:sp>
    <dsp:sp modelId="{B2CB05B8-A119-264D-82B9-6A88CBDDCB05}">
      <dsp:nvSpPr>
        <dsp:cNvPr id="0" name=""/>
        <dsp:cNvSpPr/>
      </dsp:nvSpPr>
      <dsp:spPr>
        <a:xfrm>
          <a:off x="0" y="2324100"/>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C3A820-B9C4-9D47-85ED-8C5046F39D90}">
      <dsp:nvSpPr>
        <dsp:cNvPr id="0" name=""/>
        <dsp:cNvSpPr/>
      </dsp:nvSpPr>
      <dsp:spPr>
        <a:xfrm>
          <a:off x="0" y="2324099"/>
          <a:ext cx="8839200" cy="1162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i="1" kern="1200"/>
            <a:t>Real wage </a:t>
          </a:r>
          <a:r>
            <a:rPr lang="en-US" sz="3200" b="0" kern="1200"/>
            <a:t>is the wage rate divided by the price level.</a:t>
          </a:r>
          <a:endParaRPr lang="en-US" sz="3200" kern="1200"/>
        </a:p>
      </dsp:txBody>
      <dsp:txXfrm>
        <a:off x="0" y="2324099"/>
        <a:ext cx="8839200" cy="1162049"/>
      </dsp:txXfrm>
    </dsp:sp>
    <dsp:sp modelId="{0C4851F0-7DBA-A74B-9B85-D2498F876016}">
      <dsp:nvSpPr>
        <dsp:cNvPr id="0" name=""/>
        <dsp:cNvSpPr/>
      </dsp:nvSpPr>
      <dsp:spPr>
        <a:xfrm>
          <a:off x="0" y="3486149"/>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297730-48B3-1145-99FD-2C45F8EA93CE}">
      <dsp:nvSpPr>
        <dsp:cNvPr id="0" name=""/>
        <dsp:cNvSpPr/>
      </dsp:nvSpPr>
      <dsp:spPr>
        <a:xfrm>
          <a:off x="0" y="3486149"/>
          <a:ext cx="8839200" cy="1162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b="1" i="1" kern="1200"/>
            <a:t>Real income </a:t>
          </a:r>
          <a:r>
            <a:rPr lang="en-US" sz="3200" b="0" kern="1200"/>
            <a:t>is income divided by the price level.</a:t>
          </a:r>
          <a:endParaRPr lang="en-US" sz="3200" kern="1200"/>
        </a:p>
      </dsp:txBody>
      <dsp:txXfrm>
        <a:off x="0" y="3486149"/>
        <a:ext cx="8839200" cy="116204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4C6EC-8A0E-494D-8D60-DB08017F8C9D}">
      <dsp:nvSpPr>
        <dsp:cNvPr id="0" name=""/>
        <dsp:cNvSpPr/>
      </dsp:nvSpPr>
      <dsp:spPr>
        <a:xfrm>
          <a:off x="0" y="0"/>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158FA8-7634-3141-BCE0-EF2E616FEEAC}">
      <dsp:nvSpPr>
        <dsp:cNvPr id="0" name=""/>
        <dsp:cNvSpPr/>
      </dsp:nvSpPr>
      <dsp:spPr>
        <a:xfrm>
          <a:off x="0" y="0"/>
          <a:ext cx="8839200" cy="1162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If inflation is different from predictions, some will lose and some will benefit.</a:t>
          </a:r>
        </a:p>
      </dsp:txBody>
      <dsp:txXfrm>
        <a:off x="0" y="0"/>
        <a:ext cx="8839200" cy="1162049"/>
      </dsp:txXfrm>
    </dsp:sp>
    <dsp:sp modelId="{0C931CBE-77B7-5144-A03E-F98D59DFAC58}">
      <dsp:nvSpPr>
        <dsp:cNvPr id="0" name=""/>
        <dsp:cNvSpPr/>
      </dsp:nvSpPr>
      <dsp:spPr>
        <a:xfrm>
          <a:off x="0" y="1162050"/>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D2E64D-C985-CC4D-9AA6-730262B68060}">
      <dsp:nvSpPr>
        <dsp:cNvPr id="0" name=""/>
        <dsp:cNvSpPr/>
      </dsp:nvSpPr>
      <dsp:spPr>
        <a:xfrm>
          <a:off x="0" y="1162049"/>
          <a:ext cx="8839200" cy="1162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i="1" kern="1200"/>
            <a:t>Interest rate: </a:t>
          </a:r>
          <a:r>
            <a:rPr lang="en-US" sz="2300" b="0" kern="1200"/>
            <a:t>the price (calculated as a percentage of the amount borrowed) that a lender charges for the use of his or her savings for one year.</a:t>
          </a:r>
          <a:endParaRPr lang="en-US" sz="2300" kern="1200"/>
        </a:p>
      </dsp:txBody>
      <dsp:txXfrm>
        <a:off x="0" y="1162049"/>
        <a:ext cx="8839200" cy="1162049"/>
      </dsp:txXfrm>
    </dsp:sp>
    <dsp:sp modelId="{7187F81D-C695-B14F-89D5-A41CDD50E9E4}">
      <dsp:nvSpPr>
        <dsp:cNvPr id="0" name=""/>
        <dsp:cNvSpPr/>
      </dsp:nvSpPr>
      <dsp:spPr>
        <a:xfrm>
          <a:off x="0" y="2324100"/>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855DEF-C52D-0D49-9093-6BA821272BD8}">
      <dsp:nvSpPr>
        <dsp:cNvPr id="0" name=""/>
        <dsp:cNvSpPr/>
      </dsp:nvSpPr>
      <dsp:spPr>
        <a:xfrm>
          <a:off x="0" y="2324099"/>
          <a:ext cx="8839200" cy="1162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i="1" kern="1200"/>
            <a:t>Nominal interest rate: </a:t>
          </a:r>
          <a:r>
            <a:rPr lang="en-US" sz="2300" b="0" kern="1200"/>
            <a:t>the interest rate expressed in dollar terms.</a:t>
          </a:r>
          <a:endParaRPr lang="en-US" sz="2300" kern="1200"/>
        </a:p>
      </dsp:txBody>
      <dsp:txXfrm>
        <a:off x="0" y="2324099"/>
        <a:ext cx="8839200" cy="1162049"/>
      </dsp:txXfrm>
    </dsp:sp>
    <dsp:sp modelId="{87F5F071-FD93-9C46-A6F5-42C79688FCFF}">
      <dsp:nvSpPr>
        <dsp:cNvPr id="0" name=""/>
        <dsp:cNvSpPr/>
      </dsp:nvSpPr>
      <dsp:spPr>
        <a:xfrm>
          <a:off x="0" y="3486149"/>
          <a:ext cx="88392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8DA634A-8E4D-134D-9A85-EC7303C03E1A}">
      <dsp:nvSpPr>
        <dsp:cNvPr id="0" name=""/>
        <dsp:cNvSpPr/>
      </dsp:nvSpPr>
      <dsp:spPr>
        <a:xfrm>
          <a:off x="0" y="3486149"/>
          <a:ext cx="8839200" cy="11620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i="1" kern="1200"/>
            <a:t>Real interest rate: </a:t>
          </a:r>
          <a:r>
            <a:rPr lang="en-US" sz="2300" b="0" kern="1200"/>
            <a:t>the nominal interest rate minus the rate of inflation.</a:t>
          </a:r>
          <a:endParaRPr lang="en-US" sz="2300" kern="1200"/>
        </a:p>
      </dsp:txBody>
      <dsp:txXfrm>
        <a:off x="0" y="3486149"/>
        <a:ext cx="8839200" cy="116204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D7D7A8-C652-304E-B365-B25232E336F2}" type="datetimeFigureOut">
              <a:rPr lang="en-US" smtClean="0"/>
              <a:t>3/3/25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D5F51-2719-624B-AA3D-8BBD63EA2CE0}" type="slidenum">
              <a:rPr lang="en-US" smtClean="0"/>
              <a:t>‹#›</a:t>
            </a:fld>
            <a:endParaRPr lang="en-US"/>
          </a:p>
        </p:txBody>
      </p:sp>
    </p:spTree>
    <p:extLst>
      <p:ext uri="{BB962C8B-B14F-4D97-AF65-F5344CB8AC3E}">
        <p14:creationId xmlns:p14="http://schemas.microsoft.com/office/powerpoint/2010/main" val="161559712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BC7F735-3B07-40E0-90B2-09F3232ABD28}" type="datetimeFigureOut">
              <a:rPr lang="en-US" smtClean="0"/>
              <a:t>3/3/25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C4470D8-1F41-4A2B-8AFF-DD19730E7B38}" type="slidenum">
              <a:rPr lang="en-US" smtClean="0"/>
              <a:t>‹#›</a:t>
            </a:fld>
            <a:endParaRPr lang="en-US"/>
          </a:p>
        </p:txBody>
      </p:sp>
    </p:spTree>
    <p:extLst>
      <p:ext uri="{BB962C8B-B14F-4D97-AF65-F5344CB8AC3E}">
        <p14:creationId xmlns:p14="http://schemas.microsoft.com/office/powerpoint/2010/main" val="413475513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credit: Bradley Boner/Bloomberg</a:t>
            </a:r>
            <a:r>
              <a:rPr lang="en-US" baseline="0" dirty="0"/>
              <a:t> via Getty Images</a:t>
            </a:r>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3</a:t>
            </a:fld>
            <a:endParaRPr lang="en-US"/>
          </a:p>
        </p:txBody>
      </p:sp>
    </p:spTree>
    <p:extLst>
      <p:ext uri="{BB962C8B-B14F-4D97-AF65-F5344CB8AC3E}">
        <p14:creationId xmlns:p14="http://schemas.microsoft.com/office/powerpoint/2010/main" val="13114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
        <p:nvSpPr>
          <p:cNvPr id="1003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73EF351E-8FDB-4E5B-A74D-163317522AF7}" type="slidenum">
              <a:rPr lang="en-US"/>
              <a:pPr fontAlgn="base">
                <a:spcBef>
                  <a:spcPct val="0"/>
                </a:spcBef>
                <a:spcAft>
                  <a:spcPct val="0"/>
                </a:spcAft>
              </a:pPr>
              <a:t>5</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
        <p:nvSpPr>
          <p:cNvPr id="993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38FD035F-C164-44CB-9B82-4B5270CB02A1}" type="slidenum">
              <a:rPr lang="en-US"/>
              <a:pPr fontAlgn="base">
                <a:spcBef>
                  <a:spcPct val="0"/>
                </a:spcBef>
                <a:spcAft>
                  <a:spcPct val="0"/>
                </a:spcAft>
              </a:pPr>
              <a:t>6</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
        <p:nvSpPr>
          <p:cNvPr id="1013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16C99DA2-B19C-4D7E-BB08-3531C358C7D5}" type="slidenum">
              <a:rPr lang="en-US"/>
              <a:pPr fontAlgn="base">
                <a:spcBef>
                  <a:spcPct val="0"/>
                </a:spcBef>
                <a:spcAft>
                  <a:spcPct val="0"/>
                </a:spcAft>
              </a:pPr>
              <a:t>7</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1A797E4-CA39-4297-8817-BA366D8B7B9E}" type="slidenum">
              <a:rPr lang="en-US" smtClean="0">
                <a:solidFill>
                  <a:prstClr val="black"/>
                </a:solidFill>
                <a:latin typeface="Calibri"/>
              </a:rPr>
              <a:pPr fontAlgn="base">
                <a:spcBef>
                  <a:spcPct val="0"/>
                </a:spcBef>
                <a:spcAft>
                  <a:spcPct val="0"/>
                </a:spcAft>
                <a:defRPr/>
              </a:pPr>
              <a:t>9</a:t>
            </a:fld>
            <a:endParaRPr lang="en-US" dirty="0">
              <a:solidFill>
                <a:prstClr val="black"/>
              </a:solidFill>
              <a:latin typeface="Calibri"/>
            </a:endParaRPr>
          </a:p>
        </p:txBody>
      </p:sp>
      <p:sp>
        <p:nvSpPr>
          <p:cNvPr id="1064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65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a:p>
            <a:pPr eaLnBrk="1" hangingPunct="1">
              <a:spcBef>
                <a:spcPct val="0"/>
              </a:spcBef>
            </a:pP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
        <p:nvSpPr>
          <p:cNvPr id="1331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BC0AAFDC-985F-4CBD-BC18-1397DF0E5002}" type="slidenum">
              <a:rPr lang="en-US"/>
              <a:pPr fontAlgn="base">
                <a:spcBef>
                  <a:spcPct val="0"/>
                </a:spcBef>
                <a:spcAft>
                  <a:spcPct val="0"/>
                </a:spcAft>
              </a:pPr>
              <a:t>11</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
        <p:nvSpPr>
          <p:cNvPr id="1034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0222F736-10D6-4547-9943-822988CFA73E}" type="slidenum">
              <a:rPr lang="en-US"/>
              <a:pPr fontAlgn="base">
                <a:spcBef>
                  <a:spcPct val="0"/>
                </a:spcBef>
                <a:spcAft>
                  <a:spcPct val="0"/>
                </a:spcAft>
              </a:pPr>
              <a:t>12</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a:p>
            <a:pPr>
              <a:spcBef>
                <a:spcPct val="0"/>
              </a:spcBef>
            </a:pPr>
            <a:endParaRPr lang="en-US" dirty="0"/>
          </a:p>
        </p:txBody>
      </p:sp>
      <p:sp>
        <p:nvSpPr>
          <p:cNvPr id="1044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DBEC9DBC-A860-41F3-A1D5-A8E66CB1CA37}" type="slidenum">
              <a:rPr lang="en-US">
                <a:solidFill>
                  <a:prstClr val="black"/>
                </a:solidFill>
              </a:rPr>
              <a:pPr fontAlgn="base">
                <a:spcBef>
                  <a:spcPct val="0"/>
                </a:spcBef>
                <a:spcAft>
                  <a:spcPct val="0"/>
                </a:spcAft>
              </a:pPr>
              <a:t>13</a:t>
            </a:fld>
            <a:endParaRPr lang="en-US" dirty="0">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
        <p:nvSpPr>
          <p:cNvPr id="1054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D065A5F6-1C2F-41CF-9F77-25083E8AA2D1}" type="slidenum">
              <a:rPr lang="en-US"/>
              <a:pPr fontAlgn="base">
                <a:spcBef>
                  <a:spcPct val="0"/>
                </a:spcBef>
                <a:spcAft>
                  <a:spcPct val="0"/>
                </a:spcAft>
              </a:pPr>
              <a:t>18</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64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a:p>
            <a:pPr>
              <a:spcBef>
                <a:spcPct val="0"/>
              </a:spcBef>
            </a:pPr>
            <a:endParaRPr lang="en-US" dirty="0"/>
          </a:p>
        </p:txBody>
      </p:sp>
      <p:sp>
        <p:nvSpPr>
          <p:cNvPr id="1065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52A9A947-7666-4FE9-96E9-6CF5AF1A5A3E}" type="slidenum">
              <a:rPr lang="en-US"/>
              <a:pPr fontAlgn="base">
                <a:spcBef>
                  <a:spcPct val="0"/>
                </a:spcBef>
                <a:spcAft>
                  <a:spcPct val="0"/>
                </a:spcAft>
              </a:pPr>
              <a:t>20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85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latin typeface="Arial" pitchFamily="34" charset="0"/>
              <a:cs typeface="Arial" pitchFamily="34" charset="0"/>
            </a:endParaRPr>
          </a:p>
        </p:txBody>
      </p:sp>
      <p:sp>
        <p:nvSpPr>
          <p:cNvPr id="1085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D60FDEEA-A7E1-4669-ACC1-A1B4D818F93A}" type="slidenum">
              <a:rPr lang="en-US"/>
              <a:pPr fontAlgn="base">
                <a:spcBef>
                  <a:spcPct val="0"/>
                </a:spcBef>
                <a:spcAft>
                  <a:spcPct val="0"/>
                </a:spcAft>
              </a:pPr>
              <a:t>22</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auto" latinLnBrk="0" hangingPunct="1">
              <a:lnSpc>
                <a:spcPct val="100000"/>
              </a:lnSpc>
              <a:spcBef>
                <a:spcPct val="0"/>
              </a:spcBef>
              <a:spcAft>
                <a:spcPts val="0"/>
              </a:spcAft>
              <a:buClrTx/>
              <a:buSzTx/>
              <a:buFontTx/>
              <a:buNone/>
              <a:tabLst/>
              <a:defRPr/>
            </a:pPr>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a:p>
            <a:pPr>
              <a:spcBef>
                <a:spcPct val="0"/>
              </a:spcBef>
            </a:pPr>
            <a:endParaRPr lang="en-US" dirty="0"/>
          </a:p>
        </p:txBody>
      </p:sp>
      <p:sp>
        <p:nvSpPr>
          <p:cNvPr id="1157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A27486F9-51D0-4DBC-90A8-D00C19A7DE04}" type="slidenum">
              <a:rPr lang="en-US"/>
              <a:pPr fontAlgn="base">
                <a:spcBef>
                  <a:spcPct val="0"/>
                </a:spcBef>
                <a:spcAft>
                  <a:spcPct val="0"/>
                </a:spcAft>
              </a:pPr>
              <a:t>23</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lstStyle/>
          <a:p>
            <a:pPr fontAlgn="auto">
              <a:spcBef>
                <a:spcPts val="0"/>
              </a:spcBef>
              <a:spcAft>
                <a:spcPts val="0"/>
              </a:spcAft>
              <a:defRPr/>
            </a:pPr>
            <a:endParaRPr lang="en-US" dirty="0"/>
          </a:p>
        </p:txBody>
      </p:sp>
      <p:sp>
        <p:nvSpPr>
          <p:cNvPr id="1177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396A30BA-9F3C-4D3B-A3EB-5555343A6B21}" type="slidenum">
              <a:rPr lang="en-US"/>
              <a:pPr fontAlgn="base">
                <a:spcBef>
                  <a:spcPct val="0"/>
                </a:spcBef>
                <a:spcAft>
                  <a:spcPct val="0"/>
                </a:spcAft>
              </a:pPr>
              <a:t>24</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credit: </a:t>
            </a:r>
            <a:r>
              <a:rPr lang="en-US" dirty="0" err="1"/>
              <a:t>Marmaduke</a:t>
            </a:r>
            <a:r>
              <a:rPr lang="en-US" dirty="0"/>
              <a:t>/St John </a:t>
            </a:r>
            <a:r>
              <a:rPr lang="en-US" dirty="0" err="1"/>
              <a:t>Alamy</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25</a:t>
            </a:fld>
            <a:endParaRPr lang="en-US"/>
          </a:p>
        </p:txBody>
      </p:sp>
    </p:spTree>
    <p:extLst>
      <p:ext uri="{BB962C8B-B14F-4D97-AF65-F5344CB8AC3E}">
        <p14:creationId xmlns:p14="http://schemas.microsoft.com/office/powerpoint/2010/main" val="3159889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n-US" dirty="0"/>
          </a:p>
        </p:txBody>
      </p:sp>
      <p:sp>
        <p:nvSpPr>
          <p:cNvPr id="1269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7373A2C2-52BC-4B7A-840F-803452A39AC2}" type="slidenum">
              <a:rPr lang="en-US"/>
              <a:pPr fontAlgn="base">
                <a:spcBef>
                  <a:spcPct val="0"/>
                </a:spcBef>
                <a:spcAft>
                  <a:spcPct val="0"/>
                </a:spcAft>
              </a:pPr>
              <a:t>27</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dirty="0"/>
              <a:t>https://www.youtube.com/watch?v=CwpdGyIY2fQ</a:t>
            </a:r>
          </a:p>
        </p:txBody>
      </p:sp>
      <p:sp>
        <p:nvSpPr>
          <p:cNvPr id="1116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7346C305-9799-4C90-88E4-62DAFDD2D95A}" type="slidenum">
              <a:rPr lang="en-US"/>
              <a:pPr fontAlgn="base">
                <a:spcBef>
                  <a:spcPct val="0"/>
                </a:spcBef>
                <a:spcAft>
                  <a:spcPct val="0"/>
                </a:spcAft>
              </a:pPr>
              <a:t>28</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p:txBody>
      </p:sp>
      <p:sp>
        <p:nvSpPr>
          <p:cNvPr id="1259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D351BEC9-8863-4C5F-93FE-39E10CA7B4B7}" type="slidenum">
              <a:rPr lang="en-US"/>
              <a:pPr fontAlgn="base">
                <a:spcBef>
                  <a:spcPct val="0"/>
                </a:spcBef>
                <a:spcAft>
                  <a:spcPct val="0"/>
                </a:spcAft>
              </a:pPr>
              <a:t>30</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300" kern="1200" dirty="0">
                <a:solidFill>
                  <a:schemeClr val="tx1"/>
                </a:solidFill>
                <a:latin typeface="+mn-lt"/>
                <a:ea typeface="+mn-ea"/>
                <a:cs typeface="+mn-cs"/>
              </a:rPr>
              <a:t>Photo</a:t>
            </a:r>
            <a:r>
              <a:rPr lang="en-US" sz="1300" kern="1200" baseline="0" dirty="0">
                <a:solidFill>
                  <a:schemeClr val="tx1"/>
                </a:solidFill>
                <a:latin typeface="+mn-lt"/>
                <a:ea typeface="+mn-ea"/>
                <a:cs typeface="+mn-cs"/>
              </a:rPr>
              <a:t> Credit: Robert Wallis/Corbis</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solidFill>
                  <a:prstClr val="black"/>
                </a:solidFill>
                <a:latin typeface="Calibri"/>
              </a:rPr>
              <a:pPr/>
              <a:t>34</a:t>
            </a:fld>
            <a:endParaRPr lang="en-US">
              <a:solidFill>
                <a:prstClr val="black"/>
              </a:solidFill>
              <a:latin typeface="Calibri"/>
            </a:endParaRPr>
          </a:p>
        </p:txBody>
      </p:sp>
    </p:spTree>
    <p:extLst>
      <p:ext uri="{BB962C8B-B14F-4D97-AF65-F5344CB8AC3E}">
        <p14:creationId xmlns:p14="http://schemas.microsoft.com/office/powerpoint/2010/main" val="1974424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 </a:t>
            </a:r>
            <a:r>
              <a:rPr lang="en-US" dirty="0" err="1"/>
              <a:t>credie</a:t>
            </a:r>
            <a:r>
              <a:rPr lang="en-US" dirty="0"/>
              <a:t>: </a:t>
            </a:r>
            <a:r>
              <a:rPr lang="en-US" sz="1300" b="0" i="0" u="none" strike="noStrike" kern="1200" baseline="0" dirty="0">
                <a:solidFill>
                  <a:schemeClr val="tx1"/>
                </a:solidFill>
                <a:latin typeface="+mn-lt"/>
                <a:ea typeface="+mn-ea"/>
                <a:cs typeface="+mn-cs"/>
              </a:rPr>
              <a:t>AP Photo/Paul Sakuma</a:t>
            </a:r>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solidFill>
                  <a:prstClr val="black"/>
                </a:solidFill>
                <a:latin typeface="Calibri"/>
              </a:rPr>
              <a:pPr/>
              <a:t>35</a:t>
            </a:fld>
            <a:endParaRPr lang="en-US">
              <a:solidFill>
                <a:prstClr val="black"/>
              </a:solidFill>
              <a:latin typeface="Calibri"/>
            </a:endParaRPr>
          </a:p>
        </p:txBody>
      </p:sp>
    </p:spTree>
    <p:extLst>
      <p:ext uri="{BB962C8B-B14F-4D97-AF65-F5344CB8AC3E}">
        <p14:creationId xmlns:p14="http://schemas.microsoft.com/office/powerpoint/2010/main" val="40026036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37</a:t>
            </a:fld>
            <a:endParaRPr lang="en-US"/>
          </a:p>
        </p:txBody>
      </p:sp>
    </p:spTree>
    <p:extLst>
      <p:ext uri="{BB962C8B-B14F-4D97-AF65-F5344CB8AC3E}">
        <p14:creationId xmlns:p14="http://schemas.microsoft.com/office/powerpoint/2010/main" val="20569230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300" kern="1200" dirty="0">
                <a:solidFill>
                  <a:schemeClr val="tx1"/>
                </a:solidFill>
                <a:latin typeface="+mn-lt"/>
                <a:ea typeface="+mn-ea"/>
                <a:cs typeface="+mn-cs"/>
              </a:rPr>
              <a:t>All photo credits unless otherwise noted from </a:t>
            </a:r>
            <a:r>
              <a:rPr lang="en-US" sz="1300" kern="1200" dirty="0" err="1">
                <a:solidFill>
                  <a:schemeClr val="tx1"/>
                </a:solidFill>
                <a:latin typeface="+mn-lt"/>
                <a:ea typeface="+mn-ea"/>
                <a:cs typeface="+mn-cs"/>
              </a:rPr>
              <a:t>Freeimages.com</a:t>
            </a:r>
            <a:r>
              <a:rPr lang="en-US" sz="1300" kern="1200" dirty="0">
                <a:solidFill>
                  <a:schemeClr val="tx1"/>
                </a:solidFill>
                <a:latin typeface="+mn-lt"/>
                <a:ea typeface="+mn-ea"/>
                <a:cs typeface="+mn-cs"/>
              </a:rPr>
              <a:t> (Formerly </a:t>
            </a:r>
            <a:r>
              <a:rPr lang="en-US" sz="1300" kern="1200" dirty="0" err="1">
                <a:solidFill>
                  <a:schemeClr val="tx1"/>
                </a:solidFill>
                <a:latin typeface="+mn-lt"/>
                <a:ea typeface="+mn-ea"/>
                <a:cs typeface="+mn-cs"/>
              </a:rPr>
              <a:t>Stockxchange</a:t>
            </a:r>
            <a:r>
              <a:rPr lang="en-US" sz="1300" kern="1200" dirty="0">
                <a:solidFill>
                  <a:schemeClr val="tx1"/>
                </a:solidFill>
                <a:latin typeface="+mn-lt"/>
                <a:ea typeface="+mn-ea"/>
                <a:cs typeface="+mn-cs"/>
              </a:rPr>
              <a:t>) or </a:t>
            </a:r>
            <a:r>
              <a:rPr lang="en-US" sz="1300" kern="1200" dirty="0" err="1">
                <a:solidFill>
                  <a:schemeClr val="tx1"/>
                </a:solidFill>
                <a:latin typeface="+mn-lt"/>
                <a:ea typeface="+mn-ea"/>
                <a:cs typeface="+mn-cs"/>
              </a:rPr>
              <a:t>Morguefile.com</a:t>
            </a:r>
            <a:endParaRPr lang="en-US" dirty="0"/>
          </a:p>
          <a:p>
            <a:endParaRPr lang="en-US" dirty="0"/>
          </a:p>
        </p:txBody>
      </p:sp>
      <p:sp>
        <p:nvSpPr>
          <p:cNvPr id="4" name="Slide Number Placeholder 3"/>
          <p:cNvSpPr>
            <a:spLocks noGrp="1"/>
          </p:cNvSpPr>
          <p:nvPr>
            <p:ph type="sldNum" sz="quarter" idx="10"/>
          </p:nvPr>
        </p:nvSpPr>
        <p:spPr/>
        <p:txBody>
          <a:bodyPr/>
          <a:lstStyle/>
          <a:p>
            <a:fld id="{9AB36305-836F-4DC4-8519-4D39157E5B8B}" type="slidenum">
              <a:rPr lang="en-US" smtClean="0"/>
              <a:t>39</a:t>
            </a:fld>
            <a:endParaRPr lang="en-US"/>
          </a:p>
        </p:txBody>
      </p:sp>
    </p:spTree>
    <p:extLst>
      <p:ext uri="{BB962C8B-B14F-4D97-AF65-F5344CB8AC3E}">
        <p14:creationId xmlns:p14="http://schemas.microsoft.com/office/powerpoint/2010/main" val="32694092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40</a:t>
            </a:fld>
            <a:endParaRPr lang="en-US"/>
          </a:p>
        </p:txBody>
      </p:sp>
    </p:spTree>
    <p:extLst>
      <p:ext uri="{BB962C8B-B14F-4D97-AF65-F5344CB8AC3E}">
        <p14:creationId xmlns:p14="http://schemas.microsoft.com/office/powerpoint/2010/main" val="4054094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41</a:t>
            </a:fld>
            <a:endParaRPr lang="en-US"/>
          </a:p>
        </p:txBody>
      </p:sp>
    </p:spTree>
    <p:extLst>
      <p:ext uri="{BB962C8B-B14F-4D97-AF65-F5344CB8AC3E}">
        <p14:creationId xmlns:p14="http://schemas.microsoft.com/office/powerpoint/2010/main" val="28704692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47</a:t>
            </a:fld>
            <a:endParaRPr lang="en-US"/>
          </a:p>
        </p:txBody>
      </p:sp>
    </p:spTree>
    <p:extLst>
      <p:ext uri="{BB962C8B-B14F-4D97-AF65-F5344CB8AC3E}">
        <p14:creationId xmlns:p14="http://schemas.microsoft.com/office/powerpoint/2010/main" val="1027269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latin typeface="+mn-lt"/>
                <a:ea typeface="+mn-ea"/>
                <a:cs typeface="+mn-cs"/>
              </a:rPr>
              <a:t>All photo credits unless otherwise noted from </a:t>
            </a:r>
            <a:r>
              <a:rPr lang="en-US" sz="1200" kern="1200" dirty="0" err="1">
                <a:solidFill>
                  <a:schemeClr val="tx1"/>
                </a:solidFill>
                <a:latin typeface="+mn-lt"/>
                <a:ea typeface="+mn-ea"/>
                <a:cs typeface="+mn-cs"/>
              </a:rPr>
              <a:t>Freeimages.com</a:t>
            </a:r>
            <a:r>
              <a:rPr lang="en-US" sz="1200" kern="1200" dirty="0">
                <a:solidFill>
                  <a:schemeClr val="tx1"/>
                </a:solidFill>
                <a:latin typeface="+mn-lt"/>
                <a:ea typeface="+mn-ea"/>
                <a:cs typeface="+mn-cs"/>
              </a:rPr>
              <a:t> (Formerly </a:t>
            </a:r>
            <a:r>
              <a:rPr lang="en-US" sz="1200" kern="1200" dirty="0" err="1">
                <a:solidFill>
                  <a:schemeClr val="tx1"/>
                </a:solidFill>
                <a:latin typeface="+mn-lt"/>
                <a:ea typeface="+mn-ea"/>
                <a:cs typeface="+mn-cs"/>
              </a:rPr>
              <a:t>Stockxchange</a:t>
            </a:r>
            <a:r>
              <a:rPr lang="en-US" sz="1200" kern="1200" dirty="0">
                <a:solidFill>
                  <a:schemeClr val="tx1"/>
                </a:solidFill>
                <a:latin typeface="+mn-lt"/>
                <a:ea typeface="+mn-ea"/>
                <a:cs typeface="+mn-cs"/>
              </a:rPr>
              <a:t>) or </a:t>
            </a:r>
            <a:r>
              <a:rPr lang="en-US" sz="1200" kern="1200" dirty="0" err="1">
                <a:solidFill>
                  <a:schemeClr val="tx1"/>
                </a:solidFill>
                <a:latin typeface="+mn-lt"/>
                <a:ea typeface="+mn-ea"/>
                <a:cs typeface="+mn-cs"/>
              </a:rPr>
              <a:t>Morguefile.com</a:t>
            </a:r>
            <a:endParaRPr lang="en-US" dirty="0"/>
          </a:p>
          <a:p>
            <a:endParaRPr lang="en-US" dirty="0"/>
          </a:p>
        </p:txBody>
      </p:sp>
      <p:sp>
        <p:nvSpPr>
          <p:cNvPr id="4" name="Slide Number Placeholder 3"/>
          <p:cNvSpPr>
            <a:spLocks noGrp="1"/>
          </p:cNvSpPr>
          <p:nvPr>
            <p:ph type="sldNum" sz="quarter" idx="10"/>
          </p:nvPr>
        </p:nvSpPr>
        <p:spPr/>
        <p:txBody>
          <a:bodyPr/>
          <a:lstStyle/>
          <a:p>
            <a:fld id="{6C4470D8-1F41-4A2B-8AFF-DD19730E7B38}" type="slidenum">
              <a:rPr lang="en-US" smtClean="0"/>
              <a:t>49</a:t>
            </a:fld>
            <a:endParaRPr lang="en-US"/>
          </a:p>
        </p:txBody>
      </p:sp>
    </p:spTree>
    <p:extLst>
      <p:ext uri="{BB962C8B-B14F-4D97-AF65-F5344CB8AC3E}">
        <p14:creationId xmlns:p14="http://schemas.microsoft.com/office/powerpoint/2010/main" val="16554468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8" Type="http://schemas.openxmlformats.org/officeDocument/2006/relationships/hyperlink" Target="http://krugman.blogs.nytimes.com/" TargetMode="External"/><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gregmankiw.blogspot.com/" TargetMode="External"/><Relationship Id="rId1" Type="http://schemas.openxmlformats.org/officeDocument/2006/relationships/slideMaster" Target="../slideMasters/slideMaster3.xml"/><Relationship Id="rId6" Type="http://schemas.openxmlformats.org/officeDocument/2006/relationships/hyperlink" Target="http://www.freakonomics.com/blog/"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research.stlouisfed.org/fred2/" TargetMode="External"/><Relationship Id="rId4" Type="http://schemas.openxmlformats.org/officeDocument/2006/relationships/hyperlink" Target="http://marginalrevolution.com/" TargetMode="External"/><Relationship Id="rId9"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9.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0.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Master" Target="../slideMasters/slideMaster10.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0.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entury Gothic"/>
                <a:cs typeface="Century Gothic"/>
              </a:defRPr>
            </a:lvl1pPr>
            <a:lvl2pPr>
              <a:defRPr sz="2800" baseline="0">
                <a:latin typeface="Century Gothic"/>
                <a:cs typeface="Century Gothic"/>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3844364"/>
      </p:ext>
    </p:extLst>
  </p:cSld>
  <p:clrMapOvr>
    <a:masterClrMapping/>
  </p:clrMapOvr>
  <p:transition>
    <p:fade thruBlk="1"/>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solidFill>
                  <a:srgbClr val="4BACC6">
                    <a:lumMod val="75000"/>
                  </a:srgbClr>
                </a:solidFill>
              </a:rPr>
              <a:t>ECONOMICS</a:t>
            </a:r>
            <a:endParaRPr lang="en-US" dirty="0">
              <a:solidFill>
                <a:srgbClr val="4BACC6">
                  <a:lumMod val="75000"/>
                </a:srgbClr>
              </a:solidFill>
            </a:endParaRP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57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a:prstGeom prst="rect">
            <a:avLst/>
          </a:prstGeom>
        </p:spPr>
        <p:txBody>
          <a:bodyPr/>
          <a:lstStyle>
            <a:lvl1pPr algn="r">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505184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088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9144000" cy="838200"/>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5" name="Picture 4" descr="Screen Shot 2014-12-20 at 5.27.50 PM.png"/>
          <p:cNvPicPr>
            <a:picLocks noChangeAspect="1"/>
          </p:cNvPicPr>
          <p:nvPr userDrawn="1"/>
        </p:nvPicPr>
        <p:blipFill>
          <a:blip r:embed="rId2">
            <a:alphaModFix amt="20000"/>
            <a:extLst>
              <a:ext uri="{28A0092B-C50C-407E-A947-70E740481C1C}">
                <a14:useLocalDpi xmlns:a14="http://schemas.microsoft.com/office/drawing/2010/main"/>
              </a:ext>
            </a:extLst>
          </a:blip>
          <a:stretch>
            <a:fillRect/>
          </a:stretch>
        </p:blipFill>
        <p:spPr>
          <a:xfrm>
            <a:off x="0" y="2925592"/>
            <a:ext cx="3985858" cy="3924300"/>
          </a:xfrm>
          <a:prstGeom prst="rect">
            <a:avLst/>
          </a:prstGeom>
        </p:spPr>
      </p:pic>
    </p:spTree>
    <p:extLst>
      <p:ext uri="{BB962C8B-B14F-4D97-AF65-F5344CB8AC3E}">
        <p14:creationId xmlns:p14="http://schemas.microsoft.com/office/powerpoint/2010/main" val="406133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185422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Custom Layout">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1828800" y="2438400"/>
            <a:ext cx="5245100" cy="3932581"/>
          </a:xfrm>
          <a:prstGeom prst="rect">
            <a:avLst/>
          </a:prstGeom>
        </p:spPr>
      </p:pic>
      <p:sp>
        <p:nvSpPr>
          <p:cNvPr id="7" name="Content Placeholder 2"/>
          <p:cNvSpPr>
            <a:spLocks noGrp="1"/>
          </p:cNvSpPr>
          <p:nvPr>
            <p:ph idx="1"/>
          </p:nvPr>
        </p:nvSpPr>
        <p:spPr>
          <a:xfrm>
            <a:off x="457200" y="1143000"/>
            <a:ext cx="8686800" cy="1371600"/>
          </a:xfrm>
        </p:spPr>
        <p:txBody>
          <a:bodyPr>
            <a:noAutofit/>
          </a:bodyPr>
          <a:lstStyle>
            <a:lvl1pPr>
              <a:defRPr sz="3200" baseline="0">
                <a:latin typeface="Candara" pitchFamily="34" charset="0"/>
              </a:defRPr>
            </a:lvl1pPr>
            <a:lvl2pPr>
              <a:defRPr sz="2800" baseline="0">
                <a:latin typeface="Candara" pitchFamily="34" charset="0"/>
              </a:defRPr>
            </a:lvl2pPr>
            <a:lvl3pPr>
              <a:defRPr sz="2400" baseline="0">
                <a:latin typeface="Candara" pitchFamily="34" charset="0"/>
              </a:defRPr>
            </a:lvl3pPr>
            <a:lvl4pPr>
              <a:defRPr sz="2000" baseline="0">
                <a:latin typeface="Candara" pitchFamily="34" charset="0"/>
              </a:defRPr>
            </a:lvl4pPr>
            <a:lvl5pPr>
              <a:defRPr sz="2000" baseline="0">
                <a:latin typeface="Candara" pitchFamily="34" charset="0"/>
              </a:defRPr>
            </a:lvl5pPr>
          </a:lstStyle>
          <a:p>
            <a:pPr lvl="0"/>
            <a:r>
              <a:rPr lang="en-US"/>
              <a:t>Click to edit Master text styles</a:t>
            </a:r>
          </a:p>
          <a:p>
            <a:pPr lvl="1"/>
            <a:r>
              <a:rPr lang="en-US"/>
              <a:t>Second level</a:t>
            </a:r>
          </a:p>
        </p:txBody>
      </p:sp>
      <p:sp>
        <p:nvSpPr>
          <p:cNvPr id="8" name="Footer Placeholder 4"/>
          <p:cNvSpPr txBox="1">
            <a:spLocks/>
          </p:cNvSpPr>
          <p:nvPr/>
        </p:nvSpPr>
        <p:spPr>
          <a:xfrm>
            <a:off x="2324100" y="6629400"/>
            <a:ext cx="4800600" cy="228600"/>
          </a:xfrm>
          <a:prstGeom prst="rect">
            <a:avLst/>
          </a:prstGeom>
        </p:spPr>
        <p:txBody>
          <a:bodyPr/>
          <a:lstStyle>
            <a:defPPr>
              <a:defRPr lang="en-US"/>
            </a:defPPr>
            <a:lvl1pPr marL="0" algn="ctr" defTabSz="914400" rtl="0" eaLnBrk="1" fontAlgn="auto" latinLnBrk="0" hangingPunct="1">
              <a:spcBef>
                <a:spcPts val="0"/>
              </a:spcBef>
              <a:spcAft>
                <a:spcPts val="0"/>
              </a:spcAft>
              <a:defRPr sz="1100" i="0" kern="1200" cap="small" spc="400" baseline="0" smtClean="0">
                <a:solidFill>
                  <a:schemeClr val="tx1">
                    <a:lumMod val="50000"/>
                    <a:lumOff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t>Copyright 2013 Worth Publishers</a:t>
            </a:r>
          </a:p>
        </p:txBody>
      </p:sp>
    </p:spTree>
    <p:extLst>
      <p:ext uri="{BB962C8B-B14F-4D97-AF65-F5344CB8AC3E}">
        <p14:creationId xmlns:p14="http://schemas.microsoft.com/office/powerpoint/2010/main" val="3050879557"/>
      </p:ext>
    </p:extLst>
  </p:cSld>
  <p:clrMapOvr>
    <a:masterClrMapping/>
  </p:clrMapOvr>
  <p:transition>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t>Copyright 2015 Worth Publishers</a:t>
            </a:r>
            <a:endParaRPr lang="en-US" dirty="0"/>
          </a:p>
        </p:txBody>
      </p:sp>
    </p:spTree>
    <p:extLst>
      <p:ext uri="{BB962C8B-B14F-4D97-AF65-F5344CB8AC3E}">
        <p14:creationId xmlns:p14="http://schemas.microsoft.com/office/powerpoint/2010/main" val="22150793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392043"/>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a:t>ECONOMICS</a:t>
            </a:r>
            <a:endParaRPr lang="en-US" dirty="0"/>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Tree>
    <p:extLst>
      <p:ext uri="{BB962C8B-B14F-4D97-AF65-F5344CB8AC3E}">
        <p14:creationId xmlns:p14="http://schemas.microsoft.com/office/powerpoint/2010/main" val="3552060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cstate="screen">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Rectangle 4"/>
          <p:cNvSpPr/>
          <p:nvPr userDrawn="1"/>
        </p:nvSpPr>
        <p:spPr>
          <a:xfrm>
            <a:off x="-4763" y="5410200"/>
            <a:ext cx="9136063" cy="1447800"/>
          </a:xfrm>
          <a:prstGeom prst="rect">
            <a:avLst/>
          </a:prstGeom>
          <a:solidFill>
            <a:schemeClr val="tx1">
              <a:alpha val="81000"/>
            </a:schemeClr>
          </a:solidFill>
        </p:spPr>
        <p:txBody>
          <a:bodyPr anchor="ctr">
            <a:normAutofit/>
          </a:bodyPr>
          <a:lstStyle/>
          <a:p>
            <a:pPr algn="r">
              <a:defRPr/>
            </a:pPr>
            <a:endParaRPr lang="en-US" sz="6000" spc="50" dirty="0">
              <a:latin typeface="Candara" pitchFamily="34" charset="0"/>
              <a:ea typeface="Tahoma" pitchFamily="34" charset="0"/>
              <a:cs typeface="Tahoma" pitchFamily="34" charset="0"/>
            </a:endParaRPr>
          </a:p>
        </p:txBody>
      </p:sp>
      <p:sp>
        <p:nvSpPr>
          <p:cNvPr id="6" name="TextBox 5"/>
          <p:cNvSpPr txBox="1"/>
          <p:nvPr/>
        </p:nvSpPr>
        <p:spPr>
          <a:xfrm>
            <a:off x="510209" y="5472380"/>
            <a:ext cx="2438400" cy="1323439"/>
          </a:xfrm>
          <a:prstGeom prst="rect">
            <a:avLst/>
          </a:prstGeom>
          <a:noFill/>
        </p:spPr>
        <p:txBody>
          <a:bodyPr wrap="square">
            <a:spAutoFit/>
          </a:bodyPr>
          <a:lstStyle/>
          <a:p>
            <a:pPr>
              <a:defRPr/>
            </a:pPr>
            <a:r>
              <a:rPr lang="en-US" sz="8000" b="1" spc="-300" dirty="0">
                <a:solidFill>
                  <a:schemeClr val="bg1"/>
                </a:solidFill>
                <a:effectLst>
                  <a:outerShdw blurRad="38100" dist="38100" dir="2700000" algn="tl">
                    <a:srgbClr val="000000">
                      <a:alpha val="43137"/>
                    </a:srgbClr>
                  </a:outerShdw>
                </a:effectLst>
                <a:latin typeface="Tw Cen MT"/>
                <a:ea typeface="Tahoma" pitchFamily="34" charset="0"/>
                <a:cs typeface="Tw Cen MT"/>
              </a:rPr>
              <a:t>8(23)</a:t>
            </a:r>
          </a:p>
        </p:txBody>
      </p:sp>
      <p:sp>
        <p:nvSpPr>
          <p:cNvPr id="7" name="TextBox 6"/>
          <p:cNvSpPr txBox="1"/>
          <p:nvPr/>
        </p:nvSpPr>
        <p:spPr>
          <a:xfrm rot="16200000">
            <a:off x="-418306" y="5981184"/>
            <a:ext cx="1358900" cy="369332"/>
          </a:xfrm>
          <a:prstGeom prst="rect">
            <a:avLst/>
          </a:prstGeom>
          <a:noFill/>
        </p:spPr>
        <p:txBody>
          <a:bodyPr>
            <a:spAutoFit/>
          </a:bodyPr>
          <a:lstStyle/>
          <a:p>
            <a:pPr>
              <a:defRPr/>
            </a:pPr>
            <a:r>
              <a:rPr lang="en-US" b="1" kern="0" cap="all" spc="300" dirty="0">
                <a:solidFill>
                  <a:schemeClr val="bg1">
                    <a:lumMod val="75000"/>
                  </a:schemeClr>
                </a:solidFill>
                <a:latin typeface="Tw Cen MT"/>
                <a:ea typeface="+mj-ea"/>
                <a:cs typeface="Tw Cen MT"/>
              </a:rPr>
              <a:t>Chapter</a:t>
            </a:r>
            <a:endParaRPr lang="en-US" sz="2000" b="1" kern="0" cap="all" spc="300" dirty="0">
              <a:solidFill>
                <a:schemeClr val="bg1">
                  <a:lumMod val="75000"/>
                </a:schemeClr>
              </a:solidFill>
              <a:latin typeface="Tw Cen MT"/>
              <a:ea typeface="+mj-ea"/>
              <a:cs typeface="Tw Cen MT"/>
            </a:endParaRPr>
          </a:p>
        </p:txBody>
      </p:sp>
      <p:sp>
        <p:nvSpPr>
          <p:cNvPr id="8" name="TextBox 7"/>
          <p:cNvSpPr txBox="1"/>
          <p:nvPr/>
        </p:nvSpPr>
        <p:spPr>
          <a:xfrm>
            <a:off x="0" y="-15356"/>
            <a:ext cx="7696200" cy="307777"/>
          </a:xfrm>
          <a:prstGeom prst="rect">
            <a:avLst/>
          </a:prstGeom>
          <a:noFill/>
        </p:spPr>
        <p:txBody>
          <a:bodyPr wrap="square">
            <a:spAutoFit/>
          </a:bodyPr>
          <a:lstStyle/>
          <a:p>
            <a:pPr algn="l">
              <a:defRPr/>
            </a:pPr>
            <a:r>
              <a:rPr lang="en-US" sz="1400" b="1" i="0" kern="0" cap="small" spc="400" dirty="0">
                <a:solidFill>
                  <a:schemeClr val="tx1">
                    <a:lumMod val="50000"/>
                    <a:lumOff val="50000"/>
                  </a:schemeClr>
                </a:solidFill>
                <a:latin typeface="Tw Cen MT" pitchFamily="34" charset="0"/>
              </a:rPr>
              <a:t>Slides by Solina Lindahl</a:t>
            </a:r>
          </a:p>
        </p:txBody>
      </p:sp>
      <p:sp>
        <p:nvSpPr>
          <p:cNvPr id="12" name="Title 1"/>
          <p:cNvSpPr txBox="1">
            <a:spLocks/>
          </p:cNvSpPr>
          <p:nvPr userDrawn="1"/>
        </p:nvSpPr>
        <p:spPr>
          <a:xfrm>
            <a:off x="1295400" y="5321905"/>
            <a:ext cx="7772400" cy="1447800"/>
          </a:xfrm>
          <a:prstGeom prst="rect">
            <a:avLst/>
          </a:prstGeom>
          <a:noFill/>
        </p:spPr>
        <p:txBody>
          <a:bodyPr>
            <a:noAutofit/>
          </a:bodyPr>
          <a:lstStyle>
            <a:lvl1pPr algn="r" defTabSz="914400" rtl="0" eaLnBrk="1" latinLnBrk="0" hangingPunct="1">
              <a:spcBef>
                <a:spcPct val="0"/>
              </a:spcBef>
              <a:buNone/>
              <a:defRPr lang="en-US" sz="5400" b="1" i="0" u="none" strike="noStrike" kern="1200" cap="none" spc="100" baseline="0" smtClean="0">
                <a:solidFill>
                  <a:srgbClr val="FF3300"/>
                </a:solidFill>
                <a:effectLst/>
                <a:latin typeface="Candara" pitchFamily="34" charset="0"/>
                <a:ea typeface="+mj-ea"/>
                <a:cs typeface="+mj-cs"/>
              </a:defRPr>
            </a:lvl1pPr>
          </a:lstStyle>
          <a:p>
            <a:r>
              <a:rPr lang="en-US" sz="4000" b="1" kern="0" spc="500" dirty="0">
                <a:latin typeface="Tw Cen MT"/>
                <a:cs typeface="Tw Cen MT"/>
              </a:rPr>
              <a:t>Unemployment and Inflation</a:t>
            </a:r>
          </a:p>
        </p:txBody>
      </p:sp>
    </p:spTree>
    <p:extLst>
      <p:ext uri="{BB962C8B-B14F-4D97-AF65-F5344CB8AC3E}">
        <p14:creationId xmlns:p14="http://schemas.microsoft.com/office/powerpoint/2010/main" val="422087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cxnSp>
        <p:nvCxnSpPr>
          <p:cNvPr id="2" name="Straight Connector 1"/>
          <p:cNvCxnSpPr/>
          <p:nvPr/>
        </p:nvCxnSpPr>
        <p:spPr>
          <a:xfrm>
            <a:off x="0" y="60198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0" y="2286000"/>
            <a:ext cx="9144000" cy="0"/>
          </a:xfrm>
          <a:prstGeom prst="line">
            <a:avLst/>
          </a:prstGeom>
          <a:ln w="57150" cmpd="sng">
            <a:solidFill>
              <a:srgbClr val="F8EF59"/>
            </a:solidFill>
            <a:prstDash val="dash"/>
          </a:ln>
        </p:spPr>
        <p:style>
          <a:lnRef idx="1">
            <a:schemeClr val="accent1"/>
          </a:lnRef>
          <a:fillRef idx="0">
            <a:schemeClr val="accent1"/>
          </a:fillRef>
          <a:effectRef idx="0">
            <a:schemeClr val="accent1"/>
          </a:effectRef>
          <a:fontRef idx="minor">
            <a:schemeClr val="tx1"/>
          </a:fontRef>
        </p:style>
      </p:cxnSp>
      <p:sp>
        <p:nvSpPr>
          <p:cNvPr id="5" name="TextBox 9"/>
          <p:cNvSpPr txBox="1">
            <a:spLocks noChangeArrowheads="1"/>
          </p:cNvSpPr>
          <p:nvPr/>
        </p:nvSpPr>
        <p:spPr bwMode="auto">
          <a:xfrm>
            <a:off x="0" y="1490246"/>
            <a:ext cx="9144000" cy="338554"/>
          </a:xfrm>
          <a:prstGeom prst="rect">
            <a:avLst/>
          </a:prstGeom>
          <a:solidFill>
            <a:srgbClr val="CCFF33">
              <a:alpha val="47058"/>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lgn="ctr" eaLnBrk="1" hangingPunct="1"/>
            <a:r>
              <a:rPr lang="en-US" sz="1600" b="0" i="0" spc="300" dirty="0">
                <a:solidFill>
                  <a:srgbClr val="F79646"/>
                </a:solidFill>
                <a:latin typeface="+mn-lt"/>
              </a:rPr>
              <a:t>SOME GOOD BLOGS AND OTHER SITES TO GET THE JUICES FLOWING:</a:t>
            </a:r>
          </a:p>
        </p:txBody>
      </p:sp>
      <p:sp>
        <p:nvSpPr>
          <p:cNvPr id="6" name="Title 1"/>
          <p:cNvSpPr txBox="1">
            <a:spLocks/>
          </p:cNvSpPr>
          <p:nvPr/>
        </p:nvSpPr>
        <p:spPr>
          <a:xfrm>
            <a:off x="0" y="0"/>
            <a:ext cx="7391400" cy="784225"/>
          </a:xfrm>
          <a:prstGeom prst="rect">
            <a:avLst/>
          </a:prstGeom>
          <a:noFill/>
          <a:effectLst/>
        </p:spPr>
        <p:txBody>
          <a:bodyPr/>
          <a:lstStyle>
            <a:lvl1pPr>
              <a:defRPr sz="3600">
                <a:solidFill>
                  <a:schemeClr val="accent1">
                    <a:lumMod val="60000"/>
                    <a:lumOff val="40000"/>
                  </a:schemeClr>
                </a:solidFill>
                <a:effectLst>
                  <a:outerShdw blurRad="38100" dist="38100" dir="2700000" algn="tl">
                    <a:srgbClr val="000000">
                      <a:alpha val="43137"/>
                    </a:srgbClr>
                  </a:outerShdw>
                </a:effectLst>
              </a:defRPr>
            </a:lvl1pPr>
          </a:lstStyle>
          <a:p>
            <a:pPr>
              <a:defRPr/>
            </a:pP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FOOD FOR</a:t>
            </a:r>
            <a:r>
              <a:rPr lang="en-US" sz="4800" b="0" baseline="0" dirty="0">
                <a:solidFill>
                  <a:schemeClr val="accent6"/>
                </a:solidFill>
                <a:effectLst>
                  <a:innerShdw blurRad="63500" dist="50800" dir="13500000">
                    <a:prstClr val="black">
                      <a:alpha val="50000"/>
                    </a:prstClr>
                  </a:innerShdw>
                </a:effectLst>
                <a:latin typeface="Century Gothic" pitchFamily="34" charset="0"/>
                <a:cs typeface="Arial" pitchFamily="34" charset="0"/>
              </a:rPr>
              <a:t> </a:t>
            </a:r>
            <a:r>
              <a:rPr lang="en-US" sz="4800" b="0" dirty="0">
                <a:solidFill>
                  <a:schemeClr val="accent6"/>
                </a:solidFill>
                <a:effectLst>
                  <a:innerShdw blurRad="63500" dist="50800" dir="13500000">
                    <a:prstClr val="black">
                      <a:alpha val="50000"/>
                    </a:prstClr>
                  </a:innerShdw>
                </a:effectLst>
                <a:latin typeface="Century Gothic" pitchFamily="34" charset="0"/>
                <a:cs typeface="Arial" pitchFamily="34" charset="0"/>
              </a:rPr>
              <a:t>THOUGHT….</a:t>
            </a:r>
          </a:p>
        </p:txBody>
      </p:sp>
      <p:pic>
        <p:nvPicPr>
          <p:cNvPr id="7" name="Picture 2">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029200" y="4572000"/>
            <a:ext cx="2724150" cy="5175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hlinkClick r:id="rId4"/>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145213" y="3048000"/>
            <a:ext cx="2998787" cy="5397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4">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200400" y="2971800"/>
            <a:ext cx="2686050" cy="6572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pic>
        <p:nvPicPr>
          <p:cNvPr id="15" name="Picture 14" descr="Screen Shot 2014-12-20 at 8.46.54 PM.png">
            <a:hlinkClick r:id="rId8"/>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12674" y="2971800"/>
            <a:ext cx="2692400" cy="592126"/>
          </a:xfrm>
          <a:prstGeom prst="rect">
            <a:avLst/>
          </a:prstGeom>
          <a:ln>
            <a:noFill/>
          </a:ln>
          <a:effectLst>
            <a:outerShdw blurRad="292100" dist="139700" dir="2700000" algn="tl" rotWithShape="0">
              <a:srgbClr val="333333">
                <a:alpha val="65000"/>
              </a:srgbClr>
            </a:outerShdw>
          </a:effectLst>
        </p:spPr>
      </p:pic>
      <p:pic>
        <p:nvPicPr>
          <p:cNvPr id="16" name="Picture 15" descr="Screen Shot 2014-12-20 at 8.49.18 PM.png">
            <a:hlinkClick r:id="rId10"/>
          </p:cNvPr>
          <p:cNvPicPr>
            <a:picLocks noChangeAspect="1"/>
          </p:cNvPicPr>
          <p:nvPr userDrawn="1"/>
        </p:nvPicPr>
        <p:blipFill>
          <a:blip r:embed="rId11">
            <a:extLst>
              <a:ext uri="{28A0092B-C50C-407E-A947-70E740481C1C}">
                <a14:useLocalDpi xmlns:a14="http://schemas.microsoft.com/office/drawing/2010/main"/>
              </a:ext>
            </a:extLst>
          </a:blip>
          <a:stretch>
            <a:fillRect/>
          </a:stretch>
        </p:blipFill>
        <p:spPr>
          <a:xfrm>
            <a:off x="1905000" y="4343400"/>
            <a:ext cx="2336800" cy="841691"/>
          </a:xfrm>
          <a:prstGeom prst="rect">
            <a:avLst/>
          </a:prstGeom>
          <a:ln>
            <a:noFill/>
          </a:ln>
          <a:effectLst>
            <a:outerShdw blurRad="292100" dist="139700" dir="2700000" algn="tl" rotWithShape="0">
              <a:srgbClr val="333333">
                <a:alpha val="65000"/>
              </a:srgbClr>
            </a:outerShdw>
          </a:effectLst>
        </p:spPr>
      </p:pic>
      <p:pic>
        <p:nvPicPr>
          <p:cNvPr id="18" name="Picture 17"/>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960000">
            <a:off x="8016447" y="97714"/>
            <a:ext cx="787093" cy="13285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051745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912813" indent="-571500">
              <a:buClr>
                <a:schemeClr val="accent3"/>
              </a:buClr>
              <a:buFont typeface="Wingdings" charset="2"/>
              <a:buChar char="§"/>
              <a:defRPr b="1">
                <a:solidFill>
                  <a:schemeClr val="tx1"/>
                </a:solidFill>
                <a:latin typeface="Century Gothic"/>
                <a:cs typeface="Century Gothic"/>
              </a:defRPr>
            </a:lvl1pPr>
            <a:lvl2pPr marL="1200150" indent="-457200">
              <a:buClr>
                <a:schemeClr val="accent3"/>
              </a:buClr>
              <a:buFont typeface="Wingdings" charset="2"/>
              <a:buChar char="§"/>
              <a:defRPr b="1">
                <a:solidFill>
                  <a:schemeClr val="tx1"/>
                </a:solidFill>
                <a:latin typeface="Century Gothic"/>
                <a:cs typeface="Century Gothic"/>
              </a:defRPr>
            </a:lvl2pPr>
            <a:lvl3pPr marL="1371600" indent="-457200">
              <a:buClr>
                <a:schemeClr val="accent3"/>
              </a:buClr>
              <a:buFont typeface="Wingdings" charset="2"/>
              <a:buChar char="§"/>
              <a:defRPr b="1">
                <a:solidFill>
                  <a:schemeClr val="tx1"/>
                </a:solidFill>
                <a:latin typeface="Century Gothic"/>
                <a:cs typeface="Century Gothic"/>
              </a:defRPr>
            </a:lvl3pPr>
            <a:lvl4pPr marL="1714500" indent="-342900">
              <a:buClr>
                <a:schemeClr val="accent3"/>
              </a:buClr>
              <a:buFont typeface="Wingdings" charset="2"/>
              <a:buChar char="§"/>
              <a:defRPr b="1">
                <a:solidFill>
                  <a:schemeClr val="tx1"/>
                </a:solidFill>
                <a:latin typeface="Century Gothic"/>
                <a:cs typeface="Century Gothic"/>
              </a:defRPr>
            </a:lvl4pPr>
            <a:lvl5pPr marL="2171700" indent="-342900">
              <a:buClr>
                <a:schemeClr val="accent3"/>
              </a:buClr>
              <a:buFont typeface="Wingdings" charset="2"/>
              <a:buChar char="§"/>
              <a:defRPr b="1">
                <a:solidFill>
                  <a:schemeClr val="tx1"/>
                </a:solidFill>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ight Arrow 8">
            <a:hlinkClick r:id="" action="ppaction://noaction"/>
          </p:cNvPr>
          <p:cNvSpPr/>
          <p:nvPr userDrawn="1"/>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pic>
        <p:nvPicPr>
          <p:cNvPr id="10" name="Picture 9">
            <a:hlinkClick r:id="" action="ppaction://noaction"/>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974496" y="6028188"/>
            <a:ext cx="1143000" cy="856979"/>
          </a:xfrm>
          <a:prstGeom prst="rect">
            <a:avLst/>
          </a:prstGeom>
        </p:spPr>
      </p:pic>
      <p:cxnSp>
        <p:nvCxnSpPr>
          <p:cNvPr id="15" name="Straight Connector 14"/>
          <p:cNvCxnSpPr/>
          <p:nvPr userDrawn="1"/>
        </p:nvCxnSpPr>
        <p:spPr>
          <a:xfrm>
            <a:off x="0" y="1219200"/>
            <a:ext cx="9144000" cy="0"/>
          </a:xfrm>
          <a:prstGeom prst="line">
            <a:avLst/>
          </a:prstGeom>
          <a:ln w="76200" cmpd="sng">
            <a:solidFill>
              <a:srgbClr val="F8EF59">
                <a:alpha val="49000"/>
              </a:srgbClr>
            </a:solidFill>
            <a:prstDash val="solid"/>
          </a:ln>
        </p:spPr>
        <p:style>
          <a:lnRef idx="1">
            <a:schemeClr val="accent5"/>
          </a:lnRef>
          <a:fillRef idx="0">
            <a:schemeClr val="accent5"/>
          </a:fillRef>
          <a:effectRef idx="0">
            <a:schemeClr val="accent5"/>
          </a:effectRef>
          <a:fontRef idx="minor">
            <a:schemeClr val="tx1"/>
          </a:fontRef>
        </p:style>
      </p:cxnSp>
      <p:sp>
        <p:nvSpPr>
          <p:cNvPr id="11"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4" name="Down Arrow Callout 3"/>
          <p:cNvSpPr/>
          <p:nvPr userDrawn="1"/>
        </p:nvSpPr>
        <p:spPr>
          <a:xfrm>
            <a:off x="0" y="-29407"/>
            <a:ext cx="3200400" cy="1676400"/>
          </a:xfrm>
          <a:prstGeom prst="downArrowCallout">
            <a:avLst>
              <a:gd name="adj1" fmla="val 32640"/>
              <a:gd name="adj2" fmla="val 28183"/>
              <a:gd name="adj3" fmla="val 25000"/>
              <a:gd name="adj4" fmla="val 61794"/>
            </a:avLst>
          </a:prstGeom>
          <a:solidFill>
            <a:schemeClr val="accent3"/>
          </a:solidFill>
          <a:ln>
            <a:noFill/>
          </a:ln>
          <a:effectLst>
            <a:outerShdw blurRad="50800" dist="38100" dir="270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effectLst/>
            </a:endParaRPr>
          </a:p>
        </p:txBody>
      </p:sp>
      <p:sp>
        <p:nvSpPr>
          <p:cNvPr id="5" name="TextBox 4"/>
          <p:cNvSpPr txBox="1"/>
          <p:nvPr userDrawn="1"/>
        </p:nvSpPr>
        <p:spPr>
          <a:xfrm>
            <a:off x="0" y="0"/>
            <a:ext cx="3200400" cy="830997"/>
          </a:xfrm>
          <a:prstGeom prst="rect">
            <a:avLst/>
          </a:prstGeom>
          <a:noFill/>
        </p:spPr>
        <p:txBody>
          <a:bodyPr wrap="square" rtlCol="0">
            <a:spAutoFit/>
          </a:bodyPr>
          <a:lstStyle/>
          <a:p>
            <a:r>
              <a:rPr lang="en-US" sz="2400" b="1" dirty="0">
                <a:solidFill>
                  <a:schemeClr val="bg1"/>
                </a:solidFill>
                <a:effectLst/>
              </a:rPr>
              <a:t>     What you will learn in this chapter</a:t>
            </a:r>
          </a:p>
        </p:txBody>
      </p:sp>
      <p:sp>
        <p:nvSpPr>
          <p:cNvPr id="6" name="Isosceles Triangle 5"/>
          <p:cNvSpPr/>
          <p:nvPr userDrawn="1"/>
        </p:nvSpPr>
        <p:spPr>
          <a:xfrm rot="5400000">
            <a:off x="95250" y="95250"/>
            <a:ext cx="304799" cy="266700"/>
          </a:xfrm>
          <a:prstGeom prst="triangle">
            <a:avLst>
              <a:gd name="adj" fmla="val 52591"/>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17337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Note: These lecture notes are incomplete without having attended lectures.</a:t>
            </a:r>
          </a:p>
        </p:txBody>
      </p:sp>
      <p:sp>
        <p:nvSpPr>
          <p:cNvPr id="6" name="Slide Number Placeholder 5"/>
          <p:cNvSpPr>
            <a:spLocks noGrp="1"/>
          </p:cNvSpPr>
          <p:nvPr>
            <p:ph type="sldNum" sz="quarter" idx="12"/>
          </p:nvPr>
        </p:nvSpPr>
        <p:spPr/>
        <p:txBody>
          <a:bodyPr/>
          <a:lstStyle>
            <a:lvl1pPr>
              <a:defRPr/>
            </a:lvl1pPr>
          </a:lstStyle>
          <a:p>
            <a:fld id="{3AD01E9B-529C-430A-8EB0-85153EDC4AF0}" type="slidenum">
              <a:rPr lang="en-US"/>
              <a:pPr/>
              <a:t>‹#›</a:t>
            </a:fld>
            <a:endParaRPr lang="en-US"/>
          </a:p>
        </p:txBody>
      </p:sp>
    </p:spTree>
    <p:extLst>
      <p:ext uri="{BB962C8B-B14F-4D97-AF65-F5344CB8AC3E}">
        <p14:creationId xmlns:p14="http://schemas.microsoft.com/office/powerpoint/2010/main" val="1165513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6293393"/>
      </p:ext>
    </p:extLst>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29852625"/>
      </p:ext>
    </p:extLst>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andara" pitchFamily="34" charset="0"/>
              </a:defRPr>
            </a:lvl1pPr>
            <a:lvl2pPr>
              <a:defRPr sz="3200" baseline="0">
                <a:latin typeface="Candara" pitchFamily="34" charset="0"/>
              </a:defRPr>
            </a:lvl2pPr>
            <a:lvl3pPr>
              <a:defRPr sz="2800" baseline="0">
                <a:latin typeface="Candara" pitchFamily="34" charset="0"/>
              </a:defRPr>
            </a:lvl3pPr>
            <a:lvl4pPr>
              <a:defRPr sz="2400" baseline="0">
                <a:latin typeface="Candara" pitchFamily="34" charset="0"/>
              </a:defRPr>
            </a:lvl4pPr>
            <a:lvl5pPr>
              <a:defRPr sz="2400" baseline="0">
                <a:latin typeface="Candara"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40984043"/>
      </p:ext>
    </p:extLst>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912159916"/>
      </p:ext>
    </p:extLst>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defRPr sz="3600" baseline="0">
                <a:latin typeface="Century Gothic"/>
                <a:cs typeface="Century Gothic"/>
              </a:defRPr>
            </a:lvl1pPr>
            <a:lvl2pPr>
              <a:defRPr sz="3200" baseline="0">
                <a:latin typeface="Century Gothic"/>
                <a:cs typeface="Century Gothic"/>
              </a:defRPr>
            </a:lvl2pPr>
            <a:lvl3pPr>
              <a:defRPr sz="2800" baseline="0">
                <a:latin typeface="Century Gothic"/>
                <a:cs typeface="Century Gothic"/>
              </a:defRPr>
            </a:lvl3pPr>
            <a:lvl4pPr>
              <a:defRPr sz="2400" baseline="0">
                <a:latin typeface="Century Gothic"/>
                <a:cs typeface="Century Gothic"/>
              </a:defRPr>
            </a:lvl4pPr>
            <a:lvl5pPr>
              <a:defRPr sz="2400" baseline="0">
                <a:latin typeface="Century Gothic"/>
                <a:cs typeface="Century Gothi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359308934"/>
      </p:ext>
    </p:extLst>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86700" cy="1143000"/>
          </a:xfrm>
          <a:prstGeom prst="rect">
            <a:avLst/>
          </a:prstGeom>
        </p:spPr>
        <p:txBody>
          <a:bodyPr/>
          <a:lstStyle>
            <a:lvl1pPr>
              <a:defRPr>
                <a:latin typeface="Century Gothic"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190500" y="2019300"/>
            <a:ext cx="3086100" cy="3573463"/>
          </a:xfrm>
        </p:spPr>
        <p:txBody>
          <a:bodyPr/>
          <a:lstStyle>
            <a:lvl1pPr>
              <a:defRPr sz="2800">
                <a:latin typeface="Century Gothic" pitchFamily="34" charset="0"/>
              </a:defRPr>
            </a:lvl1pPr>
            <a:lvl2pPr>
              <a:defRPr sz="2400">
                <a:latin typeface="Century Gothic" pitchFamily="34" charset="0"/>
              </a:defRPr>
            </a:lvl2pPr>
            <a:lvl3pPr>
              <a:defRPr sz="2000">
                <a:latin typeface="Century Gothic" pitchFamily="34" charset="0"/>
              </a:defRPr>
            </a:lvl3pPr>
            <a:lvl4pPr>
              <a:defRPr sz="1800">
                <a:latin typeface="Century Gothic" pitchFamily="34" charset="0"/>
              </a:defRPr>
            </a:lvl4pPr>
            <a:lvl5pPr>
              <a:defRPr sz="18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276600" y="1143000"/>
            <a:ext cx="5867400" cy="4983163"/>
          </a:xfrm>
        </p:spPr>
        <p:txBody>
          <a:bodyPr>
            <a:normAutofit/>
          </a:bodyPr>
          <a:lstStyle>
            <a:lvl1pPr>
              <a:defRPr sz="3200">
                <a:latin typeface="Century Gothic" pitchFamily="34" charset="0"/>
              </a:defRPr>
            </a:lvl1pPr>
            <a:lvl2pPr>
              <a:defRPr sz="2800">
                <a:latin typeface="Century Gothic" pitchFamily="34" charset="0"/>
              </a:defRPr>
            </a:lvl2pPr>
            <a:lvl3pPr>
              <a:defRPr sz="2400">
                <a:latin typeface="Century Gothic" pitchFamily="34" charset="0"/>
              </a:defRPr>
            </a:lvl3pPr>
            <a:lvl4pPr>
              <a:defRPr sz="2000">
                <a:latin typeface="Century Gothic" pitchFamily="34" charset="0"/>
              </a:defRPr>
            </a:lvl4pPr>
            <a:lvl5pPr>
              <a:defRPr sz="2000">
                <a:latin typeface="Century Gothic"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08443429"/>
      </p:ext>
    </p:extLst>
  </p:cSld>
  <p:clrMapOvr>
    <a:masterClrMapping/>
  </p:clrMapOvr>
  <p:transition>
    <p:fade thruBlk="1"/>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7671972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Placeholder 1"/>
          <p:cNvSpPr txBox="1">
            <a:spLocks/>
          </p:cNvSpPr>
          <p:nvPr userDrawn="1"/>
        </p:nvSpPr>
        <p:spPr>
          <a:xfrm>
            <a:off x="1" y="0"/>
            <a:ext cx="3263366" cy="838200"/>
          </a:xfrm>
          <a:prstGeom prst="rect">
            <a:avLst/>
          </a:prstGeom>
          <a:noFill/>
        </p:spPr>
        <p:txBody>
          <a:bodyPr vert="horz" lIns="91440" tIns="45720" rIns="91440" bIns="45720" rtlCol="0" anchor="ctr">
            <a:noAutofit/>
          </a:bodyPr>
          <a:lst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a:lstStyle>
          <a:p>
            <a:r>
              <a:rPr lang="en-US" dirty="0">
                <a:solidFill>
                  <a:srgbClr val="4BACC6">
                    <a:lumMod val="75000"/>
                  </a:srgbClr>
                </a:solidFill>
              </a:rPr>
              <a:t>ECONOMICS</a:t>
            </a:r>
          </a:p>
        </p:txBody>
      </p:sp>
      <p:sp>
        <p:nvSpPr>
          <p:cNvPr id="7" name="Footer Placeholder 1"/>
          <p:cNvSpPr>
            <a:spLocks noGrp="1"/>
          </p:cNvSpPr>
          <p:nvPr>
            <p:ph type="ftr" sz="quarter" idx="3"/>
          </p:nvPr>
        </p:nvSpPr>
        <p:spPr>
          <a:xfrm>
            <a:off x="1455229" y="6603259"/>
            <a:ext cx="7096993" cy="228600"/>
          </a:xfrm>
          <a:prstGeom prst="rect">
            <a:avLst/>
          </a:prstGeom>
        </p:spPr>
        <p:txBody>
          <a:bodyPr/>
          <a:lstStyle>
            <a:lvl1pP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1032142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80040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3978318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63295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3" name="Picture 8"/>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0" y="-11113"/>
            <a:ext cx="990600" cy="1104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p:cNvPicPr>
            <a:picLocks noChangeAspect="1"/>
          </p:cNvPicPr>
          <p:nvPr userDrawn="1"/>
        </p:nvPicPr>
        <p:blipFill>
          <a:blip r:embed="rId3">
            <a:extLst>
              <a:ext uri="{28A0092B-C50C-407E-A947-70E740481C1C}">
                <a14:useLocalDpi xmlns:a14="http://schemas.microsoft.com/office/drawing/2010/main"/>
              </a:ext>
            </a:extLst>
          </a:blip>
          <a:srcRect/>
          <a:stretch>
            <a:fillRect/>
          </a:stretch>
        </p:blipFill>
        <p:spPr bwMode="auto">
          <a:xfrm>
            <a:off x="1828800" y="2438400"/>
            <a:ext cx="524510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990600" y="-31750"/>
            <a:ext cx="8153400" cy="946150"/>
          </a:xfrm>
          <a:noFill/>
        </p:spPr>
        <p:txBody>
          <a:bodyPr/>
          <a:lstStyle>
            <a:lvl1pPr algn="l">
              <a:defRPr sz="4000" baseline="0">
                <a:solidFill>
                  <a:schemeClr val="accent6">
                    <a:lumMod val="75000"/>
                  </a:schemeClr>
                </a:solidFill>
                <a:effectLst>
                  <a:outerShdw blurRad="38100" dist="38100" dir="2700000" algn="tl">
                    <a:srgbClr val="000000">
                      <a:alpha val="43137"/>
                    </a:srgbClr>
                  </a:outerShdw>
                </a:effectLst>
              </a:defRPr>
            </a:lvl1pPr>
          </a:lstStyle>
          <a:p>
            <a:r>
              <a:rPr lang="en-US"/>
              <a:t>Click to edit Master title style</a:t>
            </a:r>
            <a:endParaRPr lang="en-US" dirty="0"/>
          </a:p>
        </p:txBody>
      </p:sp>
      <p:sp>
        <p:nvSpPr>
          <p:cNvPr id="5" name="Date Placeholder 2"/>
          <p:cNvSpPr>
            <a:spLocks noGrp="1"/>
          </p:cNvSpPr>
          <p:nvPr>
            <p:ph type="dt" sz="half" idx="10"/>
          </p:nvPr>
        </p:nvSpPr>
        <p:spPr>
          <a:xfrm>
            <a:off x="457200" y="6356350"/>
            <a:ext cx="381000" cy="365125"/>
          </a:xfrm>
          <a:prstGeom prst="rect">
            <a:avLst/>
          </a:prstGeom>
        </p:spPr>
        <p:txBody>
          <a:bodyPr/>
          <a:lstStyle>
            <a:lvl1pPr>
              <a:defRPr/>
            </a:lvl1pPr>
          </a:lstStyle>
          <a:p>
            <a:pPr>
              <a:defRPr/>
            </a:pPr>
            <a:endParaRPr lang="en-US" dirty="0">
              <a:solidFill>
                <a:prstClr val="black"/>
              </a:solidFill>
              <a:latin typeface="Calibri"/>
            </a:endParaRPr>
          </a:p>
        </p:txBody>
      </p:sp>
      <p:sp>
        <p:nvSpPr>
          <p:cNvPr id="6" name="Footer Placeholder 3"/>
          <p:cNvSpPr>
            <a:spLocks noGrp="1"/>
          </p:cNvSpPr>
          <p:nvPr>
            <p:ph type="ftr" sz="quarter" idx="11"/>
          </p:nvPr>
        </p:nvSpPr>
        <p:spPr/>
        <p:txBody>
          <a:bodyPr/>
          <a:lstStyle>
            <a:lvl1pPr>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7" name="Slide Number Placeholder 4"/>
          <p:cNvSpPr>
            <a:spLocks noGrp="1"/>
          </p:cNvSpPr>
          <p:nvPr>
            <p:ph type="sldNum" sz="quarter" idx="12"/>
          </p:nvPr>
        </p:nvSpPr>
        <p:spPr>
          <a:xfrm>
            <a:off x="8153400" y="6400800"/>
            <a:ext cx="457200" cy="228600"/>
          </a:xfrm>
          <a:prstGeom prst="rect">
            <a:avLst/>
          </a:prstGeom>
        </p:spPr>
        <p:txBody>
          <a:bodyPr/>
          <a:lstStyle>
            <a:lvl1pPr>
              <a:defRPr/>
            </a:lvl1pPr>
          </a:lstStyle>
          <a:p>
            <a:pPr>
              <a:defRPr/>
            </a:pPr>
            <a:fld id="{C6DA3B3C-7DE4-43E0-A845-64C93BD37BFE}" type="slidenum">
              <a:rPr lang="en-US">
                <a:solidFill>
                  <a:prstClr val="black"/>
                </a:solidFill>
                <a:latin typeface="Calibri"/>
              </a:rPr>
              <a:pPr>
                <a:defRPr/>
              </a:pPr>
              <a:t>‹#›</a:t>
            </a:fld>
            <a:endParaRPr lang="en-US" dirty="0">
              <a:solidFill>
                <a:prstClr val="black"/>
              </a:solidFill>
              <a:latin typeface="Calibri"/>
            </a:endParaRPr>
          </a:p>
        </p:txBody>
      </p:sp>
    </p:spTree>
    <p:extLst>
      <p:ext uri="{BB962C8B-B14F-4D97-AF65-F5344CB8AC3E}">
        <p14:creationId xmlns:p14="http://schemas.microsoft.com/office/powerpoint/2010/main" val="2046717559"/>
      </p:ext>
    </p:extLst>
  </p:cSld>
  <p:clrMapOvr>
    <a:masterClrMapping/>
  </p:clrMapOvr>
  <p:transition>
    <p:fade thruBlk="1"/>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Only">
    <p:bg>
      <p:bgPr>
        <a:blipFill dpi="0" rotWithShape="0">
          <a:blip r:embed="rId2">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0" y="0"/>
            <a:ext cx="9144000" cy="944563"/>
          </a:xfrm>
          <a:prstGeom prst="rect">
            <a:avLst/>
          </a:prstGeom>
        </p:spPr>
        <p:txBody>
          <a:bodyPr anchor="ct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400" baseline="0">
                <a:solidFill>
                  <a:srgbClr val="FFC000"/>
                </a:solidFill>
              </a:defRPr>
            </a:lvl1pPr>
          </a:lstStyle>
          <a:p>
            <a:pPr>
              <a:defRPr/>
            </a:pPr>
            <a:r>
              <a:rPr lang="en-US" sz="5400" b="1" cap="all" dirty="0">
                <a:effectLst>
                  <a:outerShdw blurRad="38100" dist="38100" dir="2700000" algn="tl">
                    <a:srgbClr val="000000">
                      <a:alpha val="43137"/>
                    </a:srgbClr>
                  </a:outerShdw>
                </a:effectLst>
                <a:latin typeface="Gill Sans MT Condensed" pitchFamily="34" charset="0"/>
              </a:rPr>
              <a:t>See the </a:t>
            </a:r>
            <a:r>
              <a:rPr lang="en-US" sz="5400" b="1" cap="all" dirty="0">
                <a:solidFill>
                  <a:srgbClr val="FF0000"/>
                </a:solidFill>
                <a:effectLst>
                  <a:outerShdw blurRad="38100" dist="38100" dir="2700000" algn="tl">
                    <a:srgbClr val="000000">
                      <a:alpha val="43137"/>
                    </a:srgbClr>
                  </a:outerShdw>
                </a:effectLst>
                <a:latin typeface="Gill Sans MT Condensed" pitchFamily="34" charset="0"/>
              </a:rPr>
              <a:t>invisible</a:t>
            </a:r>
            <a:r>
              <a:rPr lang="en-US" sz="5400" b="1" cap="all" dirty="0">
                <a:effectLst>
                  <a:outerShdw blurRad="38100" dist="38100" dir="2700000" algn="tl">
                    <a:srgbClr val="000000">
                      <a:alpha val="43137"/>
                    </a:srgbClr>
                  </a:outerShdw>
                </a:effectLst>
                <a:latin typeface="Gill Sans MT Condensed" pitchFamily="34" charset="0"/>
              </a:rPr>
              <a:t> hand</a:t>
            </a:r>
          </a:p>
        </p:txBody>
      </p:sp>
      <p:sp>
        <p:nvSpPr>
          <p:cNvPr id="3" name="Title 1"/>
          <p:cNvSpPr txBox="1">
            <a:spLocks/>
          </p:cNvSpPr>
          <p:nvPr/>
        </p:nvSpPr>
        <p:spPr>
          <a:xfrm>
            <a:off x="0" y="0"/>
            <a:ext cx="9144000" cy="944563"/>
          </a:xfrm>
          <a:prstGeom prst="rect">
            <a:avLst/>
          </a:prstGeom>
        </p:spPr>
        <p:txBody>
          <a:bodyPr anchor="ct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400" baseline="0">
                <a:solidFill>
                  <a:srgbClr val="FFC000"/>
                </a:solidFill>
              </a:defRPr>
            </a:lvl1pPr>
          </a:lstStyle>
          <a:p>
            <a:pPr>
              <a:defRPr/>
            </a:pPr>
            <a:r>
              <a:rPr lang="en-US" sz="5400" b="1" cap="all" dirty="0">
                <a:effectLst>
                  <a:outerShdw blurRad="38100" dist="38100" dir="2700000" algn="tl">
                    <a:srgbClr val="000000">
                      <a:alpha val="43137"/>
                    </a:srgbClr>
                  </a:outerShdw>
                </a:effectLst>
                <a:latin typeface="Gill Sans MT Condensed" pitchFamily="34" charset="0"/>
              </a:rPr>
              <a:t>See the </a:t>
            </a:r>
            <a:r>
              <a:rPr lang="en-US" sz="5400" b="1" cap="all" dirty="0">
                <a:solidFill>
                  <a:srgbClr val="EEECE1"/>
                </a:solidFill>
                <a:effectLst>
                  <a:outerShdw blurRad="38100" dist="38100" dir="2700000" algn="tl">
                    <a:srgbClr val="000000">
                      <a:alpha val="43137"/>
                    </a:srgbClr>
                  </a:outerShdw>
                </a:effectLst>
                <a:latin typeface="Gill Sans MT Condensed" pitchFamily="34" charset="0"/>
              </a:rPr>
              <a:t>invisible</a:t>
            </a:r>
            <a:r>
              <a:rPr lang="en-US" sz="5400" b="1" cap="all" dirty="0">
                <a:effectLst>
                  <a:outerShdw blurRad="38100" dist="38100" dir="2700000" algn="tl">
                    <a:srgbClr val="000000">
                      <a:alpha val="43137"/>
                    </a:srgbClr>
                  </a:outerShdw>
                </a:effectLst>
                <a:latin typeface="Gill Sans MT Condensed" pitchFamily="34" charset="0"/>
              </a:rPr>
              <a:t> hand</a:t>
            </a:r>
          </a:p>
        </p:txBody>
      </p:sp>
      <p:sp>
        <p:nvSpPr>
          <p:cNvPr id="4" name="Date Placeholder 2"/>
          <p:cNvSpPr>
            <a:spLocks noGrp="1"/>
          </p:cNvSpPr>
          <p:nvPr>
            <p:ph type="dt" sz="half" idx="10"/>
          </p:nvPr>
        </p:nvSpPr>
        <p:spPr>
          <a:xfrm>
            <a:off x="457200" y="6356350"/>
            <a:ext cx="381000" cy="365125"/>
          </a:xfrm>
          <a:prstGeom prst="rect">
            <a:avLst/>
          </a:prstGeom>
        </p:spPr>
        <p:txBody>
          <a:bodyPr/>
          <a:lstStyle>
            <a:lvl1pPr>
              <a:defRPr/>
            </a:lvl1pPr>
          </a:lstStyle>
          <a:p>
            <a:pPr>
              <a:defRPr/>
            </a:pPr>
            <a:endParaRPr lang="en-US" dirty="0">
              <a:solidFill>
                <a:prstClr val="black"/>
              </a:solidFill>
              <a:latin typeface="Calibri"/>
            </a:endParaRPr>
          </a:p>
        </p:txBody>
      </p:sp>
      <p:sp>
        <p:nvSpPr>
          <p:cNvPr id="5" name="Footer Placeholder 3"/>
          <p:cNvSpPr>
            <a:spLocks noGrp="1"/>
          </p:cNvSpPr>
          <p:nvPr>
            <p:ph type="ftr" sz="quarter" idx="11"/>
          </p:nvPr>
        </p:nvSpPr>
        <p:spPr/>
        <p:txBody>
          <a:bodyPr/>
          <a:lstStyle>
            <a:lvl1pPr>
              <a:defRPr smtClean="0"/>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6" name="Slide Number Placeholder 4"/>
          <p:cNvSpPr>
            <a:spLocks noGrp="1"/>
          </p:cNvSpPr>
          <p:nvPr>
            <p:ph type="sldNum" sz="quarter" idx="12"/>
          </p:nvPr>
        </p:nvSpPr>
        <p:spPr>
          <a:xfrm>
            <a:off x="8686800" y="6629400"/>
            <a:ext cx="457200" cy="228600"/>
          </a:xfrm>
          <a:prstGeom prst="rect">
            <a:avLst/>
          </a:prstGeom>
        </p:spPr>
        <p:txBody>
          <a:bodyPr/>
          <a:lstStyle>
            <a:lvl1pPr>
              <a:defRPr/>
            </a:lvl1pPr>
          </a:lstStyle>
          <a:p>
            <a:pPr>
              <a:defRPr/>
            </a:pPr>
            <a:fld id="{07792435-3FB9-44AA-AFAB-9C75A2BA8B14}" type="slidenum">
              <a:rPr lang="en-US">
                <a:solidFill>
                  <a:prstClr val="black"/>
                </a:solidFill>
                <a:latin typeface="Calibri"/>
              </a:rPr>
              <a:pPr>
                <a:defRPr/>
              </a:pPr>
              <a:t>‹#›</a:t>
            </a:fld>
            <a:endParaRPr lang="en-US" dirty="0">
              <a:solidFill>
                <a:prstClr val="black"/>
              </a:solidFill>
              <a:latin typeface="Calibri"/>
            </a:endParaRPr>
          </a:p>
        </p:txBody>
      </p:sp>
    </p:spTree>
    <p:extLst>
      <p:ext uri="{BB962C8B-B14F-4D97-AF65-F5344CB8AC3E}">
        <p14:creationId xmlns:p14="http://schemas.microsoft.com/office/powerpoint/2010/main" val="2284607100"/>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Slide Number Placeholder 5"/>
          <p:cNvSpPr>
            <a:spLocks noGrp="1"/>
          </p:cNvSpPr>
          <p:nvPr>
            <p:ph type="sldNum" sz="quarter" idx="10"/>
          </p:nvPr>
        </p:nvSpPr>
        <p:spPr>
          <a:xfrm>
            <a:off x="0" y="6629400"/>
            <a:ext cx="533400" cy="228600"/>
          </a:xfrm>
          <a:prstGeom prst="rect">
            <a:avLst/>
          </a:prstGeom>
        </p:spPr>
        <p:txBody>
          <a:bodyPr/>
          <a:lstStyle>
            <a:lvl1pPr>
              <a:defRPr/>
            </a:lvl1pPr>
          </a:lstStyle>
          <a:p>
            <a:pPr>
              <a:defRPr/>
            </a:pPr>
            <a:fld id="{77C2E9A3-CF58-4EC8-9DF2-A6CC9EAC2CD5}" type="slidenum">
              <a:rPr lang="en-US">
                <a:solidFill>
                  <a:prstClr val="black"/>
                </a:solidFill>
                <a:latin typeface="Calibri"/>
              </a:rPr>
              <a:pPr>
                <a:defRPr/>
              </a:pPr>
              <a:t>‹#›</a:t>
            </a:fld>
            <a:endParaRPr lang="en-US" dirty="0">
              <a:solidFill>
                <a:prstClr val="black"/>
              </a:solidFill>
              <a:latin typeface="Calibri"/>
            </a:endParaRPr>
          </a:p>
        </p:txBody>
      </p:sp>
    </p:spTree>
    <p:extLst>
      <p:ext uri="{BB962C8B-B14F-4D97-AF65-F5344CB8AC3E}">
        <p14:creationId xmlns:p14="http://schemas.microsoft.com/office/powerpoint/2010/main" val="8288551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110975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2"/>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8003489" y="0"/>
            <a:ext cx="1140511" cy="771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a:xfrm>
            <a:off x="0" y="0"/>
            <a:ext cx="9144000" cy="8382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22734825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0664994"/>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3" name="Picture 8"/>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bwMode="auto">
          <a:xfrm>
            <a:off x="0" y="-11113"/>
            <a:ext cx="990600" cy="1104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p:cNvPicPr>
            <a:picLocks noChangeAspect="1"/>
          </p:cNvPicPr>
          <p:nvPr userDrawn="1"/>
        </p:nvPicPr>
        <p:blipFill>
          <a:blip r:embed="rId3">
            <a:extLst>
              <a:ext uri="{28A0092B-C50C-407E-A947-70E740481C1C}">
                <a14:useLocalDpi xmlns:a14="http://schemas.microsoft.com/office/drawing/2010/main"/>
              </a:ext>
            </a:extLst>
          </a:blip>
          <a:srcRect/>
          <a:stretch>
            <a:fillRect/>
          </a:stretch>
        </p:blipFill>
        <p:spPr bwMode="auto">
          <a:xfrm>
            <a:off x="1828800" y="2438400"/>
            <a:ext cx="5245100" cy="393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990600" y="-31750"/>
            <a:ext cx="8153400" cy="946150"/>
          </a:xfrm>
          <a:noFill/>
        </p:spPr>
        <p:txBody>
          <a:bodyPr/>
          <a:lstStyle>
            <a:lvl1pPr algn="l">
              <a:defRPr sz="4000" baseline="0">
                <a:solidFill>
                  <a:schemeClr val="accent6">
                    <a:lumMod val="75000"/>
                  </a:schemeClr>
                </a:solidFill>
                <a:effectLst>
                  <a:outerShdw blurRad="38100" dist="38100" dir="2700000" algn="tl">
                    <a:srgbClr val="000000">
                      <a:alpha val="43137"/>
                    </a:srgbClr>
                  </a:outerShdw>
                </a:effectLst>
              </a:defRPr>
            </a:lvl1pPr>
          </a:lstStyle>
          <a:p>
            <a:r>
              <a:rPr lang="en-US"/>
              <a:t>Click to edit Master title style</a:t>
            </a:r>
            <a:endParaRPr lang="en-US" dirty="0"/>
          </a:p>
        </p:txBody>
      </p:sp>
      <p:sp>
        <p:nvSpPr>
          <p:cNvPr id="5" name="Date Placeholder 2"/>
          <p:cNvSpPr>
            <a:spLocks noGrp="1"/>
          </p:cNvSpPr>
          <p:nvPr>
            <p:ph type="dt" sz="half" idx="10"/>
          </p:nvPr>
        </p:nvSpPr>
        <p:spPr>
          <a:xfrm>
            <a:off x="457200" y="6356350"/>
            <a:ext cx="381000" cy="365125"/>
          </a:xfrm>
          <a:prstGeom prst="rect">
            <a:avLst/>
          </a:prstGeom>
        </p:spPr>
        <p:txBody>
          <a:bodyPr/>
          <a:lstStyle>
            <a:lvl1pPr>
              <a:defRPr/>
            </a:lvl1pPr>
          </a:lstStyle>
          <a:p>
            <a:pPr>
              <a:defRPr/>
            </a:pPr>
            <a:endParaRPr lang="en-US" dirty="0">
              <a:solidFill>
                <a:prstClr val="black"/>
              </a:solidFill>
              <a:latin typeface="Calibri"/>
            </a:endParaRPr>
          </a:p>
        </p:txBody>
      </p:sp>
      <p:sp>
        <p:nvSpPr>
          <p:cNvPr id="6" name="Footer Placeholder 3"/>
          <p:cNvSpPr>
            <a:spLocks noGrp="1"/>
          </p:cNvSpPr>
          <p:nvPr>
            <p:ph type="ftr" sz="quarter" idx="11"/>
          </p:nvPr>
        </p:nvSpPr>
        <p:spPr/>
        <p:txBody>
          <a:bodyPr/>
          <a:lstStyle>
            <a:lvl1pPr>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7" name="Slide Number Placeholder 4"/>
          <p:cNvSpPr>
            <a:spLocks noGrp="1"/>
          </p:cNvSpPr>
          <p:nvPr>
            <p:ph type="sldNum" sz="quarter" idx="12"/>
          </p:nvPr>
        </p:nvSpPr>
        <p:spPr>
          <a:xfrm>
            <a:off x="8153400" y="6400800"/>
            <a:ext cx="457200" cy="228600"/>
          </a:xfrm>
          <a:prstGeom prst="rect">
            <a:avLst/>
          </a:prstGeom>
        </p:spPr>
        <p:txBody>
          <a:bodyPr/>
          <a:lstStyle>
            <a:lvl1pPr>
              <a:defRPr/>
            </a:lvl1pPr>
          </a:lstStyle>
          <a:p>
            <a:pPr>
              <a:defRPr/>
            </a:pPr>
            <a:fld id="{C6DA3B3C-7DE4-43E0-A845-64C93BD37BFE}" type="slidenum">
              <a:rPr lang="en-US">
                <a:solidFill>
                  <a:prstClr val="black"/>
                </a:solidFill>
                <a:latin typeface="Calibri"/>
              </a:rPr>
              <a:pPr>
                <a:defRPr/>
              </a:pPr>
              <a:t>‹#›</a:t>
            </a:fld>
            <a:endParaRPr lang="en-US" dirty="0">
              <a:solidFill>
                <a:prstClr val="black"/>
              </a:solidFill>
              <a:latin typeface="Calibri"/>
            </a:endParaRPr>
          </a:p>
        </p:txBody>
      </p:sp>
    </p:spTree>
    <p:extLst>
      <p:ext uri="{BB962C8B-B14F-4D97-AF65-F5344CB8AC3E}">
        <p14:creationId xmlns:p14="http://schemas.microsoft.com/office/powerpoint/2010/main" val="1576369693"/>
      </p:ext>
    </p:extLst>
  </p:cSld>
  <p:clrMapOvr>
    <a:masterClrMapping/>
  </p:clrMapOvr>
  <p:transition>
    <p:fade thruBlk="1"/>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Only">
    <p:bg>
      <p:bgPr>
        <a:blipFill dpi="0" rotWithShape="0">
          <a:blip r:embed="rId2">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txBox="1">
            <a:spLocks/>
          </p:cNvSpPr>
          <p:nvPr/>
        </p:nvSpPr>
        <p:spPr>
          <a:xfrm>
            <a:off x="0" y="0"/>
            <a:ext cx="9144000" cy="944563"/>
          </a:xfrm>
          <a:prstGeom prst="rect">
            <a:avLst/>
          </a:prstGeom>
        </p:spPr>
        <p:txBody>
          <a:bodyPr anchor="ct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400" baseline="0">
                <a:solidFill>
                  <a:srgbClr val="FFC000"/>
                </a:solidFill>
              </a:defRPr>
            </a:lvl1pPr>
          </a:lstStyle>
          <a:p>
            <a:pPr>
              <a:defRPr/>
            </a:pPr>
            <a:r>
              <a:rPr lang="en-US" sz="5400" b="1" cap="all" dirty="0">
                <a:effectLst>
                  <a:outerShdw blurRad="38100" dist="38100" dir="2700000" algn="tl">
                    <a:srgbClr val="000000">
                      <a:alpha val="43137"/>
                    </a:srgbClr>
                  </a:outerShdw>
                </a:effectLst>
                <a:latin typeface="Gill Sans MT Condensed" pitchFamily="34" charset="0"/>
              </a:rPr>
              <a:t>See the </a:t>
            </a:r>
            <a:r>
              <a:rPr lang="en-US" sz="5400" b="1" cap="all" dirty="0">
                <a:solidFill>
                  <a:srgbClr val="FF0000"/>
                </a:solidFill>
                <a:effectLst>
                  <a:outerShdw blurRad="38100" dist="38100" dir="2700000" algn="tl">
                    <a:srgbClr val="000000">
                      <a:alpha val="43137"/>
                    </a:srgbClr>
                  </a:outerShdw>
                </a:effectLst>
                <a:latin typeface="Gill Sans MT Condensed" pitchFamily="34" charset="0"/>
              </a:rPr>
              <a:t>invisible</a:t>
            </a:r>
            <a:r>
              <a:rPr lang="en-US" sz="5400" b="1" cap="all" dirty="0">
                <a:effectLst>
                  <a:outerShdw blurRad="38100" dist="38100" dir="2700000" algn="tl">
                    <a:srgbClr val="000000">
                      <a:alpha val="43137"/>
                    </a:srgbClr>
                  </a:outerShdw>
                </a:effectLst>
                <a:latin typeface="Gill Sans MT Condensed" pitchFamily="34" charset="0"/>
              </a:rPr>
              <a:t> hand</a:t>
            </a:r>
          </a:p>
        </p:txBody>
      </p:sp>
      <p:sp>
        <p:nvSpPr>
          <p:cNvPr id="3" name="Title 1"/>
          <p:cNvSpPr txBox="1">
            <a:spLocks/>
          </p:cNvSpPr>
          <p:nvPr/>
        </p:nvSpPr>
        <p:spPr>
          <a:xfrm>
            <a:off x="0" y="0"/>
            <a:ext cx="9144000" cy="944563"/>
          </a:xfrm>
          <a:prstGeom prst="rect">
            <a:avLst/>
          </a:prstGeom>
        </p:spPr>
        <p:txBody>
          <a:bodyPr anchor="ctr">
            <a:normAutofit/>
          </a:bodyPr>
          <a:lstStyle>
            <a:lvl1pPr marL="0" marR="0" indent="0" algn="ctr" defTabSz="914400" rtl="0" eaLnBrk="1" fontAlgn="auto" latinLnBrk="0" hangingPunct="1">
              <a:lnSpc>
                <a:spcPct val="100000"/>
              </a:lnSpc>
              <a:spcBef>
                <a:spcPct val="0"/>
              </a:spcBef>
              <a:spcAft>
                <a:spcPts val="0"/>
              </a:spcAft>
              <a:buClrTx/>
              <a:buSzTx/>
              <a:buFontTx/>
              <a:buNone/>
              <a:tabLst/>
              <a:defRPr sz="4400" baseline="0">
                <a:solidFill>
                  <a:srgbClr val="FFC000"/>
                </a:solidFill>
              </a:defRPr>
            </a:lvl1pPr>
          </a:lstStyle>
          <a:p>
            <a:pPr>
              <a:defRPr/>
            </a:pPr>
            <a:r>
              <a:rPr lang="en-US" sz="5400" b="1" cap="all" dirty="0">
                <a:effectLst>
                  <a:outerShdw blurRad="38100" dist="38100" dir="2700000" algn="tl">
                    <a:srgbClr val="000000">
                      <a:alpha val="43137"/>
                    </a:srgbClr>
                  </a:outerShdw>
                </a:effectLst>
                <a:latin typeface="Gill Sans MT Condensed" pitchFamily="34" charset="0"/>
              </a:rPr>
              <a:t>See the </a:t>
            </a:r>
            <a:r>
              <a:rPr lang="en-US" sz="5400" b="1" cap="all" dirty="0">
                <a:solidFill>
                  <a:srgbClr val="EEECE1"/>
                </a:solidFill>
                <a:effectLst>
                  <a:outerShdw blurRad="38100" dist="38100" dir="2700000" algn="tl">
                    <a:srgbClr val="000000">
                      <a:alpha val="43137"/>
                    </a:srgbClr>
                  </a:outerShdw>
                </a:effectLst>
                <a:latin typeface="Gill Sans MT Condensed" pitchFamily="34" charset="0"/>
              </a:rPr>
              <a:t>invisible</a:t>
            </a:r>
            <a:r>
              <a:rPr lang="en-US" sz="5400" b="1" cap="all" dirty="0">
                <a:effectLst>
                  <a:outerShdw blurRad="38100" dist="38100" dir="2700000" algn="tl">
                    <a:srgbClr val="000000">
                      <a:alpha val="43137"/>
                    </a:srgbClr>
                  </a:outerShdw>
                </a:effectLst>
                <a:latin typeface="Gill Sans MT Condensed" pitchFamily="34" charset="0"/>
              </a:rPr>
              <a:t> hand</a:t>
            </a:r>
          </a:p>
        </p:txBody>
      </p:sp>
      <p:sp>
        <p:nvSpPr>
          <p:cNvPr id="4" name="Date Placeholder 2"/>
          <p:cNvSpPr>
            <a:spLocks noGrp="1"/>
          </p:cNvSpPr>
          <p:nvPr>
            <p:ph type="dt" sz="half" idx="10"/>
          </p:nvPr>
        </p:nvSpPr>
        <p:spPr>
          <a:xfrm>
            <a:off x="457200" y="6356350"/>
            <a:ext cx="381000" cy="365125"/>
          </a:xfrm>
          <a:prstGeom prst="rect">
            <a:avLst/>
          </a:prstGeom>
        </p:spPr>
        <p:txBody>
          <a:bodyPr/>
          <a:lstStyle>
            <a:lvl1pPr>
              <a:defRPr/>
            </a:lvl1pPr>
          </a:lstStyle>
          <a:p>
            <a:pPr>
              <a:defRPr/>
            </a:pPr>
            <a:endParaRPr lang="en-US" dirty="0">
              <a:solidFill>
                <a:prstClr val="black"/>
              </a:solidFill>
              <a:latin typeface="Calibri"/>
            </a:endParaRPr>
          </a:p>
        </p:txBody>
      </p:sp>
      <p:sp>
        <p:nvSpPr>
          <p:cNvPr id="5" name="Footer Placeholder 3"/>
          <p:cNvSpPr>
            <a:spLocks noGrp="1"/>
          </p:cNvSpPr>
          <p:nvPr>
            <p:ph type="ftr" sz="quarter" idx="11"/>
          </p:nvPr>
        </p:nvSpPr>
        <p:spPr/>
        <p:txBody>
          <a:bodyPr/>
          <a:lstStyle>
            <a:lvl1pPr>
              <a:defRPr smtClean="0"/>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
        <p:nvSpPr>
          <p:cNvPr id="6" name="Slide Number Placeholder 4"/>
          <p:cNvSpPr>
            <a:spLocks noGrp="1"/>
          </p:cNvSpPr>
          <p:nvPr>
            <p:ph type="sldNum" sz="quarter" idx="12"/>
          </p:nvPr>
        </p:nvSpPr>
        <p:spPr>
          <a:xfrm>
            <a:off x="8686800" y="6629400"/>
            <a:ext cx="457200" cy="228600"/>
          </a:xfrm>
          <a:prstGeom prst="rect">
            <a:avLst/>
          </a:prstGeom>
        </p:spPr>
        <p:txBody>
          <a:bodyPr/>
          <a:lstStyle>
            <a:lvl1pPr>
              <a:defRPr/>
            </a:lvl1pPr>
          </a:lstStyle>
          <a:p>
            <a:pPr>
              <a:defRPr/>
            </a:pPr>
            <a:fld id="{07792435-3FB9-44AA-AFAB-9C75A2BA8B14}" type="slidenum">
              <a:rPr lang="en-US">
                <a:solidFill>
                  <a:prstClr val="black"/>
                </a:solidFill>
                <a:latin typeface="Calibri"/>
              </a:rPr>
              <a:pPr>
                <a:defRPr/>
              </a:pPr>
              <a:t>‹#›</a:t>
            </a:fld>
            <a:endParaRPr lang="en-US" dirty="0">
              <a:solidFill>
                <a:prstClr val="black"/>
              </a:solidFill>
              <a:latin typeface="Calibri"/>
            </a:endParaRPr>
          </a:p>
        </p:txBody>
      </p:sp>
    </p:spTree>
    <p:extLst>
      <p:ext uri="{BB962C8B-B14F-4D97-AF65-F5344CB8AC3E}">
        <p14:creationId xmlns:p14="http://schemas.microsoft.com/office/powerpoint/2010/main" val="8490927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Slide Number Placeholder 5"/>
          <p:cNvSpPr>
            <a:spLocks noGrp="1"/>
          </p:cNvSpPr>
          <p:nvPr>
            <p:ph type="sldNum" sz="quarter" idx="10"/>
          </p:nvPr>
        </p:nvSpPr>
        <p:spPr>
          <a:xfrm>
            <a:off x="0" y="6629400"/>
            <a:ext cx="533400" cy="228600"/>
          </a:xfrm>
          <a:prstGeom prst="rect">
            <a:avLst/>
          </a:prstGeom>
        </p:spPr>
        <p:txBody>
          <a:bodyPr/>
          <a:lstStyle>
            <a:lvl1pPr>
              <a:defRPr/>
            </a:lvl1pPr>
          </a:lstStyle>
          <a:p>
            <a:pPr>
              <a:defRPr/>
            </a:pPr>
            <a:fld id="{77C2E9A3-CF58-4EC8-9DF2-A6CC9EAC2CD5}" type="slidenum">
              <a:rPr lang="en-US">
                <a:solidFill>
                  <a:prstClr val="black"/>
                </a:solidFill>
                <a:latin typeface="Calibri"/>
              </a:rPr>
              <a:pPr>
                <a:defRPr/>
              </a:pPr>
              <a:t>‹#›</a:t>
            </a:fld>
            <a:endParaRPr lang="en-US" dirty="0">
              <a:solidFill>
                <a:prstClr val="black"/>
              </a:solidFill>
              <a:latin typeface="Calibri"/>
            </a:endParaRPr>
          </a:p>
        </p:txBody>
      </p:sp>
    </p:spTree>
    <p:extLst>
      <p:ext uri="{BB962C8B-B14F-4D97-AF65-F5344CB8AC3E}">
        <p14:creationId xmlns:p14="http://schemas.microsoft.com/office/powerpoint/2010/main" val="9447322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lstStyle>
            <a:lvl1pPr algn="r">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34696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lstStyle>
            <a:lvl1pPr algn="r">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2331035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lstStyle>
            <a:lvl1pPr algn="r">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408930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457200"/>
          </a:xfrm>
        </p:spPr>
        <p:txBody>
          <a:bodyPr/>
          <a:lstStyle>
            <a:lvl1pPr algn="r">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928913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childTnLst>
                                </p:cTn>
                              </p:par>
                            </p:childTnLst>
                          </p:cTn>
                        </p:par>
                        <p:par>
                          <p:cTn id="20" fill="hold">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 Target="../slides/slide2.xml"/><Relationship Id="rId5" Type="http://schemas.openxmlformats.org/officeDocument/2006/relationships/slide" Target="../slides/slide42.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 Target="../slides/slide42.xml"/><Relationship Id="rId3" Type="http://schemas.openxmlformats.org/officeDocument/2006/relationships/slideLayout" Target="../slideLayouts/slideLayout6.xml"/><Relationship Id="rId7"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slide" Target="../slides/slid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5" Type="http://schemas.openxmlformats.org/officeDocument/2006/relationships/theme" Target="../theme/theme3.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5" Type="http://schemas.openxmlformats.org/officeDocument/2006/relationships/slide" Target="../slides/slide2.xml"/><Relationship Id="rId4" Type="http://schemas.openxmlformats.org/officeDocument/2006/relationships/slide" Target="../slides/slide4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slide" Target="../slides/slide42.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19.xml"/><Relationship Id="rId1" Type="http://schemas.openxmlformats.org/officeDocument/2006/relationships/slideLayout" Target="../slideLayouts/slideLayout18.xml"/><Relationship Id="rId5" Type="http://schemas.openxmlformats.org/officeDocument/2006/relationships/slide" Target="../slides/slide2.xml"/><Relationship Id="rId4" Type="http://schemas.openxmlformats.org/officeDocument/2006/relationships/slide" Target="../slides/slide42.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theme" Target="../theme/theme7.xml"/><Relationship Id="rId1" Type="http://schemas.openxmlformats.org/officeDocument/2006/relationships/slideLayout" Target="../slideLayouts/slideLayout20.xml"/><Relationship Id="rId5" Type="http://schemas.openxmlformats.org/officeDocument/2006/relationships/slide" Target="../slides/slide2.xml"/><Relationship Id="rId4" Type="http://schemas.openxmlformats.org/officeDocument/2006/relationships/slide" Target="../slides/slide42.xml"/></Relationships>
</file>

<file path=ppt/slideMasters/_rels/slideMaster8.xml.rels><?xml version="1.0" encoding="UTF-8" standalone="yes"?>
<Relationships xmlns="http://schemas.openxmlformats.org/package/2006/relationships"><Relationship Id="rId3" Type="http://schemas.openxmlformats.org/officeDocument/2006/relationships/slide" Target="../slides/slide42.xml"/><Relationship Id="rId2" Type="http://schemas.openxmlformats.org/officeDocument/2006/relationships/theme" Target="../theme/theme8.xml"/><Relationship Id="rId1" Type="http://schemas.openxmlformats.org/officeDocument/2006/relationships/slideLayout" Target="../slideLayouts/slideLayout21.xml"/><Relationship Id="rId4" Type="http://schemas.openxmlformats.org/officeDocument/2006/relationships/slide" Target="../slides/slide2.xml"/></Relationships>
</file>

<file path=ppt/slideMasters/_rels/slideMaster9.xml.rels><?xml version="1.0" encoding="UTF-8" standalone="yes"?>
<Relationships xmlns="http://schemas.openxmlformats.org/package/2006/relationships"><Relationship Id="rId8" Type="http://schemas.openxmlformats.org/officeDocument/2006/relationships/slide" Target="../slides/slide2.xml"/><Relationship Id="rId3" Type="http://schemas.openxmlformats.org/officeDocument/2006/relationships/slideLayout" Target="../slideLayouts/slideLayout24.xml"/><Relationship Id="rId7" Type="http://schemas.openxmlformats.org/officeDocument/2006/relationships/theme" Target="../theme/theme9.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10.xml.rels><?xml version="1.0" encoding="UTF-8" standalone="yes"?>
<Relationships xmlns="http://schemas.openxmlformats.org/package/2006/relationships"><Relationship Id="rId8" Type="http://schemas.openxmlformats.org/officeDocument/2006/relationships/slide" Target="../slides/slide2.xml"/><Relationship Id="rId3" Type="http://schemas.openxmlformats.org/officeDocument/2006/relationships/slideLayout" Target="../slideLayouts/slideLayout30.xml"/><Relationship Id="rId7" Type="http://schemas.openxmlformats.org/officeDocument/2006/relationships/theme" Target="../theme/theme1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_rels/slideMaster12.xml.rels><?xml version="1.0" encoding="UTF-8" standalone="yes"?>
<Relationships xmlns="http://schemas.openxmlformats.org/package/2006/relationships"><Relationship Id="rId3" Type="http://schemas.openxmlformats.org/officeDocument/2006/relationships/theme" Target="../theme/theme12.xml"/><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457200" y="1830388"/>
            <a:ext cx="86868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5"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6" action="ppaction://hlinksldjump"/>
              </a:rPr>
              <a:t>Back to Table of content</a:t>
            </a:r>
            <a:r>
              <a:rPr lang="en-US" sz="800" b="1" dirty="0">
                <a:latin typeface="Candara" pitchFamily="34" charset="0"/>
                <a:hlinkClick r:id="rId5" action="ppaction://hlinksldjump"/>
              </a:rPr>
              <a:t>s</a:t>
            </a:r>
            <a:endParaRPr lang="en-US" sz="800" b="1" dirty="0">
              <a:latin typeface="Candara" pitchFamily="34" charset="0"/>
            </a:endParaRPr>
          </a:p>
          <a:p>
            <a:endParaRPr lang="en-US" sz="1000" dirty="0">
              <a:latin typeface="Candara" pitchFamily="34" charset="0"/>
            </a:endParaRPr>
          </a:p>
        </p:txBody>
      </p:sp>
      <p:sp>
        <p:nvSpPr>
          <p:cNvPr id="10" name="Right Arrow 9"/>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APPLICATION VIDEO</a:t>
            </a:r>
          </a:p>
        </p:txBody>
      </p:sp>
    </p:spTree>
  </p:cSld>
  <p:clrMap bg1="lt1" tx1="dk1" bg2="lt2" tx2="dk2" accent1="accent1" accent2="accent2" accent3="accent3" accent4="accent4" accent5="accent5" accent6="accent6" hlink="hlink" folHlink="folHlink"/>
  <p:sldLayoutIdLst>
    <p:sldLayoutId id="2147483694" r:id="rId1"/>
    <p:sldLayoutId id="2147483786" r:id="rId2"/>
    <p:sldLayoutId id="2147483802" r:id="rId3"/>
  </p:sldLayoutIdLst>
  <p:transition>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26">
                                            <p:txEl>
                                              <p:pRg st="0" end="0"/>
                                            </p:txEl>
                                          </p:spTgt>
                                        </p:tgtEl>
                                        <p:attrNameLst>
                                          <p:attrName>style.visibility</p:attrName>
                                        </p:attrNameLst>
                                      </p:cBhvr>
                                      <p:to>
                                        <p:strVal val="visible"/>
                                      </p:to>
                                    </p:set>
                                    <p:animEffect transition="in" filter="fade">
                                      <p:cBhvr>
                                        <p:cTn id="7" dur="500"/>
                                        <p:tgtEl>
                                          <p:spTgt spid="10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6">
                                            <p:txEl>
                                              <p:pRg st="1" end="1"/>
                                            </p:txEl>
                                          </p:spTgt>
                                        </p:tgtEl>
                                        <p:attrNameLst>
                                          <p:attrName>style.visibility</p:attrName>
                                        </p:attrNameLst>
                                      </p:cBhvr>
                                      <p:to>
                                        <p:strVal val="visible"/>
                                      </p:to>
                                    </p:set>
                                    <p:animEffect transition="in" filter="fade">
                                      <p:cBhvr>
                                        <p:cTn id="12" dur="500"/>
                                        <p:tgtEl>
                                          <p:spTgt spid="102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26">
                                            <p:txEl>
                                              <p:pRg st="2" end="2"/>
                                            </p:txEl>
                                          </p:spTgt>
                                        </p:tgtEl>
                                        <p:attrNameLst>
                                          <p:attrName>style.visibility</p:attrName>
                                        </p:attrNameLst>
                                      </p:cBhvr>
                                      <p:to>
                                        <p:strVal val="visible"/>
                                      </p:to>
                                    </p:set>
                                    <p:animEffect transition="in" filter="fade">
                                      <p:cBhvr>
                                        <p:cTn id="17" dur="500"/>
                                        <p:tgtEl>
                                          <p:spTgt spid="102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26">
                                            <p:txEl>
                                              <p:pRg st="3" end="3"/>
                                            </p:txEl>
                                          </p:spTgt>
                                        </p:tgtEl>
                                        <p:attrNameLst>
                                          <p:attrName>style.visibility</p:attrName>
                                        </p:attrNameLst>
                                      </p:cBhvr>
                                      <p:to>
                                        <p:strVal val="visible"/>
                                      </p:to>
                                    </p:set>
                                    <p:animEffect transition="in" filter="fade">
                                      <p:cBhvr>
                                        <p:cTn id="22" dur="500"/>
                                        <p:tgtEl>
                                          <p:spTgt spid="102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26">
                                            <p:txEl>
                                              <p:pRg st="4" end="4"/>
                                            </p:txEl>
                                          </p:spTgt>
                                        </p:tgtEl>
                                        <p:attrNameLst>
                                          <p:attrName>style.visibility</p:attrName>
                                        </p:attrNameLst>
                                      </p:cBhvr>
                                      <p:to>
                                        <p:strVal val="visible"/>
                                      </p:to>
                                    </p:set>
                                    <p:animEffect transition="in" filter="fade">
                                      <p:cBhvr>
                                        <p:cTn id="27" dur="500"/>
                                        <p:tgtEl>
                                          <p:spTgt spid="10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6" grpId="0" build="p">
        <p:tmplLst>
          <p:tmpl lvl="1">
            <p:tnLst>
              <p:par>
                <p:cTn presetID="10" presetClass="entr" presetSubtype="0" fill="hold" nodeType="with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1026"/>
                        </p:tgtEl>
                        <p:attrNameLst>
                          <p:attrName>style.visibility</p:attrName>
                        </p:attrNameLst>
                      </p:cBhvr>
                      <p:to>
                        <p:strVal val="visible"/>
                      </p:to>
                    </p:set>
                    <p:animEffect transition="in" filter="fade">
                      <p:cBhvr>
                        <p:cTn dur="500"/>
                        <p:tgtEl>
                          <p:spTgt spid="1026"/>
                        </p:tgtEl>
                      </p:cBhvr>
                    </p:animEffect>
                  </p:childTnLst>
                </p:cTn>
              </p:par>
            </p:tnLst>
          </p:tmpl>
        </p:tmplLst>
      </p:bldP>
    </p:bldLst>
  </p:timing>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76200"/>
            <a:ext cx="9144000" cy="838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8"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9"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9"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7468067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22" r:id="rId3"/>
    <p:sldLayoutId id="2147483724" r:id="rId4"/>
    <p:sldLayoutId id="2147483741" r:id="rId5"/>
    <p:sldLayoutId id="2147483787"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4400" b="0" kern="1200" spc="0" baseline="0">
          <a:solidFill>
            <a:schemeClr val="accent3"/>
          </a:solidFill>
          <a:effectLst>
            <a:innerShdw blurRad="63500" dist="50800" dir="13500000">
              <a:prstClr val="black">
                <a:alpha val="50000"/>
              </a:prstClr>
            </a:innerShdw>
          </a:effectLst>
          <a:latin typeface="Century Gothic"/>
          <a:ea typeface="+mj-ea"/>
          <a:cs typeface="Century Gothic"/>
        </a:defRPr>
      </a:lvl1pPr>
    </p:titleStyle>
    <p:bodyStyle>
      <a:lvl1pPr marL="0" indent="0" algn="l" defTabSz="914400" rtl="0" eaLnBrk="1" latinLnBrk="0" hangingPunct="1">
        <a:spcBef>
          <a:spcPct val="20000"/>
        </a:spcBef>
        <a:buFontTx/>
        <a:buNone/>
        <a:defRPr sz="32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28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4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0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0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809" r:id="rId4"/>
  </p:sldLayoutIdLst>
  <p:hf sldNum="0" hdr="0" dt="0"/>
  <p:txStyles>
    <p:titleStyle>
      <a:lvl1pPr algn="ctr" rtl="0" eaLnBrk="1" fontAlgn="base" hangingPunct="1">
        <a:spcBef>
          <a:spcPct val="0"/>
        </a:spcBef>
        <a:spcAft>
          <a:spcPct val="0"/>
        </a:spcAft>
        <a:defRPr sz="4400" b="1" kern="1200">
          <a:solidFill>
            <a:schemeClr val="tx1"/>
          </a:solidFill>
          <a:latin typeface="Candara" pitchFamily="34" charset="0"/>
          <a:ea typeface="+mj-ea"/>
          <a:cs typeface="+mj-cs"/>
        </a:defRPr>
      </a:lvl1pPr>
      <a:lvl2pPr algn="ctr" rtl="0" eaLnBrk="1" fontAlgn="base" hangingPunct="1">
        <a:spcBef>
          <a:spcPct val="0"/>
        </a:spcBef>
        <a:spcAft>
          <a:spcPct val="0"/>
        </a:spcAft>
        <a:defRPr sz="4400">
          <a:solidFill>
            <a:schemeClr val="tx1"/>
          </a:solidFill>
          <a:latin typeface="Century Gothic" pitchFamily="34" charset="0"/>
        </a:defRPr>
      </a:lvl2pPr>
      <a:lvl3pPr algn="ctr" rtl="0" eaLnBrk="1" fontAlgn="base" hangingPunct="1">
        <a:spcBef>
          <a:spcPct val="0"/>
        </a:spcBef>
        <a:spcAft>
          <a:spcPct val="0"/>
        </a:spcAft>
        <a:defRPr sz="4400">
          <a:solidFill>
            <a:schemeClr val="tx1"/>
          </a:solidFill>
          <a:latin typeface="Century Gothic" pitchFamily="34" charset="0"/>
        </a:defRPr>
      </a:lvl3pPr>
      <a:lvl4pPr algn="ctr" rtl="0" eaLnBrk="1" fontAlgn="base" hangingPunct="1">
        <a:spcBef>
          <a:spcPct val="0"/>
        </a:spcBef>
        <a:spcAft>
          <a:spcPct val="0"/>
        </a:spcAft>
        <a:defRPr sz="4400">
          <a:solidFill>
            <a:schemeClr val="tx1"/>
          </a:solidFill>
          <a:latin typeface="Century Gothic" pitchFamily="34" charset="0"/>
        </a:defRPr>
      </a:lvl4pPr>
      <a:lvl5pPr algn="ctr" rtl="0" eaLnBrk="1" fontAlgn="base" hangingPunct="1">
        <a:spcBef>
          <a:spcPct val="0"/>
        </a:spcBef>
        <a:spcAft>
          <a:spcPct val="0"/>
        </a:spcAft>
        <a:defRPr sz="4400">
          <a:solidFill>
            <a:schemeClr val="tx1"/>
          </a:solidFill>
          <a:latin typeface="Century Gothic" pitchFamily="34" charset="0"/>
        </a:defRPr>
      </a:lvl5pPr>
      <a:lvl6pPr marL="457200" algn="ctr" rtl="0" eaLnBrk="1" fontAlgn="base" hangingPunct="1">
        <a:spcBef>
          <a:spcPct val="0"/>
        </a:spcBef>
        <a:spcAft>
          <a:spcPct val="0"/>
        </a:spcAft>
        <a:defRPr sz="4400">
          <a:solidFill>
            <a:schemeClr val="tx1"/>
          </a:solidFill>
          <a:latin typeface="Century Gothic" pitchFamily="34" charset="0"/>
        </a:defRPr>
      </a:lvl6pPr>
      <a:lvl7pPr marL="914400" algn="ctr" rtl="0" eaLnBrk="1" fontAlgn="base" hangingPunct="1">
        <a:spcBef>
          <a:spcPct val="0"/>
        </a:spcBef>
        <a:spcAft>
          <a:spcPct val="0"/>
        </a:spcAft>
        <a:defRPr sz="4400">
          <a:solidFill>
            <a:schemeClr val="tx1"/>
          </a:solidFill>
          <a:latin typeface="Century Gothic" pitchFamily="34" charset="0"/>
        </a:defRPr>
      </a:lvl7pPr>
      <a:lvl8pPr marL="1371600" algn="ctr" rtl="0" eaLnBrk="1" fontAlgn="base" hangingPunct="1">
        <a:spcBef>
          <a:spcPct val="0"/>
        </a:spcBef>
        <a:spcAft>
          <a:spcPct val="0"/>
        </a:spcAft>
        <a:defRPr sz="4400">
          <a:solidFill>
            <a:schemeClr val="tx1"/>
          </a:solidFill>
          <a:latin typeface="Century Gothic" pitchFamily="34" charset="0"/>
        </a:defRPr>
      </a:lvl8pPr>
      <a:lvl9pPr marL="1828800" algn="ctr" rtl="0" eaLnBrk="1" fontAlgn="base" hangingPunct="1">
        <a:spcBef>
          <a:spcPct val="0"/>
        </a:spcBef>
        <a:spcAft>
          <a:spcPct val="0"/>
        </a:spcAft>
        <a:defRPr sz="4400">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ight Arrow 8"/>
          <p:cNvSpPr/>
          <p:nvPr/>
        </p:nvSpPr>
        <p:spPr>
          <a:xfrm>
            <a:off x="0" y="0"/>
            <a:ext cx="8991600" cy="1161633"/>
          </a:xfrm>
          <a:prstGeom prst="rightArrow">
            <a:avLst>
              <a:gd name="adj1" fmla="val 50000"/>
              <a:gd name="adj2" fmla="val 78749"/>
            </a:avLst>
          </a:prstGeom>
          <a:solidFill>
            <a:srgbClr val="CBF577">
              <a:alpha val="66000"/>
            </a:srgb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PRACTICE QUESTION</a:t>
            </a:r>
          </a:p>
        </p:txBody>
      </p:sp>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0"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Right Arrow 7">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2"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1" name="Right Arrow 10"/>
          <p:cNvSpPr/>
          <p:nvPr/>
        </p:nvSpPr>
        <p:spPr>
          <a:xfrm>
            <a:off x="0" y="0"/>
            <a:ext cx="8991600" cy="1161633"/>
          </a:xfrm>
          <a:prstGeom prst="rightArrow">
            <a:avLst>
              <a:gd name="adj1" fmla="val 50000"/>
              <a:gd name="adj2" fmla="val 78749"/>
            </a:avLst>
          </a:prstGeom>
          <a:solidFill>
            <a:schemeClr val="accent5">
              <a:lumMod val="40000"/>
              <a:lumOff val="6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LEARN BY DOING: BUSINESS</a:t>
            </a:r>
            <a:r>
              <a:rPr lang="en-US" sz="3200" b="0" spc="60" baseline="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rPr>
              <a:t> CASE</a:t>
            </a:r>
            <a:endParaRPr lang="en-US" sz="3200" b="0" spc="60" dirty="0">
              <a:ln w="9000" cmpd="sng">
                <a:noFill/>
                <a:prstDash val="solid"/>
              </a:ln>
              <a:solidFill>
                <a:schemeClr val="accent5">
                  <a:lumMod val="75000"/>
                </a:schemeClr>
              </a:solidFill>
              <a:effectLst>
                <a:innerShdw blurRad="63500" dist="50800" dir="13500000">
                  <a:prstClr val="black">
                    <a:alpha val="50000"/>
                  </a:prstClr>
                </a:innerShdw>
              </a:effectLst>
              <a:latin typeface="Century Gothic" pitchFamily="34" charset="0"/>
              <a:cs typeface="Courier New" pitchFamily="49" charset="0"/>
            </a:endParaRPr>
          </a:p>
        </p:txBody>
      </p:sp>
    </p:spTree>
    <p:extLst>
      <p:ext uri="{BB962C8B-B14F-4D97-AF65-F5344CB8AC3E}">
        <p14:creationId xmlns:p14="http://schemas.microsoft.com/office/powerpoint/2010/main" val="3055139934"/>
      </p:ext>
    </p:extLst>
  </p:cSld>
  <p:clrMap bg1="lt1" tx1="dk1" bg2="lt2" tx2="dk2" accent1="accent1" accent2="accent2" accent3="accent3" accent4="accent4" accent5="accent5" accent6="accent6" hlink="hlink" folHlink="folHlink"/>
  <p:sldLayoutIdLst>
    <p:sldLayoutId id="2147483712" r:id="rId1"/>
    <p:sldLayoutId id="2147483713"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entury Gothic"/>
          <a:ea typeface="+mn-ea"/>
          <a:cs typeface="Century Gothic"/>
        </a:defRPr>
      </a:lvl1pPr>
      <a:lvl2pPr marL="457200" indent="0" algn="l" rtl="0" eaLnBrk="1" fontAlgn="base" hangingPunct="1">
        <a:spcBef>
          <a:spcPct val="20000"/>
        </a:spcBef>
        <a:spcAft>
          <a:spcPct val="0"/>
        </a:spcAft>
        <a:buFontTx/>
        <a:buNone/>
        <a:defRPr sz="3200" b="1" kern="1200" spc="100">
          <a:solidFill>
            <a:schemeClr val="tx1"/>
          </a:solidFill>
          <a:latin typeface="Century Gothic"/>
          <a:ea typeface="+mn-ea"/>
          <a:cs typeface="Century Gothic"/>
        </a:defRPr>
      </a:lvl2pPr>
      <a:lvl3pPr marL="914400" indent="0" algn="l" rtl="0" eaLnBrk="1" fontAlgn="base" hangingPunct="1">
        <a:spcBef>
          <a:spcPct val="20000"/>
        </a:spcBef>
        <a:spcAft>
          <a:spcPct val="0"/>
        </a:spcAft>
        <a:buFontTx/>
        <a:buNone/>
        <a:defRPr sz="2800" b="1" kern="1200" spc="100">
          <a:solidFill>
            <a:schemeClr val="tx1"/>
          </a:solidFill>
          <a:latin typeface="Century Gothic"/>
          <a:ea typeface="+mn-ea"/>
          <a:cs typeface="Century Gothic"/>
        </a:defRPr>
      </a:lvl3pPr>
      <a:lvl4pPr marL="13716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4pPr>
      <a:lvl5pPr marL="1828800" indent="0" algn="l" rtl="0" eaLnBrk="1" fontAlgn="base" hangingPunct="1">
        <a:spcBef>
          <a:spcPct val="20000"/>
        </a:spcBef>
        <a:spcAft>
          <a:spcPct val="0"/>
        </a:spcAft>
        <a:buFontTx/>
        <a:buNone/>
        <a:defRPr sz="2400" b="1" kern="1200" spc="1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228600" y="1295400"/>
            <a:ext cx="8458200" cy="50609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Oval 12"/>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11" name="Right Arrow 10">
            <a:hlinkClick r:id="" action="ppaction://noaction"/>
          </p:cNvPr>
          <p:cNvSpPr/>
          <p:nvPr/>
        </p:nvSpPr>
        <p:spPr>
          <a:xfrm>
            <a:off x="0" y="6081474"/>
            <a:ext cx="1524000" cy="776526"/>
          </a:xfrm>
          <a:prstGeom prst="rightArrow">
            <a:avLst>
              <a:gd name="adj1" fmla="val 47162"/>
              <a:gd name="adj2" fmla="val 48581"/>
            </a:avLst>
          </a:prstGeom>
          <a:solidFill>
            <a:schemeClr val="accent1">
              <a:lumMod val="20000"/>
              <a:lumOff val="80000"/>
            </a:schemeClr>
          </a:solidFill>
          <a:ln>
            <a:noFill/>
          </a:ln>
        </p:spPr>
        <p:txBody>
          <a:bodyPr wrap="square">
            <a:spAutoFit/>
          </a:bodyPr>
          <a:lstStyle/>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a:p>
            <a:pPr algn="ctr" fontAlgn="auto">
              <a:spcBef>
                <a:spcPts val="0"/>
              </a:spcBef>
              <a:spcAft>
                <a:spcPts val="0"/>
              </a:spcAft>
              <a:defRPr/>
            </a:pP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
        <p:nvSpPr>
          <p:cNvPr id="15"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
        <p:nvSpPr>
          <p:cNvPr id="12" name="Right Arrow 11"/>
          <p:cNvSpPr/>
          <p:nvPr/>
        </p:nvSpPr>
        <p:spPr>
          <a:xfrm>
            <a:off x="0" y="0"/>
            <a:ext cx="8991600" cy="1161633"/>
          </a:xfrm>
          <a:prstGeom prst="rightArrow">
            <a:avLst>
              <a:gd name="adj1" fmla="val 50000"/>
              <a:gd name="adj2" fmla="val 78749"/>
            </a:avLst>
          </a:prstGeom>
          <a:solidFill>
            <a:schemeClr val="bg2">
              <a:lumMod val="90000"/>
              <a:alpha val="66000"/>
            </a:schemeClr>
          </a:solidFill>
          <a:ln>
            <a:noFill/>
          </a:ln>
        </p:spPr>
        <p:txBody>
          <a:bodyPr wrap="square">
            <a:spAutoFit/>
          </a:bodyPr>
          <a:lstStyle/>
          <a:p>
            <a:pPr algn="l" fontAlgn="auto">
              <a:spcBef>
                <a:spcPts val="0"/>
              </a:spcBef>
              <a:spcAft>
                <a:spcPts val="0"/>
              </a:spcAft>
              <a:defRPr/>
            </a:pPr>
            <a:r>
              <a:rPr lang="en-US" sz="3200" b="0" spc="60" dirty="0">
                <a:ln w="9000" cmpd="sng">
                  <a:noFill/>
                  <a:prstDash val="solid"/>
                </a:ln>
                <a:solidFill>
                  <a:schemeClr val="accent6">
                    <a:lumMod val="50000"/>
                  </a:schemeClr>
                </a:solidFill>
                <a:effectLst>
                  <a:innerShdw blurRad="63500" dist="50800" dir="13500000">
                    <a:prstClr val="black">
                      <a:alpha val="50000"/>
                    </a:prstClr>
                  </a:innerShdw>
                </a:effectLst>
                <a:latin typeface="Century Gothic" pitchFamily="34" charset="0"/>
                <a:cs typeface="Courier New" pitchFamily="49" charset="0"/>
              </a:rPr>
              <a:t>LEARN BY DOING: DISCUSS</a:t>
            </a:r>
          </a:p>
        </p:txBody>
      </p:sp>
    </p:spTree>
    <p:extLst>
      <p:ext uri="{BB962C8B-B14F-4D97-AF65-F5344CB8AC3E}">
        <p14:creationId xmlns:p14="http://schemas.microsoft.com/office/powerpoint/2010/main" val="3999456525"/>
      </p:ext>
    </p:extLst>
  </p:cSld>
  <p:clrMap bg1="lt1" tx1="dk1" bg2="lt2" tx2="dk2" accent1="accent1" accent2="accent2" accent3="accent3" accent4="accent4" accent5="accent5" accent6="accent6" hlink="hlink" folHlink="folHlink"/>
  <p:sldLayoutIdLst>
    <p:sldLayoutId id="2147483715" r:id="rId1"/>
    <p:sldLayoutId id="2147483716" r:id="rId2"/>
  </p:sldLayoutIdLst>
  <p:transition>
    <p:fade thruBlk="1"/>
  </p:transition>
  <p:hf sldNum="0" hdr="0" dt="0"/>
  <p:txStyles>
    <p:titleStyle>
      <a:lvl1pPr algn="ctr" rtl="0" eaLnBrk="1" fontAlgn="base" hangingPunct="1">
        <a:spcBef>
          <a:spcPct val="0"/>
        </a:spcBef>
        <a:spcAft>
          <a:spcPct val="0"/>
        </a:spcAft>
        <a:defRPr sz="4400" b="1" i="1" kern="1200">
          <a:noFill/>
          <a:latin typeface="Century Gothic" pitchFamily="34" charset="0"/>
          <a:ea typeface="+mj-ea"/>
          <a:cs typeface="+mj-cs"/>
        </a:defRPr>
      </a:lvl1pPr>
      <a:lvl2pPr algn="ctr" rtl="0" eaLnBrk="1" fontAlgn="base" hangingPunct="1">
        <a:spcBef>
          <a:spcPct val="0"/>
        </a:spcBef>
        <a:spcAft>
          <a:spcPct val="0"/>
        </a:spcAft>
        <a:defRPr sz="4400" b="1" i="1">
          <a:solidFill>
            <a:schemeClr val="tx1"/>
          </a:solidFill>
          <a:latin typeface="Century Gothic" pitchFamily="34" charset="0"/>
        </a:defRPr>
      </a:lvl2pPr>
      <a:lvl3pPr algn="ctr" rtl="0" eaLnBrk="1" fontAlgn="base" hangingPunct="1">
        <a:spcBef>
          <a:spcPct val="0"/>
        </a:spcBef>
        <a:spcAft>
          <a:spcPct val="0"/>
        </a:spcAft>
        <a:defRPr sz="4400" b="1" i="1">
          <a:solidFill>
            <a:schemeClr val="tx1"/>
          </a:solidFill>
          <a:latin typeface="Century Gothic" pitchFamily="34" charset="0"/>
        </a:defRPr>
      </a:lvl3pPr>
      <a:lvl4pPr algn="ctr" rtl="0" eaLnBrk="1" fontAlgn="base" hangingPunct="1">
        <a:spcBef>
          <a:spcPct val="0"/>
        </a:spcBef>
        <a:spcAft>
          <a:spcPct val="0"/>
        </a:spcAft>
        <a:defRPr sz="4400" b="1" i="1">
          <a:solidFill>
            <a:schemeClr val="tx1"/>
          </a:solidFill>
          <a:latin typeface="Century Gothic" pitchFamily="34" charset="0"/>
        </a:defRPr>
      </a:lvl4pPr>
      <a:lvl5pPr algn="ctr" rtl="0" eaLnBrk="1" fontAlgn="base" hangingPunct="1">
        <a:spcBef>
          <a:spcPct val="0"/>
        </a:spcBef>
        <a:spcAft>
          <a:spcPct val="0"/>
        </a:spcAft>
        <a:defRPr sz="4400" b="1" i="1">
          <a:solidFill>
            <a:schemeClr val="tx1"/>
          </a:solidFill>
          <a:latin typeface="Century Gothic" pitchFamily="34" charset="0"/>
        </a:defRPr>
      </a:lvl5pPr>
      <a:lvl6pPr marL="457200" algn="ctr" rtl="0" eaLnBrk="1" fontAlgn="base" hangingPunct="1">
        <a:spcBef>
          <a:spcPct val="0"/>
        </a:spcBef>
        <a:spcAft>
          <a:spcPct val="0"/>
        </a:spcAft>
        <a:defRPr sz="4400" b="1" i="1">
          <a:solidFill>
            <a:schemeClr val="tx1"/>
          </a:solidFill>
          <a:latin typeface="Century Gothic" pitchFamily="34" charset="0"/>
        </a:defRPr>
      </a:lvl6pPr>
      <a:lvl7pPr marL="914400" algn="ctr" rtl="0" eaLnBrk="1" fontAlgn="base" hangingPunct="1">
        <a:spcBef>
          <a:spcPct val="0"/>
        </a:spcBef>
        <a:spcAft>
          <a:spcPct val="0"/>
        </a:spcAft>
        <a:defRPr sz="4400" b="1" i="1">
          <a:solidFill>
            <a:schemeClr val="tx1"/>
          </a:solidFill>
          <a:latin typeface="Century Gothic" pitchFamily="34" charset="0"/>
        </a:defRPr>
      </a:lvl7pPr>
      <a:lvl8pPr marL="1371600" algn="ctr" rtl="0" eaLnBrk="1" fontAlgn="base" hangingPunct="1">
        <a:spcBef>
          <a:spcPct val="0"/>
        </a:spcBef>
        <a:spcAft>
          <a:spcPct val="0"/>
        </a:spcAft>
        <a:defRPr sz="4400" b="1" i="1">
          <a:solidFill>
            <a:schemeClr val="tx1"/>
          </a:solidFill>
          <a:latin typeface="Century Gothic" pitchFamily="34" charset="0"/>
        </a:defRPr>
      </a:lvl8pPr>
      <a:lvl9pPr marL="1828800" algn="ctr" rtl="0" eaLnBrk="1" fontAlgn="base" hangingPunct="1">
        <a:spcBef>
          <a:spcPct val="0"/>
        </a:spcBef>
        <a:spcAft>
          <a:spcPct val="0"/>
        </a:spcAft>
        <a:defRPr sz="4400" b="1" i="1">
          <a:solidFill>
            <a:schemeClr val="tx1"/>
          </a:solidFill>
          <a:latin typeface="Century Gothic" pitchFamily="34" charset="0"/>
        </a:defRPr>
      </a:lvl9pPr>
    </p:titleStyle>
    <p:bodyStyle>
      <a:lvl1pPr marL="0" indent="0" algn="l" rtl="0" eaLnBrk="1" fontAlgn="base" hangingPunct="1">
        <a:spcBef>
          <a:spcPct val="20000"/>
        </a:spcBef>
        <a:spcAft>
          <a:spcPct val="0"/>
        </a:spcAft>
        <a:buFontTx/>
        <a:buNone/>
        <a:defRPr sz="3600" b="1" kern="1200" spc="100">
          <a:solidFill>
            <a:schemeClr val="tx1"/>
          </a:solidFill>
          <a:latin typeface="Candara" pitchFamily="34" charset="0"/>
          <a:ea typeface="+mn-ea"/>
          <a:cs typeface="Tahoma" pitchFamily="34" charset="0"/>
        </a:defRPr>
      </a:lvl1pPr>
      <a:lvl2pPr marL="457200" indent="0" algn="l" rtl="0" eaLnBrk="1" fontAlgn="base" hangingPunct="1">
        <a:spcBef>
          <a:spcPct val="20000"/>
        </a:spcBef>
        <a:spcAft>
          <a:spcPct val="0"/>
        </a:spcAft>
        <a:buFontTx/>
        <a:buNone/>
        <a:defRPr sz="3200" b="1" kern="1200" spc="100">
          <a:solidFill>
            <a:schemeClr val="tx1"/>
          </a:solidFill>
          <a:latin typeface="Candara" pitchFamily="34" charset="0"/>
          <a:ea typeface="+mn-ea"/>
          <a:cs typeface="Tahoma" pitchFamily="34" charset="0"/>
        </a:defRPr>
      </a:lvl2pPr>
      <a:lvl3pPr marL="914400" indent="0" algn="l" rtl="0" eaLnBrk="1" fontAlgn="base" hangingPunct="1">
        <a:spcBef>
          <a:spcPct val="20000"/>
        </a:spcBef>
        <a:spcAft>
          <a:spcPct val="0"/>
        </a:spcAft>
        <a:buFontTx/>
        <a:buNone/>
        <a:defRPr sz="2800" b="1" kern="1200" spc="100">
          <a:solidFill>
            <a:schemeClr val="tx1"/>
          </a:solidFill>
          <a:latin typeface="Candara" pitchFamily="34" charset="0"/>
          <a:ea typeface="+mn-ea"/>
          <a:cs typeface="Tahoma" pitchFamily="34" charset="0"/>
        </a:defRPr>
      </a:lvl3pPr>
      <a:lvl4pPr marL="13716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4pPr>
      <a:lvl5pPr marL="1828800" indent="0" algn="l" rtl="0" eaLnBrk="1" fontAlgn="base" hangingPunct="1">
        <a:spcBef>
          <a:spcPct val="20000"/>
        </a:spcBef>
        <a:spcAft>
          <a:spcPct val="0"/>
        </a:spcAft>
        <a:buFontTx/>
        <a:buNone/>
        <a:defRPr sz="2400" b="1" kern="1200" spc="100">
          <a:solidFill>
            <a:schemeClr val="tx1"/>
          </a:solidFill>
          <a:latin typeface="Candara" pitchFamily="34" charset="0"/>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26" name="Picture 2"/>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0" y="0"/>
            <a:ext cx="9144000" cy="84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Oval 9"/>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hlinkClick r:id="rId4"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5" action="ppaction://hlinksldjump"/>
              </a:rPr>
              <a:t>Back to Table of contents</a:t>
            </a:r>
            <a:endParaRPr lang="en-US" sz="800" b="1" dirty="0">
              <a:latin typeface="Candara" pitchFamily="34" charset="0"/>
            </a:endParaRPr>
          </a:p>
          <a:p>
            <a:endParaRPr lang="en-US" sz="1000" dirty="0">
              <a:latin typeface="Candara" pitchFamily="34" charset="0"/>
            </a:endParaRPr>
          </a:p>
        </p:txBody>
      </p:sp>
      <p:sp>
        <p:nvSpPr>
          <p:cNvPr id="8" name="Footer Placeholder 2"/>
          <p:cNvSpPr>
            <a:spLocks noGrp="1"/>
          </p:cNvSpPr>
          <p:nvPr>
            <p:ph type="ftr" sz="quarter" idx="3"/>
          </p:nvPr>
        </p:nvSpPr>
        <p:spPr>
          <a:xfrm>
            <a:off x="1238203" y="6603259"/>
            <a:ext cx="7096993" cy="228600"/>
          </a:xfrm>
          <a:prstGeom prst="rect">
            <a:avLst/>
          </a:prstGeom>
        </p:spPr>
        <p:txBody>
          <a:body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4235582923"/>
      </p:ext>
    </p:extLst>
  </p:cSld>
  <p:clrMap bg1="lt1" tx1="dk1" bg2="lt2" tx2="dk2" accent1="accent1" accent2="accent2" accent3="accent3" accent4="accent4" accent5="accent5" accent6="accent6" hlink="hlink" folHlink="folHlink"/>
  <p:sldLayoutIdLst>
    <p:sldLayoutId id="2147483718"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spcBef>
          <a:spcPct val="20000"/>
        </a:spcBef>
        <a:buFontTx/>
        <a:buNone/>
        <a:defRPr sz="3600" b="1" kern="1200">
          <a:solidFill>
            <a:schemeClr val="tx1"/>
          </a:solidFill>
          <a:latin typeface="Century Gothic"/>
          <a:ea typeface="+mn-ea"/>
          <a:cs typeface="Century Gothic"/>
        </a:defRPr>
      </a:lvl1pPr>
      <a:lvl2pPr marL="457200" indent="0" algn="l" defTabSz="914400" rtl="0" eaLnBrk="1" latinLnBrk="0" hangingPunct="1">
        <a:spcBef>
          <a:spcPct val="20000"/>
        </a:spcBef>
        <a:buFontTx/>
        <a:buNone/>
        <a:defRPr sz="3200" b="1" kern="1200">
          <a:solidFill>
            <a:schemeClr val="tx1"/>
          </a:solidFill>
          <a:latin typeface="Century Gothic"/>
          <a:ea typeface="+mn-ea"/>
          <a:cs typeface="Century Gothic"/>
        </a:defRPr>
      </a:lvl2pPr>
      <a:lvl3pPr marL="914400" indent="0" algn="l" defTabSz="914400" rtl="0" eaLnBrk="1" latinLnBrk="0" hangingPunct="1">
        <a:spcBef>
          <a:spcPct val="20000"/>
        </a:spcBef>
        <a:buFontTx/>
        <a:buNone/>
        <a:defRPr sz="2800" b="1" kern="1200">
          <a:solidFill>
            <a:schemeClr val="tx1"/>
          </a:solidFill>
          <a:latin typeface="Century Gothic"/>
          <a:ea typeface="+mn-ea"/>
          <a:cs typeface="Century Gothic"/>
        </a:defRPr>
      </a:lvl3pPr>
      <a:lvl4pPr marL="1371600" indent="0" algn="l" defTabSz="914400" rtl="0" eaLnBrk="1" latinLnBrk="0" hangingPunct="1">
        <a:spcBef>
          <a:spcPct val="20000"/>
        </a:spcBef>
        <a:buFontTx/>
        <a:buNone/>
        <a:defRPr sz="2400" b="1" kern="1200">
          <a:solidFill>
            <a:schemeClr val="tx1"/>
          </a:solidFill>
          <a:latin typeface="Century Gothic"/>
          <a:ea typeface="+mn-ea"/>
          <a:cs typeface="Century Gothic"/>
        </a:defRPr>
      </a:lvl4pPr>
      <a:lvl5pPr marL="1828800" indent="0" algn="l" defTabSz="914400" rtl="0" eaLnBrk="1" latinLnBrk="0" hangingPunct="1">
        <a:spcBef>
          <a:spcPct val="20000"/>
        </a:spcBef>
        <a:buFontTx/>
        <a:buNone/>
        <a:defRPr sz="2400" b="1" kern="1200">
          <a:solidFill>
            <a:schemeClr val="tx1"/>
          </a:solidFill>
          <a:latin typeface="Century Gothic"/>
          <a:ea typeface="+mn-ea"/>
          <a:cs typeface="Century 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0"/>
            <a:ext cx="3263366" cy="838200"/>
          </a:xfrm>
          <a:prstGeom prst="rect">
            <a:avLst/>
          </a:prstGeom>
          <a:noFill/>
        </p:spPr>
        <p:txBody>
          <a:bodyPr vert="horz" lIns="91440" tIns="45720" rIns="91440" bIns="45720" rtlCol="0" anchor="ctr">
            <a:noAutofit/>
          </a:bodyPr>
          <a:lstStyle/>
          <a:p>
            <a:r>
              <a:rPr lang="en-US" dirty="0"/>
              <a:t>ECONOMICS</a:t>
            </a:r>
          </a:p>
        </p:txBody>
      </p:sp>
      <p:sp>
        <p:nvSpPr>
          <p:cNvPr id="3" name="Text Placeholder 2"/>
          <p:cNvSpPr>
            <a:spLocks noGrp="1"/>
          </p:cNvSpPr>
          <p:nvPr>
            <p:ph type="body" idx="1"/>
          </p:nvPr>
        </p:nvSpPr>
        <p:spPr>
          <a:xfrm>
            <a:off x="228600" y="1410234"/>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itle Placeholder 1"/>
          <p:cNvSpPr txBox="1">
            <a:spLocks/>
          </p:cNvSpPr>
          <p:nvPr/>
        </p:nvSpPr>
        <p:spPr>
          <a:xfrm>
            <a:off x="3854173" y="0"/>
            <a:ext cx="2853083" cy="838200"/>
          </a:xfrm>
          <a:prstGeom prst="rect">
            <a:avLst/>
          </a:prstGeom>
          <a:noFill/>
        </p:spPr>
        <p:txBody>
          <a:bodyPr vert="horz" lIns="91440" tIns="45720" rIns="91440" bIns="45720" rtlCol="0" anchor="ctr">
            <a:noAutofit/>
          </a:bodyPr>
          <a:lstStyle>
            <a:lvl1pPr algn="r" defTabSz="914400" rtl="0" eaLnBrk="1" latinLnBrk="0" hangingPunct="1">
              <a:spcBef>
                <a:spcPct val="0"/>
              </a:spcBef>
              <a:buNone/>
              <a:defRPr sz="3600" b="1" i="1" kern="1200" cap="all" spc="-200" baseline="0">
                <a:solidFill>
                  <a:schemeClr val="accent5">
                    <a:lumMod val="75000"/>
                  </a:schemeClr>
                </a:solidFill>
                <a:latin typeface="Verdana"/>
                <a:ea typeface="+mj-ea"/>
                <a:cs typeface="Verdana"/>
              </a:defRPr>
            </a:lvl1pPr>
          </a:lstStyle>
          <a:p>
            <a:r>
              <a:rPr lang="en-US" dirty="0">
                <a:solidFill>
                  <a:srgbClr val="F79646">
                    <a:lumMod val="75000"/>
                  </a:srgbClr>
                </a:solidFill>
              </a:rPr>
              <a:t>IN ACTION</a:t>
            </a:r>
          </a:p>
        </p:txBody>
      </p:sp>
      <p:sp>
        <p:nvSpPr>
          <p:cNvPr id="13" name="Oval 12"/>
          <p:cNvSpPr/>
          <p:nvPr/>
        </p:nvSpPr>
        <p:spPr>
          <a:xfrm>
            <a:off x="3263367" y="228600"/>
            <a:ext cx="474870" cy="485913"/>
          </a:xfrm>
          <a:prstGeom prst="ellipse">
            <a:avLst/>
          </a:prstGeom>
          <a:solidFill>
            <a:schemeClr val="bg1"/>
          </a:solidFill>
          <a:ln>
            <a:noFill/>
          </a:ln>
          <a:effectLst>
            <a:outerShdw blurRad="276225" dir="6960000" sx="122000" sy="122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b="1" dirty="0">
              <a:solidFill>
                <a:srgbClr val="F79646">
                  <a:lumMod val="75000"/>
                </a:srgbClr>
              </a:solidFill>
              <a:latin typeface="Verdana"/>
              <a:cs typeface="Verdana"/>
            </a:endParaRPr>
          </a:p>
        </p:txBody>
      </p:sp>
      <p:sp>
        <p:nvSpPr>
          <p:cNvPr id="4" name="Isosceles Triangle 3"/>
          <p:cNvSpPr/>
          <p:nvPr/>
        </p:nvSpPr>
        <p:spPr>
          <a:xfrm rot="5400000">
            <a:off x="3379193" y="248348"/>
            <a:ext cx="337086" cy="381002"/>
          </a:xfrm>
          <a:prstGeom prst="triangle">
            <a:avLst>
              <a:gd name="adj" fmla="val 49975"/>
            </a:avLst>
          </a:prstGeom>
          <a:solidFill>
            <a:schemeClr val="accent6">
              <a:lumMod val="7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prstClr val="white"/>
              </a:solidFill>
              <a:latin typeface="Calibri"/>
            </a:endParaRPr>
          </a:p>
        </p:txBody>
      </p:sp>
      <p:cxnSp>
        <p:nvCxnSpPr>
          <p:cNvPr id="6" name="Straight Connector 5"/>
          <p:cNvCxnSpPr/>
          <p:nvPr/>
        </p:nvCxnSpPr>
        <p:spPr>
          <a:xfrm>
            <a:off x="0" y="7747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12700" y="88900"/>
            <a:ext cx="9144000" cy="0"/>
          </a:xfrm>
          <a:prstGeom prst="line">
            <a:avLst/>
          </a:prstGeom>
          <a:ln>
            <a:solidFill>
              <a:schemeClr val="tx1">
                <a:lumMod val="50000"/>
                <a:lumOff val="50000"/>
              </a:schemeClr>
            </a:solidFill>
          </a:ln>
          <a:effectLst/>
        </p:spPr>
        <p:style>
          <a:lnRef idx="2">
            <a:schemeClr val="accent1"/>
          </a:lnRef>
          <a:fillRef idx="0">
            <a:schemeClr val="accent1"/>
          </a:fillRef>
          <a:effectRef idx="1">
            <a:schemeClr val="accent1"/>
          </a:effectRef>
          <a:fontRef idx="minor">
            <a:schemeClr val="tx1"/>
          </a:fontRef>
        </p:style>
      </p:cxnSp>
      <p:sp>
        <p:nvSpPr>
          <p:cNvPr id="10" name="Footer Placeholder 2"/>
          <p:cNvSpPr>
            <a:spLocks noGrp="1"/>
          </p:cNvSpPr>
          <p:nvPr>
            <p:ph type="ftr" sz="quarter" idx="3"/>
          </p:nvPr>
        </p:nvSpPr>
        <p:spPr>
          <a:xfrm>
            <a:off x="1066800" y="6553200"/>
            <a:ext cx="7543800" cy="228600"/>
          </a:xfrm>
          <a:prstGeom prst="rect">
            <a:avLst/>
          </a:prstGeom>
        </p:spPr>
        <p:txBody>
          <a:bodyPr/>
          <a:lstStyle>
            <a:lvl1pPr algn="ctr">
              <a:defRPr>
                <a:solidFill>
                  <a:srgbClr val="7F7F7F"/>
                </a:solidFill>
              </a:defRPr>
            </a:lvl1pPr>
          </a:lstStyle>
          <a:p>
            <a:pPr>
              <a:defRPr/>
            </a:pPr>
            <a:r>
              <a:rPr lang="en-US" sz="1000" kern="0" cap="all" spc="1060">
                <a:latin typeface="Gill Sans"/>
                <a:cs typeface="Gill Sans"/>
              </a:rPr>
              <a:t>Copyright 2015 Worth Publishers</a:t>
            </a:r>
            <a:endParaRPr lang="en-US" sz="1000" kern="0" cap="all" spc="1060" dirty="0">
              <a:latin typeface="Gill Sans"/>
              <a:cs typeface="Gill Sans"/>
            </a:endParaRPr>
          </a:p>
        </p:txBody>
      </p: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hlinkClick r:id="rId3"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latin typeface="Candara" pitchFamily="34" charset="0"/>
                <a:hlinkClick r:id="rId4" action="ppaction://hlinksldjump"/>
              </a:rPr>
              <a:t>Back to Table of contents</a:t>
            </a:r>
            <a:endParaRPr lang="en-US" sz="800" b="1" dirty="0">
              <a:latin typeface="Candara" pitchFamily="34" charset="0"/>
            </a:endParaRPr>
          </a:p>
          <a:p>
            <a:endParaRPr lang="en-US" sz="1000" dirty="0">
              <a:latin typeface="Candara" pitchFamily="34" charset="0"/>
            </a:endParaRPr>
          </a:p>
        </p:txBody>
      </p:sp>
    </p:spTree>
    <p:extLst>
      <p:ext uri="{BB962C8B-B14F-4D97-AF65-F5344CB8AC3E}">
        <p14:creationId xmlns:p14="http://schemas.microsoft.com/office/powerpoint/2010/main" val="2096068277"/>
      </p:ext>
    </p:extLst>
  </p:cSld>
  <p:clrMap bg1="lt1" tx1="dk1" bg2="lt2" tx2="dk2" accent1="accent1" accent2="accent2" accent3="accent3" accent4="accent4" accent5="accent5" accent6="accent6" hlink="hlink" folHlink="folHlink"/>
  <p:sldLayoutIdLst>
    <p:sldLayoutId id="2147483720" r:id="rId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l" defTabSz="914400" rtl="0" eaLnBrk="1" latinLnBrk="0" hangingPunct="1">
        <a:spcBef>
          <a:spcPct val="0"/>
        </a:spcBef>
        <a:buNone/>
        <a:defRPr sz="3600" b="1" i="0" kern="1200" cap="all" spc="-200" baseline="0">
          <a:solidFill>
            <a:schemeClr val="accent5">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2" name="TextBox 11">
            <a:hlinkClick r:id="rId8"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8"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3426910229"/>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9144000" cy="838200"/>
          </a:xfrm>
          <a:prstGeom prst="rect">
            <a:avLst/>
          </a:prstGeom>
          <a:solidFill>
            <a:schemeClr val="accent5">
              <a:lumMod val="20000"/>
              <a:lumOff val="80000"/>
              <a:alpha val="44000"/>
            </a:schemeClr>
          </a:solid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0" y="838200"/>
            <a:ext cx="9144000" cy="0"/>
          </a:xfrm>
          <a:prstGeom prst="line">
            <a:avLst/>
          </a:prstGeom>
          <a:ln w="127000" cmpd="sng">
            <a:solidFill>
              <a:schemeClr val="tx2">
                <a:lumMod val="20000"/>
                <a:lumOff val="80000"/>
                <a:alpha val="71000"/>
              </a:schemeClr>
            </a:solidFill>
            <a:prstDash val="solid"/>
          </a:ln>
        </p:spPr>
        <p:style>
          <a:lnRef idx="1">
            <a:schemeClr val="accent5"/>
          </a:lnRef>
          <a:fillRef idx="0">
            <a:schemeClr val="accent5"/>
          </a:fillRef>
          <a:effectRef idx="0">
            <a:schemeClr val="accent5"/>
          </a:effectRef>
          <a:fontRef idx="minor">
            <a:schemeClr val="tx1"/>
          </a:fontRef>
        </p:style>
      </p:cxnSp>
      <p:sp>
        <p:nvSpPr>
          <p:cNvPr id="11" name="Oval 10"/>
          <p:cNvSpPr/>
          <p:nvPr/>
        </p:nvSpPr>
        <p:spPr>
          <a:xfrm>
            <a:off x="8462841" y="6168900"/>
            <a:ext cx="609600" cy="625492"/>
          </a:xfrm>
          <a:prstGeom prst="ellipse">
            <a:avLst/>
          </a:prstGeom>
          <a:solidFill>
            <a:srgbClr val="FFFF99"/>
          </a:solidFill>
          <a:ln>
            <a:solidFill>
              <a:srgbClr val="FFFF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12" name="TextBox 11">
            <a:hlinkClick r:id="rId8" action="ppaction://hlinksldjump"/>
          </p:cNvPr>
          <p:cNvSpPr txBox="1"/>
          <p:nvPr/>
        </p:nvSpPr>
        <p:spPr>
          <a:xfrm>
            <a:off x="8493643" y="6262990"/>
            <a:ext cx="654998" cy="615553"/>
          </a:xfrm>
          <a:prstGeom prst="rect">
            <a:avLst/>
          </a:prstGeom>
          <a:noFill/>
        </p:spPr>
        <p:txBody>
          <a:bodyPr wrap="square" rtlCol="0">
            <a:spAutoFit/>
          </a:bodyPr>
          <a:lstStyle/>
          <a:p>
            <a:r>
              <a:rPr lang="en-US" sz="800" b="1" dirty="0">
                <a:solidFill>
                  <a:prstClr val="black"/>
                </a:solidFill>
                <a:latin typeface="Candara" pitchFamily="34" charset="0"/>
                <a:hlinkClick r:id="rId8" action="ppaction://hlinksldjump"/>
              </a:rPr>
              <a:t>Back to Table of contents</a:t>
            </a:r>
            <a:endParaRPr lang="en-US" sz="800" b="1" dirty="0">
              <a:solidFill>
                <a:prstClr val="black"/>
              </a:solidFill>
              <a:latin typeface="Candara" pitchFamily="34" charset="0"/>
            </a:endParaRPr>
          </a:p>
          <a:p>
            <a:endParaRPr lang="en-US" sz="1000" dirty="0">
              <a:solidFill>
                <a:prstClr val="black"/>
              </a:solidFill>
              <a:latin typeface="Candara" pitchFamily="34" charset="0"/>
            </a:endParaRPr>
          </a:p>
        </p:txBody>
      </p:sp>
      <p:sp>
        <p:nvSpPr>
          <p:cNvPr id="8" name="Footer Placeholder 4"/>
          <p:cNvSpPr>
            <a:spLocks noGrp="1"/>
          </p:cNvSpPr>
          <p:nvPr>
            <p:ph type="ftr" sz="quarter" idx="3"/>
          </p:nvPr>
        </p:nvSpPr>
        <p:spPr>
          <a:xfrm>
            <a:off x="2171700" y="6629400"/>
            <a:ext cx="4800600" cy="228600"/>
          </a:xfrm>
          <a:prstGeom prst="rect">
            <a:avLst/>
          </a:prstGeom>
        </p:spPr>
        <p:txBody>
          <a:bodyPr/>
          <a:lstStyle>
            <a:lvl1pPr algn="ctr">
              <a:defRPr sz="1100" i="0" cap="small" spc="400" baseline="0" smtClean="0">
                <a:solidFill>
                  <a:schemeClr val="tx1">
                    <a:lumMod val="50000"/>
                    <a:lumOff val="50000"/>
                  </a:schemeClr>
                </a:solidFill>
              </a:defRPr>
            </a:lvl1pPr>
          </a:lstStyle>
          <a:p>
            <a:pPr>
              <a:defRPr/>
            </a:pPr>
            <a:r>
              <a:rPr lang="en-US">
                <a:solidFill>
                  <a:prstClr val="black">
                    <a:lumMod val="50000"/>
                    <a:lumOff val="50000"/>
                  </a:prstClr>
                </a:solidFill>
                <a:latin typeface="Calibri"/>
              </a:rPr>
              <a:t>Copyright 2015 Worth Publishers</a:t>
            </a:r>
            <a:endParaRPr lang="en-US" dirty="0">
              <a:solidFill>
                <a:prstClr val="black">
                  <a:lumMod val="50000"/>
                  <a:lumOff val="50000"/>
                </a:prstClr>
              </a:solidFill>
              <a:latin typeface="Calibri"/>
            </a:endParaRPr>
          </a:p>
        </p:txBody>
      </p:sp>
    </p:spTree>
    <p:extLst>
      <p:ext uri="{BB962C8B-B14F-4D97-AF65-F5344CB8AC3E}">
        <p14:creationId xmlns:p14="http://schemas.microsoft.com/office/powerpoint/2010/main" val="46642293"/>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4400" b="1" kern="1200" spc="-200" baseline="0">
          <a:solidFill>
            <a:schemeClr val="accent6">
              <a:lumMod val="75000"/>
            </a:schemeClr>
          </a:solidFill>
          <a:latin typeface="Candara" pitchFamily="34" charset="0"/>
          <a:ea typeface="+mj-ea"/>
          <a:cs typeface="+mj-cs"/>
        </a:defRPr>
      </a:lvl1pPr>
    </p:titleStyle>
    <p:bodyStyle>
      <a:lvl1pPr marL="0" indent="0" algn="l" defTabSz="914400" rtl="0" eaLnBrk="1" latinLnBrk="0" hangingPunct="1">
        <a:spcBef>
          <a:spcPct val="20000"/>
        </a:spcBef>
        <a:buFontTx/>
        <a:buNone/>
        <a:defRPr sz="3200" b="1" kern="1200">
          <a:solidFill>
            <a:schemeClr val="tx1"/>
          </a:solidFill>
          <a:latin typeface="Candara" pitchFamily="34" charset="0"/>
          <a:ea typeface="+mn-ea"/>
          <a:cs typeface="+mn-cs"/>
        </a:defRPr>
      </a:lvl1pPr>
      <a:lvl2pPr marL="457200" indent="0" algn="l" defTabSz="914400" rtl="0" eaLnBrk="1" latinLnBrk="0" hangingPunct="1">
        <a:spcBef>
          <a:spcPct val="20000"/>
        </a:spcBef>
        <a:buFontTx/>
        <a:buNone/>
        <a:defRPr sz="2800" b="1" kern="1200">
          <a:solidFill>
            <a:schemeClr val="tx1"/>
          </a:solidFill>
          <a:latin typeface="Candara" pitchFamily="34" charset="0"/>
          <a:ea typeface="+mn-ea"/>
          <a:cs typeface="+mn-cs"/>
        </a:defRPr>
      </a:lvl2pPr>
      <a:lvl3pPr marL="914400" indent="0" algn="l" defTabSz="914400" rtl="0" eaLnBrk="1" latinLnBrk="0" hangingPunct="1">
        <a:spcBef>
          <a:spcPct val="20000"/>
        </a:spcBef>
        <a:buFontTx/>
        <a:buNone/>
        <a:defRPr sz="2400" b="1" kern="1200">
          <a:solidFill>
            <a:schemeClr val="tx1"/>
          </a:solidFill>
          <a:latin typeface="Candara" pitchFamily="34" charset="0"/>
          <a:ea typeface="+mn-ea"/>
          <a:cs typeface="+mn-cs"/>
        </a:defRPr>
      </a:lvl3pPr>
      <a:lvl4pPr marL="13716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4pPr>
      <a:lvl5pPr marL="1828800" indent="0" algn="l" defTabSz="914400" rtl="0" eaLnBrk="1" latinLnBrk="0" hangingPunct="1">
        <a:spcBef>
          <a:spcPct val="20000"/>
        </a:spcBef>
        <a:buFontTx/>
        <a:buNone/>
        <a:defRPr sz="2000" b="1" kern="1200">
          <a:solidFill>
            <a:schemeClr val="tx1"/>
          </a:solidFill>
          <a:latin typeface="Candara"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TextBox 13"/>
          <p:cNvSpPr txBox="1"/>
          <p:nvPr/>
        </p:nvSpPr>
        <p:spPr>
          <a:xfrm>
            <a:off x="0" y="0"/>
            <a:ext cx="9144000" cy="461665"/>
          </a:xfrm>
          <a:prstGeom prst="rect">
            <a:avLst/>
          </a:prstGeom>
          <a:solidFill>
            <a:srgbClr val="69C2BA">
              <a:alpha val="42000"/>
            </a:srgbClr>
          </a:solidFill>
          <a:ln>
            <a:noFill/>
          </a:ln>
        </p:spPr>
        <p:txBody>
          <a:bodyPr wrap="square" rtlCol="0">
            <a:spAutoFit/>
          </a:bodyPr>
          <a:lstStyle/>
          <a:p>
            <a:pPr algn="r"/>
            <a:endParaRPr lang="en-US" sz="2400" b="1" cap="all" spc="600" dirty="0">
              <a:solidFill>
                <a:srgbClr val="F79646">
                  <a:lumMod val="75000"/>
                </a:srgbClr>
              </a:solidFill>
              <a:latin typeface="Verdana"/>
              <a:cs typeface="Verdana"/>
            </a:endParaRPr>
          </a:p>
        </p:txBody>
      </p:sp>
      <p:sp>
        <p:nvSpPr>
          <p:cNvPr id="2" name="Title Placeholder 1"/>
          <p:cNvSpPr>
            <a:spLocks noGrp="1"/>
          </p:cNvSpPr>
          <p:nvPr>
            <p:ph type="title"/>
          </p:nvPr>
        </p:nvSpPr>
        <p:spPr>
          <a:xfrm>
            <a:off x="0" y="0"/>
            <a:ext cx="9144000" cy="457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p:nvPr/>
        </p:nvCxnSpPr>
        <p:spPr>
          <a:xfrm>
            <a:off x="0" y="484565"/>
            <a:ext cx="9144000" cy="0"/>
          </a:xfrm>
          <a:prstGeom prst="line">
            <a:avLst/>
          </a:prstGeom>
          <a:ln w="57150" cmpd="sng">
            <a:solidFill>
              <a:srgbClr val="69C2BA"/>
            </a:solidFill>
          </a:ln>
        </p:spPr>
        <p:style>
          <a:lnRef idx="1">
            <a:schemeClr val="accent1"/>
          </a:lnRef>
          <a:fillRef idx="0">
            <a:schemeClr val="accent1"/>
          </a:fillRef>
          <a:effectRef idx="0">
            <a:schemeClr val="accent1"/>
          </a:effectRef>
          <a:fontRef idx="minor">
            <a:schemeClr val="tx1"/>
          </a:fontRef>
        </p:style>
      </p:cxnSp>
      <p:sp>
        <p:nvSpPr>
          <p:cNvPr id="13"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2650198096"/>
      </p:ext>
    </p:extLst>
  </p:cSld>
  <p:clrMap bg1="lt1" tx1="dk1" bg2="lt2" tx2="dk2" accent1="accent1" accent2="accent2" accent3="accent3" accent4="accent4" accent5="accent5" accent6="accent6" hlink="hlink" folHlink="folHlink"/>
  <p:sldLayoutIdLst>
    <p:sldLayoutId id="2147483804" r:id="rId1"/>
    <p:sldLayoutId id="2147483805"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p:stCondLst>
                              <p:cond delay="2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3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2400" b="1" kern="0" cap="all" spc="300" baseline="0">
          <a:solidFill>
            <a:schemeClr val="accent6">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Gill Sans MT"/>
          <a:ea typeface="+mn-ea"/>
          <a:cs typeface="Gill Sans MT"/>
        </a:defRPr>
      </a:lvl1pPr>
      <a:lvl2pPr marL="457200" indent="0" algn="l" defTabSz="914400" rtl="0" eaLnBrk="1" latinLnBrk="0" hangingPunct="1">
        <a:spcBef>
          <a:spcPct val="20000"/>
        </a:spcBef>
        <a:buFontTx/>
        <a:buNone/>
        <a:defRPr sz="2800" b="1" kern="1200">
          <a:solidFill>
            <a:schemeClr val="tx1"/>
          </a:solidFill>
          <a:latin typeface="Gill Sans MT"/>
          <a:ea typeface="+mn-ea"/>
          <a:cs typeface="Gill Sans MT"/>
        </a:defRPr>
      </a:lvl2pPr>
      <a:lvl3pPr marL="914400" indent="0" algn="l" defTabSz="914400" rtl="0" eaLnBrk="1" latinLnBrk="0" hangingPunct="1">
        <a:spcBef>
          <a:spcPct val="20000"/>
        </a:spcBef>
        <a:buFontTx/>
        <a:buNone/>
        <a:defRPr sz="2400" b="1" kern="1200">
          <a:solidFill>
            <a:schemeClr val="tx1"/>
          </a:solidFill>
          <a:latin typeface="Gill Sans MT"/>
          <a:ea typeface="+mn-ea"/>
          <a:cs typeface="Gill Sans MT"/>
        </a:defRPr>
      </a:lvl3pPr>
      <a:lvl4pPr marL="1371600" indent="0" algn="l" defTabSz="914400" rtl="0" eaLnBrk="1" latinLnBrk="0" hangingPunct="1">
        <a:spcBef>
          <a:spcPct val="20000"/>
        </a:spcBef>
        <a:buFontTx/>
        <a:buNone/>
        <a:defRPr sz="2000" b="1" kern="1200">
          <a:solidFill>
            <a:schemeClr val="tx1"/>
          </a:solidFill>
          <a:latin typeface="Gill Sans MT"/>
          <a:ea typeface="+mn-ea"/>
          <a:cs typeface="Gill Sans MT"/>
        </a:defRPr>
      </a:lvl4pPr>
      <a:lvl5pPr marL="1828800" indent="0" algn="l" defTabSz="914400" rtl="0" eaLnBrk="1" latinLnBrk="0" hangingPunct="1">
        <a:spcBef>
          <a:spcPct val="20000"/>
        </a:spcBef>
        <a:buFontTx/>
        <a:buNone/>
        <a:defRPr sz="2000" b="1" kern="1200">
          <a:solidFill>
            <a:schemeClr val="tx1"/>
          </a:solidFill>
          <a:latin typeface="Gill Sans MT"/>
          <a:ea typeface="+mn-ea"/>
          <a:cs typeface="Gill Sans M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4" name="TextBox 13"/>
          <p:cNvSpPr txBox="1"/>
          <p:nvPr/>
        </p:nvSpPr>
        <p:spPr>
          <a:xfrm>
            <a:off x="0" y="0"/>
            <a:ext cx="9144000" cy="461665"/>
          </a:xfrm>
          <a:prstGeom prst="rect">
            <a:avLst/>
          </a:prstGeom>
          <a:solidFill>
            <a:srgbClr val="69C2BA">
              <a:alpha val="42000"/>
            </a:srgbClr>
          </a:solidFill>
          <a:ln>
            <a:noFill/>
          </a:ln>
        </p:spPr>
        <p:txBody>
          <a:bodyPr wrap="square" rtlCol="0">
            <a:spAutoFit/>
          </a:bodyPr>
          <a:lstStyle/>
          <a:p>
            <a:pPr algn="r"/>
            <a:endParaRPr lang="en-US" sz="2400" b="1" cap="all" spc="600" dirty="0">
              <a:solidFill>
                <a:srgbClr val="F79646">
                  <a:lumMod val="75000"/>
                </a:srgbClr>
              </a:solidFill>
              <a:latin typeface="Verdana"/>
              <a:cs typeface="Verdana"/>
            </a:endParaRPr>
          </a:p>
        </p:txBody>
      </p:sp>
      <p:sp>
        <p:nvSpPr>
          <p:cNvPr id="2" name="Title Placeholder 1"/>
          <p:cNvSpPr>
            <a:spLocks noGrp="1"/>
          </p:cNvSpPr>
          <p:nvPr>
            <p:ph type="title"/>
          </p:nvPr>
        </p:nvSpPr>
        <p:spPr>
          <a:xfrm>
            <a:off x="0" y="0"/>
            <a:ext cx="9144000" cy="457200"/>
          </a:xfrm>
          <a:prstGeom prst="rect">
            <a:avLst/>
          </a:prstGeom>
          <a:noFill/>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8600" y="990600"/>
            <a:ext cx="8839200" cy="4648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9" name="Straight Connector 8"/>
          <p:cNvCxnSpPr/>
          <p:nvPr/>
        </p:nvCxnSpPr>
        <p:spPr>
          <a:xfrm>
            <a:off x="0" y="484565"/>
            <a:ext cx="9144000" cy="0"/>
          </a:xfrm>
          <a:prstGeom prst="line">
            <a:avLst/>
          </a:prstGeom>
          <a:ln w="57150" cmpd="sng">
            <a:solidFill>
              <a:srgbClr val="69C2BA"/>
            </a:solidFill>
          </a:ln>
        </p:spPr>
        <p:style>
          <a:lnRef idx="1">
            <a:schemeClr val="accent1"/>
          </a:lnRef>
          <a:fillRef idx="0">
            <a:schemeClr val="accent1"/>
          </a:fillRef>
          <a:effectRef idx="0">
            <a:schemeClr val="accent1"/>
          </a:effectRef>
          <a:fontRef idx="minor">
            <a:schemeClr val="tx1"/>
          </a:fontRef>
        </p:style>
      </p:cxnSp>
      <p:sp>
        <p:nvSpPr>
          <p:cNvPr id="13" name="Footer Placeholder 1"/>
          <p:cNvSpPr>
            <a:spLocks noGrp="1"/>
          </p:cNvSpPr>
          <p:nvPr>
            <p:ph type="ftr" sz="quarter" idx="3"/>
          </p:nvPr>
        </p:nvSpPr>
        <p:spPr>
          <a:xfrm>
            <a:off x="1238203" y="6603259"/>
            <a:ext cx="7096993" cy="228600"/>
          </a:xfrm>
          <a:prstGeom prst="rect">
            <a:avLst/>
          </a:prstGeom>
        </p:spPr>
        <p:txBody>
          <a:bodyPr/>
          <a:lstStyle>
            <a:lvl1pPr algn="ctr">
              <a:defRPr>
                <a:solidFill>
                  <a:schemeClr val="bg1">
                    <a:lumMod val="50000"/>
                  </a:schemeClr>
                </a:solidFill>
              </a:defRPr>
            </a:lvl1pPr>
          </a:lstStyle>
          <a:p>
            <a:pPr>
              <a:defRPr/>
            </a:pPr>
            <a:r>
              <a:rPr lang="en-US" sz="1000" kern="0" cap="all" spc="1060">
                <a:solidFill>
                  <a:prstClr val="white">
                    <a:lumMod val="50000"/>
                  </a:prstClr>
                </a:solidFill>
                <a:latin typeface="Gill Sans"/>
                <a:cs typeface="Gill Sans"/>
              </a:rPr>
              <a:t>Copyright 2015 Worth Publishers</a:t>
            </a:r>
            <a:endParaRPr lang="en-US" sz="1000" kern="0" cap="all" spc="1060" dirty="0">
              <a:solidFill>
                <a:prstClr val="white">
                  <a:lumMod val="50000"/>
                </a:prstClr>
              </a:solidFill>
              <a:latin typeface="Gill Sans"/>
              <a:cs typeface="Gill Sans"/>
            </a:endParaRPr>
          </a:p>
        </p:txBody>
      </p:sp>
    </p:spTree>
    <p:extLst>
      <p:ext uri="{BB962C8B-B14F-4D97-AF65-F5344CB8AC3E}">
        <p14:creationId xmlns:p14="http://schemas.microsoft.com/office/powerpoint/2010/main" val="3738812451"/>
      </p:ext>
    </p:extLst>
  </p:cSld>
  <p:clrMap bg1="lt1" tx1="dk1" bg2="lt2" tx2="dk2" accent1="accent1" accent2="accent2" accent3="accent3" accent4="accent4" accent5="accent5" accent6="accent6" hlink="hlink" folHlink="folHlink"/>
  <p:sldLayoutIdLst>
    <p:sldLayoutId id="2147483807" r:id="rId1"/>
    <p:sldLayoutId id="2147483808" r:id="rId2"/>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par>
                          <p:cTn id="16" fill="hold">
                            <p:stCondLst>
                              <p:cond delay="2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3000"/>
                            </p:stCondLst>
                            <p:childTnLst>
                              <p:par>
                                <p:cTn id="21" presetID="10" presetClass="entr" presetSubtype="0" fill="hold" grpId="0"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 lvl="3">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childTnLst>
                </p:cTn>
              </p:par>
            </p:tnLst>
          </p:tmpl>
          <p:tmpl lvl="4">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dt="0"/>
  <p:txStyles>
    <p:titleStyle>
      <a:lvl1pPr algn="r" defTabSz="914400" rtl="0" eaLnBrk="1" latinLnBrk="0" hangingPunct="1">
        <a:spcBef>
          <a:spcPct val="0"/>
        </a:spcBef>
        <a:buNone/>
        <a:defRPr sz="2400" b="1" kern="0" cap="all" spc="300" baseline="0">
          <a:solidFill>
            <a:schemeClr val="accent6">
              <a:lumMod val="75000"/>
            </a:schemeClr>
          </a:solidFill>
          <a:latin typeface="Verdana"/>
          <a:ea typeface="+mj-ea"/>
          <a:cs typeface="Verdana"/>
        </a:defRPr>
      </a:lvl1pPr>
    </p:titleStyle>
    <p:bodyStyle>
      <a:lvl1pPr marL="0" indent="0" algn="l" defTabSz="914400" rtl="0" eaLnBrk="1" latinLnBrk="0" hangingPunct="1">
        <a:spcBef>
          <a:spcPct val="20000"/>
        </a:spcBef>
        <a:buFontTx/>
        <a:buNone/>
        <a:defRPr sz="3200" b="1" kern="1200">
          <a:solidFill>
            <a:schemeClr val="tx1"/>
          </a:solidFill>
          <a:latin typeface="Gill Sans MT"/>
          <a:ea typeface="+mn-ea"/>
          <a:cs typeface="Gill Sans MT"/>
        </a:defRPr>
      </a:lvl1pPr>
      <a:lvl2pPr marL="457200" indent="0" algn="l" defTabSz="914400" rtl="0" eaLnBrk="1" latinLnBrk="0" hangingPunct="1">
        <a:spcBef>
          <a:spcPct val="20000"/>
        </a:spcBef>
        <a:buFontTx/>
        <a:buNone/>
        <a:defRPr sz="2800" b="1" kern="1200">
          <a:solidFill>
            <a:schemeClr val="tx1"/>
          </a:solidFill>
          <a:latin typeface="Gill Sans MT"/>
          <a:ea typeface="+mn-ea"/>
          <a:cs typeface="Gill Sans MT"/>
        </a:defRPr>
      </a:lvl2pPr>
      <a:lvl3pPr marL="914400" indent="0" algn="l" defTabSz="914400" rtl="0" eaLnBrk="1" latinLnBrk="0" hangingPunct="1">
        <a:spcBef>
          <a:spcPct val="20000"/>
        </a:spcBef>
        <a:buFontTx/>
        <a:buNone/>
        <a:defRPr sz="2400" b="1" kern="1200">
          <a:solidFill>
            <a:schemeClr val="tx1"/>
          </a:solidFill>
          <a:latin typeface="Gill Sans MT"/>
          <a:ea typeface="+mn-ea"/>
          <a:cs typeface="Gill Sans MT"/>
        </a:defRPr>
      </a:lvl3pPr>
      <a:lvl4pPr marL="1371600" indent="0" algn="l" defTabSz="914400" rtl="0" eaLnBrk="1" latinLnBrk="0" hangingPunct="1">
        <a:spcBef>
          <a:spcPct val="20000"/>
        </a:spcBef>
        <a:buFontTx/>
        <a:buNone/>
        <a:defRPr sz="2000" b="1" kern="1200">
          <a:solidFill>
            <a:schemeClr val="tx1"/>
          </a:solidFill>
          <a:latin typeface="Gill Sans MT"/>
          <a:ea typeface="+mn-ea"/>
          <a:cs typeface="Gill Sans MT"/>
        </a:defRPr>
      </a:lvl4pPr>
      <a:lvl5pPr marL="1828800" indent="0" algn="l" defTabSz="914400" rtl="0" eaLnBrk="1" latinLnBrk="0" hangingPunct="1">
        <a:spcBef>
          <a:spcPct val="20000"/>
        </a:spcBef>
        <a:buFontTx/>
        <a:buNone/>
        <a:defRPr sz="2000" b="1" kern="1200">
          <a:solidFill>
            <a:schemeClr val="tx1"/>
          </a:solidFill>
          <a:latin typeface="Gill Sans MT"/>
          <a:ea typeface="+mn-ea"/>
          <a:cs typeface="Gill Sans M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8" Type="http://schemas.openxmlformats.org/officeDocument/2006/relationships/slide" Target="slide43.xml"/><Relationship Id="rId3" Type="http://schemas.openxmlformats.org/officeDocument/2006/relationships/slide" Target="slide6.xml"/><Relationship Id="rId7" Type="http://schemas.openxmlformats.org/officeDocument/2006/relationships/slide" Target="slide39.xml"/><Relationship Id="rId2" Type="http://schemas.openxmlformats.org/officeDocument/2006/relationships/slide" Target="slide5.xml"/><Relationship Id="rId1" Type="http://schemas.openxmlformats.org/officeDocument/2006/relationships/slideLayout" Target="../slideLayouts/slideLayout12.xml"/><Relationship Id="rId6" Type="http://schemas.openxmlformats.org/officeDocument/2006/relationships/slide" Target="slide18.xml"/><Relationship Id="rId11" Type="http://schemas.openxmlformats.org/officeDocument/2006/relationships/slide" Target="slide7.xml"/><Relationship Id="rId5" Type="http://schemas.openxmlformats.org/officeDocument/2006/relationships/slide" Target="slide16.xml"/><Relationship Id="rId10" Type="http://schemas.openxmlformats.org/officeDocument/2006/relationships/slide" Target="slide28.xml"/><Relationship Id="rId4" Type="http://schemas.openxmlformats.org/officeDocument/2006/relationships/slide" Target="slide8.xml"/><Relationship Id="rId9" Type="http://schemas.openxmlformats.org/officeDocument/2006/relationships/slide" Target="slide48.xml"/></Relationships>
</file>

<file path=ppt/slides/_rels/slide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9.emf"/><Relationship Id="rId5" Type="http://schemas.openxmlformats.org/officeDocument/2006/relationships/oleObject" Target="../embeddings/oleObject2.bin"/><Relationship Id="rId4" Type="http://schemas.openxmlformats.org/officeDocument/2006/relationships/image" Target="../media/image18.emf"/></Relationships>
</file>

<file path=ppt/slides/_rels/slide7.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slide" Target="slide33.xml"/><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hyperlink" Target="https://www.youtube.com/watch?v=CwpdGyIY2fQ"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slide" Target="slide44.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4.xml.rels><?xml version="1.0" encoding="UTF-8" standalone="yes"?>
<Relationships xmlns="http://schemas.openxmlformats.org/package/2006/relationships"><Relationship Id="rId2" Type="http://schemas.openxmlformats.org/officeDocument/2006/relationships/slide" Target="slide45.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slide" Target="slide46.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4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533400"/>
            <a:ext cx="7772400" cy="1470025"/>
          </a:xfrm>
        </p:spPr>
        <p:txBody>
          <a:bodyPr/>
          <a:lstStyle/>
          <a:p>
            <a:r>
              <a:rPr lang="en-US" sz="2800" dirty="0"/>
              <a:t>Economics 2220</a:t>
            </a:r>
            <a:br>
              <a:rPr lang="en-US" sz="2800" dirty="0"/>
            </a:br>
            <a:r>
              <a:rPr lang="en-US" dirty="0"/>
              <a:t>Principles Of Macroeconomics</a:t>
            </a:r>
          </a:p>
        </p:txBody>
      </p:sp>
      <p:sp>
        <p:nvSpPr>
          <p:cNvPr id="2051" name="Rectangle 3"/>
          <p:cNvSpPr>
            <a:spLocks noGrp="1" noChangeArrowheads="1"/>
          </p:cNvSpPr>
          <p:nvPr>
            <p:ph type="subTitle" idx="1"/>
          </p:nvPr>
        </p:nvSpPr>
        <p:spPr>
          <a:xfrm>
            <a:off x="1371600" y="1981200"/>
            <a:ext cx="6400800" cy="533400"/>
          </a:xfrm>
        </p:spPr>
        <p:txBody>
          <a:bodyPr/>
          <a:lstStyle/>
          <a:p>
            <a:r>
              <a:rPr lang="en-US" sz="2400" dirty="0"/>
              <a:t>Professor Zhigang Feng</a:t>
            </a:r>
          </a:p>
        </p:txBody>
      </p:sp>
      <p:sp>
        <p:nvSpPr>
          <p:cNvPr id="2052" name="Text Box 4"/>
          <p:cNvSpPr txBox="1">
            <a:spLocks noChangeArrowheads="1"/>
          </p:cNvSpPr>
          <p:nvPr/>
        </p:nvSpPr>
        <p:spPr bwMode="auto">
          <a:xfrm>
            <a:off x="2590800" y="3269902"/>
            <a:ext cx="5257800" cy="1569660"/>
          </a:xfrm>
          <a:prstGeom prst="rect">
            <a:avLst/>
          </a:prstGeom>
          <a:noFill/>
          <a:ln w="9525">
            <a:noFill/>
            <a:miter lim="800000"/>
            <a:headEnd/>
            <a:tailEnd/>
          </a:ln>
          <a:effectLst/>
        </p:spPr>
        <p:txBody>
          <a:bodyPr wrap="square">
            <a:spAutoFit/>
          </a:bodyPr>
          <a:lstStyle/>
          <a:p>
            <a:pPr marL="228600" indent="-228600">
              <a:spcBef>
                <a:spcPct val="50000"/>
              </a:spcBef>
              <a:buFontTx/>
              <a:buNone/>
            </a:pPr>
            <a:r>
              <a:rPr lang="en-US" sz="2400" u="sng" dirty="0"/>
              <a:t>Lecture 8: </a:t>
            </a:r>
          </a:p>
          <a:p>
            <a:pPr marL="228600" indent="-228600">
              <a:spcBef>
                <a:spcPct val="50000"/>
              </a:spcBef>
              <a:buFontTx/>
              <a:buNone/>
            </a:pPr>
            <a:r>
              <a:rPr lang="en-US" sz="2400" u="sng" dirty="0"/>
              <a:t>Business cycle, </a:t>
            </a:r>
          </a:p>
          <a:p>
            <a:pPr marL="228600" indent="-228600">
              <a:spcBef>
                <a:spcPct val="50000"/>
              </a:spcBef>
              <a:buFontTx/>
              <a:buNone/>
            </a:pPr>
            <a:r>
              <a:rPr lang="en-US" sz="2400" u="sng" dirty="0"/>
              <a:t>Unemployment and Inflation</a:t>
            </a:r>
          </a:p>
        </p:txBody>
      </p:sp>
    </p:spTree>
    <p:extLst>
      <p:ext uri="{BB962C8B-B14F-4D97-AF65-F5344CB8AC3E}">
        <p14:creationId xmlns:p14="http://schemas.microsoft.com/office/powerpoint/2010/main" val="22130317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1503628"/>
            <a:ext cx="9144000" cy="4525963"/>
          </a:xfrm>
        </p:spPr>
        <p:txBody>
          <a:bodyPr/>
          <a:lstStyle/>
          <a:p>
            <a:pPr marL="684213" indent="-334963"/>
            <a:r>
              <a:rPr lang="en-US" sz="2400" b="0" dirty="0"/>
              <a:t>How </a:t>
            </a:r>
            <a:r>
              <a:rPr lang="en-US" sz="2400" dirty="0">
                <a:hlinkClick r:id="rId2" action="ppaction://hlinksldjump"/>
              </a:rPr>
              <a:t>unemployment</a:t>
            </a:r>
            <a:r>
              <a:rPr lang="en-US" sz="2400" dirty="0"/>
              <a:t> </a:t>
            </a:r>
            <a:r>
              <a:rPr lang="en-US" sz="2400" b="0" dirty="0"/>
              <a:t>is measured and how the </a:t>
            </a:r>
            <a:r>
              <a:rPr lang="en-US" sz="2400" dirty="0">
                <a:hlinkClick r:id="rId3" action="ppaction://hlinksldjump"/>
              </a:rPr>
              <a:t>unemployment rate </a:t>
            </a:r>
            <a:r>
              <a:rPr lang="en-US" sz="2400" b="0" dirty="0"/>
              <a:t>is calculated</a:t>
            </a:r>
          </a:p>
          <a:p>
            <a:pPr marL="684213" indent="-334963"/>
            <a:r>
              <a:rPr lang="en-US" sz="2400" b="0" dirty="0"/>
              <a:t>The </a:t>
            </a:r>
            <a:r>
              <a:rPr lang="en-US" sz="2400" dirty="0">
                <a:hlinkClick r:id="rId4" action="ppaction://hlinksldjump"/>
              </a:rPr>
              <a:t>significance</a:t>
            </a:r>
            <a:r>
              <a:rPr lang="en-US" sz="2400" b="0" dirty="0"/>
              <a:t> of the unemployment rate for the economy</a:t>
            </a:r>
          </a:p>
          <a:p>
            <a:pPr marL="684213" indent="-334963"/>
            <a:r>
              <a:rPr lang="en-US" sz="2400" b="0" dirty="0"/>
              <a:t>The </a:t>
            </a:r>
            <a:r>
              <a:rPr lang="en-US" sz="2400" dirty="0">
                <a:hlinkClick r:id="rId5" action="ppaction://hlinksldjump"/>
              </a:rPr>
              <a:t>relationship</a:t>
            </a:r>
            <a:r>
              <a:rPr lang="en-US" sz="2400" b="0" dirty="0"/>
              <a:t> between the unemployment rate and economic growth</a:t>
            </a:r>
          </a:p>
          <a:p>
            <a:pPr marL="684213" indent="-334963"/>
            <a:r>
              <a:rPr lang="en-US" sz="2400" b="0" dirty="0"/>
              <a:t>The factors that determine the </a:t>
            </a:r>
            <a:r>
              <a:rPr lang="en-US" sz="2400" dirty="0">
                <a:hlinkClick r:id="rId6" action="ppaction://hlinksldjump"/>
              </a:rPr>
              <a:t>natural rate of unemployment</a:t>
            </a:r>
            <a:endParaRPr lang="en-US" sz="2400" dirty="0"/>
          </a:p>
          <a:p>
            <a:pPr marL="684213" indent="-334963"/>
            <a:r>
              <a:rPr lang="en-US" sz="2400" b="0" dirty="0"/>
              <a:t>The economic </a:t>
            </a:r>
            <a:r>
              <a:rPr lang="en-US" sz="2400" dirty="0">
                <a:hlinkClick r:id="rId7" action="ppaction://hlinksldjump"/>
              </a:rPr>
              <a:t>costs of inflation</a:t>
            </a:r>
            <a:endParaRPr lang="en-US" sz="2400" dirty="0"/>
          </a:p>
          <a:p>
            <a:pPr marL="684213" indent="-334963"/>
            <a:r>
              <a:rPr lang="en-US" sz="2400" b="0" dirty="0"/>
              <a:t>How inflation and deflation create </a:t>
            </a:r>
            <a:r>
              <a:rPr lang="en-US" sz="2400" dirty="0">
                <a:hlinkClick r:id="rId8" action="ppaction://hlinksldjump"/>
              </a:rPr>
              <a:t>winners and losers</a:t>
            </a:r>
            <a:endParaRPr lang="en-US" sz="2400" dirty="0"/>
          </a:p>
          <a:p>
            <a:pPr marL="684213" indent="-334963"/>
            <a:r>
              <a:rPr lang="en-US" sz="2400" b="0" dirty="0"/>
              <a:t>Why policy makers try to maintain a </a:t>
            </a:r>
            <a:r>
              <a:rPr lang="en-US" sz="2400" dirty="0">
                <a:hlinkClick r:id="rId9" action="ppaction://hlinksldjump"/>
              </a:rPr>
              <a:t>stable</a:t>
            </a:r>
            <a:r>
              <a:rPr lang="en-US" sz="2400" b="0" dirty="0"/>
              <a:t> rate of inflation</a:t>
            </a:r>
          </a:p>
        </p:txBody>
      </p:sp>
      <p:sp>
        <p:nvSpPr>
          <p:cNvPr id="4" name="TextBox 3"/>
          <p:cNvSpPr txBox="1"/>
          <p:nvPr/>
        </p:nvSpPr>
        <p:spPr>
          <a:xfrm>
            <a:off x="8126413" y="6210300"/>
            <a:ext cx="635000" cy="460375"/>
          </a:xfrm>
          <a:prstGeom prst="rect">
            <a:avLst/>
          </a:prstGeom>
          <a:noFill/>
        </p:spPr>
        <p:txBody>
          <a:bodyPr>
            <a:spAutoFit/>
          </a:bodyPr>
          <a:lstStyle/>
          <a:p>
            <a:pPr fontAlgn="auto">
              <a:spcBef>
                <a:spcPts val="0"/>
              </a:spcBef>
              <a:spcAft>
                <a:spcPts val="0"/>
              </a:spcAft>
              <a:defRPr/>
            </a:pPr>
            <a:r>
              <a:rPr lang="en-US" sz="1200" b="1" dirty="0">
                <a:solidFill>
                  <a:schemeClr val="bg1"/>
                </a:solidFill>
                <a:effectLst>
                  <a:outerShdw blurRad="38100" dist="38100" dir="2700000" algn="tl">
                    <a:srgbClr val="000000">
                      <a:alpha val="43137"/>
                    </a:srgbClr>
                  </a:outerShdw>
                </a:effectLst>
                <a:latin typeface="+mn-lt"/>
                <a:cs typeface="+mn-cs"/>
                <a:hlinkClick r:id="rId10" action="ppaction://hlinksldjump"/>
              </a:rPr>
              <a:t>To Video</a:t>
            </a:r>
            <a:endParaRPr lang="en-US" sz="1200" b="1" dirty="0">
              <a:solidFill>
                <a:schemeClr val="bg1"/>
              </a:solidFill>
              <a:effectLst>
                <a:outerShdw blurRad="38100" dist="38100" dir="2700000" algn="tl">
                  <a:srgbClr val="000000">
                    <a:alpha val="43137"/>
                  </a:srgbClr>
                </a:outerShdw>
              </a:effectLst>
              <a:latin typeface="+mn-lt"/>
              <a:cs typeface="+mn-cs"/>
            </a:endParaRPr>
          </a:p>
        </p:txBody>
      </p:sp>
      <p:sp>
        <p:nvSpPr>
          <p:cNvPr id="5" name="Rectangle 4"/>
          <p:cNvSpPr/>
          <p:nvPr/>
        </p:nvSpPr>
        <p:spPr>
          <a:xfrm>
            <a:off x="7998" y="6273798"/>
            <a:ext cx="1154107" cy="400110"/>
          </a:xfrm>
          <a:prstGeom prst="rect">
            <a:avLst/>
          </a:prstGeom>
        </p:spPr>
        <p:txBody>
          <a:bodyPr wrap="none">
            <a:spAutoFit/>
          </a:bodyPr>
          <a:lstStyle/>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11" action="ppaction://hlinksldjump"/>
              </a:rPr>
              <a:t>To First </a:t>
            </a:r>
          </a:p>
          <a:p>
            <a:pPr algn="ctr" fontAlgn="auto">
              <a:spcBef>
                <a:spcPts val="0"/>
              </a:spcBef>
              <a:spcAft>
                <a:spcPts val="0"/>
              </a:spcAft>
              <a:defRPr/>
            </a:pPr>
            <a:r>
              <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11" action="ppaction://hlinksldjump"/>
              </a:rPr>
              <a:t>Active Learning</a:t>
            </a:r>
            <a:endParaRPr lang="en-US" sz="10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5929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7000"/>
            <a:lum/>
          </a:blip>
          <a:srcRect/>
          <a:stretch>
            <a:fillRect l="-6000" r="-6000"/>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a:solidFill>
            <a:schemeClr val="bg1">
              <a:alpha val="67000"/>
            </a:schemeClr>
          </a:solidFill>
        </p:spPr>
        <p:txBody>
          <a:bodyPr>
            <a:normAutofit/>
          </a:bodyPr>
          <a:lstStyle/>
          <a:p>
            <a:r>
              <a:rPr lang="en-US" spc="0" dirty="0"/>
              <a:t>HITTING THE “BRAKING” POINT</a:t>
            </a:r>
          </a:p>
        </p:txBody>
      </p:sp>
      <p:sp>
        <p:nvSpPr>
          <p:cNvPr id="3" name="Content Placeholder 2"/>
          <p:cNvSpPr>
            <a:spLocks noGrp="1"/>
          </p:cNvSpPr>
          <p:nvPr>
            <p:ph idx="1"/>
          </p:nvPr>
        </p:nvSpPr>
        <p:spPr>
          <a:xfrm>
            <a:off x="-33868" y="5257800"/>
            <a:ext cx="9177868" cy="1371600"/>
          </a:xfrm>
          <a:solidFill>
            <a:schemeClr val="bg1">
              <a:alpha val="77000"/>
            </a:schemeClr>
          </a:solidFill>
        </p:spPr>
        <p:txBody>
          <a:bodyPr>
            <a:normAutofit/>
          </a:bodyPr>
          <a:lstStyle/>
          <a:p>
            <a:r>
              <a:rPr lang="en-US" sz="2800" dirty="0"/>
              <a:t>The chair of the Federal Reserve (Jerome Powell) must balance the needs of workers against the need for price stability</a:t>
            </a:r>
          </a:p>
        </p:txBody>
      </p:sp>
    </p:spTree>
    <p:extLst>
      <p:ext uri="{BB962C8B-B14F-4D97-AF65-F5344CB8AC3E}">
        <p14:creationId xmlns:p14="http://schemas.microsoft.com/office/powerpoint/2010/main" val="3839261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en-US" spc="0" dirty="0"/>
              <a:t>THE U.S. UNEMPLOYMENT RATE, 1948–2014</a:t>
            </a:r>
          </a:p>
        </p:txBody>
      </p:sp>
      <p:sp>
        <p:nvSpPr>
          <p:cNvPr id="3" name="Content Placeholder 2"/>
          <p:cNvSpPr>
            <a:spLocks noGrp="1"/>
          </p:cNvSpPr>
          <p:nvPr>
            <p:ph idx="1"/>
          </p:nvPr>
        </p:nvSpPr>
        <p:spPr>
          <a:xfrm>
            <a:off x="0" y="1143000"/>
            <a:ext cx="9067800" cy="1524000"/>
          </a:xfrm>
        </p:spPr>
        <p:txBody>
          <a:bodyPr>
            <a:normAutofit/>
          </a:bodyPr>
          <a:lstStyle/>
          <a:p>
            <a:r>
              <a:rPr lang="en-US" sz="2800" i="1" dirty="0">
                <a:solidFill>
                  <a:schemeClr val="tx1">
                    <a:lumMod val="65000"/>
                    <a:lumOff val="35000"/>
                  </a:schemeClr>
                </a:solidFill>
              </a:rPr>
              <a:t>Unemployment always rises during recessions and usually (but not always) falls during periods of economic expansion.</a:t>
            </a:r>
          </a:p>
        </p:txBody>
      </p:sp>
      <p:pic>
        <p:nvPicPr>
          <p:cNvPr id="6" name="Picture 5" descr="Screen Shot 2015-03-31 at 7.27.23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295400" y="2514600"/>
            <a:ext cx="6857622" cy="4118661"/>
          </a:xfrm>
          <a:prstGeom prst="rect">
            <a:avLst/>
          </a:prstGeom>
        </p:spPr>
      </p:pic>
      <p:sp>
        <p:nvSpPr>
          <p:cNvPr id="5" name="Rectangle 4"/>
          <p:cNvSpPr/>
          <p:nvPr/>
        </p:nvSpPr>
        <p:spPr>
          <a:xfrm>
            <a:off x="1905000" y="6322104"/>
            <a:ext cx="5867400" cy="276999"/>
          </a:xfrm>
          <a:prstGeom prst="rect">
            <a:avLst/>
          </a:prstGeom>
        </p:spPr>
        <p:txBody>
          <a:bodyPr wrap="square">
            <a:spAutoFit/>
          </a:bodyPr>
          <a:lstStyle/>
          <a:p>
            <a:pPr algn="ctr"/>
            <a:r>
              <a:rPr lang="en-US" sz="1200" i="1" dirty="0">
                <a:solidFill>
                  <a:schemeClr val="tx1">
                    <a:lumMod val="65000"/>
                    <a:lumOff val="35000"/>
                  </a:schemeClr>
                </a:solidFill>
                <a:latin typeface="Century Gothic"/>
                <a:cs typeface="Century Gothic"/>
              </a:rPr>
              <a:t>Sources: Bureau of Labor Statistics; National Bureau of Economic Research.</a:t>
            </a:r>
          </a:p>
        </p:txBody>
      </p:sp>
    </p:spTree>
    <p:extLst>
      <p:ext uri="{BB962C8B-B14F-4D97-AF65-F5344CB8AC3E}">
        <p14:creationId xmlns:p14="http://schemas.microsoft.com/office/powerpoint/2010/main" val="3043343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Title 1"/>
          <p:cNvSpPr>
            <a:spLocks noGrp="1"/>
          </p:cNvSpPr>
          <p:nvPr>
            <p:ph type="title"/>
          </p:nvPr>
        </p:nvSpPr>
        <p:spPr bwMode="auto"/>
        <p:txBody>
          <a:bodyPr wrap="square" numCol="1" anchorCtr="0" compatLnSpc="1">
            <a:prstTxWarp prst="textNoShape">
              <a:avLst/>
            </a:prstTxWarp>
            <a:normAutofit/>
          </a:bodyPr>
          <a:lstStyle/>
          <a:p>
            <a:r>
              <a:rPr lang="en-US" sz="4000" spc="0" dirty="0"/>
              <a:t>DEFINING UNEMPLOYMENT</a:t>
            </a:r>
          </a:p>
        </p:txBody>
      </p:sp>
      <p:sp>
        <p:nvSpPr>
          <p:cNvPr id="3" name="Content Placeholder 2"/>
          <p:cNvSpPr>
            <a:spLocks noGrp="1"/>
          </p:cNvSpPr>
          <p:nvPr>
            <p:ph idx="1"/>
          </p:nvPr>
        </p:nvSpPr>
        <p:spPr/>
        <p:txBody>
          <a:bodyPr/>
          <a:lstStyle/>
          <a:p>
            <a:pPr>
              <a:spcBef>
                <a:spcPts val="0"/>
              </a:spcBef>
              <a:spcAft>
                <a:spcPts val="1800"/>
              </a:spcAft>
            </a:pPr>
            <a:r>
              <a:rPr lang="en-US" i="1" dirty="0">
                <a:solidFill>
                  <a:srgbClr val="990033"/>
                </a:solidFill>
              </a:rPr>
              <a:t>Unemployment rate: </a:t>
            </a:r>
            <a:r>
              <a:rPr lang="en-US" b="0" dirty="0"/>
              <a:t>the percent of the total number of people in the labor force who are unemployed.</a:t>
            </a:r>
          </a:p>
          <a:p>
            <a:pPr>
              <a:spcBef>
                <a:spcPts val="0"/>
              </a:spcBef>
              <a:spcAft>
                <a:spcPts val="1800"/>
              </a:spcAft>
            </a:pPr>
            <a:r>
              <a:rPr lang="en-US" i="1" dirty="0">
                <a:solidFill>
                  <a:srgbClr val="990033"/>
                </a:solidFill>
              </a:rPr>
              <a:t>Labor force: </a:t>
            </a:r>
            <a:r>
              <a:rPr lang="en-US" b="0" dirty="0"/>
              <a:t>all workers, employed or unemployed.</a:t>
            </a:r>
          </a:p>
          <a:p>
            <a:pPr>
              <a:spcBef>
                <a:spcPts val="0"/>
              </a:spcBef>
              <a:spcAft>
                <a:spcPts val="1800"/>
              </a:spcAft>
              <a:defRPr/>
            </a:pPr>
            <a:r>
              <a:rPr lang="en-US" i="1" dirty="0">
                <a:solidFill>
                  <a:srgbClr val="990033"/>
                </a:solidFill>
              </a:rPr>
              <a:t>Labor force participation rate:</a:t>
            </a:r>
            <a:r>
              <a:rPr lang="en-US" i="1" dirty="0"/>
              <a:t> </a:t>
            </a:r>
            <a:r>
              <a:rPr lang="en-US" b="0" dirty="0"/>
              <a:t>the percentage of adults (people 16 and over) in the labor force.</a:t>
            </a:r>
          </a:p>
        </p:txBody>
      </p:sp>
    </p:spTree>
    <p:extLst>
      <p:ext uri="{BB962C8B-B14F-4D97-AF65-F5344CB8AC3E}">
        <p14:creationId xmlns:p14="http://schemas.microsoft.com/office/powerpoint/2010/main" val="29628420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1000"/>
                                        <p:tgtEl>
                                          <p:spTgt spid="3">
                                            <p:txEl>
                                              <p:pRg st="1" end="1"/>
                                            </p:txEl>
                                          </p:spTgt>
                                        </p:tgtEl>
                                      </p:cBhvr>
                                    </p:animEffect>
                                  </p:childTnLst>
                                </p:cTn>
                              </p:par>
                            </p:childTnLst>
                          </p:cTn>
                        </p:par>
                        <p:par>
                          <p:cTn id="12" fill="hold">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Title 1"/>
          <p:cNvSpPr>
            <a:spLocks noGrp="1"/>
          </p:cNvSpPr>
          <p:nvPr>
            <p:ph type="title"/>
          </p:nvPr>
        </p:nvSpPr>
        <p:spPr bwMode="auto"/>
        <p:txBody>
          <a:bodyPr wrap="square" numCol="1" anchorCtr="0" compatLnSpc="1">
            <a:prstTxWarp prst="textNoShape">
              <a:avLst/>
            </a:prstTxWarp>
            <a:normAutofit/>
          </a:bodyPr>
          <a:lstStyle/>
          <a:p>
            <a:r>
              <a:rPr lang="en-US" sz="4000" dirty="0"/>
              <a:t>DEFINING UNEMPLOYMENT</a:t>
            </a:r>
          </a:p>
        </p:txBody>
      </p:sp>
      <p:sp>
        <p:nvSpPr>
          <p:cNvPr id="1028" name="Content Placeholder 2"/>
          <p:cNvSpPr>
            <a:spLocks noGrp="1"/>
          </p:cNvSpPr>
          <p:nvPr>
            <p:ph idx="1"/>
          </p:nvPr>
        </p:nvSpPr>
        <p:spPr>
          <a:xfrm>
            <a:off x="152400" y="685800"/>
            <a:ext cx="8915400" cy="4648200"/>
          </a:xfrm>
        </p:spPr>
        <p:txBody>
          <a:bodyPr>
            <a:normAutofit/>
          </a:bodyPr>
          <a:lstStyle/>
          <a:p>
            <a:pPr>
              <a:spcBef>
                <a:spcPct val="0"/>
              </a:spcBef>
              <a:spcAft>
                <a:spcPts val="600"/>
              </a:spcAft>
            </a:pPr>
            <a:r>
              <a:rPr lang="en-US" sz="2800" dirty="0">
                <a:solidFill>
                  <a:srgbClr val="0070C0"/>
                </a:solidFill>
              </a:rPr>
              <a:t>Measuring the labor force participation rate: </a:t>
            </a:r>
            <a:r>
              <a:rPr lang="en-US" sz="2400" dirty="0"/>
              <a:t>The % of the adult (16+) noninstitutionalized civilian population who are working or actively looking for work.</a:t>
            </a:r>
          </a:p>
          <a:p>
            <a:pPr>
              <a:defRPr/>
            </a:pPr>
            <a:endParaRPr lang="en-US" sz="2800" dirty="0">
              <a:solidFill>
                <a:srgbClr val="0070C0"/>
              </a:solidFill>
            </a:endParaRPr>
          </a:p>
          <a:p>
            <a:pPr>
              <a:defRPr/>
            </a:pPr>
            <a:endParaRPr lang="en-US" sz="2800" dirty="0">
              <a:solidFill>
                <a:srgbClr val="0070C0"/>
              </a:solidFill>
            </a:endParaRPr>
          </a:p>
          <a:p>
            <a:pPr>
              <a:defRPr/>
            </a:pPr>
            <a:endParaRPr lang="en-US" sz="2800" dirty="0">
              <a:solidFill>
                <a:srgbClr val="0070C0"/>
              </a:solidFill>
            </a:endParaRPr>
          </a:p>
          <a:p>
            <a:pPr>
              <a:defRPr/>
            </a:pPr>
            <a:endParaRPr lang="en-US" sz="2800" dirty="0">
              <a:solidFill>
                <a:srgbClr val="0070C0"/>
              </a:solidFill>
            </a:endParaRPr>
          </a:p>
          <a:p>
            <a:pPr>
              <a:defRPr/>
            </a:pPr>
            <a:r>
              <a:rPr lang="en-US" sz="2800" dirty="0">
                <a:solidFill>
                  <a:srgbClr val="0070C0"/>
                </a:solidFill>
              </a:rPr>
              <a:t>Measuring unemployment: </a:t>
            </a:r>
            <a:r>
              <a:rPr lang="en-US" sz="2400" dirty="0"/>
              <a:t>The </a:t>
            </a:r>
            <a:r>
              <a:rPr lang="en-US" sz="2400" i="1" dirty="0">
                <a:solidFill>
                  <a:srgbClr val="990033"/>
                </a:solidFill>
              </a:rPr>
              <a:t>unemployment rate</a:t>
            </a:r>
            <a:r>
              <a:rPr lang="en-US" sz="2400" dirty="0">
                <a:solidFill>
                  <a:srgbClr val="990033"/>
                </a:solidFill>
              </a:rPr>
              <a:t> </a:t>
            </a:r>
            <a:r>
              <a:rPr lang="en-US" sz="2400" dirty="0"/>
              <a:t>is the % of the labor force without a job</a:t>
            </a:r>
          </a:p>
          <a:p>
            <a:pPr lvl="1">
              <a:defRPr/>
            </a:pPr>
            <a:endParaRPr lang="en-US" sz="2400" dirty="0"/>
          </a:p>
          <a:p>
            <a:pPr lvl="1">
              <a:defRPr/>
            </a:pPr>
            <a:endParaRPr lang="en-US" sz="2400" dirty="0"/>
          </a:p>
          <a:p>
            <a:pPr lvl="2">
              <a:defRPr/>
            </a:pPr>
            <a:endParaRPr lang="en-US" sz="2000" dirty="0"/>
          </a:p>
        </p:txBody>
      </p:sp>
      <p:graphicFrame>
        <p:nvGraphicFramePr>
          <p:cNvPr id="1030" name="Object 2"/>
          <p:cNvGraphicFramePr>
            <a:graphicFrameLocks noChangeAspect="1"/>
          </p:cNvGraphicFramePr>
          <p:nvPr>
            <p:extLst>
              <p:ext uri="{D42A27DB-BD31-4B8C-83A1-F6EECF244321}">
                <p14:modId xmlns:p14="http://schemas.microsoft.com/office/powerpoint/2010/main" val="2311621423"/>
              </p:ext>
            </p:extLst>
          </p:nvPr>
        </p:nvGraphicFramePr>
        <p:xfrm>
          <a:off x="-45224" y="5029200"/>
          <a:ext cx="9181253" cy="1828800"/>
        </p:xfrm>
        <a:graphic>
          <a:graphicData uri="http://schemas.openxmlformats.org/presentationml/2006/ole">
            <mc:AlternateContent xmlns:mc="http://schemas.openxmlformats.org/markup-compatibility/2006">
              <mc:Choice xmlns:v="urn:schemas-microsoft-com:vml" Requires="v">
                <p:oleObj name="Equation" r:id="rId3" imgW="4343400" imgH="863600" progId="Equation.3">
                  <p:embed/>
                </p:oleObj>
              </mc:Choice>
              <mc:Fallback>
                <p:oleObj name="Equation" r:id="rId3" imgW="4343400" imgH="863600" progId="Equation.3">
                  <p:embed/>
                  <p:pic>
                    <p:nvPicPr>
                      <p:cNvPr id="0" name=""/>
                      <p:cNvPicPr>
                        <a:picLocks noChangeAspect="1" noChangeArrowheads="1"/>
                      </p:cNvPicPr>
                      <p:nvPr/>
                    </p:nvPicPr>
                    <p:blipFill>
                      <a:blip r:embed="rId4"/>
                      <a:srcRect/>
                      <a:stretch>
                        <a:fillRect/>
                      </a:stretch>
                    </p:blipFill>
                    <p:spPr bwMode="auto">
                      <a:xfrm>
                        <a:off x="-45224" y="5029200"/>
                        <a:ext cx="9181253" cy="1828800"/>
                      </a:xfrm>
                      <a:prstGeom prst="rect">
                        <a:avLst/>
                      </a:prstGeom>
                      <a:solidFill>
                        <a:srgbClr val="D7E4BD">
                          <a:alpha val="63136"/>
                        </a:srgbClr>
                      </a:solidFill>
                      <a:ln>
                        <a:noFill/>
                      </a:ln>
                    </p:spPr>
                  </p:pic>
                </p:oleObj>
              </mc:Fallback>
            </mc:AlternateContent>
          </a:graphicData>
        </a:graphic>
      </p:graphicFrame>
      <p:graphicFrame>
        <p:nvGraphicFramePr>
          <p:cNvPr id="6" name="Object 2"/>
          <p:cNvGraphicFramePr>
            <a:graphicFrameLocks noChangeAspect="1"/>
          </p:cNvGraphicFramePr>
          <p:nvPr>
            <p:extLst>
              <p:ext uri="{D42A27DB-BD31-4B8C-83A1-F6EECF244321}">
                <p14:modId xmlns:p14="http://schemas.microsoft.com/office/powerpoint/2010/main" val="288038794"/>
              </p:ext>
            </p:extLst>
          </p:nvPr>
        </p:nvGraphicFramePr>
        <p:xfrm>
          <a:off x="0" y="1925496"/>
          <a:ext cx="9144000" cy="1935304"/>
        </p:xfrm>
        <a:graphic>
          <a:graphicData uri="http://schemas.openxmlformats.org/presentationml/2006/ole">
            <mc:AlternateContent xmlns:mc="http://schemas.openxmlformats.org/markup-compatibility/2006">
              <mc:Choice xmlns:v="urn:schemas-microsoft-com:vml" Requires="v">
                <p:oleObj name="Equation" r:id="rId5" imgW="4343400" imgH="901700" progId="Equation.3">
                  <p:embed/>
                </p:oleObj>
              </mc:Choice>
              <mc:Fallback>
                <p:oleObj name="Equation" r:id="rId5" imgW="4343400" imgH="901700" progId="Equation.3">
                  <p:embed/>
                  <p:pic>
                    <p:nvPicPr>
                      <p:cNvPr id="0" name=""/>
                      <p:cNvPicPr>
                        <a:picLocks noChangeAspect="1" noChangeArrowheads="1"/>
                      </p:cNvPicPr>
                      <p:nvPr/>
                    </p:nvPicPr>
                    <p:blipFill>
                      <a:blip r:embed="rId6"/>
                      <a:srcRect/>
                      <a:stretch>
                        <a:fillRect/>
                      </a:stretch>
                    </p:blipFill>
                    <p:spPr bwMode="auto">
                      <a:xfrm>
                        <a:off x="0" y="1925496"/>
                        <a:ext cx="9144000" cy="1935304"/>
                      </a:xfrm>
                      <a:prstGeom prst="rect">
                        <a:avLst/>
                      </a:prstGeom>
                      <a:solidFill>
                        <a:srgbClr val="DCE6F2"/>
                      </a:solidFill>
                      <a:ln>
                        <a:noFill/>
                      </a:ln>
                    </p:spPr>
                  </p:pic>
                </p:oleObj>
              </mc:Fallback>
            </mc:AlternateContent>
          </a:graphicData>
        </a:graphic>
      </p:graphicFrame>
    </p:spTree>
    <p:extLst>
      <p:ext uri="{BB962C8B-B14F-4D97-AF65-F5344CB8AC3E}">
        <p14:creationId xmlns:p14="http://schemas.microsoft.com/office/powerpoint/2010/main" val="18667346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8">
                                            <p:txEl>
                                              <p:pRg st="0" end="0"/>
                                            </p:txEl>
                                          </p:spTgt>
                                        </p:tgtEl>
                                        <p:attrNameLst>
                                          <p:attrName>style.visibility</p:attrName>
                                        </p:attrNameLst>
                                      </p:cBhvr>
                                      <p:to>
                                        <p:strVal val="visible"/>
                                      </p:to>
                                    </p:set>
                                    <p:animEffect transition="in" filter="fade">
                                      <p:cBhvr>
                                        <p:cTn id="7" dur="500"/>
                                        <p:tgtEl>
                                          <p:spTgt spid="102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28">
                                            <p:txEl>
                                              <p:pRg st="5" end="5"/>
                                            </p:txEl>
                                          </p:spTgt>
                                        </p:tgtEl>
                                        <p:attrNameLst>
                                          <p:attrName>style.visibility</p:attrName>
                                        </p:attrNameLst>
                                      </p:cBhvr>
                                      <p:to>
                                        <p:strVal val="visible"/>
                                      </p:to>
                                    </p:set>
                                    <p:animEffect transition="in" filter="fade">
                                      <p:cBhvr>
                                        <p:cTn id="15" dur="500"/>
                                        <p:tgtEl>
                                          <p:spTgt spid="1028">
                                            <p:txEl>
                                              <p:pRg st="5" end="5"/>
                                            </p:txEl>
                                          </p:spTgt>
                                        </p:tgtEl>
                                      </p:cBhvr>
                                    </p:animEffect>
                                  </p:childTnLst>
                                </p:cTn>
                              </p:par>
                            </p:childTnLst>
                          </p:cTn>
                        </p:par>
                        <p:par>
                          <p:cTn id="16" fill="hold">
                            <p:stCondLst>
                              <p:cond delay="500"/>
                            </p:stCondLst>
                            <p:childTnLst>
                              <p:par>
                                <p:cTn id="17" presetID="10" presetClass="entr" presetSubtype="0" fill="hold" nodeType="afterEffect">
                                  <p:stCondLst>
                                    <p:cond delay="0"/>
                                  </p:stCondLst>
                                  <p:childTnLst>
                                    <p:set>
                                      <p:cBhvr>
                                        <p:cTn id="18" dur="1" fill="hold">
                                          <p:stCondLst>
                                            <p:cond delay="0"/>
                                          </p:stCondLst>
                                        </p:cTn>
                                        <p:tgtEl>
                                          <p:spTgt spid="1030"/>
                                        </p:tgtEl>
                                        <p:attrNameLst>
                                          <p:attrName>style.visibility</p:attrName>
                                        </p:attrNameLst>
                                      </p:cBhvr>
                                      <p:to>
                                        <p:strVal val="visible"/>
                                      </p:to>
                                    </p:set>
                                    <p:animEffect transition="in" filter="fade">
                                      <p:cBhvr>
                                        <p:cTn id="19"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Font typeface="Arial" pitchFamily="34" charset="0"/>
              <a:buNone/>
              <a:defRPr/>
            </a:pPr>
            <a:r>
              <a:rPr lang="en-US" dirty="0"/>
              <a:t>In your country, there are 24 million people in the labor force. 21.5 million people are employed. What is the unemployment rate in your country?</a:t>
            </a:r>
          </a:p>
          <a:p>
            <a:pPr>
              <a:buFont typeface="Arial" pitchFamily="34" charset="0"/>
              <a:buChar char="•"/>
              <a:defRPr/>
            </a:pPr>
            <a:endParaRPr lang="en-US" dirty="0"/>
          </a:p>
          <a:p>
            <a:pPr marL="742950" indent="-742950">
              <a:buFont typeface="+mj-lt"/>
              <a:buAutoNum type="alphaLcParenR"/>
              <a:defRPr/>
            </a:pPr>
            <a:r>
              <a:rPr lang="en-US" dirty="0"/>
              <a:t>10.4%   </a:t>
            </a:r>
          </a:p>
          <a:p>
            <a:pPr marL="742950" indent="-742950">
              <a:buFont typeface="+mj-lt"/>
              <a:buAutoNum type="alphaLcParenR"/>
              <a:defRPr/>
            </a:pPr>
            <a:r>
              <a:rPr lang="en-US" dirty="0"/>
              <a:t>2.5%    </a:t>
            </a:r>
          </a:p>
          <a:p>
            <a:pPr marL="742950" indent="-742950">
              <a:buFont typeface="+mj-lt"/>
              <a:buAutoNum type="alphaLcParenR"/>
              <a:defRPr/>
            </a:pPr>
            <a:r>
              <a:rPr lang="en-US" dirty="0"/>
              <a:t>89.6%    </a:t>
            </a:r>
          </a:p>
          <a:p>
            <a:pPr marL="742950" indent="-742950">
              <a:buFont typeface="+mj-lt"/>
              <a:buAutoNum type="alphaLcParenR"/>
              <a:defRPr/>
            </a:pPr>
            <a:r>
              <a:rPr lang="en-US" dirty="0"/>
              <a:t>21.5%</a:t>
            </a:r>
          </a:p>
          <a:p>
            <a:pPr>
              <a:buFont typeface="Arial" pitchFamily="34" charset="0"/>
              <a:buChar char="•"/>
              <a:defRPr/>
            </a:pPr>
            <a:endParaRPr lang="en-US" dirty="0"/>
          </a:p>
        </p:txBody>
      </p:sp>
      <p:sp>
        <p:nvSpPr>
          <p:cNvPr id="7" name="Rectangle 6"/>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11561742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pPr>
              <a:lnSpc>
                <a:spcPct val="90000"/>
              </a:lnSpc>
            </a:pPr>
            <a:r>
              <a:rPr lang="en-US" sz="2800" spc="0"/>
              <a:t>THE SIGNIFICANCE OF THE UNEMPLOYMENT RATE</a:t>
            </a:r>
          </a:p>
        </p:txBody>
      </p:sp>
      <p:graphicFrame>
        <p:nvGraphicFramePr>
          <p:cNvPr id="5" name="Content Placeholder 2">
            <a:extLst>
              <a:ext uri="{FF2B5EF4-FFF2-40B4-BE49-F238E27FC236}">
                <a16:creationId xmlns:a16="http://schemas.microsoft.com/office/drawing/2014/main" id="{1213A670-843B-D4FB-F2AD-358225586652}"/>
              </a:ext>
            </a:extLst>
          </p:cNvPr>
          <p:cNvGraphicFramePr>
            <a:graphicFrameLocks noGrp="1"/>
          </p:cNvGraphicFramePr>
          <p:nvPr>
            <p:ph idx="1"/>
            <p:extLst>
              <p:ext uri="{D42A27DB-BD31-4B8C-83A1-F6EECF244321}">
                <p14:modId xmlns:p14="http://schemas.microsoft.com/office/powerpoint/2010/main" val="2981140681"/>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26471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type="title"/>
          </p:nvPr>
        </p:nvSpPr>
        <p:spPr>
          <a:xfrm>
            <a:off x="0" y="0"/>
            <a:ext cx="9144000" cy="838200"/>
          </a:xfrm>
        </p:spPr>
        <p:txBody>
          <a:bodyPr anchor="ctr">
            <a:normAutofit/>
          </a:bodyPr>
          <a:lstStyle/>
          <a:p>
            <a:pPr>
              <a:lnSpc>
                <a:spcPct val="90000"/>
              </a:lnSpc>
              <a:defRPr/>
            </a:pPr>
            <a:r>
              <a:rPr lang="en-US" sz="3100" spc="0"/>
              <a:t>PROBLEMS WITH UNEMPLOYMENT STATISTICS</a:t>
            </a:r>
          </a:p>
        </p:txBody>
      </p:sp>
      <p:graphicFrame>
        <p:nvGraphicFramePr>
          <p:cNvPr id="344068" name="Rectangle 3">
            <a:extLst>
              <a:ext uri="{FF2B5EF4-FFF2-40B4-BE49-F238E27FC236}">
                <a16:creationId xmlns:a16="http://schemas.microsoft.com/office/drawing/2014/main" id="{40F68EFB-59DE-B047-973A-71521DE01871}"/>
              </a:ext>
            </a:extLst>
          </p:cNvPr>
          <p:cNvGraphicFramePr>
            <a:graphicFrameLocks noGrp="1"/>
          </p:cNvGraphicFramePr>
          <p:nvPr>
            <p:ph idx="1"/>
            <p:extLst>
              <p:ext uri="{D42A27DB-BD31-4B8C-83A1-F6EECF244321}">
                <p14:modId xmlns:p14="http://schemas.microsoft.com/office/powerpoint/2010/main" val="3881217122"/>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694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r>
              <a:rPr lang="en-US" sz="4000" spc="0" dirty="0"/>
              <a:t>ALTERNATIVE MEASURES OF UNEMPLOYMENT, 1994–2014</a:t>
            </a:r>
          </a:p>
        </p:txBody>
      </p:sp>
      <p:sp>
        <p:nvSpPr>
          <p:cNvPr id="3" name="Content Placeholder 2"/>
          <p:cNvSpPr>
            <a:spLocks noGrp="1"/>
          </p:cNvSpPr>
          <p:nvPr>
            <p:ph idx="1"/>
          </p:nvPr>
        </p:nvSpPr>
        <p:spPr>
          <a:xfrm>
            <a:off x="3352800" y="5943600"/>
            <a:ext cx="3048000" cy="304800"/>
          </a:xfrm>
        </p:spPr>
        <p:txBody>
          <a:bodyPr>
            <a:normAutofit/>
          </a:bodyPr>
          <a:lstStyle/>
          <a:p>
            <a:r>
              <a:rPr lang="en-US" sz="1400" b="0" i="1" dirty="0">
                <a:solidFill>
                  <a:schemeClr val="tx1">
                    <a:lumMod val="65000"/>
                    <a:lumOff val="35000"/>
                  </a:schemeClr>
                </a:solidFill>
              </a:rPr>
              <a:t>Source: Bureau of Labor Statistics</a:t>
            </a:r>
            <a:endParaRPr lang="en-US" sz="1400" i="1" dirty="0">
              <a:solidFill>
                <a:schemeClr val="tx1">
                  <a:lumMod val="65000"/>
                  <a:lumOff val="35000"/>
                </a:schemeClr>
              </a:solidFill>
            </a:endParaRPr>
          </a:p>
        </p:txBody>
      </p:sp>
      <p:pic>
        <p:nvPicPr>
          <p:cNvPr id="5" name="Picture 4" descr="Screen Shot 2015-03-31 at 7.44.07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85800" y="1371600"/>
            <a:ext cx="7772400" cy="4879571"/>
          </a:xfrm>
          <a:prstGeom prst="rect">
            <a:avLst/>
          </a:prstGeom>
        </p:spPr>
      </p:pic>
    </p:spTree>
    <p:extLst>
      <p:ext uri="{BB962C8B-B14F-4D97-AF65-F5344CB8AC3E}">
        <p14:creationId xmlns:p14="http://schemas.microsoft.com/office/powerpoint/2010/main" val="1324889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401306498"/>
              </p:ext>
            </p:extLst>
          </p:nvPr>
        </p:nvGraphicFramePr>
        <p:xfrm>
          <a:off x="228600" y="1219200"/>
          <a:ext cx="8458200" cy="1752599"/>
        </p:xfrm>
        <a:graphic>
          <a:graphicData uri="http://schemas.openxmlformats.org/drawingml/2006/table">
            <a:tbl>
              <a:tblPr bandRow="1">
                <a:tableStyleId>{3B4B98B0-60AC-42C2-AFA5-B58CD77FA1E5}</a:tableStyleId>
              </a:tblPr>
              <a:tblGrid>
                <a:gridCol w="5262881">
                  <a:extLst>
                    <a:ext uri="{9D8B030D-6E8A-4147-A177-3AD203B41FA5}">
                      <a16:colId xmlns:a16="http://schemas.microsoft.com/office/drawing/2014/main" val="20000"/>
                    </a:ext>
                  </a:extLst>
                </a:gridCol>
                <a:gridCol w="3195319">
                  <a:extLst>
                    <a:ext uri="{9D8B030D-6E8A-4147-A177-3AD203B41FA5}">
                      <a16:colId xmlns:a16="http://schemas.microsoft.com/office/drawing/2014/main" val="20001"/>
                    </a:ext>
                  </a:extLst>
                </a:gridCol>
              </a:tblGrid>
              <a:tr h="443536">
                <a:tc>
                  <a:txBody>
                    <a:bodyPr/>
                    <a:lstStyle/>
                    <a:p>
                      <a:pPr marL="0" marR="0">
                        <a:lnSpc>
                          <a:spcPct val="115000"/>
                        </a:lnSpc>
                        <a:spcBef>
                          <a:spcPts val="0"/>
                        </a:spcBef>
                        <a:spcAft>
                          <a:spcPts val="0"/>
                        </a:spcAft>
                      </a:pPr>
                      <a:r>
                        <a:rPr lang="en-US" sz="2000" b="1" dirty="0">
                          <a:latin typeface="Century Gothic"/>
                          <a:cs typeface="Century Gothic"/>
                        </a:rPr>
                        <a:t>Adult population</a:t>
                      </a:r>
                      <a:endParaRPr lang="en-US" sz="1800" b="1" dirty="0">
                        <a:latin typeface="Century Gothic"/>
                        <a:ea typeface="Times New Roman"/>
                        <a:cs typeface="Century Gothic"/>
                      </a:endParaRPr>
                    </a:p>
                  </a:txBody>
                  <a:tcPr marL="68211" marR="68211" marT="0" marB="0"/>
                </a:tc>
                <a:tc>
                  <a:txBody>
                    <a:bodyPr/>
                    <a:lstStyle/>
                    <a:p>
                      <a:pPr marL="0" marR="0">
                        <a:lnSpc>
                          <a:spcPct val="115000"/>
                        </a:lnSpc>
                        <a:spcBef>
                          <a:spcPts val="0"/>
                        </a:spcBef>
                        <a:spcAft>
                          <a:spcPts val="0"/>
                        </a:spcAft>
                      </a:pPr>
                      <a:r>
                        <a:rPr lang="en-US" sz="2000" b="1" dirty="0">
                          <a:latin typeface="Century Gothic"/>
                          <a:cs typeface="Century Gothic"/>
                        </a:rPr>
                        <a:t>200 million</a:t>
                      </a:r>
                      <a:endParaRPr lang="en-US" sz="1800" b="1" dirty="0">
                        <a:latin typeface="Century Gothic"/>
                        <a:ea typeface="Times New Roman"/>
                        <a:cs typeface="Century Gothic"/>
                      </a:endParaRPr>
                    </a:p>
                  </a:txBody>
                  <a:tcPr marL="68211" marR="68211" marT="0" marB="0"/>
                </a:tc>
                <a:extLst>
                  <a:ext uri="{0D108BD9-81ED-4DB2-BD59-A6C34878D82A}">
                    <a16:rowId xmlns:a16="http://schemas.microsoft.com/office/drawing/2014/main" val="10000"/>
                  </a:ext>
                </a:extLst>
              </a:tr>
              <a:tr h="443536">
                <a:tc>
                  <a:txBody>
                    <a:bodyPr/>
                    <a:lstStyle/>
                    <a:p>
                      <a:pPr marL="0" marR="0">
                        <a:lnSpc>
                          <a:spcPct val="115000"/>
                        </a:lnSpc>
                        <a:spcBef>
                          <a:spcPts val="0"/>
                        </a:spcBef>
                        <a:spcAft>
                          <a:spcPts val="0"/>
                        </a:spcAft>
                      </a:pPr>
                      <a:r>
                        <a:rPr lang="en-US" sz="2000" b="1" dirty="0">
                          <a:latin typeface="Century Gothic"/>
                          <a:cs typeface="Century Gothic"/>
                        </a:rPr>
                        <a:t>Labor force </a:t>
                      </a:r>
                      <a:endParaRPr lang="en-US" sz="1800" b="1" dirty="0">
                        <a:latin typeface="Century Gothic"/>
                        <a:ea typeface="Times New Roman"/>
                        <a:cs typeface="Century Gothic"/>
                      </a:endParaRPr>
                    </a:p>
                  </a:txBody>
                  <a:tcPr marL="68211" marR="68211" marT="0" marB="0"/>
                </a:tc>
                <a:tc>
                  <a:txBody>
                    <a:bodyPr/>
                    <a:lstStyle/>
                    <a:p>
                      <a:pPr marL="0" marR="0">
                        <a:lnSpc>
                          <a:spcPct val="115000"/>
                        </a:lnSpc>
                        <a:spcBef>
                          <a:spcPts val="0"/>
                        </a:spcBef>
                        <a:spcAft>
                          <a:spcPts val="0"/>
                        </a:spcAft>
                      </a:pPr>
                      <a:r>
                        <a:rPr lang="en-US" sz="2000" b="1" dirty="0">
                          <a:latin typeface="Century Gothic"/>
                          <a:cs typeface="Century Gothic"/>
                        </a:rPr>
                        <a:t>150 million</a:t>
                      </a:r>
                      <a:endParaRPr lang="en-US" sz="1800" b="1" dirty="0">
                        <a:latin typeface="Century Gothic"/>
                        <a:ea typeface="Times New Roman"/>
                        <a:cs typeface="Century Gothic"/>
                      </a:endParaRPr>
                    </a:p>
                  </a:txBody>
                  <a:tcPr marL="68211" marR="68211" marT="0" marB="0"/>
                </a:tc>
                <a:extLst>
                  <a:ext uri="{0D108BD9-81ED-4DB2-BD59-A6C34878D82A}">
                    <a16:rowId xmlns:a16="http://schemas.microsoft.com/office/drawing/2014/main" val="10001"/>
                  </a:ext>
                </a:extLst>
              </a:tr>
              <a:tr h="421991">
                <a:tc>
                  <a:txBody>
                    <a:bodyPr/>
                    <a:lstStyle/>
                    <a:p>
                      <a:pPr marL="0" marR="0">
                        <a:lnSpc>
                          <a:spcPct val="115000"/>
                        </a:lnSpc>
                        <a:spcBef>
                          <a:spcPts val="0"/>
                        </a:spcBef>
                        <a:spcAft>
                          <a:spcPts val="0"/>
                        </a:spcAft>
                      </a:pPr>
                      <a:r>
                        <a:rPr lang="en-US" sz="2000" b="1" dirty="0">
                          <a:latin typeface="Century Gothic"/>
                          <a:cs typeface="Century Gothic"/>
                        </a:rPr>
                        <a:t>Employed persons</a:t>
                      </a:r>
                      <a:endParaRPr lang="en-US" sz="1800" b="1" dirty="0">
                        <a:latin typeface="Century Gothic"/>
                        <a:ea typeface="Times New Roman"/>
                        <a:cs typeface="Century Gothic"/>
                      </a:endParaRPr>
                    </a:p>
                  </a:txBody>
                  <a:tcPr marL="68211" marR="68211" marT="0" marB="0"/>
                </a:tc>
                <a:tc>
                  <a:txBody>
                    <a:bodyPr/>
                    <a:lstStyle/>
                    <a:p>
                      <a:pPr marL="0" marR="0">
                        <a:lnSpc>
                          <a:spcPct val="115000"/>
                        </a:lnSpc>
                        <a:spcBef>
                          <a:spcPts val="0"/>
                        </a:spcBef>
                        <a:spcAft>
                          <a:spcPts val="0"/>
                        </a:spcAft>
                      </a:pPr>
                      <a:r>
                        <a:rPr lang="en-US" sz="2000" b="1" dirty="0">
                          <a:latin typeface="Century Gothic"/>
                          <a:cs typeface="Century Gothic"/>
                        </a:rPr>
                        <a:t>138.75 million</a:t>
                      </a:r>
                      <a:endParaRPr lang="en-US" sz="1800" b="1" dirty="0">
                        <a:latin typeface="Century Gothic"/>
                        <a:ea typeface="Times New Roman"/>
                        <a:cs typeface="Century Gothic"/>
                      </a:endParaRPr>
                    </a:p>
                  </a:txBody>
                  <a:tcPr marL="68211" marR="68211" marT="0" marB="0"/>
                </a:tc>
                <a:extLst>
                  <a:ext uri="{0D108BD9-81ED-4DB2-BD59-A6C34878D82A}">
                    <a16:rowId xmlns:a16="http://schemas.microsoft.com/office/drawing/2014/main" val="10002"/>
                  </a:ext>
                </a:extLst>
              </a:tr>
              <a:tr h="443536">
                <a:tc>
                  <a:txBody>
                    <a:bodyPr/>
                    <a:lstStyle/>
                    <a:p>
                      <a:pPr marL="0" marR="0">
                        <a:lnSpc>
                          <a:spcPct val="115000"/>
                        </a:lnSpc>
                        <a:spcBef>
                          <a:spcPts val="0"/>
                        </a:spcBef>
                        <a:spcAft>
                          <a:spcPts val="0"/>
                        </a:spcAft>
                      </a:pPr>
                      <a:r>
                        <a:rPr lang="en-US" sz="2000" b="1" dirty="0">
                          <a:latin typeface="Century Gothic"/>
                          <a:cs typeface="Century Gothic"/>
                        </a:rPr>
                        <a:t>Discouraged workers</a:t>
                      </a:r>
                      <a:endParaRPr lang="en-US" sz="1800" b="1" dirty="0">
                        <a:latin typeface="Century Gothic"/>
                        <a:ea typeface="Times New Roman"/>
                        <a:cs typeface="Century Gothic"/>
                      </a:endParaRPr>
                    </a:p>
                  </a:txBody>
                  <a:tcPr marL="68211" marR="68211" marT="0" marB="0"/>
                </a:tc>
                <a:tc>
                  <a:txBody>
                    <a:bodyPr/>
                    <a:lstStyle/>
                    <a:p>
                      <a:pPr marL="0" marR="0">
                        <a:lnSpc>
                          <a:spcPct val="115000"/>
                        </a:lnSpc>
                        <a:spcBef>
                          <a:spcPts val="0"/>
                        </a:spcBef>
                        <a:spcAft>
                          <a:spcPts val="0"/>
                        </a:spcAft>
                      </a:pPr>
                      <a:r>
                        <a:rPr lang="en-US" sz="2000" b="1" dirty="0">
                          <a:latin typeface="Century Gothic"/>
                          <a:cs typeface="Century Gothic"/>
                        </a:rPr>
                        <a:t>10.5 million</a:t>
                      </a:r>
                      <a:endParaRPr lang="en-US" sz="1800" b="1" dirty="0">
                        <a:latin typeface="Century Gothic"/>
                        <a:ea typeface="Times New Roman"/>
                        <a:cs typeface="Century Gothic"/>
                      </a:endParaRPr>
                    </a:p>
                  </a:txBody>
                  <a:tcPr marL="68211" marR="68211" marT="0" marB="0"/>
                </a:tc>
                <a:extLst>
                  <a:ext uri="{0D108BD9-81ED-4DB2-BD59-A6C34878D82A}">
                    <a16:rowId xmlns:a16="http://schemas.microsoft.com/office/drawing/2014/main" val="10003"/>
                  </a:ext>
                </a:extLst>
              </a:tr>
            </a:tbl>
          </a:graphicData>
        </a:graphic>
      </p:graphicFrame>
      <p:sp>
        <p:nvSpPr>
          <p:cNvPr id="4" name="Content Placeholder 3"/>
          <p:cNvSpPr>
            <a:spLocks noGrp="1"/>
          </p:cNvSpPr>
          <p:nvPr>
            <p:ph sz="half" idx="4294967295"/>
          </p:nvPr>
        </p:nvSpPr>
        <p:spPr>
          <a:xfrm>
            <a:off x="533400" y="2971800"/>
            <a:ext cx="8610600" cy="3200400"/>
          </a:xfrm>
        </p:spPr>
        <p:txBody>
          <a:bodyPr>
            <a:noAutofit/>
          </a:bodyPr>
          <a:lstStyle/>
          <a:p>
            <a:pPr marL="0" indent="0">
              <a:buFont typeface="Arial" pitchFamily="34" charset="0"/>
              <a:buNone/>
              <a:defRPr/>
            </a:pPr>
            <a:r>
              <a:rPr lang="en-US" sz="2800" dirty="0"/>
              <a:t>According to the table, the unemployment rate is _________ and the labor force participation rate is __________.</a:t>
            </a:r>
          </a:p>
          <a:p>
            <a:pPr marL="514350" indent="-514350">
              <a:buFont typeface="+mj-lt"/>
              <a:buAutoNum type="alphaLcParenR"/>
              <a:defRPr/>
            </a:pPr>
            <a:r>
              <a:rPr lang="en-US" sz="2800" dirty="0"/>
              <a:t>7%; 60.4%   </a:t>
            </a:r>
          </a:p>
          <a:p>
            <a:pPr marL="514350" indent="-514350">
              <a:buFont typeface="+mj-lt"/>
              <a:buAutoNum type="alphaLcParenR"/>
              <a:defRPr/>
            </a:pPr>
            <a:r>
              <a:rPr lang="en-US" sz="2800" dirty="0"/>
              <a:t>0.7%; 99.3%   </a:t>
            </a:r>
          </a:p>
          <a:p>
            <a:pPr marL="514350" indent="-514350">
              <a:buFont typeface="+mj-lt"/>
              <a:buAutoNum type="alphaLcParenR"/>
              <a:defRPr/>
            </a:pPr>
            <a:r>
              <a:rPr lang="en-US" sz="2800" dirty="0"/>
              <a:t>5.6%; 69.4%    </a:t>
            </a:r>
          </a:p>
          <a:p>
            <a:pPr marL="514350" indent="-514350">
              <a:buFont typeface="+mj-lt"/>
              <a:buAutoNum type="alphaLcParenR"/>
              <a:defRPr/>
            </a:pPr>
            <a:r>
              <a:rPr lang="en-US" sz="2800" dirty="0"/>
              <a:t>7.5%; 75%</a:t>
            </a:r>
          </a:p>
          <a:p>
            <a:pPr>
              <a:defRPr/>
            </a:pPr>
            <a:endParaRPr lang="en-US" sz="2800" dirty="0"/>
          </a:p>
        </p:txBody>
      </p:sp>
      <p:sp>
        <p:nvSpPr>
          <p:cNvPr id="6" name="Rectangle 5"/>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96870684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4">
                                            <p:txEl>
                                              <p:pRg st="4" end="4"/>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Arial" pitchFamily="34" charset="0"/>
              <a:buNone/>
              <a:defRPr/>
            </a:pPr>
            <a:r>
              <a:rPr lang="en-US" sz="2800" dirty="0"/>
              <a:t>Which of the following individuals can be counted as unemployed?</a:t>
            </a:r>
          </a:p>
          <a:p>
            <a:pPr marL="742950" indent="-742950">
              <a:buFont typeface="+mj-lt"/>
              <a:buAutoNum type="alphaLcParenR"/>
              <a:defRPr/>
            </a:pPr>
            <a:r>
              <a:rPr lang="en-US" sz="2800" dirty="0"/>
              <a:t>Darren, a 10-year-old child</a:t>
            </a:r>
          </a:p>
          <a:p>
            <a:pPr marL="742950" indent="-742950">
              <a:buFont typeface="+mj-lt"/>
              <a:buAutoNum type="alphaLcParenR"/>
              <a:defRPr/>
            </a:pPr>
            <a:r>
              <a:rPr lang="en-US" sz="2800" dirty="0"/>
              <a:t>Nazma, a stay-at-home mom</a:t>
            </a:r>
          </a:p>
          <a:p>
            <a:pPr marL="742950" indent="-742950">
              <a:buFont typeface="+mj-lt"/>
              <a:buAutoNum type="alphaLcParenR"/>
              <a:defRPr/>
            </a:pPr>
            <a:r>
              <a:rPr lang="en-US" sz="2800" dirty="0"/>
              <a:t>Moesha, a full-time college student	</a:t>
            </a:r>
          </a:p>
          <a:p>
            <a:pPr marL="742950" indent="-742950">
              <a:buFont typeface="+mj-lt"/>
              <a:buAutoNum type="alphaLcParenR"/>
              <a:defRPr/>
            </a:pPr>
            <a:r>
              <a:rPr lang="en-US" sz="2800" dirty="0"/>
              <a:t>Carl, who works part time at the Olive Garden but would prefer more hours</a:t>
            </a:r>
          </a:p>
          <a:p>
            <a:pPr marL="742950" indent="-742950">
              <a:buFont typeface="+mj-lt"/>
              <a:buAutoNum type="alphaLcParenR"/>
              <a:defRPr/>
            </a:pPr>
            <a:r>
              <a:rPr lang="en-US" sz="2800" dirty="0"/>
              <a:t>None of the answers is correct.</a:t>
            </a:r>
          </a:p>
          <a:p>
            <a:pPr>
              <a:buFont typeface="Arial" pitchFamily="34" charset="0"/>
              <a:buChar char="•"/>
              <a:defRPr/>
            </a:pPr>
            <a:endParaRPr lang="en-US" sz="2800" dirty="0"/>
          </a:p>
        </p:txBody>
      </p:sp>
      <p:sp>
        <p:nvSpPr>
          <p:cNvPr id="7" name="Rectangle 6"/>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4075916668"/>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5" end="5"/>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blipFill dpi="0" rotWithShape="1">
          <a:blip r:embed="rId3"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6322" name="Title 1"/>
          <p:cNvSpPr>
            <a:spLocks noGrp="1"/>
          </p:cNvSpPr>
          <p:nvPr>
            <p:ph type="title"/>
          </p:nvPr>
        </p:nvSpPr>
        <p:spPr bwMode="auto">
          <a:solidFill>
            <a:schemeClr val="bg1">
              <a:alpha val="68000"/>
            </a:schemeClr>
          </a:solidFill>
        </p:spPr>
        <p:txBody>
          <a:bodyPr wrap="square" numCol="1" anchorCtr="0" compatLnSpc="1">
            <a:prstTxWarp prst="textNoShape">
              <a:avLst/>
            </a:prstTxWarp>
          </a:bodyPr>
          <a:lstStyle/>
          <a:p>
            <a:r>
              <a:rPr lang="en-US" spc="0" dirty="0"/>
              <a:t>DEFINING UNEMPLOYMENT</a:t>
            </a:r>
          </a:p>
        </p:txBody>
      </p:sp>
      <p:sp>
        <p:nvSpPr>
          <p:cNvPr id="3" name="Content Placeholder 2"/>
          <p:cNvSpPr>
            <a:spLocks noGrp="1"/>
          </p:cNvSpPr>
          <p:nvPr>
            <p:ph idx="1"/>
          </p:nvPr>
        </p:nvSpPr>
        <p:spPr>
          <a:xfrm>
            <a:off x="0" y="838200"/>
            <a:ext cx="9144000" cy="6019800"/>
          </a:xfrm>
          <a:solidFill>
            <a:schemeClr val="tx1">
              <a:alpha val="53000"/>
            </a:schemeClr>
          </a:solidFill>
        </p:spPr>
        <p:txBody>
          <a:bodyPr>
            <a:normAutofit/>
          </a:bodyPr>
          <a:lstStyle/>
          <a:p>
            <a:pPr>
              <a:spcAft>
                <a:spcPts val="1800"/>
              </a:spcAft>
            </a:pPr>
            <a:r>
              <a:rPr lang="en-US" dirty="0">
                <a:solidFill>
                  <a:schemeClr val="bg1"/>
                </a:solidFill>
              </a:rPr>
              <a:t>So how good an indicator is the unemployment rate? </a:t>
            </a:r>
          </a:p>
          <a:p>
            <a:pPr lvl="1">
              <a:spcBef>
                <a:spcPts val="600"/>
              </a:spcBef>
              <a:spcAft>
                <a:spcPts val="1800"/>
              </a:spcAft>
            </a:pPr>
            <a:r>
              <a:rPr lang="en-US" dirty="0">
                <a:solidFill>
                  <a:schemeClr val="bg1"/>
                </a:solidFill>
              </a:rPr>
              <a:t>It isn’t perfect.</a:t>
            </a:r>
          </a:p>
          <a:p>
            <a:pPr lvl="1">
              <a:spcBef>
                <a:spcPts val="600"/>
              </a:spcBef>
              <a:spcAft>
                <a:spcPts val="1800"/>
              </a:spcAft>
            </a:pPr>
            <a:r>
              <a:rPr lang="en-US" dirty="0">
                <a:solidFill>
                  <a:schemeClr val="bg1"/>
                </a:solidFill>
              </a:rPr>
              <a:t>It doesn’t measure the quality of jobs or how well people are matched to their jobs.</a:t>
            </a:r>
          </a:p>
          <a:p>
            <a:pPr lvl="1">
              <a:spcBef>
                <a:spcPts val="600"/>
              </a:spcBef>
              <a:spcAft>
                <a:spcPts val="1800"/>
              </a:spcAft>
            </a:pPr>
            <a:r>
              <a:rPr lang="en-US" i="1" dirty="0">
                <a:solidFill>
                  <a:schemeClr val="accent3">
                    <a:lumMod val="60000"/>
                    <a:lumOff val="40000"/>
                  </a:schemeClr>
                </a:solidFill>
              </a:rPr>
              <a:t>Economists also look at other indicators:</a:t>
            </a:r>
          </a:p>
          <a:p>
            <a:pPr marL="1203325" lvl="2" indent="-234950">
              <a:spcBef>
                <a:spcPts val="600"/>
              </a:spcBef>
              <a:spcAft>
                <a:spcPts val="1800"/>
              </a:spcAft>
              <a:buFont typeface="Arial"/>
              <a:buChar char="•"/>
            </a:pPr>
            <a:r>
              <a:rPr lang="en-US" sz="2800" dirty="0">
                <a:solidFill>
                  <a:schemeClr val="bg1"/>
                </a:solidFill>
              </a:rPr>
              <a:t>Labor force participation rate</a:t>
            </a:r>
          </a:p>
          <a:p>
            <a:pPr marL="1203325" lvl="2" indent="-234950">
              <a:spcBef>
                <a:spcPts val="600"/>
              </a:spcBef>
              <a:spcAft>
                <a:spcPts val="1800"/>
              </a:spcAft>
              <a:buFont typeface="Arial"/>
              <a:buChar char="•"/>
            </a:pPr>
            <a:r>
              <a:rPr lang="en-US" sz="2800" dirty="0">
                <a:solidFill>
                  <a:schemeClr val="bg1"/>
                </a:solidFill>
              </a:rPr>
              <a:t>Number of full-time jobs</a:t>
            </a:r>
          </a:p>
          <a:p>
            <a:pPr marL="1203325" lvl="2" indent="-234950">
              <a:spcBef>
                <a:spcPts val="600"/>
              </a:spcBef>
              <a:spcAft>
                <a:spcPts val="1800"/>
              </a:spcAft>
              <a:buFont typeface="Arial"/>
              <a:buChar char="•"/>
            </a:pPr>
            <a:r>
              <a:rPr lang="en-US" sz="2800" dirty="0">
                <a:solidFill>
                  <a:schemeClr val="bg1"/>
                </a:solidFill>
              </a:rPr>
              <a:t>Average wages</a:t>
            </a:r>
          </a:p>
        </p:txBody>
      </p:sp>
    </p:spTree>
    <p:extLst>
      <p:ext uri="{BB962C8B-B14F-4D97-AF65-F5344CB8AC3E}">
        <p14:creationId xmlns:p14="http://schemas.microsoft.com/office/powerpoint/2010/main" val="38728630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bg/>
                                          </p:spTgt>
                                        </p:tgtEl>
                                        <p:attrNameLst>
                                          <p:attrName>style.visibility</p:attrName>
                                        </p:attrNameLst>
                                      </p:cBhvr>
                                      <p:to>
                                        <p:strVal val="visible"/>
                                      </p:to>
                                    </p:set>
                                    <p:animEffect transition="in" filter="fade">
                                      <p:cBhvr>
                                        <p:cTn id="10" dur="1000"/>
                                        <p:tgtEl>
                                          <p:spTgt spid="3">
                                            <p:bg/>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1000"/>
                                        <p:tgtEl>
                                          <p:spTgt spid="3">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1000"/>
                                        <p:tgtEl>
                                          <p:spTgt spid="3">
                                            <p:txEl>
                                              <p:pRg st="3" end="3"/>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1000"/>
                                        <p:tgtEl>
                                          <p:spTgt spid="3">
                                            <p:txEl>
                                              <p:pRg st="5" end="5"/>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20" y="228600"/>
            <a:ext cx="9144000" cy="838200"/>
          </a:xfrm>
        </p:spPr>
        <p:txBody>
          <a:bodyPr>
            <a:noAutofit/>
          </a:bodyPr>
          <a:lstStyle/>
          <a:p>
            <a:r>
              <a:rPr lang="en-US" sz="4000" dirty="0"/>
              <a:t>UNEMPLOYMENT RATES AND DEMOGRAPHICS</a:t>
            </a:r>
          </a:p>
        </p:txBody>
      </p:sp>
      <p:sp>
        <p:nvSpPr>
          <p:cNvPr id="3" name="Content Placeholder 2"/>
          <p:cNvSpPr>
            <a:spLocks noGrp="1"/>
          </p:cNvSpPr>
          <p:nvPr>
            <p:ph idx="1"/>
          </p:nvPr>
        </p:nvSpPr>
        <p:spPr>
          <a:xfrm>
            <a:off x="152400" y="1295400"/>
            <a:ext cx="8839200" cy="1295400"/>
          </a:xfrm>
        </p:spPr>
        <p:txBody>
          <a:bodyPr>
            <a:normAutofit/>
          </a:bodyPr>
          <a:lstStyle/>
          <a:p>
            <a:r>
              <a:rPr lang="en-US" sz="2800" dirty="0"/>
              <a:t>Data show that unemployment rates vary greatly between groups.</a:t>
            </a:r>
          </a:p>
        </p:txBody>
      </p:sp>
      <p:pic>
        <p:nvPicPr>
          <p:cNvPr id="4" name="Picture 3" descr="Screen Shot 2015-03-31 at 7.56.53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38200" y="2301875"/>
            <a:ext cx="7162800" cy="4327525"/>
          </a:xfrm>
          <a:prstGeom prst="rect">
            <a:avLst/>
          </a:prstGeom>
        </p:spPr>
      </p:pic>
      <p:sp>
        <p:nvSpPr>
          <p:cNvPr id="9" name="Content Placeholder 2"/>
          <p:cNvSpPr txBox="1">
            <a:spLocks/>
          </p:cNvSpPr>
          <p:nvPr/>
        </p:nvSpPr>
        <p:spPr>
          <a:xfrm>
            <a:off x="990600" y="6248400"/>
            <a:ext cx="3048000" cy="304800"/>
          </a:xfrm>
          <a:prstGeom prst="rect">
            <a:avLst/>
          </a:prstGeom>
        </p:spPr>
        <p:txBody>
          <a:bodyPr vert="horz" lIns="91440" tIns="45720" rIns="91440" bIns="45720" rtlCol="0">
            <a:normAutofit/>
          </a:bodyPr>
          <a:lstStyle>
            <a:lvl1pPr marL="0" indent="0" algn="l" defTabSz="914400" rtl="0" eaLnBrk="1" latinLnBrk="0" hangingPunct="1">
              <a:spcBef>
                <a:spcPct val="20000"/>
              </a:spcBef>
              <a:buFontTx/>
              <a:buNone/>
              <a:defRPr sz="3200" b="1" kern="1200">
                <a:solidFill>
                  <a:schemeClr val="tx1"/>
                </a:solidFill>
                <a:latin typeface="Gill Sans MT"/>
                <a:ea typeface="+mn-ea"/>
                <a:cs typeface="Gill Sans MT"/>
              </a:defRPr>
            </a:lvl1pPr>
            <a:lvl2pPr marL="457200" indent="0" algn="l" defTabSz="914400" rtl="0" eaLnBrk="1" latinLnBrk="0" hangingPunct="1">
              <a:spcBef>
                <a:spcPct val="20000"/>
              </a:spcBef>
              <a:buFontTx/>
              <a:buNone/>
              <a:defRPr sz="2800" b="1" kern="1200">
                <a:solidFill>
                  <a:schemeClr val="tx1"/>
                </a:solidFill>
                <a:latin typeface="Gill Sans MT"/>
                <a:ea typeface="+mn-ea"/>
                <a:cs typeface="Gill Sans MT"/>
              </a:defRPr>
            </a:lvl2pPr>
            <a:lvl3pPr marL="914400" indent="0" algn="l" defTabSz="914400" rtl="0" eaLnBrk="1" latinLnBrk="0" hangingPunct="1">
              <a:spcBef>
                <a:spcPct val="20000"/>
              </a:spcBef>
              <a:buFontTx/>
              <a:buNone/>
              <a:defRPr sz="2400" b="1" kern="1200">
                <a:solidFill>
                  <a:schemeClr val="tx1"/>
                </a:solidFill>
                <a:latin typeface="Gill Sans MT"/>
                <a:ea typeface="+mn-ea"/>
                <a:cs typeface="Gill Sans MT"/>
              </a:defRPr>
            </a:lvl3pPr>
            <a:lvl4pPr marL="1371600" indent="0" algn="l" defTabSz="914400" rtl="0" eaLnBrk="1" latinLnBrk="0" hangingPunct="1">
              <a:spcBef>
                <a:spcPct val="20000"/>
              </a:spcBef>
              <a:buFontTx/>
              <a:buNone/>
              <a:defRPr sz="2000" b="1" kern="1200">
                <a:solidFill>
                  <a:schemeClr val="tx1"/>
                </a:solidFill>
                <a:latin typeface="Gill Sans MT"/>
                <a:ea typeface="+mn-ea"/>
                <a:cs typeface="Gill Sans MT"/>
              </a:defRPr>
            </a:lvl4pPr>
            <a:lvl5pPr marL="1828800" indent="0" algn="l" defTabSz="914400" rtl="0" eaLnBrk="1" latinLnBrk="0" hangingPunct="1">
              <a:spcBef>
                <a:spcPct val="20000"/>
              </a:spcBef>
              <a:buFontTx/>
              <a:buNone/>
              <a:defRPr sz="2000" b="1" kern="1200">
                <a:solidFill>
                  <a:schemeClr val="tx1"/>
                </a:solidFill>
                <a:latin typeface="Gill Sans MT"/>
                <a:ea typeface="+mn-ea"/>
                <a:cs typeface="Gill Sans M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400" b="0" i="1" dirty="0">
                <a:solidFill>
                  <a:schemeClr val="tx1">
                    <a:lumMod val="65000"/>
                    <a:lumOff val="35000"/>
                  </a:schemeClr>
                </a:solidFill>
                <a:latin typeface="Century Gothic"/>
                <a:cs typeface="Century Gothic"/>
              </a:rPr>
              <a:t>Source: Bureau of Labor Statistics</a:t>
            </a:r>
            <a:endParaRPr lang="en-US" sz="1400" i="1" dirty="0">
              <a:solidFill>
                <a:schemeClr val="tx1">
                  <a:lumMod val="65000"/>
                  <a:lumOff val="35000"/>
                </a:schemeClr>
              </a:solidFill>
              <a:latin typeface="Century Gothic"/>
              <a:cs typeface="Century Gothic"/>
            </a:endParaRPr>
          </a:p>
        </p:txBody>
      </p:sp>
    </p:spTree>
    <p:extLst>
      <p:ext uri="{BB962C8B-B14F-4D97-AF65-F5344CB8AC3E}">
        <p14:creationId xmlns:p14="http://schemas.microsoft.com/office/powerpoint/2010/main" val="2318465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GROWTH AND UNEMPLOYMENT</a:t>
            </a:r>
          </a:p>
        </p:txBody>
      </p:sp>
      <p:sp>
        <p:nvSpPr>
          <p:cNvPr id="3" name="Content Placeholder 2"/>
          <p:cNvSpPr>
            <a:spLocks noGrp="1"/>
          </p:cNvSpPr>
          <p:nvPr>
            <p:ph idx="1"/>
          </p:nvPr>
        </p:nvSpPr>
        <p:spPr>
          <a:xfrm>
            <a:off x="152400" y="5715000"/>
            <a:ext cx="8915400" cy="1066800"/>
          </a:xfrm>
        </p:spPr>
        <p:txBody>
          <a:bodyPr>
            <a:normAutofit/>
          </a:bodyPr>
          <a:lstStyle/>
          <a:p>
            <a:r>
              <a:rPr lang="en-US" sz="2400" b="0" dirty="0"/>
              <a:t>A </a:t>
            </a:r>
            <a:r>
              <a:rPr lang="en-US" sz="2400" i="1" dirty="0">
                <a:solidFill>
                  <a:srgbClr val="990033"/>
                </a:solidFill>
              </a:rPr>
              <a:t>jobless recovery </a:t>
            </a:r>
            <a:r>
              <a:rPr lang="en-US" sz="2400" b="0" dirty="0"/>
              <a:t>is a period in which the real GDP growth rate is positive but the unemployment rate is still rising.</a:t>
            </a:r>
            <a:endParaRPr lang="en-US" sz="2400" dirty="0"/>
          </a:p>
        </p:txBody>
      </p:sp>
      <p:pic>
        <p:nvPicPr>
          <p:cNvPr id="6" name="Picture 5" descr="Screen Shot 2015-03-31 at 7.58.17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066800" y="762000"/>
            <a:ext cx="7239000" cy="5048357"/>
          </a:xfrm>
          <a:prstGeom prst="rect">
            <a:avLst/>
          </a:prstGeom>
        </p:spPr>
      </p:pic>
      <p:sp>
        <p:nvSpPr>
          <p:cNvPr id="5" name="Rectangle 4"/>
          <p:cNvSpPr/>
          <p:nvPr/>
        </p:nvSpPr>
        <p:spPr>
          <a:xfrm>
            <a:off x="762000" y="5453390"/>
            <a:ext cx="5867400" cy="261610"/>
          </a:xfrm>
          <a:prstGeom prst="rect">
            <a:avLst/>
          </a:prstGeom>
        </p:spPr>
        <p:txBody>
          <a:bodyPr wrap="square">
            <a:spAutoFit/>
          </a:bodyPr>
          <a:lstStyle/>
          <a:p>
            <a:pPr algn="ctr"/>
            <a:r>
              <a:rPr lang="en-US" sz="1100" i="1" dirty="0">
                <a:solidFill>
                  <a:schemeClr val="tx1">
                    <a:lumMod val="65000"/>
                    <a:lumOff val="35000"/>
                  </a:schemeClr>
                </a:solidFill>
                <a:latin typeface="Century Gothic"/>
                <a:cs typeface="Century Gothic"/>
              </a:rPr>
              <a:t>Sources: Bureau of Labor Statistics; National Bureau of Economic Research.</a:t>
            </a:r>
          </a:p>
        </p:txBody>
      </p:sp>
      <p:sp>
        <p:nvSpPr>
          <p:cNvPr id="7" name="Rectangle 6"/>
          <p:cNvSpPr/>
          <p:nvPr/>
        </p:nvSpPr>
        <p:spPr>
          <a:xfrm>
            <a:off x="2895600" y="990600"/>
            <a:ext cx="5943600" cy="830997"/>
          </a:xfrm>
          <a:prstGeom prst="rect">
            <a:avLst/>
          </a:prstGeom>
        </p:spPr>
        <p:txBody>
          <a:bodyPr wrap="square">
            <a:spAutoFit/>
          </a:bodyPr>
          <a:lstStyle/>
          <a:p>
            <a:r>
              <a:rPr lang="en-US" sz="2400" b="1" dirty="0">
                <a:latin typeface="Century Gothic"/>
                <a:cs typeface="Century Gothic"/>
              </a:rPr>
              <a:t>Unemployment and Recessions, </a:t>
            </a:r>
          </a:p>
          <a:p>
            <a:r>
              <a:rPr lang="en-US" sz="2400" b="1" dirty="0">
                <a:latin typeface="Century Gothic"/>
                <a:cs typeface="Century Gothic"/>
              </a:rPr>
              <a:t>1978–2014 </a:t>
            </a:r>
            <a:r>
              <a:rPr lang="en-US" sz="1600" b="1" i="1" dirty="0">
                <a:solidFill>
                  <a:schemeClr val="tx1">
                    <a:lumMod val="65000"/>
                    <a:lumOff val="35000"/>
                  </a:schemeClr>
                </a:solidFill>
                <a:latin typeface="Century Gothic"/>
                <a:cs typeface="Century Gothic"/>
              </a:rPr>
              <a:t>(Shaded areas are recessions.)</a:t>
            </a:r>
          </a:p>
        </p:txBody>
      </p:sp>
    </p:spTree>
    <p:extLst>
      <p:ext uri="{BB962C8B-B14F-4D97-AF65-F5344CB8AC3E}">
        <p14:creationId xmlns:p14="http://schemas.microsoft.com/office/powerpoint/2010/main" val="3114227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4000" spc="0" dirty="0"/>
              <a:t>GROWTH AND CHANGES IN UNEMPLOYMENT, 1949–2013</a:t>
            </a:r>
          </a:p>
        </p:txBody>
      </p:sp>
      <p:pic>
        <p:nvPicPr>
          <p:cNvPr id="6" name="Picture 5" descr="Screen Shot 2015-03-31 at 8.04.26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3170" y="2169749"/>
            <a:ext cx="9144000" cy="4764451"/>
          </a:xfrm>
          <a:prstGeom prst="rect">
            <a:avLst/>
          </a:prstGeom>
        </p:spPr>
      </p:pic>
      <p:sp>
        <p:nvSpPr>
          <p:cNvPr id="5" name="Rectangle 4"/>
          <p:cNvSpPr/>
          <p:nvPr/>
        </p:nvSpPr>
        <p:spPr>
          <a:xfrm>
            <a:off x="0" y="6472535"/>
            <a:ext cx="3962400" cy="461665"/>
          </a:xfrm>
          <a:prstGeom prst="rect">
            <a:avLst/>
          </a:prstGeom>
        </p:spPr>
        <p:txBody>
          <a:bodyPr wrap="square">
            <a:spAutoFit/>
          </a:bodyPr>
          <a:lstStyle/>
          <a:p>
            <a:r>
              <a:rPr lang="en-US" sz="1200" i="1" dirty="0">
                <a:solidFill>
                  <a:schemeClr val="tx1">
                    <a:lumMod val="65000"/>
                    <a:lumOff val="35000"/>
                  </a:schemeClr>
                </a:solidFill>
                <a:latin typeface="Century Gothic"/>
                <a:cs typeface="Century Gothic"/>
              </a:rPr>
              <a:t>Sources: Bureau of Labor Statistics; Bureau of Economic Analysis.</a:t>
            </a:r>
          </a:p>
        </p:txBody>
      </p:sp>
      <p:sp>
        <p:nvSpPr>
          <p:cNvPr id="3" name="Content Placeholder 2"/>
          <p:cNvSpPr>
            <a:spLocks noGrp="1"/>
          </p:cNvSpPr>
          <p:nvPr>
            <p:ph idx="1"/>
          </p:nvPr>
        </p:nvSpPr>
        <p:spPr>
          <a:xfrm>
            <a:off x="0" y="1143000"/>
            <a:ext cx="9144000" cy="1219200"/>
          </a:xfrm>
          <a:noFill/>
        </p:spPr>
        <p:txBody>
          <a:bodyPr>
            <a:noAutofit/>
          </a:bodyPr>
          <a:lstStyle/>
          <a:p>
            <a:r>
              <a:rPr lang="en-US" sz="2800" dirty="0"/>
              <a:t>Generally there is a negative relationship between economic growth and the unemployment rate.</a:t>
            </a:r>
          </a:p>
        </p:txBody>
      </p:sp>
    </p:spTree>
    <p:extLst>
      <p:ext uri="{BB962C8B-B14F-4D97-AF65-F5344CB8AC3E}">
        <p14:creationId xmlns:p14="http://schemas.microsoft.com/office/powerpoint/2010/main" val="2825647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creen Shot 2015-03-31 at 8.12.02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914400" y="2514600"/>
            <a:ext cx="6477000" cy="4204368"/>
          </a:xfrm>
          <a:prstGeom prst="rect">
            <a:avLst/>
          </a:prstGeom>
        </p:spPr>
      </p:pic>
      <p:sp>
        <p:nvSpPr>
          <p:cNvPr id="3" name="Content Placeholder 2"/>
          <p:cNvSpPr>
            <a:spLocks noGrp="1"/>
          </p:cNvSpPr>
          <p:nvPr>
            <p:ph idx="1"/>
          </p:nvPr>
        </p:nvSpPr>
        <p:spPr>
          <a:xfrm>
            <a:off x="1219200" y="1371600"/>
            <a:ext cx="7848600" cy="4648200"/>
          </a:xfrm>
        </p:spPr>
        <p:txBody>
          <a:bodyPr>
            <a:normAutofit/>
          </a:bodyPr>
          <a:lstStyle/>
          <a:p>
            <a:r>
              <a:rPr lang="en-US" sz="2800" i="1" dirty="0">
                <a:solidFill>
                  <a:schemeClr val="tx1">
                    <a:lumMod val="65000"/>
                    <a:lumOff val="35000"/>
                  </a:schemeClr>
                </a:solidFill>
                <a:latin typeface="Century Gothic"/>
                <a:cs typeface="Century Gothic"/>
              </a:rPr>
              <a:t>Times of high unemployment are especially hard on new graduates.</a:t>
            </a:r>
          </a:p>
        </p:txBody>
      </p:sp>
      <p:sp>
        <p:nvSpPr>
          <p:cNvPr id="2" name="Title 1"/>
          <p:cNvSpPr>
            <a:spLocks noGrp="1"/>
          </p:cNvSpPr>
          <p:nvPr>
            <p:ph type="title" idx="4294967295"/>
          </p:nvPr>
        </p:nvSpPr>
        <p:spPr>
          <a:xfrm>
            <a:off x="0" y="762000"/>
            <a:ext cx="9144000" cy="685800"/>
          </a:xfrm>
        </p:spPr>
        <p:txBody>
          <a:bodyPr>
            <a:noAutofit/>
          </a:bodyPr>
          <a:lstStyle/>
          <a:p>
            <a:r>
              <a:rPr lang="en-US" spc="0" dirty="0">
                <a:solidFill>
                  <a:schemeClr val="accent6">
                    <a:lumMod val="75000"/>
                  </a:schemeClr>
                </a:solidFill>
                <a:latin typeface="Century Gothic"/>
                <a:cs typeface="Century Gothic"/>
              </a:rPr>
              <a:t>Failure to Launch</a:t>
            </a:r>
          </a:p>
        </p:txBody>
      </p:sp>
    </p:spTree>
    <p:extLst>
      <p:ext uri="{BB962C8B-B14F-4D97-AF65-F5344CB8AC3E}">
        <p14:creationId xmlns:p14="http://schemas.microsoft.com/office/powerpoint/2010/main" val="3062307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Title 1"/>
          <p:cNvSpPr>
            <a:spLocks noGrp="1"/>
          </p:cNvSpPr>
          <p:nvPr>
            <p:ph type="title"/>
          </p:nvPr>
        </p:nvSpPr>
        <p:spPr bwMode="auto">
          <a:xfrm>
            <a:off x="0" y="0"/>
            <a:ext cx="9144000" cy="1066800"/>
          </a:xfrm>
        </p:spPr>
        <p:txBody>
          <a:bodyPr wrap="square" numCol="1" anchorCtr="0" compatLnSpc="1">
            <a:prstTxWarp prst="textNoShape">
              <a:avLst/>
            </a:prstTxWarp>
            <a:normAutofit fontScale="90000"/>
          </a:bodyPr>
          <a:lstStyle/>
          <a:p>
            <a:r>
              <a:rPr lang="en-US" spc="0" dirty="0"/>
              <a:t>THE NATURAL RATE OF UNEMPLOYMENT</a:t>
            </a:r>
          </a:p>
        </p:txBody>
      </p:sp>
      <p:sp>
        <p:nvSpPr>
          <p:cNvPr id="3" name="Content Placeholder 2"/>
          <p:cNvSpPr>
            <a:spLocks noGrp="1"/>
          </p:cNvSpPr>
          <p:nvPr>
            <p:ph idx="1"/>
          </p:nvPr>
        </p:nvSpPr>
        <p:spPr>
          <a:xfrm>
            <a:off x="228600" y="1447800"/>
            <a:ext cx="8839200" cy="4648200"/>
          </a:xfrm>
        </p:spPr>
        <p:txBody>
          <a:bodyPr/>
          <a:lstStyle/>
          <a:p>
            <a:r>
              <a:rPr lang="en-US" dirty="0"/>
              <a:t>Some unemployment is natural. </a:t>
            </a:r>
          </a:p>
          <a:p>
            <a:r>
              <a:rPr lang="en-US" i="1" dirty="0">
                <a:solidFill>
                  <a:schemeClr val="tx1">
                    <a:lumMod val="65000"/>
                    <a:lumOff val="35000"/>
                  </a:schemeClr>
                </a:solidFill>
              </a:rPr>
              <a:t>Over the past 50 years, the national unemployment rate has never dropped below 2.9%.</a:t>
            </a:r>
          </a:p>
          <a:p>
            <a:r>
              <a:rPr lang="en-US" dirty="0"/>
              <a:t>There are three types of unemployment:</a:t>
            </a:r>
          </a:p>
          <a:p>
            <a:pPr marL="971550" lvl="1" indent="-514350">
              <a:buFont typeface="Century Gothic" pitchFamily="34" charset="0"/>
              <a:buAutoNum type="arabicPeriod"/>
            </a:pPr>
            <a:r>
              <a:rPr lang="en-US" sz="3200" dirty="0">
                <a:solidFill>
                  <a:srgbClr val="0070C0"/>
                </a:solidFill>
              </a:rPr>
              <a:t>frictional</a:t>
            </a:r>
          </a:p>
          <a:p>
            <a:pPr marL="971550" lvl="1" indent="-514350">
              <a:buFont typeface="Century Gothic" pitchFamily="34" charset="0"/>
              <a:buAutoNum type="arabicPeriod"/>
            </a:pPr>
            <a:r>
              <a:rPr lang="en-US" sz="3200" dirty="0">
                <a:solidFill>
                  <a:srgbClr val="0070C0"/>
                </a:solidFill>
              </a:rPr>
              <a:t>structural</a:t>
            </a:r>
          </a:p>
          <a:p>
            <a:pPr marL="971550" lvl="1" indent="-514350">
              <a:buFont typeface="Century Gothic" pitchFamily="34" charset="0"/>
              <a:buAutoNum type="arabicPeriod"/>
            </a:pPr>
            <a:r>
              <a:rPr lang="en-US" sz="3200" dirty="0">
                <a:solidFill>
                  <a:srgbClr val="0070C0"/>
                </a:solidFill>
              </a:rPr>
              <a:t>cyclical</a:t>
            </a:r>
          </a:p>
        </p:txBody>
      </p:sp>
    </p:spTree>
    <p:extLst>
      <p:ext uri="{BB962C8B-B14F-4D97-AF65-F5344CB8AC3E}">
        <p14:creationId xmlns:p14="http://schemas.microsoft.com/office/powerpoint/2010/main" val="1111464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childTnLst>
                                </p:cTn>
                              </p:par>
                            </p:childTnLst>
                          </p:cTn>
                        </p:par>
                        <p:par>
                          <p:cTn id="8" fill="hold" nodeType="with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Effect transition="in" filter="fade">
                                      <p:cBhvr>
                                        <p:cTn id="11" dur="1000"/>
                                        <p:tgtEl>
                                          <p:spTgt spid="3">
                                            <p:txEl>
                                              <p:pRg st="4" end="4"/>
                                            </p:txEl>
                                          </p:spTgt>
                                        </p:tgtEl>
                                      </p:cBhvr>
                                    </p:animEffect>
                                  </p:childTnLst>
                                </p:cTn>
                              </p:par>
                            </p:childTnLst>
                          </p:cTn>
                        </p:par>
                        <p:par>
                          <p:cTn id="12" fill="hold" nodeType="with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fade">
                                      <p:cBhvr>
                                        <p:cTn id="15"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Autofit/>
          </a:bodyPr>
          <a:lstStyle/>
          <a:p>
            <a:r>
              <a:rPr lang="en-US" sz="4000" spc="0" dirty="0"/>
              <a:t>LABOR MARKET FLOWS IN AN AVERAGE MONTH IN 2007</a:t>
            </a:r>
          </a:p>
        </p:txBody>
      </p:sp>
      <p:sp>
        <p:nvSpPr>
          <p:cNvPr id="3" name="Content Placeholder 2"/>
          <p:cNvSpPr>
            <a:spLocks noGrp="1"/>
          </p:cNvSpPr>
          <p:nvPr>
            <p:ph idx="1"/>
          </p:nvPr>
        </p:nvSpPr>
        <p:spPr>
          <a:xfrm>
            <a:off x="3518" y="1447800"/>
            <a:ext cx="9140481" cy="1143000"/>
          </a:xfrm>
        </p:spPr>
        <p:txBody>
          <a:bodyPr>
            <a:noAutofit/>
          </a:bodyPr>
          <a:lstStyle/>
          <a:p>
            <a:r>
              <a:rPr lang="en-US" sz="2800" dirty="0"/>
              <a:t>In a healthy year (like 2007) many workers move into and out of both employment and unemployment each month.</a:t>
            </a:r>
          </a:p>
        </p:txBody>
      </p:sp>
      <p:pic>
        <p:nvPicPr>
          <p:cNvPr id="10242" name="Picture 2"/>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a:stretch/>
        </p:blipFill>
        <p:spPr bwMode="auto">
          <a:xfrm>
            <a:off x="838200" y="2971800"/>
            <a:ext cx="7315200" cy="3539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4313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1" name="Title 3"/>
          <p:cNvSpPr>
            <a:spLocks noGrp="1"/>
          </p:cNvSpPr>
          <p:nvPr>
            <p:ph type="title"/>
          </p:nvPr>
        </p:nvSpPr>
        <p:spPr bwMode="auto"/>
        <p:txBody>
          <a:bodyPr wrap="square" numCol="1" anchorCtr="0" compatLnSpc="1">
            <a:prstTxWarp prst="textNoShape">
              <a:avLst/>
            </a:prstTxWarp>
            <a:normAutofit/>
          </a:bodyPr>
          <a:lstStyle/>
          <a:p>
            <a:r>
              <a:rPr lang="en-US" sz="4000" spc="0" dirty="0"/>
              <a:t>FRICTIONAL UNEMPLOYMENT</a:t>
            </a:r>
          </a:p>
        </p:txBody>
      </p:sp>
      <p:sp>
        <p:nvSpPr>
          <p:cNvPr id="3" name="Content Placeholder 2"/>
          <p:cNvSpPr>
            <a:spLocks noGrp="1"/>
          </p:cNvSpPr>
          <p:nvPr>
            <p:ph idx="1"/>
          </p:nvPr>
        </p:nvSpPr>
        <p:spPr/>
        <p:txBody>
          <a:bodyPr/>
          <a:lstStyle/>
          <a:p>
            <a:r>
              <a:rPr lang="en-US" sz="2800" i="1" dirty="0">
                <a:solidFill>
                  <a:srgbClr val="990033"/>
                </a:solidFill>
              </a:rPr>
              <a:t>Frictional unemployment:</a:t>
            </a:r>
            <a:r>
              <a:rPr lang="en-US" sz="2800" dirty="0">
                <a:solidFill>
                  <a:srgbClr val="990033"/>
                </a:solidFill>
              </a:rPr>
              <a:t> </a:t>
            </a:r>
            <a:r>
              <a:rPr lang="en-US" sz="2800" b="0" dirty="0"/>
              <a:t>unemployment due to the time workers spend in job search.</a:t>
            </a:r>
            <a:endParaRPr lang="en-US" sz="2800" dirty="0"/>
          </a:p>
          <a:p>
            <a:pPr lvl="1">
              <a:defRPr/>
            </a:pPr>
            <a:r>
              <a:rPr lang="en-US" dirty="0"/>
              <a:t>Scarcity of information creates frictional unemployment.</a:t>
            </a:r>
          </a:p>
          <a:p>
            <a:pPr marL="858837" lvl="2">
              <a:defRPr/>
            </a:pPr>
            <a:r>
              <a:rPr lang="en-US" dirty="0"/>
              <a:t>Matching people to jobs takes time.</a:t>
            </a:r>
          </a:p>
          <a:p>
            <a:pPr lvl="1">
              <a:defRPr/>
            </a:pPr>
            <a:endParaRPr lang="en-US" dirty="0"/>
          </a:p>
        </p:txBody>
      </p:sp>
      <p:pic>
        <p:nvPicPr>
          <p:cNvPr id="8" name="Picture 7" descr="Pete.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7620000" y="4114800"/>
            <a:ext cx="876300" cy="990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file9191260479678.jpg"/>
          <p:cNvPicPr>
            <a:picLocks noChangeAspect="1"/>
          </p:cNvPicPr>
          <p:nvPr/>
        </p:nvPicPr>
        <p:blipFill>
          <a:blip r:embed="rId4">
            <a:extLst>
              <a:ext uri="{28A0092B-C50C-407E-A947-70E740481C1C}">
                <a14:useLocalDpi xmlns:a14="http://schemas.microsoft.com/office/drawing/2010/main"/>
              </a:ext>
            </a:extLst>
          </a:blip>
          <a:srcRect/>
          <a:stretch>
            <a:fillRect/>
          </a:stretch>
        </p:blipFill>
        <p:spPr bwMode="auto">
          <a:xfrm>
            <a:off x="6096000" y="4191000"/>
            <a:ext cx="1295400" cy="24257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IMG_2114.JPG"/>
          <p:cNvPicPr>
            <a:picLocks noChangeAspect="1"/>
          </p:cNvPicPr>
          <p:nvPr/>
        </p:nvPicPr>
        <p:blipFill>
          <a:blip r:embed="rId5">
            <a:extLst>
              <a:ext uri="{28A0092B-C50C-407E-A947-70E740481C1C}">
                <a14:useLocalDpi xmlns:a14="http://schemas.microsoft.com/office/drawing/2010/main"/>
              </a:ext>
            </a:extLst>
          </a:blip>
          <a:srcRect/>
          <a:stretch>
            <a:fillRect/>
          </a:stretch>
        </p:blipFill>
        <p:spPr bwMode="auto">
          <a:xfrm>
            <a:off x="7620000" y="5181600"/>
            <a:ext cx="963613" cy="14478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Pete.jpg"/>
          <p:cNvPicPr>
            <a:picLocks noChangeAspect="1"/>
          </p:cNvPicPr>
          <p:nvPr/>
        </p:nvPicPr>
        <p:blipFill>
          <a:blip r:embed="rId6">
            <a:extLst>
              <a:ext uri="{28A0092B-C50C-407E-A947-70E740481C1C}">
                <a14:useLocalDpi xmlns:a14="http://schemas.microsoft.com/office/drawing/2010/main"/>
              </a:ext>
            </a:extLst>
          </a:blip>
          <a:srcRect/>
          <a:stretch>
            <a:fillRect/>
          </a:stretch>
        </p:blipFill>
        <p:spPr bwMode="auto">
          <a:xfrm>
            <a:off x="76200" y="3962400"/>
            <a:ext cx="942975" cy="838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ManWithDog.jpg"/>
          <p:cNvPicPr>
            <a:picLocks noChangeAspect="1"/>
          </p:cNvPicPr>
          <p:nvPr/>
        </p:nvPicPr>
        <p:blipFill>
          <a:blip r:embed="rId7">
            <a:extLst>
              <a:ext uri="{28A0092B-C50C-407E-A947-70E740481C1C}">
                <a14:useLocalDpi xmlns:a14="http://schemas.microsoft.com/office/drawing/2010/main"/>
              </a:ext>
            </a:extLst>
          </a:blip>
          <a:srcRect/>
          <a:stretch>
            <a:fillRect/>
          </a:stretch>
        </p:blipFill>
        <p:spPr bwMode="auto">
          <a:xfrm>
            <a:off x="533400" y="5486400"/>
            <a:ext cx="1139825" cy="12192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3" descr="P1000233.JPG"/>
          <p:cNvPicPr>
            <a:picLocks noChangeAspect="1"/>
          </p:cNvPicPr>
          <p:nvPr/>
        </p:nvPicPr>
        <p:blipFill>
          <a:blip r:embed="rId8">
            <a:extLst>
              <a:ext uri="{28A0092B-C50C-407E-A947-70E740481C1C}">
                <a14:useLocalDpi xmlns:a14="http://schemas.microsoft.com/office/drawing/2010/main"/>
              </a:ext>
            </a:extLst>
          </a:blip>
          <a:srcRect/>
          <a:stretch>
            <a:fillRect/>
          </a:stretch>
        </p:blipFill>
        <p:spPr bwMode="auto">
          <a:xfrm>
            <a:off x="1295400" y="4267200"/>
            <a:ext cx="10287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 name="Straight Connector 15"/>
          <p:cNvCxnSpPr>
            <a:stCxn id="14" idx="3"/>
            <a:endCxn id="10" idx="1"/>
          </p:cNvCxnSpPr>
          <p:nvPr/>
        </p:nvCxnSpPr>
        <p:spPr>
          <a:xfrm>
            <a:off x="2324100" y="4953000"/>
            <a:ext cx="5295900" cy="9525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1" idx="3"/>
            <a:endCxn id="8" idx="1"/>
          </p:cNvCxnSpPr>
          <p:nvPr/>
        </p:nvCxnSpPr>
        <p:spPr>
          <a:xfrm>
            <a:off x="1019175" y="4381500"/>
            <a:ext cx="6600825" cy="2286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3" idx="3"/>
          </p:cNvCxnSpPr>
          <p:nvPr/>
        </p:nvCxnSpPr>
        <p:spPr>
          <a:xfrm flipV="1">
            <a:off x="1673225" y="5257800"/>
            <a:ext cx="5413375" cy="8382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2425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0" end="0"/>
                                            </p:txEl>
                                          </p:spTgt>
                                        </p:tgtEl>
                                        <p:attrNameLst>
                                          <p:attrName>style.color</p:attrName>
                                        </p:attrNameLst>
                                      </p:cBhvr>
                                      <p:to>
                                        <a:schemeClr val="tx1"/>
                                      </p:to>
                                    </p:animClr>
                                  </p:childTnLst>
                                </p:cTn>
                              </p:par>
                              <p:par>
                                <p:cTn id="7" presetID="10"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animEffect transition="in" filter="fade">
                                      <p:cBhvr>
                                        <p:cTn id="9" dur="1000"/>
                                        <p:tgtEl>
                                          <p:spTgt spid="3">
                                            <p:txEl>
                                              <p:pRg st="1" end="1"/>
                                            </p:txEl>
                                          </p:spTgt>
                                        </p:tgtEl>
                                      </p:cBhvr>
                                    </p:animEffect>
                                  </p:childTnLst>
                                </p:cTn>
                              </p:par>
                            </p:childTnLst>
                          </p:cTn>
                        </p:par>
                        <p:par>
                          <p:cTn id="10" fill="hold" nodeType="withGroup">
                            <p:stCondLst>
                              <p:cond delay="2000"/>
                            </p:stCondLst>
                            <p:childTnLst>
                              <p:par>
                                <p:cTn id="11" presetID="10" presetClass="entr" presetSubtype="0" fill="hold" nodeType="after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childTnLst>
                                </p:cTn>
                              </p:par>
                            </p:childTnLst>
                          </p:cTn>
                        </p:par>
                        <p:par>
                          <p:cTn id="14" fill="hold" nodeType="afterGroup">
                            <p:stCondLst>
                              <p:cond delay="3000"/>
                            </p:stCondLst>
                            <p:childTnLst>
                              <p:par>
                                <p:cTn id="15" presetID="53" presetClass="entr" presetSubtype="16"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childTnLst>
                          </p:cTn>
                        </p:par>
                        <p:par>
                          <p:cTn id="20" fill="hold" nodeType="afterGroup">
                            <p:stCondLst>
                              <p:cond delay="3500"/>
                            </p:stCondLst>
                            <p:childTnLst>
                              <p:par>
                                <p:cTn id="21" presetID="53" presetClass="entr" presetSubtype="16"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childTnLst>
                          </p:cTn>
                        </p:par>
                        <p:par>
                          <p:cTn id="26" fill="hold" nodeType="afterGroup">
                            <p:stCondLst>
                              <p:cond delay="4000"/>
                            </p:stCondLst>
                            <p:childTnLst>
                              <p:par>
                                <p:cTn id="27" presetID="53" presetClass="entr" presetSubtype="16" fill="hold" nodeType="after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p:cTn id="29" dur="500" fill="hold"/>
                                        <p:tgtEl>
                                          <p:spTgt spid="13"/>
                                        </p:tgtEl>
                                        <p:attrNameLst>
                                          <p:attrName>ppt_w</p:attrName>
                                        </p:attrNameLst>
                                      </p:cBhvr>
                                      <p:tavLst>
                                        <p:tav tm="0">
                                          <p:val>
                                            <p:fltVal val="0"/>
                                          </p:val>
                                        </p:tav>
                                        <p:tav tm="100000">
                                          <p:val>
                                            <p:strVal val="#ppt_w"/>
                                          </p:val>
                                        </p:tav>
                                      </p:tavLst>
                                    </p:anim>
                                    <p:anim calcmode="lin" valueType="num">
                                      <p:cBhvr>
                                        <p:cTn id="30" dur="500" fill="hold"/>
                                        <p:tgtEl>
                                          <p:spTgt spid="13"/>
                                        </p:tgtEl>
                                        <p:attrNameLst>
                                          <p:attrName>ppt_h</p:attrName>
                                        </p:attrNameLst>
                                      </p:cBhvr>
                                      <p:tavLst>
                                        <p:tav tm="0">
                                          <p:val>
                                            <p:fltVal val="0"/>
                                          </p:val>
                                        </p:tav>
                                        <p:tav tm="100000">
                                          <p:val>
                                            <p:strVal val="#ppt_h"/>
                                          </p:val>
                                        </p:tav>
                                      </p:tavLst>
                                    </p:anim>
                                    <p:animEffect transition="in" filter="fade">
                                      <p:cBhvr>
                                        <p:cTn id="31" dur="500"/>
                                        <p:tgtEl>
                                          <p:spTgt spid="13"/>
                                        </p:tgtEl>
                                      </p:cBhvr>
                                    </p:animEffect>
                                  </p:childTnLst>
                                </p:cTn>
                              </p:par>
                            </p:childTnLst>
                          </p:cTn>
                        </p:par>
                        <p:par>
                          <p:cTn id="32" fill="hold" nodeType="afterGroup">
                            <p:stCondLst>
                              <p:cond delay="4500"/>
                            </p:stCondLst>
                            <p:childTnLst>
                              <p:par>
                                <p:cTn id="33" presetID="53" presetClass="entr" presetSubtype="16"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p:cTn id="35" dur="500" fill="hold"/>
                                        <p:tgtEl>
                                          <p:spTgt spid="9"/>
                                        </p:tgtEl>
                                        <p:attrNameLst>
                                          <p:attrName>ppt_w</p:attrName>
                                        </p:attrNameLst>
                                      </p:cBhvr>
                                      <p:tavLst>
                                        <p:tav tm="0">
                                          <p:val>
                                            <p:fltVal val="0"/>
                                          </p:val>
                                        </p:tav>
                                        <p:tav tm="100000">
                                          <p:val>
                                            <p:strVal val="#ppt_w"/>
                                          </p:val>
                                        </p:tav>
                                      </p:tavLst>
                                    </p:anim>
                                    <p:anim calcmode="lin" valueType="num">
                                      <p:cBhvr>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childTnLst>
                          </p:cTn>
                        </p:par>
                        <p:par>
                          <p:cTn id="38" fill="hold" nodeType="afterGroup">
                            <p:stCondLst>
                              <p:cond delay="5000"/>
                            </p:stCondLst>
                            <p:childTnLst>
                              <p:par>
                                <p:cTn id="39" presetID="53" presetClass="entr" presetSubtype="16" fill="hold" nodeType="afterEffect">
                                  <p:stCondLst>
                                    <p:cond delay="0"/>
                                  </p:stCondLst>
                                  <p:childTnLst>
                                    <p:set>
                                      <p:cBhvr>
                                        <p:cTn id="40" dur="1" fill="hold">
                                          <p:stCondLst>
                                            <p:cond delay="0"/>
                                          </p:stCondLst>
                                        </p:cTn>
                                        <p:tgtEl>
                                          <p:spTgt spid="8"/>
                                        </p:tgtEl>
                                        <p:attrNameLst>
                                          <p:attrName>style.visibility</p:attrName>
                                        </p:attrNameLst>
                                      </p:cBhvr>
                                      <p:to>
                                        <p:strVal val="visible"/>
                                      </p:to>
                                    </p:set>
                                    <p:anim calcmode="lin" valueType="num">
                                      <p:cBhvr>
                                        <p:cTn id="41" dur="500" fill="hold"/>
                                        <p:tgtEl>
                                          <p:spTgt spid="8"/>
                                        </p:tgtEl>
                                        <p:attrNameLst>
                                          <p:attrName>ppt_w</p:attrName>
                                        </p:attrNameLst>
                                      </p:cBhvr>
                                      <p:tavLst>
                                        <p:tav tm="0">
                                          <p:val>
                                            <p:fltVal val="0"/>
                                          </p:val>
                                        </p:tav>
                                        <p:tav tm="100000">
                                          <p:val>
                                            <p:strVal val="#ppt_w"/>
                                          </p:val>
                                        </p:tav>
                                      </p:tavLst>
                                    </p:anim>
                                    <p:anim calcmode="lin" valueType="num">
                                      <p:cBhvr>
                                        <p:cTn id="42" dur="500" fill="hold"/>
                                        <p:tgtEl>
                                          <p:spTgt spid="8"/>
                                        </p:tgtEl>
                                        <p:attrNameLst>
                                          <p:attrName>ppt_h</p:attrName>
                                        </p:attrNameLst>
                                      </p:cBhvr>
                                      <p:tavLst>
                                        <p:tav tm="0">
                                          <p:val>
                                            <p:fltVal val="0"/>
                                          </p:val>
                                        </p:tav>
                                        <p:tav tm="100000">
                                          <p:val>
                                            <p:strVal val="#ppt_h"/>
                                          </p:val>
                                        </p:tav>
                                      </p:tavLst>
                                    </p:anim>
                                    <p:animEffect transition="in" filter="fade">
                                      <p:cBhvr>
                                        <p:cTn id="43" dur="500"/>
                                        <p:tgtEl>
                                          <p:spTgt spid="8"/>
                                        </p:tgtEl>
                                      </p:cBhvr>
                                    </p:animEffect>
                                  </p:childTnLst>
                                </p:cTn>
                              </p:par>
                            </p:childTnLst>
                          </p:cTn>
                        </p:par>
                        <p:par>
                          <p:cTn id="44" fill="hold" nodeType="afterGroup">
                            <p:stCondLst>
                              <p:cond delay="5500"/>
                            </p:stCondLst>
                            <p:childTnLst>
                              <p:par>
                                <p:cTn id="45" presetID="53" presetClass="entr" presetSubtype="16" fill="hold" nodeType="after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Effect transition="in" filter="fade">
                                      <p:cBhvr>
                                        <p:cTn id="49" dur="500"/>
                                        <p:tgtEl>
                                          <p:spTgt spid="10"/>
                                        </p:tgtEl>
                                      </p:cBhvr>
                                    </p:animEffect>
                                  </p:childTnLst>
                                </p:cTn>
                              </p:par>
                            </p:childTnLst>
                          </p:cTn>
                        </p:par>
                        <p:par>
                          <p:cTn id="50" fill="hold" nodeType="afterGroup">
                            <p:stCondLst>
                              <p:cond delay="6000"/>
                            </p:stCondLst>
                            <p:childTnLst>
                              <p:par>
                                <p:cTn id="51" presetID="22" presetClass="entr" presetSubtype="8" fill="hold"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wipe(left)">
                                      <p:cBhvr>
                                        <p:cTn id="53" dur="500"/>
                                        <p:tgtEl>
                                          <p:spTgt spid="18"/>
                                        </p:tgtEl>
                                      </p:cBhvr>
                                    </p:animEffect>
                                  </p:childTnLst>
                                </p:cTn>
                              </p:par>
                            </p:childTnLst>
                          </p:cTn>
                        </p:par>
                        <p:par>
                          <p:cTn id="54" fill="hold" nodeType="afterGroup">
                            <p:stCondLst>
                              <p:cond delay="6500"/>
                            </p:stCondLst>
                            <p:childTnLst>
                              <p:par>
                                <p:cTn id="55" presetID="22" presetClass="entr" presetSubtype="8" fill="hold"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left)">
                                      <p:cBhvr>
                                        <p:cTn id="57" dur="500"/>
                                        <p:tgtEl>
                                          <p:spTgt spid="16"/>
                                        </p:tgtEl>
                                      </p:cBhvr>
                                    </p:animEffect>
                                  </p:childTnLst>
                                </p:cTn>
                              </p:par>
                            </p:childTnLst>
                          </p:cTn>
                        </p:par>
                        <p:par>
                          <p:cTn id="58" fill="hold" nodeType="afterGroup">
                            <p:stCondLst>
                              <p:cond delay="7000"/>
                            </p:stCondLst>
                            <p:childTnLst>
                              <p:par>
                                <p:cTn id="59" presetID="22" presetClass="entr" presetSubtype="8" fill="hold" nodeType="after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left)">
                                      <p:cBhvr>
                                        <p:cTn id="6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spc="0" dirty="0"/>
              <a:t>DURATION OF UNEMPLOYMENT, 2007</a:t>
            </a:r>
            <a:endParaRPr lang="en-US" sz="4000" b="0" spc="0" dirty="0"/>
          </a:p>
        </p:txBody>
      </p:sp>
      <p:sp>
        <p:nvSpPr>
          <p:cNvPr id="3" name="Content Placeholder 2"/>
          <p:cNvSpPr>
            <a:spLocks noGrp="1"/>
          </p:cNvSpPr>
          <p:nvPr>
            <p:ph idx="1"/>
          </p:nvPr>
        </p:nvSpPr>
        <p:spPr>
          <a:xfrm>
            <a:off x="228600" y="990600"/>
            <a:ext cx="8839200" cy="914400"/>
          </a:xfrm>
        </p:spPr>
        <p:txBody>
          <a:bodyPr>
            <a:noAutofit/>
          </a:bodyPr>
          <a:lstStyle/>
          <a:p>
            <a:r>
              <a:rPr lang="en-US" sz="2400" dirty="0"/>
              <a:t>The short duration of unemployment for most workers suggests that most unemployment in 2007 was frictional.</a:t>
            </a:r>
          </a:p>
        </p:txBody>
      </p:sp>
      <p:pic>
        <p:nvPicPr>
          <p:cNvPr id="11266" name="Picture 2"/>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133600" y="1752600"/>
            <a:ext cx="4872037" cy="4804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442480" y="6324600"/>
            <a:ext cx="2705848" cy="276999"/>
          </a:xfrm>
          <a:prstGeom prst="rect">
            <a:avLst/>
          </a:prstGeom>
        </p:spPr>
        <p:txBody>
          <a:bodyPr wrap="none">
            <a:spAutoFit/>
          </a:bodyPr>
          <a:lstStyle/>
          <a:p>
            <a:r>
              <a:rPr lang="en-US" sz="1200" i="1" dirty="0">
                <a:solidFill>
                  <a:schemeClr val="tx1">
                    <a:lumMod val="65000"/>
                    <a:lumOff val="35000"/>
                  </a:schemeClr>
                </a:solidFill>
                <a:latin typeface="Century Gothic"/>
                <a:cs typeface="Century Gothic"/>
              </a:rPr>
              <a:t>Source: Bureau of Labor Statistics.</a:t>
            </a:r>
          </a:p>
        </p:txBody>
      </p:sp>
    </p:spTree>
    <p:extLst>
      <p:ext uri="{BB962C8B-B14F-4D97-AF65-F5344CB8AC3E}">
        <p14:creationId xmlns:p14="http://schemas.microsoft.com/office/powerpoint/2010/main" val="3205666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Title 1"/>
          <p:cNvSpPr>
            <a:spLocks noGrp="1"/>
          </p:cNvSpPr>
          <p:nvPr>
            <p:ph type="title"/>
          </p:nvPr>
        </p:nvSpPr>
        <p:spPr bwMode="auto"/>
        <p:txBody>
          <a:bodyPr wrap="square" numCol="1" anchorCtr="0" compatLnSpc="1">
            <a:prstTxWarp prst="textNoShape">
              <a:avLst/>
            </a:prstTxWarp>
            <a:normAutofit/>
          </a:bodyPr>
          <a:lstStyle/>
          <a:p>
            <a:r>
              <a:rPr lang="en-US" sz="4000" spc="0" dirty="0"/>
              <a:t>STRUCTURAL UNEMPLOYMENT</a:t>
            </a:r>
          </a:p>
        </p:txBody>
      </p:sp>
      <p:sp>
        <p:nvSpPr>
          <p:cNvPr id="32770" name="Content Placeholder 2"/>
          <p:cNvSpPr>
            <a:spLocks noGrp="1"/>
          </p:cNvSpPr>
          <p:nvPr>
            <p:ph idx="1"/>
          </p:nvPr>
        </p:nvSpPr>
        <p:spPr>
          <a:xfrm>
            <a:off x="76200" y="762000"/>
            <a:ext cx="8991600" cy="6096000"/>
          </a:xfrm>
        </p:spPr>
        <p:txBody>
          <a:bodyPr>
            <a:noAutofit/>
          </a:bodyPr>
          <a:lstStyle/>
          <a:p>
            <a:r>
              <a:rPr lang="en-US" i="1" dirty="0">
                <a:solidFill>
                  <a:srgbClr val="990033"/>
                </a:solidFill>
              </a:rPr>
              <a:t>Structural unemployment:</a:t>
            </a:r>
            <a:r>
              <a:rPr lang="en-US" dirty="0">
                <a:solidFill>
                  <a:srgbClr val="990033"/>
                </a:solidFill>
              </a:rPr>
              <a:t> </a:t>
            </a:r>
            <a:r>
              <a:rPr lang="en-US" sz="2800" b="0" dirty="0"/>
              <a:t>more people are seeking jobs in a particular labor market than there are jobs available at the current wage rate, even when the economy is at the peak of the business cycle. </a:t>
            </a:r>
          </a:p>
          <a:p>
            <a:r>
              <a:rPr lang="en-US" sz="2800" dirty="0"/>
              <a:t>Some causes: </a:t>
            </a:r>
          </a:p>
          <a:p>
            <a:pPr lvl="1"/>
            <a:r>
              <a:rPr lang="en-US" dirty="0">
                <a:solidFill>
                  <a:srgbClr val="0070C0"/>
                </a:solidFill>
              </a:rPr>
              <a:t>Labor unions</a:t>
            </a:r>
          </a:p>
          <a:p>
            <a:pPr lvl="1"/>
            <a:r>
              <a:rPr lang="en-US" dirty="0">
                <a:solidFill>
                  <a:srgbClr val="0070C0"/>
                </a:solidFill>
              </a:rPr>
              <a:t>Efficiency wages</a:t>
            </a:r>
          </a:p>
          <a:p>
            <a:pPr lvl="2"/>
            <a:r>
              <a:rPr lang="en-US" i="1" dirty="0">
                <a:solidFill>
                  <a:srgbClr val="990033"/>
                </a:solidFill>
              </a:rPr>
              <a:t>Efficiency wages: </a:t>
            </a:r>
            <a:r>
              <a:rPr lang="en-US" b="0" dirty="0"/>
              <a:t>wages that employers set above the equilibrium rate as an incentive for better employee performance.</a:t>
            </a:r>
          </a:p>
          <a:p>
            <a:pPr lvl="1"/>
            <a:r>
              <a:rPr lang="en-US" dirty="0">
                <a:solidFill>
                  <a:srgbClr val="0070C0"/>
                </a:solidFill>
              </a:rPr>
              <a:t>Side effects of government policies</a:t>
            </a:r>
            <a:endParaRPr lang="en-US" sz="2400" dirty="0">
              <a:solidFill>
                <a:srgbClr val="0070C0"/>
              </a:solidFill>
            </a:endParaRPr>
          </a:p>
          <a:p>
            <a:pPr lvl="1"/>
            <a:r>
              <a:rPr lang="en-US" sz="2400" dirty="0">
                <a:solidFill>
                  <a:srgbClr val="0070C0"/>
                </a:solidFill>
              </a:rPr>
              <a:t>Mismatches between employees and employers</a:t>
            </a:r>
          </a:p>
        </p:txBody>
      </p:sp>
    </p:spTree>
    <p:extLst>
      <p:ext uri="{BB962C8B-B14F-4D97-AF65-F5344CB8AC3E}">
        <p14:creationId xmlns:p14="http://schemas.microsoft.com/office/powerpoint/2010/main" val="38501929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770">
                                            <p:txEl>
                                              <p:pRg st="0" end="0"/>
                                            </p:txEl>
                                          </p:spTgt>
                                        </p:tgtEl>
                                        <p:attrNameLst>
                                          <p:attrName>style.visibility</p:attrName>
                                        </p:attrNameLst>
                                      </p:cBhvr>
                                      <p:to>
                                        <p:strVal val="visible"/>
                                      </p:to>
                                    </p:set>
                                    <p:animEffect transition="in" filter="fade">
                                      <p:cBhvr>
                                        <p:cTn id="7" dur="500"/>
                                        <p:tgtEl>
                                          <p:spTgt spid="32770">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770">
                                            <p:txEl>
                                              <p:pRg st="1" end="1"/>
                                            </p:txEl>
                                          </p:spTgt>
                                        </p:tgtEl>
                                        <p:attrNameLst>
                                          <p:attrName>style.visibility</p:attrName>
                                        </p:attrNameLst>
                                      </p:cBhvr>
                                      <p:to>
                                        <p:strVal val="visible"/>
                                      </p:to>
                                    </p:set>
                                    <p:animEffect transition="in" filter="fade">
                                      <p:cBhvr>
                                        <p:cTn id="11" dur="500"/>
                                        <p:tgtEl>
                                          <p:spTgt spid="32770">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770">
                                            <p:txEl>
                                              <p:pRg st="2" end="2"/>
                                            </p:txEl>
                                          </p:spTgt>
                                        </p:tgtEl>
                                        <p:attrNameLst>
                                          <p:attrName>style.visibility</p:attrName>
                                        </p:attrNameLst>
                                      </p:cBhvr>
                                      <p:to>
                                        <p:strVal val="visible"/>
                                      </p:to>
                                    </p:set>
                                    <p:animEffect transition="in" filter="fade">
                                      <p:cBhvr>
                                        <p:cTn id="15" dur="500"/>
                                        <p:tgtEl>
                                          <p:spTgt spid="32770">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2770">
                                            <p:txEl>
                                              <p:pRg st="3" end="3"/>
                                            </p:txEl>
                                          </p:spTgt>
                                        </p:tgtEl>
                                        <p:attrNameLst>
                                          <p:attrName>style.visibility</p:attrName>
                                        </p:attrNameLst>
                                      </p:cBhvr>
                                      <p:to>
                                        <p:strVal val="visible"/>
                                      </p:to>
                                    </p:set>
                                    <p:animEffect transition="in" filter="fade">
                                      <p:cBhvr>
                                        <p:cTn id="19" dur="500"/>
                                        <p:tgtEl>
                                          <p:spTgt spid="32770">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2770">
                                            <p:txEl>
                                              <p:pRg st="4" end="4"/>
                                            </p:txEl>
                                          </p:spTgt>
                                        </p:tgtEl>
                                        <p:attrNameLst>
                                          <p:attrName>style.visibility</p:attrName>
                                        </p:attrNameLst>
                                      </p:cBhvr>
                                      <p:to>
                                        <p:strVal val="visible"/>
                                      </p:to>
                                    </p:set>
                                    <p:animEffect transition="in" filter="fade">
                                      <p:cBhvr>
                                        <p:cTn id="23" dur="500"/>
                                        <p:tgtEl>
                                          <p:spTgt spid="32770">
                                            <p:txEl>
                                              <p:pRg st="4" end="4"/>
                                            </p:txEl>
                                          </p:spTgt>
                                        </p:tgtEl>
                                      </p:cBhvr>
                                    </p:animEffect>
                                  </p:childTnLst>
                                </p:cTn>
                              </p:par>
                            </p:childTnLst>
                          </p:cTn>
                        </p:par>
                        <p:par>
                          <p:cTn id="24" fill="hold">
                            <p:stCondLst>
                              <p:cond delay="2500"/>
                            </p:stCondLst>
                            <p:childTnLst>
                              <p:par>
                                <p:cTn id="25" presetID="10" presetClass="entr" presetSubtype="0" fill="hold" nodeType="afterEffect">
                                  <p:stCondLst>
                                    <p:cond delay="0"/>
                                  </p:stCondLst>
                                  <p:childTnLst>
                                    <p:set>
                                      <p:cBhvr>
                                        <p:cTn id="26" dur="1" fill="hold">
                                          <p:stCondLst>
                                            <p:cond delay="0"/>
                                          </p:stCondLst>
                                        </p:cTn>
                                        <p:tgtEl>
                                          <p:spTgt spid="32770">
                                            <p:txEl>
                                              <p:pRg st="5" end="5"/>
                                            </p:txEl>
                                          </p:spTgt>
                                        </p:tgtEl>
                                        <p:attrNameLst>
                                          <p:attrName>style.visibility</p:attrName>
                                        </p:attrNameLst>
                                      </p:cBhvr>
                                      <p:to>
                                        <p:strVal val="visible"/>
                                      </p:to>
                                    </p:set>
                                    <p:animEffect transition="in" filter="fade">
                                      <p:cBhvr>
                                        <p:cTn id="27" dur="500"/>
                                        <p:tgtEl>
                                          <p:spTgt spid="32770">
                                            <p:txEl>
                                              <p:pRg st="5" end="5"/>
                                            </p:txEl>
                                          </p:spTgt>
                                        </p:tgtEl>
                                      </p:cBhvr>
                                    </p:animEffect>
                                  </p:childTnLst>
                                </p:cTn>
                              </p:par>
                            </p:childTnLst>
                          </p:cTn>
                        </p:par>
                        <p:par>
                          <p:cTn id="28" fill="hold">
                            <p:stCondLst>
                              <p:cond delay="3000"/>
                            </p:stCondLst>
                            <p:childTnLst>
                              <p:par>
                                <p:cTn id="29" presetID="10" presetClass="entr" presetSubtype="0" fill="hold" nodeType="afterEffect">
                                  <p:stCondLst>
                                    <p:cond delay="0"/>
                                  </p:stCondLst>
                                  <p:childTnLst>
                                    <p:set>
                                      <p:cBhvr>
                                        <p:cTn id="30" dur="1" fill="hold">
                                          <p:stCondLst>
                                            <p:cond delay="0"/>
                                          </p:stCondLst>
                                        </p:cTn>
                                        <p:tgtEl>
                                          <p:spTgt spid="32770">
                                            <p:txEl>
                                              <p:pRg st="6" end="6"/>
                                            </p:txEl>
                                          </p:spTgt>
                                        </p:tgtEl>
                                        <p:attrNameLst>
                                          <p:attrName>style.visibility</p:attrName>
                                        </p:attrNameLst>
                                      </p:cBhvr>
                                      <p:to>
                                        <p:strVal val="visible"/>
                                      </p:to>
                                    </p:set>
                                    <p:animEffect transition="in" filter="fade">
                                      <p:cBhvr>
                                        <p:cTn id="31" dur="500"/>
                                        <p:tgtEl>
                                          <p:spTgt spid="3277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Title 1"/>
          <p:cNvSpPr>
            <a:spLocks noGrp="1"/>
          </p:cNvSpPr>
          <p:nvPr>
            <p:ph type="title"/>
          </p:nvPr>
        </p:nvSpPr>
        <p:spPr bwMode="auto"/>
        <p:txBody>
          <a:bodyPr wrap="square" numCol="1" anchorCtr="0" compatLnSpc="1">
            <a:prstTxWarp prst="textNoShape">
              <a:avLst/>
            </a:prstTxWarp>
            <a:normAutofit/>
          </a:bodyPr>
          <a:lstStyle/>
          <a:p>
            <a:r>
              <a:rPr lang="en-US" sz="4000" spc="0" dirty="0"/>
              <a:t>STRUCTURAL UNEMPLOYMENT</a:t>
            </a:r>
          </a:p>
        </p:txBody>
      </p:sp>
      <p:sp>
        <p:nvSpPr>
          <p:cNvPr id="3" name="Content Placeholder 2"/>
          <p:cNvSpPr>
            <a:spLocks noGrp="1"/>
          </p:cNvSpPr>
          <p:nvPr>
            <p:ph idx="1"/>
          </p:nvPr>
        </p:nvSpPr>
        <p:spPr/>
        <p:txBody>
          <a:bodyPr/>
          <a:lstStyle/>
          <a:p>
            <a:pPr>
              <a:spcBef>
                <a:spcPts val="0"/>
              </a:spcBef>
              <a:spcAft>
                <a:spcPts val="1800"/>
              </a:spcAft>
              <a:defRPr/>
            </a:pPr>
            <a:r>
              <a:rPr lang="en-US" i="1" dirty="0">
                <a:solidFill>
                  <a:srgbClr val="990033"/>
                </a:solidFill>
              </a:rPr>
              <a:t>Union: </a:t>
            </a:r>
            <a:r>
              <a:rPr lang="en-US" b="0" dirty="0"/>
              <a:t>an association of workers that bargains collectively with employers over wages, benefits, and working conditions.</a:t>
            </a:r>
          </a:p>
          <a:p>
            <a:pPr lvl="1">
              <a:defRPr/>
            </a:pPr>
            <a:r>
              <a:rPr lang="en-US" i="1" dirty="0">
                <a:solidFill>
                  <a:schemeClr val="tx1">
                    <a:lumMod val="65000"/>
                    <a:lumOff val="35000"/>
                  </a:schemeClr>
                </a:solidFill>
              </a:rPr>
              <a:t>Unions take many forms: some act to increase wages simply by restricting entry into a profession with licensing requirements.</a:t>
            </a:r>
          </a:p>
        </p:txBody>
      </p:sp>
      <p:pic>
        <p:nvPicPr>
          <p:cNvPr id="51202" name="Picture 3" descr="Cowen_UN10_PH02.jpg"/>
          <p:cNvPicPr>
            <a:picLocks noChangeAspect="1"/>
          </p:cNvPicPr>
          <p:nvPr/>
        </p:nvPicPr>
        <p:blipFill>
          <a:blip r:embed="rId3">
            <a:extLst>
              <a:ext uri="{28A0092B-C50C-407E-A947-70E740481C1C}">
                <a14:useLocalDpi xmlns:a14="http://schemas.microsoft.com/office/drawing/2010/main"/>
              </a:ext>
            </a:extLst>
          </a:blip>
          <a:srcRect/>
          <a:stretch>
            <a:fillRect/>
          </a:stretch>
        </p:blipFill>
        <p:spPr bwMode="auto">
          <a:xfrm>
            <a:off x="3352800" y="3962400"/>
            <a:ext cx="2057400" cy="28956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71476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mph" presetSubtype="2" fill="hold" nodeType="clickEffect">
                                  <p:stCondLst>
                                    <p:cond delay="0"/>
                                  </p:stCondLst>
                                  <p:childTnLst>
                                    <p:animClr clrSpc="rgb" dir="cw">
                                      <p:cBhvr override="childStyle">
                                        <p:cTn id="6" dur="2000" fill="hold"/>
                                        <p:tgtEl>
                                          <p:spTgt spid="3">
                                            <p:txEl>
                                              <p:pRg st="0" end="0"/>
                                            </p:txEl>
                                          </p:spTgt>
                                        </p:tgtEl>
                                        <p:attrNameLst>
                                          <p:attrName>style.color</p:attrName>
                                        </p:attrNameLst>
                                      </p:cBhvr>
                                      <p:to>
                                        <a:schemeClr val="tx1"/>
                                      </p:to>
                                    </p:animClr>
                                  </p:childTnLst>
                                </p:cTn>
                              </p:par>
                              <p:par>
                                <p:cTn id="7" presetID="10"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animEffect transition="in" filter="fade">
                                      <p:cBhvr>
                                        <p:cTn id="9"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Title 1"/>
          <p:cNvSpPr>
            <a:spLocks noGrp="1"/>
          </p:cNvSpPr>
          <p:nvPr>
            <p:ph type="title"/>
          </p:nvPr>
        </p:nvSpPr>
        <p:spPr bwMode="auto"/>
        <p:txBody>
          <a:bodyPr wrap="square" numCol="1" anchorCtr="0" compatLnSpc="1">
            <a:prstTxWarp prst="textNoShape">
              <a:avLst/>
            </a:prstTxWarp>
            <a:normAutofit/>
          </a:bodyPr>
          <a:lstStyle/>
          <a:p>
            <a:r>
              <a:rPr lang="en-US" sz="4000" spc="0" dirty="0"/>
              <a:t>STRUCTURAL UNEMPLOYMENT</a:t>
            </a:r>
          </a:p>
        </p:txBody>
      </p:sp>
      <p:sp>
        <p:nvSpPr>
          <p:cNvPr id="69635" name="Content Placeholder 2"/>
          <p:cNvSpPr>
            <a:spLocks noGrp="1"/>
          </p:cNvSpPr>
          <p:nvPr>
            <p:ph idx="1"/>
          </p:nvPr>
        </p:nvSpPr>
        <p:spPr>
          <a:xfrm>
            <a:off x="228600" y="685800"/>
            <a:ext cx="8839200" cy="4876800"/>
          </a:xfrm>
        </p:spPr>
        <p:txBody>
          <a:bodyPr/>
          <a:lstStyle/>
          <a:p>
            <a:pPr algn="ctr"/>
            <a:r>
              <a:rPr lang="en-US" sz="2400" dirty="0"/>
              <a:t>The traditional argument: minimum wage creates low-skilled unemployment: the higher the wage, the more structural unemployment.</a:t>
            </a:r>
          </a:p>
        </p:txBody>
      </p:sp>
      <p:cxnSp>
        <p:nvCxnSpPr>
          <p:cNvPr id="23" name="Straight Connector 22"/>
          <p:cNvCxnSpPr/>
          <p:nvPr/>
        </p:nvCxnSpPr>
        <p:spPr>
          <a:xfrm rot="16200000" flipH="1">
            <a:off x="-455613" y="4066329"/>
            <a:ext cx="4138613" cy="2698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1600200" y="6125316"/>
            <a:ext cx="5791200" cy="1588"/>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9638" name="TextBox 26"/>
          <p:cNvSpPr txBox="1">
            <a:spLocks noChangeArrowheads="1"/>
          </p:cNvSpPr>
          <p:nvPr/>
        </p:nvSpPr>
        <p:spPr bwMode="auto">
          <a:xfrm>
            <a:off x="320939" y="1725838"/>
            <a:ext cx="13770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dirty="0">
                <a:latin typeface="Century Gothic"/>
                <a:cs typeface="Century Gothic"/>
              </a:rPr>
              <a:t>Wage rate</a:t>
            </a:r>
            <a:endParaRPr lang="en-US" sz="1600" dirty="0">
              <a:latin typeface="Century Gothic"/>
              <a:cs typeface="Century Gothic"/>
            </a:endParaRPr>
          </a:p>
        </p:txBody>
      </p:sp>
      <p:sp>
        <p:nvSpPr>
          <p:cNvPr id="69639" name="TextBox 27"/>
          <p:cNvSpPr txBox="1">
            <a:spLocks noChangeArrowheads="1"/>
          </p:cNvSpPr>
          <p:nvPr/>
        </p:nvSpPr>
        <p:spPr bwMode="auto">
          <a:xfrm>
            <a:off x="6553200" y="6085410"/>
            <a:ext cx="1981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dirty="0">
                <a:latin typeface="Century Gothic"/>
                <a:cs typeface="Century Gothic"/>
              </a:rPr>
              <a:t>Quantity of labor</a:t>
            </a:r>
          </a:p>
        </p:txBody>
      </p:sp>
      <p:sp>
        <p:nvSpPr>
          <p:cNvPr id="32" name="TextBox 31"/>
          <p:cNvSpPr txBox="1">
            <a:spLocks noChangeArrowheads="1"/>
          </p:cNvSpPr>
          <p:nvPr/>
        </p:nvSpPr>
        <p:spPr bwMode="auto">
          <a:xfrm>
            <a:off x="6553200" y="5478787"/>
            <a:ext cx="168467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a:defRPr sz="1600">
                <a:solidFill>
                  <a:schemeClr val="tx1">
                    <a:lumMod val="65000"/>
                    <a:lumOff val="35000"/>
                  </a:schemeClr>
                </a:solidFill>
                <a:latin typeface="Myriad Pro" pitchFamily="34" charset="0"/>
              </a:defRPr>
            </a:lvl1pPr>
            <a:lvl2pPr marL="742950" indent="-285750">
              <a:defRPr>
                <a:latin typeface="Calibri" pitchFamily="34" charset="0"/>
              </a:defRPr>
            </a:lvl2pPr>
            <a:lvl3pPr marL="1143000" indent="-228600">
              <a:defRPr>
                <a:latin typeface="Calibri" pitchFamily="34" charset="0"/>
              </a:defRPr>
            </a:lvl3pPr>
            <a:lvl4pPr marL="1600200" indent="-228600">
              <a:defRPr>
                <a:latin typeface="Calibri" pitchFamily="34" charset="0"/>
              </a:defRPr>
            </a:lvl4pPr>
            <a:lvl5pPr marL="2057400" indent="-228600">
              <a:defRPr>
                <a:latin typeface="Calibri" pitchFamily="34" charset="0"/>
              </a:defRPr>
            </a:lvl5pPr>
            <a:lvl6pPr marL="2514600" indent="-228600" fontAlgn="base">
              <a:spcBef>
                <a:spcPct val="0"/>
              </a:spcBef>
              <a:spcAft>
                <a:spcPct val="0"/>
              </a:spcAft>
              <a:defRPr>
                <a:latin typeface="Calibri" pitchFamily="34" charset="0"/>
              </a:defRPr>
            </a:lvl6pPr>
            <a:lvl7pPr marL="2971800" indent="-228600" fontAlgn="base">
              <a:spcBef>
                <a:spcPct val="0"/>
              </a:spcBef>
              <a:spcAft>
                <a:spcPct val="0"/>
              </a:spcAft>
              <a:defRPr>
                <a:latin typeface="Calibri" pitchFamily="34" charset="0"/>
              </a:defRPr>
            </a:lvl7pPr>
            <a:lvl8pPr marL="3429000" indent="-228600" fontAlgn="base">
              <a:spcBef>
                <a:spcPct val="0"/>
              </a:spcBef>
              <a:spcAft>
                <a:spcPct val="0"/>
              </a:spcAft>
              <a:defRPr>
                <a:latin typeface="Calibri" pitchFamily="34" charset="0"/>
              </a:defRPr>
            </a:lvl8pPr>
            <a:lvl9pPr marL="3886200" indent="-228600" fontAlgn="base">
              <a:spcBef>
                <a:spcPct val="0"/>
              </a:spcBef>
              <a:spcAft>
                <a:spcPct val="0"/>
              </a:spcAft>
              <a:defRPr>
                <a:latin typeface="Calibri" pitchFamily="34" charset="0"/>
              </a:defRPr>
            </a:lvl9pPr>
          </a:lstStyle>
          <a:p>
            <a:r>
              <a:rPr lang="en-US" dirty="0">
                <a:latin typeface="Century Gothic"/>
                <a:cs typeface="Century Gothic"/>
              </a:rPr>
              <a:t>Labor demand</a:t>
            </a:r>
          </a:p>
        </p:txBody>
      </p:sp>
      <p:sp>
        <p:nvSpPr>
          <p:cNvPr id="35" name="TextBox 34"/>
          <p:cNvSpPr txBox="1">
            <a:spLocks noChangeArrowheads="1"/>
          </p:cNvSpPr>
          <p:nvPr/>
        </p:nvSpPr>
        <p:spPr bwMode="auto">
          <a:xfrm>
            <a:off x="6150699" y="2019009"/>
            <a:ext cx="144783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r>
              <a:rPr lang="en-US" sz="1600" dirty="0">
                <a:solidFill>
                  <a:schemeClr val="tx1">
                    <a:lumMod val="65000"/>
                    <a:lumOff val="35000"/>
                  </a:schemeClr>
                </a:solidFill>
                <a:latin typeface="Century Gothic"/>
                <a:cs typeface="Century Gothic"/>
              </a:rPr>
              <a:t>Labor supply</a:t>
            </a:r>
          </a:p>
        </p:txBody>
      </p:sp>
      <p:cxnSp>
        <p:nvCxnSpPr>
          <p:cNvPr id="37" name="Straight Connector 36"/>
          <p:cNvCxnSpPr/>
          <p:nvPr/>
        </p:nvCxnSpPr>
        <p:spPr>
          <a:xfrm rot="10800000">
            <a:off x="1630363" y="3875829"/>
            <a:ext cx="2590800" cy="1587"/>
          </a:xfrm>
          <a:prstGeom prst="line">
            <a:avLst/>
          </a:prstGeom>
          <a:ln w="25400" cap="rnd">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rot="5400000">
            <a:off x="3136901" y="4998191"/>
            <a:ext cx="2133600" cy="3175"/>
          </a:xfrm>
          <a:prstGeom prst="line">
            <a:avLst/>
          </a:prstGeom>
          <a:ln w="25400" cap="rnd">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1600200" y="3077316"/>
            <a:ext cx="3475038" cy="1588"/>
          </a:xfrm>
          <a:prstGeom prst="line">
            <a:avLst/>
          </a:prstGeom>
          <a:ln w="25400" cap="rnd">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rot="5400000">
            <a:off x="1674812" y="4601316"/>
            <a:ext cx="3048000" cy="3175"/>
          </a:xfrm>
          <a:prstGeom prst="line">
            <a:avLst/>
          </a:prstGeom>
          <a:ln w="25400" cap="rnd">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rot="5400000">
            <a:off x="3575051" y="4601316"/>
            <a:ext cx="3048000" cy="3175"/>
          </a:xfrm>
          <a:prstGeom prst="line">
            <a:avLst/>
          </a:prstGeom>
          <a:ln w="25400" cap="rnd">
            <a:solidFill>
              <a:schemeClr val="tx1">
                <a:lumMod val="50000"/>
                <a:lumOff val="50000"/>
              </a:schemeClr>
            </a:solidFill>
            <a:prstDash val="sysDot"/>
          </a:ln>
          <a:effectLst/>
        </p:spPr>
        <p:style>
          <a:lnRef idx="2">
            <a:schemeClr val="accent1"/>
          </a:lnRef>
          <a:fillRef idx="0">
            <a:schemeClr val="accent1"/>
          </a:fillRef>
          <a:effectRef idx="1">
            <a:schemeClr val="accent1"/>
          </a:effectRef>
          <a:fontRef idx="minor">
            <a:schemeClr val="tx1"/>
          </a:fontRef>
        </p:style>
      </p:cxnSp>
      <p:sp>
        <p:nvSpPr>
          <p:cNvPr id="47" name="TextBox 46"/>
          <p:cNvSpPr txBox="1">
            <a:spLocks noChangeArrowheads="1"/>
          </p:cNvSpPr>
          <p:nvPr/>
        </p:nvSpPr>
        <p:spPr bwMode="auto">
          <a:xfrm>
            <a:off x="363988" y="2696316"/>
            <a:ext cx="1090162"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r"/>
            <a:r>
              <a:rPr lang="en-US" sz="1600" dirty="0">
                <a:latin typeface="Century Gothic"/>
                <a:cs typeface="Century Gothic"/>
              </a:rPr>
              <a:t>Minimum</a:t>
            </a:r>
          </a:p>
          <a:p>
            <a:pPr algn="r"/>
            <a:r>
              <a:rPr lang="en-US" sz="1600" dirty="0">
                <a:latin typeface="Century Gothic"/>
                <a:cs typeface="Century Gothic"/>
              </a:rPr>
              <a:t>wage</a:t>
            </a:r>
          </a:p>
        </p:txBody>
      </p:sp>
      <p:sp>
        <p:nvSpPr>
          <p:cNvPr id="48" name="TextBox 47"/>
          <p:cNvSpPr txBox="1">
            <a:spLocks noChangeArrowheads="1"/>
          </p:cNvSpPr>
          <p:nvPr/>
        </p:nvSpPr>
        <p:spPr bwMode="auto">
          <a:xfrm>
            <a:off x="181440" y="3610716"/>
            <a:ext cx="1242548"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r"/>
            <a:r>
              <a:rPr lang="en-US" sz="1600" dirty="0">
                <a:latin typeface="Century Gothic"/>
                <a:cs typeface="Century Gothic"/>
              </a:rPr>
              <a:t>Equilibrium</a:t>
            </a:r>
          </a:p>
          <a:p>
            <a:pPr algn="r"/>
            <a:r>
              <a:rPr lang="en-US" sz="1600" dirty="0">
                <a:latin typeface="Century Gothic"/>
                <a:cs typeface="Century Gothic"/>
              </a:rPr>
              <a:t>wage</a:t>
            </a:r>
          </a:p>
        </p:txBody>
      </p:sp>
      <p:sp>
        <p:nvSpPr>
          <p:cNvPr id="49" name="TextBox 48"/>
          <p:cNvSpPr txBox="1">
            <a:spLocks noChangeArrowheads="1"/>
          </p:cNvSpPr>
          <p:nvPr/>
        </p:nvSpPr>
        <p:spPr bwMode="auto">
          <a:xfrm>
            <a:off x="3969704" y="6122141"/>
            <a:ext cx="4810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i="1" dirty="0">
                <a:latin typeface="Century Gothic"/>
                <a:cs typeface="Century Gothic"/>
              </a:rPr>
              <a:t>Q</a:t>
            </a:r>
            <a:r>
              <a:rPr lang="en-US" baseline="-25000" dirty="0">
                <a:latin typeface="Century Gothic"/>
                <a:cs typeface="Century Gothic"/>
              </a:rPr>
              <a:t>E</a:t>
            </a:r>
          </a:p>
        </p:txBody>
      </p:sp>
      <p:sp>
        <p:nvSpPr>
          <p:cNvPr id="50" name="TextBox 49"/>
          <p:cNvSpPr txBox="1">
            <a:spLocks noChangeArrowheads="1"/>
          </p:cNvSpPr>
          <p:nvPr/>
        </p:nvSpPr>
        <p:spPr bwMode="auto">
          <a:xfrm>
            <a:off x="2971546" y="6125316"/>
            <a:ext cx="49780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i="1" dirty="0">
                <a:latin typeface="Century Gothic"/>
                <a:cs typeface="Century Gothic"/>
              </a:rPr>
              <a:t>Q</a:t>
            </a:r>
            <a:r>
              <a:rPr lang="en-US" sz="1600" baseline="-25000" dirty="0">
                <a:latin typeface="Century Gothic"/>
                <a:cs typeface="Century Gothic"/>
              </a:rPr>
              <a:t>D</a:t>
            </a:r>
          </a:p>
        </p:txBody>
      </p:sp>
      <p:sp>
        <p:nvSpPr>
          <p:cNvPr id="40" name="Freeform 23"/>
          <p:cNvSpPr>
            <a:spLocks/>
          </p:cNvSpPr>
          <p:nvPr/>
        </p:nvSpPr>
        <p:spPr bwMode="auto">
          <a:xfrm>
            <a:off x="3200400" y="2010516"/>
            <a:ext cx="1821140" cy="539750"/>
          </a:xfrm>
          <a:custGeom>
            <a:avLst/>
            <a:gdLst>
              <a:gd name="T0" fmla="*/ 399 w 399"/>
              <a:gd name="T1" fmla="*/ 108 h 138"/>
              <a:gd name="T2" fmla="*/ 373 w 399"/>
              <a:gd name="T3" fmla="*/ 138 h 138"/>
              <a:gd name="T4" fmla="*/ 26 w 399"/>
              <a:gd name="T5" fmla="*/ 138 h 138"/>
              <a:gd name="T6" fmla="*/ 0 w 399"/>
              <a:gd name="T7" fmla="*/ 108 h 138"/>
              <a:gd name="T8" fmla="*/ 0 w 399"/>
              <a:gd name="T9" fmla="*/ 31 h 138"/>
              <a:gd name="T10" fmla="*/ 26 w 399"/>
              <a:gd name="T11" fmla="*/ 0 h 138"/>
              <a:gd name="T12" fmla="*/ 373 w 399"/>
              <a:gd name="T13" fmla="*/ 0 h 138"/>
              <a:gd name="T14" fmla="*/ 399 w 399"/>
              <a:gd name="T15" fmla="*/ 31 h 138"/>
              <a:gd name="T16" fmla="*/ 399 w 399"/>
              <a:gd name="T17" fmla="*/ 10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9" h="138">
                <a:moveTo>
                  <a:pt x="399" y="108"/>
                </a:moveTo>
                <a:cubicBezTo>
                  <a:pt x="399" y="125"/>
                  <a:pt x="387" y="138"/>
                  <a:pt x="373" y="138"/>
                </a:cubicBezTo>
                <a:cubicBezTo>
                  <a:pt x="26" y="138"/>
                  <a:pt x="26" y="138"/>
                  <a:pt x="26" y="138"/>
                </a:cubicBezTo>
                <a:cubicBezTo>
                  <a:pt x="12" y="138"/>
                  <a:pt x="0" y="125"/>
                  <a:pt x="0" y="108"/>
                </a:cubicBezTo>
                <a:cubicBezTo>
                  <a:pt x="0" y="31"/>
                  <a:pt x="0" y="31"/>
                  <a:pt x="0" y="31"/>
                </a:cubicBezTo>
                <a:cubicBezTo>
                  <a:pt x="0" y="14"/>
                  <a:pt x="12" y="0"/>
                  <a:pt x="26" y="0"/>
                </a:cubicBezTo>
                <a:cubicBezTo>
                  <a:pt x="373" y="0"/>
                  <a:pt x="373" y="0"/>
                  <a:pt x="373" y="0"/>
                </a:cubicBezTo>
                <a:cubicBezTo>
                  <a:pt x="387" y="0"/>
                  <a:pt x="399" y="14"/>
                  <a:pt x="399" y="31"/>
                </a:cubicBezTo>
                <a:lnTo>
                  <a:pt x="399" y="108"/>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36" name="Text Box 25"/>
          <p:cNvSpPr txBox="1">
            <a:spLocks noChangeArrowheads="1"/>
          </p:cNvSpPr>
          <p:nvPr/>
        </p:nvSpPr>
        <p:spPr bwMode="auto">
          <a:xfrm>
            <a:off x="3200400" y="1988003"/>
            <a:ext cx="1804989" cy="5847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prstDash val="sysDot"/>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588" indent="-1588">
              <a:spcBef>
                <a:spcPct val="0"/>
              </a:spcBef>
              <a:defRPr>
                <a:solidFill>
                  <a:schemeClr val="tx1"/>
                </a:solidFill>
                <a:latin typeface="Arial" pitchFamily="34" charset="0"/>
              </a:defRPr>
            </a:lvl1pPr>
            <a:lvl2pPr>
              <a:spcBef>
                <a:spcPct val="0"/>
              </a:spcBef>
              <a:defRPr>
                <a:solidFill>
                  <a:schemeClr val="tx1"/>
                </a:solidFill>
                <a:latin typeface="Arial" pitchFamily="34" charset="0"/>
              </a:defRPr>
            </a:lvl2pPr>
            <a:lvl3pPr>
              <a:spcBef>
                <a:spcPct val="0"/>
              </a:spcBef>
              <a:defRPr>
                <a:solidFill>
                  <a:schemeClr val="tx1"/>
                </a:solidFill>
                <a:latin typeface="Arial" pitchFamily="34" charset="0"/>
              </a:defRPr>
            </a:lvl3pPr>
            <a:lvl4pPr>
              <a:spcBef>
                <a:spcPct val="0"/>
              </a:spcBef>
              <a:defRPr>
                <a:solidFill>
                  <a:schemeClr val="tx1"/>
                </a:solidFill>
                <a:latin typeface="Arial" pitchFamily="34" charset="0"/>
              </a:defRPr>
            </a:lvl4pPr>
            <a:lvl5pPr>
              <a:spcBef>
                <a:spcPct val="0"/>
              </a:spcBef>
              <a:defRPr>
                <a:solidFill>
                  <a:schemeClr val="tx1"/>
                </a:solidFill>
                <a:latin typeface="Arial" pitchFamily="34" charset="0"/>
              </a:defRPr>
            </a:lvl5pPr>
            <a:lvl6pPr fontAlgn="base">
              <a:spcBef>
                <a:spcPct val="0"/>
              </a:spcBef>
              <a:spcAft>
                <a:spcPct val="0"/>
              </a:spcAft>
              <a:defRPr>
                <a:solidFill>
                  <a:schemeClr val="tx1"/>
                </a:solidFill>
                <a:latin typeface="Arial" pitchFamily="34" charset="0"/>
              </a:defRPr>
            </a:lvl6pPr>
            <a:lvl7pPr fontAlgn="base">
              <a:spcBef>
                <a:spcPct val="0"/>
              </a:spcBef>
              <a:spcAft>
                <a:spcPct val="0"/>
              </a:spcAft>
              <a:defRPr>
                <a:solidFill>
                  <a:schemeClr val="tx1"/>
                </a:solidFill>
                <a:latin typeface="Arial" pitchFamily="34" charset="0"/>
              </a:defRPr>
            </a:lvl7pPr>
            <a:lvl8pPr fontAlgn="base">
              <a:spcBef>
                <a:spcPct val="0"/>
              </a:spcBef>
              <a:spcAft>
                <a:spcPct val="0"/>
              </a:spcAft>
              <a:defRPr>
                <a:solidFill>
                  <a:schemeClr val="tx1"/>
                </a:solidFill>
                <a:latin typeface="Arial" pitchFamily="34" charset="0"/>
              </a:defRPr>
            </a:lvl8pPr>
            <a:lvl9pPr fontAlgn="base">
              <a:spcBef>
                <a:spcPct val="0"/>
              </a:spcBef>
              <a:spcAft>
                <a:spcPct val="0"/>
              </a:spcAft>
              <a:defRPr>
                <a:solidFill>
                  <a:schemeClr val="tx1"/>
                </a:solidFill>
                <a:latin typeface="Arial" pitchFamily="34" charset="0"/>
              </a:defRPr>
            </a:lvl9pPr>
          </a:lstStyle>
          <a:p>
            <a:pPr algn="ctr"/>
            <a:r>
              <a:rPr lang="en-US" sz="1600" i="1" dirty="0">
                <a:latin typeface="Century Gothic"/>
                <a:cs typeface="Century Gothic"/>
              </a:rPr>
              <a:t>Structural</a:t>
            </a:r>
          </a:p>
          <a:p>
            <a:pPr algn="ctr"/>
            <a:r>
              <a:rPr lang="en-US" sz="1600" i="1" dirty="0">
                <a:latin typeface="Century Gothic"/>
                <a:cs typeface="Century Gothic"/>
              </a:rPr>
              <a:t>unemployment</a:t>
            </a:r>
          </a:p>
        </p:txBody>
      </p:sp>
      <p:sp>
        <p:nvSpPr>
          <p:cNvPr id="44" name="AutoShape 28"/>
          <p:cNvSpPr>
            <a:spLocks/>
          </p:cNvSpPr>
          <p:nvPr/>
        </p:nvSpPr>
        <p:spPr bwMode="auto">
          <a:xfrm rot="-5400000">
            <a:off x="4026300" y="1931293"/>
            <a:ext cx="228600" cy="1920083"/>
          </a:xfrm>
          <a:prstGeom prst="rightBrace">
            <a:avLst>
              <a:gd name="adj1" fmla="val 77778"/>
              <a:gd name="adj2" fmla="val 51444"/>
            </a:avLst>
          </a:prstGeom>
          <a:noFill/>
          <a:ln w="25400">
            <a:solidFill>
              <a:schemeClr val="tx1"/>
            </a:solidFill>
            <a:round/>
            <a:headEnd/>
            <a:tailEnd type="non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Century Gothic"/>
              <a:cs typeface="Century Gothic"/>
            </a:endParaRPr>
          </a:p>
        </p:txBody>
      </p:sp>
      <p:sp>
        <p:nvSpPr>
          <p:cNvPr id="51" name="Freeform 24"/>
          <p:cNvSpPr>
            <a:spLocks/>
          </p:cNvSpPr>
          <p:nvPr/>
        </p:nvSpPr>
        <p:spPr bwMode="auto">
          <a:xfrm>
            <a:off x="5334000" y="2938675"/>
            <a:ext cx="1143000" cy="539750"/>
          </a:xfrm>
          <a:custGeom>
            <a:avLst/>
            <a:gdLst>
              <a:gd name="T0" fmla="*/ 399 w 399"/>
              <a:gd name="T1" fmla="*/ 108 h 138"/>
              <a:gd name="T2" fmla="*/ 373 w 399"/>
              <a:gd name="T3" fmla="*/ 138 h 138"/>
              <a:gd name="T4" fmla="*/ 26 w 399"/>
              <a:gd name="T5" fmla="*/ 138 h 138"/>
              <a:gd name="T6" fmla="*/ 0 w 399"/>
              <a:gd name="T7" fmla="*/ 108 h 138"/>
              <a:gd name="T8" fmla="*/ 0 w 399"/>
              <a:gd name="T9" fmla="*/ 31 h 138"/>
              <a:gd name="T10" fmla="*/ 26 w 399"/>
              <a:gd name="T11" fmla="*/ 0 h 138"/>
              <a:gd name="T12" fmla="*/ 373 w 399"/>
              <a:gd name="T13" fmla="*/ 0 h 138"/>
              <a:gd name="T14" fmla="*/ 399 w 399"/>
              <a:gd name="T15" fmla="*/ 31 h 138"/>
              <a:gd name="T16" fmla="*/ 399 w 399"/>
              <a:gd name="T17" fmla="*/ 10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99" h="138">
                <a:moveTo>
                  <a:pt x="399" y="108"/>
                </a:moveTo>
                <a:cubicBezTo>
                  <a:pt x="399" y="125"/>
                  <a:pt x="387" y="138"/>
                  <a:pt x="373" y="138"/>
                </a:cubicBezTo>
                <a:cubicBezTo>
                  <a:pt x="26" y="138"/>
                  <a:pt x="26" y="138"/>
                  <a:pt x="26" y="138"/>
                </a:cubicBezTo>
                <a:cubicBezTo>
                  <a:pt x="12" y="138"/>
                  <a:pt x="0" y="125"/>
                  <a:pt x="0" y="108"/>
                </a:cubicBezTo>
                <a:cubicBezTo>
                  <a:pt x="0" y="31"/>
                  <a:pt x="0" y="31"/>
                  <a:pt x="0" y="31"/>
                </a:cubicBezTo>
                <a:cubicBezTo>
                  <a:pt x="0" y="14"/>
                  <a:pt x="12" y="0"/>
                  <a:pt x="26" y="0"/>
                </a:cubicBezTo>
                <a:cubicBezTo>
                  <a:pt x="373" y="0"/>
                  <a:pt x="373" y="0"/>
                  <a:pt x="373" y="0"/>
                </a:cubicBezTo>
                <a:cubicBezTo>
                  <a:pt x="387" y="0"/>
                  <a:pt x="399" y="14"/>
                  <a:pt x="399" y="31"/>
                </a:cubicBezTo>
                <a:lnTo>
                  <a:pt x="399" y="108"/>
                </a:lnTo>
                <a:close/>
              </a:path>
            </a:pathLst>
          </a:custGeom>
          <a:solidFill>
            <a:srgbClr val="D6E2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latin typeface="Century Gothic"/>
              <a:cs typeface="Century Gothic"/>
            </a:endParaRPr>
          </a:p>
        </p:txBody>
      </p:sp>
      <p:sp>
        <p:nvSpPr>
          <p:cNvPr id="54" name="Rectangle 26"/>
          <p:cNvSpPr>
            <a:spLocks noChangeArrowheads="1"/>
          </p:cNvSpPr>
          <p:nvPr/>
        </p:nvSpPr>
        <p:spPr bwMode="auto">
          <a:xfrm>
            <a:off x="5325532" y="2921741"/>
            <a:ext cx="107526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prstDash val="sysDot"/>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588" indent="-1588" algn="ctr">
              <a:spcBef>
                <a:spcPct val="0"/>
              </a:spcBef>
            </a:pPr>
            <a:r>
              <a:rPr lang="en-US" sz="1600" i="1" dirty="0">
                <a:latin typeface="Century Gothic"/>
                <a:cs typeface="Century Gothic"/>
              </a:rPr>
              <a:t>Minimum</a:t>
            </a:r>
          </a:p>
          <a:p>
            <a:pPr marL="1588" indent="-1588" algn="ctr">
              <a:spcBef>
                <a:spcPct val="0"/>
              </a:spcBef>
            </a:pPr>
            <a:r>
              <a:rPr lang="en-US" sz="1600" i="1" dirty="0">
                <a:latin typeface="Century Gothic"/>
                <a:cs typeface="Century Gothic"/>
              </a:rPr>
              <a:t>wage</a:t>
            </a:r>
          </a:p>
        </p:txBody>
      </p:sp>
      <p:sp>
        <p:nvSpPr>
          <p:cNvPr id="55" name="TextBox 54"/>
          <p:cNvSpPr txBox="1">
            <a:spLocks noChangeArrowheads="1"/>
          </p:cNvSpPr>
          <p:nvPr/>
        </p:nvSpPr>
        <p:spPr bwMode="auto">
          <a:xfrm>
            <a:off x="4884830" y="6122141"/>
            <a:ext cx="4796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i="1" dirty="0">
                <a:latin typeface="Century Gothic"/>
                <a:cs typeface="Century Gothic"/>
              </a:rPr>
              <a:t>Q</a:t>
            </a:r>
            <a:r>
              <a:rPr lang="en-US" baseline="-25000" dirty="0">
                <a:latin typeface="Century Gothic"/>
                <a:cs typeface="Century Gothic"/>
              </a:rPr>
              <a:t>S</a:t>
            </a:r>
          </a:p>
        </p:txBody>
      </p:sp>
      <p:cxnSp>
        <p:nvCxnSpPr>
          <p:cNvPr id="31" name="Straight Connector 30"/>
          <p:cNvCxnSpPr/>
          <p:nvPr/>
        </p:nvCxnSpPr>
        <p:spPr>
          <a:xfrm>
            <a:off x="2057400" y="2162916"/>
            <a:ext cx="4495800" cy="3581400"/>
          </a:xfrm>
          <a:prstGeom prst="line">
            <a:avLst/>
          </a:prstGeom>
          <a:ln w="38100">
            <a:solidFill>
              <a:srgbClr val="003399"/>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flipV="1">
            <a:off x="2209800" y="2239116"/>
            <a:ext cx="3886200" cy="3352800"/>
          </a:xfrm>
          <a:prstGeom prst="line">
            <a:avLst/>
          </a:prstGeom>
          <a:ln w="38100">
            <a:solidFill>
              <a:srgbClr val="FF0000"/>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81294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par>
                                <p:cTn id="18" presetID="10" presetClass="entr" presetSubtype="0" fill="hold" nodeType="with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fade">
                                      <p:cBhvr>
                                        <p:cTn id="20" dur="500"/>
                                        <p:tgtEl>
                                          <p:spTgt spid="3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500"/>
                                        <p:tgtEl>
                                          <p:spTgt spid="3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500"/>
                                        <p:tgtEl>
                                          <p:spTgt spid="49"/>
                                        </p:tgtEl>
                                      </p:cBhvr>
                                    </p:animEffect>
                                  </p:childTnLst>
                                </p:cTn>
                              </p:par>
                            </p:childTnLst>
                          </p:cTn>
                        </p:par>
                        <p:par>
                          <p:cTn id="31" fill="hold">
                            <p:stCondLst>
                              <p:cond delay="1500"/>
                            </p:stCondLst>
                            <p:childTnLst>
                              <p:par>
                                <p:cTn id="32" presetID="10" presetClass="entr" presetSubtype="0" fill="hold" grpId="0" nodeType="afterEffect">
                                  <p:stCondLst>
                                    <p:cond delay="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500"/>
                                        <p:tgtEl>
                                          <p:spTgt spid="47"/>
                                        </p:tgtEl>
                                      </p:cBhvr>
                                    </p:animEffect>
                                  </p:childTnLst>
                                </p:cTn>
                              </p:par>
                              <p:par>
                                <p:cTn id="35" presetID="10"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500"/>
                                        <p:tgtEl>
                                          <p:spTgt spid="41"/>
                                        </p:tgtEl>
                                      </p:cBhvr>
                                    </p:animEffect>
                                  </p:childTnLst>
                                </p:cTn>
                              </p:par>
                            </p:childTnLst>
                          </p:cTn>
                        </p:par>
                        <p:par>
                          <p:cTn id="38" fill="hold">
                            <p:stCondLst>
                              <p:cond delay="2000"/>
                            </p:stCondLst>
                            <p:childTnLst>
                              <p:par>
                                <p:cTn id="39" presetID="10" presetClass="entr" presetSubtype="0" fill="hold" nodeType="afterEffect">
                                  <p:stCondLst>
                                    <p:cond delay="0"/>
                                  </p:stCondLst>
                                  <p:childTnLst>
                                    <p:set>
                                      <p:cBhvr>
                                        <p:cTn id="40" dur="1" fill="hold">
                                          <p:stCondLst>
                                            <p:cond delay="0"/>
                                          </p:stCondLst>
                                        </p:cTn>
                                        <p:tgtEl>
                                          <p:spTgt spid="45"/>
                                        </p:tgtEl>
                                        <p:attrNameLst>
                                          <p:attrName>style.visibility</p:attrName>
                                        </p:attrNameLst>
                                      </p:cBhvr>
                                      <p:to>
                                        <p:strVal val="visible"/>
                                      </p:to>
                                    </p:set>
                                    <p:animEffect transition="in" filter="fade">
                                      <p:cBhvr>
                                        <p:cTn id="41" dur="500"/>
                                        <p:tgtEl>
                                          <p:spTgt spid="45"/>
                                        </p:tgtEl>
                                      </p:cBhvr>
                                    </p:animEffect>
                                  </p:childTnLst>
                                </p:cTn>
                              </p:par>
                            </p:childTnLst>
                          </p:cTn>
                        </p:par>
                        <p:par>
                          <p:cTn id="42" fill="hold">
                            <p:stCondLst>
                              <p:cond delay="2500"/>
                            </p:stCondLst>
                            <p:childTnLst>
                              <p:par>
                                <p:cTn id="43" presetID="10" presetClass="entr" presetSubtype="0" fill="hold" nodeType="after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fade">
                                      <p:cBhvr>
                                        <p:cTn id="45" dur="500"/>
                                        <p:tgtEl>
                                          <p:spTgt spid="4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0"/>
                                        </p:tgtEl>
                                        <p:attrNameLst>
                                          <p:attrName>style.visibility</p:attrName>
                                        </p:attrNameLst>
                                      </p:cBhvr>
                                      <p:to>
                                        <p:strVal val="visible"/>
                                      </p:to>
                                    </p:set>
                                    <p:animEffect transition="in" filter="fade">
                                      <p:cBhvr>
                                        <p:cTn id="48" dur="500"/>
                                        <p:tgtEl>
                                          <p:spTgt spid="5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500"/>
                                        <p:tgtEl>
                                          <p:spTgt spid="36"/>
                                        </p:tgtEl>
                                      </p:cBhvr>
                                    </p:animEffect>
                                  </p:childTnLst>
                                </p:cTn>
                              </p:par>
                            </p:childTnLst>
                          </p:cTn>
                        </p:par>
                        <p:par>
                          <p:cTn id="52" fill="hold">
                            <p:stCondLst>
                              <p:cond delay="3000"/>
                            </p:stCondLst>
                            <p:childTnLst>
                              <p:par>
                                <p:cTn id="53" presetID="10" presetClass="entr" presetSubtype="0" fill="hold" grpId="0" nodeType="afterEffect">
                                  <p:stCondLst>
                                    <p:cond delay="0"/>
                                  </p:stCondLst>
                                  <p:childTnLst>
                                    <p:set>
                                      <p:cBhvr>
                                        <p:cTn id="54" dur="1" fill="hold">
                                          <p:stCondLst>
                                            <p:cond delay="0"/>
                                          </p:stCondLst>
                                        </p:cTn>
                                        <p:tgtEl>
                                          <p:spTgt spid="44"/>
                                        </p:tgtEl>
                                        <p:attrNameLst>
                                          <p:attrName>style.visibility</p:attrName>
                                        </p:attrNameLst>
                                      </p:cBhvr>
                                      <p:to>
                                        <p:strVal val="visible"/>
                                      </p:to>
                                    </p:set>
                                    <p:animEffect transition="in" filter="fade">
                                      <p:cBhvr>
                                        <p:cTn id="55" dur="500"/>
                                        <p:tgtEl>
                                          <p:spTgt spid="44"/>
                                        </p:tgtEl>
                                      </p:cBhvr>
                                    </p:animEffect>
                                  </p:childTnLst>
                                </p:cTn>
                              </p:par>
                            </p:childTnLst>
                          </p:cTn>
                        </p:par>
                        <p:par>
                          <p:cTn id="56" fill="hold">
                            <p:stCondLst>
                              <p:cond delay="3500"/>
                            </p:stCondLst>
                            <p:childTnLst>
                              <p:par>
                                <p:cTn id="57" presetID="10" presetClass="entr" presetSubtype="0" fill="hold" grpId="0" nodeType="after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500"/>
                                        <p:tgtEl>
                                          <p:spTgt spid="4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fade">
                                      <p:cBhvr>
                                        <p:cTn id="62" dur="500"/>
                                        <p:tgtEl>
                                          <p:spTgt spid="5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54"/>
                                        </p:tgtEl>
                                        <p:attrNameLst>
                                          <p:attrName>style.visibility</p:attrName>
                                        </p:attrNameLst>
                                      </p:cBhvr>
                                      <p:to>
                                        <p:strVal val="visible"/>
                                      </p:to>
                                    </p:set>
                                    <p:animEffect transition="in" filter="fade">
                                      <p:cBhvr>
                                        <p:cTn id="65" dur="500"/>
                                        <p:tgtEl>
                                          <p:spTgt spid="5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fade">
                                      <p:cBhvr>
                                        <p:cTn id="6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p:bldP spid="47" grpId="0"/>
      <p:bldP spid="48" grpId="0"/>
      <p:bldP spid="49" grpId="0"/>
      <p:bldP spid="50" grpId="0"/>
      <p:bldP spid="40" grpId="0" animBg="1"/>
      <p:bldP spid="36" grpId="0"/>
      <p:bldP spid="44" grpId="0" animBg="1"/>
      <p:bldP spid="51" grpId="0" animBg="1"/>
      <p:bldP spid="54" grpId="0"/>
      <p:bldP spid="5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Autofit/>
          </a:bodyPr>
          <a:lstStyle/>
          <a:p>
            <a:r>
              <a:rPr lang="en-US" sz="4000" dirty="0"/>
              <a:t>MINIMUM WAGE AND UNEMPLOYMENT</a:t>
            </a:r>
          </a:p>
        </p:txBody>
      </p:sp>
      <p:sp>
        <p:nvSpPr>
          <p:cNvPr id="3" name="Content Placeholder 2"/>
          <p:cNvSpPr>
            <a:spLocks noGrp="1"/>
          </p:cNvSpPr>
          <p:nvPr>
            <p:ph idx="1"/>
          </p:nvPr>
        </p:nvSpPr>
        <p:spPr>
          <a:xfrm>
            <a:off x="152400" y="1219200"/>
            <a:ext cx="8915400" cy="4419600"/>
          </a:xfrm>
        </p:spPr>
        <p:txBody>
          <a:bodyPr>
            <a:normAutofit/>
          </a:bodyPr>
          <a:lstStyle/>
          <a:p>
            <a:r>
              <a:rPr lang="en-US" sz="2800" dirty="0"/>
              <a:t>Other research suggests the opposite effect… at any rate, minimum wage in the U.S. is relatively low. </a:t>
            </a:r>
          </a:p>
        </p:txBody>
      </p:sp>
      <p:pic>
        <p:nvPicPr>
          <p:cNvPr id="5" name="Picture 4"/>
          <p:cNvPicPr>
            <a:picLocks noChangeAspect="1"/>
          </p:cNvPicPr>
          <p:nvPr/>
        </p:nvPicPr>
        <p:blipFill>
          <a:blip r:embed="rId3"/>
          <a:stretch>
            <a:fillRect/>
          </a:stretch>
        </p:blipFill>
        <p:spPr>
          <a:xfrm>
            <a:off x="1447800" y="2461792"/>
            <a:ext cx="6527800" cy="4373533"/>
          </a:xfrm>
          <a:prstGeom prst="rect">
            <a:avLst/>
          </a:prstGeom>
        </p:spPr>
      </p:pic>
    </p:spTree>
    <p:extLst>
      <p:ext uri="{BB962C8B-B14F-4D97-AF65-F5344CB8AC3E}">
        <p14:creationId xmlns:p14="http://schemas.microsoft.com/office/powerpoint/2010/main" val="17244206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 Shot 2015-04-01 at 7.56.31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0" y="2209800"/>
            <a:ext cx="9144000" cy="4144976"/>
          </a:xfrm>
          <a:prstGeom prst="rect">
            <a:avLst/>
          </a:prstGeom>
        </p:spPr>
      </p:pic>
      <p:sp>
        <p:nvSpPr>
          <p:cNvPr id="2" name="Title 1"/>
          <p:cNvSpPr>
            <a:spLocks noGrp="1"/>
          </p:cNvSpPr>
          <p:nvPr>
            <p:ph type="title"/>
          </p:nvPr>
        </p:nvSpPr>
        <p:spPr>
          <a:xfrm>
            <a:off x="11268" y="228600"/>
            <a:ext cx="9144000" cy="838200"/>
          </a:xfrm>
        </p:spPr>
        <p:txBody>
          <a:bodyPr>
            <a:noAutofit/>
          </a:bodyPr>
          <a:lstStyle/>
          <a:p>
            <a:r>
              <a:rPr lang="en-US" sz="4000" spc="0" dirty="0"/>
              <a:t>NATURAL UNEMPLOYMENT AROUND THE OECD</a:t>
            </a:r>
          </a:p>
        </p:txBody>
      </p:sp>
      <p:sp>
        <p:nvSpPr>
          <p:cNvPr id="3" name="Content Placeholder 2"/>
          <p:cNvSpPr>
            <a:spLocks noGrp="1"/>
          </p:cNvSpPr>
          <p:nvPr>
            <p:ph idx="1"/>
          </p:nvPr>
        </p:nvSpPr>
        <p:spPr>
          <a:xfrm>
            <a:off x="228600" y="1143000"/>
            <a:ext cx="8839200" cy="4495800"/>
          </a:xfrm>
        </p:spPr>
        <p:txBody>
          <a:bodyPr>
            <a:noAutofit/>
          </a:bodyPr>
          <a:lstStyle/>
          <a:p>
            <a:r>
              <a:rPr lang="en-US" sz="2400" i="1" dirty="0">
                <a:solidFill>
                  <a:schemeClr val="tx1">
                    <a:lumMod val="65000"/>
                    <a:lumOff val="35000"/>
                  </a:schemeClr>
                </a:solidFill>
              </a:rPr>
              <a:t>Are persistently high European unemployment rates the result of government policies like high minimum wages and generous unemployment benefits?</a:t>
            </a:r>
          </a:p>
        </p:txBody>
      </p:sp>
      <p:sp>
        <p:nvSpPr>
          <p:cNvPr id="5" name="Rectangle 4"/>
          <p:cNvSpPr/>
          <p:nvPr/>
        </p:nvSpPr>
        <p:spPr>
          <a:xfrm>
            <a:off x="6248400" y="6019800"/>
            <a:ext cx="1047274" cy="276999"/>
          </a:xfrm>
          <a:prstGeom prst="rect">
            <a:avLst/>
          </a:prstGeom>
        </p:spPr>
        <p:txBody>
          <a:bodyPr wrap="none">
            <a:spAutoFit/>
          </a:bodyPr>
          <a:lstStyle/>
          <a:p>
            <a:r>
              <a:rPr lang="en-US" sz="1200" i="1" dirty="0">
                <a:solidFill>
                  <a:schemeClr val="tx1">
                    <a:lumMod val="65000"/>
                    <a:lumOff val="35000"/>
                  </a:schemeClr>
                </a:solidFill>
                <a:latin typeface="Myriad Pro" pitchFamily="34" charset="0"/>
              </a:rPr>
              <a:t>Source: OECD.</a:t>
            </a:r>
          </a:p>
        </p:txBody>
      </p:sp>
    </p:spTree>
    <p:extLst>
      <p:ext uri="{BB962C8B-B14F-4D97-AF65-F5344CB8AC3E}">
        <p14:creationId xmlns:p14="http://schemas.microsoft.com/office/powerpoint/2010/main" val="26629860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spcAft>
                <a:spcPts val="1200"/>
              </a:spcAft>
              <a:buFont typeface="Arial" pitchFamily="34" charset="0"/>
              <a:buNone/>
              <a:defRPr/>
            </a:pPr>
            <a:r>
              <a:rPr lang="en-US" sz="2800" dirty="0"/>
              <a:t>Jasmine has recently moved to Florida because she loves the warm climate there. Being new to the area, she will need to spend a few weeks looking for a new job. This is an example of:</a:t>
            </a:r>
          </a:p>
          <a:p>
            <a:pPr marL="514350" indent="-514350">
              <a:buFont typeface="+mj-lt"/>
              <a:buAutoNum type="alphaLcParenR"/>
              <a:defRPr/>
            </a:pPr>
            <a:r>
              <a:rPr lang="en-US" sz="2800" dirty="0"/>
              <a:t>frictional unemployment.</a:t>
            </a:r>
          </a:p>
          <a:p>
            <a:pPr marL="514350" indent="-514350">
              <a:buFont typeface="+mj-lt"/>
              <a:buAutoNum type="alphaLcParenR"/>
              <a:defRPr/>
            </a:pPr>
            <a:r>
              <a:rPr lang="en-US" sz="2800" dirty="0"/>
              <a:t>cyclical unemployment.</a:t>
            </a:r>
          </a:p>
          <a:p>
            <a:pPr marL="514350" indent="-514350">
              <a:buFont typeface="+mj-lt"/>
              <a:buAutoNum type="alphaLcParenR"/>
              <a:defRPr/>
            </a:pPr>
            <a:r>
              <a:rPr lang="en-US" sz="2800" dirty="0"/>
              <a:t>structural unemployment.</a:t>
            </a:r>
          </a:p>
          <a:p>
            <a:pPr marL="514350" indent="-514350">
              <a:buFont typeface="+mj-lt"/>
              <a:buAutoNum type="alphaLcParenR"/>
              <a:defRPr/>
            </a:pPr>
            <a:r>
              <a:rPr lang="en-US" sz="2800" dirty="0"/>
              <a:t>underemployment.</a:t>
            </a:r>
          </a:p>
          <a:p>
            <a:pPr>
              <a:buFont typeface="Arial" pitchFamily="34" charset="0"/>
              <a:buChar char="•"/>
              <a:defRPr/>
            </a:pPr>
            <a:endParaRPr lang="en-US" sz="2800" dirty="0"/>
          </a:p>
        </p:txBody>
      </p:sp>
      <p:sp>
        <p:nvSpPr>
          <p:cNvPr id="6" name="Rectangle 5"/>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791320203"/>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1" end="1"/>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sz="2400" dirty="0"/>
              <a:t>Even after an extension of unemployment benefits to 99 weeks, many of those about to go off the program are in a quandary. </a:t>
            </a:r>
            <a:r>
              <a:rPr lang="en-US" sz="2400" i="1" dirty="0"/>
              <a:t>60 Minutes</a:t>
            </a:r>
            <a:r>
              <a:rPr lang="en-US" sz="2400" dirty="0"/>
              <a:t> talks to some of them in Silicon Valley in </a:t>
            </a:r>
            <a:r>
              <a:rPr lang="en-US" sz="2400" dirty="0">
                <a:hlinkClick r:id="rId3"/>
              </a:rPr>
              <a:t>this</a:t>
            </a:r>
            <a:r>
              <a:rPr lang="en-US" sz="2400" dirty="0"/>
              <a:t> clip. (13:05 minutes)</a:t>
            </a:r>
          </a:p>
        </p:txBody>
      </p:sp>
      <p:sp>
        <p:nvSpPr>
          <p:cNvPr id="2" name="Title 1"/>
          <p:cNvSpPr>
            <a:spLocks noGrp="1"/>
          </p:cNvSpPr>
          <p:nvPr>
            <p:ph type="title" idx="4294967295"/>
          </p:nvPr>
        </p:nvSpPr>
        <p:spPr>
          <a:xfrm>
            <a:off x="990600" y="-31750"/>
            <a:ext cx="8153400" cy="946150"/>
          </a:xfrm>
          <a:prstGeom prst="rect">
            <a:avLst/>
          </a:prstGeom>
        </p:spPr>
        <p:txBody>
          <a:bodyPr/>
          <a:lstStyle/>
          <a:p>
            <a:pPr>
              <a:defRPr/>
            </a:pPr>
            <a:r>
              <a:rPr lang="en-US" dirty="0"/>
              <a:t>Take a look…</a:t>
            </a:r>
          </a:p>
        </p:txBody>
      </p:sp>
      <p:pic>
        <p:nvPicPr>
          <p:cNvPr id="9218" name="Picture 2">
            <a:hlinkClick r:id="rId3"/>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2147455" y="3047999"/>
            <a:ext cx="3505200" cy="2708563"/>
          </a:xfrm>
          <a:prstGeom prst="roundRect">
            <a:avLst>
              <a:gd name="adj" fmla="val 29902"/>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4381368"/>
      </p:ext>
    </p:extLst>
  </p:cSld>
  <p:clrMapOvr>
    <a:masterClrMapping/>
  </p:clrMapOvr>
  <p:transition>
    <p:fade thruBlk="1"/>
  </p:transition>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fontScale="90000"/>
          </a:bodyPr>
          <a:lstStyle/>
          <a:p>
            <a:r>
              <a:rPr lang="en-US" dirty="0"/>
              <a:t>THE NATURAL RATE OF UNEMPLOYMENT</a:t>
            </a:r>
          </a:p>
        </p:txBody>
      </p:sp>
      <p:sp>
        <p:nvSpPr>
          <p:cNvPr id="3" name="Content Placeholder 2"/>
          <p:cNvSpPr>
            <a:spLocks noGrp="1"/>
          </p:cNvSpPr>
          <p:nvPr>
            <p:ph idx="1"/>
          </p:nvPr>
        </p:nvSpPr>
        <p:spPr>
          <a:xfrm>
            <a:off x="228600" y="1295400"/>
            <a:ext cx="8839200" cy="4343400"/>
          </a:xfrm>
        </p:spPr>
        <p:txBody>
          <a:bodyPr>
            <a:noAutofit/>
          </a:bodyPr>
          <a:lstStyle/>
          <a:p>
            <a:pPr>
              <a:spcAft>
                <a:spcPts val="1800"/>
              </a:spcAft>
            </a:pPr>
            <a:r>
              <a:rPr lang="en-US" dirty="0"/>
              <a:t>Frictional and structural unemployment are always present; they are “natural.”</a:t>
            </a:r>
          </a:p>
          <a:p>
            <a:pPr>
              <a:spcAft>
                <a:spcPts val="1800"/>
              </a:spcAft>
            </a:pPr>
            <a:r>
              <a:rPr lang="en-US" dirty="0">
                <a:solidFill>
                  <a:srgbClr val="0070C0"/>
                </a:solidFill>
              </a:rPr>
              <a:t>Natural unemployment =  </a:t>
            </a:r>
            <a:r>
              <a:rPr lang="en-US" dirty="0">
                <a:solidFill>
                  <a:schemeClr val="accent6">
                    <a:lumMod val="75000"/>
                  </a:schemeClr>
                </a:solidFill>
              </a:rPr>
              <a:t>frictional</a:t>
            </a:r>
            <a:r>
              <a:rPr lang="en-US" dirty="0">
                <a:solidFill>
                  <a:srgbClr val="000000"/>
                </a:solidFill>
              </a:rPr>
              <a:t> unemployment + </a:t>
            </a:r>
            <a:r>
              <a:rPr lang="en-US" dirty="0">
                <a:solidFill>
                  <a:srgbClr val="E46C0A"/>
                </a:solidFill>
              </a:rPr>
              <a:t>structural</a:t>
            </a:r>
            <a:r>
              <a:rPr lang="en-US" dirty="0">
                <a:solidFill>
                  <a:srgbClr val="000000"/>
                </a:solidFill>
              </a:rPr>
              <a:t> unemployment.</a:t>
            </a:r>
            <a:br>
              <a:rPr lang="en-US" dirty="0">
                <a:solidFill>
                  <a:srgbClr val="000000"/>
                </a:solidFill>
              </a:rPr>
            </a:br>
            <a:endParaRPr lang="en-US" b="0" dirty="0">
              <a:solidFill>
                <a:srgbClr val="000000"/>
              </a:solidFill>
            </a:endParaRPr>
          </a:p>
          <a:p>
            <a:pPr>
              <a:spcAft>
                <a:spcPts val="1800"/>
              </a:spcAft>
            </a:pPr>
            <a:r>
              <a:rPr lang="en-US" dirty="0"/>
              <a:t>Actual unemployment = </a:t>
            </a:r>
            <a:r>
              <a:rPr lang="en-US" dirty="0">
                <a:solidFill>
                  <a:srgbClr val="0070C0"/>
                </a:solidFill>
              </a:rPr>
              <a:t>natural unemployment </a:t>
            </a:r>
            <a:r>
              <a:rPr lang="en-US" dirty="0">
                <a:solidFill>
                  <a:schemeClr val="tx1">
                    <a:lumMod val="75000"/>
                    <a:lumOff val="25000"/>
                  </a:schemeClr>
                </a:solidFill>
              </a:rPr>
              <a:t>+ </a:t>
            </a:r>
            <a:r>
              <a:rPr lang="en-US" dirty="0">
                <a:solidFill>
                  <a:srgbClr val="E46C0A"/>
                </a:solidFill>
              </a:rPr>
              <a:t>cyclical </a:t>
            </a:r>
            <a:r>
              <a:rPr lang="en-US" dirty="0">
                <a:solidFill>
                  <a:srgbClr val="000000"/>
                </a:solidFill>
              </a:rPr>
              <a:t>unemployment.</a:t>
            </a:r>
          </a:p>
        </p:txBody>
      </p:sp>
    </p:spTree>
    <p:extLst>
      <p:ext uri="{BB962C8B-B14F-4D97-AF65-F5344CB8AC3E}">
        <p14:creationId xmlns:p14="http://schemas.microsoft.com/office/powerpoint/2010/main" val="231392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8850" name="Title 1"/>
          <p:cNvSpPr>
            <a:spLocks noGrp="1"/>
          </p:cNvSpPr>
          <p:nvPr>
            <p:ph type="title"/>
          </p:nvPr>
        </p:nvSpPr>
        <p:spPr bwMode="auto"/>
        <p:txBody>
          <a:bodyPr wrap="square" numCol="1" anchorCtr="0" compatLnSpc="1">
            <a:prstTxWarp prst="textNoShape">
              <a:avLst/>
            </a:prstTxWarp>
            <a:normAutofit/>
          </a:bodyPr>
          <a:lstStyle/>
          <a:p>
            <a:r>
              <a:rPr lang="en-US" sz="4000" spc="0" dirty="0"/>
              <a:t>CYCLICAL UNEMPLOYMENT</a:t>
            </a:r>
          </a:p>
        </p:txBody>
      </p:sp>
      <p:sp>
        <p:nvSpPr>
          <p:cNvPr id="3" name="Content Placeholder 2"/>
          <p:cNvSpPr>
            <a:spLocks noGrp="1"/>
          </p:cNvSpPr>
          <p:nvPr>
            <p:ph idx="1"/>
          </p:nvPr>
        </p:nvSpPr>
        <p:spPr>
          <a:xfrm>
            <a:off x="0" y="990600"/>
            <a:ext cx="6172200" cy="5486400"/>
          </a:xfrm>
        </p:spPr>
        <p:txBody>
          <a:bodyPr>
            <a:normAutofit fontScale="85000" lnSpcReduction="10000"/>
          </a:bodyPr>
          <a:lstStyle/>
          <a:p>
            <a:pPr marL="401638" indent="-401638">
              <a:buFont typeface="Arial" pitchFamily="34" charset="0"/>
              <a:buNone/>
              <a:defRPr/>
            </a:pPr>
            <a:r>
              <a:rPr lang="en-US" sz="3300" i="1" dirty="0">
                <a:solidFill>
                  <a:srgbClr val="990033"/>
                </a:solidFill>
              </a:rPr>
              <a:t>Cyclical unemployment: </a:t>
            </a:r>
            <a:r>
              <a:rPr lang="en-US" sz="3300" dirty="0"/>
              <a:t>unemployment correlated with the business cycle—the deviation from the natural rate.</a:t>
            </a:r>
          </a:p>
          <a:p>
            <a:pPr>
              <a:defRPr/>
            </a:pPr>
            <a:endParaRPr lang="en-US" dirty="0"/>
          </a:p>
          <a:p>
            <a:pPr>
              <a:defRPr/>
            </a:pPr>
            <a:r>
              <a:rPr lang="en-US" dirty="0"/>
              <a:t>Lower growth is usually correlated with higher unemployment for two reasons:</a:t>
            </a:r>
          </a:p>
          <a:p>
            <a:pPr marL="803275" lvl="1" indent="-401638">
              <a:buFontTx/>
              <a:buAutoNum type="arabicPeriod"/>
              <a:defRPr/>
            </a:pPr>
            <a:r>
              <a:rPr lang="en-US" i="1" dirty="0">
                <a:solidFill>
                  <a:schemeClr val="tx1">
                    <a:lumMod val="75000"/>
                    <a:lumOff val="25000"/>
                  </a:schemeClr>
                </a:solidFill>
              </a:rPr>
              <a:t>When GDP falls, firms lay off workers.</a:t>
            </a:r>
          </a:p>
          <a:p>
            <a:pPr marL="803275" lvl="1" indent="-401638">
              <a:buFontTx/>
              <a:buAutoNum type="arabicPeriod"/>
              <a:defRPr/>
            </a:pPr>
            <a:r>
              <a:rPr lang="en-US" i="1" dirty="0">
                <a:solidFill>
                  <a:schemeClr val="tx1">
                    <a:lumMod val="75000"/>
                    <a:lumOff val="25000"/>
                  </a:schemeClr>
                </a:solidFill>
              </a:rPr>
              <a:t>Idle labor and capital </a:t>
            </a:r>
            <a:r>
              <a:rPr lang="en-US" i="1" dirty="0">
                <a:solidFill>
                  <a:schemeClr val="tx1">
                    <a:lumMod val="75000"/>
                    <a:lumOff val="25000"/>
                  </a:schemeClr>
                </a:solidFill>
                <a:cs typeface="Arial" pitchFamily="34" charset="0"/>
              </a:rPr>
              <a:t>→ </a:t>
            </a:r>
            <a:r>
              <a:rPr lang="en-US" i="1" dirty="0">
                <a:solidFill>
                  <a:schemeClr val="tx1">
                    <a:lumMod val="75000"/>
                    <a:lumOff val="25000"/>
                  </a:schemeClr>
                </a:solidFill>
              </a:rPr>
              <a:t>economic growth not being maximized </a:t>
            </a:r>
            <a:r>
              <a:rPr lang="en-US" i="1" dirty="0">
                <a:solidFill>
                  <a:schemeClr val="tx1">
                    <a:lumMod val="75000"/>
                    <a:lumOff val="25000"/>
                  </a:schemeClr>
                </a:solidFill>
                <a:cs typeface="Arial" pitchFamily="34" charset="0"/>
              </a:rPr>
              <a:t>→ ↓ </a:t>
            </a:r>
            <a:r>
              <a:rPr lang="en-US" i="1" dirty="0">
                <a:solidFill>
                  <a:schemeClr val="tx1">
                    <a:lumMod val="75000"/>
                    <a:lumOff val="25000"/>
                  </a:schemeClr>
                </a:solidFill>
              </a:rPr>
              <a:t>ability of the economy to create more jobs.</a:t>
            </a:r>
          </a:p>
        </p:txBody>
      </p:sp>
      <p:pic>
        <p:nvPicPr>
          <p:cNvPr id="5" name="Picture 5" descr="UnemployedMarch.jpg"/>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6151563" y="1379537"/>
            <a:ext cx="2992437" cy="3954463"/>
          </a:xfrm>
          <a:prstGeom prst="rect">
            <a:avLst/>
          </a:prstGeom>
          <a:ln>
            <a:noFill/>
          </a:ln>
          <a:effectLst>
            <a:outerShdw blurRad="292100" dist="139700" dir="2700000" algn="tl" rotWithShape="0">
              <a:srgbClr val="333333">
                <a:alpha val="65000"/>
              </a:srgbClr>
            </a:outerShdw>
          </a:effectLst>
        </p:spPr>
      </p:pic>
      <p:sp>
        <p:nvSpPr>
          <p:cNvPr id="4" name="TextBox 3"/>
          <p:cNvSpPr txBox="1"/>
          <p:nvPr/>
        </p:nvSpPr>
        <p:spPr>
          <a:xfrm>
            <a:off x="6248400" y="5410200"/>
            <a:ext cx="2743200" cy="276999"/>
          </a:xfrm>
          <a:prstGeom prst="rect">
            <a:avLst/>
          </a:prstGeom>
          <a:noFill/>
        </p:spPr>
        <p:txBody>
          <a:bodyPr wrap="square" rtlCol="0">
            <a:spAutoFit/>
          </a:bodyPr>
          <a:lstStyle/>
          <a:p>
            <a:r>
              <a:rPr lang="en-US" sz="1200" b="1" i="1" dirty="0">
                <a:solidFill>
                  <a:schemeClr val="tx1">
                    <a:lumMod val="65000"/>
                    <a:lumOff val="35000"/>
                  </a:schemeClr>
                </a:solidFill>
                <a:latin typeface="Candara" pitchFamily="34" charset="0"/>
              </a:rPr>
              <a:t>Fighting for jobs in the Great Depression</a:t>
            </a:r>
          </a:p>
        </p:txBody>
      </p:sp>
    </p:spTree>
    <p:extLst>
      <p:ext uri="{BB962C8B-B14F-4D97-AF65-F5344CB8AC3E}">
        <p14:creationId xmlns:p14="http://schemas.microsoft.com/office/powerpoint/2010/main" val="24155989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1000"/>
                                        <p:tgtEl>
                                          <p:spTgt spid="3">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pPr>
              <a:lnSpc>
                <a:spcPct val="90000"/>
              </a:lnSpc>
            </a:pPr>
            <a:r>
              <a:rPr lang="en-US" sz="2800" spc="0"/>
              <a:t>CHANGES IN THE NATURAL RATE OF UNEMPLOYMENT</a:t>
            </a:r>
          </a:p>
        </p:txBody>
      </p:sp>
      <p:graphicFrame>
        <p:nvGraphicFramePr>
          <p:cNvPr id="6" name="Content Placeholder 2">
            <a:extLst>
              <a:ext uri="{FF2B5EF4-FFF2-40B4-BE49-F238E27FC236}">
                <a16:creationId xmlns:a16="http://schemas.microsoft.com/office/drawing/2014/main" id="{9D36031B-CA01-1BDA-6078-C79F1992E908}"/>
              </a:ext>
            </a:extLst>
          </p:cNvPr>
          <p:cNvGraphicFramePr>
            <a:graphicFrameLocks noGrp="1"/>
          </p:cNvGraphicFramePr>
          <p:nvPr>
            <p:ph idx="1"/>
            <p:extLst>
              <p:ext uri="{D42A27DB-BD31-4B8C-83A1-F6EECF244321}">
                <p14:modId xmlns:p14="http://schemas.microsoft.com/office/powerpoint/2010/main" val="3260943944"/>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8353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spc="0" dirty="0"/>
              <a:t>THE CHANGING MAKEUP OF THE U.S. LABOR FORCE, 1948–2014</a:t>
            </a:r>
            <a:endParaRPr lang="en-US" sz="3600" b="0" spc="0" dirty="0"/>
          </a:p>
        </p:txBody>
      </p:sp>
      <p:sp>
        <p:nvSpPr>
          <p:cNvPr id="3" name="Content Placeholder 2"/>
          <p:cNvSpPr>
            <a:spLocks noGrp="1"/>
          </p:cNvSpPr>
          <p:nvPr>
            <p:ph idx="1"/>
          </p:nvPr>
        </p:nvSpPr>
        <p:spPr>
          <a:xfrm>
            <a:off x="228600" y="990600"/>
            <a:ext cx="8839200" cy="838200"/>
          </a:xfrm>
        </p:spPr>
        <p:txBody>
          <a:bodyPr>
            <a:noAutofit/>
          </a:bodyPr>
          <a:lstStyle/>
          <a:p>
            <a:r>
              <a:rPr lang="en-US" sz="2800" dirty="0"/>
              <a:t>1970s: Women and baby boomers join the labor force in droves.</a:t>
            </a:r>
          </a:p>
        </p:txBody>
      </p:sp>
      <p:sp>
        <p:nvSpPr>
          <p:cNvPr id="5" name="Rectangle 4"/>
          <p:cNvSpPr/>
          <p:nvPr/>
        </p:nvSpPr>
        <p:spPr>
          <a:xfrm>
            <a:off x="4495800" y="5934900"/>
            <a:ext cx="2310248" cy="276999"/>
          </a:xfrm>
          <a:prstGeom prst="rect">
            <a:avLst/>
          </a:prstGeom>
        </p:spPr>
        <p:txBody>
          <a:bodyPr wrap="none">
            <a:spAutoFit/>
          </a:bodyPr>
          <a:lstStyle/>
          <a:p>
            <a:r>
              <a:rPr lang="en-US" sz="1200" i="1" dirty="0">
                <a:solidFill>
                  <a:schemeClr val="tx1">
                    <a:lumMod val="65000"/>
                    <a:lumOff val="35000"/>
                  </a:schemeClr>
                </a:solidFill>
                <a:latin typeface="Candara" pitchFamily="34" charset="0"/>
              </a:rPr>
              <a:t>Source: Bureau of Labor Statistics</a:t>
            </a:r>
          </a:p>
        </p:txBody>
      </p:sp>
      <p:pic>
        <p:nvPicPr>
          <p:cNvPr id="6" name="Picture 5" descr="Screen Shot 2015-04-01 at 9.14.08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62000" y="2057400"/>
            <a:ext cx="7531100" cy="4611985"/>
          </a:xfrm>
          <a:prstGeom prst="rect">
            <a:avLst/>
          </a:prstGeom>
        </p:spPr>
      </p:pic>
    </p:spTree>
    <p:extLst>
      <p:ext uri="{BB962C8B-B14F-4D97-AF65-F5344CB8AC3E}">
        <p14:creationId xmlns:p14="http://schemas.microsoft.com/office/powerpoint/2010/main" val="3458549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a:t>Which of the following statements is true?</a:t>
            </a:r>
          </a:p>
          <a:p>
            <a:pPr marL="742950" indent="-742950">
              <a:buFont typeface="+mj-lt"/>
              <a:buAutoNum type="alphaLcParenR"/>
            </a:pPr>
            <a:r>
              <a:rPr lang="en-US" dirty="0"/>
              <a:t>The natural rate of unemployment equals a country’s unemployment rate during a recession.</a:t>
            </a:r>
          </a:p>
          <a:p>
            <a:pPr marL="742950" indent="-742950">
              <a:buFont typeface="+mj-lt"/>
              <a:buAutoNum type="alphaLcParenR"/>
            </a:pPr>
            <a:r>
              <a:rPr lang="en-US" dirty="0"/>
              <a:t>The natural rate of unemployment equals a country’s unemployment rate during an expansion.</a:t>
            </a:r>
          </a:p>
          <a:p>
            <a:pPr marL="742950" indent="-742950">
              <a:buFont typeface="+mj-lt"/>
              <a:buAutoNum type="alphaLcParenR"/>
            </a:pPr>
            <a:r>
              <a:rPr lang="en-US" dirty="0"/>
              <a:t>The natural rate of unemployment is the sum of frictional and structural unemployment.</a:t>
            </a:r>
          </a:p>
          <a:p>
            <a:pPr marL="742950" indent="-742950">
              <a:buFont typeface="+mj-lt"/>
              <a:buAutoNum type="alphaLcParenR"/>
            </a:pPr>
            <a:r>
              <a:rPr lang="en-US" dirty="0"/>
              <a:t>The natural rate of unemployment is the sum of frictional and cyclical unemployment.</a:t>
            </a:r>
          </a:p>
        </p:txBody>
      </p:sp>
      <p:sp>
        <p:nvSpPr>
          <p:cNvPr id="5" name="Rectangle 4"/>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604903019"/>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4038600"/>
            <a:ext cx="9144000" cy="2057400"/>
          </a:xfrm>
          <a:solidFill>
            <a:schemeClr val="accent5">
              <a:lumMod val="20000"/>
              <a:lumOff val="80000"/>
              <a:alpha val="80000"/>
            </a:schemeClr>
          </a:solidFill>
        </p:spPr>
        <p:txBody>
          <a:bodyPr>
            <a:noAutofit/>
          </a:bodyPr>
          <a:lstStyle/>
          <a:p>
            <a:r>
              <a:rPr lang="en-US" sz="2800" dirty="0">
                <a:solidFill>
                  <a:schemeClr val="accent6">
                    <a:lumMod val="75000"/>
                  </a:schemeClr>
                </a:solidFill>
                <a:latin typeface="Century Gothic"/>
                <a:cs typeface="Century Gothic"/>
              </a:rPr>
              <a:t>STRUCTURAL UNEMPLOYMENT IN EAST GERMANY</a:t>
            </a:r>
          </a:p>
          <a:p>
            <a:r>
              <a:rPr lang="en-US" sz="2800" dirty="0">
                <a:latin typeface="Century Gothic"/>
                <a:cs typeface="Century Gothic"/>
              </a:rPr>
              <a:t>Since reunification in 1989, East Germany’s economy has remained depressed, with productivity low and structural unemployment high.</a:t>
            </a:r>
          </a:p>
        </p:txBody>
      </p:sp>
    </p:spTree>
    <p:extLst>
      <p:ext uri="{BB962C8B-B14F-4D97-AF65-F5344CB8AC3E}">
        <p14:creationId xmlns:p14="http://schemas.microsoft.com/office/powerpoint/2010/main" val="28035353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533400"/>
            <a:ext cx="9144000" cy="6324600"/>
          </a:xfrm>
          <a:prstGeom prst="rect">
            <a:avLst/>
          </a:prstGeom>
        </p:spPr>
      </p:pic>
      <p:sp>
        <p:nvSpPr>
          <p:cNvPr id="2" name="Title 1"/>
          <p:cNvSpPr>
            <a:spLocks noGrp="1"/>
          </p:cNvSpPr>
          <p:nvPr>
            <p:ph type="title"/>
          </p:nvPr>
        </p:nvSpPr>
        <p:spPr>
          <a:solidFill>
            <a:schemeClr val="bg1"/>
          </a:solidFill>
        </p:spPr>
        <p:txBody>
          <a:bodyPr/>
          <a:lstStyle/>
          <a:p>
            <a:r>
              <a:rPr lang="en-US" dirty="0"/>
              <a:t>INFLATION AND DEFLATION</a:t>
            </a:r>
          </a:p>
        </p:txBody>
      </p:sp>
      <p:sp>
        <p:nvSpPr>
          <p:cNvPr id="3" name="Content Placeholder 2"/>
          <p:cNvSpPr>
            <a:spLocks noGrp="1"/>
          </p:cNvSpPr>
          <p:nvPr>
            <p:ph idx="1"/>
          </p:nvPr>
        </p:nvSpPr>
        <p:spPr>
          <a:xfrm>
            <a:off x="0" y="5334000"/>
            <a:ext cx="9144000" cy="990600"/>
          </a:xfrm>
          <a:solidFill>
            <a:schemeClr val="bg1">
              <a:alpha val="85000"/>
            </a:schemeClr>
          </a:solidFill>
        </p:spPr>
        <p:txBody>
          <a:bodyPr>
            <a:normAutofit lnSpcReduction="10000"/>
          </a:bodyPr>
          <a:lstStyle/>
          <a:p>
            <a:r>
              <a:rPr lang="en-US" dirty="0">
                <a:solidFill>
                  <a:srgbClr val="990033"/>
                </a:solidFill>
              </a:rPr>
              <a:t>Inflation hurts the economy, </a:t>
            </a:r>
            <a:r>
              <a:rPr lang="en-US" dirty="0"/>
              <a:t>but most people misunderstand how.</a:t>
            </a:r>
          </a:p>
          <a:p>
            <a:endParaRPr lang="en-US" dirty="0"/>
          </a:p>
        </p:txBody>
      </p:sp>
    </p:spTree>
    <p:extLst>
      <p:ext uri="{BB962C8B-B14F-4D97-AF65-F5344CB8AC3E}">
        <p14:creationId xmlns:p14="http://schemas.microsoft.com/office/powerpoint/2010/main" val="22869032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pPr>
              <a:lnSpc>
                <a:spcPct val="90000"/>
              </a:lnSpc>
            </a:pPr>
            <a:r>
              <a:rPr lang="en-US" sz="3700" spc="0"/>
              <a:t>THE LEVEL OF PRICES DOESN’T MATTER</a:t>
            </a:r>
          </a:p>
        </p:txBody>
      </p:sp>
      <p:graphicFrame>
        <p:nvGraphicFramePr>
          <p:cNvPr id="5" name="Content Placeholder 2">
            <a:extLst>
              <a:ext uri="{FF2B5EF4-FFF2-40B4-BE49-F238E27FC236}">
                <a16:creationId xmlns:a16="http://schemas.microsoft.com/office/drawing/2014/main" id="{72B2B226-53C2-DF1F-58EA-5CC1677C7BB6}"/>
              </a:ext>
            </a:extLst>
          </p:cNvPr>
          <p:cNvGraphicFramePr>
            <a:graphicFrameLocks noGrp="1"/>
          </p:cNvGraphicFramePr>
          <p:nvPr>
            <p:ph idx="1"/>
            <p:extLst>
              <p:ext uri="{D42A27DB-BD31-4B8C-83A1-F6EECF244321}">
                <p14:modId xmlns:p14="http://schemas.microsoft.com/office/powerpoint/2010/main" val="245879407"/>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53973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THE RATE OF CHANGE DOES MATTER</a:t>
            </a:r>
          </a:p>
        </p:txBody>
      </p:sp>
      <p:sp>
        <p:nvSpPr>
          <p:cNvPr id="5" name="Content Placeholder 4"/>
          <p:cNvSpPr>
            <a:spLocks noGrp="1"/>
          </p:cNvSpPr>
          <p:nvPr>
            <p:ph idx="1"/>
          </p:nvPr>
        </p:nvSpPr>
        <p:spPr>
          <a:xfrm>
            <a:off x="0" y="1143000"/>
            <a:ext cx="9144000" cy="1143000"/>
          </a:xfrm>
        </p:spPr>
        <p:txBody>
          <a:bodyPr>
            <a:normAutofit/>
          </a:bodyPr>
          <a:lstStyle/>
          <a:p>
            <a:r>
              <a:rPr lang="en-US" sz="2800" dirty="0"/>
              <a:t>It’s crucial to distinguish between the </a:t>
            </a:r>
            <a:r>
              <a:rPr lang="en-US" sz="2800" dirty="0">
                <a:solidFill>
                  <a:srgbClr val="E46C0A"/>
                </a:solidFill>
              </a:rPr>
              <a:t>level of prices</a:t>
            </a:r>
            <a:r>
              <a:rPr lang="en-US" sz="2800" dirty="0"/>
              <a:t> and the </a:t>
            </a:r>
            <a:r>
              <a:rPr lang="en-US" sz="2800" dirty="0">
                <a:solidFill>
                  <a:srgbClr val="E46C0A"/>
                </a:solidFill>
              </a:rPr>
              <a:t>inflation rate</a:t>
            </a:r>
          </a:p>
          <a:p>
            <a:endParaRPr lang="en-US" sz="2800" dirty="0">
              <a:solidFill>
                <a:srgbClr val="E46C0A"/>
              </a:solidFill>
            </a:endParaRPr>
          </a:p>
          <a:p>
            <a:endParaRPr lang="en-US" sz="2800" dirty="0">
              <a:solidFill>
                <a:srgbClr val="E46C0A"/>
              </a:solidFill>
            </a:endParaRPr>
          </a:p>
          <a:p>
            <a:endParaRPr lang="en-US" sz="2800" dirty="0">
              <a:solidFill>
                <a:srgbClr val="E46C0A"/>
              </a:solidFill>
            </a:endParaRPr>
          </a:p>
          <a:p>
            <a:endParaRPr lang="en-US" sz="2800" dirty="0"/>
          </a:p>
        </p:txBody>
      </p:sp>
      <p:sp>
        <p:nvSpPr>
          <p:cNvPr id="8" name="TextBox 7"/>
          <p:cNvSpPr txBox="1"/>
          <p:nvPr/>
        </p:nvSpPr>
        <p:spPr>
          <a:xfrm>
            <a:off x="0" y="2438400"/>
            <a:ext cx="9144000" cy="892552"/>
          </a:xfrm>
          <a:prstGeom prst="rect">
            <a:avLst/>
          </a:prstGeom>
          <a:solidFill>
            <a:schemeClr val="accent3">
              <a:alpha val="71000"/>
            </a:schemeClr>
          </a:solidFill>
        </p:spPr>
        <p:txBody>
          <a:bodyPr wrap="square" rtlCol="0">
            <a:spAutoFit/>
          </a:bodyPr>
          <a:lstStyle/>
          <a:p>
            <a:r>
              <a:rPr lang="en-US" sz="2400" b="1" dirty="0">
                <a:latin typeface="Tw Cen MT"/>
                <a:cs typeface="Tw Cen MT"/>
              </a:rPr>
              <a:t>Inflation rate </a:t>
            </a:r>
            <a:r>
              <a:rPr lang="en-US" sz="2400" dirty="0">
                <a:latin typeface="Tw Cen MT"/>
                <a:cs typeface="Tw Cen MT"/>
              </a:rPr>
              <a:t>= </a:t>
            </a:r>
            <a:r>
              <a:rPr lang="en-US" sz="2400" u="sng" dirty="0">
                <a:latin typeface="Tw Cen MT"/>
                <a:cs typeface="Tw Cen MT"/>
              </a:rPr>
              <a:t>Price level in year 2 – Price level in year 1</a:t>
            </a:r>
            <a:r>
              <a:rPr lang="en-US" sz="2400" dirty="0">
                <a:latin typeface="Tw Cen MT"/>
                <a:cs typeface="Tw Cen MT"/>
              </a:rPr>
              <a:t> </a:t>
            </a:r>
            <a:r>
              <a:rPr lang="en-US" sz="1600" dirty="0">
                <a:latin typeface="Tw Cen MT"/>
                <a:cs typeface="Tw Cen MT"/>
              </a:rPr>
              <a:t>X</a:t>
            </a:r>
            <a:r>
              <a:rPr lang="en-US" sz="2800" dirty="0">
                <a:latin typeface="Tw Cen MT"/>
                <a:cs typeface="Tw Cen MT"/>
              </a:rPr>
              <a:t> </a:t>
            </a:r>
            <a:r>
              <a:rPr lang="en-US" sz="2400" dirty="0">
                <a:latin typeface="Tw Cen MT"/>
                <a:cs typeface="Tw Cen MT"/>
              </a:rPr>
              <a:t>100</a:t>
            </a:r>
          </a:p>
          <a:p>
            <a:pPr algn="ctr"/>
            <a:r>
              <a:rPr lang="en-US" sz="2400" dirty="0">
                <a:latin typeface="Tw Cen MT"/>
                <a:cs typeface="Tw Cen MT"/>
              </a:rPr>
              <a:t>Price level in year 1</a:t>
            </a:r>
          </a:p>
        </p:txBody>
      </p:sp>
      <p:sp>
        <p:nvSpPr>
          <p:cNvPr id="10" name="Content Placeholder 4"/>
          <p:cNvSpPr txBox="1">
            <a:spLocks/>
          </p:cNvSpPr>
          <p:nvPr/>
        </p:nvSpPr>
        <p:spPr>
          <a:xfrm>
            <a:off x="0" y="3810000"/>
            <a:ext cx="9144000" cy="1066800"/>
          </a:xfrm>
          <a:prstGeom prst="rect">
            <a:avLst/>
          </a:prstGeom>
        </p:spPr>
        <p:txBody>
          <a:bodyPr vert="horz" lIns="91440" tIns="45720" rIns="91440" bIns="45720" rtlCol="0">
            <a:normAutofit/>
          </a:bodyPr>
          <a:lstStyle>
            <a:lvl1pPr marL="0" indent="0" algn="l" defTabSz="914400" rtl="0" eaLnBrk="1" latinLnBrk="0" hangingPunct="1">
              <a:spcBef>
                <a:spcPct val="20000"/>
              </a:spcBef>
              <a:buFontTx/>
              <a:buNone/>
              <a:defRPr sz="3200" b="1" kern="1200">
                <a:solidFill>
                  <a:schemeClr val="tx1"/>
                </a:solidFill>
                <a:latin typeface="Gill Sans MT"/>
                <a:ea typeface="+mn-ea"/>
                <a:cs typeface="Gill Sans MT"/>
              </a:defRPr>
            </a:lvl1pPr>
            <a:lvl2pPr marL="457200" indent="0" algn="l" defTabSz="914400" rtl="0" eaLnBrk="1" latinLnBrk="0" hangingPunct="1">
              <a:spcBef>
                <a:spcPct val="20000"/>
              </a:spcBef>
              <a:buFontTx/>
              <a:buNone/>
              <a:defRPr sz="2800" b="1" kern="1200">
                <a:solidFill>
                  <a:schemeClr val="tx1"/>
                </a:solidFill>
                <a:latin typeface="Gill Sans MT"/>
                <a:ea typeface="+mn-ea"/>
                <a:cs typeface="Gill Sans MT"/>
              </a:defRPr>
            </a:lvl2pPr>
            <a:lvl3pPr marL="914400" indent="0" algn="l" defTabSz="914400" rtl="0" eaLnBrk="1" latinLnBrk="0" hangingPunct="1">
              <a:spcBef>
                <a:spcPct val="20000"/>
              </a:spcBef>
              <a:buFontTx/>
              <a:buNone/>
              <a:defRPr sz="2400" b="1" kern="1200">
                <a:solidFill>
                  <a:schemeClr val="tx1"/>
                </a:solidFill>
                <a:latin typeface="Gill Sans MT"/>
                <a:ea typeface="+mn-ea"/>
                <a:cs typeface="Gill Sans MT"/>
              </a:defRPr>
            </a:lvl3pPr>
            <a:lvl4pPr marL="1371600" indent="0" algn="l" defTabSz="914400" rtl="0" eaLnBrk="1" latinLnBrk="0" hangingPunct="1">
              <a:spcBef>
                <a:spcPct val="20000"/>
              </a:spcBef>
              <a:buFontTx/>
              <a:buNone/>
              <a:defRPr sz="2000" b="1" kern="1200">
                <a:solidFill>
                  <a:schemeClr val="tx1"/>
                </a:solidFill>
                <a:latin typeface="Gill Sans MT"/>
                <a:ea typeface="+mn-ea"/>
                <a:cs typeface="Gill Sans MT"/>
              </a:defRPr>
            </a:lvl4pPr>
            <a:lvl5pPr marL="1828800" indent="0" algn="l" defTabSz="914400" rtl="0" eaLnBrk="1" latinLnBrk="0" hangingPunct="1">
              <a:spcBef>
                <a:spcPct val="20000"/>
              </a:spcBef>
              <a:buFontTx/>
              <a:buNone/>
              <a:defRPr sz="2000" b="1" kern="1200">
                <a:solidFill>
                  <a:schemeClr val="tx1"/>
                </a:solidFill>
                <a:latin typeface="Gill Sans MT"/>
                <a:ea typeface="+mn-ea"/>
                <a:cs typeface="Gill Sans M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solidFill>
                  <a:srgbClr val="E46C0A"/>
                </a:solidFill>
                <a:latin typeface="Century Gothic"/>
                <a:cs typeface="Century Gothic"/>
              </a:rPr>
              <a:t>Example: </a:t>
            </a:r>
            <a:r>
              <a:rPr lang="en-US" sz="2800" dirty="0">
                <a:latin typeface="Century Gothic"/>
                <a:cs typeface="Century Gothic"/>
              </a:rPr>
              <a:t>if the CPI increases from 120 to 135 over a year, what is the inflation rate?</a:t>
            </a:r>
          </a:p>
          <a:p>
            <a:endParaRPr lang="en-US" sz="2800" dirty="0">
              <a:latin typeface="Century Gothic"/>
              <a:cs typeface="Century Gothic"/>
            </a:endParaRPr>
          </a:p>
        </p:txBody>
      </p:sp>
      <p:sp>
        <p:nvSpPr>
          <p:cNvPr id="11" name="Content Placeholder 4"/>
          <p:cNvSpPr txBox="1">
            <a:spLocks/>
          </p:cNvSpPr>
          <p:nvPr/>
        </p:nvSpPr>
        <p:spPr>
          <a:xfrm>
            <a:off x="0" y="4876800"/>
            <a:ext cx="9144000" cy="2133600"/>
          </a:xfrm>
          <a:prstGeom prst="rect">
            <a:avLst/>
          </a:prstGeom>
        </p:spPr>
        <p:txBody>
          <a:bodyPr vert="horz" lIns="91440" tIns="45720" rIns="91440" bIns="45720" rtlCol="0">
            <a:normAutofit/>
          </a:bodyPr>
          <a:lstStyle>
            <a:lvl1pPr marL="0" indent="0" algn="l" defTabSz="914400" rtl="0" eaLnBrk="1" latinLnBrk="0" hangingPunct="1">
              <a:spcBef>
                <a:spcPct val="20000"/>
              </a:spcBef>
              <a:buFontTx/>
              <a:buNone/>
              <a:defRPr sz="3200" b="1" kern="1200">
                <a:solidFill>
                  <a:schemeClr val="tx1"/>
                </a:solidFill>
                <a:latin typeface="Gill Sans MT"/>
                <a:ea typeface="+mn-ea"/>
                <a:cs typeface="Gill Sans MT"/>
              </a:defRPr>
            </a:lvl1pPr>
            <a:lvl2pPr marL="457200" indent="0" algn="l" defTabSz="914400" rtl="0" eaLnBrk="1" latinLnBrk="0" hangingPunct="1">
              <a:spcBef>
                <a:spcPct val="20000"/>
              </a:spcBef>
              <a:buFontTx/>
              <a:buNone/>
              <a:defRPr sz="2800" b="1" kern="1200">
                <a:solidFill>
                  <a:schemeClr val="tx1"/>
                </a:solidFill>
                <a:latin typeface="Gill Sans MT"/>
                <a:ea typeface="+mn-ea"/>
                <a:cs typeface="Gill Sans MT"/>
              </a:defRPr>
            </a:lvl2pPr>
            <a:lvl3pPr marL="914400" indent="0" algn="l" defTabSz="914400" rtl="0" eaLnBrk="1" latinLnBrk="0" hangingPunct="1">
              <a:spcBef>
                <a:spcPct val="20000"/>
              </a:spcBef>
              <a:buFontTx/>
              <a:buNone/>
              <a:defRPr sz="2400" b="1" kern="1200">
                <a:solidFill>
                  <a:schemeClr val="tx1"/>
                </a:solidFill>
                <a:latin typeface="Gill Sans MT"/>
                <a:ea typeface="+mn-ea"/>
                <a:cs typeface="Gill Sans MT"/>
              </a:defRPr>
            </a:lvl3pPr>
            <a:lvl4pPr marL="1371600" indent="0" algn="l" defTabSz="914400" rtl="0" eaLnBrk="1" latinLnBrk="0" hangingPunct="1">
              <a:spcBef>
                <a:spcPct val="20000"/>
              </a:spcBef>
              <a:buFontTx/>
              <a:buNone/>
              <a:defRPr sz="2000" b="1" kern="1200">
                <a:solidFill>
                  <a:schemeClr val="tx1"/>
                </a:solidFill>
                <a:latin typeface="Gill Sans MT"/>
                <a:ea typeface="+mn-ea"/>
                <a:cs typeface="Gill Sans MT"/>
              </a:defRPr>
            </a:lvl4pPr>
            <a:lvl5pPr marL="1828800" indent="0" algn="l" defTabSz="914400" rtl="0" eaLnBrk="1" latinLnBrk="0" hangingPunct="1">
              <a:spcBef>
                <a:spcPct val="20000"/>
              </a:spcBef>
              <a:buFontTx/>
              <a:buNone/>
              <a:defRPr sz="2000" b="1" kern="1200">
                <a:solidFill>
                  <a:schemeClr val="tx1"/>
                </a:solidFill>
                <a:latin typeface="Gill Sans MT"/>
                <a:ea typeface="+mn-ea"/>
                <a:cs typeface="Gill Sans M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800" dirty="0">
              <a:solidFill>
                <a:srgbClr val="E46C0A"/>
              </a:solidFill>
              <a:latin typeface="Century Gothic"/>
              <a:cs typeface="Century Gothic"/>
            </a:endParaRPr>
          </a:p>
          <a:p>
            <a:r>
              <a:rPr lang="en-US" sz="2800" dirty="0">
                <a:solidFill>
                  <a:srgbClr val="E46C0A"/>
                </a:solidFill>
                <a:latin typeface="Century Gothic"/>
                <a:cs typeface="Century Gothic"/>
              </a:rPr>
              <a:t>Answer: </a:t>
            </a:r>
            <a:r>
              <a:rPr lang="en-US" sz="2800" dirty="0">
                <a:solidFill>
                  <a:srgbClr val="000000"/>
                </a:solidFill>
                <a:latin typeface="Century Gothic"/>
                <a:cs typeface="Century Gothic"/>
              </a:rPr>
              <a:t>inflation rate = </a:t>
            </a:r>
            <a:r>
              <a:rPr lang="en-US" sz="2800" u="sng" dirty="0">
                <a:solidFill>
                  <a:srgbClr val="000000"/>
                </a:solidFill>
                <a:latin typeface="Century Gothic"/>
                <a:cs typeface="Century Gothic"/>
              </a:rPr>
              <a:t>135-120 </a:t>
            </a:r>
            <a:r>
              <a:rPr lang="en-US" sz="2800" dirty="0">
                <a:solidFill>
                  <a:srgbClr val="000000"/>
                </a:solidFill>
                <a:latin typeface="Century Gothic"/>
                <a:cs typeface="Century Gothic"/>
              </a:rPr>
              <a:t>x 100 = </a:t>
            </a:r>
            <a:r>
              <a:rPr lang="en-US" sz="2800" dirty="0">
                <a:solidFill>
                  <a:srgbClr val="E46C0A"/>
                </a:solidFill>
                <a:latin typeface="Century Gothic"/>
                <a:cs typeface="Century Gothic"/>
              </a:rPr>
              <a:t>12.5%</a:t>
            </a:r>
          </a:p>
          <a:p>
            <a:r>
              <a:rPr lang="en-US" sz="2800" dirty="0">
                <a:solidFill>
                  <a:srgbClr val="E46C0A"/>
                </a:solidFill>
                <a:latin typeface="Century Gothic"/>
                <a:cs typeface="Century Gothic"/>
              </a:rPr>
              <a:t>					</a:t>
            </a:r>
            <a:r>
              <a:rPr lang="en-US" sz="2800" dirty="0">
                <a:solidFill>
                  <a:srgbClr val="000000"/>
                </a:solidFill>
                <a:latin typeface="Century Gothic"/>
                <a:cs typeface="Century Gothic"/>
              </a:rPr>
              <a:t>120</a:t>
            </a:r>
          </a:p>
          <a:p>
            <a:endParaRPr lang="en-US" sz="2800" dirty="0">
              <a:latin typeface="Century Gothic"/>
              <a:cs typeface="Century Gothic"/>
            </a:endParaRPr>
          </a:p>
        </p:txBody>
      </p:sp>
    </p:spTree>
    <p:extLst>
      <p:ext uri="{BB962C8B-B14F-4D97-AF65-F5344CB8AC3E}">
        <p14:creationId xmlns:p14="http://schemas.microsoft.com/office/powerpoint/2010/main" val="1694911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9144000" cy="838200"/>
          </a:xfrm>
        </p:spPr>
        <p:txBody>
          <a:bodyPr>
            <a:noAutofit/>
          </a:bodyPr>
          <a:lstStyle/>
          <a:p>
            <a:r>
              <a:rPr lang="en-US" sz="4000" spc="0" dirty="0"/>
              <a:t>THE PRICE LEVEL VS. THE INFLATION RATE, 1960–2014</a:t>
            </a:r>
          </a:p>
        </p:txBody>
      </p:sp>
      <p:sp>
        <p:nvSpPr>
          <p:cNvPr id="3" name="Content Placeholder 2"/>
          <p:cNvSpPr>
            <a:spLocks noGrp="1"/>
          </p:cNvSpPr>
          <p:nvPr>
            <p:ph idx="1"/>
          </p:nvPr>
        </p:nvSpPr>
        <p:spPr>
          <a:xfrm>
            <a:off x="152400" y="1066800"/>
            <a:ext cx="8686800" cy="838200"/>
          </a:xfrm>
          <a:noFill/>
        </p:spPr>
        <p:txBody>
          <a:bodyPr>
            <a:noAutofit/>
          </a:bodyPr>
          <a:lstStyle/>
          <a:p>
            <a:r>
              <a:rPr lang="en-US" sz="2400" i="1" dirty="0">
                <a:solidFill>
                  <a:schemeClr val="tx1">
                    <a:lumMod val="65000"/>
                    <a:lumOff val="35000"/>
                  </a:schemeClr>
                </a:solidFill>
              </a:rPr>
              <a:t>The consumer price index has continuously increased, </a:t>
            </a:r>
          </a:p>
          <a:p>
            <a:r>
              <a:rPr lang="en-US" sz="2400" i="1" dirty="0">
                <a:solidFill>
                  <a:schemeClr val="tx1">
                    <a:lumMod val="65000"/>
                    <a:lumOff val="35000"/>
                  </a:schemeClr>
                </a:solidFill>
              </a:rPr>
              <a:t>but the inflation rate fluctuates.</a:t>
            </a:r>
          </a:p>
          <a:p>
            <a:endParaRPr lang="en-US" sz="2400" i="1" dirty="0">
              <a:solidFill>
                <a:schemeClr val="tx1">
                  <a:lumMod val="65000"/>
                  <a:lumOff val="35000"/>
                </a:schemeClr>
              </a:solidFill>
            </a:endParaRPr>
          </a:p>
        </p:txBody>
      </p:sp>
      <p:sp>
        <p:nvSpPr>
          <p:cNvPr id="5" name="Rectangle 4"/>
          <p:cNvSpPr/>
          <p:nvPr/>
        </p:nvSpPr>
        <p:spPr>
          <a:xfrm>
            <a:off x="4388825" y="6367790"/>
            <a:ext cx="2164375" cy="261610"/>
          </a:xfrm>
          <a:prstGeom prst="rect">
            <a:avLst/>
          </a:prstGeom>
        </p:spPr>
        <p:txBody>
          <a:bodyPr wrap="none">
            <a:spAutoFit/>
          </a:bodyPr>
          <a:lstStyle/>
          <a:p>
            <a:r>
              <a:rPr lang="en-US" sz="1100" i="1" dirty="0">
                <a:solidFill>
                  <a:schemeClr val="tx1">
                    <a:lumMod val="65000"/>
                    <a:lumOff val="35000"/>
                  </a:schemeClr>
                </a:solidFill>
                <a:latin typeface="Candara" pitchFamily="34" charset="0"/>
              </a:rPr>
              <a:t>Source: Bureau of Labor Statistics.</a:t>
            </a:r>
          </a:p>
        </p:txBody>
      </p:sp>
      <p:pic>
        <p:nvPicPr>
          <p:cNvPr id="6" name="Picture 5" descr="Screen Shot 2015-04-01 at 9.48.58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752600" y="2037284"/>
            <a:ext cx="5549900" cy="4820715"/>
          </a:xfrm>
          <a:prstGeom prst="rect">
            <a:avLst/>
          </a:prstGeom>
        </p:spPr>
      </p:pic>
    </p:spTree>
    <p:extLst>
      <p:ext uri="{BB962C8B-B14F-4D97-AF65-F5344CB8AC3E}">
        <p14:creationId xmlns:p14="http://schemas.microsoft.com/office/powerpoint/2010/main" val="12273992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533400"/>
            <a:ext cx="9144001" cy="6324600"/>
          </a:xfrm>
          <a:prstGeom prst="rect">
            <a:avLst/>
          </a:prstGeom>
        </p:spPr>
      </p:pic>
      <p:sp>
        <p:nvSpPr>
          <p:cNvPr id="2" name="Title 1"/>
          <p:cNvSpPr>
            <a:spLocks noGrp="1"/>
          </p:cNvSpPr>
          <p:nvPr>
            <p:ph type="title"/>
          </p:nvPr>
        </p:nvSpPr>
        <p:spPr>
          <a:solidFill>
            <a:schemeClr val="bg1"/>
          </a:solidFill>
        </p:spPr>
        <p:txBody>
          <a:bodyPr/>
          <a:lstStyle/>
          <a:p>
            <a:r>
              <a:rPr lang="en-US" dirty="0"/>
              <a:t>WHAT HIGH INFLATION COSTS</a:t>
            </a:r>
          </a:p>
        </p:txBody>
      </p:sp>
      <p:sp>
        <p:nvSpPr>
          <p:cNvPr id="3" name="Content Placeholder 2"/>
          <p:cNvSpPr>
            <a:spLocks noGrp="1"/>
          </p:cNvSpPr>
          <p:nvPr>
            <p:ph idx="1"/>
          </p:nvPr>
        </p:nvSpPr>
        <p:spPr>
          <a:xfrm>
            <a:off x="0" y="838200"/>
            <a:ext cx="9144000" cy="1219200"/>
          </a:xfrm>
          <a:solidFill>
            <a:schemeClr val="bg1">
              <a:alpha val="65000"/>
            </a:schemeClr>
          </a:solidFill>
        </p:spPr>
        <p:txBody>
          <a:bodyPr>
            <a:normAutofit/>
          </a:bodyPr>
          <a:lstStyle/>
          <a:p>
            <a:r>
              <a:rPr lang="en-US" i="1" dirty="0">
                <a:solidFill>
                  <a:srgbClr val="990033"/>
                </a:solidFill>
              </a:rPr>
              <a:t>Shoe-leather costs: </a:t>
            </a:r>
            <a:r>
              <a:rPr lang="en-US" b="0" dirty="0"/>
              <a:t>the increased costs of transactions caused by inflation.</a:t>
            </a:r>
          </a:p>
          <a:p>
            <a:endParaRPr lang="en-US" b="0" dirty="0"/>
          </a:p>
          <a:p>
            <a:endParaRPr lang="en-US" b="0" dirty="0"/>
          </a:p>
          <a:p>
            <a:endParaRPr lang="en-US" b="0" dirty="0"/>
          </a:p>
          <a:p>
            <a:endParaRPr lang="en-US" b="0" dirty="0"/>
          </a:p>
          <a:p>
            <a:endParaRPr lang="en-US" b="0" dirty="0"/>
          </a:p>
        </p:txBody>
      </p:sp>
      <p:sp>
        <p:nvSpPr>
          <p:cNvPr id="8" name="Content Placeholder 2"/>
          <p:cNvSpPr txBox="1">
            <a:spLocks/>
          </p:cNvSpPr>
          <p:nvPr/>
        </p:nvSpPr>
        <p:spPr>
          <a:xfrm>
            <a:off x="3581400" y="5029200"/>
            <a:ext cx="5572481" cy="1828800"/>
          </a:xfrm>
          <a:prstGeom prst="rect">
            <a:avLst/>
          </a:prstGeom>
          <a:solidFill>
            <a:schemeClr val="bg1">
              <a:alpha val="65000"/>
            </a:schemeClr>
          </a:solidFill>
        </p:spPr>
        <p:txBody>
          <a:bodyPr vert="horz" lIns="91440" tIns="45720" rIns="91440" bIns="45720" rtlCol="0">
            <a:normAutofit fontScale="92500"/>
          </a:bodyPr>
          <a:lstStyle>
            <a:lvl1pPr marL="0" indent="0" algn="l" defTabSz="914400" rtl="0" eaLnBrk="1" latinLnBrk="0" hangingPunct="1">
              <a:spcBef>
                <a:spcPct val="20000"/>
              </a:spcBef>
              <a:buFontTx/>
              <a:buNone/>
              <a:defRPr sz="3200" b="1" kern="1200">
                <a:solidFill>
                  <a:schemeClr val="tx1"/>
                </a:solidFill>
                <a:latin typeface="Gill Sans MT"/>
                <a:ea typeface="+mn-ea"/>
                <a:cs typeface="Gill Sans MT"/>
              </a:defRPr>
            </a:lvl1pPr>
            <a:lvl2pPr marL="457200" indent="0" algn="l" defTabSz="914400" rtl="0" eaLnBrk="1" latinLnBrk="0" hangingPunct="1">
              <a:spcBef>
                <a:spcPct val="20000"/>
              </a:spcBef>
              <a:buFontTx/>
              <a:buNone/>
              <a:defRPr sz="2800" b="1" kern="1200">
                <a:solidFill>
                  <a:schemeClr val="tx1"/>
                </a:solidFill>
                <a:latin typeface="Gill Sans MT"/>
                <a:ea typeface="+mn-ea"/>
                <a:cs typeface="Gill Sans MT"/>
              </a:defRPr>
            </a:lvl2pPr>
            <a:lvl3pPr marL="914400" indent="0" algn="l" defTabSz="914400" rtl="0" eaLnBrk="1" latinLnBrk="0" hangingPunct="1">
              <a:spcBef>
                <a:spcPct val="20000"/>
              </a:spcBef>
              <a:buFontTx/>
              <a:buNone/>
              <a:defRPr sz="2400" b="1" kern="1200">
                <a:solidFill>
                  <a:schemeClr val="tx1"/>
                </a:solidFill>
                <a:latin typeface="Gill Sans MT"/>
                <a:ea typeface="+mn-ea"/>
                <a:cs typeface="Gill Sans MT"/>
              </a:defRPr>
            </a:lvl3pPr>
            <a:lvl4pPr marL="1371600" indent="0" algn="l" defTabSz="914400" rtl="0" eaLnBrk="1" latinLnBrk="0" hangingPunct="1">
              <a:spcBef>
                <a:spcPct val="20000"/>
              </a:spcBef>
              <a:buFontTx/>
              <a:buNone/>
              <a:defRPr sz="2000" b="1" kern="1200">
                <a:solidFill>
                  <a:schemeClr val="tx1"/>
                </a:solidFill>
                <a:latin typeface="Gill Sans MT"/>
                <a:ea typeface="+mn-ea"/>
                <a:cs typeface="Gill Sans MT"/>
              </a:defRPr>
            </a:lvl4pPr>
            <a:lvl5pPr marL="1828800" indent="0" algn="l" defTabSz="914400" rtl="0" eaLnBrk="1" latinLnBrk="0" hangingPunct="1">
              <a:spcBef>
                <a:spcPct val="20000"/>
              </a:spcBef>
              <a:buFontTx/>
              <a:buNone/>
              <a:defRPr sz="2000" b="1" kern="1200">
                <a:solidFill>
                  <a:schemeClr val="tx1"/>
                </a:solidFill>
                <a:latin typeface="Gill Sans MT"/>
                <a:ea typeface="+mn-ea"/>
                <a:cs typeface="Gill Sans MT"/>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a:solidFill>
                  <a:srgbClr val="000000"/>
                </a:solidFill>
                <a:latin typeface="Century Gothic"/>
                <a:cs typeface="Century Gothic"/>
              </a:rPr>
              <a:t>Since </a:t>
            </a:r>
            <a:r>
              <a:rPr lang="en-US" sz="2800" dirty="0">
                <a:solidFill>
                  <a:schemeClr val="accent6">
                    <a:lumMod val="75000"/>
                  </a:schemeClr>
                </a:solidFill>
                <a:latin typeface="Century Gothic"/>
                <a:cs typeface="Century Gothic"/>
              </a:rPr>
              <a:t>cash loses </a:t>
            </a:r>
            <a:r>
              <a:rPr lang="en-US" sz="2800" dirty="0">
                <a:solidFill>
                  <a:srgbClr val="E46C0A"/>
                </a:solidFill>
                <a:latin typeface="Century Gothic"/>
                <a:cs typeface="Century Gothic"/>
              </a:rPr>
              <a:t>its value quickly</a:t>
            </a:r>
            <a:r>
              <a:rPr lang="en-US" sz="2800" dirty="0">
                <a:solidFill>
                  <a:srgbClr val="000000"/>
                </a:solidFill>
                <a:latin typeface="Century Gothic"/>
                <a:cs typeface="Century Gothic"/>
              </a:rPr>
              <a:t> during high inflation, people waste more time running around to spend it as fast as they can</a:t>
            </a:r>
            <a:endParaRPr lang="en-US" sz="2800" b="0" dirty="0">
              <a:solidFill>
                <a:srgbClr val="000000"/>
              </a:solidFill>
              <a:latin typeface="Century Gothic"/>
              <a:cs typeface="Century Gothic"/>
            </a:endParaRPr>
          </a:p>
          <a:p>
            <a:endParaRPr lang="en-US" sz="2800" b="0" dirty="0">
              <a:solidFill>
                <a:srgbClr val="000000"/>
              </a:solidFill>
              <a:latin typeface="Century Gothic"/>
              <a:cs typeface="Century Gothic"/>
            </a:endParaRPr>
          </a:p>
          <a:p>
            <a:endParaRPr lang="en-US" sz="2800" b="0" dirty="0">
              <a:solidFill>
                <a:srgbClr val="000000"/>
              </a:solidFill>
              <a:latin typeface="Century Gothic"/>
              <a:cs typeface="Century Gothic"/>
            </a:endParaRPr>
          </a:p>
          <a:p>
            <a:endParaRPr lang="en-US" sz="2800" b="0" dirty="0">
              <a:solidFill>
                <a:srgbClr val="000000"/>
              </a:solidFill>
              <a:latin typeface="Century Gothic"/>
              <a:cs typeface="Century Gothic"/>
            </a:endParaRPr>
          </a:p>
          <a:p>
            <a:endParaRPr lang="en-US" sz="2800" b="0" dirty="0">
              <a:solidFill>
                <a:srgbClr val="000000"/>
              </a:solidFill>
              <a:latin typeface="Century Gothic"/>
              <a:cs typeface="Century Gothic"/>
            </a:endParaRPr>
          </a:p>
          <a:p>
            <a:endParaRPr lang="en-US" sz="2800" b="0" dirty="0">
              <a:solidFill>
                <a:srgbClr val="000000"/>
              </a:solidFill>
              <a:latin typeface="Century Gothic"/>
              <a:cs typeface="Century Gothic"/>
            </a:endParaRPr>
          </a:p>
        </p:txBody>
      </p:sp>
    </p:spTree>
    <p:extLst>
      <p:ext uri="{BB962C8B-B14F-4D97-AF65-F5344CB8AC3E}">
        <p14:creationId xmlns:p14="http://schemas.microsoft.com/office/powerpoint/2010/main" val="42239444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914400"/>
            <a:ext cx="9144000" cy="838200"/>
          </a:xfrm>
        </p:spPr>
        <p:txBody>
          <a:bodyPr>
            <a:normAutofit fontScale="90000"/>
          </a:bodyPr>
          <a:lstStyle/>
          <a:p>
            <a:r>
              <a:rPr lang="en-US" sz="4000" spc="0" dirty="0">
                <a:solidFill>
                  <a:schemeClr val="accent6">
                    <a:lumMod val="75000"/>
                  </a:schemeClr>
                </a:solidFill>
                <a:latin typeface="Century Gothic"/>
                <a:cs typeface="Century Gothic"/>
              </a:rPr>
              <a:t>Israel’s experience with inflation</a:t>
            </a:r>
          </a:p>
        </p:txBody>
      </p:sp>
      <p:pic>
        <p:nvPicPr>
          <p:cNvPr id="18434" name="Picture 2"/>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0" y="2107160"/>
            <a:ext cx="4953000" cy="47511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5181600" y="2286000"/>
            <a:ext cx="3886200" cy="4031873"/>
          </a:xfrm>
          <a:prstGeom prst="rect">
            <a:avLst/>
          </a:prstGeom>
        </p:spPr>
        <p:txBody>
          <a:bodyPr wrap="square">
            <a:spAutoFit/>
          </a:bodyPr>
          <a:lstStyle/>
          <a:p>
            <a:r>
              <a:rPr lang="en-US" sz="3200" b="1" i="1" dirty="0">
                <a:solidFill>
                  <a:schemeClr val="tx1">
                    <a:lumMod val="65000"/>
                    <a:lumOff val="35000"/>
                  </a:schemeClr>
                </a:solidFill>
                <a:latin typeface="Century Gothic"/>
                <a:cs typeface="Century Gothic"/>
              </a:rPr>
              <a:t>The shoe-leather costs of inflation in Israel: When the inflation rate hit 500% in 1985, people spent a lot of time in line at banks.</a:t>
            </a:r>
          </a:p>
        </p:txBody>
      </p:sp>
    </p:spTree>
    <p:extLst>
      <p:ext uri="{BB962C8B-B14F-4D97-AF65-F5344CB8AC3E}">
        <p14:creationId xmlns:p14="http://schemas.microsoft.com/office/powerpoint/2010/main" val="3656670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WHAT INFLATION COSTS</a:t>
            </a:r>
          </a:p>
        </p:txBody>
      </p:sp>
      <p:sp>
        <p:nvSpPr>
          <p:cNvPr id="3" name="Content Placeholder 2"/>
          <p:cNvSpPr>
            <a:spLocks noGrp="1"/>
          </p:cNvSpPr>
          <p:nvPr>
            <p:ph idx="1"/>
          </p:nvPr>
        </p:nvSpPr>
        <p:spPr/>
        <p:txBody>
          <a:bodyPr/>
          <a:lstStyle/>
          <a:p>
            <a:r>
              <a:rPr lang="en-US" i="1" dirty="0">
                <a:solidFill>
                  <a:srgbClr val="990033"/>
                </a:solidFill>
              </a:rPr>
              <a:t>Menu cost: </a:t>
            </a:r>
            <a:r>
              <a:rPr lang="en-US" b="0" dirty="0"/>
              <a:t>the real cost of changing a listed price.</a:t>
            </a:r>
            <a:endParaRPr lang="en-US" dirty="0"/>
          </a:p>
          <a:p>
            <a:endParaRPr lang="en-US" dirty="0"/>
          </a:p>
        </p:txBody>
      </p:sp>
      <p:pic>
        <p:nvPicPr>
          <p:cNvPr id="19458" name="Picture 2" descr="http://christinescaribbeancuisine.com/images/menu1.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rot="20532711">
            <a:off x="2287428" y="2390143"/>
            <a:ext cx="4180663" cy="3231719"/>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39282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spc="0" dirty="0"/>
              <a:t>WHAT INFLATION COSTS</a:t>
            </a:r>
          </a:p>
        </p:txBody>
      </p:sp>
      <p:sp>
        <p:nvSpPr>
          <p:cNvPr id="3" name="Content Placeholder 2"/>
          <p:cNvSpPr>
            <a:spLocks noGrp="1"/>
          </p:cNvSpPr>
          <p:nvPr>
            <p:ph idx="1"/>
          </p:nvPr>
        </p:nvSpPr>
        <p:spPr>
          <a:xfrm>
            <a:off x="228600" y="3505200"/>
            <a:ext cx="8839200" cy="3048000"/>
          </a:xfrm>
        </p:spPr>
        <p:txBody>
          <a:bodyPr>
            <a:noAutofit/>
          </a:bodyPr>
          <a:lstStyle/>
          <a:p>
            <a:r>
              <a:rPr lang="en-US" i="1" dirty="0">
                <a:solidFill>
                  <a:srgbClr val="990033"/>
                </a:solidFill>
              </a:rPr>
              <a:t>Unit-of-account costs: </a:t>
            </a:r>
            <a:r>
              <a:rPr lang="en-US" b="0" dirty="0"/>
              <a:t>costs arising from the way inflation makes money a less reliable unit of measurement. </a:t>
            </a:r>
          </a:p>
          <a:p>
            <a:r>
              <a:rPr lang="en-US" b="0" dirty="0"/>
              <a:t>Calculations are hard when inflation is high.</a:t>
            </a:r>
          </a:p>
        </p:txBody>
      </p:sp>
      <p:pic>
        <p:nvPicPr>
          <p:cNvPr id="5" name="Picture 3"/>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209800" y="914400"/>
            <a:ext cx="4648200" cy="237567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52436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38200"/>
          </a:xfrm>
        </p:spPr>
        <p:txBody>
          <a:bodyPr anchor="ctr">
            <a:normAutofit/>
          </a:bodyPr>
          <a:lstStyle/>
          <a:p>
            <a:pPr>
              <a:lnSpc>
                <a:spcPct val="90000"/>
              </a:lnSpc>
            </a:pPr>
            <a:r>
              <a:rPr lang="en-US" sz="3700" spc="0"/>
              <a:t>WINNERS AND LOSERS FROM INFLATION</a:t>
            </a:r>
          </a:p>
        </p:txBody>
      </p:sp>
      <p:graphicFrame>
        <p:nvGraphicFramePr>
          <p:cNvPr id="5" name="Content Placeholder 2">
            <a:extLst>
              <a:ext uri="{FF2B5EF4-FFF2-40B4-BE49-F238E27FC236}">
                <a16:creationId xmlns:a16="http://schemas.microsoft.com/office/drawing/2014/main" id="{D23EEC6C-B0E1-AB1B-4354-0F13B22F0709}"/>
              </a:ext>
            </a:extLst>
          </p:cNvPr>
          <p:cNvGraphicFramePr>
            <a:graphicFrameLocks noGrp="1"/>
          </p:cNvGraphicFramePr>
          <p:nvPr>
            <p:ph idx="1"/>
            <p:extLst>
              <p:ext uri="{D42A27DB-BD31-4B8C-83A1-F6EECF244321}">
                <p14:modId xmlns:p14="http://schemas.microsoft.com/office/powerpoint/2010/main" val="1210087553"/>
              </p:ext>
            </p:extLst>
          </p:nvPr>
        </p:nvGraphicFramePr>
        <p:xfrm>
          <a:off x="228600" y="990600"/>
          <a:ext cx="88392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63412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990600"/>
            <a:ext cx="9067800" cy="5060950"/>
          </a:xfrm>
        </p:spPr>
        <p:txBody>
          <a:bodyPr>
            <a:noAutofit/>
          </a:bodyPr>
          <a:lstStyle/>
          <a:p>
            <a:r>
              <a:rPr lang="en-US" sz="2400" dirty="0"/>
              <a:t>Mary expects the inflation rate to be 5%, and she is willing to pay a real interest rate of 3%. Joe expects the inflation rate to be 5%, and he is willing to lend money if he receives a real interest rate of 3%. If the actual inflation rate is 6% and the loan contract specifies a nominal interest rate of 8%, then:</a:t>
            </a:r>
          </a:p>
          <a:p>
            <a:pPr marL="515938" indent="-515938">
              <a:buFont typeface="+mj-lt"/>
              <a:buAutoNum type="alphaLcParenR"/>
            </a:pPr>
            <a:r>
              <a:rPr lang="en-US" sz="2400" dirty="0"/>
              <a:t>Joe is glad he lent out funds even though his real interest rate has fallen.</a:t>
            </a:r>
          </a:p>
          <a:p>
            <a:pPr marL="515938" indent="-515938">
              <a:buFont typeface="+mj-lt"/>
              <a:buAutoNum type="alphaLcParenR"/>
            </a:pPr>
            <a:r>
              <a:rPr lang="en-US" sz="2400" dirty="0"/>
              <a:t>Joe is sorry he lent out funds, since his real interest rate is now 9%.</a:t>
            </a:r>
          </a:p>
          <a:p>
            <a:pPr marL="515938" indent="-515938">
              <a:buFont typeface="+mj-lt"/>
              <a:buAutoNum type="alphaLcParenR"/>
            </a:pPr>
            <a:r>
              <a:rPr lang="en-US" sz="2400" dirty="0"/>
              <a:t>Mary is glad she borrowed the funds because her real interest rate has fallen.</a:t>
            </a:r>
          </a:p>
          <a:p>
            <a:pPr marL="515938" indent="-515938">
              <a:buFont typeface="+mj-lt"/>
              <a:buAutoNum type="alphaLcParenR"/>
            </a:pPr>
            <a:r>
              <a:rPr lang="en-US" sz="2400" dirty="0"/>
              <a:t>Mary is sorry she borrowed funds, since her real interest rate is now 9%.</a:t>
            </a:r>
          </a:p>
        </p:txBody>
      </p:sp>
      <p:sp>
        <p:nvSpPr>
          <p:cNvPr id="5" name="Rectangle 4"/>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572092921"/>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3" end="3"/>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14400"/>
            <a:ext cx="8991600" cy="5441950"/>
          </a:xfrm>
        </p:spPr>
        <p:txBody>
          <a:bodyPr>
            <a:noAutofit/>
          </a:bodyPr>
          <a:lstStyle/>
          <a:p>
            <a:r>
              <a:rPr lang="en-US" sz="2200" dirty="0">
                <a:solidFill>
                  <a:srgbClr val="0070C0"/>
                </a:solidFill>
              </a:rPr>
              <a:t>Sarah</a:t>
            </a:r>
            <a:r>
              <a:rPr lang="en-US" sz="2200" dirty="0"/>
              <a:t> works for a firm that automatically adjusts her wages to the annual rate of inflation. </a:t>
            </a:r>
          </a:p>
          <a:p>
            <a:r>
              <a:rPr lang="en-US" sz="2200" dirty="0">
                <a:solidFill>
                  <a:srgbClr val="990033"/>
                </a:solidFill>
              </a:rPr>
              <a:t>Bob </a:t>
            </a:r>
            <a:r>
              <a:rPr lang="en-US" sz="2200" dirty="0"/>
              <a:t>works for a firm that grants its employees a 5% annual income increase. </a:t>
            </a:r>
          </a:p>
          <a:p>
            <a:r>
              <a:rPr lang="en-US" sz="2200" dirty="0">
                <a:solidFill>
                  <a:schemeClr val="accent3">
                    <a:lumMod val="75000"/>
                  </a:schemeClr>
                </a:solidFill>
              </a:rPr>
              <a:t>Milt</a:t>
            </a:r>
            <a:r>
              <a:rPr lang="en-US" sz="2200" dirty="0"/>
              <a:t> is retired and receives two payments: a pension payment that is fixed at $2,000 per month and a Social Security payment of $1,000 per month. The Social Security payment is indexed to the inflation rate in the community.</a:t>
            </a:r>
          </a:p>
          <a:p>
            <a:pPr marL="347663" indent="-347663">
              <a:buFont typeface="+mj-lt"/>
              <a:buAutoNum type="alphaLcParenR"/>
            </a:pPr>
            <a:r>
              <a:rPr lang="en-US" sz="2200" dirty="0">
                <a:solidFill>
                  <a:srgbClr val="0070C0"/>
                </a:solidFill>
              </a:rPr>
              <a:t>Suppose the rate of inflation is 8% this year. </a:t>
            </a:r>
            <a:r>
              <a:rPr lang="en-US" sz="2200" dirty="0"/>
              <a:t>Describe the effect of this inflation rate on Sarah, Bob, and Milt. Who is left in worse shape with this inflation? Does anyone end up better off despite this inflation rate? Explain your answer.</a:t>
            </a:r>
          </a:p>
          <a:p>
            <a:pPr marL="347663" indent="-347663">
              <a:buFont typeface="+mj-lt"/>
              <a:buAutoNum type="alphaLcParenR"/>
            </a:pPr>
            <a:r>
              <a:rPr lang="en-US" sz="2200" dirty="0">
                <a:solidFill>
                  <a:srgbClr val="990033"/>
                </a:solidFill>
              </a:rPr>
              <a:t>Suppose the rate of inflation is 20% this year. </a:t>
            </a:r>
            <a:r>
              <a:rPr lang="en-US" sz="2200" dirty="0"/>
              <a:t>Describe the effect of this inflation rate on Sarah, Bob, and Milt. </a:t>
            </a:r>
          </a:p>
          <a:p>
            <a:r>
              <a:rPr lang="en-US" sz="2200" dirty="0"/>
              <a:t>			</a:t>
            </a:r>
            <a:r>
              <a:rPr lang="en-US" sz="1800" b="0" i="1" dirty="0">
                <a:solidFill>
                  <a:srgbClr val="E46C0A"/>
                </a:solidFill>
                <a:hlinkClick r:id="rId2" action="ppaction://hlinksldjump"/>
              </a:rPr>
              <a:t>Explanation here</a:t>
            </a:r>
            <a:endParaRPr lang="en-US" sz="1800" b="0" i="1" dirty="0">
              <a:solidFill>
                <a:srgbClr val="E46C0A"/>
              </a:solidFill>
            </a:endParaRPr>
          </a:p>
        </p:txBody>
      </p:sp>
      <p:sp>
        <p:nvSpPr>
          <p:cNvPr id="5" name="Rectangle 4"/>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3"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2211672185"/>
      </p:ext>
    </p:extLst>
  </p:cSld>
  <p:clrMapOvr>
    <a:masterClrMapping/>
  </p:clrMapOvr>
  <p:transition>
    <p:fade thruBlk="1"/>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991600" cy="5441950"/>
          </a:xfrm>
        </p:spPr>
        <p:txBody>
          <a:bodyPr>
            <a:noAutofit/>
          </a:bodyPr>
          <a:lstStyle/>
          <a:p>
            <a:r>
              <a:rPr lang="en-US" sz="1800" dirty="0"/>
              <a:t>(Answers to previous question) </a:t>
            </a:r>
            <a:r>
              <a:rPr lang="en-US" sz="1800" b="0" dirty="0"/>
              <a:t>With an inflation rate of 8% for the year, Sarah finds that her income is automatically adjusted upward by that 8%: </a:t>
            </a:r>
            <a:r>
              <a:rPr lang="en-US" sz="1800" dirty="0"/>
              <a:t>Sarah’s real income has not changed, since prices rose by 8%, as did her income</a:t>
            </a:r>
            <a:r>
              <a:rPr lang="en-US" sz="1800" b="0" dirty="0"/>
              <a:t>. Bob’s income will rise by 5% even though the inflation rate was 8%: </a:t>
            </a:r>
            <a:r>
              <a:rPr lang="en-US" sz="1800" dirty="0"/>
              <a:t>Bob is worse off, </a:t>
            </a:r>
            <a:r>
              <a:rPr lang="en-US" sz="1800" b="0" dirty="0"/>
              <a:t>since his nominal income rose by an amount smaller than he needed to stay even with the inflation rate. Bob has less purchasing power than he did initially. </a:t>
            </a:r>
            <a:r>
              <a:rPr lang="en-US" sz="1800" dirty="0"/>
              <a:t>Milt’s situation is complicated: </a:t>
            </a:r>
            <a:r>
              <a:rPr lang="en-US" sz="1800" b="0" dirty="0"/>
              <a:t>his pension from his former employer does not adjust with the inflation rate: this implies that Milt will now have less purchasing power from his fixed pension of $2,000 per month than he did initially. Milt’s government-provided retirement payment maintains its real value, since it is adjusted with changes in the rate of inflation. </a:t>
            </a:r>
            <a:r>
              <a:rPr lang="en-US" sz="1800" dirty="0"/>
              <a:t>Overall, Milt has less purchasing power than he did initially. No one in this example ends up better off despite this inflation rate.</a:t>
            </a:r>
          </a:p>
          <a:p>
            <a:r>
              <a:rPr lang="en-US" sz="1800" b="0" dirty="0"/>
              <a:t>Again, </a:t>
            </a:r>
            <a:r>
              <a:rPr lang="en-US" sz="1800" dirty="0"/>
              <a:t>Sarah’s purchasing power is not affected, </a:t>
            </a:r>
            <a:r>
              <a:rPr lang="en-US" sz="1800" b="0" dirty="0"/>
              <a:t>since her nominal income is adjusted each year based upon the rate of inflation. </a:t>
            </a:r>
            <a:r>
              <a:rPr lang="en-US" sz="1800" dirty="0"/>
              <a:t>Bob is much worse off this year</a:t>
            </a:r>
            <a:r>
              <a:rPr lang="en-US" sz="1800" b="0" dirty="0"/>
              <a:t>, since the overall price level rose 20% while his nominal income only rose 5%. </a:t>
            </a:r>
            <a:r>
              <a:rPr lang="en-US" sz="1800" dirty="0"/>
              <a:t>Milt’s fixed pension sees an even bigger erosion in its purchasing power </a:t>
            </a:r>
            <a:r>
              <a:rPr lang="en-US" sz="1800" b="0" dirty="0"/>
              <a:t>than in part (a), while his government-provided retirement payment maintains its real value.</a:t>
            </a:r>
            <a:endParaRPr lang="en-US" sz="1800" dirty="0"/>
          </a:p>
        </p:txBody>
      </p:sp>
      <p:sp>
        <p:nvSpPr>
          <p:cNvPr id="5" name="Rectangle 4"/>
          <p:cNvSpPr/>
          <p:nvPr/>
        </p:nvSpPr>
        <p:spPr>
          <a:xfrm>
            <a:off x="83181" y="6307666"/>
            <a:ext cx="1057163" cy="369332"/>
          </a:xfrm>
          <a:prstGeom prst="rect">
            <a:avLst/>
          </a:prstGeom>
        </p:spPr>
        <p:txBody>
          <a:bodyPr wrap="none">
            <a:spAutoFit/>
          </a:bodyPr>
          <a:lstStyle/>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To Next </a:t>
            </a:r>
          </a:p>
          <a:p>
            <a:pPr algn="ctr" fontAlgn="auto">
              <a:spcBef>
                <a:spcPts val="0"/>
              </a:spcBef>
              <a:spcAft>
                <a:spcPts val="0"/>
              </a:spcAft>
              <a:defRPr/>
            </a:pPr>
            <a:r>
              <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hlinkClick r:id="rId2" action="ppaction://hlinksldjump"/>
              </a:rPr>
              <a:t>Active Learning</a:t>
            </a:r>
            <a:endParaRPr lang="en-US" sz="900" b="1" spc="60" dirty="0">
              <a:ln w="9000" cmpd="sng">
                <a:noFill/>
                <a:prstDash val="solid"/>
              </a:ln>
              <a:solidFill>
                <a:schemeClr val="accent6">
                  <a:lumMod val="75000"/>
                </a:schemeClr>
              </a:solidFill>
              <a:effectLst>
                <a:reflection blurRad="12700" stA="28000" endPos="45000" dist="1000" dir="5400000" sy="-100000" algn="bl" rotWithShape="0"/>
              </a:effectLst>
              <a:latin typeface="Century Gothic" pitchFamily="34" charset="0"/>
              <a:cs typeface="Courier New" pitchFamily="49" charset="0"/>
            </a:endParaRPr>
          </a:p>
        </p:txBody>
      </p:sp>
    </p:spTree>
    <p:extLst>
      <p:ext uri="{BB962C8B-B14F-4D97-AF65-F5344CB8AC3E}">
        <p14:creationId xmlns:p14="http://schemas.microsoft.com/office/powerpoint/2010/main" val="3920306777"/>
      </p:ext>
    </p:extLst>
  </p:cSld>
  <p:clrMapOvr>
    <a:masterClrMapping/>
  </p:clrMapOvr>
  <p:transition>
    <p:fade thruBlk="1"/>
  </p:transition>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66800"/>
          </a:xfrm>
        </p:spPr>
        <p:txBody>
          <a:bodyPr>
            <a:normAutofit fontScale="90000"/>
          </a:bodyPr>
          <a:lstStyle/>
          <a:p>
            <a:r>
              <a:rPr lang="en-US" spc="0" dirty="0"/>
              <a:t>WINNERS AND LOSERS FROM INFLATION</a:t>
            </a:r>
          </a:p>
        </p:txBody>
      </p:sp>
      <p:pic>
        <p:nvPicPr>
          <p:cNvPr id="6" name="Content Placeholder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886200" y="4267200"/>
            <a:ext cx="1519829" cy="2396067"/>
          </a:xfrm>
          <a:prstGeom prst="rect">
            <a:avLst/>
          </a:prstGeom>
          <a:ln>
            <a:noFill/>
          </a:ln>
          <a:effectLst>
            <a:outerShdw blurRad="292100" dist="139700" dir="2700000" algn="tl" rotWithShape="0">
              <a:srgbClr val="333333">
                <a:alpha val="65000"/>
              </a:srgbClr>
            </a:outerShdw>
          </a:effectLst>
        </p:spPr>
      </p:pic>
      <p:sp>
        <p:nvSpPr>
          <p:cNvPr id="7" name="Content Placeholder 6"/>
          <p:cNvSpPr>
            <a:spLocks noGrp="1"/>
          </p:cNvSpPr>
          <p:nvPr>
            <p:ph idx="1"/>
          </p:nvPr>
        </p:nvSpPr>
        <p:spPr>
          <a:xfrm>
            <a:off x="228600" y="1371600"/>
            <a:ext cx="8153400" cy="4724400"/>
          </a:xfrm>
        </p:spPr>
        <p:txBody>
          <a:bodyPr/>
          <a:lstStyle/>
          <a:p>
            <a:r>
              <a:rPr lang="en-US" dirty="0"/>
              <a:t>Americans who took out mortgages in the early 1970s quickly found their </a:t>
            </a:r>
            <a:r>
              <a:rPr lang="en-US" dirty="0">
                <a:solidFill>
                  <a:srgbClr val="0070C0"/>
                </a:solidFill>
              </a:rPr>
              <a:t>real payments reduced by higher-than-expected inflation. </a:t>
            </a:r>
          </a:p>
          <a:p>
            <a:pPr lvl="1"/>
            <a:r>
              <a:rPr lang="en-US" i="1" dirty="0">
                <a:solidFill>
                  <a:schemeClr val="tx1">
                    <a:lumMod val="65000"/>
                    <a:lumOff val="35000"/>
                  </a:schemeClr>
                </a:solidFill>
              </a:rPr>
              <a:t>(By 1983, the purchasing power of a dollar was only 45% of what it had been in 1973.)</a:t>
            </a:r>
          </a:p>
        </p:txBody>
      </p:sp>
      <p:pic>
        <p:nvPicPr>
          <p:cNvPr id="8" name="Content Placeholder 4"/>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2296565" y="4373032"/>
            <a:ext cx="1587536" cy="21844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0639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 presetClass="entr" presetSubtype="4"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7" name="Picture 6" descr="Screen Shot 2015-04-01 at 10.13.22 PM.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362200" y="2590800"/>
            <a:ext cx="5892800" cy="4097407"/>
          </a:xfrm>
          <a:prstGeom prst="rect">
            <a:avLst/>
          </a:prstGeom>
        </p:spPr>
      </p:pic>
      <p:sp>
        <p:nvSpPr>
          <p:cNvPr id="2" name="Title 1"/>
          <p:cNvSpPr>
            <a:spLocks noGrp="1"/>
          </p:cNvSpPr>
          <p:nvPr>
            <p:ph type="title"/>
          </p:nvPr>
        </p:nvSpPr>
        <p:spPr>
          <a:xfrm>
            <a:off x="0" y="152400"/>
            <a:ext cx="9144000" cy="838200"/>
          </a:xfrm>
        </p:spPr>
        <p:txBody>
          <a:bodyPr>
            <a:normAutofit fontScale="90000"/>
          </a:bodyPr>
          <a:lstStyle/>
          <a:p>
            <a:r>
              <a:rPr lang="en-US" spc="0" dirty="0"/>
              <a:t>INFLATION IS EASY; DISINFLATION IS HARD</a:t>
            </a:r>
          </a:p>
        </p:txBody>
      </p:sp>
      <p:sp>
        <p:nvSpPr>
          <p:cNvPr id="3" name="Content Placeholder 2"/>
          <p:cNvSpPr>
            <a:spLocks noGrp="1"/>
          </p:cNvSpPr>
          <p:nvPr>
            <p:ph idx="1"/>
          </p:nvPr>
        </p:nvSpPr>
        <p:spPr>
          <a:xfrm>
            <a:off x="76200" y="1143000"/>
            <a:ext cx="8991600" cy="3048000"/>
          </a:xfrm>
        </p:spPr>
        <p:txBody>
          <a:bodyPr>
            <a:noAutofit/>
          </a:bodyPr>
          <a:lstStyle/>
          <a:p>
            <a:r>
              <a:rPr lang="en-US" sz="2800" dirty="0"/>
              <a:t>The policies needed to slow prices usually cause unemployment.</a:t>
            </a:r>
          </a:p>
          <a:p>
            <a:r>
              <a:rPr lang="en-US" sz="2800" i="1" dirty="0">
                <a:solidFill>
                  <a:srgbClr val="990033"/>
                </a:solidFill>
              </a:rPr>
              <a:t>Disinflation</a:t>
            </a:r>
            <a:r>
              <a:rPr lang="en-US" sz="2800" dirty="0"/>
              <a:t> </a:t>
            </a:r>
            <a:r>
              <a:rPr lang="en-US" sz="2800" b="0" dirty="0"/>
              <a:t>is the process of bringing the inflation rate down.</a:t>
            </a:r>
            <a:endParaRPr lang="en-US" sz="2800" dirty="0"/>
          </a:p>
        </p:txBody>
      </p:sp>
      <p:sp>
        <p:nvSpPr>
          <p:cNvPr id="6" name="Rectangle 5"/>
          <p:cNvSpPr/>
          <p:nvPr/>
        </p:nvSpPr>
        <p:spPr>
          <a:xfrm>
            <a:off x="4038600" y="6324600"/>
            <a:ext cx="2455411" cy="261610"/>
          </a:xfrm>
          <a:prstGeom prst="rect">
            <a:avLst/>
          </a:prstGeom>
        </p:spPr>
        <p:txBody>
          <a:bodyPr wrap="none">
            <a:spAutoFit/>
          </a:bodyPr>
          <a:lstStyle/>
          <a:p>
            <a:r>
              <a:rPr lang="en-US" sz="1100" i="1" dirty="0">
                <a:solidFill>
                  <a:schemeClr val="tx1">
                    <a:lumMod val="65000"/>
                    <a:lumOff val="35000"/>
                  </a:schemeClr>
                </a:solidFill>
                <a:latin typeface="Century Gothic"/>
                <a:cs typeface="Century Gothic"/>
              </a:rPr>
              <a:t>Source: Bureau of Labor Statistics</a:t>
            </a:r>
          </a:p>
        </p:txBody>
      </p:sp>
      <p:sp>
        <p:nvSpPr>
          <p:cNvPr id="5" name="Rectangle 4"/>
          <p:cNvSpPr/>
          <p:nvPr/>
        </p:nvSpPr>
        <p:spPr>
          <a:xfrm>
            <a:off x="228600" y="3352800"/>
            <a:ext cx="2133600" cy="2585323"/>
          </a:xfrm>
          <a:prstGeom prst="rect">
            <a:avLst/>
          </a:prstGeom>
        </p:spPr>
        <p:txBody>
          <a:bodyPr wrap="square">
            <a:spAutoFit/>
          </a:bodyPr>
          <a:lstStyle/>
          <a:p>
            <a:r>
              <a:rPr lang="en-US" b="1" i="1" dirty="0">
                <a:solidFill>
                  <a:schemeClr val="tx1">
                    <a:lumMod val="65000"/>
                    <a:lumOff val="35000"/>
                  </a:schemeClr>
                </a:solidFill>
                <a:latin typeface="Century Gothic"/>
                <a:cs typeface="Century Gothic"/>
              </a:rPr>
              <a:t>In the 1970s and early 1980s,  bringing inflation down required a temporary but very large increase in the unemployment rate.</a:t>
            </a:r>
          </a:p>
        </p:txBody>
      </p:sp>
    </p:spTree>
    <p:extLst>
      <p:ext uri="{BB962C8B-B14F-4D97-AF65-F5344CB8AC3E}">
        <p14:creationId xmlns:p14="http://schemas.microsoft.com/office/powerpoint/2010/main" val="2826085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143000"/>
            <a:ext cx="8458200" cy="5060950"/>
          </a:xfrm>
        </p:spPr>
        <p:txBody>
          <a:bodyPr>
            <a:noAutofit/>
          </a:bodyPr>
          <a:lstStyle/>
          <a:p>
            <a:pPr marL="171450" indent="0">
              <a:buNone/>
            </a:pPr>
            <a:r>
              <a:rPr lang="en-US" sz="3200" dirty="0"/>
              <a:t>You have just been awarded a cost-of-living increase tied to the CPI. The CPI has gone from 110 to 112. If your salary is $30,000 per year before the increase, what will it be after the CPI increase is factored in?</a:t>
            </a:r>
          </a:p>
          <a:p>
            <a:pPr marL="457200" indent="-166688">
              <a:buFont typeface="+mj-lt"/>
              <a:buAutoNum type="alphaLcParenR"/>
            </a:pPr>
            <a:r>
              <a:rPr lang="en-US" sz="2800" dirty="0"/>
              <a:t>$29,464</a:t>
            </a:r>
          </a:p>
          <a:p>
            <a:pPr marL="457200" indent="-166688">
              <a:buFont typeface="+mj-lt"/>
              <a:buAutoNum type="alphaLcParenR"/>
            </a:pPr>
            <a:r>
              <a:rPr lang="en-US" sz="2800" dirty="0"/>
              <a:t>$30,545</a:t>
            </a:r>
          </a:p>
          <a:p>
            <a:pPr marL="457200" indent="-166688">
              <a:buFont typeface="+mj-lt"/>
              <a:buAutoNum type="alphaLcParenR"/>
            </a:pPr>
            <a:r>
              <a:rPr lang="en-US" sz="2800" dirty="0"/>
              <a:t>$30,600</a:t>
            </a:r>
          </a:p>
          <a:p>
            <a:pPr marL="457200" indent="-166688">
              <a:buFont typeface="+mj-lt"/>
              <a:buAutoNum type="alphaLcParenR"/>
            </a:pPr>
            <a:r>
              <a:rPr lang="en-US" sz="2800" dirty="0"/>
              <a:t>$33,600</a:t>
            </a:r>
          </a:p>
        </p:txBody>
      </p:sp>
      <p:pic>
        <p:nvPicPr>
          <p:cNvPr id="4" name="Picture 3" descr="cohdra_100_2918.JPG"/>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15000" y="3810000"/>
            <a:ext cx="3200400" cy="2396578"/>
          </a:xfrm>
          <a:prstGeom prst="rect">
            <a:avLst/>
          </a:prstGeom>
          <a:noFill/>
          <a:ln>
            <a:noFill/>
          </a:ln>
        </p:spPr>
      </p:pic>
    </p:spTree>
    <p:extLst>
      <p:ext uri="{BB962C8B-B14F-4D97-AF65-F5344CB8AC3E}">
        <p14:creationId xmlns:p14="http://schemas.microsoft.com/office/powerpoint/2010/main" val="1653794674"/>
      </p:ext>
    </p:extLst>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3">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95ad1a792e7828ca492521aea17b12f2931c3dea"/>
</p:tagLst>
</file>

<file path=ppt/theme/theme1.xml><?xml version="1.0" encoding="utf-8"?>
<a:theme xmlns:a="http://schemas.openxmlformats.org/drawingml/2006/main" name="4e Krugman_Dynamic PPTs_Ch05">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6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Newest 2e theme">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Custom 1">
      <a:majorFont>
        <a:latin typeface="Garamond"/>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0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11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12_Stone ppt Theme1">
  <a:themeElements>
    <a:clrScheme name="Custom 2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7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1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1_Krugman 3e main content">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8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9_Custom Design">
  <a:themeElements>
    <a:clrScheme name="Krugman 3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4F81BD"/>
      </a:hlink>
      <a:folHlink>
        <a:srgbClr val="C3D69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newer Krugman 3e theme</Template>
  <TotalTime>8906</TotalTime>
  <Words>2835</Words>
  <Application>Microsoft Macintosh PowerPoint</Application>
  <PresentationFormat>On-screen Show (4:3)</PresentationFormat>
  <Paragraphs>301</Paragraphs>
  <Slides>49</Slides>
  <Notes>25</Notes>
  <HiddenSlides>0</HiddenSlides>
  <MMClips>0</MMClips>
  <ScaleCrop>false</ScaleCrop>
  <HeadingPairs>
    <vt:vector size="8" baseType="variant">
      <vt:variant>
        <vt:lpstr>Fonts Used</vt:lpstr>
      </vt:variant>
      <vt:variant>
        <vt:i4>11</vt:i4>
      </vt:variant>
      <vt:variant>
        <vt:lpstr>Theme</vt:lpstr>
      </vt:variant>
      <vt:variant>
        <vt:i4>12</vt:i4>
      </vt:variant>
      <vt:variant>
        <vt:lpstr>Embedded OLE Servers</vt:lpstr>
      </vt:variant>
      <vt:variant>
        <vt:i4>1</vt:i4>
      </vt:variant>
      <vt:variant>
        <vt:lpstr>Slide Titles</vt:lpstr>
      </vt:variant>
      <vt:variant>
        <vt:i4>49</vt:i4>
      </vt:variant>
    </vt:vector>
  </HeadingPairs>
  <TitlesOfParts>
    <vt:vector size="73" baseType="lpstr">
      <vt:lpstr>Myriad Pro</vt:lpstr>
      <vt:lpstr>Arial</vt:lpstr>
      <vt:lpstr>Calibri</vt:lpstr>
      <vt:lpstr>Candara</vt:lpstr>
      <vt:lpstr>Century Gothic</vt:lpstr>
      <vt:lpstr>Gill Sans</vt:lpstr>
      <vt:lpstr>Gill Sans MT</vt:lpstr>
      <vt:lpstr>Gill Sans MT Condensed</vt:lpstr>
      <vt:lpstr>Tw Cen MT</vt:lpstr>
      <vt:lpstr>Verdana</vt:lpstr>
      <vt:lpstr>Wingdings</vt:lpstr>
      <vt:lpstr>4e Krugman_Dynamic PPTs_Ch05</vt:lpstr>
      <vt:lpstr>6_Custom Design</vt:lpstr>
      <vt:lpstr>1_Newest 2e theme</vt:lpstr>
      <vt:lpstr>10_Stone ppt Theme1</vt:lpstr>
      <vt:lpstr>11_Stone ppt Theme1</vt:lpstr>
      <vt:lpstr>12_Stone ppt Theme1</vt:lpstr>
      <vt:lpstr>7_Custom Design</vt:lpstr>
      <vt:lpstr>11_Krugman 3e main content</vt:lpstr>
      <vt:lpstr>Krugman 3e main content</vt:lpstr>
      <vt:lpstr>1_Krugman 3e main content</vt:lpstr>
      <vt:lpstr>8_Custom Design</vt:lpstr>
      <vt:lpstr>9_Custom Design</vt:lpstr>
      <vt:lpstr>Equation</vt:lpstr>
      <vt:lpstr>Economics 2220 Principles Of Macroeconomics</vt:lpstr>
      <vt:lpstr>PowerPoint Presentation</vt:lpstr>
      <vt:lpstr>HITTING THE “BRAKING” POINT</vt:lpstr>
      <vt:lpstr>THE U.S. UNEMPLOYMENT RATE, 1948–2014</vt:lpstr>
      <vt:lpstr>DEFINING UNEMPLOYMENT</vt:lpstr>
      <vt:lpstr>DEFINING UNEMPLOYMENT</vt:lpstr>
      <vt:lpstr>PowerPoint Presentation</vt:lpstr>
      <vt:lpstr>THE SIGNIFICANCE OF THE UNEMPLOYMENT RATE</vt:lpstr>
      <vt:lpstr>PROBLEMS WITH UNEMPLOYMENT STATISTICS</vt:lpstr>
      <vt:lpstr>ALTERNATIVE MEASURES OF UNEMPLOYMENT, 1994–2014</vt:lpstr>
      <vt:lpstr>PowerPoint Presentation</vt:lpstr>
      <vt:lpstr>PowerPoint Presentation</vt:lpstr>
      <vt:lpstr>DEFINING UNEMPLOYMENT</vt:lpstr>
      <vt:lpstr>UNEMPLOYMENT RATES AND DEMOGRAPHICS</vt:lpstr>
      <vt:lpstr>GROWTH AND UNEMPLOYMENT</vt:lpstr>
      <vt:lpstr>GROWTH AND CHANGES IN UNEMPLOYMENT, 1949–2013</vt:lpstr>
      <vt:lpstr>Failure to Launch</vt:lpstr>
      <vt:lpstr>THE NATURAL RATE OF UNEMPLOYMENT</vt:lpstr>
      <vt:lpstr>LABOR MARKET FLOWS IN AN AVERAGE MONTH IN 2007</vt:lpstr>
      <vt:lpstr>FRICTIONAL UNEMPLOYMENT</vt:lpstr>
      <vt:lpstr>DURATION OF UNEMPLOYMENT, 2007</vt:lpstr>
      <vt:lpstr>STRUCTURAL UNEMPLOYMENT</vt:lpstr>
      <vt:lpstr>STRUCTURAL UNEMPLOYMENT</vt:lpstr>
      <vt:lpstr>STRUCTURAL UNEMPLOYMENT</vt:lpstr>
      <vt:lpstr>MINIMUM WAGE AND UNEMPLOYMENT</vt:lpstr>
      <vt:lpstr>NATURAL UNEMPLOYMENT AROUND THE OECD</vt:lpstr>
      <vt:lpstr>PowerPoint Presentation</vt:lpstr>
      <vt:lpstr>Take a look…</vt:lpstr>
      <vt:lpstr>THE NATURAL RATE OF UNEMPLOYMENT</vt:lpstr>
      <vt:lpstr>CYCLICAL UNEMPLOYMENT</vt:lpstr>
      <vt:lpstr>CHANGES IN THE NATURAL RATE OF UNEMPLOYMENT</vt:lpstr>
      <vt:lpstr>THE CHANGING MAKEUP OF THE U.S. LABOR FORCE, 1948–2014</vt:lpstr>
      <vt:lpstr>PowerPoint Presentation</vt:lpstr>
      <vt:lpstr>PowerPoint Presentation</vt:lpstr>
      <vt:lpstr>INFLATION AND DEFLATION</vt:lpstr>
      <vt:lpstr>THE LEVEL OF PRICES DOESN’T MATTER</vt:lpstr>
      <vt:lpstr>THE RATE OF CHANGE DOES MATTER</vt:lpstr>
      <vt:lpstr>THE PRICE LEVEL VS. THE INFLATION RATE, 1960–2014</vt:lpstr>
      <vt:lpstr>WHAT HIGH INFLATION COSTS</vt:lpstr>
      <vt:lpstr>Israel’s experience with inflation</vt:lpstr>
      <vt:lpstr>WHAT INFLATION COSTS</vt:lpstr>
      <vt:lpstr>WHAT INFLATION COSTS</vt:lpstr>
      <vt:lpstr>WINNERS AND LOSERS FROM INFLATION</vt:lpstr>
      <vt:lpstr>PowerPoint Presentation</vt:lpstr>
      <vt:lpstr>PowerPoint Presentation</vt:lpstr>
      <vt:lpstr>PowerPoint Presentation</vt:lpstr>
      <vt:lpstr>WINNERS AND LOSERS FROM INFLATION</vt:lpstr>
      <vt:lpstr>INFLATION IS EASY; DISINFLATION IS HARD</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Solina Lindahl</dc:creator>
  <cp:keywords/>
  <dc:description/>
  <cp:lastModifiedBy>Zhigang Feng</cp:lastModifiedBy>
  <cp:revision>285</cp:revision>
  <dcterms:created xsi:type="dcterms:W3CDTF">2012-07-21T02:43:21Z</dcterms:created>
  <dcterms:modified xsi:type="dcterms:W3CDTF">2025-03-04T02:09:16Z</dcterms:modified>
  <cp:category/>
</cp:coreProperties>
</file>