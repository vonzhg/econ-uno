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8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9.xml" ContentType="application/vnd.openxmlformats-officedocument.theme+xml"/>
  <Override PartName="/ppt/slideLayouts/slideLayout23.xml" ContentType="application/vnd.openxmlformats-officedocument.presentationml.slideLayout+xml"/>
  <Override PartName="/ppt/theme/theme10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11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1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  <p:sldMasterId id="2147483700" r:id="rId2"/>
    <p:sldMasterId id="2147483704" r:id="rId3"/>
    <p:sldMasterId id="2147483708" r:id="rId4"/>
    <p:sldMasterId id="2147483711" r:id="rId5"/>
    <p:sldMasterId id="2147483714" r:id="rId6"/>
    <p:sldMasterId id="2147483717" r:id="rId7"/>
    <p:sldMasterId id="2147483719" r:id="rId8"/>
    <p:sldMasterId id="2147483811" r:id="rId9"/>
    <p:sldMasterId id="2147483853" r:id="rId10"/>
    <p:sldMasterId id="2147483855" r:id="rId11"/>
    <p:sldMasterId id="2147483859" r:id="rId12"/>
    <p:sldMasterId id="2147483862" r:id="rId13"/>
    <p:sldMasterId id="2147483866" r:id="rId14"/>
  </p:sldMasterIdLst>
  <p:notesMasterIdLst>
    <p:notesMasterId r:id="rId42"/>
  </p:notesMasterIdLst>
  <p:handoutMasterIdLst>
    <p:handoutMasterId r:id="rId43"/>
  </p:handoutMasterIdLst>
  <p:sldIdLst>
    <p:sldId id="314" r:id="rId15"/>
    <p:sldId id="263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4" r:id="rId30"/>
    <p:sldId id="303" r:id="rId31"/>
    <p:sldId id="320" r:id="rId32"/>
    <p:sldId id="321" r:id="rId33"/>
    <p:sldId id="322" r:id="rId34"/>
    <p:sldId id="323" r:id="rId35"/>
    <p:sldId id="324" r:id="rId36"/>
    <p:sldId id="305" r:id="rId37"/>
    <p:sldId id="306" r:id="rId38"/>
    <p:sldId id="307" r:id="rId39"/>
    <p:sldId id="308" r:id="rId40"/>
    <p:sldId id="309" r:id="rId41"/>
  </p:sldIdLst>
  <p:sldSz cx="9144000" cy="6858000" type="screen4x3"/>
  <p:notesSz cx="6858000" cy="9144000"/>
  <p:custDataLst>
    <p:tags r:id="rId4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te" initials="K" lastIdx="11" clrIdx="0"/>
  <p:cmAuthor id="1" name="Bonilla, Edgar" initials="EB" lastIdx="4" clrIdx="1"/>
  <p:cmAuthor id="2" name="Solina Lindahl" initials="SL" lastIdx="9" clrIdx="2"/>
  <p:cmAuthor id="3" name="hbadmin" initials="h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A0D494-0168-7E40-83E0-18EE5263076E}" v="14" dt="2026-03-25T20:51:34.4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0830" autoAdjust="0"/>
  </p:normalViewPr>
  <p:slideViewPr>
    <p:cSldViewPr>
      <p:cViewPr varScale="1">
        <p:scale>
          <a:sx n="108" d="100"/>
          <a:sy n="108" d="100"/>
        </p:scale>
        <p:origin x="230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-3800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slide" Target="slides/slide25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9" Type="http://schemas.openxmlformats.org/officeDocument/2006/relationships/slide" Target="slides/slide15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40" Type="http://schemas.openxmlformats.org/officeDocument/2006/relationships/slide" Target="slides/slide26.xml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5.xml"/><Relationship Id="rId31" Type="http://schemas.openxmlformats.org/officeDocument/2006/relationships/slide" Target="slides/slide17.xml"/><Relationship Id="rId44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handoutMaster" Target="handoutMasters/handoutMaster1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presProps" Target="presProps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gang Feng" userId="5e8ed788b3896709" providerId="LiveId" clId="{76117361-275D-5F3D-9A69-8E7D0158DA09}"/>
    <pc:docChg chg="custSel addSld delSld modSld sldOrd">
      <pc:chgData name="Zhigang Feng" userId="5e8ed788b3896709" providerId="LiveId" clId="{76117361-275D-5F3D-9A69-8E7D0158DA09}" dt="2026-03-25T20:51:38.918" v="38" actId="2696"/>
      <pc:docMkLst>
        <pc:docMk/>
      </pc:docMkLst>
      <pc:sldChg chg="modSp del mod ord">
        <pc:chgData name="Zhigang Feng" userId="5e8ed788b3896709" providerId="LiveId" clId="{76117361-275D-5F3D-9A69-8E7D0158DA09}" dt="2026-03-25T20:51:11.788" v="29" actId="2696"/>
        <pc:sldMkLst>
          <pc:docMk/>
          <pc:sldMk cId="0" sldId="315"/>
        </pc:sldMkLst>
        <pc:spChg chg="mod">
          <ac:chgData name="Zhigang Feng" userId="5e8ed788b3896709" providerId="LiveId" clId="{76117361-275D-5F3D-9A69-8E7D0158DA09}" dt="2026-03-25T20:48:47.644" v="1" actId="1076"/>
          <ac:spMkLst>
            <pc:docMk/>
            <pc:sldMk cId="0" sldId="315"/>
            <ac:spMk id="101" creationId="{00000000-0000-0000-0000-000000000000}"/>
          </ac:spMkLst>
        </pc:spChg>
      </pc:sldChg>
      <pc:sldChg chg="del ord">
        <pc:chgData name="Zhigang Feng" userId="5e8ed788b3896709" providerId="LiveId" clId="{76117361-275D-5F3D-9A69-8E7D0158DA09}" dt="2026-03-25T20:51:13.075" v="30" actId="2696"/>
        <pc:sldMkLst>
          <pc:docMk/>
          <pc:sldMk cId="0" sldId="316"/>
        </pc:sldMkLst>
      </pc:sldChg>
      <pc:sldChg chg="del ord">
        <pc:chgData name="Zhigang Feng" userId="5e8ed788b3896709" providerId="LiveId" clId="{76117361-275D-5F3D-9A69-8E7D0158DA09}" dt="2026-03-25T20:51:14.132" v="31" actId="2696"/>
        <pc:sldMkLst>
          <pc:docMk/>
          <pc:sldMk cId="0" sldId="317"/>
        </pc:sldMkLst>
      </pc:sldChg>
      <pc:sldChg chg="del ord">
        <pc:chgData name="Zhigang Feng" userId="5e8ed788b3896709" providerId="LiveId" clId="{76117361-275D-5F3D-9A69-8E7D0158DA09}" dt="2026-03-25T20:51:16.754" v="32" actId="2696"/>
        <pc:sldMkLst>
          <pc:docMk/>
          <pc:sldMk cId="0" sldId="318"/>
        </pc:sldMkLst>
      </pc:sldChg>
      <pc:sldChg chg="del ord">
        <pc:chgData name="Zhigang Feng" userId="5e8ed788b3896709" providerId="LiveId" clId="{76117361-275D-5F3D-9A69-8E7D0158DA09}" dt="2026-03-25T20:51:38.918" v="38" actId="2696"/>
        <pc:sldMkLst>
          <pc:docMk/>
          <pc:sldMk cId="0" sldId="319"/>
        </pc:sldMkLst>
      </pc:sldChg>
      <pc:sldChg chg="addSp delSp modSp new del mod">
        <pc:chgData name="Zhigang Feng" userId="5e8ed788b3896709" providerId="LiveId" clId="{76117361-275D-5F3D-9A69-8E7D0158DA09}" dt="2026-03-25T20:48:59.530" v="9" actId="2696"/>
        <pc:sldMkLst>
          <pc:docMk/>
          <pc:sldMk cId="690688716" sldId="320"/>
        </pc:sldMkLst>
        <pc:spChg chg="add del mod">
          <ac:chgData name="Zhigang Feng" userId="5e8ed788b3896709" providerId="LiveId" clId="{76117361-275D-5F3D-9A69-8E7D0158DA09}" dt="2026-03-25T20:48:57.302" v="6"/>
          <ac:spMkLst>
            <pc:docMk/>
            <pc:sldMk cId="690688716" sldId="320"/>
            <ac:spMk id="4" creationId="{D62273A3-BFE0-A00C-87F9-839A4DE05724}"/>
          </ac:spMkLst>
        </pc:spChg>
        <pc:spChg chg="add del mod">
          <ac:chgData name="Zhigang Feng" userId="5e8ed788b3896709" providerId="LiveId" clId="{76117361-275D-5F3D-9A69-8E7D0158DA09}" dt="2026-03-25T20:48:58.582" v="8"/>
          <ac:spMkLst>
            <pc:docMk/>
            <pc:sldMk cId="690688716" sldId="320"/>
            <ac:spMk id="5" creationId="{3DAB6F89-38A5-6645-2F8D-166EBF804A70}"/>
          </ac:spMkLst>
        </pc:spChg>
      </pc:sldChg>
      <pc:sldChg chg="addSp modSp new del">
        <pc:chgData name="Zhigang Feng" userId="5e8ed788b3896709" providerId="LiveId" clId="{76117361-275D-5F3D-9A69-8E7D0158DA09}" dt="2026-03-25T20:49:11.235" v="12" actId="2696"/>
        <pc:sldMkLst>
          <pc:docMk/>
          <pc:sldMk cId="2625226144" sldId="320"/>
        </pc:sldMkLst>
        <pc:spChg chg="add mod">
          <ac:chgData name="Zhigang Feng" userId="5e8ed788b3896709" providerId="LiveId" clId="{76117361-275D-5F3D-9A69-8E7D0158DA09}" dt="2026-03-25T20:49:08.450" v="11" actId="767"/>
          <ac:spMkLst>
            <pc:docMk/>
            <pc:sldMk cId="2625226144" sldId="320"/>
            <ac:spMk id="4" creationId="{02A17D63-C015-2D38-30EA-A44CBBE23B16}"/>
          </ac:spMkLst>
        </pc:spChg>
      </pc:sldChg>
      <pc:sldChg chg="addSp delSp modSp add mod setBg delAnim">
        <pc:chgData name="Zhigang Feng" userId="5e8ed788b3896709" providerId="LiveId" clId="{76117361-275D-5F3D-9A69-8E7D0158DA09}" dt="2026-03-25T20:50:20.270" v="21" actId="1076"/>
        <pc:sldMkLst>
          <pc:docMk/>
          <pc:sldMk cId="2629002735" sldId="320"/>
        </pc:sldMkLst>
        <pc:spChg chg="del">
          <ac:chgData name="Zhigang Feng" userId="5e8ed788b3896709" providerId="LiveId" clId="{76117361-275D-5F3D-9A69-8E7D0158DA09}" dt="2026-03-25T20:49:28.609" v="14" actId="478"/>
          <ac:spMkLst>
            <pc:docMk/>
            <pc:sldMk cId="2629002735" sldId="320"/>
            <ac:spMk id="3" creationId="{E030C75C-ACE3-3BA9-B1AC-21841EBC8F42}"/>
          </ac:spMkLst>
        </pc:spChg>
        <pc:spChg chg="add del mod">
          <ac:chgData name="Zhigang Feng" userId="5e8ed788b3896709" providerId="LiveId" clId="{76117361-275D-5F3D-9A69-8E7D0158DA09}" dt="2026-03-25T20:49:31.425" v="15" actId="478"/>
          <ac:spMkLst>
            <pc:docMk/>
            <pc:sldMk cId="2629002735" sldId="320"/>
            <ac:spMk id="5" creationId="{71C55FC5-A446-5C4A-98A5-5E949E22A2D7}"/>
          </ac:spMkLst>
        </pc:spChg>
        <pc:spChg chg="add mod">
          <ac:chgData name="Zhigang Feng" userId="5e8ed788b3896709" providerId="LiveId" clId="{76117361-275D-5F3D-9A69-8E7D0158DA09}" dt="2026-03-25T20:50:20.270" v="21" actId="1076"/>
          <ac:spMkLst>
            <pc:docMk/>
            <pc:sldMk cId="2629002735" sldId="320"/>
            <ac:spMk id="6" creationId="{8A7E1FC2-B324-3B32-4763-9181BE692E4B}"/>
          </ac:spMkLst>
        </pc:spChg>
      </pc:sldChg>
      <pc:sldChg chg="addSp modSp add mod">
        <pc:chgData name="Zhigang Feng" userId="5e8ed788b3896709" providerId="LiveId" clId="{76117361-275D-5F3D-9A69-8E7D0158DA09}" dt="2026-03-25T20:50:32.527" v="23" actId="1076"/>
        <pc:sldMkLst>
          <pc:docMk/>
          <pc:sldMk cId="4113614143" sldId="321"/>
        </pc:sldMkLst>
        <pc:spChg chg="add mod">
          <ac:chgData name="Zhigang Feng" userId="5e8ed788b3896709" providerId="LiveId" clId="{76117361-275D-5F3D-9A69-8E7D0158DA09}" dt="2026-03-25T20:50:32.527" v="23" actId="1076"/>
          <ac:spMkLst>
            <pc:docMk/>
            <pc:sldMk cId="4113614143" sldId="321"/>
            <ac:spMk id="3" creationId="{1EB00310-80D1-D529-E525-8A0BAF82B2FF}"/>
          </ac:spMkLst>
        </pc:spChg>
      </pc:sldChg>
      <pc:sldChg chg="addSp modSp add mod">
        <pc:chgData name="Zhigang Feng" userId="5e8ed788b3896709" providerId="LiveId" clId="{76117361-275D-5F3D-9A69-8E7D0158DA09}" dt="2026-03-25T20:50:42.710" v="25" actId="1076"/>
        <pc:sldMkLst>
          <pc:docMk/>
          <pc:sldMk cId="1376007084" sldId="322"/>
        </pc:sldMkLst>
        <pc:spChg chg="add mod">
          <ac:chgData name="Zhigang Feng" userId="5e8ed788b3896709" providerId="LiveId" clId="{76117361-275D-5F3D-9A69-8E7D0158DA09}" dt="2026-03-25T20:50:42.710" v="25" actId="1076"/>
          <ac:spMkLst>
            <pc:docMk/>
            <pc:sldMk cId="1376007084" sldId="322"/>
            <ac:spMk id="3" creationId="{83263A55-94E4-DB0E-3AA4-895801B2E5FE}"/>
          </ac:spMkLst>
        </pc:spChg>
      </pc:sldChg>
      <pc:sldChg chg="addSp modSp add mod">
        <pc:chgData name="Zhigang Feng" userId="5e8ed788b3896709" providerId="LiveId" clId="{76117361-275D-5F3D-9A69-8E7D0158DA09}" dt="2026-03-25T20:51:08.173" v="28"/>
        <pc:sldMkLst>
          <pc:docMk/>
          <pc:sldMk cId="3024290887" sldId="323"/>
        </pc:sldMkLst>
        <pc:spChg chg="add mod">
          <ac:chgData name="Zhigang Feng" userId="5e8ed788b3896709" providerId="LiveId" clId="{76117361-275D-5F3D-9A69-8E7D0158DA09}" dt="2026-03-25T20:50:55.492" v="27" actId="1076"/>
          <ac:spMkLst>
            <pc:docMk/>
            <pc:sldMk cId="3024290887" sldId="323"/>
            <ac:spMk id="3" creationId="{F342C8A4-C871-088C-E6C4-66D5A9055BF5}"/>
          </ac:spMkLst>
        </pc:spChg>
        <pc:graphicFrameChg chg="add mod">
          <ac:chgData name="Zhigang Feng" userId="5e8ed788b3896709" providerId="LiveId" clId="{76117361-275D-5F3D-9A69-8E7D0158DA09}" dt="2026-03-25T20:51:08.173" v="28"/>
          <ac:graphicFrameMkLst>
            <pc:docMk/>
            <pc:sldMk cId="3024290887" sldId="323"/>
            <ac:graphicFrameMk id="4" creationId="{3E2ACAC8-1C6F-C056-20EF-81269E25DFB8}"/>
          </ac:graphicFrameMkLst>
        </pc:graphicFrameChg>
      </pc:sldChg>
      <pc:sldChg chg="addSp delSp modSp add mod">
        <pc:chgData name="Zhigang Feng" userId="5e8ed788b3896709" providerId="LiveId" clId="{76117361-275D-5F3D-9A69-8E7D0158DA09}" dt="2026-03-25T20:51:36.846" v="37" actId="1076"/>
        <pc:sldMkLst>
          <pc:docMk/>
          <pc:sldMk cId="2635637265" sldId="324"/>
        </pc:sldMkLst>
        <pc:spChg chg="del">
          <ac:chgData name="Zhigang Feng" userId="5e8ed788b3896709" providerId="LiveId" clId="{76117361-275D-5F3D-9A69-8E7D0158DA09}" dt="2026-03-25T20:51:25.001" v="34" actId="478"/>
          <ac:spMkLst>
            <pc:docMk/>
            <pc:sldMk cId="2635637265" sldId="324"/>
            <ac:spMk id="3" creationId="{93BBBFD8-6871-6FE4-9676-0C882BF14156}"/>
          </ac:spMkLst>
        </pc:spChg>
        <pc:spChg chg="add del mod">
          <ac:chgData name="Zhigang Feng" userId="5e8ed788b3896709" providerId="LiveId" clId="{76117361-275D-5F3D-9A69-8E7D0158DA09}" dt="2026-03-25T20:51:28.201" v="35" actId="478"/>
          <ac:spMkLst>
            <pc:docMk/>
            <pc:sldMk cId="2635637265" sldId="324"/>
            <ac:spMk id="5" creationId="{39E9934A-89F7-5AA3-64DD-A116B5B65B9D}"/>
          </ac:spMkLst>
        </pc:spChg>
        <pc:spChg chg="add mod">
          <ac:chgData name="Zhigang Feng" userId="5e8ed788b3896709" providerId="LiveId" clId="{76117361-275D-5F3D-9A69-8E7D0158DA09}" dt="2026-03-25T20:51:36.846" v="37" actId="1076"/>
          <ac:spMkLst>
            <pc:docMk/>
            <pc:sldMk cId="2635637265" sldId="324"/>
            <ac:spMk id="6" creationId="{BD42045F-1F68-4F24-D32C-C93C4750D39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7D7A8-C652-304E-B365-B25232E336F2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D5F51-2719-624B-AA3D-8BBD63EA2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971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7F735-3B07-40E0-90B2-09F3232ABD28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470D8-1F41-4A2B-8AFF-DD19730E7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551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</a:t>
            </a:r>
            <a:r>
              <a:rPr lang="en-US" baseline="0" dirty="0"/>
              <a:t> Credit: </a:t>
            </a:r>
            <a:r>
              <a:rPr lang="en-US" baseline="0" dirty="0" err="1"/>
              <a:t>Fabrizio</a:t>
            </a:r>
            <a:r>
              <a:rPr lang="en-US" baseline="0" dirty="0"/>
              <a:t> </a:t>
            </a:r>
            <a:r>
              <a:rPr lang="en-US" baseline="0" dirty="0" err="1"/>
              <a:t>Constantini</a:t>
            </a:r>
            <a:r>
              <a:rPr lang="en-US" baseline="0" dirty="0"/>
              <a:t>/The New York Times/</a:t>
            </a:r>
            <a:r>
              <a:rPr lang="en-US" baseline="0" dirty="0" err="1"/>
              <a:t>Reduax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83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A594AA-3819-401E-963F-31006EA8D53E}" type="slidenum">
              <a:rPr lang="en-US">
                <a:solidFill>
                  <a:prstClr val="black"/>
                </a:solidFill>
                <a:latin typeface="Calibri"/>
              </a:rPr>
              <a:pPr/>
              <a:t>7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0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4904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9050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29D3FB49-2012-47F1-88F7-43AE1B3402DE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7</a:t>
            </a:fld>
            <a:endParaRPr lang="en-US" sz="1200" dirty="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A594AA-3819-401E-963F-31006EA8D53E}" type="slidenum">
              <a:rPr lang="en-US">
                <a:solidFill>
                  <a:prstClr val="black"/>
                </a:solidFill>
                <a:latin typeface="Calibri"/>
              </a:rPr>
              <a:pPr/>
              <a:t>8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0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4904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9050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29D3FB49-2012-47F1-88F7-43AE1B3402DE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8</a:t>
            </a:fld>
            <a:endParaRPr lang="en-US" sz="1200" dirty="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54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94BA54-CB53-45DC-9F7A-66E057DCBAC3}" type="slidenum">
              <a:rPr lang="en-US">
                <a:solidFill>
                  <a:prstClr val="black"/>
                </a:solidFill>
                <a:latin typeface="Calibri"/>
              </a:rPr>
              <a:pPr/>
              <a:t>13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2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4925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9254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CC3664D3-18FE-40FC-8FE4-15852F85BD5B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13</a:t>
            </a:fld>
            <a:endParaRPr lang="en-US" sz="1200" dirty="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Credit:</a:t>
            </a:r>
            <a:r>
              <a:rPr lang="en-US" baseline="0" dirty="0"/>
              <a:t> AP Photo/Chris O’Meara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4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32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55B82-5A8E-13EF-AE20-010F14131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9177DC-7F0A-3AFC-5B18-37D434BC6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77FB9-D754-7530-6FB1-8F946363B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2F01D-2708-8AF3-0AB5-E9EE4948F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50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7FED-C51B-1E9F-0A90-1C79C0D81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57559-4885-23F8-1108-0F3FE555B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81E01-E7D3-1DA4-F780-38024F34F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073A1-CB01-9289-11D5-C84812AB2F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37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BFF47-7DA6-6A2B-997C-DA0A3CE0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7A816-F23B-B8E3-2DE2-C534DD4C6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418EE-C55C-C151-8E80-B63EE46E5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151E9-068C-F49F-9A73-301BF638C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40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AEFA8-B353-DD12-52E3-8415E1B57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C06F8-5EEF-B4CE-5856-8009D7668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AED87-D081-D704-6B0F-5FAC5DEFB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04CAD-1A2A-4A85-4B73-1606265D1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34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BE56C-C0D3-7010-A17D-1D2E1E022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67D133-59A5-B6D0-41EE-874506D85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E89637-5F35-8D71-9824-8AF0C3FE9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8C827-8F80-E196-880B-AC64DFF703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5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D9B38D-6FAB-4224-B804-8FAA4899FE1D}" type="slidenum">
              <a:rPr lang="en-US">
                <a:solidFill>
                  <a:prstClr val="black"/>
                </a:solidFill>
                <a:latin typeface="Calibri"/>
              </a:rPr>
              <a:pPr/>
              <a:t>24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45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4945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9459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91DDCC8C-0381-4A1A-A283-715A328F09D7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24</a:t>
            </a:fld>
            <a:endParaRPr lang="en-US" sz="1200" dirty="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061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5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hyperlink" Target="http://krugman.blogs.nytimes.com/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hyperlink" Target="http://www.gregmankiw.blogspot.com/" TargetMode="External"/><Relationship Id="rId1" Type="http://schemas.openxmlformats.org/officeDocument/2006/relationships/slideMaster" Target="../slideMasters/slideMaster3.xml"/><Relationship Id="rId6" Type="http://schemas.openxmlformats.org/officeDocument/2006/relationships/hyperlink" Target="http://www.freakonomics.com/blog/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hyperlink" Target="http://research.stlouisfed.org/fred2/" TargetMode="External"/><Relationship Id="rId4" Type="http://schemas.openxmlformats.org/officeDocument/2006/relationships/hyperlink" Target="http://marginalrevolution.com/" TargetMode="External"/><Relationship Id="rId9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entury Gothic"/>
                <a:cs typeface="Century Gothic"/>
              </a:defRPr>
            </a:lvl1pPr>
            <a:lvl2pPr>
              <a:defRPr sz="2800" baseline="0">
                <a:latin typeface="Century Gothic"/>
                <a:cs typeface="Century Gothic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403844364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00886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pic>
        <p:nvPicPr>
          <p:cNvPr id="5" name="Picture 4" descr="Screen Shot 2014-12-20 at 5.27.50 PM.png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0130" y="15463"/>
            <a:ext cx="1532200" cy="15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33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/>
              <a:t>ECONOMICS</a:t>
            </a:r>
            <a:endParaRPr lang="en-US" dirty="0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85422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Copyright 2015 Worth Publishers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07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/>
              <a:t>ECONOMICS</a:t>
            </a:r>
            <a:endParaRPr lang="en-US" dirty="0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552060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andara" pitchFamily="34" charset="0"/>
              </a:defRPr>
            </a:lvl1pPr>
            <a:lvl2pPr>
              <a:defRPr sz="2800" baseline="0">
                <a:latin typeface="Candara" pitchFamily="34" charset="0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4"/>
          <p:cNvSpPr txBox="1">
            <a:spLocks/>
          </p:cNvSpPr>
          <p:nvPr/>
        </p:nvSpPr>
        <p:spPr>
          <a:xfrm>
            <a:off x="2324100" y="6629400"/>
            <a:ext cx="48006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100" i="0" kern="120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Copyright 2013 Worth Publishers</a:t>
            </a:r>
          </a:p>
        </p:txBody>
      </p:sp>
    </p:spTree>
    <p:extLst>
      <p:ext uri="{BB962C8B-B14F-4D97-AF65-F5344CB8AC3E}">
        <p14:creationId xmlns:p14="http://schemas.microsoft.com/office/powerpoint/2010/main" val="926553203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4763" y="5410200"/>
            <a:ext cx="9136063" cy="1447800"/>
          </a:xfrm>
          <a:prstGeom prst="rect">
            <a:avLst/>
          </a:prstGeom>
          <a:solidFill>
            <a:schemeClr val="tx1">
              <a:alpha val="81000"/>
            </a:schemeClr>
          </a:solidFill>
        </p:spPr>
        <p:txBody>
          <a:bodyPr anchor="ctr">
            <a:normAutofit/>
          </a:bodyPr>
          <a:lstStyle/>
          <a:p>
            <a:pPr algn="r">
              <a:defRPr/>
            </a:pPr>
            <a:endParaRPr lang="en-US" sz="6000" spc="50" dirty="0">
              <a:latin typeface="Candar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5580102"/>
            <a:ext cx="2438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6600" b="1" spc="-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/>
                <a:ea typeface="Tahoma" pitchFamily="34" charset="0"/>
                <a:cs typeface="Tw Cen MT"/>
              </a:rPr>
              <a:t>11(26)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418306" y="5981184"/>
            <a:ext cx="1358900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kern="0" cap="all" spc="300" dirty="0">
                <a:solidFill>
                  <a:schemeClr val="bg1">
                    <a:lumMod val="75000"/>
                  </a:schemeClr>
                </a:solidFill>
                <a:latin typeface="Tw Cen MT"/>
                <a:ea typeface="+mj-ea"/>
                <a:cs typeface="Tw Cen MT"/>
              </a:rPr>
              <a:t>Chapter</a:t>
            </a:r>
            <a:endParaRPr lang="en-US" sz="2000" b="1" kern="0" cap="all" spc="300" dirty="0">
              <a:solidFill>
                <a:schemeClr val="bg1">
                  <a:lumMod val="75000"/>
                </a:schemeClr>
              </a:solidFill>
              <a:latin typeface="Tw Cen MT"/>
              <a:ea typeface="+mj-ea"/>
              <a:cs typeface="Tw Cen M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-15356"/>
            <a:ext cx="7696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1400" b="1" i="0" kern="0" cap="small" spc="4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itchFamily="34" charset="0"/>
              </a:rPr>
              <a:t>Slides by Solina Lindahl</a:t>
            </a: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1378226" y="5486400"/>
            <a:ext cx="7772400" cy="14478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5400" b="1" i="0" u="none" strike="noStrike" kern="1200" cap="none" spc="100" baseline="0" smtClean="0">
                <a:solidFill>
                  <a:srgbClr val="FF3300"/>
                </a:solidFill>
                <a:effectLst/>
                <a:latin typeface="Candara" pitchFamily="34" charset="0"/>
                <a:ea typeface="+mj-ea"/>
                <a:cs typeface="+mj-cs"/>
              </a:defRPr>
            </a:lvl1pPr>
          </a:lstStyle>
          <a:p>
            <a:r>
              <a:rPr lang="en-US" sz="4400" b="1" kern="0" spc="500" dirty="0">
                <a:latin typeface="Tw Cen MT"/>
                <a:cs typeface="Tw Cen MT"/>
              </a:rPr>
              <a:t>Income</a:t>
            </a:r>
            <a:r>
              <a:rPr lang="en-US" sz="4400" b="1" kern="0" spc="500" baseline="0" dirty="0">
                <a:latin typeface="Tw Cen MT"/>
                <a:cs typeface="Tw Cen MT"/>
              </a:rPr>
              <a:t> and </a:t>
            </a:r>
          </a:p>
          <a:p>
            <a:r>
              <a:rPr lang="en-US" sz="4400" b="1" kern="0" spc="500" baseline="0" dirty="0">
                <a:latin typeface="Tw Cen MT"/>
                <a:cs typeface="Tw Cen MT"/>
              </a:rPr>
              <a:t>Expenditure</a:t>
            </a:r>
            <a:endParaRPr lang="en-US" sz="4400" b="1" kern="0" spc="500" dirty="0">
              <a:latin typeface="Tw Cen MT"/>
              <a:cs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422087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0" y="6019800"/>
            <a:ext cx="9144000" cy="0"/>
          </a:xfrm>
          <a:prstGeom prst="line">
            <a:avLst/>
          </a:prstGeom>
          <a:ln w="57150" cmpd="sng">
            <a:solidFill>
              <a:srgbClr val="F8EF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57150" cmpd="sng">
            <a:solidFill>
              <a:srgbClr val="F8EF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0" y="1490246"/>
            <a:ext cx="9144000" cy="338554"/>
          </a:xfrm>
          <a:prstGeom prst="rect">
            <a:avLst/>
          </a:prstGeom>
          <a:solidFill>
            <a:srgbClr val="CCFF33">
              <a:alpha val="4705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 b="0" i="0" spc="300" dirty="0">
                <a:solidFill>
                  <a:srgbClr val="F79646"/>
                </a:solidFill>
                <a:latin typeface="+mn-lt"/>
              </a:rPr>
              <a:t>SOME GOOD BLOGS AND OTHER SITES TO GET THE JUICES FLOWING: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7391400" cy="784225"/>
          </a:xfrm>
          <a:prstGeom prst="rect">
            <a:avLst/>
          </a:prstGeom>
          <a:noFill/>
          <a:effectLst/>
        </p:spPr>
        <p:txBody>
          <a:bodyPr/>
          <a:lstStyle>
            <a:lvl1pPr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r>
              <a:rPr lang="en-US" sz="4800" b="0" dirty="0">
                <a:solidFill>
                  <a:schemeClr val="accent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Arial" pitchFamily="34" charset="0"/>
              </a:rPr>
              <a:t>FOOD FOR</a:t>
            </a:r>
            <a:r>
              <a:rPr lang="en-US" sz="4800" b="0" baseline="0" dirty="0">
                <a:solidFill>
                  <a:schemeClr val="accent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Arial" pitchFamily="34" charset="0"/>
              </a:rPr>
              <a:t> </a:t>
            </a:r>
            <a:r>
              <a:rPr lang="en-US" sz="4800" b="0" dirty="0">
                <a:solidFill>
                  <a:schemeClr val="accent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Arial" pitchFamily="34" charset="0"/>
              </a:rPr>
              <a:t>THOUGHT….</a:t>
            </a:r>
          </a:p>
        </p:txBody>
      </p:sp>
      <p:pic>
        <p:nvPicPr>
          <p:cNvPr id="7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29200" y="4572000"/>
            <a:ext cx="2724150" cy="51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45213" y="3048000"/>
            <a:ext cx="2998787" cy="539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0400" y="2971800"/>
            <a:ext cx="2686050" cy="657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pic>
        <p:nvPicPr>
          <p:cNvPr id="15" name="Picture 14" descr="Screen Shot 2014-12-20 at 8.46.54 PM.png">
            <a:hlinkClick r:id="rId8"/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74" y="2971800"/>
            <a:ext cx="2692400" cy="5921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 descr="Screen Shot 2014-12-20 at 8.49.18 PM.png">
            <a:hlinkClick r:id="rId10"/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00" y="4343400"/>
            <a:ext cx="2336800" cy="8416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60000">
            <a:off x="8016447" y="97714"/>
            <a:ext cx="787093" cy="13285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517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2813" indent="-5715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120015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2pPr>
            <a:lvl3pPr marL="137160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3pPr>
            <a:lvl4pPr marL="17145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4pPr>
            <a:lvl5pPr marL="21717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ight Arrow 8">
            <a:hlinkClick r:id="" action="ppaction://noaction"/>
          </p:cNvPr>
          <p:cNvSpPr/>
          <p:nvPr userDrawn="1"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pic>
        <p:nvPicPr>
          <p:cNvPr id="10" name="Picture 9">
            <a:hlinkClick r:id="" action="ppaction://noaction"/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4496" y="6028188"/>
            <a:ext cx="1143000" cy="856979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>
            <a:off x="0" y="1219200"/>
            <a:ext cx="9144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4" name="Down Arrow Callout 3"/>
          <p:cNvSpPr/>
          <p:nvPr userDrawn="1"/>
        </p:nvSpPr>
        <p:spPr>
          <a:xfrm>
            <a:off x="0" y="-29407"/>
            <a:ext cx="3200400" cy="1477207"/>
          </a:xfrm>
          <a:prstGeom prst="downArrowCallout">
            <a:avLst>
              <a:gd name="adj1" fmla="val 32640"/>
              <a:gd name="adj2" fmla="val 28183"/>
              <a:gd name="adj3" fmla="val 25000"/>
              <a:gd name="adj4" fmla="val 61794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/>
              </a:rPr>
              <a:t>     What you will learn in this chapter</a:t>
            </a:r>
          </a:p>
        </p:txBody>
      </p:sp>
      <p:sp>
        <p:nvSpPr>
          <p:cNvPr id="6" name="Isosceles Triangle 5"/>
          <p:cNvSpPr/>
          <p:nvPr userDrawn="1"/>
        </p:nvSpPr>
        <p:spPr>
          <a:xfrm rot="5400000">
            <a:off x="95250" y="95250"/>
            <a:ext cx="304799" cy="266700"/>
          </a:xfrm>
          <a:prstGeom prst="triangle">
            <a:avLst>
              <a:gd name="adj" fmla="val 525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33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2813" indent="-5715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120015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2pPr>
            <a:lvl3pPr marL="137160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3pPr>
            <a:lvl4pPr marL="17145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4pPr>
            <a:lvl5pPr marL="21717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ight Arrow 8">
            <a:hlinkClick r:id="" action="ppaction://noaction"/>
          </p:cNvPr>
          <p:cNvSpPr/>
          <p:nvPr userDrawn="1"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1219200"/>
            <a:ext cx="9144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4" name="Down Arrow Callout 3"/>
          <p:cNvSpPr/>
          <p:nvPr userDrawn="1"/>
        </p:nvSpPr>
        <p:spPr>
          <a:xfrm>
            <a:off x="0" y="-29407"/>
            <a:ext cx="3200400" cy="1477207"/>
          </a:xfrm>
          <a:prstGeom prst="downArrowCallout">
            <a:avLst>
              <a:gd name="adj1" fmla="val 32640"/>
              <a:gd name="adj2" fmla="val 28183"/>
              <a:gd name="adj3" fmla="val 25000"/>
              <a:gd name="adj4" fmla="val 61794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/>
              </a:rPr>
              <a:t>     What you will learn in this chapter</a:t>
            </a:r>
          </a:p>
        </p:txBody>
      </p:sp>
      <p:sp>
        <p:nvSpPr>
          <p:cNvPr id="6" name="Isosceles Triangle 5"/>
          <p:cNvSpPr/>
          <p:nvPr userDrawn="1"/>
        </p:nvSpPr>
        <p:spPr>
          <a:xfrm rot="5400000">
            <a:off x="95250" y="95250"/>
            <a:ext cx="304799" cy="266700"/>
          </a:xfrm>
          <a:prstGeom prst="triangle">
            <a:avLst>
              <a:gd name="adj" fmla="val 525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055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These lecture notes are incomplete without having attended lectures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AEB94A-9A28-46F6-B1E3-A1FF8FD4E0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50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entury Gothic"/>
                <a:cs typeface="Century Gothic"/>
              </a:defRPr>
            </a:lvl1pPr>
            <a:lvl2pPr>
              <a:defRPr sz="3200" baseline="0">
                <a:latin typeface="Century Gothic"/>
                <a:cs typeface="Century Gothic"/>
              </a:defRPr>
            </a:lvl2pPr>
            <a:lvl3pPr>
              <a:defRPr sz="2800" baseline="0">
                <a:latin typeface="Century Gothic"/>
                <a:cs typeface="Century Gothic"/>
              </a:defRPr>
            </a:lvl3pPr>
            <a:lvl4pPr>
              <a:defRPr sz="2400" baseline="0">
                <a:latin typeface="Century Gothic"/>
                <a:cs typeface="Century Gothic"/>
              </a:defRPr>
            </a:lvl4pPr>
            <a:lvl5pPr>
              <a:defRPr sz="2400" baseline="0"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406293393"/>
      </p:ext>
    </p:extLst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9852625"/>
      </p:ext>
    </p:extLst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andara" pitchFamily="34" charset="0"/>
              </a:defRPr>
            </a:lvl1pPr>
            <a:lvl2pPr>
              <a:defRPr sz="3200" baseline="0">
                <a:latin typeface="Candara" pitchFamily="34" charset="0"/>
              </a:defRPr>
            </a:lvl2pPr>
            <a:lvl3pPr>
              <a:defRPr sz="2800" baseline="0">
                <a:latin typeface="Candara" pitchFamily="34" charset="0"/>
              </a:defRPr>
            </a:lvl3pPr>
            <a:lvl4pPr>
              <a:defRPr sz="2400" baseline="0">
                <a:latin typeface="Candara" pitchFamily="34" charset="0"/>
              </a:defRPr>
            </a:lvl4pPr>
            <a:lvl5pPr>
              <a:defRPr sz="24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40984043"/>
      </p:ext>
    </p:extLst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entury Gothic"/>
                <a:cs typeface="Century Gothic"/>
              </a:defRPr>
            </a:lvl1pPr>
            <a:lvl2pPr>
              <a:defRPr sz="3200" baseline="0">
                <a:latin typeface="Century Gothic"/>
                <a:cs typeface="Century Gothic"/>
              </a:defRPr>
            </a:lvl2pPr>
            <a:lvl3pPr>
              <a:defRPr sz="2800" baseline="0">
                <a:latin typeface="Century Gothic"/>
                <a:cs typeface="Century Gothic"/>
              </a:defRPr>
            </a:lvl3pPr>
            <a:lvl4pPr>
              <a:defRPr sz="2400" baseline="0">
                <a:latin typeface="Century Gothic"/>
                <a:cs typeface="Century Gothic"/>
              </a:defRPr>
            </a:lvl4pPr>
            <a:lvl5pPr>
              <a:defRPr sz="2400" baseline="0"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359308934"/>
      </p:ext>
    </p:extLst>
  </p:cSld>
  <p:clrMapOvr>
    <a:masterClrMapping/>
  </p:clrMapOvr>
  <p:transition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3167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767197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0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4BACC6">
                    <a:lumMod val="75000"/>
                  </a:srgbClr>
                </a:solidFill>
              </a:rPr>
              <a:t>ECONOMICS</a:t>
            </a: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3214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4F44DE6-8B77-400C-8F66-8B96B952C9BA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44739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>
                <a:solidFill>
                  <a:srgbClr val="4BACC6">
                    <a:lumMod val="75000"/>
                  </a:srgbClr>
                </a:solidFill>
              </a:rPr>
              <a:t>ECONOMICS</a:t>
            </a:r>
            <a:endParaRPr lang="en-US" dirty="0">
              <a:solidFill>
                <a:srgbClr val="4BACC6">
                  <a:lumMod val="75000"/>
                </a:srgbClr>
              </a:solidFill>
            </a:endParaRP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8492248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172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08650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517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03489" y="0"/>
            <a:ext cx="1140511" cy="771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88659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1861850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andara" pitchFamily="34" charset="0"/>
              </a:defRPr>
            </a:lvl1pPr>
            <a:lvl2pPr>
              <a:defRPr sz="3200" baseline="0">
                <a:latin typeface="Candara" pitchFamily="34" charset="0"/>
              </a:defRPr>
            </a:lvl2pPr>
            <a:lvl3pPr>
              <a:defRPr sz="2800" baseline="0">
                <a:latin typeface="Candara" pitchFamily="34" charset="0"/>
              </a:defRPr>
            </a:lvl3pPr>
            <a:lvl4pPr>
              <a:defRPr sz="2400" baseline="0">
                <a:latin typeface="Candara" pitchFamily="34" charset="0"/>
              </a:defRPr>
            </a:lvl4pPr>
            <a:lvl5pPr>
              <a:defRPr sz="24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6299959"/>
      </p:ext>
    </p:extLst>
  </p:cSld>
  <p:clrMapOvr>
    <a:masterClrMapping/>
  </p:clrMapOvr>
  <p:transition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2527753"/>
      </p:ext>
    </p:extLst>
  </p:cSld>
  <p:clrMapOvr>
    <a:masterClrMapping/>
  </p:clrMapOvr>
  <p:transition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andara" pitchFamily="34" charset="0"/>
              </a:defRPr>
            </a:lvl1pPr>
            <a:lvl2pPr>
              <a:defRPr sz="2800" baseline="0">
                <a:latin typeface="Candara" pitchFamily="34" charset="0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4"/>
          <p:cNvSpPr txBox="1">
            <a:spLocks/>
          </p:cNvSpPr>
          <p:nvPr/>
        </p:nvSpPr>
        <p:spPr>
          <a:xfrm>
            <a:off x="2324100" y="6629400"/>
            <a:ext cx="48006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100" i="0" kern="120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2013 Worth Publishers</a:t>
            </a:r>
          </a:p>
        </p:txBody>
      </p:sp>
    </p:spTree>
    <p:extLst>
      <p:ext uri="{BB962C8B-B14F-4D97-AF65-F5344CB8AC3E}">
        <p14:creationId xmlns:p14="http://schemas.microsoft.com/office/powerpoint/2010/main" val="839276619"/>
      </p:ext>
    </p:extLst>
  </p:cSld>
  <p:clrMapOvr>
    <a:masterClrMapping/>
  </p:clrMapOvr>
  <p:transition>
    <p:fade thruBlk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153536" y="-76200"/>
            <a:ext cx="943896" cy="990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ight Arrow 8">
            <a:hlinkClick r:id="" action="ppaction://noaction"/>
          </p:cNvPr>
          <p:cNvSpPr/>
          <p:nvPr/>
        </p:nvSpPr>
        <p:spPr>
          <a:xfrm>
            <a:off x="0" y="5952053"/>
            <a:ext cx="1143000" cy="905947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1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To </a:t>
            </a:r>
            <a:r>
              <a:rPr lang="en-US" sz="11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</a:rPr>
              <a:t>Active Learning</a:t>
            </a:r>
          </a:p>
        </p:txBody>
      </p:sp>
      <p:pic>
        <p:nvPicPr>
          <p:cNvPr id="10" name="Picture 9">
            <a:hlinkClick r:id="" action="ppaction://noaction"/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4496" y="6028188"/>
            <a:ext cx="1143000" cy="856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26895" y="6209547"/>
            <a:ext cx="634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hlinkClick r:id="" action="ppaction://noaction"/>
              </a:rPr>
              <a:t>To Video</a:t>
            </a:r>
            <a:endParaRPr lang="en-US" sz="14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63719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ABB6EB-A417-44F4-A17E-A78750F4F63C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94225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andara" pitchFamily="34" charset="0"/>
              </a:defRPr>
            </a:lvl1pPr>
            <a:lvl2pPr>
              <a:defRPr sz="3200" baseline="0">
                <a:latin typeface="Candara" pitchFamily="34" charset="0"/>
              </a:defRPr>
            </a:lvl2pPr>
            <a:lvl3pPr>
              <a:defRPr sz="2800" baseline="0">
                <a:latin typeface="Candara" pitchFamily="34" charset="0"/>
              </a:defRPr>
            </a:lvl3pPr>
            <a:lvl4pPr>
              <a:defRPr sz="2400" baseline="0">
                <a:latin typeface="Candara" pitchFamily="34" charset="0"/>
              </a:defRPr>
            </a:lvl4pPr>
            <a:lvl5pPr>
              <a:defRPr sz="24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5961766"/>
      </p:ext>
    </p:extLst>
  </p:cSld>
  <p:clrMapOvr>
    <a:masterClrMapping/>
  </p:clrMapOvr>
  <p:transition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7535812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slide" Target="../slides/slide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" Target="../slides/slide4.xml"/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slide" Target="../slides/slid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slide" Target="../slides/slide2.xml"/><Relationship Id="rId4" Type="http://schemas.openxmlformats.org/officeDocument/2006/relationships/slide" Target="../slides/slid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slide" Target="../slides/slide2.xml"/><Relationship Id="rId4" Type="http://schemas.openxmlformats.org/officeDocument/2006/relationships/slide" Target="../slides/slide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Relationship Id="rId5" Type="http://schemas.openxmlformats.org/officeDocument/2006/relationships/slide" Target="../slides/slide2.xml"/><Relationship Id="rId4" Type="http://schemas.openxmlformats.org/officeDocument/2006/relationships/slide" Target="../slides/slide4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slide" Target="../slides/slide2.xml"/><Relationship Id="rId4" Type="http://schemas.openxmlformats.org/officeDocument/2006/relationships/slide" Target="../slides/slide4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3.xml"/><Relationship Id="rId4" Type="http://schemas.openxmlformats.org/officeDocument/2006/relationships/slide" Target="../slides/slide2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slide" Target="../slides/slide2.xml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5" Type="http://schemas.openxmlformats.org/officeDocument/2006/relationships/slide" Target="../slides/slide2.xml"/><Relationship Id="rId4" Type="http://schemas.openxmlformats.org/officeDocument/2006/relationships/image" Target="../media/image1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" Target="../slides/slide2.xml"/><Relationship Id="rId5" Type="http://schemas.openxmlformats.org/officeDocument/2006/relationships/image" Target="../media/image14.png"/><Relationship Id="rId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6.png"/><Relationship Id="rId4" Type="http://schemas.openxmlformats.org/officeDocument/2006/relationships/slide" Target="../slides/slid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30388"/>
            <a:ext cx="86868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hlinkClick r:id="rId3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4" action="ppaction://hlinksldjump"/>
              </a:rPr>
              <a:t>Back to Table of content</a:t>
            </a:r>
            <a:r>
              <a:rPr lang="en-US" sz="800" b="1" dirty="0">
                <a:latin typeface="Candara" pitchFamily="34" charset="0"/>
                <a:hlinkClick r:id="rId3" action="ppaction://hlinksldjump"/>
              </a:rPr>
              <a:t>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rgbClr val="CBF577">
              <a:alpha val="66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APPLICATION VIDEO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hlinkClick r:id="rId8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9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27468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22" r:id="rId3"/>
    <p:sldLayoutId id="2147483741" r:id="rId4"/>
    <p:sldLayoutId id="2147483787" r:id="rId5"/>
    <p:sldLayoutId id="2147483810" r:id="rId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400" b="0" kern="1200" spc="0" baseline="0"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  <a:latin typeface="Century Gothic"/>
          <a:ea typeface="+mj-ea"/>
          <a:cs typeface="Century Gothic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870" r:id="rId4"/>
    <p:sldLayoutId id="2147483871" r:id="rId5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Candara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rgbClr val="CBF577">
              <a:alpha val="66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PRACTICE QUESTION</a:t>
            </a:r>
          </a:p>
        </p:txBody>
      </p:sp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hlinkClick r:id="rId3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3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accent5">
              <a:lumMod val="40000"/>
              <a:lumOff val="60000"/>
              <a:alpha val="66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BUSINESS</a:t>
            </a:r>
            <a:r>
              <a:rPr lang="en-US" sz="3200" b="0" spc="60" baseline="0" dirty="0">
                <a:ln w="9000" cmpd="sng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 CASE</a:t>
            </a:r>
            <a:endParaRPr lang="en-US" sz="3200" b="0" spc="60" dirty="0">
              <a:ln w="9000" cmpd="sng">
                <a:noFill/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139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11" name="Right Arrow 10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bg2">
              <a:lumMod val="90000"/>
              <a:alpha val="66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DISCUSS</a:t>
            </a:r>
          </a:p>
        </p:txBody>
      </p:sp>
    </p:spTree>
    <p:extLst>
      <p:ext uri="{BB962C8B-B14F-4D97-AF65-F5344CB8AC3E}">
        <p14:creationId xmlns:p14="http://schemas.microsoft.com/office/powerpoint/2010/main" val="399945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869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23558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6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" y="0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ECONOMICS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410234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 txBox="1">
            <a:spLocks/>
          </p:cNvSpPr>
          <p:nvPr/>
        </p:nvSpPr>
        <p:spPr>
          <a:xfrm>
            <a:off x="3854173" y="0"/>
            <a:ext cx="2853083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b="1" i="1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F79646">
                    <a:lumMod val="75000"/>
                  </a:srgbClr>
                </a:solidFill>
              </a:rPr>
              <a:t>IN ACTION</a:t>
            </a:r>
          </a:p>
        </p:txBody>
      </p:sp>
      <p:sp>
        <p:nvSpPr>
          <p:cNvPr id="13" name="Oval 12"/>
          <p:cNvSpPr/>
          <p:nvPr/>
        </p:nvSpPr>
        <p:spPr>
          <a:xfrm>
            <a:off x="3263367" y="228600"/>
            <a:ext cx="474870" cy="48591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6225" dir="6960000" sx="122000" sy="122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rgbClr val="F79646">
                  <a:lumMod val="75000"/>
                </a:srgbClr>
              </a:solidFill>
              <a:latin typeface="Verdana"/>
              <a:cs typeface="Verdana"/>
            </a:endParaRPr>
          </a:p>
        </p:txBody>
      </p:sp>
      <p:sp>
        <p:nvSpPr>
          <p:cNvPr id="4" name="Isosceles Triangle 3"/>
          <p:cNvSpPr/>
          <p:nvPr/>
        </p:nvSpPr>
        <p:spPr>
          <a:xfrm rot="5400000">
            <a:off x="3379193" y="248348"/>
            <a:ext cx="337086" cy="381002"/>
          </a:xfrm>
          <a:prstGeom prst="triangle">
            <a:avLst>
              <a:gd name="adj" fmla="val 4997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774700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12700" y="88900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066800" y="6553200"/>
            <a:ext cx="7543800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06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841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1" i="0" kern="1200" cap="all" spc="-200" baseline="0">
          <a:solidFill>
            <a:schemeClr val="accent5">
              <a:lumMod val="75000"/>
            </a:schemeClr>
          </a:solidFill>
          <a:latin typeface="Verdana"/>
          <a:ea typeface="+mj-ea"/>
          <a:cs typeface="Verdana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ECONOMICS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410234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 txBox="1">
            <a:spLocks/>
          </p:cNvSpPr>
          <p:nvPr/>
        </p:nvSpPr>
        <p:spPr>
          <a:xfrm>
            <a:off x="3854173" y="392043"/>
            <a:ext cx="2853083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b="1" i="1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F79646">
                    <a:lumMod val="75000"/>
                  </a:srgbClr>
                </a:solidFill>
              </a:rPr>
              <a:t>IN ACTION</a:t>
            </a:r>
          </a:p>
        </p:txBody>
      </p:sp>
      <p:sp>
        <p:nvSpPr>
          <p:cNvPr id="13" name="Oval 12"/>
          <p:cNvSpPr/>
          <p:nvPr/>
        </p:nvSpPr>
        <p:spPr>
          <a:xfrm>
            <a:off x="3263367" y="589723"/>
            <a:ext cx="474870" cy="48591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6225" dir="6960000" sx="122000" sy="122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rgbClr val="F79646">
                  <a:lumMod val="75000"/>
                </a:srgbClr>
              </a:solidFill>
              <a:latin typeface="Verdana"/>
              <a:cs typeface="Verdana"/>
            </a:endParaRPr>
          </a:p>
        </p:txBody>
      </p:sp>
      <p:sp>
        <p:nvSpPr>
          <p:cNvPr id="4" name="Isosceles Triangle 3"/>
          <p:cNvSpPr/>
          <p:nvPr/>
        </p:nvSpPr>
        <p:spPr>
          <a:xfrm rot="5400000">
            <a:off x="3379193" y="640391"/>
            <a:ext cx="337086" cy="381002"/>
          </a:xfrm>
          <a:prstGeom prst="triangle">
            <a:avLst>
              <a:gd name="adj" fmla="val 4997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166743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12700" y="480943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066800" y="6553200"/>
            <a:ext cx="7543800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48912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1" i="0" kern="1200" cap="all" spc="-200" baseline="0">
          <a:solidFill>
            <a:schemeClr val="accent5">
              <a:lumMod val="75000"/>
            </a:schemeClr>
          </a:solidFill>
          <a:latin typeface="Verdana"/>
          <a:ea typeface="+mj-ea"/>
          <a:cs typeface="Verdana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0678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6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5">
              <a:lumMod val="20000"/>
              <a:lumOff val="80000"/>
              <a:alpha val="44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 w="127000" cmpd="sng">
            <a:solidFill>
              <a:schemeClr val="tx2">
                <a:lumMod val="20000"/>
                <a:lumOff val="80000"/>
                <a:alpha val="71000"/>
              </a:scheme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500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r" defTabSz="914400" rtl="0" eaLnBrk="1" latinLnBrk="0" hangingPunct="1">
        <a:spcBef>
          <a:spcPct val="0"/>
        </a:spcBef>
        <a:buNone/>
        <a:defRPr sz="4400" b="1" kern="1200" spc="-200" baseline="0">
          <a:solidFill>
            <a:schemeClr val="accent6">
              <a:lumMod val="75000"/>
            </a:schemeClr>
          </a:solidFill>
          <a:latin typeface="Candara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/>
        </p:nvSpPr>
        <p:spPr>
          <a:xfrm>
            <a:off x="0" y="0"/>
            <a:ext cx="75438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</a:rPr>
              <a:t>Active Learning: Practice</a:t>
            </a:r>
          </a:p>
        </p:txBody>
      </p:sp>
      <p:pic>
        <p:nvPicPr>
          <p:cNvPr id="12292" name="Picture 11" descr="Pencil_8160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95042" y="47416"/>
            <a:ext cx="224895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98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30388"/>
            <a:ext cx="86868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defRPr>
            </a:lvl1pPr>
          </a:lstStyle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90600" y="120650"/>
            <a:ext cx="8153400" cy="946150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i="1" kern="1200" baseline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r>
              <a:rPr lang="en-US" dirty="0">
                <a:solidFill>
                  <a:srgbClr val="F79646">
                    <a:lumMod val="75000"/>
                  </a:srgbClr>
                </a:solidFill>
              </a:rPr>
              <a:t>Take a look…..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133"/>
            <a:ext cx="990600" cy="1104743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6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32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</p:sldLayoutIdLst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/>
        </p:nvSpPr>
        <p:spPr>
          <a:xfrm>
            <a:off x="0" y="0"/>
            <a:ext cx="75438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</a:rPr>
              <a:t>Active Learning: Application</a:t>
            </a:r>
          </a:p>
        </p:txBody>
      </p:sp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TextBox 12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34184" y="304800"/>
            <a:ext cx="1609816" cy="60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098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11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533400"/>
            <a:ext cx="7772400" cy="1470025"/>
          </a:xfrm>
        </p:spPr>
        <p:txBody>
          <a:bodyPr/>
          <a:lstStyle/>
          <a:p>
            <a:r>
              <a:rPr lang="en-US" sz="2800" dirty="0"/>
              <a:t>Economics 2220</a:t>
            </a:r>
            <a:br>
              <a:rPr lang="en-US" sz="2800" dirty="0"/>
            </a:br>
            <a:r>
              <a:rPr lang="en-US" dirty="0"/>
              <a:t>Principles Of Macroeconomics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981200"/>
            <a:ext cx="6400800" cy="533400"/>
          </a:xfrm>
        </p:spPr>
        <p:txBody>
          <a:bodyPr/>
          <a:lstStyle/>
          <a:p>
            <a:r>
              <a:rPr lang="en-US" sz="2400" dirty="0"/>
              <a:t>Professor Zhigang Feng</a:t>
            </a:r>
          </a:p>
          <a:p>
            <a:endParaRPr lang="en-US" sz="2400" dirty="0"/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2286000" y="3124200"/>
            <a:ext cx="54102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spcBef>
                <a:spcPct val="50000"/>
              </a:spcBef>
            </a:pPr>
            <a:r>
              <a:rPr lang="en-US" sz="2400" u="sng" dirty="0"/>
              <a:t>Lecture 10: </a:t>
            </a:r>
          </a:p>
          <a:p>
            <a:pPr marL="228600" indent="-228600">
              <a:spcBef>
                <a:spcPct val="50000"/>
              </a:spcBef>
            </a:pPr>
            <a:r>
              <a:rPr lang="en-US" sz="2400" u="sng" dirty="0"/>
              <a:t>The Aggregate Expenditure Model</a:t>
            </a:r>
          </a:p>
          <a:p>
            <a:pPr marL="228600" indent="-228600">
              <a:spcBef>
                <a:spcPct val="50000"/>
              </a:spcBef>
              <a:buFontTx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3778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4754563"/>
          </a:xfrm>
        </p:spPr>
        <p:txBody>
          <a:bodyPr/>
          <a:lstStyle/>
          <a:p>
            <a:pPr marL="461963" indent="-342900"/>
            <a:endParaRPr lang="en-US" sz="2200" b="0" dirty="0"/>
          </a:p>
          <a:p>
            <a:pPr marL="461963" indent="-342900"/>
            <a:r>
              <a:rPr lang="en-US" sz="2200" b="0" dirty="0"/>
              <a:t>How the </a:t>
            </a:r>
            <a:r>
              <a:rPr lang="en-US" sz="2200" dirty="0">
                <a:hlinkClick r:id="rId2" action="ppaction://hlinksldjump"/>
              </a:rPr>
              <a:t>inventory adjustment process </a:t>
            </a:r>
            <a:r>
              <a:rPr lang="en-US" sz="2200" b="0" dirty="0"/>
              <a:t>moves the economy to a new equilibrium after a change in demand</a:t>
            </a:r>
          </a:p>
          <a:p>
            <a:pPr marL="461963" indent="-342900"/>
            <a:endParaRPr lang="en-US" sz="2200" b="0" dirty="0"/>
          </a:p>
          <a:p>
            <a:pPr marL="461963" indent="-342900"/>
            <a:r>
              <a:rPr lang="en-US" sz="2200" b="0" dirty="0"/>
              <a:t>Why </a:t>
            </a:r>
            <a:r>
              <a:rPr lang="en-US" sz="2200" dirty="0">
                <a:hlinkClick r:id="rId3" action="ppaction://hlinksldjump"/>
              </a:rPr>
              <a:t>investment spending is considered a leading indicator</a:t>
            </a:r>
            <a:r>
              <a:rPr lang="en-US" sz="2200" dirty="0">
                <a:hlinkClick r:id="" action="ppaction://noaction"/>
              </a:rPr>
              <a:t> </a:t>
            </a:r>
            <a:r>
              <a:rPr lang="en-US" sz="2200" b="0" dirty="0"/>
              <a:t>of the future state of the economy</a:t>
            </a:r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7998" y="6273798"/>
            <a:ext cx="11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4" action="ppaction://hlinksldjump"/>
              </a:rPr>
              <a:t>To First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4" action="ppaction://hlinksldjump"/>
              </a:rPr>
              <a:t>Active Learning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798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pc="0" dirty="0"/>
              <a:t>THE INCOME–EXPENDITURE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38600"/>
            <a:ext cx="9144000" cy="2819400"/>
          </a:xfrm>
          <a:solidFill>
            <a:schemeClr val="bg1">
              <a:alpha val="90000"/>
            </a:schemeClr>
          </a:solidFill>
        </p:spPr>
        <p:txBody>
          <a:bodyPr>
            <a:normAutofit/>
          </a:bodyPr>
          <a:lstStyle/>
          <a:p>
            <a:r>
              <a:rPr lang="en-US" sz="2800" dirty="0"/>
              <a:t>A more detailed look at how changes in spending get multiplied and how firms respond.</a:t>
            </a:r>
          </a:p>
          <a:p>
            <a:r>
              <a:rPr lang="en-US" sz="2800" i="1" dirty="0">
                <a:solidFill>
                  <a:srgbClr val="0070C0"/>
                </a:solidFill>
              </a:rPr>
              <a:t>Inventories</a:t>
            </a:r>
            <a:r>
              <a:rPr lang="en-US" sz="2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play a central role in the economy, so economists pay attention to the changes in firms’ inventories when trying to understand the direction of the economy.</a:t>
            </a:r>
          </a:p>
        </p:txBody>
      </p:sp>
    </p:spTree>
    <p:extLst>
      <p:ext uri="{BB962C8B-B14F-4D97-AF65-F5344CB8AC3E}">
        <p14:creationId xmlns:p14="http://schemas.microsoft.com/office/powerpoint/2010/main" val="17143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pc="0" dirty="0"/>
              <a:t>THE INCOME–EXPENDITURE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68"/>
              </a:spcBef>
              <a:spcAft>
                <a:spcPts val="1200"/>
              </a:spcAft>
            </a:pPr>
            <a:r>
              <a:rPr lang="en-US" dirty="0"/>
              <a:t>The assumptions we make:</a:t>
            </a:r>
          </a:p>
          <a:p>
            <a:pPr lvl="1">
              <a:spcBef>
                <a:spcPts val="168"/>
              </a:spcBef>
              <a:spcAft>
                <a:spcPts val="1200"/>
              </a:spcAft>
            </a:pP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Changes in overall spending lead to changes in aggregate output.</a:t>
            </a:r>
          </a:p>
          <a:p>
            <a:pPr lvl="1">
              <a:spcBef>
                <a:spcPts val="168"/>
              </a:spcBef>
              <a:spcAft>
                <a:spcPts val="1200"/>
              </a:spcAft>
            </a:pP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interest rate is fixed.</a:t>
            </a:r>
          </a:p>
          <a:p>
            <a:pPr lvl="1">
              <a:spcBef>
                <a:spcPts val="168"/>
              </a:spcBef>
              <a:spcAft>
                <a:spcPts val="1200"/>
              </a:spcAft>
            </a:pP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Taxes, government transfers, and government purchases are all zero.</a:t>
            </a:r>
          </a:p>
          <a:p>
            <a:pPr lvl="1">
              <a:spcBef>
                <a:spcPts val="168"/>
              </a:spcBef>
              <a:spcAft>
                <a:spcPts val="1200"/>
              </a:spcAft>
            </a:pP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Exports and imports are both zero.</a:t>
            </a:r>
          </a:p>
          <a:p>
            <a:pPr>
              <a:spcBef>
                <a:spcPts val="168"/>
              </a:spcBef>
              <a:spcAft>
                <a:spcPts val="1200"/>
              </a:spcAft>
            </a:pPr>
            <a:r>
              <a:rPr lang="en-US" sz="2800" b="0" i="1" dirty="0"/>
              <a:t>(Future chapters loosen these assumptions.)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32253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en-US" sz="4000" spc="0" dirty="0"/>
              <a:t>PLANNED AGGREGATE SPENDING AND REAL GDP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839200" cy="51816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"/>
              </a:spcBef>
              <a:spcAft>
                <a:spcPts val="1200"/>
              </a:spcAft>
            </a:pPr>
            <a:r>
              <a:rPr lang="en-US" b="0" dirty="0"/>
              <a:t>In our simplified economy, </a:t>
            </a:r>
          </a:p>
          <a:p>
            <a:pPr algn="ctr">
              <a:spcBef>
                <a:spcPts val="120"/>
              </a:spcBef>
              <a:spcAft>
                <a:spcPts val="1200"/>
              </a:spcAft>
            </a:pPr>
            <a:r>
              <a:rPr lang="en-US" i="1" dirty="0"/>
              <a:t>GDP </a:t>
            </a:r>
            <a:r>
              <a:rPr lang="en-US" dirty="0"/>
              <a:t>= </a:t>
            </a:r>
            <a:r>
              <a:rPr lang="en-US" i="1" dirty="0"/>
              <a:t>C </a:t>
            </a:r>
            <a:r>
              <a:rPr lang="en-US" dirty="0"/>
              <a:t>+ </a:t>
            </a:r>
            <a:r>
              <a:rPr lang="en-US" i="1" dirty="0"/>
              <a:t>I 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</a:p>
          <a:p>
            <a:pPr algn="ctr">
              <a:spcBef>
                <a:spcPts val="120"/>
              </a:spcBef>
              <a:spcAft>
                <a:spcPts val="1200"/>
              </a:spcAft>
            </a:pPr>
            <a:r>
              <a:rPr lang="en-US" i="1" dirty="0"/>
              <a:t>YD = GDP </a:t>
            </a:r>
          </a:p>
          <a:p>
            <a:pPr algn="ctr">
              <a:spcBef>
                <a:spcPts val="120"/>
              </a:spcBef>
              <a:spcAft>
                <a:spcPts val="1200"/>
              </a:spcAft>
            </a:pP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and our aggregate consumption function is</a:t>
            </a:r>
            <a:endParaRPr lang="en-US" sz="28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>
              <a:spcBef>
                <a:spcPts val="120"/>
              </a:spcBef>
              <a:spcAft>
                <a:spcPts val="1200"/>
              </a:spcAft>
            </a:pPr>
            <a:r>
              <a:rPr lang="en-US" i="1" dirty="0"/>
              <a:t>C = A + MPC × YD</a:t>
            </a:r>
          </a:p>
          <a:p>
            <a:pPr algn="ctr">
              <a:spcBef>
                <a:spcPts val="120"/>
              </a:spcBef>
              <a:spcAft>
                <a:spcPts val="1200"/>
              </a:spcAft>
            </a:pP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and we assume </a:t>
            </a:r>
            <a:r>
              <a:rPr lang="en-US" sz="2800" i="1" dirty="0"/>
              <a:t>I</a:t>
            </a:r>
            <a:r>
              <a:rPr lang="en-US" sz="2800" i="1" baseline="-25000" dirty="0"/>
              <a:t>planned</a:t>
            </a:r>
            <a:r>
              <a:rPr lang="en-US" sz="2800" b="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fixed</a:t>
            </a:r>
          </a:p>
          <a:p>
            <a:pPr algn="ctr">
              <a:spcBef>
                <a:spcPts val="120"/>
              </a:spcBef>
              <a:spcAft>
                <a:spcPts val="1200"/>
              </a:spcAft>
            </a:pP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</a:t>
            </a:r>
            <a:r>
              <a:rPr lang="en-US" sz="2800" b="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algn="ctr">
              <a:spcBef>
                <a:spcPts val="120"/>
              </a:spcBef>
              <a:spcAft>
                <a:spcPts val="1200"/>
              </a:spcAft>
            </a:pPr>
            <a:r>
              <a:rPr lang="en-US" sz="3000" i="1" dirty="0"/>
              <a:t>AE</a:t>
            </a:r>
            <a:r>
              <a:rPr lang="en-US" sz="3000" i="1" baseline="-25000" dirty="0"/>
              <a:t>Planned</a:t>
            </a:r>
            <a:r>
              <a:rPr lang="en-US" sz="3000" i="1" dirty="0"/>
              <a:t> </a:t>
            </a:r>
            <a:r>
              <a:rPr lang="en-US" sz="3000" dirty="0"/>
              <a:t>= </a:t>
            </a:r>
            <a:r>
              <a:rPr lang="en-US" sz="3000" i="1" dirty="0"/>
              <a:t>C </a:t>
            </a:r>
            <a:r>
              <a:rPr lang="en-US" sz="3000" dirty="0"/>
              <a:t>+ </a:t>
            </a:r>
            <a:r>
              <a:rPr lang="en-US" sz="3000" i="1" dirty="0"/>
              <a:t>I</a:t>
            </a:r>
            <a:r>
              <a:rPr lang="en-US" sz="3000" i="1" baseline="-25000" dirty="0"/>
              <a:t>Planned</a:t>
            </a:r>
          </a:p>
          <a:p>
            <a:pPr>
              <a:spcBef>
                <a:spcPts val="120"/>
              </a:spcBef>
              <a:spcAft>
                <a:spcPts val="1200"/>
              </a:spcAft>
            </a:pPr>
            <a:r>
              <a:rPr lang="en-US" sz="2800" b="0" i="1" dirty="0"/>
              <a:t>where</a:t>
            </a:r>
            <a:r>
              <a:rPr lang="en-US" sz="2800" i="1" dirty="0">
                <a:solidFill>
                  <a:srgbClr val="990033"/>
                </a:solidFill>
              </a:rPr>
              <a:t> planned aggregate spending = </a:t>
            </a:r>
            <a:r>
              <a:rPr lang="en-US" sz="2800" b="0" dirty="0"/>
              <a:t>the total amount of planned spending in the economy.</a:t>
            </a:r>
          </a:p>
        </p:txBody>
      </p:sp>
    </p:spTree>
    <p:extLst>
      <p:ext uri="{BB962C8B-B14F-4D97-AF65-F5344CB8AC3E}">
        <p14:creationId xmlns:p14="http://schemas.microsoft.com/office/powerpoint/2010/main" val="230773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WORKING WITH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1" dirty="0"/>
              <a:t>Example of the model in action:</a:t>
            </a:r>
          </a:p>
          <a:p>
            <a:r>
              <a:rPr lang="en-US" b="0" i="1" dirty="0"/>
              <a:t>Example: if </a:t>
            </a:r>
            <a:r>
              <a:rPr lang="en-US" i="1" dirty="0"/>
              <a:t>C </a:t>
            </a:r>
            <a:r>
              <a:rPr lang="en-US" dirty="0"/>
              <a:t>= 300 + 0.6 × </a:t>
            </a:r>
            <a:r>
              <a:rPr lang="en-US" i="1" dirty="0"/>
              <a:t>YD</a:t>
            </a:r>
            <a:r>
              <a:rPr lang="en-US" b="0" i="1" dirty="0"/>
              <a:t>,</a:t>
            </a:r>
            <a:r>
              <a:rPr lang="en-US" i="1" dirty="0"/>
              <a:t> </a:t>
            </a:r>
            <a:r>
              <a:rPr lang="en-US" b="0" i="1" dirty="0"/>
              <a:t>then</a:t>
            </a:r>
          </a:p>
          <a:p>
            <a:endParaRPr lang="en-US" dirty="0"/>
          </a:p>
        </p:txBody>
      </p:sp>
      <p:pic>
        <p:nvPicPr>
          <p:cNvPr id="5" name="Picture 2" descr="C:\Users\solina\Dropbox\Krugman 3e Dynamic PPTs\Krugman 3e material\Images_High Res\CH26\Krug3e_table_26_03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752600" y="2362200"/>
            <a:ext cx="5412363" cy="41858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7359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Line 21"/>
          <p:cNvSpPr>
            <a:spLocks noChangeShapeType="1"/>
          </p:cNvSpPr>
          <p:nvPr/>
        </p:nvSpPr>
        <p:spPr bwMode="auto">
          <a:xfrm>
            <a:off x="2500313" y="4887913"/>
            <a:ext cx="3175" cy="1587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75" name="Line 22"/>
          <p:cNvSpPr>
            <a:spLocks noChangeShapeType="1"/>
          </p:cNvSpPr>
          <p:nvPr/>
        </p:nvSpPr>
        <p:spPr bwMode="auto">
          <a:xfrm>
            <a:off x="2344738" y="4887913"/>
            <a:ext cx="3175" cy="1587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76" name="Rectangle 23"/>
          <p:cNvSpPr>
            <a:spLocks noChangeArrowheads="1"/>
          </p:cNvSpPr>
          <p:nvPr/>
        </p:nvSpPr>
        <p:spPr bwMode="auto">
          <a:xfrm>
            <a:off x="7077075" y="2200275"/>
            <a:ext cx="9480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endParaRPr lang="en-US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78" name="Rectangle 26"/>
          <p:cNvSpPr>
            <a:spLocks noChangeArrowheads="1"/>
          </p:cNvSpPr>
          <p:nvPr/>
        </p:nvSpPr>
        <p:spPr bwMode="auto">
          <a:xfrm>
            <a:off x="7064375" y="2697163"/>
            <a:ext cx="33725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CF</a:t>
            </a:r>
            <a:endParaRPr lang="en-US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79" name="Line 27"/>
          <p:cNvSpPr>
            <a:spLocks noChangeShapeType="1"/>
          </p:cNvSpPr>
          <p:nvPr/>
        </p:nvSpPr>
        <p:spPr bwMode="auto">
          <a:xfrm flipH="1">
            <a:off x="1438275" y="5440363"/>
            <a:ext cx="847725" cy="4762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80" name="Freeform 28"/>
          <p:cNvSpPr>
            <a:spLocks/>
          </p:cNvSpPr>
          <p:nvPr/>
        </p:nvSpPr>
        <p:spPr bwMode="auto">
          <a:xfrm>
            <a:off x="76200" y="3962400"/>
            <a:ext cx="1752600" cy="1979613"/>
          </a:xfrm>
          <a:custGeom>
            <a:avLst/>
            <a:gdLst>
              <a:gd name="T0" fmla="*/ 1262313 w 202"/>
              <a:gd name="T1" fmla="*/ 1855078 h 319"/>
              <a:gd name="T2" fmla="*/ 1162328 w 202"/>
              <a:gd name="T3" fmla="*/ 1979164 h 319"/>
              <a:gd name="T4" fmla="*/ 99985 w 202"/>
              <a:gd name="T5" fmla="*/ 1979164 h 319"/>
              <a:gd name="T6" fmla="*/ 0 w 202"/>
              <a:gd name="T7" fmla="*/ 1855078 h 319"/>
              <a:gd name="T8" fmla="*/ 0 w 202"/>
              <a:gd name="T9" fmla="*/ 124086 h 319"/>
              <a:gd name="T10" fmla="*/ 99985 w 202"/>
              <a:gd name="T11" fmla="*/ 0 h 319"/>
              <a:gd name="T12" fmla="*/ 1162328 w 202"/>
              <a:gd name="T13" fmla="*/ 0 h 319"/>
              <a:gd name="T14" fmla="*/ 1262313 w 202"/>
              <a:gd name="T15" fmla="*/ 124086 h 319"/>
              <a:gd name="T16" fmla="*/ 1262313 w 202"/>
              <a:gd name="T17" fmla="*/ 1855078 h 31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02"/>
              <a:gd name="T28" fmla="*/ 0 h 319"/>
              <a:gd name="T29" fmla="*/ 202 w 202"/>
              <a:gd name="T30" fmla="*/ 319 h 31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02" h="319">
                <a:moveTo>
                  <a:pt x="202" y="299"/>
                </a:moveTo>
                <a:cubicBezTo>
                  <a:pt x="202" y="310"/>
                  <a:pt x="195" y="319"/>
                  <a:pt x="186" y="319"/>
                </a:cubicBezTo>
                <a:cubicBezTo>
                  <a:pt x="16" y="319"/>
                  <a:pt x="16" y="319"/>
                  <a:pt x="16" y="319"/>
                </a:cubicBezTo>
                <a:cubicBezTo>
                  <a:pt x="7" y="319"/>
                  <a:pt x="0" y="310"/>
                  <a:pt x="0" y="299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9"/>
                  <a:pt x="7" y="0"/>
                  <a:pt x="16" y="0"/>
                </a:cubicBezTo>
                <a:cubicBezTo>
                  <a:pt x="186" y="0"/>
                  <a:pt x="186" y="0"/>
                  <a:pt x="186" y="0"/>
                </a:cubicBezTo>
                <a:cubicBezTo>
                  <a:pt x="195" y="0"/>
                  <a:pt x="202" y="9"/>
                  <a:pt x="202" y="20"/>
                </a:cubicBezTo>
                <a:lnTo>
                  <a:pt x="202" y="29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81" name="Rectangle 54"/>
          <p:cNvSpPr>
            <a:spLocks noChangeArrowheads="1"/>
          </p:cNvSpPr>
          <p:nvPr/>
        </p:nvSpPr>
        <p:spPr bwMode="auto">
          <a:xfrm>
            <a:off x="2292350" y="6040438"/>
            <a:ext cx="1279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82" name="Rectangle 55"/>
          <p:cNvSpPr>
            <a:spLocks noChangeArrowheads="1"/>
          </p:cNvSpPr>
          <p:nvPr/>
        </p:nvSpPr>
        <p:spPr bwMode="auto">
          <a:xfrm>
            <a:off x="2070100" y="5581650"/>
            <a:ext cx="3837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83" name="Line 56"/>
          <p:cNvSpPr>
            <a:spLocks noChangeShapeType="1"/>
          </p:cNvSpPr>
          <p:nvPr/>
        </p:nvSpPr>
        <p:spPr bwMode="auto">
          <a:xfrm flipV="1">
            <a:off x="2519363" y="2343150"/>
            <a:ext cx="4473575" cy="2803525"/>
          </a:xfrm>
          <a:prstGeom prst="line">
            <a:avLst/>
          </a:prstGeom>
          <a:noFill/>
          <a:ln w="38100">
            <a:solidFill>
              <a:srgbClr val="9F216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84" name="Line 57"/>
          <p:cNvSpPr>
            <a:spLocks noChangeShapeType="1"/>
          </p:cNvSpPr>
          <p:nvPr/>
        </p:nvSpPr>
        <p:spPr bwMode="auto">
          <a:xfrm flipV="1">
            <a:off x="2527300" y="2895600"/>
            <a:ext cx="4465638" cy="2809875"/>
          </a:xfrm>
          <a:prstGeom prst="line">
            <a:avLst/>
          </a:prstGeom>
          <a:noFill/>
          <a:ln w="38100">
            <a:solidFill>
              <a:srgbClr val="AEC5E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85" name="Line 58"/>
          <p:cNvSpPr>
            <a:spLocks noChangeShapeType="1"/>
          </p:cNvSpPr>
          <p:nvPr/>
        </p:nvSpPr>
        <p:spPr bwMode="auto">
          <a:xfrm>
            <a:off x="2511425" y="5657850"/>
            <a:ext cx="1588" cy="1588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86" name="Line 61"/>
          <p:cNvSpPr>
            <a:spLocks noChangeShapeType="1"/>
          </p:cNvSpPr>
          <p:nvPr/>
        </p:nvSpPr>
        <p:spPr bwMode="auto">
          <a:xfrm>
            <a:off x="2524125" y="4900613"/>
            <a:ext cx="3175" cy="1587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87" name="Line 62"/>
          <p:cNvSpPr>
            <a:spLocks noChangeShapeType="1"/>
          </p:cNvSpPr>
          <p:nvPr/>
        </p:nvSpPr>
        <p:spPr bwMode="auto">
          <a:xfrm>
            <a:off x="2368550" y="4900613"/>
            <a:ext cx="3175" cy="1587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88" name="Line 63"/>
          <p:cNvSpPr>
            <a:spLocks noChangeShapeType="1"/>
          </p:cNvSpPr>
          <p:nvPr/>
        </p:nvSpPr>
        <p:spPr bwMode="auto">
          <a:xfrm>
            <a:off x="2687638" y="3787775"/>
            <a:ext cx="3175" cy="3175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89" name="Line 64"/>
          <p:cNvSpPr>
            <a:spLocks noChangeShapeType="1"/>
          </p:cNvSpPr>
          <p:nvPr/>
        </p:nvSpPr>
        <p:spPr bwMode="auto">
          <a:xfrm>
            <a:off x="2519363" y="1071563"/>
            <a:ext cx="150812" cy="1587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90" name="Line 65"/>
          <p:cNvSpPr>
            <a:spLocks noChangeShapeType="1"/>
          </p:cNvSpPr>
          <p:nvPr/>
        </p:nvSpPr>
        <p:spPr bwMode="auto">
          <a:xfrm>
            <a:off x="2519363" y="2338388"/>
            <a:ext cx="150812" cy="1587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91" name="Line 66"/>
          <p:cNvSpPr>
            <a:spLocks noChangeShapeType="1"/>
          </p:cNvSpPr>
          <p:nvPr/>
        </p:nvSpPr>
        <p:spPr bwMode="auto">
          <a:xfrm>
            <a:off x="2519363" y="3597275"/>
            <a:ext cx="150812" cy="1588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92" name="Rectangle 67"/>
          <p:cNvSpPr>
            <a:spLocks noChangeArrowheads="1"/>
          </p:cNvSpPr>
          <p:nvPr/>
        </p:nvSpPr>
        <p:spPr bwMode="auto">
          <a:xfrm>
            <a:off x="4779963" y="6032500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93" name="Rectangle 68"/>
          <p:cNvSpPr>
            <a:spLocks noChangeArrowheads="1"/>
          </p:cNvSpPr>
          <p:nvPr/>
        </p:nvSpPr>
        <p:spPr bwMode="auto">
          <a:xfrm>
            <a:off x="5434013" y="6032500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2,500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94" name="Rectangle 69"/>
          <p:cNvSpPr>
            <a:spLocks noChangeArrowheads="1"/>
          </p:cNvSpPr>
          <p:nvPr/>
        </p:nvSpPr>
        <p:spPr bwMode="auto">
          <a:xfrm>
            <a:off x="6699250" y="6046788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3,500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95" name="Rectangle 70"/>
          <p:cNvSpPr>
            <a:spLocks noChangeArrowheads="1"/>
          </p:cNvSpPr>
          <p:nvPr/>
        </p:nvSpPr>
        <p:spPr bwMode="auto">
          <a:xfrm>
            <a:off x="6059488" y="6032500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96" name="Rectangle 71"/>
          <p:cNvSpPr>
            <a:spLocks noChangeArrowheads="1"/>
          </p:cNvSpPr>
          <p:nvPr/>
        </p:nvSpPr>
        <p:spPr bwMode="auto">
          <a:xfrm>
            <a:off x="4132263" y="6032500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1,500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97" name="Rectangle 72"/>
          <p:cNvSpPr>
            <a:spLocks noChangeArrowheads="1"/>
          </p:cNvSpPr>
          <p:nvPr/>
        </p:nvSpPr>
        <p:spPr bwMode="auto">
          <a:xfrm>
            <a:off x="3502025" y="6032500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98" name="Rectangle 73"/>
          <p:cNvSpPr>
            <a:spLocks noChangeArrowheads="1"/>
          </p:cNvSpPr>
          <p:nvPr/>
        </p:nvSpPr>
        <p:spPr bwMode="auto">
          <a:xfrm>
            <a:off x="2862263" y="6032500"/>
            <a:ext cx="51170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$500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99" name="Rectangle 74"/>
          <p:cNvSpPr>
            <a:spLocks noChangeArrowheads="1"/>
          </p:cNvSpPr>
          <p:nvPr/>
        </p:nvSpPr>
        <p:spPr bwMode="auto">
          <a:xfrm>
            <a:off x="2078038" y="5029200"/>
            <a:ext cx="3837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800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00" name="Freeform 75"/>
          <p:cNvSpPr>
            <a:spLocks/>
          </p:cNvSpPr>
          <p:nvPr/>
        </p:nvSpPr>
        <p:spPr bwMode="auto">
          <a:xfrm>
            <a:off x="2519363" y="1063625"/>
            <a:ext cx="6424612" cy="4916488"/>
          </a:xfrm>
          <a:custGeom>
            <a:avLst/>
            <a:gdLst>
              <a:gd name="T0" fmla="*/ 6425121 w 2433"/>
              <a:gd name="T1" fmla="*/ 4917682 h 1871"/>
              <a:gd name="T2" fmla="*/ 0 w 2433"/>
              <a:gd name="T3" fmla="*/ 4917682 h 1871"/>
              <a:gd name="T4" fmla="*/ 0 w 2433"/>
              <a:gd name="T5" fmla="*/ 0 h 1871"/>
              <a:gd name="T6" fmla="*/ 0 60000 65536"/>
              <a:gd name="T7" fmla="*/ 0 60000 65536"/>
              <a:gd name="T8" fmla="*/ 0 60000 65536"/>
              <a:gd name="T9" fmla="*/ 0 w 2433"/>
              <a:gd name="T10" fmla="*/ 0 h 1871"/>
              <a:gd name="T11" fmla="*/ 2433 w 2433"/>
              <a:gd name="T12" fmla="*/ 1871 h 18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33" h="1871">
                <a:moveTo>
                  <a:pt x="2433" y="1871"/>
                </a:moveTo>
                <a:lnTo>
                  <a:pt x="0" y="1871"/>
                </a:lnTo>
                <a:lnTo>
                  <a:pt x="0" y="0"/>
                </a:lnTo>
              </a:path>
            </a:pathLst>
          </a:cu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01" name="Rectangle 76"/>
          <p:cNvSpPr>
            <a:spLocks noChangeArrowheads="1"/>
          </p:cNvSpPr>
          <p:nvPr/>
        </p:nvSpPr>
        <p:spPr bwMode="auto">
          <a:xfrm>
            <a:off x="1795463" y="1018401"/>
            <a:ext cx="7035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$4,000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02" name="Rectangle 77"/>
          <p:cNvSpPr>
            <a:spLocks noChangeArrowheads="1"/>
          </p:cNvSpPr>
          <p:nvPr/>
        </p:nvSpPr>
        <p:spPr bwMode="auto">
          <a:xfrm>
            <a:off x="1911350" y="2214563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03" name="Rectangle 78"/>
          <p:cNvSpPr>
            <a:spLocks noChangeArrowheads="1"/>
          </p:cNvSpPr>
          <p:nvPr/>
        </p:nvSpPr>
        <p:spPr bwMode="auto">
          <a:xfrm>
            <a:off x="1911350" y="2847975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2,500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04" name="Rectangle 79"/>
          <p:cNvSpPr>
            <a:spLocks noChangeArrowheads="1"/>
          </p:cNvSpPr>
          <p:nvPr/>
        </p:nvSpPr>
        <p:spPr bwMode="auto">
          <a:xfrm>
            <a:off x="1911350" y="3481388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05" name="Line 80"/>
          <p:cNvSpPr>
            <a:spLocks noChangeShapeType="1"/>
          </p:cNvSpPr>
          <p:nvPr/>
        </p:nvSpPr>
        <p:spPr bwMode="auto">
          <a:xfrm flipV="1">
            <a:off x="3155950" y="5830888"/>
            <a:ext cx="1588" cy="14922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06" name="Line 81"/>
          <p:cNvSpPr>
            <a:spLocks noChangeShapeType="1"/>
          </p:cNvSpPr>
          <p:nvPr/>
        </p:nvSpPr>
        <p:spPr bwMode="auto">
          <a:xfrm flipV="1">
            <a:off x="3792538" y="5838825"/>
            <a:ext cx="1587" cy="147638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07" name="Line 82"/>
          <p:cNvSpPr>
            <a:spLocks noChangeShapeType="1"/>
          </p:cNvSpPr>
          <p:nvPr/>
        </p:nvSpPr>
        <p:spPr bwMode="auto">
          <a:xfrm flipV="1">
            <a:off x="4427538" y="5838825"/>
            <a:ext cx="3175" cy="147638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08" name="Line 83"/>
          <p:cNvSpPr>
            <a:spLocks noChangeShapeType="1"/>
          </p:cNvSpPr>
          <p:nvPr/>
        </p:nvSpPr>
        <p:spPr bwMode="auto">
          <a:xfrm flipV="1">
            <a:off x="5070475" y="5826125"/>
            <a:ext cx="1588" cy="14922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09" name="Line 84"/>
          <p:cNvSpPr>
            <a:spLocks noChangeShapeType="1"/>
          </p:cNvSpPr>
          <p:nvPr/>
        </p:nvSpPr>
        <p:spPr bwMode="auto">
          <a:xfrm flipV="1">
            <a:off x="5707063" y="5830888"/>
            <a:ext cx="1587" cy="14922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10" name="Line 85"/>
          <p:cNvSpPr>
            <a:spLocks noChangeShapeType="1"/>
          </p:cNvSpPr>
          <p:nvPr/>
        </p:nvSpPr>
        <p:spPr bwMode="auto">
          <a:xfrm flipV="1">
            <a:off x="6342063" y="5830888"/>
            <a:ext cx="3175" cy="14922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11" name="Line 86"/>
          <p:cNvSpPr>
            <a:spLocks noChangeShapeType="1"/>
          </p:cNvSpPr>
          <p:nvPr/>
        </p:nvSpPr>
        <p:spPr bwMode="auto">
          <a:xfrm flipV="1">
            <a:off x="6985000" y="5830888"/>
            <a:ext cx="1588" cy="14922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12" name="Rectangle 87"/>
          <p:cNvSpPr>
            <a:spLocks noChangeArrowheads="1"/>
          </p:cNvSpPr>
          <p:nvPr/>
        </p:nvSpPr>
        <p:spPr bwMode="auto">
          <a:xfrm>
            <a:off x="7323138" y="6046788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4,000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13" name="Line 88"/>
          <p:cNvSpPr>
            <a:spLocks noChangeShapeType="1"/>
          </p:cNvSpPr>
          <p:nvPr/>
        </p:nvSpPr>
        <p:spPr bwMode="auto">
          <a:xfrm flipV="1">
            <a:off x="7621588" y="5830888"/>
            <a:ext cx="1587" cy="14922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14" name="Line 89"/>
          <p:cNvSpPr>
            <a:spLocks noChangeShapeType="1"/>
          </p:cNvSpPr>
          <p:nvPr/>
        </p:nvSpPr>
        <p:spPr bwMode="auto">
          <a:xfrm flipH="1" flipV="1">
            <a:off x="5756275" y="3670300"/>
            <a:ext cx="349250" cy="604838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15" name="Line 98"/>
          <p:cNvSpPr>
            <a:spLocks noChangeShapeType="1"/>
          </p:cNvSpPr>
          <p:nvPr/>
        </p:nvSpPr>
        <p:spPr bwMode="auto">
          <a:xfrm flipH="1" flipV="1">
            <a:off x="4529138" y="2889250"/>
            <a:ext cx="434975" cy="738188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16" name="Freeform 99"/>
          <p:cNvSpPr>
            <a:spLocks/>
          </p:cNvSpPr>
          <p:nvPr/>
        </p:nvSpPr>
        <p:spPr bwMode="auto">
          <a:xfrm>
            <a:off x="3558886" y="2479360"/>
            <a:ext cx="2308514" cy="377825"/>
          </a:xfrm>
          <a:custGeom>
            <a:avLst/>
            <a:gdLst>
              <a:gd name="T0" fmla="*/ 2091531 w 335"/>
              <a:gd name="T1" fmla="*/ 279210 h 61"/>
              <a:gd name="T2" fmla="*/ 1991637 w 335"/>
              <a:gd name="T3" fmla="*/ 378485 h 61"/>
              <a:gd name="T4" fmla="*/ 99894 w 335"/>
              <a:gd name="T5" fmla="*/ 378485 h 61"/>
              <a:gd name="T6" fmla="*/ 0 w 335"/>
              <a:gd name="T7" fmla="*/ 279210 h 61"/>
              <a:gd name="T8" fmla="*/ 0 w 335"/>
              <a:gd name="T9" fmla="*/ 99275 h 61"/>
              <a:gd name="T10" fmla="*/ 99894 w 335"/>
              <a:gd name="T11" fmla="*/ 0 h 61"/>
              <a:gd name="T12" fmla="*/ 1991637 w 335"/>
              <a:gd name="T13" fmla="*/ 0 h 61"/>
              <a:gd name="T14" fmla="*/ 2091531 w 335"/>
              <a:gd name="T15" fmla="*/ 99275 h 61"/>
              <a:gd name="T16" fmla="*/ 2091531 w 335"/>
              <a:gd name="T17" fmla="*/ 279210 h 6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5"/>
              <a:gd name="T28" fmla="*/ 0 h 61"/>
              <a:gd name="T29" fmla="*/ 335 w 335"/>
              <a:gd name="T30" fmla="*/ 61 h 6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5" h="61">
                <a:moveTo>
                  <a:pt x="335" y="45"/>
                </a:moveTo>
                <a:cubicBezTo>
                  <a:pt x="335" y="54"/>
                  <a:pt x="328" y="61"/>
                  <a:pt x="319" y="61"/>
                </a:cubicBezTo>
                <a:cubicBezTo>
                  <a:pt x="16" y="61"/>
                  <a:pt x="16" y="61"/>
                  <a:pt x="16" y="61"/>
                </a:cubicBezTo>
                <a:cubicBezTo>
                  <a:pt x="7" y="61"/>
                  <a:pt x="0" y="54"/>
                  <a:pt x="0" y="45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8"/>
                  <a:pt x="7" y="0"/>
                  <a:pt x="16" y="0"/>
                </a:cubicBezTo>
                <a:cubicBezTo>
                  <a:pt x="319" y="0"/>
                  <a:pt x="319" y="0"/>
                  <a:pt x="319" y="0"/>
                </a:cubicBezTo>
                <a:cubicBezTo>
                  <a:pt x="328" y="0"/>
                  <a:pt x="335" y="8"/>
                  <a:pt x="335" y="16"/>
                </a:cubicBezTo>
                <a:lnTo>
                  <a:pt x="335" y="45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17" name="Rectangle 45"/>
          <p:cNvSpPr>
            <a:spLocks noChangeArrowheads="1"/>
          </p:cNvSpPr>
          <p:nvPr/>
        </p:nvSpPr>
        <p:spPr bwMode="auto">
          <a:xfrm>
            <a:off x="304800" y="1133475"/>
            <a:ext cx="18288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sz="1600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b="1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endParaRPr lang="en-US" sz="1600" b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consumer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spending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(billions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of dollars)</a:t>
            </a:r>
          </a:p>
        </p:txBody>
      </p:sp>
      <p:sp>
        <p:nvSpPr>
          <p:cNvPr id="489518" name="Rectangle 46"/>
          <p:cNvSpPr>
            <a:spLocks noChangeArrowheads="1"/>
          </p:cNvSpPr>
          <p:nvPr/>
        </p:nvSpPr>
        <p:spPr bwMode="auto">
          <a:xfrm>
            <a:off x="5875337" y="6278563"/>
            <a:ext cx="258286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 </a:t>
            </a:r>
          </a:p>
          <a:p>
            <a:pPr algn="r"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(billions of dollars)</a:t>
            </a:r>
          </a:p>
        </p:txBody>
      </p:sp>
      <p:sp>
        <p:nvSpPr>
          <p:cNvPr id="489519" name="Rectangle 47"/>
          <p:cNvSpPr>
            <a:spLocks noChangeArrowheads="1"/>
          </p:cNvSpPr>
          <p:nvPr/>
        </p:nvSpPr>
        <p:spPr bwMode="auto">
          <a:xfrm>
            <a:off x="76200" y="4114800"/>
            <a:ext cx="1828800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 aggregate spending equals consumer spending plus I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, $500 billion.</a:t>
            </a:r>
          </a:p>
        </p:txBody>
      </p:sp>
      <p:sp>
        <p:nvSpPr>
          <p:cNvPr id="489520" name="Rectangle 48"/>
          <p:cNvSpPr>
            <a:spLocks noChangeArrowheads="1"/>
          </p:cNvSpPr>
          <p:nvPr/>
        </p:nvSpPr>
        <p:spPr bwMode="auto">
          <a:xfrm>
            <a:off x="3589338" y="2468563"/>
            <a:ext cx="22645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 </a:t>
            </a: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= 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C </a:t>
            </a: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+ 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</a:p>
        </p:txBody>
      </p:sp>
      <p:grpSp>
        <p:nvGrpSpPr>
          <p:cNvPr id="489521" name="Group 49"/>
          <p:cNvGrpSpPr>
            <a:grpSpLocks/>
          </p:cNvGrpSpPr>
          <p:nvPr/>
        </p:nvGrpSpPr>
        <p:grpSpPr bwMode="auto">
          <a:xfrm>
            <a:off x="5513259" y="4266406"/>
            <a:ext cx="2227585" cy="346075"/>
            <a:chOff x="3259" y="2496"/>
            <a:chExt cx="1157" cy="218"/>
          </a:xfrm>
        </p:grpSpPr>
        <p:sp>
          <p:nvSpPr>
            <p:cNvPr id="489522" name="Freeform 90"/>
            <p:cNvSpPr>
              <a:spLocks/>
            </p:cNvSpPr>
            <p:nvPr/>
          </p:nvSpPr>
          <p:spPr bwMode="auto">
            <a:xfrm>
              <a:off x="3272" y="2496"/>
              <a:ext cx="1131" cy="218"/>
            </a:xfrm>
            <a:custGeom>
              <a:avLst/>
              <a:gdLst>
                <a:gd name="T0" fmla="*/ 1795759 w 288"/>
                <a:gd name="T1" fmla="*/ 247818 h 56"/>
                <a:gd name="T2" fmla="*/ 1695995 w 288"/>
                <a:gd name="T3" fmla="*/ 346945 h 56"/>
                <a:gd name="T4" fmla="*/ 99764 w 288"/>
                <a:gd name="T5" fmla="*/ 346945 h 56"/>
                <a:gd name="T6" fmla="*/ 0 w 288"/>
                <a:gd name="T7" fmla="*/ 247818 h 56"/>
                <a:gd name="T8" fmla="*/ 0 w 288"/>
                <a:gd name="T9" fmla="*/ 99127 h 56"/>
                <a:gd name="T10" fmla="*/ 99764 w 288"/>
                <a:gd name="T11" fmla="*/ 0 h 56"/>
                <a:gd name="T12" fmla="*/ 1695995 w 288"/>
                <a:gd name="T13" fmla="*/ 0 h 56"/>
                <a:gd name="T14" fmla="*/ 1795759 w 288"/>
                <a:gd name="T15" fmla="*/ 99127 h 56"/>
                <a:gd name="T16" fmla="*/ 1795759 w 288"/>
                <a:gd name="T17" fmla="*/ 247818 h 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88"/>
                <a:gd name="T28" fmla="*/ 0 h 56"/>
                <a:gd name="T29" fmla="*/ 288 w 288"/>
                <a:gd name="T30" fmla="*/ 56 h 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88" h="56">
                  <a:moveTo>
                    <a:pt x="288" y="40"/>
                  </a:moveTo>
                  <a:cubicBezTo>
                    <a:pt x="288" y="49"/>
                    <a:pt x="281" y="56"/>
                    <a:pt x="272" y="56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7" y="56"/>
                    <a:pt x="0" y="49"/>
                    <a:pt x="0" y="4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272" y="0"/>
                    <a:pt x="272" y="0"/>
                    <a:pt x="272" y="0"/>
                  </a:cubicBezTo>
                  <a:cubicBezTo>
                    <a:pt x="281" y="0"/>
                    <a:pt x="288" y="8"/>
                    <a:pt x="288" y="16"/>
                  </a:cubicBezTo>
                  <a:lnTo>
                    <a:pt x="288" y="40"/>
                  </a:lnTo>
                  <a:close/>
                </a:path>
              </a:pathLst>
            </a:custGeom>
            <a:solidFill>
              <a:srgbClr val="D7E2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en-US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sp>
          <p:nvSpPr>
            <p:cNvPr id="489523" name="Rectangle 51"/>
            <p:cNvSpPr>
              <a:spLocks noChangeArrowheads="1"/>
            </p:cNvSpPr>
            <p:nvPr/>
          </p:nvSpPr>
          <p:spPr bwMode="auto">
            <a:xfrm>
              <a:off x="3259" y="2496"/>
              <a:ext cx="115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C </a:t>
              </a:r>
              <a:r>
                <a:rPr lang="en-US" sz="1600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= </a:t>
              </a:r>
              <a:r>
                <a: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300 </a:t>
              </a:r>
              <a:r>
                <a:rPr lang="en-US" sz="1600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+ </a:t>
              </a:r>
              <a:r>
                <a: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0.6 </a:t>
              </a:r>
              <a:r>
                <a:rPr lang="en-US" sz="1600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× </a:t>
              </a:r>
              <a:r>
                <a: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YD</a:t>
              </a:r>
            </a:p>
          </p:txBody>
        </p:sp>
      </p:grpSp>
      <p:sp>
        <p:nvSpPr>
          <p:cNvPr id="489524" name="Line 52"/>
          <p:cNvSpPr>
            <a:spLocks noChangeShapeType="1"/>
          </p:cNvSpPr>
          <p:nvPr/>
        </p:nvSpPr>
        <p:spPr bwMode="auto">
          <a:xfrm flipV="1">
            <a:off x="2286000" y="5287963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25" name="Rectangle 53"/>
          <p:cNvSpPr>
            <a:spLocks noGrp="1" noRot="1" noChangeArrowheads="1"/>
          </p:cNvSpPr>
          <p:nvPr>
            <p:ph type="title"/>
          </p:nvPr>
        </p:nvSpPr>
        <p:spPr>
          <a:xfrm>
            <a:off x="-76200" y="762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pc="0" dirty="0"/>
              <a:t>PLANNED AGGREGATE SPENDING AND GDP</a:t>
            </a:r>
          </a:p>
        </p:txBody>
      </p:sp>
    </p:spTree>
    <p:extLst>
      <p:ext uri="{BB962C8B-B14F-4D97-AF65-F5344CB8AC3E}">
        <p14:creationId xmlns:p14="http://schemas.microsoft.com/office/powerpoint/2010/main" val="388714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6" grpId="0"/>
      <p:bldP spid="489479" grpId="0" animBg="1"/>
      <p:bldP spid="489480" grpId="0" animBg="1"/>
      <p:bldP spid="489483" grpId="0" animBg="1"/>
      <p:bldP spid="489514" grpId="0" animBg="1"/>
      <p:bldP spid="489515" grpId="0" animBg="1"/>
      <p:bldP spid="489516" grpId="0" animBg="1"/>
      <p:bldP spid="489519" grpId="0"/>
      <p:bldP spid="489520" grpId="0"/>
      <p:bldP spid="4895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Line 21"/>
          <p:cNvSpPr>
            <a:spLocks noChangeShapeType="1"/>
          </p:cNvSpPr>
          <p:nvPr/>
        </p:nvSpPr>
        <p:spPr bwMode="auto">
          <a:xfrm>
            <a:off x="1509713" y="4958775"/>
            <a:ext cx="3175" cy="1587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75" name="Line 22"/>
          <p:cNvSpPr>
            <a:spLocks noChangeShapeType="1"/>
          </p:cNvSpPr>
          <p:nvPr/>
        </p:nvSpPr>
        <p:spPr bwMode="auto">
          <a:xfrm>
            <a:off x="1354138" y="4958775"/>
            <a:ext cx="3175" cy="1587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76" name="Rectangle 23"/>
          <p:cNvSpPr>
            <a:spLocks noChangeArrowheads="1"/>
          </p:cNvSpPr>
          <p:nvPr/>
        </p:nvSpPr>
        <p:spPr bwMode="auto">
          <a:xfrm>
            <a:off x="6086475" y="2271137"/>
            <a:ext cx="294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77" name="Rectangle 24"/>
          <p:cNvSpPr>
            <a:spLocks noChangeArrowheads="1"/>
          </p:cNvSpPr>
          <p:nvPr/>
        </p:nvSpPr>
        <p:spPr bwMode="auto">
          <a:xfrm>
            <a:off x="6361113" y="2366387"/>
            <a:ext cx="62013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endParaRPr lang="en-US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81" name="Rectangle 54"/>
          <p:cNvSpPr>
            <a:spLocks noChangeArrowheads="1"/>
          </p:cNvSpPr>
          <p:nvPr/>
        </p:nvSpPr>
        <p:spPr bwMode="auto">
          <a:xfrm>
            <a:off x="1301750" y="6111300"/>
            <a:ext cx="1279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82" name="Rectangle 55"/>
          <p:cNvSpPr>
            <a:spLocks noChangeArrowheads="1"/>
          </p:cNvSpPr>
          <p:nvPr/>
        </p:nvSpPr>
        <p:spPr bwMode="auto">
          <a:xfrm>
            <a:off x="1079500" y="5652512"/>
            <a:ext cx="3837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83" name="Line 56"/>
          <p:cNvSpPr>
            <a:spLocks noChangeShapeType="1"/>
          </p:cNvSpPr>
          <p:nvPr/>
        </p:nvSpPr>
        <p:spPr bwMode="auto">
          <a:xfrm flipV="1">
            <a:off x="1528763" y="2414012"/>
            <a:ext cx="4473575" cy="2803525"/>
          </a:xfrm>
          <a:prstGeom prst="line">
            <a:avLst/>
          </a:prstGeom>
          <a:noFill/>
          <a:ln w="38100">
            <a:solidFill>
              <a:srgbClr val="9F216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85" name="Line 58"/>
          <p:cNvSpPr>
            <a:spLocks noChangeShapeType="1"/>
          </p:cNvSpPr>
          <p:nvPr/>
        </p:nvSpPr>
        <p:spPr bwMode="auto">
          <a:xfrm>
            <a:off x="1520825" y="5728712"/>
            <a:ext cx="1588" cy="1588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86" name="Line 61"/>
          <p:cNvSpPr>
            <a:spLocks noChangeShapeType="1"/>
          </p:cNvSpPr>
          <p:nvPr/>
        </p:nvSpPr>
        <p:spPr bwMode="auto">
          <a:xfrm>
            <a:off x="1533525" y="4971475"/>
            <a:ext cx="3175" cy="1587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87" name="Line 62"/>
          <p:cNvSpPr>
            <a:spLocks noChangeShapeType="1"/>
          </p:cNvSpPr>
          <p:nvPr/>
        </p:nvSpPr>
        <p:spPr bwMode="auto">
          <a:xfrm>
            <a:off x="1377950" y="4971475"/>
            <a:ext cx="3175" cy="1587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88" name="Line 63"/>
          <p:cNvSpPr>
            <a:spLocks noChangeShapeType="1"/>
          </p:cNvSpPr>
          <p:nvPr/>
        </p:nvSpPr>
        <p:spPr bwMode="auto">
          <a:xfrm>
            <a:off x="1697038" y="3858637"/>
            <a:ext cx="3175" cy="3175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89" name="Line 64"/>
          <p:cNvSpPr>
            <a:spLocks noChangeShapeType="1"/>
          </p:cNvSpPr>
          <p:nvPr/>
        </p:nvSpPr>
        <p:spPr bwMode="auto">
          <a:xfrm>
            <a:off x="1528763" y="1142425"/>
            <a:ext cx="150812" cy="1587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90" name="Line 65"/>
          <p:cNvSpPr>
            <a:spLocks noChangeShapeType="1"/>
          </p:cNvSpPr>
          <p:nvPr/>
        </p:nvSpPr>
        <p:spPr bwMode="auto">
          <a:xfrm>
            <a:off x="1528763" y="2409250"/>
            <a:ext cx="150812" cy="1587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91" name="Line 66"/>
          <p:cNvSpPr>
            <a:spLocks noChangeShapeType="1"/>
          </p:cNvSpPr>
          <p:nvPr/>
        </p:nvSpPr>
        <p:spPr bwMode="auto">
          <a:xfrm>
            <a:off x="1528763" y="3668137"/>
            <a:ext cx="150812" cy="1588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492" name="Rectangle 67"/>
          <p:cNvSpPr>
            <a:spLocks noChangeArrowheads="1"/>
          </p:cNvSpPr>
          <p:nvPr/>
        </p:nvSpPr>
        <p:spPr bwMode="auto">
          <a:xfrm>
            <a:off x="3789363" y="6103362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93" name="Rectangle 68"/>
          <p:cNvSpPr>
            <a:spLocks noChangeArrowheads="1"/>
          </p:cNvSpPr>
          <p:nvPr/>
        </p:nvSpPr>
        <p:spPr bwMode="auto">
          <a:xfrm>
            <a:off x="4443413" y="6103362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2,500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94" name="Rectangle 69"/>
          <p:cNvSpPr>
            <a:spLocks noChangeArrowheads="1"/>
          </p:cNvSpPr>
          <p:nvPr/>
        </p:nvSpPr>
        <p:spPr bwMode="auto">
          <a:xfrm>
            <a:off x="5708650" y="6117650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3,500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95" name="Rectangle 70"/>
          <p:cNvSpPr>
            <a:spLocks noChangeArrowheads="1"/>
          </p:cNvSpPr>
          <p:nvPr/>
        </p:nvSpPr>
        <p:spPr bwMode="auto">
          <a:xfrm>
            <a:off x="5068888" y="6103362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96" name="Rectangle 71"/>
          <p:cNvSpPr>
            <a:spLocks noChangeArrowheads="1"/>
          </p:cNvSpPr>
          <p:nvPr/>
        </p:nvSpPr>
        <p:spPr bwMode="auto">
          <a:xfrm>
            <a:off x="3141663" y="6103362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1,500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97" name="Rectangle 72"/>
          <p:cNvSpPr>
            <a:spLocks noChangeArrowheads="1"/>
          </p:cNvSpPr>
          <p:nvPr/>
        </p:nvSpPr>
        <p:spPr bwMode="auto">
          <a:xfrm>
            <a:off x="2511425" y="6103362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98" name="Rectangle 73"/>
          <p:cNvSpPr>
            <a:spLocks noChangeArrowheads="1"/>
          </p:cNvSpPr>
          <p:nvPr/>
        </p:nvSpPr>
        <p:spPr bwMode="auto">
          <a:xfrm>
            <a:off x="1871663" y="6103362"/>
            <a:ext cx="51170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$500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99" name="Rectangle 74"/>
          <p:cNvSpPr>
            <a:spLocks noChangeArrowheads="1"/>
          </p:cNvSpPr>
          <p:nvPr/>
        </p:nvSpPr>
        <p:spPr bwMode="auto">
          <a:xfrm>
            <a:off x="1087438" y="5100062"/>
            <a:ext cx="3837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800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00" name="Freeform 75"/>
          <p:cNvSpPr>
            <a:spLocks/>
          </p:cNvSpPr>
          <p:nvPr/>
        </p:nvSpPr>
        <p:spPr bwMode="auto">
          <a:xfrm>
            <a:off x="1528763" y="1134487"/>
            <a:ext cx="6424612" cy="4916488"/>
          </a:xfrm>
          <a:custGeom>
            <a:avLst/>
            <a:gdLst>
              <a:gd name="T0" fmla="*/ 6425121 w 2433"/>
              <a:gd name="T1" fmla="*/ 4917682 h 1871"/>
              <a:gd name="T2" fmla="*/ 0 w 2433"/>
              <a:gd name="T3" fmla="*/ 4917682 h 1871"/>
              <a:gd name="T4" fmla="*/ 0 w 2433"/>
              <a:gd name="T5" fmla="*/ 0 h 1871"/>
              <a:gd name="T6" fmla="*/ 0 60000 65536"/>
              <a:gd name="T7" fmla="*/ 0 60000 65536"/>
              <a:gd name="T8" fmla="*/ 0 60000 65536"/>
              <a:gd name="T9" fmla="*/ 0 w 2433"/>
              <a:gd name="T10" fmla="*/ 0 h 1871"/>
              <a:gd name="T11" fmla="*/ 2433 w 2433"/>
              <a:gd name="T12" fmla="*/ 1871 h 18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33" h="1871">
                <a:moveTo>
                  <a:pt x="2433" y="1871"/>
                </a:moveTo>
                <a:lnTo>
                  <a:pt x="0" y="1871"/>
                </a:lnTo>
                <a:lnTo>
                  <a:pt x="0" y="0"/>
                </a:lnTo>
              </a:path>
            </a:pathLst>
          </a:cu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01" name="Rectangle 76"/>
          <p:cNvSpPr>
            <a:spLocks noChangeArrowheads="1"/>
          </p:cNvSpPr>
          <p:nvPr/>
        </p:nvSpPr>
        <p:spPr bwMode="auto">
          <a:xfrm>
            <a:off x="804863" y="1015425"/>
            <a:ext cx="7035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$4,000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02" name="Rectangle 77"/>
          <p:cNvSpPr>
            <a:spLocks noChangeArrowheads="1"/>
          </p:cNvSpPr>
          <p:nvPr/>
        </p:nvSpPr>
        <p:spPr bwMode="auto">
          <a:xfrm>
            <a:off x="920750" y="2285425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03" name="Rectangle 78"/>
          <p:cNvSpPr>
            <a:spLocks noChangeArrowheads="1"/>
          </p:cNvSpPr>
          <p:nvPr/>
        </p:nvSpPr>
        <p:spPr bwMode="auto">
          <a:xfrm>
            <a:off x="920750" y="2918837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2,500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04" name="Rectangle 79"/>
          <p:cNvSpPr>
            <a:spLocks noChangeArrowheads="1"/>
          </p:cNvSpPr>
          <p:nvPr/>
        </p:nvSpPr>
        <p:spPr bwMode="auto">
          <a:xfrm>
            <a:off x="920750" y="3552250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05" name="Line 80"/>
          <p:cNvSpPr>
            <a:spLocks noChangeShapeType="1"/>
          </p:cNvSpPr>
          <p:nvPr/>
        </p:nvSpPr>
        <p:spPr bwMode="auto">
          <a:xfrm flipV="1">
            <a:off x="2165350" y="5901750"/>
            <a:ext cx="1588" cy="14922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06" name="Line 81"/>
          <p:cNvSpPr>
            <a:spLocks noChangeShapeType="1"/>
          </p:cNvSpPr>
          <p:nvPr/>
        </p:nvSpPr>
        <p:spPr bwMode="auto">
          <a:xfrm flipV="1">
            <a:off x="2801938" y="5909687"/>
            <a:ext cx="1587" cy="147638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07" name="Line 82"/>
          <p:cNvSpPr>
            <a:spLocks noChangeShapeType="1"/>
          </p:cNvSpPr>
          <p:nvPr/>
        </p:nvSpPr>
        <p:spPr bwMode="auto">
          <a:xfrm flipV="1">
            <a:off x="3436938" y="5909687"/>
            <a:ext cx="3175" cy="147638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08" name="Line 83"/>
          <p:cNvSpPr>
            <a:spLocks noChangeShapeType="1"/>
          </p:cNvSpPr>
          <p:nvPr/>
        </p:nvSpPr>
        <p:spPr bwMode="auto">
          <a:xfrm flipV="1">
            <a:off x="4079875" y="5896987"/>
            <a:ext cx="1588" cy="14922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09" name="Line 84"/>
          <p:cNvSpPr>
            <a:spLocks noChangeShapeType="1"/>
          </p:cNvSpPr>
          <p:nvPr/>
        </p:nvSpPr>
        <p:spPr bwMode="auto">
          <a:xfrm flipV="1">
            <a:off x="4716463" y="5901750"/>
            <a:ext cx="1587" cy="14922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10" name="Line 85"/>
          <p:cNvSpPr>
            <a:spLocks noChangeShapeType="1"/>
          </p:cNvSpPr>
          <p:nvPr/>
        </p:nvSpPr>
        <p:spPr bwMode="auto">
          <a:xfrm flipV="1">
            <a:off x="5351463" y="5901750"/>
            <a:ext cx="3175" cy="14922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11" name="Line 86"/>
          <p:cNvSpPr>
            <a:spLocks noChangeShapeType="1"/>
          </p:cNvSpPr>
          <p:nvPr/>
        </p:nvSpPr>
        <p:spPr bwMode="auto">
          <a:xfrm flipV="1">
            <a:off x="5994400" y="5901750"/>
            <a:ext cx="1588" cy="14922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12" name="Rectangle 87"/>
          <p:cNvSpPr>
            <a:spLocks noChangeArrowheads="1"/>
          </p:cNvSpPr>
          <p:nvPr/>
        </p:nvSpPr>
        <p:spPr bwMode="auto">
          <a:xfrm>
            <a:off x="6332538" y="6117650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4,000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13" name="Line 88"/>
          <p:cNvSpPr>
            <a:spLocks noChangeShapeType="1"/>
          </p:cNvSpPr>
          <p:nvPr/>
        </p:nvSpPr>
        <p:spPr bwMode="auto">
          <a:xfrm flipV="1">
            <a:off x="6630988" y="5901750"/>
            <a:ext cx="1587" cy="14922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17" name="Rectangle 45"/>
          <p:cNvSpPr>
            <a:spLocks noChangeArrowheads="1"/>
          </p:cNvSpPr>
          <p:nvPr/>
        </p:nvSpPr>
        <p:spPr bwMode="auto">
          <a:xfrm>
            <a:off x="0" y="1204337"/>
            <a:ext cx="1295400" cy="122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sz="1400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400" b="1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endParaRPr lang="en-US" sz="1400" b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  <a:p>
            <a:pPr>
              <a:spcBef>
                <a:spcPct val="0"/>
              </a:spcBef>
            </a:pPr>
            <a:r>
              <a:rPr lang="en-US" sz="14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consumer</a:t>
            </a:r>
          </a:p>
          <a:p>
            <a:pPr>
              <a:spcBef>
                <a:spcPct val="0"/>
              </a:spcBef>
            </a:pPr>
            <a:r>
              <a:rPr lang="en-US" sz="14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spending</a:t>
            </a:r>
          </a:p>
          <a:p>
            <a:pPr>
              <a:spcBef>
                <a:spcPct val="0"/>
              </a:spcBef>
            </a:pPr>
            <a:r>
              <a:rPr lang="en-US" sz="14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(billions</a:t>
            </a:r>
          </a:p>
          <a:p>
            <a:pPr>
              <a:spcBef>
                <a:spcPct val="0"/>
              </a:spcBef>
            </a:pPr>
            <a:r>
              <a:rPr lang="en-US" sz="14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of dollars)</a:t>
            </a:r>
          </a:p>
        </p:txBody>
      </p:sp>
      <p:sp>
        <p:nvSpPr>
          <p:cNvPr id="489518" name="Rectangle 46"/>
          <p:cNvSpPr>
            <a:spLocks noChangeArrowheads="1"/>
          </p:cNvSpPr>
          <p:nvPr/>
        </p:nvSpPr>
        <p:spPr bwMode="auto">
          <a:xfrm>
            <a:off x="5105400" y="6096000"/>
            <a:ext cx="319246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 </a:t>
            </a:r>
          </a:p>
          <a:p>
            <a:pPr algn="r"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(billions of dollars)</a:t>
            </a:r>
          </a:p>
        </p:txBody>
      </p:sp>
      <p:sp>
        <p:nvSpPr>
          <p:cNvPr id="489525" name="Rectangle 53"/>
          <p:cNvSpPr>
            <a:spLocks noGrp="1" noRot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>
            <a:noAutofit/>
          </a:bodyPr>
          <a:lstStyle/>
          <a:p>
            <a:r>
              <a:rPr lang="en-US" sz="4000" spc="0" dirty="0"/>
              <a:t>PLANNED AGGREGATE SPENDING AND GDP</a:t>
            </a:r>
          </a:p>
        </p:txBody>
      </p:sp>
      <p:sp>
        <p:nvSpPr>
          <p:cNvPr id="54" name="Content Placeholder 2"/>
          <p:cNvSpPr>
            <a:spLocks noGrp="1"/>
          </p:cNvSpPr>
          <p:nvPr>
            <p:ph idx="1"/>
          </p:nvPr>
        </p:nvSpPr>
        <p:spPr>
          <a:xfrm>
            <a:off x="1981200" y="1137662"/>
            <a:ext cx="7086600" cy="46482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For all production levels except one, real GDP is either more or less than </a:t>
            </a:r>
            <a:r>
              <a:rPr lang="en-US" sz="2800" i="1" dirty="0">
                <a:solidFill>
                  <a:srgbClr val="0070C0"/>
                </a:solidFill>
              </a:rPr>
              <a:t>AE</a:t>
            </a:r>
            <a:r>
              <a:rPr lang="en-US" sz="2800" i="1" baseline="-25000" dirty="0">
                <a:solidFill>
                  <a:srgbClr val="0070C0"/>
                </a:solidFill>
              </a:rPr>
              <a:t>Planned</a:t>
            </a:r>
            <a:endParaRPr lang="en-US" sz="2800" dirty="0">
              <a:solidFill>
                <a:srgbClr val="0070C0"/>
              </a:solidFill>
            </a:endParaRPr>
          </a:p>
        </p:txBody>
      </p:sp>
      <p:pic>
        <p:nvPicPr>
          <p:cNvPr id="55" name="Picture 2" descr="C:\Users\solina\Dropbox\Krugman 3e Dynamic PPTs\Krugman 3e material\Images_High Res\CH26\Krug3e_table_26_03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422849" y="2929358"/>
            <a:ext cx="3441802" cy="26618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656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6" grpId="0"/>
      <p:bldP spid="48947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pc="0" dirty="0"/>
              <a:t>INCOME–EXPENDITURE EQUILIBRIUM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4648200"/>
          </a:xfrm>
        </p:spPr>
        <p:txBody>
          <a:bodyPr>
            <a:noAutofit/>
          </a:bodyPr>
          <a:lstStyle/>
          <a:p>
            <a:pPr>
              <a:spcBef>
                <a:spcPts val="168"/>
              </a:spcBef>
              <a:spcAft>
                <a:spcPts val="1800"/>
              </a:spcAft>
            </a:pPr>
            <a:r>
              <a:rPr lang="en-US" dirty="0"/>
              <a:t>Planned aggregate spending can be different from real GDP only if there is unplanned inventory investment, </a:t>
            </a:r>
            <a:r>
              <a:rPr lang="en-US" i="1" dirty="0"/>
              <a:t>I</a:t>
            </a:r>
            <a:r>
              <a:rPr lang="en-US" i="1" baseline="-25000" dirty="0"/>
              <a:t>Unplanned</a:t>
            </a:r>
            <a:r>
              <a:rPr lang="en-US" dirty="0"/>
              <a:t>, in the economy.</a:t>
            </a:r>
          </a:p>
          <a:p>
            <a:pPr lvl="1">
              <a:spcBef>
                <a:spcPts val="168"/>
              </a:spcBef>
              <a:spcAft>
                <a:spcPts val="1800"/>
              </a:spcAft>
            </a:pP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firms have </a:t>
            </a:r>
            <a:r>
              <a:rPr lang="en-US" dirty="0">
                <a:solidFill>
                  <a:srgbClr val="0070C0"/>
                </a:solidFill>
              </a:rPr>
              <a:t>overestimated</a:t>
            </a:r>
            <a:r>
              <a:rPr lang="en-US" i="1" dirty="0">
                <a:solidFill>
                  <a:srgbClr val="0070C0"/>
                </a:solidFill>
              </a:rPr>
              <a:t> sales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and produced too much, there will be unintended additions to inventories </a:t>
            </a:r>
            <a:r>
              <a:rPr lang="en-US" i="1" dirty="0">
                <a:solidFill>
                  <a:srgbClr val="0070C0"/>
                </a:solidFill>
              </a:rPr>
              <a:t>(and I</a:t>
            </a:r>
            <a:r>
              <a:rPr lang="en-US" i="1" baseline="-25000" dirty="0">
                <a:solidFill>
                  <a:srgbClr val="0070C0"/>
                </a:solidFill>
              </a:rPr>
              <a:t>Unplanned</a:t>
            </a:r>
            <a:r>
              <a:rPr lang="en-US" i="1" dirty="0">
                <a:solidFill>
                  <a:srgbClr val="0070C0"/>
                </a:solidFill>
              </a:rPr>
              <a:t> will be positive).</a:t>
            </a:r>
          </a:p>
          <a:p>
            <a:pPr lvl="1">
              <a:spcBef>
                <a:spcPts val="168"/>
              </a:spcBef>
              <a:spcAft>
                <a:spcPts val="1800"/>
              </a:spcAft>
            </a:pP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firms have </a:t>
            </a:r>
            <a:r>
              <a:rPr lang="en-US" dirty="0">
                <a:solidFill>
                  <a:srgbClr val="990033"/>
                </a:solidFill>
              </a:rPr>
              <a:t>underestimated</a:t>
            </a:r>
            <a:r>
              <a:rPr lang="en-US" i="1" dirty="0">
                <a:solidFill>
                  <a:srgbClr val="990033"/>
                </a:solidFill>
              </a:rPr>
              <a:t> sales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and produced too little, there will be unintended drops in inventories </a:t>
            </a:r>
            <a:r>
              <a:rPr lang="en-US" i="1" dirty="0">
                <a:solidFill>
                  <a:srgbClr val="990033"/>
                </a:solidFill>
              </a:rPr>
              <a:t>(and I</a:t>
            </a:r>
            <a:r>
              <a:rPr lang="en-US" i="1" baseline="-25000" dirty="0">
                <a:solidFill>
                  <a:srgbClr val="990033"/>
                </a:solidFill>
              </a:rPr>
              <a:t>Unplanned</a:t>
            </a:r>
            <a:r>
              <a:rPr lang="en-US" i="1" dirty="0">
                <a:solidFill>
                  <a:srgbClr val="990033"/>
                </a:solidFill>
              </a:rPr>
              <a:t> will be negative).</a:t>
            </a:r>
          </a:p>
          <a:p>
            <a:pPr>
              <a:spcBef>
                <a:spcPts val="168"/>
              </a:spcBef>
              <a:spcAft>
                <a:spcPts val="18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946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991600" cy="5060950"/>
          </a:xfrm>
        </p:spPr>
        <p:txBody>
          <a:bodyPr>
            <a:noAutofit/>
          </a:bodyPr>
          <a:lstStyle/>
          <a:p>
            <a:r>
              <a:rPr lang="en-US" sz="2800" dirty="0"/>
              <a:t>Suppose the level of planned aggregate expenditure in an economy is $500 and real GDP is $600. According to the our model: 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800" dirty="0"/>
              <a:t>unplanned increases in inventories are occurring.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800" dirty="0"/>
              <a:t>unplanned  decreases in inventories are occurring.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800" dirty="0"/>
              <a:t>inventories will be unaffected and will remain at the planned inventory level.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800" dirty="0"/>
              <a:t>excess production will continue, since there is no mechanism to restore the level of production to the level of spending.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8" y="6273798"/>
            <a:ext cx="11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To Next </a:t>
            </a:r>
          </a:p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Active Learnin</a:t>
            </a: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g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83375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pc="0" dirty="0"/>
              <a:t>INCOME–EXPENDITURE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168"/>
              </a:spcBef>
              <a:spcAft>
                <a:spcPts val="1200"/>
              </a:spcAft>
            </a:pPr>
            <a:r>
              <a:rPr lang="en-US" sz="2800" i="1" dirty="0"/>
              <a:t>		</a:t>
            </a:r>
            <a:r>
              <a:rPr lang="en-US" i="1" dirty="0"/>
              <a:t>GDP   </a:t>
            </a:r>
            <a:r>
              <a:rPr lang="en-US" dirty="0"/>
              <a:t>= </a:t>
            </a:r>
            <a:r>
              <a:rPr lang="en-US" i="1" dirty="0"/>
              <a:t>C </a:t>
            </a:r>
            <a:r>
              <a:rPr lang="en-US" dirty="0"/>
              <a:t>+ </a:t>
            </a:r>
            <a:r>
              <a:rPr lang="en-US" i="1" dirty="0"/>
              <a:t>I</a:t>
            </a:r>
          </a:p>
          <a:p>
            <a:pPr>
              <a:spcBef>
                <a:spcPts val="168"/>
              </a:spcBef>
              <a:spcAft>
                <a:spcPts val="1200"/>
              </a:spcAft>
            </a:pPr>
            <a:r>
              <a:rPr lang="en-US" dirty="0"/>
              <a:t>			= </a:t>
            </a:r>
            <a:r>
              <a:rPr lang="en-US" i="1" dirty="0"/>
              <a:t>C </a:t>
            </a:r>
            <a:r>
              <a:rPr lang="en-US" dirty="0"/>
              <a:t>+ </a:t>
            </a:r>
            <a:r>
              <a:rPr lang="en-US" i="1" dirty="0"/>
              <a:t>I</a:t>
            </a:r>
            <a:r>
              <a:rPr lang="en-US" i="1" baseline="-25000" dirty="0"/>
              <a:t>Planned</a:t>
            </a:r>
            <a:r>
              <a:rPr lang="en-US" i="1" dirty="0"/>
              <a:t> </a:t>
            </a:r>
            <a:r>
              <a:rPr lang="en-US" dirty="0"/>
              <a:t>+ </a:t>
            </a:r>
            <a:r>
              <a:rPr lang="en-US" i="1" dirty="0"/>
              <a:t>I</a:t>
            </a:r>
            <a:r>
              <a:rPr lang="en-US" i="1" baseline="-25000" dirty="0"/>
              <a:t>Unplanned</a:t>
            </a:r>
          </a:p>
          <a:p>
            <a:pPr>
              <a:spcBef>
                <a:spcPts val="168"/>
              </a:spcBef>
              <a:spcAft>
                <a:spcPts val="1200"/>
              </a:spcAft>
            </a:pPr>
            <a:r>
              <a:rPr lang="en-US" dirty="0"/>
              <a:t>			= </a:t>
            </a:r>
            <a:r>
              <a:rPr lang="en-US" i="1" dirty="0"/>
              <a:t>AE</a:t>
            </a:r>
            <a:r>
              <a:rPr lang="en-US" i="1" baseline="-25000" dirty="0"/>
              <a:t>Planned</a:t>
            </a:r>
            <a:r>
              <a:rPr lang="en-US" i="1" dirty="0"/>
              <a:t> </a:t>
            </a:r>
            <a:r>
              <a:rPr lang="en-US" dirty="0"/>
              <a:t>+ </a:t>
            </a:r>
            <a:r>
              <a:rPr lang="en-US" i="1" dirty="0"/>
              <a:t>I</a:t>
            </a:r>
            <a:r>
              <a:rPr lang="en-US" i="1" baseline="-25000" dirty="0"/>
              <a:t>unplanned</a:t>
            </a:r>
          </a:p>
          <a:p>
            <a:pPr>
              <a:spcBef>
                <a:spcPts val="168"/>
              </a:spcBef>
              <a:spcAft>
                <a:spcPts val="1200"/>
              </a:spcAft>
            </a:pPr>
            <a:endParaRPr lang="en-US" sz="2800" i="1" baseline="-25000" dirty="0"/>
          </a:p>
          <a:p>
            <a:pPr>
              <a:spcBef>
                <a:spcPts val="168"/>
              </a:spcBef>
              <a:spcAft>
                <a:spcPts val="1200"/>
              </a:spcAft>
            </a:pP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Whenever real GDP exceeds AE</a:t>
            </a:r>
            <a:r>
              <a:rPr lang="en-US" sz="2800" i="1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Planned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I</a:t>
            </a:r>
            <a:r>
              <a:rPr lang="en-US" sz="2800" i="1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Unplanned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positive. </a:t>
            </a:r>
          </a:p>
          <a:p>
            <a:pPr>
              <a:spcBef>
                <a:spcPts val="168"/>
              </a:spcBef>
              <a:spcAft>
                <a:spcPts val="1200"/>
              </a:spcAft>
            </a:pP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Whenever real GDP is less than AE</a:t>
            </a:r>
            <a:r>
              <a:rPr lang="en-US" sz="2800" i="1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Planned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I</a:t>
            </a:r>
            <a:r>
              <a:rPr lang="en-US" sz="2800" i="1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Unplanned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negative.</a:t>
            </a:r>
          </a:p>
          <a:p>
            <a:pPr>
              <a:spcBef>
                <a:spcPts val="168"/>
              </a:spcBef>
              <a:spcAft>
                <a:spcPts val="1200"/>
              </a:spcAft>
            </a:pPr>
            <a:r>
              <a:rPr lang="en-US" sz="2800" dirty="0">
                <a:solidFill>
                  <a:srgbClr val="0070C0"/>
                </a:solidFill>
              </a:rPr>
              <a:t>(But firms will act to correct their mistakes by producing more or less accordingly.)</a:t>
            </a:r>
          </a:p>
        </p:txBody>
      </p:sp>
    </p:spTree>
    <p:extLst>
      <p:ext uri="{BB962C8B-B14F-4D97-AF65-F5344CB8AC3E}">
        <p14:creationId xmlns:p14="http://schemas.microsoft.com/office/powerpoint/2010/main" val="193624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alpha val="55000"/>
            </a:schemeClr>
          </a:solidFill>
        </p:spPr>
        <p:txBody>
          <a:bodyPr>
            <a:normAutofit fontScale="90000"/>
          </a:bodyPr>
          <a:lstStyle/>
          <a:p>
            <a:r>
              <a:rPr lang="en-US" spc="0" dirty="0"/>
              <a:t>INCOME–EXPENDITURE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6400"/>
            <a:ext cx="9144000" cy="3733800"/>
          </a:xfrm>
          <a:solidFill>
            <a:schemeClr val="tx1">
              <a:alpha val="74000"/>
            </a:schemeClr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economy is in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income–expenditure equilibrium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when aggregate output (real GDP) is equal to planned aggregate spending.</a:t>
            </a:r>
          </a:p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Income–expenditure equilibrium GDP: </a:t>
            </a:r>
            <a:r>
              <a:rPr lang="en-US" dirty="0">
                <a:solidFill>
                  <a:schemeClr val="bg1"/>
                </a:solidFill>
              </a:rPr>
              <a:t>the level of real GDP at which real GDP equals planned aggregate spending.</a:t>
            </a:r>
          </a:p>
        </p:txBody>
      </p:sp>
    </p:spTree>
    <p:extLst>
      <p:ext uri="{BB962C8B-B14F-4D97-AF65-F5344CB8AC3E}">
        <p14:creationId xmlns:p14="http://schemas.microsoft.com/office/powerpoint/2010/main" val="300640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Line 2"/>
          <p:cNvSpPr>
            <a:spLocks noChangeShapeType="1"/>
          </p:cNvSpPr>
          <p:nvPr/>
        </p:nvSpPr>
        <p:spPr bwMode="auto">
          <a:xfrm flipV="1">
            <a:off x="2057400" y="1492250"/>
            <a:ext cx="4191000" cy="3962400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23" name="Line 3"/>
          <p:cNvSpPr>
            <a:spLocks noChangeShapeType="1"/>
          </p:cNvSpPr>
          <p:nvPr/>
        </p:nvSpPr>
        <p:spPr bwMode="auto">
          <a:xfrm flipH="1" flipV="1">
            <a:off x="2181225" y="4311650"/>
            <a:ext cx="10191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24" name="Line 6"/>
          <p:cNvSpPr>
            <a:spLocks noChangeShapeType="1"/>
          </p:cNvSpPr>
          <p:nvPr/>
        </p:nvSpPr>
        <p:spPr bwMode="auto">
          <a:xfrm flipH="1" flipV="1">
            <a:off x="5576888" y="1400175"/>
            <a:ext cx="257175" cy="481013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25" name="Freeform 7"/>
          <p:cNvSpPr>
            <a:spLocks/>
          </p:cNvSpPr>
          <p:nvPr/>
        </p:nvSpPr>
        <p:spPr bwMode="auto">
          <a:xfrm>
            <a:off x="4419600" y="1111250"/>
            <a:ext cx="1579563" cy="315913"/>
          </a:xfrm>
          <a:custGeom>
            <a:avLst/>
            <a:gdLst>
              <a:gd name="T0" fmla="*/ 1431925 w 237"/>
              <a:gd name="T1" fmla="*/ 224010 h 55"/>
              <a:gd name="T2" fmla="*/ 1335255 w 237"/>
              <a:gd name="T3" fmla="*/ 315912 h 55"/>
              <a:gd name="T4" fmla="*/ 96670 w 237"/>
              <a:gd name="T5" fmla="*/ 315912 h 55"/>
              <a:gd name="T6" fmla="*/ 0 w 237"/>
              <a:gd name="T7" fmla="*/ 224010 h 55"/>
              <a:gd name="T8" fmla="*/ 0 w 237"/>
              <a:gd name="T9" fmla="*/ 91902 h 55"/>
              <a:gd name="T10" fmla="*/ 96670 w 237"/>
              <a:gd name="T11" fmla="*/ 0 h 55"/>
              <a:gd name="T12" fmla="*/ 1335255 w 237"/>
              <a:gd name="T13" fmla="*/ 0 h 55"/>
              <a:gd name="T14" fmla="*/ 1431925 w 237"/>
              <a:gd name="T15" fmla="*/ 91902 h 55"/>
              <a:gd name="T16" fmla="*/ 1431925 w 237"/>
              <a:gd name="T17" fmla="*/ 224010 h 5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37"/>
              <a:gd name="T28" fmla="*/ 0 h 55"/>
              <a:gd name="T29" fmla="*/ 237 w 237"/>
              <a:gd name="T30" fmla="*/ 55 h 5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37" h="55">
                <a:moveTo>
                  <a:pt x="237" y="39"/>
                </a:moveTo>
                <a:cubicBezTo>
                  <a:pt x="237" y="48"/>
                  <a:pt x="230" y="55"/>
                  <a:pt x="221" y="55"/>
                </a:cubicBezTo>
                <a:cubicBezTo>
                  <a:pt x="16" y="55"/>
                  <a:pt x="16" y="55"/>
                  <a:pt x="16" y="55"/>
                </a:cubicBezTo>
                <a:cubicBezTo>
                  <a:pt x="7" y="55"/>
                  <a:pt x="0" y="48"/>
                  <a:pt x="0" y="39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221" y="0"/>
                  <a:pt x="221" y="0"/>
                  <a:pt x="221" y="0"/>
                </a:cubicBezTo>
                <a:cubicBezTo>
                  <a:pt x="230" y="0"/>
                  <a:pt x="237" y="7"/>
                  <a:pt x="237" y="16"/>
                </a:cubicBezTo>
                <a:lnTo>
                  <a:pt x="237" y="3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26" name="Line 38"/>
          <p:cNvSpPr>
            <a:spLocks noChangeShapeType="1"/>
          </p:cNvSpPr>
          <p:nvPr/>
        </p:nvSpPr>
        <p:spPr bwMode="auto">
          <a:xfrm>
            <a:off x="4525963" y="5746750"/>
            <a:ext cx="1587" cy="215900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27" name="Freeform 39"/>
          <p:cNvSpPr>
            <a:spLocks/>
          </p:cNvSpPr>
          <p:nvPr/>
        </p:nvSpPr>
        <p:spPr bwMode="auto">
          <a:xfrm>
            <a:off x="4397375" y="5865813"/>
            <a:ext cx="327025" cy="314325"/>
          </a:xfrm>
          <a:custGeom>
            <a:avLst/>
            <a:gdLst>
              <a:gd name="T0" fmla="*/ 327025 w 54"/>
              <a:gd name="T1" fmla="*/ 222885 h 55"/>
              <a:gd name="T2" fmla="*/ 230129 w 54"/>
              <a:gd name="T3" fmla="*/ 314325 h 55"/>
              <a:gd name="T4" fmla="*/ 96896 w 54"/>
              <a:gd name="T5" fmla="*/ 314325 h 55"/>
              <a:gd name="T6" fmla="*/ 0 w 54"/>
              <a:gd name="T7" fmla="*/ 222885 h 55"/>
              <a:gd name="T8" fmla="*/ 0 w 54"/>
              <a:gd name="T9" fmla="*/ 91440 h 55"/>
              <a:gd name="T10" fmla="*/ 96896 w 54"/>
              <a:gd name="T11" fmla="*/ 0 h 55"/>
              <a:gd name="T12" fmla="*/ 230129 w 54"/>
              <a:gd name="T13" fmla="*/ 0 h 55"/>
              <a:gd name="T14" fmla="*/ 327025 w 54"/>
              <a:gd name="T15" fmla="*/ 91440 h 55"/>
              <a:gd name="T16" fmla="*/ 327025 w 54"/>
              <a:gd name="T17" fmla="*/ 222885 h 5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4"/>
              <a:gd name="T28" fmla="*/ 0 h 55"/>
              <a:gd name="T29" fmla="*/ 54 w 54"/>
              <a:gd name="T30" fmla="*/ 55 h 5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4" h="55">
                <a:moveTo>
                  <a:pt x="54" y="39"/>
                </a:moveTo>
                <a:cubicBezTo>
                  <a:pt x="54" y="48"/>
                  <a:pt x="47" y="55"/>
                  <a:pt x="38" y="55"/>
                </a:cubicBezTo>
                <a:cubicBezTo>
                  <a:pt x="16" y="55"/>
                  <a:pt x="16" y="55"/>
                  <a:pt x="16" y="55"/>
                </a:cubicBezTo>
                <a:cubicBezTo>
                  <a:pt x="7" y="55"/>
                  <a:pt x="0" y="48"/>
                  <a:pt x="0" y="39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47" y="0"/>
                  <a:pt x="54" y="7"/>
                  <a:pt x="54" y="16"/>
                </a:cubicBezTo>
                <a:lnTo>
                  <a:pt x="54" y="3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28" name="Rectangle 40"/>
          <p:cNvSpPr>
            <a:spLocks noChangeArrowheads="1"/>
          </p:cNvSpPr>
          <p:nvPr/>
        </p:nvSpPr>
        <p:spPr bwMode="auto">
          <a:xfrm>
            <a:off x="4462463" y="5908675"/>
            <a:ext cx="2346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Y*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29" name="Rectangle 48"/>
          <p:cNvSpPr>
            <a:spLocks noChangeArrowheads="1"/>
          </p:cNvSpPr>
          <p:nvPr/>
        </p:nvSpPr>
        <p:spPr bwMode="auto">
          <a:xfrm>
            <a:off x="4579938" y="3132138"/>
            <a:ext cx="1237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30" name="Line 67"/>
          <p:cNvSpPr>
            <a:spLocks noChangeShapeType="1"/>
          </p:cNvSpPr>
          <p:nvPr/>
        </p:nvSpPr>
        <p:spPr bwMode="auto">
          <a:xfrm>
            <a:off x="5867400" y="2406650"/>
            <a:ext cx="277813" cy="4476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31" name="Line 68"/>
          <p:cNvSpPr>
            <a:spLocks noChangeShapeType="1"/>
          </p:cNvSpPr>
          <p:nvPr/>
        </p:nvSpPr>
        <p:spPr bwMode="auto">
          <a:xfrm>
            <a:off x="2071688" y="1295400"/>
            <a:ext cx="146050" cy="31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32" name="Line 69"/>
          <p:cNvSpPr>
            <a:spLocks noChangeShapeType="1"/>
          </p:cNvSpPr>
          <p:nvPr/>
        </p:nvSpPr>
        <p:spPr bwMode="auto">
          <a:xfrm>
            <a:off x="2035175" y="2128838"/>
            <a:ext cx="146050" cy="1587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33" name="Line 70"/>
          <p:cNvSpPr>
            <a:spLocks noChangeShapeType="1"/>
          </p:cNvSpPr>
          <p:nvPr/>
        </p:nvSpPr>
        <p:spPr bwMode="auto">
          <a:xfrm>
            <a:off x="2055813" y="3136900"/>
            <a:ext cx="146050" cy="31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34" name="Line 71"/>
          <p:cNvSpPr>
            <a:spLocks noChangeShapeType="1"/>
          </p:cNvSpPr>
          <p:nvPr/>
        </p:nvSpPr>
        <p:spPr bwMode="auto">
          <a:xfrm>
            <a:off x="2073275" y="3841750"/>
            <a:ext cx="146050" cy="31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35" name="Line 72"/>
          <p:cNvSpPr>
            <a:spLocks noChangeShapeType="1"/>
          </p:cNvSpPr>
          <p:nvPr/>
        </p:nvSpPr>
        <p:spPr bwMode="auto">
          <a:xfrm>
            <a:off x="2057400" y="4311650"/>
            <a:ext cx="146050" cy="31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36" name="Rectangle 73"/>
          <p:cNvSpPr>
            <a:spLocks noChangeArrowheads="1"/>
          </p:cNvSpPr>
          <p:nvPr/>
        </p:nvSpPr>
        <p:spPr bwMode="auto">
          <a:xfrm>
            <a:off x="4244975" y="5521325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37" name="Rectangle 74"/>
          <p:cNvSpPr>
            <a:spLocks noChangeArrowheads="1"/>
          </p:cNvSpPr>
          <p:nvPr/>
        </p:nvSpPr>
        <p:spPr bwMode="auto">
          <a:xfrm>
            <a:off x="4878388" y="5521325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2,500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38" name="Rectangle 75"/>
          <p:cNvSpPr>
            <a:spLocks noChangeArrowheads="1"/>
          </p:cNvSpPr>
          <p:nvPr/>
        </p:nvSpPr>
        <p:spPr bwMode="auto">
          <a:xfrm>
            <a:off x="6102350" y="5529263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3,500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39" name="Rectangle 76"/>
          <p:cNvSpPr>
            <a:spLocks noChangeArrowheads="1"/>
          </p:cNvSpPr>
          <p:nvPr/>
        </p:nvSpPr>
        <p:spPr bwMode="auto">
          <a:xfrm>
            <a:off x="5481638" y="5521325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40" name="Rectangle 77"/>
          <p:cNvSpPr>
            <a:spLocks noChangeArrowheads="1"/>
          </p:cNvSpPr>
          <p:nvPr/>
        </p:nvSpPr>
        <p:spPr bwMode="auto">
          <a:xfrm>
            <a:off x="3617913" y="5521325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1,500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41" name="Rectangle 78"/>
          <p:cNvSpPr>
            <a:spLocks noChangeArrowheads="1"/>
          </p:cNvSpPr>
          <p:nvPr/>
        </p:nvSpPr>
        <p:spPr bwMode="auto">
          <a:xfrm>
            <a:off x="3006725" y="5521325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42" name="Rectangle 79"/>
          <p:cNvSpPr>
            <a:spLocks noChangeArrowheads="1"/>
          </p:cNvSpPr>
          <p:nvPr/>
        </p:nvSpPr>
        <p:spPr bwMode="auto">
          <a:xfrm>
            <a:off x="2386013" y="5521325"/>
            <a:ext cx="51170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$500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43" name="Rectangle 81"/>
          <p:cNvSpPr>
            <a:spLocks noChangeArrowheads="1"/>
          </p:cNvSpPr>
          <p:nvPr/>
        </p:nvSpPr>
        <p:spPr bwMode="auto">
          <a:xfrm>
            <a:off x="1628775" y="4456113"/>
            <a:ext cx="3837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800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44" name="Line 82"/>
          <p:cNvSpPr>
            <a:spLocks noChangeShapeType="1"/>
          </p:cNvSpPr>
          <p:nvPr/>
        </p:nvSpPr>
        <p:spPr bwMode="auto">
          <a:xfrm flipH="1">
            <a:off x="2243138" y="5457825"/>
            <a:ext cx="6032500" cy="31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45" name="Freeform 83"/>
          <p:cNvSpPr>
            <a:spLocks/>
          </p:cNvSpPr>
          <p:nvPr/>
        </p:nvSpPr>
        <p:spPr bwMode="auto">
          <a:xfrm>
            <a:off x="2057400" y="1028700"/>
            <a:ext cx="228600" cy="4425950"/>
          </a:xfrm>
          <a:custGeom>
            <a:avLst/>
            <a:gdLst>
              <a:gd name="T0" fmla="*/ 238125 w 94"/>
              <a:gd name="T1" fmla="*/ 4724400 h 1975"/>
              <a:gd name="T2" fmla="*/ 0 w 94"/>
              <a:gd name="T3" fmla="*/ 4724400 h 1975"/>
              <a:gd name="T4" fmla="*/ 0 w 94"/>
              <a:gd name="T5" fmla="*/ 0 h 1975"/>
              <a:gd name="T6" fmla="*/ 0 60000 65536"/>
              <a:gd name="T7" fmla="*/ 0 60000 65536"/>
              <a:gd name="T8" fmla="*/ 0 60000 65536"/>
              <a:gd name="T9" fmla="*/ 0 w 94"/>
              <a:gd name="T10" fmla="*/ 0 h 1975"/>
              <a:gd name="T11" fmla="*/ 94 w 94"/>
              <a:gd name="T12" fmla="*/ 1975 h 19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4" h="1975">
                <a:moveTo>
                  <a:pt x="94" y="1975"/>
                </a:moveTo>
                <a:lnTo>
                  <a:pt x="0" y="1975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46" name="Rectangle 84"/>
          <p:cNvSpPr>
            <a:spLocks noChangeArrowheads="1"/>
          </p:cNvSpPr>
          <p:nvPr/>
        </p:nvSpPr>
        <p:spPr bwMode="auto">
          <a:xfrm>
            <a:off x="1371600" y="1181100"/>
            <a:ext cx="7035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$4,000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47" name="Rectangle 85"/>
          <p:cNvSpPr>
            <a:spLocks noChangeArrowheads="1"/>
          </p:cNvSpPr>
          <p:nvPr/>
        </p:nvSpPr>
        <p:spPr bwMode="auto">
          <a:xfrm>
            <a:off x="1447800" y="2019300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48" name="Rectangle 87"/>
          <p:cNvSpPr>
            <a:spLocks noChangeArrowheads="1"/>
          </p:cNvSpPr>
          <p:nvPr/>
        </p:nvSpPr>
        <p:spPr bwMode="auto">
          <a:xfrm>
            <a:off x="1468438" y="3025775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49" name="Rectangle 89"/>
          <p:cNvSpPr>
            <a:spLocks noChangeArrowheads="1"/>
          </p:cNvSpPr>
          <p:nvPr/>
        </p:nvSpPr>
        <p:spPr bwMode="auto">
          <a:xfrm>
            <a:off x="1468438" y="4192588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50" name="Rectangle 91"/>
          <p:cNvSpPr>
            <a:spLocks noChangeArrowheads="1"/>
          </p:cNvSpPr>
          <p:nvPr/>
        </p:nvSpPr>
        <p:spPr bwMode="auto">
          <a:xfrm>
            <a:off x="1849438" y="5359400"/>
            <a:ext cx="1279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51" name="Line 92"/>
          <p:cNvSpPr>
            <a:spLocks noChangeShapeType="1"/>
          </p:cNvSpPr>
          <p:nvPr/>
        </p:nvSpPr>
        <p:spPr bwMode="auto">
          <a:xfrm flipV="1">
            <a:off x="2671763" y="5332413"/>
            <a:ext cx="3175" cy="138112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52" name="Line 93"/>
          <p:cNvSpPr>
            <a:spLocks noChangeShapeType="1"/>
          </p:cNvSpPr>
          <p:nvPr/>
        </p:nvSpPr>
        <p:spPr bwMode="auto">
          <a:xfrm flipV="1">
            <a:off x="3287713" y="5332413"/>
            <a:ext cx="3175" cy="138112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53" name="Line 94"/>
          <p:cNvSpPr>
            <a:spLocks noChangeShapeType="1"/>
          </p:cNvSpPr>
          <p:nvPr/>
        </p:nvSpPr>
        <p:spPr bwMode="auto">
          <a:xfrm flipV="1">
            <a:off x="3903663" y="5340350"/>
            <a:ext cx="3175" cy="138113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54" name="Line 95"/>
          <p:cNvSpPr>
            <a:spLocks noChangeShapeType="1"/>
          </p:cNvSpPr>
          <p:nvPr/>
        </p:nvSpPr>
        <p:spPr bwMode="auto">
          <a:xfrm flipV="1">
            <a:off x="4525963" y="5340350"/>
            <a:ext cx="1587" cy="138113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55" name="Line 96"/>
          <p:cNvSpPr>
            <a:spLocks noChangeShapeType="1"/>
          </p:cNvSpPr>
          <p:nvPr/>
        </p:nvSpPr>
        <p:spPr bwMode="auto">
          <a:xfrm flipV="1">
            <a:off x="5141913" y="5327650"/>
            <a:ext cx="3175" cy="138113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56" name="Line 97"/>
          <p:cNvSpPr>
            <a:spLocks noChangeShapeType="1"/>
          </p:cNvSpPr>
          <p:nvPr/>
        </p:nvSpPr>
        <p:spPr bwMode="auto">
          <a:xfrm flipV="1">
            <a:off x="5757863" y="5332413"/>
            <a:ext cx="3175" cy="138112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57" name="Line 98"/>
          <p:cNvSpPr>
            <a:spLocks noChangeShapeType="1"/>
          </p:cNvSpPr>
          <p:nvPr/>
        </p:nvSpPr>
        <p:spPr bwMode="auto">
          <a:xfrm flipV="1">
            <a:off x="6378575" y="5332413"/>
            <a:ext cx="3175" cy="138112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58" name="Rectangle 99"/>
          <p:cNvSpPr>
            <a:spLocks noChangeArrowheads="1"/>
          </p:cNvSpPr>
          <p:nvPr/>
        </p:nvSpPr>
        <p:spPr bwMode="auto">
          <a:xfrm>
            <a:off x="6707188" y="5529263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4,000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59" name="Line 100"/>
          <p:cNvSpPr>
            <a:spLocks noChangeShapeType="1"/>
          </p:cNvSpPr>
          <p:nvPr/>
        </p:nvSpPr>
        <p:spPr bwMode="auto">
          <a:xfrm flipV="1">
            <a:off x="6996113" y="5332413"/>
            <a:ext cx="1587" cy="138112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60" name="Line 101"/>
          <p:cNvSpPr>
            <a:spLocks noChangeShapeType="1"/>
          </p:cNvSpPr>
          <p:nvPr/>
        </p:nvSpPr>
        <p:spPr bwMode="auto">
          <a:xfrm flipV="1">
            <a:off x="2057400" y="2036763"/>
            <a:ext cx="4357688" cy="2503487"/>
          </a:xfrm>
          <a:prstGeom prst="line">
            <a:avLst/>
          </a:prstGeom>
          <a:noFill/>
          <a:ln w="38100">
            <a:solidFill>
              <a:srgbClr val="9F216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61" name="Oval 102"/>
          <p:cNvSpPr>
            <a:spLocks noChangeArrowheads="1"/>
          </p:cNvSpPr>
          <p:nvPr/>
        </p:nvSpPr>
        <p:spPr bwMode="auto">
          <a:xfrm>
            <a:off x="4454525" y="3086100"/>
            <a:ext cx="119063" cy="1143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62" name="Freeform 103"/>
          <p:cNvSpPr>
            <a:spLocks/>
          </p:cNvSpPr>
          <p:nvPr/>
        </p:nvSpPr>
        <p:spPr bwMode="auto">
          <a:xfrm>
            <a:off x="5562600" y="2667000"/>
            <a:ext cx="2895600" cy="762000"/>
          </a:xfrm>
          <a:custGeom>
            <a:avLst/>
            <a:gdLst>
              <a:gd name="T0" fmla="*/ 2198687 w 364"/>
              <a:gd name="T1" fmla="*/ 508635 h 105"/>
              <a:gd name="T2" fmla="*/ 2102041 w 364"/>
              <a:gd name="T3" fmla="*/ 600075 h 105"/>
              <a:gd name="T4" fmla="*/ 96646 w 364"/>
              <a:gd name="T5" fmla="*/ 600075 h 105"/>
              <a:gd name="T6" fmla="*/ 0 w 364"/>
              <a:gd name="T7" fmla="*/ 508635 h 105"/>
              <a:gd name="T8" fmla="*/ 0 w 364"/>
              <a:gd name="T9" fmla="*/ 91440 h 105"/>
              <a:gd name="T10" fmla="*/ 96646 w 364"/>
              <a:gd name="T11" fmla="*/ 0 h 105"/>
              <a:gd name="T12" fmla="*/ 2102041 w 364"/>
              <a:gd name="T13" fmla="*/ 0 h 105"/>
              <a:gd name="T14" fmla="*/ 2198687 w 364"/>
              <a:gd name="T15" fmla="*/ 91440 h 105"/>
              <a:gd name="T16" fmla="*/ 2198687 w 364"/>
              <a:gd name="T17" fmla="*/ 508635 h 10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4"/>
              <a:gd name="T28" fmla="*/ 0 h 105"/>
              <a:gd name="T29" fmla="*/ 364 w 364"/>
              <a:gd name="T30" fmla="*/ 105 h 10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4" h="105">
                <a:moveTo>
                  <a:pt x="364" y="89"/>
                </a:moveTo>
                <a:cubicBezTo>
                  <a:pt x="364" y="97"/>
                  <a:pt x="357" y="105"/>
                  <a:pt x="348" y="105"/>
                </a:cubicBezTo>
                <a:cubicBezTo>
                  <a:pt x="16" y="105"/>
                  <a:pt x="16" y="105"/>
                  <a:pt x="16" y="105"/>
                </a:cubicBezTo>
                <a:cubicBezTo>
                  <a:pt x="7" y="105"/>
                  <a:pt x="0" y="97"/>
                  <a:pt x="0" y="89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348" y="0"/>
                  <a:pt x="348" y="0"/>
                  <a:pt x="348" y="0"/>
                </a:cubicBezTo>
                <a:cubicBezTo>
                  <a:pt x="357" y="0"/>
                  <a:pt x="364" y="7"/>
                  <a:pt x="364" y="16"/>
                </a:cubicBezTo>
                <a:lnTo>
                  <a:pt x="364" y="8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63" name="Oval 139"/>
          <p:cNvSpPr>
            <a:spLocks noChangeArrowheads="1"/>
          </p:cNvSpPr>
          <p:nvPr/>
        </p:nvSpPr>
        <p:spPr bwMode="auto">
          <a:xfrm>
            <a:off x="5067300" y="2716213"/>
            <a:ext cx="123825" cy="1143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64" name="Oval 140"/>
          <p:cNvSpPr>
            <a:spLocks noChangeArrowheads="1"/>
          </p:cNvSpPr>
          <p:nvPr/>
        </p:nvSpPr>
        <p:spPr bwMode="auto">
          <a:xfrm>
            <a:off x="5067300" y="2509838"/>
            <a:ext cx="123825" cy="1143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65" name="Oval 141"/>
          <p:cNvSpPr>
            <a:spLocks noChangeArrowheads="1"/>
          </p:cNvSpPr>
          <p:nvPr/>
        </p:nvSpPr>
        <p:spPr bwMode="auto">
          <a:xfrm>
            <a:off x="3232150" y="3783013"/>
            <a:ext cx="122238" cy="11747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66" name="Oval 142"/>
          <p:cNvSpPr>
            <a:spLocks noChangeArrowheads="1"/>
          </p:cNvSpPr>
          <p:nvPr/>
        </p:nvSpPr>
        <p:spPr bwMode="auto">
          <a:xfrm>
            <a:off x="3222625" y="4257675"/>
            <a:ext cx="119063" cy="122238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67" name="Rectangle 143"/>
          <p:cNvSpPr>
            <a:spLocks noChangeArrowheads="1"/>
          </p:cNvSpPr>
          <p:nvPr/>
        </p:nvSpPr>
        <p:spPr bwMode="auto">
          <a:xfrm>
            <a:off x="1447800" y="3702050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1,400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68" name="Rectangle 48"/>
          <p:cNvSpPr>
            <a:spLocks noChangeArrowheads="1"/>
          </p:cNvSpPr>
          <p:nvPr/>
        </p:nvSpPr>
        <p:spPr bwMode="auto">
          <a:xfrm>
            <a:off x="6361112" y="5715000"/>
            <a:ext cx="27066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 (billions of dollars)</a:t>
            </a:r>
          </a:p>
        </p:txBody>
      </p:sp>
      <p:sp>
        <p:nvSpPr>
          <p:cNvPr id="491569" name="Rectangle 49"/>
          <p:cNvSpPr>
            <a:spLocks noChangeArrowheads="1"/>
          </p:cNvSpPr>
          <p:nvPr/>
        </p:nvSpPr>
        <p:spPr bwMode="auto">
          <a:xfrm>
            <a:off x="0" y="1193800"/>
            <a:ext cx="1447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spending,</a:t>
            </a:r>
          </a:p>
          <a:p>
            <a:pPr>
              <a:spcBef>
                <a:spcPct val="0"/>
              </a:spcBef>
            </a:pPr>
            <a:r>
              <a:rPr lang="en-US" sz="1600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b="1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(billions of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dollars)</a:t>
            </a:r>
          </a:p>
        </p:txBody>
      </p:sp>
      <p:sp>
        <p:nvSpPr>
          <p:cNvPr id="491570" name="Line 123"/>
          <p:cNvSpPr>
            <a:spLocks noChangeShapeType="1"/>
          </p:cNvSpPr>
          <p:nvPr/>
        </p:nvSpPr>
        <p:spPr bwMode="auto">
          <a:xfrm flipH="1" flipV="1">
            <a:off x="2973388" y="3459163"/>
            <a:ext cx="103187" cy="639762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71" name="Freeform 137"/>
          <p:cNvSpPr>
            <a:spLocks/>
          </p:cNvSpPr>
          <p:nvPr/>
        </p:nvSpPr>
        <p:spPr bwMode="auto">
          <a:xfrm>
            <a:off x="3089275" y="3859213"/>
            <a:ext cx="119063" cy="485775"/>
          </a:xfrm>
          <a:custGeom>
            <a:avLst/>
            <a:gdLst>
              <a:gd name="T0" fmla="*/ 119063 w 20"/>
              <a:gd name="T1" fmla="*/ 0 h 85"/>
              <a:gd name="T2" fmla="*/ 47625 w 20"/>
              <a:gd name="T3" fmla="*/ 74295 h 85"/>
              <a:gd name="T4" fmla="*/ 47625 w 20"/>
              <a:gd name="T5" fmla="*/ 194310 h 85"/>
              <a:gd name="T6" fmla="*/ 0 w 20"/>
              <a:gd name="T7" fmla="*/ 245745 h 85"/>
              <a:gd name="T8" fmla="*/ 47625 w 20"/>
              <a:gd name="T9" fmla="*/ 291465 h 85"/>
              <a:gd name="T10" fmla="*/ 47625 w 20"/>
              <a:gd name="T11" fmla="*/ 411480 h 85"/>
              <a:gd name="T12" fmla="*/ 119063 w 20"/>
              <a:gd name="T13" fmla="*/ 485775 h 8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"/>
              <a:gd name="T22" fmla="*/ 0 h 85"/>
              <a:gd name="T23" fmla="*/ 20 w 20"/>
              <a:gd name="T24" fmla="*/ 85 h 8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" h="85">
                <a:moveTo>
                  <a:pt x="20" y="0"/>
                </a:moveTo>
                <a:cubicBezTo>
                  <a:pt x="11" y="0"/>
                  <a:pt x="8" y="3"/>
                  <a:pt x="8" y="13"/>
                </a:cubicBezTo>
                <a:cubicBezTo>
                  <a:pt x="8" y="15"/>
                  <a:pt x="8" y="33"/>
                  <a:pt x="8" y="34"/>
                </a:cubicBezTo>
                <a:cubicBezTo>
                  <a:pt x="8" y="37"/>
                  <a:pt x="6" y="43"/>
                  <a:pt x="0" y="43"/>
                </a:cubicBezTo>
                <a:cubicBezTo>
                  <a:pt x="6" y="43"/>
                  <a:pt x="8" y="48"/>
                  <a:pt x="8" y="51"/>
                </a:cubicBezTo>
                <a:cubicBezTo>
                  <a:pt x="8" y="53"/>
                  <a:pt x="8" y="70"/>
                  <a:pt x="8" y="72"/>
                </a:cubicBezTo>
                <a:cubicBezTo>
                  <a:pt x="8" y="83"/>
                  <a:pt x="11" y="85"/>
                  <a:pt x="20" y="85"/>
                </a:cubicBezTo>
              </a:path>
            </a:pathLst>
          </a:custGeom>
          <a:noFill/>
          <a:ln w="10">
            <a:solidFill>
              <a:srgbClr val="6D6F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72" name="Line 37"/>
          <p:cNvSpPr>
            <a:spLocks noChangeShapeType="1"/>
          </p:cNvSpPr>
          <p:nvPr/>
        </p:nvSpPr>
        <p:spPr bwMode="auto">
          <a:xfrm>
            <a:off x="2219325" y="3316288"/>
            <a:ext cx="3175" cy="3175"/>
          </a:xfrm>
          <a:prstGeom prst="line">
            <a:avLst/>
          </a:prstGeom>
          <a:noFill/>
          <a:ln w="1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73" name="Freeform 124"/>
          <p:cNvSpPr>
            <a:spLocks/>
          </p:cNvSpPr>
          <p:nvPr/>
        </p:nvSpPr>
        <p:spPr bwMode="auto">
          <a:xfrm>
            <a:off x="2328068" y="3200400"/>
            <a:ext cx="1641475" cy="311150"/>
          </a:xfrm>
          <a:custGeom>
            <a:avLst/>
            <a:gdLst>
              <a:gd name="T0" fmla="*/ 1641475 w 272"/>
              <a:gd name="T1" fmla="*/ 227920 h 56"/>
              <a:gd name="T2" fmla="*/ 1544918 w 272"/>
              <a:gd name="T3" fmla="*/ 319088 h 56"/>
              <a:gd name="T4" fmla="*/ 96557 w 272"/>
              <a:gd name="T5" fmla="*/ 319088 h 56"/>
              <a:gd name="T6" fmla="*/ 0 w 272"/>
              <a:gd name="T7" fmla="*/ 227920 h 56"/>
              <a:gd name="T8" fmla="*/ 0 w 272"/>
              <a:gd name="T9" fmla="*/ 91168 h 56"/>
              <a:gd name="T10" fmla="*/ 96557 w 272"/>
              <a:gd name="T11" fmla="*/ 0 h 56"/>
              <a:gd name="T12" fmla="*/ 1544918 w 272"/>
              <a:gd name="T13" fmla="*/ 0 h 56"/>
              <a:gd name="T14" fmla="*/ 1641475 w 272"/>
              <a:gd name="T15" fmla="*/ 91168 h 56"/>
              <a:gd name="T16" fmla="*/ 1641475 w 272"/>
              <a:gd name="T17" fmla="*/ 227920 h 5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2"/>
              <a:gd name="T28" fmla="*/ 0 h 56"/>
              <a:gd name="T29" fmla="*/ 272 w 272"/>
              <a:gd name="T30" fmla="*/ 56 h 5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2" h="56">
                <a:moveTo>
                  <a:pt x="272" y="40"/>
                </a:moveTo>
                <a:cubicBezTo>
                  <a:pt x="272" y="49"/>
                  <a:pt x="264" y="56"/>
                  <a:pt x="256" y="56"/>
                </a:cubicBezTo>
                <a:cubicBezTo>
                  <a:pt x="16" y="56"/>
                  <a:pt x="16" y="56"/>
                  <a:pt x="16" y="56"/>
                </a:cubicBezTo>
                <a:cubicBezTo>
                  <a:pt x="7" y="56"/>
                  <a:pt x="0" y="49"/>
                  <a:pt x="0" y="4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256" y="0"/>
                  <a:pt x="256" y="0"/>
                  <a:pt x="256" y="0"/>
                </a:cubicBezTo>
                <a:cubicBezTo>
                  <a:pt x="264" y="0"/>
                  <a:pt x="272" y="7"/>
                  <a:pt x="272" y="16"/>
                </a:cubicBezTo>
                <a:lnTo>
                  <a:pt x="272" y="40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75" name="Freeform 13"/>
          <p:cNvSpPr>
            <a:spLocks/>
          </p:cNvSpPr>
          <p:nvPr/>
        </p:nvSpPr>
        <p:spPr bwMode="auto">
          <a:xfrm>
            <a:off x="609600" y="6091238"/>
            <a:ext cx="3836221" cy="744537"/>
          </a:xfrm>
          <a:custGeom>
            <a:avLst/>
            <a:gdLst>
              <a:gd name="T0" fmla="*/ 3303587 w 1292"/>
              <a:gd name="T1" fmla="*/ 394695 h 316"/>
              <a:gd name="T2" fmla="*/ 2337058 w 1292"/>
              <a:gd name="T3" fmla="*/ 765175 h 316"/>
              <a:gd name="T4" fmla="*/ 2337058 w 1292"/>
              <a:gd name="T5" fmla="*/ 559353 h 316"/>
              <a:gd name="T6" fmla="*/ 0 w 1292"/>
              <a:gd name="T7" fmla="*/ 559353 h 316"/>
              <a:gd name="T8" fmla="*/ 0 w 1292"/>
              <a:gd name="T9" fmla="*/ 205822 h 316"/>
              <a:gd name="T10" fmla="*/ 2337058 w 1292"/>
              <a:gd name="T11" fmla="*/ 205822 h 316"/>
              <a:gd name="T12" fmla="*/ 2337058 w 1292"/>
              <a:gd name="T13" fmla="*/ 0 h 316"/>
              <a:gd name="T14" fmla="*/ 3303587 w 1292"/>
              <a:gd name="T15" fmla="*/ 394695 h 31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92"/>
              <a:gd name="T25" fmla="*/ 0 h 316"/>
              <a:gd name="T26" fmla="*/ 1292 w 1292"/>
              <a:gd name="T27" fmla="*/ 316 h 31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92" h="316">
                <a:moveTo>
                  <a:pt x="1292" y="163"/>
                </a:moveTo>
                <a:lnTo>
                  <a:pt x="914" y="316"/>
                </a:lnTo>
                <a:lnTo>
                  <a:pt x="914" y="231"/>
                </a:lnTo>
                <a:lnTo>
                  <a:pt x="0" y="231"/>
                </a:lnTo>
                <a:lnTo>
                  <a:pt x="0" y="85"/>
                </a:lnTo>
                <a:lnTo>
                  <a:pt x="914" y="85"/>
                </a:lnTo>
                <a:lnTo>
                  <a:pt x="914" y="0"/>
                </a:lnTo>
                <a:lnTo>
                  <a:pt x="1292" y="163"/>
                </a:lnTo>
                <a:close/>
              </a:path>
            </a:pathLst>
          </a:custGeom>
          <a:solidFill>
            <a:srgbClr val="D7ED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76" name="Rectangle 56"/>
          <p:cNvSpPr>
            <a:spLocks noChangeArrowheads="1"/>
          </p:cNvSpPr>
          <p:nvPr/>
        </p:nvSpPr>
        <p:spPr bwMode="auto">
          <a:xfrm>
            <a:off x="609600" y="6290502"/>
            <a:ext cx="3844865" cy="338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Unplanned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 </a:t>
            </a: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is negative and GDP rises</a:t>
            </a:r>
          </a:p>
        </p:txBody>
      </p:sp>
      <p:sp>
        <p:nvSpPr>
          <p:cNvPr id="491577" name="Rectangle 57"/>
          <p:cNvSpPr>
            <a:spLocks noChangeArrowheads="1"/>
          </p:cNvSpPr>
          <p:nvPr/>
        </p:nvSpPr>
        <p:spPr bwMode="auto">
          <a:xfrm>
            <a:off x="2286000" y="3168650"/>
            <a:ext cx="18006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Unplanned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 </a:t>
            </a: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= –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$400</a:t>
            </a:r>
          </a:p>
        </p:txBody>
      </p:sp>
      <p:sp>
        <p:nvSpPr>
          <p:cNvPr id="491578" name="Freeform 14"/>
          <p:cNvSpPr>
            <a:spLocks/>
          </p:cNvSpPr>
          <p:nvPr/>
        </p:nvSpPr>
        <p:spPr bwMode="auto">
          <a:xfrm>
            <a:off x="4530724" y="6091238"/>
            <a:ext cx="3546475" cy="766762"/>
          </a:xfrm>
          <a:custGeom>
            <a:avLst/>
            <a:gdLst>
              <a:gd name="T0" fmla="*/ 0 w 1251"/>
              <a:gd name="T1" fmla="*/ 372497 h 317"/>
              <a:gd name="T2" fmla="*/ 966548 w 1251"/>
              <a:gd name="T3" fmla="*/ 0 h 317"/>
              <a:gd name="T4" fmla="*/ 966548 w 1251"/>
              <a:gd name="T5" fmla="*/ 205599 h 317"/>
              <a:gd name="T6" fmla="*/ 3198813 w 1251"/>
              <a:gd name="T7" fmla="*/ 205599 h 317"/>
              <a:gd name="T8" fmla="*/ 3198813 w 1251"/>
              <a:gd name="T9" fmla="*/ 561164 h 317"/>
              <a:gd name="T10" fmla="*/ 966548 w 1251"/>
              <a:gd name="T11" fmla="*/ 561164 h 317"/>
              <a:gd name="T12" fmla="*/ 966548 w 1251"/>
              <a:gd name="T13" fmla="*/ 766763 h 317"/>
              <a:gd name="T14" fmla="*/ 0 w 1251"/>
              <a:gd name="T15" fmla="*/ 372497 h 31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51"/>
              <a:gd name="T25" fmla="*/ 0 h 317"/>
              <a:gd name="T26" fmla="*/ 1251 w 1251"/>
              <a:gd name="T27" fmla="*/ 317 h 31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51" h="317">
                <a:moveTo>
                  <a:pt x="0" y="154"/>
                </a:moveTo>
                <a:lnTo>
                  <a:pt x="378" y="0"/>
                </a:lnTo>
                <a:lnTo>
                  <a:pt x="378" y="85"/>
                </a:lnTo>
                <a:lnTo>
                  <a:pt x="1251" y="85"/>
                </a:lnTo>
                <a:lnTo>
                  <a:pt x="1251" y="232"/>
                </a:lnTo>
                <a:lnTo>
                  <a:pt x="378" y="232"/>
                </a:lnTo>
                <a:lnTo>
                  <a:pt x="378" y="317"/>
                </a:lnTo>
                <a:lnTo>
                  <a:pt x="0" y="154"/>
                </a:lnTo>
                <a:close/>
              </a:path>
            </a:pathLst>
          </a:custGeom>
          <a:solidFill>
            <a:srgbClr val="C7C4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79" name="Rectangle 59"/>
          <p:cNvSpPr>
            <a:spLocks noChangeArrowheads="1"/>
          </p:cNvSpPr>
          <p:nvPr/>
        </p:nvSpPr>
        <p:spPr bwMode="auto">
          <a:xfrm>
            <a:off x="4800600" y="6292850"/>
            <a:ext cx="33606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Unplanned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 </a:t>
            </a: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is positive and GDP falls</a:t>
            </a:r>
          </a:p>
        </p:txBody>
      </p:sp>
      <p:sp>
        <p:nvSpPr>
          <p:cNvPr id="491580" name="Line 130"/>
          <p:cNvSpPr>
            <a:spLocks noChangeShapeType="1"/>
          </p:cNvSpPr>
          <p:nvPr/>
        </p:nvSpPr>
        <p:spPr bwMode="auto">
          <a:xfrm flipH="1" flipV="1">
            <a:off x="4419600" y="2101850"/>
            <a:ext cx="514350" cy="503238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81" name="Freeform 131"/>
          <p:cNvSpPr>
            <a:spLocks/>
          </p:cNvSpPr>
          <p:nvPr/>
        </p:nvSpPr>
        <p:spPr bwMode="auto">
          <a:xfrm>
            <a:off x="2971800" y="1949450"/>
            <a:ext cx="1600200" cy="314325"/>
          </a:xfrm>
          <a:custGeom>
            <a:avLst/>
            <a:gdLst>
              <a:gd name="T0" fmla="*/ 1658937 w 275"/>
              <a:gd name="T1" fmla="*/ 222885 h 55"/>
              <a:gd name="T2" fmla="*/ 1562417 w 275"/>
              <a:gd name="T3" fmla="*/ 314325 h 55"/>
              <a:gd name="T4" fmla="*/ 96520 w 275"/>
              <a:gd name="T5" fmla="*/ 314325 h 55"/>
              <a:gd name="T6" fmla="*/ 0 w 275"/>
              <a:gd name="T7" fmla="*/ 222885 h 55"/>
              <a:gd name="T8" fmla="*/ 0 w 275"/>
              <a:gd name="T9" fmla="*/ 91440 h 55"/>
              <a:gd name="T10" fmla="*/ 96520 w 275"/>
              <a:gd name="T11" fmla="*/ 0 h 55"/>
              <a:gd name="T12" fmla="*/ 1562417 w 275"/>
              <a:gd name="T13" fmla="*/ 0 h 55"/>
              <a:gd name="T14" fmla="*/ 1658937 w 275"/>
              <a:gd name="T15" fmla="*/ 91440 h 55"/>
              <a:gd name="T16" fmla="*/ 1658937 w 275"/>
              <a:gd name="T17" fmla="*/ 222885 h 5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5"/>
              <a:gd name="T28" fmla="*/ 0 h 55"/>
              <a:gd name="T29" fmla="*/ 275 w 275"/>
              <a:gd name="T30" fmla="*/ 55 h 5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5" h="55">
                <a:moveTo>
                  <a:pt x="275" y="39"/>
                </a:moveTo>
                <a:cubicBezTo>
                  <a:pt x="275" y="48"/>
                  <a:pt x="268" y="55"/>
                  <a:pt x="259" y="55"/>
                </a:cubicBezTo>
                <a:cubicBezTo>
                  <a:pt x="16" y="55"/>
                  <a:pt x="16" y="55"/>
                  <a:pt x="16" y="55"/>
                </a:cubicBezTo>
                <a:cubicBezTo>
                  <a:pt x="7" y="55"/>
                  <a:pt x="0" y="48"/>
                  <a:pt x="0" y="39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259" y="0"/>
                  <a:pt x="259" y="0"/>
                  <a:pt x="259" y="0"/>
                </a:cubicBezTo>
                <a:cubicBezTo>
                  <a:pt x="268" y="0"/>
                  <a:pt x="275" y="7"/>
                  <a:pt x="275" y="16"/>
                </a:cubicBezTo>
                <a:lnTo>
                  <a:pt x="275" y="3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82" name="Rectangle 62"/>
          <p:cNvSpPr>
            <a:spLocks noChangeArrowheads="1"/>
          </p:cNvSpPr>
          <p:nvPr/>
        </p:nvSpPr>
        <p:spPr bwMode="auto">
          <a:xfrm>
            <a:off x="2976418" y="1938337"/>
            <a:ext cx="169809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Unplanned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 </a:t>
            </a: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= 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$200</a:t>
            </a:r>
          </a:p>
        </p:txBody>
      </p:sp>
      <p:sp>
        <p:nvSpPr>
          <p:cNvPr id="491583" name="Rectangle 63"/>
          <p:cNvSpPr>
            <a:spLocks noChangeArrowheads="1"/>
          </p:cNvSpPr>
          <p:nvPr/>
        </p:nvSpPr>
        <p:spPr bwMode="auto">
          <a:xfrm>
            <a:off x="4397375" y="1111250"/>
            <a:ext cx="17049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 </a:t>
            </a: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= 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GDP</a:t>
            </a:r>
          </a:p>
        </p:txBody>
      </p:sp>
      <p:sp>
        <p:nvSpPr>
          <p:cNvPr id="491584" name="Rectangle 64"/>
          <p:cNvSpPr>
            <a:spLocks noChangeArrowheads="1"/>
          </p:cNvSpPr>
          <p:nvPr/>
        </p:nvSpPr>
        <p:spPr bwMode="auto">
          <a:xfrm>
            <a:off x="5562600" y="2706469"/>
            <a:ext cx="3200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 </a:t>
            </a:r>
            <a:r>
              <a:rPr lang="en-US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= </a:t>
            </a: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C </a:t>
            </a:r>
            <a:r>
              <a:rPr lang="en-US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+ </a:t>
            </a: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</a:t>
            </a:r>
            <a:r>
              <a:rPr lang="en-US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 </a:t>
            </a:r>
            <a:r>
              <a:rPr lang="en-US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=</a:t>
            </a:r>
          </a:p>
          <a:p>
            <a:pPr>
              <a:spcBef>
                <a:spcPct val="0"/>
              </a:spcBef>
            </a:pP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 </a:t>
            </a:r>
            <a:r>
              <a:rPr lang="en-US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+ </a:t>
            </a: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MPC </a:t>
            </a:r>
            <a:r>
              <a:rPr lang="en-US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× </a:t>
            </a: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GDP </a:t>
            </a:r>
            <a:r>
              <a:rPr lang="en-US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+ </a:t>
            </a: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</a:t>
            </a:r>
            <a:r>
              <a:rPr lang="en-US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endParaRPr lang="en-US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85" name="Line 65"/>
          <p:cNvSpPr>
            <a:spLocks noChangeShapeType="1"/>
          </p:cNvSpPr>
          <p:nvPr/>
        </p:nvSpPr>
        <p:spPr bwMode="auto">
          <a:xfrm flipH="1">
            <a:off x="5132388" y="2911475"/>
            <a:ext cx="0" cy="23542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86" name="Line 66"/>
          <p:cNvSpPr>
            <a:spLocks noChangeShapeType="1"/>
          </p:cNvSpPr>
          <p:nvPr/>
        </p:nvSpPr>
        <p:spPr bwMode="auto">
          <a:xfrm>
            <a:off x="4514850" y="3228975"/>
            <a:ext cx="0" cy="20304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87" name="Line 67"/>
          <p:cNvSpPr>
            <a:spLocks noChangeShapeType="1"/>
          </p:cNvSpPr>
          <p:nvPr/>
        </p:nvSpPr>
        <p:spPr bwMode="auto">
          <a:xfrm flipH="1">
            <a:off x="3290888" y="3902075"/>
            <a:ext cx="0" cy="14398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88" name="Line 68"/>
          <p:cNvSpPr>
            <a:spLocks noChangeShapeType="1"/>
          </p:cNvSpPr>
          <p:nvPr/>
        </p:nvSpPr>
        <p:spPr bwMode="auto">
          <a:xfrm flipH="1" flipV="1">
            <a:off x="2286000" y="385445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89" name="AutoShape 69"/>
          <p:cNvSpPr>
            <a:spLocks/>
          </p:cNvSpPr>
          <p:nvPr/>
        </p:nvSpPr>
        <p:spPr bwMode="auto">
          <a:xfrm>
            <a:off x="4876800" y="2559050"/>
            <a:ext cx="228600" cy="228600"/>
          </a:xfrm>
          <a:prstGeom prst="leftBrace">
            <a:avLst>
              <a:gd name="adj1" fmla="val 25000"/>
              <a:gd name="adj2" fmla="val 50000"/>
            </a:avLst>
          </a:prstGeom>
          <a:noFill/>
          <a:ln w="952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90" name="Rectangle 45"/>
          <p:cNvSpPr>
            <a:spLocks noChangeArrowheads="1"/>
          </p:cNvSpPr>
          <p:nvPr/>
        </p:nvSpPr>
        <p:spPr bwMode="auto">
          <a:xfrm>
            <a:off x="6484938" y="1881188"/>
            <a:ext cx="82584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1592" name="Rectangle 72"/>
          <p:cNvSpPr>
            <a:spLocks noChangeArrowheads="1"/>
          </p:cNvSpPr>
          <p:nvPr/>
        </p:nvSpPr>
        <p:spPr bwMode="auto">
          <a:xfrm>
            <a:off x="6324600" y="1187450"/>
            <a:ext cx="17963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45-degree line</a:t>
            </a:r>
          </a:p>
        </p:txBody>
      </p:sp>
      <p:sp>
        <p:nvSpPr>
          <p:cNvPr id="491593" name="Freeform 73"/>
          <p:cNvSpPr>
            <a:spLocks/>
          </p:cNvSpPr>
          <p:nvPr/>
        </p:nvSpPr>
        <p:spPr bwMode="auto">
          <a:xfrm>
            <a:off x="4800600" y="3702050"/>
            <a:ext cx="4343400" cy="1557338"/>
          </a:xfrm>
          <a:custGeom>
            <a:avLst/>
            <a:gdLst>
              <a:gd name="T0" fmla="*/ 399 w 399"/>
              <a:gd name="T1" fmla="*/ 108 h 138"/>
              <a:gd name="T2" fmla="*/ 373 w 399"/>
              <a:gd name="T3" fmla="*/ 138 h 138"/>
              <a:gd name="T4" fmla="*/ 26 w 399"/>
              <a:gd name="T5" fmla="*/ 138 h 138"/>
              <a:gd name="T6" fmla="*/ 0 w 399"/>
              <a:gd name="T7" fmla="*/ 108 h 138"/>
              <a:gd name="T8" fmla="*/ 0 w 399"/>
              <a:gd name="T9" fmla="*/ 31 h 138"/>
              <a:gd name="T10" fmla="*/ 26 w 399"/>
              <a:gd name="T11" fmla="*/ 0 h 138"/>
              <a:gd name="T12" fmla="*/ 373 w 399"/>
              <a:gd name="T13" fmla="*/ 0 h 138"/>
              <a:gd name="T14" fmla="*/ 399 w 399"/>
              <a:gd name="T15" fmla="*/ 31 h 138"/>
              <a:gd name="T16" fmla="*/ 399 w 399"/>
              <a:gd name="T17" fmla="*/ 108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9" h="138">
                <a:moveTo>
                  <a:pt x="399" y="108"/>
                </a:moveTo>
                <a:cubicBezTo>
                  <a:pt x="399" y="125"/>
                  <a:pt x="387" y="138"/>
                  <a:pt x="373" y="138"/>
                </a:cubicBezTo>
                <a:cubicBezTo>
                  <a:pt x="26" y="138"/>
                  <a:pt x="26" y="138"/>
                  <a:pt x="26" y="138"/>
                </a:cubicBezTo>
                <a:cubicBezTo>
                  <a:pt x="12" y="138"/>
                  <a:pt x="0" y="125"/>
                  <a:pt x="0" y="108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14"/>
                  <a:pt x="12" y="0"/>
                  <a:pt x="26" y="0"/>
                </a:cubicBezTo>
                <a:cubicBezTo>
                  <a:pt x="373" y="0"/>
                  <a:pt x="373" y="0"/>
                  <a:pt x="373" y="0"/>
                </a:cubicBezTo>
                <a:cubicBezTo>
                  <a:pt x="387" y="0"/>
                  <a:pt x="399" y="14"/>
                  <a:pt x="399" y="31"/>
                </a:cubicBezTo>
                <a:lnTo>
                  <a:pt x="399" y="108"/>
                </a:lnTo>
                <a:close/>
              </a:path>
            </a:pathLst>
          </a:custGeom>
          <a:solidFill>
            <a:srgbClr val="D6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1594" name="Text Box 74"/>
          <p:cNvSpPr txBox="1">
            <a:spLocks noChangeArrowheads="1"/>
          </p:cNvSpPr>
          <p:nvPr/>
        </p:nvSpPr>
        <p:spPr bwMode="auto">
          <a:xfrm>
            <a:off x="4878388" y="3733800"/>
            <a:ext cx="426561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prstDash val="sysDot"/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588" indent="-15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prstClr val="black"/>
                </a:solidFill>
                <a:latin typeface="Century Gothic"/>
                <a:cs typeface="Century Gothic"/>
              </a:rPr>
              <a:t>The </a:t>
            </a:r>
            <a:r>
              <a:rPr lang="en-US" b="1" dirty="0">
                <a:solidFill>
                  <a:prstClr val="black"/>
                </a:solidFill>
                <a:latin typeface="Century Gothic"/>
                <a:cs typeface="Century Gothic"/>
              </a:rPr>
              <a:t>Keynesian cross </a:t>
            </a:r>
            <a:r>
              <a:rPr lang="en-US" dirty="0">
                <a:solidFill>
                  <a:prstClr val="black"/>
                </a:solidFill>
                <a:latin typeface="Century Gothic"/>
                <a:cs typeface="Century Gothic"/>
              </a:rPr>
              <a:t>is a diagram that identifies income–expenditure equilibrium as the point where a planned aggregate spending line crosses the 45-degree line.</a:t>
            </a:r>
          </a:p>
        </p:txBody>
      </p:sp>
      <p:sp>
        <p:nvSpPr>
          <p:cNvPr id="491595" name="Rectangle 75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pc="0" dirty="0"/>
              <a:t>INCOME–EXPENDITURE EQUILIBRIUM</a:t>
            </a:r>
          </a:p>
        </p:txBody>
      </p:sp>
    </p:spTree>
    <p:extLst>
      <p:ext uri="{BB962C8B-B14F-4D97-AF65-F5344CB8AC3E}">
        <p14:creationId xmlns:p14="http://schemas.microsoft.com/office/powerpoint/2010/main" val="187175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1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1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9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9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9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9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9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9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9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91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9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9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9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9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9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9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2" grpId="0" animBg="1"/>
      <p:bldP spid="491523" grpId="0" animBg="1"/>
      <p:bldP spid="491524" grpId="0" animBg="1"/>
      <p:bldP spid="491525" grpId="0" animBg="1"/>
      <p:bldP spid="491527" grpId="0" animBg="1"/>
      <p:bldP spid="491528" grpId="0"/>
      <p:bldP spid="491529" grpId="0"/>
      <p:bldP spid="491561" grpId="0" animBg="1"/>
      <p:bldP spid="491563" grpId="0" animBg="1"/>
      <p:bldP spid="491564" grpId="0" animBg="1"/>
      <p:bldP spid="491565" grpId="0" animBg="1"/>
      <p:bldP spid="491566" grpId="0" animBg="1"/>
      <p:bldP spid="491570" grpId="0" animBg="1"/>
      <p:bldP spid="491571" grpId="0" animBg="1"/>
      <p:bldP spid="491573" grpId="0" animBg="1"/>
      <p:bldP spid="491577" grpId="0"/>
      <p:bldP spid="491578" grpId="0" animBg="1"/>
      <p:bldP spid="491579" grpId="0"/>
      <p:bldP spid="491580" grpId="0" animBg="1"/>
      <p:bldP spid="491581" grpId="0" animBg="1"/>
      <p:bldP spid="491582" grpId="0"/>
      <p:bldP spid="491583" grpId="0"/>
      <p:bldP spid="491585" grpId="0" animBg="1"/>
      <p:bldP spid="491586" grpId="0" animBg="1"/>
      <p:bldP spid="491587" grpId="0" animBg="1"/>
      <p:bldP spid="491588" grpId="0" animBg="1"/>
      <p:bldP spid="491589" grpId="0" animBg="1"/>
      <p:bldP spid="491592" grpId="0"/>
      <p:bldP spid="491593" grpId="0" animBg="1"/>
      <p:bldP spid="49159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581400"/>
            <a:ext cx="8458200" cy="2774950"/>
          </a:xfrm>
        </p:spPr>
        <p:txBody>
          <a:bodyPr>
            <a:normAutofit fontScale="92500" lnSpcReduction="10000"/>
          </a:bodyPr>
          <a:lstStyle/>
          <a:p>
            <a:r>
              <a:rPr lang="en-US" sz="2000" i="1" dirty="0"/>
              <a:t>Suppose Outlandia’s economy is operating at point B</a:t>
            </a:r>
            <a:r>
              <a:rPr lang="en-US" sz="2000" b="0" i="1" dirty="0"/>
              <a:t>.</a:t>
            </a:r>
          </a:p>
          <a:p>
            <a:pPr marL="404813" indent="-404813">
              <a:buFont typeface="+mj-lt"/>
              <a:buAutoNum type="alphaLcParenR"/>
            </a:pPr>
            <a:r>
              <a:rPr lang="en-US" sz="2000" b="0" dirty="0"/>
              <a:t>Is this an income –expenditure equilibrium for Outlandia? Describe what is happening to inventories and production in Outlandia.</a:t>
            </a:r>
          </a:p>
          <a:p>
            <a:pPr marL="404813" indent="-404813">
              <a:buFont typeface="+mj-lt"/>
              <a:buAutoNum type="alphaLcParenR"/>
            </a:pPr>
            <a:r>
              <a:rPr lang="en-US" sz="2000" b="0" dirty="0"/>
              <a:t>What level of GDP will this economy produce at equilibrium?</a:t>
            </a:r>
          </a:p>
          <a:p>
            <a:pPr marL="404813" indent="-404813">
              <a:buFont typeface="+mj-lt"/>
              <a:buAutoNum type="alphaLcParenR"/>
            </a:pPr>
            <a:r>
              <a:rPr lang="en-US" sz="2000" b="0" dirty="0"/>
              <a:t>At what levels of GDP is unplanned inventory investment positive? </a:t>
            </a:r>
          </a:p>
          <a:p>
            <a:pPr marL="404813" indent="-404813">
              <a:buFont typeface="+mj-lt"/>
              <a:buAutoNum type="alphaLcParenR"/>
            </a:pPr>
            <a:r>
              <a:rPr lang="en-US" sz="2000" b="0" dirty="0"/>
              <a:t>At what levels is planned aggregate expenditure greater than income? </a:t>
            </a:r>
            <a:endParaRPr lang="en-US" sz="2000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571" b="2890"/>
          <a:stretch/>
        </p:blipFill>
        <p:spPr bwMode="auto">
          <a:xfrm>
            <a:off x="1752600" y="914400"/>
            <a:ext cx="4419600" cy="258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84956" y="6324600"/>
            <a:ext cx="80019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3" action="ppaction://hlinksldjump"/>
              </a:rPr>
              <a:t>To answer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498108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060950"/>
          </a:xfrm>
        </p:spPr>
        <p:txBody>
          <a:bodyPr>
            <a:noAutofit/>
          </a:bodyPr>
          <a:lstStyle/>
          <a:p>
            <a:r>
              <a:rPr lang="en-US" sz="2000" dirty="0"/>
              <a:t>(answers to previous slide’s questions)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b="0" dirty="0"/>
              <a:t>No, the income–expenditure equilibrium is at point </a:t>
            </a:r>
            <a:r>
              <a:rPr lang="en-US" sz="2000" b="0" i="1" dirty="0"/>
              <a:t>C </a:t>
            </a:r>
            <a:r>
              <a:rPr lang="en-US" sz="2000" b="0" dirty="0"/>
              <a:t>on the graph. At point </a:t>
            </a:r>
            <a:r>
              <a:rPr lang="en-US" sz="2000" b="0" i="1" dirty="0"/>
              <a:t>B,AE</a:t>
            </a:r>
            <a:r>
              <a:rPr lang="en-US" sz="2000" b="0" i="1" baseline="-25000" dirty="0"/>
              <a:t>Planned</a:t>
            </a:r>
            <a:r>
              <a:rPr lang="en-US" sz="2000" b="0" i="1" dirty="0"/>
              <a:t> </a:t>
            </a:r>
            <a:r>
              <a:rPr lang="en-US" sz="2000" b="0" dirty="0"/>
              <a:t>is greater than GDP, or income. This causes inventories to fall, and firms view this as a signal that they should increase their production from </a:t>
            </a:r>
            <a:r>
              <a:rPr lang="en-US" sz="2000" b="0" i="1" dirty="0"/>
              <a:t>Y</a:t>
            </a:r>
            <a:r>
              <a:rPr lang="en-US" sz="2000" b="0" baseline="-25000" dirty="0"/>
              <a:t>1</a:t>
            </a:r>
            <a:r>
              <a:rPr lang="en-US" sz="2000" b="0" dirty="0"/>
              <a:t> toward </a:t>
            </a:r>
            <a:r>
              <a:rPr lang="en-US" sz="2000" b="0" i="1" dirty="0"/>
              <a:t>Y</a:t>
            </a:r>
            <a:r>
              <a:rPr lang="en-US" sz="2000" b="0" baseline="-25000" dirty="0"/>
              <a:t>2</a:t>
            </a:r>
            <a:r>
              <a:rPr lang="en-US" sz="2000" b="0" dirty="0"/>
              <a:t>, the income–expenditure equilibrium real GDP.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b="0" dirty="0"/>
              <a:t>This economy, holding everything else constant, will produce GDP equal to </a:t>
            </a:r>
            <a:r>
              <a:rPr lang="en-US" sz="2000" b="0" i="1" dirty="0"/>
              <a:t>Y</a:t>
            </a:r>
            <a:r>
              <a:rPr lang="en-US" sz="2000" b="0" baseline="-25000" dirty="0"/>
              <a:t>2</a:t>
            </a:r>
            <a:r>
              <a:rPr lang="en-US" sz="2000" b="0" dirty="0"/>
              <a:t> when it is in income–expenditure equilibrium.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b="0" dirty="0"/>
              <a:t>Unplanned inventory investment is positive wherever GDP is greater than </a:t>
            </a:r>
            <a:r>
              <a:rPr lang="en-US" sz="2000" b="0" i="1" dirty="0"/>
              <a:t>AE</a:t>
            </a:r>
            <a:r>
              <a:rPr lang="en-US" sz="2000" b="0" i="1" baseline="-25000" dirty="0"/>
              <a:t>Planned</a:t>
            </a:r>
            <a:r>
              <a:rPr lang="en-US" sz="2000" b="0" dirty="0"/>
              <a:t>: GDP output levels </a:t>
            </a:r>
            <a:r>
              <a:rPr lang="en-US" sz="2000" b="0" i="1" dirty="0"/>
              <a:t>Y</a:t>
            </a:r>
            <a:r>
              <a:rPr lang="en-US" sz="2000" b="0" baseline="-25000" dirty="0"/>
              <a:t>3</a:t>
            </a:r>
            <a:r>
              <a:rPr lang="en-US" sz="2000" b="0" dirty="0"/>
              <a:t> and </a:t>
            </a:r>
            <a:r>
              <a:rPr lang="en-US" sz="2000" b="0" i="1" dirty="0"/>
              <a:t>Y</a:t>
            </a:r>
            <a:r>
              <a:rPr lang="en-US" sz="2000" b="0" baseline="-25000" dirty="0"/>
              <a:t>4</a:t>
            </a:r>
            <a:r>
              <a:rPr lang="en-US" sz="2000" b="0" dirty="0"/>
              <a:t> represent two output levels where unplanned inventory investment is positive. So at any output level greater than </a:t>
            </a:r>
            <a:r>
              <a:rPr lang="en-US" sz="2000" b="0" i="1" dirty="0"/>
              <a:t>Y</a:t>
            </a:r>
            <a:r>
              <a:rPr lang="en-US" sz="2000" b="0" baseline="-25000" dirty="0"/>
              <a:t>2</a:t>
            </a:r>
            <a:r>
              <a:rPr lang="en-US" sz="2000" b="0" dirty="0"/>
              <a:t>, unplanned inventory investment is positive.</a:t>
            </a:r>
          </a:p>
          <a:p>
            <a:pPr marL="347663" indent="-347663">
              <a:buFont typeface="+mj-lt"/>
              <a:buAutoNum type="alphaLcParenR"/>
            </a:pPr>
            <a:r>
              <a:rPr lang="en-US" sz="2000" b="0" dirty="0"/>
              <a:t>This is true for any level of GDP less than </a:t>
            </a:r>
            <a:r>
              <a:rPr lang="en-US" sz="2000" b="0" i="1" dirty="0"/>
              <a:t>Y</a:t>
            </a:r>
            <a:r>
              <a:rPr lang="en-US" sz="2000" b="0" baseline="-25000" dirty="0"/>
              <a:t>2</a:t>
            </a:r>
            <a:r>
              <a:rPr lang="en-US" sz="2000" b="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31101730"/>
      </p:ext>
    </p:extLst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alphaModFix amt="5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3600" spc="0" dirty="0"/>
              <a:t>THE MULTIPLIER PROCESS AND INVENTORY ADJUSTMENT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2514600"/>
          </a:xfrm>
          <a:solidFill>
            <a:schemeClr val="bg1">
              <a:alpha val="62000"/>
            </a:schemeClr>
          </a:solidFill>
        </p:spPr>
        <p:txBody>
          <a:bodyPr>
            <a:noAutofit/>
          </a:bodyPr>
          <a:lstStyle/>
          <a:p>
            <a:r>
              <a:rPr lang="en-US" sz="2800" i="1" dirty="0">
                <a:solidFill>
                  <a:srgbClr val="0070C0"/>
                </a:solidFill>
              </a:rPr>
              <a:t>What happens when there’s a shift of the planned aggregate spending line?</a:t>
            </a:r>
          </a:p>
          <a:p>
            <a:r>
              <a:rPr lang="en-US" sz="2800" dirty="0"/>
              <a:t>Two possible sources of a shift:</a:t>
            </a:r>
            <a:endParaRPr lang="en-US" dirty="0"/>
          </a:p>
          <a:p>
            <a:pPr lvl="1"/>
            <a:r>
              <a:rPr lang="en-US" dirty="0"/>
              <a:t>change in interest rate</a:t>
            </a:r>
          </a:p>
          <a:p>
            <a:pPr lvl="1"/>
            <a:r>
              <a:rPr lang="en-US" dirty="0"/>
              <a:t>change in wealth</a:t>
            </a:r>
          </a:p>
        </p:txBody>
      </p:sp>
    </p:spTree>
    <p:extLst>
      <p:ext uri="{BB962C8B-B14F-4D97-AF65-F5344CB8AC3E}">
        <p14:creationId xmlns:p14="http://schemas.microsoft.com/office/powerpoint/2010/main" val="3375561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3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19200"/>
          </a:xfrm>
          <a:solidFill>
            <a:schemeClr val="bg1">
              <a:alpha val="66000"/>
            </a:schemeClr>
          </a:solidFill>
        </p:spPr>
        <p:txBody>
          <a:bodyPr>
            <a:noAutofit/>
          </a:bodyPr>
          <a:lstStyle/>
          <a:p>
            <a:r>
              <a:rPr lang="en-US" sz="4000" spc="0" dirty="0"/>
              <a:t>THE MULTIPLIER PROCESS AND INVENTORY ADJUSTMENT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0"/>
            <a:ext cx="9144000" cy="1905000"/>
          </a:xfrm>
          <a:solidFill>
            <a:schemeClr val="bg1">
              <a:alpha val="80000"/>
            </a:schemeClr>
          </a:solidFill>
        </p:spPr>
        <p:txBody>
          <a:bodyPr>
            <a:normAutofit/>
          </a:bodyPr>
          <a:lstStyle/>
          <a:p>
            <a:r>
              <a:rPr lang="en-US" sz="2800" dirty="0"/>
              <a:t>When planned spending doesn’t equal output, it shows up in changes to inventories.  </a:t>
            </a:r>
          </a:p>
          <a:p>
            <a:r>
              <a:rPr lang="en-US" sz="2800" i="1" dirty="0">
                <a:solidFill>
                  <a:srgbClr val="0070C0"/>
                </a:solidFill>
              </a:rPr>
              <a:t>This is why changes in inventories are considered a leading indicator of future economic activity.</a:t>
            </a:r>
          </a:p>
        </p:txBody>
      </p:sp>
    </p:spTree>
    <p:extLst>
      <p:ext uri="{BB962C8B-B14F-4D97-AF65-F5344CB8AC3E}">
        <p14:creationId xmlns:p14="http://schemas.microsoft.com/office/powerpoint/2010/main" val="426077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0E1193C-B693-6D74-323E-2CE62F1A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6179-C0C9-9225-6E14-37663EC4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19200"/>
          </a:xfrm>
          <a:solidFill>
            <a:schemeClr val="bg1">
              <a:alpha val="66000"/>
            </a:schemeClr>
          </a:solidFill>
        </p:spPr>
        <p:txBody>
          <a:bodyPr>
            <a:noAutofit/>
          </a:bodyPr>
          <a:lstStyle/>
          <a:p>
            <a:r>
              <a:rPr lang="en-US" sz="4000" spc="0" dirty="0"/>
              <a:t>THE MULTIPLIER PROCESS AND INVENTORY ADJUSTMENT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7E1FC2-B324-3B32-4763-9181BE692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02278"/>
            <a:ext cx="8686800" cy="5486400"/>
          </a:xfrm>
        </p:spPr>
        <p:txBody>
          <a:bodyPr>
            <a:normAutofit/>
          </a:bodyPr>
          <a:lstStyle/>
          <a:p>
            <a:pPr>
              <a:spcBef>
                <a:spcPts val="120"/>
              </a:spcBef>
              <a:spcAft>
                <a:spcPts val="800"/>
              </a:spcAft>
              <a:buNone/>
            </a:pPr>
            <a:r>
              <a:rPr lang="en-US" sz="3200" b="1" i="1" dirty="0"/>
              <a:t>A Vivid Example: Mario’s Pizzeria</a:t>
            </a:r>
          </a:p>
          <a:p>
            <a:pPr>
              <a:spcBef>
                <a:spcPts val="120"/>
              </a:spcBef>
              <a:spcAft>
                <a:spcPts val="800"/>
              </a:spcAft>
              <a:buNone/>
            </a:pPr>
            <a:r>
              <a:rPr lang="en-US" sz="2600" i="1" dirty="0"/>
              <a:t>Every Friday, Mario must decide how many pizzas to bake before he knows how many customers will show up.</a:t>
            </a:r>
          </a:p>
          <a:p>
            <a:pPr>
              <a:spcBef>
                <a:spcPts val="120"/>
              </a:spcBef>
              <a:spcAft>
                <a:spcPts val="400"/>
              </a:spcAft>
            </a:pPr>
            <a:r>
              <a:rPr lang="en-US" sz="2600" dirty="0"/>
              <a:t>Production (pizzas baked) </a:t>
            </a:r>
            <a:r>
              <a:rPr lang="en-US" sz="2600" b="1" dirty="0"/>
              <a:t>= Real GDP</a:t>
            </a:r>
          </a:p>
          <a:p>
            <a:pPr>
              <a:spcBef>
                <a:spcPts val="120"/>
              </a:spcBef>
              <a:spcAft>
                <a:spcPts val="400"/>
              </a:spcAft>
            </a:pPr>
            <a:r>
              <a:rPr lang="en-US" sz="2600" dirty="0"/>
              <a:t>Actual purchases by customers </a:t>
            </a:r>
            <a:r>
              <a:rPr lang="en-US" sz="2600" b="1" dirty="0"/>
              <a:t>= AE</a:t>
            </a:r>
            <a:r>
              <a:rPr lang="en-US" sz="1800" b="1" baseline="-25000" dirty="0"/>
              <a:t>Planned</a:t>
            </a:r>
          </a:p>
          <a:p>
            <a:pPr>
              <a:spcBef>
                <a:spcPts val="120"/>
              </a:spcBef>
              <a:spcAft>
                <a:spcPts val="800"/>
              </a:spcAft>
            </a:pPr>
            <a:r>
              <a:rPr lang="en-US" sz="2600" dirty="0"/>
              <a:t>Unsold pizzas (or emergency freezer raids) </a:t>
            </a:r>
            <a:r>
              <a:rPr lang="en-US" sz="2600" b="1" dirty="0"/>
              <a:t>= I</a:t>
            </a:r>
            <a:r>
              <a:rPr lang="en-US" sz="1800" b="1" baseline="-25000" dirty="0"/>
              <a:t>Unplanned</a:t>
            </a:r>
          </a:p>
          <a:p>
            <a:pPr algn="ctr">
              <a:spcBef>
                <a:spcPts val="120"/>
              </a:spcBef>
              <a:spcAft>
                <a:spcPts val="400"/>
              </a:spcAft>
              <a:buNone/>
            </a:pPr>
            <a:r>
              <a:rPr lang="en-US" sz="2800" i="1" dirty="0">
                <a:solidFill>
                  <a:srgbClr val="2E75B6"/>
                </a:solidFill>
              </a:rPr>
              <a:t>What happens when Mario guesses wrong?</a:t>
            </a:r>
          </a:p>
        </p:txBody>
      </p:sp>
    </p:spTree>
    <p:extLst>
      <p:ext uri="{BB962C8B-B14F-4D97-AF65-F5344CB8AC3E}">
        <p14:creationId xmlns:p14="http://schemas.microsoft.com/office/powerpoint/2010/main" val="2629002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BE343E7-F052-7F7D-CBE5-7FC04A856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EE05-C990-F2AB-F82E-FD5DEBB1C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19200"/>
          </a:xfrm>
          <a:solidFill>
            <a:schemeClr val="bg1">
              <a:alpha val="66000"/>
            </a:schemeClr>
          </a:solidFill>
        </p:spPr>
        <p:txBody>
          <a:bodyPr>
            <a:noAutofit/>
          </a:bodyPr>
          <a:lstStyle/>
          <a:p>
            <a:r>
              <a:rPr lang="en-US" sz="4000" spc="0" dirty="0"/>
              <a:t>THE MULTIPLIER PROCESS AND INVENTORY ADJUSTMENT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00310-80D1-D529-E525-8A0BAF82B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5486400"/>
          </a:xfrm>
        </p:spPr>
        <p:txBody>
          <a:bodyPr>
            <a:normAutofit/>
          </a:bodyPr>
          <a:lstStyle/>
          <a:p>
            <a:pPr>
              <a:spcBef>
                <a:spcPts val="120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C00000"/>
                </a:solidFill>
              </a:rPr>
              <a:t>Scenario 1: Mario Overestimates Demand</a:t>
            </a:r>
          </a:p>
          <a:p>
            <a:pPr>
              <a:spcBef>
                <a:spcPts val="120"/>
              </a:spcBef>
              <a:spcAft>
                <a:spcPts val="300"/>
              </a:spcAft>
            </a:pPr>
            <a:r>
              <a:rPr lang="en-US" sz="2400" dirty="0"/>
              <a:t>Mario expects a busy Friday and bakes </a:t>
            </a:r>
            <a:r>
              <a:rPr lang="en-US" sz="2400" b="1" dirty="0"/>
              <a:t>200 pizzas</a:t>
            </a:r>
            <a:r>
              <a:rPr lang="en-US" sz="2400" dirty="0"/>
              <a:t>.</a:t>
            </a:r>
          </a:p>
          <a:p>
            <a:pPr>
              <a:spcBef>
                <a:spcPts val="120"/>
              </a:spcBef>
              <a:spcAft>
                <a:spcPts val="300"/>
              </a:spcAft>
            </a:pPr>
            <a:r>
              <a:rPr lang="en-US" sz="2400" dirty="0"/>
              <a:t>A big storm hits — customers only buy </a:t>
            </a:r>
            <a:r>
              <a:rPr lang="en-US" sz="2400" b="1" dirty="0"/>
              <a:t>150 pizzas</a:t>
            </a:r>
            <a:r>
              <a:rPr lang="en-US" sz="2400" dirty="0"/>
              <a:t>.</a:t>
            </a:r>
          </a:p>
          <a:p>
            <a:pPr>
              <a:spcBef>
                <a:spcPts val="120"/>
              </a:spcBef>
              <a:spcAft>
                <a:spcPts val="400"/>
              </a:spcAft>
            </a:pPr>
            <a:r>
              <a:rPr lang="en-US" sz="2400" dirty="0"/>
              <a:t>50 unsold pizzas pile up in the warming racks.</a:t>
            </a:r>
          </a:p>
          <a:p>
            <a:pPr algn="ctr">
              <a:spcBef>
                <a:spcPts val="120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C00000"/>
                </a:solidFill>
              </a:rPr>
              <a:t>I</a:t>
            </a:r>
            <a:r>
              <a:rPr lang="en-US" sz="1800" b="1" baseline="-25000" dirty="0">
                <a:solidFill>
                  <a:srgbClr val="C00000"/>
                </a:solidFill>
              </a:rPr>
              <a:t>Unplanned</a:t>
            </a:r>
            <a:r>
              <a:rPr lang="en-US" sz="2800" b="1" dirty="0">
                <a:solidFill>
                  <a:srgbClr val="C00000"/>
                </a:solidFill>
              </a:rPr>
              <a:t> = +50</a:t>
            </a:r>
            <a:r>
              <a:rPr lang="en-US" sz="2200" i="1" dirty="0"/>
              <a:t>  (unintended additions to inventory)</a:t>
            </a:r>
          </a:p>
          <a:p>
            <a:pPr>
              <a:spcBef>
                <a:spcPts val="120"/>
              </a:spcBef>
              <a:spcAft>
                <a:spcPts val="200"/>
              </a:spcAft>
            </a:pPr>
            <a:r>
              <a:rPr lang="en-US" sz="2400" b="1" dirty="0"/>
              <a:t>Production (200) &gt; Spending (150)</a:t>
            </a:r>
          </a:p>
          <a:p>
            <a:pPr>
              <a:spcBef>
                <a:spcPts val="120"/>
              </a:spcBef>
              <a:spcAft>
                <a:spcPts val="300"/>
              </a:spcAft>
            </a:pPr>
            <a:r>
              <a:rPr lang="en-US" sz="2400" dirty="0"/>
              <a:t>→ Economy is </a:t>
            </a:r>
            <a:r>
              <a:rPr lang="en-US" sz="2400" b="1" i="1" dirty="0"/>
              <a:t>above equilibrium</a:t>
            </a:r>
          </a:p>
          <a:p>
            <a:pPr>
              <a:spcBef>
                <a:spcPts val="120"/>
              </a:spcBef>
              <a:spcAft>
                <a:spcPts val="200"/>
              </a:spcAft>
            </a:pPr>
            <a:r>
              <a:rPr lang="en-US" sz="2400" dirty="0"/>
              <a:t>Next Friday, Mario will </a:t>
            </a:r>
            <a:r>
              <a:rPr lang="en-US" sz="2400" b="1" dirty="0">
                <a:solidFill>
                  <a:srgbClr val="C00000"/>
                </a:solidFill>
              </a:rPr>
              <a:t>cut back production</a:t>
            </a:r>
          </a:p>
          <a:p>
            <a:pPr>
              <a:spcBef>
                <a:spcPts val="120"/>
              </a:spcBef>
              <a:spcAft>
                <a:spcPts val="200"/>
              </a:spcAft>
            </a:pPr>
            <a:r>
              <a:rPr lang="en-US" sz="2400" dirty="0"/>
              <a:t>→ Output shrinks toward equilibrium.</a:t>
            </a:r>
          </a:p>
        </p:txBody>
      </p:sp>
    </p:spTree>
    <p:extLst>
      <p:ext uri="{BB962C8B-B14F-4D97-AF65-F5344CB8AC3E}">
        <p14:creationId xmlns:p14="http://schemas.microsoft.com/office/powerpoint/2010/main" val="4113614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9165149-981E-EED6-D748-9F89CE53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B464-BDB9-240C-0B33-65DAE5F89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19200"/>
          </a:xfrm>
          <a:solidFill>
            <a:schemeClr val="bg1">
              <a:alpha val="66000"/>
            </a:schemeClr>
          </a:solidFill>
        </p:spPr>
        <p:txBody>
          <a:bodyPr>
            <a:noAutofit/>
          </a:bodyPr>
          <a:lstStyle/>
          <a:p>
            <a:r>
              <a:rPr lang="en-US" sz="4000" spc="0" dirty="0"/>
              <a:t>THE MULTIPLIER PROCESS AND INVENTORY ADJUSTMENT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63A55-94E4-DB0E-3AA4-895801B2E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6548"/>
            <a:ext cx="8686800" cy="5486400"/>
          </a:xfrm>
        </p:spPr>
        <p:txBody>
          <a:bodyPr>
            <a:normAutofit/>
          </a:bodyPr>
          <a:lstStyle/>
          <a:p>
            <a:pPr>
              <a:spcBef>
                <a:spcPts val="120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0B050"/>
                </a:solidFill>
              </a:rPr>
              <a:t>Scenario 2: Mario Underestimates Demand</a:t>
            </a:r>
          </a:p>
          <a:p>
            <a:pPr>
              <a:spcBef>
                <a:spcPts val="120"/>
              </a:spcBef>
              <a:spcAft>
                <a:spcPts val="300"/>
              </a:spcAft>
            </a:pPr>
            <a:r>
              <a:rPr lang="en-US" sz="2400" dirty="0"/>
              <a:t>Mario expects a slow night and bakes only </a:t>
            </a:r>
            <a:r>
              <a:rPr lang="en-US" sz="2400" b="1" dirty="0"/>
              <a:t>100 pizzas</a:t>
            </a:r>
            <a:r>
              <a:rPr lang="en-US" sz="2400" dirty="0"/>
              <a:t>.</a:t>
            </a:r>
          </a:p>
          <a:p>
            <a:pPr>
              <a:spcBef>
                <a:spcPts val="120"/>
              </a:spcBef>
              <a:spcAft>
                <a:spcPts val="300"/>
              </a:spcAft>
            </a:pPr>
            <a:r>
              <a:rPr lang="en-US" sz="2400" dirty="0"/>
              <a:t>A nearby concert lets out early — customers want </a:t>
            </a:r>
            <a:r>
              <a:rPr lang="en-US" sz="2400" b="1" dirty="0"/>
              <a:t>140 pizzas</a:t>
            </a:r>
            <a:r>
              <a:rPr lang="en-US" sz="2400" dirty="0"/>
              <a:t>.</a:t>
            </a:r>
          </a:p>
          <a:p>
            <a:pPr>
              <a:spcBef>
                <a:spcPts val="120"/>
              </a:spcBef>
              <a:spcAft>
                <a:spcPts val="400"/>
              </a:spcAft>
            </a:pPr>
            <a:r>
              <a:rPr lang="en-US" sz="2400" dirty="0"/>
              <a:t>Mario sells all 100 and pulls </a:t>
            </a:r>
            <a:r>
              <a:rPr lang="en-US" sz="2400" b="1" dirty="0"/>
              <a:t>40 frozen pizzas from his back freezer</a:t>
            </a:r>
            <a:r>
              <a:rPr lang="en-US" sz="2400" dirty="0"/>
              <a:t>.</a:t>
            </a:r>
          </a:p>
          <a:p>
            <a:pPr algn="ctr">
              <a:spcBef>
                <a:spcPts val="120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0B050"/>
                </a:solidFill>
              </a:rPr>
              <a:t>I</a:t>
            </a:r>
            <a:r>
              <a:rPr lang="en-US" sz="1800" b="1" baseline="-25000" dirty="0">
                <a:solidFill>
                  <a:srgbClr val="00B050"/>
                </a:solidFill>
              </a:rPr>
              <a:t>Unplanned</a:t>
            </a:r>
            <a:r>
              <a:rPr lang="en-US" sz="2800" b="1" dirty="0">
                <a:solidFill>
                  <a:srgbClr val="00B050"/>
                </a:solidFill>
              </a:rPr>
              <a:t> = –40</a:t>
            </a:r>
            <a:r>
              <a:rPr lang="en-US" sz="2200" i="1" dirty="0"/>
              <a:t>  (unintended drops in inventory)</a:t>
            </a:r>
          </a:p>
          <a:p>
            <a:pPr>
              <a:spcBef>
                <a:spcPts val="120"/>
              </a:spcBef>
              <a:spcAft>
                <a:spcPts val="200"/>
              </a:spcAft>
            </a:pPr>
            <a:r>
              <a:rPr lang="en-US" sz="2400" b="1" dirty="0"/>
              <a:t>Production (100) &lt; Spending (140)</a:t>
            </a:r>
          </a:p>
          <a:p>
            <a:pPr>
              <a:spcBef>
                <a:spcPts val="120"/>
              </a:spcBef>
              <a:spcAft>
                <a:spcPts val="300"/>
              </a:spcAft>
            </a:pPr>
            <a:r>
              <a:rPr lang="en-US" sz="2400" dirty="0"/>
              <a:t>→ Economy is </a:t>
            </a:r>
            <a:r>
              <a:rPr lang="en-US" sz="2400" b="1" i="1" dirty="0"/>
              <a:t>below equilibrium</a:t>
            </a:r>
          </a:p>
          <a:p>
            <a:pPr>
              <a:spcBef>
                <a:spcPts val="120"/>
              </a:spcBef>
              <a:spcAft>
                <a:spcPts val="200"/>
              </a:spcAft>
            </a:pPr>
            <a:r>
              <a:rPr lang="en-US" sz="2400" dirty="0"/>
              <a:t>Next Friday, Mario will </a:t>
            </a:r>
            <a:r>
              <a:rPr lang="en-US" sz="2400" b="1" dirty="0">
                <a:solidFill>
                  <a:srgbClr val="00B050"/>
                </a:solidFill>
              </a:rPr>
              <a:t>ramp up production</a:t>
            </a:r>
          </a:p>
          <a:p>
            <a:pPr>
              <a:spcBef>
                <a:spcPts val="120"/>
              </a:spcBef>
              <a:spcAft>
                <a:spcPts val="200"/>
              </a:spcAft>
            </a:pPr>
            <a:r>
              <a:rPr lang="en-US" sz="2400" dirty="0"/>
              <a:t>→ Output rises toward equilibrium.</a:t>
            </a:r>
          </a:p>
        </p:txBody>
      </p:sp>
    </p:spTree>
    <p:extLst>
      <p:ext uri="{BB962C8B-B14F-4D97-AF65-F5344CB8AC3E}">
        <p14:creationId xmlns:p14="http://schemas.microsoft.com/office/powerpoint/2010/main" val="1376007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C6BB4BD-9592-3B99-AD80-5953DFA29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2F5C-273D-3088-476F-F7DCFF7A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19200"/>
          </a:xfrm>
          <a:solidFill>
            <a:schemeClr val="bg1">
              <a:alpha val="66000"/>
            </a:schemeClr>
          </a:solidFill>
        </p:spPr>
        <p:txBody>
          <a:bodyPr>
            <a:noAutofit/>
          </a:bodyPr>
          <a:lstStyle/>
          <a:p>
            <a:r>
              <a:rPr lang="en-US" sz="4000" spc="0" dirty="0"/>
              <a:t>THE MULTIPLIER PROCESS AND INVENTORY ADJUSTMENT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2C8A4-C871-088C-E6C4-66D5A9055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1800000"/>
          </a:xfrm>
        </p:spPr>
        <p:txBody>
          <a:bodyPr>
            <a:normAutofit/>
          </a:bodyPr>
          <a:lstStyle/>
          <a:p>
            <a:pPr>
              <a:spcBef>
                <a:spcPts val="120"/>
              </a:spcBef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E75B6"/>
                </a:solidFill>
              </a:rPr>
              <a:t>Scenario 3: Mario Nails His Forecast</a:t>
            </a:r>
          </a:p>
          <a:p>
            <a:pPr>
              <a:spcBef>
                <a:spcPts val="120"/>
              </a:spcBef>
              <a:spcAft>
                <a:spcPts val="400"/>
              </a:spcAft>
            </a:pPr>
            <a:r>
              <a:rPr lang="en-US" sz="2200" dirty="0"/>
              <a:t>Bakes 150 pizzas, exactly 150 sell. </a:t>
            </a:r>
            <a:r>
              <a:rPr lang="en-US" sz="2400" b="1" dirty="0">
                <a:solidFill>
                  <a:srgbClr val="2E75B6"/>
                </a:solidFill>
              </a:rPr>
              <a:t>I</a:t>
            </a:r>
            <a:r>
              <a:rPr lang="en-US" sz="1600" b="1" baseline="-25000" dirty="0">
                <a:solidFill>
                  <a:srgbClr val="2E75B6"/>
                </a:solidFill>
              </a:rPr>
              <a:t>Unplanned</a:t>
            </a:r>
            <a:r>
              <a:rPr lang="en-US" sz="2200" dirty="0"/>
              <a:t> = 0. Economy is in equilibrium.</a:t>
            </a:r>
          </a:p>
        </p:txBody>
      </p:sp>
      <p:graphicFrame>
        <p:nvGraphicFramePr>
          <p:cNvPr id="4" name="Table 1">
            <a:extLst>
              <a:ext uri="{FF2B5EF4-FFF2-40B4-BE49-F238E27FC236}">
                <a16:creationId xmlns:a16="http://schemas.microsoft.com/office/drawing/2014/main" id="{3E2ACAC8-1C6F-C056-20EF-81269E25DFB8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00000"/>
          <a:ext cx="8600000" cy="2800000"/>
        </p:xfrm>
        <a:graphic>
          <a:graphicData uri="http://schemas.openxmlformats.org/drawingml/2006/table">
            <a:tbl>
              <a:tblPr firstRow="1" bandRow="1"/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dirty="0"/>
                    </a:p>
                  </a:txBody>
                  <a:tcPr marL="45720" marR="45720" marT="36576" marB="36576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entury Gothic"/>
                        </a:rPr>
                        <a:t>Prod &gt; Spending</a:t>
                      </a:r>
                    </a:p>
                  </a:txBody>
                  <a:tcPr marL="45720" marR="45720" marT="36576" marB="36576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entury Gothic"/>
                        </a:rPr>
                        <a:t>Prod &lt; Spending</a:t>
                      </a:r>
                    </a:p>
                  </a:txBody>
                  <a:tcPr marL="45720" marR="45720" marT="36576" marB="36576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entury Gothic"/>
                        </a:rPr>
                        <a:t>Prod = Spending</a:t>
                      </a:r>
                    </a:p>
                  </a:txBody>
                  <a:tcPr marL="45720" marR="45720" marT="36576" marB="36576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Inventories</a:t>
                      </a:r>
                    </a:p>
                  </a:txBody>
                  <a:tcPr marL="45720" marR="45720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Pile up</a:t>
                      </a:r>
                    </a:p>
                  </a:txBody>
                  <a:tcPr marL="45720" marR="45720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Drain</a:t>
                      </a:r>
                    </a:p>
                  </a:txBody>
                  <a:tcPr marL="45720" marR="45720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Stay as planned</a:t>
                      </a:r>
                    </a:p>
                  </a:txBody>
                  <a:tcPr marL="45720" marR="45720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I(Unplanned)</a:t>
                      </a:r>
                    </a:p>
                  </a:txBody>
                  <a:tcPr marL="45720" marR="45720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Positive (+)</a:t>
                      </a:r>
                    </a:p>
                  </a:txBody>
                  <a:tcPr marL="45720" marR="45720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Negative (–)</a:t>
                      </a:r>
                    </a:p>
                  </a:txBody>
                  <a:tcPr marL="45720" marR="45720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Zero</a:t>
                      </a:r>
                    </a:p>
                  </a:txBody>
                  <a:tcPr marL="45720" marR="45720" marT="36576" marB="36576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Firms respond</a:t>
                      </a:r>
                    </a:p>
                  </a:txBody>
                  <a:tcPr marL="45720" marR="45720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Cut production</a:t>
                      </a:r>
                    </a:p>
                  </a:txBody>
                  <a:tcPr marL="45720" marR="45720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Raise production</a:t>
                      </a:r>
                    </a:p>
                  </a:txBody>
                  <a:tcPr marL="45720" marR="45720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Keep steady</a:t>
                      </a:r>
                    </a:p>
                  </a:txBody>
                  <a:tcPr marL="45720" marR="45720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Economy</a:t>
                      </a:r>
                    </a:p>
                  </a:txBody>
                  <a:tcPr marL="45720" marR="45720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Down toward eq.</a:t>
                      </a:r>
                    </a:p>
                  </a:txBody>
                  <a:tcPr marL="45720" marR="45720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Up toward eq.</a:t>
                      </a:r>
                    </a:p>
                  </a:txBody>
                  <a:tcPr marL="45720" marR="45720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entury Gothic"/>
                        </a:rPr>
                        <a:t>At equilibrium</a:t>
                      </a:r>
                    </a:p>
                  </a:txBody>
                  <a:tcPr marL="45720" marR="45720" marT="36576" marB="36576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290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1CAFC19-D2C6-F9A2-F088-2EF4408E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5FB7-1967-15CE-04A4-424A59DF2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19200"/>
          </a:xfrm>
          <a:solidFill>
            <a:schemeClr val="bg1">
              <a:alpha val="66000"/>
            </a:schemeClr>
          </a:solidFill>
        </p:spPr>
        <p:txBody>
          <a:bodyPr>
            <a:noAutofit/>
          </a:bodyPr>
          <a:lstStyle/>
          <a:p>
            <a:r>
              <a:rPr lang="en-US" sz="4000" spc="0" dirty="0"/>
              <a:t>THE MULTIPLIER PROCESS AND INVENTORY ADJUSTMENT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42045F-1F68-4F24-D32C-C93C4750D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64673"/>
            <a:ext cx="8686800" cy="5486400"/>
          </a:xfrm>
        </p:spPr>
        <p:txBody>
          <a:bodyPr>
            <a:normAutofit/>
          </a:bodyPr>
          <a:lstStyle/>
          <a:p>
            <a:pPr>
              <a:spcBef>
                <a:spcPts val="120"/>
              </a:spcBef>
              <a:spcAft>
                <a:spcPts val="800"/>
              </a:spcAft>
              <a:buNone/>
            </a:pPr>
            <a:r>
              <a:rPr lang="en-US" sz="2800" b="1" i="1" dirty="0"/>
              <a:t>Unplanned inventory changes are the signal that tells firms they’ve guessed wrong.</a:t>
            </a:r>
          </a:p>
          <a:p>
            <a:pPr>
              <a:spcBef>
                <a:spcPts val="120"/>
              </a:spcBef>
              <a:spcAft>
                <a:spcPts val="800"/>
              </a:spcAft>
              <a:buNone/>
            </a:pPr>
            <a:r>
              <a:rPr lang="en-US" sz="2600" dirty="0"/>
              <a:t>They are the mechanism that pushes the economy back toward equilibrium:</a:t>
            </a:r>
          </a:p>
          <a:p>
            <a:pPr>
              <a:spcBef>
                <a:spcPts val="120"/>
              </a:spcBef>
              <a:spcAft>
                <a:spcPts val="500"/>
              </a:spcAft>
            </a:pPr>
            <a:r>
              <a:rPr lang="en-US" sz="2600" b="1" dirty="0"/>
              <a:t>AE</a:t>
            </a:r>
            <a:r>
              <a:rPr lang="en-US" sz="1800" b="1" baseline="-25000" dirty="0"/>
              <a:t>Planned</a:t>
            </a:r>
            <a:r>
              <a:rPr lang="en-US" sz="2600" dirty="0"/>
              <a:t> &lt; GDP  →  I</a:t>
            </a:r>
            <a:r>
              <a:rPr lang="en-US" sz="1800" baseline="-25000" dirty="0"/>
              <a:t>Unplanned</a:t>
            </a:r>
            <a:r>
              <a:rPr lang="en-US" sz="2600" dirty="0"/>
              <a:t> &gt; 0  →  Firms </a:t>
            </a:r>
            <a:r>
              <a:rPr lang="en-US" sz="2600" b="1" dirty="0">
                <a:solidFill>
                  <a:srgbClr val="C00000"/>
                </a:solidFill>
              </a:rPr>
              <a:t>cut</a:t>
            </a:r>
            <a:r>
              <a:rPr lang="en-US" sz="2600" dirty="0"/>
              <a:t> production  →  GDP falls</a:t>
            </a:r>
          </a:p>
          <a:p>
            <a:pPr>
              <a:spcBef>
                <a:spcPts val="120"/>
              </a:spcBef>
              <a:spcAft>
                <a:spcPts val="500"/>
              </a:spcAft>
            </a:pPr>
            <a:r>
              <a:rPr lang="en-US" sz="2600" b="1" dirty="0"/>
              <a:t>AE</a:t>
            </a:r>
            <a:r>
              <a:rPr lang="en-US" sz="1800" b="1" baseline="-25000" dirty="0"/>
              <a:t>Planned</a:t>
            </a:r>
            <a:r>
              <a:rPr lang="en-US" sz="2600" dirty="0"/>
              <a:t> &gt; GDP  →  I</a:t>
            </a:r>
            <a:r>
              <a:rPr lang="en-US" sz="1800" baseline="-25000" dirty="0"/>
              <a:t>Unplanned</a:t>
            </a:r>
            <a:r>
              <a:rPr lang="en-US" sz="2600" dirty="0"/>
              <a:t> &lt; 0  →  Firms </a:t>
            </a:r>
            <a:r>
              <a:rPr lang="en-US" sz="2600" b="1" dirty="0">
                <a:solidFill>
                  <a:srgbClr val="00B050"/>
                </a:solidFill>
              </a:rPr>
              <a:t>increase</a:t>
            </a:r>
            <a:r>
              <a:rPr lang="en-US" sz="2600" dirty="0"/>
              <a:t> production  →  GDP rises</a:t>
            </a:r>
          </a:p>
          <a:p>
            <a:pPr>
              <a:spcBef>
                <a:spcPts val="120"/>
              </a:spcBef>
              <a:spcAft>
                <a:spcPts val="800"/>
              </a:spcAft>
            </a:pPr>
            <a:r>
              <a:rPr lang="en-US" sz="2600" b="1" dirty="0"/>
              <a:t>AE</a:t>
            </a:r>
            <a:r>
              <a:rPr lang="en-US" sz="1800" b="1" baseline="-25000" dirty="0"/>
              <a:t>Planned</a:t>
            </a:r>
            <a:r>
              <a:rPr lang="en-US" sz="2600" dirty="0"/>
              <a:t> = GDP  →  I</a:t>
            </a:r>
            <a:r>
              <a:rPr lang="en-US" sz="1800" baseline="-25000" dirty="0"/>
              <a:t>Unplanned</a:t>
            </a:r>
            <a:r>
              <a:rPr lang="en-US" sz="2600" dirty="0"/>
              <a:t> = 0  →  </a:t>
            </a:r>
            <a:r>
              <a:rPr lang="en-US" sz="2600" b="1" dirty="0">
                <a:solidFill>
                  <a:srgbClr val="2E75B6"/>
                </a:solidFill>
              </a:rPr>
              <a:t>Equilibrium!</a:t>
            </a:r>
          </a:p>
          <a:p>
            <a:pPr algn="ctr">
              <a:spcBef>
                <a:spcPts val="120"/>
              </a:spcBef>
              <a:spcAft>
                <a:spcPts val="200"/>
              </a:spcAft>
              <a:buNone/>
            </a:pPr>
            <a:r>
              <a:rPr lang="en-US" sz="2600" i="1" dirty="0">
                <a:solidFill>
                  <a:srgbClr val="7030A0"/>
                </a:solidFill>
              </a:rPr>
              <a:t>Just like Mario adjusting how many pizzas he bakes next Friday!</a:t>
            </a:r>
          </a:p>
        </p:txBody>
      </p:sp>
    </p:spTree>
    <p:extLst>
      <p:ext uri="{BB962C8B-B14F-4D97-AF65-F5344CB8AC3E}">
        <p14:creationId xmlns:p14="http://schemas.microsoft.com/office/powerpoint/2010/main" val="2635637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>
            <a:noAutofit/>
          </a:bodyPr>
          <a:lstStyle/>
          <a:p>
            <a:r>
              <a:rPr lang="en-US" sz="3600" spc="0" dirty="0"/>
              <a:t>THE MULTIPLIER PROCESS AND INVENTORY ADJUSTMENT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Continuing our previous example: the effect of an autonomous increase in planned aggregate spending of $400 billion</a:t>
            </a:r>
          </a:p>
        </p:txBody>
      </p:sp>
      <p:pic>
        <p:nvPicPr>
          <p:cNvPr id="21506" name="Picture 2" descr="C:\Users\solina\Dropbox\Krugman 3e Dynamic PPTs\Krugman 3e material\Images_High Res\CH26\Krug3e_table_26_05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87680" y="2438400"/>
            <a:ext cx="5608320" cy="409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248399" y="2925901"/>
            <a:ext cx="284310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The fact that the rise in equilibrium GDP, from $2,000 to $3,000, is much larger than the autonomous increase in aggregate spending, ($400) has a familiar explanation: the multiplier process.</a:t>
            </a:r>
          </a:p>
        </p:txBody>
      </p:sp>
    </p:spTree>
    <p:extLst>
      <p:ext uri="{BB962C8B-B14F-4D97-AF65-F5344CB8AC3E}">
        <p14:creationId xmlns:p14="http://schemas.microsoft.com/office/powerpoint/2010/main" val="393548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650" name="Line 82"/>
          <p:cNvSpPr>
            <a:spLocks noChangeShapeType="1"/>
          </p:cNvSpPr>
          <p:nvPr/>
        </p:nvSpPr>
        <p:spPr bwMode="auto">
          <a:xfrm flipV="1">
            <a:off x="1939925" y="1550988"/>
            <a:ext cx="4656138" cy="4454525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585" name="Line 95"/>
          <p:cNvSpPr>
            <a:spLocks noChangeShapeType="1"/>
          </p:cNvSpPr>
          <p:nvPr/>
        </p:nvSpPr>
        <p:spPr bwMode="auto">
          <a:xfrm flipV="1">
            <a:off x="1919288" y="1611313"/>
            <a:ext cx="5122862" cy="2997200"/>
          </a:xfrm>
          <a:prstGeom prst="line">
            <a:avLst/>
          </a:prstGeom>
          <a:noFill/>
          <a:ln w="38100">
            <a:solidFill>
              <a:srgbClr val="9F216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570" name="Line 43"/>
          <p:cNvSpPr>
            <a:spLocks noChangeShapeType="1"/>
          </p:cNvSpPr>
          <p:nvPr/>
        </p:nvSpPr>
        <p:spPr bwMode="auto">
          <a:xfrm>
            <a:off x="5770563" y="6288088"/>
            <a:ext cx="3175" cy="188912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571" name="Freeform 45"/>
          <p:cNvSpPr>
            <a:spLocks/>
          </p:cNvSpPr>
          <p:nvPr/>
        </p:nvSpPr>
        <p:spPr bwMode="auto">
          <a:xfrm>
            <a:off x="5573713" y="6424613"/>
            <a:ext cx="392112" cy="328612"/>
          </a:xfrm>
          <a:custGeom>
            <a:avLst/>
            <a:gdLst>
              <a:gd name="T0" fmla="*/ 391565 w 62"/>
              <a:gd name="T1" fmla="*/ 233046 h 55"/>
              <a:gd name="T2" fmla="*/ 290516 w 62"/>
              <a:gd name="T3" fmla="*/ 328654 h 55"/>
              <a:gd name="T4" fmla="*/ 101049 w 62"/>
              <a:gd name="T5" fmla="*/ 328654 h 55"/>
              <a:gd name="T6" fmla="*/ 0 w 62"/>
              <a:gd name="T7" fmla="*/ 233046 h 55"/>
              <a:gd name="T8" fmla="*/ 0 w 62"/>
              <a:gd name="T9" fmla="*/ 95608 h 55"/>
              <a:gd name="T10" fmla="*/ 101049 w 62"/>
              <a:gd name="T11" fmla="*/ 0 h 55"/>
              <a:gd name="T12" fmla="*/ 290516 w 62"/>
              <a:gd name="T13" fmla="*/ 0 h 55"/>
              <a:gd name="T14" fmla="*/ 391565 w 62"/>
              <a:gd name="T15" fmla="*/ 95608 h 55"/>
              <a:gd name="T16" fmla="*/ 391565 w 62"/>
              <a:gd name="T17" fmla="*/ 233046 h 5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2"/>
              <a:gd name="T28" fmla="*/ 0 h 55"/>
              <a:gd name="T29" fmla="*/ 62 w 62"/>
              <a:gd name="T30" fmla="*/ 55 h 5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2" h="55">
                <a:moveTo>
                  <a:pt x="62" y="39"/>
                </a:moveTo>
                <a:cubicBezTo>
                  <a:pt x="62" y="48"/>
                  <a:pt x="55" y="55"/>
                  <a:pt x="46" y="55"/>
                </a:cubicBezTo>
                <a:cubicBezTo>
                  <a:pt x="16" y="55"/>
                  <a:pt x="16" y="55"/>
                  <a:pt x="16" y="55"/>
                </a:cubicBezTo>
                <a:cubicBezTo>
                  <a:pt x="7" y="55"/>
                  <a:pt x="0" y="48"/>
                  <a:pt x="0" y="39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55" y="0"/>
                  <a:pt x="62" y="7"/>
                  <a:pt x="62" y="16"/>
                </a:cubicBezTo>
                <a:lnTo>
                  <a:pt x="62" y="3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572" name="Rectangle 46"/>
          <p:cNvSpPr>
            <a:spLocks noChangeArrowheads="1"/>
          </p:cNvSpPr>
          <p:nvPr/>
        </p:nvSpPr>
        <p:spPr bwMode="auto">
          <a:xfrm>
            <a:off x="5638800" y="6442075"/>
            <a:ext cx="304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*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575" name="Line 7"/>
          <p:cNvSpPr>
            <a:spLocks noChangeShapeType="1"/>
          </p:cNvSpPr>
          <p:nvPr/>
        </p:nvSpPr>
        <p:spPr bwMode="auto">
          <a:xfrm flipH="1">
            <a:off x="5783263" y="2395538"/>
            <a:ext cx="0" cy="34147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576" name="Rectangle 112"/>
          <p:cNvSpPr>
            <a:spLocks noChangeArrowheads="1"/>
          </p:cNvSpPr>
          <p:nvPr/>
        </p:nvSpPr>
        <p:spPr bwMode="auto">
          <a:xfrm>
            <a:off x="5486400" y="1905000"/>
            <a:ext cx="14424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577" name="Rectangle 113"/>
          <p:cNvSpPr>
            <a:spLocks noChangeArrowheads="1"/>
          </p:cNvSpPr>
          <p:nvPr/>
        </p:nvSpPr>
        <p:spPr bwMode="auto">
          <a:xfrm>
            <a:off x="5608637" y="1993900"/>
            <a:ext cx="1137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578" name="Oval 114"/>
          <p:cNvSpPr>
            <a:spLocks noChangeArrowheads="1"/>
          </p:cNvSpPr>
          <p:nvPr/>
        </p:nvSpPr>
        <p:spPr bwMode="auto">
          <a:xfrm>
            <a:off x="5711825" y="2286000"/>
            <a:ext cx="128588" cy="1238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579" name="Line 120"/>
          <p:cNvSpPr>
            <a:spLocks noChangeShapeType="1"/>
          </p:cNvSpPr>
          <p:nvPr/>
        </p:nvSpPr>
        <p:spPr bwMode="auto">
          <a:xfrm flipH="1" flipV="1">
            <a:off x="4648200" y="1946275"/>
            <a:ext cx="579438" cy="703263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580" name="Freeform 121"/>
          <p:cNvSpPr>
            <a:spLocks/>
          </p:cNvSpPr>
          <p:nvPr/>
        </p:nvSpPr>
        <p:spPr bwMode="auto">
          <a:xfrm>
            <a:off x="3770313" y="1150203"/>
            <a:ext cx="1563687" cy="796925"/>
          </a:xfrm>
          <a:custGeom>
            <a:avLst/>
            <a:gdLst>
              <a:gd name="T0" fmla="*/ 1912538 w 304"/>
              <a:gd name="T1" fmla="*/ 501173 h 100"/>
              <a:gd name="T2" fmla="*/ 1811878 w 304"/>
              <a:gd name="T3" fmla="*/ 596634 h 100"/>
              <a:gd name="T4" fmla="*/ 100660 w 304"/>
              <a:gd name="T5" fmla="*/ 596634 h 100"/>
              <a:gd name="T6" fmla="*/ 0 w 304"/>
              <a:gd name="T7" fmla="*/ 501173 h 100"/>
              <a:gd name="T8" fmla="*/ 0 w 304"/>
              <a:gd name="T9" fmla="*/ 95461 h 100"/>
              <a:gd name="T10" fmla="*/ 100660 w 304"/>
              <a:gd name="T11" fmla="*/ 0 h 100"/>
              <a:gd name="T12" fmla="*/ 1811878 w 304"/>
              <a:gd name="T13" fmla="*/ 0 h 100"/>
              <a:gd name="T14" fmla="*/ 1912538 w 304"/>
              <a:gd name="T15" fmla="*/ 95461 h 100"/>
              <a:gd name="T16" fmla="*/ 1912538 w 304"/>
              <a:gd name="T17" fmla="*/ 501173 h 1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4"/>
              <a:gd name="T28" fmla="*/ 0 h 100"/>
              <a:gd name="T29" fmla="*/ 304 w 304"/>
              <a:gd name="T30" fmla="*/ 100 h 10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4" h="100">
                <a:moveTo>
                  <a:pt x="304" y="84"/>
                </a:moveTo>
                <a:cubicBezTo>
                  <a:pt x="304" y="93"/>
                  <a:pt x="297" y="100"/>
                  <a:pt x="288" y="100"/>
                </a:cubicBezTo>
                <a:cubicBezTo>
                  <a:pt x="16" y="100"/>
                  <a:pt x="16" y="100"/>
                  <a:pt x="16" y="100"/>
                </a:cubicBezTo>
                <a:cubicBezTo>
                  <a:pt x="7" y="100"/>
                  <a:pt x="0" y="93"/>
                  <a:pt x="0" y="84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288" y="0"/>
                  <a:pt x="288" y="0"/>
                  <a:pt x="288" y="0"/>
                </a:cubicBezTo>
                <a:cubicBezTo>
                  <a:pt x="297" y="0"/>
                  <a:pt x="304" y="7"/>
                  <a:pt x="304" y="16"/>
                </a:cubicBezTo>
                <a:lnTo>
                  <a:pt x="304" y="84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581" name="Rectangle 13"/>
          <p:cNvSpPr>
            <a:spLocks noChangeArrowheads="1"/>
          </p:cNvSpPr>
          <p:nvPr/>
        </p:nvSpPr>
        <p:spPr bwMode="auto">
          <a:xfrm>
            <a:off x="3733801" y="1150203"/>
            <a:ext cx="167639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  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after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autonomous change</a:t>
            </a:r>
          </a:p>
        </p:txBody>
      </p:sp>
      <p:sp>
        <p:nvSpPr>
          <p:cNvPr id="493582" name="Rectangle 34"/>
          <p:cNvSpPr>
            <a:spLocks noChangeArrowheads="1"/>
          </p:cNvSpPr>
          <p:nvPr/>
        </p:nvSpPr>
        <p:spPr bwMode="auto">
          <a:xfrm>
            <a:off x="7100888" y="1450975"/>
            <a:ext cx="90165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Planned2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586" name="Line 28"/>
          <p:cNvSpPr>
            <a:spLocks noChangeShapeType="1"/>
          </p:cNvSpPr>
          <p:nvPr/>
        </p:nvSpPr>
        <p:spPr bwMode="auto">
          <a:xfrm>
            <a:off x="2132013" y="2828925"/>
            <a:ext cx="3175" cy="3175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587" name="Rectangle 40"/>
          <p:cNvSpPr>
            <a:spLocks noChangeArrowheads="1"/>
          </p:cNvSpPr>
          <p:nvPr/>
        </p:nvSpPr>
        <p:spPr bwMode="auto">
          <a:xfrm>
            <a:off x="1325563" y="2998788"/>
            <a:ext cx="51165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2,400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588" name="Line 89"/>
          <p:cNvSpPr>
            <a:spLocks noChangeShapeType="1"/>
          </p:cNvSpPr>
          <p:nvPr/>
        </p:nvSpPr>
        <p:spPr bwMode="auto">
          <a:xfrm>
            <a:off x="1924050" y="3109913"/>
            <a:ext cx="152400" cy="31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589" name="Rectangle 117"/>
          <p:cNvSpPr>
            <a:spLocks noChangeArrowheads="1"/>
          </p:cNvSpPr>
          <p:nvPr/>
        </p:nvSpPr>
        <p:spPr bwMode="auto">
          <a:xfrm>
            <a:off x="4465638" y="2781300"/>
            <a:ext cx="12493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X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590" name="Oval 134"/>
          <p:cNvSpPr>
            <a:spLocks noChangeArrowheads="1"/>
          </p:cNvSpPr>
          <p:nvPr/>
        </p:nvSpPr>
        <p:spPr bwMode="auto">
          <a:xfrm>
            <a:off x="4437063" y="3054350"/>
            <a:ext cx="125412" cy="12065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591" name="Freeform 136"/>
          <p:cNvSpPr>
            <a:spLocks/>
          </p:cNvSpPr>
          <p:nvPr/>
        </p:nvSpPr>
        <p:spPr bwMode="auto">
          <a:xfrm>
            <a:off x="2133600" y="2174875"/>
            <a:ext cx="1828800" cy="388938"/>
          </a:xfrm>
          <a:custGeom>
            <a:avLst/>
            <a:gdLst>
              <a:gd name="T0" fmla="*/ 1723416 w 274"/>
              <a:gd name="T1" fmla="*/ 293494 h 65"/>
              <a:gd name="T2" fmla="*/ 1622779 w 274"/>
              <a:gd name="T3" fmla="*/ 389329 h 65"/>
              <a:gd name="T4" fmla="*/ 100637 w 274"/>
              <a:gd name="T5" fmla="*/ 389329 h 65"/>
              <a:gd name="T6" fmla="*/ 0 w 274"/>
              <a:gd name="T7" fmla="*/ 293494 h 65"/>
              <a:gd name="T8" fmla="*/ 0 w 274"/>
              <a:gd name="T9" fmla="*/ 95835 h 65"/>
              <a:gd name="T10" fmla="*/ 100637 w 274"/>
              <a:gd name="T11" fmla="*/ 0 h 65"/>
              <a:gd name="T12" fmla="*/ 1622779 w 274"/>
              <a:gd name="T13" fmla="*/ 0 h 65"/>
              <a:gd name="T14" fmla="*/ 1723416 w 274"/>
              <a:gd name="T15" fmla="*/ 95835 h 65"/>
              <a:gd name="T16" fmla="*/ 1723416 w 274"/>
              <a:gd name="T17" fmla="*/ 293494 h 6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4"/>
              <a:gd name="T28" fmla="*/ 0 h 65"/>
              <a:gd name="T29" fmla="*/ 274 w 274"/>
              <a:gd name="T30" fmla="*/ 65 h 6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4" h="65">
                <a:moveTo>
                  <a:pt x="274" y="49"/>
                </a:moveTo>
                <a:cubicBezTo>
                  <a:pt x="274" y="58"/>
                  <a:pt x="267" y="65"/>
                  <a:pt x="258" y="65"/>
                </a:cubicBezTo>
                <a:cubicBezTo>
                  <a:pt x="16" y="65"/>
                  <a:pt x="16" y="65"/>
                  <a:pt x="16" y="65"/>
                </a:cubicBezTo>
                <a:cubicBezTo>
                  <a:pt x="7" y="65"/>
                  <a:pt x="0" y="58"/>
                  <a:pt x="0" y="49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258" y="0"/>
                  <a:pt x="258" y="0"/>
                  <a:pt x="258" y="0"/>
                </a:cubicBezTo>
                <a:cubicBezTo>
                  <a:pt x="267" y="0"/>
                  <a:pt x="274" y="7"/>
                  <a:pt x="274" y="16"/>
                </a:cubicBezTo>
                <a:lnTo>
                  <a:pt x="274" y="4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592" name="Rectangle 24"/>
          <p:cNvSpPr>
            <a:spLocks noChangeArrowheads="1"/>
          </p:cNvSpPr>
          <p:nvPr/>
        </p:nvSpPr>
        <p:spPr bwMode="auto">
          <a:xfrm>
            <a:off x="2209800" y="2174875"/>
            <a:ext cx="18006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Unplanned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 </a:t>
            </a: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= –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$400</a:t>
            </a:r>
          </a:p>
        </p:txBody>
      </p:sp>
      <p:sp>
        <p:nvSpPr>
          <p:cNvPr id="493593" name="Rectangle 39"/>
          <p:cNvSpPr>
            <a:spLocks noChangeArrowheads="1"/>
          </p:cNvSpPr>
          <p:nvPr/>
        </p:nvSpPr>
        <p:spPr bwMode="auto">
          <a:xfrm>
            <a:off x="1325563" y="4495800"/>
            <a:ext cx="51165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1,200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grpSp>
        <p:nvGrpSpPr>
          <p:cNvPr id="493594" name="Group 26"/>
          <p:cNvGrpSpPr>
            <a:grpSpLocks/>
          </p:cNvGrpSpPr>
          <p:nvPr/>
        </p:nvGrpSpPr>
        <p:grpSpPr bwMode="auto">
          <a:xfrm>
            <a:off x="0" y="4308475"/>
            <a:ext cx="1808163" cy="1371600"/>
            <a:chOff x="96" y="2400"/>
            <a:chExt cx="1139" cy="864"/>
          </a:xfrm>
        </p:grpSpPr>
        <p:sp>
          <p:nvSpPr>
            <p:cNvPr id="493595" name="Line 41"/>
            <p:cNvSpPr>
              <a:spLocks noChangeShapeType="1"/>
            </p:cNvSpPr>
            <p:nvPr/>
          </p:nvSpPr>
          <p:spPr bwMode="auto">
            <a:xfrm flipV="1">
              <a:off x="1212" y="2702"/>
              <a:ext cx="1" cy="98"/>
            </a:xfrm>
            <a:prstGeom prst="line">
              <a:avLst/>
            </a:prstGeom>
            <a:noFill/>
            <a:ln w="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  <a:latin typeface="Century Gothic"/>
                <a:cs typeface="Century Gothic"/>
              </a:endParaRPr>
            </a:p>
          </p:txBody>
        </p:sp>
        <p:sp>
          <p:nvSpPr>
            <p:cNvPr id="493596" name="Freeform 42"/>
            <p:cNvSpPr>
              <a:spLocks/>
            </p:cNvSpPr>
            <p:nvPr/>
          </p:nvSpPr>
          <p:spPr bwMode="auto">
            <a:xfrm>
              <a:off x="1186" y="2656"/>
              <a:ext cx="49" cy="58"/>
            </a:xfrm>
            <a:custGeom>
              <a:avLst/>
              <a:gdLst>
                <a:gd name="T0" fmla="*/ 38624 w 12"/>
                <a:gd name="T1" fmla="*/ 66742 h 15"/>
                <a:gd name="T2" fmla="*/ 77248 w 12"/>
                <a:gd name="T3" fmla="*/ 91012 h 15"/>
                <a:gd name="T4" fmla="*/ 77248 w 12"/>
                <a:gd name="T5" fmla="*/ 84945 h 15"/>
                <a:gd name="T6" fmla="*/ 51499 w 12"/>
                <a:gd name="T7" fmla="*/ 36405 h 15"/>
                <a:gd name="T8" fmla="*/ 38624 w 12"/>
                <a:gd name="T9" fmla="*/ 0 h 15"/>
                <a:gd name="T10" fmla="*/ 25749 w 12"/>
                <a:gd name="T11" fmla="*/ 36405 h 15"/>
                <a:gd name="T12" fmla="*/ 0 w 12"/>
                <a:gd name="T13" fmla="*/ 84945 h 15"/>
                <a:gd name="T14" fmla="*/ 6437 w 12"/>
                <a:gd name="T15" fmla="*/ 91012 h 15"/>
                <a:gd name="T16" fmla="*/ 38624 w 12"/>
                <a:gd name="T17" fmla="*/ 66742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"/>
                <a:gd name="T28" fmla="*/ 0 h 15"/>
                <a:gd name="T29" fmla="*/ 12 w 12"/>
                <a:gd name="T30" fmla="*/ 15 h 1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" h="15">
                  <a:moveTo>
                    <a:pt x="6" y="11"/>
                  </a:moveTo>
                  <a:cubicBezTo>
                    <a:pt x="12" y="15"/>
                    <a:pt x="12" y="15"/>
                    <a:pt x="12" y="15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7" y="2"/>
                    <a:pt x="7" y="3"/>
                    <a:pt x="6" y="0"/>
                  </a:cubicBezTo>
                  <a:cubicBezTo>
                    <a:pt x="5" y="3"/>
                    <a:pt x="5" y="2"/>
                    <a:pt x="4" y="6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6" y="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sp>
          <p:nvSpPr>
            <p:cNvPr id="493597" name="Line 49"/>
            <p:cNvSpPr>
              <a:spLocks noChangeShapeType="1"/>
            </p:cNvSpPr>
            <p:nvPr/>
          </p:nvSpPr>
          <p:spPr bwMode="auto">
            <a:xfrm>
              <a:off x="735" y="2747"/>
              <a:ext cx="477" cy="2"/>
            </a:xfrm>
            <a:prstGeom prst="line">
              <a:avLst/>
            </a:prstGeom>
            <a:noFill/>
            <a:ln w="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  <a:latin typeface="Century Gothic"/>
                <a:cs typeface="Century Gothic"/>
              </a:endParaRPr>
            </a:p>
          </p:txBody>
        </p:sp>
        <p:sp>
          <p:nvSpPr>
            <p:cNvPr id="493598" name="Freeform 50"/>
            <p:cNvSpPr>
              <a:spLocks/>
            </p:cNvSpPr>
            <p:nvPr/>
          </p:nvSpPr>
          <p:spPr bwMode="auto">
            <a:xfrm>
              <a:off x="96" y="2400"/>
              <a:ext cx="816" cy="864"/>
            </a:xfrm>
            <a:custGeom>
              <a:avLst/>
              <a:gdLst>
                <a:gd name="T0" fmla="*/ 1196003 w 190"/>
                <a:gd name="T1" fmla="*/ 1143024 h 207"/>
                <a:gd name="T2" fmla="*/ 1095287 w 190"/>
                <a:gd name="T3" fmla="*/ 1238775 h 207"/>
                <a:gd name="T4" fmla="*/ 100716 w 190"/>
                <a:gd name="T5" fmla="*/ 1238775 h 207"/>
                <a:gd name="T6" fmla="*/ 0 w 190"/>
                <a:gd name="T7" fmla="*/ 1143024 h 207"/>
                <a:gd name="T8" fmla="*/ 0 w 190"/>
                <a:gd name="T9" fmla="*/ 95751 h 207"/>
                <a:gd name="T10" fmla="*/ 100716 w 190"/>
                <a:gd name="T11" fmla="*/ 0 h 207"/>
                <a:gd name="T12" fmla="*/ 1095287 w 190"/>
                <a:gd name="T13" fmla="*/ 0 h 207"/>
                <a:gd name="T14" fmla="*/ 1196003 w 190"/>
                <a:gd name="T15" fmla="*/ 95751 h 207"/>
                <a:gd name="T16" fmla="*/ 1196003 w 190"/>
                <a:gd name="T17" fmla="*/ 1143024 h 2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0"/>
                <a:gd name="T28" fmla="*/ 0 h 207"/>
                <a:gd name="T29" fmla="*/ 190 w 190"/>
                <a:gd name="T30" fmla="*/ 207 h 20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0" h="207">
                  <a:moveTo>
                    <a:pt x="190" y="191"/>
                  </a:moveTo>
                  <a:cubicBezTo>
                    <a:pt x="190" y="200"/>
                    <a:pt x="183" y="207"/>
                    <a:pt x="174" y="207"/>
                  </a:cubicBezTo>
                  <a:cubicBezTo>
                    <a:pt x="16" y="207"/>
                    <a:pt x="16" y="207"/>
                    <a:pt x="16" y="207"/>
                  </a:cubicBezTo>
                  <a:cubicBezTo>
                    <a:pt x="8" y="207"/>
                    <a:pt x="0" y="200"/>
                    <a:pt x="0" y="19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8" y="0"/>
                    <a:pt x="16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83" y="0"/>
                    <a:pt x="190" y="7"/>
                    <a:pt x="190" y="16"/>
                  </a:cubicBezTo>
                  <a:lnTo>
                    <a:pt x="190" y="191"/>
                  </a:lnTo>
                  <a:close/>
                </a:path>
              </a:pathLst>
            </a:custGeom>
            <a:solidFill>
              <a:srgbClr val="D7E2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en-US" sz="14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sp>
          <p:nvSpPr>
            <p:cNvPr id="493599" name="Rectangle 31"/>
            <p:cNvSpPr>
              <a:spLocks noChangeArrowheads="1"/>
            </p:cNvSpPr>
            <p:nvPr/>
          </p:nvSpPr>
          <p:spPr bwMode="auto">
            <a:xfrm>
              <a:off x="96" y="2453"/>
              <a:ext cx="912" cy="7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Autonomous increase of $400 in aggregate spending</a:t>
              </a:r>
            </a:p>
          </p:txBody>
        </p:sp>
      </p:grpSp>
      <p:sp>
        <p:nvSpPr>
          <p:cNvPr id="493600" name="Line 32"/>
          <p:cNvSpPr>
            <a:spLocks noChangeShapeType="1"/>
          </p:cNvSpPr>
          <p:nvPr/>
        </p:nvSpPr>
        <p:spPr bwMode="auto">
          <a:xfrm flipH="1" flipV="1">
            <a:off x="2112963" y="3125788"/>
            <a:ext cx="23352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01" name="Line 25"/>
          <p:cNvSpPr>
            <a:spLocks noChangeShapeType="1"/>
          </p:cNvSpPr>
          <p:nvPr/>
        </p:nvSpPr>
        <p:spPr bwMode="auto">
          <a:xfrm>
            <a:off x="1924050" y="4956175"/>
            <a:ext cx="3175" cy="1588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02" name="Line 26"/>
          <p:cNvSpPr>
            <a:spLocks noChangeShapeType="1"/>
          </p:cNvSpPr>
          <p:nvPr/>
        </p:nvSpPr>
        <p:spPr bwMode="auto">
          <a:xfrm>
            <a:off x="1766888" y="4956175"/>
            <a:ext cx="3175" cy="1588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03" name="Line 27"/>
          <p:cNvSpPr>
            <a:spLocks noChangeShapeType="1"/>
          </p:cNvSpPr>
          <p:nvPr/>
        </p:nvSpPr>
        <p:spPr bwMode="auto">
          <a:xfrm>
            <a:off x="1924050" y="3771900"/>
            <a:ext cx="3175" cy="3175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04" name="Line 29"/>
          <p:cNvSpPr>
            <a:spLocks noChangeShapeType="1"/>
          </p:cNvSpPr>
          <p:nvPr/>
        </p:nvSpPr>
        <p:spPr bwMode="auto">
          <a:xfrm>
            <a:off x="1943100" y="4000500"/>
            <a:ext cx="3175" cy="1588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05" name="Rectangle 30"/>
          <p:cNvSpPr>
            <a:spLocks noChangeArrowheads="1"/>
          </p:cNvSpPr>
          <p:nvPr/>
        </p:nvSpPr>
        <p:spPr bwMode="auto">
          <a:xfrm>
            <a:off x="7081838" y="1939925"/>
            <a:ext cx="90165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Planned1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08" name="Rectangle 38"/>
          <p:cNvSpPr>
            <a:spLocks noChangeArrowheads="1"/>
          </p:cNvSpPr>
          <p:nvPr/>
        </p:nvSpPr>
        <p:spPr bwMode="auto">
          <a:xfrm>
            <a:off x="1487488" y="4924425"/>
            <a:ext cx="34113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800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09" name="Line 44"/>
          <p:cNvSpPr>
            <a:spLocks noChangeShapeType="1"/>
          </p:cNvSpPr>
          <p:nvPr/>
        </p:nvSpPr>
        <p:spPr bwMode="auto">
          <a:xfrm>
            <a:off x="4487863" y="6288088"/>
            <a:ext cx="1587" cy="188912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10" name="Line 68"/>
          <p:cNvSpPr>
            <a:spLocks noChangeShapeType="1"/>
          </p:cNvSpPr>
          <p:nvPr/>
        </p:nvSpPr>
        <p:spPr bwMode="auto">
          <a:xfrm>
            <a:off x="6469063" y="2439988"/>
            <a:ext cx="352425" cy="3587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11" name="Freeform 69"/>
          <p:cNvSpPr>
            <a:spLocks/>
          </p:cNvSpPr>
          <p:nvPr/>
        </p:nvSpPr>
        <p:spPr bwMode="auto">
          <a:xfrm>
            <a:off x="6172200" y="2784475"/>
            <a:ext cx="1676400" cy="796925"/>
          </a:xfrm>
          <a:custGeom>
            <a:avLst/>
            <a:gdLst>
              <a:gd name="T0" fmla="*/ 1888566 w 300"/>
              <a:gd name="T1" fmla="*/ 503297 h 100"/>
              <a:gd name="T2" fmla="*/ 1787842 w 300"/>
              <a:gd name="T3" fmla="*/ 599163 h 100"/>
              <a:gd name="T4" fmla="*/ 100724 w 300"/>
              <a:gd name="T5" fmla="*/ 599163 h 100"/>
              <a:gd name="T6" fmla="*/ 0 w 300"/>
              <a:gd name="T7" fmla="*/ 503297 h 100"/>
              <a:gd name="T8" fmla="*/ 0 w 300"/>
              <a:gd name="T9" fmla="*/ 95866 h 100"/>
              <a:gd name="T10" fmla="*/ 100724 w 300"/>
              <a:gd name="T11" fmla="*/ 0 h 100"/>
              <a:gd name="T12" fmla="*/ 1787842 w 300"/>
              <a:gd name="T13" fmla="*/ 0 h 100"/>
              <a:gd name="T14" fmla="*/ 1888566 w 300"/>
              <a:gd name="T15" fmla="*/ 95866 h 100"/>
              <a:gd name="T16" fmla="*/ 1888566 w 300"/>
              <a:gd name="T17" fmla="*/ 503297 h 1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0"/>
              <a:gd name="T28" fmla="*/ 0 h 100"/>
              <a:gd name="T29" fmla="*/ 300 w 300"/>
              <a:gd name="T30" fmla="*/ 100 h 10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0" h="100">
                <a:moveTo>
                  <a:pt x="300" y="84"/>
                </a:moveTo>
                <a:cubicBezTo>
                  <a:pt x="300" y="93"/>
                  <a:pt x="293" y="100"/>
                  <a:pt x="284" y="100"/>
                </a:cubicBezTo>
                <a:cubicBezTo>
                  <a:pt x="16" y="100"/>
                  <a:pt x="16" y="100"/>
                  <a:pt x="16" y="100"/>
                </a:cubicBezTo>
                <a:cubicBezTo>
                  <a:pt x="7" y="100"/>
                  <a:pt x="0" y="93"/>
                  <a:pt x="0" y="84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284" y="0"/>
                  <a:pt x="284" y="0"/>
                  <a:pt x="284" y="0"/>
                </a:cubicBezTo>
                <a:cubicBezTo>
                  <a:pt x="293" y="0"/>
                  <a:pt x="300" y="7"/>
                  <a:pt x="300" y="16"/>
                </a:cubicBezTo>
                <a:lnTo>
                  <a:pt x="300" y="84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12" name="Line 85"/>
          <p:cNvSpPr>
            <a:spLocks noChangeShapeType="1"/>
          </p:cNvSpPr>
          <p:nvPr/>
        </p:nvSpPr>
        <p:spPr bwMode="auto">
          <a:xfrm>
            <a:off x="2492375" y="3975100"/>
            <a:ext cx="3175" cy="1588"/>
          </a:xfrm>
          <a:prstGeom prst="line">
            <a:avLst/>
          </a:prstGeom>
          <a:noFill/>
          <a:ln w="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13" name="Line 86"/>
          <p:cNvSpPr>
            <a:spLocks noChangeShapeType="1"/>
          </p:cNvSpPr>
          <p:nvPr/>
        </p:nvSpPr>
        <p:spPr bwMode="auto">
          <a:xfrm>
            <a:off x="1924050" y="1125538"/>
            <a:ext cx="152400" cy="31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14" name="Line 87"/>
          <p:cNvSpPr>
            <a:spLocks noChangeShapeType="1"/>
          </p:cNvSpPr>
          <p:nvPr/>
        </p:nvSpPr>
        <p:spPr bwMode="auto">
          <a:xfrm>
            <a:off x="1924050" y="2344738"/>
            <a:ext cx="152400" cy="1587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15" name="Line 88"/>
          <p:cNvSpPr>
            <a:spLocks noChangeShapeType="1"/>
          </p:cNvSpPr>
          <p:nvPr/>
        </p:nvSpPr>
        <p:spPr bwMode="auto">
          <a:xfrm>
            <a:off x="1924050" y="3562350"/>
            <a:ext cx="152400" cy="31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16" name="Rectangle 90"/>
          <p:cNvSpPr>
            <a:spLocks noChangeArrowheads="1"/>
          </p:cNvSpPr>
          <p:nvPr/>
        </p:nvSpPr>
        <p:spPr bwMode="auto">
          <a:xfrm>
            <a:off x="1706563" y="6062663"/>
            <a:ext cx="1137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17" name="Rectangle 91"/>
          <p:cNvSpPr>
            <a:spLocks noChangeArrowheads="1"/>
          </p:cNvSpPr>
          <p:nvPr/>
        </p:nvSpPr>
        <p:spPr bwMode="auto">
          <a:xfrm>
            <a:off x="1200150" y="1031875"/>
            <a:ext cx="6253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$4,000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18" name="Rectangle 92"/>
          <p:cNvSpPr>
            <a:spLocks noChangeArrowheads="1"/>
          </p:cNvSpPr>
          <p:nvPr/>
        </p:nvSpPr>
        <p:spPr bwMode="auto">
          <a:xfrm>
            <a:off x="1314450" y="2230438"/>
            <a:ext cx="51165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3,000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19" name="Rectangle 93"/>
          <p:cNvSpPr>
            <a:spLocks noChangeArrowheads="1"/>
          </p:cNvSpPr>
          <p:nvPr/>
        </p:nvSpPr>
        <p:spPr bwMode="auto">
          <a:xfrm>
            <a:off x="1314450" y="3421063"/>
            <a:ext cx="51165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2,000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20" name="Line 94"/>
          <p:cNvSpPr>
            <a:spLocks noChangeShapeType="1"/>
          </p:cNvSpPr>
          <p:nvPr/>
        </p:nvSpPr>
        <p:spPr bwMode="auto">
          <a:xfrm flipV="1">
            <a:off x="1887538" y="2063750"/>
            <a:ext cx="5173662" cy="2997200"/>
          </a:xfrm>
          <a:prstGeom prst="line">
            <a:avLst/>
          </a:prstGeom>
          <a:noFill/>
          <a:ln w="38100">
            <a:solidFill>
              <a:srgbClr val="F697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21" name="Rectangle 96"/>
          <p:cNvSpPr>
            <a:spLocks noChangeArrowheads="1"/>
          </p:cNvSpPr>
          <p:nvPr/>
        </p:nvSpPr>
        <p:spPr bwMode="auto">
          <a:xfrm>
            <a:off x="4214813" y="6053138"/>
            <a:ext cx="51165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2,000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22" name="Rectangle 97"/>
          <p:cNvSpPr>
            <a:spLocks noChangeArrowheads="1"/>
          </p:cNvSpPr>
          <p:nvPr/>
        </p:nvSpPr>
        <p:spPr bwMode="auto">
          <a:xfrm>
            <a:off x="4876800" y="6061075"/>
            <a:ext cx="51165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2,500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23" name="Rectangle 98"/>
          <p:cNvSpPr>
            <a:spLocks noChangeArrowheads="1"/>
          </p:cNvSpPr>
          <p:nvPr/>
        </p:nvSpPr>
        <p:spPr bwMode="auto">
          <a:xfrm>
            <a:off x="6134100" y="6053138"/>
            <a:ext cx="51165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3,500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24" name="Rectangle 99"/>
          <p:cNvSpPr>
            <a:spLocks noChangeArrowheads="1"/>
          </p:cNvSpPr>
          <p:nvPr/>
        </p:nvSpPr>
        <p:spPr bwMode="auto">
          <a:xfrm>
            <a:off x="6791325" y="6053138"/>
            <a:ext cx="51165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4,000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25" name="Rectangle 100"/>
          <p:cNvSpPr>
            <a:spLocks noChangeArrowheads="1"/>
          </p:cNvSpPr>
          <p:nvPr/>
        </p:nvSpPr>
        <p:spPr bwMode="auto">
          <a:xfrm>
            <a:off x="5486400" y="6053138"/>
            <a:ext cx="51165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3,000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26" name="Rectangle 101"/>
          <p:cNvSpPr>
            <a:spLocks noChangeArrowheads="1"/>
          </p:cNvSpPr>
          <p:nvPr/>
        </p:nvSpPr>
        <p:spPr bwMode="auto">
          <a:xfrm>
            <a:off x="3589338" y="6053138"/>
            <a:ext cx="51165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1,500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27" name="Rectangle 102"/>
          <p:cNvSpPr>
            <a:spLocks noChangeArrowheads="1"/>
          </p:cNvSpPr>
          <p:nvPr/>
        </p:nvSpPr>
        <p:spPr bwMode="auto">
          <a:xfrm>
            <a:off x="2917825" y="6053138"/>
            <a:ext cx="51165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1,000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28" name="Rectangle 103"/>
          <p:cNvSpPr>
            <a:spLocks noChangeArrowheads="1"/>
          </p:cNvSpPr>
          <p:nvPr/>
        </p:nvSpPr>
        <p:spPr bwMode="auto">
          <a:xfrm>
            <a:off x="2244725" y="6053138"/>
            <a:ext cx="45485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$500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29" name="Line 104"/>
          <p:cNvSpPr>
            <a:spLocks noChangeShapeType="1"/>
          </p:cNvSpPr>
          <p:nvPr/>
        </p:nvSpPr>
        <p:spPr bwMode="auto">
          <a:xfrm flipV="1">
            <a:off x="2566988" y="5856288"/>
            <a:ext cx="3175" cy="1428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30" name="Line 105"/>
          <p:cNvSpPr>
            <a:spLocks noChangeShapeType="1"/>
          </p:cNvSpPr>
          <p:nvPr/>
        </p:nvSpPr>
        <p:spPr bwMode="auto">
          <a:xfrm flipV="1">
            <a:off x="3208338" y="5856288"/>
            <a:ext cx="3175" cy="1428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31" name="Line 106"/>
          <p:cNvSpPr>
            <a:spLocks noChangeShapeType="1"/>
          </p:cNvSpPr>
          <p:nvPr/>
        </p:nvSpPr>
        <p:spPr bwMode="auto">
          <a:xfrm flipV="1">
            <a:off x="3851275" y="5856288"/>
            <a:ext cx="1588" cy="1428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32" name="Line 107"/>
          <p:cNvSpPr>
            <a:spLocks noChangeShapeType="1"/>
          </p:cNvSpPr>
          <p:nvPr/>
        </p:nvSpPr>
        <p:spPr bwMode="auto">
          <a:xfrm flipV="1">
            <a:off x="4487863" y="5856288"/>
            <a:ext cx="1587" cy="1428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33" name="Line 108"/>
          <p:cNvSpPr>
            <a:spLocks noChangeShapeType="1"/>
          </p:cNvSpPr>
          <p:nvPr/>
        </p:nvSpPr>
        <p:spPr bwMode="auto">
          <a:xfrm flipV="1">
            <a:off x="5770563" y="5856288"/>
            <a:ext cx="3175" cy="1428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34" name="Line 109"/>
          <p:cNvSpPr>
            <a:spLocks noChangeShapeType="1"/>
          </p:cNvSpPr>
          <p:nvPr/>
        </p:nvSpPr>
        <p:spPr bwMode="auto">
          <a:xfrm flipV="1">
            <a:off x="5133975" y="5856288"/>
            <a:ext cx="3175" cy="1428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35" name="Line 110"/>
          <p:cNvSpPr>
            <a:spLocks noChangeShapeType="1"/>
          </p:cNvSpPr>
          <p:nvPr/>
        </p:nvSpPr>
        <p:spPr bwMode="auto">
          <a:xfrm flipV="1">
            <a:off x="6410325" y="5856288"/>
            <a:ext cx="3175" cy="1428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36" name="Line 111"/>
          <p:cNvSpPr>
            <a:spLocks noChangeShapeType="1"/>
          </p:cNvSpPr>
          <p:nvPr/>
        </p:nvSpPr>
        <p:spPr bwMode="auto">
          <a:xfrm flipV="1">
            <a:off x="7051675" y="5856288"/>
            <a:ext cx="3175" cy="1428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37" name="Rectangle 115"/>
          <p:cNvSpPr>
            <a:spLocks noChangeArrowheads="1"/>
          </p:cNvSpPr>
          <p:nvPr/>
        </p:nvSpPr>
        <p:spPr bwMode="auto">
          <a:xfrm>
            <a:off x="4567238" y="3535363"/>
            <a:ext cx="14424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38" name="Rectangle 116"/>
          <p:cNvSpPr>
            <a:spLocks noChangeArrowheads="1"/>
          </p:cNvSpPr>
          <p:nvPr/>
        </p:nvSpPr>
        <p:spPr bwMode="auto">
          <a:xfrm>
            <a:off x="4692650" y="3622675"/>
            <a:ext cx="1137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39" name="Line 119"/>
          <p:cNvSpPr>
            <a:spLocks noChangeShapeType="1"/>
          </p:cNvSpPr>
          <p:nvPr/>
        </p:nvSpPr>
        <p:spPr bwMode="auto">
          <a:xfrm flipH="1" flipV="1">
            <a:off x="3276600" y="3927475"/>
            <a:ext cx="3175" cy="180975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40" name="Freeform 132"/>
          <p:cNvSpPr>
            <a:spLocks/>
          </p:cNvSpPr>
          <p:nvPr/>
        </p:nvSpPr>
        <p:spPr bwMode="auto">
          <a:xfrm>
            <a:off x="4298950" y="3109913"/>
            <a:ext cx="123825" cy="482600"/>
          </a:xfrm>
          <a:custGeom>
            <a:avLst/>
            <a:gdLst>
              <a:gd name="T0" fmla="*/ 125195 w 20"/>
              <a:gd name="T1" fmla="*/ 0 h 81"/>
              <a:gd name="T2" fmla="*/ 50078 w 20"/>
              <a:gd name="T3" fmla="*/ 77498 h 81"/>
              <a:gd name="T4" fmla="*/ 50078 w 20"/>
              <a:gd name="T5" fmla="*/ 190763 h 81"/>
              <a:gd name="T6" fmla="*/ 0 w 20"/>
              <a:gd name="T7" fmla="*/ 244416 h 81"/>
              <a:gd name="T8" fmla="*/ 50078 w 20"/>
              <a:gd name="T9" fmla="*/ 292107 h 81"/>
              <a:gd name="T10" fmla="*/ 50078 w 20"/>
              <a:gd name="T11" fmla="*/ 405372 h 81"/>
              <a:gd name="T12" fmla="*/ 125195 w 20"/>
              <a:gd name="T13" fmla="*/ 482870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"/>
              <a:gd name="T22" fmla="*/ 0 h 81"/>
              <a:gd name="T23" fmla="*/ 20 w 20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" h="81">
                <a:moveTo>
                  <a:pt x="20" y="0"/>
                </a:moveTo>
                <a:cubicBezTo>
                  <a:pt x="11" y="0"/>
                  <a:pt x="8" y="2"/>
                  <a:pt x="8" y="13"/>
                </a:cubicBezTo>
                <a:cubicBezTo>
                  <a:pt x="8" y="15"/>
                  <a:pt x="8" y="30"/>
                  <a:pt x="8" y="32"/>
                </a:cubicBezTo>
                <a:cubicBezTo>
                  <a:pt x="8" y="35"/>
                  <a:pt x="6" y="41"/>
                  <a:pt x="0" y="41"/>
                </a:cubicBezTo>
                <a:cubicBezTo>
                  <a:pt x="6" y="41"/>
                  <a:pt x="8" y="46"/>
                  <a:pt x="8" y="49"/>
                </a:cubicBezTo>
                <a:cubicBezTo>
                  <a:pt x="8" y="51"/>
                  <a:pt x="8" y="66"/>
                  <a:pt x="8" y="68"/>
                </a:cubicBezTo>
                <a:cubicBezTo>
                  <a:pt x="8" y="79"/>
                  <a:pt x="11" y="81"/>
                  <a:pt x="20" y="81"/>
                </a:cubicBezTo>
              </a:path>
            </a:pathLst>
          </a:custGeom>
          <a:noFill/>
          <a:ln w="9">
            <a:solidFill>
              <a:srgbClr val="6D6F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41" name="Oval 133"/>
          <p:cNvSpPr>
            <a:spLocks noChangeArrowheads="1"/>
          </p:cNvSpPr>
          <p:nvPr/>
        </p:nvSpPr>
        <p:spPr bwMode="auto">
          <a:xfrm>
            <a:off x="4429125" y="3509963"/>
            <a:ext cx="127000" cy="119062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42" name="Line 135"/>
          <p:cNvSpPr>
            <a:spLocks noChangeShapeType="1"/>
          </p:cNvSpPr>
          <p:nvPr/>
        </p:nvSpPr>
        <p:spPr bwMode="auto">
          <a:xfrm flipH="1" flipV="1">
            <a:off x="3429000" y="2555875"/>
            <a:ext cx="869950" cy="571500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43" name="Freeform 143"/>
          <p:cNvSpPr>
            <a:spLocks/>
          </p:cNvSpPr>
          <p:nvPr/>
        </p:nvSpPr>
        <p:spPr bwMode="auto">
          <a:xfrm>
            <a:off x="4289425" y="6419850"/>
            <a:ext cx="392113" cy="325438"/>
          </a:xfrm>
          <a:custGeom>
            <a:avLst/>
            <a:gdLst>
              <a:gd name="T0" fmla="*/ 391565 w 62"/>
              <a:gd name="T1" fmla="*/ 231254 h 55"/>
              <a:gd name="T2" fmla="*/ 290516 w 62"/>
              <a:gd name="T3" fmla="*/ 326127 h 55"/>
              <a:gd name="T4" fmla="*/ 101049 w 62"/>
              <a:gd name="T5" fmla="*/ 326127 h 55"/>
              <a:gd name="T6" fmla="*/ 0 w 62"/>
              <a:gd name="T7" fmla="*/ 231254 h 55"/>
              <a:gd name="T8" fmla="*/ 0 w 62"/>
              <a:gd name="T9" fmla="*/ 88944 h 55"/>
              <a:gd name="T10" fmla="*/ 101049 w 62"/>
              <a:gd name="T11" fmla="*/ 0 h 55"/>
              <a:gd name="T12" fmla="*/ 290516 w 62"/>
              <a:gd name="T13" fmla="*/ 0 h 55"/>
              <a:gd name="T14" fmla="*/ 391565 w 62"/>
              <a:gd name="T15" fmla="*/ 88944 h 55"/>
              <a:gd name="T16" fmla="*/ 391565 w 62"/>
              <a:gd name="T17" fmla="*/ 231254 h 5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2"/>
              <a:gd name="T28" fmla="*/ 0 h 55"/>
              <a:gd name="T29" fmla="*/ 62 w 62"/>
              <a:gd name="T30" fmla="*/ 55 h 5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2" h="55">
                <a:moveTo>
                  <a:pt x="62" y="39"/>
                </a:moveTo>
                <a:cubicBezTo>
                  <a:pt x="62" y="48"/>
                  <a:pt x="55" y="55"/>
                  <a:pt x="46" y="55"/>
                </a:cubicBezTo>
                <a:cubicBezTo>
                  <a:pt x="16" y="55"/>
                  <a:pt x="16" y="55"/>
                  <a:pt x="16" y="55"/>
                </a:cubicBezTo>
                <a:cubicBezTo>
                  <a:pt x="7" y="55"/>
                  <a:pt x="0" y="48"/>
                  <a:pt x="0" y="39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7"/>
                  <a:pt x="7" y="0"/>
                  <a:pt x="16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55" y="0"/>
                  <a:pt x="62" y="7"/>
                  <a:pt x="62" y="15"/>
                </a:cubicBezTo>
                <a:lnTo>
                  <a:pt x="62" y="3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44" name="Rectangle 144"/>
          <p:cNvSpPr>
            <a:spLocks noChangeArrowheads="1"/>
          </p:cNvSpPr>
          <p:nvPr/>
        </p:nvSpPr>
        <p:spPr bwMode="auto">
          <a:xfrm>
            <a:off x="4375150" y="6446838"/>
            <a:ext cx="29174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Y*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47" name="Freeform 147"/>
          <p:cNvSpPr>
            <a:spLocks/>
          </p:cNvSpPr>
          <p:nvPr/>
        </p:nvSpPr>
        <p:spPr bwMode="auto">
          <a:xfrm>
            <a:off x="1924050" y="1125538"/>
            <a:ext cx="6489700" cy="4881562"/>
          </a:xfrm>
          <a:custGeom>
            <a:avLst/>
            <a:gdLst>
              <a:gd name="T0" fmla="*/ 6488779 w 2436"/>
              <a:gd name="T1" fmla="*/ 4881784 h 1931"/>
              <a:gd name="T2" fmla="*/ 0 w 2436"/>
              <a:gd name="T3" fmla="*/ 4881784 h 1931"/>
              <a:gd name="T4" fmla="*/ 0 w 2436"/>
              <a:gd name="T5" fmla="*/ 0 h 1931"/>
              <a:gd name="T6" fmla="*/ 0 60000 65536"/>
              <a:gd name="T7" fmla="*/ 0 60000 65536"/>
              <a:gd name="T8" fmla="*/ 0 60000 65536"/>
              <a:gd name="T9" fmla="*/ 0 w 2436"/>
              <a:gd name="T10" fmla="*/ 0 h 1931"/>
              <a:gd name="T11" fmla="*/ 2436 w 2436"/>
              <a:gd name="T12" fmla="*/ 1931 h 193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36" h="1931">
                <a:moveTo>
                  <a:pt x="2436" y="1931"/>
                </a:moveTo>
                <a:lnTo>
                  <a:pt x="0" y="1931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3648" name="Rectangle 80"/>
          <p:cNvSpPr>
            <a:spLocks noChangeArrowheads="1"/>
          </p:cNvSpPr>
          <p:nvPr/>
        </p:nvSpPr>
        <p:spPr bwMode="auto">
          <a:xfrm>
            <a:off x="0" y="914400"/>
            <a:ext cx="1447800" cy="155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spending,</a:t>
            </a:r>
          </a:p>
          <a:p>
            <a:pPr>
              <a:spcBef>
                <a:spcPct val="0"/>
              </a:spcBef>
            </a:pPr>
            <a:r>
              <a:rPr lang="en-US" sz="1600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b="1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(billions of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dollars)</a:t>
            </a:r>
          </a:p>
        </p:txBody>
      </p:sp>
      <p:sp>
        <p:nvSpPr>
          <p:cNvPr id="493649" name="Rectangle 81"/>
          <p:cNvSpPr>
            <a:spLocks noChangeArrowheads="1"/>
          </p:cNvSpPr>
          <p:nvPr/>
        </p:nvSpPr>
        <p:spPr bwMode="auto">
          <a:xfrm>
            <a:off x="4776498" y="6358227"/>
            <a:ext cx="37338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4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 (billions of dollars)</a:t>
            </a:r>
          </a:p>
        </p:txBody>
      </p:sp>
      <p:sp>
        <p:nvSpPr>
          <p:cNvPr id="493651" name="Rectangle 83"/>
          <p:cNvSpPr>
            <a:spLocks noChangeArrowheads="1"/>
          </p:cNvSpPr>
          <p:nvPr/>
        </p:nvSpPr>
        <p:spPr bwMode="auto">
          <a:xfrm>
            <a:off x="6096000" y="2784475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 before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autonomous change</a:t>
            </a:r>
          </a:p>
        </p:txBody>
      </p:sp>
      <p:sp>
        <p:nvSpPr>
          <p:cNvPr id="493652" name="Line 84"/>
          <p:cNvSpPr>
            <a:spLocks noChangeShapeType="1"/>
          </p:cNvSpPr>
          <p:nvPr/>
        </p:nvSpPr>
        <p:spPr bwMode="auto">
          <a:xfrm>
            <a:off x="4495800" y="3546475"/>
            <a:ext cx="0" cy="2209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53" name="Line 85"/>
          <p:cNvSpPr>
            <a:spLocks noChangeShapeType="1"/>
          </p:cNvSpPr>
          <p:nvPr/>
        </p:nvSpPr>
        <p:spPr bwMode="auto">
          <a:xfrm flipH="1" flipV="1">
            <a:off x="2097088" y="3568700"/>
            <a:ext cx="23352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54" name="Line 86"/>
          <p:cNvSpPr>
            <a:spLocks noChangeShapeType="1"/>
          </p:cNvSpPr>
          <p:nvPr/>
        </p:nvSpPr>
        <p:spPr bwMode="auto">
          <a:xfrm>
            <a:off x="4495800" y="3165475"/>
            <a:ext cx="0" cy="3794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55" name="Freeform 87"/>
          <p:cNvSpPr>
            <a:spLocks/>
          </p:cNvSpPr>
          <p:nvPr/>
        </p:nvSpPr>
        <p:spPr bwMode="auto">
          <a:xfrm>
            <a:off x="4648200" y="4654550"/>
            <a:ext cx="3581400" cy="838200"/>
          </a:xfrm>
          <a:custGeom>
            <a:avLst/>
            <a:gdLst>
              <a:gd name="T0" fmla="*/ 399 w 399"/>
              <a:gd name="T1" fmla="*/ 108 h 138"/>
              <a:gd name="T2" fmla="*/ 373 w 399"/>
              <a:gd name="T3" fmla="*/ 138 h 138"/>
              <a:gd name="T4" fmla="*/ 26 w 399"/>
              <a:gd name="T5" fmla="*/ 138 h 138"/>
              <a:gd name="T6" fmla="*/ 0 w 399"/>
              <a:gd name="T7" fmla="*/ 108 h 138"/>
              <a:gd name="T8" fmla="*/ 0 w 399"/>
              <a:gd name="T9" fmla="*/ 31 h 138"/>
              <a:gd name="T10" fmla="*/ 26 w 399"/>
              <a:gd name="T11" fmla="*/ 0 h 138"/>
              <a:gd name="T12" fmla="*/ 373 w 399"/>
              <a:gd name="T13" fmla="*/ 0 h 138"/>
              <a:gd name="T14" fmla="*/ 399 w 399"/>
              <a:gd name="T15" fmla="*/ 31 h 138"/>
              <a:gd name="T16" fmla="*/ 399 w 399"/>
              <a:gd name="T17" fmla="*/ 108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9" h="138">
                <a:moveTo>
                  <a:pt x="399" y="108"/>
                </a:moveTo>
                <a:cubicBezTo>
                  <a:pt x="399" y="125"/>
                  <a:pt x="387" y="138"/>
                  <a:pt x="373" y="138"/>
                </a:cubicBezTo>
                <a:cubicBezTo>
                  <a:pt x="26" y="138"/>
                  <a:pt x="26" y="138"/>
                  <a:pt x="26" y="138"/>
                </a:cubicBezTo>
                <a:cubicBezTo>
                  <a:pt x="12" y="138"/>
                  <a:pt x="0" y="125"/>
                  <a:pt x="0" y="108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14"/>
                  <a:pt x="12" y="0"/>
                  <a:pt x="26" y="0"/>
                </a:cubicBezTo>
                <a:cubicBezTo>
                  <a:pt x="373" y="0"/>
                  <a:pt x="373" y="0"/>
                  <a:pt x="373" y="0"/>
                </a:cubicBezTo>
                <a:cubicBezTo>
                  <a:pt x="387" y="0"/>
                  <a:pt x="399" y="14"/>
                  <a:pt x="399" y="31"/>
                </a:cubicBezTo>
                <a:lnTo>
                  <a:pt x="399" y="108"/>
                </a:lnTo>
                <a:close/>
              </a:path>
            </a:pathLst>
          </a:custGeom>
          <a:solidFill>
            <a:srgbClr val="D6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93656" name="Rectangle 88"/>
          <p:cNvSpPr>
            <a:spLocks noChangeArrowheads="1"/>
          </p:cNvSpPr>
          <p:nvPr/>
        </p:nvSpPr>
        <p:spPr bwMode="auto">
          <a:xfrm>
            <a:off x="4724400" y="4763869"/>
            <a:ext cx="3581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prstDash val="sysDot"/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588" indent="-1588"/>
            <a:r>
              <a:rPr lang="en-US" dirty="0">
                <a:solidFill>
                  <a:prstClr val="black"/>
                </a:solidFill>
                <a:latin typeface="Century Gothic"/>
                <a:cs typeface="Century Gothic"/>
              </a:rPr>
              <a:t>Δ</a:t>
            </a:r>
            <a:r>
              <a:rPr lang="en-US" i="1" dirty="0">
                <a:solidFill>
                  <a:prstClr val="black"/>
                </a:solidFill>
                <a:latin typeface="Century Gothic"/>
                <a:cs typeface="Century Gothic"/>
              </a:rPr>
              <a:t>Y</a:t>
            </a:r>
            <a:r>
              <a:rPr lang="en-US" dirty="0">
                <a:solidFill>
                  <a:prstClr val="black"/>
                </a:solidFill>
                <a:latin typeface="Century Gothic"/>
                <a:cs typeface="Century Gothic"/>
              </a:rPr>
              <a:t>* = Multiplier × Δ</a:t>
            </a:r>
            <a:r>
              <a:rPr lang="en-US" i="1" dirty="0">
                <a:solidFill>
                  <a:prstClr val="black"/>
                </a:solidFill>
                <a:latin typeface="Century Gothic"/>
                <a:cs typeface="Century Gothic"/>
              </a:rPr>
              <a:t>AAE</a:t>
            </a:r>
            <a:r>
              <a:rPr lang="en-US" i="1" baseline="-25000" dirty="0">
                <a:solidFill>
                  <a:prstClr val="black"/>
                </a:solidFill>
                <a:latin typeface="Century Gothic"/>
                <a:cs typeface="Century Gothic"/>
              </a:rPr>
              <a:t>Planned </a:t>
            </a:r>
            <a:r>
              <a:rPr lang="en-US" dirty="0">
                <a:solidFill>
                  <a:prstClr val="black"/>
                </a:solidFill>
                <a:latin typeface="Century Gothic"/>
                <a:cs typeface="Century Gothic"/>
              </a:rPr>
              <a:t>= 1 / (1 – </a:t>
            </a:r>
            <a:r>
              <a:rPr lang="en-US" i="1" dirty="0">
                <a:solidFill>
                  <a:prstClr val="black"/>
                </a:solidFill>
                <a:latin typeface="Century Gothic"/>
                <a:cs typeface="Century Gothic"/>
              </a:rPr>
              <a:t>MPC</a:t>
            </a:r>
            <a:r>
              <a:rPr lang="en-US" dirty="0">
                <a:solidFill>
                  <a:prstClr val="black"/>
                </a:solidFill>
                <a:latin typeface="Century Gothic"/>
                <a:cs typeface="Century Gothic"/>
              </a:rPr>
              <a:t>) × Δ</a:t>
            </a:r>
            <a:r>
              <a:rPr lang="en-US" i="1" dirty="0">
                <a:solidFill>
                  <a:prstClr val="black"/>
                </a:solidFill>
                <a:latin typeface="Century Gothic"/>
                <a:cs typeface="Century Gothic"/>
              </a:rPr>
              <a:t>AAE</a:t>
            </a:r>
            <a:r>
              <a:rPr lang="en-US" i="1" baseline="-25000" dirty="0">
                <a:solidFill>
                  <a:prstClr val="black"/>
                </a:solidFill>
                <a:latin typeface="Century Gothic"/>
                <a:cs typeface="Century Gothic"/>
              </a:rPr>
              <a:t>Planned</a:t>
            </a:r>
          </a:p>
        </p:txBody>
      </p:sp>
      <p:sp>
        <p:nvSpPr>
          <p:cNvPr id="493657" name="Rectangle 89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MULTIPLIER</a:t>
            </a:r>
          </a:p>
        </p:txBody>
      </p:sp>
    </p:spTree>
    <p:extLst>
      <p:ext uri="{BB962C8B-B14F-4D97-AF65-F5344CB8AC3E}">
        <p14:creationId xmlns:p14="http://schemas.microsoft.com/office/powerpoint/2010/main" val="191948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9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3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9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93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9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9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93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3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93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9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9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9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9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9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85" grpId="0" animBg="1"/>
      <p:bldP spid="493570" grpId="0" animBg="1"/>
      <p:bldP spid="493571" grpId="0" animBg="1"/>
      <p:bldP spid="493572" grpId="0"/>
      <p:bldP spid="493575" grpId="0" animBg="1"/>
      <p:bldP spid="493576" grpId="0"/>
      <p:bldP spid="493579" grpId="0" animBg="1"/>
      <p:bldP spid="493580" grpId="0" animBg="1"/>
      <p:bldP spid="493581" grpId="0"/>
      <p:bldP spid="493582" grpId="0"/>
      <p:bldP spid="493589" grpId="0"/>
      <p:bldP spid="493590" grpId="0" animBg="1"/>
      <p:bldP spid="493591" grpId="0" animBg="1"/>
      <p:bldP spid="493592" grpId="0"/>
      <p:bldP spid="493600" grpId="0" animBg="1"/>
      <p:bldP spid="493639" grpId="0" animBg="1"/>
      <p:bldP spid="493640" grpId="0" animBg="1"/>
      <p:bldP spid="493642" grpId="0" animBg="1"/>
      <p:bldP spid="493653" grpId="0" animBg="1"/>
      <p:bldP spid="493654" grpId="0" animBg="1"/>
      <p:bldP spid="493655" grpId="0" animBg="1"/>
      <p:bldP spid="49365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THE PARADOX OF THRIFT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92502"/>
            <a:ext cx="9144000" cy="4343400"/>
          </a:xfrm>
          <a:solidFill>
            <a:schemeClr val="bg1">
              <a:alpha val="84000"/>
            </a:schemeClr>
          </a:solidFill>
        </p:spPr>
        <p:txBody>
          <a:bodyPr>
            <a:normAutofit/>
          </a:bodyPr>
          <a:lstStyle/>
          <a:p>
            <a:pPr>
              <a:spcBef>
                <a:spcPts val="72"/>
              </a:spcBef>
              <a:spcAft>
                <a:spcPts val="1200"/>
              </a:spcAft>
            </a:pPr>
            <a:r>
              <a:rPr lang="en-US" sz="2800" dirty="0"/>
              <a:t>In macroeconomics, </a:t>
            </a:r>
            <a:r>
              <a:rPr lang="en-US" sz="2800" dirty="0">
                <a:solidFill>
                  <a:srgbClr val="0070C0"/>
                </a:solidFill>
              </a:rPr>
              <a:t>the outcome of many individual actions can generate a result that is different from and worse </a:t>
            </a:r>
            <a:r>
              <a:rPr lang="en-US" sz="2800" dirty="0"/>
              <a:t>than the simple sum of those individual actions.</a:t>
            </a:r>
          </a:p>
          <a:p>
            <a:pPr>
              <a:spcBef>
                <a:spcPts val="72"/>
              </a:spcBef>
              <a:spcAft>
                <a:spcPts val="1200"/>
              </a:spcAft>
            </a:pPr>
            <a:r>
              <a:rPr lang="en-US" sz="2800" dirty="0"/>
              <a:t>If your house loses value because the housing bubble has burst, </a:t>
            </a:r>
            <a:r>
              <a:rPr lang="en-US" sz="2800" dirty="0">
                <a:solidFill>
                  <a:srgbClr val="990033"/>
                </a:solidFill>
              </a:rPr>
              <a:t>you might adjust and spend less.</a:t>
            </a:r>
          </a:p>
          <a:p>
            <a:pPr>
              <a:spcBef>
                <a:spcPts val="72"/>
              </a:spcBef>
              <a:spcAft>
                <a:spcPts val="1200"/>
              </a:spcAft>
            </a:pPr>
            <a:r>
              <a:rPr lang="en-US" sz="2800" dirty="0"/>
              <a:t>If everyone else does the same, </a:t>
            </a:r>
            <a:r>
              <a:rPr lang="en-US" sz="2800" dirty="0">
                <a:solidFill>
                  <a:srgbClr val="0070C0"/>
                </a:solidFill>
              </a:rPr>
              <a:t>the economy is depressed, jobs are lost, and everyone is worse off </a:t>
            </a:r>
            <a:r>
              <a:rPr lang="en-US" sz="2800" dirty="0">
                <a:solidFill>
                  <a:srgbClr val="990033"/>
                </a:solidFill>
              </a:rPr>
              <a:t>because of their virtuous individual actions.</a:t>
            </a:r>
          </a:p>
        </p:txBody>
      </p:sp>
    </p:spTree>
    <p:extLst>
      <p:ext uri="{BB962C8B-B14F-4D97-AF65-F5344CB8AC3E}">
        <p14:creationId xmlns:p14="http://schemas.microsoft.com/office/powerpoint/2010/main" val="274002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pc="0" dirty="0"/>
              <a:t>INVENTORIES AND THE END OF A RECESSION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839200" cy="4495800"/>
          </a:xfrm>
        </p:spPr>
        <p:txBody>
          <a:bodyPr>
            <a:noAutofit/>
          </a:bodyPr>
          <a:lstStyle/>
          <a:p>
            <a:r>
              <a:rPr lang="en-US" sz="2400" dirty="0"/>
              <a:t>A look at the multiplier process at the end of a recession</a:t>
            </a:r>
          </a:p>
          <a:p>
            <a:pPr lvl="1"/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Notice the huge increase in consumer spending Q4 2001 that caught businesses by surprise—but by Q1 2002 businesses increased production and real GDP jumped.</a:t>
            </a: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281676"/>
            <a:ext cx="8382000" cy="3271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2575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289560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/>
              </a:rPr>
              <a:t>What’s Good for America is Good for GM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Century Gothic"/>
              </a:rPr>
              <a:t>In 2009 the U.S. economy was in a nose-dive… and so was General Motors.  The government bailed out GM and took a temporary 61% ownership.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solidFill>
                  <a:srgbClr val="4F81BD"/>
                </a:solidFill>
                <a:latin typeface="Century Gothic"/>
              </a:rPr>
              <a:t>Was GM too big to fail (would letting it fall into bankruptcy cost many more jobs?)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Century Gothic"/>
              </a:rPr>
              <a:t>Were GM’s problems self-made or was it a victim of a poor economy?</a:t>
            </a:r>
          </a:p>
        </p:txBody>
      </p:sp>
      <p:pic>
        <p:nvPicPr>
          <p:cNvPr id="6" name="Picture 5" descr="Screen Shot 2015-04-04 at 8.16.19 PM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4600" y="4024811"/>
            <a:ext cx="3657600" cy="264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15212"/>
      </p:ext>
    </p:extLst>
  </p:cSld>
  <p:clrMapOvr>
    <a:masterClrMapping/>
  </p:clrMapOvr>
  <p:transition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5ad1a792e7828ca492521aea17b12f2931c3dea"/>
</p:tagLst>
</file>

<file path=ppt/theme/theme1.xml><?xml version="1.0" encoding="utf-8"?>
<a:theme xmlns:a="http://schemas.openxmlformats.org/drawingml/2006/main" name="4e Krugman_Dynamic PPTs_Ch05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Custom Design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Newest 2e them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Custom 1">
      <a:majorFont>
        <a:latin typeface="Garamon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1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2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7_Custom Design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1_Krugman 3e main content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3_Krugman 3e main content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Krugman 3e Pitfalls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Krugman 3e main content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Krugman 3e practic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newer Krugman 3e them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Krugman 3e business cas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newer Krugman 3e theme</Template>
  <TotalTime>8539</TotalTime>
  <Words>1926</Words>
  <Application>Microsoft Macintosh PowerPoint</Application>
  <PresentationFormat>On-screen Show (4:3)</PresentationFormat>
  <Paragraphs>302</Paragraphs>
  <Slides>27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27</vt:i4>
      </vt:variant>
    </vt:vector>
  </HeadingPairs>
  <TitlesOfParts>
    <vt:vector size="49" baseType="lpstr">
      <vt:lpstr>Arial</vt:lpstr>
      <vt:lpstr>Calibri</vt:lpstr>
      <vt:lpstr>Candara</vt:lpstr>
      <vt:lpstr>Century Gothic</vt:lpstr>
      <vt:lpstr>Gill Sans</vt:lpstr>
      <vt:lpstr>Tw Cen MT</vt:lpstr>
      <vt:lpstr>Verdana</vt:lpstr>
      <vt:lpstr>Wingdings</vt:lpstr>
      <vt:lpstr>4e Krugman_Dynamic PPTs_Ch05</vt:lpstr>
      <vt:lpstr>6_Custom Design</vt:lpstr>
      <vt:lpstr>1_Newest 2e theme</vt:lpstr>
      <vt:lpstr>10_Stone ppt Theme1</vt:lpstr>
      <vt:lpstr>11_Stone ppt Theme1</vt:lpstr>
      <vt:lpstr>12_Stone ppt Theme1</vt:lpstr>
      <vt:lpstr>7_Custom Design</vt:lpstr>
      <vt:lpstr>11_Krugman 3e main content</vt:lpstr>
      <vt:lpstr>3_Krugman 3e main content</vt:lpstr>
      <vt:lpstr>Krugman 3e Pitfalls</vt:lpstr>
      <vt:lpstr>Krugman 3e main content</vt:lpstr>
      <vt:lpstr>Krugman 3e practice</vt:lpstr>
      <vt:lpstr>newer Krugman 3e theme</vt:lpstr>
      <vt:lpstr>Krugman 3e business case</vt:lpstr>
      <vt:lpstr>Economics 2220 Principles Of Macroeconomics</vt:lpstr>
      <vt:lpstr>PowerPoint Presentation</vt:lpstr>
      <vt:lpstr>THE INCOME–EXPENDITURE MODEL</vt:lpstr>
      <vt:lpstr>THE INCOME–EXPENDITURE MODEL</vt:lpstr>
      <vt:lpstr>PLANNED AGGREGATE SPENDING AND REAL GDP</vt:lpstr>
      <vt:lpstr>WORKING WITH THE MODEL</vt:lpstr>
      <vt:lpstr>PLANNED AGGREGATE SPENDING AND GDP</vt:lpstr>
      <vt:lpstr>PLANNED AGGREGATE SPENDING AND GDP</vt:lpstr>
      <vt:lpstr>INCOME–EXPENDITURE EQUILIBRIUM</vt:lpstr>
      <vt:lpstr>PowerPoint Presentation</vt:lpstr>
      <vt:lpstr>INCOME–EXPENDITURE EQUILIBRIUM</vt:lpstr>
      <vt:lpstr>INCOME–EXPENDITURE EQUILIBRIUM</vt:lpstr>
      <vt:lpstr>INCOME–EXPENDITURE EQUILIBRIUM</vt:lpstr>
      <vt:lpstr>PowerPoint Presentation</vt:lpstr>
      <vt:lpstr>PowerPoint Presentation</vt:lpstr>
      <vt:lpstr>THE MULTIPLIER PROCESS AND INVENTORY ADJUSTMENT</vt:lpstr>
      <vt:lpstr>THE MULTIPLIER PROCESS AND INVENTORY ADJUSTMENT</vt:lpstr>
      <vt:lpstr>THE MULTIPLIER PROCESS AND INVENTORY ADJUSTMENT</vt:lpstr>
      <vt:lpstr>THE MULTIPLIER PROCESS AND INVENTORY ADJUSTMENT</vt:lpstr>
      <vt:lpstr>THE MULTIPLIER PROCESS AND INVENTORY ADJUSTMENT</vt:lpstr>
      <vt:lpstr>THE MULTIPLIER PROCESS AND INVENTORY ADJUSTMENT</vt:lpstr>
      <vt:lpstr>THE MULTIPLIER PROCESS AND INVENTORY ADJUSTMENT</vt:lpstr>
      <vt:lpstr>THE MULTIPLIER PROCESS AND INVENTORY ADJUSTMENT</vt:lpstr>
      <vt:lpstr>THE MULTIPLIER</vt:lpstr>
      <vt:lpstr>THE PARADOX OF THRIFT</vt:lpstr>
      <vt:lpstr>INVENTORIES AND THE END OF A RECESSION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Solina Lindahl</dc:creator>
  <cp:keywords/>
  <dc:description/>
  <cp:lastModifiedBy>Zhigang Feng</cp:lastModifiedBy>
  <cp:revision>427</cp:revision>
  <dcterms:created xsi:type="dcterms:W3CDTF">2012-07-21T02:43:21Z</dcterms:created>
  <dcterms:modified xsi:type="dcterms:W3CDTF">2026-03-25T20:51:44Z</dcterms:modified>
  <cp:category/>
</cp:coreProperties>
</file>