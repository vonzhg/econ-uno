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4.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6.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7.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8.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9.xml" ContentType="application/vnd.openxmlformats-officedocument.theme+xml"/>
  <Override PartName="/ppt/slideLayouts/slideLayout21.xml" ContentType="application/vnd.openxmlformats-officedocument.presentationml.slideLayout+xml"/>
  <Override PartName="/ppt/theme/theme10.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11.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1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13.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14.xml" ContentType="application/vnd.openxmlformats-officedocument.theme+xml"/>
  <Override PartName="/ppt/slideLayouts/slideLayout36.xml" ContentType="application/vnd.openxmlformats-officedocument.presentationml.slideLayout+xml"/>
  <Override PartName="/ppt/theme/theme15.xml" ContentType="application/vnd.openxmlformats-officedocument.theme+xml"/>
  <Override PartName="/ppt/slideLayouts/slideLayout37.xml" ContentType="application/vnd.openxmlformats-officedocument.presentationml.slideLayout+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1"/>
    <p:sldMasterId id="2147483686" r:id="rId2"/>
    <p:sldMasterId id="2147483723" r:id="rId3"/>
    <p:sldMasterId id="2147483732" r:id="rId4"/>
    <p:sldMasterId id="2147483736" r:id="rId5"/>
    <p:sldMasterId id="2147483740" r:id="rId6"/>
    <p:sldMasterId id="2147483743" r:id="rId7"/>
    <p:sldMasterId id="2147483746" r:id="rId8"/>
    <p:sldMasterId id="2147483804" r:id="rId9"/>
    <p:sldMasterId id="2147483749" r:id="rId10"/>
    <p:sldMasterId id="2147483801" r:id="rId11"/>
    <p:sldMasterId id="2147483807" r:id="rId12"/>
    <p:sldMasterId id="2147483812" r:id="rId13"/>
    <p:sldMasterId id="2147483817" r:id="rId14"/>
    <p:sldMasterId id="2147483822" r:id="rId15"/>
    <p:sldMasterId id="2147483824" r:id="rId16"/>
  </p:sldMasterIdLst>
  <p:notesMasterIdLst>
    <p:notesMasterId r:id="rId72"/>
  </p:notesMasterIdLst>
  <p:handoutMasterIdLst>
    <p:handoutMasterId r:id="rId73"/>
  </p:handoutMasterIdLst>
  <p:sldIdLst>
    <p:sldId id="370" r:id="rId17"/>
    <p:sldId id="373" r:id="rId18"/>
    <p:sldId id="374" r:id="rId19"/>
    <p:sldId id="313" r:id="rId20"/>
    <p:sldId id="362" r:id="rId21"/>
    <p:sldId id="315" r:id="rId22"/>
    <p:sldId id="316" r:id="rId23"/>
    <p:sldId id="317" r:id="rId24"/>
    <p:sldId id="318" r:id="rId25"/>
    <p:sldId id="363" r:id="rId26"/>
    <p:sldId id="320" r:id="rId27"/>
    <p:sldId id="321" r:id="rId28"/>
    <p:sldId id="322" r:id="rId29"/>
    <p:sldId id="323" r:id="rId30"/>
    <p:sldId id="324" r:id="rId31"/>
    <p:sldId id="325" r:id="rId32"/>
    <p:sldId id="326" r:id="rId33"/>
    <p:sldId id="327" r:id="rId34"/>
    <p:sldId id="328" r:id="rId35"/>
    <p:sldId id="364" r:id="rId36"/>
    <p:sldId id="330" r:id="rId37"/>
    <p:sldId id="331" r:id="rId38"/>
    <p:sldId id="332" r:id="rId39"/>
    <p:sldId id="365" r:id="rId40"/>
    <p:sldId id="334" r:id="rId41"/>
    <p:sldId id="335" r:id="rId42"/>
    <p:sldId id="336" r:id="rId43"/>
    <p:sldId id="337" r:id="rId44"/>
    <p:sldId id="338" r:id="rId45"/>
    <p:sldId id="366" r:id="rId46"/>
    <p:sldId id="340" r:id="rId47"/>
    <p:sldId id="367" r:id="rId48"/>
    <p:sldId id="342" r:id="rId49"/>
    <p:sldId id="343" r:id="rId50"/>
    <p:sldId id="372" r:id="rId51"/>
    <p:sldId id="344" r:id="rId52"/>
    <p:sldId id="345" r:id="rId53"/>
    <p:sldId id="346" r:id="rId54"/>
    <p:sldId id="368" r:id="rId55"/>
    <p:sldId id="348" r:id="rId56"/>
    <p:sldId id="349" r:id="rId57"/>
    <p:sldId id="371" r:id="rId58"/>
    <p:sldId id="350" r:id="rId59"/>
    <p:sldId id="351" r:id="rId60"/>
    <p:sldId id="352" r:id="rId61"/>
    <p:sldId id="353" r:id="rId62"/>
    <p:sldId id="354" r:id="rId63"/>
    <p:sldId id="355" r:id="rId64"/>
    <p:sldId id="356" r:id="rId65"/>
    <p:sldId id="369" r:id="rId66"/>
    <p:sldId id="357" r:id="rId67"/>
    <p:sldId id="358" r:id="rId68"/>
    <p:sldId id="359" r:id="rId69"/>
    <p:sldId id="360" r:id="rId70"/>
    <p:sldId id="361" r:id="rId71"/>
  </p:sldIdLst>
  <p:sldSz cx="9144000" cy="6858000" type="screen4x3"/>
  <p:notesSz cx="6858000" cy="9144000"/>
  <p:custDataLst>
    <p:tags r:id="rId7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ate" initials="K" lastIdx="9"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33"/>
    <a:srgbClr val="009999"/>
    <a:srgbClr val="D09E00"/>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4660" autoAdjust="0"/>
  </p:normalViewPr>
  <p:slideViewPr>
    <p:cSldViewPr>
      <p:cViewPr varScale="1">
        <p:scale>
          <a:sx n="99" d="100"/>
          <a:sy n="99" d="100"/>
        </p:scale>
        <p:origin x="368" y="184"/>
      </p:cViewPr>
      <p:guideLst>
        <p:guide orient="horz" pos="2160"/>
        <p:guide pos="2880"/>
      </p:guideLst>
    </p:cSldViewPr>
  </p:slideViewPr>
  <p:outlineViewPr>
    <p:cViewPr>
      <p:scale>
        <a:sx n="33" d="100"/>
        <a:sy n="33" d="100"/>
      </p:scale>
      <p:origin x="0" y="0"/>
    </p:cViewPr>
    <p:sldLst>
      <p:sld r:id="rId1" collapse="1"/>
    </p:sldLst>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96" d="100"/>
          <a:sy n="96" d="100"/>
        </p:scale>
        <p:origin x="-3624" y="-12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0.xml"/><Relationship Id="rId21" Type="http://schemas.openxmlformats.org/officeDocument/2006/relationships/slide" Target="slides/slide5.xml"/><Relationship Id="rId42" Type="http://schemas.openxmlformats.org/officeDocument/2006/relationships/slide" Target="slides/slide26.xml"/><Relationship Id="rId47" Type="http://schemas.openxmlformats.org/officeDocument/2006/relationships/slide" Target="slides/slide31.xml"/><Relationship Id="rId63" Type="http://schemas.openxmlformats.org/officeDocument/2006/relationships/slide" Target="slides/slide47.xml"/><Relationship Id="rId68" Type="http://schemas.openxmlformats.org/officeDocument/2006/relationships/slide" Target="slides/slide52.xml"/><Relationship Id="rId16" Type="http://schemas.openxmlformats.org/officeDocument/2006/relationships/slideMaster" Target="slideMasters/slideMaster16.xml"/><Relationship Id="rId11" Type="http://schemas.openxmlformats.org/officeDocument/2006/relationships/slideMaster" Target="slideMasters/slideMaster11.xml"/><Relationship Id="rId24" Type="http://schemas.openxmlformats.org/officeDocument/2006/relationships/slide" Target="slides/slide8.xml"/><Relationship Id="rId32" Type="http://schemas.openxmlformats.org/officeDocument/2006/relationships/slide" Target="slides/slide16.xml"/><Relationship Id="rId37" Type="http://schemas.openxmlformats.org/officeDocument/2006/relationships/slide" Target="slides/slide21.xml"/><Relationship Id="rId40" Type="http://schemas.openxmlformats.org/officeDocument/2006/relationships/slide" Target="slides/slide24.xml"/><Relationship Id="rId45" Type="http://schemas.openxmlformats.org/officeDocument/2006/relationships/slide" Target="slides/slide29.xml"/><Relationship Id="rId53" Type="http://schemas.openxmlformats.org/officeDocument/2006/relationships/slide" Target="slides/slide37.xml"/><Relationship Id="rId58" Type="http://schemas.openxmlformats.org/officeDocument/2006/relationships/slide" Target="slides/slide42.xml"/><Relationship Id="rId66" Type="http://schemas.openxmlformats.org/officeDocument/2006/relationships/slide" Target="slides/slide50.xml"/><Relationship Id="rId74" Type="http://schemas.openxmlformats.org/officeDocument/2006/relationships/tags" Target="tags/tag1.xml"/><Relationship Id="rId79" Type="http://schemas.openxmlformats.org/officeDocument/2006/relationships/tableStyles" Target="tableStyles.xml"/><Relationship Id="rId5" Type="http://schemas.openxmlformats.org/officeDocument/2006/relationships/slideMaster" Target="slideMasters/slideMaster5.xml"/><Relationship Id="rId61" Type="http://schemas.openxmlformats.org/officeDocument/2006/relationships/slide" Target="slides/slide45.xml"/><Relationship Id="rId19" Type="http://schemas.openxmlformats.org/officeDocument/2006/relationships/slide" Target="slides/slide3.xml"/><Relationship Id="rId14" Type="http://schemas.openxmlformats.org/officeDocument/2006/relationships/slideMaster" Target="slideMasters/slideMaster14.xml"/><Relationship Id="rId22" Type="http://schemas.openxmlformats.org/officeDocument/2006/relationships/slide" Target="slides/slide6.xml"/><Relationship Id="rId27" Type="http://schemas.openxmlformats.org/officeDocument/2006/relationships/slide" Target="slides/slide11.xml"/><Relationship Id="rId30" Type="http://schemas.openxmlformats.org/officeDocument/2006/relationships/slide" Target="slides/slide14.xml"/><Relationship Id="rId35" Type="http://schemas.openxmlformats.org/officeDocument/2006/relationships/slide" Target="slides/slide19.xml"/><Relationship Id="rId43" Type="http://schemas.openxmlformats.org/officeDocument/2006/relationships/slide" Target="slides/slide27.xml"/><Relationship Id="rId48" Type="http://schemas.openxmlformats.org/officeDocument/2006/relationships/slide" Target="slides/slide32.xml"/><Relationship Id="rId56" Type="http://schemas.openxmlformats.org/officeDocument/2006/relationships/slide" Target="slides/slide40.xml"/><Relationship Id="rId64" Type="http://schemas.openxmlformats.org/officeDocument/2006/relationships/slide" Target="slides/slide48.xml"/><Relationship Id="rId69" Type="http://schemas.openxmlformats.org/officeDocument/2006/relationships/slide" Target="slides/slide53.xml"/><Relationship Id="rId77" Type="http://schemas.openxmlformats.org/officeDocument/2006/relationships/viewProps" Target="viewProps.xml"/><Relationship Id="rId8" Type="http://schemas.openxmlformats.org/officeDocument/2006/relationships/slideMaster" Target="slideMasters/slideMaster8.xml"/><Relationship Id="rId51" Type="http://schemas.openxmlformats.org/officeDocument/2006/relationships/slide" Target="slides/slide35.xml"/><Relationship Id="rId72"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1.xml"/><Relationship Id="rId25" Type="http://schemas.openxmlformats.org/officeDocument/2006/relationships/slide" Target="slides/slide9.xml"/><Relationship Id="rId33" Type="http://schemas.openxmlformats.org/officeDocument/2006/relationships/slide" Target="slides/slide17.xml"/><Relationship Id="rId38" Type="http://schemas.openxmlformats.org/officeDocument/2006/relationships/slide" Target="slides/slide22.xml"/><Relationship Id="rId46" Type="http://schemas.openxmlformats.org/officeDocument/2006/relationships/slide" Target="slides/slide30.xml"/><Relationship Id="rId59" Type="http://schemas.openxmlformats.org/officeDocument/2006/relationships/slide" Target="slides/slide43.xml"/><Relationship Id="rId67" Type="http://schemas.openxmlformats.org/officeDocument/2006/relationships/slide" Target="slides/slide51.xml"/><Relationship Id="rId20" Type="http://schemas.openxmlformats.org/officeDocument/2006/relationships/slide" Target="slides/slide4.xml"/><Relationship Id="rId41" Type="http://schemas.openxmlformats.org/officeDocument/2006/relationships/slide" Target="slides/slide25.xml"/><Relationship Id="rId54" Type="http://schemas.openxmlformats.org/officeDocument/2006/relationships/slide" Target="slides/slide38.xml"/><Relationship Id="rId62" Type="http://schemas.openxmlformats.org/officeDocument/2006/relationships/slide" Target="slides/slide46.xml"/><Relationship Id="rId70" Type="http://schemas.openxmlformats.org/officeDocument/2006/relationships/slide" Target="slides/slide54.xml"/><Relationship Id="rId75"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 Target="slides/slide7.xml"/><Relationship Id="rId28" Type="http://schemas.openxmlformats.org/officeDocument/2006/relationships/slide" Target="slides/slide12.xml"/><Relationship Id="rId36" Type="http://schemas.openxmlformats.org/officeDocument/2006/relationships/slide" Target="slides/slide20.xml"/><Relationship Id="rId49" Type="http://schemas.openxmlformats.org/officeDocument/2006/relationships/slide" Target="slides/slide33.xml"/><Relationship Id="rId57" Type="http://schemas.openxmlformats.org/officeDocument/2006/relationships/slide" Target="slides/slide41.xml"/><Relationship Id="rId10" Type="http://schemas.openxmlformats.org/officeDocument/2006/relationships/slideMaster" Target="slideMasters/slideMaster10.xml"/><Relationship Id="rId31" Type="http://schemas.openxmlformats.org/officeDocument/2006/relationships/slide" Target="slides/slide15.xml"/><Relationship Id="rId44" Type="http://schemas.openxmlformats.org/officeDocument/2006/relationships/slide" Target="slides/slide28.xml"/><Relationship Id="rId52" Type="http://schemas.openxmlformats.org/officeDocument/2006/relationships/slide" Target="slides/slide36.xml"/><Relationship Id="rId60" Type="http://schemas.openxmlformats.org/officeDocument/2006/relationships/slide" Target="slides/slide44.xml"/><Relationship Id="rId65" Type="http://schemas.openxmlformats.org/officeDocument/2006/relationships/slide" Target="slides/slide49.xml"/><Relationship Id="rId73" Type="http://schemas.openxmlformats.org/officeDocument/2006/relationships/handoutMaster" Target="handoutMasters/handoutMaster1.xml"/><Relationship Id="rId78"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 Target="slides/slide2.xml"/><Relationship Id="rId39" Type="http://schemas.openxmlformats.org/officeDocument/2006/relationships/slide" Target="slides/slide23.xml"/><Relationship Id="rId34" Type="http://schemas.openxmlformats.org/officeDocument/2006/relationships/slide" Target="slides/slide18.xml"/><Relationship Id="rId50" Type="http://schemas.openxmlformats.org/officeDocument/2006/relationships/slide" Target="slides/slide34.xml"/><Relationship Id="rId55" Type="http://schemas.openxmlformats.org/officeDocument/2006/relationships/slide" Target="slides/slide39.xml"/><Relationship Id="rId76" Type="http://schemas.openxmlformats.org/officeDocument/2006/relationships/presProps" Target="presProps.xml"/><Relationship Id="rId7" Type="http://schemas.openxmlformats.org/officeDocument/2006/relationships/slideMaster" Target="slideMasters/slideMaster7.xml"/><Relationship Id="rId71" Type="http://schemas.openxmlformats.org/officeDocument/2006/relationships/slide" Target="slides/slide55.xml"/><Relationship Id="rId2" Type="http://schemas.openxmlformats.org/officeDocument/2006/relationships/slideMaster" Target="slideMasters/slideMaster2.xml"/><Relationship Id="rId29" Type="http://schemas.openxmlformats.org/officeDocument/2006/relationships/slide" Target="slides/slide13.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F5D0FEF-7F6F-8A41-BF41-BE934E9D209D}" type="datetimeFigureOut">
              <a:rPr lang="en-US" smtClean="0"/>
              <a:t>9/7/22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132E5F4-15D1-1240-ADEA-F27EC112D0A5}" type="slidenum">
              <a:rPr lang="en-US" smtClean="0"/>
              <a:t>‹#›</a:t>
            </a:fld>
            <a:endParaRPr lang="en-US"/>
          </a:p>
        </p:txBody>
      </p:sp>
    </p:spTree>
    <p:extLst>
      <p:ext uri="{BB962C8B-B14F-4D97-AF65-F5344CB8AC3E}">
        <p14:creationId xmlns:p14="http://schemas.microsoft.com/office/powerpoint/2010/main" val="227814752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863E508-8602-4246-AC62-1059C96B2451}" type="datetimeFigureOut">
              <a:rPr lang="en-US" smtClean="0"/>
              <a:t>9/7/22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AB36305-836F-4DC4-8519-4D39157E5B8B}" type="slidenum">
              <a:rPr lang="en-US" smtClean="0"/>
              <a:t>‹#›</a:t>
            </a:fld>
            <a:endParaRPr lang="en-US"/>
          </a:p>
        </p:txBody>
      </p:sp>
    </p:spTree>
    <p:extLst>
      <p:ext uri="{BB962C8B-B14F-4D97-AF65-F5344CB8AC3E}">
        <p14:creationId xmlns:p14="http://schemas.microsoft.com/office/powerpoint/2010/main" val="42319455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AB36305-836F-4DC4-8519-4D39157E5B8B}" type="slidenum">
              <a:rPr lang="en-US" smtClean="0"/>
              <a:t>4</a:t>
            </a:fld>
            <a:endParaRPr lang="en-US"/>
          </a:p>
        </p:txBody>
      </p:sp>
    </p:spTree>
    <p:extLst>
      <p:ext uri="{BB962C8B-B14F-4D97-AF65-F5344CB8AC3E}">
        <p14:creationId xmlns:p14="http://schemas.microsoft.com/office/powerpoint/2010/main" val="19659890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dirty="0"/>
              <a:t>All image credits courtesy of Morgue File and/or </a:t>
            </a:r>
            <a:r>
              <a:rPr lang="en-US" dirty="0" err="1"/>
              <a:t>FreeImages.com</a:t>
            </a:r>
            <a:r>
              <a:rPr lang="en-US" dirty="0"/>
              <a:t> unless otherwise specified</a:t>
            </a:r>
          </a:p>
          <a:p>
            <a:pPr eaLnBrk="1" hangingPunct="1">
              <a:spcBef>
                <a:spcPct val="0"/>
              </a:spcBef>
            </a:pPr>
            <a:endParaRPr lang="en-US" dirty="0"/>
          </a:p>
        </p:txBody>
      </p:sp>
      <p:sp>
        <p:nvSpPr>
          <p:cNvPr id="115716"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51A809F9-9774-4BAF-970E-DDF56629CA11}" type="slidenum">
              <a:rPr lang="en-US">
                <a:solidFill>
                  <a:prstClr val="black"/>
                </a:solidFill>
              </a:rPr>
              <a:pPr fontAlgn="base">
                <a:spcBef>
                  <a:spcPct val="0"/>
                </a:spcBef>
                <a:spcAft>
                  <a:spcPct val="0"/>
                </a:spcAft>
                <a:defRPr/>
              </a:pPr>
              <a:t>5</a:t>
            </a:fld>
            <a:endParaRPr 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dirty="0"/>
              <a:t>All image credits courtesy of Morgue File and/or </a:t>
            </a:r>
            <a:r>
              <a:rPr lang="en-US" dirty="0" err="1"/>
              <a:t>FreeImages.com</a:t>
            </a:r>
            <a:r>
              <a:rPr lang="en-US" dirty="0"/>
              <a:t> unless otherwise specified</a:t>
            </a:r>
          </a:p>
          <a:p>
            <a:pPr eaLnBrk="1" hangingPunct="1">
              <a:spcBef>
                <a:spcPct val="0"/>
              </a:spcBef>
            </a:pPr>
            <a:endParaRPr lang="en-US" dirty="0"/>
          </a:p>
        </p:txBody>
      </p:sp>
      <p:sp>
        <p:nvSpPr>
          <p:cNvPr id="114692"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85D98A28-AB59-42BD-A6FD-89DB5726E639}" type="slidenum">
              <a:rPr lang="en-US"/>
              <a:pPr fontAlgn="base">
                <a:spcBef>
                  <a:spcPct val="0"/>
                </a:spcBef>
                <a:spcAft>
                  <a:spcPct val="0"/>
                </a:spcAft>
                <a:defRPr/>
              </a:pPr>
              <a:t>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AB36305-836F-4DC4-8519-4D39157E5B8B}" type="slidenum">
              <a:rPr lang="en-US" smtClean="0"/>
              <a:t>7</a:t>
            </a:fld>
            <a:endParaRPr lang="en-US"/>
          </a:p>
        </p:txBody>
      </p:sp>
    </p:spTree>
    <p:extLst>
      <p:ext uri="{BB962C8B-B14F-4D97-AF65-F5344CB8AC3E}">
        <p14:creationId xmlns:p14="http://schemas.microsoft.com/office/powerpoint/2010/main" val="3064458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AB36305-836F-4DC4-8519-4D39157E5B8B}" type="slidenum">
              <a:rPr lang="en-US" smtClean="0"/>
              <a:t>8</a:t>
            </a:fld>
            <a:endParaRPr lang="en-US"/>
          </a:p>
        </p:txBody>
      </p:sp>
    </p:spTree>
    <p:extLst>
      <p:ext uri="{BB962C8B-B14F-4D97-AF65-F5344CB8AC3E}">
        <p14:creationId xmlns:p14="http://schemas.microsoft.com/office/powerpoint/2010/main" val="5230731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AB36305-836F-4DC4-8519-4D39157E5B8B}" type="slidenum">
              <a:rPr lang="en-US" smtClean="0"/>
              <a:t>9</a:t>
            </a:fld>
            <a:endParaRPr lang="en-US"/>
          </a:p>
        </p:txBody>
      </p:sp>
    </p:spTree>
    <p:extLst>
      <p:ext uri="{BB962C8B-B14F-4D97-AF65-F5344CB8AC3E}">
        <p14:creationId xmlns:p14="http://schemas.microsoft.com/office/powerpoint/2010/main" val="5746652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photo credits unless otherwise noted from </a:t>
            </a:r>
            <a:r>
              <a:rPr lang="en-US" dirty="0" err="1"/>
              <a:t>Freeimages.com</a:t>
            </a:r>
            <a:r>
              <a:rPr lang="en-US" dirty="0"/>
              <a:t> (Formerly </a:t>
            </a:r>
            <a:r>
              <a:rPr lang="en-US" dirty="0" err="1"/>
              <a:t>Stockxchange</a:t>
            </a:r>
            <a:r>
              <a:rPr lang="en-US" dirty="0"/>
              <a:t>) or </a:t>
            </a:r>
            <a:r>
              <a:rPr lang="en-US" dirty="0" err="1"/>
              <a:t>Morguefile.com</a:t>
            </a:r>
            <a:endParaRPr lang="en-US" dirty="0">
              <a:latin typeface="Times" pitchFamily="18" charset="0"/>
              <a:cs typeface="Arial" charset="0"/>
            </a:endParaRPr>
          </a:p>
          <a:p>
            <a:endParaRPr lang="en-US" dirty="0"/>
          </a:p>
        </p:txBody>
      </p:sp>
      <p:sp>
        <p:nvSpPr>
          <p:cNvPr id="4" name="Slide Number Placeholder 3"/>
          <p:cNvSpPr>
            <a:spLocks noGrp="1"/>
          </p:cNvSpPr>
          <p:nvPr>
            <p:ph type="sldNum" sz="quarter" idx="10"/>
          </p:nvPr>
        </p:nvSpPr>
        <p:spPr/>
        <p:txBody>
          <a:bodyPr/>
          <a:lstStyle/>
          <a:p>
            <a:fld id="{9AB36305-836F-4DC4-8519-4D39157E5B8B}" type="slidenum">
              <a:rPr lang="en-US" smtClean="0"/>
              <a:t>10</a:t>
            </a:fld>
            <a:endParaRPr lang="en-US"/>
          </a:p>
        </p:txBody>
      </p:sp>
    </p:spTree>
    <p:extLst>
      <p:ext uri="{BB962C8B-B14F-4D97-AF65-F5344CB8AC3E}">
        <p14:creationId xmlns:p14="http://schemas.microsoft.com/office/powerpoint/2010/main" val="42189345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AB36305-836F-4DC4-8519-4D39157E5B8B}" type="slidenum">
              <a:rPr lang="en-US" smtClean="0"/>
              <a:t>11</a:t>
            </a:fld>
            <a:endParaRPr lang="en-US"/>
          </a:p>
        </p:txBody>
      </p:sp>
    </p:spTree>
    <p:extLst>
      <p:ext uri="{BB962C8B-B14F-4D97-AF65-F5344CB8AC3E}">
        <p14:creationId xmlns:p14="http://schemas.microsoft.com/office/powerpoint/2010/main" val="17420000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AB36305-836F-4DC4-8519-4D39157E5B8B}" type="slidenum">
              <a:rPr lang="en-US" smtClean="0"/>
              <a:t>12</a:t>
            </a:fld>
            <a:endParaRPr lang="en-US"/>
          </a:p>
        </p:txBody>
      </p:sp>
    </p:spTree>
    <p:extLst>
      <p:ext uri="{BB962C8B-B14F-4D97-AF65-F5344CB8AC3E}">
        <p14:creationId xmlns:p14="http://schemas.microsoft.com/office/powerpoint/2010/main" val="1552744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p>
        </p:txBody>
      </p:sp>
      <p:sp>
        <p:nvSpPr>
          <p:cNvPr id="121860"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C15656CF-1BE2-440F-8AE7-2587FAA42F5A}" type="slidenum">
              <a:rPr lang="en-US"/>
              <a:pPr fontAlgn="base">
                <a:spcBef>
                  <a:spcPct val="0"/>
                </a:spcBef>
                <a:spcAft>
                  <a:spcPct val="0"/>
                </a:spcAft>
                <a:defRPr/>
              </a:pPr>
              <a:t>13</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dirty="0"/>
              <a:t>All photo credits unless otherwise noted from </a:t>
            </a:r>
            <a:r>
              <a:rPr lang="en-US" dirty="0" err="1"/>
              <a:t>Freeimages.com</a:t>
            </a:r>
            <a:r>
              <a:rPr lang="en-US" dirty="0"/>
              <a:t> (Formerly </a:t>
            </a:r>
            <a:r>
              <a:rPr lang="en-US" dirty="0" err="1"/>
              <a:t>Stockxchange</a:t>
            </a:r>
            <a:r>
              <a:rPr lang="en-US" dirty="0"/>
              <a:t>) or </a:t>
            </a:r>
            <a:r>
              <a:rPr lang="en-US" dirty="0" err="1"/>
              <a:t>Morguefile.com</a:t>
            </a:r>
            <a:endParaRPr lang="en-US" dirty="0">
              <a:latin typeface="Times" pitchFamily="18" charset="0"/>
              <a:cs typeface="Arial" charset="0"/>
            </a:endParaRPr>
          </a:p>
          <a:p>
            <a:pPr eaLnBrk="1" hangingPunct="1">
              <a:spcBef>
                <a:spcPct val="0"/>
              </a:spcBef>
            </a:pPr>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E14CEAE1-2678-4729-8778-92CDCDAE59B6}" type="slidenum">
              <a:rPr lang="en-US">
                <a:latin typeface="Times" pitchFamily="18" charset="0"/>
              </a:rPr>
              <a:pPr fontAlgn="base">
                <a:spcBef>
                  <a:spcPct val="0"/>
                </a:spcBef>
                <a:spcAft>
                  <a:spcPct val="0"/>
                </a:spcAft>
                <a:defRPr/>
              </a:pPr>
              <a:t>15</a:t>
            </a:fld>
            <a:endParaRPr lang="en-US">
              <a:latin typeface="Times" pitchFamily="18" charset="0"/>
            </a:endParaRPr>
          </a:p>
        </p:txBody>
      </p:sp>
      <p:sp>
        <p:nvSpPr>
          <p:cNvPr id="8909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dirty="0"/>
              <a:t>All photo credits unless otherwise noted from </a:t>
            </a:r>
            <a:r>
              <a:rPr lang="en-US" dirty="0" err="1"/>
              <a:t>Freeimages.com</a:t>
            </a:r>
            <a:r>
              <a:rPr lang="en-US" dirty="0"/>
              <a:t> (Formerly </a:t>
            </a:r>
            <a:r>
              <a:rPr lang="en-US" dirty="0" err="1"/>
              <a:t>Stockxchange</a:t>
            </a:r>
            <a:r>
              <a:rPr lang="en-US" dirty="0"/>
              <a:t>) or </a:t>
            </a:r>
            <a:r>
              <a:rPr lang="en-US" dirty="0" err="1"/>
              <a:t>Morguefile.com</a:t>
            </a:r>
            <a:endParaRPr lang="en-US" dirty="0">
              <a:latin typeface="Times" pitchFamily="18" charset="0"/>
              <a:cs typeface="Arial" charset="0"/>
            </a:endParaRPr>
          </a:p>
          <a:p>
            <a:pPr eaLnBrk="1" hangingPunct="1">
              <a:spcBef>
                <a:spcPct val="0"/>
              </a:spcBef>
            </a:pPr>
            <a:endParaRPr lang="en-US" dirty="0">
              <a:latin typeface="Times" pitchFamily="18" charset="0"/>
              <a:cs typeface="Arial"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dirty="0"/>
              <a:t>All photo credits unless otherwise noted from </a:t>
            </a:r>
            <a:r>
              <a:rPr lang="en-US" dirty="0" err="1"/>
              <a:t>Freeimages.com</a:t>
            </a:r>
            <a:r>
              <a:rPr lang="en-US" dirty="0"/>
              <a:t> (Formerly </a:t>
            </a:r>
            <a:r>
              <a:rPr lang="en-US" dirty="0" err="1"/>
              <a:t>Stockxchange</a:t>
            </a:r>
            <a:r>
              <a:rPr lang="en-US" dirty="0"/>
              <a:t>) or </a:t>
            </a:r>
            <a:r>
              <a:rPr lang="en-US" dirty="0" err="1"/>
              <a:t>Morguefile.com</a:t>
            </a:r>
            <a:endParaRPr lang="en-US" dirty="0">
              <a:latin typeface="Times" pitchFamily="18" charset="0"/>
              <a:cs typeface="Arial" charset="0"/>
            </a:endParaRPr>
          </a:p>
          <a:p>
            <a:pPr eaLnBrk="1" hangingPunct="1">
              <a:spcBef>
                <a:spcPct val="0"/>
              </a:spcBef>
            </a:pPr>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dirty="0"/>
              <a:t>All photo credits unless otherwise noted from </a:t>
            </a:r>
            <a:r>
              <a:rPr lang="en-US" dirty="0" err="1"/>
              <a:t>Freeimages.com</a:t>
            </a:r>
            <a:r>
              <a:rPr lang="en-US" dirty="0"/>
              <a:t> (Formerly </a:t>
            </a:r>
            <a:r>
              <a:rPr lang="en-US" dirty="0" err="1"/>
              <a:t>Stockxchange</a:t>
            </a:r>
            <a:r>
              <a:rPr lang="en-US" dirty="0"/>
              <a:t>) or </a:t>
            </a:r>
            <a:r>
              <a:rPr lang="en-US" dirty="0" err="1"/>
              <a:t>Morguefile.com</a:t>
            </a:r>
            <a:endParaRPr lang="en-US" dirty="0">
              <a:latin typeface="Times" pitchFamily="18" charset="0"/>
              <a:cs typeface="Arial" charset="0"/>
            </a:endParaRPr>
          </a:p>
          <a:p>
            <a:pPr eaLnBrk="1" hangingPunct="1">
              <a:spcBef>
                <a:spcPct val="0"/>
              </a:spcBef>
            </a:pPr>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z="800" dirty="0"/>
              <a:t>All photo credits unless otherwise noted from </a:t>
            </a:r>
            <a:r>
              <a:rPr lang="en-US" sz="800" dirty="0" err="1"/>
              <a:t>Freeimages.com</a:t>
            </a:r>
            <a:r>
              <a:rPr lang="en-US" sz="800" dirty="0"/>
              <a:t> (Formerly </a:t>
            </a:r>
            <a:r>
              <a:rPr lang="en-US" sz="800" dirty="0" err="1"/>
              <a:t>Stockxchange</a:t>
            </a:r>
            <a:r>
              <a:rPr lang="en-US" sz="800" dirty="0"/>
              <a:t>) or </a:t>
            </a:r>
            <a:r>
              <a:rPr lang="en-US" sz="800" dirty="0" err="1"/>
              <a:t>Morguefile.com</a:t>
            </a:r>
            <a:endParaRPr lang="en-US" sz="800" dirty="0">
              <a:latin typeface="Times" pitchFamily="18" charset="0"/>
              <a:cs typeface="Arial" charset="0"/>
            </a:endParaRPr>
          </a:p>
          <a:p>
            <a:pPr eaLnBrk="1" hangingPunct="1">
              <a:lnSpc>
                <a:spcPct val="80000"/>
              </a:lnSpc>
              <a:spcBef>
                <a:spcPct val="0"/>
              </a:spcBef>
            </a:pPr>
            <a:endParaRPr lang="en-US" sz="800" dirty="0"/>
          </a:p>
          <a:p>
            <a:pPr eaLnBrk="1" hangingPunct="1">
              <a:lnSpc>
                <a:spcPct val="80000"/>
              </a:lnSpc>
              <a:spcBef>
                <a:spcPct val="0"/>
              </a:spcBef>
            </a:pPr>
            <a:endParaRPr lang="en-US" sz="8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is A</a:t>
            </a:r>
          </a:p>
        </p:txBody>
      </p:sp>
      <p:sp>
        <p:nvSpPr>
          <p:cNvPr id="4" name="Slide Number Placeholder 3"/>
          <p:cNvSpPr>
            <a:spLocks noGrp="1"/>
          </p:cNvSpPr>
          <p:nvPr>
            <p:ph type="sldNum" sz="quarter" idx="10"/>
          </p:nvPr>
        </p:nvSpPr>
        <p:spPr/>
        <p:txBody>
          <a:bodyPr/>
          <a:lstStyle/>
          <a:p>
            <a:fld id="{6A0E759B-1440-4D26-B214-F4A7E038E1AA}" type="slidenum">
              <a:rPr lang="en-US" smtClean="0"/>
              <a:t>19</a:t>
            </a:fld>
            <a:endParaRPr lang="en-US"/>
          </a:p>
        </p:txBody>
      </p:sp>
    </p:spTree>
    <p:extLst>
      <p:ext uri="{BB962C8B-B14F-4D97-AF65-F5344CB8AC3E}">
        <p14:creationId xmlns:p14="http://schemas.microsoft.com/office/powerpoint/2010/main" val="34801343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dirty="0"/>
              <a:t>All photo credits unless otherwise noted from </a:t>
            </a:r>
            <a:r>
              <a:rPr lang="en-US" dirty="0" err="1"/>
              <a:t>Freeimages.com</a:t>
            </a:r>
            <a:r>
              <a:rPr lang="en-US" dirty="0"/>
              <a:t> (Formerly </a:t>
            </a:r>
            <a:r>
              <a:rPr lang="en-US" dirty="0" err="1"/>
              <a:t>Stockxchange</a:t>
            </a:r>
            <a:r>
              <a:rPr lang="en-US" dirty="0"/>
              <a:t>) or </a:t>
            </a:r>
            <a:r>
              <a:rPr lang="en-US" dirty="0" err="1"/>
              <a:t>Morguefile.com</a:t>
            </a:r>
            <a:endParaRPr lang="en-US" dirty="0">
              <a:latin typeface="Times" pitchFamily="18" charset="0"/>
              <a:cs typeface="Arial" charset="0"/>
            </a:endParaRPr>
          </a:p>
          <a:p>
            <a:pPr eaLnBrk="1" hangingPunct="1">
              <a:spcBef>
                <a:spcPct val="0"/>
              </a:spcBef>
            </a:pPr>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is C</a:t>
            </a:r>
          </a:p>
        </p:txBody>
      </p:sp>
      <p:sp>
        <p:nvSpPr>
          <p:cNvPr id="4" name="Slide Number Placeholder 3"/>
          <p:cNvSpPr>
            <a:spLocks noGrp="1"/>
          </p:cNvSpPr>
          <p:nvPr>
            <p:ph type="sldNum" sz="quarter" idx="10"/>
          </p:nvPr>
        </p:nvSpPr>
        <p:spPr/>
        <p:txBody>
          <a:bodyPr/>
          <a:lstStyle/>
          <a:p>
            <a:fld id="{6A0E759B-1440-4D26-B214-F4A7E038E1AA}" type="slidenum">
              <a:rPr lang="en-US" smtClean="0"/>
              <a:t>21</a:t>
            </a:fld>
            <a:endParaRPr lang="en-US"/>
          </a:p>
        </p:txBody>
      </p:sp>
    </p:spTree>
    <p:extLst>
      <p:ext uri="{BB962C8B-B14F-4D97-AF65-F5344CB8AC3E}">
        <p14:creationId xmlns:p14="http://schemas.microsoft.com/office/powerpoint/2010/main" val="15897941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AB36305-836F-4DC4-8519-4D39157E5B8B}" type="slidenum">
              <a:rPr lang="en-US" smtClean="0"/>
              <a:t>22</a:t>
            </a:fld>
            <a:endParaRPr lang="en-US"/>
          </a:p>
        </p:txBody>
      </p:sp>
    </p:spTree>
    <p:extLst>
      <p:ext uri="{BB962C8B-B14F-4D97-AF65-F5344CB8AC3E}">
        <p14:creationId xmlns:p14="http://schemas.microsoft.com/office/powerpoint/2010/main" val="22695260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http://criticalcommons.org/Members/gdmateer/clips/the_office_moroccan_christmas_final2.m4v/view?searchterm=the%20office</a:t>
            </a:r>
          </a:p>
        </p:txBody>
      </p:sp>
      <p:sp>
        <p:nvSpPr>
          <p:cNvPr id="4" name="Slide Number Placeholder 3"/>
          <p:cNvSpPr>
            <a:spLocks noGrp="1"/>
          </p:cNvSpPr>
          <p:nvPr>
            <p:ph type="sldNum" sz="quarter" idx="10"/>
          </p:nvPr>
        </p:nvSpPr>
        <p:spPr/>
        <p:txBody>
          <a:bodyPr/>
          <a:lstStyle/>
          <a:p>
            <a:fld id="{6A0E759B-1440-4D26-B214-F4A7E038E1AA}" type="slidenum">
              <a:rPr lang="en-US" smtClean="0"/>
              <a:t>23</a:t>
            </a:fld>
            <a:endParaRPr lang="en-US"/>
          </a:p>
        </p:txBody>
      </p:sp>
    </p:spTree>
    <p:extLst>
      <p:ext uri="{BB962C8B-B14F-4D97-AF65-F5344CB8AC3E}">
        <p14:creationId xmlns:p14="http://schemas.microsoft.com/office/powerpoint/2010/main" val="20743635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dirty="0"/>
              <a:t>All photo credits unless otherwise noted from </a:t>
            </a:r>
            <a:r>
              <a:rPr lang="en-US" dirty="0" err="1"/>
              <a:t>Freeimages.com</a:t>
            </a:r>
            <a:r>
              <a:rPr lang="en-US" dirty="0"/>
              <a:t> (Formerly </a:t>
            </a:r>
            <a:r>
              <a:rPr lang="en-US" dirty="0" err="1"/>
              <a:t>Stockxchange</a:t>
            </a:r>
            <a:r>
              <a:rPr lang="en-US" dirty="0"/>
              <a:t>) or </a:t>
            </a:r>
            <a:r>
              <a:rPr lang="en-US" dirty="0" err="1"/>
              <a:t>Morguefile.com</a:t>
            </a:r>
            <a:endParaRPr lang="en-US" dirty="0">
              <a:latin typeface="Times" pitchFamily="18" charset="0"/>
              <a:cs typeface="Arial" charset="0"/>
            </a:endParaRPr>
          </a:p>
          <a:p>
            <a:pPr eaLnBrk="1" hangingPunct="1">
              <a:spcBef>
                <a:spcPct val="0"/>
              </a:spcBef>
            </a:pPr>
            <a:endParaRPr lang="en-US" dirty="0"/>
          </a:p>
        </p:txBody>
      </p:sp>
      <p:sp>
        <p:nvSpPr>
          <p:cNvPr id="132100"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D16BA2C2-5A00-4775-AD6E-B4C47F53E5EC}" type="slidenum">
              <a:rPr lang="en-US">
                <a:solidFill>
                  <a:prstClr val="black"/>
                </a:solidFill>
              </a:rPr>
              <a:pPr fontAlgn="base">
                <a:spcBef>
                  <a:spcPct val="0"/>
                </a:spcBef>
                <a:spcAft>
                  <a:spcPct val="0"/>
                </a:spcAft>
                <a:defRPr/>
              </a:pPr>
              <a:t>24</a:t>
            </a:fld>
            <a:endParaRPr lang="en-US">
              <a:solidFill>
                <a:prstClr val="black"/>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AB36305-836F-4DC4-8519-4D39157E5B8B}" type="slidenum">
              <a:rPr lang="en-US" smtClean="0"/>
              <a:t>25</a:t>
            </a:fld>
            <a:endParaRPr lang="en-US"/>
          </a:p>
        </p:txBody>
      </p:sp>
    </p:spTree>
    <p:extLst>
      <p:ext uri="{BB962C8B-B14F-4D97-AF65-F5344CB8AC3E}">
        <p14:creationId xmlns:p14="http://schemas.microsoft.com/office/powerpoint/2010/main" val="18433887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8EC491-2BB0-4403-8F5B-0CB090FEAC47}" type="slidenum">
              <a:rPr lang="en-US"/>
              <a:pPr/>
              <a:t>26</a:t>
            </a:fld>
            <a:endParaRPr lang="en-US"/>
          </a:p>
        </p:txBody>
      </p:sp>
      <p:sp>
        <p:nvSpPr>
          <p:cNvPr id="568322" name="Rectangle 2"/>
          <p:cNvSpPr>
            <a:spLocks noGrp="1" noRot="1" noChangeAspect="1" noChangeArrowheads="1" noTextEdit="1"/>
          </p:cNvSpPr>
          <p:nvPr>
            <p:ph type="sldImg"/>
          </p:nvPr>
        </p:nvSpPr>
        <p:spPr>
          <a:ln/>
        </p:spPr>
      </p:sp>
      <p:sp>
        <p:nvSpPr>
          <p:cNvPr id="568323" name="Rectangle 3"/>
          <p:cNvSpPr>
            <a:spLocks noGrp="1" noChangeArrowheads="1"/>
          </p:cNvSpPr>
          <p:nvPr>
            <p:ph type="body" idx="1"/>
          </p:nvPr>
        </p:nvSpPr>
        <p:spPr/>
        <p:txBody>
          <a:bodyPr/>
          <a:lstStyle/>
          <a:p>
            <a:pPr>
              <a:lnSpc>
                <a:spcPct val="90000"/>
              </a:lnSpc>
            </a:pPr>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2BF0827-0348-4C55-8F77-1F9BB606BDF0}" type="slidenum">
              <a:rPr lang="en-US"/>
              <a:pPr/>
              <a:t>27</a:t>
            </a:fld>
            <a:endParaRPr lang="en-US"/>
          </a:p>
        </p:txBody>
      </p:sp>
      <p:sp>
        <p:nvSpPr>
          <p:cNvPr id="560130" name="Rectangle 2"/>
          <p:cNvSpPr>
            <a:spLocks noGrp="1" noRot="1" noChangeAspect="1" noChangeArrowheads="1" noTextEdit="1"/>
          </p:cNvSpPr>
          <p:nvPr>
            <p:ph type="sldImg"/>
          </p:nvPr>
        </p:nvSpPr>
        <p:spPr>
          <a:xfrm>
            <a:off x="1320800" y="685800"/>
            <a:ext cx="4064000" cy="3048000"/>
          </a:xfrm>
          <a:ln/>
        </p:spPr>
      </p:sp>
      <p:sp>
        <p:nvSpPr>
          <p:cNvPr id="560131" name="Rectangle 3"/>
          <p:cNvSpPr>
            <a:spLocks noGrp="1" noChangeArrowheads="1"/>
          </p:cNvSpPr>
          <p:nvPr>
            <p:ph type="body" idx="1"/>
          </p:nvPr>
        </p:nvSpPr>
        <p:spPr>
          <a:xfrm>
            <a:off x="914400" y="3886200"/>
            <a:ext cx="5029200" cy="4572000"/>
          </a:xfrm>
        </p:spPr>
        <p:txBody>
          <a:bodyPr/>
          <a:lstStyle/>
          <a:p>
            <a:endParaRPr lang="en-US" b="1"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0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t>Instructor Notes:  </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342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dirty="0"/>
              <a:t>All photo credits unless otherwise noted from </a:t>
            </a:r>
            <a:r>
              <a:rPr lang="en-US" dirty="0" err="1"/>
              <a:t>Freeimages.com</a:t>
            </a:r>
            <a:r>
              <a:rPr lang="en-US" dirty="0"/>
              <a:t> (Formerly </a:t>
            </a:r>
            <a:r>
              <a:rPr lang="en-US" dirty="0" err="1"/>
              <a:t>Stockxchange</a:t>
            </a:r>
            <a:r>
              <a:rPr lang="en-US" dirty="0"/>
              <a:t>) or </a:t>
            </a:r>
            <a:r>
              <a:rPr lang="en-US" dirty="0" err="1"/>
              <a:t>Morguefile.com</a:t>
            </a:r>
            <a:endParaRPr lang="en-US" dirty="0">
              <a:latin typeface="Times" pitchFamily="18" charset="0"/>
              <a:cs typeface="Arial"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dirty="0"/>
              <a:t>All photo credits unless otherwise noted from </a:t>
            </a:r>
            <a:r>
              <a:rPr lang="en-US" dirty="0" err="1"/>
              <a:t>Freeimages.com</a:t>
            </a:r>
            <a:r>
              <a:rPr lang="en-US" dirty="0"/>
              <a:t> (Formerly </a:t>
            </a:r>
            <a:r>
              <a:rPr lang="en-US" dirty="0" err="1"/>
              <a:t>Stockxchange</a:t>
            </a:r>
            <a:r>
              <a:rPr lang="en-US" dirty="0"/>
              <a:t>) or </a:t>
            </a:r>
            <a:r>
              <a:rPr lang="en-US" dirty="0" err="1"/>
              <a:t>Morguefile.com</a:t>
            </a:r>
            <a:endParaRPr lang="en-US" dirty="0">
              <a:latin typeface="Times" pitchFamily="18" charset="0"/>
              <a:cs typeface="Arial" charset="0"/>
            </a:endParaRPr>
          </a:p>
          <a:p>
            <a:pPr eaLnBrk="1" hangingPunct="1">
              <a:spcBef>
                <a:spcPct val="0"/>
              </a:spcBef>
            </a:pPr>
            <a:endParaRPr lang="en-US" dirty="0"/>
          </a:p>
        </p:txBody>
      </p:sp>
      <p:sp>
        <p:nvSpPr>
          <p:cNvPr id="149508"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37B3CE3E-05E5-4392-975B-84E384EBD8BC}" type="slidenum">
              <a:rPr lang="en-US">
                <a:solidFill>
                  <a:prstClr val="black"/>
                </a:solidFill>
              </a:rPr>
              <a:pPr fontAlgn="base">
                <a:spcBef>
                  <a:spcPct val="0"/>
                </a:spcBef>
                <a:spcAft>
                  <a:spcPct val="0"/>
                </a:spcAft>
                <a:defRPr/>
              </a:pPr>
              <a:t>30</a:t>
            </a:fld>
            <a:endParaRPr lang="en-US">
              <a:solidFill>
                <a:prstClr val="black"/>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547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dirty="0"/>
              <a:t>All photo credits unless otherwise noted from </a:t>
            </a:r>
            <a:r>
              <a:rPr lang="en-US" dirty="0" err="1"/>
              <a:t>Freeimages.com</a:t>
            </a:r>
            <a:r>
              <a:rPr lang="en-US" dirty="0"/>
              <a:t> (Formerly </a:t>
            </a:r>
            <a:r>
              <a:rPr lang="en-US" dirty="0" err="1"/>
              <a:t>Stockxchange</a:t>
            </a:r>
            <a:r>
              <a:rPr lang="en-US" dirty="0"/>
              <a:t>) or </a:t>
            </a:r>
            <a:r>
              <a:rPr lang="en-US" dirty="0" err="1"/>
              <a:t>Morguefile.com</a:t>
            </a:r>
            <a:endParaRPr lang="en-US" dirty="0">
              <a:latin typeface="Times" pitchFamily="18" charset="0"/>
              <a:cs typeface="Arial"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dirty="0"/>
              <a:t>All photo credits unless otherwise noted from </a:t>
            </a:r>
            <a:r>
              <a:rPr lang="en-US" dirty="0" err="1"/>
              <a:t>Freeimages.com</a:t>
            </a:r>
            <a:r>
              <a:rPr lang="en-US" dirty="0"/>
              <a:t> (Formerly </a:t>
            </a:r>
            <a:r>
              <a:rPr lang="en-US" dirty="0" err="1"/>
              <a:t>Stockxchange</a:t>
            </a:r>
            <a:r>
              <a:rPr lang="en-US" dirty="0"/>
              <a:t>) or </a:t>
            </a:r>
            <a:r>
              <a:rPr lang="en-US" dirty="0" err="1"/>
              <a:t>Morguefile.com</a:t>
            </a:r>
            <a:endParaRPr lang="en-US" dirty="0">
              <a:latin typeface="Times" pitchFamily="18" charset="0"/>
              <a:cs typeface="Arial" charset="0"/>
            </a:endParaRPr>
          </a:p>
          <a:p>
            <a:pPr eaLnBrk="1" hangingPunct="1">
              <a:spcBef>
                <a:spcPct val="0"/>
              </a:spcBef>
            </a:pPr>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dirty="0"/>
              <a:t>All photo credits unless otherwise noted from </a:t>
            </a:r>
            <a:r>
              <a:rPr lang="en-US" dirty="0" err="1"/>
              <a:t>Freeimages.com</a:t>
            </a:r>
            <a:r>
              <a:rPr lang="en-US" dirty="0"/>
              <a:t> (Formerly </a:t>
            </a:r>
            <a:r>
              <a:rPr lang="en-US" dirty="0" err="1"/>
              <a:t>Stockxchange</a:t>
            </a:r>
            <a:r>
              <a:rPr lang="en-US" dirty="0"/>
              <a:t>) or </a:t>
            </a:r>
            <a:r>
              <a:rPr lang="en-US" dirty="0" err="1"/>
              <a:t>Morguefile.com</a:t>
            </a:r>
            <a:endParaRPr lang="en-US" dirty="0">
              <a:latin typeface="Times" pitchFamily="18" charset="0"/>
              <a:cs typeface="Arial" charset="0"/>
            </a:endParaRPr>
          </a:p>
          <a:p>
            <a:pPr eaLnBrk="1" hangingPunct="1">
              <a:spcBef>
                <a:spcPct val="0"/>
              </a:spcBef>
            </a:pPr>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513A0F61-D6DB-440E-892D-ECC9F2CC748A}" type="slidenum">
              <a:rPr lang="en-US">
                <a:latin typeface="Times" pitchFamily="18" charset="0"/>
              </a:rPr>
              <a:pPr fontAlgn="base">
                <a:spcBef>
                  <a:spcPct val="0"/>
                </a:spcBef>
                <a:spcAft>
                  <a:spcPct val="0"/>
                </a:spcAft>
                <a:defRPr/>
              </a:pPr>
              <a:t>34</a:t>
            </a:fld>
            <a:endParaRPr lang="en-US">
              <a:latin typeface="Times" pitchFamily="18" charset="0"/>
            </a:endParaRPr>
          </a:p>
        </p:txBody>
      </p:sp>
      <p:sp>
        <p:nvSpPr>
          <p:cNvPr id="10957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957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dirty="0"/>
              <a:t>All photo credits unless otherwise noted from </a:t>
            </a:r>
            <a:r>
              <a:rPr lang="en-US" dirty="0" err="1"/>
              <a:t>Freeimages.com</a:t>
            </a:r>
            <a:r>
              <a:rPr lang="en-US" dirty="0"/>
              <a:t> (Formerly </a:t>
            </a:r>
            <a:r>
              <a:rPr lang="en-US" dirty="0" err="1"/>
              <a:t>Stockxchange</a:t>
            </a:r>
            <a:r>
              <a:rPr lang="en-US" dirty="0"/>
              <a:t>) or </a:t>
            </a:r>
            <a:r>
              <a:rPr lang="en-US" dirty="0" err="1"/>
              <a:t>Morguefile.com</a:t>
            </a:r>
            <a:endParaRPr lang="en-US" dirty="0">
              <a:latin typeface="Times" pitchFamily="18" charset="0"/>
              <a:cs typeface="Arial" charset="0"/>
            </a:endParaRPr>
          </a:p>
          <a:p>
            <a:pPr eaLnBrk="1" hangingPunct="1">
              <a:spcBef>
                <a:spcPct val="0"/>
              </a:spcBef>
            </a:pPr>
            <a:endParaRPr lang="en-US" dirty="0">
              <a:latin typeface="Times" pitchFamily="18" charset="0"/>
              <a:cs typeface="Arial"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dirty="0"/>
              <a:t>All photo credits unless otherwise noted from </a:t>
            </a:r>
            <a:r>
              <a:rPr lang="en-US" dirty="0" err="1"/>
              <a:t>Freeimages.com</a:t>
            </a:r>
            <a:r>
              <a:rPr lang="en-US" dirty="0"/>
              <a:t> (Formerly </a:t>
            </a:r>
            <a:r>
              <a:rPr lang="en-US" dirty="0" err="1"/>
              <a:t>Stockxchange</a:t>
            </a:r>
            <a:r>
              <a:rPr lang="en-US" dirty="0"/>
              <a:t>) or </a:t>
            </a:r>
            <a:r>
              <a:rPr lang="en-US" dirty="0" err="1"/>
              <a:t>Morguefile.com</a:t>
            </a:r>
            <a:endParaRPr lang="en-US" dirty="0">
              <a:latin typeface="Times" pitchFamily="18" charset="0"/>
              <a:cs typeface="Arial" charset="0"/>
            </a:endParaRPr>
          </a:p>
          <a:p>
            <a:pPr eaLnBrk="1" hangingPunct="1">
              <a:spcBef>
                <a:spcPct val="0"/>
              </a:spcBef>
            </a:pPr>
            <a:endParaRPr lang="en-US" dirty="0"/>
          </a:p>
        </p:txBody>
      </p:sp>
    </p:spTree>
    <p:extLst>
      <p:ext uri="{BB962C8B-B14F-4D97-AF65-F5344CB8AC3E}">
        <p14:creationId xmlns:p14="http://schemas.microsoft.com/office/powerpoint/2010/main" val="41775165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dirty="0"/>
              <a:t>All image credits courtesy of Morgue File and/or </a:t>
            </a:r>
            <a:r>
              <a:rPr lang="en-US" dirty="0" err="1"/>
              <a:t>FreeImages.com</a:t>
            </a:r>
            <a:r>
              <a:rPr lang="en-US" dirty="0"/>
              <a:t> unless otherwise specified</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AB36305-836F-4DC4-8519-4D39157E5B8B}" type="slidenum">
              <a:rPr lang="en-US" smtClean="0"/>
              <a:t>37</a:t>
            </a:fld>
            <a:endParaRPr lang="en-US"/>
          </a:p>
        </p:txBody>
      </p:sp>
    </p:spTree>
    <p:extLst>
      <p:ext uri="{BB962C8B-B14F-4D97-AF65-F5344CB8AC3E}">
        <p14:creationId xmlns:p14="http://schemas.microsoft.com/office/powerpoint/2010/main" val="39099889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atin typeface="Times" pitchFamily="18" charset="0"/>
              <a:cs typeface="Arial" charset="0"/>
            </a:endParaRPr>
          </a:p>
        </p:txBody>
      </p:sp>
      <p:sp>
        <p:nvSpPr>
          <p:cNvPr id="115716"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fontAlgn="base" hangingPunct="1">
              <a:spcBef>
                <a:spcPct val="0"/>
              </a:spcBef>
              <a:spcAft>
                <a:spcPct val="0"/>
              </a:spcAft>
              <a:defRPr/>
            </a:pPr>
            <a:fld id="{0A321FA1-8CF6-403B-BBFA-0D861C5CB2C8}" type="slidenum">
              <a:rPr lang="en-US" smtClean="0">
                <a:latin typeface="Times" pitchFamily="18" charset="0"/>
              </a:rPr>
              <a:pPr eaLnBrk="1" fontAlgn="base" hangingPunct="1">
                <a:spcBef>
                  <a:spcPct val="0"/>
                </a:spcBef>
                <a:spcAft>
                  <a:spcPct val="0"/>
                </a:spcAft>
                <a:defRPr/>
              </a:pPr>
              <a:t>38</a:t>
            </a:fld>
            <a:endParaRPr lang="en-US">
              <a:latin typeface="Times"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3957B30-A303-4307-9B88-0999E0F56A0B}" type="slidenum">
              <a:rPr lang="en-US"/>
              <a:pPr/>
              <a:t>40</a:t>
            </a:fld>
            <a:endParaRPr lang="en-US"/>
          </a:p>
        </p:txBody>
      </p:sp>
      <p:sp>
        <p:nvSpPr>
          <p:cNvPr id="582658" name="Rectangle 2"/>
          <p:cNvSpPr>
            <a:spLocks noGrp="1" noRot="1" noChangeAspect="1" noChangeArrowheads="1" noTextEdit="1"/>
          </p:cNvSpPr>
          <p:nvPr>
            <p:ph type="sldImg"/>
          </p:nvPr>
        </p:nvSpPr>
        <p:spPr>
          <a:ln/>
        </p:spPr>
      </p:sp>
      <p:sp>
        <p:nvSpPr>
          <p:cNvPr id="582659"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image credits courtesy of Morgue File and/or </a:t>
            </a:r>
            <a:r>
              <a:rPr lang="en-US" dirty="0" err="1"/>
              <a:t>FreeImages.com</a:t>
            </a:r>
            <a:r>
              <a:rPr lang="en-US" dirty="0"/>
              <a:t> unless otherwise specified</a:t>
            </a:r>
          </a:p>
          <a:p>
            <a:endParaRPr lang="en-US" dirty="0"/>
          </a:p>
        </p:txBody>
      </p:sp>
      <p:sp>
        <p:nvSpPr>
          <p:cNvPr id="4" name="Slide Number Placeholder 3"/>
          <p:cNvSpPr>
            <a:spLocks noGrp="1"/>
          </p:cNvSpPr>
          <p:nvPr>
            <p:ph type="sldNum" sz="quarter" idx="10"/>
          </p:nvPr>
        </p:nvSpPr>
        <p:spPr/>
        <p:txBody>
          <a:bodyPr/>
          <a:lstStyle/>
          <a:p>
            <a:fld id="{9AB36305-836F-4DC4-8519-4D39157E5B8B}" type="slidenum">
              <a:rPr lang="en-US" smtClean="0"/>
              <a:t>41</a:t>
            </a:fld>
            <a:endParaRPr lang="en-US"/>
          </a:p>
        </p:txBody>
      </p:sp>
    </p:spTree>
    <p:extLst>
      <p:ext uri="{BB962C8B-B14F-4D97-AF65-F5344CB8AC3E}">
        <p14:creationId xmlns:p14="http://schemas.microsoft.com/office/powerpoint/2010/main" val="18361541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image credits courtesy of Morgue File and/or </a:t>
            </a:r>
            <a:r>
              <a:rPr lang="en-US" dirty="0" err="1"/>
              <a:t>FreeImages.com</a:t>
            </a:r>
            <a:r>
              <a:rPr lang="en-US" dirty="0"/>
              <a:t> unless otherwise specified</a:t>
            </a:r>
          </a:p>
          <a:p>
            <a:endParaRPr lang="en-US" dirty="0"/>
          </a:p>
        </p:txBody>
      </p:sp>
      <p:sp>
        <p:nvSpPr>
          <p:cNvPr id="4" name="Slide Number Placeholder 3"/>
          <p:cNvSpPr>
            <a:spLocks noGrp="1"/>
          </p:cNvSpPr>
          <p:nvPr>
            <p:ph type="sldNum" sz="quarter" idx="10"/>
          </p:nvPr>
        </p:nvSpPr>
        <p:spPr/>
        <p:txBody>
          <a:bodyPr/>
          <a:lstStyle/>
          <a:p>
            <a:fld id="{9AB36305-836F-4DC4-8519-4D39157E5B8B}" type="slidenum">
              <a:rPr lang="en-US" smtClean="0"/>
              <a:t>42</a:t>
            </a:fld>
            <a:endParaRPr lang="en-US"/>
          </a:p>
        </p:txBody>
      </p:sp>
    </p:spTree>
    <p:extLst>
      <p:ext uri="{BB962C8B-B14F-4D97-AF65-F5344CB8AC3E}">
        <p14:creationId xmlns:p14="http://schemas.microsoft.com/office/powerpoint/2010/main" val="20932586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5A3A8DC-18EC-458E-98D1-74EB9731F825}" type="slidenum">
              <a:rPr lang="en-US"/>
              <a:pPr/>
              <a:t>43</a:t>
            </a:fld>
            <a:endParaRPr lang="en-US"/>
          </a:p>
        </p:txBody>
      </p:sp>
      <p:sp>
        <p:nvSpPr>
          <p:cNvPr id="584706" name="Rectangle 2"/>
          <p:cNvSpPr>
            <a:spLocks noGrp="1" noRot="1" noChangeAspect="1" noChangeArrowheads="1" noTextEdit="1"/>
          </p:cNvSpPr>
          <p:nvPr>
            <p:ph type="sldImg"/>
          </p:nvPr>
        </p:nvSpPr>
        <p:spPr>
          <a:ln/>
        </p:spPr>
      </p:sp>
      <p:sp>
        <p:nvSpPr>
          <p:cNvPr id="584707"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2BBD623-D3A7-4844-BCF1-93D14200E59D}" type="slidenum">
              <a:rPr lang="en-US"/>
              <a:pPr/>
              <a:t>44</a:t>
            </a:fld>
            <a:endParaRPr lang="en-US"/>
          </a:p>
        </p:txBody>
      </p:sp>
      <p:sp>
        <p:nvSpPr>
          <p:cNvPr id="586754" name="Rectangle 2"/>
          <p:cNvSpPr>
            <a:spLocks noGrp="1" noRot="1" noChangeAspect="1" noChangeArrowheads="1" noTextEdit="1"/>
          </p:cNvSpPr>
          <p:nvPr>
            <p:ph type="sldImg"/>
          </p:nvPr>
        </p:nvSpPr>
        <p:spPr>
          <a:ln/>
        </p:spPr>
      </p:sp>
      <p:sp>
        <p:nvSpPr>
          <p:cNvPr id="586755"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67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dirty="0"/>
              <a:t>Correct answer is C</a:t>
            </a:r>
          </a:p>
        </p:txBody>
      </p:sp>
      <p:sp>
        <p:nvSpPr>
          <p:cNvPr id="105476"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E9099BA8-E586-44D0-9B87-628B64A8CCE7}" type="slidenum">
              <a:rPr lang="en-US" smtClean="0"/>
              <a:pPr fontAlgn="base">
                <a:spcBef>
                  <a:spcPct val="0"/>
                </a:spcBef>
                <a:spcAft>
                  <a:spcPct val="0"/>
                </a:spcAft>
                <a:defRPr/>
              </a:pPr>
              <a:t>45</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F994EA-9963-4DA0-84E0-98671E40E70B}" type="slidenum">
              <a:rPr lang="en-US"/>
              <a:pPr/>
              <a:t>46</a:t>
            </a:fld>
            <a:endParaRPr lang="en-US"/>
          </a:p>
        </p:txBody>
      </p:sp>
      <p:sp>
        <p:nvSpPr>
          <p:cNvPr id="592898" name="Rectangle 2"/>
          <p:cNvSpPr>
            <a:spLocks noGrp="1" noRot="1" noChangeAspect="1" noChangeArrowheads="1" noTextEdit="1"/>
          </p:cNvSpPr>
          <p:nvPr>
            <p:ph type="sldImg"/>
          </p:nvPr>
        </p:nvSpPr>
        <p:spPr>
          <a:xfrm>
            <a:off x="1320800" y="685800"/>
            <a:ext cx="4064000" cy="3048000"/>
          </a:xfrm>
          <a:ln/>
        </p:spPr>
      </p:sp>
      <p:sp>
        <p:nvSpPr>
          <p:cNvPr id="592899" name="Rectangle 3"/>
          <p:cNvSpPr>
            <a:spLocks noGrp="1" noChangeArrowheads="1"/>
          </p:cNvSpPr>
          <p:nvPr>
            <p:ph type="body" idx="1"/>
          </p:nvPr>
        </p:nvSpPr>
        <p:spPr>
          <a:xfrm>
            <a:off x="914400" y="3886200"/>
            <a:ext cx="5029200" cy="4572000"/>
          </a:xfrm>
        </p:spPr>
        <p:txBody>
          <a:bodyPr/>
          <a:lstStyle/>
          <a:p>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B8621D6-DA79-422C-BFF0-7894BBFF6AD5}" type="slidenum">
              <a:rPr lang="en-US"/>
              <a:pPr/>
              <a:t>47</a:t>
            </a:fld>
            <a:endParaRPr lang="en-US"/>
          </a:p>
        </p:txBody>
      </p:sp>
      <p:sp>
        <p:nvSpPr>
          <p:cNvPr id="596994" name="Rectangle 2"/>
          <p:cNvSpPr>
            <a:spLocks noGrp="1" noRot="1" noChangeAspect="1" noChangeArrowheads="1" noTextEdit="1"/>
          </p:cNvSpPr>
          <p:nvPr>
            <p:ph type="sldImg"/>
          </p:nvPr>
        </p:nvSpPr>
        <p:spPr>
          <a:xfrm>
            <a:off x="1320800" y="685800"/>
            <a:ext cx="4064000" cy="3048000"/>
          </a:xfrm>
          <a:ln/>
        </p:spPr>
      </p:sp>
      <p:sp>
        <p:nvSpPr>
          <p:cNvPr id="596995" name="Rectangle 3"/>
          <p:cNvSpPr>
            <a:spLocks noGrp="1" noChangeArrowheads="1"/>
          </p:cNvSpPr>
          <p:nvPr>
            <p:ph type="body" idx="1"/>
          </p:nvPr>
        </p:nvSpPr>
        <p:spPr>
          <a:xfrm>
            <a:off x="914400" y="3886200"/>
            <a:ext cx="5029200" cy="4572000"/>
          </a:xfrm>
        </p:spPr>
        <p:txBody>
          <a:bodyPr/>
          <a:lstStyle/>
          <a:p>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77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dirty="0">
                <a:latin typeface="Times" pitchFamily="18" charset="0"/>
                <a:cs typeface="Arial" charset="0"/>
              </a:rPr>
              <a:t>Correct answer is B</a:t>
            </a:r>
          </a:p>
          <a:p>
            <a:pPr>
              <a:spcBef>
                <a:spcPct val="0"/>
              </a:spcBef>
            </a:pPr>
            <a:r>
              <a:rPr lang="en-US" dirty="0"/>
              <a:t>All photo credits unless otherwise noted from </a:t>
            </a:r>
            <a:r>
              <a:rPr lang="en-US" dirty="0" err="1"/>
              <a:t>Freeimages.com</a:t>
            </a:r>
            <a:r>
              <a:rPr lang="en-US" dirty="0"/>
              <a:t> (Formerly </a:t>
            </a:r>
            <a:r>
              <a:rPr lang="en-US" dirty="0" err="1"/>
              <a:t>Stockxchange</a:t>
            </a:r>
            <a:r>
              <a:rPr lang="en-US" dirty="0"/>
              <a:t>) or </a:t>
            </a:r>
            <a:r>
              <a:rPr lang="en-US" dirty="0" err="1"/>
              <a:t>Morguefile.com</a:t>
            </a:r>
            <a:endParaRPr lang="en-US" dirty="0">
              <a:latin typeface="Times" pitchFamily="18" charset="0"/>
              <a:cs typeface="Arial" charset="0"/>
            </a:endParaRPr>
          </a:p>
          <a:p>
            <a:pPr eaLnBrk="1" hangingPunct="1">
              <a:spcBef>
                <a:spcPct val="0"/>
              </a:spcBef>
            </a:pPr>
            <a:endParaRPr lang="en-US" b="1" dirty="0">
              <a:latin typeface="Times" pitchFamily="18" charset="0"/>
              <a:cs typeface="Arial" charset="0"/>
            </a:endParaRPr>
          </a:p>
        </p:txBody>
      </p:sp>
      <p:sp>
        <p:nvSpPr>
          <p:cNvPr id="117764"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r" eaLnBrk="1" hangingPunct="1"/>
            <a:fld id="{6C8F0AD2-D2FD-4612-89B2-DC6A5BB71DE9}" type="slidenum">
              <a:rPr lang="en-US" sz="1200">
                <a:latin typeface="Times" pitchFamily="18" charset="0"/>
              </a:rPr>
              <a:pPr algn="r" eaLnBrk="1" hangingPunct="1"/>
              <a:t>48</a:t>
            </a:fld>
            <a:endParaRPr lang="en-US" sz="1200">
              <a:latin typeface="Times"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87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indent="0" algn="l" defTabSz="914400" rtl="0" eaLnBrk="1" fontAlgn="auto" latinLnBrk="0" hangingPunct="1">
              <a:lnSpc>
                <a:spcPct val="100000"/>
              </a:lnSpc>
              <a:spcBef>
                <a:spcPct val="0"/>
              </a:spcBef>
              <a:spcAft>
                <a:spcPts val="0"/>
              </a:spcAft>
              <a:buClrTx/>
              <a:buSzTx/>
              <a:buFontTx/>
              <a:buNone/>
              <a:tabLst/>
              <a:defRPr/>
            </a:pPr>
            <a:r>
              <a:rPr lang="en-US" dirty="0">
                <a:latin typeface="Times" pitchFamily="18" charset="0"/>
                <a:cs typeface="Arial" charset="0"/>
              </a:rPr>
              <a:t>Correct answer is C</a:t>
            </a:r>
          </a:p>
          <a:p>
            <a:pPr>
              <a:spcBef>
                <a:spcPct val="0"/>
              </a:spcBef>
              <a:defRPr/>
            </a:pPr>
            <a:r>
              <a:rPr lang="en-US" dirty="0"/>
              <a:t>All photo credits unless otherwise noted from </a:t>
            </a:r>
            <a:r>
              <a:rPr lang="en-US" dirty="0" err="1"/>
              <a:t>Freeimages.com</a:t>
            </a:r>
            <a:r>
              <a:rPr lang="en-US" dirty="0"/>
              <a:t> (Formerly </a:t>
            </a:r>
            <a:r>
              <a:rPr lang="en-US" dirty="0" err="1"/>
              <a:t>Stockxchange</a:t>
            </a:r>
            <a:r>
              <a:rPr lang="en-US" dirty="0"/>
              <a:t>) or </a:t>
            </a:r>
            <a:r>
              <a:rPr lang="en-US" dirty="0" err="1"/>
              <a:t>Morguefile.com</a:t>
            </a:r>
            <a:endParaRPr lang="en-US" dirty="0">
              <a:latin typeface="Times" pitchFamily="18" charset="0"/>
              <a:cs typeface="Arial" charset="0"/>
            </a:endParaRPr>
          </a:p>
          <a:p>
            <a:pPr marL="0" marR="0" indent="0" algn="l" defTabSz="914400" rtl="0" eaLnBrk="1" fontAlgn="auto" latinLnBrk="0" hangingPunct="1">
              <a:lnSpc>
                <a:spcPct val="100000"/>
              </a:lnSpc>
              <a:spcBef>
                <a:spcPct val="0"/>
              </a:spcBef>
              <a:spcAft>
                <a:spcPts val="0"/>
              </a:spcAft>
              <a:buClrTx/>
              <a:buSzTx/>
              <a:buFontTx/>
              <a:buNone/>
              <a:tabLst/>
              <a:defRPr/>
            </a:pPr>
            <a:endParaRPr lang="en-US" dirty="0">
              <a:latin typeface="Times" pitchFamily="18" charset="0"/>
              <a:cs typeface="Arial" charset="0"/>
            </a:endParaRPr>
          </a:p>
          <a:p>
            <a:pPr eaLnBrk="1" hangingPunct="1">
              <a:spcBef>
                <a:spcPct val="0"/>
              </a:spcBef>
            </a:pPr>
            <a:endParaRPr lang="en-US" dirty="0">
              <a:latin typeface="Times" pitchFamily="18" charset="0"/>
              <a:cs typeface="Arial" charset="0"/>
            </a:endParaRPr>
          </a:p>
        </p:txBody>
      </p:sp>
      <p:sp>
        <p:nvSpPr>
          <p:cNvPr id="118788"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r" eaLnBrk="1" hangingPunct="1"/>
            <a:fld id="{1FC3A4B7-E16A-4821-9263-EBC5D536DD05}" type="slidenum">
              <a:rPr lang="en-US" sz="1200">
                <a:latin typeface="Times" pitchFamily="18" charset="0"/>
              </a:rPr>
              <a:pPr algn="r" eaLnBrk="1" hangingPunct="1"/>
              <a:t>49</a:t>
            </a:fld>
            <a:endParaRPr lang="en-US" sz="1200">
              <a:latin typeface="Times"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AB36305-836F-4DC4-8519-4D39157E5B8B}" type="slidenum">
              <a:rPr lang="en-US" smtClean="0"/>
              <a:t>51</a:t>
            </a:fld>
            <a:endParaRPr lang="en-US"/>
          </a:p>
        </p:txBody>
      </p:sp>
    </p:spTree>
    <p:extLst>
      <p:ext uri="{BB962C8B-B14F-4D97-AF65-F5344CB8AC3E}">
        <p14:creationId xmlns:p14="http://schemas.microsoft.com/office/powerpoint/2010/main" val="120617209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A6A30C0-44C8-4F8F-A05B-9379B930B0B8}" type="slidenum">
              <a:rPr lang="en-US"/>
              <a:pPr/>
              <a:t>52</a:t>
            </a:fld>
            <a:endParaRPr lang="en-US"/>
          </a:p>
        </p:txBody>
      </p:sp>
      <p:sp>
        <p:nvSpPr>
          <p:cNvPr id="613378" name="Rectangle 2"/>
          <p:cNvSpPr>
            <a:spLocks noGrp="1" noRot="1" noChangeAspect="1" noChangeArrowheads="1" noTextEdit="1"/>
          </p:cNvSpPr>
          <p:nvPr>
            <p:ph type="sldImg"/>
          </p:nvPr>
        </p:nvSpPr>
        <p:spPr>
          <a:xfrm>
            <a:off x="1320800" y="685800"/>
            <a:ext cx="4064000" cy="3048000"/>
          </a:xfrm>
          <a:ln/>
        </p:spPr>
      </p:sp>
      <p:sp>
        <p:nvSpPr>
          <p:cNvPr id="613379" name="Rectangle 3"/>
          <p:cNvSpPr>
            <a:spLocks noGrp="1" noChangeArrowheads="1"/>
          </p:cNvSpPr>
          <p:nvPr>
            <p:ph type="body" idx="1"/>
          </p:nvPr>
        </p:nvSpPr>
        <p:spPr>
          <a:xfrm>
            <a:off x="914400" y="3886200"/>
            <a:ext cx="5029200" cy="4572000"/>
          </a:xfrm>
        </p:spPr>
        <p:txBody>
          <a:bodyPr/>
          <a:lstStyle/>
          <a:p>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5F4733E-A96F-4D0D-957F-C05E4E9D7970}" type="slidenum">
              <a:rPr lang="en-US"/>
              <a:pPr/>
              <a:t>53</a:t>
            </a:fld>
            <a:endParaRPr lang="en-US"/>
          </a:p>
        </p:txBody>
      </p:sp>
      <p:sp>
        <p:nvSpPr>
          <p:cNvPr id="615426" name="Rectangle 2"/>
          <p:cNvSpPr>
            <a:spLocks noGrp="1" noRot="1" noChangeAspect="1" noChangeArrowheads="1" noTextEdit="1"/>
          </p:cNvSpPr>
          <p:nvPr>
            <p:ph type="sldImg"/>
          </p:nvPr>
        </p:nvSpPr>
        <p:spPr>
          <a:xfrm>
            <a:off x="1320800" y="685800"/>
            <a:ext cx="4064000" cy="3048000"/>
          </a:xfrm>
          <a:ln/>
        </p:spPr>
      </p:sp>
      <p:sp>
        <p:nvSpPr>
          <p:cNvPr id="615427" name="Rectangle 3"/>
          <p:cNvSpPr>
            <a:spLocks noGrp="1" noChangeArrowheads="1"/>
          </p:cNvSpPr>
          <p:nvPr>
            <p:ph type="body" idx="1"/>
          </p:nvPr>
        </p:nvSpPr>
        <p:spPr>
          <a:xfrm>
            <a:off x="914400" y="3886200"/>
            <a:ext cx="5029200" cy="4572000"/>
          </a:xfrm>
        </p:spPr>
        <p:txBody>
          <a:bodyPr/>
          <a:lstStyle/>
          <a:p>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a:t>
            </a:r>
            <a:r>
              <a:rPr lang="en-US" baseline="0" dirty="0"/>
              <a:t> answer is C</a:t>
            </a:r>
            <a:endParaRPr lang="en-US" dirty="0"/>
          </a:p>
        </p:txBody>
      </p:sp>
      <p:sp>
        <p:nvSpPr>
          <p:cNvPr id="4" name="Slide Number Placeholder 3"/>
          <p:cNvSpPr>
            <a:spLocks noGrp="1"/>
          </p:cNvSpPr>
          <p:nvPr>
            <p:ph type="sldNum" sz="quarter" idx="10"/>
          </p:nvPr>
        </p:nvSpPr>
        <p:spPr/>
        <p:txBody>
          <a:bodyPr/>
          <a:lstStyle/>
          <a:p>
            <a:fld id="{6A0E759B-1440-4D26-B214-F4A7E038E1AA}" type="slidenum">
              <a:rPr lang="en-US" smtClean="0"/>
              <a:t>54</a:t>
            </a:fld>
            <a:endParaRPr lang="en-US"/>
          </a:p>
        </p:txBody>
      </p:sp>
    </p:spTree>
    <p:extLst>
      <p:ext uri="{BB962C8B-B14F-4D97-AF65-F5344CB8AC3E}">
        <p14:creationId xmlns:p14="http://schemas.microsoft.com/office/powerpoint/2010/main" val="47205306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photo credits unless otherwise noted from </a:t>
            </a:r>
            <a:r>
              <a:rPr lang="en-US" dirty="0" err="1"/>
              <a:t>Freeimages.com</a:t>
            </a:r>
            <a:r>
              <a:rPr lang="en-US" dirty="0"/>
              <a:t> (Formerly </a:t>
            </a:r>
            <a:r>
              <a:rPr lang="en-US" dirty="0" err="1"/>
              <a:t>Stockxchange</a:t>
            </a:r>
            <a:r>
              <a:rPr lang="en-US" dirty="0"/>
              <a:t>) or </a:t>
            </a:r>
            <a:r>
              <a:rPr lang="en-US" dirty="0" err="1"/>
              <a:t>Morguefile.com</a:t>
            </a:r>
            <a:endParaRPr lang="en-US" dirty="0">
              <a:latin typeface="Times" pitchFamily="18" charset="0"/>
              <a:cs typeface="Arial" charset="0"/>
            </a:endParaRPr>
          </a:p>
          <a:p>
            <a:endParaRPr lang="en-US" dirty="0"/>
          </a:p>
        </p:txBody>
      </p:sp>
      <p:sp>
        <p:nvSpPr>
          <p:cNvPr id="4" name="Slide Number Placeholder 3"/>
          <p:cNvSpPr>
            <a:spLocks noGrp="1"/>
          </p:cNvSpPr>
          <p:nvPr>
            <p:ph type="sldNum" sz="quarter" idx="10"/>
          </p:nvPr>
        </p:nvSpPr>
        <p:spPr/>
        <p:txBody>
          <a:bodyPr/>
          <a:lstStyle/>
          <a:p>
            <a:fld id="{9AB36305-836F-4DC4-8519-4D39157E5B8B}" type="slidenum">
              <a:rPr lang="en-US" smtClean="0"/>
              <a:t>55</a:t>
            </a:fld>
            <a:endParaRPr lang="en-US"/>
          </a:p>
        </p:txBody>
      </p:sp>
    </p:spTree>
    <p:extLst>
      <p:ext uri="{BB962C8B-B14F-4D97-AF65-F5344CB8AC3E}">
        <p14:creationId xmlns:p14="http://schemas.microsoft.com/office/powerpoint/2010/main" val="14922113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8" Type="http://schemas.openxmlformats.org/officeDocument/2006/relationships/hyperlink" Target="http://krugman.blogs.nytimes.com/" TargetMode="External"/><Relationship Id="rId3" Type="http://schemas.openxmlformats.org/officeDocument/2006/relationships/image" Target="../media/image7.png"/><Relationship Id="rId7" Type="http://schemas.openxmlformats.org/officeDocument/2006/relationships/image" Target="../media/image9.png"/><Relationship Id="rId12" Type="http://schemas.openxmlformats.org/officeDocument/2006/relationships/image" Target="../media/image12.png"/><Relationship Id="rId2" Type="http://schemas.openxmlformats.org/officeDocument/2006/relationships/hyperlink" Target="http://www.gregmankiw.blogspot.com/" TargetMode="External"/><Relationship Id="rId1" Type="http://schemas.openxmlformats.org/officeDocument/2006/relationships/slideMaster" Target="../slideMasters/slideMaster5.xml"/><Relationship Id="rId6" Type="http://schemas.openxmlformats.org/officeDocument/2006/relationships/hyperlink" Target="http://www.freakonomics.com/blog/" TargetMode="External"/><Relationship Id="rId11" Type="http://schemas.openxmlformats.org/officeDocument/2006/relationships/image" Target="../media/image11.png"/><Relationship Id="rId5" Type="http://schemas.openxmlformats.org/officeDocument/2006/relationships/image" Target="../media/image8.png"/><Relationship Id="rId10" Type="http://schemas.openxmlformats.org/officeDocument/2006/relationships/hyperlink" Target="http://research.stlouisfed.org/fred2/" TargetMode="External"/><Relationship Id="rId4" Type="http://schemas.openxmlformats.org/officeDocument/2006/relationships/hyperlink" Target="http://marginalrevolution.com/" TargetMode="External"/><Relationship Id="rId9"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400886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2"/>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8003489" y="0"/>
            <a:ext cx="1140511" cy="771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0" y="0"/>
            <a:ext cx="9144000" cy="8382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4061332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67197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9144000" cy="838200"/>
          </a:xfrm>
        </p:spPr>
        <p:txBody>
          <a:bodyPr/>
          <a:lstStyle>
            <a:lvl1pPr algn="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00886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9144000" cy="838200"/>
          </a:xfrm>
        </p:spPr>
        <p:txBody>
          <a:bodyPr/>
          <a:lstStyle>
            <a:lvl1pPr algn="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pic>
        <p:nvPicPr>
          <p:cNvPr id="5" name="Picture 4" descr="Screen Shot 2014-12-20 at 5.27.50 PM.png"/>
          <p:cNvPicPr>
            <a:picLocks noChangeAspect="1"/>
          </p:cNvPicPr>
          <p:nvPr userDrawn="1"/>
        </p:nvPicPr>
        <p:blipFill>
          <a:blip r:embed="rId2">
            <a:alphaModFix amt="20000"/>
            <a:extLst>
              <a:ext uri="{28A0092B-C50C-407E-A947-70E740481C1C}">
                <a14:useLocalDpi xmlns:a14="http://schemas.microsoft.com/office/drawing/2010/main"/>
              </a:ext>
            </a:extLst>
          </a:blip>
          <a:stretch>
            <a:fillRect/>
          </a:stretch>
        </p:blipFill>
        <p:spPr>
          <a:xfrm>
            <a:off x="0" y="2925592"/>
            <a:ext cx="3985858" cy="3924300"/>
          </a:xfrm>
          <a:prstGeom prst="rect">
            <a:avLst/>
          </a:prstGeom>
        </p:spPr>
      </p:pic>
    </p:spTree>
    <p:extLst>
      <p:ext uri="{BB962C8B-B14F-4D97-AF65-F5344CB8AC3E}">
        <p14:creationId xmlns:p14="http://schemas.microsoft.com/office/powerpoint/2010/main" val="406133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90600" y="-31750"/>
            <a:ext cx="8153400" cy="946150"/>
          </a:xfrm>
          <a:noFill/>
        </p:spPr>
        <p:txBody>
          <a:bodyPr>
            <a:normAutofit/>
          </a:bodyPr>
          <a:lstStyle>
            <a:lvl1pPr algn="l">
              <a:defRPr sz="4400" b="0" spc="0" baseline="0">
                <a:solidFill>
                  <a:schemeClr val="accent6"/>
                </a:solidFill>
                <a:effectLst>
                  <a:innerShdw blurRad="63500" dist="50800" dir="13500000">
                    <a:prstClr val="black">
                      <a:alpha val="50000"/>
                    </a:prstClr>
                  </a:innerShdw>
                </a:effectLst>
              </a:defRPr>
            </a:lvl1pPr>
          </a:lstStyle>
          <a:p>
            <a:r>
              <a:rPr lang="en-US" dirty="0"/>
              <a:t>TAKE A LOOK…..</a:t>
            </a:r>
          </a:p>
        </p:txBody>
      </p:sp>
      <p:pic>
        <p:nvPicPr>
          <p:cNvPr id="9" name="Picture 8"/>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11133"/>
            <a:ext cx="990600" cy="1104743"/>
          </a:xfrm>
          <a:prstGeom prst="rect">
            <a:avLst/>
          </a:prstGeom>
        </p:spPr>
      </p:pic>
      <p:pic>
        <p:nvPicPr>
          <p:cNvPr id="6" name="Picture 5"/>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828800" y="2438400"/>
            <a:ext cx="5245100" cy="3932581"/>
          </a:xfrm>
          <a:prstGeom prst="rect">
            <a:avLst/>
          </a:prstGeom>
        </p:spPr>
      </p:pic>
      <p:sp>
        <p:nvSpPr>
          <p:cNvPr id="8"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1927267147"/>
      </p:ext>
    </p:extLst>
  </p:cSld>
  <p:clrMapOvr>
    <a:masterClrMapping/>
  </p:clrMapOvr>
  <p:transition>
    <p:fade thruBlk="1"/>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2857889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2857889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Custom Layout">
    <p:bg>
      <p:bgPr>
        <a:blipFill dpi="0" rotWithShape="1">
          <a:blip r:embed="rId2"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Rectangle 4"/>
          <p:cNvSpPr/>
          <p:nvPr userDrawn="1"/>
        </p:nvSpPr>
        <p:spPr>
          <a:xfrm>
            <a:off x="-4763" y="5486400"/>
            <a:ext cx="9136063" cy="1371600"/>
          </a:xfrm>
          <a:prstGeom prst="rect">
            <a:avLst/>
          </a:prstGeom>
          <a:solidFill>
            <a:schemeClr val="tx1">
              <a:alpha val="81000"/>
            </a:schemeClr>
          </a:solidFill>
        </p:spPr>
        <p:txBody>
          <a:bodyPr anchor="ctr">
            <a:normAutofit/>
          </a:bodyPr>
          <a:lstStyle/>
          <a:p>
            <a:pPr algn="r">
              <a:defRPr/>
            </a:pPr>
            <a:endParaRPr lang="en-US" sz="4800" spc="50" dirty="0">
              <a:latin typeface="Candara" pitchFamily="34" charset="0"/>
              <a:ea typeface="Tahoma" pitchFamily="34" charset="0"/>
              <a:cs typeface="Tahoma" pitchFamily="34" charset="0"/>
            </a:endParaRPr>
          </a:p>
        </p:txBody>
      </p:sp>
      <p:sp>
        <p:nvSpPr>
          <p:cNvPr id="6" name="TextBox 5"/>
          <p:cNvSpPr txBox="1"/>
          <p:nvPr/>
        </p:nvSpPr>
        <p:spPr>
          <a:xfrm>
            <a:off x="261938" y="5181600"/>
            <a:ext cx="887412" cy="1862138"/>
          </a:xfrm>
          <a:prstGeom prst="rect">
            <a:avLst/>
          </a:prstGeom>
          <a:noFill/>
        </p:spPr>
        <p:txBody>
          <a:bodyPr>
            <a:spAutoFit/>
          </a:bodyPr>
          <a:lstStyle/>
          <a:p>
            <a:pPr>
              <a:defRPr/>
            </a:pPr>
            <a:r>
              <a:rPr lang="en-US" sz="11500" b="1" dirty="0">
                <a:solidFill>
                  <a:schemeClr val="bg1"/>
                </a:solidFill>
                <a:effectLst>
                  <a:outerShdw blurRad="38100" dist="38100" dir="2700000" algn="tl">
                    <a:srgbClr val="000000">
                      <a:alpha val="43137"/>
                    </a:srgbClr>
                  </a:outerShdw>
                </a:effectLst>
                <a:latin typeface="Tw Cen MT"/>
                <a:ea typeface="Tahoma" pitchFamily="34" charset="0"/>
                <a:cs typeface="Tw Cen MT"/>
              </a:rPr>
              <a:t>3</a:t>
            </a:r>
          </a:p>
        </p:txBody>
      </p:sp>
      <p:sp>
        <p:nvSpPr>
          <p:cNvPr id="7" name="TextBox 6"/>
          <p:cNvSpPr txBox="1"/>
          <p:nvPr/>
        </p:nvSpPr>
        <p:spPr>
          <a:xfrm rot="16200000">
            <a:off x="-418306" y="5981184"/>
            <a:ext cx="1358900" cy="369332"/>
          </a:xfrm>
          <a:prstGeom prst="rect">
            <a:avLst/>
          </a:prstGeom>
          <a:noFill/>
        </p:spPr>
        <p:txBody>
          <a:bodyPr>
            <a:spAutoFit/>
          </a:bodyPr>
          <a:lstStyle/>
          <a:p>
            <a:pPr>
              <a:defRPr/>
            </a:pPr>
            <a:r>
              <a:rPr lang="en-US" b="1" kern="0" cap="all" spc="300" dirty="0">
                <a:solidFill>
                  <a:schemeClr val="bg1">
                    <a:lumMod val="75000"/>
                  </a:schemeClr>
                </a:solidFill>
                <a:latin typeface="Tw Cen MT"/>
                <a:ea typeface="+mj-ea"/>
                <a:cs typeface="Tw Cen MT"/>
              </a:rPr>
              <a:t>Chapter</a:t>
            </a:r>
            <a:endParaRPr lang="en-US" sz="2000" b="1" kern="0" cap="all" spc="300" dirty="0">
              <a:solidFill>
                <a:schemeClr val="bg1">
                  <a:lumMod val="75000"/>
                </a:schemeClr>
              </a:solidFill>
              <a:latin typeface="Tw Cen MT"/>
              <a:ea typeface="+mj-ea"/>
              <a:cs typeface="Tw Cen MT"/>
            </a:endParaRPr>
          </a:p>
        </p:txBody>
      </p:sp>
      <p:sp>
        <p:nvSpPr>
          <p:cNvPr id="8" name="TextBox 7"/>
          <p:cNvSpPr txBox="1"/>
          <p:nvPr/>
        </p:nvSpPr>
        <p:spPr>
          <a:xfrm>
            <a:off x="0" y="-15356"/>
            <a:ext cx="7696200" cy="307777"/>
          </a:xfrm>
          <a:prstGeom prst="rect">
            <a:avLst/>
          </a:prstGeom>
          <a:noFill/>
        </p:spPr>
        <p:txBody>
          <a:bodyPr wrap="square">
            <a:spAutoFit/>
          </a:bodyPr>
          <a:lstStyle/>
          <a:p>
            <a:pPr algn="l">
              <a:defRPr/>
            </a:pPr>
            <a:r>
              <a:rPr lang="en-US" sz="1400" b="1" i="0" kern="0" cap="small" spc="400" dirty="0">
                <a:solidFill>
                  <a:schemeClr val="tx1">
                    <a:lumMod val="50000"/>
                    <a:lumOff val="50000"/>
                  </a:schemeClr>
                </a:solidFill>
                <a:latin typeface="Tw Cen MT" pitchFamily="34" charset="0"/>
              </a:rPr>
              <a:t>Slides by Solina Lindahl</a:t>
            </a:r>
          </a:p>
        </p:txBody>
      </p:sp>
      <p:sp>
        <p:nvSpPr>
          <p:cNvPr id="12" name="Title 1"/>
          <p:cNvSpPr txBox="1">
            <a:spLocks/>
          </p:cNvSpPr>
          <p:nvPr userDrawn="1"/>
        </p:nvSpPr>
        <p:spPr>
          <a:xfrm>
            <a:off x="1371600" y="5486400"/>
            <a:ext cx="7772400" cy="1371599"/>
          </a:xfrm>
          <a:prstGeom prst="rect">
            <a:avLst/>
          </a:prstGeom>
          <a:noFill/>
        </p:spPr>
        <p:txBody>
          <a:bodyPr>
            <a:noAutofit/>
          </a:bodyPr>
          <a:lstStyle>
            <a:lvl1pPr algn="r" defTabSz="914400" rtl="0" eaLnBrk="1" latinLnBrk="0" hangingPunct="1">
              <a:spcBef>
                <a:spcPct val="0"/>
              </a:spcBef>
              <a:buNone/>
              <a:defRPr lang="en-US" sz="5400" b="1" i="0" u="none" strike="noStrike" kern="1200" cap="none" spc="100" baseline="0" smtClean="0">
                <a:solidFill>
                  <a:srgbClr val="FF3300"/>
                </a:solidFill>
                <a:effectLst/>
                <a:latin typeface="Candara" pitchFamily="34" charset="0"/>
                <a:ea typeface="+mj-ea"/>
                <a:cs typeface="+mj-cs"/>
              </a:defRPr>
            </a:lvl1pPr>
          </a:lstStyle>
          <a:p>
            <a:r>
              <a:rPr lang="en-US" b="1" kern="0" spc="500" dirty="0">
                <a:latin typeface="Tw Cen MT"/>
                <a:cs typeface="Tw Cen MT"/>
              </a:rPr>
              <a:t>Supply and Demand</a:t>
            </a:r>
          </a:p>
        </p:txBody>
      </p:sp>
    </p:spTree>
    <p:extLst>
      <p:ext uri="{BB962C8B-B14F-4D97-AF65-F5344CB8AC3E}">
        <p14:creationId xmlns:p14="http://schemas.microsoft.com/office/powerpoint/2010/main" val="4220870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cxnSp>
        <p:nvCxnSpPr>
          <p:cNvPr id="2" name="Straight Connector 1"/>
          <p:cNvCxnSpPr/>
          <p:nvPr/>
        </p:nvCxnSpPr>
        <p:spPr>
          <a:xfrm>
            <a:off x="0" y="6019800"/>
            <a:ext cx="9144000" cy="0"/>
          </a:xfrm>
          <a:prstGeom prst="line">
            <a:avLst/>
          </a:prstGeom>
          <a:ln w="57150" cmpd="sng">
            <a:solidFill>
              <a:srgbClr val="F8EF59"/>
            </a:solidFill>
            <a:prstDash val="dash"/>
          </a:ln>
        </p:spPr>
        <p:style>
          <a:lnRef idx="1">
            <a:schemeClr val="accent1"/>
          </a:lnRef>
          <a:fillRef idx="0">
            <a:schemeClr val="accent1"/>
          </a:fillRef>
          <a:effectRef idx="0">
            <a:schemeClr val="accent1"/>
          </a:effectRef>
          <a:fontRef idx="minor">
            <a:schemeClr val="tx1"/>
          </a:fontRef>
        </p:style>
      </p:cxnSp>
      <p:cxnSp>
        <p:nvCxnSpPr>
          <p:cNvPr id="3" name="Straight Connector 2"/>
          <p:cNvCxnSpPr/>
          <p:nvPr/>
        </p:nvCxnSpPr>
        <p:spPr>
          <a:xfrm>
            <a:off x="0" y="2286000"/>
            <a:ext cx="9144000" cy="0"/>
          </a:xfrm>
          <a:prstGeom prst="line">
            <a:avLst/>
          </a:prstGeom>
          <a:ln w="57150" cmpd="sng">
            <a:solidFill>
              <a:srgbClr val="F8EF59"/>
            </a:solidFill>
            <a:prstDash val="dash"/>
          </a:ln>
        </p:spPr>
        <p:style>
          <a:lnRef idx="1">
            <a:schemeClr val="accent1"/>
          </a:lnRef>
          <a:fillRef idx="0">
            <a:schemeClr val="accent1"/>
          </a:fillRef>
          <a:effectRef idx="0">
            <a:schemeClr val="accent1"/>
          </a:effectRef>
          <a:fontRef idx="minor">
            <a:schemeClr val="tx1"/>
          </a:fontRef>
        </p:style>
      </p:cxnSp>
      <p:sp>
        <p:nvSpPr>
          <p:cNvPr id="5" name="TextBox 9"/>
          <p:cNvSpPr txBox="1">
            <a:spLocks noChangeArrowheads="1"/>
          </p:cNvSpPr>
          <p:nvPr/>
        </p:nvSpPr>
        <p:spPr bwMode="auto">
          <a:xfrm>
            <a:off x="0" y="1490246"/>
            <a:ext cx="9144000" cy="338554"/>
          </a:xfrm>
          <a:prstGeom prst="rect">
            <a:avLst/>
          </a:prstGeom>
          <a:solidFill>
            <a:srgbClr val="CCFF33">
              <a:alpha val="4705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US" sz="1600" b="0" i="0" spc="300" dirty="0">
                <a:solidFill>
                  <a:srgbClr val="F79646"/>
                </a:solidFill>
                <a:latin typeface="+mn-lt"/>
              </a:rPr>
              <a:t>SOME GOOD BLOGS AND OTHER SITES TO GET THE JUICES FLOWING:</a:t>
            </a:r>
          </a:p>
        </p:txBody>
      </p:sp>
      <p:sp>
        <p:nvSpPr>
          <p:cNvPr id="6" name="Title 1"/>
          <p:cNvSpPr txBox="1">
            <a:spLocks/>
          </p:cNvSpPr>
          <p:nvPr/>
        </p:nvSpPr>
        <p:spPr>
          <a:xfrm>
            <a:off x="0" y="0"/>
            <a:ext cx="7391400" cy="784225"/>
          </a:xfrm>
          <a:prstGeom prst="rect">
            <a:avLst/>
          </a:prstGeom>
          <a:noFill/>
          <a:effectLst/>
        </p:spPr>
        <p:txBody>
          <a:bodyPr/>
          <a:lstStyle>
            <a:lvl1pPr>
              <a:defRPr sz="3600">
                <a:solidFill>
                  <a:schemeClr val="accent1">
                    <a:lumMod val="60000"/>
                    <a:lumOff val="40000"/>
                  </a:schemeClr>
                </a:solidFill>
                <a:effectLst>
                  <a:outerShdw blurRad="38100" dist="38100" dir="2700000" algn="tl">
                    <a:srgbClr val="000000">
                      <a:alpha val="43137"/>
                    </a:srgbClr>
                  </a:outerShdw>
                </a:effectLst>
              </a:defRPr>
            </a:lvl1pPr>
          </a:lstStyle>
          <a:p>
            <a:pPr>
              <a:defRPr/>
            </a:pPr>
            <a:r>
              <a:rPr lang="en-US" sz="4800" b="0" dirty="0">
                <a:solidFill>
                  <a:schemeClr val="accent6"/>
                </a:solidFill>
                <a:effectLst>
                  <a:innerShdw blurRad="63500" dist="50800" dir="13500000">
                    <a:prstClr val="black">
                      <a:alpha val="50000"/>
                    </a:prstClr>
                  </a:innerShdw>
                </a:effectLst>
                <a:latin typeface="Century Gothic" pitchFamily="34" charset="0"/>
                <a:cs typeface="Arial" pitchFamily="34" charset="0"/>
              </a:rPr>
              <a:t>FOOD FOR</a:t>
            </a:r>
            <a:r>
              <a:rPr lang="en-US" sz="4800" b="0" baseline="0" dirty="0">
                <a:solidFill>
                  <a:schemeClr val="accent6"/>
                </a:solidFill>
                <a:effectLst>
                  <a:innerShdw blurRad="63500" dist="50800" dir="13500000">
                    <a:prstClr val="black">
                      <a:alpha val="50000"/>
                    </a:prstClr>
                  </a:innerShdw>
                </a:effectLst>
                <a:latin typeface="Century Gothic" pitchFamily="34" charset="0"/>
                <a:cs typeface="Arial" pitchFamily="34" charset="0"/>
              </a:rPr>
              <a:t> </a:t>
            </a:r>
            <a:r>
              <a:rPr lang="en-US" sz="4800" b="0" dirty="0">
                <a:solidFill>
                  <a:schemeClr val="accent6"/>
                </a:solidFill>
                <a:effectLst>
                  <a:innerShdw blurRad="63500" dist="50800" dir="13500000">
                    <a:prstClr val="black">
                      <a:alpha val="50000"/>
                    </a:prstClr>
                  </a:innerShdw>
                </a:effectLst>
                <a:latin typeface="Century Gothic" pitchFamily="34" charset="0"/>
                <a:cs typeface="Arial" pitchFamily="34" charset="0"/>
              </a:rPr>
              <a:t>THOUGHT….</a:t>
            </a:r>
          </a:p>
        </p:txBody>
      </p:sp>
      <p:pic>
        <p:nvPicPr>
          <p:cNvPr id="7" name="Picture 2">
            <a:hlinkClick r:id="rId2"/>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029200" y="4572000"/>
            <a:ext cx="2724150" cy="5175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3">
            <a:hlinkClick r:id="rId4"/>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6145213" y="3048000"/>
            <a:ext cx="2998787" cy="5397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4">
            <a:hlinkClick r:id="rId6"/>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3200400" y="2971800"/>
            <a:ext cx="2686050" cy="6572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pic>
        <p:nvPicPr>
          <p:cNvPr id="15" name="Picture 14" descr="Screen Shot 2014-12-20 at 8.46.54 PM.png">
            <a:hlinkClick r:id="rId8"/>
          </p:cNvPr>
          <p:cNvPicPr>
            <a:picLocks noChangeAspect="1"/>
          </p:cNvPicPr>
          <p:nvPr userDrawn="1"/>
        </p:nvPicPr>
        <p:blipFill>
          <a:blip r:embed="rId9" cstate="screen">
            <a:extLst>
              <a:ext uri="{28A0092B-C50C-407E-A947-70E740481C1C}">
                <a14:useLocalDpi xmlns:a14="http://schemas.microsoft.com/office/drawing/2010/main"/>
              </a:ext>
            </a:extLst>
          </a:blip>
          <a:stretch>
            <a:fillRect/>
          </a:stretch>
        </p:blipFill>
        <p:spPr>
          <a:xfrm>
            <a:off x="12674" y="2971800"/>
            <a:ext cx="2692400" cy="592126"/>
          </a:xfrm>
          <a:prstGeom prst="rect">
            <a:avLst/>
          </a:prstGeom>
          <a:ln>
            <a:noFill/>
          </a:ln>
          <a:effectLst>
            <a:outerShdw blurRad="292100" dist="139700" dir="2700000" algn="tl" rotWithShape="0">
              <a:srgbClr val="333333">
                <a:alpha val="65000"/>
              </a:srgbClr>
            </a:outerShdw>
          </a:effectLst>
        </p:spPr>
      </p:pic>
      <p:pic>
        <p:nvPicPr>
          <p:cNvPr id="16" name="Picture 15" descr="Screen Shot 2014-12-20 at 8.49.18 PM.png">
            <a:hlinkClick r:id="rId10"/>
          </p:cNvPr>
          <p:cNvPicPr>
            <a:picLocks noChangeAspect="1"/>
          </p:cNvPicPr>
          <p:nvPr userDrawn="1"/>
        </p:nvPicPr>
        <p:blipFill>
          <a:blip r:embed="rId11">
            <a:extLst>
              <a:ext uri="{28A0092B-C50C-407E-A947-70E740481C1C}">
                <a14:useLocalDpi xmlns:a14="http://schemas.microsoft.com/office/drawing/2010/main"/>
              </a:ext>
            </a:extLst>
          </a:blip>
          <a:stretch>
            <a:fillRect/>
          </a:stretch>
        </p:blipFill>
        <p:spPr>
          <a:xfrm>
            <a:off x="1905000" y="4343400"/>
            <a:ext cx="2336800" cy="841691"/>
          </a:xfrm>
          <a:prstGeom prst="rect">
            <a:avLst/>
          </a:prstGeom>
          <a:ln>
            <a:noFill/>
          </a:ln>
          <a:effectLst>
            <a:outerShdw blurRad="292100" dist="139700" dir="2700000" algn="tl" rotWithShape="0">
              <a:srgbClr val="333333">
                <a:alpha val="65000"/>
              </a:srgbClr>
            </a:outerShdw>
          </a:effectLst>
        </p:spPr>
      </p:pic>
      <p:pic>
        <p:nvPicPr>
          <p:cNvPr id="18" name="Picture 17"/>
          <p:cNvPicPr>
            <a:picLocks noChangeAspect="1"/>
          </p:cNvPicPr>
          <p:nvPr userDrawn="1"/>
        </p:nvPicPr>
        <p:blipFill>
          <a:blip r:embed="rId12" cstate="screen">
            <a:extLst>
              <a:ext uri="{28A0092B-C50C-407E-A947-70E740481C1C}">
                <a14:useLocalDpi xmlns:a14="http://schemas.microsoft.com/office/drawing/2010/main"/>
              </a:ext>
            </a:extLst>
          </a:blip>
          <a:stretch>
            <a:fillRect/>
          </a:stretch>
        </p:blipFill>
        <p:spPr>
          <a:xfrm rot="960000">
            <a:off x="8016447" y="97714"/>
            <a:ext cx="787093" cy="132850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05174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341313" indent="0">
              <a:defRPr b="1">
                <a:solidFill>
                  <a:schemeClr val="tx1"/>
                </a:solidFill>
                <a:latin typeface="Century Gothic"/>
                <a:cs typeface="Century Gothic"/>
              </a:defRPr>
            </a:lvl1pPr>
            <a:lvl2pPr marL="742950" indent="0">
              <a:defRPr b="1">
                <a:solidFill>
                  <a:schemeClr val="tx1"/>
                </a:solidFill>
                <a:latin typeface="Century Gothic"/>
                <a:cs typeface="Century Gothic"/>
              </a:defRPr>
            </a:lvl2pPr>
            <a:lvl3pPr>
              <a:defRPr b="1">
                <a:solidFill>
                  <a:schemeClr val="tx1"/>
                </a:solidFill>
                <a:latin typeface="Century Gothic"/>
                <a:cs typeface="Century Gothic"/>
              </a:defRPr>
            </a:lvl3pPr>
            <a:lvl4pPr>
              <a:defRPr b="1">
                <a:solidFill>
                  <a:schemeClr val="tx1"/>
                </a:solidFill>
                <a:latin typeface="Century Gothic"/>
                <a:cs typeface="Century Gothic"/>
              </a:defRPr>
            </a:lvl4pPr>
            <a:lvl5pPr>
              <a:defRPr b="1">
                <a:solidFill>
                  <a:schemeClr val="tx1"/>
                </a:solidFill>
                <a:latin typeface="Century Gothic"/>
                <a:cs typeface="Century Gothi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ight Arrow 8">
            <a:hlinkClick r:id="" action="ppaction://noaction"/>
          </p:cNvPr>
          <p:cNvSpPr/>
          <p:nvPr userDrawn="1"/>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pic>
        <p:nvPicPr>
          <p:cNvPr id="10" name="Picture 9">
            <a:hlinkClick r:id="" action="ppaction://noaction"/>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974496" y="6028188"/>
            <a:ext cx="1143000" cy="856979"/>
          </a:xfrm>
          <a:prstGeom prst="rect">
            <a:avLst/>
          </a:prstGeom>
        </p:spPr>
      </p:pic>
      <p:cxnSp>
        <p:nvCxnSpPr>
          <p:cNvPr id="15" name="Straight Connector 14"/>
          <p:cNvCxnSpPr/>
          <p:nvPr userDrawn="1"/>
        </p:nvCxnSpPr>
        <p:spPr>
          <a:xfrm>
            <a:off x="0" y="1219200"/>
            <a:ext cx="9144000" cy="0"/>
          </a:xfrm>
          <a:prstGeom prst="line">
            <a:avLst/>
          </a:prstGeom>
          <a:ln w="76200" cmpd="sng">
            <a:solidFill>
              <a:srgbClr val="F8EF59">
                <a:alpha val="49000"/>
              </a:srgbClr>
            </a:solidFill>
            <a:prstDash val="solid"/>
          </a:ln>
        </p:spPr>
        <p:style>
          <a:lnRef idx="1">
            <a:schemeClr val="accent5"/>
          </a:lnRef>
          <a:fillRef idx="0">
            <a:schemeClr val="accent5"/>
          </a:fillRef>
          <a:effectRef idx="0">
            <a:schemeClr val="accent5"/>
          </a:effectRef>
          <a:fontRef idx="minor">
            <a:schemeClr val="tx1"/>
          </a:fontRef>
        </p:style>
      </p:cxnSp>
      <p:cxnSp>
        <p:nvCxnSpPr>
          <p:cNvPr id="16" name="Straight Connector 15"/>
          <p:cNvCxnSpPr/>
          <p:nvPr userDrawn="1"/>
        </p:nvCxnSpPr>
        <p:spPr>
          <a:xfrm>
            <a:off x="0" y="5791200"/>
            <a:ext cx="9144000" cy="0"/>
          </a:xfrm>
          <a:prstGeom prst="line">
            <a:avLst/>
          </a:prstGeom>
          <a:ln w="76200" cmpd="sng">
            <a:solidFill>
              <a:srgbClr val="F8EF59">
                <a:alpha val="49000"/>
              </a:srgbClr>
            </a:solidFill>
            <a:prstDash val="solid"/>
          </a:ln>
        </p:spPr>
        <p:style>
          <a:lnRef idx="1">
            <a:schemeClr val="accent5"/>
          </a:lnRef>
          <a:fillRef idx="0">
            <a:schemeClr val="accent5"/>
          </a:fillRef>
          <a:effectRef idx="0">
            <a:schemeClr val="accent5"/>
          </a:effectRef>
          <a:fontRef idx="minor">
            <a:schemeClr val="tx1"/>
          </a:fontRef>
        </p:style>
      </p:cxnSp>
      <p:sp>
        <p:nvSpPr>
          <p:cNvPr id="11"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
        <p:nvSpPr>
          <p:cNvPr id="4" name="Down Arrow Callout 3"/>
          <p:cNvSpPr/>
          <p:nvPr userDrawn="1"/>
        </p:nvSpPr>
        <p:spPr>
          <a:xfrm>
            <a:off x="0" y="-29407"/>
            <a:ext cx="3200400" cy="1676400"/>
          </a:xfrm>
          <a:prstGeom prst="downArrowCallout">
            <a:avLst>
              <a:gd name="adj1" fmla="val 32640"/>
              <a:gd name="adj2" fmla="val 28183"/>
              <a:gd name="adj3" fmla="val 25000"/>
              <a:gd name="adj4" fmla="val 61794"/>
            </a:avLst>
          </a:prstGeom>
          <a:solidFill>
            <a:schemeClr val="accent3"/>
          </a:solidFill>
          <a:ln>
            <a:noFill/>
          </a:ln>
          <a:effectLst>
            <a:outerShdw blurRad="50800" dist="38100" dir="270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effectLst/>
            </a:endParaRPr>
          </a:p>
        </p:txBody>
      </p:sp>
      <p:sp>
        <p:nvSpPr>
          <p:cNvPr id="5" name="TextBox 4"/>
          <p:cNvSpPr txBox="1"/>
          <p:nvPr userDrawn="1"/>
        </p:nvSpPr>
        <p:spPr>
          <a:xfrm>
            <a:off x="0" y="0"/>
            <a:ext cx="3200400" cy="830997"/>
          </a:xfrm>
          <a:prstGeom prst="rect">
            <a:avLst/>
          </a:prstGeom>
          <a:noFill/>
        </p:spPr>
        <p:txBody>
          <a:bodyPr wrap="square" rtlCol="0">
            <a:spAutoFit/>
          </a:bodyPr>
          <a:lstStyle/>
          <a:p>
            <a:r>
              <a:rPr lang="en-US" sz="2400" b="1" dirty="0">
                <a:solidFill>
                  <a:schemeClr val="bg1"/>
                </a:solidFill>
                <a:effectLst/>
              </a:rPr>
              <a:t>     What you will learn in this chapter</a:t>
            </a:r>
          </a:p>
        </p:txBody>
      </p:sp>
      <p:sp>
        <p:nvSpPr>
          <p:cNvPr id="6" name="Isosceles Triangle 5"/>
          <p:cNvSpPr/>
          <p:nvPr userDrawn="1"/>
        </p:nvSpPr>
        <p:spPr>
          <a:xfrm rot="5400000">
            <a:off x="95250" y="95250"/>
            <a:ext cx="304799" cy="266700"/>
          </a:xfrm>
          <a:prstGeom prst="triangle">
            <a:avLst>
              <a:gd name="adj" fmla="val 52591"/>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8173374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Note: These lecture notes are incomplete without having attended lectures</a:t>
            </a:r>
          </a:p>
        </p:txBody>
      </p:sp>
      <p:sp>
        <p:nvSpPr>
          <p:cNvPr id="6" name="Slide Number Placeholder 5"/>
          <p:cNvSpPr>
            <a:spLocks noGrp="1"/>
          </p:cNvSpPr>
          <p:nvPr>
            <p:ph type="sldNum" sz="quarter" idx="12"/>
          </p:nvPr>
        </p:nvSpPr>
        <p:spPr/>
        <p:txBody>
          <a:bodyPr/>
          <a:lstStyle>
            <a:lvl1pPr>
              <a:defRPr/>
            </a:lvl1pPr>
          </a:lstStyle>
          <a:p>
            <a:fld id="{629FA6A1-3782-41C4-9394-A8AACEB38E54}" type="slidenum">
              <a:rPr lang="en-US"/>
              <a:pPr/>
              <a:t>‹#›</a:t>
            </a:fld>
            <a:endParaRPr lang="en-US"/>
          </a:p>
        </p:txBody>
      </p:sp>
    </p:spTree>
    <p:extLst>
      <p:ext uri="{BB962C8B-B14F-4D97-AF65-F5344CB8AC3E}">
        <p14:creationId xmlns:p14="http://schemas.microsoft.com/office/powerpoint/2010/main" val="34511153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600" baseline="0">
                <a:latin typeface="Century Gothic"/>
                <a:cs typeface="Century Gothic"/>
              </a:defRPr>
            </a:lvl1pPr>
            <a:lvl2pPr>
              <a:defRPr sz="3200" baseline="0">
                <a:latin typeface="Century Gothic"/>
                <a:cs typeface="Century Gothic"/>
              </a:defRPr>
            </a:lvl2pPr>
            <a:lvl3pPr>
              <a:defRPr sz="2800" baseline="0">
                <a:latin typeface="Century Gothic"/>
                <a:cs typeface="Century Gothic"/>
              </a:defRPr>
            </a:lvl3pPr>
            <a:lvl4pPr>
              <a:defRPr sz="2400" baseline="0">
                <a:latin typeface="Century Gothic"/>
                <a:cs typeface="Century Gothic"/>
              </a:defRPr>
            </a:lvl4pPr>
            <a:lvl5pPr>
              <a:defRPr sz="2400" baseline="0">
                <a:latin typeface="Century Gothic"/>
                <a:cs typeface="Century Gothi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3406293393"/>
      </p:ext>
    </p:extLst>
  </p:cSld>
  <p:clrMapOvr>
    <a:masterClrMapping/>
  </p:clrMapOvr>
  <p:transition>
    <p:fade thruBlk="1"/>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lvl1pPr>
              <a:defRPr>
                <a:latin typeface="Century Gothic"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190500" y="2019300"/>
            <a:ext cx="3086100" cy="3573463"/>
          </a:xfrm>
        </p:spPr>
        <p:txBody>
          <a:bodyPr/>
          <a:lstStyle>
            <a:lvl1pPr>
              <a:defRPr sz="2800">
                <a:latin typeface="Century Gothic" pitchFamily="34" charset="0"/>
              </a:defRPr>
            </a:lvl1pPr>
            <a:lvl2pPr>
              <a:defRPr sz="2400">
                <a:latin typeface="Century Gothic" pitchFamily="34" charset="0"/>
              </a:defRPr>
            </a:lvl2pPr>
            <a:lvl3pPr>
              <a:defRPr sz="2000">
                <a:latin typeface="Century Gothic" pitchFamily="34" charset="0"/>
              </a:defRPr>
            </a:lvl3pPr>
            <a:lvl4pPr>
              <a:defRPr sz="1800">
                <a:latin typeface="Century Gothic" pitchFamily="34" charset="0"/>
              </a:defRPr>
            </a:lvl4pPr>
            <a:lvl5pPr>
              <a:defRPr sz="18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76600" y="1143000"/>
            <a:ext cx="5867400" cy="4983163"/>
          </a:xfrm>
        </p:spPr>
        <p:txBody>
          <a:bodyPr>
            <a:normAutofit/>
          </a:bodyPr>
          <a:lstStyle>
            <a:lvl1pPr>
              <a:defRPr sz="3200">
                <a:latin typeface="Century Gothic" pitchFamily="34" charset="0"/>
              </a:defRPr>
            </a:lvl1pPr>
            <a:lvl2pPr>
              <a:defRPr sz="2800">
                <a:latin typeface="Century Gothic" pitchFamily="34" charset="0"/>
              </a:defRPr>
            </a:lvl2pPr>
            <a:lvl3pPr>
              <a:defRPr sz="2400">
                <a:latin typeface="Century Gothic" pitchFamily="34" charset="0"/>
              </a:defRPr>
            </a:lvl3pPr>
            <a:lvl4pPr>
              <a:defRPr sz="2000">
                <a:latin typeface="Century Gothic" pitchFamily="34" charset="0"/>
              </a:defRPr>
            </a:lvl4pPr>
            <a:lvl5pPr>
              <a:defRPr sz="20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329852625"/>
      </p:ext>
    </p:extLst>
  </p:cSld>
  <p:clrMapOvr>
    <a:masterClrMapping/>
  </p:clrMapOvr>
  <p:transition>
    <p:fade thruBlk="1"/>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600" baseline="0">
                <a:latin typeface="Candara" pitchFamily="34" charset="0"/>
              </a:defRPr>
            </a:lvl1pPr>
            <a:lvl2pPr>
              <a:defRPr sz="3200" baseline="0">
                <a:latin typeface="Candara" pitchFamily="34" charset="0"/>
              </a:defRPr>
            </a:lvl2pPr>
            <a:lvl3pPr>
              <a:defRPr sz="2800" baseline="0">
                <a:latin typeface="Candara" pitchFamily="34" charset="0"/>
              </a:defRPr>
            </a:lvl3pPr>
            <a:lvl4pPr>
              <a:defRPr sz="2400" baseline="0">
                <a:latin typeface="Candara" pitchFamily="34" charset="0"/>
              </a:defRPr>
            </a:lvl4pPr>
            <a:lvl5pPr>
              <a:defRPr sz="2400" baseline="0">
                <a:latin typeface="Candar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40984043"/>
      </p:ext>
    </p:extLst>
  </p:cSld>
  <p:clrMapOvr>
    <a:masterClrMapping/>
  </p:clrMapOvr>
  <p:transition>
    <p:fade thruBlk="1"/>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lvl1pPr>
              <a:defRPr>
                <a:latin typeface="Century Gothic"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190500" y="2019300"/>
            <a:ext cx="3086100" cy="3573463"/>
          </a:xfrm>
        </p:spPr>
        <p:txBody>
          <a:bodyPr/>
          <a:lstStyle>
            <a:lvl1pPr>
              <a:defRPr sz="2800">
                <a:latin typeface="Century Gothic" pitchFamily="34" charset="0"/>
              </a:defRPr>
            </a:lvl1pPr>
            <a:lvl2pPr>
              <a:defRPr sz="2400">
                <a:latin typeface="Century Gothic" pitchFamily="34" charset="0"/>
              </a:defRPr>
            </a:lvl2pPr>
            <a:lvl3pPr>
              <a:defRPr sz="2000">
                <a:latin typeface="Century Gothic" pitchFamily="34" charset="0"/>
              </a:defRPr>
            </a:lvl3pPr>
            <a:lvl4pPr>
              <a:defRPr sz="1800">
                <a:latin typeface="Century Gothic" pitchFamily="34" charset="0"/>
              </a:defRPr>
            </a:lvl4pPr>
            <a:lvl5pPr>
              <a:defRPr sz="18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76600" y="1143000"/>
            <a:ext cx="5867400" cy="4983163"/>
          </a:xfrm>
        </p:spPr>
        <p:txBody>
          <a:bodyPr>
            <a:normAutofit/>
          </a:bodyPr>
          <a:lstStyle>
            <a:lvl1pPr>
              <a:defRPr sz="3200">
                <a:latin typeface="Century Gothic" pitchFamily="34" charset="0"/>
              </a:defRPr>
            </a:lvl1pPr>
            <a:lvl2pPr>
              <a:defRPr sz="2800">
                <a:latin typeface="Century Gothic" pitchFamily="34" charset="0"/>
              </a:defRPr>
            </a:lvl2pPr>
            <a:lvl3pPr>
              <a:defRPr sz="2400">
                <a:latin typeface="Century Gothic" pitchFamily="34" charset="0"/>
              </a:defRPr>
            </a:lvl3pPr>
            <a:lvl4pPr>
              <a:defRPr sz="2000">
                <a:latin typeface="Century Gothic" pitchFamily="34" charset="0"/>
              </a:defRPr>
            </a:lvl4pPr>
            <a:lvl5pPr>
              <a:defRPr sz="20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2912159916"/>
      </p:ext>
    </p:extLst>
  </p:cSld>
  <p:clrMapOvr>
    <a:masterClrMapping/>
  </p:clrMapOvr>
  <p:transition>
    <p:fade thruBlk="1"/>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600" baseline="0">
                <a:latin typeface="Century Gothic"/>
                <a:cs typeface="Century Gothic"/>
              </a:defRPr>
            </a:lvl1pPr>
            <a:lvl2pPr>
              <a:defRPr sz="3200" baseline="0">
                <a:latin typeface="Century Gothic"/>
                <a:cs typeface="Century Gothic"/>
              </a:defRPr>
            </a:lvl2pPr>
            <a:lvl3pPr>
              <a:defRPr sz="2800" baseline="0">
                <a:latin typeface="Century Gothic"/>
                <a:cs typeface="Century Gothic"/>
              </a:defRPr>
            </a:lvl3pPr>
            <a:lvl4pPr>
              <a:defRPr sz="2400" baseline="0">
                <a:latin typeface="Century Gothic"/>
                <a:cs typeface="Century Gothic"/>
              </a:defRPr>
            </a:lvl4pPr>
            <a:lvl5pPr>
              <a:defRPr sz="2400" baseline="0">
                <a:latin typeface="Century Gothic"/>
                <a:cs typeface="Century Gothi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2359308934"/>
      </p:ext>
    </p:extLst>
  </p:cSld>
  <p:clrMapOvr>
    <a:masterClrMapping/>
  </p:clrMapOvr>
  <p:transition>
    <p:fade thruBlk="1"/>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lvl1pPr>
              <a:defRPr>
                <a:latin typeface="Century Gothic"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190500" y="2019300"/>
            <a:ext cx="3086100" cy="3573463"/>
          </a:xfrm>
        </p:spPr>
        <p:txBody>
          <a:bodyPr/>
          <a:lstStyle>
            <a:lvl1pPr>
              <a:defRPr sz="2800">
                <a:latin typeface="Century Gothic" pitchFamily="34" charset="0"/>
              </a:defRPr>
            </a:lvl1pPr>
            <a:lvl2pPr>
              <a:defRPr sz="2400">
                <a:latin typeface="Century Gothic" pitchFamily="34" charset="0"/>
              </a:defRPr>
            </a:lvl2pPr>
            <a:lvl3pPr>
              <a:defRPr sz="2000">
                <a:latin typeface="Century Gothic" pitchFamily="34" charset="0"/>
              </a:defRPr>
            </a:lvl3pPr>
            <a:lvl4pPr>
              <a:defRPr sz="1800">
                <a:latin typeface="Century Gothic" pitchFamily="34" charset="0"/>
              </a:defRPr>
            </a:lvl4pPr>
            <a:lvl5pPr>
              <a:defRPr sz="18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76600" y="1143000"/>
            <a:ext cx="5867400" cy="4983163"/>
          </a:xfrm>
        </p:spPr>
        <p:txBody>
          <a:bodyPr>
            <a:normAutofit/>
          </a:bodyPr>
          <a:lstStyle>
            <a:lvl1pPr>
              <a:defRPr sz="3200">
                <a:latin typeface="Century Gothic" pitchFamily="34" charset="0"/>
              </a:defRPr>
            </a:lvl1pPr>
            <a:lvl2pPr>
              <a:defRPr sz="2800">
                <a:latin typeface="Century Gothic" pitchFamily="34" charset="0"/>
              </a:defRPr>
            </a:lvl2pPr>
            <a:lvl3pPr>
              <a:defRPr sz="2400">
                <a:latin typeface="Century Gothic" pitchFamily="34" charset="0"/>
              </a:defRPr>
            </a:lvl3pPr>
            <a:lvl4pPr>
              <a:defRPr sz="2000">
                <a:latin typeface="Century Gothic" pitchFamily="34" charset="0"/>
              </a:defRPr>
            </a:lvl4pPr>
            <a:lvl5pPr>
              <a:defRPr sz="20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08443429"/>
      </p:ext>
    </p:extLst>
  </p:cSld>
  <p:clrMapOvr>
    <a:masterClrMapping/>
  </p:clrMapOvr>
  <p:transition>
    <p:fade thruBlk="1"/>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600" baseline="0">
                <a:latin typeface="Century Gothic"/>
                <a:cs typeface="Century Gothic"/>
              </a:defRPr>
            </a:lvl1pPr>
            <a:lvl2pPr>
              <a:defRPr sz="3200" baseline="0">
                <a:latin typeface="Century Gothic"/>
                <a:cs typeface="Century Gothic"/>
              </a:defRPr>
            </a:lvl2pPr>
            <a:lvl3pPr>
              <a:defRPr sz="2800" baseline="0">
                <a:latin typeface="Century Gothic"/>
                <a:cs typeface="Century Gothic"/>
              </a:defRPr>
            </a:lvl3pPr>
            <a:lvl4pPr>
              <a:defRPr sz="2400" baseline="0">
                <a:latin typeface="Century Gothic"/>
                <a:cs typeface="Century Gothic"/>
              </a:defRPr>
            </a:lvl4pPr>
            <a:lvl5pPr>
              <a:defRPr sz="2400" baseline="0">
                <a:latin typeface="Century Gothic"/>
                <a:cs typeface="Century Gothi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2216141061"/>
      </p:ext>
    </p:extLst>
  </p:cSld>
  <p:clrMapOvr>
    <a:masterClrMapping/>
  </p:clrMapOvr>
  <p:transition>
    <p:fade thruBlk="1"/>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lvl1pPr>
              <a:defRPr>
                <a:latin typeface="Century Gothic"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190500" y="2019300"/>
            <a:ext cx="3086100" cy="3573463"/>
          </a:xfrm>
        </p:spPr>
        <p:txBody>
          <a:bodyPr/>
          <a:lstStyle>
            <a:lvl1pPr>
              <a:defRPr sz="2800">
                <a:latin typeface="Century Gothic" pitchFamily="34" charset="0"/>
              </a:defRPr>
            </a:lvl1pPr>
            <a:lvl2pPr>
              <a:defRPr sz="2400">
                <a:latin typeface="Century Gothic" pitchFamily="34" charset="0"/>
              </a:defRPr>
            </a:lvl2pPr>
            <a:lvl3pPr>
              <a:defRPr sz="2000">
                <a:latin typeface="Century Gothic" pitchFamily="34" charset="0"/>
              </a:defRPr>
            </a:lvl3pPr>
            <a:lvl4pPr>
              <a:defRPr sz="1800">
                <a:latin typeface="Century Gothic" pitchFamily="34" charset="0"/>
              </a:defRPr>
            </a:lvl4pPr>
            <a:lvl5pPr>
              <a:defRPr sz="18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76600" y="1143000"/>
            <a:ext cx="5867400" cy="4983163"/>
          </a:xfrm>
        </p:spPr>
        <p:txBody>
          <a:bodyPr>
            <a:normAutofit/>
          </a:bodyPr>
          <a:lstStyle>
            <a:lvl1pPr>
              <a:defRPr sz="3200">
                <a:latin typeface="Century Gothic" pitchFamily="34" charset="0"/>
              </a:defRPr>
            </a:lvl1pPr>
            <a:lvl2pPr>
              <a:defRPr sz="2800">
                <a:latin typeface="Century Gothic" pitchFamily="34" charset="0"/>
              </a:defRPr>
            </a:lvl2pPr>
            <a:lvl3pPr>
              <a:defRPr sz="2400">
                <a:latin typeface="Century Gothic" pitchFamily="34" charset="0"/>
              </a:defRPr>
            </a:lvl3pPr>
            <a:lvl4pPr>
              <a:defRPr sz="2000">
                <a:latin typeface="Century Gothic" pitchFamily="34" charset="0"/>
              </a:defRPr>
            </a:lvl4pPr>
            <a:lvl5pPr>
              <a:defRPr sz="20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574573321"/>
      </p:ext>
    </p:extLst>
  </p:cSld>
  <p:clrMapOvr>
    <a:masterClrMapping/>
  </p:clrMapOvr>
  <p:transition>
    <p:fade thruBlk="1"/>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17671972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_Custom Layout">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828800" y="2438400"/>
            <a:ext cx="5245100" cy="3932581"/>
          </a:xfrm>
          <a:prstGeom prst="rect">
            <a:avLst/>
          </a:prstGeom>
        </p:spPr>
      </p:pic>
      <p:sp>
        <p:nvSpPr>
          <p:cNvPr id="7" name="Content Placeholder 2"/>
          <p:cNvSpPr>
            <a:spLocks noGrp="1"/>
          </p:cNvSpPr>
          <p:nvPr>
            <p:ph idx="1"/>
          </p:nvPr>
        </p:nvSpPr>
        <p:spPr>
          <a:xfrm>
            <a:off x="457200" y="1143000"/>
            <a:ext cx="8686800" cy="1371600"/>
          </a:xfrm>
        </p:spPr>
        <p:txBody>
          <a:bodyPr>
            <a:noAutofit/>
          </a:bodyPr>
          <a:lstStyle>
            <a:lvl1pPr>
              <a:defRPr sz="3200" baseline="0">
                <a:latin typeface="Century Gothic"/>
                <a:cs typeface="Century Gothic"/>
              </a:defRPr>
            </a:lvl1pPr>
            <a:lvl2pPr>
              <a:defRPr sz="2800" baseline="0">
                <a:latin typeface="Century Gothic"/>
                <a:cs typeface="Century Gothic"/>
              </a:defRPr>
            </a:lvl2pPr>
            <a:lvl3pPr>
              <a:defRPr sz="2400" baseline="0">
                <a:latin typeface="Candara" pitchFamily="34" charset="0"/>
              </a:defRPr>
            </a:lvl3pPr>
            <a:lvl4pPr>
              <a:defRPr sz="2000" baseline="0">
                <a:latin typeface="Candara" pitchFamily="34" charset="0"/>
              </a:defRPr>
            </a:lvl4pPr>
            <a:lvl5pPr>
              <a:defRPr sz="2000" baseline="0">
                <a:latin typeface="Candara" pitchFamily="34" charset="0"/>
              </a:defRPr>
            </a:lvl5pPr>
          </a:lstStyle>
          <a:p>
            <a:pPr lvl="0"/>
            <a:r>
              <a:rPr lang="en-US"/>
              <a:t>Click to edit Master text styles</a:t>
            </a:r>
          </a:p>
          <a:p>
            <a:pPr lvl="1"/>
            <a:r>
              <a:rPr lang="en-US"/>
              <a:t>Second level</a:t>
            </a:r>
          </a:p>
        </p:txBody>
      </p:sp>
      <p:sp>
        <p:nvSpPr>
          <p:cNvPr id="9"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
        <p:nvSpPr>
          <p:cNvPr id="10" name="Footer Placeholder 2"/>
          <p:cNvSpPr txBox="1">
            <a:spLocks/>
          </p:cNvSpPr>
          <p:nvPr userDrawn="1"/>
        </p:nvSpPr>
        <p:spPr>
          <a:xfrm>
            <a:off x="1390603" y="6755659"/>
            <a:ext cx="7096993" cy="2286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000" kern="0" cap="all" spc="1060">
                <a:solidFill>
                  <a:prstClr val="white">
                    <a:lumMod val="50000"/>
                  </a:prstClr>
                </a:solidFill>
                <a:latin typeface="Gill Sans"/>
                <a:cs typeface="Gill Sans"/>
              </a:rPr>
              <a:t>Copyright 2016 Worth Publishers    </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1651972011"/>
      </p:ext>
    </p:extLst>
  </p:cSld>
  <p:clrMapOvr>
    <a:masterClrMapping/>
  </p:clrMapOvr>
  <p:transition>
    <p:fade thruBlk="1"/>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a:prstGeom prst="rect">
            <a:avLst/>
          </a:prstGeo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ight Arrow 8">
            <a:hlinkClick r:id="" action="ppaction://noaction"/>
          </p:cNvPr>
          <p:cNvSpPr/>
          <p:nvPr userDrawn="1"/>
        </p:nvSpPr>
        <p:spPr>
          <a:xfrm>
            <a:off x="0" y="5952053"/>
            <a:ext cx="1143000" cy="905947"/>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a:defRPr/>
            </a:pPr>
            <a:r>
              <a:rPr lang="en-US" sz="11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hlinkClick r:id="" action="ppaction://noaction"/>
              </a:rPr>
              <a:t>To </a:t>
            </a:r>
            <a:r>
              <a:rPr lang="en-US" sz="11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rPr>
              <a:t>Active Learning</a:t>
            </a:r>
          </a:p>
        </p:txBody>
      </p:sp>
      <p:pic>
        <p:nvPicPr>
          <p:cNvPr id="10" name="Picture 9">
            <a:hlinkClick r:id="" action="ppaction://noaction"/>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974496" y="6028188"/>
            <a:ext cx="1143000" cy="856979"/>
          </a:xfrm>
          <a:prstGeom prst="rect">
            <a:avLst/>
          </a:prstGeom>
        </p:spPr>
      </p:pic>
      <p:sp>
        <p:nvSpPr>
          <p:cNvPr id="11" name="TextBox 10"/>
          <p:cNvSpPr txBox="1"/>
          <p:nvPr userDrawn="1"/>
        </p:nvSpPr>
        <p:spPr>
          <a:xfrm>
            <a:off x="8126895" y="6209547"/>
            <a:ext cx="634182" cy="523220"/>
          </a:xfrm>
          <a:prstGeom prst="rect">
            <a:avLst/>
          </a:prstGeom>
          <a:noFill/>
        </p:spPr>
        <p:txBody>
          <a:bodyPr wrap="square" rtlCol="0">
            <a:spAutoFit/>
          </a:bodyPr>
          <a:lstStyle/>
          <a:p>
            <a:r>
              <a:rPr lang="en-US" sz="1400" b="1" dirty="0">
                <a:solidFill>
                  <a:prstClr val="white"/>
                </a:solidFill>
                <a:effectLst>
                  <a:outerShdw blurRad="38100" dist="38100" dir="2700000" algn="tl">
                    <a:srgbClr val="000000">
                      <a:alpha val="43137"/>
                    </a:srgbClr>
                  </a:outerShdw>
                </a:effectLst>
                <a:latin typeface="Calibri"/>
                <a:hlinkClick r:id="" action="ppaction://noaction"/>
              </a:rPr>
              <a:t>To Video</a:t>
            </a:r>
            <a:endParaRPr lang="en-US" sz="1400" b="1" dirty="0">
              <a:solidFill>
                <a:prstClr val="white"/>
              </a:solidFill>
              <a:effectLst>
                <a:outerShdw blurRad="38100" dist="38100" dir="2700000" algn="tl">
                  <a:srgbClr val="000000">
                    <a:alpha val="43137"/>
                  </a:srgbClr>
                </a:outerShdw>
              </a:effectLst>
              <a:latin typeface="Calibri"/>
            </a:endParaRPr>
          </a:p>
        </p:txBody>
      </p:sp>
      <p:sp>
        <p:nvSpPr>
          <p:cNvPr id="13"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33226587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PhAnim="0"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    </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1440361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2"/>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8003489" y="0"/>
            <a:ext cx="1140511" cy="771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0" y="0"/>
            <a:ext cx="9144000" cy="8382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    </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31777456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pic>
        <p:nvPicPr>
          <p:cNvPr id="2" name="Picture 8"/>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bwMode="auto">
          <a:xfrm>
            <a:off x="1828800" y="2438400"/>
            <a:ext cx="5245100" cy="393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p:cNvSpPr>
            <a:spLocks noGrp="1"/>
          </p:cNvSpPr>
          <p:nvPr>
            <p:ph type="dt" sz="half" idx="10"/>
          </p:nvPr>
        </p:nvSpPr>
        <p:spPr>
          <a:xfrm>
            <a:off x="457200" y="6356350"/>
            <a:ext cx="381000" cy="365125"/>
          </a:xfrm>
          <a:prstGeom prst="rect">
            <a:avLst/>
          </a:prstGeom>
        </p:spPr>
        <p:txBody>
          <a:bodyPr/>
          <a:lstStyle>
            <a:lvl1pPr>
              <a:defRPr/>
            </a:lvl1pPr>
          </a:lstStyle>
          <a:p>
            <a:pPr>
              <a:defRPr/>
            </a:pPr>
            <a:endParaRPr lang="en-US">
              <a:solidFill>
                <a:prstClr val="black"/>
              </a:solidFill>
              <a:latin typeface="Calibri"/>
            </a:endParaRPr>
          </a:p>
        </p:txBody>
      </p:sp>
      <p:sp>
        <p:nvSpPr>
          <p:cNvPr id="4" name="Footer Placeholder 3"/>
          <p:cNvSpPr>
            <a:spLocks noGrp="1"/>
          </p:cNvSpPr>
          <p:nvPr>
            <p:ph type="ftr" sz="quarter" idx="11"/>
          </p:nvPr>
        </p:nvSpPr>
        <p:spPr/>
        <p:txBody>
          <a:bodyPr/>
          <a:lstStyle>
            <a:lvl1pPr>
              <a:defRPr smtClean="0"/>
            </a:lvl1pPr>
          </a:lstStyle>
          <a:p>
            <a:pPr>
              <a:defRPr/>
            </a:pPr>
            <a:r>
              <a:rPr lang="en-US">
                <a:solidFill>
                  <a:prstClr val="black">
                    <a:lumMod val="50000"/>
                    <a:lumOff val="50000"/>
                  </a:prstClr>
                </a:solidFill>
                <a:latin typeface="Calibri"/>
              </a:rPr>
              <a:t>Copyright 2015 Worth Publishers    </a:t>
            </a:r>
          </a:p>
        </p:txBody>
      </p:sp>
      <p:sp>
        <p:nvSpPr>
          <p:cNvPr id="5" name="Slide Number Placeholder 4"/>
          <p:cNvSpPr>
            <a:spLocks noGrp="1"/>
          </p:cNvSpPr>
          <p:nvPr>
            <p:ph type="sldNum" sz="quarter" idx="12"/>
          </p:nvPr>
        </p:nvSpPr>
        <p:spPr>
          <a:xfrm>
            <a:off x="8153400" y="6400800"/>
            <a:ext cx="457200" cy="228600"/>
          </a:xfrm>
          <a:prstGeom prst="rect">
            <a:avLst/>
          </a:prstGeom>
        </p:spPr>
        <p:txBody>
          <a:bodyPr/>
          <a:lstStyle>
            <a:lvl1pPr>
              <a:defRPr/>
            </a:lvl1pPr>
          </a:lstStyle>
          <a:p>
            <a:pPr>
              <a:defRPr/>
            </a:pPr>
            <a:fld id="{6FC55AF1-12B8-4F2E-9D8C-124ED26B0F03}" type="slidenum">
              <a:rPr lang="en-US">
                <a:solidFill>
                  <a:prstClr val="black"/>
                </a:solidFill>
                <a:latin typeface="Calibri"/>
              </a:rPr>
              <a:pPr>
                <a:defRPr/>
              </a:pPr>
              <a:t>‹#›</a:t>
            </a:fld>
            <a:endParaRPr lang="en-US">
              <a:solidFill>
                <a:prstClr val="black"/>
              </a:solidFill>
              <a:latin typeface="Calibri"/>
            </a:endParaRPr>
          </a:p>
        </p:txBody>
      </p:sp>
    </p:spTree>
    <p:extLst>
      <p:ext uri="{BB962C8B-B14F-4D97-AF65-F5344CB8AC3E}">
        <p14:creationId xmlns:p14="http://schemas.microsoft.com/office/powerpoint/2010/main" val="2261660037"/>
      </p:ext>
    </p:extLst>
  </p:cSld>
  <p:clrMapOvr>
    <a:masterClrMapping/>
  </p:clrMapOvr>
  <p:transition>
    <p:fade thruBlk="1"/>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lvl1pPr>
              <a:defRPr>
                <a:latin typeface="Century Gothic"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190500" y="2019300"/>
            <a:ext cx="3086100" cy="3573463"/>
          </a:xfrm>
        </p:spPr>
        <p:txBody>
          <a:bodyPr/>
          <a:lstStyle>
            <a:lvl1pPr>
              <a:defRPr sz="2800">
                <a:latin typeface="Century Gothic" pitchFamily="34" charset="0"/>
              </a:defRPr>
            </a:lvl1pPr>
            <a:lvl2pPr>
              <a:defRPr sz="2400">
                <a:latin typeface="Century Gothic" pitchFamily="34" charset="0"/>
              </a:defRPr>
            </a:lvl2pPr>
            <a:lvl3pPr>
              <a:defRPr sz="2000">
                <a:latin typeface="Century Gothic" pitchFamily="34" charset="0"/>
              </a:defRPr>
            </a:lvl3pPr>
            <a:lvl4pPr>
              <a:defRPr sz="1800">
                <a:latin typeface="Century Gothic" pitchFamily="34" charset="0"/>
              </a:defRPr>
            </a:lvl4pPr>
            <a:lvl5pPr>
              <a:defRPr sz="18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76600" y="1143000"/>
            <a:ext cx="5867400" cy="4983163"/>
          </a:xfrm>
        </p:spPr>
        <p:txBody>
          <a:bodyPr>
            <a:normAutofit/>
          </a:bodyPr>
          <a:lstStyle>
            <a:lvl1pPr>
              <a:defRPr sz="3200">
                <a:latin typeface="Century Gothic" pitchFamily="34" charset="0"/>
              </a:defRPr>
            </a:lvl1pPr>
            <a:lvl2pPr>
              <a:defRPr sz="2800">
                <a:latin typeface="Century Gothic" pitchFamily="34" charset="0"/>
              </a:defRPr>
            </a:lvl2pPr>
            <a:lvl3pPr>
              <a:defRPr sz="2400">
                <a:latin typeface="Century Gothic" pitchFamily="34" charset="0"/>
              </a:defRPr>
            </a:lvl3pPr>
            <a:lvl4pPr>
              <a:defRPr sz="2000">
                <a:latin typeface="Century Gothic" pitchFamily="34" charset="0"/>
              </a:defRPr>
            </a:lvl4pPr>
            <a:lvl5pPr>
              <a:defRPr sz="20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5"/>
          <p:cNvSpPr>
            <a:spLocks noGrp="1"/>
          </p:cNvSpPr>
          <p:nvPr>
            <p:ph type="ftr" sz="quarter" idx="10"/>
          </p:nvPr>
        </p:nvSpPr>
        <p:spPr>
          <a:xfrm>
            <a:off x="914400" y="6629400"/>
            <a:ext cx="7315200" cy="212725"/>
          </a:xfrm>
        </p:spPr>
        <p:txBody>
          <a:bodyPr/>
          <a:lstStyle>
            <a:lvl1pPr>
              <a:defRPr>
                <a:solidFill>
                  <a:schemeClr val="tx1">
                    <a:tint val="75000"/>
                  </a:schemeClr>
                </a:solidFill>
              </a:defRPr>
            </a:lvl1pPr>
          </a:lstStyle>
          <a:p>
            <a:pPr>
              <a:defRPr/>
            </a:pPr>
            <a:r>
              <a:rPr lang="en-US">
                <a:solidFill>
                  <a:prstClr val="black">
                    <a:tint val="75000"/>
                  </a:prstClr>
                </a:solidFill>
                <a:latin typeface="Calibri"/>
              </a:rPr>
              <a:t>Copyright 2015 Worth Publishers    </a:t>
            </a:r>
          </a:p>
        </p:txBody>
      </p:sp>
    </p:spTree>
    <p:extLst>
      <p:ext uri="{BB962C8B-B14F-4D97-AF65-F5344CB8AC3E}">
        <p14:creationId xmlns:p14="http://schemas.microsoft.com/office/powerpoint/2010/main" val="720120651"/>
      </p:ext>
    </p:extLst>
  </p:cSld>
  <p:clrMapOvr>
    <a:masterClrMapping/>
  </p:clrMapOvr>
  <p:transition>
    <p:fade thruBlk="1"/>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PhAnim="0"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    </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3271102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2"/>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8003489" y="0"/>
            <a:ext cx="1140511" cy="771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0" y="0"/>
            <a:ext cx="9144000" cy="8382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    </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77268999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pic>
        <p:nvPicPr>
          <p:cNvPr id="2" name="Picture 8"/>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bwMode="auto">
          <a:xfrm>
            <a:off x="1828800" y="2438400"/>
            <a:ext cx="5245100" cy="393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p:cNvSpPr>
            <a:spLocks noGrp="1"/>
          </p:cNvSpPr>
          <p:nvPr>
            <p:ph type="dt" sz="half" idx="10"/>
          </p:nvPr>
        </p:nvSpPr>
        <p:spPr>
          <a:xfrm>
            <a:off x="457200" y="6356350"/>
            <a:ext cx="381000" cy="365125"/>
          </a:xfrm>
          <a:prstGeom prst="rect">
            <a:avLst/>
          </a:prstGeom>
        </p:spPr>
        <p:txBody>
          <a:bodyPr/>
          <a:lstStyle>
            <a:lvl1pPr>
              <a:defRPr/>
            </a:lvl1pPr>
          </a:lstStyle>
          <a:p>
            <a:pPr>
              <a:defRPr/>
            </a:pPr>
            <a:endParaRPr lang="en-US">
              <a:solidFill>
                <a:prstClr val="black"/>
              </a:solidFill>
              <a:latin typeface="Calibri"/>
            </a:endParaRPr>
          </a:p>
        </p:txBody>
      </p:sp>
      <p:sp>
        <p:nvSpPr>
          <p:cNvPr id="4" name="Footer Placeholder 3"/>
          <p:cNvSpPr>
            <a:spLocks noGrp="1"/>
          </p:cNvSpPr>
          <p:nvPr>
            <p:ph type="ftr" sz="quarter" idx="11"/>
          </p:nvPr>
        </p:nvSpPr>
        <p:spPr/>
        <p:txBody>
          <a:bodyPr/>
          <a:lstStyle>
            <a:lvl1pPr>
              <a:defRPr smtClean="0"/>
            </a:lvl1pPr>
          </a:lstStyle>
          <a:p>
            <a:pPr>
              <a:defRPr/>
            </a:pPr>
            <a:r>
              <a:rPr lang="en-US">
                <a:solidFill>
                  <a:prstClr val="black">
                    <a:lumMod val="50000"/>
                    <a:lumOff val="50000"/>
                  </a:prstClr>
                </a:solidFill>
                <a:latin typeface="Calibri"/>
              </a:rPr>
              <a:t>Copyright 2015 Worth Publishers    </a:t>
            </a:r>
          </a:p>
        </p:txBody>
      </p:sp>
      <p:sp>
        <p:nvSpPr>
          <p:cNvPr id="5" name="Slide Number Placeholder 4"/>
          <p:cNvSpPr>
            <a:spLocks noGrp="1"/>
          </p:cNvSpPr>
          <p:nvPr>
            <p:ph type="sldNum" sz="quarter" idx="12"/>
          </p:nvPr>
        </p:nvSpPr>
        <p:spPr>
          <a:xfrm>
            <a:off x="8153400" y="6400800"/>
            <a:ext cx="457200" cy="228600"/>
          </a:xfrm>
          <a:prstGeom prst="rect">
            <a:avLst/>
          </a:prstGeom>
        </p:spPr>
        <p:txBody>
          <a:bodyPr/>
          <a:lstStyle>
            <a:lvl1pPr>
              <a:defRPr/>
            </a:lvl1pPr>
          </a:lstStyle>
          <a:p>
            <a:pPr>
              <a:defRPr/>
            </a:pPr>
            <a:fld id="{6FC55AF1-12B8-4F2E-9D8C-124ED26B0F03}" type="slidenum">
              <a:rPr lang="en-US">
                <a:solidFill>
                  <a:prstClr val="black"/>
                </a:solidFill>
                <a:latin typeface="Calibri"/>
              </a:rPr>
              <a:pPr>
                <a:defRPr/>
              </a:pPr>
              <a:t>‹#›</a:t>
            </a:fld>
            <a:endParaRPr lang="en-US">
              <a:solidFill>
                <a:prstClr val="black"/>
              </a:solidFill>
              <a:latin typeface="Calibri"/>
            </a:endParaRPr>
          </a:p>
        </p:txBody>
      </p:sp>
    </p:spTree>
    <p:extLst>
      <p:ext uri="{BB962C8B-B14F-4D97-AF65-F5344CB8AC3E}">
        <p14:creationId xmlns:p14="http://schemas.microsoft.com/office/powerpoint/2010/main" val="956698576"/>
      </p:ext>
    </p:extLst>
  </p:cSld>
  <p:clrMapOvr>
    <a:masterClrMapping/>
  </p:clrMapOvr>
  <p:transition>
    <p:fade thruBlk="1"/>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lvl1pPr>
              <a:defRPr>
                <a:latin typeface="Century Gothic"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190500" y="2019300"/>
            <a:ext cx="3086100" cy="3573463"/>
          </a:xfrm>
        </p:spPr>
        <p:txBody>
          <a:bodyPr/>
          <a:lstStyle>
            <a:lvl1pPr>
              <a:defRPr sz="2800">
                <a:latin typeface="Century Gothic" pitchFamily="34" charset="0"/>
              </a:defRPr>
            </a:lvl1pPr>
            <a:lvl2pPr>
              <a:defRPr sz="2400">
                <a:latin typeface="Century Gothic" pitchFamily="34" charset="0"/>
              </a:defRPr>
            </a:lvl2pPr>
            <a:lvl3pPr>
              <a:defRPr sz="2000">
                <a:latin typeface="Century Gothic" pitchFamily="34" charset="0"/>
              </a:defRPr>
            </a:lvl3pPr>
            <a:lvl4pPr>
              <a:defRPr sz="1800">
                <a:latin typeface="Century Gothic" pitchFamily="34" charset="0"/>
              </a:defRPr>
            </a:lvl4pPr>
            <a:lvl5pPr>
              <a:defRPr sz="18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76600" y="1143000"/>
            <a:ext cx="5867400" cy="4983163"/>
          </a:xfrm>
        </p:spPr>
        <p:txBody>
          <a:bodyPr>
            <a:normAutofit/>
          </a:bodyPr>
          <a:lstStyle>
            <a:lvl1pPr>
              <a:defRPr sz="3200">
                <a:latin typeface="Century Gothic" pitchFamily="34" charset="0"/>
              </a:defRPr>
            </a:lvl1pPr>
            <a:lvl2pPr>
              <a:defRPr sz="2800">
                <a:latin typeface="Century Gothic" pitchFamily="34" charset="0"/>
              </a:defRPr>
            </a:lvl2pPr>
            <a:lvl3pPr>
              <a:defRPr sz="2400">
                <a:latin typeface="Century Gothic" pitchFamily="34" charset="0"/>
              </a:defRPr>
            </a:lvl3pPr>
            <a:lvl4pPr>
              <a:defRPr sz="2000">
                <a:latin typeface="Century Gothic" pitchFamily="34" charset="0"/>
              </a:defRPr>
            </a:lvl4pPr>
            <a:lvl5pPr>
              <a:defRPr sz="20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5"/>
          <p:cNvSpPr>
            <a:spLocks noGrp="1"/>
          </p:cNvSpPr>
          <p:nvPr>
            <p:ph type="ftr" sz="quarter" idx="10"/>
          </p:nvPr>
        </p:nvSpPr>
        <p:spPr>
          <a:xfrm>
            <a:off x="914400" y="6629400"/>
            <a:ext cx="7315200" cy="212725"/>
          </a:xfrm>
        </p:spPr>
        <p:txBody>
          <a:bodyPr/>
          <a:lstStyle>
            <a:lvl1pPr>
              <a:defRPr>
                <a:solidFill>
                  <a:schemeClr val="tx1">
                    <a:tint val="75000"/>
                  </a:schemeClr>
                </a:solidFill>
              </a:defRPr>
            </a:lvl1pPr>
          </a:lstStyle>
          <a:p>
            <a:pPr>
              <a:defRPr/>
            </a:pPr>
            <a:r>
              <a:rPr lang="en-US">
                <a:solidFill>
                  <a:prstClr val="black">
                    <a:tint val="75000"/>
                  </a:prstClr>
                </a:solidFill>
                <a:latin typeface="Calibri"/>
              </a:rPr>
              <a:t>Copyright 2015 Worth Publishers    </a:t>
            </a:r>
          </a:p>
        </p:txBody>
      </p:sp>
    </p:spTree>
    <p:extLst>
      <p:ext uri="{BB962C8B-B14F-4D97-AF65-F5344CB8AC3E}">
        <p14:creationId xmlns:p14="http://schemas.microsoft.com/office/powerpoint/2010/main" val="218827925"/>
      </p:ext>
    </p:extLst>
  </p:cSld>
  <p:clrMapOvr>
    <a:masterClrMapping/>
  </p:clrMapOvr>
  <p:transition>
    <p:fade thruBlk="1"/>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PhAnim="0"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    </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267633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2"/>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8003489" y="0"/>
            <a:ext cx="1140511" cy="771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0" y="0"/>
            <a:ext cx="9144000" cy="8382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    </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33466507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pic>
        <p:nvPicPr>
          <p:cNvPr id="2" name="Picture 8"/>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bwMode="auto">
          <a:xfrm>
            <a:off x="1828800" y="2438400"/>
            <a:ext cx="5245100" cy="393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p:cNvSpPr>
            <a:spLocks noGrp="1"/>
          </p:cNvSpPr>
          <p:nvPr>
            <p:ph type="dt" sz="half" idx="10"/>
          </p:nvPr>
        </p:nvSpPr>
        <p:spPr>
          <a:xfrm>
            <a:off x="457200" y="6356350"/>
            <a:ext cx="381000" cy="365125"/>
          </a:xfrm>
          <a:prstGeom prst="rect">
            <a:avLst/>
          </a:prstGeom>
        </p:spPr>
        <p:txBody>
          <a:bodyPr/>
          <a:lstStyle>
            <a:lvl1pPr>
              <a:defRPr/>
            </a:lvl1pPr>
          </a:lstStyle>
          <a:p>
            <a:pPr>
              <a:defRPr/>
            </a:pPr>
            <a:endParaRPr lang="en-US">
              <a:solidFill>
                <a:prstClr val="black"/>
              </a:solidFill>
              <a:latin typeface="Calibri"/>
            </a:endParaRPr>
          </a:p>
        </p:txBody>
      </p:sp>
      <p:sp>
        <p:nvSpPr>
          <p:cNvPr id="4" name="Footer Placeholder 3"/>
          <p:cNvSpPr>
            <a:spLocks noGrp="1"/>
          </p:cNvSpPr>
          <p:nvPr>
            <p:ph type="ftr" sz="quarter" idx="11"/>
          </p:nvPr>
        </p:nvSpPr>
        <p:spPr/>
        <p:txBody>
          <a:bodyPr/>
          <a:lstStyle>
            <a:lvl1pPr>
              <a:defRPr smtClean="0"/>
            </a:lvl1pPr>
          </a:lstStyle>
          <a:p>
            <a:pPr>
              <a:defRPr/>
            </a:pPr>
            <a:r>
              <a:rPr lang="en-US">
                <a:solidFill>
                  <a:prstClr val="black">
                    <a:lumMod val="50000"/>
                    <a:lumOff val="50000"/>
                  </a:prstClr>
                </a:solidFill>
                <a:latin typeface="Calibri"/>
              </a:rPr>
              <a:t>Copyright 2015 Worth Publishers    </a:t>
            </a:r>
          </a:p>
        </p:txBody>
      </p:sp>
      <p:sp>
        <p:nvSpPr>
          <p:cNvPr id="5" name="Slide Number Placeholder 4"/>
          <p:cNvSpPr>
            <a:spLocks noGrp="1"/>
          </p:cNvSpPr>
          <p:nvPr>
            <p:ph type="sldNum" sz="quarter" idx="12"/>
          </p:nvPr>
        </p:nvSpPr>
        <p:spPr>
          <a:xfrm>
            <a:off x="8153400" y="6400800"/>
            <a:ext cx="457200" cy="228600"/>
          </a:xfrm>
          <a:prstGeom prst="rect">
            <a:avLst/>
          </a:prstGeom>
        </p:spPr>
        <p:txBody>
          <a:bodyPr/>
          <a:lstStyle>
            <a:lvl1pPr>
              <a:defRPr/>
            </a:lvl1pPr>
          </a:lstStyle>
          <a:p>
            <a:pPr>
              <a:defRPr/>
            </a:pPr>
            <a:fld id="{6FC55AF1-12B8-4F2E-9D8C-124ED26B0F03}" type="slidenum">
              <a:rPr lang="en-US">
                <a:solidFill>
                  <a:prstClr val="black"/>
                </a:solidFill>
                <a:latin typeface="Calibri"/>
              </a:rPr>
              <a:pPr>
                <a:defRPr/>
              </a:pPr>
              <a:t>‹#›</a:t>
            </a:fld>
            <a:endParaRPr lang="en-US">
              <a:solidFill>
                <a:prstClr val="black"/>
              </a:solidFill>
              <a:latin typeface="Calibri"/>
            </a:endParaRPr>
          </a:p>
        </p:txBody>
      </p:sp>
    </p:spTree>
    <p:extLst>
      <p:ext uri="{BB962C8B-B14F-4D97-AF65-F5344CB8AC3E}">
        <p14:creationId xmlns:p14="http://schemas.microsoft.com/office/powerpoint/2010/main" val="1395213932"/>
      </p:ext>
    </p:extLst>
  </p:cSld>
  <p:clrMapOvr>
    <a:masterClrMapping/>
  </p:clrMapOvr>
  <p:transition>
    <p:fade thruBlk="1"/>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lvl1pPr>
              <a:defRPr>
                <a:latin typeface="Century Gothic"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190500" y="2019300"/>
            <a:ext cx="3086100" cy="3573463"/>
          </a:xfrm>
        </p:spPr>
        <p:txBody>
          <a:bodyPr/>
          <a:lstStyle>
            <a:lvl1pPr>
              <a:defRPr sz="2800">
                <a:latin typeface="Century Gothic" pitchFamily="34" charset="0"/>
              </a:defRPr>
            </a:lvl1pPr>
            <a:lvl2pPr>
              <a:defRPr sz="2400">
                <a:latin typeface="Century Gothic" pitchFamily="34" charset="0"/>
              </a:defRPr>
            </a:lvl2pPr>
            <a:lvl3pPr>
              <a:defRPr sz="2000">
                <a:latin typeface="Century Gothic" pitchFamily="34" charset="0"/>
              </a:defRPr>
            </a:lvl3pPr>
            <a:lvl4pPr>
              <a:defRPr sz="1800">
                <a:latin typeface="Century Gothic" pitchFamily="34" charset="0"/>
              </a:defRPr>
            </a:lvl4pPr>
            <a:lvl5pPr>
              <a:defRPr sz="18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76600" y="1143000"/>
            <a:ext cx="5867400" cy="4983163"/>
          </a:xfrm>
        </p:spPr>
        <p:txBody>
          <a:bodyPr>
            <a:normAutofit/>
          </a:bodyPr>
          <a:lstStyle>
            <a:lvl1pPr>
              <a:defRPr sz="3200">
                <a:latin typeface="Century Gothic" pitchFamily="34" charset="0"/>
              </a:defRPr>
            </a:lvl1pPr>
            <a:lvl2pPr>
              <a:defRPr sz="2800">
                <a:latin typeface="Century Gothic" pitchFamily="34" charset="0"/>
              </a:defRPr>
            </a:lvl2pPr>
            <a:lvl3pPr>
              <a:defRPr sz="2400">
                <a:latin typeface="Century Gothic" pitchFamily="34" charset="0"/>
              </a:defRPr>
            </a:lvl3pPr>
            <a:lvl4pPr>
              <a:defRPr sz="2000">
                <a:latin typeface="Century Gothic" pitchFamily="34" charset="0"/>
              </a:defRPr>
            </a:lvl4pPr>
            <a:lvl5pPr>
              <a:defRPr sz="20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5"/>
          <p:cNvSpPr>
            <a:spLocks noGrp="1"/>
          </p:cNvSpPr>
          <p:nvPr>
            <p:ph type="ftr" sz="quarter" idx="10"/>
          </p:nvPr>
        </p:nvSpPr>
        <p:spPr>
          <a:xfrm>
            <a:off x="914400" y="6629400"/>
            <a:ext cx="7315200" cy="212725"/>
          </a:xfrm>
        </p:spPr>
        <p:txBody>
          <a:bodyPr/>
          <a:lstStyle>
            <a:lvl1pPr>
              <a:defRPr>
                <a:solidFill>
                  <a:schemeClr val="tx1">
                    <a:tint val="75000"/>
                  </a:schemeClr>
                </a:solidFill>
              </a:defRPr>
            </a:lvl1pPr>
          </a:lstStyle>
          <a:p>
            <a:pPr>
              <a:defRPr/>
            </a:pPr>
            <a:r>
              <a:rPr lang="en-US">
                <a:solidFill>
                  <a:prstClr val="black">
                    <a:tint val="75000"/>
                  </a:prstClr>
                </a:solidFill>
                <a:latin typeface="Calibri"/>
              </a:rPr>
              <a:t>Copyright 2015 Worth Publishers    </a:t>
            </a:r>
          </a:p>
        </p:txBody>
      </p:sp>
    </p:spTree>
    <p:extLst>
      <p:ext uri="{BB962C8B-B14F-4D97-AF65-F5344CB8AC3E}">
        <p14:creationId xmlns:p14="http://schemas.microsoft.com/office/powerpoint/2010/main" val="897373660"/>
      </p:ext>
    </p:extLst>
  </p:cSld>
  <p:clrMapOvr>
    <a:masterClrMapping/>
  </p:clrMapOvr>
  <p:transition>
    <p:fade thruBlk="1"/>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    </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5182052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PhAnim="0"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Placeholder 1"/>
          <p:cNvSpPr txBox="1">
            <a:spLocks/>
          </p:cNvSpPr>
          <p:nvPr userDrawn="1"/>
        </p:nvSpPr>
        <p:spPr>
          <a:xfrm>
            <a:off x="1" y="392043"/>
            <a:ext cx="3263366" cy="838200"/>
          </a:xfrm>
          <a:prstGeom prst="rect">
            <a:avLst/>
          </a:prstGeom>
          <a:noFill/>
        </p:spPr>
        <p:txBody>
          <a:bodyPr vert="horz" lIns="91440" tIns="45720" rIns="91440" bIns="45720" rtlCol="0" anchor="ctr">
            <a:noAutofit/>
          </a:bodyPr>
          <a:lst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a:lstStyle>
          <a:p>
            <a:r>
              <a:rPr lang="en-US">
                <a:solidFill>
                  <a:srgbClr val="4BACC6">
                    <a:lumMod val="75000"/>
                  </a:srgbClr>
                </a:solidFill>
              </a:rPr>
              <a:t>ECONOMICS</a:t>
            </a:r>
            <a:endParaRPr lang="en-US" dirty="0">
              <a:solidFill>
                <a:srgbClr val="4BACC6">
                  <a:lumMod val="75000"/>
                </a:srgbClr>
              </a:solidFill>
            </a:endParaRPr>
          </a:p>
        </p:txBody>
      </p:sp>
      <p:sp>
        <p:nvSpPr>
          <p:cNvPr id="7" name="Footer Placeholder 1"/>
          <p:cNvSpPr>
            <a:spLocks noGrp="1"/>
          </p:cNvSpPr>
          <p:nvPr>
            <p:ph type="ftr" sz="quarter" idx="3"/>
          </p:nvPr>
        </p:nvSpPr>
        <p:spPr>
          <a:xfrm>
            <a:off x="1455229" y="6603259"/>
            <a:ext cx="7096993" cy="228600"/>
          </a:xfrm>
          <a:prstGeom prst="rect">
            <a:avLst/>
          </a:prstGeom>
        </p:spPr>
        <p:txBody>
          <a:bodyPr/>
          <a:lstStyle>
            <a:lvl1pPr>
              <a:defRPr>
                <a:solidFill>
                  <a:schemeClr val="bg1">
                    <a:lumMod val="50000"/>
                  </a:schemeClr>
                </a:solidFill>
              </a:defRPr>
            </a:lvl1p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1075857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slide" Target="../slides/slide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3.xml"/><Relationship Id="rId4" Type="http://schemas.openxmlformats.org/officeDocument/2006/relationships/slide" Target="../slides/slide4.xml"/></Relationships>
</file>

<file path=ppt/slideMasters/_rels/slideMaster3.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slide" Target="../slides/slide5.xml"/><Relationship Id="rId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 Target="../slides/slide4.xml"/><Relationship Id="rId3" Type="http://schemas.openxmlformats.org/officeDocument/2006/relationships/slideLayout" Target="../slideLayouts/slideLayout6.xml"/><Relationship Id="rId7" Type="http://schemas.openxmlformats.org/officeDocument/2006/relationships/slide" Target="../slides/slide5.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theme" Target="../theme/theme4.xml"/><Relationship Id="rId5" Type="http://schemas.openxmlformats.org/officeDocument/2006/relationships/slideLayout" Target="../slideLayouts/slideLayout8.xml"/><Relationship Id="rId4" Type="http://schemas.openxmlformats.org/officeDocument/2006/relationships/slideLayout" Target="../slideLayouts/slideLayout7.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5" Type="http://schemas.openxmlformats.org/officeDocument/2006/relationships/theme" Target="../theme/theme5.xml"/><Relationship Id="rId4" Type="http://schemas.openxmlformats.org/officeDocument/2006/relationships/slideLayout" Target="../slideLayouts/slideLayout12.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14.xml"/><Relationship Id="rId1" Type="http://schemas.openxmlformats.org/officeDocument/2006/relationships/slideLayout" Target="../slideLayouts/slideLayout13.xml"/><Relationship Id="rId5" Type="http://schemas.openxmlformats.org/officeDocument/2006/relationships/slide" Target="../slides/slide4.xml"/><Relationship Id="rId4" Type="http://schemas.openxmlformats.org/officeDocument/2006/relationships/slide" Target="../slides/slide5.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5" Type="http://schemas.openxmlformats.org/officeDocument/2006/relationships/slide" Target="../slides/slide4.xml"/><Relationship Id="rId4" Type="http://schemas.openxmlformats.org/officeDocument/2006/relationships/slide" Target="../slides/slide5.x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5" Type="http://schemas.openxmlformats.org/officeDocument/2006/relationships/slide" Target="../slides/slide4.xml"/><Relationship Id="rId4" Type="http://schemas.openxmlformats.org/officeDocument/2006/relationships/slide" Target="../slides/slide5.xml"/></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2" Type="http://schemas.openxmlformats.org/officeDocument/2006/relationships/slideLayout" Target="../slideLayouts/slideLayout20.xml"/><Relationship Id="rId1" Type="http://schemas.openxmlformats.org/officeDocument/2006/relationships/slideLayout" Target="../slideLayouts/slideLayout19.xml"/><Relationship Id="rId5" Type="http://schemas.openxmlformats.org/officeDocument/2006/relationships/slide" Target="../slides/slide4.xml"/><Relationship Id="rId4" Type="http://schemas.openxmlformats.org/officeDocument/2006/relationships/slide" Target="../slides/slide5.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10.xml"/><Relationship Id="rId1" Type="http://schemas.openxmlformats.org/officeDocument/2006/relationships/slideLayout" Target="../slideLayouts/slideLayout21.xml"/><Relationship Id="rId4" Type="http://schemas.openxmlformats.org/officeDocument/2006/relationships/slide" Target="../slides/slide5.xml"/></Relationships>
</file>

<file path=ppt/slideMasters/_rels/slideMaster11.xml.rels><?xml version="1.0" encoding="UTF-8" standalone="yes"?>
<Relationships xmlns="http://schemas.openxmlformats.org/package/2006/relationships"><Relationship Id="rId3" Type="http://schemas.openxmlformats.org/officeDocument/2006/relationships/theme" Target="../theme/theme11.xml"/><Relationship Id="rId2" Type="http://schemas.openxmlformats.org/officeDocument/2006/relationships/slideLayout" Target="../slideLayouts/slideLayout23.xml"/><Relationship Id="rId1" Type="http://schemas.openxmlformats.org/officeDocument/2006/relationships/slideLayout" Target="../slideLayouts/slideLayout22.xml"/><Relationship Id="rId4" Type="http://schemas.openxmlformats.org/officeDocument/2006/relationships/slide" Target="../slides/slide4.xml"/></Relationships>
</file>

<file path=ppt/slideMasters/_rels/slideMaster12.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 Target="../slides/slide4.xml"/><Relationship Id="rId5" Type="http://schemas.openxmlformats.org/officeDocument/2006/relationships/theme" Target="../theme/theme12.xml"/><Relationship Id="rId4" Type="http://schemas.openxmlformats.org/officeDocument/2006/relationships/slideLayout" Target="../slideLayouts/slideLayout27.xml"/></Relationships>
</file>

<file path=ppt/slideMasters/_rels/slideMaster13.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 Target="../slides/slide4.xml"/><Relationship Id="rId5" Type="http://schemas.openxmlformats.org/officeDocument/2006/relationships/theme" Target="../theme/theme13.xml"/><Relationship Id="rId4" Type="http://schemas.openxmlformats.org/officeDocument/2006/relationships/slideLayout" Target="../slideLayouts/slideLayout31.xml"/></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 Target="../slides/slide4.xml"/><Relationship Id="rId5" Type="http://schemas.openxmlformats.org/officeDocument/2006/relationships/theme" Target="../theme/theme14.xml"/><Relationship Id="rId4" Type="http://schemas.openxmlformats.org/officeDocument/2006/relationships/slideLayout" Target="../slideLayouts/slideLayout35.xml"/></Relationships>
</file>

<file path=ppt/slideMasters/_rels/slideMaster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15.xml"/><Relationship Id="rId1" Type="http://schemas.openxmlformats.org/officeDocument/2006/relationships/slideLayout" Target="../slideLayouts/slideLayout36.xml"/><Relationship Id="rId4" Type="http://schemas.openxmlformats.org/officeDocument/2006/relationships/slide" Target="../slides/slide4.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9144000" cy="838200"/>
          </a:xfrm>
          <a:prstGeom prst="rect">
            <a:avLst/>
          </a:prstGeom>
          <a:solidFill>
            <a:schemeClr val="accent5">
              <a:lumMod val="20000"/>
              <a:lumOff val="80000"/>
              <a:alpha val="44000"/>
            </a:schemeClr>
          </a:solidFill>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8600" y="990600"/>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a:xfrm>
            <a:off x="0" y="838200"/>
            <a:ext cx="9144000" cy="0"/>
          </a:xfrm>
          <a:prstGeom prst="line">
            <a:avLst/>
          </a:prstGeom>
          <a:ln w="127000" cmpd="sng">
            <a:solidFill>
              <a:schemeClr val="tx2">
                <a:lumMod val="20000"/>
                <a:lumOff val="80000"/>
                <a:alpha val="71000"/>
              </a:schemeClr>
            </a:solidFill>
            <a:prstDash val="solid"/>
          </a:ln>
        </p:spPr>
        <p:style>
          <a:lnRef idx="1">
            <a:schemeClr val="accent5"/>
          </a:lnRef>
          <a:fillRef idx="0">
            <a:schemeClr val="accent5"/>
          </a:fillRef>
          <a:effectRef idx="0">
            <a:schemeClr val="accent5"/>
          </a:effectRef>
          <a:fontRef idx="minor">
            <a:schemeClr val="tx1"/>
          </a:fontRef>
        </p:style>
      </p:cxnSp>
      <p:sp>
        <p:nvSpPr>
          <p:cNvPr id="11" name="Oval 10"/>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4"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8"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4274680670"/>
      </p:ext>
    </p:extLst>
  </p:cSld>
  <p:clrMap bg1="lt1" tx1="dk1" bg2="lt2" tx2="dk2" accent1="accent1" accent2="accent2" accent3="accent3" accent4="accent4" accent5="accent5" accent6="accent6" hlink="hlink" folHlink="folHlink"/>
  <p:sldLayoutIdLst>
    <p:sldLayoutId id="2147483665" r:id="rId1"/>
    <p:sldLayoutId id="2147483666" r:id="rId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r" defTabSz="914400" rtl="0" eaLnBrk="1" latinLnBrk="0" hangingPunct="1">
        <a:spcBef>
          <a:spcPct val="0"/>
        </a:spcBef>
        <a:buNone/>
        <a:defRPr sz="4400" b="1" kern="1200" spc="-200" baseline="0">
          <a:solidFill>
            <a:schemeClr val="accent6">
              <a:lumMod val="75000"/>
            </a:schemeClr>
          </a:solidFill>
          <a:latin typeface="Candara" pitchFamily="34" charset="0"/>
          <a:ea typeface="+mj-ea"/>
          <a:cs typeface="+mj-cs"/>
        </a:defRPr>
      </a:lvl1pPr>
    </p:titleStyle>
    <p:bodyStyle>
      <a:lvl1pPr marL="0" indent="0" algn="l" defTabSz="914400" rtl="0" eaLnBrk="1" latinLnBrk="0" hangingPunct="1">
        <a:spcBef>
          <a:spcPct val="20000"/>
        </a:spcBef>
        <a:buFontTx/>
        <a:buNone/>
        <a:defRPr sz="3200" b="1" kern="1200">
          <a:solidFill>
            <a:schemeClr val="tx1"/>
          </a:solidFill>
          <a:latin typeface="Candara" pitchFamily="34" charset="0"/>
          <a:ea typeface="+mn-ea"/>
          <a:cs typeface="+mn-cs"/>
        </a:defRPr>
      </a:lvl1pPr>
      <a:lvl2pPr marL="457200" indent="0" algn="l" defTabSz="914400" rtl="0" eaLnBrk="1" latinLnBrk="0" hangingPunct="1">
        <a:spcBef>
          <a:spcPct val="20000"/>
        </a:spcBef>
        <a:buFontTx/>
        <a:buNone/>
        <a:defRPr sz="2800" b="1" kern="1200">
          <a:solidFill>
            <a:schemeClr val="tx1"/>
          </a:solidFill>
          <a:latin typeface="Candara" pitchFamily="34" charset="0"/>
          <a:ea typeface="+mn-ea"/>
          <a:cs typeface="+mn-cs"/>
        </a:defRPr>
      </a:lvl2pPr>
      <a:lvl3pPr marL="9144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3pPr>
      <a:lvl4pPr marL="13716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4pPr>
      <a:lvl5pPr marL="18288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26" name="Picture 2"/>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0" y="0"/>
            <a:ext cx="9144000"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Oval 9"/>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4"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7"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    </a:t>
            </a:r>
            <a:endParaRPr lang="en-US" dirty="0"/>
          </a:p>
        </p:txBody>
      </p:sp>
    </p:spTree>
    <p:extLst>
      <p:ext uri="{BB962C8B-B14F-4D97-AF65-F5344CB8AC3E}">
        <p14:creationId xmlns:p14="http://schemas.microsoft.com/office/powerpoint/2010/main" val="4235582923"/>
      </p:ext>
    </p:extLst>
  </p:cSld>
  <p:clrMap bg1="lt1" tx1="dk1" bg2="lt2" tx2="dk2" accent1="accent1" accent2="accent2" accent3="accent3" accent4="accent4" accent5="accent5" accent6="accent6" hlink="hlink" folHlink="folHlink"/>
  <p:sldLayoutIdLst>
    <p:sldLayoutId id="2147483687" r:id="rId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spcBef>
          <a:spcPct val="20000"/>
        </a:spcBef>
        <a:buFontTx/>
        <a:buNone/>
        <a:defRPr sz="3600" b="1" kern="1200">
          <a:solidFill>
            <a:schemeClr val="tx1"/>
          </a:solidFill>
          <a:latin typeface="Candara" pitchFamily="34" charset="0"/>
          <a:ea typeface="+mn-ea"/>
          <a:cs typeface="+mn-cs"/>
        </a:defRPr>
      </a:lvl1pPr>
      <a:lvl2pPr marL="457200" indent="0" algn="l" defTabSz="914400" rtl="0" eaLnBrk="1" latinLnBrk="0" hangingPunct="1">
        <a:spcBef>
          <a:spcPct val="20000"/>
        </a:spcBef>
        <a:buFontTx/>
        <a:buNone/>
        <a:defRPr sz="3200" b="1" kern="1200">
          <a:solidFill>
            <a:schemeClr val="tx1"/>
          </a:solidFill>
          <a:latin typeface="Candara" pitchFamily="34" charset="0"/>
          <a:ea typeface="+mn-ea"/>
          <a:cs typeface="+mn-cs"/>
        </a:defRPr>
      </a:lvl2pPr>
      <a:lvl3pPr marL="914400" indent="0" algn="l" defTabSz="914400" rtl="0" eaLnBrk="1" latinLnBrk="0" hangingPunct="1">
        <a:spcBef>
          <a:spcPct val="20000"/>
        </a:spcBef>
        <a:buFontTx/>
        <a:buNone/>
        <a:defRPr sz="2800" b="1" kern="1200">
          <a:solidFill>
            <a:schemeClr val="tx1"/>
          </a:solidFill>
          <a:latin typeface="Candara" pitchFamily="34" charset="0"/>
          <a:ea typeface="+mn-ea"/>
          <a:cs typeface="+mn-cs"/>
        </a:defRPr>
      </a:lvl3pPr>
      <a:lvl4pPr marL="13716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4pPr>
      <a:lvl5pPr marL="18288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457200" y="1830388"/>
            <a:ext cx="86868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hlinkClick r:id="rId2" action="ppaction://hlinksldjump"/>
          </p:cNvPr>
          <p:cNvSpPr txBox="1"/>
          <p:nvPr/>
        </p:nvSpPr>
        <p:spPr>
          <a:xfrm>
            <a:off x="8489002" y="6231840"/>
            <a:ext cx="654998" cy="615553"/>
          </a:xfrm>
          <a:prstGeom prst="rect">
            <a:avLst/>
          </a:prstGeom>
          <a:noFill/>
        </p:spPr>
        <p:txBody>
          <a:bodyPr wrap="square" rtlCol="0">
            <a:spAutoFit/>
          </a:bodyPr>
          <a:lstStyle/>
          <a:p>
            <a:r>
              <a:rPr lang="en-US" sz="800" b="0" dirty="0">
                <a:latin typeface="Century Gothic"/>
                <a:cs typeface="Century Gothic"/>
                <a:hlinkClick r:id="rId3" action="ppaction://hlinksldjump"/>
              </a:rPr>
              <a:t>Back to Table of contents</a:t>
            </a:r>
            <a:endParaRPr lang="en-US" sz="800" b="0" dirty="0">
              <a:latin typeface="Century Gothic"/>
              <a:cs typeface="Century Gothic"/>
            </a:endParaRPr>
          </a:p>
          <a:p>
            <a:endParaRPr lang="en-US" sz="900" b="0" dirty="0">
              <a:latin typeface="Candara" pitchFamily="34" charset="0"/>
            </a:endParaRPr>
          </a:p>
        </p:txBody>
      </p:sp>
      <p:sp>
        <p:nvSpPr>
          <p:cNvPr id="10" name="Right Arrow 9"/>
          <p:cNvSpPr/>
          <p:nvPr/>
        </p:nvSpPr>
        <p:spPr>
          <a:xfrm>
            <a:off x="0" y="0"/>
            <a:ext cx="8991600" cy="1161633"/>
          </a:xfrm>
          <a:prstGeom prst="rightArrow">
            <a:avLst>
              <a:gd name="adj1" fmla="val 50000"/>
              <a:gd name="adj2" fmla="val 78749"/>
            </a:avLst>
          </a:prstGeom>
          <a:solidFill>
            <a:srgbClr val="CBF577">
              <a:alpha val="66000"/>
            </a:srgbClr>
          </a:solidFill>
          <a:ln>
            <a:noFill/>
          </a:ln>
        </p:spPr>
        <p:txBody>
          <a:bodyPr wrap="square">
            <a:spAutoFit/>
          </a:bodyPr>
          <a:lstStyle/>
          <a:p>
            <a:pPr algn="l" fontAlgn="auto">
              <a:spcBef>
                <a:spcPts val="0"/>
              </a:spcBef>
              <a:spcAft>
                <a:spcPts val="0"/>
              </a:spcAft>
              <a:defRPr/>
            </a:pPr>
            <a:r>
              <a:rPr lang="en-US" sz="3200" b="0" spc="60" dirty="0">
                <a:ln w="9000" cmpd="sng">
                  <a:noFill/>
                  <a:prstDash val="solid"/>
                </a:ln>
                <a:solidFill>
                  <a:schemeClr val="accent6">
                    <a:lumMod val="75000"/>
                  </a:schemeClr>
                </a:solidFill>
                <a:effectLst>
                  <a:innerShdw blurRad="63500" dist="50800" dir="13500000">
                    <a:prstClr val="black">
                      <a:alpha val="50000"/>
                    </a:prstClr>
                  </a:innerShdw>
                </a:effectLst>
                <a:latin typeface="Century Gothic" pitchFamily="34" charset="0"/>
                <a:cs typeface="Courier New" pitchFamily="49" charset="0"/>
              </a:rPr>
              <a:t>LEARN BY DOING: APPLICATION VIDEO</a:t>
            </a:r>
          </a:p>
        </p:txBody>
      </p:sp>
      <p:sp>
        <p:nvSpPr>
          <p:cNvPr id="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cSld>
  <p:clrMap bg1="lt1" tx1="dk1" bg2="lt2" tx2="dk2" accent1="accent1" accent2="accent2" accent3="accent3" accent4="accent4" accent5="accent5" accent6="accent6" hlink="hlink" folHlink="folHlink"/>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26">
                                            <p:txEl>
                                              <p:pRg st="0" end="0"/>
                                            </p:txEl>
                                          </p:spTgt>
                                        </p:tgtEl>
                                        <p:attrNameLst>
                                          <p:attrName>style.visibility</p:attrName>
                                        </p:attrNameLst>
                                      </p:cBhvr>
                                      <p:to>
                                        <p:strVal val="visible"/>
                                      </p:to>
                                    </p:set>
                                    <p:animEffect transition="in" filter="fade">
                                      <p:cBhvr>
                                        <p:cTn id="7" dur="500"/>
                                        <p:tgtEl>
                                          <p:spTgt spid="10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6">
                                            <p:txEl>
                                              <p:pRg st="1" end="1"/>
                                            </p:txEl>
                                          </p:spTgt>
                                        </p:tgtEl>
                                        <p:attrNameLst>
                                          <p:attrName>style.visibility</p:attrName>
                                        </p:attrNameLst>
                                      </p:cBhvr>
                                      <p:to>
                                        <p:strVal val="visible"/>
                                      </p:to>
                                    </p:set>
                                    <p:animEffect transition="in" filter="fade">
                                      <p:cBhvr>
                                        <p:cTn id="12" dur="500"/>
                                        <p:tgtEl>
                                          <p:spTgt spid="10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26">
                                            <p:txEl>
                                              <p:pRg st="2" end="2"/>
                                            </p:txEl>
                                          </p:spTgt>
                                        </p:tgtEl>
                                        <p:attrNameLst>
                                          <p:attrName>style.visibility</p:attrName>
                                        </p:attrNameLst>
                                      </p:cBhvr>
                                      <p:to>
                                        <p:strVal val="visible"/>
                                      </p:to>
                                    </p:set>
                                    <p:animEffect transition="in" filter="fade">
                                      <p:cBhvr>
                                        <p:cTn id="17" dur="500"/>
                                        <p:tgtEl>
                                          <p:spTgt spid="102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26">
                                            <p:txEl>
                                              <p:pRg st="3" end="3"/>
                                            </p:txEl>
                                          </p:spTgt>
                                        </p:tgtEl>
                                        <p:attrNameLst>
                                          <p:attrName>style.visibility</p:attrName>
                                        </p:attrNameLst>
                                      </p:cBhvr>
                                      <p:to>
                                        <p:strVal val="visible"/>
                                      </p:to>
                                    </p:set>
                                    <p:animEffect transition="in" filter="fade">
                                      <p:cBhvr>
                                        <p:cTn id="22" dur="500"/>
                                        <p:tgtEl>
                                          <p:spTgt spid="102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26">
                                            <p:txEl>
                                              <p:pRg st="4" end="4"/>
                                            </p:txEl>
                                          </p:spTgt>
                                        </p:tgtEl>
                                        <p:attrNameLst>
                                          <p:attrName>style.visibility</p:attrName>
                                        </p:attrNameLst>
                                      </p:cBhvr>
                                      <p:to>
                                        <p:strVal val="visible"/>
                                      </p:to>
                                    </p:set>
                                    <p:animEffect transition="in" filter="fade">
                                      <p:cBhvr>
                                        <p:cTn id="27" dur="500"/>
                                        <p:tgtEl>
                                          <p:spTgt spid="102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build="p">
        <p:tmplLst>
          <p:tmpl lvl="1">
            <p:tnLst>
              <p:par>
                <p:cTn presetID="10" presetClass="entr" presetSubtype="0" fill="hold" nodeType="with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Lst>
      </p:bldP>
    </p:bldLst>
  </p:timing>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spc="1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spc="1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76200"/>
            <a:ext cx="9144000" cy="838200"/>
          </a:xfrm>
          <a:prstGeom prst="rect">
            <a:avLst/>
          </a:prstGeom>
          <a:noFill/>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8600" y="990600"/>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Oval 10"/>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hlinkClick r:id="rId7"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8"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9"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274680670"/>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83" r:id="rId4"/>
    <p:sldLayoutId id="2147483785" r:id="rId5"/>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l" defTabSz="914400" rtl="0" eaLnBrk="1" latinLnBrk="0" hangingPunct="1">
        <a:spcBef>
          <a:spcPct val="0"/>
        </a:spcBef>
        <a:buNone/>
        <a:defRPr sz="4400" b="0" kern="1200" spc="0" baseline="0">
          <a:solidFill>
            <a:schemeClr val="accent3"/>
          </a:solidFill>
          <a:effectLst>
            <a:innerShdw blurRad="63500" dist="50800" dir="13500000">
              <a:prstClr val="black">
                <a:alpha val="50000"/>
              </a:prstClr>
            </a:innerShdw>
          </a:effectLst>
          <a:latin typeface="Century Gothic"/>
          <a:ea typeface="+mj-ea"/>
          <a:cs typeface="Century Gothic"/>
        </a:defRPr>
      </a:lvl1pPr>
    </p:titleStyle>
    <p:bodyStyle>
      <a:lvl1pPr marL="0" indent="0" algn="l" defTabSz="914400" rtl="0" eaLnBrk="1" latinLnBrk="0" hangingPunct="1">
        <a:spcBef>
          <a:spcPct val="20000"/>
        </a:spcBef>
        <a:buFontTx/>
        <a:buNone/>
        <a:defRPr sz="3200" b="1" kern="1200">
          <a:solidFill>
            <a:schemeClr val="tx1"/>
          </a:solidFill>
          <a:latin typeface="Century Gothic"/>
          <a:ea typeface="+mn-ea"/>
          <a:cs typeface="Century Gothic"/>
        </a:defRPr>
      </a:lvl1pPr>
      <a:lvl2pPr marL="457200" indent="0" algn="l" defTabSz="914400" rtl="0" eaLnBrk="1" latinLnBrk="0" hangingPunct="1">
        <a:spcBef>
          <a:spcPct val="20000"/>
        </a:spcBef>
        <a:buFontTx/>
        <a:buNone/>
        <a:defRPr sz="2800" b="1" kern="1200">
          <a:solidFill>
            <a:schemeClr val="tx1"/>
          </a:solidFill>
          <a:latin typeface="Century Gothic"/>
          <a:ea typeface="+mn-ea"/>
          <a:cs typeface="Century Gothic"/>
        </a:defRPr>
      </a:lvl2pPr>
      <a:lvl3pPr marL="914400" indent="0" algn="l" defTabSz="914400" rtl="0" eaLnBrk="1" latinLnBrk="0" hangingPunct="1">
        <a:spcBef>
          <a:spcPct val="20000"/>
        </a:spcBef>
        <a:buFontTx/>
        <a:buNone/>
        <a:defRPr sz="2400" b="1" kern="1200">
          <a:solidFill>
            <a:schemeClr val="tx1"/>
          </a:solidFill>
          <a:latin typeface="Century Gothic"/>
          <a:ea typeface="+mn-ea"/>
          <a:cs typeface="Century Gothic"/>
        </a:defRPr>
      </a:lvl3pPr>
      <a:lvl4pPr marL="1371600" indent="0" algn="l" defTabSz="914400" rtl="0" eaLnBrk="1" latinLnBrk="0" hangingPunct="1">
        <a:spcBef>
          <a:spcPct val="20000"/>
        </a:spcBef>
        <a:buFontTx/>
        <a:buNone/>
        <a:defRPr sz="2000" b="1" kern="1200">
          <a:solidFill>
            <a:schemeClr val="tx1"/>
          </a:solidFill>
          <a:latin typeface="Century Gothic"/>
          <a:ea typeface="+mn-ea"/>
          <a:cs typeface="Century Gothic"/>
        </a:defRPr>
      </a:lvl4pPr>
      <a:lvl5pPr marL="1828800" indent="0" algn="l" defTabSz="914400" rtl="0" eaLnBrk="1" latinLnBrk="0" hangingPunct="1">
        <a:spcBef>
          <a:spcPct val="20000"/>
        </a:spcBef>
        <a:buFontTx/>
        <a:buNone/>
        <a:defRPr sz="2000" b="1" kern="12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122"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5123"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826" r:id="rId4"/>
  </p:sldLayoutIdLst>
  <p:hf sldNum="0" hdr="0" dt="0"/>
  <p:txStyles>
    <p:titleStyle>
      <a:lvl1pPr algn="ctr" rtl="0" eaLnBrk="1" fontAlgn="base" hangingPunct="1">
        <a:spcBef>
          <a:spcPct val="0"/>
        </a:spcBef>
        <a:spcAft>
          <a:spcPct val="0"/>
        </a:spcAft>
        <a:defRPr sz="4400" b="1" kern="1200">
          <a:solidFill>
            <a:schemeClr val="tx1"/>
          </a:solidFill>
          <a:latin typeface="Candara" pitchFamily="34" charset="0"/>
          <a:ea typeface="+mj-ea"/>
          <a:cs typeface="+mj-cs"/>
        </a:defRPr>
      </a:lvl1pPr>
      <a:lvl2pPr algn="ctr" rtl="0" eaLnBrk="1" fontAlgn="base" hangingPunct="1">
        <a:spcBef>
          <a:spcPct val="0"/>
        </a:spcBef>
        <a:spcAft>
          <a:spcPct val="0"/>
        </a:spcAft>
        <a:defRPr sz="4400">
          <a:solidFill>
            <a:schemeClr val="tx1"/>
          </a:solidFill>
          <a:latin typeface="Century Gothic" pitchFamily="34" charset="0"/>
        </a:defRPr>
      </a:lvl2pPr>
      <a:lvl3pPr algn="ctr" rtl="0" eaLnBrk="1" fontAlgn="base" hangingPunct="1">
        <a:spcBef>
          <a:spcPct val="0"/>
        </a:spcBef>
        <a:spcAft>
          <a:spcPct val="0"/>
        </a:spcAft>
        <a:defRPr sz="4400">
          <a:solidFill>
            <a:schemeClr val="tx1"/>
          </a:solidFill>
          <a:latin typeface="Century Gothic" pitchFamily="34" charset="0"/>
        </a:defRPr>
      </a:lvl3pPr>
      <a:lvl4pPr algn="ctr" rtl="0" eaLnBrk="1" fontAlgn="base" hangingPunct="1">
        <a:spcBef>
          <a:spcPct val="0"/>
        </a:spcBef>
        <a:spcAft>
          <a:spcPct val="0"/>
        </a:spcAft>
        <a:defRPr sz="4400">
          <a:solidFill>
            <a:schemeClr val="tx1"/>
          </a:solidFill>
          <a:latin typeface="Century Gothic" pitchFamily="34" charset="0"/>
        </a:defRPr>
      </a:lvl4pPr>
      <a:lvl5pPr algn="ctr" rtl="0" eaLnBrk="1" fontAlgn="base" hangingPunct="1">
        <a:spcBef>
          <a:spcPct val="0"/>
        </a:spcBef>
        <a:spcAft>
          <a:spcPct val="0"/>
        </a:spcAft>
        <a:defRPr sz="4400">
          <a:solidFill>
            <a:schemeClr val="tx1"/>
          </a:solidFill>
          <a:latin typeface="Century Gothic" pitchFamily="34" charset="0"/>
        </a:defRPr>
      </a:lvl5pPr>
      <a:lvl6pPr marL="457200" algn="ctr" rtl="0" eaLnBrk="1" fontAlgn="base" hangingPunct="1">
        <a:spcBef>
          <a:spcPct val="0"/>
        </a:spcBef>
        <a:spcAft>
          <a:spcPct val="0"/>
        </a:spcAft>
        <a:defRPr sz="4400">
          <a:solidFill>
            <a:schemeClr val="tx1"/>
          </a:solidFill>
          <a:latin typeface="Century Gothic" pitchFamily="34" charset="0"/>
        </a:defRPr>
      </a:lvl6pPr>
      <a:lvl7pPr marL="914400" algn="ctr" rtl="0" eaLnBrk="1" fontAlgn="base" hangingPunct="1">
        <a:spcBef>
          <a:spcPct val="0"/>
        </a:spcBef>
        <a:spcAft>
          <a:spcPct val="0"/>
        </a:spcAft>
        <a:defRPr sz="4400">
          <a:solidFill>
            <a:schemeClr val="tx1"/>
          </a:solidFill>
          <a:latin typeface="Century Gothic" pitchFamily="34" charset="0"/>
        </a:defRPr>
      </a:lvl7pPr>
      <a:lvl8pPr marL="1371600" algn="ctr" rtl="0" eaLnBrk="1" fontAlgn="base" hangingPunct="1">
        <a:spcBef>
          <a:spcPct val="0"/>
        </a:spcBef>
        <a:spcAft>
          <a:spcPct val="0"/>
        </a:spcAft>
        <a:defRPr sz="4400">
          <a:solidFill>
            <a:schemeClr val="tx1"/>
          </a:solidFill>
          <a:latin typeface="Century Gothic" pitchFamily="34" charset="0"/>
        </a:defRPr>
      </a:lvl8pPr>
      <a:lvl9pPr marL="1828800" algn="ctr" rtl="0" eaLnBrk="1" fontAlgn="base" hangingPunct="1">
        <a:spcBef>
          <a:spcPct val="0"/>
        </a:spcBef>
        <a:spcAft>
          <a:spcPct val="0"/>
        </a:spcAft>
        <a:defRPr sz="4400">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ight Arrow 8"/>
          <p:cNvSpPr/>
          <p:nvPr/>
        </p:nvSpPr>
        <p:spPr>
          <a:xfrm>
            <a:off x="0" y="0"/>
            <a:ext cx="8991600" cy="1161633"/>
          </a:xfrm>
          <a:prstGeom prst="rightArrow">
            <a:avLst>
              <a:gd name="adj1" fmla="val 50000"/>
              <a:gd name="adj2" fmla="val 78749"/>
            </a:avLst>
          </a:prstGeom>
          <a:solidFill>
            <a:srgbClr val="CBF577">
              <a:alpha val="66000"/>
            </a:srgbClr>
          </a:solidFill>
          <a:ln>
            <a:noFill/>
          </a:ln>
        </p:spPr>
        <p:txBody>
          <a:bodyPr wrap="square">
            <a:spAutoFit/>
          </a:bodyPr>
          <a:lstStyle/>
          <a:p>
            <a:pPr algn="l" fontAlgn="auto">
              <a:spcBef>
                <a:spcPts val="0"/>
              </a:spcBef>
              <a:spcAft>
                <a:spcPts val="0"/>
              </a:spcAft>
              <a:defRPr/>
            </a:pPr>
            <a:r>
              <a:rPr lang="en-US" sz="3200" b="0" spc="60" dirty="0">
                <a:ln w="9000" cmpd="sng">
                  <a:noFill/>
                  <a:prstDash val="solid"/>
                </a:ln>
                <a:solidFill>
                  <a:schemeClr val="accent6">
                    <a:lumMod val="75000"/>
                  </a:schemeClr>
                </a:solidFill>
                <a:effectLst>
                  <a:innerShdw blurRad="63500" dist="50800" dir="13500000">
                    <a:prstClr val="black">
                      <a:alpha val="50000"/>
                    </a:prstClr>
                  </a:innerShdw>
                </a:effectLst>
                <a:latin typeface="Century Gothic" pitchFamily="34" charset="0"/>
                <a:cs typeface="Courier New" pitchFamily="49" charset="0"/>
              </a:rPr>
              <a:t>LEARN BY DOING: PRACTICE QUESTION</a:t>
            </a:r>
          </a:p>
        </p:txBody>
      </p:sp>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5"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8" name="Right Arrow 7">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0"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cSld>
  <p:clrMap bg1="lt1" tx1="dk1" bg2="lt2" tx2="dk2" accent1="accent1" accent2="accent2" accent3="accent3" accent4="accent4" accent5="accent5" accent6="accent6" hlink="hlink" folHlink="folHlink"/>
  <p:sldLayoutIdLst>
    <p:sldLayoutId id="2147483741" r:id="rId1"/>
    <p:sldLayoutId id="2147483742" r:id="rId2"/>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spc="1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spc="1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Oval 9"/>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5"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8" name="Right Arrow 7">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2"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
        <p:nvSpPr>
          <p:cNvPr id="11" name="Right Arrow 10"/>
          <p:cNvSpPr/>
          <p:nvPr/>
        </p:nvSpPr>
        <p:spPr>
          <a:xfrm>
            <a:off x="0" y="0"/>
            <a:ext cx="8991600" cy="1161633"/>
          </a:xfrm>
          <a:prstGeom prst="rightArrow">
            <a:avLst>
              <a:gd name="adj1" fmla="val 50000"/>
              <a:gd name="adj2" fmla="val 78749"/>
            </a:avLst>
          </a:prstGeom>
          <a:solidFill>
            <a:schemeClr val="accent5">
              <a:lumMod val="40000"/>
              <a:lumOff val="60000"/>
              <a:alpha val="66000"/>
            </a:schemeClr>
          </a:solidFill>
          <a:ln>
            <a:noFill/>
          </a:ln>
        </p:spPr>
        <p:txBody>
          <a:bodyPr wrap="square">
            <a:spAutoFit/>
          </a:bodyPr>
          <a:lstStyle/>
          <a:p>
            <a:pPr algn="l" fontAlgn="auto">
              <a:spcBef>
                <a:spcPts val="0"/>
              </a:spcBef>
              <a:spcAft>
                <a:spcPts val="0"/>
              </a:spcAft>
              <a:defRPr/>
            </a:pPr>
            <a:r>
              <a:rPr lang="en-US" sz="3200" b="0" spc="60" dirty="0">
                <a:ln w="9000" cmpd="sng">
                  <a:noFill/>
                  <a:prstDash val="solid"/>
                </a:ln>
                <a:solidFill>
                  <a:schemeClr val="accent5">
                    <a:lumMod val="75000"/>
                  </a:schemeClr>
                </a:solidFill>
                <a:effectLst>
                  <a:innerShdw blurRad="63500" dist="50800" dir="13500000">
                    <a:prstClr val="black">
                      <a:alpha val="50000"/>
                    </a:prstClr>
                  </a:innerShdw>
                </a:effectLst>
                <a:latin typeface="Century Gothic" pitchFamily="34" charset="0"/>
                <a:cs typeface="Courier New" pitchFamily="49" charset="0"/>
              </a:rPr>
              <a:t>LEARN BY DOING: BUSINESS</a:t>
            </a:r>
            <a:r>
              <a:rPr lang="en-US" sz="3200" b="0" spc="60" baseline="0" dirty="0">
                <a:ln w="9000" cmpd="sng">
                  <a:noFill/>
                  <a:prstDash val="solid"/>
                </a:ln>
                <a:solidFill>
                  <a:schemeClr val="accent5">
                    <a:lumMod val="75000"/>
                  </a:schemeClr>
                </a:solidFill>
                <a:effectLst>
                  <a:innerShdw blurRad="63500" dist="50800" dir="13500000">
                    <a:prstClr val="black">
                      <a:alpha val="50000"/>
                    </a:prstClr>
                  </a:innerShdw>
                </a:effectLst>
                <a:latin typeface="Century Gothic" pitchFamily="34" charset="0"/>
                <a:cs typeface="Courier New" pitchFamily="49" charset="0"/>
              </a:rPr>
              <a:t> CASE</a:t>
            </a:r>
            <a:endParaRPr lang="en-US" sz="3200" b="0" spc="60" dirty="0">
              <a:ln w="9000" cmpd="sng">
                <a:noFill/>
                <a:prstDash val="solid"/>
              </a:ln>
              <a:solidFill>
                <a:schemeClr val="accent5">
                  <a:lumMod val="75000"/>
                </a:schemeClr>
              </a:solidFill>
              <a:effectLst>
                <a:innerShdw blurRad="63500" dist="50800" dir="13500000">
                  <a:prstClr val="black">
                    <a:alpha val="50000"/>
                  </a:prstClr>
                </a:innerShdw>
              </a:effectLst>
              <a:latin typeface="Century Gothic" pitchFamily="34" charset="0"/>
              <a:cs typeface="Courier New" pitchFamily="49" charset="0"/>
            </a:endParaRPr>
          </a:p>
        </p:txBody>
      </p:sp>
    </p:spTree>
    <p:extLst>
      <p:ext uri="{BB962C8B-B14F-4D97-AF65-F5344CB8AC3E}">
        <p14:creationId xmlns:p14="http://schemas.microsoft.com/office/powerpoint/2010/main" val="3055139934"/>
      </p:ext>
    </p:extLst>
  </p:cSld>
  <p:clrMap bg1="lt1" tx1="dk1" bg2="lt2" tx2="dk2" accent1="accent1" accent2="accent2" accent3="accent3" accent4="accent4" accent5="accent5" accent6="accent6" hlink="hlink" folHlink="folHlink"/>
  <p:sldLayoutIdLst>
    <p:sldLayoutId id="2147483744" r:id="rId1"/>
    <p:sldLayoutId id="2147483745" r:id="rId2"/>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spc="1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spc="1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5"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11" name="Right Arrow 10">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5"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
        <p:nvSpPr>
          <p:cNvPr id="12" name="Right Arrow 11"/>
          <p:cNvSpPr/>
          <p:nvPr/>
        </p:nvSpPr>
        <p:spPr>
          <a:xfrm>
            <a:off x="0" y="0"/>
            <a:ext cx="8991600" cy="1161633"/>
          </a:xfrm>
          <a:prstGeom prst="rightArrow">
            <a:avLst>
              <a:gd name="adj1" fmla="val 50000"/>
              <a:gd name="adj2" fmla="val 78749"/>
            </a:avLst>
          </a:prstGeom>
          <a:solidFill>
            <a:schemeClr val="bg2">
              <a:lumMod val="90000"/>
              <a:alpha val="66000"/>
            </a:schemeClr>
          </a:solidFill>
          <a:ln>
            <a:noFill/>
          </a:ln>
        </p:spPr>
        <p:txBody>
          <a:bodyPr wrap="square">
            <a:spAutoFit/>
          </a:bodyPr>
          <a:lstStyle/>
          <a:p>
            <a:pPr algn="l" fontAlgn="auto">
              <a:spcBef>
                <a:spcPts val="0"/>
              </a:spcBef>
              <a:spcAft>
                <a:spcPts val="0"/>
              </a:spcAft>
              <a:defRPr/>
            </a:pPr>
            <a:r>
              <a:rPr lang="en-US" sz="3200" b="0" spc="60" dirty="0">
                <a:ln w="9000" cmpd="sng">
                  <a:noFill/>
                  <a:prstDash val="solid"/>
                </a:ln>
                <a:solidFill>
                  <a:schemeClr val="accent6">
                    <a:lumMod val="50000"/>
                  </a:schemeClr>
                </a:solidFill>
                <a:effectLst>
                  <a:innerShdw blurRad="63500" dist="50800" dir="13500000">
                    <a:prstClr val="black">
                      <a:alpha val="50000"/>
                    </a:prstClr>
                  </a:innerShdw>
                </a:effectLst>
                <a:latin typeface="Century Gothic" pitchFamily="34" charset="0"/>
                <a:cs typeface="Courier New" pitchFamily="49" charset="0"/>
              </a:rPr>
              <a:t>LEARN BY DOING: DISCUSS</a:t>
            </a:r>
          </a:p>
        </p:txBody>
      </p:sp>
    </p:spTree>
    <p:extLst>
      <p:ext uri="{BB962C8B-B14F-4D97-AF65-F5344CB8AC3E}">
        <p14:creationId xmlns:p14="http://schemas.microsoft.com/office/powerpoint/2010/main" val="3999456525"/>
      </p:ext>
    </p:extLst>
  </p:cSld>
  <p:clrMap bg1="lt1" tx1="dk1" bg2="lt2" tx2="dk2" accent1="accent1" accent2="accent2" accent3="accent3" accent4="accent4" accent5="accent5" accent6="accent6" hlink="hlink" folHlink="folHlink"/>
  <p:sldLayoutIdLst>
    <p:sldLayoutId id="2147483747" r:id="rId1"/>
    <p:sldLayoutId id="2147483748" r:id="rId2"/>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andara" pitchFamily="34" charset="0"/>
          <a:ea typeface="+mn-ea"/>
          <a:cs typeface="Tahoma" pitchFamily="34" charset="0"/>
        </a:defRPr>
      </a:lvl1pPr>
      <a:lvl2pPr marL="457200" indent="0" algn="l" rtl="0" eaLnBrk="1" fontAlgn="base" hangingPunct="1">
        <a:spcBef>
          <a:spcPct val="20000"/>
        </a:spcBef>
        <a:spcAft>
          <a:spcPct val="0"/>
        </a:spcAft>
        <a:buFontTx/>
        <a:buNone/>
        <a:defRPr sz="3200" b="1" kern="1200" spc="100">
          <a:solidFill>
            <a:schemeClr val="tx1"/>
          </a:solidFill>
          <a:latin typeface="Candara" pitchFamily="34" charset="0"/>
          <a:ea typeface="+mn-ea"/>
          <a:cs typeface="Tahoma" pitchFamily="34" charset="0"/>
        </a:defRPr>
      </a:lvl2pPr>
      <a:lvl3pPr marL="914400" indent="0" algn="l" rtl="0" eaLnBrk="1" fontAlgn="base" hangingPunct="1">
        <a:spcBef>
          <a:spcPct val="20000"/>
        </a:spcBef>
        <a:spcAft>
          <a:spcPct val="0"/>
        </a:spcAft>
        <a:buFontTx/>
        <a:buNone/>
        <a:defRPr sz="2800" b="1" kern="1200" spc="100">
          <a:solidFill>
            <a:schemeClr val="tx1"/>
          </a:solidFill>
          <a:latin typeface="Candara" pitchFamily="34" charset="0"/>
          <a:ea typeface="+mn-ea"/>
          <a:cs typeface="Tahoma" pitchFamily="34" charset="0"/>
        </a:defRPr>
      </a:lvl3pPr>
      <a:lvl4pPr marL="13716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4pPr>
      <a:lvl5pPr marL="18288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5"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11" name="Right Arrow 10">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5"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
        <p:nvSpPr>
          <p:cNvPr id="12" name="Right Arrow 11"/>
          <p:cNvSpPr/>
          <p:nvPr/>
        </p:nvSpPr>
        <p:spPr>
          <a:xfrm>
            <a:off x="0" y="0"/>
            <a:ext cx="8991600" cy="1161633"/>
          </a:xfrm>
          <a:prstGeom prst="rightArrow">
            <a:avLst>
              <a:gd name="adj1" fmla="val 50000"/>
              <a:gd name="adj2" fmla="val 78749"/>
            </a:avLst>
          </a:prstGeom>
          <a:solidFill>
            <a:schemeClr val="bg2">
              <a:lumMod val="90000"/>
              <a:alpha val="66000"/>
            </a:schemeClr>
          </a:solidFill>
          <a:ln>
            <a:noFill/>
          </a:ln>
        </p:spPr>
        <p:txBody>
          <a:bodyPr wrap="square">
            <a:spAutoFit/>
          </a:bodyPr>
          <a:lstStyle/>
          <a:p>
            <a:pPr algn="l" fontAlgn="auto">
              <a:spcBef>
                <a:spcPts val="0"/>
              </a:spcBef>
              <a:spcAft>
                <a:spcPts val="0"/>
              </a:spcAft>
              <a:defRPr/>
            </a:pPr>
            <a:r>
              <a:rPr lang="en-US" sz="3200" b="0" spc="60" dirty="0">
                <a:ln w="9000" cmpd="sng">
                  <a:noFill/>
                  <a:prstDash val="solid"/>
                </a:ln>
                <a:solidFill>
                  <a:schemeClr val="accent6">
                    <a:lumMod val="50000"/>
                  </a:schemeClr>
                </a:solidFill>
                <a:effectLst>
                  <a:innerShdw blurRad="63500" dist="50800" dir="13500000">
                    <a:prstClr val="black">
                      <a:alpha val="50000"/>
                    </a:prstClr>
                  </a:innerShdw>
                </a:effectLst>
                <a:latin typeface="Century Gothic" pitchFamily="34" charset="0"/>
                <a:cs typeface="Courier New" pitchFamily="49" charset="0"/>
              </a:rPr>
              <a:t>LEARN BY DOING: DISCUSS</a:t>
            </a:r>
          </a:p>
        </p:txBody>
      </p:sp>
    </p:spTree>
    <p:extLst>
      <p:ext uri="{BB962C8B-B14F-4D97-AF65-F5344CB8AC3E}">
        <p14:creationId xmlns:p14="http://schemas.microsoft.com/office/powerpoint/2010/main" val="1523592287"/>
      </p:ext>
    </p:extLst>
  </p:cSld>
  <p:clrMap bg1="lt1" tx1="dk1" bg2="lt2" tx2="dk2" accent1="accent1" accent2="accent2" accent3="accent3" accent4="accent4" accent5="accent5" accent6="accent6" hlink="hlink" folHlink="folHlink"/>
  <p:sldLayoutIdLst>
    <p:sldLayoutId id="2147483805" r:id="rId1"/>
    <p:sldLayoutId id="2147483806" r:id="rId2"/>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andara" pitchFamily="34" charset="0"/>
          <a:ea typeface="+mn-ea"/>
          <a:cs typeface="Tahoma" pitchFamily="34" charset="0"/>
        </a:defRPr>
      </a:lvl1pPr>
      <a:lvl2pPr marL="457200" indent="0" algn="l" rtl="0" eaLnBrk="1" fontAlgn="base" hangingPunct="1">
        <a:spcBef>
          <a:spcPct val="20000"/>
        </a:spcBef>
        <a:spcAft>
          <a:spcPct val="0"/>
        </a:spcAft>
        <a:buFontTx/>
        <a:buNone/>
        <a:defRPr sz="3200" b="1" kern="1200" spc="100">
          <a:solidFill>
            <a:schemeClr val="tx1"/>
          </a:solidFill>
          <a:latin typeface="Candara" pitchFamily="34" charset="0"/>
          <a:ea typeface="+mn-ea"/>
          <a:cs typeface="Tahoma" pitchFamily="34" charset="0"/>
        </a:defRPr>
      </a:lvl2pPr>
      <a:lvl3pPr marL="914400" indent="0" algn="l" rtl="0" eaLnBrk="1" fontAlgn="base" hangingPunct="1">
        <a:spcBef>
          <a:spcPct val="20000"/>
        </a:spcBef>
        <a:spcAft>
          <a:spcPct val="0"/>
        </a:spcAft>
        <a:buFontTx/>
        <a:buNone/>
        <a:defRPr sz="2800" b="1" kern="1200" spc="100">
          <a:solidFill>
            <a:schemeClr val="tx1"/>
          </a:solidFill>
          <a:latin typeface="Candara" pitchFamily="34" charset="0"/>
          <a:ea typeface="+mn-ea"/>
          <a:cs typeface="Tahoma" pitchFamily="34" charset="0"/>
        </a:defRPr>
      </a:lvl3pPr>
      <a:lvl4pPr marL="13716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4pPr>
      <a:lvl5pPr marL="18288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26" name="Picture 2"/>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0" y="0"/>
            <a:ext cx="9144000"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Oval 9"/>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4"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8"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235582923"/>
      </p:ext>
    </p:extLst>
  </p:cSld>
  <p:clrMap bg1="lt1" tx1="dk1" bg2="lt2" tx2="dk2" accent1="accent1" accent2="accent2" accent3="accent3" accent4="accent4" accent5="accent5" accent6="accent6" hlink="hlink" folHlink="folHlink"/>
  <p:sldLayoutIdLst>
    <p:sldLayoutId id="2147483750" r:id="rId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spcBef>
          <a:spcPct val="20000"/>
        </a:spcBef>
        <a:buFontTx/>
        <a:buNone/>
        <a:defRPr sz="3600" b="1" kern="1200">
          <a:solidFill>
            <a:schemeClr val="tx1"/>
          </a:solidFill>
          <a:latin typeface="Century Gothic"/>
          <a:ea typeface="+mn-ea"/>
          <a:cs typeface="Century Gothic"/>
        </a:defRPr>
      </a:lvl1pPr>
      <a:lvl2pPr marL="457200" indent="0" algn="l" defTabSz="914400" rtl="0" eaLnBrk="1" latinLnBrk="0" hangingPunct="1">
        <a:spcBef>
          <a:spcPct val="20000"/>
        </a:spcBef>
        <a:buFontTx/>
        <a:buNone/>
        <a:defRPr sz="3200" b="1" kern="1200">
          <a:solidFill>
            <a:schemeClr val="tx1"/>
          </a:solidFill>
          <a:latin typeface="Century Gothic"/>
          <a:ea typeface="+mn-ea"/>
          <a:cs typeface="Century Gothic"/>
        </a:defRPr>
      </a:lvl2pPr>
      <a:lvl3pPr marL="914400" indent="0" algn="l" defTabSz="914400" rtl="0" eaLnBrk="1" latinLnBrk="0" hangingPunct="1">
        <a:spcBef>
          <a:spcPct val="20000"/>
        </a:spcBef>
        <a:buFontTx/>
        <a:buNone/>
        <a:defRPr sz="2800" b="1" kern="1200">
          <a:solidFill>
            <a:schemeClr val="tx1"/>
          </a:solidFill>
          <a:latin typeface="Century Gothic"/>
          <a:ea typeface="+mn-ea"/>
          <a:cs typeface="Century Gothic"/>
        </a:defRPr>
      </a:lvl3pPr>
      <a:lvl4pPr marL="1371600" indent="0" algn="l" defTabSz="914400" rtl="0" eaLnBrk="1" latinLnBrk="0" hangingPunct="1">
        <a:spcBef>
          <a:spcPct val="20000"/>
        </a:spcBef>
        <a:buFontTx/>
        <a:buNone/>
        <a:defRPr sz="2400" b="1" kern="1200">
          <a:solidFill>
            <a:schemeClr val="tx1"/>
          </a:solidFill>
          <a:latin typeface="Century Gothic"/>
          <a:ea typeface="+mn-ea"/>
          <a:cs typeface="Century Gothic"/>
        </a:defRPr>
      </a:lvl4pPr>
      <a:lvl5pPr marL="1828800" indent="0" algn="l" defTabSz="914400" rtl="0" eaLnBrk="1" latinLnBrk="0" hangingPunct="1">
        <a:spcBef>
          <a:spcPct val="20000"/>
        </a:spcBef>
        <a:buFontTx/>
        <a:buNone/>
        <a:defRPr sz="2400" b="1" kern="12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457200" y="1830388"/>
            <a:ext cx="86868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4" name="TextBox 13">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solidFill>
                  <a:prstClr val="black"/>
                </a:solidFill>
                <a:latin typeface="Candara" pitchFamily="34" charset="0"/>
                <a:hlinkClick r:id="rId4" action="ppaction://hlinksldjump"/>
              </a:rPr>
              <a:t>Back to Table of contents</a:t>
            </a:r>
            <a:endParaRPr lang="en-US" sz="800" b="1" dirty="0">
              <a:solidFill>
                <a:prstClr val="black"/>
              </a:solidFill>
              <a:latin typeface="Candara" pitchFamily="34" charset="0"/>
            </a:endParaRPr>
          </a:p>
          <a:p>
            <a:endParaRPr lang="en-US" sz="1000" dirty="0">
              <a:solidFill>
                <a:prstClr val="black"/>
              </a:solidFill>
              <a:latin typeface="Candara" pitchFamily="34" charset="0"/>
            </a:endParaRPr>
          </a:p>
        </p:txBody>
      </p:sp>
      <p:sp>
        <p:nvSpPr>
          <p:cNvPr id="9"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    </a:t>
            </a:r>
            <a:endParaRPr lang="en-US" sz="1000" kern="0" cap="all" spc="1060" dirty="0">
              <a:solidFill>
                <a:prstClr val="white">
                  <a:lumMod val="50000"/>
                </a:prstClr>
              </a:solidFill>
              <a:latin typeface="Gill Sans"/>
              <a:cs typeface="Gill Sans"/>
            </a:endParaRPr>
          </a:p>
        </p:txBody>
      </p:sp>
      <p:sp>
        <p:nvSpPr>
          <p:cNvPr id="10" name="Right Arrow 9"/>
          <p:cNvSpPr/>
          <p:nvPr userDrawn="1"/>
        </p:nvSpPr>
        <p:spPr>
          <a:xfrm>
            <a:off x="0" y="0"/>
            <a:ext cx="8991600" cy="1161633"/>
          </a:xfrm>
          <a:prstGeom prst="rightArrow">
            <a:avLst>
              <a:gd name="adj1" fmla="val 50000"/>
              <a:gd name="adj2" fmla="val 78749"/>
            </a:avLst>
          </a:prstGeom>
          <a:solidFill>
            <a:srgbClr val="F8EF59">
              <a:alpha val="38000"/>
            </a:srgbClr>
          </a:solidFill>
          <a:ln>
            <a:noFill/>
          </a:ln>
        </p:spPr>
        <p:txBody>
          <a:bodyPr wrap="square">
            <a:spAutoFit/>
          </a:bodyPr>
          <a:lstStyle/>
          <a:p>
            <a:pPr>
              <a:defRPr/>
            </a:pPr>
            <a:r>
              <a:rPr lang="en-US" sz="3200" spc="60" dirty="0">
                <a:ln w="9000" cmpd="sng">
                  <a:noFill/>
                  <a:prstDash val="solid"/>
                </a:ln>
                <a:solidFill>
                  <a:srgbClr val="C5BE76"/>
                </a:solidFill>
                <a:effectLst>
                  <a:innerShdw blurRad="63500" dist="50800" dir="13500000">
                    <a:prstClr val="black">
                      <a:alpha val="50000"/>
                    </a:prstClr>
                  </a:innerShdw>
                </a:effectLst>
                <a:latin typeface="Century Gothic" pitchFamily="34" charset="0"/>
                <a:cs typeface="Courier New" pitchFamily="49" charset="0"/>
              </a:rPr>
              <a:t>LEARN BY DOING: APPLICATION VIDEO</a:t>
            </a:r>
          </a:p>
        </p:txBody>
      </p:sp>
    </p:spTree>
    <p:extLst>
      <p:ext uri="{BB962C8B-B14F-4D97-AF65-F5344CB8AC3E}">
        <p14:creationId xmlns:p14="http://schemas.microsoft.com/office/powerpoint/2010/main" val="3427671639"/>
      </p:ext>
    </p:extLst>
  </p:cSld>
  <p:clrMap bg1="lt1" tx1="dk1" bg2="lt2" tx2="dk2" accent1="accent1" accent2="accent2" accent3="accent3" accent4="accent4" accent5="accent5" accent6="accent6" hlink="hlink" folHlink="folHlink"/>
  <p:sldLayoutIdLst>
    <p:sldLayoutId id="2147483802" r:id="rId1"/>
    <p:sldLayoutId id="2147483803" r:id="rId2"/>
  </p:sldLayoutIdLst>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26">
                                            <p:txEl>
                                              <p:pRg st="0" end="0"/>
                                            </p:txEl>
                                          </p:spTgt>
                                        </p:tgtEl>
                                        <p:attrNameLst>
                                          <p:attrName>style.visibility</p:attrName>
                                        </p:attrNameLst>
                                      </p:cBhvr>
                                      <p:to>
                                        <p:strVal val="visible"/>
                                      </p:to>
                                    </p:set>
                                    <p:animEffect transition="in" filter="fade">
                                      <p:cBhvr>
                                        <p:cTn id="7" dur="500"/>
                                        <p:tgtEl>
                                          <p:spTgt spid="10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6">
                                            <p:txEl>
                                              <p:pRg st="1" end="1"/>
                                            </p:txEl>
                                          </p:spTgt>
                                        </p:tgtEl>
                                        <p:attrNameLst>
                                          <p:attrName>style.visibility</p:attrName>
                                        </p:attrNameLst>
                                      </p:cBhvr>
                                      <p:to>
                                        <p:strVal val="visible"/>
                                      </p:to>
                                    </p:set>
                                    <p:animEffect transition="in" filter="fade">
                                      <p:cBhvr>
                                        <p:cTn id="12" dur="500"/>
                                        <p:tgtEl>
                                          <p:spTgt spid="10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26">
                                            <p:txEl>
                                              <p:pRg st="2" end="2"/>
                                            </p:txEl>
                                          </p:spTgt>
                                        </p:tgtEl>
                                        <p:attrNameLst>
                                          <p:attrName>style.visibility</p:attrName>
                                        </p:attrNameLst>
                                      </p:cBhvr>
                                      <p:to>
                                        <p:strVal val="visible"/>
                                      </p:to>
                                    </p:set>
                                    <p:animEffect transition="in" filter="fade">
                                      <p:cBhvr>
                                        <p:cTn id="17" dur="500"/>
                                        <p:tgtEl>
                                          <p:spTgt spid="102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26">
                                            <p:txEl>
                                              <p:pRg st="3" end="3"/>
                                            </p:txEl>
                                          </p:spTgt>
                                        </p:tgtEl>
                                        <p:attrNameLst>
                                          <p:attrName>style.visibility</p:attrName>
                                        </p:attrNameLst>
                                      </p:cBhvr>
                                      <p:to>
                                        <p:strVal val="visible"/>
                                      </p:to>
                                    </p:set>
                                    <p:animEffect transition="in" filter="fade">
                                      <p:cBhvr>
                                        <p:cTn id="22" dur="500"/>
                                        <p:tgtEl>
                                          <p:spTgt spid="102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26">
                                            <p:txEl>
                                              <p:pRg st="4" end="4"/>
                                            </p:txEl>
                                          </p:spTgt>
                                        </p:tgtEl>
                                        <p:attrNameLst>
                                          <p:attrName>style.visibility</p:attrName>
                                        </p:attrNameLst>
                                      </p:cBhvr>
                                      <p:to>
                                        <p:strVal val="visible"/>
                                      </p:to>
                                    </p:set>
                                    <p:animEffect transition="in" filter="fade">
                                      <p:cBhvr>
                                        <p:cTn id="27" dur="500"/>
                                        <p:tgtEl>
                                          <p:spTgt spid="102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build="p">
        <p:tmplLst>
          <p:tmpl lvl="1">
            <p:tnLst>
              <p:par>
                <p:cTn presetID="10" presetClass="entr" presetSubtype="0" fill="hold" nodeType="with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Lst>
      </p:bldP>
    </p:bldLst>
  </p:timing>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spc="1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spc="1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9144000" cy="838200"/>
          </a:xfrm>
          <a:prstGeom prst="rect">
            <a:avLst/>
          </a:prstGeom>
          <a:solidFill>
            <a:schemeClr val="accent5">
              <a:lumMod val="20000"/>
              <a:lumOff val="80000"/>
              <a:alpha val="44000"/>
            </a:schemeClr>
          </a:solidFill>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8600" y="990600"/>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a:xfrm>
            <a:off x="0" y="838200"/>
            <a:ext cx="9144000" cy="0"/>
          </a:xfrm>
          <a:prstGeom prst="line">
            <a:avLst/>
          </a:prstGeom>
          <a:ln w="127000" cmpd="sng">
            <a:solidFill>
              <a:schemeClr val="tx2">
                <a:lumMod val="20000"/>
                <a:lumOff val="80000"/>
                <a:alpha val="71000"/>
              </a:schemeClr>
            </a:solidFill>
            <a:prstDash val="solid"/>
          </a:ln>
        </p:spPr>
        <p:style>
          <a:lnRef idx="1">
            <a:schemeClr val="accent5"/>
          </a:lnRef>
          <a:fillRef idx="0">
            <a:schemeClr val="accent5"/>
          </a:fillRef>
          <a:effectRef idx="0">
            <a:schemeClr val="accent5"/>
          </a:effectRef>
          <a:fontRef idx="minor">
            <a:schemeClr val="tx1"/>
          </a:fontRef>
        </p:style>
      </p:cxnSp>
      <p:sp>
        <p:nvSpPr>
          <p:cNvPr id="11" name="Oval 10"/>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2" name="TextBox 11">
            <a:hlinkClick r:id="rId6"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solidFill>
                  <a:prstClr val="black"/>
                </a:solidFill>
                <a:latin typeface="Candara" pitchFamily="34" charset="0"/>
                <a:hlinkClick r:id="rId6" action="ppaction://hlinksldjump"/>
              </a:rPr>
              <a:t>Back to Table of contents</a:t>
            </a:r>
            <a:endParaRPr lang="en-US" sz="800" b="1" dirty="0">
              <a:solidFill>
                <a:prstClr val="black"/>
              </a:solidFill>
              <a:latin typeface="Candara" pitchFamily="34" charset="0"/>
            </a:endParaRPr>
          </a:p>
          <a:p>
            <a:endParaRPr lang="en-US" sz="1000" dirty="0">
              <a:solidFill>
                <a:prstClr val="black"/>
              </a:solidFill>
              <a:latin typeface="Candara" pitchFamily="34" charset="0"/>
            </a:endParaRPr>
          </a:p>
        </p:txBody>
      </p:sp>
      <p:sp>
        <p:nvSpPr>
          <p:cNvPr id="8"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    </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433994369"/>
      </p:ext>
    </p:extLst>
  </p:cSld>
  <p:clrMap bg1="lt1" tx1="dk1" bg2="lt2" tx2="dk2" accent1="accent1" accent2="accent2" accent3="accent3" accent4="accent4" accent5="accent5" accent6="accent6" hlink="hlink" folHlink="folHlink"/>
  <p:sldLayoutIdLst>
    <p:sldLayoutId id="2147483808" r:id="rId1"/>
    <p:sldLayoutId id="2147483809" r:id="rId2"/>
    <p:sldLayoutId id="2147483810" r:id="rId3"/>
    <p:sldLayoutId id="2147483811" r:id="rId4"/>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r" defTabSz="914400" rtl="0" eaLnBrk="1" latinLnBrk="0" hangingPunct="1">
        <a:spcBef>
          <a:spcPct val="0"/>
        </a:spcBef>
        <a:buNone/>
        <a:defRPr sz="4400" b="1" kern="1200" spc="-200" baseline="0">
          <a:solidFill>
            <a:schemeClr val="accent6">
              <a:lumMod val="75000"/>
            </a:schemeClr>
          </a:solidFill>
          <a:latin typeface="Candara" pitchFamily="34" charset="0"/>
          <a:ea typeface="+mj-ea"/>
          <a:cs typeface="+mj-cs"/>
        </a:defRPr>
      </a:lvl1pPr>
    </p:titleStyle>
    <p:bodyStyle>
      <a:lvl1pPr marL="0" indent="0" algn="l" defTabSz="914400" rtl="0" eaLnBrk="1" latinLnBrk="0" hangingPunct="1">
        <a:spcBef>
          <a:spcPct val="20000"/>
        </a:spcBef>
        <a:buFontTx/>
        <a:buNone/>
        <a:defRPr sz="3200" b="1" kern="1200">
          <a:solidFill>
            <a:schemeClr val="tx1"/>
          </a:solidFill>
          <a:latin typeface="Candara" pitchFamily="34" charset="0"/>
          <a:ea typeface="+mn-ea"/>
          <a:cs typeface="+mn-cs"/>
        </a:defRPr>
      </a:lvl1pPr>
      <a:lvl2pPr marL="457200" indent="0" algn="l" defTabSz="914400" rtl="0" eaLnBrk="1" latinLnBrk="0" hangingPunct="1">
        <a:spcBef>
          <a:spcPct val="20000"/>
        </a:spcBef>
        <a:buFontTx/>
        <a:buNone/>
        <a:defRPr sz="2800" b="1" kern="1200">
          <a:solidFill>
            <a:schemeClr val="tx1"/>
          </a:solidFill>
          <a:latin typeface="Candara" pitchFamily="34" charset="0"/>
          <a:ea typeface="+mn-ea"/>
          <a:cs typeface="+mn-cs"/>
        </a:defRPr>
      </a:lvl2pPr>
      <a:lvl3pPr marL="9144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3pPr>
      <a:lvl4pPr marL="13716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4pPr>
      <a:lvl5pPr marL="18288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9144000" cy="838200"/>
          </a:xfrm>
          <a:prstGeom prst="rect">
            <a:avLst/>
          </a:prstGeom>
          <a:solidFill>
            <a:schemeClr val="accent5">
              <a:lumMod val="20000"/>
              <a:lumOff val="80000"/>
              <a:alpha val="44000"/>
            </a:schemeClr>
          </a:solidFill>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8600" y="990600"/>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a:xfrm>
            <a:off x="0" y="838200"/>
            <a:ext cx="9144000" cy="0"/>
          </a:xfrm>
          <a:prstGeom prst="line">
            <a:avLst/>
          </a:prstGeom>
          <a:ln w="127000" cmpd="sng">
            <a:solidFill>
              <a:schemeClr val="tx2">
                <a:lumMod val="20000"/>
                <a:lumOff val="80000"/>
                <a:alpha val="71000"/>
              </a:schemeClr>
            </a:solidFill>
            <a:prstDash val="solid"/>
          </a:ln>
        </p:spPr>
        <p:style>
          <a:lnRef idx="1">
            <a:schemeClr val="accent5"/>
          </a:lnRef>
          <a:fillRef idx="0">
            <a:schemeClr val="accent5"/>
          </a:fillRef>
          <a:effectRef idx="0">
            <a:schemeClr val="accent5"/>
          </a:effectRef>
          <a:fontRef idx="minor">
            <a:schemeClr val="tx1"/>
          </a:fontRef>
        </p:style>
      </p:cxnSp>
      <p:sp>
        <p:nvSpPr>
          <p:cNvPr id="11" name="Oval 10"/>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2" name="TextBox 11">
            <a:hlinkClick r:id="rId6"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solidFill>
                  <a:prstClr val="black"/>
                </a:solidFill>
                <a:latin typeface="Candara" pitchFamily="34" charset="0"/>
                <a:hlinkClick r:id="rId6" action="ppaction://hlinksldjump"/>
              </a:rPr>
              <a:t>Back to Table of contents</a:t>
            </a:r>
            <a:endParaRPr lang="en-US" sz="800" b="1" dirty="0">
              <a:solidFill>
                <a:prstClr val="black"/>
              </a:solidFill>
              <a:latin typeface="Candara" pitchFamily="34" charset="0"/>
            </a:endParaRPr>
          </a:p>
          <a:p>
            <a:endParaRPr lang="en-US" sz="1000" dirty="0">
              <a:solidFill>
                <a:prstClr val="black"/>
              </a:solidFill>
              <a:latin typeface="Candara" pitchFamily="34" charset="0"/>
            </a:endParaRPr>
          </a:p>
        </p:txBody>
      </p:sp>
      <p:sp>
        <p:nvSpPr>
          <p:cNvPr id="8"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    </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2303652417"/>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r" defTabSz="914400" rtl="0" eaLnBrk="1" latinLnBrk="0" hangingPunct="1">
        <a:spcBef>
          <a:spcPct val="0"/>
        </a:spcBef>
        <a:buNone/>
        <a:defRPr sz="4400" b="1" kern="1200" spc="-200" baseline="0">
          <a:solidFill>
            <a:schemeClr val="accent6">
              <a:lumMod val="75000"/>
            </a:schemeClr>
          </a:solidFill>
          <a:latin typeface="Candara" pitchFamily="34" charset="0"/>
          <a:ea typeface="+mj-ea"/>
          <a:cs typeface="+mj-cs"/>
        </a:defRPr>
      </a:lvl1pPr>
    </p:titleStyle>
    <p:bodyStyle>
      <a:lvl1pPr marL="0" indent="0" algn="l" defTabSz="914400" rtl="0" eaLnBrk="1" latinLnBrk="0" hangingPunct="1">
        <a:spcBef>
          <a:spcPct val="20000"/>
        </a:spcBef>
        <a:buFontTx/>
        <a:buNone/>
        <a:defRPr sz="3200" b="1" kern="1200">
          <a:solidFill>
            <a:schemeClr val="tx1"/>
          </a:solidFill>
          <a:latin typeface="Candara" pitchFamily="34" charset="0"/>
          <a:ea typeface="+mn-ea"/>
          <a:cs typeface="+mn-cs"/>
        </a:defRPr>
      </a:lvl1pPr>
      <a:lvl2pPr marL="457200" indent="0" algn="l" defTabSz="914400" rtl="0" eaLnBrk="1" latinLnBrk="0" hangingPunct="1">
        <a:spcBef>
          <a:spcPct val="20000"/>
        </a:spcBef>
        <a:buFontTx/>
        <a:buNone/>
        <a:defRPr sz="2800" b="1" kern="1200">
          <a:solidFill>
            <a:schemeClr val="tx1"/>
          </a:solidFill>
          <a:latin typeface="Candara" pitchFamily="34" charset="0"/>
          <a:ea typeface="+mn-ea"/>
          <a:cs typeface="+mn-cs"/>
        </a:defRPr>
      </a:lvl2pPr>
      <a:lvl3pPr marL="9144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3pPr>
      <a:lvl4pPr marL="13716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4pPr>
      <a:lvl5pPr marL="18288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9144000" cy="838200"/>
          </a:xfrm>
          <a:prstGeom prst="rect">
            <a:avLst/>
          </a:prstGeom>
          <a:solidFill>
            <a:schemeClr val="accent5">
              <a:lumMod val="20000"/>
              <a:lumOff val="80000"/>
              <a:alpha val="44000"/>
            </a:schemeClr>
          </a:solidFill>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8600" y="990600"/>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a:xfrm>
            <a:off x="0" y="838200"/>
            <a:ext cx="9144000" cy="0"/>
          </a:xfrm>
          <a:prstGeom prst="line">
            <a:avLst/>
          </a:prstGeom>
          <a:ln w="127000" cmpd="sng">
            <a:solidFill>
              <a:schemeClr val="tx2">
                <a:lumMod val="20000"/>
                <a:lumOff val="80000"/>
                <a:alpha val="71000"/>
              </a:schemeClr>
            </a:solidFill>
            <a:prstDash val="solid"/>
          </a:ln>
        </p:spPr>
        <p:style>
          <a:lnRef idx="1">
            <a:schemeClr val="accent5"/>
          </a:lnRef>
          <a:fillRef idx="0">
            <a:schemeClr val="accent5"/>
          </a:fillRef>
          <a:effectRef idx="0">
            <a:schemeClr val="accent5"/>
          </a:effectRef>
          <a:fontRef idx="minor">
            <a:schemeClr val="tx1"/>
          </a:fontRef>
        </p:style>
      </p:cxnSp>
      <p:sp>
        <p:nvSpPr>
          <p:cNvPr id="11" name="Oval 10"/>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2" name="TextBox 11">
            <a:hlinkClick r:id="rId6"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solidFill>
                  <a:prstClr val="black"/>
                </a:solidFill>
                <a:latin typeface="Candara" pitchFamily="34" charset="0"/>
                <a:hlinkClick r:id="rId6" action="ppaction://hlinksldjump"/>
              </a:rPr>
              <a:t>Back to Table of contents</a:t>
            </a:r>
            <a:endParaRPr lang="en-US" sz="800" b="1" dirty="0">
              <a:solidFill>
                <a:prstClr val="black"/>
              </a:solidFill>
              <a:latin typeface="Candara" pitchFamily="34" charset="0"/>
            </a:endParaRPr>
          </a:p>
          <a:p>
            <a:endParaRPr lang="en-US" sz="1000" dirty="0">
              <a:solidFill>
                <a:prstClr val="black"/>
              </a:solidFill>
              <a:latin typeface="Candara" pitchFamily="34" charset="0"/>
            </a:endParaRPr>
          </a:p>
        </p:txBody>
      </p:sp>
      <p:sp>
        <p:nvSpPr>
          <p:cNvPr id="8"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    </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683840418"/>
      </p:ext>
    </p:extLst>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r" defTabSz="914400" rtl="0" eaLnBrk="1" latinLnBrk="0" hangingPunct="1">
        <a:spcBef>
          <a:spcPct val="0"/>
        </a:spcBef>
        <a:buNone/>
        <a:defRPr sz="4400" b="1" kern="1200" spc="-200" baseline="0">
          <a:solidFill>
            <a:schemeClr val="accent6">
              <a:lumMod val="75000"/>
            </a:schemeClr>
          </a:solidFill>
          <a:latin typeface="Candara" pitchFamily="34" charset="0"/>
          <a:ea typeface="+mj-ea"/>
          <a:cs typeface="+mj-cs"/>
        </a:defRPr>
      </a:lvl1pPr>
    </p:titleStyle>
    <p:bodyStyle>
      <a:lvl1pPr marL="0" indent="0" algn="l" defTabSz="914400" rtl="0" eaLnBrk="1" latinLnBrk="0" hangingPunct="1">
        <a:spcBef>
          <a:spcPct val="20000"/>
        </a:spcBef>
        <a:buFontTx/>
        <a:buNone/>
        <a:defRPr sz="3200" b="1" kern="1200">
          <a:solidFill>
            <a:schemeClr val="tx1"/>
          </a:solidFill>
          <a:latin typeface="Candara" pitchFamily="34" charset="0"/>
          <a:ea typeface="+mn-ea"/>
          <a:cs typeface="+mn-cs"/>
        </a:defRPr>
      </a:lvl1pPr>
      <a:lvl2pPr marL="457200" indent="0" algn="l" defTabSz="914400" rtl="0" eaLnBrk="1" latinLnBrk="0" hangingPunct="1">
        <a:spcBef>
          <a:spcPct val="20000"/>
        </a:spcBef>
        <a:buFontTx/>
        <a:buNone/>
        <a:defRPr sz="2800" b="1" kern="1200">
          <a:solidFill>
            <a:schemeClr val="tx1"/>
          </a:solidFill>
          <a:latin typeface="Candara" pitchFamily="34" charset="0"/>
          <a:ea typeface="+mn-ea"/>
          <a:cs typeface="+mn-cs"/>
        </a:defRPr>
      </a:lvl2pPr>
      <a:lvl3pPr marL="9144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3pPr>
      <a:lvl4pPr marL="13716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4pPr>
      <a:lvl5pPr marL="18288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26" name="Picture 2"/>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0" y="0"/>
            <a:ext cx="9144000"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Oval 9"/>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1" name="TextBox 10">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solidFill>
                  <a:prstClr val="black"/>
                </a:solidFill>
                <a:latin typeface="Candara" pitchFamily="34" charset="0"/>
                <a:hlinkClick r:id="rId4" action="ppaction://hlinksldjump"/>
              </a:rPr>
              <a:t>Back to Table of contents</a:t>
            </a:r>
            <a:endParaRPr lang="en-US" sz="800" b="1" dirty="0">
              <a:solidFill>
                <a:prstClr val="black"/>
              </a:solidFill>
              <a:latin typeface="Candara" pitchFamily="34" charset="0"/>
            </a:endParaRPr>
          </a:p>
          <a:p>
            <a:endParaRPr lang="en-US" sz="1000" dirty="0">
              <a:solidFill>
                <a:prstClr val="black"/>
              </a:solidFill>
              <a:latin typeface="Candara" pitchFamily="34" charset="0"/>
            </a:endParaRPr>
          </a:p>
        </p:txBody>
      </p:sp>
      <p:sp>
        <p:nvSpPr>
          <p:cNvPr id="7"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    </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2022087575"/>
      </p:ext>
    </p:extLst>
  </p:cSld>
  <p:clrMap bg1="lt1" tx1="dk1" bg2="lt2" tx2="dk2" accent1="accent1" accent2="accent2" accent3="accent3" accent4="accent4" accent5="accent5" accent6="accent6" hlink="hlink" folHlink="folHlink"/>
  <p:sldLayoutIdLst>
    <p:sldLayoutId id="2147483823" r:id="rId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spcBef>
          <a:spcPct val="20000"/>
        </a:spcBef>
        <a:buFontTx/>
        <a:buNone/>
        <a:defRPr sz="3600" b="1" kern="1200">
          <a:solidFill>
            <a:schemeClr val="tx1"/>
          </a:solidFill>
          <a:latin typeface="Candara" pitchFamily="34" charset="0"/>
          <a:ea typeface="+mn-ea"/>
          <a:cs typeface="+mn-cs"/>
        </a:defRPr>
      </a:lvl1pPr>
      <a:lvl2pPr marL="457200" indent="0" algn="l" defTabSz="914400" rtl="0" eaLnBrk="1" latinLnBrk="0" hangingPunct="1">
        <a:spcBef>
          <a:spcPct val="20000"/>
        </a:spcBef>
        <a:buFontTx/>
        <a:buNone/>
        <a:defRPr sz="3200" b="1" kern="1200">
          <a:solidFill>
            <a:schemeClr val="tx1"/>
          </a:solidFill>
          <a:latin typeface="Candara" pitchFamily="34" charset="0"/>
          <a:ea typeface="+mn-ea"/>
          <a:cs typeface="+mn-cs"/>
        </a:defRPr>
      </a:lvl2pPr>
      <a:lvl3pPr marL="914400" indent="0" algn="l" defTabSz="914400" rtl="0" eaLnBrk="1" latinLnBrk="0" hangingPunct="1">
        <a:spcBef>
          <a:spcPct val="20000"/>
        </a:spcBef>
        <a:buFontTx/>
        <a:buNone/>
        <a:defRPr sz="2800" b="1" kern="1200">
          <a:solidFill>
            <a:schemeClr val="tx1"/>
          </a:solidFill>
          <a:latin typeface="Candara" pitchFamily="34" charset="0"/>
          <a:ea typeface="+mn-ea"/>
          <a:cs typeface="+mn-cs"/>
        </a:defRPr>
      </a:lvl3pPr>
      <a:lvl4pPr marL="13716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4pPr>
      <a:lvl5pPr marL="18288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 y="392043"/>
            <a:ext cx="3263366" cy="838200"/>
          </a:xfrm>
          <a:prstGeom prst="rect">
            <a:avLst/>
          </a:prstGeom>
          <a:noFill/>
        </p:spPr>
        <p:txBody>
          <a:bodyPr vert="horz" lIns="91440" tIns="45720" rIns="91440" bIns="45720" rtlCol="0" anchor="ctr">
            <a:noAutofit/>
          </a:bodyPr>
          <a:lstStyle/>
          <a:p>
            <a:r>
              <a:rPr lang="en-US" dirty="0"/>
              <a:t>ECONOMICS</a:t>
            </a:r>
          </a:p>
        </p:txBody>
      </p:sp>
      <p:sp>
        <p:nvSpPr>
          <p:cNvPr id="3" name="Text Placeholder 2"/>
          <p:cNvSpPr>
            <a:spLocks noGrp="1"/>
          </p:cNvSpPr>
          <p:nvPr>
            <p:ph type="body" idx="1"/>
          </p:nvPr>
        </p:nvSpPr>
        <p:spPr>
          <a:xfrm>
            <a:off x="228600" y="1410234"/>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Placeholder 1"/>
          <p:cNvSpPr txBox="1">
            <a:spLocks/>
          </p:cNvSpPr>
          <p:nvPr/>
        </p:nvSpPr>
        <p:spPr>
          <a:xfrm>
            <a:off x="3854173" y="392043"/>
            <a:ext cx="2853083" cy="838200"/>
          </a:xfrm>
          <a:prstGeom prst="rect">
            <a:avLst/>
          </a:prstGeom>
          <a:noFill/>
        </p:spPr>
        <p:txBody>
          <a:bodyPr vert="horz" lIns="91440" tIns="45720" rIns="91440" bIns="45720" rtlCol="0" anchor="ctr">
            <a:noAutofit/>
          </a:bodyPr>
          <a:lstStyle>
            <a:lvl1pPr algn="r" defTabSz="914400" rtl="0" eaLnBrk="1" latinLnBrk="0" hangingPunct="1">
              <a:spcBef>
                <a:spcPct val="0"/>
              </a:spcBef>
              <a:buNone/>
              <a:defRPr sz="3600" b="1" i="1" kern="1200" cap="all" spc="-200" baseline="0">
                <a:solidFill>
                  <a:schemeClr val="accent5">
                    <a:lumMod val="75000"/>
                  </a:schemeClr>
                </a:solidFill>
                <a:latin typeface="Verdana"/>
                <a:ea typeface="+mj-ea"/>
                <a:cs typeface="Verdana"/>
              </a:defRPr>
            </a:lvl1pPr>
          </a:lstStyle>
          <a:p>
            <a:r>
              <a:rPr lang="en-US" dirty="0">
                <a:solidFill>
                  <a:srgbClr val="F79646">
                    <a:lumMod val="75000"/>
                  </a:srgbClr>
                </a:solidFill>
              </a:rPr>
              <a:t>IN ACTION</a:t>
            </a:r>
          </a:p>
        </p:txBody>
      </p:sp>
      <p:sp>
        <p:nvSpPr>
          <p:cNvPr id="13" name="Oval 12"/>
          <p:cNvSpPr/>
          <p:nvPr/>
        </p:nvSpPr>
        <p:spPr>
          <a:xfrm>
            <a:off x="3263367" y="589723"/>
            <a:ext cx="474870" cy="485913"/>
          </a:xfrm>
          <a:prstGeom prst="ellipse">
            <a:avLst/>
          </a:prstGeom>
          <a:solidFill>
            <a:schemeClr val="bg1"/>
          </a:solidFill>
          <a:ln>
            <a:noFill/>
          </a:ln>
          <a:effectLst>
            <a:outerShdw blurRad="276225" dir="6960000" sx="122000" sy="122000" algn="tl"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b="1" dirty="0">
              <a:solidFill>
                <a:srgbClr val="F79646">
                  <a:lumMod val="75000"/>
                </a:srgbClr>
              </a:solidFill>
              <a:latin typeface="Verdana"/>
              <a:cs typeface="Verdana"/>
            </a:endParaRPr>
          </a:p>
        </p:txBody>
      </p:sp>
      <p:sp>
        <p:nvSpPr>
          <p:cNvPr id="4" name="Isosceles Triangle 3"/>
          <p:cNvSpPr/>
          <p:nvPr/>
        </p:nvSpPr>
        <p:spPr>
          <a:xfrm rot="5400000">
            <a:off x="3379193" y="640391"/>
            <a:ext cx="337086" cy="381002"/>
          </a:xfrm>
          <a:prstGeom prst="triangle">
            <a:avLst>
              <a:gd name="adj" fmla="val 49975"/>
            </a:avLst>
          </a:prstGeom>
          <a:solidFill>
            <a:schemeClr val="accent6">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6" name="Straight Connector 5"/>
          <p:cNvCxnSpPr/>
          <p:nvPr/>
        </p:nvCxnSpPr>
        <p:spPr>
          <a:xfrm>
            <a:off x="0" y="1166743"/>
            <a:ext cx="9144000" cy="0"/>
          </a:xfrm>
          <a:prstGeom prst="line">
            <a:avLst/>
          </a:prstGeom>
          <a:ln>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a:off x="-12700" y="480943"/>
            <a:ext cx="9144000" cy="0"/>
          </a:xfrm>
          <a:prstGeom prst="line">
            <a:avLst/>
          </a:prstGeom>
          <a:ln>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10" name="Footer Placeholder 2"/>
          <p:cNvSpPr>
            <a:spLocks noGrp="1"/>
          </p:cNvSpPr>
          <p:nvPr>
            <p:ph type="ftr" sz="quarter" idx="3"/>
          </p:nvPr>
        </p:nvSpPr>
        <p:spPr>
          <a:xfrm>
            <a:off x="1066800" y="6553200"/>
            <a:ext cx="7543800" cy="228600"/>
          </a:xfrm>
          <a:prstGeom prst="rect">
            <a:avLst/>
          </a:prstGeom>
        </p:spPr>
        <p:txBody>
          <a:bodyPr/>
          <a:lstStyle>
            <a:lvl1pPr algn="ctr">
              <a:defRPr>
                <a:solidFill>
                  <a:srgbClr val="7F7F7F"/>
                </a:solidFill>
              </a:defRPr>
            </a:lvl1pPr>
          </a:lstStyle>
          <a:p>
            <a:pPr>
              <a:defRPr/>
            </a:pPr>
            <a:r>
              <a:rPr lang="en-US" sz="1000" kern="0" cap="all" spc="1060">
                <a:latin typeface="Gill Sans"/>
                <a:cs typeface="Gill Sans"/>
              </a:rPr>
              <a:t>Copyright 2015 Worth Publishers    </a:t>
            </a:r>
            <a:endParaRPr lang="en-US" sz="1000" kern="0" cap="all" spc="1060" dirty="0">
              <a:latin typeface="Gill Sans"/>
              <a:cs typeface="Gill Sans"/>
            </a:endParaRPr>
          </a:p>
        </p:txBody>
      </p:sp>
    </p:spTree>
    <p:extLst>
      <p:ext uri="{BB962C8B-B14F-4D97-AF65-F5344CB8AC3E}">
        <p14:creationId xmlns:p14="http://schemas.microsoft.com/office/powerpoint/2010/main" val="476076302"/>
      </p:ext>
    </p:extLst>
  </p:cSld>
  <p:clrMap bg1="lt1" tx1="dk1" bg2="lt2" tx2="dk2" accent1="accent1" accent2="accent2" accent3="accent3" accent4="accent4" accent5="accent5" accent6="accent6" hlink="hlink" folHlink="folHlink"/>
  <p:sldLayoutIdLst>
    <p:sldLayoutId id="2147483825" r:id="rId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p:titleStyle>
    <p:bodyStyle>
      <a:lvl1pPr marL="0" indent="0" algn="l" defTabSz="914400" rtl="0" eaLnBrk="1" latinLnBrk="0" hangingPunct="1">
        <a:spcBef>
          <a:spcPct val="20000"/>
        </a:spcBef>
        <a:buFontTx/>
        <a:buNone/>
        <a:defRPr sz="3200" b="1" kern="1200">
          <a:solidFill>
            <a:schemeClr val="tx1"/>
          </a:solidFill>
          <a:latin typeface="Candara" pitchFamily="34" charset="0"/>
          <a:ea typeface="+mn-ea"/>
          <a:cs typeface="+mn-cs"/>
        </a:defRPr>
      </a:lvl1pPr>
      <a:lvl2pPr marL="457200" indent="0" algn="l" defTabSz="914400" rtl="0" eaLnBrk="1" latinLnBrk="0" hangingPunct="1">
        <a:spcBef>
          <a:spcPct val="20000"/>
        </a:spcBef>
        <a:buFontTx/>
        <a:buNone/>
        <a:defRPr sz="2800" b="1" kern="1200">
          <a:solidFill>
            <a:schemeClr val="tx1"/>
          </a:solidFill>
          <a:latin typeface="Candara" pitchFamily="34" charset="0"/>
          <a:ea typeface="+mn-ea"/>
          <a:cs typeface="+mn-cs"/>
        </a:defRPr>
      </a:lvl2pPr>
      <a:lvl3pPr marL="9144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3pPr>
      <a:lvl4pPr marL="13716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4pPr>
      <a:lvl5pPr marL="18288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slide" Target="slide43.xml"/><Relationship Id="rId3" Type="http://schemas.openxmlformats.org/officeDocument/2006/relationships/slide" Target="slide5.xml"/><Relationship Id="rId7" Type="http://schemas.openxmlformats.org/officeDocument/2006/relationships/slide" Target="slide38.xml"/><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slide" Target="slide9.xml"/><Relationship Id="rId11" Type="http://schemas.openxmlformats.org/officeDocument/2006/relationships/slide" Target="slide19.xml"/><Relationship Id="rId5" Type="http://schemas.openxmlformats.org/officeDocument/2006/relationships/slide" Target="slide24.xml"/><Relationship Id="rId10" Type="http://schemas.openxmlformats.org/officeDocument/2006/relationships/slide" Target="slide23.xml"/><Relationship Id="rId4" Type="http://schemas.openxmlformats.org/officeDocument/2006/relationships/slide" Target="slide6.xml"/><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19.jpeg"/><Relationship Id="rId4" Type="http://schemas.openxmlformats.org/officeDocument/2006/relationships/slide" Target="slide4.xml"/></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34.png"/><Relationship Id="rId2" Type="http://schemas.openxmlformats.org/officeDocument/2006/relationships/notesSlide" Target="../notesSlides/notesSlide4.xml"/><Relationship Id="rId16" Type="http://schemas.openxmlformats.org/officeDocument/2006/relationships/image" Target="../media/image33.png"/><Relationship Id="rId1" Type="http://schemas.openxmlformats.org/officeDocument/2006/relationships/slideLayout" Target="../slideLayouts/slideLayout4.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slide" Target="slide4.xml"/></Relationships>
</file>

<file path=ppt/slides/_rels/slide9.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slide" Target="slide4.xml"/><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slide" Target="slide4.xml"/></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slide" Target="slide4.xml"/><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42.jpeg"/></Relationships>
</file>

<file path=ppt/slides/_rels/slide1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slide" Target="slide4.xml"/></Relationships>
</file>

<file path=ppt/slides/_rels/slide19.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slide" Target="slide21.xml"/></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slide" Target="slide4.xml"/><Relationship Id="rId4" Type="http://schemas.openxmlformats.org/officeDocument/2006/relationships/image" Target="../media/image45.png"/></Relationships>
</file>

<file path=ppt/slides/_rels/slide21.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slide" Target="slide4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hyperlink" Target="http://www.criticalcommons.org/Members/economicstube/clips/svukidneybrighter.wmv" TargetMode="External"/><Relationship Id="rId2" Type="http://schemas.openxmlformats.org/officeDocument/2006/relationships/notesSlide" Target="../notesSlides/notesSlide20.xml"/><Relationship Id="rId1" Type="http://schemas.openxmlformats.org/officeDocument/2006/relationships/slideLayout" Target="../slideLayouts/slideLayout22.xml"/><Relationship Id="rId4" Type="http://schemas.openxmlformats.org/officeDocument/2006/relationships/image" Target="../media/image46.png"/></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slide" Target="slide4.xml"/></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50.png"/><Relationship Id="rId4" Type="http://schemas.openxmlformats.org/officeDocument/2006/relationships/image" Target="../media/image4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51.png"/></Relationships>
</file>

<file path=ppt/slides/_rels/slide3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slide" Target="slide4.xml"/></Relationships>
</file>

<file path=ppt/slides/_rels/slide3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slide" Target="slide4.xml"/></Relationships>
</file>

<file path=ppt/slides/_rels/slide3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slide" Target="slide4.xml"/></Relationships>
</file>

<file path=ppt/slides/_rels/slide33.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55.png"/></Relationships>
</file>

<file path=ppt/slides/_rels/slide34.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slide" Target="slide4.xml"/></Relationships>
</file>

<file path=ppt/slides/_rels/slide35.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notesSlide" Target="../notesSlides/notesSlide32.xml"/><Relationship Id="rId1" Type="http://schemas.openxmlformats.org/officeDocument/2006/relationships/slideLayout" Target="../slideLayouts/slideLayout4.xml"/><Relationship Id="rId5" Type="http://schemas.openxmlformats.org/officeDocument/2006/relationships/image" Target="../media/image58.png"/><Relationship Id="rId4" Type="http://schemas.openxmlformats.org/officeDocument/2006/relationships/slide" Target="slide4.xml"/></Relationships>
</file>

<file path=ppt/slides/_rels/slide36.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image" Target="../media/image59.jpe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41.xml"/><Relationship Id="rId1" Type="http://schemas.openxmlformats.org/officeDocument/2006/relationships/slideLayout" Target="../slideLayouts/slideLayout13.xml"/><Relationship Id="rId4" Type="http://schemas.openxmlformats.org/officeDocument/2006/relationships/slide" Target="slide4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44.xml"/><Relationship Id="rId1" Type="http://schemas.openxmlformats.org/officeDocument/2006/relationships/slideLayout" Target="../slideLayouts/slideLayout14.xml"/><Relationship Id="rId5" Type="http://schemas.openxmlformats.org/officeDocument/2006/relationships/slide" Target="slide49.xml"/><Relationship Id="rId4" Type="http://schemas.openxmlformats.org/officeDocument/2006/relationships/slide" Target="slide4.xml"/></Relationships>
</file>

<file path=ppt/slides/_rels/slide49.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45.xml"/><Relationship Id="rId1" Type="http://schemas.openxmlformats.org/officeDocument/2006/relationships/slideLayout" Target="../slideLayouts/slideLayout14.xml"/><Relationship Id="rId5" Type="http://schemas.openxmlformats.org/officeDocument/2006/relationships/slide" Target="slide54.xml"/><Relationship Id="rId4" Type="http://schemas.openxmlformats.org/officeDocument/2006/relationships/slide" Target="slide4.xml"/></Relationships>
</file>

<file path=ppt/slides/_rels/slide5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37.xml"/></Relationships>
</file>

<file path=ppt/slides/_rels/slide51.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46.xml"/><Relationship Id="rId1" Type="http://schemas.openxmlformats.org/officeDocument/2006/relationships/slideLayout" Target="../slideLayouts/slideLayout3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533400"/>
            <a:ext cx="7772400" cy="1470025"/>
          </a:xfrm>
        </p:spPr>
        <p:txBody>
          <a:bodyPr/>
          <a:lstStyle/>
          <a:p>
            <a:r>
              <a:rPr lang="en-US" sz="2800" dirty="0"/>
              <a:t>Economics 2220</a:t>
            </a:r>
            <a:br>
              <a:rPr lang="en-US" sz="2800" dirty="0"/>
            </a:br>
            <a:r>
              <a:rPr lang="en-US" dirty="0"/>
              <a:t>Principles Of Macroeconomics</a:t>
            </a:r>
          </a:p>
        </p:txBody>
      </p:sp>
      <p:sp>
        <p:nvSpPr>
          <p:cNvPr id="2051" name="Rectangle 3"/>
          <p:cNvSpPr>
            <a:spLocks noGrp="1" noChangeArrowheads="1"/>
          </p:cNvSpPr>
          <p:nvPr>
            <p:ph type="subTitle" idx="1"/>
          </p:nvPr>
        </p:nvSpPr>
        <p:spPr>
          <a:xfrm>
            <a:off x="1371600" y="1981200"/>
            <a:ext cx="6400800" cy="533400"/>
          </a:xfrm>
        </p:spPr>
        <p:txBody>
          <a:bodyPr/>
          <a:lstStyle/>
          <a:p>
            <a:r>
              <a:rPr lang="en-US" sz="2400" dirty="0"/>
              <a:t>Professor Zhigang Feng</a:t>
            </a:r>
          </a:p>
        </p:txBody>
      </p:sp>
      <p:sp>
        <p:nvSpPr>
          <p:cNvPr id="2052" name="Text Box 4"/>
          <p:cNvSpPr txBox="1">
            <a:spLocks noChangeArrowheads="1"/>
          </p:cNvSpPr>
          <p:nvPr/>
        </p:nvSpPr>
        <p:spPr bwMode="auto">
          <a:xfrm>
            <a:off x="2667000" y="3429000"/>
            <a:ext cx="4648200" cy="1631216"/>
          </a:xfrm>
          <a:prstGeom prst="rect">
            <a:avLst/>
          </a:prstGeom>
          <a:noFill/>
          <a:ln w="9525">
            <a:noFill/>
            <a:miter lim="800000"/>
            <a:headEnd/>
            <a:tailEnd/>
          </a:ln>
          <a:effectLst/>
        </p:spPr>
        <p:txBody>
          <a:bodyPr wrap="square">
            <a:spAutoFit/>
          </a:bodyPr>
          <a:lstStyle/>
          <a:p>
            <a:pPr marL="228600" indent="-228600">
              <a:spcBef>
                <a:spcPct val="50000"/>
              </a:spcBef>
            </a:pPr>
            <a:r>
              <a:rPr lang="en-US" sz="2800" u="sng" dirty="0"/>
              <a:t>Lecture 4: </a:t>
            </a:r>
          </a:p>
          <a:p>
            <a:pPr marL="228600" indent="-228600">
              <a:spcBef>
                <a:spcPct val="50000"/>
              </a:spcBef>
            </a:pPr>
            <a:r>
              <a:rPr lang="en-US" sz="2800" u="sng" dirty="0"/>
              <a:t>Demand and Supply</a:t>
            </a:r>
          </a:p>
          <a:p>
            <a:pPr marL="685800" lvl="1" indent="-228600">
              <a:spcBef>
                <a:spcPct val="50000"/>
              </a:spcBef>
              <a:buFontTx/>
              <a:buChar char="•"/>
            </a:pPr>
            <a:endParaRPr lang="en-US" sz="2000" dirty="0"/>
          </a:p>
        </p:txBody>
      </p:sp>
    </p:spTree>
    <p:extLst>
      <p:ext uri="{BB962C8B-B14F-4D97-AF65-F5344CB8AC3E}">
        <p14:creationId xmlns:p14="http://schemas.microsoft.com/office/powerpoint/2010/main" val="862549137"/>
      </p:ext>
    </p:extLst>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ir cargo july 2022">
            <a:extLst>
              <a:ext uri="{FF2B5EF4-FFF2-40B4-BE49-F238E27FC236}">
                <a16:creationId xmlns:a16="http://schemas.microsoft.com/office/drawing/2014/main" id="{BAD24929-D65A-EE06-76B6-47BAA7383A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79463"/>
            <a:ext cx="9144000" cy="52974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15651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line chart&#10;&#10;Description automatically generated">
            <a:extLst>
              <a:ext uri="{FF2B5EF4-FFF2-40B4-BE49-F238E27FC236}">
                <a16:creationId xmlns:a16="http://schemas.microsoft.com/office/drawing/2014/main" id="{6A343C04-9D62-2048-95D8-3F9109317A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004"/>
            <a:ext cx="9144000" cy="6793992"/>
          </a:xfrm>
          <a:prstGeom prst="rect">
            <a:avLst/>
          </a:prstGeom>
        </p:spPr>
      </p:pic>
    </p:spTree>
    <p:extLst>
      <p:ext uri="{BB962C8B-B14F-4D97-AF65-F5344CB8AC3E}">
        <p14:creationId xmlns:p14="http://schemas.microsoft.com/office/powerpoint/2010/main" val="2342323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6200" y="1570037"/>
            <a:ext cx="8839200" cy="4525963"/>
          </a:xfrm>
        </p:spPr>
        <p:txBody>
          <a:bodyPr/>
          <a:lstStyle/>
          <a:p>
            <a:pPr marL="617220" indent="-342900" fontAlgn="auto">
              <a:spcAft>
                <a:spcPts val="1200"/>
              </a:spcAft>
              <a:buClr>
                <a:schemeClr val="accent3"/>
              </a:buClr>
              <a:buFont typeface="Wingdings" charset="2"/>
              <a:buChar char="§"/>
              <a:defRPr/>
            </a:pPr>
            <a:r>
              <a:rPr lang="en-US" sz="2400" dirty="0"/>
              <a:t>What is a </a:t>
            </a:r>
            <a:r>
              <a:rPr lang="en-US" sz="2400" dirty="0">
                <a:solidFill>
                  <a:schemeClr val="accent6">
                    <a:lumMod val="75000"/>
                  </a:schemeClr>
                </a:solidFill>
                <a:hlinkClick r:id="rId3" action="ppaction://hlinksldjump"/>
              </a:rPr>
              <a:t>competitive market </a:t>
            </a:r>
            <a:r>
              <a:rPr lang="en-US" sz="2400" dirty="0">
                <a:solidFill>
                  <a:schemeClr val="accent1"/>
                </a:solidFill>
              </a:rPr>
              <a:t>?</a:t>
            </a:r>
            <a:r>
              <a:rPr lang="en-US" sz="2400" dirty="0">
                <a:solidFill>
                  <a:schemeClr val="accent6">
                    <a:lumMod val="75000"/>
                  </a:schemeClr>
                </a:solidFill>
              </a:rPr>
              <a:t> </a:t>
            </a:r>
            <a:r>
              <a:rPr lang="en-US" sz="2400" dirty="0"/>
              <a:t>How is it described by the supply and demand model?</a:t>
            </a:r>
          </a:p>
          <a:p>
            <a:pPr marL="617220" indent="-342900" fontAlgn="auto">
              <a:spcAft>
                <a:spcPts val="1200"/>
              </a:spcAft>
              <a:buClr>
                <a:schemeClr val="accent3"/>
              </a:buClr>
              <a:buFont typeface="Wingdings" charset="2"/>
              <a:buChar char="§"/>
              <a:defRPr/>
            </a:pPr>
            <a:r>
              <a:rPr lang="en-US" sz="2400" dirty="0"/>
              <a:t>What is a </a:t>
            </a:r>
            <a:r>
              <a:rPr lang="en-US" sz="2400" dirty="0">
                <a:solidFill>
                  <a:schemeClr val="accent6">
                    <a:lumMod val="75000"/>
                  </a:schemeClr>
                </a:solidFill>
                <a:hlinkClick r:id="rId4" action="ppaction://hlinksldjump"/>
              </a:rPr>
              <a:t>demand curve? </a:t>
            </a:r>
            <a:r>
              <a:rPr lang="en-US" sz="2400" dirty="0">
                <a:hlinkClick r:id="rId4" action="ppaction://hlinksldjump"/>
              </a:rPr>
              <a:t> </a:t>
            </a:r>
            <a:r>
              <a:rPr lang="en-US" sz="2400" dirty="0"/>
              <a:t>What is a </a:t>
            </a:r>
            <a:r>
              <a:rPr lang="en-US" sz="2400" dirty="0">
                <a:solidFill>
                  <a:schemeClr val="accent6">
                    <a:lumMod val="75000"/>
                  </a:schemeClr>
                </a:solidFill>
                <a:hlinkClick r:id="rId5" action="ppaction://hlinksldjump"/>
              </a:rPr>
              <a:t>supply curve</a:t>
            </a:r>
            <a:r>
              <a:rPr lang="en-US" sz="2400" dirty="0">
                <a:solidFill>
                  <a:schemeClr val="accent1"/>
                </a:solidFill>
                <a:hlinkClick r:id="rId5" action="ppaction://hlinksldjump"/>
              </a:rPr>
              <a:t>?</a:t>
            </a:r>
            <a:endParaRPr lang="en-US" sz="2400" dirty="0">
              <a:solidFill>
                <a:schemeClr val="accent1"/>
              </a:solidFill>
            </a:endParaRPr>
          </a:p>
          <a:p>
            <a:pPr marL="617220" indent="-342900" fontAlgn="auto">
              <a:spcAft>
                <a:spcPts val="1200"/>
              </a:spcAft>
              <a:buClr>
                <a:schemeClr val="accent3"/>
              </a:buClr>
              <a:buFont typeface="Wingdings" charset="2"/>
              <a:buChar char="§"/>
              <a:defRPr/>
            </a:pPr>
            <a:r>
              <a:rPr lang="en-US" sz="2400" dirty="0"/>
              <a:t>What’s the difference between </a:t>
            </a:r>
            <a:r>
              <a:rPr lang="en-US" sz="2400" dirty="0">
                <a:solidFill>
                  <a:schemeClr val="accent6">
                    <a:lumMod val="75000"/>
                  </a:schemeClr>
                </a:solidFill>
                <a:hlinkClick r:id="rId6" action="ppaction://hlinksldjump"/>
              </a:rPr>
              <a:t>movements along a curve </a:t>
            </a:r>
            <a:r>
              <a:rPr lang="en-US" sz="2400" dirty="0">
                <a:hlinkClick r:id="rId6" action="ppaction://hlinksldjump"/>
              </a:rPr>
              <a:t>and </a:t>
            </a:r>
            <a:r>
              <a:rPr lang="en-US" sz="2400" dirty="0">
                <a:solidFill>
                  <a:schemeClr val="accent6">
                    <a:lumMod val="75000"/>
                  </a:schemeClr>
                </a:solidFill>
                <a:hlinkClick r:id="rId6" action="ppaction://hlinksldjump"/>
              </a:rPr>
              <a:t>shifts of a curve?</a:t>
            </a:r>
            <a:endParaRPr lang="en-US" sz="2400" dirty="0">
              <a:solidFill>
                <a:schemeClr val="accent6">
                  <a:lumMod val="75000"/>
                </a:schemeClr>
              </a:solidFill>
            </a:endParaRPr>
          </a:p>
          <a:p>
            <a:pPr marL="617220" indent="-342900" fontAlgn="auto">
              <a:spcAft>
                <a:spcPts val="1200"/>
              </a:spcAft>
              <a:buClr>
                <a:schemeClr val="accent3"/>
              </a:buClr>
              <a:buFont typeface="Wingdings" charset="2"/>
              <a:buChar char="§"/>
              <a:defRPr/>
            </a:pPr>
            <a:r>
              <a:rPr lang="en-US" sz="2400" dirty="0"/>
              <a:t>How do supply and demand curves determine a market’s </a:t>
            </a:r>
            <a:r>
              <a:rPr lang="en-US" sz="2400" dirty="0">
                <a:solidFill>
                  <a:schemeClr val="accent6">
                    <a:lumMod val="75000"/>
                  </a:schemeClr>
                </a:solidFill>
                <a:hlinkClick r:id="rId7" action="ppaction://hlinksldjump"/>
              </a:rPr>
              <a:t>equilibrium price </a:t>
            </a:r>
            <a:r>
              <a:rPr lang="en-US" sz="2400" dirty="0">
                <a:hlinkClick r:id="rId7" action="ppaction://hlinksldjump"/>
              </a:rPr>
              <a:t>and </a:t>
            </a:r>
            <a:r>
              <a:rPr lang="en-US" sz="2400" dirty="0">
                <a:solidFill>
                  <a:schemeClr val="accent6">
                    <a:lumMod val="75000"/>
                  </a:schemeClr>
                </a:solidFill>
                <a:hlinkClick r:id="rId7" action="ppaction://hlinksldjump"/>
              </a:rPr>
              <a:t>equilibrium quantity?</a:t>
            </a:r>
            <a:endParaRPr lang="en-US" sz="2400" dirty="0">
              <a:solidFill>
                <a:schemeClr val="accent6">
                  <a:lumMod val="75000"/>
                </a:schemeClr>
              </a:solidFill>
            </a:endParaRPr>
          </a:p>
          <a:p>
            <a:pPr marL="617220" indent="-342900" fontAlgn="auto">
              <a:spcAft>
                <a:spcPts val="1200"/>
              </a:spcAft>
              <a:buClr>
                <a:schemeClr val="accent3"/>
              </a:buClr>
              <a:buFont typeface="Wingdings" charset="2"/>
              <a:buChar char="§"/>
              <a:defRPr/>
            </a:pPr>
            <a:r>
              <a:rPr lang="en-US" sz="2400" dirty="0"/>
              <a:t>If there’s a </a:t>
            </a:r>
            <a:r>
              <a:rPr lang="en-US" sz="2400" dirty="0">
                <a:solidFill>
                  <a:schemeClr val="accent6">
                    <a:lumMod val="75000"/>
                  </a:schemeClr>
                </a:solidFill>
                <a:hlinkClick r:id="rId8" action="ppaction://hlinksldjump"/>
              </a:rPr>
              <a:t>shortage</a:t>
            </a:r>
            <a:r>
              <a:rPr lang="en-US" sz="2400" dirty="0">
                <a:hlinkClick r:id="rId8" action="ppaction://hlinksldjump"/>
              </a:rPr>
              <a:t> or </a:t>
            </a:r>
            <a:r>
              <a:rPr lang="en-US" sz="2400" dirty="0">
                <a:solidFill>
                  <a:schemeClr val="accent6">
                    <a:lumMod val="75000"/>
                  </a:schemeClr>
                </a:solidFill>
                <a:hlinkClick r:id="rId8" action="ppaction://hlinksldjump"/>
              </a:rPr>
              <a:t>surplus,</a:t>
            </a:r>
            <a:r>
              <a:rPr lang="en-US" sz="2400" dirty="0">
                <a:hlinkClick r:id="rId8" action="ppaction://hlinksldjump"/>
              </a:rPr>
              <a:t> </a:t>
            </a:r>
            <a:r>
              <a:rPr lang="en-US" sz="2400" dirty="0"/>
              <a:t>how does price moves the market back to equilibrium?</a:t>
            </a:r>
          </a:p>
          <a:p>
            <a:pPr marL="684213" indent="-342900">
              <a:buBlip>
                <a:blip r:embed="rId9"/>
              </a:buBlip>
            </a:pPr>
            <a:endParaRPr lang="en-US" sz="2400" dirty="0"/>
          </a:p>
        </p:txBody>
      </p:sp>
      <p:sp>
        <p:nvSpPr>
          <p:cNvPr id="4" name="TextBox 3"/>
          <p:cNvSpPr txBox="1"/>
          <p:nvPr/>
        </p:nvSpPr>
        <p:spPr>
          <a:xfrm>
            <a:off x="8126895" y="6209547"/>
            <a:ext cx="634182" cy="461665"/>
          </a:xfrm>
          <a:prstGeom prst="rect">
            <a:avLst/>
          </a:prstGeom>
          <a:noFill/>
        </p:spPr>
        <p:txBody>
          <a:bodyPr wrap="square" rtlCol="0">
            <a:spAutoFit/>
          </a:bodyPr>
          <a:lstStyle/>
          <a:p>
            <a:r>
              <a:rPr lang="en-US" sz="1200" b="1" dirty="0">
                <a:solidFill>
                  <a:schemeClr val="bg1"/>
                </a:solidFill>
                <a:effectLst>
                  <a:outerShdw blurRad="38100" dist="38100" dir="2700000" algn="tl">
                    <a:srgbClr val="000000">
                      <a:alpha val="43137"/>
                    </a:srgbClr>
                  </a:outerShdw>
                </a:effectLst>
                <a:hlinkClick r:id="rId10" action="ppaction://hlinksldjump"/>
              </a:rPr>
              <a:t>To Video</a:t>
            </a:r>
            <a:endParaRPr lang="en-US" sz="1200" b="1" dirty="0">
              <a:solidFill>
                <a:schemeClr val="bg1"/>
              </a:solidFill>
              <a:effectLst>
                <a:outerShdw blurRad="38100" dist="38100" dir="2700000" algn="tl">
                  <a:srgbClr val="000000">
                    <a:alpha val="43137"/>
                  </a:srgbClr>
                </a:outerShdw>
              </a:effectLst>
            </a:endParaRPr>
          </a:p>
        </p:txBody>
      </p:sp>
      <p:sp>
        <p:nvSpPr>
          <p:cNvPr id="5" name="Rectangle 4"/>
          <p:cNvSpPr/>
          <p:nvPr/>
        </p:nvSpPr>
        <p:spPr>
          <a:xfrm>
            <a:off x="-49096" y="6273798"/>
            <a:ext cx="1268296" cy="400110"/>
          </a:xfrm>
          <a:prstGeom prst="rect">
            <a:avLst/>
          </a:prstGeom>
        </p:spPr>
        <p:txBody>
          <a:bodyPr wrap="none">
            <a:spAutoFit/>
          </a:bodyPr>
          <a:lstStyle/>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11" action="ppaction://hlinksldjump"/>
              </a:rPr>
              <a:t>To First </a:t>
            </a:r>
            <a:endPar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 action="ppaction://noaction"/>
            </a:endParaRPr>
          </a:p>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 action="ppaction://noaction"/>
              </a:rPr>
              <a:t>Active </a:t>
            </a: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11" action="ppaction://hlinksldjump"/>
              </a:rPr>
              <a:t>Learning</a:t>
            </a:r>
            <a:endPar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1105161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bg>
      <p:bgPr>
        <a:blipFill dpi="0" rotWithShape="1">
          <a:blip r:embed="rId3" cstate="screen">
            <a:alphaModFix amt="55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6082" name="Title 1"/>
          <p:cNvSpPr>
            <a:spLocks noGrp="1"/>
          </p:cNvSpPr>
          <p:nvPr>
            <p:ph type="title"/>
          </p:nvPr>
        </p:nvSpPr>
        <p:spPr bwMode="auto">
          <a:xfrm>
            <a:off x="0" y="0"/>
            <a:ext cx="9144000" cy="762000"/>
          </a:xfrm>
          <a:solidFill>
            <a:schemeClr val="bg1">
              <a:alpha val="46000"/>
            </a:schemeClr>
          </a:solidFill>
        </p:spPr>
        <p:txBody>
          <a:bodyPr wrap="square" numCol="1" anchorCtr="0" compatLnSpc="1">
            <a:prstTxWarp prst="textNoShape">
              <a:avLst/>
            </a:prstTxWarp>
            <a:normAutofit/>
          </a:bodyPr>
          <a:lstStyle/>
          <a:p>
            <a:pPr fontAlgn="auto">
              <a:spcAft>
                <a:spcPts val="0"/>
              </a:spcAft>
              <a:defRPr/>
            </a:pPr>
            <a:r>
              <a:rPr lang="en-US" sz="3600" dirty="0"/>
              <a:t>COMPETITIVE MARKETS</a:t>
            </a:r>
          </a:p>
        </p:txBody>
      </p:sp>
      <p:sp>
        <p:nvSpPr>
          <p:cNvPr id="46083" name="Content Placeholder 2"/>
          <p:cNvSpPr>
            <a:spLocks noGrp="1"/>
          </p:cNvSpPr>
          <p:nvPr>
            <p:ph idx="1"/>
          </p:nvPr>
        </p:nvSpPr>
        <p:spPr>
          <a:xfrm>
            <a:off x="0" y="2057400"/>
            <a:ext cx="9144000" cy="2743200"/>
          </a:xfrm>
          <a:solidFill>
            <a:schemeClr val="bg1">
              <a:alpha val="64000"/>
            </a:schemeClr>
          </a:solidFill>
        </p:spPr>
        <p:txBody>
          <a:bodyPr rtlCol="0">
            <a:normAutofit/>
          </a:bodyPr>
          <a:lstStyle/>
          <a:p>
            <a:pPr fontAlgn="auto">
              <a:spcAft>
                <a:spcPts val="0"/>
              </a:spcAft>
              <a:defRPr/>
            </a:pPr>
            <a:r>
              <a:rPr lang="en-US" dirty="0"/>
              <a:t>A </a:t>
            </a:r>
            <a:r>
              <a:rPr lang="en-US" dirty="0">
                <a:solidFill>
                  <a:srgbClr val="990033"/>
                </a:solidFill>
              </a:rPr>
              <a:t>competitive market </a:t>
            </a:r>
            <a:r>
              <a:rPr lang="en-US" dirty="0"/>
              <a:t>has many buyers and sellers of the same good or service, none of whom can influence the price.</a:t>
            </a:r>
          </a:p>
          <a:p>
            <a:pPr>
              <a:defRPr/>
            </a:pPr>
            <a:r>
              <a:rPr lang="en-US" dirty="0"/>
              <a:t>The </a:t>
            </a:r>
            <a:r>
              <a:rPr lang="en-US" dirty="0">
                <a:solidFill>
                  <a:srgbClr val="990033"/>
                </a:solidFill>
              </a:rPr>
              <a:t>supply and demand model </a:t>
            </a:r>
            <a:r>
              <a:rPr lang="en-US" dirty="0"/>
              <a:t>is a model of how a competitive market behaves.</a:t>
            </a:r>
          </a:p>
        </p:txBody>
      </p:sp>
    </p:spTree>
    <p:extLst>
      <p:ext uri="{BB962C8B-B14F-4D97-AF65-F5344CB8AC3E}">
        <p14:creationId xmlns:p14="http://schemas.microsoft.com/office/powerpoint/2010/main" val="198456801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6083">
                                            <p:bg/>
                                          </p:spTgt>
                                        </p:tgtEl>
                                        <p:attrNameLst>
                                          <p:attrName>style.visibility</p:attrName>
                                        </p:attrNameLst>
                                      </p:cBhvr>
                                      <p:to>
                                        <p:strVal val="visible"/>
                                      </p:to>
                                    </p:set>
                                    <p:animEffect transition="in" filter="fade">
                                      <p:cBhvr>
                                        <p:cTn id="7" dur="500"/>
                                        <p:tgtEl>
                                          <p:spTgt spid="46083">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6083">
                                            <p:txEl>
                                              <p:pRg st="0" end="0"/>
                                            </p:txEl>
                                          </p:spTgt>
                                        </p:tgtEl>
                                        <p:attrNameLst>
                                          <p:attrName>style.visibility</p:attrName>
                                        </p:attrNameLst>
                                      </p:cBhvr>
                                      <p:to>
                                        <p:strVal val="visible"/>
                                      </p:to>
                                    </p:set>
                                    <p:animEffect transition="in" filter="fade">
                                      <p:cBhvr>
                                        <p:cTn id="10" dur="500"/>
                                        <p:tgtEl>
                                          <p:spTgt spid="46083">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6083">
                                            <p:txEl>
                                              <p:pRg st="1" end="1"/>
                                            </p:txEl>
                                          </p:spTgt>
                                        </p:tgtEl>
                                        <p:attrNameLst>
                                          <p:attrName>style.visibility</p:attrName>
                                        </p:attrNameLst>
                                      </p:cBhvr>
                                      <p:to>
                                        <p:strVal val="visible"/>
                                      </p:to>
                                    </p:set>
                                    <p:animEffect transition="in" filter="fade">
                                      <p:cBhvr>
                                        <p:cTn id="13" dur="500"/>
                                        <p:tgtEl>
                                          <p:spTgt spid="4608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animBg="1"/>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8917" name="Picture 6" descr="Money061608.JPG"/>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0" y="0"/>
            <a:ext cx="6167438"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58" name="Title 4"/>
          <p:cNvSpPr>
            <a:spLocks noGrp="1"/>
          </p:cNvSpPr>
          <p:nvPr>
            <p:ph type="title"/>
          </p:nvPr>
        </p:nvSpPr>
        <p:spPr bwMode="auto">
          <a:solidFill>
            <a:schemeClr val="bg1">
              <a:alpha val="47000"/>
            </a:schemeClr>
          </a:solidFill>
        </p:spPr>
        <p:txBody>
          <a:bodyPr wrap="square" numCol="1" anchorCtr="0" compatLnSpc="1">
            <a:prstTxWarp prst="textNoShape">
              <a:avLst/>
            </a:prstTxWarp>
            <a:normAutofit/>
          </a:bodyPr>
          <a:lstStyle/>
          <a:p>
            <a:pPr fontAlgn="auto">
              <a:spcAft>
                <a:spcPts val="0"/>
              </a:spcAft>
              <a:defRPr/>
            </a:pPr>
            <a:r>
              <a:rPr lang="en-US" sz="3600" dirty="0">
                <a:solidFill>
                  <a:srgbClr val="9BBB59"/>
                </a:solidFill>
              </a:rPr>
              <a:t>DEMAND</a:t>
            </a:r>
          </a:p>
        </p:txBody>
      </p:sp>
      <p:sp>
        <p:nvSpPr>
          <p:cNvPr id="6" name="Rectangle 3"/>
          <p:cNvSpPr>
            <a:spLocks noGrp="1" noChangeArrowheads="1"/>
          </p:cNvSpPr>
          <p:nvPr>
            <p:ph idx="1"/>
          </p:nvPr>
        </p:nvSpPr>
        <p:spPr>
          <a:xfrm>
            <a:off x="228600" y="2667000"/>
            <a:ext cx="6477000" cy="3733800"/>
          </a:xfrm>
        </p:spPr>
        <p:txBody>
          <a:bodyPr rtlCol="0">
            <a:normAutofit/>
          </a:bodyPr>
          <a:lstStyle/>
          <a:p>
            <a:pPr fontAlgn="auto">
              <a:spcAft>
                <a:spcPts val="0"/>
              </a:spcAft>
              <a:defRPr/>
            </a:pPr>
            <a:r>
              <a:rPr lang="en-US" sz="2800" dirty="0">
                <a:ea typeface="ＭＳ Ｐゴシック"/>
                <a:cs typeface="Arial" pitchFamily="34" charset="0"/>
              </a:rPr>
              <a:t>Demand represents the behavior of buyers.</a:t>
            </a:r>
          </a:p>
          <a:p>
            <a:pPr fontAlgn="auto">
              <a:spcAft>
                <a:spcPts val="0"/>
              </a:spcAft>
              <a:defRPr/>
            </a:pPr>
            <a:r>
              <a:rPr lang="en-US" sz="2800" dirty="0">
                <a:ea typeface="ＭＳ Ｐゴシック"/>
                <a:cs typeface="Arial" pitchFamily="34" charset="0"/>
              </a:rPr>
              <a:t>A </a:t>
            </a:r>
            <a:r>
              <a:rPr lang="en-US" sz="2800" dirty="0">
                <a:solidFill>
                  <a:srgbClr val="990033"/>
                </a:solidFill>
                <a:ea typeface="ＭＳ Ｐゴシック"/>
                <a:cs typeface="Arial" pitchFamily="34" charset="0"/>
              </a:rPr>
              <a:t>demand curve </a:t>
            </a:r>
            <a:r>
              <a:rPr lang="en-US" sz="2800" dirty="0">
                <a:ea typeface="ＭＳ Ｐゴシック"/>
                <a:cs typeface="Arial" pitchFamily="34" charset="0"/>
              </a:rPr>
              <a:t>shows the quantity demanded at various prices.</a:t>
            </a:r>
          </a:p>
          <a:p>
            <a:pPr fontAlgn="auto">
              <a:spcAft>
                <a:spcPts val="0"/>
              </a:spcAft>
              <a:defRPr/>
            </a:pPr>
            <a:r>
              <a:rPr lang="en-US" sz="2800" dirty="0">
                <a:ea typeface="ＭＳ Ｐゴシック"/>
                <a:cs typeface="Arial" pitchFamily="34" charset="0"/>
              </a:rPr>
              <a:t>The </a:t>
            </a:r>
            <a:r>
              <a:rPr lang="en-US" sz="2800" dirty="0">
                <a:solidFill>
                  <a:srgbClr val="990033"/>
                </a:solidFill>
                <a:ea typeface="ＭＳ Ｐゴシック"/>
                <a:cs typeface="Arial" pitchFamily="34" charset="0"/>
              </a:rPr>
              <a:t>quantity demanded:</a:t>
            </a:r>
            <a:r>
              <a:rPr lang="en-US" sz="2800" dirty="0">
                <a:ea typeface="ＭＳ Ｐゴシック"/>
                <a:cs typeface="Arial" pitchFamily="34" charset="0"/>
              </a:rPr>
              <a:t> the quantity that buyers are willing (and able) to purchase at a particular price.</a:t>
            </a:r>
          </a:p>
          <a:p>
            <a:pPr fontAlgn="auto">
              <a:spcAft>
                <a:spcPts val="0"/>
              </a:spcAft>
              <a:defRPr/>
            </a:pPr>
            <a:endParaRPr lang="en-US" sz="2800" dirty="0">
              <a:ea typeface="ＭＳ Ｐゴシック"/>
              <a:cs typeface="Arial" pitchFamily="34" charset="0"/>
            </a:endParaRPr>
          </a:p>
        </p:txBody>
      </p:sp>
      <p:sp>
        <p:nvSpPr>
          <p:cNvPr id="8" name="Oval 7"/>
          <p:cNvSpPr/>
          <p:nvPr/>
        </p:nvSpPr>
        <p:spPr>
          <a:xfrm>
            <a:off x="8382000" y="6096000"/>
            <a:ext cx="744538" cy="747713"/>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8919" name="TextBox 8">
            <a:hlinkClick r:id="rId4" action="ppaction://hlinksldjump"/>
          </p:cNvPr>
          <p:cNvSpPr txBox="1">
            <a:spLocks noChangeArrowheads="1"/>
          </p:cNvSpPr>
          <p:nvPr/>
        </p:nvSpPr>
        <p:spPr bwMode="auto">
          <a:xfrm>
            <a:off x="8428038" y="6203950"/>
            <a:ext cx="6699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1000">
                <a:latin typeface="Candara" pitchFamily="34" charset="0"/>
                <a:hlinkClick r:id="rId4" action="ppaction://hlinksldjump"/>
              </a:rPr>
              <a:t>Back to Table of contents</a:t>
            </a:r>
            <a:endParaRPr lang="en-US" sz="1000">
              <a:latin typeface="Candara" pitchFamily="34" charset="0"/>
            </a:endParaRPr>
          </a:p>
          <a:p>
            <a:pPr eaLnBrk="1" hangingPunct="1"/>
            <a:endParaRPr lang="en-US" sz="1000">
              <a:latin typeface="Candara" pitchFamily="34" charset="0"/>
            </a:endParaRPr>
          </a:p>
        </p:txBody>
      </p:sp>
      <p:pic>
        <p:nvPicPr>
          <p:cNvPr id="9" name="Picture 2" descr="C:\The LINDAHL Files\Solina Publisher projects\Cowen Tabarrok PPTs\MICRO Hi-Res ART\Chapter 02\Cowen_UN2_PH01.jpg"/>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6835459" y="2209800"/>
            <a:ext cx="2308542" cy="344381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1"/>
          <p:cNvSpPr txBox="1">
            <a:spLocks/>
          </p:cNvSpPr>
          <p:nvPr/>
        </p:nvSpPr>
        <p:spPr>
          <a:xfrm>
            <a:off x="6400801" y="1617133"/>
            <a:ext cx="2743200" cy="609600"/>
          </a:xfrm>
          <a:prstGeom prst="rect">
            <a:avLst/>
          </a:prstGeom>
          <a:noFill/>
        </p:spPr>
        <p:txBody>
          <a:bodyPr vert="horz" lIns="91440" tIns="45720" rIns="91440" bIns="45720" rtlCol="0">
            <a:noAutofit/>
          </a:bodyPr>
          <a:lstStyle>
            <a:lvl1pPr marL="0" indent="0" algn="l" defTabSz="914400" rtl="0" eaLnBrk="1" latinLnBrk="0" hangingPunct="1">
              <a:spcBef>
                <a:spcPct val="20000"/>
              </a:spcBef>
              <a:buFontTx/>
              <a:buNone/>
              <a:defRPr sz="3200" b="1" kern="1200">
                <a:solidFill>
                  <a:schemeClr val="tx1"/>
                </a:solidFill>
                <a:latin typeface="Candara" pitchFamily="34" charset="0"/>
                <a:ea typeface="+mn-ea"/>
                <a:cs typeface="+mn-cs"/>
              </a:defRPr>
            </a:lvl1pPr>
            <a:lvl2pPr marL="457200" indent="0" algn="l" defTabSz="914400" rtl="0" eaLnBrk="1" latinLnBrk="0" hangingPunct="1">
              <a:spcBef>
                <a:spcPct val="20000"/>
              </a:spcBef>
              <a:buFontTx/>
              <a:buNone/>
              <a:defRPr sz="2800" b="1" kern="1200">
                <a:solidFill>
                  <a:schemeClr val="tx1"/>
                </a:solidFill>
                <a:latin typeface="Candara" pitchFamily="34" charset="0"/>
                <a:ea typeface="+mn-ea"/>
                <a:cs typeface="+mn-cs"/>
              </a:defRPr>
            </a:lvl2pPr>
            <a:lvl3pPr marL="9144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3pPr>
            <a:lvl4pPr marL="13716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4pPr>
            <a:lvl5pPr marL="18288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lnSpc>
                <a:spcPct val="80000"/>
              </a:lnSpc>
              <a:buFont typeface="Arial" charset="0"/>
              <a:buNone/>
              <a:defRPr/>
            </a:pPr>
            <a:r>
              <a:rPr lang="en-US" sz="1800" i="1" dirty="0">
                <a:solidFill>
                  <a:schemeClr val="tx1">
                    <a:lumMod val="75000"/>
                    <a:lumOff val="25000"/>
                  </a:schemeClr>
                </a:solidFill>
                <a:latin typeface="Century Gothic"/>
                <a:ea typeface="+mj-ea"/>
                <a:cs typeface="Century Gothic"/>
              </a:rPr>
              <a:t>What made him buy it?</a:t>
            </a:r>
          </a:p>
        </p:txBody>
      </p:sp>
    </p:spTree>
    <p:extLst>
      <p:ext uri="{BB962C8B-B14F-4D97-AF65-F5344CB8AC3E}">
        <p14:creationId xmlns:p14="http://schemas.microsoft.com/office/powerpoint/2010/main" val="170335899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animEffect transition="in" filter="fade">
                                      <p:cBhvr>
                                        <p:cTn id="11" dur="1000"/>
                                        <p:tgtEl>
                                          <p:spTgt spid="6">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noAutofit/>
          </a:bodyPr>
          <a:lstStyle/>
          <a:p>
            <a:r>
              <a:rPr lang="en-US" sz="3600" dirty="0"/>
              <a:t>THE DEMAND SCHEDULE AND THE DEMAND CURVE</a:t>
            </a:r>
          </a:p>
        </p:txBody>
      </p:sp>
      <p:sp>
        <p:nvSpPr>
          <p:cNvPr id="56" name="Line 789"/>
          <p:cNvSpPr>
            <a:spLocks noChangeShapeType="1"/>
          </p:cNvSpPr>
          <p:nvPr/>
        </p:nvSpPr>
        <p:spPr bwMode="auto">
          <a:xfrm flipV="1">
            <a:off x="1154113" y="1874520"/>
            <a:ext cx="1587" cy="3840480"/>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7" name="Freeform 790"/>
          <p:cNvSpPr>
            <a:spLocks/>
          </p:cNvSpPr>
          <p:nvPr/>
        </p:nvSpPr>
        <p:spPr bwMode="auto">
          <a:xfrm>
            <a:off x="1154113" y="5649913"/>
            <a:ext cx="176212" cy="152400"/>
          </a:xfrm>
          <a:custGeom>
            <a:avLst/>
            <a:gdLst>
              <a:gd name="T0" fmla="*/ 71 w 71"/>
              <a:gd name="T1" fmla="*/ 71 h 71"/>
              <a:gd name="T2" fmla="*/ 0 w 71"/>
              <a:gd name="T3" fmla="*/ 71 h 71"/>
              <a:gd name="T4" fmla="*/ 0 w 71"/>
              <a:gd name="T5" fmla="*/ 0 h 71"/>
            </a:gdLst>
            <a:ahLst/>
            <a:cxnLst>
              <a:cxn ang="0">
                <a:pos x="T0" y="T1"/>
              </a:cxn>
              <a:cxn ang="0">
                <a:pos x="T2" y="T3"/>
              </a:cxn>
              <a:cxn ang="0">
                <a:pos x="T4" y="T5"/>
              </a:cxn>
            </a:cxnLst>
            <a:rect l="0" t="0" r="r" b="b"/>
            <a:pathLst>
              <a:path w="71" h="71">
                <a:moveTo>
                  <a:pt x="71" y="71"/>
                </a:moveTo>
                <a:lnTo>
                  <a:pt x="0" y="71"/>
                </a:lnTo>
                <a:lnTo>
                  <a:pt x="0" y="0"/>
                </a:lnTo>
              </a:path>
            </a:pathLst>
          </a:custGeom>
          <a:noFill/>
          <a:ln w="79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58" name="Line 791"/>
          <p:cNvSpPr>
            <a:spLocks noChangeShapeType="1"/>
          </p:cNvSpPr>
          <p:nvPr/>
        </p:nvSpPr>
        <p:spPr bwMode="auto">
          <a:xfrm flipH="1">
            <a:off x="1423988" y="5802313"/>
            <a:ext cx="3957637" cy="158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9" name="Rectangle 792"/>
          <p:cNvSpPr>
            <a:spLocks noChangeArrowheads="1"/>
          </p:cNvSpPr>
          <p:nvPr/>
        </p:nvSpPr>
        <p:spPr bwMode="auto">
          <a:xfrm>
            <a:off x="1804988" y="5837238"/>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7</a:t>
            </a:r>
            <a:endParaRPr lang="en-US" sz="1400">
              <a:latin typeface="Century Gothic"/>
              <a:cs typeface="Century Gothic"/>
            </a:endParaRPr>
          </a:p>
        </p:txBody>
      </p:sp>
      <p:sp>
        <p:nvSpPr>
          <p:cNvPr id="60" name="Rectangle 793"/>
          <p:cNvSpPr>
            <a:spLocks noChangeArrowheads="1"/>
          </p:cNvSpPr>
          <p:nvPr/>
        </p:nvSpPr>
        <p:spPr bwMode="auto">
          <a:xfrm>
            <a:off x="954088" y="5837238"/>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0</a:t>
            </a:r>
            <a:endParaRPr lang="en-US" sz="1400">
              <a:latin typeface="Century Gothic"/>
              <a:cs typeface="Century Gothic"/>
            </a:endParaRPr>
          </a:p>
        </p:txBody>
      </p:sp>
      <p:sp>
        <p:nvSpPr>
          <p:cNvPr id="61" name="Rectangle 794"/>
          <p:cNvSpPr>
            <a:spLocks noChangeArrowheads="1"/>
          </p:cNvSpPr>
          <p:nvPr/>
        </p:nvSpPr>
        <p:spPr bwMode="auto">
          <a:xfrm>
            <a:off x="2508250" y="5837238"/>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9</a:t>
            </a:r>
            <a:endParaRPr lang="en-US" sz="1400">
              <a:latin typeface="Century Gothic"/>
              <a:cs typeface="Century Gothic"/>
            </a:endParaRPr>
          </a:p>
        </p:txBody>
      </p:sp>
      <p:sp>
        <p:nvSpPr>
          <p:cNvPr id="62" name="Rectangle 795"/>
          <p:cNvSpPr>
            <a:spLocks noChangeArrowheads="1"/>
          </p:cNvSpPr>
          <p:nvPr/>
        </p:nvSpPr>
        <p:spPr bwMode="auto">
          <a:xfrm>
            <a:off x="3157538" y="5837238"/>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11</a:t>
            </a:r>
            <a:endParaRPr lang="en-US" sz="1400">
              <a:latin typeface="Century Gothic"/>
              <a:cs typeface="Century Gothic"/>
            </a:endParaRPr>
          </a:p>
        </p:txBody>
      </p:sp>
      <p:sp>
        <p:nvSpPr>
          <p:cNvPr id="63" name="Rectangle 796"/>
          <p:cNvSpPr>
            <a:spLocks noChangeArrowheads="1"/>
          </p:cNvSpPr>
          <p:nvPr/>
        </p:nvSpPr>
        <p:spPr bwMode="auto">
          <a:xfrm>
            <a:off x="4564063" y="5837238"/>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15</a:t>
            </a:r>
            <a:endParaRPr lang="en-US" sz="1400">
              <a:latin typeface="Century Gothic"/>
              <a:cs typeface="Century Gothic"/>
            </a:endParaRPr>
          </a:p>
        </p:txBody>
      </p:sp>
      <p:sp>
        <p:nvSpPr>
          <p:cNvPr id="64" name="Rectangle 797"/>
          <p:cNvSpPr>
            <a:spLocks noChangeArrowheads="1"/>
          </p:cNvSpPr>
          <p:nvPr/>
        </p:nvSpPr>
        <p:spPr bwMode="auto">
          <a:xfrm>
            <a:off x="3857625" y="5837238"/>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13</a:t>
            </a:r>
            <a:endParaRPr lang="en-US" sz="1400">
              <a:latin typeface="Century Gothic"/>
              <a:cs typeface="Century Gothic"/>
            </a:endParaRPr>
          </a:p>
        </p:txBody>
      </p:sp>
      <p:sp>
        <p:nvSpPr>
          <p:cNvPr id="65" name="Rectangle 798"/>
          <p:cNvSpPr>
            <a:spLocks noChangeArrowheads="1"/>
          </p:cNvSpPr>
          <p:nvPr/>
        </p:nvSpPr>
        <p:spPr bwMode="auto">
          <a:xfrm>
            <a:off x="5265738" y="5837238"/>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17</a:t>
            </a:r>
            <a:endParaRPr lang="en-US" sz="1400">
              <a:latin typeface="Century Gothic"/>
              <a:cs typeface="Century Gothic"/>
            </a:endParaRPr>
          </a:p>
        </p:txBody>
      </p:sp>
      <p:sp>
        <p:nvSpPr>
          <p:cNvPr id="66" name="Line 809"/>
          <p:cNvSpPr>
            <a:spLocks noChangeShapeType="1"/>
          </p:cNvSpPr>
          <p:nvPr/>
        </p:nvSpPr>
        <p:spPr bwMode="auto">
          <a:xfrm>
            <a:off x="1154113" y="2854325"/>
            <a:ext cx="141287" cy="158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7" name="Line 810"/>
          <p:cNvSpPr>
            <a:spLocks noChangeShapeType="1"/>
          </p:cNvSpPr>
          <p:nvPr/>
        </p:nvSpPr>
        <p:spPr bwMode="auto">
          <a:xfrm>
            <a:off x="1154113" y="3275013"/>
            <a:ext cx="141287" cy="158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8" name="Line 811"/>
          <p:cNvSpPr>
            <a:spLocks noChangeShapeType="1"/>
          </p:cNvSpPr>
          <p:nvPr/>
        </p:nvSpPr>
        <p:spPr bwMode="auto">
          <a:xfrm>
            <a:off x="1154113" y="3698875"/>
            <a:ext cx="141287" cy="3175"/>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9" name="Line 812"/>
          <p:cNvSpPr>
            <a:spLocks noChangeShapeType="1"/>
          </p:cNvSpPr>
          <p:nvPr/>
        </p:nvSpPr>
        <p:spPr bwMode="auto">
          <a:xfrm>
            <a:off x="1154113" y="4119563"/>
            <a:ext cx="141287" cy="3175"/>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70" name="Line 813"/>
          <p:cNvSpPr>
            <a:spLocks noChangeShapeType="1"/>
          </p:cNvSpPr>
          <p:nvPr/>
        </p:nvSpPr>
        <p:spPr bwMode="auto">
          <a:xfrm>
            <a:off x="1154113" y="4537075"/>
            <a:ext cx="141287" cy="3175"/>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71" name="Line 814"/>
          <p:cNvSpPr>
            <a:spLocks noChangeShapeType="1"/>
          </p:cNvSpPr>
          <p:nvPr/>
        </p:nvSpPr>
        <p:spPr bwMode="auto">
          <a:xfrm>
            <a:off x="1154113" y="4957763"/>
            <a:ext cx="141287" cy="158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72" name="Line 815"/>
          <p:cNvSpPr>
            <a:spLocks noChangeShapeType="1"/>
          </p:cNvSpPr>
          <p:nvPr/>
        </p:nvSpPr>
        <p:spPr bwMode="auto">
          <a:xfrm>
            <a:off x="1154113" y="5381625"/>
            <a:ext cx="141287" cy="4763"/>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73" name="Line 816"/>
          <p:cNvSpPr>
            <a:spLocks noChangeShapeType="1"/>
          </p:cNvSpPr>
          <p:nvPr/>
        </p:nvSpPr>
        <p:spPr bwMode="auto">
          <a:xfrm flipV="1">
            <a:off x="1860550" y="5680075"/>
            <a:ext cx="4763" cy="12223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74" name="Line 817"/>
          <p:cNvSpPr>
            <a:spLocks noChangeShapeType="1"/>
          </p:cNvSpPr>
          <p:nvPr/>
        </p:nvSpPr>
        <p:spPr bwMode="auto">
          <a:xfrm flipV="1">
            <a:off x="2563813" y="5680075"/>
            <a:ext cx="3175" cy="12223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75" name="Line 818"/>
          <p:cNvSpPr>
            <a:spLocks noChangeShapeType="1"/>
          </p:cNvSpPr>
          <p:nvPr/>
        </p:nvSpPr>
        <p:spPr bwMode="auto">
          <a:xfrm flipV="1">
            <a:off x="3265488" y="5680075"/>
            <a:ext cx="1587" cy="12223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76" name="Line 819"/>
          <p:cNvSpPr>
            <a:spLocks noChangeShapeType="1"/>
          </p:cNvSpPr>
          <p:nvPr/>
        </p:nvSpPr>
        <p:spPr bwMode="auto">
          <a:xfrm flipV="1">
            <a:off x="3965575" y="5680075"/>
            <a:ext cx="3175" cy="12223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77" name="Line 820"/>
          <p:cNvSpPr>
            <a:spLocks noChangeShapeType="1"/>
          </p:cNvSpPr>
          <p:nvPr/>
        </p:nvSpPr>
        <p:spPr bwMode="auto">
          <a:xfrm flipV="1">
            <a:off x="4673600" y="5680075"/>
            <a:ext cx="1588" cy="12223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78" name="Line 821"/>
          <p:cNvSpPr>
            <a:spLocks noChangeShapeType="1"/>
          </p:cNvSpPr>
          <p:nvPr/>
        </p:nvSpPr>
        <p:spPr bwMode="auto">
          <a:xfrm flipV="1">
            <a:off x="5376863" y="5680075"/>
            <a:ext cx="1587" cy="12223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79" name="Rectangle 822"/>
          <p:cNvSpPr>
            <a:spLocks noChangeArrowheads="1"/>
          </p:cNvSpPr>
          <p:nvPr/>
        </p:nvSpPr>
        <p:spPr bwMode="auto">
          <a:xfrm>
            <a:off x="582613" y="2746375"/>
            <a:ext cx="4477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$2.00</a:t>
            </a:r>
            <a:endParaRPr lang="en-US" sz="1400">
              <a:latin typeface="Century Gothic"/>
              <a:cs typeface="Century Gothic"/>
            </a:endParaRPr>
          </a:p>
        </p:txBody>
      </p:sp>
      <p:sp>
        <p:nvSpPr>
          <p:cNvPr id="80" name="Rectangle 823"/>
          <p:cNvSpPr>
            <a:spLocks noChangeArrowheads="1"/>
          </p:cNvSpPr>
          <p:nvPr/>
        </p:nvSpPr>
        <p:spPr bwMode="auto">
          <a:xfrm>
            <a:off x="692150" y="3167063"/>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1.75</a:t>
            </a:r>
            <a:endParaRPr lang="en-US" sz="1400">
              <a:latin typeface="Century Gothic"/>
              <a:cs typeface="Century Gothic"/>
            </a:endParaRPr>
          </a:p>
        </p:txBody>
      </p:sp>
      <p:sp>
        <p:nvSpPr>
          <p:cNvPr id="81" name="Rectangle 824"/>
          <p:cNvSpPr>
            <a:spLocks noChangeArrowheads="1"/>
          </p:cNvSpPr>
          <p:nvPr/>
        </p:nvSpPr>
        <p:spPr bwMode="auto">
          <a:xfrm>
            <a:off x="692150" y="3589338"/>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1.50</a:t>
            </a:r>
            <a:endParaRPr lang="en-US" sz="1400">
              <a:latin typeface="Century Gothic"/>
              <a:cs typeface="Century Gothic"/>
            </a:endParaRPr>
          </a:p>
        </p:txBody>
      </p:sp>
      <p:sp>
        <p:nvSpPr>
          <p:cNvPr id="82" name="Rectangle 825"/>
          <p:cNvSpPr>
            <a:spLocks noChangeArrowheads="1"/>
          </p:cNvSpPr>
          <p:nvPr/>
        </p:nvSpPr>
        <p:spPr bwMode="auto">
          <a:xfrm>
            <a:off x="692150" y="4010025"/>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1.25</a:t>
            </a:r>
            <a:endParaRPr lang="en-US" sz="1400">
              <a:latin typeface="Century Gothic"/>
              <a:cs typeface="Century Gothic"/>
            </a:endParaRPr>
          </a:p>
        </p:txBody>
      </p:sp>
      <p:sp>
        <p:nvSpPr>
          <p:cNvPr id="83" name="Rectangle 826"/>
          <p:cNvSpPr>
            <a:spLocks noChangeArrowheads="1"/>
          </p:cNvSpPr>
          <p:nvPr/>
        </p:nvSpPr>
        <p:spPr bwMode="auto">
          <a:xfrm>
            <a:off x="692150" y="4429125"/>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1.00</a:t>
            </a:r>
            <a:endParaRPr lang="en-US" sz="1400">
              <a:latin typeface="Century Gothic"/>
              <a:cs typeface="Century Gothic"/>
            </a:endParaRPr>
          </a:p>
        </p:txBody>
      </p:sp>
      <p:sp>
        <p:nvSpPr>
          <p:cNvPr id="84" name="Rectangle 827"/>
          <p:cNvSpPr>
            <a:spLocks noChangeArrowheads="1"/>
          </p:cNvSpPr>
          <p:nvPr/>
        </p:nvSpPr>
        <p:spPr bwMode="auto">
          <a:xfrm>
            <a:off x="692150" y="4854575"/>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0.75</a:t>
            </a:r>
            <a:endParaRPr lang="en-US" sz="1400">
              <a:latin typeface="Century Gothic"/>
              <a:cs typeface="Century Gothic"/>
            </a:endParaRPr>
          </a:p>
        </p:txBody>
      </p:sp>
      <p:sp>
        <p:nvSpPr>
          <p:cNvPr id="85" name="Rectangle 828"/>
          <p:cNvSpPr>
            <a:spLocks noChangeArrowheads="1"/>
          </p:cNvSpPr>
          <p:nvPr/>
        </p:nvSpPr>
        <p:spPr bwMode="auto">
          <a:xfrm>
            <a:off x="692150" y="5272088"/>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0.50</a:t>
            </a:r>
            <a:endParaRPr lang="en-US" sz="1400">
              <a:latin typeface="Century Gothic"/>
              <a:cs typeface="Century Gothic"/>
            </a:endParaRPr>
          </a:p>
        </p:txBody>
      </p:sp>
      <p:sp>
        <p:nvSpPr>
          <p:cNvPr id="86" name="Freeform 855"/>
          <p:cNvSpPr>
            <a:spLocks/>
          </p:cNvSpPr>
          <p:nvPr/>
        </p:nvSpPr>
        <p:spPr bwMode="auto">
          <a:xfrm>
            <a:off x="1600200" y="4800600"/>
            <a:ext cx="1552575" cy="762000"/>
          </a:xfrm>
          <a:custGeom>
            <a:avLst/>
            <a:gdLst>
              <a:gd name="T0" fmla="*/ 242 w 242"/>
              <a:gd name="T1" fmla="*/ 113 h 134"/>
              <a:gd name="T2" fmla="*/ 226 w 242"/>
              <a:gd name="T3" fmla="*/ 134 h 134"/>
              <a:gd name="T4" fmla="*/ 16 w 242"/>
              <a:gd name="T5" fmla="*/ 134 h 134"/>
              <a:gd name="T6" fmla="*/ 0 w 242"/>
              <a:gd name="T7" fmla="*/ 113 h 134"/>
              <a:gd name="T8" fmla="*/ 0 w 242"/>
              <a:gd name="T9" fmla="*/ 21 h 134"/>
              <a:gd name="T10" fmla="*/ 16 w 242"/>
              <a:gd name="T11" fmla="*/ 0 h 134"/>
              <a:gd name="T12" fmla="*/ 226 w 242"/>
              <a:gd name="T13" fmla="*/ 0 h 134"/>
              <a:gd name="T14" fmla="*/ 242 w 242"/>
              <a:gd name="T15" fmla="*/ 21 h 134"/>
              <a:gd name="T16" fmla="*/ 242 w 242"/>
              <a:gd name="T17" fmla="*/ 11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2" h="134">
                <a:moveTo>
                  <a:pt x="242" y="113"/>
                </a:moveTo>
                <a:cubicBezTo>
                  <a:pt x="242" y="124"/>
                  <a:pt x="234" y="134"/>
                  <a:pt x="226" y="134"/>
                </a:cubicBezTo>
                <a:cubicBezTo>
                  <a:pt x="16" y="134"/>
                  <a:pt x="16" y="134"/>
                  <a:pt x="16" y="134"/>
                </a:cubicBezTo>
                <a:cubicBezTo>
                  <a:pt x="8" y="134"/>
                  <a:pt x="0" y="124"/>
                  <a:pt x="0" y="113"/>
                </a:cubicBezTo>
                <a:cubicBezTo>
                  <a:pt x="0" y="21"/>
                  <a:pt x="0" y="21"/>
                  <a:pt x="0" y="21"/>
                </a:cubicBezTo>
                <a:cubicBezTo>
                  <a:pt x="0" y="10"/>
                  <a:pt x="8" y="0"/>
                  <a:pt x="16" y="0"/>
                </a:cubicBezTo>
                <a:cubicBezTo>
                  <a:pt x="226" y="0"/>
                  <a:pt x="226" y="0"/>
                  <a:pt x="226" y="0"/>
                </a:cubicBezTo>
                <a:cubicBezTo>
                  <a:pt x="234" y="0"/>
                  <a:pt x="242" y="10"/>
                  <a:pt x="242" y="21"/>
                </a:cubicBezTo>
                <a:lnTo>
                  <a:pt x="242" y="113"/>
                </a:lnTo>
                <a:close/>
              </a:path>
            </a:pathLst>
          </a:custGeom>
          <a:solidFill>
            <a:srgbClr val="D6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i="1" dirty="0">
              <a:latin typeface="Century Gothic"/>
              <a:cs typeface="Century Gothic"/>
            </a:endParaRPr>
          </a:p>
        </p:txBody>
      </p:sp>
      <p:sp>
        <p:nvSpPr>
          <p:cNvPr id="87" name="Line 874"/>
          <p:cNvSpPr>
            <a:spLocks noChangeShapeType="1"/>
          </p:cNvSpPr>
          <p:nvPr/>
        </p:nvSpPr>
        <p:spPr bwMode="auto">
          <a:xfrm flipV="1">
            <a:off x="1095375" y="5537200"/>
            <a:ext cx="123825" cy="60325"/>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88" name="Line 875"/>
          <p:cNvSpPr>
            <a:spLocks noChangeShapeType="1"/>
          </p:cNvSpPr>
          <p:nvPr/>
        </p:nvSpPr>
        <p:spPr bwMode="auto">
          <a:xfrm flipV="1">
            <a:off x="1095375" y="5618163"/>
            <a:ext cx="123825" cy="61912"/>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89" name="Line 876"/>
          <p:cNvSpPr>
            <a:spLocks noChangeShapeType="1"/>
          </p:cNvSpPr>
          <p:nvPr/>
        </p:nvSpPr>
        <p:spPr bwMode="auto">
          <a:xfrm flipH="1">
            <a:off x="1295400" y="5746750"/>
            <a:ext cx="71438" cy="106363"/>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90" name="Line 877"/>
          <p:cNvSpPr>
            <a:spLocks noChangeShapeType="1"/>
          </p:cNvSpPr>
          <p:nvPr/>
        </p:nvSpPr>
        <p:spPr bwMode="auto">
          <a:xfrm flipH="1">
            <a:off x="1390650" y="5746750"/>
            <a:ext cx="69850" cy="106363"/>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91" name="Rectangle 878"/>
          <p:cNvSpPr>
            <a:spLocks noChangeArrowheads="1"/>
          </p:cNvSpPr>
          <p:nvPr/>
        </p:nvSpPr>
        <p:spPr bwMode="auto">
          <a:xfrm>
            <a:off x="120650" y="1424226"/>
            <a:ext cx="109855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1588" indent="-1588" algn="ctr"/>
            <a:endParaRPr lang="en-US" sz="1400" dirty="0">
              <a:solidFill>
                <a:srgbClr val="000000"/>
              </a:solidFill>
              <a:latin typeface="Century Gothic"/>
              <a:cs typeface="Century Gothic"/>
            </a:endParaRPr>
          </a:p>
          <a:p>
            <a:pPr marL="1588" indent="-1588" algn="ctr"/>
            <a:r>
              <a:rPr lang="en-US" sz="1400" dirty="0">
                <a:solidFill>
                  <a:srgbClr val="000000"/>
                </a:solidFill>
                <a:latin typeface="Century Gothic"/>
                <a:cs typeface="Century Gothic"/>
              </a:rPr>
              <a:t>Price of cotton </a:t>
            </a:r>
          </a:p>
          <a:p>
            <a:pPr marL="1588" indent="-1588" algn="ctr"/>
            <a:r>
              <a:rPr lang="en-US" sz="1400" dirty="0">
                <a:solidFill>
                  <a:srgbClr val="000000"/>
                </a:solidFill>
                <a:latin typeface="Century Gothic"/>
                <a:cs typeface="Century Gothic"/>
              </a:rPr>
              <a:t>(per pound)</a:t>
            </a:r>
            <a:endParaRPr lang="en-US" sz="1400" dirty="0">
              <a:latin typeface="Century Gothic"/>
              <a:cs typeface="Century Gothic"/>
            </a:endParaRPr>
          </a:p>
        </p:txBody>
      </p:sp>
      <p:sp>
        <p:nvSpPr>
          <p:cNvPr id="92" name="Rectangle 879"/>
          <p:cNvSpPr>
            <a:spLocks noChangeArrowheads="1"/>
          </p:cNvSpPr>
          <p:nvPr/>
        </p:nvSpPr>
        <p:spPr bwMode="auto">
          <a:xfrm>
            <a:off x="3462338" y="6116638"/>
            <a:ext cx="217646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1588" indent="-1588" algn="ctr"/>
            <a:r>
              <a:rPr lang="en-US" sz="1400" dirty="0">
                <a:solidFill>
                  <a:srgbClr val="000000"/>
                </a:solidFill>
                <a:latin typeface="Century Gothic"/>
                <a:cs typeface="Century Gothic"/>
              </a:rPr>
              <a:t>Quantity of cotton </a:t>
            </a:r>
          </a:p>
          <a:p>
            <a:pPr marL="1588" indent="-1588" algn="ctr"/>
            <a:r>
              <a:rPr lang="en-US" sz="1400" dirty="0">
                <a:solidFill>
                  <a:srgbClr val="000000"/>
                </a:solidFill>
                <a:latin typeface="Century Gothic"/>
                <a:cs typeface="Century Gothic"/>
              </a:rPr>
              <a:t>(per pound)</a:t>
            </a:r>
            <a:endParaRPr lang="en-US" sz="1400" dirty="0">
              <a:latin typeface="Century Gothic"/>
              <a:cs typeface="Century Gothic"/>
            </a:endParaRPr>
          </a:p>
        </p:txBody>
      </p:sp>
      <p:sp>
        <p:nvSpPr>
          <p:cNvPr id="94" name="Freeform 839"/>
          <p:cNvSpPr>
            <a:spLocks/>
          </p:cNvSpPr>
          <p:nvPr/>
        </p:nvSpPr>
        <p:spPr bwMode="auto">
          <a:xfrm>
            <a:off x="1897063" y="2854325"/>
            <a:ext cx="2493962" cy="2527300"/>
          </a:xfrm>
          <a:custGeom>
            <a:avLst/>
            <a:gdLst>
              <a:gd name="T0" fmla="*/ 0 w 423"/>
              <a:gd name="T1" fmla="*/ 0 h 494"/>
              <a:gd name="T2" fmla="*/ 423 w 423"/>
              <a:gd name="T3" fmla="*/ 494 h 494"/>
            </a:gdLst>
            <a:ahLst/>
            <a:cxnLst>
              <a:cxn ang="0">
                <a:pos x="T0" y="T1"/>
              </a:cxn>
              <a:cxn ang="0">
                <a:pos x="T2" y="T3"/>
              </a:cxn>
            </a:cxnLst>
            <a:rect l="0" t="0" r="r" b="b"/>
            <a:pathLst>
              <a:path w="423" h="494">
                <a:moveTo>
                  <a:pt x="0" y="0"/>
                </a:moveTo>
                <a:cubicBezTo>
                  <a:pt x="23" y="133"/>
                  <a:pt x="158" y="409"/>
                  <a:pt x="423" y="494"/>
                </a:cubicBezTo>
              </a:path>
            </a:pathLst>
          </a:custGeom>
          <a:noFill/>
          <a:ln w="30163" cap="flat">
            <a:solidFill>
              <a:srgbClr val="3C5DAA"/>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96" name="Oval 840"/>
          <p:cNvSpPr>
            <a:spLocks noChangeArrowheads="1"/>
          </p:cNvSpPr>
          <p:nvPr/>
        </p:nvSpPr>
        <p:spPr bwMode="auto">
          <a:xfrm>
            <a:off x="1836738" y="2803525"/>
            <a:ext cx="117475" cy="10318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97" name="Oval 841"/>
          <p:cNvSpPr>
            <a:spLocks noChangeArrowheads="1"/>
          </p:cNvSpPr>
          <p:nvPr/>
        </p:nvSpPr>
        <p:spPr bwMode="auto">
          <a:xfrm>
            <a:off x="1973263" y="3222625"/>
            <a:ext cx="119062" cy="1047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98" name="Oval 842"/>
          <p:cNvSpPr>
            <a:spLocks noChangeArrowheads="1"/>
          </p:cNvSpPr>
          <p:nvPr/>
        </p:nvSpPr>
        <p:spPr bwMode="auto">
          <a:xfrm>
            <a:off x="2185988" y="3646488"/>
            <a:ext cx="119062" cy="1047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99" name="Oval 843"/>
          <p:cNvSpPr>
            <a:spLocks noChangeArrowheads="1"/>
          </p:cNvSpPr>
          <p:nvPr/>
        </p:nvSpPr>
        <p:spPr bwMode="auto">
          <a:xfrm>
            <a:off x="2468563" y="4067175"/>
            <a:ext cx="115887" cy="1016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100" name="Oval 844"/>
          <p:cNvSpPr>
            <a:spLocks noChangeArrowheads="1"/>
          </p:cNvSpPr>
          <p:nvPr/>
        </p:nvSpPr>
        <p:spPr bwMode="auto">
          <a:xfrm>
            <a:off x="2857500" y="4487863"/>
            <a:ext cx="119062" cy="1016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101" name="Oval 845"/>
          <p:cNvSpPr>
            <a:spLocks noChangeArrowheads="1"/>
          </p:cNvSpPr>
          <p:nvPr/>
        </p:nvSpPr>
        <p:spPr bwMode="auto">
          <a:xfrm>
            <a:off x="3381375" y="4905375"/>
            <a:ext cx="119062" cy="1047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102" name="Oval 846"/>
          <p:cNvSpPr>
            <a:spLocks noChangeArrowheads="1"/>
          </p:cNvSpPr>
          <p:nvPr/>
        </p:nvSpPr>
        <p:spPr bwMode="auto">
          <a:xfrm>
            <a:off x="4330700" y="5330825"/>
            <a:ext cx="120650" cy="10318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103" name="Rectangle 882"/>
          <p:cNvSpPr>
            <a:spLocks noChangeArrowheads="1"/>
          </p:cNvSpPr>
          <p:nvPr/>
        </p:nvSpPr>
        <p:spPr bwMode="auto">
          <a:xfrm>
            <a:off x="4340225" y="4956175"/>
            <a:ext cx="89852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1588" indent="-1588" algn="ctr"/>
            <a:r>
              <a:rPr lang="en-US" sz="1400" dirty="0">
                <a:solidFill>
                  <a:srgbClr val="000000"/>
                </a:solidFill>
                <a:latin typeface="Century Gothic"/>
                <a:cs typeface="Century Gothic"/>
              </a:rPr>
              <a:t>Demand curve, </a:t>
            </a:r>
            <a:r>
              <a:rPr lang="en-US" sz="1400" i="1" dirty="0">
                <a:solidFill>
                  <a:srgbClr val="000000"/>
                </a:solidFill>
                <a:latin typeface="Century Gothic"/>
                <a:cs typeface="Century Gothic"/>
              </a:rPr>
              <a:t>D</a:t>
            </a:r>
            <a:endParaRPr lang="en-US" sz="1400" i="1" dirty="0">
              <a:latin typeface="Century Gothic"/>
              <a:cs typeface="Century Gothic"/>
            </a:endParaRPr>
          </a:p>
        </p:txBody>
      </p:sp>
      <p:sp>
        <p:nvSpPr>
          <p:cNvPr id="104" name="Rectangle 883"/>
          <p:cNvSpPr>
            <a:spLocks noChangeArrowheads="1"/>
          </p:cNvSpPr>
          <p:nvPr/>
        </p:nvSpPr>
        <p:spPr bwMode="auto">
          <a:xfrm>
            <a:off x="1676400" y="4834995"/>
            <a:ext cx="144144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1588" indent="-1588"/>
            <a:r>
              <a:rPr lang="en-US" sz="1400" dirty="0">
                <a:solidFill>
                  <a:schemeClr val="tx1">
                    <a:lumMod val="75000"/>
                    <a:lumOff val="25000"/>
                  </a:schemeClr>
                </a:solidFill>
                <a:latin typeface="Century Gothic"/>
                <a:cs typeface="Century Gothic"/>
              </a:rPr>
              <a:t>As price falls, the quantity demanded rises</a:t>
            </a: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410200" y="1274571"/>
            <a:ext cx="3200400" cy="4341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3" name="Picture 9" descr="Machine generated alternative text: 10.0"/>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7523928" y="4396015"/>
            <a:ext cx="457200" cy="2286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achine generated alternative text: 11.5"/>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514065" y="4804849"/>
            <a:ext cx="476926" cy="245148"/>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11"/>
          <p:cNvPicPr>
            <a:picLocks noChangeAspect="1" noChangeArrowheads="1"/>
          </p:cNvPicPr>
          <p:nvPr/>
        </p:nvPicPr>
        <p:blipFill rotWithShape="1">
          <a:blip r:embed="rId6" cstate="screen">
            <a:extLst>
              <a:ext uri="{28A0092B-C50C-407E-A947-70E740481C1C}">
                <a14:useLocalDpi xmlns:a14="http://schemas.microsoft.com/office/drawing/2010/main"/>
              </a:ext>
            </a:extLst>
          </a:blip>
          <a:srcRect/>
          <a:stretch/>
        </p:blipFill>
        <p:spPr bwMode="auto">
          <a:xfrm>
            <a:off x="7543503" y="3955091"/>
            <a:ext cx="418051" cy="260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6" name="Picture 12"/>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7557986" y="3531679"/>
            <a:ext cx="389085" cy="243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7" name="Picture 13"/>
          <p:cNvPicPr>
            <a:picLocks noChangeAspect="1" noChangeArrowheads="1"/>
          </p:cNvPicPr>
          <p:nvPr/>
        </p:nvPicPr>
        <p:blipFill rotWithShape="1">
          <a:blip r:embed="rId8" cstate="screen">
            <a:extLst>
              <a:ext uri="{28A0092B-C50C-407E-A947-70E740481C1C}">
                <a14:useLocalDpi xmlns:a14="http://schemas.microsoft.com/office/drawing/2010/main"/>
              </a:ext>
            </a:extLst>
          </a:blip>
          <a:srcRect/>
          <a:stretch/>
        </p:blipFill>
        <p:spPr bwMode="auto">
          <a:xfrm>
            <a:off x="7569648" y="3105282"/>
            <a:ext cx="365760" cy="246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8" name="Picture 14"/>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7545585" y="2650728"/>
            <a:ext cx="413886" cy="274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9" name="Picture 15"/>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7503354" y="5230231"/>
            <a:ext cx="498349" cy="274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0" name="Picture 16"/>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5946807" y="5230231"/>
            <a:ext cx="457200" cy="2458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1" name="Picture 17"/>
          <p:cNvPicPr>
            <a:picLocks noChangeAspect="1" noChangeArrowheads="1"/>
          </p:cNvPicPr>
          <p:nvPr/>
        </p:nvPicPr>
        <p:blipFill>
          <a:blip r:embed="rId12" cstate="screen">
            <a:extLst>
              <a:ext uri="{28A0092B-C50C-407E-A947-70E740481C1C}">
                <a14:useLocalDpi xmlns:a14="http://schemas.microsoft.com/office/drawing/2010/main"/>
              </a:ext>
            </a:extLst>
          </a:blip>
          <a:srcRect/>
          <a:stretch>
            <a:fillRect/>
          </a:stretch>
        </p:blipFill>
        <p:spPr bwMode="auto">
          <a:xfrm>
            <a:off x="5946807" y="4817793"/>
            <a:ext cx="457200" cy="243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2" name="Picture 18"/>
          <p:cNvPicPr>
            <a:picLocks noChangeAspect="1" noChangeArrowheads="1"/>
          </p:cNvPicPr>
          <p:nvPr/>
        </p:nvPicPr>
        <p:blipFill>
          <a:blip r:embed="rId13" cstate="screen">
            <a:extLst>
              <a:ext uri="{28A0092B-C50C-407E-A947-70E740481C1C}">
                <a14:useLocalDpi xmlns:a14="http://schemas.microsoft.com/office/drawing/2010/main"/>
              </a:ext>
            </a:extLst>
          </a:blip>
          <a:srcRect/>
          <a:stretch>
            <a:fillRect/>
          </a:stretch>
        </p:blipFill>
        <p:spPr bwMode="auto">
          <a:xfrm>
            <a:off x="5946807" y="4366167"/>
            <a:ext cx="457200" cy="283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3" name="Picture 19"/>
          <p:cNvPicPr>
            <a:picLocks noChangeAspect="1" noChangeArrowheads="1"/>
          </p:cNvPicPr>
          <p:nvPr/>
        </p:nvPicPr>
        <p:blipFill>
          <a:blip r:embed="rId14" cstate="screen">
            <a:extLst>
              <a:ext uri="{28A0092B-C50C-407E-A947-70E740481C1C}">
                <a14:useLocalDpi xmlns:a14="http://schemas.microsoft.com/office/drawing/2010/main"/>
              </a:ext>
            </a:extLst>
          </a:blip>
          <a:srcRect/>
          <a:stretch>
            <a:fillRect/>
          </a:stretch>
        </p:blipFill>
        <p:spPr bwMode="auto">
          <a:xfrm>
            <a:off x="5940908" y="3923250"/>
            <a:ext cx="468998" cy="274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4" name="Picture 20"/>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5946807" y="3498061"/>
            <a:ext cx="457200" cy="256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5" name="Picture 21"/>
          <p:cNvPicPr>
            <a:picLocks noChangeAspect="1" noChangeArrowheads="1"/>
          </p:cNvPicPr>
          <p:nvPr/>
        </p:nvPicPr>
        <p:blipFill>
          <a:blip r:embed="rId16" cstate="screen">
            <a:extLst>
              <a:ext uri="{28A0092B-C50C-407E-A947-70E740481C1C}">
                <a14:useLocalDpi xmlns:a14="http://schemas.microsoft.com/office/drawing/2010/main"/>
              </a:ext>
            </a:extLst>
          </a:blip>
          <a:srcRect/>
          <a:stretch>
            <a:fillRect/>
          </a:stretch>
        </p:blipFill>
        <p:spPr bwMode="auto">
          <a:xfrm>
            <a:off x="5946807" y="3093645"/>
            <a:ext cx="457200" cy="235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6" name="Picture 22"/>
          <p:cNvPicPr>
            <a:picLocks noChangeAspect="1" noChangeArrowheads="1"/>
          </p:cNvPicPr>
          <p:nvPr/>
        </p:nvPicPr>
        <p:blipFill>
          <a:blip r:embed="rId17" cstate="screen">
            <a:extLst>
              <a:ext uri="{28A0092B-C50C-407E-A947-70E740481C1C}">
                <a14:useLocalDpi xmlns:a14="http://schemas.microsoft.com/office/drawing/2010/main"/>
              </a:ext>
            </a:extLst>
          </a:blip>
          <a:srcRect/>
          <a:stretch>
            <a:fillRect/>
          </a:stretch>
        </p:blipFill>
        <p:spPr bwMode="auto">
          <a:xfrm>
            <a:off x="5867401" y="2650728"/>
            <a:ext cx="616013" cy="274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28635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46"/>
                                        </p:tgtEl>
                                        <p:attrNameLst>
                                          <p:attrName>style.visibility</p:attrName>
                                        </p:attrNameLst>
                                      </p:cBhvr>
                                      <p:to>
                                        <p:strVal val="visible"/>
                                      </p:to>
                                    </p:set>
                                    <p:animEffect transition="in" filter="fade">
                                      <p:cBhvr>
                                        <p:cTn id="7" dur="500"/>
                                        <p:tgtEl>
                                          <p:spTgt spid="1046"/>
                                        </p:tgtEl>
                                      </p:cBhvr>
                                    </p:animEffect>
                                  </p:childTnLst>
                                </p:cTn>
                              </p:par>
                              <p:par>
                                <p:cTn id="8" presetID="10" presetClass="entr" presetSubtype="0" fill="hold" nodeType="withEffect">
                                  <p:stCondLst>
                                    <p:cond delay="0"/>
                                  </p:stCondLst>
                                  <p:childTnLst>
                                    <p:set>
                                      <p:cBhvr>
                                        <p:cTn id="9" dur="1" fill="hold">
                                          <p:stCondLst>
                                            <p:cond delay="0"/>
                                          </p:stCondLst>
                                        </p:cTn>
                                        <p:tgtEl>
                                          <p:spTgt spid="1038"/>
                                        </p:tgtEl>
                                        <p:attrNameLst>
                                          <p:attrName>style.visibility</p:attrName>
                                        </p:attrNameLst>
                                      </p:cBhvr>
                                      <p:to>
                                        <p:strVal val="visible"/>
                                      </p:to>
                                    </p:set>
                                    <p:animEffect transition="in" filter="fade">
                                      <p:cBhvr>
                                        <p:cTn id="10" dur="500"/>
                                        <p:tgtEl>
                                          <p:spTgt spid="103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6"/>
                                        </p:tgtEl>
                                        <p:attrNameLst>
                                          <p:attrName>style.visibility</p:attrName>
                                        </p:attrNameLst>
                                      </p:cBhvr>
                                      <p:to>
                                        <p:strVal val="visible"/>
                                      </p:to>
                                    </p:set>
                                    <p:animEffect transition="in" filter="fade">
                                      <p:cBhvr>
                                        <p:cTn id="13" dur="500"/>
                                        <p:tgtEl>
                                          <p:spTgt spid="9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45"/>
                                        </p:tgtEl>
                                        <p:attrNameLst>
                                          <p:attrName>style.visibility</p:attrName>
                                        </p:attrNameLst>
                                      </p:cBhvr>
                                      <p:to>
                                        <p:strVal val="visible"/>
                                      </p:to>
                                    </p:set>
                                    <p:animEffect transition="in" filter="fade">
                                      <p:cBhvr>
                                        <p:cTn id="18" dur="500"/>
                                        <p:tgtEl>
                                          <p:spTgt spid="1045"/>
                                        </p:tgtEl>
                                      </p:cBhvr>
                                    </p:animEffect>
                                  </p:childTnLst>
                                </p:cTn>
                              </p:par>
                              <p:par>
                                <p:cTn id="19" presetID="10" presetClass="entr" presetSubtype="0" fill="hold" nodeType="withEffect">
                                  <p:stCondLst>
                                    <p:cond delay="0"/>
                                  </p:stCondLst>
                                  <p:childTnLst>
                                    <p:set>
                                      <p:cBhvr>
                                        <p:cTn id="20" dur="1" fill="hold">
                                          <p:stCondLst>
                                            <p:cond delay="0"/>
                                          </p:stCondLst>
                                        </p:cTn>
                                        <p:tgtEl>
                                          <p:spTgt spid="1037"/>
                                        </p:tgtEl>
                                        <p:attrNameLst>
                                          <p:attrName>style.visibility</p:attrName>
                                        </p:attrNameLst>
                                      </p:cBhvr>
                                      <p:to>
                                        <p:strVal val="visible"/>
                                      </p:to>
                                    </p:set>
                                    <p:animEffect transition="in" filter="fade">
                                      <p:cBhvr>
                                        <p:cTn id="21" dur="500"/>
                                        <p:tgtEl>
                                          <p:spTgt spid="103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7"/>
                                        </p:tgtEl>
                                        <p:attrNameLst>
                                          <p:attrName>style.visibility</p:attrName>
                                        </p:attrNameLst>
                                      </p:cBhvr>
                                      <p:to>
                                        <p:strVal val="visible"/>
                                      </p:to>
                                    </p:set>
                                    <p:animEffect transition="in" filter="fade">
                                      <p:cBhvr>
                                        <p:cTn id="24" dur="500"/>
                                        <p:tgtEl>
                                          <p:spTgt spid="9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044"/>
                                        </p:tgtEl>
                                        <p:attrNameLst>
                                          <p:attrName>style.visibility</p:attrName>
                                        </p:attrNameLst>
                                      </p:cBhvr>
                                      <p:to>
                                        <p:strVal val="visible"/>
                                      </p:to>
                                    </p:set>
                                    <p:animEffect transition="in" filter="fade">
                                      <p:cBhvr>
                                        <p:cTn id="29" dur="500"/>
                                        <p:tgtEl>
                                          <p:spTgt spid="1044"/>
                                        </p:tgtEl>
                                      </p:cBhvr>
                                    </p:animEffect>
                                  </p:childTnLst>
                                </p:cTn>
                              </p:par>
                              <p:par>
                                <p:cTn id="30" presetID="10" presetClass="entr" presetSubtype="0" fill="hold" nodeType="withEffect">
                                  <p:stCondLst>
                                    <p:cond delay="0"/>
                                  </p:stCondLst>
                                  <p:childTnLst>
                                    <p:set>
                                      <p:cBhvr>
                                        <p:cTn id="31" dur="1" fill="hold">
                                          <p:stCondLst>
                                            <p:cond delay="0"/>
                                          </p:stCondLst>
                                        </p:cTn>
                                        <p:tgtEl>
                                          <p:spTgt spid="1036"/>
                                        </p:tgtEl>
                                        <p:attrNameLst>
                                          <p:attrName>style.visibility</p:attrName>
                                        </p:attrNameLst>
                                      </p:cBhvr>
                                      <p:to>
                                        <p:strVal val="visible"/>
                                      </p:to>
                                    </p:set>
                                    <p:animEffect transition="in" filter="fade">
                                      <p:cBhvr>
                                        <p:cTn id="32" dur="500"/>
                                        <p:tgtEl>
                                          <p:spTgt spid="103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8"/>
                                        </p:tgtEl>
                                        <p:attrNameLst>
                                          <p:attrName>style.visibility</p:attrName>
                                        </p:attrNameLst>
                                      </p:cBhvr>
                                      <p:to>
                                        <p:strVal val="visible"/>
                                      </p:to>
                                    </p:set>
                                    <p:animEffect transition="in" filter="fade">
                                      <p:cBhvr>
                                        <p:cTn id="35" dur="500"/>
                                        <p:tgtEl>
                                          <p:spTgt spid="9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043"/>
                                        </p:tgtEl>
                                        <p:attrNameLst>
                                          <p:attrName>style.visibility</p:attrName>
                                        </p:attrNameLst>
                                      </p:cBhvr>
                                      <p:to>
                                        <p:strVal val="visible"/>
                                      </p:to>
                                    </p:set>
                                    <p:animEffect transition="in" filter="fade">
                                      <p:cBhvr>
                                        <p:cTn id="40" dur="500"/>
                                        <p:tgtEl>
                                          <p:spTgt spid="1043"/>
                                        </p:tgtEl>
                                      </p:cBhvr>
                                    </p:animEffect>
                                  </p:childTnLst>
                                </p:cTn>
                              </p:par>
                              <p:par>
                                <p:cTn id="41" presetID="10" presetClass="entr" presetSubtype="0" fill="hold" nodeType="withEffect">
                                  <p:stCondLst>
                                    <p:cond delay="0"/>
                                  </p:stCondLst>
                                  <p:childTnLst>
                                    <p:set>
                                      <p:cBhvr>
                                        <p:cTn id="42" dur="1" fill="hold">
                                          <p:stCondLst>
                                            <p:cond delay="0"/>
                                          </p:stCondLst>
                                        </p:cTn>
                                        <p:tgtEl>
                                          <p:spTgt spid="1035"/>
                                        </p:tgtEl>
                                        <p:attrNameLst>
                                          <p:attrName>style.visibility</p:attrName>
                                        </p:attrNameLst>
                                      </p:cBhvr>
                                      <p:to>
                                        <p:strVal val="visible"/>
                                      </p:to>
                                    </p:set>
                                    <p:animEffect transition="in" filter="fade">
                                      <p:cBhvr>
                                        <p:cTn id="43" dur="500"/>
                                        <p:tgtEl>
                                          <p:spTgt spid="103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99"/>
                                        </p:tgtEl>
                                        <p:attrNameLst>
                                          <p:attrName>style.visibility</p:attrName>
                                        </p:attrNameLst>
                                      </p:cBhvr>
                                      <p:to>
                                        <p:strVal val="visible"/>
                                      </p:to>
                                    </p:set>
                                    <p:animEffect transition="in" filter="fade">
                                      <p:cBhvr>
                                        <p:cTn id="46" dur="500"/>
                                        <p:tgtEl>
                                          <p:spTgt spid="99"/>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042"/>
                                        </p:tgtEl>
                                        <p:attrNameLst>
                                          <p:attrName>style.visibility</p:attrName>
                                        </p:attrNameLst>
                                      </p:cBhvr>
                                      <p:to>
                                        <p:strVal val="visible"/>
                                      </p:to>
                                    </p:set>
                                    <p:animEffect transition="in" filter="fade">
                                      <p:cBhvr>
                                        <p:cTn id="51" dur="500"/>
                                        <p:tgtEl>
                                          <p:spTgt spid="1042"/>
                                        </p:tgtEl>
                                      </p:cBhvr>
                                    </p:animEffect>
                                  </p:childTnLst>
                                </p:cTn>
                              </p:par>
                              <p:par>
                                <p:cTn id="52" presetID="10" presetClass="entr" presetSubtype="0" fill="hold" nodeType="withEffect">
                                  <p:stCondLst>
                                    <p:cond delay="0"/>
                                  </p:stCondLst>
                                  <p:childTnLst>
                                    <p:set>
                                      <p:cBhvr>
                                        <p:cTn id="53" dur="1" fill="hold">
                                          <p:stCondLst>
                                            <p:cond delay="0"/>
                                          </p:stCondLst>
                                        </p:cTn>
                                        <p:tgtEl>
                                          <p:spTgt spid="1033"/>
                                        </p:tgtEl>
                                        <p:attrNameLst>
                                          <p:attrName>style.visibility</p:attrName>
                                        </p:attrNameLst>
                                      </p:cBhvr>
                                      <p:to>
                                        <p:strVal val="visible"/>
                                      </p:to>
                                    </p:set>
                                    <p:animEffect transition="in" filter="fade">
                                      <p:cBhvr>
                                        <p:cTn id="54" dur="500"/>
                                        <p:tgtEl>
                                          <p:spTgt spid="103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00"/>
                                        </p:tgtEl>
                                        <p:attrNameLst>
                                          <p:attrName>style.visibility</p:attrName>
                                        </p:attrNameLst>
                                      </p:cBhvr>
                                      <p:to>
                                        <p:strVal val="visible"/>
                                      </p:to>
                                    </p:set>
                                    <p:animEffect transition="in" filter="fade">
                                      <p:cBhvr>
                                        <p:cTn id="57" dur="500"/>
                                        <p:tgtEl>
                                          <p:spTgt spid="100"/>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041"/>
                                        </p:tgtEl>
                                        <p:attrNameLst>
                                          <p:attrName>style.visibility</p:attrName>
                                        </p:attrNameLst>
                                      </p:cBhvr>
                                      <p:to>
                                        <p:strVal val="visible"/>
                                      </p:to>
                                    </p:set>
                                    <p:animEffect transition="in" filter="fade">
                                      <p:cBhvr>
                                        <p:cTn id="62" dur="500"/>
                                        <p:tgtEl>
                                          <p:spTgt spid="1041"/>
                                        </p:tgtEl>
                                      </p:cBhvr>
                                    </p:animEffect>
                                  </p:childTnLst>
                                </p:cTn>
                              </p:par>
                              <p:par>
                                <p:cTn id="63" presetID="10" presetClass="entr" presetSubtype="0" fill="hold" nodeType="withEffect">
                                  <p:stCondLst>
                                    <p:cond delay="0"/>
                                  </p:stCondLst>
                                  <p:childTnLst>
                                    <p:set>
                                      <p:cBhvr>
                                        <p:cTn id="64" dur="1" fill="hold">
                                          <p:stCondLst>
                                            <p:cond delay="0"/>
                                          </p:stCondLst>
                                        </p:cTn>
                                        <p:tgtEl>
                                          <p:spTgt spid="1034"/>
                                        </p:tgtEl>
                                        <p:attrNameLst>
                                          <p:attrName>style.visibility</p:attrName>
                                        </p:attrNameLst>
                                      </p:cBhvr>
                                      <p:to>
                                        <p:strVal val="visible"/>
                                      </p:to>
                                    </p:set>
                                    <p:animEffect transition="in" filter="fade">
                                      <p:cBhvr>
                                        <p:cTn id="65" dur="500"/>
                                        <p:tgtEl>
                                          <p:spTgt spid="103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01"/>
                                        </p:tgtEl>
                                        <p:attrNameLst>
                                          <p:attrName>style.visibility</p:attrName>
                                        </p:attrNameLst>
                                      </p:cBhvr>
                                      <p:to>
                                        <p:strVal val="visible"/>
                                      </p:to>
                                    </p:set>
                                    <p:animEffect transition="in" filter="fade">
                                      <p:cBhvr>
                                        <p:cTn id="68" dur="500"/>
                                        <p:tgtEl>
                                          <p:spTgt spid="101"/>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1040"/>
                                        </p:tgtEl>
                                        <p:attrNameLst>
                                          <p:attrName>style.visibility</p:attrName>
                                        </p:attrNameLst>
                                      </p:cBhvr>
                                      <p:to>
                                        <p:strVal val="visible"/>
                                      </p:to>
                                    </p:set>
                                    <p:animEffect transition="in" filter="fade">
                                      <p:cBhvr>
                                        <p:cTn id="73" dur="500"/>
                                        <p:tgtEl>
                                          <p:spTgt spid="1040"/>
                                        </p:tgtEl>
                                      </p:cBhvr>
                                    </p:animEffect>
                                  </p:childTnLst>
                                </p:cTn>
                              </p:par>
                              <p:par>
                                <p:cTn id="74" presetID="10" presetClass="entr" presetSubtype="0" fill="hold" nodeType="withEffect">
                                  <p:stCondLst>
                                    <p:cond delay="0"/>
                                  </p:stCondLst>
                                  <p:childTnLst>
                                    <p:set>
                                      <p:cBhvr>
                                        <p:cTn id="75" dur="1" fill="hold">
                                          <p:stCondLst>
                                            <p:cond delay="0"/>
                                          </p:stCondLst>
                                        </p:cTn>
                                        <p:tgtEl>
                                          <p:spTgt spid="1039"/>
                                        </p:tgtEl>
                                        <p:attrNameLst>
                                          <p:attrName>style.visibility</p:attrName>
                                        </p:attrNameLst>
                                      </p:cBhvr>
                                      <p:to>
                                        <p:strVal val="visible"/>
                                      </p:to>
                                    </p:set>
                                    <p:animEffect transition="in" filter="fade">
                                      <p:cBhvr>
                                        <p:cTn id="76" dur="500"/>
                                        <p:tgtEl>
                                          <p:spTgt spid="103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102"/>
                                        </p:tgtEl>
                                        <p:attrNameLst>
                                          <p:attrName>style.visibility</p:attrName>
                                        </p:attrNameLst>
                                      </p:cBhvr>
                                      <p:to>
                                        <p:strVal val="visible"/>
                                      </p:to>
                                    </p:set>
                                    <p:animEffect transition="in" filter="fade">
                                      <p:cBhvr>
                                        <p:cTn id="79" dur="500"/>
                                        <p:tgtEl>
                                          <p:spTgt spid="102"/>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94"/>
                                        </p:tgtEl>
                                        <p:attrNameLst>
                                          <p:attrName>style.visibility</p:attrName>
                                        </p:attrNameLst>
                                      </p:cBhvr>
                                      <p:to>
                                        <p:strVal val="visible"/>
                                      </p:to>
                                    </p:set>
                                    <p:animEffect transition="in" filter="wipe(left)">
                                      <p:cBhvr>
                                        <p:cTn id="84" dur="500"/>
                                        <p:tgtEl>
                                          <p:spTgt spid="94"/>
                                        </p:tgtEl>
                                      </p:cBhvr>
                                    </p:animEffect>
                                  </p:childTnLst>
                                </p:cTn>
                              </p:par>
                            </p:childTnLst>
                          </p:cTn>
                        </p:par>
                        <p:par>
                          <p:cTn id="85" fill="hold">
                            <p:stCondLst>
                              <p:cond delay="500"/>
                            </p:stCondLst>
                            <p:childTnLst>
                              <p:par>
                                <p:cTn id="86" presetID="10" presetClass="entr" presetSubtype="0" fill="hold" grpId="0" nodeType="afterEffect">
                                  <p:stCondLst>
                                    <p:cond delay="0"/>
                                  </p:stCondLst>
                                  <p:childTnLst>
                                    <p:set>
                                      <p:cBhvr>
                                        <p:cTn id="87" dur="1" fill="hold">
                                          <p:stCondLst>
                                            <p:cond delay="0"/>
                                          </p:stCondLst>
                                        </p:cTn>
                                        <p:tgtEl>
                                          <p:spTgt spid="103"/>
                                        </p:tgtEl>
                                        <p:attrNameLst>
                                          <p:attrName>style.visibility</p:attrName>
                                        </p:attrNameLst>
                                      </p:cBhvr>
                                      <p:to>
                                        <p:strVal val="visible"/>
                                      </p:to>
                                    </p:set>
                                    <p:animEffect transition="in" filter="fade">
                                      <p:cBhvr>
                                        <p:cTn id="88" dur="500"/>
                                        <p:tgtEl>
                                          <p:spTgt spid="103"/>
                                        </p:tgtEl>
                                      </p:cBhvr>
                                    </p:animEffect>
                                  </p:childTnLst>
                                </p:cTn>
                              </p:par>
                            </p:childTnLst>
                          </p:cTn>
                        </p:par>
                        <p:par>
                          <p:cTn id="89" fill="hold">
                            <p:stCondLst>
                              <p:cond delay="1000"/>
                            </p:stCondLst>
                            <p:childTnLst>
                              <p:par>
                                <p:cTn id="90" presetID="10" presetClass="entr" presetSubtype="0" fill="hold" grpId="0" nodeType="afterEffect">
                                  <p:stCondLst>
                                    <p:cond delay="0"/>
                                  </p:stCondLst>
                                  <p:childTnLst>
                                    <p:set>
                                      <p:cBhvr>
                                        <p:cTn id="91" dur="1" fill="hold">
                                          <p:stCondLst>
                                            <p:cond delay="0"/>
                                          </p:stCondLst>
                                        </p:cTn>
                                        <p:tgtEl>
                                          <p:spTgt spid="86"/>
                                        </p:tgtEl>
                                        <p:attrNameLst>
                                          <p:attrName>style.visibility</p:attrName>
                                        </p:attrNameLst>
                                      </p:cBhvr>
                                      <p:to>
                                        <p:strVal val="visible"/>
                                      </p:to>
                                    </p:set>
                                    <p:animEffect transition="in" filter="fade">
                                      <p:cBhvr>
                                        <p:cTn id="92" dur="500"/>
                                        <p:tgtEl>
                                          <p:spTgt spid="86"/>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104"/>
                                        </p:tgtEl>
                                        <p:attrNameLst>
                                          <p:attrName>style.visibility</p:attrName>
                                        </p:attrNameLst>
                                      </p:cBhvr>
                                      <p:to>
                                        <p:strVal val="visible"/>
                                      </p:to>
                                    </p:set>
                                    <p:animEffect transition="in" filter="fade">
                                      <p:cBhvr>
                                        <p:cTn id="95" dur="5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P spid="94" grpId="0" animBg="1"/>
      <p:bldP spid="96" grpId="0" animBg="1"/>
      <p:bldP spid="97" grpId="0" animBg="1"/>
      <p:bldP spid="98" grpId="0" animBg="1"/>
      <p:bldP spid="99" grpId="0" animBg="1"/>
      <p:bldP spid="100" grpId="0" animBg="1"/>
      <p:bldP spid="101" grpId="0" animBg="1"/>
      <p:bldP spid="102" grpId="0" animBg="1"/>
      <p:bldP spid="103" grpId="0"/>
      <p:bldP spid="10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Content Placeholder 4"/>
          <p:cNvSpPr>
            <a:spLocks noGrp="1"/>
          </p:cNvSpPr>
          <p:nvPr>
            <p:ph idx="1"/>
          </p:nvPr>
        </p:nvSpPr>
        <p:spPr/>
        <p:txBody>
          <a:bodyPr/>
          <a:lstStyle/>
          <a:p>
            <a:r>
              <a:rPr lang="en-US"/>
              <a:t>Don’t be sloppy in terminology:</a:t>
            </a:r>
          </a:p>
          <a:p>
            <a:endParaRPr lang="en-US"/>
          </a:p>
        </p:txBody>
      </p:sp>
      <p:pic>
        <p:nvPicPr>
          <p:cNvPr id="40965" name="Picture 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0" y="0"/>
            <a:ext cx="9144000" cy="96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Not Equal 5"/>
          <p:cNvSpPr/>
          <p:nvPr/>
        </p:nvSpPr>
        <p:spPr>
          <a:xfrm>
            <a:off x="3733800" y="2716213"/>
            <a:ext cx="914400" cy="533400"/>
          </a:xfrm>
          <a:prstGeom prst="mathNotEqual">
            <a:avLst>
              <a:gd name="adj1" fmla="val 14918"/>
              <a:gd name="adj2" fmla="val 6600000"/>
              <a:gd name="adj3" fmla="val 20362"/>
            </a:avLst>
          </a:prstGeom>
          <a:solidFill>
            <a:srgbClr val="CC0066"/>
          </a:solidFill>
          <a:ln>
            <a:solidFill>
              <a:srgbClr val="CC00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CC0066"/>
              </a:solidFill>
              <a:latin typeface="Century Gothic"/>
              <a:cs typeface="Century Gothic"/>
            </a:endParaRPr>
          </a:p>
        </p:txBody>
      </p:sp>
      <p:sp>
        <p:nvSpPr>
          <p:cNvPr id="7" name="TextBox 6"/>
          <p:cNvSpPr txBox="1">
            <a:spLocks noChangeArrowheads="1"/>
          </p:cNvSpPr>
          <p:nvPr/>
        </p:nvSpPr>
        <p:spPr bwMode="auto">
          <a:xfrm>
            <a:off x="762000" y="2601913"/>
            <a:ext cx="28194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3200" b="1" dirty="0">
                <a:latin typeface="Century Gothic"/>
                <a:cs typeface="Century Gothic"/>
              </a:rPr>
              <a:t>a </a:t>
            </a:r>
            <a:r>
              <a:rPr lang="en-US" sz="3200" b="1" i="1" dirty="0">
                <a:latin typeface="Century Gothic"/>
                <a:cs typeface="Century Gothic"/>
              </a:rPr>
              <a:t>“change in demand”  </a:t>
            </a:r>
            <a:r>
              <a:rPr lang="en-US" sz="3200" b="1" dirty="0">
                <a:latin typeface="Century Gothic"/>
                <a:cs typeface="Century Gothic"/>
              </a:rPr>
              <a:t>	</a:t>
            </a:r>
          </a:p>
        </p:txBody>
      </p:sp>
      <p:sp>
        <p:nvSpPr>
          <p:cNvPr id="8" name="TextBox 7"/>
          <p:cNvSpPr txBox="1">
            <a:spLocks noChangeArrowheads="1"/>
          </p:cNvSpPr>
          <p:nvPr/>
        </p:nvSpPr>
        <p:spPr bwMode="auto">
          <a:xfrm>
            <a:off x="5029200" y="2544763"/>
            <a:ext cx="38862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3200" b="1" dirty="0">
                <a:latin typeface="Century Gothic"/>
                <a:cs typeface="Century Gothic"/>
              </a:rPr>
              <a:t>a </a:t>
            </a:r>
            <a:r>
              <a:rPr lang="en-US" sz="3200" b="1" i="1" dirty="0">
                <a:latin typeface="Century Gothic"/>
                <a:cs typeface="Century Gothic"/>
              </a:rPr>
              <a:t>“change in quantity demanded”</a:t>
            </a:r>
          </a:p>
        </p:txBody>
      </p:sp>
      <p:sp>
        <p:nvSpPr>
          <p:cNvPr id="10" name="Oval 9"/>
          <p:cNvSpPr/>
          <p:nvPr/>
        </p:nvSpPr>
        <p:spPr>
          <a:xfrm>
            <a:off x="8382000" y="6096000"/>
            <a:ext cx="744538" cy="747713"/>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Century Gothic"/>
              <a:cs typeface="Century Gothic"/>
            </a:endParaRPr>
          </a:p>
        </p:txBody>
      </p:sp>
      <p:sp>
        <p:nvSpPr>
          <p:cNvPr id="40970" name="TextBox 10">
            <a:hlinkClick r:id="rId4" action="ppaction://hlinksldjump"/>
          </p:cNvPr>
          <p:cNvSpPr txBox="1">
            <a:spLocks noChangeArrowheads="1"/>
          </p:cNvSpPr>
          <p:nvPr/>
        </p:nvSpPr>
        <p:spPr bwMode="auto">
          <a:xfrm>
            <a:off x="8428038" y="6203950"/>
            <a:ext cx="6699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900" dirty="0">
                <a:latin typeface="Century Gothic"/>
                <a:cs typeface="Century Gothic"/>
                <a:hlinkClick r:id="rId4" action="ppaction://hlinksldjump"/>
              </a:rPr>
              <a:t>Back to Table of contents</a:t>
            </a:r>
            <a:endParaRPr lang="en-US" sz="900" dirty="0">
              <a:latin typeface="Century Gothic"/>
              <a:cs typeface="Century Gothic"/>
            </a:endParaRPr>
          </a:p>
          <a:p>
            <a:pPr eaLnBrk="1" hangingPunct="1"/>
            <a:endParaRPr lang="en-US" sz="900" dirty="0">
              <a:latin typeface="Century Gothic"/>
              <a:cs typeface="Century Gothic"/>
            </a:endParaRPr>
          </a:p>
        </p:txBody>
      </p:sp>
    </p:spTree>
    <p:extLst>
      <p:ext uri="{BB962C8B-B14F-4D97-AF65-F5344CB8AC3E}">
        <p14:creationId xmlns:p14="http://schemas.microsoft.com/office/powerpoint/2010/main" val="40796643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nodeType="afterGroup">
                            <p:stCondLst>
                              <p:cond delay="50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nodeType="afterGroup">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noAutofit/>
          </a:bodyPr>
          <a:lstStyle/>
          <a:p>
            <a:pPr fontAlgn="auto">
              <a:spcAft>
                <a:spcPts val="0"/>
              </a:spcAft>
              <a:defRPr/>
            </a:pPr>
            <a:r>
              <a:rPr lang="en-US" sz="3600" dirty="0">
                <a:solidFill>
                  <a:srgbClr val="9BBB59"/>
                </a:solidFill>
              </a:rPr>
              <a:t>CHANGES IN DEMAND VS. CHANGES IN QUANTITY DEMANDED</a:t>
            </a:r>
          </a:p>
        </p:txBody>
      </p:sp>
      <p:sp>
        <p:nvSpPr>
          <p:cNvPr id="41987" name="Line 6"/>
          <p:cNvSpPr>
            <a:spLocks noChangeShapeType="1"/>
          </p:cNvSpPr>
          <p:nvPr/>
        </p:nvSpPr>
        <p:spPr bwMode="auto">
          <a:xfrm>
            <a:off x="685800" y="2057400"/>
            <a:ext cx="0" cy="3352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41988" name="Line 7"/>
          <p:cNvSpPr>
            <a:spLocks noChangeShapeType="1"/>
          </p:cNvSpPr>
          <p:nvPr/>
        </p:nvSpPr>
        <p:spPr bwMode="auto">
          <a:xfrm>
            <a:off x="685800" y="5410200"/>
            <a:ext cx="3505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41989" name="Line 8"/>
          <p:cNvSpPr>
            <a:spLocks noChangeShapeType="1"/>
          </p:cNvSpPr>
          <p:nvPr/>
        </p:nvSpPr>
        <p:spPr bwMode="auto">
          <a:xfrm>
            <a:off x="4800600" y="5410200"/>
            <a:ext cx="3505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41990" name="Line 9"/>
          <p:cNvSpPr>
            <a:spLocks noChangeShapeType="1"/>
          </p:cNvSpPr>
          <p:nvPr/>
        </p:nvSpPr>
        <p:spPr bwMode="auto">
          <a:xfrm flipV="1">
            <a:off x="4800600" y="1905000"/>
            <a:ext cx="0" cy="3505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41991" name="Text Box 10"/>
          <p:cNvSpPr txBox="1">
            <a:spLocks noChangeArrowheads="1"/>
          </p:cNvSpPr>
          <p:nvPr/>
        </p:nvSpPr>
        <p:spPr bwMode="auto">
          <a:xfrm>
            <a:off x="8088313" y="5715000"/>
            <a:ext cx="104387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US" sz="1600" b="1">
                <a:latin typeface="Century Gothic"/>
                <a:cs typeface="Century Gothic"/>
              </a:rPr>
              <a:t>Quantity</a:t>
            </a:r>
          </a:p>
        </p:txBody>
      </p:sp>
      <p:sp>
        <p:nvSpPr>
          <p:cNvPr id="41992" name="Text Box 11"/>
          <p:cNvSpPr txBox="1">
            <a:spLocks noChangeArrowheads="1"/>
          </p:cNvSpPr>
          <p:nvPr/>
        </p:nvSpPr>
        <p:spPr bwMode="auto">
          <a:xfrm>
            <a:off x="3592513" y="5711825"/>
            <a:ext cx="104387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US" sz="1600" b="1">
                <a:latin typeface="Century Gothic"/>
                <a:cs typeface="Century Gothic"/>
              </a:rPr>
              <a:t>Quantity </a:t>
            </a:r>
          </a:p>
        </p:txBody>
      </p:sp>
      <p:sp>
        <p:nvSpPr>
          <p:cNvPr id="41993" name="Text Box 12"/>
          <p:cNvSpPr txBox="1">
            <a:spLocks noChangeArrowheads="1"/>
          </p:cNvSpPr>
          <p:nvPr/>
        </p:nvSpPr>
        <p:spPr bwMode="auto">
          <a:xfrm rot="-5400000">
            <a:off x="42636" y="2141815"/>
            <a:ext cx="7386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US" b="1">
                <a:latin typeface="Century Gothic"/>
                <a:cs typeface="Century Gothic"/>
              </a:rPr>
              <a:t>Price </a:t>
            </a:r>
          </a:p>
        </p:txBody>
      </p:sp>
      <p:sp>
        <p:nvSpPr>
          <p:cNvPr id="41994" name="Text Box 13"/>
          <p:cNvSpPr txBox="1">
            <a:spLocks noChangeArrowheads="1"/>
          </p:cNvSpPr>
          <p:nvPr/>
        </p:nvSpPr>
        <p:spPr bwMode="auto">
          <a:xfrm rot="-5400000">
            <a:off x="4081236" y="2218015"/>
            <a:ext cx="7386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US" b="1">
                <a:latin typeface="Century Gothic"/>
                <a:cs typeface="Century Gothic"/>
              </a:rPr>
              <a:t>Price </a:t>
            </a:r>
          </a:p>
        </p:txBody>
      </p:sp>
      <p:sp>
        <p:nvSpPr>
          <p:cNvPr id="41995" name="Text Box 14"/>
          <p:cNvSpPr txBox="1">
            <a:spLocks noChangeArrowheads="1"/>
          </p:cNvSpPr>
          <p:nvPr/>
        </p:nvSpPr>
        <p:spPr bwMode="auto">
          <a:xfrm>
            <a:off x="647948" y="1295400"/>
            <a:ext cx="28347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a:r>
              <a:rPr lang="en-US" sz="2000" b="1" dirty="0">
                <a:latin typeface="Century Gothic"/>
                <a:cs typeface="Century Gothic"/>
              </a:rPr>
              <a:t>Change in </a:t>
            </a:r>
            <a:r>
              <a:rPr lang="en-US" sz="2400" b="1" dirty="0">
                <a:solidFill>
                  <a:srgbClr val="0070C0"/>
                </a:solidFill>
                <a:latin typeface="Century Gothic"/>
                <a:cs typeface="Century Gothic"/>
              </a:rPr>
              <a:t>demand</a:t>
            </a:r>
            <a:endParaRPr lang="en-US" sz="1600" b="1" dirty="0">
              <a:solidFill>
                <a:srgbClr val="0070C0"/>
              </a:solidFill>
              <a:latin typeface="Century Gothic"/>
              <a:cs typeface="Century Gothic"/>
            </a:endParaRPr>
          </a:p>
        </p:txBody>
      </p:sp>
      <p:sp>
        <p:nvSpPr>
          <p:cNvPr id="13" name="Text Box 15"/>
          <p:cNvSpPr txBox="1">
            <a:spLocks noChangeArrowheads="1"/>
          </p:cNvSpPr>
          <p:nvPr/>
        </p:nvSpPr>
        <p:spPr bwMode="auto">
          <a:xfrm>
            <a:off x="4309362" y="1295400"/>
            <a:ext cx="45337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a:r>
              <a:rPr lang="en-US" sz="2000" b="1" dirty="0">
                <a:latin typeface="Century Gothic"/>
                <a:cs typeface="Century Gothic"/>
              </a:rPr>
              <a:t>Change in </a:t>
            </a:r>
            <a:r>
              <a:rPr lang="en-US" sz="2400" b="1" dirty="0">
                <a:solidFill>
                  <a:srgbClr val="990033"/>
                </a:solidFill>
                <a:latin typeface="Century Gothic"/>
                <a:cs typeface="Century Gothic"/>
              </a:rPr>
              <a:t>quantity demanded</a:t>
            </a:r>
          </a:p>
        </p:txBody>
      </p:sp>
      <p:sp>
        <p:nvSpPr>
          <p:cNvPr id="41997" name="Line 16"/>
          <p:cNvSpPr>
            <a:spLocks noChangeShapeType="1"/>
          </p:cNvSpPr>
          <p:nvPr/>
        </p:nvSpPr>
        <p:spPr bwMode="auto">
          <a:xfrm>
            <a:off x="990600" y="2362200"/>
            <a:ext cx="2438400" cy="2362200"/>
          </a:xfrm>
          <a:prstGeom prst="line">
            <a:avLst/>
          </a:prstGeom>
          <a:noFill/>
          <a:ln w="30163" cap="flat">
            <a:solidFill>
              <a:srgbClr val="3C5DAA"/>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41998" name="Line 17"/>
          <p:cNvSpPr>
            <a:spLocks noChangeShapeType="1"/>
          </p:cNvSpPr>
          <p:nvPr/>
        </p:nvSpPr>
        <p:spPr bwMode="auto">
          <a:xfrm>
            <a:off x="5257800" y="2438400"/>
            <a:ext cx="2209800" cy="2133600"/>
          </a:xfrm>
          <a:prstGeom prst="line">
            <a:avLst/>
          </a:prstGeom>
          <a:noFill/>
          <a:ln w="30163" cap="flat">
            <a:solidFill>
              <a:srgbClr val="3C5DAA"/>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17" name="Line 19"/>
          <p:cNvSpPr>
            <a:spLocks noChangeShapeType="1"/>
          </p:cNvSpPr>
          <p:nvPr/>
        </p:nvSpPr>
        <p:spPr bwMode="auto">
          <a:xfrm>
            <a:off x="2108200" y="2198688"/>
            <a:ext cx="1828800" cy="1828800"/>
          </a:xfrm>
          <a:prstGeom prst="line">
            <a:avLst/>
          </a:prstGeom>
          <a:noFill/>
          <a:ln w="30163" cap="flat">
            <a:solidFill>
              <a:srgbClr val="3C5DAA"/>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18" name="Oval 20"/>
          <p:cNvSpPr>
            <a:spLocks noChangeArrowheads="1"/>
          </p:cNvSpPr>
          <p:nvPr/>
        </p:nvSpPr>
        <p:spPr bwMode="auto">
          <a:xfrm>
            <a:off x="5715000" y="2895600"/>
            <a:ext cx="152400" cy="152400"/>
          </a:xfrm>
          <a:prstGeom prst="ellipse">
            <a:avLst/>
          </a:prstGeom>
          <a:solidFill>
            <a:schemeClr val="tx1"/>
          </a:solidFill>
          <a:ln w="9525">
            <a:solidFill>
              <a:schemeClr val="tx1"/>
            </a:solidFill>
            <a:round/>
            <a:headEnd/>
            <a:tailEnd/>
          </a:ln>
        </p:spPr>
        <p:txBody>
          <a:bodyPr wrap="none" anchor="ctr"/>
          <a:lstStyle/>
          <a:p>
            <a:pPr eaLnBrk="0" hangingPunct="0"/>
            <a:endParaRPr lang="en-US">
              <a:latin typeface="Century Gothic"/>
              <a:cs typeface="Century Gothic"/>
            </a:endParaRPr>
          </a:p>
        </p:txBody>
      </p:sp>
      <p:sp>
        <p:nvSpPr>
          <p:cNvPr id="20" name="Line 22"/>
          <p:cNvSpPr>
            <a:spLocks noChangeShapeType="1"/>
          </p:cNvSpPr>
          <p:nvPr/>
        </p:nvSpPr>
        <p:spPr bwMode="auto">
          <a:xfrm>
            <a:off x="1752600" y="2895600"/>
            <a:ext cx="609600" cy="0"/>
          </a:xfrm>
          <a:prstGeom prst="line">
            <a:avLst/>
          </a:prstGeom>
          <a:noFill/>
          <a:ln w="38100">
            <a:solidFill>
              <a:srgbClr val="990033"/>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22" name="Line 24"/>
          <p:cNvSpPr>
            <a:spLocks noChangeShapeType="1"/>
          </p:cNvSpPr>
          <p:nvPr/>
        </p:nvSpPr>
        <p:spPr bwMode="auto">
          <a:xfrm>
            <a:off x="6019800" y="2895600"/>
            <a:ext cx="1066800" cy="1066800"/>
          </a:xfrm>
          <a:prstGeom prst="line">
            <a:avLst/>
          </a:prstGeom>
          <a:noFill/>
          <a:ln w="38100">
            <a:solidFill>
              <a:srgbClr val="990033"/>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42003" name="Text Box 25"/>
          <p:cNvSpPr txBox="1">
            <a:spLocks noChangeArrowheads="1"/>
          </p:cNvSpPr>
          <p:nvPr/>
        </p:nvSpPr>
        <p:spPr bwMode="auto">
          <a:xfrm>
            <a:off x="3352800" y="4662488"/>
            <a:ext cx="4453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eaLnBrk="0" hangingPunct="0">
              <a:defRPr b="1">
                <a:solidFill>
                  <a:schemeClr val="accent1"/>
                </a:solidFill>
                <a:latin typeface="Candara" pitchFamily="34" charset="0"/>
                <a:cs typeface="Arial" charset="0"/>
              </a:defRPr>
            </a:lvl1pPr>
            <a:lvl2pPr marL="742950" indent="-285750" eaLnBrk="0" hangingPunct="0">
              <a:defRPr>
                <a:latin typeface="Calibri" pitchFamily="34" charset="0"/>
                <a:cs typeface="Arial" charset="0"/>
              </a:defRPr>
            </a:lvl2pPr>
            <a:lvl3pPr marL="1143000" indent="-228600" eaLnBrk="0" hangingPunct="0">
              <a:defRPr>
                <a:latin typeface="Calibri" pitchFamily="34" charset="0"/>
                <a:cs typeface="Arial" charset="0"/>
              </a:defRPr>
            </a:lvl3pPr>
            <a:lvl4pPr marL="1600200" indent="-228600" eaLnBrk="0" hangingPunct="0">
              <a:defRPr>
                <a:latin typeface="Calibri" pitchFamily="34" charset="0"/>
                <a:cs typeface="Arial" charset="0"/>
              </a:defRPr>
            </a:lvl4pPr>
            <a:lvl5pPr marL="2057400" indent="-228600" eaLnBrk="0" hangingPunct="0">
              <a:defRPr>
                <a:latin typeface="Calibri" pitchFamily="34" charset="0"/>
                <a:cs typeface="Arial" charset="0"/>
              </a:defRPr>
            </a:lvl5pPr>
            <a:lvl6pPr marL="2514600" indent="-228600" eaLnBrk="0" fontAlgn="base" hangingPunct="0">
              <a:spcBef>
                <a:spcPct val="0"/>
              </a:spcBef>
              <a:spcAft>
                <a:spcPct val="0"/>
              </a:spcAft>
              <a:defRPr>
                <a:latin typeface="Calibri" pitchFamily="34" charset="0"/>
                <a:cs typeface="Arial" charset="0"/>
              </a:defRPr>
            </a:lvl6pPr>
            <a:lvl7pPr marL="2971800" indent="-228600" eaLnBrk="0" fontAlgn="base" hangingPunct="0">
              <a:spcBef>
                <a:spcPct val="0"/>
              </a:spcBef>
              <a:spcAft>
                <a:spcPct val="0"/>
              </a:spcAft>
              <a:defRPr>
                <a:latin typeface="Calibri" pitchFamily="34" charset="0"/>
                <a:cs typeface="Arial" charset="0"/>
              </a:defRPr>
            </a:lvl7pPr>
            <a:lvl8pPr marL="3429000" indent="-228600" eaLnBrk="0" fontAlgn="base" hangingPunct="0">
              <a:spcBef>
                <a:spcPct val="0"/>
              </a:spcBef>
              <a:spcAft>
                <a:spcPct val="0"/>
              </a:spcAft>
              <a:defRPr>
                <a:latin typeface="Calibri" pitchFamily="34" charset="0"/>
                <a:cs typeface="Arial" charset="0"/>
              </a:defRPr>
            </a:lvl8pPr>
            <a:lvl9pPr marL="3886200" indent="-228600" eaLnBrk="0" fontAlgn="base" hangingPunct="0">
              <a:spcBef>
                <a:spcPct val="0"/>
              </a:spcBef>
              <a:spcAft>
                <a:spcPct val="0"/>
              </a:spcAft>
              <a:defRPr>
                <a:latin typeface="Calibri" pitchFamily="34" charset="0"/>
                <a:cs typeface="Arial" charset="0"/>
              </a:defRPr>
            </a:lvl9pPr>
          </a:lstStyle>
          <a:p>
            <a:r>
              <a:rPr lang="en-US" i="1" dirty="0">
                <a:latin typeface="Century Gothic"/>
                <a:cs typeface="Century Gothic"/>
              </a:rPr>
              <a:t>D</a:t>
            </a:r>
            <a:r>
              <a:rPr lang="en-US" baseline="-25000" dirty="0">
                <a:latin typeface="Century Gothic"/>
                <a:cs typeface="Century Gothic"/>
              </a:rPr>
              <a:t>1</a:t>
            </a:r>
            <a:endParaRPr lang="en-US" dirty="0">
              <a:latin typeface="Century Gothic"/>
              <a:cs typeface="Century Gothic"/>
            </a:endParaRPr>
          </a:p>
        </p:txBody>
      </p:sp>
      <p:sp>
        <p:nvSpPr>
          <p:cNvPr id="25" name="Text Box 27"/>
          <p:cNvSpPr txBox="1">
            <a:spLocks noChangeArrowheads="1"/>
          </p:cNvSpPr>
          <p:nvPr/>
        </p:nvSpPr>
        <p:spPr bwMode="auto">
          <a:xfrm>
            <a:off x="3910013" y="3919538"/>
            <a:ext cx="4453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US" b="1" i="1" dirty="0">
                <a:solidFill>
                  <a:schemeClr val="accent1"/>
                </a:solidFill>
                <a:latin typeface="Century Gothic"/>
                <a:cs typeface="Century Gothic"/>
              </a:rPr>
              <a:t>D</a:t>
            </a:r>
            <a:r>
              <a:rPr lang="en-US" b="1" baseline="-25000" dirty="0">
                <a:solidFill>
                  <a:schemeClr val="accent1"/>
                </a:solidFill>
                <a:latin typeface="Century Gothic"/>
                <a:cs typeface="Century Gothic"/>
              </a:rPr>
              <a:t>2</a:t>
            </a:r>
          </a:p>
        </p:txBody>
      </p:sp>
      <p:sp>
        <p:nvSpPr>
          <p:cNvPr id="26" name="Line 28"/>
          <p:cNvSpPr>
            <a:spLocks noChangeShapeType="1"/>
          </p:cNvSpPr>
          <p:nvPr/>
        </p:nvSpPr>
        <p:spPr bwMode="auto">
          <a:xfrm>
            <a:off x="4800600" y="2971800"/>
            <a:ext cx="9144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27" name="Line 29"/>
          <p:cNvSpPr>
            <a:spLocks noChangeShapeType="1"/>
          </p:cNvSpPr>
          <p:nvPr/>
        </p:nvSpPr>
        <p:spPr bwMode="auto">
          <a:xfrm>
            <a:off x="5791200" y="3048000"/>
            <a:ext cx="0" cy="23622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28" name="Line 31"/>
          <p:cNvSpPr>
            <a:spLocks noChangeShapeType="1"/>
          </p:cNvSpPr>
          <p:nvPr/>
        </p:nvSpPr>
        <p:spPr bwMode="auto">
          <a:xfrm>
            <a:off x="7010400" y="4148138"/>
            <a:ext cx="0" cy="128111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29" name="Line 33"/>
          <p:cNvSpPr>
            <a:spLocks noChangeShapeType="1"/>
          </p:cNvSpPr>
          <p:nvPr/>
        </p:nvSpPr>
        <p:spPr bwMode="auto">
          <a:xfrm>
            <a:off x="4800600" y="4148138"/>
            <a:ext cx="21336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42009" name="Text Box 34"/>
          <p:cNvSpPr txBox="1">
            <a:spLocks noChangeArrowheads="1"/>
          </p:cNvSpPr>
          <p:nvPr/>
        </p:nvSpPr>
        <p:spPr bwMode="auto">
          <a:xfrm>
            <a:off x="4191000" y="2819400"/>
            <a:ext cx="69632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US" sz="1600" dirty="0">
                <a:latin typeface="Century Gothic"/>
                <a:cs typeface="Century Gothic"/>
              </a:rPr>
              <a:t>$1.00</a:t>
            </a:r>
          </a:p>
        </p:txBody>
      </p:sp>
      <p:sp>
        <p:nvSpPr>
          <p:cNvPr id="42010" name="Text Box 35"/>
          <p:cNvSpPr txBox="1">
            <a:spLocks noChangeArrowheads="1"/>
          </p:cNvSpPr>
          <p:nvPr/>
        </p:nvSpPr>
        <p:spPr bwMode="auto">
          <a:xfrm>
            <a:off x="4419600" y="3962400"/>
            <a:ext cx="46889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US" sz="1600" dirty="0">
                <a:latin typeface="Century Gothic"/>
                <a:cs typeface="Century Gothic"/>
              </a:rPr>
              <a:t>.50</a:t>
            </a:r>
          </a:p>
        </p:txBody>
      </p:sp>
      <p:sp>
        <p:nvSpPr>
          <p:cNvPr id="42011" name="Text Box 36"/>
          <p:cNvSpPr txBox="1">
            <a:spLocks noChangeArrowheads="1"/>
          </p:cNvSpPr>
          <p:nvPr/>
        </p:nvSpPr>
        <p:spPr bwMode="auto">
          <a:xfrm>
            <a:off x="5622925" y="5395913"/>
            <a:ext cx="41209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US" sz="1600" dirty="0">
                <a:latin typeface="Century Gothic"/>
                <a:cs typeface="Century Gothic"/>
              </a:rPr>
              <a:t>10</a:t>
            </a:r>
          </a:p>
        </p:txBody>
      </p:sp>
      <p:sp>
        <p:nvSpPr>
          <p:cNvPr id="42012" name="Text Box 37"/>
          <p:cNvSpPr txBox="1">
            <a:spLocks noChangeArrowheads="1"/>
          </p:cNvSpPr>
          <p:nvPr/>
        </p:nvSpPr>
        <p:spPr bwMode="auto">
          <a:xfrm>
            <a:off x="6781800" y="5410200"/>
            <a:ext cx="58261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US" sz="1600" dirty="0">
                <a:latin typeface="Century Gothic"/>
                <a:cs typeface="Century Gothic"/>
              </a:rPr>
              <a:t>14.2</a:t>
            </a:r>
          </a:p>
        </p:txBody>
      </p:sp>
      <p:sp>
        <p:nvSpPr>
          <p:cNvPr id="42013" name="Text Box 25"/>
          <p:cNvSpPr txBox="1">
            <a:spLocks noChangeArrowheads="1"/>
          </p:cNvSpPr>
          <p:nvPr/>
        </p:nvSpPr>
        <p:spPr bwMode="auto">
          <a:xfrm>
            <a:off x="7415213" y="4572000"/>
            <a:ext cx="4453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eaLnBrk="0" hangingPunct="0">
              <a:defRPr b="1">
                <a:solidFill>
                  <a:schemeClr val="accent1"/>
                </a:solidFill>
                <a:latin typeface="Candara" pitchFamily="34" charset="0"/>
                <a:cs typeface="Arial" charset="0"/>
              </a:defRPr>
            </a:lvl1pPr>
            <a:lvl2pPr marL="742950" indent="-285750" eaLnBrk="0" hangingPunct="0">
              <a:defRPr>
                <a:latin typeface="Calibri" pitchFamily="34" charset="0"/>
                <a:cs typeface="Arial" charset="0"/>
              </a:defRPr>
            </a:lvl2pPr>
            <a:lvl3pPr marL="1143000" indent="-228600" eaLnBrk="0" hangingPunct="0">
              <a:defRPr>
                <a:latin typeface="Calibri" pitchFamily="34" charset="0"/>
                <a:cs typeface="Arial" charset="0"/>
              </a:defRPr>
            </a:lvl3pPr>
            <a:lvl4pPr marL="1600200" indent="-228600" eaLnBrk="0" hangingPunct="0">
              <a:defRPr>
                <a:latin typeface="Calibri" pitchFamily="34" charset="0"/>
                <a:cs typeface="Arial" charset="0"/>
              </a:defRPr>
            </a:lvl4pPr>
            <a:lvl5pPr marL="2057400" indent="-228600" eaLnBrk="0" hangingPunct="0">
              <a:defRPr>
                <a:latin typeface="Calibri" pitchFamily="34" charset="0"/>
                <a:cs typeface="Arial" charset="0"/>
              </a:defRPr>
            </a:lvl5pPr>
            <a:lvl6pPr marL="2514600" indent="-228600" eaLnBrk="0" fontAlgn="base" hangingPunct="0">
              <a:spcBef>
                <a:spcPct val="0"/>
              </a:spcBef>
              <a:spcAft>
                <a:spcPct val="0"/>
              </a:spcAft>
              <a:defRPr>
                <a:latin typeface="Calibri" pitchFamily="34" charset="0"/>
                <a:cs typeface="Arial" charset="0"/>
              </a:defRPr>
            </a:lvl6pPr>
            <a:lvl7pPr marL="2971800" indent="-228600" eaLnBrk="0" fontAlgn="base" hangingPunct="0">
              <a:spcBef>
                <a:spcPct val="0"/>
              </a:spcBef>
              <a:spcAft>
                <a:spcPct val="0"/>
              </a:spcAft>
              <a:defRPr>
                <a:latin typeface="Calibri" pitchFamily="34" charset="0"/>
                <a:cs typeface="Arial" charset="0"/>
              </a:defRPr>
            </a:lvl7pPr>
            <a:lvl8pPr marL="3429000" indent="-228600" eaLnBrk="0" fontAlgn="base" hangingPunct="0">
              <a:spcBef>
                <a:spcPct val="0"/>
              </a:spcBef>
              <a:spcAft>
                <a:spcPct val="0"/>
              </a:spcAft>
              <a:defRPr>
                <a:latin typeface="Calibri" pitchFamily="34" charset="0"/>
                <a:cs typeface="Arial" charset="0"/>
              </a:defRPr>
            </a:lvl8pPr>
            <a:lvl9pPr marL="3886200" indent="-228600" eaLnBrk="0" fontAlgn="base" hangingPunct="0">
              <a:spcBef>
                <a:spcPct val="0"/>
              </a:spcBef>
              <a:spcAft>
                <a:spcPct val="0"/>
              </a:spcAft>
              <a:defRPr>
                <a:latin typeface="Calibri" pitchFamily="34" charset="0"/>
                <a:cs typeface="Arial" charset="0"/>
              </a:defRPr>
            </a:lvl9pPr>
          </a:lstStyle>
          <a:p>
            <a:r>
              <a:rPr lang="en-US" i="1" dirty="0">
                <a:latin typeface="Century Gothic"/>
                <a:cs typeface="Century Gothic"/>
              </a:rPr>
              <a:t>D</a:t>
            </a:r>
            <a:r>
              <a:rPr lang="en-US" baseline="-25000" dirty="0">
                <a:latin typeface="Century Gothic"/>
                <a:cs typeface="Century Gothic"/>
              </a:rPr>
              <a:t>1</a:t>
            </a:r>
            <a:endParaRPr lang="en-US" dirty="0">
              <a:latin typeface="Century Gothic"/>
              <a:cs typeface="Century Gothic"/>
            </a:endParaRPr>
          </a:p>
        </p:txBody>
      </p:sp>
      <p:sp>
        <p:nvSpPr>
          <p:cNvPr id="19" name="Oval 21"/>
          <p:cNvSpPr>
            <a:spLocks noChangeArrowheads="1"/>
          </p:cNvSpPr>
          <p:nvPr/>
        </p:nvSpPr>
        <p:spPr bwMode="auto">
          <a:xfrm>
            <a:off x="6934200" y="4067175"/>
            <a:ext cx="152400" cy="152400"/>
          </a:xfrm>
          <a:prstGeom prst="ellipse">
            <a:avLst/>
          </a:prstGeom>
          <a:solidFill>
            <a:schemeClr val="tx1"/>
          </a:solidFill>
          <a:ln w="9525">
            <a:solidFill>
              <a:schemeClr val="tx1"/>
            </a:solidFill>
            <a:round/>
            <a:headEnd/>
            <a:tailEnd/>
          </a:ln>
        </p:spPr>
        <p:txBody>
          <a:bodyPr wrap="none" anchor="ctr"/>
          <a:lstStyle/>
          <a:p>
            <a:pPr eaLnBrk="0" hangingPunct="0"/>
            <a:endParaRPr lang="en-US">
              <a:latin typeface="Century Gothic"/>
              <a:cs typeface="Century Gothic"/>
            </a:endParaRPr>
          </a:p>
        </p:txBody>
      </p:sp>
      <p:sp>
        <p:nvSpPr>
          <p:cNvPr id="35" name="Line 28"/>
          <p:cNvSpPr>
            <a:spLocks noChangeShapeType="1"/>
          </p:cNvSpPr>
          <p:nvPr/>
        </p:nvSpPr>
        <p:spPr bwMode="auto">
          <a:xfrm>
            <a:off x="669925" y="2971800"/>
            <a:ext cx="9144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36" name="Line 29"/>
          <p:cNvSpPr>
            <a:spLocks noChangeShapeType="1"/>
          </p:cNvSpPr>
          <p:nvPr/>
        </p:nvSpPr>
        <p:spPr bwMode="auto">
          <a:xfrm>
            <a:off x="1660525" y="3048000"/>
            <a:ext cx="0" cy="23622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42017" name="Text Box 34"/>
          <p:cNvSpPr txBox="1">
            <a:spLocks noChangeArrowheads="1"/>
          </p:cNvSpPr>
          <p:nvPr/>
        </p:nvSpPr>
        <p:spPr bwMode="auto">
          <a:xfrm>
            <a:off x="76200" y="2819400"/>
            <a:ext cx="69632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US" sz="1600" dirty="0">
                <a:latin typeface="Century Gothic"/>
                <a:cs typeface="Century Gothic"/>
              </a:rPr>
              <a:t>$1.00</a:t>
            </a:r>
          </a:p>
        </p:txBody>
      </p:sp>
      <p:sp>
        <p:nvSpPr>
          <p:cNvPr id="42018" name="Text Box 36"/>
          <p:cNvSpPr txBox="1">
            <a:spLocks noChangeArrowheads="1"/>
          </p:cNvSpPr>
          <p:nvPr/>
        </p:nvSpPr>
        <p:spPr bwMode="auto">
          <a:xfrm>
            <a:off x="1492250" y="5395913"/>
            <a:ext cx="41209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US" sz="1600" dirty="0">
                <a:latin typeface="Century Gothic"/>
                <a:cs typeface="Century Gothic"/>
              </a:rPr>
              <a:t>10</a:t>
            </a:r>
          </a:p>
        </p:txBody>
      </p:sp>
      <p:sp>
        <p:nvSpPr>
          <p:cNvPr id="39" name="Line 31"/>
          <p:cNvSpPr>
            <a:spLocks noChangeShapeType="1"/>
          </p:cNvSpPr>
          <p:nvPr/>
        </p:nvSpPr>
        <p:spPr bwMode="auto">
          <a:xfrm>
            <a:off x="2895600" y="2971800"/>
            <a:ext cx="0" cy="24685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40" name="Line 33"/>
          <p:cNvSpPr>
            <a:spLocks noChangeShapeType="1"/>
          </p:cNvSpPr>
          <p:nvPr/>
        </p:nvSpPr>
        <p:spPr bwMode="auto">
          <a:xfrm>
            <a:off x="685800" y="2971800"/>
            <a:ext cx="219392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41" name="Text Box 37"/>
          <p:cNvSpPr txBox="1">
            <a:spLocks noChangeArrowheads="1"/>
          </p:cNvSpPr>
          <p:nvPr/>
        </p:nvSpPr>
        <p:spPr bwMode="auto">
          <a:xfrm>
            <a:off x="2667000" y="5453063"/>
            <a:ext cx="41209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US" sz="1600" dirty="0">
                <a:latin typeface="Century Gothic"/>
                <a:cs typeface="Century Gothic"/>
              </a:rPr>
              <a:t>15</a:t>
            </a:r>
          </a:p>
        </p:txBody>
      </p:sp>
      <p:sp>
        <p:nvSpPr>
          <p:cNvPr id="42" name="Oval 21"/>
          <p:cNvSpPr>
            <a:spLocks noChangeArrowheads="1"/>
          </p:cNvSpPr>
          <p:nvPr/>
        </p:nvSpPr>
        <p:spPr bwMode="auto">
          <a:xfrm>
            <a:off x="2819400" y="2906713"/>
            <a:ext cx="152400" cy="152400"/>
          </a:xfrm>
          <a:prstGeom prst="ellipse">
            <a:avLst/>
          </a:prstGeom>
          <a:solidFill>
            <a:schemeClr val="tx1"/>
          </a:solidFill>
          <a:ln w="9525">
            <a:solidFill>
              <a:schemeClr val="tx1"/>
            </a:solidFill>
            <a:round/>
            <a:headEnd/>
            <a:tailEnd/>
          </a:ln>
        </p:spPr>
        <p:txBody>
          <a:bodyPr wrap="none" anchor="ctr"/>
          <a:lstStyle/>
          <a:p>
            <a:pPr eaLnBrk="0" hangingPunct="0"/>
            <a:endParaRPr lang="en-US">
              <a:latin typeface="Century Gothic"/>
              <a:cs typeface="Century Gothic"/>
            </a:endParaRPr>
          </a:p>
        </p:txBody>
      </p:sp>
      <p:sp>
        <p:nvSpPr>
          <p:cNvPr id="42023" name="Oval 21"/>
          <p:cNvSpPr>
            <a:spLocks noChangeArrowheads="1"/>
          </p:cNvSpPr>
          <p:nvPr/>
        </p:nvSpPr>
        <p:spPr bwMode="auto">
          <a:xfrm>
            <a:off x="1577975" y="2917825"/>
            <a:ext cx="152400" cy="152400"/>
          </a:xfrm>
          <a:prstGeom prst="ellipse">
            <a:avLst/>
          </a:prstGeom>
          <a:solidFill>
            <a:schemeClr val="tx1"/>
          </a:solidFill>
          <a:ln w="9525">
            <a:solidFill>
              <a:schemeClr val="tx1"/>
            </a:solidFill>
            <a:round/>
            <a:headEnd/>
            <a:tailEnd/>
          </a:ln>
        </p:spPr>
        <p:txBody>
          <a:bodyPr wrap="none" anchor="ctr"/>
          <a:lstStyle/>
          <a:p>
            <a:pPr eaLnBrk="0" hangingPunct="0"/>
            <a:endParaRPr lang="en-US">
              <a:latin typeface="Century Gothic"/>
              <a:cs typeface="Century Gothic"/>
            </a:endParaRPr>
          </a:p>
        </p:txBody>
      </p:sp>
      <p:sp>
        <p:nvSpPr>
          <p:cNvPr id="44" name="Oval 43"/>
          <p:cNvSpPr/>
          <p:nvPr/>
        </p:nvSpPr>
        <p:spPr>
          <a:xfrm>
            <a:off x="8382000" y="6096000"/>
            <a:ext cx="744538" cy="747713"/>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Century Gothic"/>
              <a:cs typeface="Century Gothic"/>
            </a:endParaRPr>
          </a:p>
        </p:txBody>
      </p:sp>
      <p:sp>
        <p:nvSpPr>
          <p:cNvPr id="42026" name="TextBox 44">
            <a:hlinkClick r:id="rId3" action="ppaction://hlinksldjump"/>
          </p:cNvPr>
          <p:cNvSpPr txBox="1">
            <a:spLocks noChangeArrowheads="1"/>
          </p:cNvSpPr>
          <p:nvPr/>
        </p:nvSpPr>
        <p:spPr bwMode="auto">
          <a:xfrm>
            <a:off x="8428038" y="6203950"/>
            <a:ext cx="6699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900" dirty="0">
                <a:latin typeface="Century Gothic"/>
                <a:cs typeface="Century Gothic"/>
                <a:hlinkClick r:id="rId3" action="ppaction://hlinksldjump"/>
              </a:rPr>
              <a:t>Back to Table of contents</a:t>
            </a:r>
            <a:endParaRPr lang="en-US" sz="900" dirty="0">
              <a:latin typeface="Century Gothic"/>
              <a:cs typeface="Century Gothic"/>
            </a:endParaRPr>
          </a:p>
          <a:p>
            <a:pPr eaLnBrk="1" hangingPunct="1"/>
            <a:endParaRPr lang="en-US" sz="900" dirty="0">
              <a:latin typeface="Century Gothic"/>
              <a:cs typeface="Century Gothic"/>
            </a:endParaRPr>
          </a:p>
        </p:txBody>
      </p:sp>
    </p:spTree>
    <p:extLst>
      <p:ext uri="{BB962C8B-B14F-4D97-AF65-F5344CB8AC3E}">
        <p14:creationId xmlns:p14="http://schemas.microsoft.com/office/powerpoint/2010/main" val="2807566695"/>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right)">
                                      <p:cBhvr>
                                        <p:cTn id="7" dur="1000"/>
                                        <p:tgtEl>
                                          <p:spTgt spid="35"/>
                                        </p:tgtEl>
                                      </p:cBhvr>
                                    </p:animEffect>
                                  </p:childTnLst>
                                </p:cTn>
                              </p:par>
                            </p:childTnLst>
                          </p:cTn>
                        </p:par>
                        <p:par>
                          <p:cTn id="8" fill="hold" nodeType="afterGroup">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wipe(up)">
                                      <p:cBhvr>
                                        <p:cTn id="11" dur="1000"/>
                                        <p:tgtEl>
                                          <p:spTgt spid="3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0"/>
                                        </p:tgtEl>
                                        <p:attrNameLst>
                                          <p:attrName>style.visibility</p:attrName>
                                        </p:attrNameLst>
                                      </p:cBhvr>
                                      <p:to>
                                        <p:strVal val="visible"/>
                                      </p:to>
                                    </p:set>
                                    <p:animEffect transition="in" filter="wipe(left)">
                                      <p:cBhvr>
                                        <p:cTn id="16" dur="500"/>
                                        <p:tgtEl>
                                          <p:spTgt spid="40"/>
                                        </p:tgtEl>
                                      </p:cBhvr>
                                    </p:animEffect>
                                  </p:childTnLst>
                                </p:cTn>
                              </p:par>
                            </p:childTnLst>
                          </p:cTn>
                        </p:par>
                        <p:par>
                          <p:cTn id="17" fill="hold" nodeType="afterGroup">
                            <p:stCondLst>
                              <p:cond delay="500"/>
                            </p:stCondLst>
                            <p:childTnLst>
                              <p:par>
                                <p:cTn id="18" presetID="22" presetClass="entr" presetSubtype="1" fill="hold" grpId="0" nodeType="after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wipe(up)">
                                      <p:cBhvr>
                                        <p:cTn id="20" dur="500"/>
                                        <p:tgtEl>
                                          <p:spTgt spid="39"/>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wipe(up)">
                                      <p:cBhvr>
                                        <p:cTn id="23" dur="500"/>
                                        <p:tgtEl>
                                          <p:spTgt spid="41"/>
                                        </p:tgtEl>
                                      </p:cBhvr>
                                    </p:animEffect>
                                  </p:childTnLst>
                                </p:cTn>
                              </p:par>
                              <p:par>
                                <p:cTn id="24" presetID="1" presetClass="entr" presetSubtype="0" fill="hold" grpId="0" nodeType="withEffect">
                                  <p:stCondLst>
                                    <p:cond delay="0"/>
                                  </p:stCondLst>
                                  <p:childTnLst>
                                    <p:set>
                                      <p:cBhvr>
                                        <p:cTn id="25" dur="1" fill="hold">
                                          <p:stCondLst>
                                            <p:cond delay="0"/>
                                          </p:stCondLst>
                                        </p:cTn>
                                        <p:tgtEl>
                                          <p:spTgt spid="42"/>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up)">
                                      <p:cBhvr>
                                        <p:cTn id="30" dur="1000"/>
                                        <p:tgtEl>
                                          <p:spTgt spid="17"/>
                                        </p:tgtEl>
                                      </p:cBhvr>
                                    </p:animEffect>
                                  </p:childTnLst>
                                </p:cTn>
                              </p:par>
                            </p:childTnLst>
                          </p:cTn>
                        </p:par>
                        <p:par>
                          <p:cTn id="31" fill="hold" nodeType="afterGroup">
                            <p:stCondLst>
                              <p:cond delay="1000"/>
                            </p:stCondLst>
                            <p:childTnLst>
                              <p:par>
                                <p:cTn id="32" presetID="1" presetClass="entr" presetSubtype="0" fill="hold" grpId="0" nodeType="afterEffect">
                                  <p:stCondLst>
                                    <p:cond delay="0"/>
                                  </p:stCondLst>
                                  <p:childTnLst>
                                    <p:set>
                                      <p:cBhvr>
                                        <p:cTn id="33" dur="1" fill="hold">
                                          <p:stCondLst>
                                            <p:cond delay="0"/>
                                          </p:stCondLst>
                                        </p:cTn>
                                        <p:tgtEl>
                                          <p:spTgt spid="25"/>
                                        </p:tgtEl>
                                        <p:attrNameLst>
                                          <p:attrName>style.visibility</p:attrName>
                                        </p:attrNameLst>
                                      </p:cBhvr>
                                      <p:to>
                                        <p:strVal val="visible"/>
                                      </p:to>
                                    </p:set>
                                  </p:childTnLst>
                                </p:cTn>
                              </p:par>
                            </p:childTnLst>
                          </p:cTn>
                        </p:par>
                        <p:par>
                          <p:cTn id="34" fill="hold" nodeType="afterGroup">
                            <p:stCondLst>
                              <p:cond delay="1000"/>
                            </p:stCondLst>
                            <p:childTnLst>
                              <p:par>
                                <p:cTn id="35" presetID="22" presetClass="entr" presetSubtype="8" fill="hold" grpId="0" nodeType="after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wipe(left)">
                                      <p:cBhvr>
                                        <p:cTn id="37" dur="1000"/>
                                        <p:tgtEl>
                                          <p:spTgt spid="2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2000"/>
                                        <p:tgtEl>
                                          <p:spTgt spid="1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par>
                          <p:cTn id="47" fill="hold" nodeType="afterGroup">
                            <p:stCondLst>
                              <p:cond delay="0"/>
                            </p:stCondLst>
                            <p:childTnLst>
                              <p:par>
                                <p:cTn id="48" presetID="22" presetClass="entr" presetSubtype="2" fill="hold" grpId="0" nodeType="afterEffect">
                                  <p:stCondLst>
                                    <p:cond delay="0"/>
                                  </p:stCondLst>
                                  <p:childTnLst>
                                    <p:set>
                                      <p:cBhvr>
                                        <p:cTn id="49" dur="1" fill="hold">
                                          <p:stCondLst>
                                            <p:cond delay="0"/>
                                          </p:stCondLst>
                                        </p:cTn>
                                        <p:tgtEl>
                                          <p:spTgt spid="26"/>
                                        </p:tgtEl>
                                        <p:attrNameLst>
                                          <p:attrName>style.visibility</p:attrName>
                                        </p:attrNameLst>
                                      </p:cBhvr>
                                      <p:to>
                                        <p:strVal val="visible"/>
                                      </p:to>
                                    </p:set>
                                    <p:animEffect transition="in" filter="wipe(right)">
                                      <p:cBhvr>
                                        <p:cTn id="50" dur="1000"/>
                                        <p:tgtEl>
                                          <p:spTgt spid="26"/>
                                        </p:tgtEl>
                                      </p:cBhvr>
                                    </p:animEffect>
                                  </p:childTnLst>
                                </p:cTn>
                              </p:par>
                            </p:childTnLst>
                          </p:cTn>
                        </p:par>
                        <p:par>
                          <p:cTn id="51" fill="hold" nodeType="afterGroup">
                            <p:stCondLst>
                              <p:cond delay="1000"/>
                            </p:stCondLst>
                            <p:childTnLst>
                              <p:par>
                                <p:cTn id="52" presetID="22" presetClass="entr" presetSubtype="1" fill="hold" grpId="0" nodeType="after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wipe(up)">
                                      <p:cBhvr>
                                        <p:cTn id="54" dur="1000"/>
                                        <p:tgtEl>
                                          <p:spTgt spid="27"/>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childTnLst>
                          </p:cTn>
                        </p:par>
                        <p:par>
                          <p:cTn id="59" fill="hold" nodeType="afterGroup">
                            <p:stCondLst>
                              <p:cond delay="0"/>
                            </p:stCondLst>
                            <p:childTnLst>
                              <p:par>
                                <p:cTn id="60" presetID="22" presetClass="entr" presetSubtype="2" fill="hold" grpId="0" nodeType="after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wipe(right)">
                                      <p:cBhvr>
                                        <p:cTn id="62" dur="1000"/>
                                        <p:tgtEl>
                                          <p:spTgt spid="29"/>
                                        </p:tgtEl>
                                      </p:cBhvr>
                                    </p:animEffect>
                                  </p:childTnLst>
                                </p:cTn>
                              </p:par>
                            </p:childTnLst>
                          </p:cTn>
                        </p:par>
                        <p:par>
                          <p:cTn id="63" fill="hold" nodeType="afterGroup">
                            <p:stCondLst>
                              <p:cond delay="1000"/>
                            </p:stCondLst>
                            <p:childTnLst>
                              <p:par>
                                <p:cTn id="64" presetID="22" presetClass="entr" presetSubtype="1" fill="hold" grpId="0" nodeType="after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wipe(up)">
                                      <p:cBhvr>
                                        <p:cTn id="66" dur="1000"/>
                                        <p:tgtEl>
                                          <p:spTgt spid="28"/>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1" fill="hold" grpId="0" nodeType="click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wipe(up)">
                                      <p:cBhvr>
                                        <p:cTn id="71" dur="1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7" grpId="0" animBg="1"/>
      <p:bldP spid="20" grpId="0" animBg="1"/>
      <p:bldP spid="22" grpId="0" animBg="1"/>
      <p:bldP spid="25" grpId="0"/>
      <p:bldP spid="26" grpId="0" animBg="1"/>
      <p:bldP spid="27" grpId="0" animBg="1"/>
      <p:bldP spid="28" grpId="0" animBg="1"/>
      <p:bldP spid="29" grpId="0" animBg="1"/>
      <p:bldP spid="19" grpId="0" animBg="1"/>
      <p:bldP spid="35" grpId="0" animBg="1"/>
      <p:bldP spid="36" grpId="0" animBg="1"/>
      <p:bldP spid="39" grpId="0" animBg="1"/>
      <p:bldP spid="40" grpId="0" animBg="1"/>
      <p:bldP spid="41" grpId="0"/>
      <p:bldP spid="42"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bg>
      <p:bgPr>
        <a:blipFill dpi="0" rotWithShape="1">
          <a:blip r:embed="rId3"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a:solidFill>
            <a:schemeClr val="accent5">
              <a:lumMod val="20000"/>
              <a:lumOff val="80000"/>
              <a:alpha val="76000"/>
            </a:schemeClr>
          </a:solidFill>
        </p:spPr>
        <p:txBody>
          <a:bodyPr>
            <a:noAutofit/>
          </a:bodyPr>
          <a:lstStyle/>
          <a:p>
            <a:r>
              <a:rPr lang="en-US" sz="3600" dirty="0"/>
              <a:t>THE DEMAND SCHEDULE AND THE DEMAND CURVE</a:t>
            </a:r>
          </a:p>
        </p:txBody>
      </p:sp>
      <p:sp>
        <p:nvSpPr>
          <p:cNvPr id="3" name="Content Placeholder 2"/>
          <p:cNvSpPr>
            <a:spLocks noGrp="1"/>
          </p:cNvSpPr>
          <p:nvPr>
            <p:ph idx="1"/>
          </p:nvPr>
        </p:nvSpPr>
        <p:spPr>
          <a:xfrm>
            <a:off x="0" y="5257800"/>
            <a:ext cx="9144000" cy="990600"/>
          </a:xfrm>
          <a:solidFill>
            <a:schemeClr val="tx1">
              <a:alpha val="73000"/>
            </a:schemeClr>
          </a:solidFill>
        </p:spPr>
        <p:txBody>
          <a:bodyPr>
            <a:normAutofit/>
          </a:bodyPr>
          <a:lstStyle/>
          <a:p>
            <a:r>
              <a:rPr lang="en-US" sz="2800" dirty="0">
                <a:solidFill>
                  <a:schemeClr val="bg1"/>
                </a:solidFill>
              </a:rPr>
              <a:t>The Law of demand: </a:t>
            </a:r>
            <a:r>
              <a:rPr lang="en-US" sz="2800" b="0" dirty="0">
                <a:solidFill>
                  <a:schemeClr val="bg1"/>
                </a:solidFill>
              </a:rPr>
              <a:t>a higher price for a good or service leads people to demand a smaller quantity.</a:t>
            </a:r>
            <a:endParaRPr lang="en-US" sz="2800" dirty="0">
              <a:solidFill>
                <a:schemeClr val="bg1"/>
              </a:solidFill>
            </a:endParaRPr>
          </a:p>
        </p:txBody>
      </p:sp>
    </p:spTree>
    <p:extLst>
      <p:ext uri="{BB962C8B-B14F-4D97-AF65-F5344CB8AC3E}">
        <p14:creationId xmlns:p14="http://schemas.microsoft.com/office/powerpoint/2010/main" val="41249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Title 4"/>
          <p:cNvSpPr>
            <a:spLocks noGrp="1"/>
          </p:cNvSpPr>
          <p:nvPr>
            <p:ph type="title"/>
          </p:nvPr>
        </p:nvSpPr>
        <p:spPr/>
        <p:txBody>
          <a:bodyPr wrap="square" numCol="1" anchorCtr="0" compatLnSpc="1">
            <a:prstTxWarp prst="textNoShape">
              <a:avLst/>
            </a:prstTxWarp>
            <a:norm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auto" hangingPunct="1">
              <a:spcAft>
                <a:spcPts val="0"/>
              </a:spcAft>
              <a:defRPr/>
            </a:pPr>
            <a:r>
              <a:rPr lang="en-US" sz="3600" dirty="0">
                <a:solidFill>
                  <a:srgbClr val="9BBB59"/>
                </a:solidFill>
                <a:latin typeface="Century Gothic"/>
              </a:rPr>
              <a:t>SHIFTS OF THE DEMAND CURVE</a:t>
            </a:r>
          </a:p>
        </p:txBody>
      </p:sp>
      <p:sp>
        <p:nvSpPr>
          <p:cNvPr id="43011" name="Content Placeholder 8"/>
          <p:cNvSpPr>
            <a:spLocks noGrp="1"/>
          </p:cNvSpPr>
          <p:nvPr>
            <p:ph idx="1"/>
          </p:nvPr>
        </p:nvSpPr>
        <p:spPr/>
        <p:txBody>
          <a:bodyPr/>
          <a:lstStyle/>
          <a:p>
            <a:r>
              <a:rPr lang="en-US" dirty="0"/>
              <a:t> </a:t>
            </a:r>
          </a:p>
        </p:txBody>
      </p:sp>
      <p:grpSp>
        <p:nvGrpSpPr>
          <p:cNvPr id="2" name="Group 45"/>
          <p:cNvGrpSpPr>
            <a:grpSpLocks/>
          </p:cNvGrpSpPr>
          <p:nvPr/>
        </p:nvGrpSpPr>
        <p:grpSpPr bwMode="auto">
          <a:xfrm>
            <a:off x="990600" y="1535113"/>
            <a:ext cx="7543800" cy="5077353"/>
            <a:chOff x="990600" y="1752600"/>
            <a:chExt cx="7543800" cy="5076212"/>
          </a:xfrm>
        </p:grpSpPr>
        <p:cxnSp>
          <p:nvCxnSpPr>
            <p:cNvPr id="47" name="Straight Connector 46"/>
            <p:cNvCxnSpPr/>
            <p:nvPr/>
          </p:nvCxnSpPr>
          <p:spPr bwMode="auto">
            <a:xfrm rot="5400000">
              <a:off x="4077691" y="5370492"/>
              <a:ext cx="1752206" cy="1588"/>
            </a:xfrm>
            <a:prstGeom prst="line">
              <a:avLst/>
            </a:prstGeom>
            <a:ln>
              <a:solidFill>
                <a:schemeClr val="accent1">
                  <a:lumMod val="60000"/>
                  <a:lumOff val="40000"/>
                </a:schemeClr>
              </a:solidFill>
              <a:prstDash val="dash"/>
            </a:ln>
          </p:spPr>
          <p:style>
            <a:lnRef idx="1">
              <a:schemeClr val="dk1"/>
            </a:lnRef>
            <a:fillRef idx="0">
              <a:schemeClr val="dk1"/>
            </a:fillRef>
            <a:effectRef idx="0">
              <a:schemeClr val="dk1"/>
            </a:effectRef>
            <a:fontRef idx="minor">
              <a:schemeClr val="tx1"/>
            </a:fontRef>
          </p:style>
        </p:cxnSp>
        <p:cxnSp>
          <p:nvCxnSpPr>
            <p:cNvPr id="48" name="Straight Connector 47"/>
            <p:cNvCxnSpPr/>
            <p:nvPr/>
          </p:nvCxnSpPr>
          <p:spPr bwMode="auto">
            <a:xfrm rot="10800000">
              <a:off x="1828800" y="2742977"/>
              <a:ext cx="1371600" cy="1587"/>
            </a:xfrm>
            <a:prstGeom prst="line">
              <a:avLst/>
            </a:prstGeom>
            <a:ln>
              <a:solidFill>
                <a:schemeClr val="accent1">
                  <a:lumMod val="60000"/>
                  <a:lumOff val="40000"/>
                </a:schemeClr>
              </a:solidFill>
              <a:prstDash val="dash"/>
            </a:ln>
          </p:spPr>
          <p:style>
            <a:lnRef idx="1">
              <a:schemeClr val="dk1"/>
            </a:lnRef>
            <a:fillRef idx="0">
              <a:schemeClr val="dk1"/>
            </a:fillRef>
            <a:effectRef idx="0">
              <a:schemeClr val="dk1"/>
            </a:effectRef>
            <a:fontRef idx="minor">
              <a:schemeClr val="tx1"/>
            </a:fontRef>
          </p:style>
        </p:cxnSp>
        <p:sp>
          <p:nvSpPr>
            <p:cNvPr id="43040" name="TextBox 51"/>
            <p:cNvSpPr txBox="1">
              <a:spLocks noChangeArrowheads="1"/>
            </p:cNvSpPr>
            <p:nvPr/>
          </p:nvSpPr>
          <p:spPr bwMode="auto">
            <a:xfrm>
              <a:off x="990600" y="2514513"/>
              <a:ext cx="443225" cy="36924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b="1" dirty="0">
                  <a:latin typeface="Century Gothic"/>
                  <a:cs typeface="Century Gothic"/>
                </a:rPr>
                <a:t>$2</a:t>
              </a:r>
            </a:p>
          </p:txBody>
        </p:sp>
        <p:sp>
          <p:nvSpPr>
            <p:cNvPr id="43041" name="TextBox 53"/>
            <p:cNvSpPr txBox="1">
              <a:spLocks noChangeArrowheads="1"/>
            </p:cNvSpPr>
            <p:nvPr/>
          </p:nvSpPr>
          <p:spPr bwMode="auto">
            <a:xfrm>
              <a:off x="4724400" y="6459563"/>
              <a:ext cx="313946" cy="36924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b="1" dirty="0">
                  <a:latin typeface="Century Gothic"/>
                  <a:cs typeface="Century Gothic"/>
                </a:rPr>
                <a:t>8</a:t>
              </a:r>
            </a:p>
          </p:txBody>
        </p:sp>
        <p:sp>
          <p:nvSpPr>
            <p:cNvPr id="43042" name="TextBox 55"/>
            <p:cNvSpPr txBox="1">
              <a:spLocks noChangeArrowheads="1"/>
            </p:cNvSpPr>
            <p:nvPr/>
          </p:nvSpPr>
          <p:spPr bwMode="auto">
            <a:xfrm>
              <a:off x="6934200" y="4800252"/>
              <a:ext cx="1600200" cy="33847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US" sz="1600" b="1" i="1" dirty="0">
                  <a:solidFill>
                    <a:schemeClr val="accent1">
                      <a:lumMod val="75000"/>
                    </a:schemeClr>
                  </a:solidFill>
                  <a:latin typeface="Century Gothic"/>
                  <a:cs typeface="Century Gothic"/>
                </a:rPr>
                <a:t>D</a:t>
              </a:r>
              <a:r>
                <a:rPr lang="en-US" sz="1600" b="1" dirty="0">
                  <a:solidFill>
                    <a:schemeClr val="accent1">
                      <a:lumMod val="75000"/>
                    </a:schemeClr>
                  </a:solidFill>
                  <a:latin typeface="Century Gothic"/>
                  <a:cs typeface="Century Gothic"/>
                </a:rPr>
                <a:t>1</a:t>
              </a:r>
            </a:p>
          </p:txBody>
        </p:sp>
        <p:cxnSp>
          <p:nvCxnSpPr>
            <p:cNvPr id="52" name="Straight Connector 51"/>
            <p:cNvCxnSpPr/>
            <p:nvPr/>
          </p:nvCxnSpPr>
          <p:spPr bwMode="auto">
            <a:xfrm rot="5400000" flipH="1" flipV="1">
              <a:off x="2325091" y="3618287"/>
              <a:ext cx="1750618" cy="0"/>
            </a:xfrm>
            <a:prstGeom prst="line">
              <a:avLst/>
            </a:prstGeom>
            <a:ln>
              <a:solidFill>
                <a:schemeClr val="accent1">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auto">
            <a:xfrm>
              <a:off x="3200400" y="4495183"/>
              <a:ext cx="1752600" cy="1587"/>
            </a:xfrm>
            <a:prstGeom prst="line">
              <a:avLst/>
            </a:prstGeom>
            <a:ln>
              <a:solidFill>
                <a:schemeClr val="accent1">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43045" name="Freeform 53"/>
            <p:cNvSpPr>
              <a:spLocks noChangeArrowheads="1"/>
            </p:cNvSpPr>
            <p:nvPr/>
          </p:nvSpPr>
          <p:spPr bwMode="auto">
            <a:xfrm>
              <a:off x="2971800" y="1752600"/>
              <a:ext cx="3962400" cy="3428608"/>
            </a:xfrm>
            <a:custGeom>
              <a:avLst/>
              <a:gdLst>
                <a:gd name="T0" fmla="*/ 0 w 2008909"/>
                <a:gd name="T1" fmla="*/ 0 h 2216727"/>
                <a:gd name="T2" fmla="*/ 74714348 w 2008909"/>
                <a:gd name="T3" fmla="*/ 33946827 h 2216727"/>
                <a:gd name="T4" fmla="*/ 300932273 w 2008909"/>
                <a:gd name="T5" fmla="*/ 54863520 h 2216727"/>
                <a:gd name="T6" fmla="*/ 0 60000 65536"/>
                <a:gd name="T7" fmla="*/ 0 60000 65536"/>
                <a:gd name="T8" fmla="*/ 0 60000 65536"/>
                <a:gd name="T9" fmla="*/ 0 w 2008909"/>
                <a:gd name="T10" fmla="*/ 0 h 2216727"/>
                <a:gd name="T11" fmla="*/ 2008909 w 2008909"/>
                <a:gd name="T12" fmla="*/ 2216727 h 2216727"/>
              </a:gdLst>
              <a:ahLst/>
              <a:cxnLst>
                <a:cxn ang="T6">
                  <a:pos x="T0" y="T1"/>
                </a:cxn>
                <a:cxn ang="T7">
                  <a:pos x="T2" y="T3"/>
                </a:cxn>
                <a:cxn ang="T8">
                  <a:pos x="T4" y="T5"/>
                </a:cxn>
              </a:cxnLst>
              <a:rect l="T9" t="T10" r="T11" b="T12"/>
              <a:pathLst>
                <a:path w="2008909" h="2216727">
                  <a:moveTo>
                    <a:pt x="0" y="0"/>
                  </a:moveTo>
                  <a:cubicBezTo>
                    <a:pt x="81973" y="501073"/>
                    <a:pt x="163946" y="1002146"/>
                    <a:pt x="498764" y="1371600"/>
                  </a:cubicBezTo>
                  <a:cubicBezTo>
                    <a:pt x="833582" y="1741054"/>
                    <a:pt x="1421245" y="1978890"/>
                    <a:pt x="2008909" y="2216727"/>
                  </a:cubicBezTo>
                </a:path>
              </a:pathLst>
            </a:custGeom>
            <a:noFill/>
            <a:ln w="38100" algn="ctr">
              <a:solidFill>
                <a:schemeClr val="accent1">
                  <a:lumMod val="60000"/>
                  <a:lumOff val="40000"/>
                </a:schemeClr>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endParaRPr lang="en-US">
                <a:latin typeface="Century Gothic"/>
                <a:cs typeface="Century Gothic"/>
              </a:endParaRPr>
            </a:p>
          </p:txBody>
        </p:sp>
        <p:cxnSp>
          <p:nvCxnSpPr>
            <p:cNvPr id="55" name="Straight Connector 54"/>
            <p:cNvCxnSpPr/>
            <p:nvPr/>
          </p:nvCxnSpPr>
          <p:spPr bwMode="auto">
            <a:xfrm rot="10800000">
              <a:off x="1828800" y="4495183"/>
              <a:ext cx="1371600" cy="1587"/>
            </a:xfrm>
            <a:prstGeom prst="line">
              <a:avLst/>
            </a:prstGeom>
            <a:ln>
              <a:solidFill>
                <a:schemeClr val="accent1">
                  <a:lumMod val="60000"/>
                  <a:lumOff val="40000"/>
                </a:schemeClr>
              </a:solidFill>
              <a:prstDash val="dash"/>
            </a:ln>
          </p:spPr>
          <p:style>
            <a:lnRef idx="1">
              <a:schemeClr val="dk1"/>
            </a:lnRef>
            <a:fillRef idx="0">
              <a:schemeClr val="dk1"/>
            </a:fillRef>
            <a:effectRef idx="0">
              <a:schemeClr val="dk1"/>
            </a:effectRef>
            <a:fontRef idx="minor">
              <a:schemeClr val="tx1"/>
            </a:fontRef>
          </p:style>
        </p:cxnSp>
        <p:cxnSp>
          <p:nvCxnSpPr>
            <p:cNvPr id="56" name="Straight Connector 55"/>
            <p:cNvCxnSpPr/>
            <p:nvPr/>
          </p:nvCxnSpPr>
          <p:spPr bwMode="auto">
            <a:xfrm rot="5400000">
              <a:off x="2325885" y="5369698"/>
              <a:ext cx="1752206" cy="3175"/>
            </a:xfrm>
            <a:prstGeom prst="line">
              <a:avLst/>
            </a:prstGeom>
            <a:ln>
              <a:solidFill>
                <a:schemeClr val="accent1">
                  <a:lumMod val="60000"/>
                  <a:lumOff val="40000"/>
                </a:schemeClr>
              </a:solidFill>
              <a:prstDash val="dash"/>
            </a:ln>
          </p:spPr>
          <p:style>
            <a:lnRef idx="1">
              <a:schemeClr val="dk1"/>
            </a:lnRef>
            <a:fillRef idx="0">
              <a:schemeClr val="dk1"/>
            </a:fillRef>
            <a:effectRef idx="0">
              <a:schemeClr val="dk1"/>
            </a:effectRef>
            <a:fontRef idx="minor">
              <a:schemeClr val="tx1"/>
            </a:fontRef>
          </p:style>
        </p:cxnSp>
        <p:sp>
          <p:nvSpPr>
            <p:cNvPr id="43048" name="TextBox 50"/>
            <p:cNvSpPr txBox="1">
              <a:spLocks noChangeArrowheads="1"/>
            </p:cNvSpPr>
            <p:nvPr/>
          </p:nvSpPr>
          <p:spPr bwMode="auto">
            <a:xfrm>
              <a:off x="990600" y="4266913"/>
              <a:ext cx="443225" cy="36924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b="1" dirty="0">
                  <a:latin typeface="Century Gothic"/>
                  <a:cs typeface="Century Gothic"/>
                </a:rPr>
                <a:t>$1</a:t>
              </a:r>
            </a:p>
          </p:txBody>
        </p:sp>
        <p:sp>
          <p:nvSpPr>
            <p:cNvPr id="43049" name="TextBox 53"/>
            <p:cNvSpPr txBox="1">
              <a:spLocks noChangeArrowheads="1"/>
            </p:cNvSpPr>
            <p:nvPr/>
          </p:nvSpPr>
          <p:spPr bwMode="auto">
            <a:xfrm>
              <a:off x="2971800" y="6400269"/>
              <a:ext cx="313946" cy="36924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b="1" dirty="0">
                  <a:latin typeface="Century Gothic"/>
                  <a:cs typeface="Century Gothic"/>
                </a:rPr>
                <a:t>7</a:t>
              </a:r>
            </a:p>
          </p:txBody>
        </p:sp>
      </p:grpSp>
      <p:sp>
        <p:nvSpPr>
          <p:cNvPr id="43037" name="Freeform 60"/>
          <p:cNvSpPr>
            <a:spLocks noChangeArrowheads="1"/>
          </p:cNvSpPr>
          <p:nvPr/>
        </p:nvSpPr>
        <p:spPr bwMode="auto">
          <a:xfrm>
            <a:off x="2971800" y="1546225"/>
            <a:ext cx="3962400" cy="3428464"/>
          </a:xfrm>
          <a:custGeom>
            <a:avLst/>
            <a:gdLst>
              <a:gd name="T0" fmla="*/ 0 w 2008909"/>
              <a:gd name="T1" fmla="*/ 0 h 2216727"/>
              <a:gd name="T2" fmla="*/ 37879643 w 2008909"/>
              <a:gd name="T3" fmla="*/ 21968111 h 2216727"/>
              <a:gd name="T4" fmla="*/ 152570551 w 2008909"/>
              <a:gd name="T5" fmla="*/ 35503978 h 2216727"/>
              <a:gd name="T6" fmla="*/ 0 60000 65536"/>
              <a:gd name="T7" fmla="*/ 0 60000 65536"/>
              <a:gd name="T8" fmla="*/ 0 60000 65536"/>
              <a:gd name="T9" fmla="*/ 0 w 2008909"/>
              <a:gd name="T10" fmla="*/ 0 h 2216727"/>
              <a:gd name="T11" fmla="*/ 2008909 w 2008909"/>
              <a:gd name="T12" fmla="*/ 2216727 h 2216727"/>
            </a:gdLst>
            <a:ahLst/>
            <a:cxnLst>
              <a:cxn ang="T6">
                <a:pos x="T0" y="T1"/>
              </a:cxn>
              <a:cxn ang="T7">
                <a:pos x="T2" y="T3"/>
              </a:cxn>
              <a:cxn ang="T8">
                <a:pos x="T4" y="T5"/>
              </a:cxn>
            </a:cxnLst>
            <a:rect l="T9" t="T10" r="T11" b="T12"/>
            <a:pathLst>
              <a:path w="2008909" h="2216727">
                <a:moveTo>
                  <a:pt x="0" y="0"/>
                </a:moveTo>
                <a:cubicBezTo>
                  <a:pt x="81973" y="501073"/>
                  <a:pt x="163946" y="1002146"/>
                  <a:pt x="498764" y="1371600"/>
                </a:cubicBezTo>
                <a:cubicBezTo>
                  <a:pt x="833582" y="1741054"/>
                  <a:pt x="1421245" y="1978890"/>
                  <a:pt x="2008909" y="2216727"/>
                </a:cubicBezTo>
              </a:path>
            </a:pathLst>
          </a:custGeom>
          <a:noFill/>
          <a:ln w="38100" algn="ctr">
            <a:solidFill>
              <a:schemeClr val="accent1">
                <a:lumMod val="75000"/>
              </a:schemeClr>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endParaRPr lang="en-US">
              <a:solidFill>
                <a:schemeClr val="accent1">
                  <a:lumMod val="75000"/>
                </a:schemeClr>
              </a:solidFill>
              <a:latin typeface="Century Gothic"/>
              <a:cs typeface="Century Gothic"/>
            </a:endParaRPr>
          </a:p>
        </p:txBody>
      </p:sp>
      <p:grpSp>
        <p:nvGrpSpPr>
          <p:cNvPr id="6" name="Group 83"/>
          <p:cNvGrpSpPr>
            <a:grpSpLocks/>
          </p:cNvGrpSpPr>
          <p:nvPr/>
        </p:nvGrpSpPr>
        <p:grpSpPr bwMode="auto">
          <a:xfrm>
            <a:off x="3276600" y="3138488"/>
            <a:ext cx="4953000" cy="1068387"/>
            <a:chOff x="3276600" y="3138487"/>
            <a:chExt cx="4953000" cy="1068388"/>
          </a:xfrm>
          <a:noFill/>
        </p:grpSpPr>
        <p:cxnSp>
          <p:nvCxnSpPr>
            <p:cNvPr id="64" name="Straight Arrow Connector 63"/>
            <p:cNvCxnSpPr/>
            <p:nvPr/>
          </p:nvCxnSpPr>
          <p:spPr bwMode="auto">
            <a:xfrm flipH="1">
              <a:off x="3276600" y="4205288"/>
              <a:ext cx="1447800" cy="1587"/>
            </a:xfrm>
            <a:prstGeom prst="straightConnector1">
              <a:avLst/>
            </a:prstGeom>
            <a:grpFill/>
            <a:ln w="12700">
              <a:tailEnd type="arrow"/>
            </a:ln>
          </p:spPr>
          <p:style>
            <a:lnRef idx="1">
              <a:schemeClr val="dk1"/>
            </a:lnRef>
            <a:fillRef idx="0">
              <a:schemeClr val="dk1"/>
            </a:fillRef>
            <a:effectRef idx="0">
              <a:schemeClr val="dk1"/>
            </a:effectRef>
            <a:fontRef idx="minor">
              <a:schemeClr val="tx1"/>
            </a:fontRef>
          </p:style>
        </p:cxnSp>
        <p:sp>
          <p:nvSpPr>
            <p:cNvPr id="43034" name="TextBox 60"/>
            <p:cNvSpPr txBox="1">
              <a:spLocks noChangeArrowheads="1"/>
            </p:cNvSpPr>
            <p:nvPr/>
          </p:nvSpPr>
          <p:spPr bwMode="auto">
            <a:xfrm>
              <a:off x="4724400" y="3138487"/>
              <a:ext cx="3505200" cy="6413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b="1" dirty="0">
                  <a:latin typeface="Century Gothic"/>
                  <a:cs typeface="Century Gothic"/>
                </a:rPr>
                <a:t>Less quantity demanded at the same price</a:t>
              </a:r>
            </a:p>
          </p:txBody>
        </p:sp>
        <p:cxnSp>
          <p:nvCxnSpPr>
            <p:cNvPr id="43035" name="Straight Arrow Connector 66"/>
            <p:cNvCxnSpPr>
              <a:cxnSpLocks noChangeShapeType="1"/>
            </p:cNvCxnSpPr>
            <p:nvPr/>
          </p:nvCxnSpPr>
          <p:spPr bwMode="auto">
            <a:xfrm rot="10800000" flipV="1">
              <a:off x="4038600" y="3748088"/>
              <a:ext cx="762000" cy="381000"/>
            </a:xfrm>
            <a:prstGeom prst="straightConnector1">
              <a:avLst/>
            </a:prstGeom>
            <a:grpFill/>
            <a:ln w="25400" algn="ctr">
              <a:solidFill>
                <a:schemeClr val="tx1"/>
              </a:solidFill>
              <a:round/>
              <a:headEnd/>
              <a:tailEnd type="arrow" w="med" len="med"/>
            </a:ln>
            <a:effectLst>
              <a:outerShdw dist="20000" dir="5400000" rotWithShape="0">
                <a:srgbClr val="808080">
                  <a:alpha val="37999"/>
                </a:srgbClr>
              </a:outerShdw>
            </a:effectLst>
          </p:spPr>
        </p:cxnSp>
      </p:grpSp>
      <p:grpSp>
        <p:nvGrpSpPr>
          <p:cNvPr id="7" name="Group 82"/>
          <p:cNvGrpSpPr>
            <a:grpSpLocks/>
          </p:cNvGrpSpPr>
          <p:nvPr/>
        </p:nvGrpSpPr>
        <p:grpSpPr bwMode="auto">
          <a:xfrm>
            <a:off x="3275013" y="1995488"/>
            <a:ext cx="3278187" cy="2209800"/>
            <a:chOff x="3275013" y="1995487"/>
            <a:chExt cx="3278187" cy="2209800"/>
          </a:xfrm>
        </p:grpSpPr>
        <p:cxnSp>
          <p:nvCxnSpPr>
            <p:cNvPr id="63" name="Straight Arrow Connector 62"/>
            <p:cNvCxnSpPr/>
            <p:nvPr/>
          </p:nvCxnSpPr>
          <p:spPr bwMode="auto">
            <a:xfrm rot="16200000" flipH="1">
              <a:off x="2590800" y="3519487"/>
              <a:ext cx="1370013" cy="1587"/>
            </a:xfrm>
            <a:prstGeom prst="straightConnector1">
              <a:avLst/>
            </a:prstGeom>
            <a:ln w="12700">
              <a:tailEnd type="arrow"/>
            </a:ln>
          </p:spPr>
          <p:style>
            <a:lnRef idx="1">
              <a:schemeClr val="dk1"/>
            </a:lnRef>
            <a:fillRef idx="0">
              <a:schemeClr val="dk1"/>
            </a:fillRef>
            <a:effectRef idx="0">
              <a:schemeClr val="dk1"/>
            </a:effectRef>
            <a:fontRef idx="minor">
              <a:schemeClr val="tx1"/>
            </a:fontRef>
          </p:style>
        </p:cxnSp>
        <p:sp>
          <p:nvSpPr>
            <p:cNvPr id="43031" name="TextBox 63"/>
            <p:cNvSpPr txBox="1">
              <a:spLocks noChangeArrowheads="1"/>
            </p:cNvSpPr>
            <p:nvPr/>
          </p:nvSpPr>
          <p:spPr bwMode="auto">
            <a:xfrm>
              <a:off x="3581400" y="1995487"/>
              <a:ext cx="2971800" cy="646331"/>
            </a:xfrm>
            <a:prstGeom prst="rect">
              <a:avLst/>
            </a:prstGeom>
            <a:noFill/>
            <a:ln w="9525">
              <a:no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b="1" dirty="0">
                  <a:latin typeface="Century Gothic"/>
                  <a:cs typeface="Century Gothic"/>
                </a:rPr>
                <a:t>Lower willingness to pay for the same quantity</a:t>
              </a:r>
            </a:p>
          </p:txBody>
        </p:sp>
        <p:cxnSp>
          <p:nvCxnSpPr>
            <p:cNvPr id="43032" name="Straight Arrow Connector 67"/>
            <p:cNvCxnSpPr>
              <a:cxnSpLocks noChangeShapeType="1"/>
            </p:cNvCxnSpPr>
            <p:nvPr/>
          </p:nvCxnSpPr>
          <p:spPr bwMode="auto">
            <a:xfrm rot="10800000" flipV="1">
              <a:off x="3352800" y="2909887"/>
              <a:ext cx="762000" cy="381000"/>
            </a:xfrm>
            <a:prstGeom prst="straightConnector1">
              <a:avLst/>
            </a:prstGeom>
            <a:noFill/>
            <a:ln w="12700" algn="ctr">
              <a:solidFill>
                <a:schemeClr val="tx1"/>
              </a:solidFill>
              <a:round/>
              <a:headEnd/>
              <a:tailEnd type="arrow" w="med" len="me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grpSp>
      <p:grpSp>
        <p:nvGrpSpPr>
          <p:cNvPr id="43017" name="Group 58"/>
          <p:cNvGrpSpPr>
            <a:grpSpLocks/>
          </p:cNvGrpSpPr>
          <p:nvPr/>
        </p:nvGrpSpPr>
        <p:grpSpPr bwMode="auto">
          <a:xfrm>
            <a:off x="465138" y="1371600"/>
            <a:ext cx="8305800" cy="5181634"/>
            <a:chOff x="228581" y="685800"/>
            <a:chExt cx="8305125" cy="6018797"/>
          </a:xfrm>
        </p:grpSpPr>
        <p:cxnSp>
          <p:nvCxnSpPr>
            <p:cNvPr id="43025" name="Straight Connector 5"/>
            <p:cNvCxnSpPr>
              <a:cxnSpLocks noChangeShapeType="1"/>
            </p:cNvCxnSpPr>
            <p:nvPr/>
          </p:nvCxnSpPr>
          <p:spPr bwMode="auto">
            <a:xfrm rot="5400000">
              <a:off x="-648494" y="4001294"/>
              <a:ext cx="4497389" cy="1588"/>
            </a:xfrm>
            <a:prstGeom prst="line">
              <a:avLst/>
            </a:prstGeom>
            <a:noFill/>
            <a:ln w="25400" algn="ctr">
              <a:solidFill>
                <a:srgbClr val="000000"/>
              </a:solidFill>
              <a:round/>
              <a:headEnd/>
              <a:tailEnd/>
            </a:ln>
            <a:extLst>
              <a:ext uri="{909E8E84-426E-40DD-AFC4-6F175D3DCCD1}">
                <a14:hiddenFill xmlns:a14="http://schemas.microsoft.com/office/drawing/2010/main">
                  <a:noFill/>
                </a14:hiddenFill>
              </a:ext>
            </a:extLst>
          </p:spPr>
        </p:cxnSp>
        <p:cxnSp>
          <p:nvCxnSpPr>
            <p:cNvPr id="43026" name="Straight Connector 7"/>
            <p:cNvCxnSpPr>
              <a:cxnSpLocks noChangeShapeType="1"/>
            </p:cNvCxnSpPr>
            <p:nvPr/>
          </p:nvCxnSpPr>
          <p:spPr bwMode="auto">
            <a:xfrm>
              <a:off x="1600200" y="6248400"/>
              <a:ext cx="5943600" cy="1588"/>
            </a:xfrm>
            <a:prstGeom prst="line">
              <a:avLst/>
            </a:prstGeom>
            <a:noFill/>
            <a:ln w="25400" algn="ctr">
              <a:solidFill>
                <a:srgbClr val="000000"/>
              </a:solidFill>
              <a:round/>
              <a:headEnd/>
              <a:tailEnd/>
            </a:ln>
            <a:extLst>
              <a:ext uri="{909E8E84-426E-40DD-AFC4-6F175D3DCCD1}">
                <a14:hiddenFill xmlns:a14="http://schemas.microsoft.com/office/drawing/2010/main">
                  <a:noFill/>
                </a14:hiddenFill>
              </a:ext>
            </a:extLst>
          </p:spPr>
        </p:cxnSp>
        <p:sp>
          <p:nvSpPr>
            <p:cNvPr id="43027" name="TextBox 47"/>
            <p:cNvSpPr txBox="1">
              <a:spLocks noChangeArrowheads="1"/>
            </p:cNvSpPr>
            <p:nvPr/>
          </p:nvSpPr>
          <p:spPr bwMode="auto">
            <a:xfrm>
              <a:off x="228581" y="862806"/>
              <a:ext cx="1219102" cy="75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b="1" dirty="0">
                  <a:latin typeface="Century Gothic"/>
                  <a:cs typeface="Century Gothic"/>
                </a:rPr>
                <a:t>Price per unit</a:t>
              </a:r>
            </a:p>
          </p:txBody>
        </p:sp>
        <p:sp>
          <p:nvSpPr>
            <p:cNvPr id="43028" name="TextBox 49"/>
            <p:cNvSpPr txBox="1">
              <a:spLocks noChangeArrowheads="1"/>
            </p:cNvSpPr>
            <p:nvPr/>
          </p:nvSpPr>
          <p:spPr bwMode="auto">
            <a:xfrm>
              <a:off x="6697259" y="6275594"/>
              <a:ext cx="1135518" cy="429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b="1">
                  <a:latin typeface="Century Gothic"/>
                  <a:cs typeface="Century Gothic"/>
                </a:rPr>
                <a:t>Quantity</a:t>
              </a:r>
            </a:p>
          </p:txBody>
        </p:sp>
        <p:sp>
          <p:nvSpPr>
            <p:cNvPr id="43029" name="TextBox 30"/>
            <p:cNvSpPr txBox="1">
              <a:spLocks noChangeArrowheads="1"/>
            </p:cNvSpPr>
            <p:nvPr/>
          </p:nvSpPr>
          <p:spPr bwMode="auto">
            <a:xfrm>
              <a:off x="228581" y="685800"/>
              <a:ext cx="8305125" cy="500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endParaRPr lang="en-US" sz="2200">
                <a:solidFill>
                  <a:srgbClr val="00B050"/>
                </a:solidFill>
                <a:latin typeface="Century Gothic"/>
                <a:cs typeface="Century Gothic"/>
              </a:endParaRPr>
            </a:p>
          </p:txBody>
        </p:sp>
      </p:grpSp>
      <p:cxnSp>
        <p:nvCxnSpPr>
          <p:cNvPr id="77" name="Straight Connector 76"/>
          <p:cNvCxnSpPr/>
          <p:nvPr/>
        </p:nvCxnSpPr>
        <p:spPr>
          <a:xfrm flipV="1">
            <a:off x="1676400" y="5715000"/>
            <a:ext cx="228600" cy="762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8" name="Straight Connector 77"/>
          <p:cNvCxnSpPr/>
          <p:nvPr/>
        </p:nvCxnSpPr>
        <p:spPr>
          <a:xfrm flipV="1">
            <a:off x="1676400" y="5867400"/>
            <a:ext cx="228600" cy="762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9" name="Straight Connector 78"/>
          <p:cNvCxnSpPr/>
          <p:nvPr/>
        </p:nvCxnSpPr>
        <p:spPr>
          <a:xfrm rot="16200000" flipV="1">
            <a:off x="1981200" y="6096000"/>
            <a:ext cx="152400" cy="1524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0" name="Straight Connector 79"/>
          <p:cNvCxnSpPr/>
          <p:nvPr/>
        </p:nvCxnSpPr>
        <p:spPr>
          <a:xfrm rot="16200000" flipV="1">
            <a:off x="2133600" y="6096000"/>
            <a:ext cx="152400" cy="1524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81" name="TextBox 80"/>
          <p:cNvSpPr txBox="1">
            <a:spLocks noChangeArrowheads="1"/>
          </p:cNvSpPr>
          <p:nvPr/>
        </p:nvSpPr>
        <p:spPr bwMode="auto">
          <a:xfrm>
            <a:off x="5867400" y="5257800"/>
            <a:ext cx="1676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US" sz="1600" b="1" i="1" dirty="0">
                <a:solidFill>
                  <a:schemeClr val="accent1">
                    <a:lumMod val="75000"/>
                  </a:schemeClr>
                </a:solidFill>
                <a:latin typeface="Century Gothic"/>
                <a:cs typeface="Century Gothic"/>
              </a:rPr>
              <a:t>D</a:t>
            </a:r>
            <a:r>
              <a:rPr lang="en-US" sz="1600" b="1" dirty="0">
                <a:solidFill>
                  <a:schemeClr val="accent1">
                    <a:lumMod val="75000"/>
                  </a:schemeClr>
                </a:solidFill>
                <a:latin typeface="Century Gothic"/>
                <a:cs typeface="Century Gothic"/>
              </a:rPr>
              <a:t>2</a:t>
            </a:r>
          </a:p>
        </p:txBody>
      </p:sp>
      <p:sp>
        <p:nvSpPr>
          <p:cNvPr id="41" name="Oval 40"/>
          <p:cNvSpPr/>
          <p:nvPr/>
        </p:nvSpPr>
        <p:spPr>
          <a:xfrm>
            <a:off x="8382000" y="6096000"/>
            <a:ext cx="744538" cy="747713"/>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Century Gothic"/>
              <a:cs typeface="Century Gothic"/>
            </a:endParaRPr>
          </a:p>
        </p:txBody>
      </p:sp>
      <p:sp>
        <p:nvSpPr>
          <p:cNvPr id="43024" name="TextBox 41">
            <a:hlinkClick r:id="rId3" action="ppaction://hlinksldjump"/>
          </p:cNvPr>
          <p:cNvSpPr txBox="1">
            <a:spLocks noChangeArrowheads="1"/>
          </p:cNvSpPr>
          <p:nvPr/>
        </p:nvSpPr>
        <p:spPr bwMode="auto">
          <a:xfrm>
            <a:off x="8428038" y="6203950"/>
            <a:ext cx="66992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1000">
                <a:latin typeface="Century Gothic"/>
                <a:cs typeface="Century Gothic"/>
                <a:hlinkClick r:id="rId3" action="ppaction://hlinksldjump"/>
              </a:rPr>
              <a:t>Back to Table of contents</a:t>
            </a:r>
            <a:endParaRPr lang="en-US" sz="1000">
              <a:latin typeface="Century Gothic"/>
              <a:cs typeface="Century Gothic"/>
            </a:endParaRPr>
          </a:p>
          <a:p>
            <a:pPr eaLnBrk="1" hangingPunct="1"/>
            <a:endParaRPr lang="en-US" sz="1000">
              <a:latin typeface="Century Gothic"/>
              <a:cs typeface="Century Gothic"/>
            </a:endParaRPr>
          </a:p>
        </p:txBody>
      </p:sp>
      <p:sp>
        <p:nvSpPr>
          <p:cNvPr id="4" name="TextBox 3"/>
          <p:cNvSpPr txBox="1"/>
          <p:nvPr/>
        </p:nvSpPr>
        <p:spPr>
          <a:xfrm>
            <a:off x="914400" y="990600"/>
            <a:ext cx="6543483" cy="381000"/>
          </a:xfrm>
          <a:prstGeom prst="rect">
            <a:avLst/>
          </a:prstGeom>
          <a:noFill/>
        </p:spPr>
        <p:txBody>
          <a:bodyPr wrap="square" rtlCol="0">
            <a:spAutoFit/>
          </a:bodyPr>
          <a:lstStyle/>
          <a:p>
            <a:pPr algn="ctr"/>
            <a:r>
              <a:rPr lang="en-US" b="1" i="1" dirty="0">
                <a:solidFill>
                  <a:srgbClr val="990033"/>
                </a:solidFill>
                <a:latin typeface="Century Gothic"/>
                <a:cs typeface="Century Gothic"/>
              </a:rPr>
              <a:t>A decrease in demand </a:t>
            </a:r>
            <a:r>
              <a:rPr lang="en-US" i="1" dirty="0">
                <a:solidFill>
                  <a:schemeClr val="tx1">
                    <a:lumMod val="75000"/>
                    <a:lumOff val="25000"/>
                  </a:schemeClr>
                </a:solidFill>
                <a:latin typeface="Century Gothic"/>
                <a:cs typeface="Century Gothic"/>
              </a:rPr>
              <a:t>is a leftward shift.</a:t>
            </a:r>
          </a:p>
        </p:txBody>
      </p:sp>
    </p:spTree>
    <p:extLst>
      <p:ext uri="{BB962C8B-B14F-4D97-AF65-F5344CB8AC3E}">
        <p14:creationId xmlns:p14="http://schemas.microsoft.com/office/powerpoint/2010/main" val="155203521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childTnLst>
                          </p:cTn>
                        </p:par>
                        <p:par>
                          <p:cTn id="8" fill="hold" nodeType="afterGroup">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81"/>
                                        </p:tgtEl>
                                        <p:attrNameLst>
                                          <p:attrName>style.visibility</p:attrName>
                                        </p:attrNameLst>
                                      </p:cBhvr>
                                      <p:to>
                                        <p:strVal val="visible"/>
                                      </p:to>
                                    </p:set>
                                    <p:animEffect transition="in" filter="fade">
                                      <p:cBhvr>
                                        <p:cTn id="11" dur="2000"/>
                                        <p:tgtEl>
                                          <p:spTgt spid="81"/>
                                        </p:tgtEl>
                                      </p:cBhvr>
                                    </p:animEffect>
                                  </p:childTnLst>
                                </p:cTn>
                              </p:par>
                              <p:par>
                                <p:cTn id="12" presetID="1" presetClass="entr" presetSubtype="0" fill="hold" nodeType="withEffect">
                                  <p:stCondLst>
                                    <p:cond delay="0"/>
                                  </p:stCondLst>
                                  <p:childTnLst>
                                    <p:set>
                                      <p:cBhvr>
                                        <p:cTn id="13" dur="1" fill="hold">
                                          <p:stCondLst>
                                            <p:cond delay="0"/>
                                          </p:stCondLst>
                                        </p:cTn>
                                        <p:tgtEl>
                                          <p:spTgt spid="2"/>
                                        </p:tgtEl>
                                        <p:attrNameLst>
                                          <p:attrName>style.visibility</p:attrName>
                                        </p:attrNameLst>
                                      </p:cBhvr>
                                      <p:to>
                                        <p:strVal val="visible"/>
                                      </p:to>
                                    </p:set>
                                  </p:childTnLst>
                                </p:cTn>
                              </p:par>
                            </p:childTnLst>
                          </p:cTn>
                        </p:par>
                        <p:par>
                          <p:cTn id="14" fill="hold" nodeType="afterGroup">
                            <p:stCondLst>
                              <p:cond delay="4000"/>
                            </p:stCondLst>
                            <p:childTnLst>
                              <p:par>
                                <p:cTn id="15" presetID="9" presetClass="entr" presetSubtype="0"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par>
                          <p:cTn id="18" fill="hold" nodeType="afterGroup">
                            <p:stCondLst>
                              <p:cond delay="4500"/>
                            </p:stCondLst>
                            <p:childTnLst>
                              <p:par>
                                <p:cTn id="19" presetID="9" presetClass="entr" presetSubtype="0" fill="hold" nodeType="afterEffect">
                                  <p:stCondLst>
                                    <p:cond delay="1000"/>
                                  </p:stCondLst>
                                  <p:childTnLst>
                                    <p:set>
                                      <p:cBhvr>
                                        <p:cTn id="20" dur="1" fill="hold">
                                          <p:stCondLst>
                                            <p:cond delay="0"/>
                                          </p:stCondLst>
                                        </p:cTn>
                                        <p:tgtEl>
                                          <p:spTgt spid="6"/>
                                        </p:tgtEl>
                                        <p:attrNameLst>
                                          <p:attrName>style.visibility</p:attrName>
                                        </p:attrNameLst>
                                      </p:cBhvr>
                                      <p:to>
                                        <p:strVal val="visible"/>
                                      </p:to>
                                    </p:set>
                                    <p:animEffect transition="in" filter="dissolve">
                                      <p:cBhvr>
                                        <p:cTn id="2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4"/>
          <p:cNvSpPr>
            <a:spLocks noGrp="1"/>
          </p:cNvSpPr>
          <p:nvPr>
            <p:ph type="title"/>
          </p:nvPr>
        </p:nvSpPr>
        <p:spPr bwMode="auto"/>
        <p:txBody>
          <a:bodyPr wrap="square" numCol="1" anchorCtr="0" compatLnSpc="1">
            <a:prstTxWarp prst="textNoShape">
              <a:avLst/>
            </a:prstTxWarp>
            <a:normAutofit/>
          </a:bodyPr>
          <a:lstStyle/>
          <a:p>
            <a:pPr fontAlgn="auto">
              <a:spcAft>
                <a:spcPts val="0"/>
              </a:spcAft>
              <a:defRPr/>
            </a:pPr>
            <a:r>
              <a:rPr lang="en-US" sz="3600" dirty="0"/>
              <a:t>SHIFTS OF THE DEMAND CURVE</a:t>
            </a:r>
            <a:endParaRPr lang="en-US" sz="3600" dirty="0">
              <a:solidFill>
                <a:schemeClr val="accent6">
                  <a:lumMod val="75000"/>
                </a:schemeClr>
              </a:solidFill>
            </a:endParaRPr>
          </a:p>
        </p:txBody>
      </p:sp>
      <p:sp>
        <p:nvSpPr>
          <p:cNvPr id="49" name="TextBox 51"/>
          <p:cNvSpPr txBox="1">
            <a:spLocks noChangeArrowheads="1"/>
          </p:cNvSpPr>
          <p:nvPr/>
        </p:nvSpPr>
        <p:spPr bwMode="auto">
          <a:xfrm>
            <a:off x="609600" y="1993900"/>
            <a:ext cx="4432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b="1" dirty="0">
                <a:latin typeface="Century Gothic"/>
                <a:cs typeface="Century Gothic"/>
              </a:rPr>
              <a:t>$2</a:t>
            </a:r>
          </a:p>
        </p:txBody>
      </p:sp>
      <p:sp>
        <p:nvSpPr>
          <p:cNvPr id="50" name="TextBox 53"/>
          <p:cNvSpPr txBox="1">
            <a:spLocks noChangeArrowheads="1"/>
          </p:cNvSpPr>
          <p:nvPr/>
        </p:nvSpPr>
        <p:spPr bwMode="auto">
          <a:xfrm>
            <a:off x="4343400" y="5837238"/>
            <a:ext cx="4432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b="1" dirty="0">
                <a:latin typeface="Century Gothic"/>
                <a:cs typeface="Century Gothic"/>
              </a:rPr>
              <a:t>15</a:t>
            </a:r>
          </a:p>
        </p:txBody>
      </p:sp>
      <p:sp>
        <p:nvSpPr>
          <p:cNvPr id="44039" name="TextBox 55"/>
          <p:cNvSpPr txBox="1">
            <a:spLocks noChangeArrowheads="1"/>
          </p:cNvSpPr>
          <p:nvPr/>
        </p:nvSpPr>
        <p:spPr bwMode="auto">
          <a:xfrm>
            <a:off x="6019800" y="5181600"/>
            <a:ext cx="1600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US" sz="1600" b="1" i="1" dirty="0">
                <a:solidFill>
                  <a:schemeClr val="accent1">
                    <a:lumMod val="75000"/>
                  </a:schemeClr>
                </a:solidFill>
                <a:latin typeface="Century Gothic"/>
                <a:cs typeface="Century Gothic"/>
              </a:rPr>
              <a:t>D</a:t>
            </a:r>
            <a:r>
              <a:rPr lang="en-US" sz="1600" b="1" dirty="0">
                <a:solidFill>
                  <a:schemeClr val="accent1">
                    <a:lumMod val="75000"/>
                  </a:schemeClr>
                </a:solidFill>
                <a:latin typeface="Century Gothic"/>
                <a:cs typeface="Century Gothic"/>
              </a:rPr>
              <a:t>1</a:t>
            </a:r>
          </a:p>
        </p:txBody>
      </p:sp>
      <p:grpSp>
        <p:nvGrpSpPr>
          <p:cNvPr id="2" name="Group 69"/>
          <p:cNvGrpSpPr>
            <a:grpSpLocks/>
          </p:cNvGrpSpPr>
          <p:nvPr/>
        </p:nvGrpSpPr>
        <p:grpSpPr bwMode="auto">
          <a:xfrm>
            <a:off x="1722438" y="2220913"/>
            <a:ext cx="2851150" cy="3465512"/>
            <a:chOff x="1722120" y="2220540"/>
            <a:chExt cx="2851468" cy="3466211"/>
          </a:xfrm>
        </p:grpSpPr>
        <p:cxnSp>
          <p:nvCxnSpPr>
            <p:cNvPr id="47" name="Straight Connector 46"/>
            <p:cNvCxnSpPr/>
            <p:nvPr/>
          </p:nvCxnSpPr>
          <p:spPr bwMode="auto">
            <a:xfrm rot="5400000">
              <a:off x="3705844" y="4819007"/>
              <a:ext cx="1733900" cy="1588"/>
            </a:xfrm>
            <a:prstGeom prst="line">
              <a:avLst/>
            </a:prstGeom>
            <a:ln>
              <a:solidFill>
                <a:schemeClr val="accent1">
                  <a:lumMod val="60000"/>
                  <a:lumOff val="40000"/>
                </a:schemeClr>
              </a:solidFill>
              <a:prstDash val="dash"/>
            </a:ln>
          </p:spPr>
          <p:style>
            <a:lnRef idx="1">
              <a:schemeClr val="dk1"/>
            </a:lnRef>
            <a:fillRef idx="0">
              <a:schemeClr val="dk1"/>
            </a:fillRef>
            <a:effectRef idx="0">
              <a:schemeClr val="dk1"/>
            </a:effectRef>
            <a:fontRef idx="minor">
              <a:schemeClr val="tx1"/>
            </a:fontRef>
          </p:style>
        </p:cxnSp>
        <p:cxnSp>
          <p:nvCxnSpPr>
            <p:cNvPr id="48" name="Straight Connector 47"/>
            <p:cNvCxnSpPr/>
            <p:nvPr/>
          </p:nvCxnSpPr>
          <p:spPr bwMode="auto">
            <a:xfrm rot="10800000">
              <a:off x="1722120" y="2220540"/>
              <a:ext cx="1097084" cy="1587"/>
            </a:xfrm>
            <a:prstGeom prst="line">
              <a:avLst/>
            </a:prstGeom>
            <a:ln>
              <a:solidFill>
                <a:schemeClr val="accent1">
                  <a:lumMod val="60000"/>
                  <a:lumOff val="40000"/>
                </a:schemeClr>
              </a:solidFill>
              <a:prstDash val="dash"/>
            </a:ln>
          </p:spPr>
          <p:style>
            <a:lnRef idx="1">
              <a:schemeClr val="dk1"/>
            </a:lnRef>
            <a:fillRef idx="0">
              <a:schemeClr val="dk1"/>
            </a:fillRef>
            <a:effectRef idx="0">
              <a:schemeClr val="dk1"/>
            </a:effectRef>
            <a:fontRef idx="minor">
              <a:schemeClr val="tx1"/>
            </a:fontRef>
          </p:style>
        </p:cxnSp>
        <p:cxnSp>
          <p:nvCxnSpPr>
            <p:cNvPr id="52" name="Straight Connector 51"/>
            <p:cNvCxnSpPr/>
            <p:nvPr/>
          </p:nvCxnSpPr>
          <p:spPr bwMode="auto">
            <a:xfrm rot="5400000" flipH="1" flipV="1">
              <a:off x="1953049" y="3086696"/>
              <a:ext cx="1732311" cy="0"/>
            </a:xfrm>
            <a:prstGeom prst="line">
              <a:avLst/>
            </a:prstGeom>
            <a:ln>
              <a:solidFill>
                <a:schemeClr val="accent1">
                  <a:lumMod val="60000"/>
                  <a:lumOff val="40000"/>
                </a:schemeClr>
              </a:solidFill>
              <a:prstDash val="dash"/>
            </a:ln>
          </p:spPr>
          <p:style>
            <a:lnRef idx="1">
              <a:schemeClr val="dk1"/>
            </a:lnRef>
            <a:fillRef idx="0">
              <a:schemeClr val="dk1"/>
            </a:fillRef>
            <a:effectRef idx="0">
              <a:schemeClr val="dk1"/>
            </a:effectRef>
            <a:fontRef idx="minor">
              <a:schemeClr val="tx1"/>
            </a:fontRef>
          </p:style>
        </p:cxnSp>
        <p:cxnSp>
          <p:nvCxnSpPr>
            <p:cNvPr id="53" name="Straight Connector 52"/>
            <p:cNvCxnSpPr/>
            <p:nvPr/>
          </p:nvCxnSpPr>
          <p:spPr bwMode="auto">
            <a:xfrm>
              <a:off x="2819204" y="3952851"/>
              <a:ext cx="1752795" cy="1588"/>
            </a:xfrm>
            <a:prstGeom prst="line">
              <a:avLst/>
            </a:prstGeom>
            <a:ln>
              <a:solidFill>
                <a:schemeClr val="accent1">
                  <a:lumMod val="60000"/>
                  <a:lumOff val="40000"/>
                </a:schemeClr>
              </a:solidFill>
              <a:prstDash val="dash"/>
            </a:ln>
          </p:spPr>
          <p:style>
            <a:lnRef idx="1">
              <a:schemeClr val="dk1"/>
            </a:lnRef>
            <a:fillRef idx="0">
              <a:schemeClr val="dk1"/>
            </a:fillRef>
            <a:effectRef idx="0">
              <a:schemeClr val="dk1"/>
            </a:effectRef>
            <a:fontRef idx="minor">
              <a:schemeClr val="tx1"/>
            </a:fontRef>
          </p:style>
        </p:cxnSp>
      </p:grpSp>
      <p:sp>
        <p:nvSpPr>
          <p:cNvPr id="44041" name="Freeform 53"/>
          <p:cNvSpPr>
            <a:spLocks noChangeArrowheads="1"/>
          </p:cNvSpPr>
          <p:nvPr/>
        </p:nvSpPr>
        <p:spPr bwMode="auto">
          <a:xfrm>
            <a:off x="1921934" y="1900768"/>
            <a:ext cx="3962400" cy="3390900"/>
          </a:xfrm>
          <a:custGeom>
            <a:avLst/>
            <a:gdLst>
              <a:gd name="T0" fmla="*/ 0 w 2008909"/>
              <a:gd name="T1" fmla="*/ 0 h 2216727"/>
              <a:gd name="T2" fmla="*/ 74714348 w 2008909"/>
              <a:gd name="T3" fmla="*/ 31767033 h 2216727"/>
              <a:gd name="T4" fmla="*/ 300932273 w 2008909"/>
              <a:gd name="T5" fmla="*/ 51340576 h 2216727"/>
              <a:gd name="T6" fmla="*/ 0 60000 65536"/>
              <a:gd name="T7" fmla="*/ 0 60000 65536"/>
              <a:gd name="T8" fmla="*/ 0 60000 65536"/>
              <a:gd name="T9" fmla="*/ 0 w 2008909"/>
              <a:gd name="T10" fmla="*/ 0 h 2216727"/>
              <a:gd name="T11" fmla="*/ 2008909 w 2008909"/>
              <a:gd name="T12" fmla="*/ 2216727 h 2216727"/>
            </a:gdLst>
            <a:ahLst/>
            <a:cxnLst>
              <a:cxn ang="T6">
                <a:pos x="T0" y="T1"/>
              </a:cxn>
              <a:cxn ang="T7">
                <a:pos x="T2" y="T3"/>
              </a:cxn>
              <a:cxn ang="T8">
                <a:pos x="T4" y="T5"/>
              </a:cxn>
            </a:cxnLst>
            <a:rect l="T9" t="T10" r="T11" b="T12"/>
            <a:pathLst>
              <a:path w="2008909" h="2216727">
                <a:moveTo>
                  <a:pt x="0" y="0"/>
                </a:moveTo>
                <a:cubicBezTo>
                  <a:pt x="81973" y="501073"/>
                  <a:pt x="163946" y="1002146"/>
                  <a:pt x="498764" y="1371600"/>
                </a:cubicBezTo>
                <a:cubicBezTo>
                  <a:pt x="833582" y="1741054"/>
                  <a:pt x="1421245" y="1978890"/>
                  <a:pt x="2008909" y="2216727"/>
                </a:cubicBezTo>
              </a:path>
            </a:pathLst>
          </a:custGeom>
          <a:noFill/>
          <a:ln w="38100" algn="ctr">
            <a:solidFill>
              <a:schemeClr val="accent1">
                <a:lumMod val="60000"/>
                <a:lumOff val="40000"/>
              </a:schemeClr>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endParaRPr lang="en-US">
              <a:solidFill>
                <a:schemeClr val="accent1">
                  <a:lumMod val="60000"/>
                  <a:lumOff val="40000"/>
                </a:schemeClr>
              </a:solidFill>
              <a:latin typeface="Century Gothic"/>
              <a:cs typeface="Century Gothic"/>
            </a:endParaRPr>
          </a:p>
        </p:txBody>
      </p:sp>
      <p:cxnSp>
        <p:nvCxnSpPr>
          <p:cNvPr id="55" name="Straight Connector 54"/>
          <p:cNvCxnSpPr/>
          <p:nvPr/>
        </p:nvCxnSpPr>
        <p:spPr bwMode="auto">
          <a:xfrm rot="10800000">
            <a:off x="1722120" y="3952875"/>
            <a:ext cx="1097280" cy="1588"/>
          </a:xfrm>
          <a:prstGeom prst="line">
            <a:avLst/>
          </a:prstGeom>
          <a:ln>
            <a:solidFill>
              <a:schemeClr val="accent1">
                <a:lumMod val="60000"/>
                <a:lumOff val="40000"/>
              </a:schemeClr>
            </a:solidFill>
            <a:prstDash val="dash"/>
          </a:ln>
        </p:spPr>
        <p:style>
          <a:lnRef idx="1">
            <a:schemeClr val="dk1"/>
          </a:lnRef>
          <a:fillRef idx="0">
            <a:schemeClr val="dk1"/>
          </a:fillRef>
          <a:effectRef idx="0">
            <a:schemeClr val="dk1"/>
          </a:effectRef>
          <a:fontRef idx="minor">
            <a:schemeClr val="tx1"/>
          </a:fontRef>
        </p:style>
      </p:cxnSp>
      <p:cxnSp>
        <p:nvCxnSpPr>
          <p:cNvPr id="56" name="Straight Connector 55"/>
          <p:cNvCxnSpPr/>
          <p:nvPr/>
        </p:nvCxnSpPr>
        <p:spPr bwMode="auto">
          <a:xfrm rot="5400000">
            <a:off x="1954213" y="4818062"/>
            <a:ext cx="1733550" cy="3175"/>
          </a:xfrm>
          <a:prstGeom prst="line">
            <a:avLst/>
          </a:prstGeom>
          <a:ln>
            <a:solidFill>
              <a:schemeClr val="accent1">
                <a:lumMod val="60000"/>
                <a:lumOff val="40000"/>
              </a:schemeClr>
            </a:solidFill>
            <a:prstDash val="dash"/>
          </a:ln>
        </p:spPr>
        <p:style>
          <a:lnRef idx="1">
            <a:schemeClr val="dk1"/>
          </a:lnRef>
          <a:fillRef idx="0">
            <a:schemeClr val="dk1"/>
          </a:fillRef>
          <a:effectRef idx="0">
            <a:schemeClr val="dk1"/>
          </a:effectRef>
          <a:fontRef idx="minor">
            <a:schemeClr val="tx1"/>
          </a:fontRef>
        </p:style>
      </p:cxnSp>
      <p:sp>
        <p:nvSpPr>
          <p:cNvPr id="44044" name="TextBox 50"/>
          <p:cNvSpPr txBox="1">
            <a:spLocks noChangeArrowheads="1"/>
          </p:cNvSpPr>
          <p:nvPr/>
        </p:nvSpPr>
        <p:spPr bwMode="auto">
          <a:xfrm>
            <a:off x="609600" y="3727450"/>
            <a:ext cx="4432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b="1" dirty="0">
                <a:latin typeface="Century Gothic"/>
                <a:cs typeface="Century Gothic"/>
              </a:rPr>
              <a:t>$1</a:t>
            </a:r>
          </a:p>
        </p:txBody>
      </p:sp>
      <p:sp>
        <p:nvSpPr>
          <p:cNvPr id="44045" name="TextBox 53"/>
          <p:cNvSpPr txBox="1">
            <a:spLocks noChangeArrowheads="1"/>
          </p:cNvSpPr>
          <p:nvPr/>
        </p:nvSpPr>
        <p:spPr bwMode="auto">
          <a:xfrm>
            <a:off x="2590800" y="5837238"/>
            <a:ext cx="4432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b="1" dirty="0">
                <a:latin typeface="Century Gothic"/>
                <a:cs typeface="Century Gothic"/>
              </a:rPr>
              <a:t>10</a:t>
            </a:r>
          </a:p>
        </p:txBody>
      </p:sp>
      <p:grpSp>
        <p:nvGrpSpPr>
          <p:cNvPr id="3" name="Group 58"/>
          <p:cNvGrpSpPr>
            <a:grpSpLocks/>
          </p:cNvGrpSpPr>
          <p:nvPr/>
        </p:nvGrpSpPr>
        <p:grpSpPr bwMode="auto">
          <a:xfrm>
            <a:off x="0" y="1858963"/>
            <a:ext cx="5867400" cy="4999037"/>
            <a:chOff x="0" y="2119296"/>
            <a:chExt cx="5867400" cy="4999455"/>
          </a:xfrm>
        </p:grpSpPr>
        <p:sp>
          <p:nvSpPr>
            <p:cNvPr id="44066" name="TextBox 54"/>
            <p:cNvSpPr txBox="1">
              <a:spLocks noChangeArrowheads="1"/>
            </p:cNvSpPr>
            <p:nvPr/>
          </p:nvSpPr>
          <p:spPr bwMode="auto">
            <a:xfrm>
              <a:off x="0" y="6780177"/>
              <a:ext cx="1600200" cy="33857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endParaRPr lang="en-US" sz="1600" b="1">
                <a:solidFill>
                  <a:schemeClr val="accent1">
                    <a:lumMod val="60000"/>
                    <a:lumOff val="40000"/>
                  </a:schemeClr>
                </a:solidFill>
                <a:latin typeface="Century Gothic"/>
                <a:cs typeface="Century Gothic"/>
              </a:endParaRPr>
            </a:p>
          </p:txBody>
        </p:sp>
        <p:sp>
          <p:nvSpPr>
            <p:cNvPr id="44067" name="Freeform 60"/>
            <p:cNvSpPr>
              <a:spLocks noChangeArrowheads="1"/>
            </p:cNvSpPr>
            <p:nvPr/>
          </p:nvSpPr>
          <p:spPr bwMode="auto">
            <a:xfrm>
              <a:off x="1905000" y="2119296"/>
              <a:ext cx="3962400" cy="3429200"/>
            </a:xfrm>
            <a:custGeom>
              <a:avLst/>
              <a:gdLst>
                <a:gd name="T0" fmla="*/ 0 w 2008909"/>
                <a:gd name="T1" fmla="*/ 0 h 2216727"/>
                <a:gd name="T2" fmla="*/ 37879643 w 2008909"/>
                <a:gd name="T3" fmla="*/ 21968159 h 2216727"/>
                <a:gd name="T4" fmla="*/ 152570551 w 2008909"/>
                <a:gd name="T5" fmla="*/ 35504041 h 2216727"/>
                <a:gd name="T6" fmla="*/ 0 60000 65536"/>
                <a:gd name="T7" fmla="*/ 0 60000 65536"/>
                <a:gd name="T8" fmla="*/ 0 60000 65536"/>
                <a:gd name="T9" fmla="*/ 0 w 2008909"/>
                <a:gd name="T10" fmla="*/ 0 h 2216727"/>
                <a:gd name="T11" fmla="*/ 2008909 w 2008909"/>
                <a:gd name="T12" fmla="*/ 2216727 h 2216727"/>
              </a:gdLst>
              <a:ahLst/>
              <a:cxnLst>
                <a:cxn ang="T6">
                  <a:pos x="T0" y="T1"/>
                </a:cxn>
                <a:cxn ang="T7">
                  <a:pos x="T2" y="T3"/>
                </a:cxn>
                <a:cxn ang="T8">
                  <a:pos x="T4" y="T5"/>
                </a:cxn>
              </a:cxnLst>
              <a:rect l="T9" t="T10" r="T11" b="T12"/>
              <a:pathLst>
                <a:path w="2008909" h="2216727">
                  <a:moveTo>
                    <a:pt x="0" y="0"/>
                  </a:moveTo>
                  <a:cubicBezTo>
                    <a:pt x="81973" y="501073"/>
                    <a:pt x="163946" y="1002146"/>
                    <a:pt x="498764" y="1371600"/>
                  </a:cubicBezTo>
                  <a:cubicBezTo>
                    <a:pt x="833582" y="1741054"/>
                    <a:pt x="1421245" y="1978890"/>
                    <a:pt x="2008909" y="2216727"/>
                  </a:cubicBezTo>
                </a:path>
              </a:pathLst>
            </a:custGeom>
            <a:noFill/>
            <a:ln w="38100" algn="ctr">
              <a:solidFill>
                <a:schemeClr val="accent1">
                  <a:lumMod val="75000"/>
                </a:schemeClr>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endParaRPr lang="en-US">
                <a:solidFill>
                  <a:schemeClr val="accent1">
                    <a:lumMod val="60000"/>
                    <a:lumOff val="40000"/>
                  </a:schemeClr>
                </a:solidFill>
                <a:latin typeface="Century Gothic"/>
                <a:cs typeface="Century Gothic"/>
              </a:endParaRPr>
            </a:p>
          </p:txBody>
        </p:sp>
      </p:grpSp>
      <p:grpSp>
        <p:nvGrpSpPr>
          <p:cNvPr id="44047" name="Group 58"/>
          <p:cNvGrpSpPr>
            <a:grpSpLocks/>
          </p:cNvGrpSpPr>
          <p:nvPr/>
        </p:nvGrpSpPr>
        <p:grpSpPr bwMode="auto">
          <a:xfrm>
            <a:off x="228600" y="1447800"/>
            <a:ext cx="7764874" cy="4637075"/>
            <a:chOff x="76193" y="774303"/>
            <a:chExt cx="7764573" cy="5385581"/>
          </a:xfrm>
        </p:grpSpPr>
        <p:cxnSp>
          <p:nvCxnSpPr>
            <p:cNvPr id="44062" name="Straight Connector 5"/>
            <p:cNvCxnSpPr>
              <a:cxnSpLocks noChangeShapeType="1"/>
            </p:cNvCxnSpPr>
            <p:nvPr/>
          </p:nvCxnSpPr>
          <p:spPr bwMode="auto">
            <a:xfrm rot="5400000">
              <a:off x="-648494" y="3464720"/>
              <a:ext cx="4497389" cy="1588"/>
            </a:xfrm>
            <a:prstGeom prst="line">
              <a:avLst/>
            </a:prstGeom>
            <a:noFill/>
            <a:ln w="25400" algn="ctr">
              <a:solidFill>
                <a:srgbClr val="000000"/>
              </a:solidFill>
              <a:round/>
              <a:headEnd/>
              <a:tailEnd/>
            </a:ln>
            <a:extLst>
              <a:ext uri="{909E8E84-426E-40DD-AFC4-6F175D3DCCD1}">
                <a14:hiddenFill xmlns:a14="http://schemas.microsoft.com/office/drawing/2010/main">
                  <a:noFill/>
                </a14:hiddenFill>
              </a:ext>
            </a:extLst>
          </p:spPr>
        </p:cxnSp>
        <p:cxnSp>
          <p:nvCxnSpPr>
            <p:cNvPr id="44063" name="Straight Connector 7"/>
            <p:cNvCxnSpPr>
              <a:cxnSpLocks noChangeShapeType="1"/>
            </p:cNvCxnSpPr>
            <p:nvPr/>
          </p:nvCxnSpPr>
          <p:spPr bwMode="auto">
            <a:xfrm>
              <a:off x="1600200" y="5730481"/>
              <a:ext cx="5943600" cy="1588"/>
            </a:xfrm>
            <a:prstGeom prst="line">
              <a:avLst/>
            </a:prstGeom>
            <a:noFill/>
            <a:ln w="25400" algn="ctr">
              <a:solidFill>
                <a:srgbClr val="000000"/>
              </a:solidFill>
              <a:round/>
              <a:headEnd/>
              <a:tailEnd/>
            </a:ln>
            <a:extLst>
              <a:ext uri="{909E8E84-426E-40DD-AFC4-6F175D3DCCD1}">
                <a14:hiddenFill xmlns:a14="http://schemas.microsoft.com/office/drawing/2010/main">
                  <a:noFill/>
                </a14:hiddenFill>
              </a:ext>
            </a:extLst>
          </p:spPr>
        </p:cxnSp>
        <p:sp>
          <p:nvSpPr>
            <p:cNvPr id="44064" name="TextBox 47"/>
            <p:cNvSpPr txBox="1">
              <a:spLocks noChangeArrowheads="1"/>
            </p:cNvSpPr>
            <p:nvPr/>
          </p:nvSpPr>
          <p:spPr bwMode="auto">
            <a:xfrm>
              <a:off x="76193" y="774303"/>
              <a:ext cx="1371490" cy="75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b="1" dirty="0">
                  <a:latin typeface="Century Gothic"/>
                  <a:cs typeface="Century Gothic"/>
                </a:rPr>
                <a:t>Price per unit</a:t>
              </a:r>
            </a:p>
          </p:txBody>
        </p:sp>
        <p:sp>
          <p:nvSpPr>
            <p:cNvPr id="44065" name="TextBox 49"/>
            <p:cNvSpPr txBox="1">
              <a:spLocks noChangeArrowheads="1"/>
            </p:cNvSpPr>
            <p:nvPr/>
          </p:nvSpPr>
          <p:spPr bwMode="auto">
            <a:xfrm>
              <a:off x="6705200" y="5730935"/>
              <a:ext cx="1135566" cy="4289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b="1">
                  <a:latin typeface="Century Gothic"/>
                  <a:cs typeface="Century Gothic"/>
                </a:rPr>
                <a:t>Quantity</a:t>
              </a:r>
            </a:p>
          </p:txBody>
        </p:sp>
      </p:grpSp>
      <p:cxnSp>
        <p:nvCxnSpPr>
          <p:cNvPr id="77" name="Straight Connector 76"/>
          <p:cNvCxnSpPr/>
          <p:nvPr/>
        </p:nvCxnSpPr>
        <p:spPr>
          <a:xfrm flipV="1">
            <a:off x="1600200" y="5257800"/>
            <a:ext cx="228600" cy="762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8" name="Straight Connector 77"/>
          <p:cNvCxnSpPr/>
          <p:nvPr/>
        </p:nvCxnSpPr>
        <p:spPr>
          <a:xfrm flipV="1">
            <a:off x="1600200" y="5410200"/>
            <a:ext cx="228600" cy="762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9" name="Straight Connector 78"/>
          <p:cNvCxnSpPr/>
          <p:nvPr/>
        </p:nvCxnSpPr>
        <p:spPr>
          <a:xfrm rot="16200000" flipV="1">
            <a:off x="1905000" y="5638800"/>
            <a:ext cx="152400" cy="1524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0" name="Straight Connector 79"/>
          <p:cNvCxnSpPr/>
          <p:nvPr/>
        </p:nvCxnSpPr>
        <p:spPr>
          <a:xfrm rot="16200000" flipV="1">
            <a:off x="2057400" y="5638800"/>
            <a:ext cx="152400" cy="1524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81" name="TextBox 80"/>
          <p:cNvSpPr txBox="1">
            <a:spLocks noChangeArrowheads="1"/>
          </p:cNvSpPr>
          <p:nvPr/>
        </p:nvSpPr>
        <p:spPr bwMode="auto">
          <a:xfrm>
            <a:off x="6934200" y="4572000"/>
            <a:ext cx="1676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r>
              <a:rPr lang="en-US" sz="1600" b="1" i="1" dirty="0">
                <a:solidFill>
                  <a:schemeClr val="accent1">
                    <a:lumMod val="75000"/>
                  </a:schemeClr>
                </a:solidFill>
                <a:latin typeface="Century Gothic"/>
                <a:cs typeface="Century Gothic"/>
              </a:rPr>
              <a:t>D</a:t>
            </a:r>
            <a:r>
              <a:rPr lang="en-US" sz="1600" b="1" dirty="0">
                <a:solidFill>
                  <a:schemeClr val="accent1">
                    <a:lumMod val="75000"/>
                  </a:schemeClr>
                </a:solidFill>
                <a:latin typeface="Century Gothic"/>
                <a:cs typeface="Century Gothic"/>
              </a:rPr>
              <a:t>2</a:t>
            </a:r>
          </a:p>
        </p:txBody>
      </p:sp>
      <p:grpSp>
        <p:nvGrpSpPr>
          <p:cNvPr id="7" name="Group 39"/>
          <p:cNvGrpSpPr>
            <a:grpSpLocks/>
          </p:cNvGrpSpPr>
          <p:nvPr/>
        </p:nvGrpSpPr>
        <p:grpSpPr bwMode="auto">
          <a:xfrm>
            <a:off x="2817813" y="1752600"/>
            <a:ext cx="5032375" cy="2211388"/>
            <a:chOff x="3198030" y="2209800"/>
            <a:chExt cx="5031570" cy="2211388"/>
          </a:xfrm>
        </p:grpSpPr>
        <p:cxnSp>
          <p:nvCxnSpPr>
            <p:cNvPr id="41" name="Straight Arrow Connector 40"/>
            <p:cNvCxnSpPr/>
            <p:nvPr/>
          </p:nvCxnSpPr>
          <p:spPr bwMode="auto">
            <a:xfrm rot="5400000" flipH="1" flipV="1">
              <a:off x="2650342" y="3519488"/>
              <a:ext cx="1096963" cy="1587"/>
            </a:xfrm>
            <a:prstGeom prst="straightConnector1">
              <a:avLst/>
            </a:prstGeom>
            <a:ln w="12700">
              <a:tailEnd type="arrow"/>
            </a:ln>
          </p:spPr>
          <p:style>
            <a:lnRef idx="1">
              <a:schemeClr val="dk1"/>
            </a:lnRef>
            <a:fillRef idx="0">
              <a:schemeClr val="dk1"/>
            </a:fillRef>
            <a:effectRef idx="0">
              <a:schemeClr val="dk1"/>
            </a:effectRef>
            <a:fontRef idx="minor">
              <a:schemeClr val="tx1"/>
            </a:fontRef>
          </p:style>
        </p:cxnSp>
        <p:cxnSp>
          <p:nvCxnSpPr>
            <p:cNvPr id="42" name="Straight Arrow Connector 41"/>
            <p:cNvCxnSpPr/>
            <p:nvPr/>
          </p:nvCxnSpPr>
          <p:spPr bwMode="auto">
            <a:xfrm>
              <a:off x="3428180" y="4419600"/>
              <a:ext cx="1447568" cy="1588"/>
            </a:xfrm>
            <a:prstGeom prst="straightConnector1">
              <a:avLst/>
            </a:prstGeom>
            <a:ln w="12700">
              <a:tailEnd type="arrow"/>
            </a:ln>
          </p:spPr>
          <p:style>
            <a:lnRef idx="1">
              <a:schemeClr val="dk1"/>
            </a:lnRef>
            <a:fillRef idx="0">
              <a:schemeClr val="dk1"/>
            </a:fillRef>
            <a:effectRef idx="0">
              <a:schemeClr val="dk1"/>
            </a:effectRef>
            <a:fontRef idx="minor">
              <a:schemeClr val="tx1"/>
            </a:fontRef>
          </p:style>
        </p:cxnSp>
        <p:sp>
          <p:nvSpPr>
            <p:cNvPr id="44058" name="TextBox 60"/>
            <p:cNvSpPr txBox="1">
              <a:spLocks noChangeArrowheads="1"/>
            </p:cNvSpPr>
            <p:nvPr/>
          </p:nvSpPr>
          <p:spPr bwMode="auto">
            <a:xfrm>
              <a:off x="4724961" y="3352800"/>
              <a:ext cx="3504639" cy="64135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b="1" dirty="0">
                  <a:latin typeface="Century Gothic"/>
                  <a:cs typeface="Century Gothic"/>
                </a:rPr>
                <a:t>Greater quantity demanded at the same price</a:t>
              </a:r>
            </a:p>
          </p:txBody>
        </p:sp>
        <p:sp>
          <p:nvSpPr>
            <p:cNvPr id="44059" name="TextBox 63"/>
            <p:cNvSpPr txBox="1">
              <a:spLocks noChangeArrowheads="1"/>
            </p:cNvSpPr>
            <p:nvPr/>
          </p:nvSpPr>
          <p:spPr bwMode="auto">
            <a:xfrm>
              <a:off x="3582144" y="2209800"/>
              <a:ext cx="2971324" cy="92333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b="1" dirty="0">
                  <a:latin typeface="Century Gothic"/>
                  <a:cs typeface="Century Gothic"/>
                </a:rPr>
                <a:t>Greater willingness to pay for the same quantity</a:t>
              </a:r>
            </a:p>
          </p:txBody>
        </p:sp>
        <p:cxnSp>
          <p:nvCxnSpPr>
            <p:cNvPr id="44060" name="Straight Arrow Connector 44"/>
            <p:cNvCxnSpPr>
              <a:cxnSpLocks noChangeShapeType="1"/>
            </p:cNvCxnSpPr>
            <p:nvPr/>
          </p:nvCxnSpPr>
          <p:spPr bwMode="auto">
            <a:xfrm rot="10800000" flipV="1">
              <a:off x="4039270" y="3962400"/>
              <a:ext cx="761878" cy="381000"/>
            </a:xfrm>
            <a:prstGeom prst="straightConnector1">
              <a:avLst/>
            </a:prstGeom>
            <a:noFill/>
            <a:ln w="25400" algn="ctr">
              <a:solidFill>
                <a:schemeClr val="tx1"/>
              </a:solidFill>
              <a:round/>
              <a:headEnd/>
              <a:tailEnd type="arrow" w="med" len="me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44061" name="Straight Arrow Connector 45"/>
            <p:cNvCxnSpPr>
              <a:cxnSpLocks noChangeShapeType="1"/>
            </p:cNvCxnSpPr>
            <p:nvPr/>
          </p:nvCxnSpPr>
          <p:spPr bwMode="auto">
            <a:xfrm rot="10800000" flipV="1">
              <a:off x="3351992" y="3124200"/>
              <a:ext cx="763466" cy="685800"/>
            </a:xfrm>
            <a:prstGeom prst="straightConnector1">
              <a:avLst/>
            </a:prstGeom>
            <a:noFill/>
            <a:ln w="25400" algn="ctr">
              <a:solidFill>
                <a:schemeClr val="tx1"/>
              </a:solidFill>
              <a:round/>
              <a:headEnd/>
              <a:tailEnd type="arrow" w="med" len="me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grpSp>
      <p:sp>
        <p:nvSpPr>
          <p:cNvPr id="40" name="Oval 39"/>
          <p:cNvSpPr/>
          <p:nvPr/>
        </p:nvSpPr>
        <p:spPr>
          <a:xfrm>
            <a:off x="8382000" y="6096000"/>
            <a:ext cx="744538" cy="747713"/>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Century Gothic"/>
              <a:cs typeface="Century Gothic"/>
            </a:endParaRPr>
          </a:p>
        </p:txBody>
      </p:sp>
      <p:sp>
        <p:nvSpPr>
          <p:cNvPr id="44055" name="TextBox 42">
            <a:hlinkClick r:id="rId3" action="ppaction://hlinksldjump"/>
          </p:cNvPr>
          <p:cNvSpPr txBox="1">
            <a:spLocks noChangeArrowheads="1"/>
          </p:cNvSpPr>
          <p:nvPr/>
        </p:nvSpPr>
        <p:spPr bwMode="auto">
          <a:xfrm>
            <a:off x="8428038" y="6203950"/>
            <a:ext cx="6699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900" dirty="0">
                <a:latin typeface="Century Gothic"/>
                <a:cs typeface="Century Gothic"/>
                <a:hlinkClick r:id="rId3" action="ppaction://hlinksldjump"/>
              </a:rPr>
              <a:t>Back to Table of contents</a:t>
            </a:r>
            <a:endParaRPr lang="en-US" sz="900" dirty="0">
              <a:latin typeface="Century Gothic"/>
              <a:cs typeface="Century Gothic"/>
            </a:endParaRPr>
          </a:p>
          <a:p>
            <a:pPr eaLnBrk="1" hangingPunct="1"/>
            <a:endParaRPr lang="en-US" sz="900" dirty="0">
              <a:latin typeface="Century Gothic"/>
              <a:cs typeface="Century Gothic"/>
            </a:endParaRPr>
          </a:p>
        </p:txBody>
      </p:sp>
      <p:sp>
        <p:nvSpPr>
          <p:cNvPr id="43" name="TextBox 42"/>
          <p:cNvSpPr txBox="1"/>
          <p:nvPr/>
        </p:nvSpPr>
        <p:spPr>
          <a:xfrm>
            <a:off x="914400" y="914400"/>
            <a:ext cx="6543483" cy="381000"/>
          </a:xfrm>
          <a:prstGeom prst="rect">
            <a:avLst/>
          </a:prstGeom>
          <a:noFill/>
        </p:spPr>
        <p:txBody>
          <a:bodyPr wrap="square" rtlCol="0">
            <a:spAutoFit/>
          </a:bodyPr>
          <a:lstStyle/>
          <a:p>
            <a:pPr algn="ctr"/>
            <a:r>
              <a:rPr lang="en-US" b="1" i="1" dirty="0">
                <a:solidFill>
                  <a:srgbClr val="990033"/>
                </a:solidFill>
                <a:latin typeface="Century Gothic"/>
                <a:cs typeface="Century Gothic"/>
              </a:rPr>
              <a:t>An increase in demand </a:t>
            </a:r>
            <a:r>
              <a:rPr lang="en-US" i="1" dirty="0">
                <a:solidFill>
                  <a:schemeClr val="tx1">
                    <a:lumMod val="75000"/>
                    <a:lumOff val="25000"/>
                  </a:schemeClr>
                </a:solidFill>
                <a:latin typeface="Century Gothic"/>
                <a:cs typeface="Century Gothic"/>
              </a:rPr>
              <a:t>is a rightward shift.</a:t>
            </a:r>
          </a:p>
        </p:txBody>
      </p:sp>
    </p:spTree>
    <p:extLst>
      <p:ext uri="{BB962C8B-B14F-4D97-AF65-F5344CB8AC3E}">
        <p14:creationId xmlns:p14="http://schemas.microsoft.com/office/powerpoint/2010/main" val="88878726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0" presetClass="path" presetSubtype="0" accel="50000" decel="50000" fill="hold" nodeType="clickEffect">
                                  <p:stCondLst>
                                    <p:cond delay="0"/>
                                  </p:stCondLst>
                                  <p:childTnLst>
                                    <p:animMotion origin="layout" path="M 5.55112E-17 4.28869E-6 L 0.07083 -0.09091 " pathEditMode="relative" rAng="0" ptsTypes="AA">
                                      <p:cBhvr>
                                        <p:cTn id="6" dur="2000" fill="hold"/>
                                        <p:tgtEl>
                                          <p:spTgt spid="3"/>
                                        </p:tgtEl>
                                        <p:attrNameLst>
                                          <p:attrName>ppt_x</p:attrName>
                                          <p:attrName>ppt_y</p:attrName>
                                        </p:attrNameLst>
                                      </p:cBhvr>
                                      <p:rCtr x="3500" y="-4600"/>
                                    </p:animMotion>
                                  </p:childTnLst>
                                </p:cTn>
                              </p:par>
                            </p:childTnLst>
                          </p:cTn>
                        </p:par>
                        <p:par>
                          <p:cTn id="7" fill="hold" nodeType="afterGroup">
                            <p:stCondLst>
                              <p:cond delay="2000"/>
                            </p:stCondLst>
                            <p:childTnLst>
                              <p:par>
                                <p:cTn id="8" presetID="10" presetClass="entr" presetSubtype="0" fill="hold" grpId="0" nodeType="afterEffect">
                                  <p:stCondLst>
                                    <p:cond delay="0"/>
                                  </p:stCondLst>
                                  <p:childTnLst>
                                    <p:set>
                                      <p:cBhvr>
                                        <p:cTn id="9" dur="1" fill="hold">
                                          <p:stCondLst>
                                            <p:cond delay="0"/>
                                          </p:stCondLst>
                                        </p:cTn>
                                        <p:tgtEl>
                                          <p:spTgt spid="81"/>
                                        </p:tgtEl>
                                        <p:attrNameLst>
                                          <p:attrName>style.visibility</p:attrName>
                                        </p:attrNameLst>
                                      </p:cBhvr>
                                      <p:to>
                                        <p:strVal val="visible"/>
                                      </p:to>
                                    </p:set>
                                    <p:animEffect transition="in" filter="fade">
                                      <p:cBhvr>
                                        <p:cTn id="10" dur="2000"/>
                                        <p:tgtEl>
                                          <p:spTgt spid="81"/>
                                        </p:tgtEl>
                                      </p:cBhvr>
                                    </p:animEffect>
                                  </p:childTnLst>
                                </p:cTn>
                              </p:par>
                            </p:childTnLst>
                          </p:cTn>
                        </p:par>
                        <p:par>
                          <p:cTn id="11" fill="hold" nodeType="afterGroup">
                            <p:stCondLst>
                              <p:cond delay="4000"/>
                            </p:stCondLst>
                            <p:childTnLst>
                              <p:par>
                                <p:cTn id="12" presetID="9" presetClass="entr" presetSubtype="0"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dissolve">
                                      <p:cBhvr>
                                        <p:cTn id="14" dur="500"/>
                                        <p:tgtEl>
                                          <p:spTgt spid="2"/>
                                        </p:tgtEl>
                                      </p:cBhvr>
                                    </p:animEffect>
                                  </p:childTnLst>
                                </p:cTn>
                              </p:par>
                            </p:childTnLst>
                          </p:cTn>
                        </p:par>
                        <p:par>
                          <p:cTn id="15" fill="hold" nodeType="afterGroup">
                            <p:stCondLst>
                              <p:cond delay="4500"/>
                            </p:stCondLst>
                            <p:childTnLst>
                              <p:par>
                                <p:cTn id="16" presetID="9" presetClass="entr" presetSubtype="0" fill="hold" grpId="0" nodeType="afterEffect">
                                  <p:stCondLst>
                                    <p:cond delay="0"/>
                                  </p:stCondLst>
                                  <p:childTnLst>
                                    <p:set>
                                      <p:cBhvr>
                                        <p:cTn id="17" dur="1" fill="hold">
                                          <p:stCondLst>
                                            <p:cond delay="0"/>
                                          </p:stCondLst>
                                        </p:cTn>
                                        <p:tgtEl>
                                          <p:spTgt spid="49"/>
                                        </p:tgtEl>
                                        <p:attrNameLst>
                                          <p:attrName>style.visibility</p:attrName>
                                        </p:attrNameLst>
                                      </p:cBhvr>
                                      <p:to>
                                        <p:strVal val="visible"/>
                                      </p:to>
                                    </p:set>
                                    <p:animEffect transition="in" filter="dissolve">
                                      <p:cBhvr>
                                        <p:cTn id="18" dur="500"/>
                                        <p:tgtEl>
                                          <p:spTgt spid="49"/>
                                        </p:tgtEl>
                                      </p:cBhvr>
                                    </p:animEffect>
                                  </p:childTnLst>
                                </p:cTn>
                              </p:par>
                            </p:childTnLst>
                          </p:cTn>
                        </p:par>
                        <p:par>
                          <p:cTn id="19" fill="hold" nodeType="afterGroup">
                            <p:stCondLst>
                              <p:cond delay="5000"/>
                            </p:stCondLst>
                            <p:childTnLst>
                              <p:par>
                                <p:cTn id="20" presetID="9" presetClass="entr" presetSubtype="0" fill="hold" grpId="0" nodeType="after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dissolve">
                                      <p:cBhvr>
                                        <p:cTn id="22" dur="500"/>
                                        <p:tgtEl>
                                          <p:spTgt spid="50"/>
                                        </p:tgtEl>
                                      </p:cBhvr>
                                    </p:animEffect>
                                  </p:childTnLst>
                                </p:cTn>
                              </p:par>
                            </p:childTnLst>
                          </p:cTn>
                        </p:par>
                        <p:par>
                          <p:cTn id="23" fill="hold" nodeType="afterGroup">
                            <p:stCondLst>
                              <p:cond delay="5500"/>
                            </p:stCondLst>
                            <p:childTnLst>
                              <p:par>
                                <p:cTn id="24" presetID="9"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dissolve">
                                      <p:cBhvr>
                                        <p:cTn id="2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0" grpId="0"/>
      <p:bldP spid="8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4"/>
          <p:cNvSpPr>
            <a:spLocks noGrp="1"/>
          </p:cNvSpPr>
          <p:nvPr>
            <p:ph type="title"/>
          </p:nvPr>
        </p:nvSpPr>
        <p:spPr bwMode="auto">
          <a:xfrm>
            <a:off x="0" y="0"/>
            <a:ext cx="9144000" cy="1066800"/>
          </a:xfrm>
        </p:spPr>
        <p:txBody>
          <a:bodyPr wrap="square" numCol="1" anchorCtr="0" compatLnSpc="1">
            <a:prstTxWarp prst="textNoShape">
              <a:avLst/>
            </a:prstTxWarp>
            <a:noAutofit/>
          </a:bodyPr>
          <a:lstStyle/>
          <a:p>
            <a:pPr fontAlgn="auto">
              <a:spcAft>
                <a:spcPts val="0"/>
              </a:spcAft>
              <a:defRPr/>
            </a:pPr>
            <a:r>
              <a:rPr lang="en-US" sz="3600" dirty="0"/>
              <a:t>UNDERSTANDING SHIFTS OF THE DEMAND CURVE</a:t>
            </a:r>
            <a:endParaRPr lang="en-US" sz="3600" dirty="0">
              <a:solidFill>
                <a:schemeClr val="accent6">
                  <a:lumMod val="75000"/>
                </a:schemeClr>
              </a:solidFill>
            </a:endParaRPr>
          </a:p>
        </p:txBody>
      </p:sp>
      <p:sp>
        <p:nvSpPr>
          <p:cNvPr id="6" name="Rectangle 3"/>
          <p:cNvSpPr>
            <a:spLocks noGrp="1" noChangeArrowheads="1"/>
          </p:cNvSpPr>
          <p:nvPr>
            <p:ph idx="1"/>
          </p:nvPr>
        </p:nvSpPr>
        <p:spPr>
          <a:xfrm>
            <a:off x="228600" y="1447800"/>
            <a:ext cx="8839200" cy="4648200"/>
          </a:xfrm>
        </p:spPr>
        <p:txBody>
          <a:bodyPr rtlCol="0">
            <a:noAutofit/>
          </a:bodyPr>
          <a:lstStyle/>
          <a:p>
            <a:pPr fontAlgn="auto">
              <a:spcAft>
                <a:spcPts val="0"/>
              </a:spcAft>
              <a:defRPr/>
            </a:pPr>
            <a:r>
              <a:rPr lang="en-US" dirty="0">
                <a:ea typeface="ＭＳ Ｐゴシック" pitchFamily="34" charset="-128"/>
                <a:cs typeface="Arial" charset="0"/>
              </a:rPr>
              <a:t>Important demand shifters:</a:t>
            </a:r>
          </a:p>
          <a:p>
            <a:pPr marL="971550" lvl="1" indent="-514350" fontAlgn="auto">
              <a:spcAft>
                <a:spcPts val="0"/>
              </a:spcAft>
              <a:buFont typeface="Calibri" pitchFamily="34" charset="0"/>
              <a:buAutoNum type="arabicPeriod"/>
              <a:defRPr/>
            </a:pPr>
            <a:r>
              <a:rPr lang="en-US" sz="3200" b="0" dirty="0"/>
              <a:t>Changes in the </a:t>
            </a:r>
            <a:r>
              <a:rPr lang="en-US" sz="3200" dirty="0">
                <a:solidFill>
                  <a:srgbClr val="990033"/>
                </a:solidFill>
                <a:ea typeface="+mj-ea"/>
                <a:cs typeface="+mj-cs"/>
              </a:rPr>
              <a:t>prices of related goods or services</a:t>
            </a:r>
          </a:p>
          <a:p>
            <a:pPr marL="971550" lvl="1" indent="-514350" fontAlgn="auto">
              <a:spcAft>
                <a:spcPts val="0"/>
              </a:spcAft>
              <a:buFont typeface="Calibri" pitchFamily="34" charset="0"/>
              <a:buAutoNum type="arabicPeriod"/>
              <a:defRPr/>
            </a:pPr>
            <a:r>
              <a:rPr lang="en-US" sz="3200" b="0" dirty="0"/>
              <a:t>Changes in </a:t>
            </a:r>
            <a:r>
              <a:rPr lang="en-US" sz="3200" dirty="0">
                <a:solidFill>
                  <a:srgbClr val="990033"/>
                </a:solidFill>
                <a:ea typeface="+mj-ea"/>
                <a:cs typeface="+mj-cs"/>
              </a:rPr>
              <a:t>income</a:t>
            </a:r>
          </a:p>
          <a:p>
            <a:pPr marL="971550" lvl="1" indent="-514350" fontAlgn="auto">
              <a:spcAft>
                <a:spcPts val="0"/>
              </a:spcAft>
              <a:buFont typeface="Calibri" pitchFamily="34" charset="0"/>
              <a:buAutoNum type="arabicPeriod"/>
              <a:defRPr/>
            </a:pPr>
            <a:r>
              <a:rPr lang="en-US" sz="3200" b="0" dirty="0"/>
              <a:t>Changes in </a:t>
            </a:r>
            <a:r>
              <a:rPr lang="en-US" sz="3200" dirty="0">
                <a:solidFill>
                  <a:srgbClr val="990033"/>
                </a:solidFill>
                <a:ea typeface="+mj-ea"/>
                <a:cs typeface="+mj-cs"/>
              </a:rPr>
              <a:t>tastes</a:t>
            </a:r>
          </a:p>
          <a:p>
            <a:pPr marL="971550" lvl="1" indent="-514350" fontAlgn="auto">
              <a:spcAft>
                <a:spcPts val="0"/>
              </a:spcAft>
              <a:buFont typeface="Calibri" pitchFamily="34" charset="0"/>
              <a:buAutoNum type="arabicPeriod"/>
              <a:defRPr/>
            </a:pPr>
            <a:r>
              <a:rPr lang="en-US" sz="3200" b="0" dirty="0"/>
              <a:t>Changes in </a:t>
            </a:r>
            <a:r>
              <a:rPr lang="en-US" sz="3200" dirty="0">
                <a:solidFill>
                  <a:srgbClr val="990033"/>
                </a:solidFill>
                <a:ea typeface="+mj-ea"/>
                <a:cs typeface="+mj-cs"/>
              </a:rPr>
              <a:t>expectations</a:t>
            </a:r>
          </a:p>
          <a:p>
            <a:pPr marL="971550" lvl="1" indent="-514350" fontAlgn="auto">
              <a:spcAft>
                <a:spcPts val="0"/>
              </a:spcAft>
              <a:buFont typeface="Calibri" pitchFamily="34" charset="0"/>
              <a:buAutoNum type="arabicPeriod"/>
              <a:defRPr/>
            </a:pPr>
            <a:r>
              <a:rPr lang="en-US" sz="3200" b="0" dirty="0"/>
              <a:t>Changes in the </a:t>
            </a:r>
            <a:r>
              <a:rPr lang="en-US" sz="3200" dirty="0">
                <a:solidFill>
                  <a:srgbClr val="990033"/>
                </a:solidFill>
                <a:ea typeface="+mj-ea"/>
                <a:cs typeface="+mj-cs"/>
              </a:rPr>
              <a:t>number of consumers</a:t>
            </a:r>
          </a:p>
        </p:txBody>
      </p:sp>
      <p:sp>
        <p:nvSpPr>
          <p:cNvPr id="7" name="Oval 6"/>
          <p:cNvSpPr/>
          <p:nvPr/>
        </p:nvSpPr>
        <p:spPr>
          <a:xfrm>
            <a:off x="8382000" y="6096000"/>
            <a:ext cx="744538" cy="747713"/>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5062" name="TextBox 7">
            <a:hlinkClick r:id="rId3" action="ppaction://hlinksldjump"/>
          </p:cNvPr>
          <p:cNvSpPr txBox="1">
            <a:spLocks noChangeArrowheads="1"/>
          </p:cNvSpPr>
          <p:nvPr/>
        </p:nvSpPr>
        <p:spPr bwMode="auto">
          <a:xfrm>
            <a:off x="8428038" y="6203950"/>
            <a:ext cx="6699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1000">
                <a:latin typeface="Candara" pitchFamily="34" charset="0"/>
                <a:hlinkClick r:id="rId3" action="ppaction://hlinksldjump"/>
              </a:rPr>
              <a:t>Back to Table of contents</a:t>
            </a:r>
            <a:endParaRPr lang="en-US" sz="1000">
              <a:latin typeface="Candara" pitchFamily="34" charset="0"/>
            </a:endParaRPr>
          </a:p>
          <a:p>
            <a:pPr eaLnBrk="1" hangingPunct="1"/>
            <a:endParaRPr lang="en-US" sz="1000">
              <a:latin typeface="Candara" pitchFamily="34" charset="0"/>
            </a:endParaRPr>
          </a:p>
        </p:txBody>
      </p:sp>
    </p:spTree>
    <p:extLst>
      <p:ext uri="{BB962C8B-B14F-4D97-AF65-F5344CB8AC3E}">
        <p14:creationId xmlns:p14="http://schemas.microsoft.com/office/powerpoint/2010/main" val="3667971150"/>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0" y="0"/>
            <a:ext cx="9144000" cy="914400"/>
          </a:xfrm>
        </p:spPr>
        <p:txBody>
          <a:bodyPr wrap="square" numCol="1" anchorCtr="0" compatLnSpc="1">
            <a:prstTxWarp prst="textNoShape">
              <a:avLst/>
            </a:prstTxWarp>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auto" hangingPunct="1">
              <a:spcAft>
                <a:spcPts val="0"/>
              </a:spcAft>
              <a:defRPr/>
            </a:pPr>
            <a:r>
              <a:rPr lang="en-US" sz="3600" dirty="0">
                <a:solidFill>
                  <a:srgbClr val="9BBB59"/>
                </a:solidFill>
                <a:latin typeface="Century Gothic"/>
              </a:rPr>
              <a:t>CHANGES IN PRICE OF RELATED GOODS: SUBSTITUTES</a:t>
            </a:r>
          </a:p>
        </p:txBody>
      </p:sp>
      <p:sp>
        <p:nvSpPr>
          <p:cNvPr id="31747" name="Rectangle 3"/>
          <p:cNvSpPr>
            <a:spLocks noGrp="1" noChangeArrowheads="1"/>
          </p:cNvSpPr>
          <p:nvPr>
            <p:ph idx="1"/>
          </p:nvPr>
        </p:nvSpPr>
        <p:spPr>
          <a:xfrm>
            <a:off x="228600" y="1219200"/>
            <a:ext cx="8610600" cy="4495800"/>
          </a:xfrm>
        </p:spPr>
        <p:txBody>
          <a:bodyPr rtlCol="0">
            <a:normAutofit/>
          </a:bodyPr>
          <a:lstStyle/>
          <a:p>
            <a:pPr fontAlgn="auto">
              <a:spcAft>
                <a:spcPts val="0"/>
              </a:spcAft>
              <a:defRPr/>
            </a:pPr>
            <a:r>
              <a:rPr lang="en-US" dirty="0">
                <a:ea typeface="ＭＳ Ｐゴシック"/>
              </a:rPr>
              <a:t>Two goods are </a:t>
            </a:r>
            <a:r>
              <a:rPr lang="en-US" i="1" dirty="0">
                <a:solidFill>
                  <a:srgbClr val="990033"/>
                </a:solidFill>
                <a:ea typeface="ＭＳ Ｐゴシック"/>
              </a:rPr>
              <a:t>substitutes</a:t>
            </a:r>
            <a:r>
              <a:rPr lang="en-US" dirty="0">
                <a:ea typeface="ＭＳ Ｐゴシック"/>
              </a:rPr>
              <a:t> if a decrease in the price of one leads to a decrease in demand for the other (or vice versa).</a:t>
            </a:r>
          </a:p>
          <a:p>
            <a:pPr marL="914400" lvl="1" indent="-514350" fontAlgn="auto">
              <a:spcAft>
                <a:spcPts val="0"/>
              </a:spcAft>
              <a:buFont typeface="Arial" charset="0"/>
              <a:buNone/>
              <a:defRPr/>
            </a:pPr>
            <a:endParaRPr lang="en-US" dirty="0">
              <a:ea typeface="ＭＳ Ｐゴシック"/>
            </a:endParaRPr>
          </a:p>
          <a:p>
            <a:pPr marL="914400" lvl="1" indent="-514350" fontAlgn="auto">
              <a:spcAft>
                <a:spcPts val="0"/>
              </a:spcAft>
              <a:buFont typeface="Arial" charset="0"/>
              <a:buNone/>
              <a:defRPr/>
            </a:pPr>
            <a:r>
              <a:rPr lang="en-US" sz="3200" dirty="0">
                <a:ea typeface="ＭＳ Ｐゴシック"/>
              </a:rPr>
              <a:t>	What happens to the demand for travel in Hawaii if the (perceived) safety cost of traveling to Mexico increases?</a:t>
            </a:r>
            <a:endParaRPr lang="en-US" dirty="0">
              <a:ea typeface="ＭＳ Ｐゴシック"/>
            </a:endParaRPr>
          </a:p>
          <a:p>
            <a:pPr marL="514350" indent="-514350" fontAlgn="auto">
              <a:spcAft>
                <a:spcPts val="0"/>
              </a:spcAft>
              <a:defRPr/>
            </a:pPr>
            <a:endParaRPr lang="en-US" sz="3600" dirty="0">
              <a:ea typeface="ＭＳ Ｐゴシック"/>
            </a:endParaRPr>
          </a:p>
        </p:txBody>
      </p:sp>
      <p:pic>
        <p:nvPicPr>
          <p:cNvPr id="46085" name="Picture 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0" y="5143500"/>
            <a:ext cx="2259013" cy="171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086" name="Picture 3"/>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7029450" y="4676775"/>
            <a:ext cx="2133600" cy="219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Oval 7"/>
          <p:cNvSpPr/>
          <p:nvPr/>
        </p:nvSpPr>
        <p:spPr>
          <a:xfrm>
            <a:off x="8382000" y="6096000"/>
            <a:ext cx="744538" cy="747713"/>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6088" name="TextBox 8">
            <a:hlinkClick r:id="rId5" action="ppaction://hlinksldjump"/>
          </p:cNvPr>
          <p:cNvSpPr txBox="1">
            <a:spLocks noChangeArrowheads="1"/>
          </p:cNvSpPr>
          <p:nvPr/>
        </p:nvSpPr>
        <p:spPr bwMode="auto">
          <a:xfrm>
            <a:off x="8428038" y="6203950"/>
            <a:ext cx="6699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1000">
                <a:latin typeface="Candara" pitchFamily="34" charset="0"/>
                <a:hlinkClick r:id="rId5" action="ppaction://hlinksldjump"/>
              </a:rPr>
              <a:t>Back to Table of contents</a:t>
            </a:r>
            <a:endParaRPr lang="en-US" sz="1000">
              <a:latin typeface="Candara" pitchFamily="34" charset="0"/>
            </a:endParaRPr>
          </a:p>
          <a:p>
            <a:pPr eaLnBrk="1" hangingPunct="1"/>
            <a:endParaRPr lang="en-US" sz="1000">
              <a:latin typeface="Candara" pitchFamily="34" charset="0"/>
            </a:endParaRPr>
          </a:p>
        </p:txBody>
      </p:sp>
    </p:spTree>
    <p:extLst>
      <p:ext uri="{BB962C8B-B14F-4D97-AF65-F5344CB8AC3E}">
        <p14:creationId xmlns:p14="http://schemas.microsoft.com/office/powerpoint/2010/main" val="338223446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xit" presetSubtype="0" fill="hold" nodeType="clickEffect">
                                  <p:stCondLst>
                                    <p:cond delay="0"/>
                                  </p:stCondLst>
                                  <p:childTnLst>
                                    <p:animEffect transition="out" filter="fade">
                                      <p:cBhvr>
                                        <p:cTn id="6" dur="500"/>
                                        <p:tgtEl>
                                          <p:spTgt spid="31747">
                                            <p:txEl>
                                              <p:pRg st="2" end="2"/>
                                            </p:txEl>
                                          </p:spTgt>
                                        </p:tgtEl>
                                      </p:cBhvr>
                                    </p:animEffect>
                                    <p:set>
                                      <p:cBhvr>
                                        <p:cTn id="7" dur="1" fill="hold">
                                          <p:stCondLst>
                                            <p:cond delay="499"/>
                                          </p:stCondLst>
                                        </p:cTn>
                                        <p:tgtEl>
                                          <p:spTgt spid="31747">
                                            <p:txEl>
                                              <p:pRg st="2" end="2"/>
                                            </p:txEl>
                                          </p:spTgt>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31747">
                                            <p:txEl>
                                              <p:pRg st="0" end="0"/>
                                            </p:txEl>
                                          </p:spTgt>
                                        </p:tgtEl>
                                        <p:attrNameLst>
                                          <p:attrName>style.visibility</p:attrName>
                                        </p:attrNameLst>
                                      </p:cBhvr>
                                      <p:to>
                                        <p:strVal val="visible"/>
                                      </p:to>
                                    </p:set>
                                    <p:animEffect transition="in" filter="fade">
                                      <p:cBhvr>
                                        <p:cTn id="10" dur="500"/>
                                        <p:tgtEl>
                                          <p:spTgt spid="31747">
                                            <p:txEl>
                                              <p:pRg st="0" end="0"/>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mph" presetSubtype="2" fill="hold" nodeType="clickEffect">
                                  <p:stCondLst>
                                    <p:cond delay="0"/>
                                  </p:stCondLst>
                                  <p:childTnLst>
                                    <p:animClr clrSpc="rgb" dir="cw">
                                      <p:cBhvr override="childStyle">
                                        <p:cTn id="14" dur="2000" fill="hold"/>
                                        <p:tgtEl>
                                          <p:spTgt spid="31747">
                                            <p:txEl>
                                              <p:pRg st="0" end="0"/>
                                            </p:txEl>
                                          </p:spTgt>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48130" name="Picture 1" descr="http://www.morguefile.com/data/imageData/public/files/d/dantada/preview/fldr_2005_05_29/file000766680729.jp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0" y="990600"/>
            <a:ext cx="9151938"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5" name="Rectangle 2"/>
          <p:cNvSpPr>
            <a:spLocks noGrp="1" noChangeArrowheads="1"/>
          </p:cNvSpPr>
          <p:nvPr>
            <p:ph type="title"/>
          </p:nvPr>
        </p:nvSpPr>
        <p:spPr bwMode="auto">
          <a:xfrm>
            <a:off x="0" y="0"/>
            <a:ext cx="9144000" cy="990600"/>
          </a:xfrm>
        </p:spPr>
        <p:txBody>
          <a:bodyPr wrap="square" numCol="1" anchorCtr="0" compatLnSpc="1">
            <a:prstTxWarp prst="textNoShape">
              <a:avLst/>
            </a:prstTxWarp>
            <a:noAutofit/>
          </a:bodyPr>
          <a:lstStyle/>
          <a:p>
            <a:pPr fontAlgn="auto">
              <a:spcAft>
                <a:spcPts val="0"/>
              </a:spcAft>
              <a:defRPr/>
            </a:pPr>
            <a:r>
              <a:rPr lang="en-US" sz="3600" dirty="0">
                <a:solidFill>
                  <a:srgbClr val="9BBB59"/>
                </a:solidFill>
              </a:rPr>
              <a:t>CHANGES IN PRICE OF RELATED GOODS: COMPLEMENTS</a:t>
            </a:r>
          </a:p>
        </p:txBody>
      </p:sp>
      <p:sp>
        <p:nvSpPr>
          <p:cNvPr id="1570819" name="Rectangle 3"/>
          <p:cNvSpPr>
            <a:spLocks noGrp="1" noChangeArrowheads="1"/>
          </p:cNvSpPr>
          <p:nvPr>
            <p:ph idx="1"/>
          </p:nvPr>
        </p:nvSpPr>
        <p:spPr>
          <a:xfrm>
            <a:off x="0" y="3962400"/>
            <a:ext cx="9151938" cy="2438400"/>
          </a:xfrm>
          <a:solidFill>
            <a:schemeClr val="bg1">
              <a:alpha val="80000"/>
            </a:schemeClr>
          </a:solidFill>
        </p:spPr>
        <p:txBody>
          <a:bodyPr>
            <a:normAutofit/>
          </a:bodyPr>
          <a:lstStyle/>
          <a:p>
            <a:r>
              <a:rPr lang="en-US" sz="2400" dirty="0">
                <a:ea typeface="ＭＳ Ｐゴシック"/>
                <a:cs typeface="Arial" pitchFamily="34" charset="0"/>
              </a:rPr>
              <a:t>Two goods are </a:t>
            </a:r>
            <a:r>
              <a:rPr lang="en-US" sz="2400" i="1" dirty="0">
                <a:solidFill>
                  <a:srgbClr val="990033"/>
                </a:solidFill>
                <a:ea typeface="ＭＳ Ｐゴシック"/>
                <a:cs typeface="Arial" pitchFamily="34" charset="0"/>
              </a:rPr>
              <a:t>complements</a:t>
            </a:r>
            <a:r>
              <a:rPr lang="en-US" sz="2400" dirty="0">
                <a:effectLst>
                  <a:outerShdw blurRad="38100" dist="38100" dir="2700000" algn="tl">
                    <a:srgbClr val="000000">
                      <a:alpha val="43137"/>
                    </a:srgbClr>
                  </a:outerShdw>
                </a:effectLst>
                <a:ea typeface="ＭＳ Ｐゴシック"/>
                <a:cs typeface="Arial" pitchFamily="34" charset="0"/>
              </a:rPr>
              <a:t> </a:t>
            </a:r>
            <a:r>
              <a:rPr lang="en-US" sz="2400" dirty="0">
                <a:ea typeface="ＭＳ Ｐゴシック"/>
                <a:cs typeface="Arial" pitchFamily="34" charset="0"/>
              </a:rPr>
              <a:t>if a decrease in the price of one good leads to an increase in the demand for the other (or vice versa).</a:t>
            </a:r>
            <a:endParaRPr lang="en-US" sz="2400" dirty="0">
              <a:solidFill>
                <a:srgbClr val="0070C0"/>
              </a:solidFill>
            </a:endParaRPr>
          </a:p>
          <a:p>
            <a:r>
              <a:rPr lang="en-US" sz="2400" dirty="0">
                <a:solidFill>
                  <a:schemeClr val="accent1">
                    <a:lumMod val="75000"/>
                  </a:schemeClr>
                </a:solidFill>
              </a:rPr>
              <a:t>Consumers often have to buy goods together.</a:t>
            </a:r>
          </a:p>
          <a:p>
            <a:r>
              <a:rPr lang="en-US" sz="2400" dirty="0"/>
              <a:t>An </a:t>
            </a:r>
            <a:r>
              <a:rPr lang="en-US" sz="2400" dirty="0">
                <a:solidFill>
                  <a:srgbClr val="990033"/>
                </a:solidFill>
              </a:rPr>
              <a:t>increase in price of gasoline </a:t>
            </a:r>
            <a:r>
              <a:rPr lang="en-US" sz="2400" dirty="0"/>
              <a:t>will </a:t>
            </a:r>
            <a:r>
              <a:rPr lang="en-US" sz="2400" dirty="0">
                <a:solidFill>
                  <a:schemeClr val="accent1">
                    <a:lumMod val="75000"/>
                  </a:schemeClr>
                </a:solidFill>
              </a:rPr>
              <a:t>decrease the demand for SUVs.</a:t>
            </a:r>
          </a:p>
        </p:txBody>
      </p:sp>
      <p:sp>
        <p:nvSpPr>
          <p:cNvPr id="7" name="Oval 6"/>
          <p:cNvSpPr/>
          <p:nvPr/>
        </p:nvSpPr>
        <p:spPr>
          <a:xfrm>
            <a:off x="8382000" y="6096000"/>
            <a:ext cx="744538" cy="747713"/>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8135" name="TextBox 7">
            <a:hlinkClick r:id="rId4" action="ppaction://hlinksldjump"/>
          </p:cNvPr>
          <p:cNvSpPr txBox="1">
            <a:spLocks noChangeArrowheads="1"/>
          </p:cNvSpPr>
          <p:nvPr/>
        </p:nvSpPr>
        <p:spPr bwMode="auto">
          <a:xfrm>
            <a:off x="8428038" y="6203950"/>
            <a:ext cx="6699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1000">
                <a:latin typeface="Candara" pitchFamily="34" charset="0"/>
                <a:hlinkClick r:id="rId4" action="ppaction://hlinksldjump"/>
              </a:rPr>
              <a:t>Back to Table of contents</a:t>
            </a:r>
            <a:endParaRPr lang="en-US" sz="1000">
              <a:latin typeface="Candara" pitchFamily="34" charset="0"/>
            </a:endParaRPr>
          </a:p>
          <a:p>
            <a:pPr eaLnBrk="1" hangingPunct="1"/>
            <a:endParaRPr lang="en-US" sz="1000">
              <a:latin typeface="Candara" pitchFamily="34" charset="0"/>
            </a:endParaRPr>
          </a:p>
        </p:txBody>
      </p:sp>
    </p:spTree>
    <p:extLst>
      <p:ext uri="{BB962C8B-B14F-4D97-AF65-F5344CB8AC3E}">
        <p14:creationId xmlns:p14="http://schemas.microsoft.com/office/powerpoint/2010/main" val="148270356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70819">
                                            <p:bg/>
                                          </p:spTgt>
                                        </p:tgtEl>
                                        <p:attrNameLst>
                                          <p:attrName>style.visibility</p:attrName>
                                        </p:attrNameLst>
                                      </p:cBhvr>
                                      <p:to>
                                        <p:strVal val="visible"/>
                                      </p:to>
                                    </p:set>
                                    <p:animEffect transition="in" filter="fade">
                                      <p:cBhvr>
                                        <p:cTn id="7" dur="1000"/>
                                        <p:tgtEl>
                                          <p:spTgt spid="1570819">
                                            <p:bg/>
                                          </p:spTgt>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570819">
                                            <p:txEl>
                                              <p:pRg st="0" end="0"/>
                                            </p:txEl>
                                          </p:spTgt>
                                        </p:tgtEl>
                                        <p:attrNameLst>
                                          <p:attrName>style.visibility</p:attrName>
                                        </p:attrNameLst>
                                      </p:cBhvr>
                                      <p:to>
                                        <p:strVal val="visible"/>
                                      </p:to>
                                    </p:set>
                                    <p:animEffect transition="in" filter="fade">
                                      <p:cBhvr>
                                        <p:cTn id="11" dur="1000"/>
                                        <p:tgtEl>
                                          <p:spTgt spid="1570819">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570819">
                                            <p:txEl>
                                              <p:pRg st="1" end="1"/>
                                            </p:txEl>
                                          </p:spTgt>
                                        </p:tgtEl>
                                        <p:attrNameLst>
                                          <p:attrName>style.visibility</p:attrName>
                                        </p:attrNameLst>
                                      </p:cBhvr>
                                      <p:to>
                                        <p:strVal val="visible"/>
                                      </p:to>
                                    </p:set>
                                    <p:animEffect transition="in" filter="fade">
                                      <p:cBhvr>
                                        <p:cTn id="16" dur="1000"/>
                                        <p:tgtEl>
                                          <p:spTgt spid="1570819">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70819">
                                            <p:txEl>
                                              <p:pRg st="2" end="2"/>
                                            </p:txEl>
                                          </p:spTgt>
                                        </p:tgtEl>
                                        <p:attrNameLst>
                                          <p:attrName>style.visibility</p:attrName>
                                        </p:attrNameLst>
                                      </p:cBhvr>
                                      <p:to>
                                        <p:strVal val="visible"/>
                                      </p:to>
                                    </p:set>
                                    <p:animEffect transition="in" filter="fade">
                                      <p:cBhvr>
                                        <p:cTn id="21" dur="1000"/>
                                        <p:tgtEl>
                                          <p:spTgt spid="15708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0819" grpId="0" build="p"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p:txBody>
          <a:bodyPr wrap="square" numCol="1" anchorCtr="0" compatLnSpc="1">
            <a:prstTxWarp prst="textNoShape">
              <a:avLst/>
            </a:prstTxWarp>
            <a:norm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auto" hangingPunct="1">
              <a:spcAft>
                <a:spcPts val="0"/>
              </a:spcAft>
              <a:defRPr/>
            </a:pPr>
            <a:r>
              <a:rPr lang="en-US" sz="3600" dirty="0">
                <a:solidFill>
                  <a:srgbClr val="9BBB59"/>
                </a:solidFill>
                <a:latin typeface="Century Gothic"/>
              </a:rPr>
              <a:t>CHANGES IN INCOME</a:t>
            </a:r>
          </a:p>
        </p:txBody>
      </p:sp>
      <p:sp>
        <p:nvSpPr>
          <p:cNvPr id="31747" name="Rectangle 3"/>
          <p:cNvSpPr>
            <a:spLocks noGrp="1" noChangeArrowheads="1"/>
          </p:cNvSpPr>
          <p:nvPr>
            <p:ph idx="1"/>
          </p:nvPr>
        </p:nvSpPr>
        <p:spPr/>
        <p:txBody>
          <a:bodyPr rtlCol="0">
            <a:noAutofit/>
          </a:bodyPr>
          <a:lstStyle/>
          <a:p>
            <a:pPr fontAlgn="auto">
              <a:spcAft>
                <a:spcPts val="0"/>
              </a:spcAft>
              <a:defRPr/>
            </a:pPr>
            <a:r>
              <a:rPr lang="en-US" dirty="0">
                <a:ea typeface="ＭＳ Ｐゴシック"/>
              </a:rPr>
              <a:t>The effect of changes in income on demand </a:t>
            </a:r>
            <a:r>
              <a:rPr lang="en-US" i="1" dirty="0">
                <a:solidFill>
                  <a:schemeClr val="accent1">
                    <a:lumMod val="75000"/>
                  </a:schemeClr>
                </a:solidFill>
                <a:ea typeface="ＭＳ Ｐゴシック"/>
              </a:rPr>
              <a:t>depends on the nature of the good in question.</a:t>
            </a:r>
          </a:p>
          <a:p>
            <a:pPr lvl="1" fontAlgn="auto">
              <a:spcAft>
                <a:spcPts val="0"/>
              </a:spcAft>
              <a:defRPr/>
            </a:pPr>
            <a:r>
              <a:rPr lang="en-US" dirty="0">
                <a:ea typeface="ＭＳ Ｐゴシック"/>
              </a:rPr>
              <a:t>A </a:t>
            </a:r>
            <a:r>
              <a:rPr lang="en-US" i="1" dirty="0">
                <a:solidFill>
                  <a:srgbClr val="990033"/>
                </a:solidFill>
                <a:ea typeface="ＭＳ Ｐゴシック"/>
              </a:rPr>
              <a:t>normal good</a:t>
            </a:r>
            <a:r>
              <a:rPr lang="en-US" dirty="0">
                <a:solidFill>
                  <a:srgbClr val="990033"/>
                </a:solidFill>
                <a:ea typeface="ＭＳ Ｐゴシック"/>
              </a:rPr>
              <a:t>: </a:t>
            </a:r>
            <a:r>
              <a:rPr lang="en-US" dirty="0">
                <a:ea typeface="ＭＳ Ｐゴシック"/>
              </a:rPr>
              <a:t>Demand increases when income increases (and vice versa).</a:t>
            </a:r>
          </a:p>
          <a:p>
            <a:pPr lvl="1" fontAlgn="auto">
              <a:spcAft>
                <a:spcPts val="0"/>
              </a:spcAft>
              <a:defRPr/>
            </a:pPr>
            <a:r>
              <a:rPr lang="en-US" dirty="0">
                <a:ea typeface="ＭＳ Ｐゴシック"/>
              </a:rPr>
              <a:t>An </a:t>
            </a:r>
            <a:r>
              <a:rPr lang="en-US" i="1" dirty="0">
                <a:solidFill>
                  <a:srgbClr val="990033"/>
                </a:solidFill>
                <a:ea typeface="ＭＳ Ｐゴシック"/>
              </a:rPr>
              <a:t>inferior good</a:t>
            </a:r>
            <a:r>
              <a:rPr lang="en-US" dirty="0">
                <a:solidFill>
                  <a:srgbClr val="990033"/>
                </a:solidFill>
                <a:ea typeface="ＭＳ Ｐゴシック"/>
              </a:rPr>
              <a:t>: </a:t>
            </a:r>
            <a:r>
              <a:rPr lang="en-US" dirty="0">
                <a:ea typeface="ＭＳ Ｐゴシック"/>
              </a:rPr>
              <a:t>Demand decreases when income increases (and vice versa).</a:t>
            </a:r>
          </a:p>
        </p:txBody>
      </p:sp>
      <p:pic>
        <p:nvPicPr>
          <p:cNvPr id="2" name="Picture 1"/>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6807200" y="5105400"/>
            <a:ext cx="23368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0" y="4745038"/>
            <a:ext cx="2857500"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Oval 8"/>
          <p:cNvSpPr/>
          <p:nvPr/>
        </p:nvSpPr>
        <p:spPr>
          <a:xfrm>
            <a:off x="8382000" y="6096000"/>
            <a:ext cx="744538" cy="747713"/>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Century Gothic"/>
              <a:cs typeface="Century Gothic"/>
            </a:endParaRPr>
          </a:p>
        </p:txBody>
      </p:sp>
      <p:sp>
        <p:nvSpPr>
          <p:cNvPr id="49160" name="TextBox 9">
            <a:hlinkClick r:id="rId5" action="ppaction://hlinksldjump"/>
          </p:cNvPr>
          <p:cNvSpPr txBox="1">
            <a:spLocks noChangeArrowheads="1"/>
          </p:cNvSpPr>
          <p:nvPr/>
        </p:nvSpPr>
        <p:spPr bwMode="auto">
          <a:xfrm>
            <a:off x="8428038" y="6203950"/>
            <a:ext cx="6699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900" dirty="0">
                <a:latin typeface="Century Gothic"/>
                <a:cs typeface="Century Gothic"/>
                <a:hlinkClick r:id="rId5" action="ppaction://hlinksldjump"/>
              </a:rPr>
              <a:t>Back to Table of contents</a:t>
            </a:r>
            <a:endParaRPr lang="en-US" sz="900" dirty="0">
              <a:latin typeface="Century Gothic"/>
              <a:cs typeface="Century Gothic"/>
            </a:endParaRPr>
          </a:p>
          <a:p>
            <a:pPr eaLnBrk="1" hangingPunct="1"/>
            <a:endParaRPr lang="en-US" sz="900" dirty="0">
              <a:latin typeface="Century Gothic"/>
              <a:cs typeface="Century Gothic"/>
            </a:endParaRPr>
          </a:p>
        </p:txBody>
      </p:sp>
    </p:spTree>
    <p:extLst>
      <p:ext uri="{BB962C8B-B14F-4D97-AF65-F5344CB8AC3E}">
        <p14:creationId xmlns:p14="http://schemas.microsoft.com/office/powerpoint/2010/main" val="412693528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747">
                                            <p:txEl>
                                              <p:pRg st="1" end="1"/>
                                            </p:txEl>
                                          </p:spTgt>
                                        </p:tgtEl>
                                        <p:attrNameLst>
                                          <p:attrName>style.visibility</p:attrName>
                                        </p:attrNameLst>
                                      </p:cBhvr>
                                      <p:to>
                                        <p:strVal val="visible"/>
                                      </p:to>
                                    </p:set>
                                    <p:animEffect transition="in" filter="fade">
                                      <p:cBhvr>
                                        <p:cTn id="7" dur="1000"/>
                                        <p:tgtEl>
                                          <p:spTgt spid="31747">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099"/>
                                        </p:tgtEl>
                                        <p:attrNameLst>
                                          <p:attrName>style.visibility</p:attrName>
                                        </p:attrNameLst>
                                      </p:cBhvr>
                                      <p:to>
                                        <p:strVal val="visible"/>
                                      </p:to>
                                    </p:set>
                                    <p:animEffect transition="in" filter="fade">
                                      <p:cBhvr>
                                        <p:cTn id="10" dur="500"/>
                                        <p:tgtEl>
                                          <p:spTgt spid="4099"/>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xit" presetSubtype="0" fill="hold" nodeType="clickEffect">
                                  <p:stCondLst>
                                    <p:cond delay="0"/>
                                  </p:stCondLst>
                                  <p:childTnLst>
                                    <p:animEffect transition="out" filter="fade">
                                      <p:cBhvr>
                                        <p:cTn id="14" dur="500"/>
                                        <p:tgtEl>
                                          <p:spTgt spid="31747">
                                            <p:txEl>
                                              <p:pRg st="1" end="1"/>
                                            </p:txEl>
                                          </p:spTgt>
                                        </p:tgtEl>
                                      </p:cBhvr>
                                    </p:animEffect>
                                    <p:set>
                                      <p:cBhvr>
                                        <p:cTn id="15" dur="1" fill="hold">
                                          <p:stCondLst>
                                            <p:cond delay="499"/>
                                          </p:stCondLst>
                                        </p:cTn>
                                        <p:tgtEl>
                                          <p:spTgt spid="31747">
                                            <p:txEl>
                                              <p:pRg st="1" end="1"/>
                                            </p:txEl>
                                          </p:spTgt>
                                        </p:tgtEl>
                                        <p:attrNameLst>
                                          <p:attrName>style.visibility</p:attrName>
                                        </p:attrNameLst>
                                      </p:cBhvr>
                                      <p:to>
                                        <p:strVal val="hidden"/>
                                      </p:to>
                                    </p:set>
                                  </p:childTnLst>
                                </p:cTn>
                              </p:par>
                              <p:par>
                                <p:cTn id="16" presetID="10" presetClass="entr" presetSubtype="0" fill="hold" grpId="0" nodeType="withEffect">
                                  <p:stCondLst>
                                    <p:cond delay="0"/>
                                  </p:stCondLst>
                                  <p:childTnLst>
                                    <p:set>
                                      <p:cBhvr>
                                        <p:cTn id="17" dur="1" fill="hold">
                                          <p:stCondLst>
                                            <p:cond delay="0"/>
                                          </p:stCondLst>
                                        </p:cTn>
                                        <p:tgtEl>
                                          <p:spTgt spid="31747">
                                            <p:txEl>
                                              <p:pRg st="2" end="2"/>
                                            </p:txEl>
                                          </p:spTgt>
                                        </p:tgtEl>
                                        <p:attrNameLst>
                                          <p:attrName>style.visibility</p:attrName>
                                        </p:attrNameLst>
                                      </p:cBhvr>
                                      <p:to>
                                        <p:strVal val="visible"/>
                                      </p:to>
                                    </p:set>
                                    <p:animEffect transition="in" filter="fade">
                                      <p:cBhvr>
                                        <p:cTn id="18" dur="1000"/>
                                        <p:tgtEl>
                                          <p:spTgt spid="31747">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500"/>
                                        <p:tgtEl>
                                          <p:spTgt spid="2"/>
                                        </p:tgtEl>
                                      </p:cBhvr>
                                    </p:animEffect>
                                  </p:childTnLst>
                                </p:cTn>
                              </p:par>
                              <p:par>
                                <p:cTn id="22" presetID="10" presetClass="exit" presetSubtype="0" fill="hold" nodeType="withEffect">
                                  <p:stCondLst>
                                    <p:cond delay="0"/>
                                  </p:stCondLst>
                                  <p:childTnLst>
                                    <p:animEffect transition="out" filter="fade">
                                      <p:cBhvr>
                                        <p:cTn id="23" dur="500"/>
                                        <p:tgtEl>
                                          <p:spTgt spid="4099"/>
                                        </p:tgtEl>
                                      </p:cBhvr>
                                    </p:animEffect>
                                    <p:set>
                                      <p:cBhvr>
                                        <p:cTn id="24" dur="1" fill="hold">
                                          <p:stCondLst>
                                            <p:cond delay="499"/>
                                          </p:stCondLst>
                                        </p:cTn>
                                        <p:tgtEl>
                                          <p:spTgt spid="409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5" name="Rectangle 2"/>
          <p:cNvSpPr>
            <a:spLocks noGrp="1" noChangeArrowheads="1"/>
          </p:cNvSpPr>
          <p:nvPr>
            <p:ph type="title"/>
          </p:nvPr>
        </p:nvSpPr>
        <p:spPr/>
        <p:txBody>
          <a:bodyPr wrap="square" numCol="1" anchorCtr="0" compatLnSpc="1">
            <a:prstTxWarp prst="textNoShape">
              <a:avLst/>
            </a:prstTxWarp>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auto" hangingPunct="1">
              <a:spcAft>
                <a:spcPts val="0"/>
              </a:spcAft>
              <a:defRPr/>
            </a:pPr>
            <a:r>
              <a:rPr lang="en-US" sz="3600" dirty="0">
                <a:solidFill>
                  <a:srgbClr val="9BBB59"/>
                </a:solidFill>
                <a:latin typeface="Century Gothic"/>
              </a:rPr>
              <a:t>CHANGES IN TASTES</a:t>
            </a:r>
          </a:p>
        </p:txBody>
      </p:sp>
      <p:sp>
        <p:nvSpPr>
          <p:cNvPr id="31747" name="Rectangle 3"/>
          <p:cNvSpPr>
            <a:spLocks noGrp="1" noChangeArrowheads="1"/>
          </p:cNvSpPr>
          <p:nvPr>
            <p:ph idx="1"/>
          </p:nvPr>
        </p:nvSpPr>
        <p:spPr/>
        <p:txBody>
          <a:bodyPr rtlCol="0">
            <a:normAutofit/>
          </a:bodyPr>
          <a:lstStyle/>
          <a:p>
            <a:pPr fontAlgn="auto">
              <a:spcAft>
                <a:spcPts val="0"/>
              </a:spcAft>
              <a:defRPr/>
            </a:pPr>
            <a:r>
              <a:rPr lang="en-US" sz="3600" dirty="0">
                <a:ea typeface="ＭＳ Ｐゴシック" pitchFamily="34" charset="-128"/>
              </a:rPr>
              <a:t>Tastes and preferences are subjective and vary among consumers.</a:t>
            </a:r>
          </a:p>
          <a:p>
            <a:pPr marL="2000250" lvl="1" indent="-1543050" fontAlgn="auto">
              <a:spcAft>
                <a:spcPts val="1200"/>
              </a:spcAft>
              <a:defRPr/>
            </a:pPr>
            <a:r>
              <a:rPr lang="en-US" dirty="0">
                <a:ea typeface="ＭＳ Ｐゴシック" pitchFamily="34" charset="-128"/>
              </a:rPr>
              <a:t>	</a:t>
            </a:r>
            <a:r>
              <a:rPr lang="en-US" i="1" dirty="0">
                <a:ea typeface="ＭＳ Ｐゴシック" pitchFamily="34" charset="-128"/>
              </a:rPr>
              <a:t>Seasonal changes or fads have a predictable effects on demand. </a:t>
            </a:r>
          </a:p>
          <a:p>
            <a:pPr marL="2000250" lvl="1" indent="-1543050" fontAlgn="auto">
              <a:spcAft>
                <a:spcPts val="1200"/>
              </a:spcAft>
              <a:defRPr/>
            </a:pPr>
            <a:r>
              <a:rPr lang="en-US" dirty="0">
                <a:ea typeface="ＭＳ Ｐゴシック" pitchFamily="34" charset="-128"/>
              </a:rPr>
              <a:t>	</a:t>
            </a:r>
            <a:r>
              <a:rPr lang="en-US" dirty="0">
                <a:solidFill>
                  <a:srgbClr val="990033"/>
                </a:solidFill>
                <a:ea typeface="ＭＳ Ｐゴシック" pitchFamily="34" charset="-128"/>
              </a:rPr>
              <a:t>What happens to demand for Face Mask in 2020? </a:t>
            </a:r>
          </a:p>
        </p:txBody>
      </p:sp>
      <p:sp>
        <p:nvSpPr>
          <p:cNvPr id="6" name="Oval 5"/>
          <p:cNvSpPr/>
          <p:nvPr/>
        </p:nvSpPr>
        <p:spPr>
          <a:xfrm>
            <a:off x="8382000" y="6096000"/>
            <a:ext cx="744538" cy="747713"/>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Century Gothic"/>
              <a:cs typeface="Century Gothic"/>
            </a:endParaRPr>
          </a:p>
        </p:txBody>
      </p:sp>
      <p:sp>
        <p:nvSpPr>
          <p:cNvPr id="50183" name="TextBox 6">
            <a:hlinkClick r:id="rId3" action="ppaction://hlinksldjump"/>
          </p:cNvPr>
          <p:cNvSpPr txBox="1">
            <a:spLocks noChangeArrowheads="1"/>
          </p:cNvSpPr>
          <p:nvPr/>
        </p:nvSpPr>
        <p:spPr bwMode="auto">
          <a:xfrm>
            <a:off x="8428038" y="6203950"/>
            <a:ext cx="6699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900" dirty="0">
                <a:latin typeface="Century Gothic"/>
                <a:cs typeface="Century Gothic"/>
                <a:hlinkClick r:id="rId3" action="ppaction://hlinksldjump"/>
              </a:rPr>
              <a:t>Back to Table of contents</a:t>
            </a:r>
            <a:endParaRPr lang="en-US" sz="900" dirty="0">
              <a:latin typeface="Century Gothic"/>
              <a:cs typeface="Century Gothic"/>
            </a:endParaRPr>
          </a:p>
          <a:p>
            <a:pPr eaLnBrk="1" hangingPunct="1"/>
            <a:endParaRPr lang="en-US" sz="900" dirty="0">
              <a:latin typeface="Century Gothic"/>
              <a:cs typeface="Century Gothic"/>
            </a:endParaRPr>
          </a:p>
        </p:txBody>
      </p:sp>
      <p:pic>
        <p:nvPicPr>
          <p:cNvPr id="4" name="Picture 3" descr="A person wearing a suit and tie&#10;&#10;Description automatically generated">
            <a:extLst>
              <a:ext uri="{FF2B5EF4-FFF2-40B4-BE49-F238E27FC236}">
                <a16:creationId xmlns:a16="http://schemas.microsoft.com/office/drawing/2014/main" id="{A801EF59-DB35-42A0-A711-D869E41DB1CD}"/>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533400" y="4451350"/>
            <a:ext cx="1752600" cy="1752600"/>
          </a:xfrm>
          <a:prstGeom prst="rect">
            <a:avLst/>
          </a:prstGeom>
        </p:spPr>
      </p:pic>
    </p:spTree>
    <p:extLst>
      <p:ext uri="{BB962C8B-B14F-4D97-AF65-F5344CB8AC3E}">
        <p14:creationId xmlns:p14="http://schemas.microsoft.com/office/powerpoint/2010/main" val="81723715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747">
                                            <p:txEl>
                                              <p:pRg st="1" end="1"/>
                                            </p:txEl>
                                          </p:spTgt>
                                        </p:tgtEl>
                                        <p:attrNameLst>
                                          <p:attrName>style.visibility</p:attrName>
                                        </p:attrNameLst>
                                      </p:cBhvr>
                                      <p:to>
                                        <p:strVal val="visible"/>
                                      </p:to>
                                    </p:set>
                                    <p:animEffect transition="in" filter="fade">
                                      <p:cBhvr>
                                        <p:cTn id="7" dur="1000"/>
                                        <p:tgtEl>
                                          <p:spTgt spid="3174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1747">
                                            <p:txEl>
                                              <p:pRg st="2" end="2"/>
                                            </p:txEl>
                                          </p:spTgt>
                                        </p:tgtEl>
                                        <p:attrNameLst>
                                          <p:attrName>style.visibility</p:attrName>
                                        </p:attrNameLst>
                                      </p:cBhvr>
                                      <p:to>
                                        <p:strVal val="visible"/>
                                      </p:to>
                                    </p:set>
                                    <p:animEffect transition="in" filter="fade">
                                      <p:cBhvr>
                                        <p:cTn id="12" dur="1000"/>
                                        <p:tgtEl>
                                          <p:spTgt spid="317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50351" y="647922"/>
            <a:ext cx="8202612" cy="59150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0417" name="Rectangle 2"/>
          <p:cNvSpPr>
            <a:spLocks noGrp="1" noChangeArrowheads="1"/>
          </p:cNvSpPr>
          <p:nvPr>
            <p:ph type="title"/>
          </p:nvPr>
        </p:nvSpPr>
        <p:spPr/>
        <p:txBody>
          <a:bodyPr wrap="square" numCol="1" anchorCtr="0" compatLnSpc="1">
            <a:prstTxWarp prst="textNoShape">
              <a:avLst/>
            </a:prstTxWarp>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auto" hangingPunct="1">
              <a:spcAft>
                <a:spcPts val="0"/>
              </a:spcAft>
              <a:defRPr/>
            </a:pPr>
            <a:r>
              <a:rPr lang="en-US" sz="3600" dirty="0">
                <a:solidFill>
                  <a:srgbClr val="9BBB59"/>
                </a:solidFill>
                <a:latin typeface="Century Gothic"/>
              </a:rPr>
              <a:t>CHANGES IN EXPECTATIONS</a:t>
            </a:r>
          </a:p>
        </p:txBody>
      </p:sp>
      <p:sp>
        <p:nvSpPr>
          <p:cNvPr id="31747" name="Rectangle 3"/>
          <p:cNvSpPr>
            <a:spLocks noGrp="1" noChangeArrowheads="1"/>
          </p:cNvSpPr>
          <p:nvPr>
            <p:ph idx="1"/>
          </p:nvPr>
        </p:nvSpPr>
        <p:spPr/>
        <p:txBody>
          <a:bodyPr rtlCol="0">
            <a:normAutofit/>
          </a:bodyPr>
          <a:lstStyle/>
          <a:p>
            <a:pPr fontAlgn="auto">
              <a:spcAft>
                <a:spcPts val="0"/>
              </a:spcAft>
              <a:defRPr/>
            </a:pPr>
            <a:r>
              <a:rPr lang="en-US" dirty="0">
                <a:ea typeface="ＭＳ Ｐゴシック" pitchFamily="34" charset="-128"/>
              </a:rPr>
              <a:t>If consumers have a choice about the timing of a purchase, they buy according to </a:t>
            </a:r>
            <a:r>
              <a:rPr lang="en-US" i="1" dirty="0">
                <a:solidFill>
                  <a:schemeClr val="accent1">
                    <a:lumMod val="75000"/>
                  </a:schemeClr>
                </a:solidFill>
                <a:ea typeface="ＭＳ Ｐゴシック" pitchFamily="34" charset="-128"/>
              </a:rPr>
              <a:t>expectations.</a:t>
            </a:r>
            <a:endParaRPr lang="en-US" dirty="0">
              <a:solidFill>
                <a:schemeClr val="accent1">
                  <a:lumMod val="75000"/>
                </a:schemeClr>
              </a:solidFill>
              <a:ea typeface="ＭＳ Ｐゴシック" pitchFamily="34" charset="-128"/>
            </a:endParaRPr>
          </a:p>
          <a:p>
            <a:pPr fontAlgn="auto">
              <a:spcAft>
                <a:spcPts val="0"/>
              </a:spcAft>
              <a:defRPr/>
            </a:pPr>
            <a:r>
              <a:rPr lang="en-US" sz="3000" dirty="0">
                <a:ea typeface="ＭＳ Ｐゴシック" pitchFamily="34" charset="-128"/>
              </a:rPr>
              <a:t>Buyers adjust current spending </a:t>
            </a:r>
            <a:r>
              <a:rPr lang="en-US" sz="3000" i="1" dirty="0">
                <a:solidFill>
                  <a:schemeClr val="accent1">
                    <a:lumMod val="75000"/>
                  </a:schemeClr>
                </a:solidFill>
                <a:ea typeface="ＭＳ Ｐゴシック" pitchFamily="34" charset="-128"/>
              </a:rPr>
              <a:t>in anticipation of the direction of future prices</a:t>
            </a:r>
            <a:r>
              <a:rPr lang="en-US" sz="3000" i="1" dirty="0">
                <a:solidFill>
                  <a:srgbClr val="00B050"/>
                </a:solidFill>
                <a:ea typeface="ＭＳ Ｐゴシック" pitchFamily="34" charset="-128"/>
              </a:rPr>
              <a:t> </a:t>
            </a:r>
            <a:r>
              <a:rPr lang="en-US" sz="3000" dirty="0">
                <a:ea typeface="ＭＳ Ｐゴシック" pitchFamily="34" charset="-128"/>
              </a:rPr>
              <a:t>in order to obtain the lowest possible price. </a:t>
            </a:r>
          </a:p>
          <a:p>
            <a:pPr lvl="2" fontAlgn="auto">
              <a:spcAft>
                <a:spcPts val="0"/>
              </a:spcAft>
              <a:defRPr/>
            </a:pPr>
            <a:r>
              <a:rPr lang="en-US" sz="2600" dirty="0">
                <a:ea typeface="ＭＳ Ｐゴシック" pitchFamily="34" charset="-128"/>
              </a:rPr>
              <a:t>If prices for Xbox one are expected to drop right before Christmas, what will happen to sales during November?</a:t>
            </a:r>
          </a:p>
          <a:p>
            <a:pPr marL="514350" indent="-514350" fontAlgn="auto">
              <a:spcAft>
                <a:spcPts val="0"/>
              </a:spcAft>
              <a:defRPr/>
            </a:pPr>
            <a:endParaRPr lang="en-US" sz="2800" dirty="0">
              <a:ea typeface="ＭＳ Ｐゴシック" pitchFamily="34" charset="-128"/>
            </a:endParaRPr>
          </a:p>
        </p:txBody>
      </p:sp>
      <p:sp>
        <p:nvSpPr>
          <p:cNvPr id="7" name="Oval 6"/>
          <p:cNvSpPr/>
          <p:nvPr/>
        </p:nvSpPr>
        <p:spPr>
          <a:xfrm>
            <a:off x="8382000" y="6096000"/>
            <a:ext cx="744538" cy="747713"/>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Century Gothic"/>
              <a:cs typeface="Century Gothic"/>
            </a:endParaRPr>
          </a:p>
        </p:txBody>
      </p:sp>
      <p:sp>
        <p:nvSpPr>
          <p:cNvPr id="51207" name="TextBox 7">
            <a:hlinkClick r:id="rId4" action="ppaction://hlinksldjump"/>
          </p:cNvPr>
          <p:cNvSpPr txBox="1">
            <a:spLocks noChangeArrowheads="1"/>
          </p:cNvSpPr>
          <p:nvPr/>
        </p:nvSpPr>
        <p:spPr bwMode="auto">
          <a:xfrm>
            <a:off x="8428038" y="6203950"/>
            <a:ext cx="6699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900" dirty="0">
                <a:latin typeface="Century Gothic"/>
                <a:cs typeface="Century Gothic"/>
                <a:hlinkClick r:id="rId4" action="ppaction://hlinksldjump"/>
              </a:rPr>
              <a:t>Back to Table of contents</a:t>
            </a:r>
            <a:endParaRPr lang="en-US" sz="900" dirty="0">
              <a:latin typeface="Century Gothic"/>
              <a:cs typeface="Century Gothic"/>
            </a:endParaRPr>
          </a:p>
          <a:p>
            <a:pPr eaLnBrk="1" hangingPunct="1"/>
            <a:endParaRPr lang="en-US" sz="900" dirty="0">
              <a:latin typeface="Century Gothic"/>
              <a:cs typeface="Century Gothic"/>
            </a:endParaRPr>
          </a:p>
        </p:txBody>
      </p:sp>
    </p:spTree>
    <p:extLst>
      <p:ext uri="{BB962C8B-B14F-4D97-AF65-F5344CB8AC3E}">
        <p14:creationId xmlns:p14="http://schemas.microsoft.com/office/powerpoint/2010/main" val="100191709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Effect transition="in" filter="fade">
                                      <p:cBhvr>
                                        <p:cTn id="7" dur="500"/>
                                        <p:tgtEl>
                                          <p:spTgt spid="31747">
                                            <p:txEl>
                                              <p:pRg st="0" end="0"/>
                                            </p:txEl>
                                          </p:spTgt>
                                        </p:tgtEl>
                                      </p:cBhvr>
                                    </p:animEffect>
                                  </p:childTnLst>
                                </p:cTn>
                              </p:par>
                            </p:childTnLst>
                          </p:cTn>
                        </p:par>
                      </p:childTnLst>
                    </p:cTn>
                  </p:par>
                  <p:par>
                    <p:cTn id="8" fill="hold">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1747">
                                            <p:txEl>
                                              <p:pRg st="1" end="1"/>
                                            </p:txEl>
                                          </p:spTgt>
                                        </p:tgtEl>
                                        <p:attrNameLst>
                                          <p:attrName>style.visibility</p:attrName>
                                        </p:attrNameLst>
                                      </p:cBhvr>
                                      <p:to>
                                        <p:strVal val="visible"/>
                                      </p:to>
                                    </p:set>
                                    <p:animEffect transition="in" filter="fade">
                                      <p:cBhvr>
                                        <p:cTn id="12" dur="500"/>
                                        <p:tgtEl>
                                          <p:spTgt spid="31747">
                                            <p:txEl>
                                              <p:pRg st="1" end="1"/>
                                            </p:txEl>
                                          </p:spTgt>
                                        </p:tgtEl>
                                      </p:cBhvr>
                                    </p:animEffect>
                                  </p:childTnLst>
                                </p:cTn>
                              </p:par>
                            </p:childTnLst>
                          </p:cTn>
                        </p:par>
                        <p:par>
                          <p:cTn id="13" fill="hold" nodeType="afterGroup">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31747">
                                            <p:txEl>
                                              <p:pRg st="2" end="2"/>
                                            </p:txEl>
                                          </p:spTgt>
                                        </p:tgtEl>
                                        <p:attrNameLst>
                                          <p:attrName>style.visibility</p:attrName>
                                        </p:attrNameLst>
                                      </p:cBhvr>
                                      <p:to>
                                        <p:strVal val="visible"/>
                                      </p:to>
                                    </p:set>
                                    <p:animEffect transition="in" filter="fade">
                                      <p:cBhvr>
                                        <p:cTn id="16" dur="500"/>
                                        <p:tgtEl>
                                          <p:spTgt spid="31747">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nodeType="clickEffect">
                                  <p:stCondLst>
                                    <p:cond delay="0"/>
                                  </p:stCondLst>
                                  <p:childTnLst>
                                    <p:set>
                                      <p:cBhvr>
                                        <p:cTn id="20" dur="1" fill="hold">
                                          <p:stCondLst>
                                            <p:cond delay="0"/>
                                          </p:stCondLst>
                                        </p:cTn>
                                        <p:tgtEl>
                                          <p:spTgt spid="10242"/>
                                        </p:tgtEl>
                                        <p:attrNameLst>
                                          <p:attrName>style.visibility</p:attrName>
                                        </p:attrNameLst>
                                      </p:cBhvr>
                                      <p:to>
                                        <p:strVal val="visible"/>
                                      </p:to>
                                    </p:set>
                                    <p:animEffect transition="in" filter="fade">
                                      <p:cBhvr>
                                        <p:cTn id="21" dur="500"/>
                                        <p:tgtEl>
                                          <p:spTgt spid="10242"/>
                                        </p:tgtEl>
                                      </p:cBhvr>
                                    </p:animEffect>
                                  </p:childTnLst>
                                </p:cTn>
                              </p:par>
                            </p:childTnLst>
                          </p:cTn>
                        </p:par>
                        <p:par>
                          <p:cTn id="22" fill="hold" nodeType="afterGroup">
                            <p:stCondLst>
                              <p:cond delay="500"/>
                            </p:stCondLst>
                            <p:childTnLst>
                              <p:par>
                                <p:cTn id="23" presetID="31" presetClass="exit" presetSubtype="0" fill="hold" nodeType="afterEffect">
                                  <p:stCondLst>
                                    <p:cond delay="0"/>
                                  </p:stCondLst>
                                  <p:childTnLst>
                                    <p:anim calcmode="lin" valueType="num">
                                      <p:cBhvr>
                                        <p:cTn id="24" dur="1000"/>
                                        <p:tgtEl>
                                          <p:spTgt spid="10242"/>
                                        </p:tgtEl>
                                        <p:attrNameLst>
                                          <p:attrName>ppt_w</p:attrName>
                                        </p:attrNameLst>
                                      </p:cBhvr>
                                      <p:tavLst>
                                        <p:tav tm="0">
                                          <p:val>
                                            <p:strVal val="ppt_w"/>
                                          </p:val>
                                        </p:tav>
                                        <p:tav tm="100000">
                                          <p:val>
                                            <p:fltVal val="0"/>
                                          </p:val>
                                        </p:tav>
                                      </p:tavLst>
                                    </p:anim>
                                    <p:anim calcmode="lin" valueType="num">
                                      <p:cBhvr>
                                        <p:cTn id="25" dur="1000"/>
                                        <p:tgtEl>
                                          <p:spTgt spid="10242"/>
                                        </p:tgtEl>
                                        <p:attrNameLst>
                                          <p:attrName>ppt_h</p:attrName>
                                        </p:attrNameLst>
                                      </p:cBhvr>
                                      <p:tavLst>
                                        <p:tav tm="0">
                                          <p:val>
                                            <p:strVal val="ppt_h"/>
                                          </p:val>
                                        </p:tav>
                                        <p:tav tm="100000">
                                          <p:val>
                                            <p:fltVal val="0"/>
                                          </p:val>
                                        </p:tav>
                                      </p:tavLst>
                                    </p:anim>
                                    <p:anim calcmode="lin" valueType="num">
                                      <p:cBhvr>
                                        <p:cTn id="26" dur="1000"/>
                                        <p:tgtEl>
                                          <p:spTgt spid="10242"/>
                                        </p:tgtEl>
                                        <p:attrNameLst>
                                          <p:attrName>style.rotation</p:attrName>
                                        </p:attrNameLst>
                                      </p:cBhvr>
                                      <p:tavLst>
                                        <p:tav tm="0">
                                          <p:val>
                                            <p:fltVal val="0"/>
                                          </p:val>
                                        </p:tav>
                                        <p:tav tm="100000">
                                          <p:val>
                                            <p:fltVal val="90"/>
                                          </p:val>
                                        </p:tav>
                                      </p:tavLst>
                                    </p:anim>
                                    <p:animEffect transition="out" filter="fade">
                                      <p:cBhvr>
                                        <p:cTn id="27" dur="1000"/>
                                        <p:tgtEl>
                                          <p:spTgt spid="10242"/>
                                        </p:tgtEl>
                                      </p:cBhvr>
                                    </p:animEffect>
                                    <p:set>
                                      <p:cBhvr>
                                        <p:cTn id="28" dur="1" fill="hold">
                                          <p:stCondLst>
                                            <p:cond delay="999"/>
                                          </p:stCondLst>
                                        </p:cTn>
                                        <p:tgtEl>
                                          <p:spTgt spid="1024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eaLnBrk="1" hangingPunct="1">
              <a:buFont typeface="Arial" charset="0"/>
              <a:buNone/>
              <a:defRPr/>
            </a:pPr>
            <a:r>
              <a:rPr lang="en-US" sz="2800" dirty="0"/>
              <a:t>When the price of petroleum goes up, the demand for natural gas ______, the demand for coal ______, and the demand for solar power ______. (Assume these goods are substitutes for petroleum.)</a:t>
            </a:r>
          </a:p>
          <a:p>
            <a:pPr marL="514350" indent="-514350" eaLnBrk="1" hangingPunct="1">
              <a:buFont typeface="+mj-lt"/>
              <a:buAutoNum type="alphaLcParenR"/>
              <a:defRPr/>
            </a:pPr>
            <a:r>
              <a:rPr lang="en-US" sz="2800" dirty="0"/>
              <a:t>increases; increases; increases</a:t>
            </a:r>
          </a:p>
          <a:p>
            <a:pPr marL="514350" indent="-514350" eaLnBrk="1" hangingPunct="1">
              <a:buFont typeface="+mj-lt"/>
              <a:buAutoNum type="alphaLcParenR"/>
              <a:defRPr/>
            </a:pPr>
            <a:r>
              <a:rPr lang="en-US" sz="2800" dirty="0"/>
              <a:t>increases; increases; decreases</a:t>
            </a:r>
          </a:p>
          <a:p>
            <a:pPr marL="514350" indent="-514350" eaLnBrk="1" hangingPunct="1">
              <a:buFont typeface="+mj-lt"/>
              <a:buAutoNum type="alphaLcParenR"/>
              <a:defRPr/>
            </a:pPr>
            <a:r>
              <a:rPr lang="en-US" sz="2800" dirty="0"/>
              <a:t>decreases; decreases; increases</a:t>
            </a:r>
          </a:p>
          <a:p>
            <a:pPr marL="514350" indent="-514350" eaLnBrk="1" hangingPunct="1">
              <a:buFont typeface="+mj-lt"/>
              <a:buAutoNum type="alphaLcParenR"/>
              <a:defRPr/>
            </a:pPr>
            <a:r>
              <a:rPr lang="en-US" sz="2800" dirty="0"/>
              <a:t>decreases; decreases; decreases</a:t>
            </a:r>
          </a:p>
        </p:txBody>
      </p:sp>
      <p:sp>
        <p:nvSpPr>
          <p:cNvPr id="5" name="Oval 4"/>
          <p:cNvSpPr/>
          <p:nvPr/>
        </p:nvSpPr>
        <p:spPr>
          <a:xfrm>
            <a:off x="8382000" y="6096000"/>
            <a:ext cx="744538" cy="747713"/>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2230" name="TextBox 5">
            <a:hlinkClick r:id="rId3" action="ppaction://hlinksldjump"/>
          </p:cNvPr>
          <p:cNvSpPr txBox="1">
            <a:spLocks noChangeArrowheads="1"/>
          </p:cNvSpPr>
          <p:nvPr/>
        </p:nvSpPr>
        <p:spPr bwMode="auto">
          <a:xfrm>
            <a:off x="8428038" y="6203950"/>
            <a:ext cx="6699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1000">
                <a:latin typeface="Candara" pitchFamily="34" charset="0"/>
                <a:hlinkClick r:id="rId3" action="ppaction://hlinksldjump"/>
              </a:rPr>
              <a:t>Back to Table of contents</a:t>
            </a:r>
            <a:endParaRPr lang="en-US" sz="1000">
              <a:latin typeface="Candara" pitchFamily="34" charset="0"/>
            </a:endParaRPr>
          </a:p>
          <a:p>
            <a:pPr eaLnBrk="1" hangingPunct="1"/>
            <a:endParaRPr lang="en-US" sz="1000">
              <a:latin typeface="Candara" pitchFamily="34" charset="0"/>
            </a:endParaRPr>
          </a:p>
        </p:txBody>
      </p:sp>
      <p:sp>
        <p:nvSpPr>
          <p:cNvPr id="7" name="Rectangle 6"/>
          <p:cNvSpPr/>
          <p:nvPr/>
        </p:nvSpPr>
        <p:spPr>
          <a:xfrm>
            <a:off x="25705" y="6307666"/>
            <a:ext cx="1172116" cy="369332"/>
          </a:xfrm>
          <a:prstGeom prst="rect">
            <a:avLst/>
          </a:prstGeom>
        </p:spPr>
        <p:txBody>
          <a:bodyPr wrap="none">
            <a:spAutoFit/>
          </a:bodyPr>
          <a:lstStyle/>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4" action="ppaction://hlinksldjump"/>
              </a:rPr>
              <a:t>To Next </a:t>
            </a: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 action="ppaction://noaction"/>
            </a:endParaRPr>
          </a:p>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 action="ppaction://noaction"/>
              </a:rPr>
              <a:t>Active </a:t>
            </a: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4" action="ppaction://hlinksldjump"/>
              </a:rPr>
              <a:t>Learning</a:t>
            </a: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3755810357"/>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bg>
      <p:bgPr>
        <a:blipFill dpi="0" rotWithShape="1">
          <a:blip r:embed="rId3">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4"/>
          <a:stretch>
            <a:fillRect/>
          </a:stretch>
        </p:blipFill>
        <p:spPr>
          <a:xfrm>
            <a:off x="0" y="-1"/>
            <a:ext cx="9144000" cy="6251397"/>
          </a:xfrm>
          <a:prstGeom prst="rect">
            <a:avLst/>
          </a:prstGeom>
        </p:spPr>
      </p:pic>
      <p:sp>
        <p:nvSpPr>
          <p:cNvPr id="54273" name="Rectangle 2"/>
          <p:cNvSpPr>
            <a:spLocks noGrp="1" noChangeArrowheads="1"/>
          </p:cNvSpPr>
          <p:nvPr>
            <p:ph type="title"/>
          </p:nvPr>
        </p:nvSpPr>
        <p:spPr>
          <a:xfrm>
            <a:off x="0" y="0"/>
            <a:ext cx="9144000" cy="990600"/>
          </a:xfrm>
        </p:spPr>
        <p:txBody>
          <a:bodyPr wrap="square" numCol="1" anchorCtr="0" compatLnSpc="1">
            <a:prstTxWarp prst="textNoShape">
              <a:avLst/>
            </a:prstTxWarp>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auto" hangingPunct="1">
              <a:spcAft>
                <a:spcPts val="0"/>
              </a:spcAft>
              <a:defRPr/>
            </a:pPr>
            <a:r>
              <a:rPr lang="en-US" sz="3600" dirty="0">
                <a:solidFill>
                  <a:srgbClr val="9BBB59"/>
                </a:solidFill>
                <a:latin typeface="Century Gothic"/>
              </a:rPr>
              <a:t>CHANGES IN THE NUMBER OF CONSUMERS</a:t>
            </a:r>
          </a:p>
        </p:txBody>
      </p:sp>
      <p:sp>
        <p:nvSpPr>
          <p:cNvPr id="31747" name="Rectangle 3"/>
          <p:cNvSpPr>
            <a:spLocks noGrp="1" noChangeArrowheads="1"/>
          </p:cNvSpPr>
          <p:nvPr>
            <p:ph idx="1"/>
          </p:nvPr>
        </p:nvSpPr>
        <p:spPr>
          <a:xfrm>
            <a:off x="0" y="4114800"/>
            <a:ext cx="9144000" cy="2209800"/>
          </a:xfrm>
          <a:solidFill>
            <a:schemeClr val="bg1">
              <a:alpha val="53000"/>
            </a:schemeClr>
          </a:solidFill>
        </p:spPr>
        <p:txBody>
          <a:bodyPr rtlCol="0">
            <a:noAutofit/>
          </a:bodyPr>
          <a:lstStyle/>
          <a:p>
            <a:pPr fontAlgn="auto">
              <a:spcAft>
                <a:spcPts val="0"/>
              </a:spcAft>
              <a:defRPr/>
            </a:pPr>
            <a:r>
              <a:rPr lang="en-US" sz="2800" dirty="0">
                <a:ea typeface="ＭＳ Ｐゴシック" pitchFamily="34" charset="-128"/>
                <a:cs typeface="Arial" charset="0"/>
              </a:rPr>
              <a:t>As the </a:t>
            </a:r>
            <a:r>
              <a:rPr lang="en-US" sz="2800" i="1" dirty="0">
                <a:solidFill>
                  <a:schemeClr val="accent1">
                    <a:lumMod val="75000"/>
                  </a:schemeClr>
                </a:solidFill>
                <a:ea typeface="ＭＳ Ｐゴシック" pitchFamily="34" charset="-128"/>
                <a:cs typeface="Arial" charset="0"/>
              </a:rPr>
              <a:t>population</a:t>
            </a:r>
            <a:r>
              <a:rPr lang="en-US" sz="2800" dirty="0">
                <a:solidFill>
                  <a:schemeClr val="accent1">
                    <a:lumMod val="75000"/>
                  </a:schemeClr>
                </a:solidFill>
                <a:ea typeface="ＭＳ Ｐゴシック" pitchFamily="34" charset="-128"/>
                <a:cs typeface="Arial" charset="0"/>
              </a:rPr>
              <a:t> </a:t>
            </a:r>
            <a:r>
              <a:rPr lang="en-US" sz="2800" dirty="0">
                <a:ea typeface="ＭＳ Ｐゴシック" pitchFamily="34" charset="-128"/>
                <a:cs typeface="Arial" charset="0"/>
              </a:rPr>
              <a:t>of an economy changes, the </a:t>
            </a:r>
            <a:r>
              <a:rPr lang="en-US" sz="2800" i="1" dirty="0">
                <a:solidFill>
                  <a:schemeClr val="accent1">
                    <a:lumMod val="75000"/>
                  </a:schemeClr>
                </a:solidFill>
                <a:ea typeface="ＭＳ Ｐゴシック" pitchFamily="34" charset="-128"/>
                <a:cs typeface="Arial" charset="0"/>
              </a:rPr>
              <a:t>number of buyers </a:t>
            </a:r>
            <a:r>
              <a:rPr lang="en-US" sz="2800" dirty="0">
                <a:ea typeface="ＭＳ Ｐゴシック" pitchFamily="34" charset="-128"/>
                <a:cs typeface="Arial" charset="0"/>
              </a:rPr>
              <a:t>of a particular good also changes (thereby changing its demand).</a:t>
            </a:r>
          </a:p>
          <a:p>
            <a:pPr lvl="1" fontAlgn="auto">
              <a:spcAft>
                <a:spcPts val="0"/>
              </a:spcAft>
              <a:defRPr/>
            </a:pPr>
            <a:r>
              <a:rPr lang="en-US" sz="2400" dirty="0">
                <a:ea typeface="ＭＳ Ｐゴシック" pitchFamily="34" charset="-128"/>
                <a:cs typeface="Arial" charset="0"/>
              </a:rPr>
              <a:t>What happens to the demand for diapers in Russia as birth rates drop?</a:t>
            </a:r>
          </a:p>
          <a:p>
            <a:pPr marL="514350" indent="-514350" fontAlgn="auto">
              <a:spcAft>
                <a:spcPts val="0"/>
              </a:spcAft>
              <a:defRPr/>
            </a:pPr>
            <a:endParaRPr lang="en-US" sz="2400" dirty="0">
              <a:ea typeface="ＭＳ Ｐゴシック" pitchFamily="34" charset="-128"/>
              <a:cs typeface="Arial" charset="0"/>
            </a:endParaRPr>
          </a:p>
        </p:txBody>
      </p:sp>
      <p:sp>
        <p:nvSpPr>
          <p:cNvPr id="8" name="Oval 7"/>
          <p:cNvSpPr/>
          <p:nvPr/>
        </p:nvSpPr>
        <p:spPr>
          <a:xfrm>
            <a:off x="8382000" y="6096000"/>
            <a:ext cx="744538" cy="747713"/>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latin typeface="Calibri"/>
            </a:endParaRPr>
          </a:p>
        </p:txBody>
      </p:sp>
      <p:sp>
        <p:nvSpPr>
          <p:cNvPr id="53254" name="TextBox 8">
            <a:hlinkClick r:id="rId5" action="ppaction://hlinksldjump"/>
          </p:cNvPr>
          <p:cNvSpPr txBox="1">
            <a:spLocks noChangeArrowheads="1"/>
          </p:cNvSpPr>
          <p:nvPr/>
        </p:nvSpPr>
        <p:spPr bwMode="auto">
          <a:xfrm>
            <a:off x="8428038" y="6248400"/>
            <a:ext cx="6699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900" dirty="0">
                <a:solidFill>
                  <a:prstClr val="black"/>
                </a:solidFill>
                <a:latin typeface="Century Gothic"/>
                <a:cs typeface="Century Gothic"/>
                <a:hlinkClick r:id="rId5" action="ppaction://hlinksldjump"/>
              </a:rPr>
              <a:t>Back to Table of contents</a:t>
            </a:r>
            <a:endParaRPr lang="en-US" sz="900" dirty="0">
              <a:solidFill>
                <a:prstClr val="black"/>
              </a:solidFill>
              <a:latin typeface="Century Gothic"/>
              <a:cs typeface="Century Gothic"/>
            </a:endParaRPr>
          </a:p>
          <a:p>
            <a:pPr eaLnBrk="1" hangingPunct="1"/>
            <a:endParaRPr lang="en-US" sz="900" dirty="0">
              <a:solidFill>
                <a:prstClr val="black"/>
              </a:solidFill>
              <a:latin typeface="Century Gothic"/>
              <a:cs typeface="Century Gothic"/>
            </a:endParaRPr>
          </a:p>
        </p:txBody>
      </p:sp>
    </p:spTree>
    <p:extLst>
      <p:ext uri="{BB962C8B-B14F-4D97-AF65-F5344CB8AC3E}">
        <p14:creationId xmlns:p14="http://schemas.microsoft.com/office/powerpoint/2010/main" val="176919881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747">
                                            <p:bg/>
                                          </p:spTgt>
                                        </p:tgtEl>
                                        <p:attrNameLst>
                                          <p:attrName>style.visibility</p:attrName>
                                        </p:attrNameLst>
                                      </p:cBhvr>
                                      <p:to>
                                        <p:strVal val="visible"/>
                                      </p:to>
                                    </p:set>
                                    <p:animEffect transition="in" filter="fade">
                                      <p:cBhvr>
                                        <p:cTn id="7" dur="500"/>
                                        <p:tgtEl>
                                          <p:spTgt spid="31747">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1747">
                                            <p:txEl>
                                              <p:pRg st="0" end="0"/>
                                            </p:txEl>
                                          </p:spTgt>
                                        </p:tgtEl>
                                        <p:attrNameLst>
                                          <p:attrName>style.visibility</p:attrName>
                                        </p:attrNameLst>
                                      </p:cBhvr>
                                      <p:to>
                                        <p:strVal val="visible"/>
                                      </p:to>
                                    </p:set>
                                    <p:animEffect transition="in" filter="fade">
                                      <p:cBhvr>
                                        <p:cTn id="10" dur="500"/>
                                        <p:tgtEl>
                                          <p:spTgt spid="31747">
                                            <p:txEl>
                                              <p:pRg st="0" end="0"/>
                                            </p:txEl>
                                          </p:spTgt>
                                        </p:tgtEl>
                                      </p:cBhvr>
                                    </p:animEffect>
                                  </p:childTnLst>
                                </p:cTn>
                              </p:par>
                            </p:childTnLst>
                          </p:cTn>
                        </p:par>
                        <p:par>
                          <p:cTn id="11" fill="hold" nodeType="afterGroup">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31747">
                                            <p:txEl>
                                              <p:pRg st="1" end="1"/>
                                            </p:txEl>
                                          </p:spTgt>
                                        </p:tgtEl>
                                        <p:attrNameLst>
                                          <p:attrName>style.visibility</p:attrName>
                                        </p:attrNameLst>
                                      </p:cBhvr>
                                      <p:to>
                                        <p:strVal val="visible"/>
                                      </p:to>
                                    </p:set>
                                    <p:animEffect transition="in" filter="fade">
                                      <p:cBhvr>
                                        <p:cTn id="14" dur="500"/>
                                        <p:tgtEl>
                                          <p:spTgt spid="3174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p:txBody>
          <a:bodyPr rtlCol="0">
            <a:normAutofit fontScale="92500" lnSpcReduction="10000"/>
          </a:bodyPr>
          <a:lstStyle/>
          <a:p>
            <a:pPr eaLnBrk="1" fontAlgn="auto" hangingPunct="1">
              <a:spcAft>
                <a:spcPts val="0"/>
              </a:spcAft>
              <a:buFont typeface="Arial" pitchFamily="34" charset="0"/>
              <a:buNone/>
              <a:defRPr/>
            </a:pPr>
            <a:r>
              <a:rPr lang="en-US" sz="3200" dirty="0"/>
              <a:t>Which of the following will cause an </a:t>
            </a:r>
            <a:r>
              <a:rPr lang="en-US" sz="3200" dirty="0">
                <a:solidFill>
                  <a:schemeClr val="accent1">
                    <a:lumMod val="75000"/>
                  </a:schemeClr>
                </a:solidFill>
              </a:rPr>
              <a:t>increase in the demand </a:t>
            </a:r>
            <a:r>
              <a:rPr lang="en-US" sz="3200" dirty="0"/>
              <a:t>for autos?</a:t>
            </a:r>
          </a:p>
          <a:p>
            <a:pPr marL="914400" lvl="1" indent="-514350" eaLnBrk="1" fontAlgn="auto" hangingPunct="1">
              <a:spcAft>
                <a:spcPts val="0"/>
              </a:spcAft>
              <a:buFont typeface="+mj-lt"/>
              <a:buAutoNum type="alphaLcParenR"/>
              <a:defRPr/>
            </a:pPr>
            <a:r>
              <a:rPr lang="en-US" sz="2800" dirty="0"/>
              <a:t>Price of car tires increases because of a Malaysian rubber shortage.</a:t>
            </a:r>
          </a:p>
          <a:p>
            <a:pPr marL="914400" lvl="1" indent="-514350" eaLnBrk="1" fontAlgn="auto" hangingPunct="1">
              <a:spcAft>
                <a:spcPts val="0"/>
              </a:spcAft>
              <a:buFont typeface="+mj-lt"/>
              <a:buAutoNum type="alphaLcParenR"/>
              <a:defRPr/>
            </a:pPr>
            <a:r>
              <a:rPr lang="en-US" sz="2800" dirty="0"/>
              <a:t>Concrete steel reinforcing rods are replaced by aluminum along the Atlantic coast to prevent rusting.</a:t>
            </a:r>
          </a:p>
          <a:p>
            <a:pPr marL="914400" lvl="1" indent="-514350" eaLnBrk="1" fontAlgn="auto" hangingPunct="1">
              <a:spcAft>
                <a:spcPts val="0"/>
              </a:spcAft>
              <a:buFont typeface="+mj-lt"/>
              <a:buAutoNum type="alphaLcParenR"/>
              <a:defRPr/>
            </a:pPr>
            <a:r>
              <a:rPr lang="en-US" sz="2800" dirty="0"/>
              <a:t>Gasoline prices drop by 50% when OPEC nations increase production.</a:t>
            </a:r>
          </a:p>
          <a:p>
            <a:pPr marL="914400" lvl="1" indent="-514350" eaLnBrk="1" fontAlgn="auto" hangingPunct="1">
              <a:spcAft>
                <a:spcPts val="0"/>
              </a:spcAft>
              <a:buFont typeface="+mj-lt"/>
              <a:buAutoNum type="alphaLcParenR"/>
              <a:defRPr/>
            </a:pPr>
            <a:r>
              <a:rPr lang="en-US" sz="2800" dirty="0"/>
              <a:t>McDonald’s increases its hamburger production in response to consumer trends.</a:t>
            </a:r>
            <a:endParaRPr lang="en-US" dirty="0"/>
          </a:p>
          <a:p>
            <a:pPr lvl="1" eaLnBrk="1" fontAlgn="auto" hangingPunct="1">
              <a:spcAft>
                <a:spcPts val="0"/>
              </a:spcAft>
              <a:buFont typeface="Arial" pitchFamily="34" charset="0"/>
              <a:buNone/>
              <a:defRPr/>
            </a:pPr>
            <a:endParaRPr lang="en-US" dirty="0"/>
          </a:p>
        </p:txBody>
      </p:sp>
      <p:sp>
        <p:nvSpPr>
          <p:cNvPr id="6" name="Oval 5"/>
          <p:cNvSpPr/>
          <p:nvPr/>
        </p:nvSpPr>
        <p:spPr>
          <a:xfrm>
            <a:off x="8382000" y="6096000"/>
            <a:ext cx="744538" cy="747713"/>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4278" name="TextBox 6">
            <a:hlinkClick r:id="rId3" action="ppaction://hlinksldjump"/>
          </p:cNvPr>
          <p:cNvSpPr txBox="1">
            <a:spLocks noChangeArrowheads="1"/>
          </p:cNvSpPr>
          <p:nvPr/>
        </p:nvSpPr>
        <p:spPr bwMode="auto">
          <a:xfrm>
            <a:off x="8428038" y="6203950"/>
            <a:ext cx="6699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1000">
                <a:latin typeface="Candara" pitchFamily="34" charset="0"/>
                <a:hlinkClick r:id="rId3" action="ppaction://hlinksldjump"/>
              </a:rPr>
              <a:t>Back to Table of contents</a:t>
            </a:r>
            <a:endParaRPr lang="en-US" sz="1000">
              <a:latin typeface="Candara" pitchFamily="34" charset="0"/>
            </a:endParaRPr>
          </a:p>
          <a:p>
            <a:pPr eaLnBrk="1" hangingPunct="1"/>
            <a:endParaRPr lang="en-US" sz="1000">
              <a:latin typeface="Candara" pitchFamily="34" charset="0"/>
            </a:endParaRPr>
          </a:p>
        </p:txBody>
      </p:sp>
      <p:sp>
        <p:nvSpPr>
          <p:cNvPr id="8" name="Rectangle 7"/>
          <p:cNvSpPr/>
          <p:nvPr/>
        </p:nvSpPr>
        <p:spPr>
          <a:xfrm>
            <a:off x="25705" y="6307666"/>
            <a:ext cx="1172116" cy="369332"/>
          </a:xfrm>
          <a:prstGeom prst="rect">
            <a:avLst/>
          </a:prstGeom>
        </p:spPr>
        <p:txBody>
          <a:bodyPr wrap="none">
            <a:spAutoFit/>
          </a:bodyPr>
          <a:lstStyle/>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4" action="ppaction://hlinksldjump"/>
              </a:rPr>
              <a:t>To Next </a:t>
            </a: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 action="ppaction://noaction"/>
            </a:endParaRPr>
          </a:p>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 action="ppaction://noaction"/>
              </a:rPr>
              <a:t>Active </a:t>
            </a: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4" action="ppaction://hlinksldjump"/>
              </a:rPr>
              <a:t>Learning</a:t>
            </a: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45618017"/>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5">
                                            <p:txEl>
                                              <p:pRg st="3" end="3"/>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Autofit/>
          </a:bodyPr>
          <a:lstStyle/>
          <a:p>
            <a:r>
              <a:rPr lang="en-US" sz="3600" dirty="0"/>
              <a:t>INDIVIDUAL DEMAND CURVES AND THE MARKET DEMAND CURVE</a:t>
            </a:r>
          </a:p>
        </p:txBody>
      </p:sp>
      <p:cxnSp>
        <p:nvCxnSpPr>
          <p:cNvPr id="5" name="Straight Connector 86"/>
          <p:cNvCxnSpPr>
            <a:cxnSpLocks noChangeShapeType="1"/>
          </p:cNvCxnSpPr>
          <p:nvPr/>
        </p:nvCxnSpPr>
        <p:spPr bwMode="auto">
          <a:xfrm>
            <a:off x="7010400" y="4343400"/>
            <a:ext cx="1600200" cy="1588"/>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6" name="Straight Connector 86"/>
          <p:cNvCxnSpPr>
            <a:cxnSpLocks noChangeShapeType="1"/>
          </p:cNvCxnSpPr>
          <p:nvPr/>
        </p:nvCxnSpPr>
        <p:spPr bwMode="auto">
          <a:xfrm>
            <a:off x="7010400" y="3457575"/>
            <a:ext cx="609600" cy="1588"/>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7" name="Straight Connector 86"/>
          <p:cNvCxnSpPr>
            <a:cxnSpLocks noChangeShapeType="1"/>
          </p:cNvCxnSpPr>
          <p:nvPr/>
        </p:nvCxnSpPr>
        <p:spPr bwMode="auto">
          <a:xfrm>
            <a:off x="7573963" y="3505200"/>
            <a:ext cx="0" cy="1524000"/>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8" name="Straight Connector 86"/>
          <p:cNvCxnSpPr>
            <a:cxnSpLocks noChangeShapeType="1"/>
          </p:cNvCxnSpPr>
          <p:nvPr/>
        </p:nvCxnSpPr>
        <p:spPr bwMode="auto">
          <a:xfrm>
            <a:off x="8610600" y="4344988"/>
            <a:ext cx="0" cy="684212"/>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9" name="Straight Connector 86"/>
          <p:cNvCxnSpPr>
            <a:cxnSpLocks noChangeShapeType="1"/>
          </p:cNvCxnSpPr>
          <p:nvPr/>
        </p:nvCxnSpPr>
        <p:spPr bwMode="auto">
          <a:xfrm>
            <a:off x="4000500" y="4343400"/>
            <a:ext cx="2438400" cy="3175"/>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10" name="Straight Connector 86"/>
          <p:cNvCxnSpPr>
            <a:cxnSpLocks noChangeShapeType="1"/>
          </p:cNvCxnSpPr>
          <p:nvPr/>
        </p:nvCxnSpPr>
        <p:spPr bwMode="auto">
          <a:xfrm>
            <a:off x="4000500" y="3457575"/>
            <a:ext cx="2438400" cy="3175"/>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11" name="Straight Connector 86"/>
          <p:cNvCxnSpPr>
            <a:cxnSpLocks noChangeShapeType="1"/>
          </p:cNvCxnSpPr>
          <p:nvPr/>
        </p:nvCxnSpPr>
        <p:spPr bwMode="auto">
          <a:xfrm>
            <a:off x="4495800" y="3505200"/>
            <a:ext cx="0" cy="1524000"/>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12" name="Straight Connector 86"/>
          <p:cNvCxnSpPr>
            <a:cxnSpLocks noChangeShapeType="1"/>
          </p:cNvCxnSpPr>
          <p:nvPr/>
        </p:nvCxnSpPr>
        <p:spPr bwMode="auto">
          <a:xfrm>
            <a:off x="5181600" y="4344988"/>
            <a:ext cx="0" cy="684212"/>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13" name="Straight Connector 86"/>
          <p:cNvCxnSpPr>
            <a:cxnSpLocks noChangeShapeType="1"/>
          </p:cNvCxnSpPr>
          <p:nvPr/>
        </p:nvCxnSpPr>
        <p:spPr bwMode="auto">
          <a:xfrm>
            <a:off x="990600" y="4343400"/>
            <a:ext cx="2438400" cy="3175"/>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14" name="Straight Connector 86"/>
          <p:cNvCxnSpPr>
            <a:cxnSpLocks noChangeShapeType="1"/>
          </p:cNvCxnSpPr>
          <p:nvPr/>
        </p:nvCxnSpPr>
        <p:spPr bwMode="auto">
          <a:xfrm>
            <a:off x="990600" y="3457575"/>
            <a:ext cx="2438400" cy="3175"/>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15" name="Straight Connector 86"/>
          <p:cNvCxnSpPr>
            <a:cxnSpLocks noChangeShapeType="1"/>
          </p:cNvCxnSpPr>
          <p:nvPr/>
        </p:nvCxnSpPr>
        <p:spPr bwMode="auto">
          <a:xfrm>
            <a:off x="1641475" y="3505200"/>
            <a:ext cx="0" cy="1524000"/>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16" name="Straight Connector 86"/>
          <p:cNvCxnSpPr>
            <a:cxnSpLocks noChangeShapeType="1"/>
          </p:cNvCxnSpPr>
          <p:nvPr/>
        </p:nvCxnSpPr>
        <p:spPr bwMode="auto">
          <a:xfrm>
            <a:off x="2327275" y="4344988"/>
            <a:ext cx="0" cy="684212"/>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sp>
        <p:nvSpPr>
          <p:cNvPr id="18" name="Freeform 259"/>
          <p:cNvSpPr>
            <a:spLocks/>
          </p:cNvSpPr>
          <p:nvPr/>
        </p:nvSpPr>
        <p:spPr bwMode="auto">
          <a:xfrm>
            <a:off x="3802063" y="2709863"/>
            <a:ext cx="2017712" cy="2452687"/>
          </a:xfrm>
          <a:custGeom>
            <a:avLst/>
            <a:gdLst>
              <a:gd name="T0" fmla="*/ 228 w 1271"/>
              <a:gd name="T1" fmla="*/ 1545 h 1545"/>
              <a:gd name="T2" fmla="*/ 0 w 1271"/>
              <a:gd name="T3" fmla="*/ 1545 h 1545"/>
              <a:gd name="T4" fmla="*/ 0 w 1271"/>
              <a:gd name="T5" fmla="*/ 0 h 1545"/>
              <a:gd name="T6" fmla="*/ 1271 w 1271"/>
              <a:gd name="T7" fmla="*/ 0 h 1545"/>
              <a:gd name="T8" fmla="*/ 1271 w 1271"/>
              <a:gd name="T9" fmla="*/ 1545 h 1545"/>
              <a:gd name="T10" fmla="*/ 228 w 1271"/>
              <a:gd name="T11" fmla="*/ 1545 h 1545"/>
            </a:gdLst>
            <a:ahLst/>
            <a:cxnLst>
              <a:cxn ang="0">
                <a:pos x="T0" y="T1"/>
              </a:cxn>
              <a:cxn ang="0">
                <a:pos x="T2" y="T3"/>
              </a:cxn>
              <a:cxn ang="0">
                <a:pos x="T4" y="T5"/>
              </a:cxn>
              <a:cxn ang="0">
                <a:pos x="T6" y="T7"/>
              </a:cxn>
              <a:cxn ang="0">
                <a:pos x="T8" y="T9"/>
              </a:cxn>
              <a:cxn ang="0">
                <a:pos x="T10" y="T11"/>
              </a:cxn>
            </a:cxnLst>
            <a:rect l="0" t="0" r="r" b="b"/>
            <a:pathLst>
              <a:path w="1271" h="1545">
                <a:moveTo>
                  <a:pt x="228" y="1545"/>
                </a:moveTo>
                <a:lnTo>
                  <a:pt x="0" y="1545"/>
                </a:lnTo>
                <a:lnTo>
                  <a:pt x="0" y="0"/>
                </a:lnTo>
                <a:lnTo>
                  <a:pt x="1271" y="0"/>
                </a:lnTo>
                <a:lnTo>
                  <a:pt x="1271" y="1545"/>
                </a:lnTo>
                <a:lnTo>
                  <a:pt x="228" y="1545"/>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b="1">
              <a:latin typeface="Century Gothic"/>
              <a:cs typeface="Century Gothic"/>
            </a:endParaRPr>
          </a:p>
        </p:txBody>
      </p:sp>
      <p:sp>
        <p:nvSpPr>
          <p:cNvPr id="19" name="Line 260"/>
          <p:cNvSpPr>
            <a:spLocks noChangeShapeType="1"/>
          </p:cNvSpPr>
          <p:nvPr/>
        </p:nvSpPr>
        <p:spPr bwMode="auto">
          <a:xfrm flipH="1">
            <a:off x="990600" y="5121275"/>
            <a:ext cx="55563" cy="8255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20" name="Line 261"/>
          <p:cNvSpPr>
            <a:spLocks noChangeShapeType="1"/>
          </p:cNvSpPr>
          <p:nvPr/>
        </p:nvSpPr>
        <p:spPr bwMode="auto">
          <a:xfrm flipH="1">
            <a:off x="1063625" y="5121275"/>
            <a:ext cx="55563" cy="8255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21" name="Rectangle 262"/>
          <p:cNvSpPr>
            <a:spLocks noChangeArrowheads="1"/>
          </p:cNvSpPr>
          <p:nvPr/>
        </p:nvSpPr>
        <p:spPr bwMode="auto">
          <a:xfrm>
            <a:off x="2479675" y="4532313"/>
            <a:ext cx="144125"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300" b="1" i="1" dirty="0">
                <a:solidFill>
                  <a:srgbClr val="000000"/>
                </a:solidFill>
                <a:latin typeface="Century Gothic"/>
                <a:cs typeface="Century Gothic"/>
              </a:rPr>
              <a:t>D</a:t>
            </a:r>
            <a:endParaRPr lang="en-US" b="1" i="1" dirty="0">
              <a:latin typeface="Century Gothic"/>
              <a:cs typeface="Century Gothic"/>
            </a:endParaRPr>
          </a:p>
        </p:txBody>
      </p:sp>
      <p:sp>
        <p:nvSpPr>
          <p:cNvPr id="22" name="Rectangle 263"/>
          <p:cNvSpPr>
            <a:spLocks noChangeArrowheads="1"/>
          </p:cNvSpPr>
          <p:nvPr/>
        </p:nvSpPr>
        <p:spPr bwMode="auto">
          <a:xfrm>
            <a:off x="2582863" y="4618038"/>
            <a:ext cx="297783"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900" b="1">
                <a:solidFill>
                  <a:srgbClr val="000000"/>
                </a:solidFill>
                <a:latin typeface="Century Gothic"/>
                <a:cs typeface="Century Gothic"/>
              </a:rPr>
              <a:t>Darla</a:t>
            </a:r>
            <a:endParaRPr lang="en-US" b="1">
              <a:latin typeface="Century Gothic"/>
              <a:cs typeface="Century Gothic"/>
            </a:endParaRPr>
          </a:p>
        </p:txBody>
      </p:sp>
      <p:sp>
        <p:nvSpPr>
          <p:cNvPr id="23" name="Rectangle 264"/>
          <p:cNvSpPr>
            <a:spLocks noChangeArrowheads="1"/>
          </p:cNvSpPr>
          <p:nvPr/>
        </p:nvSpPr>
        <p:spPr bwMode="auto">
          <a:xfrm>
            <a:off x="5321300" y="4532313"/>
            <a:ext cx="144125"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300" b="1" i="1" dirty="0">
                <a:solidFill>
                  <a:srgbClr val="000000"/>
                </a:solidFill>
                <a:latin typeface="Century Gothic"/>
                <a:cs typeface="Century Gothic"/>
              </a:rPr>
              <a:t>D</a:t>
            </a:r>
            <a:endParaRPr lang="en-US" b="1" i="1" dirty="0">
              <a:latin typeface="Century Gothic"/>
              <a:cs typeface="Century Gothic"/>
            </a:endParaRPr>
          </a:p>
        </p:txBody>
      </p:sp>
      <p:sp>
        <p:nvSpPr>
          <p:cNvPr id="24" name="Rectangle 265"/>
          <p:cNvSpPr>
            <a:spLocks noChangeArrowheads="1"/>
          </p:cNvSpPr>
          <p:nvPr/>
        </p:nvSpPr>
        <p:spPr bwMode="auto">
          <a:xfrm>
            <a:off x="5424488" y="4618038"/>
            <a:ext cx="251628"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900" b="1">
                <a:solidFill>
                  <a:srgbClr val="000000"/>
                </a:solidFill>
                <a:latin typeface="Century Gothic"/>
                <a:cs typeface="Century Gothic"/>
              </a:rPr>
              <a:t>Dino</a:t>
            </a:r>
            <a:endParaRPr lang="en-US" b="1">
              <a:latin typeface="Century Gothic"/>
              <a:cs typeface="Century Gothic"/>
            </a:endParaRPr>
          </a:p>
        </p:txBody>
      </p:sp>
      <p:sp>
        <p:nvSpPr>
          <p:cNvPr id="25" name="Line 266"/>
          <p:cNvSpPr>
            <a:spLocks noChangeShapeType="1"/>
          </p:cNvSpPr>
          <p:nvPr/>
        </p:nvSpPr>
        <p:spPr bwMode="auto">
          <a:xfrm>
            <a:off x="798513" y="4337050"/>
            <a:ext cx="109537"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26" name="Line 267"/>
          <p:cNvSpPr>
            <a:spLocks noChangeShapeType="1"/>
          </p:cNvSpPr>
          <p:nvPr/>
        </p:nvSpPr>
        <p:spPr bwMode="auto">
          <a:xfrm flipV="1">
            <a:off x="1646238" y="5070475"/>
            <a:ext cx="0" cy="92075"/>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27" name="Line 268"/>
          <p:cNvSpPr>
            <a:spLocks noChangeShapeType="1"/>
          </p:cNvSpPr>
          <p:nvPr/>
        </p:nvSpPr>
        <p:spPr bwMode="auto">
          <a:xfrm flipV="1">
            <a:off x="2330450" y="5070475"/>
            <a:ext cx="0" cy="92075"/>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28" name="Line 269"/>
          <p:cNvSpPr>
            <a:spLocks noChangeShapeType="1"/>
          </p:cNvSpPr>
          <p:nvPr/>
        </p:nvSpPr>
        <p:spPr bwMode="auto">
          <a:xfrm flipV="1">
            <a:off x="4498975" y="5070475"/>
            <a:ext cx="0" cy="92075"/>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29" name="Line 270"/>
          <p:cNvSpPr>
            <a:spLocks noChangeShapeType="1"/>
          </p:cNvSpPr>
          <p:nvPr/>
        </p:nvSpPr>
        <p:spPr bwMode="auto">
          <a:xfrm flipV="1">
            <a:off x="5183188" y="5070475"/>
            <a:ext cx="0" cy="92075"/>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30" name="Rectangle 271"/>
          <p:cNvSpPr>
            <a:spLocks noChangeArrowheads="1"/>
          </p:cNvSpPr>
          <p:nvPr/>
        </p:nvSpPr>
        <p:spPr bwMode="auto">
          <a:xfrm>
            <a:off x="649288" y="5184775"/>
            <a:ext cx="8618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0</a:t>
            </a:r>
            <a:endParaRPr lang="en-US" b="1">
              <a:latin typeface="Century Gothic"/>
              <a:cs typeface="Century Gothic"/>
            </a:endParaRPr>
          </a:p>
        </p:txBody>
      </p:sp>
      <p:sp>
        <p:nvSpPr>
          <p:cNvPr id="31" name="Rectangle 272"/>
          <p:cNvSpPr>
            <a:spLocks noChangeArrowheads="1"/>
          </p:cNvSpPr>
          <p:nvPr/>
        </p:nvSpPr>
        <p:spPr bwMode="auto">
          <a:xfrm>
            <a:off x="3636963" y="5184775"/>
            <a:ext cx="8618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0</a:t>
            </a:r>
            <a:endParaRPr lang="en-US" b="1">
              <a:latin typeface="Century Gothic"/>
              <a:cs typeface="Century Gothic"/>
            </a:endParaRPr>
          </a:p>
        </p:txBody>
      </p:sp>
      <p:sp>
        <p:nvSpPr>
          <p:cNvPr id="32" name="Rectangle 273"/>
          <p:cNvSpPr>
            <a:spLocks noChangeArrowheads="1"/>
          </p:cNvSpPr>
          <p:nvPr/>
        </p:nvSpPr>
        <p:spPr bwMode="auto">
          <a:xfrm>
            <a:off x="4419600" y="5184775"/>
            <a:ext cx="17237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10</a:t>
            </a:r>
            <a:endParaRPr lang="en-US" b="1">
              <a:latin typeface="Century Gothic"/>
              <a:cs typeface="Century Gothic"/>
            </a:endParaRPr>
          </a:p>
        </p:txBody>
      </p:sp>
      <p:sp>
        <p:nvSpPr>
          <p:cNvPr id="33" name="Rectangle 274"/>
          <p:cNvSpPr>
            <a:spLocks noChangeArrowheads="1"/>
          </p:cNvSpPr>
          <p:nvPr/>
        </p:nvSpPr>
        <p:spPr bwMode="auto">
          <a:xfrm>
            <a:off x="5113338" y="5184775"/>
            <a:ext cx="17237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20</a:t>
            </a:r>
            <a:endParaRPr lang="en-US" b="1">
              <a:latin typeface="Century Gothic"/>
              <a:cs typeface="Century Gothic"/>
            </a:endParaRPr>
          </a:p>
        </p:txBody>
      </p:sp>
      <p:sp>
        <p:nvSpPr>
          <p:cNvPr id="34" name="Rectangle 275"/>
          <p:cNvSpPr>
            <a:spLocks noChangeArrowheads="1"/>
          </p:cNvSpPr>
          <p:nvPr/>
        </p:nvSpPr>
        <p:spPr bwMode="auto">
          <a:xfrm>
            <a:off x="2257425" y="5184775"/>
            <a:ext cx="17237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30</a:t>
            </a:r>
            <a:endParaRPr lang="en-US" b="1">
              <a:latin typeface="Century Gothic"/>
              <a:cs typeface="Century Gothic"/>
            </a:endParaRPr>
          </a:p>
        </p:txBody>
      </p:sp>
      <p:sp>
        <p:nvSpPr>
          <p:cNvPr id="35" name="Rectangle 276"/>
          <p:cNvSpPr>
            <a:spLocks noChangeArrowheads="1"/>
          </p:cNvSpPr>
          <p:nvPr/>
        </p:nvSpPr>
        <p:spPr bwMode="auto">
          <a:xfrm>
            <a:off x="1571625" y="5184775"/>
            <a:ext cx="17237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20</a:t>
            </a:r>
            <a:endParaRPr lang="en-US" b="1">
              <a:latin typeface="Century Gothic"/>
              <a:cs typeface="Century Gothic"/>
            </a:endParaRPr>
          </a:p>
        </p:txBody>
      </p:sp>
      <p:sp>
        <p:nvSpPr>
          <p:cNvPr id="36" name="Rectangle 277"/>
          <p:cNvSpPr>
            <a:spLocks noChangeArrowheads="1"/>
          </p:cNvSpPr>
          <p:nvPr/>
        </p:nvSpPr>
        <p:spPr bwMode="auto">
          <a:xfrm>
            <a:off x="6686550" y="5184775"/>
            <a:ext cx="8618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0</a:t>
            </a:r>
            <a:endParaRPr lang="en-US" b="1">
              <a:latin typeface="Century Gothic"/>
              <a:cs typeface="Century Gothic"/>
            </a:endParaRPr>
          </a:p>
        </p:txBody>
      </p:sp>
      <p:sp>
        <p:nvSpPr>
          <p:cNvPr id="37" name="Rectangle 278"/>
          <p:cNvSpPr>
            <a:spLocks noChangeArrowheads="1"/>
          </p:cNvSpPr>
          <p:nvPr/>
        </p:nvSpPr>
        <p:spPr bwMode="auto">
          <a:xfrm>
            <a:off x="574675" y="3371850"/>
            <a:ext cx="17237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$2</a:t>
            </a:r>
            <a:endParaRPr lang="en-US" b="1">
              <a:latin typeface="Century Gothic"/>
              <a:cs typeface="Century Gothic"/>
            </a:endParaRPr>
          </a:p>
        </p:txBody>
      </p:sp>
      <p:sp>
        <p:nvSpPr>
          <p:cNvPr id="38" name="Line 279"/>
          <p:cNvSpPr>
            <a:spLocks noChangeShapeType="1"/>
          </p:cNvSpPr>
          <p:nvPr/>
        </p:nvSpPr>
        <p:spPr bwMode="auto">
          <a:xfrm>
            <a:off x="798513" y="3457575"/>
            <a:ext cx="109537"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39" name="Line 280"/>
          <p:cNvSpPr>
            <a:spLocks noChangeShapeType="1"/>
          </p:cNvSpPr>
          <p:nvPr/>
        </p:nvSpPr>
        <p:spPr bwMode="auto">
          <a:xfrm>
            <a:off x="3811588" y="4337050"/>
            <a:ext cx="109537"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40" name="Line 281"/>
          <p:cNvSpPr>
            <a:spLocks noChangeShapeType="1"/>
          </p:cNvSpPr>
          <p:nvPr/>
        </p:nvSpPr>
        <p:spPr bwMode="auto">
          <a:xfrm>
            <a:off x="3811588" y="3457575"/>
            <a:ext cx="109537"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41" name="Rectangle 282"/>
          <p:cNvSpPr>
            <a:spLocks noChangeArrowheads="1"/>
          </p:cNvSpPr>
          <p:nvPr/>
        </p:nvSpPr>
        <p:spPr bwMode="auto">
          <a:xfrm>
            <a:off x="649288" y="4257675"/>
            <a:ext cx="8618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1</a:t>
            </a:r>
            <a:endParaRPr lang="en-US" b="1">
              <a:latin typeface="Century Gothic"/>
              <a:cs typeface="Century Gothic"/>
            </a:endParaRPr>
          </a:p>
        </p:txBody>
      </p:sp>
      <p:sp>
        <p:nvSpPr>
          <p:cNvPr id="42" name="Rectangle 283"/>
          <p:cNvSpPr>
            <a:spLocks noChangeArrowheads="1"/>
          </p:cNvSpPr>
          <p:nvPr/>
        </p:nvSpPr>
        <p:spPr bwMode="auto">
          <a:xfrm>
            <a:off x="3573463" y="3371850"/>
            <a:ext cx="17237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$2</a:t>
            </a:r>
            <a:endParaRPr lang="en-US" b="1">
              <a:latin typeface="Century Gothic"/>
              <a:cs typeface="Century Gothic"/>
            </a:endParaRPr>
          </a:p>
        </p:txBody>
      </p:sp>
      <p:sp>
        <p:nvSpPr>
          <p:cNvPr id="43" name="Rectangle 284"/>
          <p:cNvSpPr>
            <a:spLocks noChangeArrowheads="1"/>
          </p:cNvSpPr>
          <p:nvPr/>
        </p:nvSpPr>
        <p:spPr bwMode="auto">
          <a:xfrm>
            <a:off x="3649663" y="4257675"/>
            <a:ext cx="8618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1</a:t>
            </a:r>
            <a:endParaRPr lang="en-US" b="1">
              <a:latin typeface="Century Gothic"/>
              <a:cs typeface="Century Gothic"/>
            </a:endParaRPr>
          </a:p>
        </p:txBody>
      </p:sp>
      <p:sp>
        <p:nvSpPr>
          <p:cNvPr id="44" name="Rectangle 285"/>
          <p:cNvSpPr>
            <a:spLocks noChangeArrowheads="1"/>
          </p:cNvSpPr>
          <p:nvPr/>
        </p:nvSpPr>
        <p:spPr bwMode="auto">
          <a:xfrm>
            <a:off x="6600825" y="3371850"/>
            <a:ext cx="17237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$2</a:t>
            </a:r>
            <a:endParaRPr lang="en-US" b="1">
              <a:latin typeface="Century Gothic"/>
              <a:cs typeface="Century Gothic"/>
            </a:endParaRPr>
          </a:p>
        </p:txBody>
      </p:sp>
      <p:sp>
        <p:nvSpPr>
          <p:cNvPr id="45" name="Rectangle 286"/>
          <p:cNvSpPr>
            <a:spLocks noChangeArrowheads="1"/>
          </p:cNvSpPr>
          <p:nvPr/>
        </p:nvSpPr>
        <p:spPr bwMode="auto">
          <a:xfrm>
            <a:off x="6677025" y="4257675"/>
            <a:ext cx="8618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1</a:t>
            </a:r>
            <a:endParaRPr lang="en-US" b="1">
              <a:latin typeface="Century Gothic"/>
              <a:cs typeface="Century Gothic"/>
            </a:endParaRPr>
          </a:p>
        </p:txBody>
      </p:sp>
      <p:sp>
        <p:nvSpPr>
          <p:cNvPr id="46" name="Freeform 308"/>
          <p:cNvSpPr>
            <a:spLocks/>
          </p:cNvSpPr>
          <p:nvPr/>
        </p:nvSpPr>
        <p:spPr bwMode="auto">
          <a:xfrm>
            <a:off x="798513" y="2709863"/>
            <a:ext cx="219075" cy="2452687"/>
          </a:xfrm>
          <a:custGeom>
            <a:avLst/>
            <a:gdLst>
              <a:gd name="T0" fmla="*/ 138 w 138"/>
              <a:gd name="T1" fmla="*/ 1545 h 1545"/>
              <a:gd name="T2" fmla="*/ 0 w 138"/>
              <a:gd name="T3" fmla="*/ 1545 h 1545"/>
              <a:gd name="T4" fmla="*/ 0 w 138"/>
              <a:gd name="T5" fmla="*/ 0 h 1545"/>
            </a:gdLst>
            <a:ahLst/>
            <a:cxnLst>
              <a:cxn ang="0">
                <a:pos x="T0" y="T1"/>
              </a:cxn>
              <a:cxn ang="0">
                <a:pos x="T2" y="T3"/>
              </a:cxn>
              <a:cxn ang="0">
                <a:pos x="T4" y="T5"/>
              </a:cxn>
            </a:cxnLst>
            <a:rect l="0" t="0" r="r" b="b"/>
            <a:pathLst>
              <a:path w="138" h="1545">
                <a:moveTo>
                  <a:pt x="138" y="1545"/>
                </a:moveTo>
                <a:lnTo>
                  <a:pt x="0" y="1545"/>
                </a:lnTo>
                <a:lnTo>
                  <a:pt x="0" y="0"/>
                </a:lnTo>
              </a:path>
            </a:pathLst>
          </a:custGeom>
          <a:noFill/>
          <a:ln w="95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b="1">
              <a:latin typeface="Century Gothic"/>
              <a:cs typeface="Century Gothic"/>
            </a:endParaRPr>
          </a:p>
        </p:txBody>
      </p:sp>
      <p:sp>
        <p:nvSpPr>
          <p:cNvPr id="47" name="Line 309"/>
          <p:cNvSpPr>
            <a:spLocks noChangeShapeType="1"/>
          </p:cNvSpPr>
          <p:nvPr/>
        </p:nvSpPr>
        <p:spPr bwMode="auto">
          <a:xfrm flipH="1">
            <a:off x="1092200" y="5162550"/>
            <a:ext cx="1779588"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48" name="Line 342"/>
          <p:cNvSpPr>
            <a:spLocks noChangeShapeType="1"/>
          </p:cNvSpPr>
          <p:nvPr/>
        </p:nvSpPr>
        <p:spPr bwMode="auto">
          <a:xfrm flipV="1">
            <a:off x="3802063" y="2709863"/>
            <a:ext cx="0" cy="2452687"/>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49" name="Line 343"/>
          <p:cNvSpPr>
            <a:spLocks noChangeShapeType="1"/>
          </p:cNvSpPr>
          <p:nvPr/>
        </p:nvSpPr>
        <p:spPr bwMode="auto">
          <a:xfrm flipH="1">
            <a:off x="3802063" y="5162550"/>
            <a:ext cx="2017712"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50" name="Line 344"/>
          <p:cNvSpPr>
            <a:spLocks noChangeShapeType="1"/>
          </p:cNvSpPr>
          <p:nvPr/>
        </p:nvSpPr>
        <p:spPr bwMode="auto">
          <a:xfrm>
            <a:off x="2476500" y="4530725"/>
            <a:ext cx="0" cy="0"/>
          </a:xfrm>
          <a:prstGeom prst="line">
            <a:avLst/>
          </a:prstGeom>
          <a:noFill/>
          <a:ln w="36513">
            <a:solidFill>
              <a:srgbClr val="AEC5E7"/>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51" name="Line 345"/>
          <p:cNvSpPr>
            <a:spLocks noChangeShapeType="1"/>
          </p:cNvSpPr>
          <p:nvPr/>
        </p:nvSpPr>
        <p:spPr bwMode="auto">
          <a:xfrm>
            <a:off x="1463675" y="3251200"/>
            <a:ext cx="0" cy="0"/>
          </a:xfrm>
          <a:prstGeom prst="line">
            <a:avLst/>
          </a:prstGeom>
          <a:noFill/>
          <a:ln w="36513">
            <a:solidFill>
              <a:srgbClr val="AEC5E7"/>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52" name="Line 386"/>
          <p:cNvSpPr>
            <a:spLocks noChangeShapeType="1"/>
          </p:cNvSpPr>
          <p:nvPr/>
        </p:nvSpPr>
        <p:spPr bwMode="auto">
          <a:xfrm>
            <a:off x="1490663" y="3251200"/>
            <a:ext cx="985837" cy="1279525"/>
          </a:xfrm>
          <a:prstGeom prst="line">
            <a:avLst/>
          </a:prstGeom>
          <a:noFill/>
          <a:ln w="36513">
            <a:solidFill>
              <a:srgbClr val="3C5DAA"/>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53" name="Oval 387"/>
          <p:cNvSpPr>
            <a:spLocks noChangeArrowheads="1"/>
          </p:cNvSpPr>
          <p:nvPr/>
        </p:nvSpPr>
        <p:spPr bwMode="auto">
          <a:xfrm>
            <a:off x="2279650" y="4291013"/>
            <a:ext cx="92075" cy="920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b="1">
              <a:latin typeface="Century Gothic"/>
              <a:cs typeface="Century Gothic"/>
            </a:endParaRPr>
          </a:p>
        </p:txBody>
      </p:sp>
      <p:sp>
        <p:nvSpPr>
          <p:cNvPr id="54" name="Oval 388"/>
          <p:cNvSpPr>
            <a:spLocks noChangeArrowheads="1"/>
          </p:cNvSpPr>
          <p:nvPr/>
        </p:nvSpPr>
        <p:spPr bwMode="auto">
          <a:xfrm>
            <a:off x="1600200" y="3406775"/>
            <a:ext cx="92075" cy="920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b="1">
              <a:latin typeface="Century Gothic"/>
              <a:cs typeface="Century Gothic"/>
            </a:endParaRPr>
          </a:p>
        </p:txBody>
      </p:sp>
      <p:sp>
        <p:nvSpPr>
          <p:cNvPr id="55" name="Line 389"/>
          <p:cNvSpPr>
            <a:spLocks noChangeShapeType="1"/>
          </p:cNvSpPr>
          <p:nvPr/>
        </p:nvSpPr>
        <p:spPr bwMode="auto">
          <a:xfrm>
            <a:off x="4329113" y="3222625"/>
            <a:ext cx="985837" cy="1303338"/>
          </a:xfrm>
          <a:prstGeom prst="line">
            <a:avLst/>
          </a:prstGeom>
          <a:noFill/>
          <a:ln w="36513">
            <a:solidFill>
              <a:srgbClr val="3C5DAA"/>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56" name="Oval 390"/>
          <p:cNvSpPr>
            <a:spLocks noChangeArrowheads="1"/>
          </p:cNvSpPr>
          <p:nvPr/>
        </p:nvSpPr>
        <p:spPr bwMode="auto">
          <a:xfrm>
            <a:off x="5132388" y="4287838"/>
            <a:ext cx="92075" cy="904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b="1">
              <a:latin typeface="Century Gothic"/>
              <a:cs typeface="Century Gothic"/>
            </a:endParaRPr>
          </a:p>
        </p:txBody>
      </p:sp>
      <p:sp>
        <p:nvSpPr>
          <p:cNvPr id="57" name="Oval 391"/>
          <p:cNvSpPr>
            <a:spLocks noChangeArrowheads="1"/>
          </p:cNvSpPr>
          <p:nvPr/>
        </p:nvSpPr>
        <p:spPr bwMode="auto">
          <a:xfrm>
            <a:off x="4452938" y="3411538"/>
            <a:ext cx="92075" cy="920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b="1">
              <a:latin typeface="Century Gothic"/>
              <a:cs typeface="Century Gothic"/>
            </a:endParaRPr>
          </a:p>
        </p:txBody>
      </p:sp>
      <p:sp>
        <p:nvSpPr>
          <p:cNvPr id="58" name="Line 393"/>
          <p:cNvSpPr>
            <a:spLocks noChangeShapeType="1"/>
          </p:cNvSpPr>
          <p:nvPr/>
        </p:nvSpPr>
        <p:spPr bwMode="auto">
          <a:xfrm flipH="1">
            <a:off x="7016750" y="5121275"/>
            <a:ext cx="55563" cy="8255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59" name="Line 394"/>
          <p:cNvSpPr>
            <a:spLocks noChangeShapeType="1"/>
          </p:cNvSpPr>
          <p:nvPr/>
        </p:nvSpPr>
        <p:spPr bwMode="auto">
          <a:xfrm flipH="1">
            <a:off x="7089775" y="5121275"/>
            <a:ext cx="55563" cy="8255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60" name="Rectangle 395"/>
          <p:cNvSpPr>
            <a:spLocks noChangeArrowheads="1"/>
          </p:cNvSpPr>
          <p:nvPr/>
        </p:nvSpPr>
        <p:spPr bwMode="auto">
          <a:xfrm>
            <a:off x="7493000" y="5184775"/>
            <a:ext cx="17237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30</a:t>
            </a:r>
            <a:endParaRPr lang="en-US" b="1">
              <a:latin typeface="Century Gothic"/>
              <a:cs typeface="Century Gothic"/>
            </a:endParaRPr>
          </a:p>
        </p:txBody>
      </p:sp>
      <p:sp>
        <p:nvSpPr>
          <p:cNvPr id="61" name="Rectangle 396"/>
          <p:cNvSpPr>
            <a:spLocks noChangeArrowheads="1"/>
          </p:cNvSpPr>
          <p:nvPr/>
        </p:nvSpPr>
        <p:spPr bwMode="auto">
          <a:xfrm>
            <a:off x="8039100" y="5184775"/>
            <a:ext cx="17237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40</a:t>
            </a:r>
            <a:endParaRPr lang="en-US" b="1">
              <a:latin typeface="Century Gothic"/>
              <a:cs typeface="Century Gothic"/>
            </a:endParaRPr>
          </a:p>
        </p:txBody>
      </p:sp>
      <p:sp>
        <p:nvSpPr>
          <p:cNvPr id="62" name="Rectangle 397"/>
          <p:cNvSpPr>
            <a:spLocks noChangeArrowheads="1"/>
          </p:cNvSpPr>
          <p:nvPr/>
        </p:nvSpPr>
        <p:spPr bwMode="auto">
          <a:xfrm>
            <a:off x="8548688" y="5184775"/>
            <a:ext cx="17237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50</a:t>
            </a:r>
            <a:endParaRPr lang="en-US" b="1">
              <a:latin typeface="Century Gothic"/>
              <a:cs typeface="Century Gothic"/>
            </a:endParaRPr>
          </a:p>
        </p:txBody>
      </p:sp>
      <p:sp>
        <p:nvSpPr>
          <p:cNvPr id="63" name="Line 398"/>
          <p:cNvSpPr>
            <a:spLocks noChangeShapeType="1"/>
          </p:cNvSpPr>
          <p:nvPr/>
        </p:nvSpPr>
        <p:spPr bwMode="auto">
          <a:xfrm>
            <a:off x="6829425" y="4337050"/>
            <a:ext cx="109538"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64" name="Line 399"/>
          <p:cNvSpPr>
            <a:spLocks noChangeShapeType="1"/>
          </p:cNvSpPr>
          <p:nvPr/>
        </p:nvSpPr>
        <p:spPr bwMode="auto">
          <a:xfrm>
            <a:off x="6829425" y="3457575"/>
            <a:ext cx="109538"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65" name="Freeform 410"/>
          <p:cNvSpPr>
            <a:spLocks/>
          </p:cNvSpPr>
          <p:nvPr/>
        </p:nvSpPr>
        <p:spPr bwMode="auto">
          <a:xfrm>
            <a:off x="6824663" y="2709863"/>
            <a:ext cx="219075" cy="2452687"/>
          </a:xfrm>
          <a:custGeom>
            <a:avLst/>
            <a:gdLst>
              <a:gd name="T0" fmla="*/ 138 w 138"/>
              <a:gd name="T1" fmla="*/ 1545 h 1545"/>
              <a:gd name="T2" fmla="*/ 0 w 138"/>
              <a:gd name="T3" fmla="*/ 1545 h 1545"/>
              <a:gd name="T4" fmla="*/ 0 w 138"/>
              <a:gd name="T5" fmla="*/ 0 h 1545"/>
            </a:gdLst>
            <a:ahLst/>
            <a:cxnLst>
              <a:cxn ang="0">
                <a:pos x="T0" y="T1"/>
              </a:cxn>
              <a:cxn ang="0">
                <a:pos x="T2" y="T3"/>
              </a:cxn>
              <a:cxn ang="0">
                <a:pos x="T4" y="T5"/>
              </a:cxn>
            </a:cxnLst>
            <a:rect l="0" t="0" r="r" b="b"/>
            <a:pathLst>
              <a:path w="138" h="1545">
                <a:moveTo>
                  <a:pt x="138" y="1545"/>
                </a:moveTo>
                <a:lnTo>
                  <a:pt x="0" y="1545"/>
                </a:lnTo>
                <a:lnTo>
                  <a:pt x="0" y="0"/>
                </a:lnTo>
              </a:path>
            </a:pathLst>
          </a:custGeom>
          <a:noFill/>
          <a:ln w="95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b="1">
              <a:latin typeface="Century Gothic"/>
              <a:cs typeface="Century Gothic"/>
            </a:endParaRPr>
          </a:p>
        </p:txBody>
      </p:sp>
      <p:sp>
        <p:nvSpPr>
          <p:cNvPr id="66" name="Line 411"/>
          <p:cNvSpPr>
            <a:spLocks noChangeShapeType="1"/>
          </p:cNvSpPr>
          <p:nvPr/>
        </p:nvSpPr>
        <p:spPr bwMode="auto">
          <a:xfrm flipH="1">
            <a:off x="7118350" y="5162550"/>
            <a:ext cx="1801813"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67" name="Line 412"/>
          <p:cNvSpPr>
            <a:spLocks noChangeShapeType="1"/>
          </p:cNvSpPr>
          <p:nvPr/>
        </p:nvSpPr>
        <p:spPr bwMode="auto">
          <a:xfrm>
            <a:off x="7283450" y="3241675"/>
            <a:ext cx="1531938" cy="1260475"/>
          </a:xfrm>
          <a:prstGeom prst="line">
            <a:avLst/>
          </a:prstGeom>
          <a:noFill/>
          <a:ln w="36513">
            <a:solidFill>
              <a:srgbClr val="3C5DAA"/>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68" name="Oval 413"/>
          <p:cNvSpPr>
            <a:spLocks noChangeArrowheads="1"/>
          </p:cNvSpPr>
          <p:nvPr/>
        </p:nvSpPr>
        <p:spPr bwMode="auto">
          <a:xfrm>
            <a:off x="8570913" y="4295775"/>
            <a:ext cx="92075" cy="920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b="1">
              <a:latin typeface="Century Gothic"/>
              <a:cs typeface="Century Gothic"/>
            </a:endParaRPr>
          </a:p>
        </p:txBody>
      </p:sp>
      <p:sp>
        <p:nvSpPr>
          <p:cNvPr id="69" name="Oval 414"/>
          <p:cNvSpPr>
            <a:spLocks noChangeArrowheads="1"/>
          </p:cNvSpPr>
          <p:nvPr/>
        </p:nvSpPr>
        <p:spPr bwMode="auto">
          <a:xfrm>
            <a:off x="7526338" y="3421063"/>
            <a:ext cx="92075" cy="9048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b="1">
              <a:latin typeface="Century Gothic"/>
              <a:cs typeface="Century Gothic"/>
            </a:endParaRPr>
          </a:p>
        </p:txBody>
      </p:sp>
      <p:sp>
        <p:nvSpPr>
          <p:cNvPr id="70" name="Line 415"/>
          <p:cNvSpPr>
            <a:spLocks noChangeShapeType="1"/>
          </p:cNvSpPr>
          <p:nvPr/>
        </p:nvSpPr>
        <p:spPr bwMode="auto">
          <a:xfrm flipV="1">
            <a:off x="7572375" y="5070475"/>
            <a:ext cx="0" cy="92075"/>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71" name="Line 416"/>
          <p:cNvSpPr>
            <a:spLocks noChangeShapeType="1"/>
          </p:cNvSpPr>
          <p:nvPr/>
        </p:nvSpPr>
        <p:spPr bwMode="auto">
          <a:xfrm flipV="1">
            <a:off x="8126413" y="5070475"/>
            <a:ext cx="0" cy="92075"/>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72" name="Line 417"/>
          <p:cNvSpPr>
            <a:spLocks noChangeShapeType="1"/>
          </p:cNvSpPr>
          <p:nvPr/>
        </p:nvSpPr>
        <p:spPr bwMode="auto">
          <a:xfrm flipV="1">
            <a:off x="8626475" y="5070475"/>
            <a:ext cx="0" cy="92075"/>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73" name="Rectangle 418"/>
          <p:cNvSpPr>
            <a:spLocks noChangeArrowheads="1"/>
          </p:cNvSpPr>
          <p:nvPr/>
        </p:nvSpPr>
        <p:spPr bwMode="auto">
          <a:xfrm>
            <a:off x="8437563" y="4005263"/>
            <a:ext cx="116731"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300" b="1">
                <a:solidFill>
                  <a:srgbClr val="000000"/>
                </a:solidFill>
                <a:latin typeface="Century Gothic"/>
                <a:cs typeface="Century Gothic"/>
              </a:rPr>
              <a:t>D</a:t>
            </a:r>
            <a:endParaRPr lang="en-US" b="1">
              <a:latin typeface="Century Gothic"/>
              <a:cs typeface="Century Gothic"/>
            </a:endParaRPr>
          </a:p>
        </p:txBody>
      </p:sp>
      <p:sp>
        <p:nvSpPr>
          <p:cNvPr id="74" name="Rectangle 419"/>
          <p:cNvSpPr>
            <a:spLocks noChangeArrowheads="1"/>
          </p:cNvSpPr>
          <p:nvPr/>
        </p:nvSpPr>
        <p:spPr bwMode="auto">
          <a:xfrm>
            <a:off x="8540750" y="4089400"/>
            <a:ext cx="397545"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900" b="1">
                <a:solidFill>
                  <a:srgbClr val="000000"/>
                </a:solidFill>
                <a:latin typeface="Century Gothic"/>
                <a:cs typeface="Century Gothic"/>
              </a:rPr>
              <a:t>Market</a:t>
            </a:r>
            <a:endParaRPr lang="en-US" b="1">
              <a:latin typeface="Century Gothic"/>
              <a:cs typeface="Century Gothic"/>
            </a:endParaRPr>
          </a:p>
        </p:txBody>
      </p:sp>
      <p:sp>
        <p:nvSpPr>
          <p:cNvPr id="75" name="TextBox 29"/>
          <p:cNvSpPr txBox="1">
            <a:spLocks noChangeArrowheads="1"/>
          </p:cNvSpPr>
          <p:nvPr/>
        </p:nvSpPr>
        <p:spPr bwMode="auto">
          <a:xfrm>
            <a:off x="914400" y="1828800"/>
            <a:ext cx="24384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spcBef>
                <a:spcPct val="50000"/>
              </a:spcBef>
            </a:pPr>
            <a:r>
              <a:rPr lang="en-US" sz="1400" b="1" dirty="0">
                <a:latin typeface="Century Gothic"/>
                <a:ea typeface="MS PGothic" pitchFamily="34" charset="-128"/>
                <a:cs typeface="Century Gothic"/>
              </a:rPr>
              <a:t>(a)  Darla’s individual demand curve</a:t>
            </a:r>
          </a:p>
        </p:txBody>
      </p:sp>
      <p:sp>
        <p:nvSpPr>
          <p:cNvPr id="76" name="TextBox 29"/>
          <p:cNvSpPr txBox="1">
            <a:spLocks noChangeArrowheads="1"/>
          </p:cNvSpPr>
          <p:nvPr/>
        </p:nvSpPr>
        <p:spPr bwMode="auto">
          <a:xfrm>
            <a:off x="4038600" y="1828800"/>
            <a:ext cx="2209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spcBef>
                <a:spcPct val="50000"/>
              </a:spcBef>
            </a:pPr>
            <a:r>
              <a:rPr lang="en-US" sz="1400" b="1" dirty="0">
                <a:latin typeface="Century Gothic"/>
                <a:ea typeface="MS PGothic" pitchFamily="34" charset="-128"/>
                <a:cs typeface="Century Gothic"/>
              </a:rPr>
              <a:t>(b)  Dino’s individual demand curve</a:t>
            </a:r>
          </a:p>
        </p:txBody>
      </p:sp>
      <p:sp>
        <p:nvSpPr>
          <p:cNvPr id="77" name="TextBox 29"/>
          <p:cNvSpPr txBox="1">
            <a:spLocks noChangeArrowheads="1"/>
          </p:cNvSpPr>
          <p:nvPr/>
        </p:nvSpPr>
        <p:spPr bwMode="auto">
          <a:xfrm>
            <a:off x="6629400" y="1806575"/>
            <a:ext cx="2057400"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spcBef>
                <a:spcPct val="50000"/>
              </a:spcBef>
            </a:pPr>
            <a:r>
              <a:rPr lang="en-US" sz="1400" b="1" dirty="0">
                <a:latin typeface="Century Gothic"/>
                <a:ea typeface="MS PGothic" pitchFamily="34" charset="-128"/>
                <a:cs typeface="Century Gothic"/>
              </a:rPr>
              <a:t>(c)  Market demand curve</a:t>
            </a:r>
          </a:p>
        </p:txBody>
      </p:sp>
      <p:sp>
        <p:nvSpPr>
          <p:cNvPr id="78" name="TextBox 29"/>
          <p:cNvSpPr txBox="1">
            <a:spLocks noChangeArrowheads="1"/>
          </p:cNvSpPr>
          <p:nvPr/>
        </p:nvSpPr>
        <p:spPr bwMode="auto">
          <a:xfrm>
            <a:off x="-76200" y="2590800"/>
            <a:ext cx="8763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100" b="1" dirty="0">
                <a:latin typeface="Century Gothic"/>
                <a:ea typeface="MS PGothic" pitchFamily="34" charset="-128"/>
                <a:cs typeface="Century Gothic"/>
              </a:rPr>
              <a:t>Price of blue jeans (per pair)</a:t>
            </a:r>
          </a:p>
        </p:txBody>
      </p:sp>
      <p:sp>
        <p:nvSpPr>
          <p:cNvPr id="79" name="TextBox 29"/>
          <p:cNvSpPr txBox="1">
            <a:spLocks noChangeArrowheads="1"/>
          </p:cNvSpPr>
          <p:nvPr/>
        </p:nvSpPr>
        <p:spPr bwMode="auto">
          <a:xfrm>
            <a:off x="2819400" y="2590800"/>
            <a:ext cx="8763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100" b="1" dirty="0">
                <a:latin typeface="Century Gothic"/>
                <a:ea typeface="MS PGothic" pitchFamily="34" charset="-128"/>
                <a:cs typeface="Century Gothic"/>
              </a:rPr>
              <a:t>Price of blue jeans (per pair)</a:t>
            </a:r>
          </a:p>
        </p:txBody>
      </p:sp>
      <p:sp>
        <p:nvSpPr>
          <p:cNvPr id="80" name="TextBox 29"/>
          <p:cNvSpPr txBox="1">
            <a:spLocks noChangeArrowheads="1"/>
          </p:cNvSpPr>
          <p:nvPr/>
        </p:nvSpPr>
        <p:spPr bwMode="auto">
          <a:xfrm>
            <a:off x="5791200" y="2590800"/>
            <a:ext cx="8763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100" b="1" dirty="0">
                <a:latin typeface="Century Gothic"/>
                <a:ea typeface="MS PGothic" pitchFamily="34" charset="-128"/>
                <a:cs typeface="Century Gothic"/>
              </a:rPr>
              <a:t>Price of blue jeans (per pair)</a:t>
            </a:r>
          </a:p>
        </p:txBody>
      </p:sp>
      <p:sp>
        <p:nvSpPr>
          <p:cNvPr id="84" name="TextBox 29"/>
          <p:cNvSpPr txBox="1">
            <a:spLocks noChangeArrowheads="1"/>
          </p:cNvSpPr>
          <p:nvPr/>
        </p:nvSpPr>
        <p:spPr bwMode="auto">
          <a:xfrm>
            <a:off x="2476500" y="5419636"/>
            <a:ext cx="8763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100" b="1" dirty="0">
                <a:latin typeface="Century Gothic"/>
                <a:ea typeface="MS PGothic" pitchFamily="34" charset="-128"/>
                <a:cs typeface="Century Gothic"/>
              </a:rPr>
              <a:t>Quantity of blue jeans (per pair)</a:t>
            </a:r>
          </a:p>
        </p:txBody>
      </p:sp>
      <p:sp>
        <p:nvSpPr>
          <p:cNvPr id="85" name="TextBox 29"/>
          <p:cNvSpPr txBox="1">
            <a:spLocks noChangeArrowheads="1"/>
          </p:cNvSpPr>
          <p:nvPr/>
        </p:nvSpPr>
        <p:spPr bwMode="auto">
          <a:xfrm>
            <a:off x="5372100" y="5343436"/>
            <a:ext cx="8763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100" b="1" dirty="0">
                <a:latin typeface="Century Gothic"/>
                <a:ea typeface="MS PGothic" pitchFamily="34" charset="-128"/>
                <a:cs typeface="Century Gothic"/>
              </a:rPr>
              <a:t>Quantity of blue jeans (per pair)</a:t>
            </a:r>
          </a:p>
        </p:txBody>
      </p:sp>
      <p:sp>
        <p:nvSpPr>
          <p:cNvPr id="86" name="TextBox 29"/>
          <p:cNvSpPr txBox="1">
            <a:spLocks noChangeArrowheads="1"/>
          </p:cNvSpPr>
          <p:nvPr/>
        </p:nvSpPr>
        <p:spPr bwMode="auto">
          <a:xfrm>
            <a:off x="8267700" y="5343436"/>
            <a:ext cx="8763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100" b="1" dirty="0">
                <a:latin typeface="Century Gothic"/>
                <a:ea typeface="MS PGothic" pitchFamily="34" charset="-128"/>
                <a:cs typeface="Century Gothic"/>
              </a:rPr>
              <a:t>Quantity of blue jeans (per pair)</a:t>
            </a:r>
          </a:p>
        </p:txBody>
      </p:sp>
      <p:sp>
        <p:nvSpPr>
          <p:cNvPr id="88" name="TextBox 87"/>
          <p:cNvSpPr txBox="1"/>
          <p:nvPr/>
        </p:nvSpPr>
        <p:spPr>
          <a:xfrm>
            <a:off x="2903538" y="3429000"/>
            <a:ext cx="449262" cy="830997"/>
          </a:xfrm>
          <a:prstGeom prst="rect">
            <a:avLst/>
          </a:prstGeom>
          <a:noFill/>
        </p:spPr>
        <p:txBody>
          <a:bodyPr wrap="square" rtlCol="0">
            <a:spAutoFit/>
          </a:bodyPr>
          <a:lstStyle/>
          <a:p>
            <a:r>
              <a:rPr lang="en-US" sz="4800" b="1" dirty="0">
                <a:solidFill>
                  <a:srgbClr val="990033"/>
                </a:solidFill>
                <a:latin typeface="Century Gothic"/>
                <a:cs typeface="Century Gothic"/>
              </a:rPr>
              <a:t>+</a:t>
            </a:r>
          </a:p>
        </p:txBody>
      </p:sp>
      <p:sp>
        <p:nvSpPr>
          <p:cNvPr id="89" name="TextBox 88"/>
          <p:cNvSpPr txBox="1"/>
          <p:nvPr/>
        </p:nvSpPr>
        <p:spPr>
          <a:xfrm>
            <a:off x="5867400" y="3429000"/>
            <a:ext cx="449262" cy="830997"/>
          </a:xfrm>
          <a:prstGeom prst="rect">
            <a:avLst/>
          </a:prstGeom>
          <a:noFill/>
        </p:spPr>
        <p:txBody>
          <a:bodyPr wrap="square" rtlCol="0">
            <a:spAutoFit/>
          </a:bodyPr>
          <a:lstStyle/>
          <a:p>
            <a:r>
              <a:rPr lang="en-US" sz="4800" b="1" dirty="0">
                <a:solidFill>
                  <a:srgbClr val="990033"/>
                </a:solidFill>
                <a:latin typeface="Century Gothic"/>
                <a:cs typeface="Century Gothic"/>
              </a:rPr>
              <a:t>=</a:t>
            </a:r>
          </a:p>
        </p:txBody>
      </p:sp>
    </p:spTree>
    <p:extLst>
      <p:ext uri="{BB962C8B-B14F-4D97-AF65-F5344CB8AC3E}">
        <p14:creationId xmlns:p14="http://schemas.microsoft.com/office/powerpoint/2010/main" val="1627973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nodePh="1">
                                  <p:stCondLst>
                                    <p:cond delay="0"/>
                                  </p:stCondLst>
                                  <p:endCondLst>
                                    <p:cond evt="begin" delay="0">
                                      <p:tn val="11"/>
                                    </p:cond>
                                  </p:end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500"/>
                                        <p:tgtEl>
                                          <p:spTgt spid="2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500"/>
                                        <p:tgtEl>
                                          <p:spTgt spid="2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fade">
                                      <p:cBhvr>
                                        <p:cTn id="28" dur="5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500"/>
                                        <p:tgtEl>
                                          <p:spTgt spid="3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fade">
                                      <p:cBhvr>
                                        <p:cTn id="34" dur="500"/>
                                        <p:tgtEl>
                                          <p:spTgt spid="3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fade">
                                      <p:cBhvr>
                                        <p:cTn id="37" dur="500"/>
                                        <p:tgtEl>
                                          <p:spTgt spid="3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0"/>
                                        </p:tgtEl>
                                        <p:attrNameLst>
                                          <p:attrName>style.visibility</p:attrName>
                                        </p:attrNameLst>
                                      </p:cBhvr>
                                      <p:to>
                                        <p:strVal val="visible"/>
                                      </p:to>
                                    </p:set>
                                    <p:animEffect transition="in" filter="fade">
                                      <p:cBhvr>
                                        <p:cTn id="40" dur="500"/>
                                        <p:tgtEl>
                                          <p:spTgt spid="4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2"/>
                                        </p:tgtEl>
                                        <p:attrNameLst>
                                          <p:attrName>style.visibility</p:attrName>
                                        </p:attrNameLst>
                                      </p:cBhvr>
                                      <p:to>
                                        <p:strVal val="visible"/>
                                      </p:to>
                                    </p:set>
                                    <p:animEffect transition="in" filter="fade">
                                      <p:cBhvr>
                                        <p:cTn id="43" dur="500"/>
                                        <p:tgtEl>
                                          <p:spTgt spid="4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3"/>
                                        </p:tgtEl>
                                        <p:attrNameLst>
                                          <p:attrName>style.visibility</p:attrName>
                                        </p:attrNameLst>
                                      </p:cBhvr>
                                      <p:to>
                                        <p:strVal val="visible"/>
                                      </p:to>
                                    </p:set>
                                    <p:animEffect transition="in" filter="fade">
                                      <p:cBhvr>
                                        <p:cTn id="46" dur="500"/>
                                        <p:tgtEl>
                                          <p:spTgt spid="4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8"/>
                                        </p:tgtEl>
                                        <p:attrNameLst>
                                          <p:attrName>style.visibility</p:attrName>
                                        </p:attrNameLst>
                                      </p:cBhvr>
                                      <p:to>
                                        <p:strVal val="visible"/>
                                      </p:to>
                                    </p:set>
                                    <p:animEffect transition="in" filter="fade">
                                      <p:cBhvr>
                                        <p:cTn id="49" dur="500"/>
                                        <p:tgtEl>
                                          <p:spTgt spid="4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9"/>
                                        </p:tgtEl>
                                        <p:attrNameLst>
                                          <p:attrName>style.visibility</p:attrName>
                                        </p:attrNameLst>
                                      </p:cBhvr>
                                      <p:to>
                                        <p:strVal val="visible"/>
                                      </p:to>
                                    </p:set>
                                    <p:animEffect transition="in" filter="fade">
                                      <p:cBhvr>
                                        <p:cTn id="52" dur="500"/>
                                        <p:tgtEl>
                                          <p:spTgt spid="4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5"/>
                                        </p:tgtEl>
                                        <p:attrNameLst>
                                          <p:attrName>style.visibility</p:attrName>
                                        </p:attrNameLst>
                                      </p:cBhvr>
                                      <p:to>
                                        <p:strVal val="visible"/>
                                      </p:to>
                                    </p:set>
                                    <p:animEffect transition="in" filter="fade">
                                      <p:cBhvr>
                                        <p:cTn id="55" dur="500"/>
                                        <p:tgtEl>
                                          <p:spTgt spid="5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56"/>
                                        </p:tgtEl>
                                        <p:attrNameLst>
                                          <p:attrName>style.visibility</p:attrName>
                                        </p:attrNameLst>
                                      </p:cBhvr>
                                      <p:to>
                                        <p:strVal val="visible"/>
                                      </p:to>
                                    </p:set>
                                    <p:animEffect transition="in" filter="fade">
                                      <p:cBhvr>
                                        <p:cTn id="58" dur="500"/>
                                        <p:tgtEl>
                                          <p:spTgt spid="56"/>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57"/>
                                        </p:tgtEl>
                                        <p:attrNameLst>
                                          <p:attrName>style.visibility</p:attrName>
                                        </p:attrNameLst>
                                      </p:cBhvr>
                                      <p:to>
                                        <p:strVal val="visible"/>
                                      </p:to>
                                    </p:set>
                                    <p:animEffect transition="in" filter="fade">
                                      <p:cBhvr>
                                        <p:cTn id="61" dur="500"/>
                                        <p:tgtEl>
                                          <p:spTgt spid="5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76"/>
                                        </p:tgtEl>
                                        <p:attrNameLst>
                                          <p:attrName>style.visibility</p:attrName>
                                        </p:attrNameLst>
                                      </p:cBhvr>
                                      <p:to>
                                        <p:strVal val="visible"/>
                                      </p:to>
                                    </p:set>
                                    <p:animEffect transition="in" filter="fade">
                                      <p:cBhvr>
                                        <p:cTn id="64" dur="500"/>
                                        <p:tgtEl>
                                          <p:spTgt spid="7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79"/>
                                        </p:tgtEl>
                                        <p:attrNameLst>
                                          <p:attrName>style.visibility</p:attrName>
                                        </p:attrNameLst>
                                      </p:cBhvr>
                                      <p:to>
                                        <p:strVal val="visible"/>
                                      </p:to>
                                    </p:set>
                                    <p:animEffect transition="in" filter="fade">
                                      <p:cBhvr>
                                        <p:cTn id="67" dur="500"/>
                                        <p:tgtEl>
                                          <p:spTgt spid="7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85"/>
                                        </p:tgtEl>
                                        <p:attrNameLst>
                                          <p:attrName>style.visibility</p:attrName>
                                        </p:attrNameLst>
                                      </p:cBhvr>
                                      <p:to>
                                        <p:strVal val="visible"/>
                                      </p:to>
                                    </p:set>
                                    <p:animEffect transition="in" filter="fade">
                                      <p:cBhvr>
                                        <p:cTn id="70" dur="500"/>
                                        <p:tgtEl>
                                          <p:spTgt spid="8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88"/>
                                        </p:tgtEl>
                                        <p:attrNameLst>
                                          <p:attrName>style.visibility</p:attrName>
                                        </p:attrNameLst>
                                      </p:cBhvr>
                                      <p:to>
                                        <p:strVal val="visible"/>
                                      </p:to>
                                    </p:set>
                                    <p:animEffect transition="in" filter="fade">
                                      <p:cBhvr>
                                        <p:cTn id="73" dur="500"/>
                                        <p:tgtEl>
                                          <p:spTgt spid="88"/>
                                        </p:tgtEl>
                                      </p:cBhvr>
                                    </p:animEffect>
                                  </p:childTnLst>
                                </p:cTn>
                              </p:par>
                              <p:par>
                                <p:cTn id="74" presetID="10" presetClass="entr" presetSubtype="0" fill="hold" nodeType="withEffect">
                                  <p:stCondLst>
                                    <p:cond delay="0"/>
                                  </p:stCondLst>
                                  <p:childTnLst>
                                    <p:set>
                                      <p:cBhvr>
                                        <p:cTn id="75" dur="1" fill="hold">
                                          <p:stCondLst>
                                            <p:cond delay="0"/>
                                          </p:stCondLst>
                                        </p:cTn>
                                        <p:tgtEl>
                                          <p:spTgt spid="10"/>
                                        </p:tgtEl>
                                        <p:attrNameLst>
                                          <p:attrName>style.visibility</p:attrName>
                                        </p:attrNameLst>
                                      </p:cBhvr>
                                      <p:to>
                                        <p:strVal val="visible"/>
                                      </p:to>
                                    </p:set>
                                    <p:animEffect transition="in" filter="fade">
                                      <p:cBhvr>
                                        <p:cTn id="76" dur="500"/>
                                        <p:tgtEl>
                                          <p:spTgt spid="10"/>
                                        </p:tgtEl>
                                      </p:cBhvr>
                                    </p:animEffect>
                                  </p:childTnLst>
                                </p:cTn>
                              </p:par>
                              <p:par>
                                <p:cTn id="77" presetID="10" presetClass="entr" presetSubtype="0" fill="hold" nodeType="withEffect">
                                  <p:stCondLst>
                                    <p:cond delay="0"/>
                                  </p:stCondLst>
                                  <p:childTnLst>
                                    <p:set>
                                      <p:cBhvr>
                                        <p:cTn id="78" dur="1" fill="hold">
                                          <p:stCondLst>
                                            <p:cond delay="0"/>
                                          </p:stCondLst>
                                        </p:cTn>
                                        <p:tgtEl>
                                          <p:spTgt spid="9"/>
                                        </p:tgtEl>
                                        <p:attrNameLst>
                                          <p:attrName>style.visibility</p:attrName>
                                        </p:attrNameLst>
                                      </p:cBhvr>
                                      <p:to>
                                        <p:strVal val="visible"/>
                                      </p:to>
                                    </p:set>
                                    <p:animEffect transition="in" filter="fade">
                                      <p:cBhvr>
                                        <p:cTn id="79" dur="500"/>
                                        <p:tgtEl>
                                          <p:spTgt spid="9"/>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5"/>
                                        </p:tgtEl>
                                        <p:attrNameLst>
                                          <p:attrName>style.visibility</p:attrName>
                                        </p:attrNameLst>
                                      </p:cBhvr>
                                      <p:to>
                                        <p:strVal val="visible"/>
                                      </p:to>
                                    </p:set>
                                    <p:animEffect transition="in" filter="fade">
                                      <p:cBhvr>
                                        <p:cTn id="84" dur="500"/>
                                        <p:tgtEl>
                                          <p:spTgt spid="5"/>
                                        </p:tgtEl>
                                      </p:cBhvr>
                                    </p:animEffect>
                                  </p:childTnLst>
                                </p:cTn>
                              </p:par>
                              <p:par>
                                <p:cTn id="85" presetID="10" presetClass="entr" presetSubtype="0" fill="hold" nodeType="withEffect">
                                  <p:stCondLst>
                                    <p:cond delay="0"/>
                                  </p:stCondLst>
                                  <p:childTnLst>
                                    <p:set>
                                      <p:cBhvr>
                                        <p:cTn id="86" dur="1" fill="hold">
                                          <p:stCondLst>
                                            <p:cond delay="0"/>
                                          </p:stCondLst>
                                        </p:cTn>
                                        <p:tgtEl>
                                          <p:spTgt spid="6"/>
                                        </p:tgtEl>
                                        <p:attrNameLst>
                                          <p:attrName>style.visibility</p:attrName>
                                        </p:attrNameLst>
                                      </p:cBhvr>
                                      <p:to>
                                        <p:strVal val="visible"/>
                                      </p:to>
                                    </p:set>
                                    <p:animEffect transition="in" filter="fade">
                                      <p:cBhvr>
                                        <p:cTn id="87" dur="500"/>
                                        <p:tgtEl>
                                          <p:spTgt spid="6"/>
                                        </p:tgtEl>
                                      </p:cBhvr>
                                    </p:animEffect>
                                  </p:childTnLst>
                                </p:cTn>
                              </p:par>
                              <p:par>
                                <p:cTn id="88" presetID="10" presetClass="entr" presetSubtype="0" fill="hold" nodeType="withEffect">
                                  <p:stCondLst>
                                    <p:cond delay="0"/>
                                  </p:stCondLst>
                                  <p:childTnLst>
                                    <p:set>
                                      <p:cBhvr>
                                        <p:cTn id="89" dur="1" fill="hold">
                                          <p:stCondLst>
                                            <p:cond delay="0"/>
                                          </p:stCondLst>
                                        </p:cTn>
                                        <p:tgtEl>
                                          <p:spTgt spid="7"/>
                                        </p:tgtEl>
                                        <p:attrNameLst>
                                          <p:attrName>style.visibility</p:attrName>
                                        </p:attrNameLst>
                                      </p:cBhvr>
                                      <p:to>
                                        <p:strVal val="visible"/>
                                      </p:to>
                                    </p:set>
                                    <p:animEffect transition="in" filter="fade">
                                      <p:cBhvr>
                                        <p:cTn id="90" dur="500"/>
                                        <p:tgtEl>
                                          <p:spTgt spid="7"/>
                                        </p:tgtEl>
                                      </p:cBhvr>
                                    </p:animEffect>
                                  </p:childTnLst>
                                </p:cTn>
                              </p:par>
                              <p:par>
                                <p:cTn id="91" presetID="10" presetClass="entr" presetSubtype="0" fill="hold" nodeType="withEffect">
                                  <p:stCondLst>
                                    <p:cond delay="0"/>
                                  </p:stCondLst>
                                  <p:childTnLst>
                                    <p:set>
                                      <p:cBhvr>
                                        <p:cTn id="92" dur="1" fill="hold">
                                          <p:stCondLst>
                                            <p:cond delay="0"/>
                                          </p:stCondLst>
                                        </p:cTn>
                                        <p:tgtEl>
                                          <p:spTgt spid="8"/>
                                        </p:tgtEl>
                                        <p:attrNameLst>
                                          <p:attrName>style.visibility</p:attrName>
                                        </p:attrNameLst>
                                      </p:cBhvr>
                                      <p:to>
                                        <p:strVal val="visible"/>
                                      </p:to>
                                    </p:set>
                                    <p:animEffect transition="in" filter="fade">
                                      <p:cBhvr>
                                        <p:cTn id="93" dur="500"/>
                                        <p:tgtEl>
                                          <p:spTgt spid="8"/>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6"/>
                                        </p:tgtEl>
                                        <p:attrNameLst>
                                          <p:attrName>style.visibility</p:attrName>
                                        </p:attrNameLst>
                                      </p:cBhvr>
                                      <p:to>
                                        <p:strVal val="visible"/>
                                      </p:to>
                                    </p:set>
                                    <p:animEffect transition="in" filter="fade">
                                      <p:cBhvr>
                                        <p:cTn id="96" dur="500"/>
                                        <p:tgtEl>
                                          <p:spTgt spid="36"/>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44"/>
                                        </p:tgtEl>
                                        <p:attrNameLst>
                                          <p:attrName>style.visibility</p:attrName>
                                        </p:attrNameLst>
                                      </p:cBhvr>
                                      <p:to>
                                        <p:strVal val="visible"/>
                                      </p:to>
                                    </p:set>
                                    <p:animEffect transition="in" filter="fade">
                                      <p:cBhvr>
                                        <p:cTn id="99" dur="500"/>
                                        <p:tgtEl>
                                          <p:spTgt spid="4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5"/>
                                        </p:tgtEl>
                                        <p:attrNameLst>
                                          <p:attrName>style.visibility</p:attrName>
                                        </p:attrNameLst>
                                      </p:cBhvr>
                                      <p:to>
                                        <p:strVal val="visible"/>
                                      </p:to>
                                    </p:set>
                                    <p:animEffect transition="in" filter="fade">
                                      <p:cBhvr>
                                        <p:cTn id="102" dur="500"/>
                                        <p:tgtEl>
                                          <p:spTgt spid="4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58"/>
                                        </p:tgtEl>
                                        <p:attrNameLst>
                                          <p:attrName>style.visibility</p:attrName>
                                        </p:attrNameLst>
                                      </p:cBhvr>
                                      <p:to>
                                        <p:strVal val="visible"/>
                                      </p:to>
                                    </p:set>
                                    <p:animEffect transition="in" filter="fade">
                                      <p:cBhvr>
                                        <p:cTn id="105" dur="500"/>
                                        <p:tgtEl>
                                          <p:spTgt spid="58"/>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59"/>
                                        </p:tgtEl>
                                        <p:attrNameLst>
                                          <p:attrName>style.visibility</p:attrName>
                                        </p:attrNameLst>
                                      </p:cBhvr>
                                      <p:to>
                                        <p:strVal val="visible"/>
                                      </p:to>
                                    </p:set>
                                    <p:animEffect transition="in" filter="fade">
                                      <p:cBhvr>
                                        <p:cTn id="108" dur="500"/>
                                        <p:tgtEl>
                                          <p:spTgt spid="59"/>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60"/>
                                        </p:tgtEl>
                                        <p:attrNameLst>
                                          <p:attrName>style.visibility</p:attrName>
                                        </p:attrNameLst>
                                      </p:cBhvr>
                                      <p:to>
                                        <p:strVal val="visible"/>
                                      </p:to>
                                    </p:set>
                                    <p:animEffect transition="in" filter="fade">
                                      <p:cBhvr>
                                        <p:cTn id="111" dur="500"/>
                                        <p:tgtEl>
                                          <p:spTgt spid="60"/>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61"/>
                                        </p:tgtEl>
                                        <p:attrNameLst>
                                          <p:attrName>style.visibility</p:attrName>
                                        </p:attrNameLst>
                                      </p:cBhvr>
                                      <p:to>
                                        <p:strVal val="visible"/>
                                      </p:to>
                                    </p:set>
                                    <p:animEffect transition="in" filter="fade">
                                      <p:cBhvr>
                                        <p:cTn id="114" dur="500"/>
                                        <p:tgtEl>
                                          <p:spTgt spid="61"/>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62"/>
                                        </p:tgtEl>
                                        <p:attrNameLst>
                                          <p:attrName>style.visibility</p:attrName>
                                        </p:attrNameLst>
                                      </p:cBhvr>
                                      <p:to>
                                        <p:strVal val="visible"/>
                                      </p:to>
                                    </p:set>
                                    <p:animEffect transition="in" filter="fade">
                                      <p:cBhvr>
                                        <p:cTn id="117" dur="500"/>
                                        <p:tgtEl>
                                          <p:spTgt spid="62"/>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63"/>
                                        </p:tgtEl>
                                        <p:attrNameLst>
                                          <p:attrName>style.visibility</p:attrName>
                                        </p:attrNameLst>
                                      </p:cBhvr>
                                      <p:to>
                                        <p:strVal val="visible"/>
                                      </p:to>
                                    </p:set>
                                    <p:animEffect transition="in" filter="fade">
                                      <p:cBhvr>
                                        <p:cTn id="120" dur="500"/>
                                        <p:tgtEl>
                                          <p:spTgt spid="63"/>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64"/>
                                        </p:tgtEl>
                                        <p:attrNameLst>
                                          <p:attrName>style.visibility</p:attrName>
                                        </p:attrNameLst>
                                      </p:cBhvr>
                                      <p:to>
                                        <p:strVal val="visible"/>
                                      </p:to>
                                    </p:set>
                                    <p:animEffect transition="in" filter="fade">
                                      <p:cBhvr>
                                        <p:cTn id="123" dur="500"/>
                                        <p:tgtEl>
                                          <p:spTgt spid="64"/>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65"/>
                                        </p:tgtEl>
                                        <p:attrNameLst>
                                          <p:attrName>style.visibility</p:attrName>
                                        </p:attrNameLst>
                                      </p:cBhvr>
                                      <p:to>
                                        <p:strVal val="visible"/>
                                      </p:to>
                                    </p:set>
                                    <p:animEffect transition="in" filter="fade">
                                      <p:cBhvr>
                                        <p:cTn id="126" dur="500"/>
                                        <p:tgtEl>
                                          <p:spTgt spid="65"/>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66"/>
                                        </p:tgtEl>
                                        <p:attrNameLst>
                                          <p:attrName>style.visibility</p:attrName>
                                        </p:attrNameLst>
                                      </p:cBhvr>
                                      <p:to>
                                        <p:strVal val="visible"/>
                                      </p:to>
                                    </p:set>
                                    <p:animEffect transition="in" filter="fade">
                                      <p:cBhvr>
                                        <p:cTn id="129" dur="500"/>
                                        <p:tgtEl>
                                          <p:spTgt spid="66"/>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67"/>
                                        </p:tgtEl>
                                        <p:attrNameLst>
                                          <p:attrName>style.visibility</p:attrName>
                                        </p:attrNameLst>
                                      </p:cBhvr>
                                      <p:to>
                                        <p:strVal val="visible"/>
                                      </p:to>
                                    </p:set>
                                    <p:animEffect transition="in" filter="fade">
                                      <p:cBhvr>
                                        <p:cTn id="132" dur="500"/>
                                        <p:tgtEl>
                                          <p:spTgt spid="67"/>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68"/>
                                        </p:tgtEl>
                                        <p:attrNameLst>
                                          <p:attrName>style.visibility</p:attrName>
                                        </p:attrNameLst>
                                      </p:cBhvr>
                                      <p:to>
                                        <p:strVal val="visible"/>
                                      </p:to>
                                    </p:set>
                                    <p:animEffect transition="in" filter="fade">
                                      <p:cBhvr>
                                        <p:cTn id="135" dur="500"/>
                                        <p:tgtEl>
                                          <p:spTgt spid="68"/>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69"/>
                                        </p:tgtEl>
                                        <p:attrNameLst>
                                          <p:attrName>style.visibility</p:attrName>
                                        </p:attrNameLst>
                                      </p:cBhvr>
                                      <p:to>
                                        <p:strVal val="visible"/>
                                      </p:to>
                                    </p:set>
                                    <p:animEffect transition="in" filter="fade">
                                      <p:cBhvr>
                                        <p:cTn id="138" dur="500"/>
                                        <p:tgtEl>
                                          <p:spTgt spid="69"/>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70"/>
                                        </p:tgtEl>
                                        <p:attrNameLst>
                                          <p:attrName>style.visibility</p:attrName>
                                        </p:attrNameLst>
                                      </p:cBhvr>
                                      <p:to>
                                        <p:strVal val="visible"/>
                                      </p:to>
                                    </p:set>
                                    <p:animEffect transition="in" filter="fade">
                                      <p:cBhvr>
                                        <p:cTn id="141" dur="500"/>
                                        <p:tgtEl>
                                          <p:spTgt spid="70"/>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71"/>
                                        </p:tgtEl>
                                        <p:attrNameLst>
                                          <p:attrName>style.visibility</p:attrName>
                                        </p:attrNameLst>
                                      </p:cBhvr>
                                      <p:to>
                                        <p:strVal val="visible"/>
                                      </p:to>
                                    </p:set>
                                    <p:animEffect transition="in" filter="fade">
                                      <p:cBhvr>
                                        <p:cTn id="144" dur="500"/>
                                        <p:tgtEl>
                                          <p:spTgt spid="71"/>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72"/>
                                        </p:tgtEl>
                                        <p:attrNameLst>
                                          <p:attrName>style.visibility</p:attrName>
                                        </p:attrNameLst>
                                      </p:cBhvr>
                                      <p:to>
                                        <p:strVal val="visible"/>
                                      </p:to>
                                    </p:set>
                                    <p:animEffect transition="in" filter="fade">
                                      <p:cBhvr>
                                        <p:cTn id="147" dur="500"/>
                                        <p:tgtEl>
                                          <p:spTgt spid="72"/>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73"/>
                                        </p:tgtEl>
                                        <p:attrNameLst>
                                          <p:attrName>style.visibility</p:attrName>
                                        </p:attrNameLst>
                                      </p:cBhvr>
                                      <p:to>
                                        <p:strVal val="visible"/>
                                      </p:to>
                                    </p:set>
                                    <p:animEffect transition="in" filter="fade">
                                      <p:cBhvr>
                                        <p:cTn id="150" dur="500"/>
                                        <p:tgtEl>
                                          <p:spTgt spid="73"/>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74"/>
                                        </p:tgtEl>
                                        <p:attrNameLst>
                                          <p:attrName>style.visibility</p:attrName>
                                        </p:attrNameLst>
                                      </p:cBhvr>
                                      <p:to>
                                        <p:strVal val="visible"/>
                                      </p:to>
                                    </p:set>
                                    <p:animEffect transition="in" filter="fade">
                                      <p:cBhvr>
                                        <p:cTn id="153" dur="500"/>
                                        <p:tgtEl>
                                          <p:spTgt spid="74"/>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77"/>
                                        </p:tgtEl>
                                        <p:attrNameLst>
                                          <p:attrName>style.visibility</p:attrName>
                                        </p:attrNameLst>
                                      </p:cBhvr>
                                      <p:to>
                                        <p:strVal val="visible"/>
                                      </p:to>
                                    </p:set>
                                    <p:animEffect transition="in" filter="fade">
                                      <p:cBhvr>
                                        <p:cTn id="156" dur="500"/>
                                        <p:tgtEl>
                                          <p:spTgt spid="77"/>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80"/>
                                        </p:tgtEl>
                                        <p:attrNameLst>
                                          <p:attrName>style.visibility</p:attrName>
                                        </p:attrNameLst>
                                      </p:cBhvr>
                                      <p:to>
                                        <p:strVal val="visible"/>
                                      </p:to>
                                    </p:set>
                                    <p:animEffect transition="in" filter="fade">
                                      <p:cBhvr>
                                        <p:cTn id="159" dur="500"/>
                                        <p:tgtEl>
                                          <p:spTgt spid="80"/>
                                        </p:tgtEl>
                                      </p:cBhvr>
                                    </p:animEffect>
                                  </p:childTnLst>
                                </p:cTn>
                              </p:par>
                              <p:par>
                                <p:cTn id="160" presetID="10" presetClass="entr" presetSubtype="0" fill="hold" grpId="0" nodeType="withEffect">
                                  <p:stCondLst>
                                    <p:cond delay="0"/>
                                  </p:stCondLst>
                                  <p:childTnLst>
                                    <p:set>
                                      <p:cBhvr>
                                        <p:cTn id="161" dur="1" fill="hold">
                                          <p:stCondLst>
                                            <p:cond delay="0"/>
                                          </p:stCondLst>
                                        </p:cTn>
                                        <p:tgtEl>
                                          <p:spTgt spid="86"/>
                                        </p:tgtEl>
                                        <p:attrNameLst>
                                          <p:attrName>style.visibility</p:attrName>
                                        </p:attrNameLst>
                                      </p:cBhvr>
                                      <p:to>
                                        <p:strVal val="visible"/>
                                      </p:to>
                                    </p:set>
                                    <p:animEffect transition="in" filter="fade">
                                      <p:cBhvr>
                                        <p:cTn id="162" dur="500"/>
                                        <p:tgtEl>
                                          <p:spTgt spid="86"/>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89"/>
                                        </p:tgtEl>
                                        <p:attrNameLst>
                                          <p:attrName>style.visibility</p:attrName>
                                        </p:attrNameLst>
                                      </p:cBhvr>
                                      <p:to>
                                        <p:strVal val="visible"/>
                                      </p:to>
                                    </p:set>
                                    <p:animEffect transition="in" filter="fade">
                                      <p:cBhvr>
                                        <p:cTn id="165"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3" grpId="0"/>
      <p:bldP spid="24" grpId="0"/>
      <p:bldP spid="28" grpId="0" animBg="1"/>
      <p:bldP spid="29" grpId="0" animBg="1"/>
      <p:bldP spid="31" grpId="0"/>
      <p:bldP spid="32" grpId="0"/>
      <p:bldP spid="33" grpId="0"/>
      <p:bldP spid="36" grpId="0"/>
      <p:bldP spid="39" grpId="0" animBg="1"/>
      <p:bldP spid="40" grpId="0" animBg="1"/>
      <p:bldP spid="42" grpId="0"/>
      <p:bldP spid="43" grpId="0"/>
      <p:bldP spid="44" grpId="0"/>
      <p:bldP spid="45" grpId="0"/>
      <p:bldP spid="48" grpId="0" animBg="1"/>
      <p:bldP spid="49" grpId="0" animBg="1"/>
      <p:bldP spid="55" grpId="0" animBg="1"/>
      <p:bldP spid="56" grpId="0" animBg="1"/>
      <p:bldP spid="57" grpId="0" animBg="1"/>
      <p:bldP spid="58" grpId="0" animBg="1"/>
      <p:bldP spid="59" grpId="0" animBg="1"/>
      <p:bldP spid="60" grpId="0"/>
      <p:bldP spid="61" grpId="0"/>
      <p:bldP spid="62" grpId="0"/>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p:bldP spid="74" grpId="0"/>
      <p:bldP spid="76" grpId="0"/>
      <p:bldP spid="77" grpId="0"/>
      <p:bldP spid="79" grpId="0"/>
      <p:bldP spid="80" grpId="0"/>
      <p:bldP spid="85" grpId="0"/>
      <p:bldP spid="86" grpId="0"/>
      <p:bldP spid="88" grpId="0"/>
      <p:bldP spid="8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152400" y="1066800"/>
            <a:ext cx="8686800" cy="1371600"/>
          </a:xfrm>
        </p:spPr>
        <p:txBody>
          <a:bodyPr/>
          <a:lstStyle/>
          <a:p>
            <a:r>
              <a:rPr lang="en-US" sz="2400" dirty="0"/>
              <a:t>Take a look at how the market (legal AND illegal) for kidneys works by clicking </a:t>
            </a:r>
            <a:r>
              <a:rPr lang="en-US" sz="2400" dirty="0">
                <a:hlinkClick r:id="rId3"/>
              </a:rPr>
              <a:t>here</a:t>
            </a:r>
            <a:r>
              <a:rPr lang="en-US" sz="2400" dirty="0"/>
              <a:t> or on the picture below. (Law and Order SVU) (6:18 minutes)</a:t>
            </a:r>
          </a:p>
        </p:txBody>
      </p:sp>
      <p:pic>
        <p:nvPicPr>
          <p:cNvPr id="1026" name="Picture 2">
            <a:hlinkClick r:id="rId3"/>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2362200" y="3048000"/>
            <a:ext cx="3438525" cy="26670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a:extLst>
              <a:ext uri="{FF2B5EF4-FFF2-40B4-BE49-F238E27FC236}">
                <a16:creationId xmlns:a16="http://schemas.microsoft.com/office/drawing/2014/main" id="{FDC7204E-F7E9-B546-AB16-DDEE6DB38352}"/>
              </a:ext>
            </a:extLst>
          </p:cNvPr>
          <p:cNvSpPr txBox="1"/>
          <p:nvPr/>
        </p:nvSpPr>
        <p:spPr>
          <a:xfrm>
            <a:off x="1828800" y="4114800"/>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408707333"/>
      </p:ext>
    </p:extLst>
  </p:cSld>
  <p:clrMapOvr>
    <a:masterClrMapping/>
  </p:clrMapOvr>
  <p:transition>
    <p:fade thruBlk="1"/>
  </p:transition>
</p:sld>
</file>

<file path=ppt/slides/slide24.xml><?xml version="1.0" encoding="utf-8"?>
<p:sld xmlns:a="http://schemas.openxmlformats.org/drawingml/2006/main" xmlns:r="http://schemas.openxmlformats.org/officeDocument/2006/relationships" xmlns:p="http://schemas.openxmlformats.org/presentationml/2006/main" showMasterPhAnim="0">
  <p:cSld>
    <p:bg>
      <p:bgPr>
        <a:blipFill dpi="0" rotWithShape="1">
          <a:blip r:embed="rId3" cstate="screen">
            <a:alphaModFix amt="84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0658" name="Title 4"/>
          <p:cNvSpPr>
            <a:spLocks noGrp="1"/>
          </p:cNvSpPr>
          <p:nvPr>
            <p:ph type="title"/>
          </p:nvPr>
        </p:nvSpPr>
        <p:spPr bwMode="auto">
          <a:solidFill>
            <a:schemeClr val="bg1">
              <a:alpha val="74000"/>
            </a:schemeClr>
          </a:solidFill>
        </p:spPr>
        <p:txBody>
          <a:bodyPr wrap="square" numCol="1" anchorCtr="0" compatLnSpc="1">
            <a:prstTxWarp prst="textNoShape">
              <a:avLst/>
            </a:prstTxWarp>
          </a:bodyPr>
          <a:lstStyle/>
          <a:p>
            <a:pPr fontAlgn="auto">
              <a:spcAft>
                <a:spcPts val="0"/>
              </a:spcAft>
              <a:defRPr/>
            </a:pPr>
            <a:r>
              <a:rPr lang="en-US" dirty="0">
                <a:solidFill>
                  <a:srgbClr val="9BBB59"/>
                </a:solidFill>
              </a:rPr>
              <a:t>SUPPLY</a:t>
            </a:r>
          </a:p>
        </p:txBody>
      </p:sp>
      <p:sp>
        <p:nvSpPr>
          <p:cNvPr id="6" name="Rectangle 3"/>
          <p:cNvSpPr>
            <a:spLocks noGrp="1" noChangeArrowheads="1"/>
          </p:cNvSpPr>
          <p:nvPr>
            <p:ph idx="1"/>
          </p:nvPr>
        </p:nvSpPr>
        <p:spPr>
          <a:xfrm>
            <a:off x="25400" y="2743200"/>
            <a:ext cx="9144000" cy="3276600"/>
          </a:xfrm>
          <a:solidFill>
            <a:schemeClr val="bg1">
              <a:alpha val="63000"/>
            </a:schemeClr>
          </a:solidFill>
        </p:spPr>
        <p:txBody>
          <a:bodyPr rtlCol="0">
            <a:noAutofit/>
          </a:bodyPr>
          <a:lstStyle/>
          <a:p>
            <a:pPr fontAlgn="auto">
              <a:spcAft>
                <a:spcPts val="0"/>
              </a:spcAft>
              <a:defRPr/>
            </a:pPr>
            <a:r>
              <a:rPr lang="en-US" dirty="0">
                <a:ea typeface="ＭＳ Ｐゴシック"/>
                <a:cs typeface="Arial" pitchFamily="34" charset="0"/>
              </a:rPr>
              <a:t>Supply represents the behavior of sellers.</a:t>
            </a:r>
          </a:p>
          <a:p>
            <a:pPr fontAlgn="auto">
              <a:spcAft>
                <a:spcPts val="0"/>
              </a:spcAft>
              <a:defRPr/>
            </a:pPr>
            <a:r>
              <a:rPr lang="en-US" dirty="0">
                <a:ea typeface="ＭＳ Ｐゴシック"/>
                <a:cs typeface="Arial" pitchFamily="34" charset="0"/>
              </a:rPr>
              <a:t>A </a:t>
            </a:r>
            <a:r>
              <a:rPr lang="en-US" dirty="0">
                <a:solidFill>
                  <a:srgbClr val="990033"/>
                </a:solidFill>
                <a:ea typeface="ＭＳ Ｐゴシック"/>
                <a:cs typeface="Arial" pitchFamily="34" charset="0"/>
              </a:rPr>
              <a:t>supply curve </a:t>
            </a:r>
            <a:r>
              <a:rPr lang="en-US" dirty="0">
                <a:ea typeface="ＭＳ Ｐゴシック"/>
                <a:cs typeface="Arial" pitchFamily="34" charset="0"/>
              </a:rPr>
              <a:t>shows the quantity supplied at various prices.</a:t>
            </a:r>
          </a:p>
          <a:p>
            <a:pPr>
              <a:defRPr/>
            </a:pPr>
            <a:r>
              <a:rPr lang="en-US" dirty="0">
                <a:ea typeface="ＭＳ Ｐゴシック"/>
                <a:cs typeface="Arial" pitchFamily="34" charset="0"/>
              </a:rPr>
              <a:t>The </a:t>
            </a:r>
            <a:r>
              <a:rPr lang="en-US" dirty="0">
                <a:solidFill>
                  <a:srgbClr val="990033"/>
                </a:solidFill>
                <a:ea typeface="ＭＳ Ｐゴシック"/>
                <a:cs typeface="Arial" pitchFamily="34" charset="0"/>
              </a:rPr>
              <a:t>quantity supplied </a:t>
            </a:r>
            <a:r>
              <a:rPr lang="en-US" dirty="0">
                <a:ea typeface="ＭＳ Ｐゴシック"/>
                <a:cs typeface="Arial" pitchFamily="34" charset="0"/>
              </a:rPr>
              <a:t>is the quantity that producers are willing and able to sell at a particular price.</a:t>
            </a:r>
          </a:p>
          <a:p>
            <a:pPr fontAlgn="auto">
              <a:spcAft>
                <a:spcPts val="0"/>
              </a:spcAft>
              <a:defRPr/>
            </a:pPr>
            <a:endParaRPr lang="en-US" sz="2800" dirty="0">
              <a:ea typeface="ＭＳ Ｐゴシック"/>
              <a:cs typeface="Arial" pitchFamily="34" charset="0"/>
            </a:endParaRPr>
          </a:p>
        </p:txBody>
      </p:sp>
      <p:sp>
        <p:nvSpPr>
          <p:cNvPr id="7" name="Oval 6"/>
          <p:cNvSpPr/>
          <p:nvPr/>
        </p:nvSpPr>
        <p:spPr>
          <a:xfrm>
            <a:off x="8382000" y="6096000"/>
            <a:ext cx="744538" cy="747713"/>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latin typeface="Calibri"/>
            </a:endParaRPr>
          </a:p>
        </p:txBody>
      </p:sp>
      <p:sp>
        <p:nvSpPr>
          <p:cNvPr id="56326" name="TextBox 7">
            <a:hlinkClick r:id="rId4" action="ppaction://hlinksldjump"/>
          </p:cNvPr>
          <p:cNvSpPr txBox="1">
            <a:spLocks noChangeArrowheads="1"/>
          </p:cNvSpPr>
          <p:nvPr/>
        </p:nvSpPr>
        <p:spPr bwMode="auto">
          <a:xfrm>
            <a:off x="8428038" y="6203950"/>
            <a:ext cx="6699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1000">
                <a:solidFill>
                  <a:prstClr val="black"/>
                </a:solidFill>
                <a:latin typeface="Candara" pitchFamily="34" charset="0"/>
                <a:hlinkClick r:id="rId4" action="ppaction://hlinksldjump"/>
              </a:rPr>
              <a:t>Back to Table of contents</a:t>
            </a:r>
            <a:endParaRPr lang="en-US" sz="1000">
              <a:solidFill>
                <a:prstClr val="black"/>
              </a:solidFill>
              <a:latin typeface="Candara" pitchFamily="34" charset="0"/>
            </a:endParaRPr>
          </a:p>
          <a:p>
            <a:pPr eaLnBrk="1" hangingPunct="1"/>
            <a:endParaRPr lang="en-US" sz="1000">
              <a:solidFill>
                <a:prstClr val="black"/>
              </a:solidFill>
              <a:latin typeface="Candara" pitchFamily="34" charset="0"/>
            </a:endParaRPr>
          </a:p>
        </p:txBody>
      </p:sp>
    </p:spTree>
    <p:extLst>
      <p:ext uri="{BB962C8B-B14F-4D97-AF65-F5344CB8AC3E}">
        <p14:creationId xmlns:p14="http://schemas.microsoft.com/office/powerpoint/2010/main" val="29329758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10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noAutofit/>
          </a:bodyPr>
          <a:lstStyle/>
          <a:p>
            <a:r>
              <a:rPr lang="en-US" sz="3600" dirty="0"/>
              <a:t>THE SUPPLY SCHEDULE AND THE SUPPLY CURVE</a:t>
            </a:r>
          </a:p>
        </p:txBody>
      </p:sp>
      <p:sp>
        <p:nvSpPr>
          <p:cNvPr id="5" name="Line 15"/>
          <p:cNvSpPr>
            <a:spLocks noChangeShapeType="1"/>
          </p:cNvSpPr>
          <p:nvPr/>
        </p:nvSpPr>
        <p:spPr bwMode="auto">
          <a:xfrm flipV="1">
            <a:off x="1185862" y="1494035"/>
            <a:ext cx="0" cy="4121150"/>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 name="TextBox 30"/>
          <p:cNvSpPr txBox="1">
            <a:spLocks noChangeArrowheads="1"/>
          </p:cNvSpPr>
          <p:nvPr/>
        </p:nvSpPr>
        <p:spPr bwMode="auto">
          <a:xfrm>
            <a:off x="3576637" y="6093023"/>
            <a:ext cx="39020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ts val="0"/>
              </a:spcBef>
            </a:pPr>
            <a:r>
              <a:rPr lang="en-US" sz="1400" dirty="0">
                <a:latin typeface="Century Gothic"/>
                <a:ea typeface="MS PGothic" pitchFamily="34" charset="-128"/>
                <a:cs typeface="Century Gothic"/>
              </a:rPr>
              <a:t>Quantity of cotton (per pound)</a:t>
            </a:r>
          </a:p>
        </p:txBody>
      </p:sp>
      <p:sp>
        <p:nvSpPr>
          <p:cNvPr id="7" name="TextBox 29"/>
          <p:cNvSpPr txBox="1">
            <a:spLocks noChangeArrowheads="1"/>
          </p:cNvSpPr>
          <p:nvPr/>
        </p:nvSpPr>
        <p:spPr bwMode="auto">
          <a:xfrm>
            <a:off x="76200" y="1543248"/>
            <a:ext cx="110966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ts val="0"/>
              </a:spcBef>
            </a:pPr>
            <a:r>
              <a:rPr lang="en-US" sz="1400" dirty="0">
                <a:latin typeface="Century Gothic"/>
                <a:ea typeface="MS PGothic" pitchFamily="34" charset="-128"/>
                <a:cs typeface="Century Gothic"/>
              </a:rPr>
              <a:t>Price of cotton </a:t>
            </a:r>
          </a:p>
          <a:p>
            <a:pPr algn="ctr">
              <a:spcBef>
                <a:spcPts val="0"/>
              </a:spcBef>
            </a:pPr>
            <a:r>
              <a:rPr lang="en-US" sz="1400" dirty="0">
                <a:latin typeface="Century Gothic"/>
                <a:ea typeface="MS PGothic" pitchFamily="34" charset="-128"/>
                <a:cs typeface="Century Gothic"/>
              </a:rPr>
              <a:t>(per pound)</a:t>
            </a:r>
          </a:p>
        </p:txBody>
      </p:sp>
      <p:sp>
        <p:nvSpPr>
          <p:cNvPr id="8" name="Freeform 16"/>
          <p:cNvSpPr>
            <a:spLocks/>
          </p:cNvSpPr>
          <p:nvPr/>
        </p:nvSpPr>
        <p:spPr bwMode="auto">
          <a:xfrm>
            <a:off x="1185862" y="5691385"/>
            <a:ext cx="209550" cy="139700"/>
          </a:xfrm>
          <a:custGeom>
            <a:avLst/>
            <a:gdLst>
              <a:gd name="T0" fmla="*/ 88 w 88"/>
              <a:gd name="T1" fmla="*/ 86 h 86"/>
              <a:gd name="T2" fmla="*/ 0 w 88"/>
              <a:gd name="T3" fmla="*/ 86 h 86"/>
              <a:gd name="T4" fmla="*/ 0 w 88"/>
              <a:gd name="T5" fmla="*/ 0 h 86"/>
            </a:gdLst>
            <a:ahLst/>
            <a:cxnLst>
              <a:cxn ang="0">
                <a:pos x="T0" y="T1"/>
              </a:cxn>
              <a:cxn ang="0">
                <a:pos x="T2" y="T3"/>
              </a:cxn>
              <a:cxn ang="0">
                <a:pos x="T4" y="T5"/>
              </a:cxn>
            </a:cxnLst>
            <a:rect l="0" t="0" r="r" b="b"/>
            <a:pathLst>
              <a:path w="88" h="86">
                <a:moveTo>
                  <a:pt x="88" y="86"/>
                </a:moveTo>
                <a:lnTo>
                  <a:pt x="0" y="86"/>
                </a:lnTo>
                <a:lnTo>
                  <a:pt x="0" y="0"/>
                </a:lnTo>
              </a:path>
            </a:pathLst>
          </a:custGeom>
          <a:noFill/>
          <a:ln w="79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9" name="Line 17"/>
          <p:cNvSpPr>
            <a:spLocks noChangeShapeType="1"/>
          </p:cNvSpPr>
          <p:nvPr/>
        </p:nvSpPr>
        <p:spPr bwMode="auto">
          <a:xfrm flipH="1">
            <a:off x="1508125" y="5831085"/>
            <a:ext cx="4718050" cy="158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10" name="Rectangle 18"/>
          <p:cNvSpPr>
            <a:spLocks noChangeArrowheads="1"/>
          </p:cNvSpPr>
          <p:nvPr/>
        </p:nvSpPr>
        <p:spPr bwMode="auto">
          <a:xfrm>
            <a:off x="1960562" y="5866010"/>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7</a:t>
            </a:r>
            <a:endParaRPr lang="en-US" sz="1400">
              <a:latin typeface="Century Gothic"/>
              <a:cs typeface="Century Gothic"/>
            </a:endParaRPr>
          </a:p>
        </p:txBody>
      </p:sp>
      <p:sp>
        <p:nvSpPr>
          <p:cNvPr id="11" name="Rectangle 19"/>
          <p:cNvSpPr>
            <a:spLocks noChangeArrowheads="1"/>
          </p:cNvSpPr>
          <p:nvPr/>
        </p:nvSpPr>
        <p:spPr bwMode="auto">
          <a:xfrm>
            <a:off x="942975" y="5866010"/>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0</a:t>
            </a:r>
            <a:endParaRPr lang="en-US" sz="1400">
              <a:latin typeface="Century Gothic"/>
              <a:cs typeface="Century Gothic"/>
            </a:endParaRPr>
          </a:p>
        </p:txBody>
      </p:sp>
      <p:sp>
        <p:nvSpPr>
          <p:cNvPr id="12" name="Rectangle 20"/>
          <p:cNvSpPr>
            <a:spLocks noChangeArrowheads="1"/>
          </p:cNvSpPr>
          <p:nvPr/>
        </p:nvSpPr>
        <p:spPr bwMode="auto">
          <a:xfrm>
            <a:off x="2800350" y="5866010"/>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9</a:t>
            </a:r>
            <a:endParaRPr lang="en-US" sz="1400">
              <a:latin typeface="Century Gothic"/>
              <a:cs typeface="Century Gothic"/>
            </a:endParaRPr>
          </a:p>
        </p:txBody>
      </p:sp>
      <p:sp>
        <p:nvSpPr>
          <p:cNvPr id="13" name="Rectangle 21"/>
          <p:cNvSpPr>
            <a:spLocks noChangeArrowheads="1"/>
          </p:cNvSpPr>
          <p:nvPr/>
        </p:nvSpPr>
        <p:spPr bwMode="auto">
          <a:xfrm>
            <a:off x="3576637" y="5866010"/>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11</a:t>
            </a:r>
            <a:endParaRPr lang="en-US" sz="1400">
              <a:latin typeface="Century Gothic"/>
              <a:cs typeface="Century Gothic"/>
            </a:endParaRPr>
          </a:p>
        </p:txBody>
      </p:sp>
      <p:sp>
        <p:nvSpPr>
          <p:cNvPr id="14" name="Rectangle 22"/>
          <p:cNvSpPr>
            <a:spLocks noChangeArrowheads="1"/>
          </p:cNvSpPr>
          <p:nvPr/>
        </p:nvSpPr>
        <p:spPr bwMode="auto">
          <a:xfrm>
            <a:off x="5257800" y="5866010"/>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15</a:t>
            </a:r>
            <a:endParaRPr lang="en-US" sz="1400">
              <a:latin typeface="Century Gothic"/>
              <a:cs typeface="Century Gothic"/>
            </a:endParaRPr>
          </a:p>
        </p:txBody>
      </p:sp>
      <p:sp>
        <p:nvSpPr>
          <p:cNvPr id="15" name="Rectangle 23"/>
          <p:cNvSpPr>
            <a:spLocks noChangeArrowheads="1"/>
          </p:cNvSpPr>
          <p:nvPr/>
        </p:nvSpPr>
        <p:spPr bwMode="auto">
          <a:xfrm>
            <a:off x="4416425" y="5866010"/>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13</a:t>
            </a:r>
            <a:endParaRPr lang="en-US" sz="1400">
              <a:latin typeface="Century Gothic"/>
              <a:cs typeface="Century Gothic"/>
            </a:endParaRPr>
          </a:p>
        </p:txBody>
      </p:sp>
      <p:sp>
        <p:nvSpPr>
          <p:cNvPr id="16" name="Rectangle 24"/>
          <p:cNvSpPr>
            <a:spLocks noChangeArrowheads="1"/>
          </p:cNvSpPr>
          <p:nvPr/>
        </p:nvSpPr>
        <p:spPr bwMode="auto">
          <a:xfrm>
            <a:off x="6094412" y="5866010"/>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17</a:t>
            </a:r>
            <a:endParaRPr lang="en-US" sz="1400">
              <a:latin typeface="Century Gothic"/>
              <a:cs typeface="Century Gothic"/>
            </a:endParaRPr>
          </a:p>
        </p:txBody>
      </p:sp>
      <p:sp>
        <p:nvSpPr>
          <p:cNvPr id="17" name="Line 35"/>
          <p:cNvSpPr>
            <a:spLocks noChangeShapeType="1"/>
          </p:cNvSpPr>
          <p:nvPr/>
        </p:nvSpPr>
        <p:spPr bwMode="auto">
          <a:xfrm>
            <a:off x="1185862" y="3065660"/>
            <a:ext cx="166688" cy="158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18" name="Line 36"/>
          <p:cNvSpPr>
            <a:spLocks noChangeShapeType="1"/>
          </p:cNvSpPr>
          <p:nvPr/>
        </p:nvSpPr>
        <p:spPr bwMode="auto">
          <a:xfrm>
            <a:off x="1185862" y="3460948"/>
            <a:ext cx="166688" cy="158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19" name="Line 37"/>
          <p:cNvSpPr>
            <a:spLocks noChangeShapeType="1"/>
          </p:cNvSpPr>
          <p:nvPr/>
        </p:nvSpPr>
        <p:spPr bwMode="auto">
          <a:xfrm>
            <a:off x="1185862" y="3854648"/>
            <a:ext cx="166688" cy="158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20" name="Line 38"/>
          <p:cNvSpPr>
            <a:spLocks noChangeShapeType="1"/>
          </p:cNvSpPr>
          <p:nvPr/>
        </p:nvSpPr>
        <p:spPr bwMode="auto">
          <a:xfrm>
            <a:off x="1185862" y="4249935"/>
            <a:ext cx="166688" cy="158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21" name="Line 39"/>
          <p:cNvSpPr>
            <a:spLocks noChangeShapeType="1"/>
          </p:cNvSpPr>
          <p:nvPr/>
        </p:nvSpPr>
        <p:spPr bwMode="auto">
          <a:xfrm>
            <a:off x="1185862" y="4648398"/>
            <a:ext cx="166688" cy="158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22" name="Line 40"/>
          <p:cNvSpPr>
            <a:spLocks noChangeShapeType="1"/>
          </p:cNvSpPr>
          <p:nvPr/>
        </p:nvSpPr>
        <p:spPr bwMode="auto">
          <a:xfrm>
            <a:off x="1185862" y="5042098"/>
            <a:ext cx="166688" cy="158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23" name="Line 41"/>
          <p:cNvSpPr>
            <a:spLocks noChangeShapeType="1"/>
          </p:cNvSpPr>
          <p:nvPr/>
        </p:nvSpPr>
        <p:spPr bwMode="auto">
          <a:xfrm>
            <a:off x="1185862" y="5435798"/>
            <a:ext cx="166688" cy="158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24" name="Line 42"/>
          <p:cNvSpPr>
            <a:spLocks noChangeShapeType="1"/>
          </p:cNvSpPr>
          <p:nvPr/>
        </p:nvSpPr>
        <p:spPr bwMode="auto">
          <a:xfrm flipV="1">
            <a:off x="2030412" y="5715198"/>
            <a:ext cx="1588" cy="11588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25" name="Line 43"/>
          <p:cNvSpPr>
            <a:spLocks noChangeShapeType="1"/>
          </p:cNvSpPr>
          <p:nvPr/>
        </p:nvSpPr>
        <p:spPr bwMode="auto">
          <a:xfrm flipV="1">
            <a:off x="2868612" y="5715198"/>
            <a:ext cx="1588" cy="11588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26" name="Line 44"/>
          <p:cNvSpPr>
            <a:spLocks noChangeShapeType="1"/>
          </p:cNvSpPr>
          <p:nvPr/>
        </p:nvSpPr>
        <p:spPr bwMode="auto">
          <a:xfrm flipV="1">
            <a:off x="3705225" y="5715198"/>
            <a:ext cx="3175" cy="11588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27" name="Line 45"/>
          <p:cNvSpPr>
            <a:spLocks noChangeShapeType="1"/>
          </p:cNvSpPr>
          <p:nvPr/>
        </p:nvSpPr>
        <p:spPr bwMode="auto">
          <a:xfrm flipV="1">
            <a:off x="4543425" y="5715198"/>
            <a:ext cx="3175" cy="11588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28" name="Line 46"/>
          <p:cNvSpPr>
            <a:spLocks noChangeShapeType="1"/>
          </p:cNvSpPr>
          <p:nvPr/>
        </p:nvSpPr>
        <p:spPr bwMode="auto">
          <a:xfrm flipV="1">
            <a:off x="5389562" y="5715198"/>
            <a:ext cx="1588" cy="11588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29" name="Line 47"/>
          <p:cNvSpPr>
            <a:spLocks noChangeShapeType="1"/>
          </p:cNvSpPr>
          <p:nvPr/>
        </p:nvSpPr>
        <p:spPr bwMode="auto">
          <a:xfrm flipV="1">
            <a:off x="6226175" y="5715198"/>
            <a:ext cx="3175" cy="115887"/>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30" name="Rectangle 48"/>
          <p:cNvSpPr>
            <a:spLocks noChangeArrowheads="1"/>
          </p:cNvSpPr>
          <p:nvPr/>
        </p:nvSpPr>
        <p:spPr bwMode="auto">
          <a:xfrm>
            <a:off x="503237" y="2962473"/>
            <a:ext cx="4477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$2.00</a:t>
            </a:r>
            <a:endParaRPr lang="en-US" sz="1400">
              <a:latin typeface="Century Gothic"/>
              <a:cs typeface="Century Gothic"/>
            </a:endParaRPr>
          </a:p>
        </p:txBody>
      </p:sp>
      <p:sp>
        <p:nvSpPr>
          <p:cNvPr id="31" name="Rectangle 49"/>
          <p:cNvSpPr>
            <a:spLocks noChangeArrowheads="1"/>
          </p:cNvSpPr>
          <p:nvPr/>
        </p:nvSpPr>
        <p:spPr bwMode="auto">
          <a:xfrm>
            <a:off x="631825" y="3357760"/>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1.75</a:t>
            </a:r>
            <a:endParaRPr lang="en-US" sz="1400">
              <a:latin typeface="Century Gothic"/>
              <a:cs typeface="Century Gothic"/>
            </a:endParaRPr>
          </a:p>
        </p:txBody>
      </p:sp>
      <p:sp>
        <p:nvSpPr>
          <p:cNvPr id="32" name="Rectangle 50"/>
          <p:cNvSpPr>
            <a:spLocks noChangeArrowheads="1"/>
          </p:cNvSpPr>
          <p:nvPr/>
        </p:nvSpPr>
        <p:spPr bwMode="auto">
          <a:xfrm>
            <a:off x="631825" y="3753048"/>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1.50</a:t>
            </a:r>
            <a:endParaRPr lang="en-US" sz="1400">
              <a:latin typeface="Century Gothic"/>
              <a:cs typeface="Century Gothic"/>
            </a:endParaRPr>
          </a:p>
        </p:txBody>
      </p:sp>
      <p:sp>
        <p:nvSpPr>
          <p:cNvPr id="33" name="Rectangle 51"/>
          <p:cNvSpPr>
            <a:spLocks noChangeArrowheads="1"/>
          </p:cNvSpPr>
          <p:nvPr/>
        </p:nvSpPr>
        <p:spPr bwMode="auto">
          <a:xfrm>
            <a:off x="631825" y="4148335"/>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1.25</a:t>
            </a:r>
            <a:endParaRPr lang="en-US" sz="1400">
              <a:latin typeface="Century Gothic"/>
              <a:cs typeface="Century Gothic"/>
            </a:endParaRPr>
          </a:p>
        </p:txBody>
      </p:sp>
      <p:sp>
        <p:nvSpPr>
          <p:cNvPr id="34" name="Rectangle 52"/>
          <p:cNvSpPr>
            <a:spLocks noChangeArrowheads="1"/>
          </p:cNvSpPr>
          <p:nvPr/>
        </p:nvSpPr>
        <p:spPr bwMode="auto">
          <a:xfrm>
            <a:off x="631825" y="4543623"/>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1.00</a:t>
            </a:r>
            <a:endParaRPr lang="en-US" sz="1400">
              <a:latin typeface="Century Gothic"/>
              <a:cs typeface="Century Gothic"/>
            </a:endParaRPr>
          </a:p>
        </p:txBody>
      </p:sp>
      <p:sp>
        <p:nvSpPr>
          <p:cNvPr id="35" name="Rectangle 53"/>
          <p:cNvSpPr>
            <a:spLocks noChangeArrowheads="1"/>
          </p:cNvSpPr>
          <p:nvPr/>
        </p:nvSpPr>
        <p:spPr bwMode="auto">
          <a:xfrm>
            <a:off x="631825" y="4938910"/>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0.75</a:t>
            </a:r>
            <a:endParaRPr lang="en-US" sz="1400">
              <a:latin typeface="Century Gothic"/>
              <a:cs typeface="Century Gothic"/>
            </a:endParaRPr>
          </a:p>
        </p:txBody>
      </p:sp>
      <p:sp>
        <p:nvSpPr>
          <p:cNvPr id="36" name="Rectangle 54"/>
          <p:cNvSpPr>
            <a:spLocks noChangeArrowheads="1"/>
          </p:cNvSpPr>
          <p:nvPr/>
        </p:nvSpPr>
        <p:spPr bwMode="auto">
          <a:xfrm>
            <a:off x="631825" y="5334198"/>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0.50</a:t>
            </a:r>
            <a:endParaRPr lang="en-US" sz="1400">
              <a:latin typeface="Century Gothic"/>
              <a:cs typeface="Century Gothic"/>
            </a:endParaRPr>
          </a:p>
        </p:txBody>
      </p:sp>
      <p:sp>
        <p:nvSpPr>
          <p:cNvPr id="37" name="Freeform 80"/>
          <p:cNvSpPr>
            <a:spLocks/>
          </p:cNvSpPr>
          <p:nvPr/>
        </p:nvSpPr>
        <p:spPr bwMode="auto">
          <a:xfrm>
            <a:off x="1550987" y="3322835"/>
            <a:ext cx="1731117" cy="814864"/>
          </a:xfrm>
          <a:custGeom>
            <a:avLst/>
            <a:gdLst>
              <a:gd name="T0" fmla="*/ 218 w 218"/>
              <a:gd name="T1" fmla="*/ 119 h 141"/>
              <a:gd name="T2" fmla="*/ 202 w 218"/>
              <a:gd name="T3" fmla="*/ 141 h 141"/>
              <a:gd name="T4" fmla="*/ 16 w 218"/>
              <a:gd name="T5" fmla="*/ 141 h 141"/>
              <a:gd name="T6" fmla="*/ 0 w 218"/>
              <a:gd name="T7" fmla="*/ 119 h 141"/>
              <a:gd name="T8" fmla="*/ 0 w 218"/>
              <a:gd name="T9" fmla="*/ 21 h 141"/>
              <a:gd name="T10" fmla="*/ 16 w 218"/>
              <a:gd name="T11" fmla="*/ 0 h 141"/>
              <a:gd name="T12" fmla="*/ 202 w 218"/>
              <a:gd name="T13" fmla="*/ 0 h 141"/>
              <a:gd name="T14" fmla="*/ 218 w 218"/>
              <a:gd name="T15" fmla="*/ 21 h 141"/>
              <a:gd name="T16" fmla="*/ 218 w 218"/>
              <a:gd name="T17" fmla="*/ 119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8" h="141">
                <a:moveTo>
                  <a:pt x="218" y="119"/>
                </a:moveTo>
                <a:cubicBezTo>
                  <a:pt x="218" y="131"/>
                  <a:pt x="211" y="141"/>
                  <a:pt x="202" y="141"/>
                </a:cubicBezTo>
                <a:cubicBezTo>
                  <a:pt x="16" y="141"/>
                  <a:pt x="16" y="141"/>
                  <a:pt x="16" y="141"/>
                </a:cubicBezTo>
                <a:cubicBezTo>
                  <a:pt x="7" y="141"/>
                  <a:pt x="0" y="131"/>
                  <a:pt x="0" y="119"/>
                </a:cubicBezTo>
                <a:cubicBezTo>
                  <a:pt x="0" y="21"/>
                  <a:pt x="0" y="21"/>
                  <a:pt x="0" y="21"/>
                </a:cubicBezTo>
                <a:cubicBezTo>
                  <a:pt x="0" y="9"/>
                  <a:pt x="7" y="0"/>
                  <a:pt x="16" y="0"/>
                </a:cubicBezTo>
                <a:cubicBezTo>
                  <a:pt x="202" y="0"/>
                  <a:pt x="202" y="0"/>
                  <a:pt x="202" y="0"/>
                </a:cubicBezTo>
                <a:cubicBezTo>
                  <a:pt x="211" y="0"/>
                  <a:pt x="218" y="9"/>
                  <a:pt x="218" y="21"/>
                </a:cubicBezTo>
                <a:lnTo>
                  <a:pt x="218" y="119"/>
                </a:lnTo>
                <a:close/>
              </a:path>
            </a:pathLst>
          </a:custGeom>
          <a:solidFill>
            <a:srgbClr val="D6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latin typeface="Century Gothic"/>
              <a:cs typeface="Century Gothic"/>
            </a:endParaRPr>
          </a:p>
        </p:txBody>
      </p:sp>
      <p:sp>
        <p:nvSpPr>
          <p:cNvPr id="38" name="Line 101"/>
          <p:cNvSpPr>
            <a:spLocks noChangeShapeType="1"/>
          </p:cNvSpPr>
          <p:nvPr/>
        </p:nvSpPr>
        <p:spPr bwMode="auto">
          <a:xfrm flipV="1">
            <a:off x="1112837" y="5586610"/>
            <a:ext cx="149225" cy="57150"/>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39" name="Line 102"/>
          <p:cNvSpPr>
            <a:spLocks noChangeShapeType="1"/>
          </p:cNvSpPr>
          <p:nvPr/>
        </p:nvSpPr>
        <p:spPr bwMode="auto">
          <a:xfrm flipV="1">
            <a:off x="1112837" y="5662810"/>
            <a:ext cx="149225" cy="57150"/>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40" name="Line 103"/>
          <p:cNvSpPr>
            <a:spLocks noChangeShapeType="1"/>
          </p:cNvSpPr>
          <p:nvPr/>
        </p:nvSpPr>
        <p:spPr bwMode="auto">
          <a:xfrm flipH="1">
            <a:off x="1352550" y="5781873"/>
            <a:ext cx="84137" cy="101600"/>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41" name="Line 104"/>
          <p:cNvSpPr>
            <a:spLocks noChangeShapeType="1"/>
          </p:cNvSpPr>
          <p:nvPr/>
        </p:nvSpPr>
        <p:spPr bwMode="auto">
          <a:xfrm flipH="1">
            <a:off x="1465262" y="5781873"/>
            <a:ext cx="85725" cy="101600"/>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42" name="TextBox 56"/>
          <p:cNvSpPr txBox="1">
            <a:spLocks noChangeArrowheads="1"/>
          </p:cNvSpPr>
          <p:nvPr/>
        </p:nvSpPr>
        <p:spPr bwMode="auto">
          <a:xfrm>
            <a:off x="1587185" y="3399035"/>
            <a:ext cx="177672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spcBef>
                <a:spcPct val="50000"/>
              </a:spcBef>
            </a:pPr>
            <a:r>
              <a:rPr lang="en-US" sz="1400" dirty="0">
                <a:solidFill>
                  <a:schemeClr val="tx1">
                    <a:lumMod val="75000"/>
                    <a:lumOff val="25000"/>
                  </a:schemeClr>
                </a:solidFill>
                <a:latin typeface="Century Gothic"/>
                <a:cs typeface="Century Gothic"/>
              </a:rPr>
              <a:t>As price rises, the quantity supplied rises.</a:t>
            </a:r>
          </a:p>
        </p:txBody>
      </p:sp>
      <p:sp>
        <p:nvSpPr>
          <p:cNvPr id="45" name="TextBox 59"/>
          <p:cNvSpPr txBox="1">
            <a:spLocks noChangeArrowheads="1"/>
          </p:cNvSpPr>
          <p:nvPr/>
        </p:nvSpPr>
        <p:spPr bwMode="auto">
          <a:xfrm>
            <a:off x="3363912" y="2484635"/>
            <a:ext cx="11493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400" dirty="0">
                <a:latin typeface="Century Gothic"/>
                <a:ea typeface="MS PGothic" pitchFamily="34" charset="-128"/>
                <a:cs typeface="Century Gothic"/>
              </a:rPr>
              <a:t>Supply curve, </a:t>
            </a:r>
            <a:r>
              <a:rPr lang="en-US" sz="1400" i="1" dirty="0">
                <a:latin typeface="Century Gothic"/>
                <a:ea typeface="MS PGothic" pitchFamily="34" charset="-128"/>
                <a:cs typeface="Century Gothic"/>
              </a:rPr>
              <a:t>S</a:t>
            </a:r>
          </a:p>
        </p:txBody>
      </p:sp>
      <p:sp>
        <p:nvSpPr>
          <p:cNvPr id="49" name="Freeform 65"/>
          <p:cNvSpPr>
            <a:spLocks/>
          </p:cNvSpPr>
          <p:nvPr/>
        </p:nvSpPr>
        <p:spPr bwMode="auto">
          <a:xfrm>
            <a:off x="2444750" y="3065660"/>
            <a:ext cx="1514475" cy="2370138"/>
          </a:xfrm>
          <a:custGeom>
            <a:avLst/>
            <a:gdLst>
              <a:gd name="T0" fmla="*/ 215 w 215"/>
              <a:gd name="T1" fmla="*/ 0 h 493"/>
              <a:gd name="T2" fmla="*/ 0 w 215"/>
              <a:gd name="T3" fmla="*/ 493 h 493"/>
            </a:gdLst>
            <a:ahLst/>
            <a:cxnLst>
              <a:cxn ang="0">
                <a:pos x="T0" y="T1"/>
              </a:cxn>
              <a:cxn ang="0">
                <a:pos x="T2" y="T3"/>
              </a:cxn>
            </a:cxnLst>
            <a:rect l="0" t="0" r="r" b="b"/>
            <a:pathLst>
              <a:path w="215" h="493">
                <a:moveTo>
                  <a:pt x="215" y="0"/>
                </a:moveTo>
                <a:cubicBezTo>
                  <a:pt x="215" y="148"/>
                  <a:pt x="153" y="320"/>
                  <a:pt x="0" y="493"/>
                </a:cubicBezTo>
              </a:path>
            </a:pathLst>
          </a:custGeom>
          <a:noFill/>
          <a:ln w="36513" cap="flat">
            <a:solidFill>
              <a:srgbClr val="EE313C"/>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50" name="Oval 67"/>
          <p:cNvSpPr>
            <a:spLocks noChangeArrowheads="1"/>
          </p:cNvSpPr>
          <p:nvPr/>
        </p:nvSpPr>
        <p:spPr bwMode="auto">
          <a:xfrm>
            <a:off x="3871914" y="3413323"/>
            <a:ext cx="91440" cy="9366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1" name="Oval 68"/>
          <p:cNvSpPr>
            <a:spLocks noChangeArrowheads="1"/>
          </p:cNvSpPr>
          <p:nvPr/>
        </p:nvSpPr>
        <p:spPr bwMode="auto">
          <a:xfrm>
            <a:off x="3746501" y="3807023"/>
            <a:ext cx="91440" cy="9144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2" name="Oval 69"/>
          <p:cNvSpPr>
            <a:spLocks noChangeArrowheads="1"/>
          </p:cNvSpPr>
          <p:nvPr/>
        </p:nvSpPr>
        <p:spPr bwMode="auto">
          <a:xfrm>
            <a:off x="3532189" y="4200723"/>
            <a:ext cx="91440" cy="9144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3" name="Oval 70"/>
          <p:cNvSpPr>
            <a:spLocks noChangeArrowheads="1"/>
          </p:cNvSpPr>
          <p:nvPr/>
        </p:nvSpPr>
        <p:spPr bwMode="auto">
          <a:xfrm>
            <a:off x="3236384" y="4599185"/>
            <a:ext cx="91440" cy="9144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4" name="Oval 71"/>
          <p:cNvSpPr>
            <a:spLocks noChangeArrowheads="1"/>
          </p:cNvSpPr>
          <p:nvPr/>
        </p:nvSpPr>
        <p:spPr bwMode="auto">
          <a:xfrm>
            <a:off x="2856972" y="4994473"/>
            <a:ext cx="91440" cy="9144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5" name="Oval 72"/>
          <p:cNvSpPr>
            <a:spLocks noChangeArrowheads="1"/>
          </p:cNvSpPr>
          <p:nvPr/>
        </p:nvSpPr>
        <p:spPr bwMode="auto">
          <a:xfrm>
            <a:off x="2383367" y="5388173"/>
            <a:ext cx="91440" cy="9144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48" name="Oval 66"/>
          <p:cNvSpPr>
            <a:spLocks noChangeArrowheads="1"/>
          </p:cNvSpPr>
          <p:nvPr/>
        </p:nvSpPr>
        <p:spPr bwMode="auto">
          <a:xfrm>
            <a:off x="3913189" y="3046345"/>
            <a:ext cx="91440" cy="9144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pic>
        <p:nvPicPr>
          <p:cNvPr id="82946" name="Picture 2"/>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7156119" y="2289123"/>
            <a:ext cx="692481" cy="3332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2947" name="Picture 3"/>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6019800" y="2306056"/>
            <a:ext cx="498695" cy="3332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2948" name="Picture 4"/>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5224236" y="990601"/>
            <a:ext cx="3310885" cy="1291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21112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82947"/>
                                        </p:tgtEl>
                                        <p:attrNameLst>
                                          <p:attrName>style.visibility</p:attrName>
                                        </p:attrNameLst>
                                      </p:cBhvr>
                                      <p:to>
                                        <p:strVal val="visible"/>
                                      </p:to>
                                    </p:set>
                                    <p:animEffect transition="in" filter="wipe(up)">
                                      <p:cBhvr>
                                        <p:cTn id="7" dur="1000"/>
                                        <p:tgtEl>
                                          <p:spTgt spid="82947"/>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82946"/>
                                        </p:tgtEl>
                                        <p:attrNameLst>
                                          <p:attrName>style.visibility</p:attrName>
                                        </p:attrNameLst>
                                      </p:cBhvr>
                                      <p:to>
                                        <p:strVal val="visible"/>
                                      </p:to>
                                    </p:set>
                                    <p:animEffect transition="in" filter="wipe(up)">
                                      <p:cBhvr>
                                        <p:cTn id="11" dur="1000"/>
                                        <p:tgtEl>
                                          <p:spTgt spid="82946"/>
                                        </p:tgtEl>
                                      </p:cBhvr>
                                    </p:animEffect>
                                  </p:childTnLst>
                                </p:cTn>
                              </p:par>
                            </p:childTnLst>
                          </p:cTn>
                        </p:par>
                        <p:par>
                          <p:cTn id="12" fill="hold">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fade">
                                      <p:cBhvr>
                                        <p:cTn id="15" dur="1000"/>
                                        <p:tgtEl>
                                          <p:spTgt spid="48"/>
                                        </p:tgtEl>
                                      </p:cBhvr>
                                    </p:animEffect>
                                  </p:childTnLst>
                                </p:cTn>
                              </p:par>
                            </p:childTnLst>
                          </p:cTn>
                        </p:par>
                        <p:par>
                          <p:cTn id="16" fill="hold">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fade">
                                      <p:cBhvr>
                                        <p:cTn id="19" dur="1000"/>
                                        <p:tgtEl>
                                          <p:spTgt spid="50"/>
                                        </p:tgtEl>
                                      </p:cBhvr>
                                    </p:animEffect>
                                  </p:childTnLst>
                                </p:cTn>
                              </p:par>
                            </p:childTnLst>
                          </p:cTn>
                        </p:par>
                        <p:par>
                          <p:cTn id="20" fill="hold">
                            <p:stCondLst>
                              <p:cond delay="4000"/>
                            </p:stCondLst>
                            <p:childTnLst>
                              <p:par>
                                <p:cTn id="21" presetID="10" presetClass="entr" presetSubtype="0" fill="hold" grpId="0" nodeType="afterEffect">
                                  <p:stCondLst>
                                    <p:cond delay="0"/>
                                  </p:stCondLst>
                                  <p:childTnLst>
                                    <p:set>
                                      <p:cBhvr>
                                        <p:cTn id="22" dur="1" fill="hold">
                                          <p:stCondLst>
                                            <p:cond delay="0"/>
                                          </p:stCondLst>
                                        </p:cTn>
                                        <p:tgtEl>
                                          <p:spTgt spid="51"/>
                                        </p:tgtEl>
                                        <p:attrNameLst>
                                          <p:attrName>style.visibility</p:attrName>
                                        </p:attrNameLst>
                                      </p:cBhvr>
                                      <p:to>
                                        <p:strVal val="visible"/>
                                      </p:to>
                                    </p:set>
                                    <p:animEffect transition="in" filter="fade">
                                      <p:cBhvr>
                                        <p:cTn id="23" dur="1000"/>
                                        <p:tgtEl>
                                          <p:spTgt spid="51"/>
                                        </p:tgtEl>
                                      </p:cBhvr>
                                    </p:animEffect>
                                  </p:childTnLst>
                                </p:cTn>
                              </p:par>
                            </p:childTnLst>
                          </p:cTn>
                        </p:par>
                        <p:par>
                          <p:cTn id="24" fill="hold">
                            <p:stCondLst>
                              <p:cond delay="5000"/>
                            </p:stCondLst>
                            <p:childTnLst>
                              <p:par>
                                <p:cTn id="25" presetID="10" presetClass="entr" presetSubtype="0" fill="hold" grpId="0" nodeType="afterEffect">
                                  <p:stCondLst>
                                    <p:cond delay="0"/>
                                  </p:stCondLst>
                                  <p:childTnLst>
                                    <p:set>
                                      <p:cBhvr>
                                        <p:cTn id="26" dur="1" fill="hold">
                                          <p:stCondLst>
                                            <p:cond delay="0"/>
                                          </p:stCondLst>
                                        </p:cTn>
                                        <p:tgtEl>
                                          <p:spTgt spid="52"/>
                                        </p:tgtEl>
                                        <p:attrNameLst>
                                          <p:attrName>style.visibility</p:attrName>
                                        </p:attrNameLst>
                                      </p:cBhvr>
                                      <p:to>
                                        <p:strVal val="visible"/>
                                      </p:to>
                                    </p:set>
                                    <p:animEffect transition="in" filter="fade">
                                      <p:cBhvr>
                                        <p:cTn id="27" dur="1000"/>
                                        <p:tgtEl>
                                          <p:spTgt spid="52"/>
                                        </p:tgtEl>
                                      </p:cBhvr>
                                    </p:animEffect>
                                  </p:childTnLst>
                                </p:cTn>
                              </p:par>
                            </p:childTnLst>
                          </p:cTn>
                        </p:par>
                        <p:par>
                          <p:cTn id="28" fill="hold">
                            <p:stCondLst>
                              <p:cond delay="6000"/>
                            </p:stCondLst>
                            <p:childTnLst>
                              <p:par>
                                <p:cTn id="29" presetID="10" presetClass="entr" presetSubtype="0" fill="hold" grpId="0" nodeType="afterEffect">
                                  <p:stCondLst>
                                    <p:cond delay="0"/>
                                  </p:stCondLst>
                                  <p:childTnLst>
                                    <p:set>
                                      <p:cBhvr>
                                        <p:cTn id="30" dur="1" fill="hold">
                                          <p:stCondLst>
                                            <p:cond delay="0"/>
                                          </p:stCondLst>
                                        </p:cTn>
                                        <p:tgtEl>
                                          <p:spTgt spid="53"/>
                                        </p:tgtEl>
                                        <p:attrNameLst>
                                          <p:attrName>style.visibility</p:attrName>
                                        </p:attrNameLst>
                                      </p:cBhvr>
                                      <p:to>
                                        <p:strVal val="visible"/>
                                      </p:to>
                                    </p:set>
                                    <p:animEffect transition="in" filter="fade">
                                      <p:cBhvr>
                                        <p:cTn id="31" dur="1000"/>
                                        <p:tgtEl>
                                          <p:spTgt spid="53"/>
                                        </p:tgtEl>
                                      </p:cBhvr>
                                    </p:animEffect>
                                  </p:childTnLst>
                                </p:cTn>
                              </p:par>
                            </p:childTnLst>
                          </p:cTn>
                        </p:par>
                        <p:par>
                          <p:cTn id="32" fill="hold">
                            <p:stCondLst>
                              <p:cond delay="7000"/>
                            </p:stCondLst>
                            <p:childTnLst>
                              <p:par>
                                <p:cTn id="33" presetID="10" presetClass="entr" presetSubtype="0" fill="hold" grpId="0" nodeType="afterEffect">
                                  <p:stCondLst>
                                    <p:cond delay="0"/>
                                  </p:stCondLst>
                                  <p:childTnLst>
                                    <p:set>
                                      <p:cBhvr>
                                        <p:cTn id="34" dur="1" fill="hold">
                                          <p:stCondLst>
                                            <p:cond delay="0"/>
                                          </p:stCondLst>
                                        </p:cTn>
                                        <p:tgtEl>
                                          <p:spTgt spid="54"/>
                                        </p:tgtEl>
                                        <p:attrNameLst>
                                          <p:attrName>style.visibility</p:attrName>
                                        </p:attrNameLst>
                                      </p:cBhvr>
                                      <p:to>
                                        <p:strVal val="visible"/>
                                      </p:to>
                                    </p:set>
                                    <p:animEffect transition="in" filter="fade">
                                      <p:cBhvr>
                                        <p:cTn id="35" dur="1000"/>
                                        <p:tgtEl>
                                          <p:spTgt spid="54"/>
                                        </p:tgtEl>
                                      </p:cBhvr>
                                    </p:animEffect>
                                  </p:childTnLst>
                                </p:cTn>
                              </p:par>
                            </p:childTnLst>
                          </p:cTn>
                        </p:par>
                        <p:par>
                          <p:cTn id="36" fill="hold">
                            <p:stCondLst>
                              <p:cond delay="8000"/>
                            </p:stCondLst>
                            <p:childTnLst>
                              <p:par>
                                <p:cTn id="37" presetID="10" presetClass="entr" presetSubtype="0" fill="hold" grpId="0" nodeType="afterEffect">
                                  <p:stCondLst>
                                    <p:cond delay="0"/>
                                  </p:stCondLst>
                                  <p:childTnLst>
                                    <p:set>
                                      <p:cBhvr>
                                        <p:cTn id="38" dur="1" fill="hold">
                                          <p:stCondLst>
                                            <p:cond delay="0"/>
                                          </p:stCondLst>
                                        </p:cTn>
                                        <p:tgtEl>
                                          <p:spTgt spid="55"/>
                                        </p:tgtEl>
                                        <p:attrNameLst>
                                          <p:attrName>style.visibility</p:attrName>
                                        </p:attrNameLst>
                                      </p:cBhvr>
                                      <p:to>
                                        <p:strVal val="visible"/>
                                      </p:to>
                                    </p:set>
                                    <p:animEffect transition="in" filter="fade">
                                      <p:cBhvr>
                                        <p:cTn id="39" dur="1000"/>
                                        <p:tgtEl>
                                          <p:spTgt spid="5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49"/>
                                        </p:tgtEl>
                                        <p:attrNameLst>
                                          <p:attrName>style.visibility</p:attrName>
                                        </p:attrNameLst>
                                      </p:cBhvr>
                                      <p:to>
                                        <p:strVal val="visible"/>
                                      </p:to>
                                    </p:set>
                                    <p:animEffect transition="in" filter="wipe(up)">
                                      <p:cBhvr>
                                        <p:cTn id="44" dur="500"/>
                                        <p:tgtEl>
                                          <p:spTgt spid="4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5"/>
                                        </p:tgtEl>
                                        <p:attrNameLst>
                                          <p:attrName>style.visibility</p:attrName>
                                        </p:attrNameLst>
                                      </p:cBhvr>
                                      <p:to>
                                        <p:strVal val="visible"/>
                                      </p:to>
                                    </p:set>
                                    <p:animEffect transition="in" filter="fade">
                                      <p:cBhvr>
                                        <p:cTn id="47" dur="500"/>
                                        <p:tgtEl>
                                          <p:spTgt spid="45"/>
                                        </p:tgtEl>
                                      </p:cBhvr>
                                    </p:animEffect>
                                  </p:childTnLst>
                                </p:cTn>
                              </p:par>
                            </p:childTnLst>
                          </p:cTn>
                        </p:par>
                        <p:par>
                          <p:cTn id="48" fill="hold">
                            <p:stCondLst>
                              <p:cond delay="500"/>
                            </p:stCondLst>
                            <p:childTnLst>
                              <p:par>
                                <p:cTn id="49" presetID="22" presetClass="entr" presetSubtype="8" fill="hold" grpId="0" nodeType="afterEffect">
                                  <p:stCondLst>
                                    <p:cond delay="0"/>
                                  </p:stCondLst>
                                  <p:childTnLst>
                                    <p:set>
                                      <p:cBhvr>
                                        <p:cTn id="50" dur="1" fill="hold">
                                          <p:stCondLst>
                                            <p:cond delay="0"/>
                                          </p:stCondLst>
                                        </p:cTn>
                                        <p:tgtEl>
                                          <p:spTgt spid="37"/>
                                        </p:tgtEl>
                                        <p:attrNameLst>
                                          <p:attrName>style.visibility</p:attrName>
                                        </p:attrNameLst>
                                      </p:cBhvr>
                                      <p:to>
                                        <p:strVal val="visible"/>
                                      </p:to>
                                    </p:set>
                                    <p:animEffect transition="in" filter="wipe(left)">
                                      <p:cBhvr>
                                        <p:cTn id="51" dur="500"/>
                                        <p:tgtEl>
                                          <p:spTgt spid="37"/>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42"/>
                                        </p:tgtEl>
                                        <p:attrNameLst>
                                          <p:attrName>style.visibility</p:attrName>
                                        </p:attrNameLst>
                                      </p:cBhvr>
                                      <p:to>
                                        <p:strVal val="visible"/>
                                      </p:to>
                                    </p:set>
                                    <p:animEffect transition="in" filter="wipe(left)">
                                      <p:cBhvr>
                                        <p:cTn id="54"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42" grpId="0"/>
      <p:bldP spid="45" grpId="0"/>
      <p:bldP spid="49" grpId="0" animBg="1"/>
      <p:bldP spid="50" grpId="0" animBg="1"/>
      <p:bldP spid="51" grpId="0" animBg="1"/>
      <p:bldP spid="52" grpId="0" animBg="1"/>
      <p:bldP spid="53" grpId="0" animBg="1"/>
      <p:bldP spid="54" grpId="0" animBg="1"/>
      <p:bldP spid="55" grpId="0" animBg="1"/>
      <p:bldP spid="48"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7298" name="Rectangle 2"/>
          <p:cNvSpPr>
            <a:spLocks noGrp="1" noRot="1" noChangeArrowheads="1"/>
          </p:cNvSpPr>
          <p:nvPr>
            <p:ph type="title"/>
          </p:nvPr>
        </p:nvSpPr>
        <p:spPr/>
        <p:txBody>
          <a:bodyPr>
            <a:normAutofit/>
          </a:bodyPr>
          <a:lstStyle/>
          <a:p>
            <a:r>
              <a:rPr lang="en-US" sz="3600" dirty="0"/>
              <a:t>AN INCREASE IN SUPPLY</a:t>
            </a:r>
          </a:p>
        </p:txBody>
      </p:sp>
      <p:sp>
        <p:nvSpPr>
          <p:cNvPr id="567312" name="Line 16"/>
          <p:cNvSpPr>
            <a:spLocks noChangeShapeType="1"/>
          </p:cNvSpPr>
          <p:nvPr/>
        </p:nvSpPr>
        <p:spPr bwMode="auto">
          <a:xfrm flipV="1">
            <a:off x="2098675" y="1238250"/>
            <a:ext cx="0" cy="3921125"/>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67313" name="Freeform 17"/>
          <p:cNvSpPr>
            <a:spLocks/>
          </p:cNvSpPr>
          <p:nvPr/>
        </p:nvSpPr>
        <p:spPr bwMode="auto">
          <a:xfrm>
            <a:off x="2098675" y="5248275"/>
            <a:ext cx="190500" cy="138112"/>
          </a:xfrm>
          <a:custGeom>
            <a:avLst/>
            <a:gdLst>
              <a:gd name="T0" fmla="*/ 93 w 93"/>
              <a:gd name="T1" fmla="*/ 80 h 80"/>
              <a:gd name="T2" fmla="*/ 0 w 93"/>
              <a:gd name="T3" fmla="*/ 80 h 80"/>
              <a:gd name="T4" fmla="*/ 0 w 93"/>
              <a:gd name="T5" fmla="*/ 0 h 80"/>
            </a:gdLst>
            <a:ahLst/>
            <a:cxnLst>
              <a:cxn ang="0">
                <a:pos x="T0" y="T1"/>
              </a:cxn>
              <a:cxn ang="0">
                <a:pos x="T2" y="T3"/>
              </a:cxn>
              <a:cxn ang="0">
                <a:pos x="T4" y="T5"/>
              </a:cxn>
            </a:cxnLst>
            <a:rect l="0" t="0" r="r" b="b"/>
            <a:pathLst>
              <a:path w="93" h="80">
                <a:moveTo>
                  <a:pt x="93" y="80"/>
                </a:moveTo>
                <a:lnTo>
                  <a:pt x="0" y="80"/>
                </a:lnTo>
                <a:lnTo>
                  <a:pt x="0" y="0"/>
                </a:lnTo>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567314" name="Line 18"/>
          <p:cNvSpPr>
            <a:spLocks noChangeShapeType="1"/>
          </p:cNvSpPr>
          <p:nvPr/>
        </p:nvSpPr>
        <p:spPr bwMode="auto">
          <a:xfrm flipH="1">
            <a:off x="2393950" y="5386387"/>
            <a:ext cx="4110038"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67315" name="Line 19"/>
          <p:cNvSpPr>
            <a:spLocks noChangeShapeType="1"/>
          </p:cNvSpPr>
          <p:nvPr/>
        </p:nvSpPr>
        <p:spPr bwMode="auto">
          <a:xfrm>
            <a:off x="6503988" y="5254625"/>
            <a:ext cx="0" cy="131762"/>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67316" name="Line 20"/>
          <p:cNvSpPr>
            <a:spLocks noChangeShapeType="1"/>
          </p:cNvSpPr>
          <p:nvPr/>
        </p:nvSpPr>
        <p:spPr bwMode="auto">
          <a:xfrm>
            <a:off x="5724525" y="5254625"/>
            <a:ext cx="0" cy="131762"/>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67317" name="Line 21"/>
          <p:cNvSpPr>
            <a:spLocks noChangeShapeType="1"/>
          </p:cNvSpPr>
          <p:nvPr/>
        </p:nvSpPr>
        <p:spPr bwMode="auto">
          <a:xfrm>
            <a:off x="4949825" y="5254625"/>
            <a:ext cx="0" cy="131762"/>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67318" name="Line 22"/>
          <p:cNvSpPr>
            <a:spLocks noChangeShapeType="1"/>
          </p:cNvSpPr>
          <p:nvPr/>
        </p:nvSpPr>
        <p:spPr bwMode="auto">
          <a:xfrm>
            <a:off x="4189413" y="5254625"/>
            <a:ext cx="0" cy="131762"/>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67319" name="Line 23"/>
          <p:cNvSpPr>
            <a:spLocks noChangeShapeType="1"/>
          </p:cNvSpPr>
          <p:nvPr/>
        </p:nvSpPr>
        <p:spPr bwMode="auto">
          <a:xfrm>
            <a:off x="3414713" y="5254625"/>
            <a:ext cx="0" cy="131762"/>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67320" name="Line 24"/>
          <p:cNvSpPr>
            <a:spLocks noChangeShapeType="1"/>
          </p:cNvSpPr>
          <p:nvPr/>
        </p:nvSpPr>
        <p:spPr bwMode="auto">
          <a:xfrm>
            <a:off x="2641600" y="5254625"/>
            <a:ext cx="0" cy="131762"/>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67321" name="Rectangle 25"/>
          <p:cNvSpPr>
            <a:spLocks noChangeArrowheads="1"/>
          </p:cNvSpPr>
          <p:nvPr/>
        </p:nvSpPr>
        <p:spPr bwMode="auto">
          <a:xfrm>
            <a:off x="2579688" y="5430837"/>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7</a:t>
            </a:r>
            <a:endParaRPr lang="en-US" sz="1400">
              <a:latin typeface="Century Gothic"/>
              <a:cs typeface="Century Gothic"/>
            </a:endParaRPr>
          </a:p>
        </p:txBody>
      </p:sp>
      <p:sp>
        <p:nvSpPr>
          <p:cNvPr id="567322" name="Rectangle 26"/>
          <p:cNvSpPr>
            <a:spLocks noChangeArrowheads="1"/>
          </p:cNvSpPr>
          <p:nvPr/>
        </p:nvSpPr>
        <p:spPr bwMode="auto">
          <a:xfrm>
            <a:off x="1874838" y="5430837"/>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0</a:t>
            </a:r>
            <a:endParaRPr lang="en-US" sz="1400">
              <a:latin typeface="Century Gothic"/>
              <a:cs typeface="Century Gothic"/>
            </a:endParaRPr>
          </a:p>
        </p:txBody>
      </p:sp>
      <p:sp>
        <p:nvSpPr>
          <p:cNvPr id="567323" name="Rectangle 27"/>
          <p:cNvSpPr>
            <a:spLocks noChangeArrowheads="1"/>
          </p:cNvSpPr>
          <p:nvPr/>
        </p:nvSpPr>
        <p:spPr bwMode="auto">
          <a:xfrm>
            <a:off x="3357563" y="5430837"/>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9</a:t>
            </a:r>
            <a:endParaRPr lang="en-US" sz="1400">
              <a:latin typeface="Century Gothic"/>
              <a:cs typeface="Century Gothic"/>
            </a:endParaRPr>
          </a:p>
        </p:txBody>
      </p:sp>
      <p:sp>
        <p:nvSpPr>
          <p:cNvPr id="567324" name="Rectangle 28"/>
          <p:cNvSpPr>
            <a:spLocks noChangeArrowheads="1"/>
          </p:cNvSpPr>
          <p:nvPr/>
        </p:nvSpPr>
        <p:spPr bwMode="auto">
          <a:xfrm>
            <a:off x="4067175" y="5430837"/>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11</a:t>
            </a:r>
            <a:endParaRPr lang="en-US" sz="1400">
              <a:latin typeface="Century Gothic"/>
              <a:cs typeface="Century Gothic"/>
            </a:endParaRPr>
          </a:p>
        </p:txBody>
      </p:sp>
      <p:sp>
        <p:nvSpPr>
          <p:cNvPr id="567325" name="Rectangle 29"/>
          <p:cNvSpPr>
            <a:spLocks noChangeArrowheads="1"/>
          </p:cNvSpPr>
          <p:nvPr/>
        </p:nvSpPr>
        <p:spPr bwMode="auto">
          <a:xfrm>
            <a:off x="4827588" y="5430837"/>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13</a:t>
            </a:r>
            <a:endParaRPr lang="en-US" sz="1400">
              <a:latin typeface="Century Gothic"/>
              <a:cs typeface="Century Gothic"/>
            </a:endParaRPr>
          </a:p>
        </p:txBody>
      </p:sp>
      <p:sp>
        <p:nvSpPr>
          <p:cNvPr id="567326" name="Rectangle 30"/>
          <p:cNvSpPr>
            <a:spLocks noChangeArrowheads="1"/>
          </p:cNvSpPr>
          <p:nvPr/>
        </p:nvSpPr>
        <p:spPr bwMode="auto">
          <a:xfrm>
            <a:off x="5605463" y="5430837"/>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15</a:t>
            </a:r>
            <a:endParaRPr lang="en-US" sz="1400">
              <a:latin typeface="Century Gothic"/>
              <a:cs typeface="Century Gothic"/>
            </a:endParaRPr>
          </a:p>
        </p:txBody>
      </p:sp>
      <p:sp>
        <p:nvSpPr>
          <p:cNvPr id="567327" name="Rectangle 31"/>
          <p:cNvSpPr>
            <a:spLocks noChangeArrowheads="1"/>
          </p:cNvSpPr>
          <p:nvPr/>
        </p:nvSpPr>
        <p:spPr bwMode="auto">
          <a:xfrm>
            <a:off x="6383338" y="5430837"/>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17</a:t>
            </a:r>
            <a:endParaRPr lang="en-US" sz="1400">
              <a:latin typeface="Century Gothic"/>
              <a:cs typeface="Century Gothic"/>
            </a:endParaRPr>
          </a:p>
        </p:txBody>
      </p:sp>
      <p:sp>
        <p:nvSpPr>
          <p:cNvPr id="567341" name="Line 45"/>
          <p:cNvSpPr>
            <a:spLocks noChangeShapeType="1"/>
          </p:cNvSpPr>
          <p:nvPr/>
        </p:nvSpPr>
        <p:spPr bwMode="auto">
          <a:xfrm>
            <a:off x="2098675" y="2197100"/>
            <a:ext cx="157163"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67342" name="Line 46"/>
          <p:cNvSpPr>
            <a:spLocks noChangeShapeType="1"/>
          </p:cNvSpPr>
          <p:nvPr/>
        </p:nvSpPr>
        <p:spPr bwMode="auto">
          <a:xfrm>
            <a:off x="2098675" y="2651125"/>
            <a:ext cx="157163"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67343" name="Line 47"/>
          <p:cNvSpPr>
            <a:spLocks noChangeShapeType="1"/>
          </p:cNvSpPr>
          <p:nvPr/>
        </p:nvSpPr>
        <p:spPr bwMode="auto">
          <a:xfrm>
            <a:off x="2098675" y="3103562"/>
            <a:ext cx="157163"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67344" name="Line 48"/>
          <p:cNvSpPr>
            <a:spLocks noChangeShapeType="1"/>
          </p:cNvSpPr>
          <p:nvPr/>
        </p:nvSpPr>
        <p:spPr bwMode="auto">
          <a:xfrm>
            <a:off x="2098675" y="3563937"/>
            <a:ext cx="157163"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67345" name="Line 49"/>
          <p:cNvSpPr>
            <a:spLocks noChangeShapeType="1"/>
          </p:cNvSpPr>
          <p:nvPr/>
        </p:nvSpPr>
        <p:spPr bwMode="auto">
          <a:xfrm>
            <a:off x="2098675" y="4057650"/>
            <a:ext cx="157163"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67346" name="Line 50"/>
          <p:cNvSpPr>
            <a:spLocks noChangeShapeType="1"/>
          </p:cNvSpPr>
          <p:nvPr/>
        </p:nvSpPr>
        <p:spPr bwMode="auto">
          <a:xfrm>
            <a:off x="2098675" y="4522787"/>
            <a:ext cx="157163"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67347" name="Line 51"/>
          <p:cNvSpPr>
            <a:spLocks noChangeShapeType="1"/>
          </p:cNvSpPr>
          <p:nvPr/>
        </p:nvSpPr>
        <p:spPr bwMode="auto">
          <a:xfrm>
            <a:off x="2098675" y="4992687"/>
            <a:ext cx="157163"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67348" name="Rectangle 52"/>
          <p:cNvSpPr>
            <a:spLocks noChangeArrowheads="1"/>
          </p:cNvSpPr>
          <p:nvPr/>
        </p:nvSpPr>
        <p:spPr bwMode="auto">
          <a:xfrm>
            <a:off x="1444625" y="2087562"/>
            <a:ext cx="4477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$2.00</a:t>
            </a:r>
            <a:endParaRPr lang="en-US" sz="1400">
              <a:latin typeface="Century Gothic"/>
              <a:cs typeface="Century Gothic"/>
            </a:endParaRPr>
          </a:p>
        </p:txBody>
      </p:sp>
      <p:sp>
        <p:nvSpPr>
          <p:cNvPr id="567349" name="Rectangle 53"/>
          <p:cNvSpPr>
            <a:spLocks noChangeArrowheads="1"/>
          </p:cNvSpPr>
          <p:nvPr/>
        </p:nvSpPr>
        <p:spPr bwMode="auto">
          <a:xfrm>
            <a:off x="1565275" y="2540000"/>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1.75</a:t>
            </a:r>
            <a:endParaRPr lang="en-US" sz="1400">
              <a:latin typeface="Century Gothic"/>
              <a:cs typeface="Century Gothic"/>
            </a:endParaRPr>
          </a:p>
        </p:txBody>
      </p:sp>
      <p:sp>
        <p:nvSpPr>
          <p:cNvPr id="567350" name="Rectangle 54"/>
          <p:cNvSpPr>
            <a:spLocks noChangeArrowheads="1"/>
          </p:cNvSpPr>
          <p:nvPr/>
        </p:nvSpPr>
        <p:spPr bwMode="auto">
          <a:xfrm>
            <a:off x="1565275" y="2995612"/>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1.50</a:t>
            </a:r>
            <a:endParaRPr lang="en-US" sz="1400">
              <a:latin typeface="Century Gothic"/>
              <a:cs typeface="Century Gothic"/>
            </a:endParaRPr>
          </a:p>
        </p:txBody>
      </p:sp>
      <p:sp>
        <p:nvSpPr>
          <p:cNvPr id="567351" name="Rectangle 55"/>
          <p:cNvSpPr>
            <a:spLocks noChangeArrowheads="1"/>
          </p:cNvSpPr>
          <p:nvPr/>
        </p:nvSpPr>
        <p:spPr bwMode="auto">
          <a:xfrm>
            <a:off x="1565275" y="3454400"/>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1.25</a:t>
            </a:r>
            <a:endParaRPr lang="en-US" sz="1400">
              <a:latin typeface="Century Gothic"/>
              <a:cs typeface="Century Gothic"/>
            </a:endParaRPr>
          </a:p>
        </p:txBody>
      </p:sp>
      <p:sp>
        <p:nvSpPr>
          <p:cNvPr id="567352" name="Rectangle 56"/>
          <p:cNvSpPr>
            <a:spLocks noChangeArrowheads="1"/>
          </p:cNvSpPr>
          <p:nvPr/>
        </p:nvSpPr>
        <p:spPr bwMode="auto">
          <a:xfrm>
            <a:off x="1565275" y="3940175"/>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1.00</a:t>
            </a:r>
            <a:endParaRPr lang="en-US" sz="1400">
              <a:latin typeface="Century Gothic"/>
              <a:cs typeface="Century Gothic"/>
            </a:endParaRPr>
          </a:p>
        </p:txBody>
      </p:sp>
      <p:sp>
        <p:nvSpPr>
          <p:cNvPr id="567353" name="Rectangle 57"/>
          <p:cNvSpPr>
            <a:spLocks noChangeArrowheads="1"/>
          </p:cNvSpPr>
          <p:nvPr/>
        </p:nvSpPr>
        <p:spPr bwMode="auto">
          <a:xfrm>
            <a:off x="1565275" y="4410075"/>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0.75</a:t>
            </a:r>
            <a:endParaRPr lang="en-US" sz="1400">
              <a:latin typeface="Century Gothic"/>
              <a:cs typeface="Century Gothic"/>
            </a:endParaRPr>
          </a:p>
        </p:txBody>
      </p:sp>
      <p:sp>
        <p:nvSpPr>
          <p:cNvPr id="567354" name="Rectangle 58"/>
          <p:cNvSpPr>
            <a:spLocks noChangeArrowheads="1"/>
          </p:cNvSpPr>
          <p:nvPr/>
        </p:nvSpPr>
        <p:spPr bwMode="auto">
          <a:xfrm>
            <a:off x="1565275" y="4892675"/>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0.50</a:t>
            </a:r>
            <a:endParaRPr lang="en-US" sz="1400">
              <a:latin typeface="Century Gothic"/>
              <a:cs typeface="Century Gothic"/>
            </a:endParaRPr>
          </a:p>
        </p:txBody>
      </p:sp>
      <p:sp>
        <p:nvSpPr>
          <p:cNvPr id="567365" name="Line 69"/>
          <p:cNvSpPr>
            <a:spLocks noChangeShapeType="1"/>
          </p:cNvSpPr>
          <p:nvPr/>
        </p:nvSpPr>
        <p:spPr bwMode="auto">
          <a:xfrm>
            <a:off x="3278188" y="2965450"/>
            <a:ext cx="944562" cy="45085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67366" name="Line 70"/>
          <p:cNvSpPr>
            <a:spLocks noChangeShapeType="1"/>
          </p:cNvSpPr>
          <p:nvPr/>
        </p:nvSpPr>
        <p:spPr bwMode="auto">
          <a:xfrm>
            <a:off x="4786313" y="3825875"/>
            <a:ext cx="747712" cy="492125"/>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67367" name="Freeform 71"/>
          <p:cNvSpPr>
            <a:spLocks/>
          </p:cNvSpPr>
          <p:nvPr/>
        </p:nvSpPr>
        <p:spPr bwMode="auto">
          <a:xfrm>
            <a:off x="4832350" y="4222749"/>
            <a:ext cx="1519238" cy="1016019"/>
          </a:xfrm>
          <a:custGeom>
            <a:avLst/>
            <a:gdLst>
              <a:gd name="T0" fmla="*/ 222 w 222"/>
              <a:gd name="T1" fmla="*/ 118 h 141"/>
              <a:gd name="T2" fmla="*/ 206 w 222"/>
              <a:gd name="T3" fmla="*/ 141 h 141"/>
              <a:gd name="T4" fmla="*/ 16 w 222"/>
              <a:gd name="T5" fmla="*/ 141 h 141"/>
              <a:gd name="T6" fmla="*/ 0 w 222"/>
              <a:gd name="T7" fmla="*/ 118 h 141"/>
              <a:gd name="T8" fmla="*/ 0 w 222"/>
              <a:gd name="T9" fmla="*/ 23 h 141"/>
              <a:gd name="T10" fmla="*/ 16 w 222"/>
              <a:gd name="T11" fmla="*/ 0 h 141"/>
              <a:gd name="T12" fmla="*/ 206 w 222"/>
              <a:gd name="T13" fmla="*/ 0 h 141"/>
              <a:gd name="T14" fmla="*/ 222 w 222"/>
              <a:gd name="T15" fmla="*/ 23 h 141"/>
              <a:gd name="T16" fmla="*/ 222 w 222"/>
              <a:gd name="T17" fmla="*/ 118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2" h="141">
                <a:moveTo>
                  <a:pt x="222" y="118"/>
                </a:moveTo>
                <a:cubicBezTo>
                  <a:pt x="222" y="130"/>
                  <a:pt x="215" y="141"/>
                  <a:pt x="206" y="141"/>
                </a:cubicBezTo>
                <a:cubicBezTo>
                  <a:pt x="16" y="141"/>
                  <a:pt x="16" y="141"/>
                  <a:pt x="16" y="141"/>
                </a:cubicBezTo>
                <a:cubicBezTo>
                  <a:pt x="7" y="141"/>
                  <a:pt x="0" y="130"/>
                  <a:pt x="0" y="118"/>
                </a:cubicBezTo>
                <a:cubicBezTo>
                  <a:pt x="0" y="23"/>
                  <a:pt x="0" y="23"/>
                  <a:pt x="0" y="23"/>
                </a:cubicBezTo>
                <a:cubicBezTo>
                  <a:pt x="0" y="10"/>
                  <a:pt x="7" y="0"/>
                  <a:pt x="16" y="0"/>
                </a:cubicBezTo>
                <a:cubicBezTo>
                  <a:pt x="206" y="0"/>
                  <a:pt x="206" y="0"/>
                  <a:pt x="206" y="0"/>
                </a:cubicBezTo>
                <a:cubicBezTo>
                  <a:pt x="215" y="0"/>
                  <a:pt x="222" y="10"/>
                  <a:pt x="222" y="23"/>
                </a:cubicBezTo>
                <a:lnTo>
                  <a:pt x="222" y="118"/>
                </a:lnTo>
                <a:close/>
              </a:path>
            </a:pathLst>
          </a:custGeom>
          <a:solidFill>
            <a:srgbClr val="D6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67387" name="Freeform 91"/>
          <p:cNvSpPr>
            <a:spLocks/>
          </p:cNvSpPr>
          <p:nvPr/>
        </p:nvSpPr>
        <p:spPr bwMode="auto">
          <a:xfrm>
            <a:off x="2584450" y="2227262"/>
            <a:ext cx="1533525" cy="774700"/>
          </a:xfrm>
          <a:custGeom>
            <a:avLst/>
            <a:gdLst>
              <a:gd name="T0" fmla="*/ 234 w 234"/>
              <a:gd name="T1" fmla="*/ 119 h 140"/>
              <a:gd name="T2" fmla="*/ 218 w 234"/>
              <a:gd name="T3" fmla="*/ 140 h 140"/>
              <a:gd name="T4" fmla="*/ 16 w 234"/>
              <a:gd name="T5" fmla="*/ 140 h 140"/>
              <a:gd name="T6" fmla="*/ 0 w 234"/>
              <a:gd name="T7" fmla="*/ 119 h 140"/>
              <a:gd name="T8" fmla="*/ 0 w 234"/>
              <a:gd name="T9" fmla="*/ 21 h 140"/>
              <a:gd name="T10" fmla="*/ 16 w 234"/>
              <a:gd name="T11" fmla="*/ 0 h 140"/>
              <a:gd name="T12" fmla="*/ 218 w 234"/>
              <a:gd name="T13" fmla="*/ 0 h 140"/>
              <a:gd name="T14" fmla="*/ 234 w 234"/>
              <a:gd name="T15" fmla="*/ 21 h 140"/>
              <a:gd name="T16" fmla="*/ 234 w 234"/>
              <a:gd name="T17" fmla="*/ 119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4" h="140">
                <a:moveTo>
                  <a:pt x="234" y="119"/>
                </a:moveTo>
                <a:cubicBezTo>
                  <a:pt x="234" y="130"/>
                  <a:pt x="227" y="140"/>
                  <a:pt x="218" y="140"/>
                </a:cubicBezTo>
                <a:cubicBezTo>
                  <a:pt x="16" y="140"/>
                  <a:pt x="16" y="140"/>
                  <a:pt x="16" y="140"/>
                </a:cubicBezTo>
                <a:cubicBezTo>
                  <a:pt x="7" y="140"/>
                  <a:pt x="0" y="130"/>
                  <a:pt x="0" y="119"/>
                </a:cubicBezTo>
                <a:cubicBezTo>
                  <a:pt x="0" y="21"/>
                  <a:pt x="0" y="21"/>
                  <a:pt x="0" y="21"/>
                </a:cubicBezTo>
                <a:cubicBezTo>
                  <a:pt x="0" y="9"/>
                  <a:pt x="7" y="0"/>
                  <a:pt x="16" y="0"/>
                </a:cubicBezTo>
                <a:cubicBezTo>
                  <a:pt x="218" y="0"/>
                  <a:pt x="218" y="0"/>
                  <a:pt x="218" y="0"/>
                </a:cubicBezTo>
                <a:cubicBezTo>
                  <a:pt x="227" y="0"/>
                  <a:pt x="234" y="9"/>
                  <a:pt x="234" y="21"/>
                </a:cubicBezTo>
                <a:lnTo>
                  <a:pt x="234" y="119"/>
                </a:lnTo>
                <a:close/>
              </a:path>
            </a:pathLst>
          </a:custGeom>
          <a:solidFill>
            <a:srgbClr val="D6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67408" name="Freeform 112"/>
          <p:cNvSpPr>
            <a:spLocks/>
          </p:cNvSpPr>
          <p:nvPr/>
        </p:nvSpPr>
        <p:spPr bwMode="auto">
          <a:xfrm>
            <a:off x="3028950" y="2190750"/>
            <a:ext cx="1468438" cy="2828925"/>
          </a:xfrm>
          <a:custGeom>
            <a:avLst/>
            <a:gdLst>
              <a:gd name="T0" fmla="*/ 0 w 224"/>
              <a:gd name="T1" fmla="*/ 511 h 511"/>
              <a:gd name="T2" fmla="*/ 224 w 224"/>
              <a:gd name="T3" fmla="*/ 0 h 511"/>
            </a:gdLst>
            <a:ahLst/>
            <a:cxnLst>
              <a:cxn ang="0">
                <a:pos x="T0" y="T1"/>
              </a:cxn>
              <a:cxn ang="0">
                <a:pos x="T2" y="T3"/>
              </a:cxn>
            </a:cxnLst>
            <a:rect l="0" t="0" r="r" b="b"/>
            <a:pathLst>
              <a:path w="224" h="511">
                <a:moveTo>
                  <a:pt x="0" y="511"/>
                </a:moveTo>
                <a:cubicBezTo>
                  <a:pt x="63" y="422"/>
                  <a:pt x="200" y="308"/>
                  <a:pt x="224" y="0"/>
                </a:cubicBezTo>
              </a:path>
            </a:pathLst>
          </a:custGeom>
          <a:noFill/>
          <a:ln w="41275" cap="flat">
            <a:solidFill>
              <a:srgbClr val="FAC0BF"/>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567417" name="Oval 121"/>
          <p:cNvSpPr>
            <a:spLocks noChangeArrowheads="1"/>
          </p:cNvSpPr>
          <p:nvPr/>
        </p:nvSpPr>
        <p:spPr bwMode="auto">
          <a:xfrm>
            <a:off x="4425950" y="2135187"/>
            <a:ext cx="130175" cy="11112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67418" name="Oval 122"/>
          <p:cNvSpPr>
            <a:spLocks noChangeArrowheads="1"/>
          </p:cNvSpPr>
          <p:nvPr/>
        </p:nvSpPr>
        <p:spPr bwMode="auto">
          <a:xfrm>
            <a:off x="4065588" y="3559175"/>
            <a:ext cx="130175" cy="11112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67419" name="Oval 123"/>
          <p:cNvSpPr>
            <a:spLocks noChangeArrowheads="1"/>
          </p:cNvSpPr>
          <p:nvPr/>
        </p:nvSpPr>
        <p:spPr bwMode="auto">
          <a:xfrm>
            <a:off x="3776663" y="4019550"/>
            <a:ext cx="130175" cy="10953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67420" name="Oval 124"/>
          <p:cNvSpPr>
            <a:spLocks noChangeArrowheads="1"/>
          </p:cNvSpPr>
          <p:nvPr/>
        </p:nvSpPr>
        <p:spPr bwMode="auto">
          <a:xfrm>
            <a:off x="3397250" y="4489450"/>
            <a:ext cx="130175" cy="11112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67421" name="Oval 125"/>
          <p:cNvSpPr>
            <a:spLocks noChangeArrowheads="1"/>
          </p:cNvSpPr>
          <p:nvPr/>
        </p:nvSpPr>
        <p:spPr bwMode="auto">
          <a:xfrm>
            <a:off x="2962275" y="4954587"/>
            <a:ext cx="131763" cy="11112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67422" name="Oval 126"/>
          <p:cNvSpPr>
            <a:spLocks noChangeArrowheads="1"/>
          </p:cNvSpPr>
          <p:nvPr/>
        </p:nvSpPr>
        <p:spPr bwMode="auto">
          <a:xfrm>
            <a:off x="4365625" y="2624137"/>
            <a:ext cx="131763" cy="10953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67423" name="Oval 127"/>
          <p:cNvSpPr>
            <a:spLocks noChangeArrowheads="1"/>
          </p:cNvSpPr>
          <p:nvPr/>
        </p:nvSpPr>
        <p:spPr bwMode="auto">
          <a:xfrm>
            <a:off x="4249738" y="3082925"/>
            <a:ext cx="130175" cy="11112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67424" name="Line 128"/>
          <p:cNvSpPr>
            <a:spLocks noChangeShapeType="1"/>
          </p:cNvSpPr>
          <p:nvPr/>
        </p:nvSpPr>
        <p:spPr bwMode="auto">
          <a:xfrm flipV="1">
            <a:off x="2033588" y="5126037"/>
            <a:ext cx="130175" cy="66675"/>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67425" name="Line 129"/>
          <p:cNvSpPr>
            <a:spLocks noChangeShapeType="1"/>
          </p:cNvSpPr>
          <p:nvPr/>
        </p:nvSpPr>
        <p:spPr bwMode="auto">
          <a:xfrm flipV="1">
            <a:off x="2033588" y="5214937"/>
            <a:ext cx="130175" cy="66675"/>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67426" name="Line 130"/>
          <p:cNvSpPr>
            <a:spLocks noChangeShapeType="1"/>
          </p:cNvSpPr>
          <p:nvPr/>
        </p:nvSpPr>
        <p:spPr bwMode="auto">
          <a:xfrm flipH="1">
            <a:off x="2247900" y="5324475"/>
            <a:ext cx="79375" cy="117475"/>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67427" name="Line 131"/>
          <p:cNvSpPr>
            <a:spLocks noChangeShapeType="1"/>
          </p:cNvSpPr>
          <p:nvPr/>
        </p:nvSpPr>
        <p:spPr bwMode="auto">
          <a:xfrm flipH="1">
            <a:off x="2354263" y="5324475"/>
            <a:ext cx="77787" cy="117475"/>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67428" name="Line 132"/>
          <p:cNvSpPr>
            <a:spLocks noChangeShapeType="1"/>
          </p:cNvSpPr>
          <p:nvPr/>
        </p:nvSpPr>
        <p:spPr bwMode="auto">
          <a:xfrm>
            <a:off x="4491038" y="2933700"/>
            <a:ext cx="452437" cy="0"/>
          </a:xfrm>
          <a:prstGeom prst="line">
            <a:avLst/>
          </a:prstGeom>
          <a:noFill/>
          <a:ln w="412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67429" name="Freeform 133"/>
          <p:cNvSpPr>
            <a:spLocks/>
          </p:cNvSpPr>
          <p:nvPr/>
        </p:nvSpPr>
        <p:spPr bwMode="auto">
          <a:xfrm>
            <a:off x="4892675" y="2873375"/>
            <a:ext cx="228600" cy="120650"/>
          </a:xfrm>
          <a:custGeom>
            <a:avLst/>
            <a:gdLst>
              <a:gd name="T0" fmla="*/ 7 w 35"/>
              <a:gd name="T1" fmla="*/ 11 h 22"/>
              <a:gd name="T2" fmla="*/ 0 w 35"/>
              <a:gd name="T3" fmla="*/ 1 h 22"/>
              <a:gd name="T4" fmla="*/ 1 w 35"/>
              <a:gd name="T5" fmla="*/ 0 h 22"/>
              <a:gd name="T6" fmla="*/ 18 w 35"/>
              <a:gd name="T7" fmla="*/ 7 h 22"/>
              <a:gd name="T8" fmla="*/ 35 w 35"/>
              <a:gd name="T9" fmla="*/ 11 h 22"/>
              <a:gd name="T10" fmla="*/ 18 w 35"/>
              <a:gd name="T11" fmla="*/ 15 h 22"/>
              <a:gd name="T12" fmla="*/ 1 w 35"/>
              <a:gd name="T13" fmla="*/ 22 h 22"/>
              <a:gd name="T14" fmla="*/ 0 w 35"/>
              <a:gd name="T15" fmla="*/ 22 h 22"/>
              <a:gd name="T16" fmla="*/ 7 w 35"/>
              <a:gd name="T17" fmla="*/ 1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22">
                <a:moveTo>
                  <a:pt x="7" y="11"/>
                </a:moveTo>
                <a:cubicBezTo>
                  <a:pt x="0" y="1"/>
                  <a:pt x="0" y="1"/>
                  <a:pt x="0" y="1"/>
                </a:cubicBezTo>
                <a:cubicBezTo>
                  <a:pt x="1" y="0"/>
                  <a:pt x="1" y="0"/>
                  <a:pt x="1" y="0"/>
                </a:cubicBezTo>
                <a:cubicBezTo>
                  <a:pt x="18" y="7"/>
                  <a:pt x="18" y="7"/>
                  <a:pt x="18" y="7"/>
                </a:cubicBezTo>
                <a:cubicBezTo>
                  <a:pt x="24" y="8"/>
                  <a:pt x="29" y="10"/>
                  <a:pt x="35" y="11"/>
                </a:cubicBezTo>
                <a:cubicBezTo>
                  <a:pt x="29" y="12"/>
                  <a:pt x="24" y="14"/>
                  <a:pt x="18" y="15"/>
                </a:cubicBezTo>
                <a:cubicBezTo>
                  <a:pt x="1" y="22"/>
                  <a:pt x="1" y="22"/>
                  <a:pt x="1" y="22"/>
                </a:cubicBezTo>
                <a:cubicBezTo>
                  <a:pt x="0" y="22"/>
                  <a:pt x="0" y="22"/>
                  <a:pt x="0" y="22"/>
                </a:cubicBezTo>
                <a:lnTo>
                  <a:pt x="7"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67430" name="Rectangle 134"/>
          <p:cNvSpPr>
            <a:spLocks noChangeArrowheads="1"/>
          </p:cNvSpPr>
          <p:nvPr/>
        </p:nvSpPr>
        <p:spPr bwMode="auto">
          <a:xfrm>
            <a:off x="4413250" y="1831975"/>
            <a:ext cx="12022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dirty="0">
                <a:solidFill>
                  <a:srgbClr val="000000"/>
                </a:solidFill>
                <a:latin typeface="Century Gothic"/>
                <a:cs typeface="Century Gothic"/>
              </a:rPr>
              <a:t>S</a:t>
            </a:r>
            <a:endParaRPr lang="en-US" sz="1400" i="1" dirty="0">
              <a:latin typeface="Century Gothic"/>
              <a:cs typeface="Century Gothic"/>
            </a:endParaRPr>
          </a:p>
        </p:txBody>
      </p:sp>
      <p:sp>
        <p:nvSpPr>
          <p:cNvPr id="567431" name="Rectangle 135"/>
          <p:cNvSpPr>
            <a:spLocks noChangeArrowheads="1"/>
          </p:cNvSpPr>
          <p:nvPr/>
        </p:nvSpPr>
        <p:spPr bwMode="auto">
          <a:xfrm>
            <a:off x="4541838" y="1936750"/>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a:t>
            </a:r>
            <a:endParaRPr lang="en-US" sz="1400">
              <a:latin typeface="Century Gothic"/>
              <a:cs typeface="Century Gothic"/>
            </a:endParaRPr>
          </a:p>
        </p:txBody>
      </p:sp>
      <p:grpSp>
        <p:nvGrpSpPr>
          <p:cNvPr id="567441" name="Group 145"/>
          <p:cNvGrpSpPr>
            <a:grpSpLocks/>
          </p:cNvGrpSpPr>
          <p:nvPr/>
        </p:nvGrpSpPr>
        <p:grpSpPr bwMode="auto">
          <a:xfrm>
            <a:off x="3573463" y="1831975"/>
            <a:ext cx="1992312" cy="3238500"/>
            <a:chOff x="3451" y="903"/>
            <a:chExt cx="1255" cy="2040"/>
          </a:xfrm>
        </p:grpSpPr>
        <p:sp>
          <p:nvSpPr>
            <p:cNvPr id="567432" name="Rectangle 136"/>
            <p:cNvSpPr>
              <a:spLocks noChangeArrowheads="1"/>
            </p:cNvSpPr>
            <p:nvPr/>
          </p:nvSpPr>
          <p:spPr bwMode="auto">
            <a:xfrm>
              <a:off x="4504" y="903"/>
              <a:ext cx="7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dirty="0">
                  <a:solidFill>
                    <a:srgbClr val="000000"/>
                  </a:solidFill>
                  <a:latin typeface="Century Gothic"/>
                  <a:cs typeface="Century Gothic"/>
                </a:rPr>
                <a:t>S</a:t>
              </a:r>
              <a:endParaRPr lang="en-US" sz="1400" i="1" dirty="0">
                <a:latin typeface="Century Gothic"/>
                <a:cs typeface="Century Gothic"/>
              </a:endParaRPr>
            </a:p>
          </p:txBody>
        </p:sp>
        <p:grpSp>
          <p:nvGrpSpPr>
            <p:cNvPr id="567440" name="Group 144"/>
            <p:cNvGrpSpPr>
              <a:grpSpLocks/>
            </p:cNvGrpSpPr>
            <p:nvPr/>
          </p:nvGrpSpPr>
          <p:grpSpPr bwMode="auto">
            <a:xfrm>
              <a:off x="3451" y="969"/>
              <a:ext cx="1255" cy="1974"/>
              <a:chOff x="3451" y="969"/>
              <a:chExt cx="1255" cy="1974"/>
            </a:xfrm>
          </p:grpSpPr>
          <p:sp>
            <p:nvSpPr>
              <p:cNvPr id="567409" name="Freeform 113"/>
              <p:cNvSpPr>
                <a:spLocks/>
              </p:cNvSpPr>
              <p:nvPr/>
            </p:nvSpPr>
            <p:spPr bwMode="auto">
              <a:xfrm>
                <a:off x="3496" y="1118"/>
                <a:ext cx="1210" cy="1787"/>
              </a:xfrm>
              <a:custGeom>
                <a:avLst/>
                <a:gdLst>
                  <a:gd name="T0" fmla="*/ 258 w 293"/>
                  <a:gd name="T1" fmla="*/ 0 h 512"/>
                  <a:gd name="T2" fmla="*/ 0 w 293"/>
                  <a:gd name="T3" fmla="*/ 512 h 512"/>
                </a:gdLst>
                <a:ahLst/>
                <a:cxnLst>
                  <a:cxn ang="0">
                    <a:pos x="T0" y="T1"/>
                  </a:cxn>
                  <a:cxn ang="0">
                    <a:pos x="T2" y="T3"/>
                  </a:cxn>
                </a:cxnLst>
                <a:rect l="0" t="0" r="r" b="b"/>
                <a:pathLst>
                  <a:path w="293" h="512">
                    <a:moveTo>
                      <a:pt x="258" y="0"/>
                    </a:moveTo>
                    <a:cubicBezTo>
                      <a:pt x="258" y="0"/>
                      <a:pt x="293" y="220"/>
                      <a:pt x="0" y="512"/>
                    </a:cubicBezTo>
                  </a:path>
                </a:pathLst>
              </a:custGeom>
              <a:noFill/>
              <a:ln w="41275" cap="flat">
                <a:solidFill>
                  <a:srgbClr val="EE313C"/>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567410" name="Oval 114"/>
              <p:cNvSpPr>
                <a:spLocks noChangeArrowheads="1"/>
              </p:cNvSpPr>
              <p:nvPr/>
            </p:nvSpPr>
            <p:spPr bwMode="auto">
              <a:xfrm>
                <a:off x="4530" y="1091"/>
                <a:ext cx="82" cy="7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67411" name="Oval 115"/>
              <p:cNvSpPr>
                <a:spLocks noChangeArrowheads="1"/>
              </p:cNvSpPr>
              <p:nvPr/>
            </p:nvSpPr>
            <p:spPr bwMode="auto">
              <a:xfrm>
                <a:off x="4496" y="1402"/>
                <a:ext cx="83" cy="6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67412" name="Oval 116"/>
              <p:cNvSpPr>
                <a:spLocks noChangeArrowheads="1"/>
              </p:cNvSpPr>
              <p:nvPr/>
            </p:nvSpPr>
            <p:spPr bwMode="auto">
              <a:xfrm>
                <a:off x="4401" y="1698"/>
                <a:ext cx="82" cy="7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67413" name="Oval 117"/>
              <p:cNvSpPr>
                <a:spLocks noChangeArrowheads="1"/>
              </p:cNvSpPr>
              <p:nvPr/>
            </p:nvSpPr>
            <p:spPr bwMode="auto">
              <a:xfrm>
                <a:off x="4248" y="1991"/>
                <a:ext cx="83" cy="7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67414" name="Oval 118"/>
              <p:cNvSpPr>
                <a:spLocks noChangeArrowheads="1"/>
              </p:cNvSpPr>
              <p:nvPr/>
            </p:nvSpPr>
            <p:spPr bwMode="auto">
              <a:xfrm>
                <a:off x="4050" y="2284"/>
                <a:ext cx="82" cy="7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67415" name="Oval 119"/>
              <p:cNvSpPr>
                <a:spLocks noChangeArrowheads="1"/>
              </p:cNvSpPr>
              <p:nvPr/>
            </p:nvSpPr>
            <p:spPr bwMode="auto">
              <a:xfrm>
                <a:off x="3781" y="2574"/>
                <a:ext cx="83" cy="7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67416" name="Oval 120"/>
              <p:cNvSpPr>
                <a:spLocks noChangeArrowheads="1"/>
              </p:cNvSpPr>
              <p:nvPr/>
            </p:nvSpPr>
            <p:spPr bwMode="auto">
              <a:xfrm>
                <a:off x="3451" y="2873"/>
                <a:ext cx="82" cy="7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67433" name="Rectangle 137"/>
              <p:cNvSpPr>
                <a:spLocks noChangeArrowheads="1"/>
              </p:cNvSpPr>
              <p:nvPr/>
            </p:nvSpPr>
            <p:spPr bwMode="auto">
              <a:xfrm>
                <a:off x="4586" y="969"/>
                <a:ext cx="6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2</a:t>
                </a:r>
                <a:endParaRPr lang="en-US" sz="1400">
                  <a:latin typeface="Century Gothic"/>
                  <a:cs typeface="Century Gothic"/>
                </a:endParaRPr>
              </a:p>
            </p:txBody>
          </p:sp>
        </p:grpSp>
      </p:grpSp>
      <p:sp>
        <p:nvSpPr>
          <p:cNvPr id="548930" name="TextBox 29"/>
          <p:cNvSpPr txBox="1">
            <a:spLocks noChangeArrowheads="1"/>
          </p:cNvSpPr>
          <p:nvPr/>
        </p:nvSpPr>
        <p:spPr bwMode="auto">
          <a:xfrm>
            <a:off x="533400" y="1236662"/>
            <a:ext cx="147478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400">
                <a:latin typeface="Century Gothic"/>
                <a:ea typeface="MS PGothic" pitchFamily="34" charset="-128"/>
                <a:cs typeface="Century Gothic"/>
              </a:rPr>
              <a:t>Price of coffee beans (per pound)</a:t>
            </a:r>
          </a:p>
        </p:txBody>
      </p:sp>
      <p:sp>
        <p:nvSpPr>
          <p:cNvPr id="548931" name="TextBox 30"/>
          <p:cNvSpPr txBox="1">
            <a:spLocks noChangeArrowheads="1"/>
          </p:cNvSpPr>
          <p:nvPr/>
        </p:nvSpPr>
        <p:spPr bwMode="auto">
          <a:xfrm>
            <a:off x="4073525" y="5740400"/>
            <a:ext cx="25558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400">
                <a:latin typeface="Century Gothic"/>
                <a:ea typeface="MS PGothic" pitchFamily="34" charset="-128"/>
                <a:cs typeface="Century Gothic"/>
              </a:rPr>
              <a:t>Quantity of coffee beans (billions of pounds)</a:t>
            </a:r>
          </a:p>
        </p:txBody>
      </p:sp>
      <p:sp>
        <p:nvSpPr>
          <p:cNvPr id="567436" name="TextBox 56"/>
          <p:cNvSpPr txBox="1">
            <a:spLocks noChangeArrowheads="1"/>
          </p:cNvSpPr>
          <p:nvPr/>
        </p:nvSpPr>
        <p:spPr bwMode="auto">
          <a:xfrm>
            <a:off x="4876800" y="4235960"/>
            <a:ext cx="147478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spcBef>
                <a:spcPct val="50000"/>
              </a:spcBef>
            </a:pPr>
            <a:r>
              <a:rPr lang="en-US" sz="1400" dirty="0">
                <a:solidFill>
                  <a:schemeClr val="tx1">
                    <a:lumMod val="75000"/>
                    <a:lumOff val="25000"/>
                  </a:schemeClr>
                </a:solidFill>
                <a:latin typeface="Century Gothic"/>
                <a:ea typeface="MS PGothic" pitchFamily="34" charset="-128"/>
                <a:cs typeface="Century Gothic"/>
              </a:rPr>
              <a:t>… is not the same thing as a shift of the supply curve.</a:t>
            </a:r>
          </a:p>
        </p:txBody>
      </p:sp>
      <p:sp>
        <p:nvSpPr>
          <p:cNvPr id="567437" name="TextBox 56"/>
          <p:cNvSpPr txBox="1">
            <a:spLocks noChangeArrowheads="1"/>
          </p:cNvSpPr>
          <p:nvPr/>
        </p:nvSpPr>
        <p:spPr bwMode="auto">
          <a:xfrm>
            <a:off x="2607731" y="2252660"/>
            <a:ext cx="147478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spcBef>
                <a:spcPct val="50000"/>
              </a:spcBef>
            </a:pPr>
            <a:r>
              <a:rPr lang="en-US" sz="1400" dirty="0">
                <a:solidFill>
                  <a:schemeClr val="tx1">
                    <a:lumMod val="75000"/>
                    <a:lumOff val="25000"/>
                  </a:schemeClr>
                </a:solidFill>
                <a:latin typeface="Century Gothic"/>
                <a:ea typeface="MS PGothic" pitchFamily="34" charset="-128"/>
                <a:cs typeface="Century Gothic"/>
              </a:rPr>
              <a:t>A movement along the supply curve…</a:t>
            </a:r>
          </a:p>
        </p:txBody>
      </p:sp>
      <p:sp>
        <p:nvSpPr>
          <p:cNvPr id="4" name="Oval 3"/>
          <p:cNvSpPr/>
          <p:nvPr/>
        </p:nvSpPr>
        <p:spPr>
          <a:xfrm>
            <a:off x="3703638" y="3962400"/>
            <a:ext cx="274320" cy="274320"/>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entury Gothic"/>
              <a:cs typeface="Century Gothic"/>
            </a:endParaRPr>
          </a:p>
        </p:txBody>
      </p:sp>
      <p:sp>
        <p:nvSpPr>
          <p:cNvPr id="74" name="Oval 73"/>
          <p:cNvSpPr/>
          <p:nvPr/>
        </p:nvSpPr>
        <p:spPr>
          <a:xfrm>
            <a:off x="3992880" y="3479802"/>
            <a:ext cx="274320" cy="274320"/>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entury Gothic"/>
              <a:cs typeface="Century Gothic"/>
            </a:endParaRPr>
          </a:p>
        </p:txBody>
      </p:sp>
      <p:sp>
        <p:nvSpPr>
          <p:cNvPr id="75" name="Oval 74"/>
          <p:cNvSpPr/>
          <p:nvPr/>
        </p:nvSpPr>
        <p:spPr>
          <a:xfrm>
            <a:off x="4163219" y="3012440"/>
            <a:ext cx="274320" cy="274320"/>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entury Gothic"/>
              <a:cs typeface="Century Gothic"/>
            </a:endParaRPr>
          </a:p>
        </p:txBody>
      </p:sp>
    </p:spTree>
    <p:extLst>
      <p:ext uri="{BB962C8B-B14F-4D97-AF65-F5344CB8AC3E}">
        <p14:creationId xmlns:p14="http://schemas.microsoft.com/office/powerpoint/2010/main" val="32986624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7387"/>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567365"/>
                                        </p:tgtEl>
                                        <p:attrNameLst>
                                          <p:attrName>style.visibility</p:attrName>
                                        </p:attrNameLst>
                                      </p:cBhvr>
                                      <p:to>
                                        <p:strVal val="visible"/>
                                      </p:to>
                                    </p:set>
                                    <p:animEffect transition="in" filter="fade">
                                      <p:cBhvr>
                                        <p:cTn id="9" dur="500"/>
                                        <p:tgtEl>
                                          <p:spTgt spid="567365"/>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567437"/>
                                        </p:tgtEl>
                                        <p:attrNameLst>
                                          <p:attrName>style.visibility</p:attrName>
                                        </p:attrNameLst>
                                      </p:cBhvr>
                                      <p:to>
                                        <p:strVal val="visible"/>
                                      </p:to>
                                    </p:set>
                                    <p:animEffect transition="in" filter="fade">
                                      <p:cBhvr>
                                        <p:cTn id="12" dur="500"/>
                                        <p:tgtEl>
                                          <p:spTgt spid="567437"/>
                                        </p:tgtEl>
                                      </p:cBhvr>
                                    </p:animEffect>
                                  </p:childTnLst>
                                </p:cTn>
                              </p:par>
                            </p:childTnLst>
                          </p:cTn>
                        </p:par>
                        <p:par>
                          <p:cTn id="13" fill="hold" nodeType="withGroup">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par>
                          <p:cTn id="17" fill="hold">
                            <p:stCondLst>
                              <p:cond delay="1000"/>
                            </p:stCondLst>
                            <p:childTnLst>
                              <p:par>
                                <p:cTn id="18" presetID="10" presetClass="exit" presetSubtype="0" fill="hold" grpId="1" nodeType="afterEffect">
                                  <p:stCondLst>
                                    <p:cond delay="0"/>
                                  </p:stCondLst>
                                  <p:childTnLst>
                                    <p:animEffect transition="out" filter="fade">
                                      <p:cBhvr>
                                        <p:cTn id="19" dur="500"/>
                                        <p:tgtEl>
                                          <p:spTgt spid="4"/>
                                        </p:tgtEl>
                                      </p:cBhvr>
                                    </p:animEffect>
                                    <p:set>
                                      <p:cBhvr>
                                        <p:cTn id="20" dur="1" fill="hold">
                                          <p:stCondLst>
                                            <p:cond delay="499"/>
                                          </p:stCondLst>
                                        </p:cTn>
                                        <p:tgtEl>
                                          <p:spTgt spid="4"/>
                                        </p:tgtEl>
                                        <p:attrNameLst>
                                          <p:attrName>style.visibility</p:attrName>
                                        </p:attrNameLst>
                                      </p:cBhvr>
                                      <p:to>
                                        <p:strVal val="hidden"/>
                                      </p:to>
                                    </p:set>
                                  </p:childTnLst>
                                </p:cTn>
                              </p:par>
                            </p:childTnLst>
                          </p:cTn>
                        </p:par>
                        <p:par>
                          <p:cTn id="21" fill="hold">
                            <p:stCondLst>
                              <p:cond delay="1500"/>
                            </p:stCondLst>
                            <p:childTnLst>
                              <p:par>
                                <p:cTn id="22" presetID="10" presetClass="entr" presetSubtype="0" fill="hold" grpId="0" nodeType="afterEffect">
                                  <p:stCondLst>
                                    <p:cond delay="0"/>
                                  </p:stCondLst>
                                  <p:childTnLst>
                                    <p:set>
                                      <p:cBhvr>
                                        <p:cTn id="23" dur="1" fill="hold">
                                          <p:stCondLst>
                                            <p:cond delay="0"/>
                                          </p:stCondLst>
                                        </p:cTn>
                                        <p:tgtEl>
                                          <p:spTgt spid="74"/>
                                        </p:tgtEl>
                                        <p:attrNameLst>
                                          <p:attrName>style.visibility</p:attrName>
                                        </p:attrNameLst>
                                      </p:cBhvr>
                                      <p:to>
                                        <p:strVal val="visible"/>
                                      </p:to>
                                    </p:set>
                                    <p:animEffect transition="in" filter="fade">
                                      <p:cBhvr>
                                        <p:cTn id="24" dur="500"/>
                                        <p:tgtEl>
                                          <p:spTgt spid="74"/>
                                        </p:tgtEl>
                                      </p:cBhvr>
                                    </p:animEffect>
                                  </p:childTnLst>
                                </p:cTn>
                              </p:par>
                            </p:childTnLst>
                          </p:cTn>
                        </p:par>
                        <p:par>
                          <p:cTn id="25" fill="hold">
                            <p:stCondLst>
                              <p:cond delay="2000"/>
                            </p:stCondLst>
                            <p:childTnLst>
                              <p:par>
                                <p:cTn id="26" presetID="10" presetClass="exit" presetSubtype="0" fill="hold" grpId="1" nodeType="afterEffect">
                                  <p:stCondLst>
                                    <p:cond delay="0"/>
                                  </p:stCondLst>
                                  <p:childTnLst>
                                    <p:animEffect transition="out" filter="fade">
                                      <p:cBhvr>
                                        <p:cTn id="27" dur="500"/>
                                        <p:tgtEl>
                                          <p:spTgt spid="74"/>
                                        </p:tgtEl>
                                      </p:cBhvr>
                                    </p:animEffect>
                                    <p:set>
                                      <p:cBhvr>
                                        <p:cTn id="28" dur="1" fill="hold">
                                          <p:stCondLst>
                                            <p:cond delay="499"/>
                                          </p:stCondLst>
                                        </p:cTn>
                                        <p:tgtEl>
                                          <p:spTgt spid="74"/>
                                        </p:tgtEl>
                                        <p:attrNameLst>
                                          <p:attrName>style.visibility</p:attrName>
                                        </p:attrNameLst>
                                      </p:cBhvr>
                                      <p:to>
                                        <p:strVal val="hidden"/>
                                      </p:to>
                                    </p:set>
                                  </p:childTnLst>
                                </p:cTn>
                              </p:par>
                            </p:childTnLst>
                          </p:cTn>
                        </p:par>
                        <p:par>
                          <p:cTn id="29" fill="hold">
                            <p:stCondLst>
                              <p:cond delay="2500"/>
                            </p:stCondLst>
                            <p:childTnLst>
                              <p:par>
                                <p:cTn id="30" presetID="10" presetClass="entr" presetSubtype="0" fill="hold" grpId="0" nodeType="afterEffect">
                                  <p:stCondLst>
                                    <p:cond delay="0"/>
                                  </p:stCondLst>
                                  <p:childTnLst>
                                    <p:set>
                                      <p:cBhvr>
                                        <p:cTn id="31" dur="1" fill="hold">
                                          <p:stCondLst>
                                            <p:cond delay="0"/>
                                          </p:stCondLst>
                                        </p:cTn>
                                        <p:tgtEl>
                                          <p:spTgt spid="75"/>
                                        </p:tgtEl>
                                        <p:attrNameLst>
                                          <p:attrName>style.visibility</p:attrName>
                                        </p:attrNameLst>
                                      </p:cBhvr>
                                      <p:to>
                                        <p:strVal val="visible"/>
                                      </p:to>
                                    </p:set>
                                    <p:animEffect transition="in" filter="fade">
                                      <p:cBhvr>
                                        <p:cTn id="32" dur="500"/>
                                        <p:tgtEl>
                                          <p:spTgt spid="75"/>
                                        </p:tgtEl>
                                      </p:cBhvr>
                                    </p:animEffect>
                                  </p:childTnLst>
                                </p:cTn>
                              </p:par>
                            </p:childTnLst>
                          </p:cTn>
                        </p:par>
                        <p:par>
                          <p:cTn id="33" fill="hold">
                            <p:stCondLst>
                              <p:cond delay="3000"/>
                            </p:stCondLst>
                            <p:childTnLst>
                              <p:par>
                                <p:cTn id="34" presetID="10" presetClass="exit" presetSubtype="0" fill="hold" grpId="1" nodeType="afterEffect">
                                  <p:stCondLst>
                                    <p:cond delay="0"/>
                                  </p:stCondLst>
                                  <p:childTnLst>
                                    <p:animEffect transition="out" filter="fade">
                                      <p:cBhvr>
                                        <p:cTn id="35" dur="500"/>
                                        <p:tgtEl>
                                          <p:spTgt spid="75"/>
                                        </p:tgtEl>
                                      </p:cBhvr>
                                    </p:animEffect>
                                    <p:set>
                                      <p:cBhvr>
                                        <p:cTn id="36" dur="1" fill="hold">
                                          <p:stCondLst>
                                            <p:cond delay="499"/>
                                          </p:stCondLst>
                                        </p:cTn>
                                        <p:tgtEl>
                                          <p:spTgt spid="75"/>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67367"/>
                                        </p:tgtEl>
                                        <p:attrNameLst>
                                          <p:attrName>style.visibility</p:attrName>
                                        </p:attrNameLst>
                                      </p:cBhvr>
                                      <p:to>
                                        <p:strVal val="visible"/>
                                      </p:to>
                                    </p:set>
                                  </p:childTnLst>
                                </p:cTn>
                              </p:par>
                              <p:par>
                                <p:cTn id="41" presetID="10" presetClass="entr" presetSubtype="0" fill="hold" grpId="0" nodeType="withEffect">
                                  <p:stCondLst>
                                    <p:cond delay="0"/>
                                  </p:stCondLst>
                                  <p:childTnLst>
                                    <p:set>
                                      <p:cBhvr>
                                        <p:cTn id="42" dur="1" fill="hold">
                                          <p:stCondLst>
                                            <p:cond delay="0"/>
                                          </p:stCondLst>
                                        </p:cTn>
                                        <p:tgtEl>
                                          <p:spTgt spid="567436"/>
                                        </p:tgtEl>
                                        <p:attrNameLst>
                                          <p:attrName>style.visibility</p:attrName>
                                        </p:attrNameLst>
                                      </p:cBhvr>
                                      <p:to>
                                        <p:strVal val="visible"/>
                                      </p:to>
                                    </p:set>
                                    <p:animEffect transition="in" filter="fade">
                                      <p:cBhvr>
                                        <p:cTn id="43" dur="500"/>
                                        <p:tgtEl>
                                          <p:spTgt spid="567436"/>
                                        </p:tgtEl>
                                      </p:cBhvr>
                                    </p:animEffect>
                                  </p:childTnLst>
                                </p:cTn>
                              </p:par>
                            </p:childTnLst>
                          </p:cTn>
                        </p:par>
                        <p:par>
                          <p:cTn id="44" fill="hold">
                            <p:stCondLst>
                              <p:cond delay="500"/>
                            </p:stCondLst>
                            <p:childTnLst>
                              <p:par>
                                <p:cTn id="45" presetID="22" presetClass="entr" presetSubtype="8" fill="hold" nodeType="afterEffect">
                                  <p:stCondLst>
                                    <p:cond delay="0"/>
                                  </p:stCondLst>
                                  <p:childTnLst>
                                    <p:set>
                                      <p:cBhvr>
                                        <p:cTn id="46" dur="1" fill="hold">
                                          <p:stCondLst>
                                            <p:cond delay="0"/>
                                          </p:stCondLst>
                                        </p:cTn>
                                        <p:tgtEl>
                                          <p:spTgt spid="567441"/>
                                        </p:tgtEl>
                                        <p:attrNameLst>
                                          <p:attrName>style.visibility</p:attrName>
                                        </p:attrNameLst>
                                      </p:cBhvr>
                                      <p:to>
                                        <p:strVal val="visible"/>
                                      </p:to>
                                    </p:set>
                                    <p:animEffect transition="in" filter="wipe(left)">
                                      <p:cBhvr>
                                        <p:cTn id="47" dur="500"/>
                                        <p:tgtEl>
                                          <p:spTgt spid="567441"/>
                                        </p:tgtEl>
                                      </p:cBhvr>
                                    </p:animEffect>
                                  </p:childTnLst>
                                </p:cTn>
                              </p:par>
                            </p:childTnLst>
                          </p:cTn>
                        </p:par>
                        <p:par>
                          <p:cTn id="48" fill="hold">
                            <p:stCondLst>
                              <p:cond delay="1000"/>
                            </p:stCondLst>
                            <p:childTnLst>
                              <p:par>
                                <p:cTn id="49" presetID="10" presetClass="entr" presetSubtype="0" fill="hold" grpId="0" nodeType="afterEffect">
                                  <p:stCondLst>
                                    <p:cond delay="0"/>
                                  </p:stCondLst>
                                  <p:childTnLst>
                                    <p:set>
                                      <p:cBhvr>
                                        <p:cTn id="50" dur="1" fill="hold">
                                          <p:stCondLst>
                                            <p:cond delay="0"/>
                                          </p:stCondLst>
                                        </p:cTn>
                                        <p:tgtEl>
                                          <p:spTgt spid="567366"/>
                                        </p:tgtEl>
                                        <p:attrNameLst>
                                          <p:attrName>style.visibility</p:attrName>
                                        </p:attrNameLst>
                                      </p:cBhvr>
                                      <p:to>
                                        <p:strVal val="visible"/>
                                      </p:to>
                                    </p:set>
                                    <p:animEffect transition="in" filter="fade">
                                      <p:cBhvr>
                                        <p:cTn id="51" dur="500"/>
                                        <p:tgtEl>
                                          <p:spTgt spid="56736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567428"/>
                                        </p:tgtEl>
                                        <p:attrNameLst>
                                          <p:attrName>style.visibility</p:attrName>
                                        </p:attrNameLst>
                                      </p:cBhvr>
                                      <p:to>
                                        <p:strVal val="visible"/>
                                      </p:to>
                                    </p:set>
                                    <p:animEffect transition="in" filter="fade">
                                      <p:cBhvr>
                                        <p:cTn id="54" dur="500"/>
                                        <p:tgtEl>
                                          <p:spTgt spid="56742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567429"/>
                                        </p:tgtEl>
                                        <p:attrNameLst>
                                          <p:attrName>style.visibility</p:attrName>
                                        </p:attrNameLst>
                                      </p:cBhvr>
                                      <p:to>
                                        <p:strVal val="visible"/>
                                      </p:to>
                                    </p:set>
                                    <p:animEffect transition="in" filter="fade">
                                      <p:cBhvr>
                                        <p:cTn id="57" dur="500"/>
                                        <p:tgtEl>
                                          <p:spTgt spid="5674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7365" grpId="0" animBg="1"/>
      <p:bldP spid="567366" grpId="0" animBg="1"/>
      <p:bldP spid="567367" grpId="0" animBg="1"/>
      <p:bldP spid="567387" grpId="0" animBg="1"/>
      <p:bldP spid="567428" grpId="0" animBg="1"/>
      <p:bldP spid="567429" grpId="0" animBg="1"/>
      <p:bldP spid="567436" grpId="0"/>
      <p:bldP spid="567437" grpId="0"/>
      <p:bldP spid="4" grpId="0" animBg="1"/>
      <p:bldP spid="4" grpId="1" animBg="1"/>
      <p:bldP spid="74" grpId="0" animBg="1"/>
      <p:bldP spid="74" grpId="1" animBg="1"/>
      <p:bldP spid="75" grpId="0" animBg="1"/>
      <p:bldP spid="75" grpId="1"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9106" name="Rectangle 2"/>
          <p:cNvSpPr>
            <a:spLocks noChangeAspect="1" noChangeArrowheads="1"/>
          </p:cNvSpPr>
          <p:nvPr/>
        </p:nvSpPr>
        <p:spPr bwMode="auto">
          <a:xfrm>
            <a:off x="5715000" y="1106488"/>
            <a:ext cx="3429000" cy="1600200"/>
          </a:xfrm>
          <a:prstGeom prst="rect">
            <a:avLst/>
          </a:prstGeom>
          <a:noFill/>
          <a:ln>
            <a:noFill/>
          </a:ln>
          <a:effectLst/>
        </p:spPr>
        <p:txBody>
          <a:bodyPr/>
          <a:lstStyle/>
          <a:p>
            <a:pPr marL="115888" lvl="1">
              <a:lnSpc>
                <a:spcPct val="100000"/>
              </a:lnSpc>
              <a:spcBef>
                <a:spcPct val="20000"/>
              </a:spcBef>
              <a:buClr>
                <a:schemeClr val="tx1"/>
              </a:buClr>
            </a:pPr>
            <a:r>
              <a:rPr lang="en-US" sz="2400" dirty="0">
                <a:latin typeface="Century Gothic"/>
                <a:cs typeface="Century Gothic"/>
              </a:rPr>
              <a:t>An </a:t>
            </a:r>
            <a:r>
              <a:rPr lang="en-US" sz="2400" dirty="0">
                <a:solidFill>
                  <a:srgbClr val="990033"/>
                </a:solidFill>
                <a:latin typeface="Century Gothic"/>
                <a:cs typeface="Century Gothic"/>
              </a:rPr>
              <a:t>i</a:t>
            </a:r>
            <a:r>
              <a:rPr lang="en-US" sz="2400" b="1" dirty="0">
                <a:solidFill>
                  <a:srgbClr val="990033"/>
                </a:solidFill>
                <a:latin typeface="Century Gothic"/>
                <a:cs typeface="Century Gothic"/>
              </a:rPr>
              <a:t>ncrease in supply</a:t>
            </a:r>
            <a:r>
              <a:rPr lang="en-US" sz="2400" dirty="0">
                <a:solidFill>
                  <a:srgbClr val="990033"/>
                </a:solidFill>
                <a:latin typeface="Century Gothic"/>
                <a:cs typeface="Century Gothic"/>
              </a:rPr>
              <a:t> </a:t>
            </a:r>
            <a:r>
              <a:rPr lang="en-US" sz="2400" dirty="0">
                <a:latin typeface="Century Gothic"/>
                <a:cs typeface="Century Gothic"/>
              </a:rPr>
              <a:t>means a </a:t>
            </a:r>
            <a:r>
              <a:rPr lang="en-US" sz="2400" i="1" dirty="0">
                <a:latin typeface="Century Gothic"/>
                <a:cs typeface="Century Gothic"/>
              </a:rPr>
              <a:t>rightward</a:t>
            </a:r>
            <a:r>
              <a:rPr lang="en-US" sz="2400" dirty="0">
                <a:latin typeface="Century Gothic"/>
                <a:cs typeface="Century Gothic"/>
              </a:rPr>
              <a:t> shift of the supply curve.</a:t>
            </a:r>
          </a:p>
        </p:txBody>
      </p:sp>
      <p:sp>
        <p:nvSpPr>
          <p:cNvPr id="559107" name="Rectangle 3"/>
          <p:cNvSpPr>
            <a:spLocks noGrp="1" noRot="1" noChangeArrowheads="1"/>
          </p:cNvSpPr>
          <p:nvPr>
            <p:ph type="title"/>
          </p:nvPr>
        </p:nvSpPr>
        <p:spPr/>
        <p:txBody>
          <a:bodyPr>
            <a:normAutofit/>
          </a:bodyPr>
          <a:lstStyle/>
          <a:p>
            <a:r>
              <a:rPr lang="en-US" sz="3600" dirty="0"/>
              <a:t>SHIFTS OF THE SUPPLY CURVE</a:t>
            </a:r>
          </a:p>
        </p:txBody>
      </p:sp>
      <p:sp>
        <p:nvSpPr>
          <p:cNvPr id="559125" name="AutoShape 21"/>
          <p:cNvSpPr>
            <a:spLocks noChangeAspect="1" noChangeArrowheads="1" noTextEdit="1"/>
          </p:cNvSpPr>
          <p:nvPr/>
        </p:nvSpPr>
        <p:spPr bwMode="auto">
          <a:xfrm>
            <a:off x="304800" y="1447800"/>
            <a:ext cx="5410200"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Century Gothic"/>
              <a:cs typeface="Century Gothic"/>
            </a:endParaRPr>
          </a:p>
        </p:txBody>
      </p:sp>
      <p:sp>
        <p:nvSpPr>
          <p:cNvPr id="559138" name="Freeform 34"/>
          <p:cNvSpPr>
            <a:spLocks/>
          </p:cNvSpPr>
          <p:nvPr/>
        </p:nvSpPr>
        <p:spPr bwMode="auto">
          <a:xfrm>
            <a:off x="833438" y="1465263"/>
            <a:ext cx="4870450" cy="4321175"/>
          </a:xfrm>
          <a:custGeom>
            <a:avLst/>
            <a:gdLst>
              <a:gd name="T0" fmla="*/ 3068 w 3068"/>
              <a:gd name="T1" fmla="*/ 2722 h 2722"/>
              <a:gd name="T2" fmla="*/ 0 w 3068"/>
              <a:gd name="T3" fmla="*/ 2722 h 2722"/>
              <a:gd name="T4" fmla="*/ 0 w 3068"/>
              <a:gd name="T5" fmla="*/ 0 h 2722"/>
            </a:gdLst>
            <a:ahLst/>
            <a:cxnLst>
              <a:cxn ang="0">
                <a:pos x="T0" y="T1"/>
              </a:cxn>
              <a:cxn ang="0">
                <a:pos x="T2" y="T3"/>
              </a:cxn>
              <a:cxn ang="0">
                <a:pos x="T4" y="T5"/>
              </a:cxn>
            </a:cxnLst>
            <a:rect l="0" t="0" r="r" b="b"/>
            <a:pathLst>
              <a:path w="3068" h="2722">
                <a:moveTo>
                  <a:pt x="3068" y="2722"/>
                </a:moveTo>
                <a:lnTo>
                  <a:pt x="0" y="2722"/>
                </a:lnTo>
                <a:lnTo>
                  <a:pt x="0" y="0"/>
                </a:lnTo>
              </a:path>
            </a:pathLst>
          </a:custGeom>
          <a:noFill/>
          <a:ln w="1270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559139" name="Line 35"/>
          <p:cNvSpPr>
            <a:spLocks noChangeShapeType="1"/>
          </p:cNvSpPr>
          <p:nvPr/>
        </p:nvSpPr>
        <p:spPr bwMode="auto">
          <a:xfrm flipH="1">
            <a:off x="4013200" y="2219325"/>
            <a:ext cx="1363663" cy="2819400"/>
          </a:xfrm>
          <a:prstGeom prst="line">
            <a:avLst/>
          </a:prstGeom>
          <a:noFill/>
          <a:ln w="47625">
            <a:solidFill>
              <a:srgbClr val="EE313C"/>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59140" name="Line 36"/>
          <p:cNvSpPr>
            <a:spLocks noChangeShapeType="1"/>
          </p:cNvSpPr>
          <p:nvPr/>
        </p:nvSpPr>
        <p:spPr bwMode="auto">
          <a:xfrm flipH="1">
            <a:off x="2565400" y="2219325"/>
            <a:ext cx="1363663" cy="2819400"/>
          </a:xfrm>
          <a:prstGeom prst="line">
            <a:avLst/>
          </a:prstGeom>
          <a:noFill/>
          <a:ln w="47625">
            <a:solidFill>
              <a:srgbClr val="FAC0BF"/>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59141" name="Line 37"/>
          <p:cNvSpPr>
            <a:spLocks noChangeShapeType="1"/>
          </p:cNvSpPr>
          <p:nvPr/>
        </p:nvSpPr>
        <p:spPr bwMode="auto">
          <a:xfrm flipH="1">
            <a:off x="1117600" y="2219325"/>
            <a:ext cx="1365250" cy="2819400"/>
          </a:xfrm>
          <a:prstGeom prst="line">
            <a:avLst/>
          </a:prstGeom>
          <a:noFill/>
          <a:ln w="47625">
            <a:solidFill>
              <a:srgbClr val="EE313C"/>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59142" name="Rectangle 38"/>
          <p:cNvSpPr>
            <a:spLocks noChangeArrowheads="1"/>
          </p:cNvSpPr>
          <p:nvPr/>
        </p:nvSpPr>
        <p:spPr bwMode="auto">
          <a:xfrm>
            <a:off x="2439988" y="1906588"/>
            <a:ext cx="12022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dirty="0">
                <a:solidFill>
                  <a:srgbClr val="000000"/>
                </a:solidFill>
                <a:latin typeface="Century Gothic"/>
                <a:cs typeface="Century Gothic"/>
              </a:rPr>
              <a:t>S</a:t>
            </a:r>
            <a:endParaRPr lang="en-US" sz="1400" i="1" dirty="0">
              <a:latin typeface="Century Gothic"/>
              <a:cs typeface="Century Gothic"/>
            </a:endParaRPr>
          </a:p>
        </p:txBody>
      </p:sp>
      <p:sp>
        <p:nvSpPr>
          <p:cNvPr id="559143" name="Rectangle 39"/>
          <p:cNvSpPr>
            <a:spLocks noChangeArrowheads="1"/>
          </p:cNvSpPr>
          <p:nvPr/>
        </p:nvSpPr>
        <p:spPr bwMode="auto">
          <a:xfrm>
            <a:off x="2549525" y="2016125"/>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3</a:t>
            </a:r>
            <a:endParaRPr lang="en-US" sz="1400">
              <a:latin typeface="Century Gothic"/>
              <a:cs typeface="Century Gothic"/>
            </a:endParaRPr>
          </a:p>
        </p:txBody>
      </p:sp>
      <p:sp>
        <p:nvSpPr>
          <p:cNvPr id="559144" name="Rectangle 40"/>
          <p:cNvSpPr>
            <a:spLocks noChangeArrowheads="1"/>
          </p:cNvSpPr>
          <p:nvPr/>
        </p:nvSpPr>
        <p:spPr bwMode="auto">
          <a:xfrm>
            <a:off x="3879850" y="1906588"/>
            <a:ext cx="12022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dirty="0">
                <a:solidFill>
                  <a:srgbClr val="000000"/>
                </a:solidFill>
                <a:latin typeface="Century Gothic"/>
                <a:cs typeface="Century Gothic"/>
              </a:rPr>
              <a:t>S</a:t>
            </a:r>
            <a:endParaRPr lang="en-US" sz="1400" i="1" dirty="0">
              <a:latin typeface="Century Gothic"/>
              <a:cs typeface="Century Gothic"/>
            </a:endParaRPr>
          </a:p>
        </p:txBody>
      </p:sp>
      <p:sp>
        <p:nvSpPr>
          <p:cNvPr id="559145" name="Rectangle 41"/>
          <p:cNvSpPr>
            <a:spLocks noChangeArrowheads="1"/>
          </p:cNvSpPr>
          <p:nvPr/>
        </p:nvSpPr>
        <p:spPr bwMode="auto">
          <a:xfrm>
            <a:off x="3990975" y="2016125"/>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a:t>
            </a:r>
            <a:endParaRPr lang="en-US" sz="1400">
              <a:latin typeface="Century Gothic"/>
              <a:cs typeface="Century Gothic"/>
            </a:endParaRPr>
          </a:p>
        </p:txBody>
      </p:sp>
      <p:sp>
        <p:nvSpPr>
          <p:cNvPr id="559146" name="Rectangle 42"/>
          <p:cNvSpPr>
            <a:spLocks noChangeArrowheads="1"/>
          </p:cNvSpPr>
          <p:nvPr/>
        </p:nvSpPr>
        <p:spPr bwMode="auto">
          <a:xfrm>
            <a:off x="5321300" y="1906588"/>
            <a:ext cx="12022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dirty="0">
                <a:solidFill>
                  <a:srgbClr val="000000"/>
                </a:solidFill>
                <a:latin typeface="Century Gothic"/>
                <a:cs typeface="Century Gothic"/>
              </a:rPr>
              <a:t>S</a:t>
            </a:r>
            <a:endParaRPr lang="en-US" sz="1400" i="1" dirty="0">
              <a:latin typeface="Century Gothic"/>
              <a:cs typeface="Century Gothic"/>
            </a:endParaRPr>
          </a:p>
        </p:txBody>
      </p:sp>
      <p:sp>
        <p:nvSpPr>
          <p:cNvPr id="559147" name="Rectangle 43"/>
          <p:cNvSpPr>
            <a:spLocks noChangeArrowheads="1"/>
          </p:cNvSpPr>
          <p:nvPr/>
        </p:nvSpPr>
        <p:spPr bwMode="auto">
          <a:xfrm>
            <a:off x="5430838" y="2016125"/>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2</a:t>
            </a:r>
            <a:endParaRPr lang="en-US" sz="1400">
              <a:latin typeface="Century Gothic"/>
              <a:cs typeface="Century Gothic"/>
            </a:endParaRPr>
          </a:p>
        </p:txBody>
      </p:sp>
      <p:sp>
        <p:nvSpPr>
          <p:cNvPr id="559148" name="Line 44"/>
          <p:cNvSpPr>
            <a:spLocks noChangeShapeType="1"/>
          </p:cNvSpPr>
          <p:nvPr/>
        </p:nvSpPr>
        <p:spPr bwMode="auto">
          <a:xfrm>
            <a:off x="3757613" y="3157538"/>
            <a:ext cx="931862" cy="0"/>
          </a:xfrm>
          <a:prstGeom prst="line">
            <a:avLst/>
          </a:prstGeom>
          <a:noFill/>
          <a:ln w="476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59149" name="Freeform 45"/>
          <p:cNvSpPr>
            <a:spLocks/>
          </p:cNvSpPr>
          <p:nvPr/>
        </p:nvSpPr>
        <p:spPr bwMode="auto">
          <a:xfrm>
            <a:off x="4641850" y="3103563"/>
            <a:ext cx="171450" cy="106362"/>
          </a:xfrm>
          <a:custGeom>
            <a:avLst/>
            <a:gdLst>
              <a:gd name="T0" fmla="*/ 5 w 29"/>
              <a:gd name="T1" fmla="*/ 9 h 18"/>
              <a:gd name="T2" fmla="*/ 0 w 29"/>
              <a:gd name="T3" fmla="*/ 1 h 18"/>
              <a:gd name="T4" fmla="*/ 0 w 29"/>
              <a:gd name="T5" fmla="*/ 0 h 18"/>
              <a:gd name="T6" fmla="*/ 14 w 29"/>
              <a:gd name="T7" fmla="*/ 6 h 18"/>
              <a:gd name="T8" fmla="*/ 29 w 29"/>
              <a:gd name="T9" fmla="*/ 9 h 18"/>
              <a:gd name="T10" fmla="*/ 14 w 29"/>
              <a:gd name="T11" fmla="*/ 12 h 18"/>
              <a:gd name="T12" fmla="*/ 0 w 29"/>
              <a:gd name="T13" fmla="*/ 18 h 18"/>
              <a:gd name="T14" fmla="*/ 0 w 29"/>
              <a:gd name="T15" fmla="*/ 18 h 18"/>
              <a:gd name="T16" fmla="*/ 5 w 29"/>
              <a:gd name="T17" fmla="*/ 9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8">
                <a:moveTo>
                  <a:pt x="5" y="9"/>
                </a:moveTo>
                <a:cubicBezTo>
                  <a:pt x="0" y="1"/>
                  <a:pt x="0" y="1"/>
                  <a:pt x="0" y="1"/>
                </a:cubicBezTo>
                <a:cubicBezTo>
                  <a:pt x="0" y="0"/>
                  <a:pt x="0" y="0"/>
                  <a:pt x="0" y="0"/>
                </a:cubicBezTo>
                <a:cubicBezTo>
                  <a:pt x="14" y="6"/>
                  <a:pt x="14" y="6"/>
                  <a:pt x="14" y="6"/>
                </a:cubicBezTo>
                <a:cubicBezTo>
                  <a:pt x="19" y="7"/>
                  <a:pt x="24" y="8"/>
                  <a:pt x="29" y="9"/>
                </a:cubicBezTo>
                <a:cubicBezTo>
                  <a:pt x="24" y="10"/>
                  <a:pt x="19" y="11"/>
                  <a:pt x="14" y="12"/>
                </a:cubicBezTo>
                <a:cubicBezTo>
                  <a:pt x="0" y="18"/>
                  <a:pt x="0" y="18"/>
                  <a:pt x="0" y="18"/>
                </a:cubicBezTo>
                <a:cubicBezTo>
                  <a:pt x="0" y="18"/>
                  <a:pt x="0" y="18"/>
                  <a:pt x="0" y="18"/>
                </a:cubicBez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59150" name="Line 46"/>
          <p:cNvSpPr>
            <a:spLocks noChangeShapeType="1"/>
          </p:cNvSpPr>
          <p:nvPr/>
        </p:nvSpPr>
        <p:spPr bwMode="auto">
          <a:xfrm flipH="1">
            <a:off x="1728788" y="4130675"/>
            <a:ext cx="979487" cy="0"/>
          </a:xfrm>
          <a:prstGeom prst="line">
            <a:avLst/>
          </a:prstGeom>
          <a:noFill/>
          <a:ln w="476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59151" name="Freeform 47"/>
          <p:cNvSpPr>
            <a:spLocks/>
          </p:cNvSpPr>
          <p:nvPr/>
        </p:nvSpPr>
        <p:spPr bwMode="auto">
          <a:xfrm>
            <a:off x="1622425" y="4083050"/>
            <a:ext cx="147638" cy="101600"/>
          </a:xfrm>
          <a:custGeom>
            <a:avLst/>
            <a:gdLst>
              <a:gd name="T0" fmla="*/ 20 w 25"/>
              <a:gd name="T1" fmla="*/ 8 h 17"/>
              <a:gd name="T2" fmla="*/ 25 w 25"/>
              <a:gd name="T3" fmla="*/ 17 h 17"/>
              <a:gd name="T4" fmla="*/ 25 w 25"/>
              <a:gd name="T5" fmla="*/ 17 h 17"/>
              <a:gd name="T6" fmla="*/ 13 w 25"/>
              <a:gd name="T7" fmla="*/ 12 h 17"/>
              <a:gd name="T8" fmla="*/ 0 w 25"/>
              <a:gd name="T9" fmla="*/ 8 h 17"/>
              <a:gd name="T10" fmla="*/ 13 w 25"/>
              <a:gd name="T11" fmla="*/ 5 h 17"/>
              <a:gd name="T12" fmla="*/ 25 w 25"/>
              <a:gd name="T13" fmla="*/ 0 h 17"/>
              <a:gd name="T14" fmla="*/ 25 w 25"/>
              <a:gd name="T15" fmla="*/ 0 h 17"/>
              <a:gd name="T16" fmla="*/ 20 w 25"/>
              <a:gd name="T17"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7">
                <a:moveTo>
                  <a:pt x="20" y="8"/>
                </a:moveTo>
                <a:cubicBezTo>
                  <a:pt x="25" y="17"/>
                  <a:pt x="25" y="17"/>
                  <a:pt x="25" y="17"/>
                </a:cubicBezTo>
                <a:cubicBezTo>
                  <a:pt x="25" y="17"/>
                  <a:pt x="25" y="17"/>
                  <a:pt x="25" y="17"/>
                </a:cubicBezTo>
                <a:cubicBezTo>
                  <a:pt x="13" y="12"/>
                  <a:pt x="13" y="12"/>
                  <a:pt x="13" y="12"/>
                </a:cubicBezTo>
                <a:cubicBezTo>
                  <a:pt x="9" y="11"/>
                  <a:pt x="4" y="10"/>
                  <a:pt x="0" y="8"/>
                </a:cubicBezTo>
                <a:cubicBezTo>
                  <a:pt x="4" y="7"/>
                  <a:pt x="9" y="6"/>
                  <a:pt x="13" y="5"/>
                </a:cubicBezTo>
                <a:cubicBezTo>
                  <a:pt x="25" y="0"/>
                  <a:pt x="25" y="0"/>
                  <a:pt x="25" y="0"/>
                </a:cubicBezTo>
                <a:cubicBezTo>
                  <a:pt x="25" y="0"/>
                  <a:pt x="25" y="0"/>
                  <a:pt x="25" y="0"/>
                </a:cubicBezTo>
                <a:lnTo>
                  <a:pt x="2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59152" name="Freeform 48"/>
          <p:cNvSpPr>
            <a:spLocks/>
          </p:cNvSpPr>
          <p:nvPr/>
        </p:nvSpPr>
        <p:spPr bwMode="auto">
          <a:xfrm>
            <a:off x="1524000" y="4302657"/>
            <a:ext cx="1100665" cy="557212"/>
          </a:xfrm>
          <a:custGeom>
            <a:avLst/>
            <a:gdLst>
              <a:gd name="T0" fmla="*/ 152 w 152"/>
              <a:gd name="T1" fmla="*/ 86 h 94"/>
              <a:gd name="T2" fmla="*/ 143 w 152"/>
              <a:gd name="T3" fmla="*/ 94 h 94"/>
              <a:gd name="T4" fmla="*/ 10 w 152"/>
              <a:gd name="T5" fmla="*/ 94 h 94"/>
              <a:gd name="T6" fmla="*/ 0 w 152"/>
              <a:gd name="T7" fmla="*/ 86 h 94"/>
              <a:gd name="T8" fmla="*/ 0 w 152"/>
              <a:gd name="T9" fmla="*/ 9 h 94"/>
              <a:gd name="T10" fmla="*/ 10 w 152"/>
              <a:gd name="T11" fmla="*/ 0 h 94"/>
              <a:gd name="T12" fmla="*/ 143 w 152"/>
              <a:gd name="T13" fmla="*/ 0 h 94"/>
              <a:gd name="T14" fmla="*/ 152 w 152"/>
              <a:gd name="T15" fmla="*/ 9 h 94"/>
              <a:gd name="T16" fmla="*/ 152 w 152"/>
              <a:gd name="T17" fmla="*/ 86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2" h="94">
                <a:moveTo>
                  <a:pt x="152" y="86"/>
                </a:moveTo>
                <a:cubicBezTo>
                  <a:pt x="152" y="90"/>
                  <a:pt x="148" y="94"/>
                  <a:pt x="143" y="94"/>
                </a:cubicBezTo>
                <a:cubicBezTo>
                  <a:pt x="10" y="94"/>
                  <a:pt x="10" y="94"/>
                  <a:pt x="10" y="94"/>
                </a:cubicBezTo>
                <a:cubicBezTo>
                  <a:pt x="5" y="94"/>
                  <a:pt x="0" y="90"/>
                  <a:pt x="0" y="86"/>
                </a:cubicBezTo>
                <a:cubicBezTo>
                  <a:pt x="0" y="9"/>
                  <a:pt x="0" y="9"/>
                  <a:pt x="0" y="9"/>
                </a:cubicBezTo>
                <a:cubicBezTo>
                  <a:pt x="0" y="4"/>
                  <a:pt x="5" y="0"/>
                  <a:pt x="10" y="0"/>
                </a:cubicBezTo>
                <a:cubicBezTo>
                  <a:pt x="143" y="0"/>
                  <a:pt x="143" y="0"/>
                  <a:pt x="143" y="0"/>
                </a:cubicBezTo>
                <a:cubicBezTo>
                  <a:pt x="148" y="0"/>
                  <a:pt x="152" y="4"/>
                  <a:pt x="152" y="9"/>
                </a:cubicBezTo>
                <a:lnTo>
                  <a:pt x="152" y="86"/>
                </a:lnTo>
                <a:close/>
              </a:path>
            </a:pathLst>
          </a:custGeom>
          <a:solidFill>
            <a:srgbClr val="D6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59158" name="Freeform 54"/>
          <p:cNvSpPr>
            <a:spLocks/>
          </p:cNvSpPr>
          <p:nvPr/>
        </p:nvSpPr>
        <p:spPr bwMode="auto">
          <a:xfrm>
            <a:off x="3935413" y="2514600"/>
            <a:ext cx="1017587" cy="565150"/>
          </a:xfrm>
          <a:custGeom>
            <a:avLst/>
            <a:gdLst>
              <a:gd name="T0" fmla="*/ 153 w 153"/>
              <a:gd name="T1" fmla="*/ 86 h 95"/>
              <a:gd name="T2" fmla="*/ 144 w 153"/>
              <a:gd name="T3" fmla="*/ 95 h 95"/>
              <a:gd name="T4" fmla="*/ 9 w 153"/>
              <a:gd name="T5" fmla="*/ 95 h 95"/>
              <a:gd name="T6" fmla="*/ 0 w 153"/>
              <a:gd name="T7" fmla="*/ 86 h 95"/>
              <a:gd name="T8" fmla="*/ 0 w 153"/>
              <a:gd name="T9" fmla="*/ 9 h 95"/>
              <a:gd name="T10" fmla="*/ 9 w 153"/>
              <a:gd name="T11" fmla="*/ 0 h 95"/>
              <a:gd name="T12" fmla="*/ 144 w 153"/>
              <a:gd name="T13" fmla="*/ 0 h 95"/>
              <a:gd name="T14" fmla="*/ 153 w 153"/>
              <a:gd name="T15" fmla="*/ 9 h 95"/>
              <a:gd name="T16" fmla="*/ 153 w 153"/>
              <a:gd name="T17" fmla="*/ 86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3" h="95">
                <a:moveTo>
                  <a:pt x="153" y="86"/>
                </a:moveTo>
                <a:cubicBezTo>
                  <a:pt x="153" y="91"/>
                  <a:pt x="149" y="95"/>
                  <a:pt x="144" y="95"/>
                </a:cubicBezTo>
                <a:cubicBezTo>
                  <a:pt x="9" y="95"/>
                  <a:pt x="9" y="95"/>
                  <a:pt x="9" y="95"/>
                </a:cubicBezTo>
                <a:cubicBezTo>
                  <a:pt x="4" y="95"/>
                  <a:pt x="0" y="91"/>
                  <a:pt x="0" y="86"/>
                </a:cubicBezTo>
                <a:cubicBezTo>
                  <a:pt x="0" y="9"/>
                  <a:pt x="0" y="9"/>
                  <a:pt x="0" y="9"/>
                </a:cubicBezTo>
                <a:cubicBezTo>
                  <a:pt x="0" y="4"/>
                  <a:pt x="4" y="0"/>
                  <a:pt x="9" y="0"/>
                </a:cubicBezTo>
                <a:cubicBezTo>
                  <a:pt x="144" y="0"/>
                  <a:pt x="144" y="0"/>
                  <a:pt x="144" y="0"/>
                </a:cubicBezTo>
                <a:cubicBezTo>
                  <a:pt x="149" y="0"/>
                  <a:pt x="153" y="4"/>
                  <a:pt x="153" y="9"/>
                </a:cubicBezTo>
                <a:lnTo>
                  <a:pt x="153" y="86"/>
                </a:lnTo>
                <a:close/>
              </a:path>
            </a:pathLst>
          </a:custGeom>
          <a:solidFill>
            <a:srgbClr val="D6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20" name="TextBox 29"/>
          <p:cNvSpPr txBox="1">
            <a:spLocks noChangeArrowheads="1"/>
          </p:cNvSpPr>
          <p:nvPr/>
        </p:nvSpPr>
        <p:spPr bwMode="auto">
          <a:xfrm>
            <a:off x="-76200" y="1371600"/>
            <a:ext cx="11430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500" b="1">
                <a:latin typeface="Century Gothic"/>
                <a:ea typeface="MS PGothic" pitchFamily="34" charset="-128"/>
                <a:cs typeface="Century Gothic"/>
              </a:rPr>
              <a:t>Price</a:t>
            </a:r>
          </a:p>
        </p:txBody>
      </p:sp>
      <p:sp>
        <p:nvSpPr>
          <p:cNvPr id="21" name="TextBox 29"/>
          <p:cNvSpPr txBox="1">
            <a:spLocks noChangeArrowheads="1"/>
          </p:cNvSpPr>
          <p:nvPr/>
        </p:nvSpPr>
        <p:spPr bwMode="auto">
          <a:xfrm>
            <a:off x="4648200" y="5867400"/>
            <a:ext cx="1143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400" b="1">
                <a:latin typeface="Century Gothic"/>
                <a:ea typeface="MS PGothic" pitchFamily="34" charset="-128"/>
                <a:cs typeface="Century Gothic"/>
              </a:rPr>
              <a:t>Quantity</a:t>
            </a:r>
          </a:p>
        </p:txBody>
      </p:sp>
      <p:sp>
        <p:nvSpPr>
          <p:cNvPr id="559166" name="TextBox 56"/>
          <p:cNvSpPr txBox="1">
            <a:spLocks noChangeArrowheads="1"/>
          </p:cNvSpPr>
          <p:nvPr/>
        </p:nvSpPr>
        <p:spPr bwMode="auto">
          <a:xfrm>
            <a:off x="1515530" y="4326466"/>
            <a:ext cx="1143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spcBef>
                <a:spcPct val="50000"/>
              </a:spcBef>
            </a:pPr>
            <a:r>
              <a:rPr lang="en-US" sz="1400" dirty="0">
                <a:solidFill>
                  <a:schemeClr val="tx1">
                    <a:lumMod val="75000"/>
                    <a:lumOff val="25000"/>
                  </a:schemeClr>
                </a:solidFill>
                <a:latin typeface="Century Gothic"/>
                <a:ea typeface="MS PGothic" pitchFamily="34" charset="-128"/>
                <a:cs typeface="Century Gothic"/>
              </a:rPr>
              <a:t>Decrease in supply</a:t>
            </a:r>
          </a:p>
        </p:txBody>
      </p:sp>
      <p:sp>
        <p:nvSpPr>
          <p:cNvPr id="559167" name="TextBox 56"/>
          <p:cNvSpPr txBox="1">
            <a:spLocks noChangeArrowheads="1"/>
          </p:cNvSpPr>
          <p:nvPr/>
        </p:nvSpPr>
        <p:spPr bwMode="auto">
          <a:xfrm>
            <a:off x="3936999" y="2531534"/>
            <a:ext cx="1066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spcBef>
                <a:spcPct val="50000"/>
              </a:spcBef>
              <a:defRPr sz="1400">
                <a:solidFill>
                  <a:schemeClr val="tx1">
                    <a:lumMod val="75000"/>
                    <a:lumOff val="25000"/>
                  </a:schemeClr>
                </a:solidFill>
                <a:latin typeface="Arial" pitchFamily="34" charset="0"/>
                <a:ea typeface="MS PGothic" pitchFamily="34" charset="-128"/>
              </a:defRPr>
            </a:lvl1pPr>
            <a:lvl2pPr marL="37931725" indent="-37474525">
              <a:spcBef>
                <a:spcPct val="0"/>
              </a:spcBef>
              <a:defRPr>
                <a:latin typeface="Arial" pitchFamily="34" charset="0"/>
              </a:defRPr>
            </a:lvl2pPr>
            <a:lvl3pPr>
              <a:spcBef>
                <a:spcPct val="0"/>
              </a:spcBef>
              <a:defRPr>
                <a:latin typeface="Arial" pitchFamily="34" charset="0"/>
              </a:defRPr>
            </a:lvl3pPr>
            <a:lvl4pPr>
              <a:spcBef>
                <a:spcPct val="0"/>
              </a:spcBef>
              <a:defRPr>
                <a:latin typeface="Arial" pitchFamily="34" charset="0"/>
              </a:defRPr>
            </a:lvl4pPr>
            <a:lvl5pPr>
              <a:spcBef>
                <a:spcPct val="0"/>
              </a:spcBef>
              <a:defRPr>
                <a:latin typeface="Arial" pitchFamily="34" charset="0"/>
              </a:defRPr>
            </a:lvl5pPr>
            <a:lvl6pPr marL="457200" fontAlgn="base">
              <a:spcBef>
                <a:spcPct val="0"/>
              </a:spcBef>
              <a:spcAft>
                <a:spcPct val="0"/>
              </a:spcAft>
              <a:defRPr>
                <a:latin typeface="Arial" pitchFamily="34" charset="0"/>
              </a:defRPr>
            </a:lvl6pPr>
            <a:lvl7pPr marL="914400" fontAlgn="base">
              <a:spcBef>
                <a:spcPct val="0"/>
              </a:spcBef>
              <a:spcAft>
                <a:spcPct val="0"/>
              </a:spcAft>
              <a:defRPr>
                <a:latin typeface="Arial" pitchFamily="34" charset="0"/>
              </a:defRPr>
            </a:lvl7pPr>
            <a:lvl8pPr marL="1371600" fontAlgn="base">
              <a:spcBef>
                <a:spcPct val="0"/>
              </a:spcBef>
              <a:spcAft>
                <a:spcPct val="0"/>
              </a:spcAft>
              <a:defRPr>
                <a:latin typeface="Arial" pitchFamily="34" charset="0"/>
              </a:defRPr>
            </a:lvl8pPr>
            <a:lvl9pPr marL="1828800" fontAlgn="base">
              <a:spcBef>
                <a:spcPct val="0"/>
              </a:spcBef>
              <a:spcAft>
                <a:spcPct val="0"/>
              </a:spcAft>
              <a:defRPr>
                <a:latin typeface="Arial" pitchFamily="34" charset="0"/>
              </a:defRPr>
            </a:lvl9pPr>
          </a:lstStyle>
          <a:p>
            <a:r>
              <a:rPr lang="en-US" dirty="0">
                <a:latin typeface="Century Gothic"/>
                <a:cs typeface="Century Gothic"/>
              </a:rPr>
              <a:t>Increase in supply</a:t>
            </a:r>
          </a:p>
        </p:txBody>
      </p:sp>
      <p:sp>
        <p:nvSpPr>
          <p:cNvPr id="559168" name="Rectangle 64"/>
          <p:cNvSpPr>
            <a:spLocks noChangeAspect="1" noChangeArrowheads="1"/>
          </p:cNvSpPr>
          <p:nvPr/>
        </p:nvSpPr>
        <p:spPr bwMode="auto">
          <a:xfrm>
            <a:off x="5725297" y="2641685"/>
            <a:ext cx="3429000" cy="1533525"/>
          </a:xfrm>
          <a:prstGeom prst="rect">
            <a:avLst/>
          </a:prstGeom>
          <a:noFill/>
          <a:ln>
            <a:noFill/>
          </a:ln>
          <a:effectLst/>
        </p:spPr>
        <p:txBody>
          <a:bodyPr/>
          <a:lstStyle/>
          <a:p>
            <a:pPr marL="115888" lvl="1">
              <a:lnSpc>
                <a:spcPct val="100000"/>
              </a:lnSpc>
              <a:spcBef>
                <a:spcPct val="20000"/>
              </a:spcBef>
              <a:buClr>
                <a:schemeClr val="tx1"/>
              </a:buClr>
            </a:pPr>
            <a:r>
              <a:rPr lang="en-US" sz="2400" dirty="0">
                <a:latin typeface="Century Gothic"/>
                <a:cs typeface="Century Gothic"/>
              </a:rPr>
              <a:t>A </a:t>
            </a:r>
            <a:r>
              <a:rPr lang="en-US" sz="2400" b="1" dirty="0">
                <a:solidFill>
                  <a:srgbClr val="990033"/>
                </a:solidFill>
                <a:latin typeface="Century Gothic"/>
                <a:cs typeface="Century Gothic"/>
              </a:rPr>
              <a:t>decrease in supply </a:t>
            </a:r>
            <a:r>
              <a:rPr lang="en-US" sz="2400" dirty="0">
                <a:latin typeface="Century Gothic"/>
                <a:cs typeface="Century Gothic"/>
              </a:rPr>
              <a:t>means a </a:t>
            </a:r>
            <a:r>
              <a:rPr lang="en-US" sz="2400" i="1" dirty="0">
                <a:latin typeface="Century Gothic"/>
                <a:cs typeface="Century Gothic"/>
              </a:rPr>
              <a:t>leftward</a:t>
            </a:r>
            <a:r>
              <a:rPr lang="en-US" sz="2400" dirty="0">
                <a:latin typeface="Century Gothic"/>
                <a:cs typeface="Century Gothic"/>
              </a:rPr>
              <a:t> shift of the supply curve.</a:t>
            </a:r>
          </a:p>
        </p:txBody>
      </p:sp>
    </p:spTree>
    <p:extLst>
      <p:ext uri="{BB962C8B-B14F-4D97-AF65-F5344CB8AC3E}">
        <p14:creationId xmlns:p14="http://schemas.microsoft.com/office/powerpoint/2010/main" val="608698720"/>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59106"/>
                                        </p:tgtEl>
                                        <p:attrNameLst>
                                          <p:attrName>style.visibility</p:attrName>
                                        </p:attrNameLst>
                                      </p:cBhvr>
                                      <p:to>
                                        <p:strVal val="visible"/>
                                      </p:to>
                                    </p:set>
                                    <p:animEffect transition="in" filter="fade">
                                      <p:cBhvr>
                                        <p:cTn id="7" dur="500"/>
                                        <p:tgtEl>
                                          <p:spTgt spid="55910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59139"/>
                                        </p:tgtEl>
                                        <p:attrNameLst>
                                          <p:attrName>style.visibility</p:attrName>
                                        </p:attrNameLst>
                                      </p:cBhvr>
                                      <p:to>
                                        <p:strVal val="visible"/>
                                      </p:to>
                                    </p:set>
                                    <p:animEffect transition="in" filter="fade">
                                      <p:cBhvr>
                                        <p:cTn id="11" dur="500"/>
                                        <p:tgtEl>
                                          <p:spTgt spid="55913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59147"/>
                                        </p:tgtEl>
                                        <p:attrNameLst>
                                          <p:attrName>style.visibility</p:attrName>
                                        </p:attrNameLst>
                                      </p:cBhvr>
                                      <p:to>
                                        <p:strVal val="visible"/>
                                      </p:to>
                                    </p:set>
                                    <p:animEffect transition="in" filter="fade">
                                      <p:cBhvr>
                                        <p:cTn id="14" dur="500"/>
                                        <p:tgtEl>
                                          <p:spTgt spid="55914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559146"/>
                                        </p:tgtEl>
                                        <p:attrNameLst>
                                          <p:attrName>style.visibility</p:attrName>
                                        </p:attrNameLst>
                                      </p:cBhvr>
                                      <p:to>
                                        <p:strVal val="visible"/>
                                      </p:to>
                                    </p:set>
                                    <p:animEffect transition="in" filter="fade">
                                      <p:cBhvr>
                                        <p:cTn id="17" dur="500"/>
                                        <p:tgtEl>
                                          <p:spTgt spid="55914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59158"/>
                                        </p:tgtEl>
                                        <p:attrNameLst>
                                          <p:attrName>style.visibility</p:attrName>
                                        </p:attrNameLst>
                                      </p:cBhvr>
                                      <p:to>
                                        <p:strVal val="visible"/>
                                      </p:to>
                                    </p:set>
                                    <p:animEffect transition="in" filter="fade">
                                      <p:cBhvr>
                                        <p:cTn id="20" dur="500"/>
                                        <p:tgtEl>
                                          <p:spTgt spid="55915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59167"/>
                                        </p:tgtEl>
                                        <p:attrNameLst>
                                          <p:attrName>style.visibility</p:attrName>
                                        </p:attrNameLst>
                                      </p:cBhvr>
                                      <p:to>
                                        <p:strVal val="visible"/>
                                      </p:to>
                                    </p:set>
                                    <p:animEffect transition="in" filter="fade">
                                      <p:cBhvr>
                                        <p:cTn id="23" dur="500"/>
                                        <p:tgtEl>
                                          <p:spTgt spid="55916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59148"/>
                                        </p:tgtEl>
                                        <p:attrNameLst>
                                          <p:attrName>style.visibility</p:attrName>
                                        </p:attrNameLst>
                                      </p:cBhvr>
                                      <p:to>
                                        <p:strVal val="visible"/>
                                      </p:to>
                                    </p:set>
                                    <p:animEffect transition="in" filter="fade">
                                      <p:cBhvr>
                                        <p:cTn id="26" dur="500"/>
                                        <p:tgtEl>
                                          <p:spTgt spid="55914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559149"/>
                                        </p:tgtEl>
                                        <p:attrNameLst>
                                          <p:attrName>style.visibility</p:attrName>
                                        </p:attrNameLst>
                                      </p:cBhvr>
                                      <p:to>
                                        <p:strVal val="visible"/>
                                      </p:to>
                                    </p:set>
                                    <p:animEffect transition="in" filter="fade">
                                      <p:cBhvr>
                                        <p:cTn id="29" dur="500"/>
                                        <p:tgtEl>
                                          <p:spTgt spid="55914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559168"/>
                                        </p:tgtEl>
                                        <p:attrNameLst>
                                          <p:attrName>style.visibility</p:attrName>
                                        </p:attrNameLst>
                                      </p:cBhvr>
                                      <p:to>
                                        <p:strVal val="visible"/>
                                      </p:to>
                                    </p:set>
                                    <p:animEffect transition="in" filter="fade">
                                      <p:cBhvr>
                                        <p:cTn id="34" dur="500"/>
                                        <p:tgtEl>
                                          <p:spTgt spid="559168"/>
                                        </p:tgtEl>
                                      </p:cBhvr>
                                    </p:animEffect>
                                  </p:childTnLst>
                                </p:cTn>
                              </p:par>
                            </p:childTnLst>
                          </p:cTn>
                        </p:par>
                        <p:par>
                          <p:cTn id="35"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559141"/>
                                        </p:tgtEl>
                                        <p:attrNameLst>
                                          <p:attrName>style.visibility</p:attrName>
                                        </p:attrNameLst>
                                      </p:cBhvr>
                                      <p:to>
                                        <p:strVal val="visible"/>
                                      </p:to>
                                    </p:set>
                                    <p:animEffect transition="in" filter="fade">
                                      <p:cBhvr>
                                        <p:cTn id="38" dur="500"/>
                                        <p:tgtEl>
                                          <p:spTgt spid="55914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559142"/>
                                        </p:tgtEl>
                                        <p:attrNameLst>
                                          <p:attrName>style.visibility</p:attrName>
                                        </p:attrNameLst>
                                      </p:cBhvr>
                                      <p:to>
                                        <p:strVal val="visible"/>
                                      </p:to>
                                    </p:set>
                                    <p:animEffect transition="in" filter="fade">
                                      <p:cBhvr>
                                        <p:cTn id="41" dur="500"/>
                                        <p:tgtEl>
                                          <p:spTgt spid="55914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559143"/>
                                        </p:tgtEl>
                                        <p:attrNameLst>
                                          <p:attrName>style.visibility</p:attrName>
                                        </p:attrNameLst>
                                      </p:cBhvr>
                                      <p:to>
                                        <p:strVal val="visible"/>
                                      </p:to>
                                    </p:set>
                                    <p:animEffect transition="in" filter="fade">
                                      <p:cBhvr>
                                        <p:cTn id="44" dur="500"/>
                                        <p:tgtEl>
                                          <p:spTgt spid="55914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559152"/>
                                        </p:tgtEl>
                                        <p:attrNameLst>
                                          <p:attrName>style.visibility</p:attrName>
                                        </p:attrNameLst>
                                      </p:cBhvr>
                                      <p:to>
                                        <p:strVal val="visible"/>
                                      </p:to>
                                    </p:set>
                                    <p:animEffect transition="in" filter="fade">
                                      <p:cBhvr>
                                        <p:cTn id="47" dur="500"/>
                                        <p:tgtEl>
                                          <p:spTgt spid="559152"/>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559166"/>
                                        </p:tgtEl>
                                        <p:attrNameLst>
                                          <p:attrName>style.visibility</p:attrName>
                                        </p:attrNameLst>
                                      </p:cBhvr>
                                      <p:to>
                                        <p:strVal val="visible"/>
                                      </p:to>
                                    </p:set>
                                    <p:animEffect transition="in" filter="fade">
                                      <p:cBhvr>
                                        <p:cTn id="50" dur="500"/>
                                        <p:tgtEl>
                                          <p:spTgt spid="55916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559151"/>
                                        </p:tgtEl>
                                        <p:attrNameLst>
                                          <p:attrName>style.visibility</p:attrName>
                                        </p:attrNameLst>
                                      </p:cBhvr>
                                      <p:to>
                                        <p:strVal val="visible"/>
                                      </p:to>
                                    </p:set>
                                    <p:animEffect transition="in" filter="fade">
                                      <p:cBhvr>
                                        <p:cTn id="53" dur="500"/>
                                        <p:tgtEl>
                                          <p:spTgt spid="55915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559150"/>
                                        </p:tgtEl>
                                        <p:attrNameLst>
                                          <p:attrName>style.visibility</p:attrName>
                                        </p:attrNameLst>
                                      </p:cBhvr>
                                      <p:to>
                                        <p:strVal val="visible"/>
                                      </p:to>
                                    </p:set>
                                    <p:animEffect transition="in" filter="fade">
                                      <p:cBhvr>
                                        <p:cTn id="56" dur="500"/>
                                        <p:tgtEl>
                                          <p:spTgt spid="559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9106" grpId="0"/>
      <p:bldP spid="559139" grpId="0" animBg="1"/>
      <p:bldP spid="559141" grpId="0" animBg="1"/>
      <p:bldP spid="559142" grpId="0"/>
      <p:bldP spid="559143" grpId="0"/>
      <p:bldP spid="559146" grpId="0"/>
      <p:bldP spid="559147" grpId="0"/>
      <p:bldP spid="559148" grpId="0" animBg="1"/>
      <p:bldP spid="559149" grpId="0" animBg="1"/>
      <p:bldP spid="559150" grpId="0" animBg="1"/>
      <p:bldP spid="559151" grpId="0" animBg="1"/>
      <p:bldP spid="559152" grpId="0" animBg="1"/>
      <p:bldP spid="559158" grpId="0" animBg="1"/>
      <p:bldP spid="559166" grpId="0"/>
      <p:bldP spid="559167" grpId="0"/>
      <p:bldP spid="559168" grpId="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bwMode="auto">
          <a:xfrm>
            <a:off x="0" y="0"/>
            <a:ext cx="9144000" cy="990600"/>
          </a:xfrm>
        </p:spPr>
        <p:txBody>
          <a:bodyPr wrap="square" numCol="1" anchorCtr="0" compatLnSpc="1">
            <a:prstTxWarp prst="textNoShape">
              <a:avLst/>
            </a:prstTxWarp>
            <a:normAutofit fontScale="90000"/>
          </a:bodyPr>
          <a:lstStyle/>
          <a:p>
            <a:pPr fontAlgn="auto">
              <a:spcAft>
                <a:spcPts val="0"/>
              </a:spcAft>
              <a:defRPr/>
            </a:pPr>
            <a:r>
              <a:rPr lang="en-US" sz="4000" dirty="0"/>
              <a:t>UNDERSTANDING SHIFTS OF THE SUPPLY CURVE</a:t>
            </a:r>
            <a:endParaRPr lang="en-US" sz="4000" dirty="0">
              <a:solidFill>
                <a:schemeClr val="accent6">
                  <a:lumMod val="75000"/>
                </a:schemeClr>
              </a:solidFill>
            </a:endParaRPr>
          </a:p>
        </p:txBody>
      </p:sp>
      <p:sp>
        <p:nvSpPr>
          <p:cNvPr id="97282" name="Rectangle 3"/>
          <p:cNvSpPr>
            <a:spLocks noGrp="1" noChangeArrowheads="1"/>
          </p:cNvSpPr>
          <p:nvPr>
            <p:ph idx="1"/>
          </p:nvPr>
        </p:nvSpPr>
        <p:spPr>
          <a:xfrm>
            <a:off x="228600" y="1143000"/>
            <a:ext cx="8839200" cy="4495800"/>
          </a:xfrm>
        </p:spPr>
        <p:txBody>
          <a:bodyPr rtlCol="0">
            <a:normAutofit/>
          </a:bodyPr>
          <a:lstStyle/>
          <a:p>
            <a:pPr fontAlgn="auto">
              <a:spcAft>
                <a:spcPts val="0"/>
              </a:spcAft>
              <a:defRPr/>
            </a:pPr>
            <a:r>
              <a:rPr lang="en-US" dirty="0">
                <a:ea typeface="ＭＳ Ｐゴシック" pitchFamily="34" charset="-128"/>
                <a:cs typeface="Arial" charset="0"/>
              </a:rPr>
              <a:t>Important supply shifters include changes in:</a:t>
            </a:r>
          </a:p>
          <a:p>
            <a:pPr marL="971550" lvl="1" indent="-514350" fontAlgn="auto">
              <a:spcAft>
                <a:spcPts val="0"/>
              </a:spcAft>
              <a:buFont typeface="Calibri" pitchFamily="34" charset="0"/>
              <a:buAutoNum type="arabicPeriod"/>
              <a:defRPr/>
            </a:pPr>
            <a:r>
              <a:rPr lang="en-US" sz="3200" dirty="0">
                <a:solidFill>
                  <a:srgbClr val="990033"/>
                </a:solidFill>
                <a:ea typeface="+mj-ea"/>
                <a:cs typeface="+mj-cs"/>
              </a:rPr>
              <a:t>input prices.</a:t>
            </a:r>
          </a:p>
          <a:p>
            <a:pPr marL="971550" lvl="1" indent="-514350" fontAlgn="auto">
              <a:spcAft>
                <a:spcPts val="0"/>
              </a:spcAft>
              <a:buFont typeface="Calibri" pitchFamily="34" charset="0"/>
              <a:buAutoNum type="arabicPeriod"/>
              <a:defRPr/>
            </a:pPr>
            <a:r>
              <a:rPr lang="en-US" sz="3200" dirty="0">
                <a:solidFill>
                  <a:srgbClr val="990033"/>
                </a:solidFill>
                <a:ea typeface="+mj-ea"/>
                <a:cs typeface="+mj-cs"/>
              </a:rPr>
              <a:t>the prices of related goods or services.</a:t>
            </a:r>
          </a:p>
          <a:p>
            <a:pPr marL="971550" lvl="1" indent="-514350" fontAlgn="auto">
              <a:spcAft>
                <a:spcPts val="0"/>
              </a:spcAft>
              <a:buFont typeface="Calibri" pitchFamily="34" charset="0"/>
              <a:buAutoNum type="arabicPeriod"/>
              <a:defRPr/>
            </a:pPr>
            <a:r>
              <a:rPr lang="en-US" sz="3200" dirty="0">
                <a:solidFill>
                  <a:srgbClr val="990033"/>
                </a:solidFill>
                <a:ea typeface="+mj-ea"/>
                <a:cs typeface="+mj-cs"/>
              </a:rPr>
              <a:t>technology.</a:t>
            </a:r>
          </a:p>
          <a:p>
            <a:pPr marL="971550" lvl="1" indent="-514350" fontAlgn="auto">
              <a:spcAft>
                <a:spcPts val="0"/>
              </a:spcAft>
              <a:buFont typeface="Calibri" pitchFamily="34" charset="0"/>
              <a:buAutoNum type="arabicPeriod"/>
              <a:defRPr/>
            </a:pPr>
            <a:r>
              <a:rPr lang="en-US" sz="3200" dirty="0">
                <a:solidFill>
                  <a:srgbClr val="990033"/>
                </a:solidFill>
                <a:ea typeface="+mj-ea"/>
                <a:cs typeface="+mj-cs"/>
              </a:rPr>
              <a:t>expectations.</a:t>
            </a:r>
          </a:p>
          <a:p>
            <a:pPr marL="971550" lvl="1" indent="-514350" fontAlgn="auto">
              <a:spcAft>
                <a:spcPts val="0"/>
              </a:spcAft>
              <a:buFont typeface="Calibri" pitchFamily="34" charset="0"/>
              <a:buAutoNum type="arabicPeriod"/>
              <a:defRPr/>
            </a:pPr>
            <a:r>
              <a:rPr lang="en-US" sz="3200" dirty="0">
                <a:solidFill>
                  <a:srgbClr val="990033"/>
                </a:solidFill>
                <a:ea typeface="+mj-ea"/>
                <a:cs typeface="+mj-cs"/>
              </a:rPr>
              <a:t>the number of producers.</a:t>
            </a:r>
          </a:p>
        </p:txBody>
      </p:sp>
      <p:sp>
        <p:nvSpPr>
          <p:cNvPr id="6" name="Oval 5"/>
          <p:cNvSpPr/>
          <p:nvPr/>
        </p:nvSpPr>
        <p:spPr>
          <a:xfrm>
            <a:off x="8382000" y="6096000"/>
            <a:ext cx="744538" cy="747713"/>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3494" name="TextBox 6">
            <a:hlinkClick r:id="rId3" action="ppaction://hlinksldjump"/>
          </p:cNvPr>
          <p:cNvSpPr txBox="1">
            <a:spLocks noChangeArrowheads="1"/>
          </p:cNvSpPr>
          <p:nvPr/>
        </p:nvSpPr>
        <p:spPr bwMode="auto">
          <a:xfrm>
            <a:off x="8428038" y="6203950"/>
            <a:ext cx="6699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1000">
                <a:latin typeface="Candara" pitchFamily="34" charset="0"/>
                <a:hlinkClick r:id="rId3" action="ppaction://hlinksldjump"/>
              </a:rPr>
              <a:t>Back to Table of contents</a:t>
            </a:r>
            <a:endParaRPr lang="en-US" sz="1000">
              <a:latin typeface="Candara" pitchFamily="34" charset="0"/>
            </a:endParaRPr>
          </a:p>
          <a:p>
            <a:pPr eaLnBrk="1" hangingPunct="1"/>
            <a:endParaRPr lang="en-US" sz="1000">
              <a:latin typeface="Candara" pitchFamily="34" charset="0"/>
            </a:endParaRPr>
          </a:p>
        </p:txBody>
      </p:sp>
    </p:spTree>
    <p:extLst>
      <p:ext uri="{BB962C8B-B14F-4D97-AF65-F5344CB8AC3E}">
        <p14:creationId xmlns:p14="http://schemas.microsoft.com/office/powerpoint/2010/main" val="400472811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7282">
                                            <p:txEl>
                                              <p:pRg st="1" end="1"/>
                                            </p:txEl>
                                          </p:spTgt>
                                        </p:tgtEl>
                                        <p:attrNameLst>
                                          <p:attrName>style.visibility</p:attrName>
                                        </p:attrNameLst>
                                      </p:cBhvr>
                                      <p:to>
                                        <p:strVal val="visible"/>
                                      </p:to>
                                    </p:set>
                                    <p:animEffect transition="in" filter="fade">
                                      <p:cBhvr>
                                        <p:cTn id="7" dur="1000"/>
                                        <p:tgtEl>
                                          <p:spTgt spid="97282">
                                            <p:txEl>
                                              <p:pRg st="1" end="1"/>
                                            </p:txEl>
                                          </p:spTgt>
                                        </p:tgtEl>
                                      </p:cBhvr>
                                    </p:animEffect>
                                  </p:childTnLst>
                                </p:cTn>
                              </p:par>
                            </p:childTnLst>
                          </p:cTn>
                        </p:par>
                        <p:par>
                          <p:cTn id="8" fill="hold" nodeType="afterGroup">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97282">
                                            <p:txEl>
                                              <p:pRg st="2" end="2"/>
                                            </p:txEl>
                                          </p:spTgt>
                                        </p:tgtEl>
                                        <p:attrNameLst>
                                          <p:attrName>style.visibility</p:attrName>
                                        </p:attrNameLst>
                                      </p:cBhvr>
                                      <p:to>
                                        <p:strVal val="visible"/>
                                      </p:to>
                                    </p:set>
                                    <p:animEffect transition="in" filter="fade">
                                      <p:cBhvr>
                                        <p:cTn id="11" dur="1000"/>
                                        <p:tgtEl>
                                          <p:spTgt spid="97282">
                                            <p:txEl>
                                              <p:pRg st="2" end="2"/>
                                            </p:txEl>
                                          </p:spTgt>
                                        </p:tgtEl>
                                      </p:cBhvr>
                                    </p:animEffect>
                                  </p:childTnLst>
                                </p:cTn>
                              </p:par>
                            </p:childTnLst>
                          </p:cTn>
                        </p:par>
                        <p:par>
                          <p:cTn id="12" fill="hold" nodeType="afterGroup">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97282">
                                            <p:txEl>
                                              <p:pRg st="3" end="3"/>
                                            </p:txEl>
                                          </p:spTgt>
                                        </p:tgtEl>
                                        <p:attrNameLst>
                                          <p:attrName>style.visibility</p:attrName>
                                        </p:attrNameLst>
                                      </p:cBhvr>
                                      <p:to>
                                        <p:strVal val="visible"/>
                                      </p:to>
                                    </p:set>
                                    <p:animEffect transition="in" filter="fade">
                                      <p:cBhvr>
                                        <p:cTn id="15" dur="1000"/>
                                        <p:tgtEl>
                                          <p:spTgt spid="97282">
                                            <p:txEl>
                                              <p:pRg st="3" end="3"/>
                                            </p:txEl>
                                          </p:spTgt>
                                        </p:tgtEl>
                                      </p:cBhvr>
                                    </p:animEffect>
                                  </p:childTnLst>
                                </p:cTn>
                              </p:par>
                            </p:childTnLst>
                          </p:cTn>
                        </p:par>
                        <p:par>
                          <p:cTn id="16" fill="hold" nodeType="afterGroup">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97282">
                                            <p:txEl>
                                              <p:pRg st="4" end="4"/>
                                            </p:txEl>
                                          </p:spTgt>
                                        </p:tgtEl>
                                        <p:attrNameLst>
                                          <p:attrName>style.visibility</p:attrName>
                                        </p:attrNameLst>
                                      </p:cBhvr>
                                      <p:to>
                                        <p:strVal val="visible"/>
                                      </p:to>
                                    </p:set>
                                    <p:animEffect transition="in" filter="fade">
                                      <p:cBhvr>
                                        <p:cTn id="19" dur="1000"/>
                                        <p:tgtEl>
                                          <p:spTgt spid="97282">
                                            <p:txEl>
                                              <p:pRg st="4" end="4"/>
                                            </p:txEl>
                                          </p:spTgt>
                                        </p:tgtEl>
                                      </p:cBhvr>
                                    </p:animEffect>
                                  </p:childTnLst>
                                </p:cTn>
                              </p:par>
                            </p:childTnLst>
                          </p:cTn>
                        </p:par>
                        <p:par>
                          <p:cTn id="20" fill="hold">
                            <p:stCondLst>
                              <p:cond delay="4000"/>
                            </p:stCondLst>
                            <p:childTnLst>
                              <p:par>
                                <p:cTn id="21" presetID="10" presetClass="entr" presetSubtype="0" fill="hold" grpId="0" nodeType="afterEffect">
                                  <p:stCondLst>
                                    <p:cond delay="0"/>
                                  </p:stCondLst>
                                  <p:childTnLst>
                                    <p:set>
                                      <p:cBhvr>
                                        <p:cTn id="22" dur="1" fill="hold">
                                          <p:stCondLst>
                                            <p:cond delay="0"/>
                                          </p:stCondLst>
                                        </p:cTn>
                                        <p:tgtEl>
                                          <p:spTgt spid="97282">
                                            <p:txEl>
                                              <p:pRg st="5" end="5"/>
                                            </p:txEl>
                                          </p:spTgt>
                                        </p:tgtEl>
                                        <p:attrNameLst>
                                          <p:attrName>style.visibility</p:attrName>
                                        </p:attrNameLst>
                                      </p:cBhvr>
                                      <p:to>
                                        <p:strVal val="visible"/>
                                      </p:to>
                                    </p:set>
                                    <p:animEffect transition="in" filter="fade">
                                      <p:cBhvr>
                                        <p:cTn id="23" dur="1000"/>
                                        <p:tgtEl>
                                          <p:spTgt spid="9728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2"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329" name="Rectangle 2"/>
          <p:cNvSpPr>
            <a:spLocks noGrp="1" noChangeArrowheads="1"/>
          </p:cNvSpPr>
          <p:nvPr>
            <p:ph type="title"/>
          </p:nvPr>
        </p:nvSpPr>
        <p:spPr/>
        <p:txBody>
          <a:bodyPr wrap="square" numCol="1" anchorCtr="0" compatLnSpc="1">
            <a:prstTxWarp prst="textNoShape">
              <a:avLst/>
            </a:prstTxWarp>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auto" hangingPunct="1">
              <a:spcAft>
                <a:spcPts val="0"/>
              </a:spcAft>
              <a:defRPr/>
            </a:pPr>
            <a:r>
              <a:rPr lang="en-US" sz="4000" dirty="0">
                <a:solidFill>
                  <a:srgbClr val="9BBB59"/>
                </a:solidFill>
                <a:latin typeface="Century Gothic"/>
              </a:rPr>
              <a:t>CHANGES IN INPUT PRICES</a:t>
            </a:r>
          </a:p>
        </p:txBody>
      </p:sp>
      <p:sp>
        <p:nvSpPr>
          <p:cNvPr id="31747" name="Rectangle 3"/>
          <p:cNvSpPr>
            <a:spLocks noGrp="1" noChangeArrowheads="1"/>
          </p:cNvSpPr>
          <p:nvPr>
            <p:ph idx="1"/>
          </p:nvPr>
        </p:nvSpPr>
        <p:spPr>
          <a:xfrm>
            <a:off x="228600" y="838200"/>
            <a:ext cx="8839200" cy="4800600"/>
          </a:xfrm>
        </p:spPr>
        <p:txBody>
          <a:bodyPr rtlCol="0">
            <a:normAutofit/>
          </a:bodyPr>
          <a:lstStyle/>
          <a:p>
            <a:pPr fontAlgn="auto">
              <a:spcAft>
                <a:spcPts val="0"/>
              </a:spcAft>
              <a:defRPr/>
            </a:pPr>
            <a:r>
              <a:rPr lang="en-US" dirty="0">
                <a:solidFill>
                  <a:schemeClr val="accent1">
                    <a:lumMod val="75000"/>
                  </a:schemeClr>
                </a:solidFill>
              </a:rPr>
              <a:t>A decrease in the price of an input (all else equal) </a:t>
            </a:r>
            <a:r>
              <a:rPr lang="en-US" i="1" dirty="0">
                <a:solidFill>
                  <a:schemeClr val="accent1">
                    <a:lumMod val="75000"/>
                  </a:schemeClr>
                </a:solidFill>
              </a:rPr>
              <a:t>increases profits </a:t>
            </a:r>
            <a:r>
              <a:rPr lang="en-US" dirty="0"/>
              <a:t>and encourages more supply (and vice versa).</a:t>
            </a:r>
          </a:p>
          <a:p>
            <a:pPr lvl="1" fontAlgn="auto">
              <a:spcAft>
                <a:spcPts val="0"/>
              </a:spcAft>
              <a:defRPr/>
            </a:pPr>
            <a:r>
              <a:rPr lang="en-US" dirty="0"/>
              <a:t>What will happen to the number of new businesses if the </a:t>
            </a:r>
            <a:r>
              <a:rPr lang="en-US" dirty="0">
                <a:solidFill>
                  <a:schemeClr val="accent1">
                    <a:lumMod val="75000"/>
                  </a:schemeClr>
                </a:solidFill>
              </a:rPr>
              <a:t>government reduces the fees and red tape associated with new business licenses? </a:t>
            </a:r>
            <a:r>
              <a:rPr lang="en-US" dirty="0"/>
              <a:t>What happens if the fees rise?</a:t>
            </a:r>
          </a:p>
        </p:txBody>
      </p:sp>
      <p:sp>
        <p:nvSpPr>
          <p:cNvPr id="6" name="Oval 5"/>
          <p:cNvSpPr/>
          <p:nvPr/>
        </p:nvSpPr>
        <p:spPr>
          <a:xfrm>
            <a:off x="8382000" y="6096000"/>
            <a:ext cx="744538" cy="747713"/>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Century Gothic"/>
              <a:cs typeface="Century Gothic"/>
            </a:endParaRPr>
          </a:p>
        </p:txBody>
      </p:sp>
      <p:sp>
        <p:nvSpPr>
          <p:cNvPr id="64518" name="TextBox 6">
            <a:hlinkClick r:id="rId3" action="ppaction://hlinksldjump"/>
          </p:cNvPr>
          <p:cNvSpPr txBox="1">
            <a:spLocks noChangeArrowheads="1"/>
          </p:cNvSpPr>
          <p:nvPr/>
        </p:nvSpPr>
        <p:spPr bwMode="auto">
          <a:xfrm>
            <a:off x="8428038" y="6203950"/>
            <a:ext cx="66992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1000">
                <a:latin typeface="Century Gothic"/>
                <a:cs typeface="Century Gothic"/>
                <a:hlinkClick r:id="rId3" action="ppaction://hlinksldjump"/>
              </a:rPr>
              <a:t>Back to Table of contents</a:t>
            </a:r>
            <a:endParaRPr lang="en-US" sz="1000">
              <a:latin typeface="Century Gothic"/>
              <a:cs typeface="Century Gothic"/>
            </a:endParaRPr>
          </a:p>
          <a:p>
            <a:pPr eaLnBrk="1" hangingPunct="1"/>
            <a:endParaRPr lang="en-US" sz="1000">
              <a:latin typeface="Century Gothic"/>
              <a:cs typeface="Century Gothic"/>
            </a:endParaRPr>
          </a:p>
        </p:txBody>
      </p:sp>
      <p:pic>
        <p:nvPicPr>
          <p:cNvPr id="64519" name="Picture 2"/>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2819400" y="4329113"/>
            <a:ext cx="2971800" cy="222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0924543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747">
                                            <p:txEl>
                                              <p:pRg st="1" end="1"/>
                                            </p:txEl>
                                          </p:spTgt>
                                        </p:tgtEl>
                                        <p:attrNameLst>
                                          <p:attrName>style.visibility</p:attrName>
                                        </p:attrNameLst>
                                      </p:cBhvr>
                                      <p:to>
                                        <p:strVal val="visible"/>
                                      </p:to>
                                    </p:set>
                                    <p:animEffect transition="in" filter="fade">
                                      <p:cBhvr>
                                        <p:cTn id="7" dur="1000"/>
                                        <p:tgtEl>
                                          <p:spTgt spid="3174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4519"/>
                                        </p:tgtEl>
                                        <p:attrNameLst>
                                          <p:attrName>style.visibility</p:attrName>
                                        </p:attrNameLst>
                                      </p:cBhvr>
                                      <p:to>
                                        <p:strVal val="visible"/>
                                      </p:to>
                                    </p:set>
                                    <p:animEffect transition="in" filter="fade">
                                      <p:cBhvr>
                                        <p:cTn id="12" dur="500"/>
                                        <p:tgtEl>
                                          <p:spTgt spid="645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bg>
      <p:bgPr>
        <a:blipFill dpi="0" rotWithShape="1">
          <a:blip r:embed="rId3" cstate="screen">
            <a:alphaModFix amt="62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0114" name="Title 1"/>
          <p:cNvSpPr>
            <a:spLocks noGrp="1"/>
          </p:cNvSpPr>
          <p:nvPr>
            <p:ph type="title"/>
          </p:nvPr>
        </p:nvSpPr>
        <p:spPr bwMode="auto">
          <a:solidFill>
            <a:schemeClr val="bg1">
              <a:alpha val="59000"/>
            </a:schemeClr>
          </a:solidFill>
        </p:spPr>
        <p:txBody>
          <a:bodyPr wrap="square" numCol="1" anchorCtr="0" compatLnSpc="1">
            <a:prstTxWarp prst="textNoShape">
              <a:avLst/>
            </a:prstTxWarp>
            <a:normAutofit/>
          </a:bodyPr>
          <a:lstStyle/>
          <a:p>
            <a:pPr fontAlgn="auto">
              <a:spcAft>
                <a:spcPts val="0"/>
              </a:spcAft>
              <a:defRPr/>
            </a:pPr>
            <a:r>
              <a:rPr lang="en-US" sz="3600" dirty="0">
                <a:solidFill>
                  <a:srgbClr val="9BBB59"/>
                </a:solidFill>
              </a:rPr>
              <a:t>CHANGES IN INPUT PRICES</a:t>
            </a:r>
          </a:p>
        </p:txBody>
      </p:sp>
      <p:sp>
        <p:nvSpPr>
          <p:cNvPr id="51203" name="Content Placeholder 3"/>
          <p:cNvSpPr>
            <a:spLocks noGrp="1"/>
          </p:cNvSpPr>
          <p:nvPr>
            <p:ph idx="1"/>
          </p:nvPr>
        </p:nvSpPr>
        <p:spPr>
          <a:xfrm>
            <a:off x="0" y="3505200"/>
            <a:ext cx="9144000" cy="1447800"/>
          </a:xfrm>
          <a:solidFill>
            <a:schemeClr val="bg1">
              <a:alpha val="59000"/>
            </a:schemeClr>
          </a:solidFill>
        </p:spPr>
        <p:txBody>
          <a:bodyPr>
            <a:normAutofit/>
          </a:bodyPr>
          <a:lstStyle/>
          <a:p>
            <a:pPr marL="0" lvl="1"/>
            <a:r>
              <a:rPr lang="en-US" sz="3000" dirty="0">
                <a:cs typeface="Arial" charset="0"/>
              </a:rPr>
              <a:t>When the price of cotton drops, the supply of </a:t>
            </a:r>
          </a:p>
          <a:p>
            <a:pPr marL="0" lvl="1"/>
            <a:r>
              <a:rPr lang="en-US" sz="3000" dirty="0">
                <a:cs typeface="Arial" charset="0"/>
              </a:rPr>
              <a:t>blue jeans increases.</a:t>
            </a:r>
          </a:p>
        </p:txBody>
      </p:sp>
      <p:sp>
        <p:nvSpPr>
          <p:cNvPr id="7" name="Oval 6"/>
          <p:cNvSpPr/>
          <p:nvPr/>
        </p:nvSpPr>
        <p:spPr>
          <a:xfrm>
            <a:off x="8382000" y="6096000"/>
            <a:ext cx="744538" cy="747713"/>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latin typeface="Calibri"/>
            </a:endParaRPr>
          </a:p>
        </p:txBody>
      </p:sp>
      <p:sp>
        <p:nvSpPr>
          <p:cNvPr id="65543" name="TextBox 7">
            <a:hlinkClick r:id="rId4" action="ppaction://hlinksldjump"/>
          </p:cNvPr>
          <p:cNvSpPr txBox="1">
            <a:spLocks noChangeArrowheads="1"/>
          </p:cNvSpPr>
          <p:nvPr/>
        </p:nvSpPr>
        <p:spPr bwMode="auto">
          <a:xfrm>
            <a:off x="8428038" y="6203950"/>
            <a:ext cx="6699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1000">
                <a:solidFill>
                  <a:prstClr val="black"/>
                </a:solidFill>
                <a:latin typeface="Candara" pitchFamily="34" charset="0"/>
                <a:hlinkClick r:id="rId4" action="ppaction://hlinksldjump"/>
              </a:rPr>
              <a:t>Back to Table of contents</a:t>
            </a:r>
            <a:endParaRPr lang="en-US" sz="1000">
              <a:solidFill>
                <a:prstClr val="black"/>
              </a:solidFill>
              <a:latin typeface="Candara" pitchFamily="34" charset="0"/>
            </a:endParaRPr>
          </a:p>
          <a:p>
            <a:pPr eaLnBrk="1" hangingPunct="1"/>
            <a:endParaRPr lang="en-US" sz="1000">
              <a:solidFill>
                <a:prstClr val="black"/>
              </a:solidFill>
              <a:latin typeface="Candara" pitchFamily="34" charset="0"/>
            </a:endParaRPr>
          </a:p>
        </p:txBody>
      </p:sp>
    </p:spTree>
    <p:extLst>
      <p:ext uri="{BB962C8B-B14F-4D97-AF65-F5344CB8AC3E}">
        <p14:creationId xmlns:p14="http://schemas.microsoft.com/office/powerpoint/2010/main" val="996789839"/>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203">
                                            <p:bg/>
                                          </p:spTgt>
                                        </p:tgtEl>
                                        <p:attrNameLst>
                                          <p:attrName>style.visibility</p:attrName>
                                        </p:attrNameLst>
                                      </p:cBhvr>
                                      <p:to>
                                        <p:strVal val="visible"/>
                                      </p:to>
                                    </p:set>
                                    <p:animEffect transition="in" filter="fade">
                                      <p:cBhvr>
                                        <p:cTn id="7" dur="1000"/>
                                        <p:tgtEl>
                                          <p:spTgt spid="51203">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1203">
                                            <p:txEl>
                                              <p:pRg st="0" end="0"/>
                                            </p:txEl>
                                          </p:spTgt>
                                        </p:tgtEl>
                                        <p:attrNameLst>
                                          <p:attrName>style.visibility</p:attrName>
                                        </p:attrNameLst>
                                      </p:cBhvr>
                                      <p:to>
                                        <p:strVal val="visible"/>
                                      </p:to>
                                    </p:set>
                                    <p:animEffect transition="in" filter="fade">
                                      <p:cBhvr>
                                        <p:cTn id="10" dur="1000"/>
                                        <p:tgtEl>
                                          <p:spTgt spid="51203">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1203">
                                            <p:txEl>
                                              <p:pRg st="1" end="1"/>
                                            </p:txEl>
                                          </p:spTgt>
                                        </p:tgtEl>
                                        <p:attrNameLst>
                                          <p:attrName>style.visibility</p:attrName>
                                        </p:attrNameLst>
                                      </p:cBhvr>
                                      <p:to>
                                        <p:strVal val="visible"/>
                                      </p:to>
                                    </p:set>
                                    <p:animEffect transition="in" filter="fade">
                                      <p:cBhvr>
                                        <p:cTn id="13" dur="1000"/>
                                        <p:tgtEl>
                                          <p:spTgt spid="5120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build="p"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665" name="Rectangle 2"/>
          <p:cNvSpPr>
            <a:spLocks noGrp="1" noChangeArrowheads="1"/>
          </p:cNvSpPr>
          <p:nvPr>
            <p:ph type="title"/>
          </p:nvPr>
        </p:nvSpPr>
        <p:spPr>
          <a:xfrm>
            <a:off x="0" y="0"/>
            <a:ext cx="9144000" cy="990600"/>
          </a:xfrm>
        </p:spPr>
        <p:txBody>
          <a:bodyPr wrap="square" numCol="1" anchorCtr="0" compatLnSpc="1">
            <a:prstTxWarp prst="textNoShape">
              <a:avLst/>
            </a:prstTxWarp>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auto" hangingPunct="1">
              <a:spcAft>
                <a:spcPts val="0"/>
              </a:spcAft>
              <a:defRPr/>
            </a:pPr>
            <a:r>
              <a:rPr lang="en-US" sz="3600" dirty="0">
                <a:solidFill>
                  <a:srgbClr val="9BBB59"/>
                </a:solidFill>
                <a:latin typeface="Century Gothic"/>
              </a:rPr>
              <a:t>CHANGES IN THE PRICE OF RELATED GOODS OR SERVICES</a:t>
            </a:r>
          </a:p>
        </p:txBody>
      </p:sp>
      <p:sp>
        <p:nvSpPr>
          <p:cNvPr id="31747" name="Rectangle 3"/>
          <p:cNvSpPr>
            <a:spLocks noGrp="1" noChangeArrowheads="1"/>
          </p:cNvSpPr>
          <p:nvPr>
            <p:ph idx="1"/>
          </p:nvPr>
        </p:nvSpPr>
        <p:spPr>
          <a:xfrm>
            <a:off x="152400" y="1066800"/>
            <a:ext cx="8839200" cy="4648200"/>
          </a:xfrm>
        </p:spPr>
        <p:txBody>
          <a:bodyPr rtlCol="0">
            <a:normAutofit/>
          </a:bodyPr>
          <a:lstStyle/>
          <a:p>
            <a:pPr fontAlgn="auto">
              <a:spcAft>
                <a:spcPts val="0"/>
              </a:spcAft>
              <a:defRPr/>
            </a:pPr>
            <a:r>
              <a:rPr lang="en-US" sz="2800" dirty="0">
                <a:ea typeface="ＭＳ Ｐゴシック" pitchFamily="34" charset="-128"/>
              </a:rPr>
              <a:t>Inputs used in production have </a:t>
            </a:r>
            <a:r>
              <a:rPr lang="en-US" sz="2800" i="1" dirty="0">
                <a:solidFill>
                  <a:schemeClr val="accent1">
                    <a:lumMod val="75000"/>
                  </a:schemeClr>
                </a:solidFill>
                <a:ea typeface="ＭＳ Ｐゴシック" pitchFamily="34" charset="-128"/>
              </a:rPr>
              <a:t>opportunity costs</a:t>
            </a:r>
            <a:r>
              <a:rPr lang="en-US" sz="2800" dirty="0">
                <a:solidFill>
                  <a:schemeClr val="accent1">
                    <a:lumMod val="75000"/>
                  </a:schemeClr>
                </a:solidFill>
                <a:ea typeface="ＭＳ Ｐゴシック" pitchFamily="34" charset="-128"/>
              </a:rPr>
              <a:t>.  </a:t>
            </a:r>
            <a:r>
              <a:rPr lang="en-US" sz="2800" dirty="0">
                <a:ea typeface="ＭＳ Ｐゴシック" pitchFamily="34" charset="-128"/>
              </a:rPr>
              <a:t>Sellers will choose to use inputs whose profit is the highest. </a:t>
            </a:r>
            <a:endParaRPr lang="en-US" dirty="0">
              <a:ea typeface="ＭＳ Ｐゴシック" pitchFamily="34" charset="-128"/>
            </a:endParaRPr>
          </a:p>
          <a:p>
            <a:pPr lvl="1" fontAlgn="auto">
              <a:spcAft>
                <a:spcPts val="0"/>
              </a:spcAft>
              <a:defRPr/>
            </a:pPr>
            <a:r>
              <a:rPr lang="en-US" dirty="0">
                <a:ea typeface="ＭＳ Ｐゴシック" pitchFamily="34" charset="-128"/>
              </a:rPr>
              <a:t>Sellers will supply </a:t>
            </a:r>
            <a:r>
              <a:rPr lang="en-US" dirty="0">
                <a:solidFill>
                  <a:srgbClr val="990033"/>
                </a:solidFill>
                <a:ea typeface="ＭＳ Ｐゴシック" pitchFamily="34" charset="-128"/>
              </a:rPr>
              <a:t>less of a good if its profitability falls</a:t>
            </a:r>
            <a:r>
              <a:rPr lang="en-US" dirty="0">
                <a:solidFill>
                  <a:schemeClr val="accent6">
                    <a:lumMod val="75000"/>
                  </a:schemeClr>
                </a:solidFill>
                <a:ea typeface="ＭＳ Ｐゴシック" pitchFamily="34" charset="-128"/>
              </a:rPr>
              <a:t> </a:t>
            </a:r>
            <a:r>
              <a:rPr lang="en-US" dirty="0">
                <a:ea typeface="ＭＳ Ｐゴシック" pitchFamily="34" charset="-128"/>
              </a:rPr>
              <a:t>(and vice versa).</a:t>
            </a:r>
          </a:p>
          <a:p>
            <a:pPr lvl="1" fontAlgn="auto">
              <a:spcAft>
                <a:spcPts val="0"/>
              </a:spcAft>
              <a:defRPr/>
            </a:pPr>
            <a:r>
              <a:rPr lang="en-US" dirty="0">
                <a:ea typeface="ＭＳ Ｐゴシック" pitchFamily="34" charset="-128"/>
              </a:rPr>
              <a:t>There are </a:t>
            </a:r>
            <a:r>
              <a:rPr lang="en-US" dirty="0">
                <a:solidFill>
                  <a:srgbClr val="990033"/>
                </a:solidFill>
                <a:ea typeface="ＭＳ Ｐゴシック" pitchFamily="34" charset="-128"/>
              </a:rPr>
              <a:t>substitutes</a:t>
            </a:r>
            <a:r>
              <a:rPr lang="en-US" dirty="0">
                <a:ea typeface="ＭＳ Ｐゴシック" pitchFamily="34" charset="-128"/>
              </a:rPr>
              <a:t> and </a:t>
            </a:r>
            <a:r>
              <a:rPr lang="en-US" dirty="0">
                <a:solidFill>
                  <a:srgbClr val="990033"/>
                </a:solidFill>
                <a:ea typeface="ＭＳ Ｐゴシック" pitchFamily="34" charset="-128"/>
              </a:rPr>
              <a:t>complements</a:t>
            </a:r>
            <a:r>
              <a:rPr lang="en-US" dirty="0">
                <a:ea typeface="ＭＳ Ｐゴシック" pitchFamily="34" charset="-128"/>
              </a:rPr>
              <a:t> in production processes.</a:t>
            </a:r>
          </a:p>
          <a:p>
            <a:pPr lvl="1" fontAlgn="auto">
              <a:spcAft>
                <a:spcPts val="0"/>
              </a:spcAft>
              <a:defRPr/>
            </a:pPr>
            <a:r>
              <a:rPr lang="en-US" dirty="0">
                <a:ea typeface="ＭＳ Ｐゴシック" pitchFamily="34" charset="-128"/>
              </a:rPr>
              <a:t>	Complement in pork processing? Lard.</a:t>
            </a:r>
          </a:p>
          <a:p>
            <a:pPr lvl="1" fontAlgn="auto">
              <a:spcAft>
                <a:spcPts val="0"/>
              </a:spcAft>
              <a:defRPr/>
            </a:pPr>
            <a:r>
              <a:rPr lang="en-US" dirty="0">
                <a:ea typeface="ＭＳ Ｐゴシック" pitchFamily="34" charset="-128"/>
              </a:rPr>
              <a:t>	Substitute in corn production?  Cotton.</a:t>
            </a:r>
          </a:p>
          <a:p>
            <a:pPr lvl="1" fontAlgn="auto">
              <a:spcAft>
                <a:spcPts val="0"/>
              </a:spcAft>
              <a:defRPr/>
            </a:pPr>
            <a:endParaRPr lang="en-US" dirty="0">
              <a:ea typeface="ＭＳ Ｐゴシック" pitchFamily="34" charset="-128"/>
            </a:endParaRPr>
          </a:p>
          <a:p>
            <a:pPr marL="514350" indent="-514350" fontAlgn="auto">
              <a:spcAft>
                <a:spcPts val="0"/>
              </a:spcAft>
              <a:defRPr/>
            </a:pPr>
            <a:endParaRPr lang="en-US" sz="2800" dirty="0">
              <a:ea typeface="ＭＳ Ｐゴシック" pitchFamily="34" charset="-128"/>
            </a:endParaRPr>
          </a:p>
        </p:txBody>
      </p:sp>
      <p:pic>
        <p:nvPicPr>
          <p:cNvPr id="3" name="Picture 2"/>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712237" y="4800600"/>
            <a:ext cx="1469363" cy="2209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p:cNvCxnSpPr/>
          <p:nvPr/>
        </p:nvCxnSpPr>
        <p:spPr>
          <a:xfrm flipV="1">
            <a:off x="4267200" y="1219200"/>
            <a:ext cx="0" cy="42672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Oval 6"/>
          <p:cNvSpPr/>
          <p:nvPr/>
        </p:nvSpPr>
        <p:spPr>
          <a:xfrm>
            <a:off x="8382000" y="6096000"/>
            <a:ext cx="744538" cy="747713"/>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Century Gothic"/>
              <a:cs typeface="Century Gothic"/>
            </a:endParaRPr>
          </a:p>
        </p:txBody>
      </p:sp>
      <p:sp>
        <p:nvSpPr>
          <p:cNvPr id="66568" name="TextBox 7">
            <a:hlinkClick r:id="rId4" action="ppaction://hlinksldjump"/>
          </p:cNvPr>
          <p:cNvSpPr txBox="1">
            <a:spLocks noChangeArrowheads="1"/>
          </p:cNvSpPr>
          <p:nvPr/>
        </p:nvSpPr>
        <p:spPr bwMode="auto">
          <a:xfrm>
            <a:off x="8428038" y="6203950"/>
            <a:ext cx="6699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900" dirty="0">
                <a:latin typeface="Century Gothic"/>
                <a:cs typeface="Century Gothic"/>
                <a:hlinkClick r:id="rId4" action="ppaction://hlinksldjump"/>
              </a:rPr>
              <a:t>Back to Table of contents</a:t>
            </a:r>
            <a:endParaRPr lang="en-US" sz="900" dirty="0">
              <a:latin typeface="Century Gothic"/>
              <a:cs typeface="Century Gothic"/>
            </a:endParaRPr>
          </a:p>
          <a:p>
            <a:pPr eaLnBrk="1" hangingPunct="1"/>
            <a:endParaRPr lang="en-US" sz="900" dirty="0">
              <a:latin typeface="Century Gothic"/>
              <a:cs typeface="Century Gothic"/>
            </a:endParaRPr>
          </a:p>
        </p:txBody>
      </p:sp>
    </p:spTree>
    <p:extLst>
      <p:ext uri="{BB962C8B-B14F-4D97-AF65-F5344CB8AC3E}">
        <p14:creationId xmlns:p14="http://schemas.microsoft.com/office/powerpoint/2010/main" val="190288931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Effect transition="in" filter="fade">
                                      <p:cBhvr>
                                        <p:cTn id="7" dur="500"/>
                                        <p:tgtEl>
                                          <p:spTgt spid="3174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par>
                          <p:cTn id="14" fill="hold" nodeType="afterGroup">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31747">
                                            <p:txEl>
                                              <p:pRg st="1" end="1"/>
                                            </p:txEl>
                                          </p:spTgt>
                                        </p:tgtEl>
                                        <p:attrNameLst>
                                          <p:attrName>style.visibility</p:attrName>
                                        </p:attrNameLst>
                                      </p:cBhvr>
                                      <p:to>
                                        <p:strVal val="visible"/>
                                      </p:to>
                                    </p:set>
                                    <p:animEffect transition="in" filter="fade">
                                      <p:cBhvr>
                                        <p:cTn id="17" dur="500"/>
                                        <p:tgtEl>
                                          <p:spTgt spid="31747">
                                            <p:txEl>
                                              <p:pRg st="1" end="1"/>
                                            </p:txEl>
                                          </p:spTgt>
                                        </p:tgtEl>
                                      </p:cBhvr>
                                    </p:animEffect>
                                  </p:childTnLst>
                                </p:cTn>
                              </p:par>
                            </p:childTnLst>
                          </p:cTn>
                        </p:par>
                        <p:par>
                          <p:cTn id="18" fill="hold" nodeType="afterGroup">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31747">
                                            <p:txEl>
                                              <p:pRg st="2" end="2"/>
                                            </p:txEl>
                                          </p:spTgt>
                                        </p:tgtEl>
                                        <p:attrNameLst>
                                          <p:attrName>style.visibility</p:attrName>
                                        </p:attrNameLst>
                                      </p:cBhvr>
                                      <p:to>
                                        <p:strVal val="visible"/>
                                      </p:to>
                                    </p:set>
                                    <p:animEffect transition="in" filter="fade">
                                      <p:cBhvr>
                                        <p:cTn id="21" dur="500"/>
                                        <p:tgtEl>
                                          <p:spTgt spid="31747">
                                            <p:txEl>
                                              <p:pRg st="2" end="2"/>
                                            </p:txEl>
                                          </p:spTgt>
                                        </p:tgtEl>
                                      </p:cBhvr>
                                    </p:animEffect>
                                  </p:childTnLst>
                                </p:cTn>
                              </p:par>
                            </p:childTnLst>
                          </p:cTn>
                        </p:par>
                        <p:par>
                          <p:cTn id="22" fill="hold" nodeType="afterGroup">
                            <p:stCondLst>
                              <p:cond delay="1500"/>
                            </p:stCondLst>
                            <p:childTnLst>
                              <p:par>
                                <p:cTn id="23" presetID="10" presetClass="entr" presetSubtype="0" fill="hold" grpId="0" nodeType="afterEffect">
                                  <p:stCondLst>
                                    <p:cond delay="0"/>
                                  </p:stCondLst>
                                  <p:childTnLst>
                                    <p:set>
                                      <p:cBhvr>
                                        <p:cTn id="24" dur="1" fill="hold">
                                          <p:stCondLst>
                                            <p:cond delay="0"/>
                                          </p:stCondLst>
                                        </p:cTn>
                                        <p:tgtEl>
                                          <p:spTgt spid="31747">
                                            <p:txEl>
                                              <p:pRg st="3" end="3"/>
                                            </p:txEl>
                                          </p:spTgt>
                                        </p:tgtEl>
                                        <p:attrNameLst>
                                          <p:attrName>style.visibility</p:attrName>
                                        </p:attrNameLst>
                                      </p:cBhvr>
                                      <p:to>
                                        <p:strVal val="visible"/>
                                      </p:to>
                                    </p:set>
                                    <p:animEffect transition="in" filter="fade">
                                      <p:cBhvr>
                                        <p:cTn id="25" dur="500"/>
                                        <p:tgtEl>
                                          <p:spTgt spid="31747">
                                            <p:txEl>
                                              <p:pRg st="3" end="3"/>
                                            </p:txEl>
                                          </p:spTgt>
                                        </p:tgtEl>
                                      </p:cBhvr>
                                    </p:animEffect>
                                  </p:childTnLst>
                                </p:cTn>
                              </p:par>
                            </p:childTnLst>
                          </p:cTn>
                        </p:par>
                        <p:par>
                          <p:cTn id="26" fill="hold" nodeType="afterGroup">
                            <p:stCondLst>
                              <p:cond delay="2000"/>
                            </p:stCondLst>
                            <p:childTnLst>
                              <p:par>
                                <p:cTn id="27" presetID="10" presetClass="entr" presetSubtype="0" fill="hold" grpId="0" nodeType="afterEffect">
                                  <p:stCondLst>
                                    <p:cond delay="0"/>
                                  </p:stCondLst>
                                  <p:childTnLst>
                                    <p:set>
                                      <p:cBhvr>
                                        <p:cTn id="28" dur="1" fill="hold">
                                          <p:stCondLst>
                                            <p:cond delay="0"/>
                                          </p:stCondLst>
                                        </p:cTn>
                                        <p:tgtEl>
                                          <p:spTgt spid="31747">
                                            <p:txEl>
                                              <p:pRg st="4" end="4"/>
                                            </p:txEl>
                                          </p:spTgt>
                                        </p:tgtEl>
                                        <p:attrNameLst>
                                          <p:attrName>style.visibility</p:attrName>
                                        </p:attrNameLst>
                                      </p:cBhvr>
                                      <p:to>
                                        <p:strVal val="visible"/>
                                      </p:to>
                                    </p:set>
                                    <p:animEffect transition="in" filter="fade">
                                      <p:cBhvr>
                                        <p:cTn id="29" dur="500"/>
                                        <p:tgtEl>
                                          <p:spTgt spid="317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bg>
      <p:bgPr>
        <a:blipFill dpi="0" rotWithShape="1">
          <a:blip r:embed="rId3"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7281" name="Rectangle 2"/>
          <p:cNvSpPr>
            <a:spLocks noGrp="1" noChangeArrowheads="1"/>
          </p:cNvSpPr>
          <p:nvPr>
            <p:ph type="title"/>
          </p:nvPr>
        </p:nvSpPr>
        <p:spPr/>
        <p:txBody>
          <a:bodyPr wrap="square" numCol="1" anchorCtr="0" compatLnSpc="1">
            <a:prstTxWarp prst="textNoShape">
              <a:avLst/>
            </a:prstTxWarp>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auto" hangingPunct="1">
              <a:spcAft>
                <a:spcPts val="0"/>
              </a:spcAft>
              <a:defRPr/>
            </a:pPr>
            <a:r>
              <a:rPr lang="en-US" sz="3600" dirty="0">
                <a:solidFill>
                  <a:schemeClr val="accent3"/>
                </a:solidFill>
                <a:latin typeface="Century Gothic"/>
              </a:rPr>
              <a:t>CHANGES IN TECHNOLOGY</a:t>
            </a:r>
          </a:p>
        </p:txBody>
      </p:sp>
      <p:sp>
        <p:nvSpPr>
          <p:cNvPr id="31747" name="Rectangle 3"/>
          <p:cNvSpPr>
            <a:spLocks noGrp="1" noChangeArrowheads="1"/>
          </p:cNvSpPr>
          <p:nvPr>
            <p:ph idx="1"/>
          </p:nvPr>
        </p:nvSpPr>
        <p:spPr>
          <a:xfrm>
            <a:off x="0" y="3352800"/>
            <a:ext cx="9144000" cy="2209800"/>
          </a:xfrm>
          <a:solidFill>
            <a:schemeClr val="bg1">
              <a:alpha val="82000"/>
            </a:schemeClr>
          </a:solidFill>
        </p:spPr>
        <p:txBody>
          <a:bodyPr rtlCol="0">
            <a:normAutofit/>
          </a:bodyPr>
          <a:lstStyle/>
          <a:p>
            <a:pPr fontAlgn="auto">
              <a:lnSpc>
                <a:spcPct val="90000"/>
              </a:lnSpc>
              <a:spcAft>
                <a:spcPts val="0"/>
              </a:spcAft>
              <a:defRPr/>
            </a:pPr>
            <a:r>
              <a:rPr lang="en-US" sz="2800" dirty="0">
                <a:ea typeface="ＭＳ Ｐゴシック" pitchFamily="34" charset="-128"/>
                <a:cs typeface="Arial" charset="0"/>
              </a:rPr>
              <a:t>New, better technology makes sellers </a:t>
            </a:r>
            <a:r>
              <a:rPr lang="en-US" sz="2800" i="1" dirty="0">
                <a:solidFill>
                  <a:schemeClr val="accent1">
                    <a:lumMod val="75000"/>
                  </a:schemeClr>
                </a:solidFill>
                <a:ea typeface="ＭＳ Ｐゴシック" pitchFamily="34" charset="-128"/>
                <a:cs typeface="Arial" charset="0"/>
              </a:rPr>
              <a:t>willing to offer more at a given price or sell their quantity at a lower price.</a:t>
            </a:r>
          </a:p>
          <a:p>
            <a:pPr lvl="1" fontAlgn="auto">
              <a:lnSpc>
                <a:spcPct val="90000"/>
              </a:lnSpc>
              <a:spcAft>
                <a:spcPts val="0"/>
              </a:spcAft>
              <a:defRPr/>
            </a:pPr>
            <a:r>
              <a:rPr lang="en-US" dirty="0">
                <a:ea typeface="ＭＳ Ｐゴシック" pitchFamily="34" charset="-128"/>
                <a:cs typeface="Arial" charset="0"/>
              </a:rPr>
              <a:t>A technological innovation </a:t>
            </a:r>
            <a:r>
              <a:rPr lang="en-US" i="1" dirty="0">
                <a:solidFill>
                  <a:schemeClr val="accent1">
                    <a:lumMod val="75000"/>
                  </a:schemeClr>
                </a:solidFill>
                <a:ea typeface="ＭＳ Ｐゴシック" pitchFamily="34" charset="-128"/>
                <a:cs typeface="Arial" charset="0"/>
              </a:rPr>
              <a:t>lowers costs</a:t>
            </a:r>
            <a:r>
              <a:rPr lang="en-US" dirty="0">
                <a:solidFill>
                  <a:schemeClr val="accent1">
                    <a:lumMod val="75000"/>
                  </a:schemeClr>
                </a:solidFill>
                <a:ea typeface="ＭＳ Ｐゴシック" pitchFamily="34" charset="-128"/>
                <a:cs typeface="Arial" charset="0"/>
              </a:rPr>
              <a:t> </a:t>
            </a:r>
            <a:r>
              <a:rPr lang="en-US" dirty="0">
                <a:ea typeface="ＭＳ Ｐゴシック" pitchFamily="34" charset="-128"/>
                <a:cs typeface="Arial" charset="0"/>
              </a:rPr>
              <a:t>and </a:t>
            </a:r>
            <a:r>
              <a:rPr lang="en-US" i="1" dirty="0">
                <a:solidFill>
                  <a:schemeClr val="accent1">
                    <a:lumMod val="75000"/>
                  </a:schemeClr>
                </a:solidFill>
                <a:ea typeface="ＭＳ Ｐゴシック" pitchFamily="34" charset="-128"/>
                <a:cs typeface="Arial" charset="0"/>
              </a:rPr>
              <a:t>increases supply</a:t>
            </a:r>
            <a:r>
              <a:rPr lang="en-US" dirty="0">
                <a:solidFill>
                  <a:schemeClr val="accent1">
                    <a:lumMod val="75000"/>
                  </a:schemeClr>
                </a:solidFill>
                <a:ea typeface="ＭＳ Ｐゴシック" pitchFamily="34" charset="-128"/>
                <a:cs typeface="Arial" charset="0"/>
              </a:rPr>
              <a:t>.</a:t>
            </a:r>
          </a:p>
          <a:p>
            <a:pPr marL="514350" indent="-514350" fontAlgn="auto">
              <a:lnSpc>
                <a:spcPct val="90000"/>
              </a:lnSpc>
              <a:spcAft>
                <a:spcPts val="0"/>
              </a:spcAft>
              <a:defRPr/>
            </a:pPr>
            <a:endParaRPr lang="en-US" sz="2800" dirty="0">
              <a:ea typeface="ＭＳ Ｐゴシック" pitchFamily="34" charset="-128"/>
              <a:cs typeface="Arial" charset="0"/>
            </a:endParaRPr>
          </a:p>
        </p:txBody>
      </p:sp>
      <p:sp>
        <p:nvSpPr>
          <p:cNvPr id="7" name="Oval 6"/>
          <p:cNvSpPr/>
          <p:nvPr/>
        </p:nvSpPr>
        <p:spPr>
          <a:xfrm>
            <a:off x="8382000" y="6096000"/>
            <a:ext cx="744538" cy="747713"/>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latin typeface="Calibri"/>
            </a:endParaRPr>
          </a:p>
        </p:txBody>
      </p:sp>
      <p:sp>
        <p:nvSpPr>
          <p:cNvPr id="67591" name="TextBox 7">
            <a:hlinkClick r:id="rId4" action="ppaction://hlinksldjump"/>
          </p:cNvPr>
          <p:cNvSpPr txBox="1">
            <a:spLocks noChangeArrowheads="1"/>
          </p:cNvSpPr>
          <p:nvPr/>
        </p:nvSpPr>
        <p:spPr bwMode="auto">
          <a:xfrm>
            <a:off x="8428038" y="6203950"/>
            <a:ext cx="6699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1000">
                <a:solidFill>
                  <a:prstClr val="black"/>
                </a:solidFill>
                <a:latin typeface="Candara" pitchFamily="34" charset="0"/>
                <a:hlinkClick r:id="rId4" action="ppaction://hlinksldjump"/>
              </a:rPr>
              <a:t>Back to Table of contents</a:t>
            </a:r>
            <a:endParaRPr lang="en-US" sz="1000">
              <a:solidFill>
                <a:prstClr val="black"/>
              </a:solidFill>
              <a:latin typeface="Candara" pitchFamily="34" charset="0"/>
            </a:endParaRPr>
          </a:p>
          <a:p>
            <a:pPr eaLnBrk="1" hangingPunct="1"/>
            <a:endParaRPr lang="en-US" sz="1000">
              <a:solidFill>
                <a:prstClr val="black"/>
              </a:solidFill>
              <a:latin typeface="Candara" pitchFamily="34" charset="0"/>
            </a:endParaRPr>
          </a:p>
        </p:txBody>
      </p:sp>
    </p:spTree>
    <p:extLst>
      <p:ext uri="{BB962C8B-B14F-4D97-AF65-F5344CB8AC3E}">
        <p14:creationId xmlns:p14="http://schemas.microsoft.com/office/powerpoint/2010/main" val="80478523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747">
                                            <p:txEl>
                                              <p:pRg st="1" end="1"/>
                                            </p:txEl>
                                          </p:spTgt>
                                        </p:tgtEl>
                                        <p:attrNameLst>
                                          <p:attrName>style.visibility</p:attrName>
                                        </p:attrNameLst>
                                      </p:cBhvr>
                                      <p:to>
                                        <p:strVal val="visible"/>
                                      </p:to>
                                    </p:set>
                                    <p:animEffect transition="in" filter="fade">
                                      <p:cBhvr>
                                        <p:cTn id="7" dur="1000"/>
                                        <p:tgtEl>
                                          <p:spTgt spid="3174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473" name="Rectangle 2"/>
          <p:cNvSpPr>
            <a:spLocks noGrp="1" noChangeArrowheads="1"/>
          </p:cNvSpPr>
          <p:nvPr>
            <p:ph type="title"/>
          </p:nvPr>
        </p:nvSpPr>
        <p:spPr/>
        <p:txBody>
          <a:bodyPr wrap="square" numCol="1" anchorCtr="0" compatLnSpc="1">
            <a:prstTxWarp prst="textNoShape">
              <a:avLst/>
            </a:prstTxWarp>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auto" hangingPunct="1">
              <a:spcAft>
                <a:spcPts val="0"/>
              </a:spcAft>
              <a:defRPr/>
            </a:pPr>
            <a:r>
              <a:rPr lang="en-US" sz="3600" dirty="0">
                <a:solidFill>
                  <a:srgbClr val="9BBB59"/>
                </a:solidFill>
                <a:latin typeface="Century Gothic"/>
              </a:rPr>
              <a:t>CHANGES IN EXPECTATIONS</a:t>
            </a:r>
          </a:p>
        </p:txBody>
      </p:sp>
      <p:sp>
        <p:nvSpPr>
          <p:cNvPr id="31747" name="Rectangle 3"/>
          <p:cNvSpPr>
            <a:spLocks noGrp="1" noChangeArrowheads="1"/>
          </p:cNvSpPr>
          <p:nvPr>
            <p:ph idx="1"/>
          </p:nvPr>
        </p:nvSpPr>
        <p:spPr/>
        <p:txBody>
          <a:bodyPr>
            <a:normAutofit/>
          </a:bodyPr>
          <a:lstStyle/>
          <a:p>
            <a:r>
              <a:rPr lang="en-US" sz="2800" dirty="0">
                <a:ea typeface="ＭＳ Ｐゴシック" pitchFamily="34" charset="-128"/>
                <a:cs typeface="Arial" charset="0"/>
              </a:rPr>
              <a:t>The </a:t>
            </a:r>
            <a:r>
              <a:rPr lang="en-US" sz="2800" dirty="0">
                <a:solidFill>
                  <a:schemeClr val="accent1">
                    <a:lumMod val="75000"/>
                  </a:schemeClr>
                </a:solidFill>
                <a:ea typeface="ＭＳ Ｐゴシック" pitchFamily="34" charset="-128"/>
                <a:cs typeface="Arial" charset="0"/>
              </a:rPr>
              <a:t>expectation of a higher price for a good in the future </a:t>
            </a:r>
            <a:r>
              <a:rPr lang="en-US" sz="2800" i="1" dirty="0">
                <a:ea typeface="ＭＳ Ｐゴシック" pitchFamily="34" charset="-128"/>
                <a:cs typeface="Arial" charset="0"/>
              </a:rPr>
              <a:t>decreases current supply of the good </a:t>
            </a:r>
            <a:r>
              <a:rPr lang="en-US" sz="2800" dirty="0">
                <a:ea typeface="ＭＳ Ｐゴシック" pitchFamily="34" charset="-128"/>
                <a:cs typeface="Arial" charset="0"/>
              </a:rPr>
              <a:t>– if they can store the good (and vice versa).</a:t>
            </a:r>
          </a:p>
          <a:p>
            <a:pPr lvl="1"/>
            <a:r>
              <a:rPr lang="en-US" dirty="0">
                <a:ea typeface="ＭＳ Ｐゴシック" pitchFamily="34" charset="-128"/>
                <a:cs typeface="Arial" charset="0"/>
              </a:rPr>
              <a:t>Sellers will adjust their current offerings in anticipation of the </a:t>
            </a:r>
            <a:r>
              <a:rPr lang="en-US" i="1" dirty="0">
                <a:solidFill>
                  <a:schemeClr val="accent1">
                    <a:lumMod val="75000"/>
                  </a:schemeClr>
                </a:solidFill>
                <a:ea typeface="ＭＳ Ｐゴシック" pitchFamily="34" charset="-128"/>
                <a:cs typeface="Arial" charset="0"/>
              </a:rPr>
              <a:t>direction of future prices</a:t>
            </a:r>
            <a:r>
              <a:rPr lang="en-US" dirty="0">
                <a:solidFill>
                  <a:schemeClr val="accent1">
                    <a:lumMod val="75000"/>
                  </a:schemeClr>
                </a:solidFill>
                <a:ea typeface="ＭＳ Ｐゴシック" pitchFamily="34" charset="-128"/>
                <a:cs typeface="Arial" charset="0"/>
              </a:rPr>
              <a:t> </a:t>
            </a:r>
            <a:r>
              <a:rPr lang="en-US" dirty="0">
                <a:ea typeface="ＭＳ Ｐゴシック" pitchFamily="34" charset="-128"/>
                <a:cs typeface="Arial" charset="0"/>
              </a:rPr>
              <a:t>in order to obtain the highest possible price.</a:t>
            </a:r>
          </a:p>
        </p:txBody>
      </p:sp>
      <p:sp>
        <p:nvSpPr>
          <p:cNvPr id="6" name="Oval 5"/>
          <p:cNvSpPr/>
          <p:nvPr/>
        </p:nvSpPr>
        <p:spPr>
          <a:xfrm>
            <a:off x="8382000" y="6096000"/>
            <a:ext cx="744538" cy="747713"/>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9638" name="TextBox 6">
            <a:hlinkClick r:id="rId3" action="ppaction://hlinksldjump"/>
          </p:cNvPr>
          <p:cNvSpPr txBox="1">
            <a:spLocks noChangeArrowheads="1"/>
          </p:cNvSpPr>
          <p:nvPr/>
        </p:nvSpPr>
        <p:spPr bwMode="auto">
          <a:xfrm>
            <a:off x="8428038" y="6203950"/>
            <a:ext cx="6699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1000">
                <a:latin typeface="Candara" pitchFamily="34" charset="0"/>
                <a:hlinkClick r:id="rId3" action="ppaction://hlinksldjump"/>
              </a:rPr>
              <a:t>Back to Table of contents</a:t>
            </a:r>
            <a:endParaRPr lang="en-US" sz="1000">
              <a:latin typeface="Candara" pitchFamily="34" charset="0"/>
            </a:endParaRPr>
          </a:p>
          <a:p>
            <a:pPr eaLnBrk="1" hangingPunct="1"/>
            <a:endParaRPr lang="en-US" sz="1000">
              <a:latin typeface="Candara" pitchFamily="34" charset="0"/>
            </a:endParaRPr>
          </a:p>
        </p:txBody>
      </p:sp>
      <p:pic>
        <p:nvPicPr>
          <p:cNvPr id="69639" name="Picture 2"/>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175" y="3810000"/>
            <a:ext cx="1309688"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710342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747">
                                            <p:txEl>
                                              <p:pRg st="1" end="1"/>
                                            </p:txEl>
                                          </p:spTgt>
                                        </p:tgtEl>
                                        <p:attrNameLst>
                                          <p:attrName>style.visibility</p:attrName>
                                        </p:attrNameLst>
                                      </p:cBhvr>
                                      <p:to>
                                        <p:strVal val="visible"/>
                                      </p:to>
                                    </p:set>
                                    <p:animEffect transition="in" filter="fade">
                                      <p:cBhvr>
                                        <p:cTn id="7" dur="1000"/>
                                        <p:tgtEl>
                                          <p:spTgt spid="3174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70658" name="Picture 10" descr="http://www.imageafter.com/dbase/images/objects/b17biddy013.jp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0" y="914400"/>
            <a:ext cx="9144000" cy="599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87" name="Rectangle 2"/>
          <p:cNvSpPr>
            <a:spLocks noGrp="1" noChangeArrowheads="1"/>
          </p:cNvSpPr>
          <p:nvPr>
            <p:ph type="title"/>
          </p:nvPr>
        </p:nvSpPr>
        <p:spPr bwMode="auto"/>
        <p:txBody>
          <a:bodyPr wrap="square" numCol="1" anchorCtr="0" compatLnSpc="1">
            <a:prstTxWarp prst="textNoShape">
              <a:avLst/>
            </a:prstTxWarp>
            <a:normAutofit/>
          </a:bodyPr>
          <a:lstStyle/>
          <a:p>
            <a:pPr fontAlgn="auto">
              <a:spcAft>
                <a:spcPts val="0"/>
              </a:spcAft>
              <a:defRPr/>
            </a:pPr>
            <a:r>
              <a:rPr lang="en-US" sz="4000" dirty="0">
                <a:solidFill>
                  <a:srgbClr val="9BBB59"/>
                </a:solidFill>
              </a:rPr>
              <a:t>CHANGES IN EXPECTATIONS</a:t>
            </a:r>
          </a:p>
        </p:txBody>
      </p:sp>
      <p:sp>
        <p:nvSpPr>
          <p:cNvPr id="1574915" name="Rectangle 3"/>
          <p:cNvSpPr>
            <a:spLocks noGrp="1" noChangeArrowheads="1"/>
          </p:cNvSpPr>
          <p:nvPr>
            <p:ph idx="1"/>
          </p:nvPr>
        </p:nvSpPr>
        <p:spPr>
          <a:xfrm>
            <a:off x="0" y="4495800"/>
            <a:ext cx="9144000" cy="2133600"/>
          </a:xfrm>
          <a:solidFill>
            <a:schemeClr val="bg1">
              <a:alpha val="62000"/>
            </a:schemeClr>
          </a:solidFill>
        </p:spPr>
        <p:txBody>
          <a:bodyPr>
            <a:normAutofit/>
          </a:bodyPr>
          <a:lstStyle/>
          <a:p>
            <a:r>
              <a:rPr lang="en-US" dirty="0">
                <a:cs typeface="Arial" charset="0"/>
              </a:rPr>
              <a:t>A </a:t>
            </a:r>
            <a:r>
              <a:rPr lang="en-US" dirty="0">
                <a:solidFill>
                  <a:schemeClr val="accent1">
                    <a:lumMod val="75000"/>
                  </a:schemeClr>
                </a:solidFill>
                <a:cs typeface="Arial" charset="0"/>
              </a:rPr>
              <a:t>change in producers’ expectations </a:t>
            </a:r>
            <a:r>
              <a:rPr lang="en-US" dirty="0">
                <a:cs typeface="Arial" charset="0"/>
              </a:rPr>
              <a:t>about profitability will affect supply curves.</a:t>
            </a:r>
          </a:p>
          <a:p>
            <a:pPr lvl="1"/>
            <a:r>
              <a:rPr lang="en-US" dirty="0">
                <a:cs typeface="Arial" charset="0"/>
              </a:rPr>
              <a:t>Windmill production increases as producers expect sales and profitability to increase.</a:t>
            </a:r>
          </a:p>
          <a:p>
            <a:endParaRPr lang="en-US" dirty="0">
              <a:solidFill>
                <a:srgbClr val="008000"/>
              </a:solidFill>
              <a:cs typeface="Arial" charset="0"/>
            </a:endParaRPr>
          </a:p>
          <a:p>
            <a:pPr>
              <a:buFont typeface="Times" pitchFamily="18" charset="0"/>
              <a:buNone/>
            </a:pPr>
            <a:endParaRPr lang="en-US" dirty="0">
              <a:cs typeface="Arial" charset="0"/>
            </a:endParaRPr>
          </a:p>
          <a:p>
            <a:endParaRPr lang="en-US" dirty="0">
              <a:cs typeface="Arial" charset="0"/>
            </a:endParaRPr>
          </a:p>
        </p:txBody>
      </p:sp>
      <p:sp>
        <p:nvSpPr>
          <p:cNvPr id="7" name="Oval 6"/>
          <p:cNvSpPr/>
          <p:nvPr/>
        </p:nvSpPr>
        <p:spPr>
          <a:xfrm>
            <a:off x="8382000" y="6096000"/>
            <a:ext cx="744538" cy="747713"/>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663" name="TextBox 7">
            <a:hlinkClick r:id="rId4" action="ppaction://hlinksldjump"/>
          </p:cNvPr>
          <p:cNvSpPr txBox="1">
            <a:spLocks noChangeArrowheads="1"/>
          </p:cNvSpPr>
          <p:nvPr/>
        </p:nvSpPr>
        <p:spPr bwMode="auto">
          <a:xfrm>
            <a:off x="8428038" y="6203950"/>
            <a:ext cx="6699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1000">
                <a:latin typeface="Candara" pitchFamily="34" charset="0"/>
                <a:hlinkClick r:id="rId4" action="ppaction://hlinksldjump"/>
              </a:rPr>
              <a:t>Back to Table of contents</a:t>
            </a:r>
            <a:endParaRPr lang="en-US" sz="1000">
              <a:latin typeface="Candara" pitchFamily="34" charset="0"/>
            </a:endParaRPr>
          </a:p>
          <a:p>
            <a:pPr eaLnBrk="1" hangingPunct="1"/>
            <a:endParaRPr lang="en-US" sz="1000">
              <a:latin typeface="Candara" pitchFamily="34" charset="0"/>
            </a:endParaRPr>
          </a:p>
        </p:txBody>
      </p:sp>
    </p:spTree>
    <p:extLst>
      <p:ext uri="{BB962C8B-B14F-4D97-AF65-F5344CB8AC3E}">
        <p14:creationId xmlns:p14="http://schemas.microsoft.com/office/powerpoint/2010/main" val="24397970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74915">
                                            <p:bg/>
                                          </p:spTgt>
                                        </p:tgtEl>
                                        <p:attrNameLst>
                                          <p:attrName>style.visibility</p:attrName>
                                        </p:attrNameLst>
                                      </p:cBhvr>
                                      <p:to>
                                        <p:strVal val="visible"/>
                                      </p:to>
                                    </p:set>
                                    <p:animEffect transition="in" filter="fade">
                                      <p:cBhvr>
                                        <p:cTn id="7" dur="1000"/>
                                        <p:tgtEl>
                                          <p:spTgt spid="1574915">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74915">
                                            <p:txEl>
                                              <p:pRg st="0" end="0"/>
                                            </p:txEl>
                                          </p:spTgt>
                                        </p:tgtEl>
                                        <p:attrNameLst>
                                          <p:attrName>style.visibility</p:attrName>
                                        </p:attrNameLst>
                                      </p:cBhvr>
                                      <p:to>
                                        <p:strVal val="visible"/>
                                      </p:to>
                                    </p:set>
                                    <p:animEffect transition="in" filter="fade">
                                      <p:cBhvr>
                                        <p:cTn id="10" dur="1000"/>
                                        <p:tgtEl>
                                          <p:spTgt spid="1574915">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74915">
                                            <p:txEl>
                                              <p:pRg st="1" end="1"/>
                                            </p:txEl>
                                          </p:spTgt>
                                        </p:tgtEl>
                                        <p:attrNameLst>
                                          <p:attrName>style.visibility</p:attrName>
                                        </p:attrNameLst>
                                      </p:cBhvr>
                                      <p:to>
                                        <p:strVal val="visible"/>
                                      </p:to>
                                    </p:set>
                                    <p:animEffect transition="in" filter="fade">
                                      <p:cBhvr>
                                        <p:cTn id="13" dur="1000"/>
                                        <p:tgtEl>
                                          <p:spTgt spid="15749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4915" grpId="0" build="p" animBg="1"/>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595687"/>
            <a:ext cx="5334000" cy="3262313"/>
          </a:xfrm>
          <a:prstGeom prst="rect">
            <a:avLst/>
          </a:prstGeom>
        </p:spPr>
      </p:pic>
      <p:sp>
        <p:nvSpPr>
          <p:cNvPr id="105473" name="Rectangle 2"/>
          <p:cNvSpPr>
            <a:spLocks noGrp="1" noChangeArrowheads="1"/>
          </p:cNvSpPr>
          <p:nvPr>
            <p:ph type="title"/>
          </p:nvPr>
        </p:nvSpPr>
        <p:spPr/>
        <p:txBody>
          <a:bodyPr wrap="square" numCol="1" anchorCtr="0" compatLnSpc="1">
            <a:prstTxWarp prst="textNoShape">
              <a:avLst/>
            </a:prstTxWarp>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auto" hangingPunct="1">
              <a:spcAft>
                <a:spcPts val="0"/>
              </a:spcAft>
              <a:defRPr/>
            </a:pPr>
            <a:r>
              <a:rPr lang="en-US" sz="3600" dirty="0">
                <a:solidFill>
                  <a:srgbClr val="9BBB59"/>
                </a:solidFill>
                <a:latin typeface="Century Gothic"/>
              </a:rPr>
              <a:t>CHANGES IN EXPECTATIONS</a:t>
            </a:r>
          </a:p>
        </p:txBody>
      </p:sp>
      <p:sp>
        <p:nvSpPr>
          <p:cNvPr id="31747" name="Rectangle 3"/>
          <p:cNvSpPr>
            <a:spLocks noGrp="1" noChangeArrowheads="1"/>
          </p:cNvSpPr>
          <p:nvPr>
            <p:ph idx="1"/>
          </p:nvPr>
        </p:nvSpPr>
        <p:spPr/>
        <p:txBody>
          <a:bodyPr>
            <a:normAutofit/>
          </a:bodyPr>
          <a:lstStyle/>
          <a:p>
            <a:r>
              <a:rPr lang="en-US" dirty="0">
                <a:ea typeface="ＭＳ Ｐゴシック" pitchFamily="34" charset="-128"/>
                <a:cs typeface="Arial" charset="0"/>
              </a:rPr>
              <a:t>The lessons of fidget spinners</a:t>
            </a:r>
          </a:p>
          <a:p>
            <a:endParaRPr lang="en-US" sz="1800" b="0" dirty="0"/>
          </a:p>
          <a:p>
            <a:r>
              <a:rPr lang="en-US" sz="1800" b="0" dirty="0"/>
              <a:t>Big retailers usually plan their inventory as much as 18 months ahead of peak seasons such as summer or Christmas.</a:t>
            </a:r>
          </a:p>
          <a:p>
            <a:r>
              <a:rPr lang="en-US" sz="1800" b="0" dirty="0"/>
              <a:t>So it was easy for big retailers to miss the eruption of fidget spinners online. (Subsequently they reacted as well as they could, ordering spinners in by air freight.)</a:t>
            </a:r>
          </a:p>
          <a:p>
            <a:endParaRPr lang="en-US" sz="1800" b="0" dirty="0">
              <a:ea typeface="ＭＳ Ｐゴシック" pitchFamily="34" charset="-128"/>
              <a:cs typeface="Arial" charset="0"/>
            </a:endParaRPr>
          </a:p>
          <a:p>
            <a:endParaRPr lang="en-US" sz="1800" dirty="0">
              <a:ea typeface="ＭＳ Ｐゴシック" pitchFamily="34" charset="-128"/>
              <a:cs typeface="Arial" charset="0"/>
            </a:endParaRPr>
          </a:p>
        </p:txBody>
      </p:sp>
      <p:sp>
        <p:nvSpPr>
          <p:cNvPr id="6" name="Oval 5"/>
          <p:cNvSpPr/>
          <p:nvPr/>
        </p:nvSpPr>
        <p:spPr>
          <a:xfrm>
            <a:off x="8382000" y="6096000"/>
            <a:ext cx="744538" cy="747713"/>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9638" name="TextBox 6">
            <a:hlinkClick r:id="rId4" action="ppaction://hlinksldjump"/>
          </p:cNvPr>
          <p:cNvSpPr txBox="1">
            <a:spLocks noChangeArrowheads="1"/>
          </p:cNvSpPr>
          <p:nvPr/>
        </p:nvSpPr>
        <p:spPr bwMode="auto">
          <a:xfrm>
            <a:off x="8428038" y="6203950"/>
            <a:ext cx="6699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1000">
                <a:latin typeface="Candara" pitchFamily="34" charset="0"/>
                <a:hlinkClick r:id="rId4" action="ppaction://hlinksldjump"/>
              </a:rPr>
              <a:t>Back to Table of contents</a:t>
            </a:r>
            <a:endParaRPr lang="en-US" sz="1000">
              <a:latin typeface="Candara" pitchFamily="34" charset="0"/>
            </a:endParaRPr>
          </a:p>
          <a:p>
            <a:pPr eaLnBrk="1" hangingPunct="1"/>
            <a:endParaRPr lang="en-US" sz="1000">
              <a:latin typeface="Candara" pitchFamily="34" charset="0"/>
            </a:endParaRPr>
          </a:p>
        </p:txBody>
      </p:sp>
      <p:pic>
        <p:nvPicPr>
          <p:cNvPr id="3" name="Picture 2"/>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4994156" y="3200400"/>
            <a:ext cx="4152993" cy="4267200"/>
          </a:xfrm>
          <a:prstGeom prst="rect">
            <a:avLst/>
          </a:prstGeom>
        </p:spPr>
      </p:pic>
    </p:spTree>
    <p:extLst>
      <p:ext uri="{BB962C8B-B14F-4D97-AF65-F5344CB8AC3E}">
        <p14:creationId xmlns:p14="http://schemas.microsoft.com/office/powerpoint/2010/main" val="370100607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Effect transition="in" filter="fade">
                                      <p:cBhvr>
                                        <p:cTn id="7" dur="1000"/>
                                        <p:tgtEl>
                                          <p:spTgt spid="317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1747">
                                            <p:txEl>
                                              <p:pRg st="2" end="2"/>
                                            </p:txEl>
                                          </p:spTgt>
                                        </p:tgtEl>
                                        <p:attrNameLst>
                                          <p:attrName>style.visibility</p:attrName>
                                        </p:attrNameLst>
                                      </p:cBhvr>
                                      <p:to>
                                        <p:strVal val="visible"/>
                                      </p:to>
                                    </p:set>
                                    <p:animEffect transition="in" filter="fade">
                                      <p:cBhvr>
                                        <p:cTn id="12" dur="1000"/>
                                        <p:tgtEl>
                                          <p:spTgt spid="3174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1747">
                                            <p:txEl>
                                              <p:pRg st="3" end="3"/>
                                            </p:txEl>
                                          </p:spTgt>
                                        </p:tgtEl>
                                        <p:attrNameLst>
                                          <p:attrName>style.visibility</p:attrName>
                                        </p:attrNameLst>
                                      </p:cBhvr>
                                      <p:to>
                                        <p:strVal val="visible"/>
                                      </p:to>
                                    </p:set>
                                    <p:animEffect transition="in" filter="fade">
                                      <p:cBhvr>
                                        <p:cTn id="17" dur="1000"/>
                                        <p:tgtEl>
                                          <p:spTgt spid="3174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569" name="Rectangle 2"/>
          <p:cNvSpPr>
            <a:spLocks noGrp="1" noChangeArrowheads="1"/>
          </p:cNvSpPr>
          <p:nvPr>
            <p:ph type="title"/>
          </p:nvPr>
        </p:nvSpPr>
        <p:spPr/>
        <p:txBody>
          <a:bodyPr wrap="square" numCol="1" anchorCtr="0" compatLnSpc="1">
            <a:prstTxWarp prst="textNoShape">
              <a:avLst/>
            </a:prstTxWarp>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fontAlgn="auto" hangingPunct="1">
              <a:spcAft>
                <a:spcPts val="0"/>
              </a:spcAft>
              <a:defRPr/>
            </a:pPr>
            <a:r>
              <a:rPr lang="en-US" sz="3600" dirty="0">
                <a:solidFill>
                  <a:srgbClr val="9BBB59"/>
                </a:solidFill>
                <a:latin typeface="Century Gothic"/>
              </a:rPr>
              <a:t>CHANGES IN NUMBER OF PRODUCERS</a:t>
            </a:r>
          </a:p>
        </p:txBody>
      </p:sp>
      <p:sp>
        <p:nvSpPr>
          <p:cNvPr id="31747" name="Rectangle 3"/>
          <p:cNvSpPr>
            <a:spLocks noGrp="1" noChangeArrowheads="1"/>
          </p:cNvSpPr>
          <p:nvPr>
            <p:ph idx="1"/>
          </p:nvPr>
        </p:nvSpPr>
        <p:spPr>
          <a:xfrm>
            <a:off x="76200" y="914400"/>
            <a:ext cx="8991600" cy="4648200"/>
          </a:xfrm>
        </p:spPr>
        <p:txBody>
          <a:bodyPr rtlCol="0">
            <a:normAutofit/>
          </a:bodyPr>
          <a:lstStyle/>
          <a:p>
            <a:pPr fontAlgn="auto">
              <a:spcAft>
                <a:spcPts val="0"/>
              </a:spcAft>
              <a:defRPr/>
            </a:pPr>
            <a:r>
              <a:rPr lang="en-US" dirty="0">
                <a:ea typeface="ＭＳ Ｐゴシック"/>
              </a:rPr>
              <a:t>As producers enter and exit the market, the overall supply changes.</a:t>
            </a:r>
          </a:p>
          <a:p>
            <a:pPr lvl="1" fontAlgn="auto">
              <a:spcAft>
                <a:spcPts val="0"/>
              </a:spcAft>
              <a:defRPr/>
            </a:pPr>
            <a:r>
              <a:rPr lang="en-US" i="1" dirty="0">
                <a:solidFill>
                  <a:schemeClr val="accent1">
                    <a:lumMod val="75000"/>
                  </a:schemeClr>
                </a:solidFill>
                <a:ea typeface="ＭＳ Ｐゴシック"/>
              </a:rPr>
              <a:t>Entry</a:t>
            </a:r>
            <a:r>
              <a:rPr lang="en-US" i="1" dirty="0">
                <a:solidFill>
                  <a:schemeClr val="accent6">
                    <a:lumMod val="75000"/>
                  </a:schemeClr>
                </a:solidFill>
                <a:ea typeface="ＭＳ Ｐゴシック"/>
              </a:rPr>
              <a:t> </a:t>
            </a:r>
            <a:r>
              <a:rPr lang="en-US" dirty="0">
                <a:ea typeface="ＭＳ Ｐゴシック"/>
              </a:rPr>
              <a:t>implies more sellers in the market, </a:t>
            </a:r>
            <a:r>
              <a:rPr lang="en-US" dirty="0">
                <a:solidFill>
                  <a:schemeClr val="accent1">
                    <a:lumMod val="75000"/>
                  </a:schemeClr>
                </a:solidFill>
                <a:ea typeface="ＭＳ Ｐゴシック"/>
              </a:rPr>
              <a:t>increasing supply.</a:t>
            </a:r>
          </a:p>
          <a:p>
            <a:pPr lvl="1">
              <a:defRPr/>
            </a:pPr>
            <a:r>
              <a:rPr lang="en-US" i="1" dirty="0">
                <a:solidFill>
                  <a:schemeClr val="accent1">
                    <a:lumMod val="75000"/>
                  </a:schemeClr>
                </a:solidFill>
                <a:ea typeface="ＭＳ Ｐゴシック"/>
              </a:rPr>
              <a:t>Exit</a:t>
            </a:r>
            <a:r>
              <a:rPr lang="en-US" i="1" dirty="0">
                <a:solidFill>
                  <a:srgbClr val="00B050"/>
                </a:solidFill>
                <a:ea typeface="ＭＳ Ｐゴシック"/>
              </a:rPr>
              <a:t> </a:t>
            </a:r>
            <a:r>
              <a:rPr lang="en-US" dirty="0">
                <a:ea typeface="ＭＳ Ｐゴシック"/>
              </a:rPr>
              <a:t>implies fewer sellers in the market, </a:t>
            </a:r>
            <a:r>
              <a:rPr lang="en-US" dirty="0">
                <a:solidFill>
                  <a:schemeClr val="accent1">
                    <a:lumMod val="75000"/>
                  </a:schemeClr>
                </a:solidFill>
                <a:ea typeface="ＭＳ Ｐゴシック"/>
              </a:rPr>
              <a:t>decreasing supply.</a:t>
            </a:r>
          </a:p>
        </p:txBody>
      </p:sp>
      <p:sp>
        <p:nvSpPr>
          <p:cNvPr id="7" name="Oval 6"/>
          <p:cNvSpPr/>
          <p:nvPr/>
        </p:nvSpPr>
        <p:spPr>
          <a:xfrm>
            <a:off x="8382000" y="6096000"/>
            <a:ext cx="744538" cy="747713"/>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Century Gothic"/>
              <a:cs typeface="Century Gothic"/>
            </a:endParaRPr>
          </a:p>
        </p:txBody>
      </p:sp>
      <p:sp>
        <p:nvSpPr>
          <p:cNvPr id="71687" name="TextBox 7">
            <a:hlinkClick r:id="rId3" action="ppaction://hlinksldjump"/>
          </p:cNvPr>
          <p:cNvSpPr txBox="1">
            <a:spLocks noChangeArrowheads="1"/>
          </p:cNvSpPr>
          <p:nvPr/>
        </p:nvSpPr>
        <p:spPr bwMode="auto">
          <a:xfrm>
            <a:off x="8428038" y="6203950"/>
            <a:ext cx="669925" cy="661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900" dirty="0">
                <a:latin typeface="Century Gothic"/>
                <a:cs typeface="Century Gothic"/>
                <a:hlinkClick r:id="rId3" action="ppaction://hlinksldjump"/>
              </a:rPr>
              <a:t>Back to Table of contents</a:t>
            </a:r>
            <a:endParaRPr lang="en-US" sz="900" dirty="0">
              <a:latin typeface="Century Gothic"/>
              <a:cs typeface="Century Gothic"/>
            </a:endParaRPr>
          </a:p>
          <a:p>
            <a:pPr eaLnBrk="1" hangingPunct="1"/>
            <a:endParaRPr lang="en-US" sz="1000" dirty="0">
              <a:latin typeface="Century Gothic"/>
              <a:cs typeface="Century Gothic"/>
            </a:endParaRPr>
          </a:p>
        </p:txBody>
      </p:sp>
      <p:sp>
        <p:nvSpPr>
          <p:cNvPr id="8" name="Content Placeholder 9"/>
          <p:cNvSpPr txBox="1">
            <a:spLocks/>
          </p:cNvSpPr>
          <p:nvPr/>
        </p:nvSpPr>
        <p:spPr>
          <a:xfrm>
            <a:off x="4648200" y="4076700"/>
            <a:ext cx="3886200" cy="2095500"/>
          </a:xfrm>
          <a:prstGeom prst="rect">
            <a:avLst/>
          </a:prstGeom>
          <a:noFill/>
          <a:effectLst/>
        </p:spPr>
        <p:txBody>
          <a:bodyPr vert="horz" lIns="91440" tIns="45720" rIns="91440" bIns="45720" rtlCol="0">
            <a:noAutofit/>
          </a:bodyPr>
          <a:lstStyle>
            <a:lvl1pPr marL="0" indent="0" algn="l" defTabSz="914400" rtl="0" eaLnBrk="1" latinLnBrk="0" hangingPunct="1">
              <a:spcBef>
                <a:spcPct val="20000"/>
              </a:spcBef>
              <a:buFontTx/>
              <a:buNone/>
              <a:defRPr sz="3200" b="1" kern="1200">
                <a:solidFill>
                  <a:schemeClr val="tx1"/>
                </a:solidFill>
                <a:latin typeface="Candara" pitchFamily="34" charset="0"/>
                <a:ea typeface="+mn-ea"/>
                <a:cs typeface="+mn-cs"/>
              </a:defRPr>
            </a:lvl1pPr>
            <a:lvl2pPr marL="457200" indent="0" algn="l" defTabSz="914400" rtl="0" eaLnBrk="1" latinLnBrk="0" hangingPunct="1">
              <a:spcBef>
                <a:spcPct val="20000"/>
              </a:spcBef>
              <a:buFontTx/>
              <a:buNone/>
              <a:defRPr sz="2800" b="1" kern="1200">
                <a:solidFill>
                  <a:schemeClr val="tx1"/>
                </a:solidFill>
                <a:latin typeface="Candara" pitchFamily="34" charset="0"/>
                <a:ea typeface="+mn-ea"/>
                <a:cs typeface="+mn-cs"/>
              </a:defRPr>
            </a:lvl2pPr>
            <a:lvl3pPr marL="9144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3pPr>
            <a:lvl4pPr marL="13716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4pPr>
            <a:lvl5pPr marL="18288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en-US" sz="2400" i="1" dirty="0">
                <a:solidFill>
                  <a:schemeClr val="tx1">
                    <a:lumMod val="75000"/>
                    <a:lumOff val="25000"/>
                  </a:schemeClr>
                </a:solidFill>
                <a:latin typeface="Century Gothic"/>
                <a:cs typeface="Century Gothic"/>
              </a:rPr>
              <a:t>As more firms enter the solar installation market, the number of solar installations available for sale increases.</a:t>
            </a:r>
          </a:p>
          <a:p>
            <a:pPr>
              <a:defRPr/>
            </a:pPr>
            <a:endParaRPr lang="en-US" sz="2400" i="1" dirty="0">
              <a:solidFill>
                <a:schemeClr val="tx1">
                  <a:lumMod val="75000"/>
                  <a:lumOff val="25000"/>
                </a:schemeClr>
              </a:solidFill>
              <a:latin typeface="Century Gothic"/>
              <a:cs typeface="Century Gothic"/>
            </a:endParaRPr>
          </a:p>
        </p:txBody>
      </p:sp>
      <p:pic>
        <p:nvPicPr>
          <p:cNvPr id="9" name="Picture 8"/>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0" y="3886200"/>
            <a:ext cx="4457700" cy="29718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6363454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747">
                                            <p:txEl>
                                              <p:pRg st="1" end="1"/>
                                            </p:txEl>
                                          </p:spTgt>
                                        </p:tgtEl>
                                        <p:attrNameLst>
                                          <p:attrName>style.visibility</p:attrName>
                                        </p:attrNameLst>
                                      </p:cBhvr>
                                      <p:to>
                                        <p:strVal val="visible"/>
                                      </p:to>
                                    </p:set>
                                    <p:animEffect transition="in" filter="fade">
                                      <p:cBhvr>
                                        <p:cTn id="7" dur="1000"/>
                                        <p:tgtEl>
                                          <p:spTgt spid="31747">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1747">
                                            <p:txEl>
                                              <p:pRg st="2" end="2"/>
                                            </p:txEl>
                                          </p:spTgt>
                                        </p:tgtEl>
                                        <p:attrNameLst>
                                          <p:attrName>style.visibility</p:attrName>
                                        </p:attrNameLst>
                                      </p:cBhvr>
                                      <p:to>
                                        <p:strVal val="visible"/>
                                      </p:to>
                                    </p:set>
                                    <p:animEffect transition="in" filter="fade">
                                      <p:cBhvr>
                                        <p:cTn id="10" dur="1000"/>
                                        <p:tgtEl>
                                          <p:spTgt spid="31747">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autoUpdateAnimBg="0"/>
      <p:bldP spid="8"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Autofit/>
          </a:bodyPr>
          <a:lstStyle/>
          <a:p>
            <a:r>
              <a:rPr lang="en-US" sz="3600" dirty="0"/>
              <a:t>THE INDIVIDUAL SUPPLY CURVE AND THE MARKET SUPPLY CURVE</a:t>
            </a:r>
          </a:p>
        </p:txBody>
      </p:sp>
      <p:cxnSp>
        <p:nvCxnSpPr>
          <p:cNvPr id="5" name="Straight Connector 86"/>
          <p:cNvCxnSpPr>
            <a:cxnSpLocks noChangeShapeType="1"/>
          </p:cNvCxnSpPr>
          <p:nvPr/>
        </p:nvCxnSpPr>
        <p:spPr bwMode="auto">
          <a:xfrm>
            <a:off x="6985008" y="4140200"/>
            <a:ext cx="838200" cy="1588"/>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6" name="Straight Connector 86"/>
          <p:cNvCxnSpPr>
            <a:cxnSpLocks noChangeShapeType="1"/>
          </p:cNvCxnSpPr>
          <p:nvPr/>
        </p:nvCxnSpPr>
        <p:spPr bwMode="auto">
          <a:xfrm>
            <a:off x="6985008" y="3133725"/>
            <a:ext cx="1524000" cy="1588"/>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7" name="Straight Connector 86"/>
          <p:cNvCxnSpPr>
            <a:cxnSpLocks noChangeShapeType="1"/>
          </p:cNvCxnSpPr>
          <p:nvPr/>
        </p:nvCxnSpPr>
        <p:spPr bwMode="auto">
          <a:xfrm>
            <a:off x="7823208" y="4187825"/>
            <a:ext cx="0" cy="685800"/>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8" name="Straight Connector 86"/>
          <p:cNvCxnSpPr>
            <a:cxnSpLocks noChangeShapeType="1"/>
          </p:cNvCxnSpPr>
          <p:nvPr/>
        </p:nvCxnSpPr>
        <p:spPr bwMode="auto">
          <a:xfrm>
            <a:off x="8542346" y="3197225"/>
            <a:ext cx="0" cy="1676400"/>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9" name="Straight Connector 86"/>
          <p:cNvCxnSpPr>
            <a:cxnSpLocks noChangeShapeType="1"/>
          </p:cNvCxnSpPr>
          <p:nvPr/>
        </p:nvCxnSpPr>
        <p:spPr bwMode="auto">
          <a:xfrm>
            <a:off x="3937008" y="4140200"/>
            <a:ext cx="2514600" cy="4763"/>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10" name="Straight Connector 86"/>
          <p:cNvCxnSpPr>
            <a:cxnSpLocks noChangeShapeType="1"/>
          </p:cNvCxnSpPr>
          <p:nvPr/>
        </p:nvCxnSpPr>
        <p:spPr bwMode="auto">
          <a:xfrm>
            <a:off x="3937008" y="3133725"/>
            <a:ext cx="2514600" cy="3175"/>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11" name="Straight Connector 86"/>
          <p:cNvCxnSpPr>
            <a:cxnSpLocks noChangeShapeType="1"/>
          </p:cNvCxnSpPr>
          <p:nvPr/>
        </p:nvCxnSpPr>
        <p:spPr bwMode="auto">
          <a:xfrm>
            <a:off x="4364046" y="4111625"/>
            <a:ext cx="0" cy="762000"/>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12" name="Straight Connector 86"/>
          <p:cNvCxnSpPr>
            <a:cxnSpLocks noChangeShapeType="1"/>
          </p:cNvCxnSpPr>
          <p:nvPr/>
        </p:nvCxnSpPr>
        <p:spPr bwMode="auto">
          <a:xfrm>
            <a:off x="5013333" y="3121025"/>
            <a:ext cx="0" cy="1752600"/>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13" name="Straight Connector 86"/>
          <p:cNvCxnSpPr>
            <a:cxnSpLocks noChangeShapeType="1"/>
          </p:cNvCxnSpPr>
          <p:nvPr/>
        </p:nvCxnSpPr>
        <p:spPr bwMode="auto">
          <a:xfrm>
            <a:off x="889008" y="4140200"/>
            <a:ext cx="2514600" cy="4763"/>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14" name="Straight Connector 86"/>
          <p:cNvCxnSpPr>
            <a:cxnSpLocks noChangeShapeType="1"/>
          </p:cNvCxnSpPr>
          <p:nvPr/>
        </p:nvCxnSpPr>
        <p:spPr bwMode="auto">
          <a:xfrm>
            <a:off x="889008" y="3133725"/>
            <a:ext cx="2514600" cy="3175"/>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15" name="Straight Connector 86"/>
          <p:cNvCxnSpPr>
            <a:cxnSpLocks noChangeShapeType="1"/>
          </p:cNvCxnSpPr>
          <p:nvPr/>
        </p:nvCxnSpPr>
        <p:spPr bwMode="auto">
          <a:xfrm>
            <a:off x="1879608" y="4111625"/>
            <a:ext cx="0" cy="762000"/>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sp>
        <p:nvSpPr>
          <p:cNvPr id="16" name="Rectangle 56"/>
          <p:cNvSpPr>
            <a:spLocks noChangeArrowheads="1"/>
          </p:cNvSpPr>
          <p:nvPr/>
        </p:nvSpPr>
        <p:spPr bwMode="auto">
          <a:xfrm>
            <a:off x="1979621" y="2892425"/>
            <a:ext cx="114088"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300" b="1" i="1" dirty="0">
                <a:solidFill>
                  <a:srgbClr val="000000"/>
                </a:solidFill>
                <a:latin typeface="Century Gothic"/>
                <a:cs typeface="Century Gothic"/>
              </a:rPr>
              <a:t>S</a:t>
            </a:r>
            <a:endParaRPr lang="en-US" b="1" i="1" dirty="0">
              <a:latin typeface="Century Gothic"/>
              <a:cs typeface="Century Gothic"/>
            </a:endParaRPr>
          </a:p>
        </p:txBody>
      </p:sp>
      <p:sp>
        <p:nvSpPr>
          <p:cNvPr id="17" name="Rectangle 57"/>
          <p:cNvSpPr>
            <a:spLocks noChangeArrowheads="1"/>
          </p:cNvSpPr>
          <p:nvPr/>
        </p:nvSpPr>
        <p:spPr bwMode="auto">
          <a:xfrm>
            <a:off x="2057408" y="2979738"/>
            <a:ext cx="25619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900" b="1" dirty="0">
                <a:solidFill>
                  <a:srgbClr val="000000"/>
                </a:solidFill>
                <a:latin typeface="Century Gothic"/>
                <a:cs typeface="Century Gothic"/>
              </a:rPr>
              <a:t>Silva</a:t>
            </a:r>
            <a:endParaRPr lang="en-US" b="1" dirty="0">
              <a:latin typeface="Century Gothic"/>
              <a:cs typeface="Century Gothic"/>
            </a:endParaRPr>
          </a:p>
        </p:txBody>
      </p:sp>
      <p:sp>
        <p:nvSpPr>
          <p:cNvPr id="18" name="Rectangle 58"/>
          <p:cNvSpPr>
            <a:spLocks noChangeArrowheads="1"/>
          </p:cNvSpPr>
          <p:nvPr/>
        </p:nvSpPr>
        <p:spPr bwMode="auto">
          <a:xfrm>
            <a:off x="4497396" y="2901950"/>
            <a:ext cx="114088"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300" b="1" i="1" dirty="0">
                <a:solidFill>
                  <a:srgbClr val="000000"/>
                </a:solidFill>
                <a:latin typeface="Century Gothic"/>
                <a:cs typeface="Century Gothic"/>
              </a:rPr>
              <a:t>S</a:t>
            </a:r>
            <a:endParaRPr lang="en-US" b="1" i="1" dirty="0">
              <a:latin typeface="Century Gothic"/>
              <a:cs typeface="Century Gothic"/>
            </a:endParaRPr>
          </a:p>
        </p:txBody>
      </p:sp>
      <p:sp>
        <p:nvSpPr>
          <p:cNvPr id="19" name="Rectangle 59"/>
          <p:cNvSpPr>
            <a:spLocks noChangeArrowheads="1"/>
          </p:cNvSpPr>
          <p:nvPr/>
        </p:nvSpPr>
        <p:spPr bwMode="auto">
          <a:xfrm>
            <a:off x="4573596" y="2989263"/>
            <a:ext cx="147708"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900" b="1" dirty="0">
                <a:solidFill>
                  <a:srgbClr val="000000"/>
                </a:solidFill>
                <a:latin typeface="Century Gothic"/>
                <a:cs typeface="Century Gothic"/>
              </a:rPr>
              <a:t>Liu</a:t>
            </a:r>
            <a:endParaRPr lang="en-US" b="1" dirty="0">
              <a:latin typeface="Century Gothic"/>
              <a:cs typeface="Century Gothic"/>
            </a:endParaRPr>
          </a:p>
        </p:txBody>
      </p:sp>
      <p:sp>
        <p:nvSpPr>
          <p:cNvPr id="20" name="Line 60"/>
          <p:cNvSpPr>
            <a:spLocks noChangeShapeType="1"/>
          </p:cNvSpPr>
          <p:nvPr/>
        </p:nvSpPr>
        <p:spPr bwMode="auto">
          <a:xfrm>
            <a:off x="717558" y="4130675"/>
            <a:ext cx="109538"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21" name="Line 61"/>
          <p:cNvSpPr>
            <a:spLocks noChangeShapeType="1"/>
          </p:cNvSpPr>
          <p:nvPr/>
        </p:nvSpPr>
        <p:spPr bwMode="auto">
          <a:xfrm flipV="1">
            <a:off x="1304933" y="4953000"/>
            <a:ext cx="0" cy="109538"/>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22" name="Line 62"/>
          <p:cNvSpPr>
            <a:spLocks noChangeShapeType="1"/>
          </p:cNvSpPr>
          <p:nvPr/>
        </p:nvSpPr>
        <p:spPr bwMode="auto">
          <a:xfrm flipV="1">
            <a:off x="1892308" y="4953000"/>
            <a:ext cx="0" cy="109538"/>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23" name="Line 63"/>
          <p:cNvSpPr>
            <a:spLocks noChangeShapeType="1"/>
          </p:cNvSpPr>
          <p:nvPr/>
        </p:nvSpPr>
        <p:spPr bwMode="auto">
          <a:xfrm flipV="1">
            <a:off x="2476508" y="4953000"/>
            <a:ext cx="0" cy="109538"/>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24" name="Line 64"/>
          <p:cNvSpPr>
            <a:spLocks noChangeShapeType="1"/>
          </p:cNvSpPr>
          <p:nvPr/>
        </p:nvSpPr>
        <p:spPr bwMode="auto">
          <a:xfrm flipV="1">
            <a:off x="4378333" y="4953000"/>
            <a:ext cx="0" cy="109538"/>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25" name="Line 65"/>
          <p:cNvSpPr>
            <a:spLocks noChangeShapeType="1"/>
          </p:cNvSpPr>
          <p:nvPr/>
        </p:nvSpPr>
        <p:spPr bwMode="auto">
          <a:xfrm flipV="1">
            <a:off x="5021271" y="4953000"/>
            <a:ext cx="0" cy="109538"/>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26" name="Rectangle 66"/>
          <p:cNvSpPr>
            <a:spLocks noChangeArrowheads="1"/>
          </p:cNvSpPr>
          <p:nvPr/>
        </p:nvSpPr>
        <p:spPr bwMode="auto">
          <a:xfrm>
            <a:off x="4338646" y="5108575"/>
            <a:ext cx="8618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1</a:t>
            </a:r>
            <a:endParaRPr lang="en-US" b="1">
              <a:latin typeface="Century Gothic"/>
              <a:cs typeface="Century Gothic"/>
            </a:endParaRPr>
          </a:p>
        </p:txBody>
      </p:sp>
      <p:sp>
        <p:nvSpPr>
          <p:cNvPr id="27" name="Rectangle 67"/>
          <p:cNvSpPr>
            <a:spLocks noChangeArrowheads="1"/>
          </p:cNvSpPr>
          <p:nvPr/>
        </p:nvSpPr>
        <p:spPr bwMode="auto">
          <a:xfrm>
            <a:off x="4981583" y="5108575"/>
            <a:ext cx="8618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2</a:t>
            </a:r>
            <a:endParaRPr lang="en-US" b="1">
              <a:latin typeface="Century Gothic"/>
              <a:cs typeface="Century Gothic"/>
            </a:endParaRPr>
          </a:p>
        </p:txBody>
      </p:sp>
      <p:sp>
        <p:nvSpPr>
          <p:cNvPr id="28" name="Rectangle 68"/>
          <p:cNvSpPr>
            <a:spLocks noChangeArrowheads="1"/>
          </p:cNvSpPr>
          <p:nvPr/>
        </p:nvSpPr>
        <p:spPr bwMode="auto">
          <a:xfrm>
            <a:off x="7789871" y="5108575"/>
            <a:ext cx="8618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3</a:t>
            </a:r>
            <a:endParaRPr lang="en-US" b="1">
              <a:latin typeface="Century Gothic"/>
              <a:cs typeface="Century Gothic"/>
            </a:endParaRPr>
          </a:p>
        </p:txBody>
      </p:sp>
      <p:sp>
        <p:nvSpPr>
          <p:cNvPr id="29" name="Rectangle 69"/>
          <p:cNvSpPr>
            <a:spLocks noChangeArrowheads="1"/>
          </p:cNvSpPr>
          <p:nvPr/>
        </p:nvSpPr>
        <p:spPr bwMode="auto">
          <a:xfrm>
            <a:off x="7073908" y="5108575"/>
            <a:ext cx="8618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1</a:t>
            </a:r>
            <a:endParaRPr lang="en-US" b="1">
              <a:latin typeface="Century Gothic"/>
              <a:cs typeface="Century Gothic"/>
            </a:endParaRPr>
          </a:p>
        </p:txBody>
      </p:sp>
      <p:sp>
        <p:nvSpPr>
          <p:cNvPr id="30" name="Rectangle 70"/>
          <p:cNvSpPr>
            <a:spLocks noChangeArrowheads="1"/>
          </p:cNvSpPr>
          <p:nvPr/>
        </p:nvSpPr>
        <p:spPr bwMode="auto">
          <a:xfrm>
            <a:off x="7432683" y="5108575"/>
            <a:ext cx="8618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2</a:t>
            </a:r>
            <a:endParaRPr lang="en-US" b="1">
              <a:latin typeface="Century Gothic"/>
              <a:cs typeface="Century Gothic"/>
            </a:endParaRPr>
          </a:p>
        </p:txBody>
      </p:sp>
      <p:sp>
        <p:nvSpPr>
          <p:cNvPr id="31" name="Rectangle 71"/>
          <p:cNvSpPr>
            <a:spLocks noChangeArrowheads="1"/>
          </p:cNvSpPr>
          <p:nvPr/>
        </p:nvSpPr>
        <p:spPr bwMode="auto">
          <a:xfrm>
            <a:off x="1852621" y="5108575"/>
            <a:ext cx="8618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2</a:t>
            </a:r>
            <a:endParaRPr lang="en-US" b="1">
              <a:latin typeface="Century Gothic"/>
              <a:cs typeface="Century Gothic"/>
            </a:endParaRPr>
          </a:p>
        </p:txBody>
      </p:sp>
      <p:sp>
        <p:nvSpPr>
          <p:cNvPr id="32" name="Rectangle 72"/>
          <p:cNvSpPr>
            <a:spLocks noChangeArrowheads="1"/>
          </p:cNvSpPr>
          <p:nvPr/>
        </p:nvSpPr>
        <p:spPr bwMode="auto">
          <a:xfrm>
            <a:off x="2439996" y="5108575"/>
            <a:ext cx="8618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3</a:t>
            </a:r>
            <a:endParaRPr lang="en-US" b="1">
              <a:latin typeface="Century Gothic"/>
              <a:cs typeface="Century Gothic"/>
            </a:endParaRPr>
          </a:p>
        </p:txBody>
      </p:sp>
      <p:sp>
        <p:nvSpPr>
          <p:cNvPr id="33" name="Rectangle 73"/>
          <p:cNvSpPr>
            <a:spLocks noChangeArrowheads="1"/>
          </p:cNvSpPr>
          <p:nvPr/>
        </p:nvSpPr>
        <p:spPr bwMode="auto">
          <a:xfrm>
            <a:off x="1266833" y="5108575"/>
            <a:ext cx="8618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1</a:t>
            </a:r>
            <a:endParaRPr lang="en-US" b="1">
              <a:latin typeface="Century Gothic"/>
              <a:cs typeface="Century Gothic"/>
            </a:endParaRPr>
          </a:p>
        </p:txBody>
      </p:sp>
      <p:sp>
        <p:nvSpPr>
          <p:cNvPr id="34" name="Rectangle 74"/>
          <p:cNvSpPr>
            <a:spLocks noChangeArrowheads="1"/>
          </p:cNvSpPr>
          <p:nvPr/>
        </p:nvSpPr>
        <p:spPr bwMode="auto">
          <a:xfrm>
            <a:off x="8147058" y="5108575"/>
            <a:ext cx="8618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4</a:t>
            </a:r>
            <a:endParaRPr lang="en-US" b="1">
              <a:latin typeface="Century Gothic"/>
              <a:cs typeface="Century Gothic"/>
            </a:endParaRPr>
          </a:p>
        </p:txBody>
      </p:sp>
      <p:sp>
        <p:nvSpPr>
          <p:cNvPr id="35" name="Rectangle 75"/>
          <p:cNvSpPr>
            <a:spLocks noChangeArrowheads="1"/>
          </p:cNvSpPr>
          <p:nvPr/>
        </p:nvSpPr>
        <p:spPr bwMode="auto">
          <a:xfrm>
            <a:off x="8505833" y="5108575"/>
            <a:ext cx="8618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5</a:t>
            </a:r>
            <a:endParaRPr lang="en-US" b="1">
              <a:latin typeface="Century Gothic"/>
              <a:cs typeface="Century Gothic"/>
            </a:endParaRPr>
          </a:p>
        </p:txBody>
      </p:sp>
      <p:sp>
        <p:nvSpPr>
          <p:cNvPr id="36" name="Rectangle 76"/>
          <p:cNvSpPr>
            <a:spLocks noChangeArrowheads="1"/>
          </p:cNvSpPr>
          <p:nvPr/>
        </p:nvSpPr>
        <p:spPr bwMode="auto">
          <a:xfrm>
            <a:off x="6621471" y="5108575"/>
            <a:ext cx="8618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0</a:t>
            </a:r>
            <a:endParaRPr lang="en-US" b="1">
              <a:latin typeface="Century Gothic"/>
              <a:cs typeface="Century Gothic"/>
            </a:endParaRPr>
          </a:p>
        </p:txBody>
      </p:sp>
      <p:sp>
        <p:nvSpPr>
          <p:cNvPr id="37" name="Rectangle 77"/>
          <p:cNvSpPr>
            <a:spLocks noChangeArrowheads="1"/>
          </p:cNvSpPr>
          <p:nvPr/>
        </p:nvSpPr>
        <p:spPr bwMode="auto">
          <a:xfrm>
            <a:off x="582621" y="5108575"/>
            <a:ext cx="8618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0</a:t>
            </a:r>
            <a:endParaRPr lang="en-US" b="1">
              <a:latin typeface="Century Gothic"/>
              <a:cs typeface="Century Gothic"/>
            </a:endParaRPr>
          </a:p>
        </p:txBody>
      </p:sp>
      <p:sp>
        <p:nvSpPr>
          <p:cNvPr id="38" name="Rectangle 78"/>
          <p:cNvSpPr>
            <a:spLocks noChangeArrowheads="1"/>
          </p:cNvSpPr>
          <p:nvPr/>
        </p:nvSpPr>
        <p:spPr bwMode="auto">
          <a:xfrm>
            <a:off x="3584583" y="5108575"/>
            <a:ext cx="8618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0</a:t>
            </a:r>
            <a:endParaRPr lang="en-US" b="1">
              <a:latin typeface="Century Gothic"/>
              <a:cs typeface="Century Gothic"/>
            </a:endParaRPr>
          </a:p>
        </p:txBody>
      </p:sp>
      <p:sp>
        <p:nvSpPr>
          <p:cNvPr id="39" name="Line 79"/>
          <p:cNvSpPr>
            <a:spLocks noChangeShapeType="1"/>
          </p:cNvSpPr>
          <p:nvPr/>
        </p:nvSpPr>
        <p:spPr bwMode="auto">
          <a:xfrm>
            <a:off x="717558" y="3138488"/>
            <a:ext cx="109538"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40" name="Line 80"/>
          <p:cNvSpPr>
            <a:spLocks noChangeShapeType="1"/>
          </p:cNvSpPr>
          <p:nvPr/>
        </p:nvSpPr>
        <p:spPr bwMode="auto">
          <a:xfrm>
            <a:off x="3721108" y="4130675"/>
            <a:ext cx="109538"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41" name="Line 81"/>
          <p:cNvSpPr>
            <a:spLocks noChangeShapeType="1"/>
          </p:cNvSpPr>
          <p:nvPr/>
        </p:nvSpPr>
        <p:spPr bwMode="auto">
          <a:xfrm>
            <a:off x="3721108" y="3138488"/>
            <a:ext cx="109538"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42" name="Line 82"/>
          <p:cNvSpPr>
            <a:spLocks noChangeShapeType="1"/>
          </p:cNvSpPr>
          <p:nvPr/>
        </p:nvSpPr>
        <p:spPr bwMode="auto">
          <a:xfrm>
            <a:off x="6751646" y="4130675"/>
            <a:ext cx="111125"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43" name="Line 83"/>
          <p:cNvSpPr>
            <a:spLocks noChangeShapeType="1"/>
          </p:cNvSpPr>
          <p:nvPr/>
        </p:nvSpPr>
        <p:spPr bwMode="auto">
          <a:xfrm>
            <a:off x="6751646" y="3138488"/>
            <a:ext cx="111125"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44" name="Rectangle 84"/>
          <p:cNvSpPr>
            <a:spLocks noChangeArrowheads="1"/>
          </p:cNvSpPr>
          <p:nvPr/>
        </p:nvSpPr>
        <p:spPr bwMode="auto">
          <a:xfrm>
            <a:off x="6546858" y="3048000"/>
            <a:ext cx="17237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$2</a:t>
            </a:r>
            <a:endParaRPr lang="en-US" b="1">
              <a:latin typeface="Century Gothic"/>
              <a:cs typeface="Century Gothic"/>
            </a:endParaRPr>
          </a:p>
        </p:txBody>
      </p:sp>
      <p:sp>
        <p:nvSpPr>
          <p:cNvPr id="45" name="Rectangle 85"/>
          <p:cNvSpPr>
            <a:spLocks noChangeArrowheads="1"/>
          </p:cNvSpPr>
          <p:nvPr/>
        </p:nvSpPr>
        <p:spPr bwMode="auto">
          <a:xfrm>
            <a:off x="6621471" y="4046538"/>
            <a:ext cx="8618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1</a:t>
            </a:r>
            <a:endParaRPr lang="en-US" b="1">
              <a:latin typeface="Century Gothic"/>
              <a:cs typeface="Century Gothic"/>
            </a:endParaRPr>
          </a:p>
        </p:txBody>
      </p:sp>
      <p:sp>
        <p:nvSpPr>
          <p:cNvPr id="46" name="Rectangle 86"/>
          <p:cNvSpPr>
            <a:spLocks noChangeArrowheads="1"/>
          </p:cNvSpPr>
          <p:nvPr/>
        </p:nvSpPr>
        <p:spPr bwMode="auto">
          <a:xfrm>
            <a:off x="3508383" y="3048000"/>
            <a:ext cx="17237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$2</a:t>
            </a:r>
            <a:endParaRPr lang="en-US" b="1">
              <a:latin typeface="Century Gothic"/>
              <a:cs typeface="Century Gothic"/>
            </a:endParaRPr>
          </a:p>
        </p:txBody>
      </p:sp>
      <p:sp>
        <p:nvSpPr>
          <p:cNvPr id="47" name="Rectangle 87"/>
          <p:cNvSpPr>
            <a:spLocks noChangeArrowheads="1"/>
          </p:cNvSpPr>
          <p:nvPr/>
        </p:nvSpPr>
        <p:spPr bwMode="auto">
          <a:xfrm>
            <a:off x="3584583" y="4046538"/>
            <a:ext cx="8618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1</a:t>
            </a:r>
            <a:endParaRPr lang="en-US" b="1">
              <a:latin typeface="Century Gothic"/>
              <a:cs typeface="Century Gothic"/>
            </a:endParaRPr>
          </a:p>
        </p:txBody>
      </p:sp>
      <p:sp>
        <p:nvSpPr>
          <p:cNvPr id="48" name="Rectangle 88"/>
          <p:cNvSpPr>
            <a:spLocks noChangeArrowheads="1"/>
          </p:cNvSpPr>
          <p:nvPr/>
        </p:nvSpPr>
        <p:spPr bwMode="auto">
          <a:xfrm>
            <a:off x="508008" y="3048000"/>
            <a:ext cx="17237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$2</a:t>
            </a:r>
            <a:endParaRPr lang="en-US" b="1">
              <a:latin typeface="Century Gothic"/>
              <a:cs typeface="Century Gothic"/>
            </a:endParaRPr>
          </a:p>
        </p:txBody>
      </p:sp>
      <p:sp>
        <p:nvSpPr>
          <p:cNvPr id="49" name="Rectangle 89"/>
          <p:cNvSpPr>
            <a:spLocks noChangeArrowheads="1"/>
          </p:cNvSpPr>
          <p:nvPr/>
        </p:nvSpPr>
        <p:spPr bwMode="auto">
          <a:xfrm>
            <a:off x="582621" y="4046538"/>
            <a:ext cx="8618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b="1">
                <a:solidFill>
                  <a:srgbClr val="000000"/>
                </a:solidFill>
                <a:latin typeface="Century Gothic"/>
                <a:cs typeface="Century Gothic"/>
              </a:rPr>
              <a:t>1</a:t>
            </a:r>
            <a:endParaRPr lang="en-US" b="1">
              <a:latin typeface="Century Gothic"/>
              <a:cs typeface="Century Gothic"/>
            </a:endParaRPr>
          </a:p>
        </p:txBody>
      </p:sp>
      <p:sp>
        <p:nvSpPr>
          <p:cNvPr id="50" name="Freeform 110"/>
          <p:cNvSpPr>
            <a:spLocks/>
          </p:cNvSpPr>
          <p:nvPr/>
        </p:nvSpPr>
        <p:spPr bwMode="auto">
          <a:xfrm>
            <a:off x="717558" y="2449513"/>
            <a:ext cx="1928813" cy="2608262"/>
          </a:xfrm>
          <a:custGeom>
            <a:avLst/>
            <a:gdLst>
              <a:gd name="T0" fmla="*/ 1215 w 1215"/>
              <a:gd name="T1" fmla="*/ 1643 h 1643"/>
              <a:gd name="T2" fmla="*/ 0 w 1215"/>
              <a:gd name="T3" fmla="*/ 1643 h 1643"/>
              <a:gd name="T4" fmla="*/ 0 w 1215"/>
              <a:gd name="T5" fmla="*/ 0 h 1643"/>
            </a:gdLst>
            <a:ahLst/>
            <a:cxnLst>
              <a:cxn ang="0">
                <a:pos x="T0" y="T1"/>
              </a:cxn>
              <a:cxn ang="0">
                <a:pos x="T2" y="T3"/>
              </a:cxn>
              <a:cxn ang="0">
                <a:pos x="T4" y="T5"/>
              </a:cxn>
            </a:cxnLst>
            <a:rect l="0" t="0" r="r" b="b"/>
            <a:pathLst>
              <a:path w="1215" h="1643">
                <a:moveTo>
                  <a:pt x="1215" y="1643"/>
                </a:moveTo>
                <a:lnTo>
                  <a:pt x="0" y="1643"/>
                </a:lnTo>
                <a:lnTo>
                  <a:pt x="0" y="0"/>
                </a:lnTo>
              </a:path>
            </a:pathLst>
          </a:custGeom>
          <a:noFill/>
          <a:ln w="95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b="1">
              <a:latin typeface="Century Gothic"/>
              <a:cs typeface="Century Gothic"/>
            </a:endParaRPr>
          </a:p>
        </p:txBody>
      </p:sp>
      <p:sp>
        <p:nvSpPr>
          <p:cNvPr id="51" name="Freeform 131"/>
          <p:cNvSpPr>
            <a:spLocks/>
          </p:cNvSpPr>
          <p:nvPr/>
        </p:nvSpPr>
        <p:spPr bwMode="auto">
          <a:xfrm>
            <a:off x="6751646" y="2449513"/>
            <a:ext cx="2049462" cy="2608262"/>
          </a:xfrm>
          <a:custGeom>
            <a:avLst/>
            <a:gdLst>
              <a:gd name="T0" fmla="*/ 1291 w 1291"/>
              <a:gd name="T1" fmla="*/ 1643 h 1643"/>
              <a:gd name="T2" fmla="*/ 0 w 1291"/>
              <a:gd name="T3" fmla="*/ 1643 h 1643"/>
              <a:gd name="T4" fmla="*/ 0 w 1291"/>
              <a:gd name="T5" fmla="*/ 0 h 1643"/>
            </a:gdLst>
            <a:ahLst/>
            <a:cxnLst>
              <a:cxn ang="0">
                <a:pos x="T0" y="T1"/>
              </a:cxn>
              <a:cxn ang="0">
                <a:pos x="T2" y="T3"/>
              </a:cxn>
              <a:cxn ang="0">
                <a:pos x="T4" y="T5"/>
              </a:cxn>
            </a:cxnLst>
            <a:rect l="0" t="0" r="r" b="b"/>
            <a:pathLst>
              <a:path w="1291" h="1643">
                <a:moveTo>
                  <a:pt x="1291" y="1643"/>
                </a:moveTo>
                <a:lnTo>
                  <a:pt x="0" y="1643"/>
                </a:lnTo>
                <a:lnTo>
                  <a:pt x="0" y="0"/>
                </a:lnTo>
              </a:path>
            </a:pathLst>
          </a:custGeom>
          <a:noFill/>
          <a:ln w="95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b="1">
              <a:latin typeface="Century Gothic"/>
              <a:cs typeface="Century Gothic"/>
            </a:endParaRPr>
          </a:p>
        </p:txBody>
      </p:sp>
      <p:sp>
        <p:nvSpPr>
          <p:cNvPr id="52" name="Freeform 152"/>
          <p:cNvSpPr>
            <a:spLocks/>
          </p:cNvSpPr>
          <p:nvPr/>
        </p:nvSpPr>
        <p:spPr bwMode="auto">
          <a:xfrm>
            <a:off x="3721108" y="2449513"/>
            <a:ext cx="1924050" cy="2608262"/>
          </a:xfrm>
          <a:custGeom>
            <a:avLst/>
            <a:gdLst>
              <a:gd name="T0" fmla="*/ 1212 w 1212"/>
              <a:gd name="T1" fmla="*/ 1643 h 1643"/>
              <a:gd name="T2" fmla="*/ 0 w 1212"/>
              <a:gd name="T3" fmla="*/ 1643 h 1643"/>
              <a:gd name="T4" fmla="*/ 0 w 1212"/>
              <a:gd name="T5" fmla="*/ 0 h 1643"/>
            </a:gdLst>
            <a:ahLst/>
            <a:cxnLst>
              <a:cxn ang="0">
                <a:pos x="T0" y="T1"/>
              </a:cxn>
              <a:cxn ang="0">
                <a:pos x="T2" y="T3"/>
              </a:cxn>
              <a:cxn ang="0">
                <a:pos x="T4" y="T5"/>
              </a:cxn>
            </a:cxnLst>
            <a:rect l="0" t="0" r="r" b="b"/>
            <a:pathLst>
              <a:path w="1212" h="1643">
                <a:moveTo>
                  <a:pt x="1212" y="1643"/>
                </a:moveTo>
                <a:lnTo>
                  <a:pt x="0" y="1643"/>
                </a:lnTo>
                <a:lnTo>
                  <a:pt x="0" y="0"/>
                </a:lnTo>
              </a:path>
            </a:pathLst>
          </a:custGeom>
          <a:noFill/>
          <a:ln w="95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b="1">
              <a:latin typeface="Century Gothic"/>
              <a:cs typeface="Century Gothic"/>
            </a:endParaRPr>
          </a:p>
        </p:txBody>
      </p:sp>
      <p:sp>
        <p:nvSpPr>
          <p:cNvPr id="53" name="Line 153"/>
          <p:cNvSpPr>
            <a:spLocks noChangeShapeType="1"/>
          </p:cNvSpPr>
          <p:nvPr/>
        </p:nvSpPr>
        <p:spPr bwMode="auto">
          <a:xfrm>
            <a:off x="2343158" y="4300538"/>
            <a:ext cx="0" cy="0"/>
          </a:xfrm>
          <a:prstGeom prst="line">
            <a:avLst/>
          </a:prstGeom>
          <a:noFill/>
          <a:ln w="36513">
            <a:solidFill>
              <a:srgbClr val="AEC5E7"/>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54" name="Line 154"/>
          <p:cNvSpPr>
            <a:spLocks noChangeShapeType="1"/>
          </p:cNvSpPr>
          <p:nvPr/>
        </p:nvSpPr>
        <p:spPr bwMode="auto">
          <a:xfrm>
            <a:off x="1327158" y="2771775"/>
            <a:ext cx="0" cy="0"/>
          </a:xfrm>
          <a:prstGeom prst="line">
            <a:avLst/>
          </a:prstGeom>
          <a:noFill/>
          <a:ln w="36513">
            <a:solidFill>
              <a:srgbClr val="AEC5E7"/>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55" name="Line 199"/>
          <p:cNvSpPr>
            <a:spLocks noChangeShapeType="1"/>
          </p:cNvSpPr>
          <p:nvPr/>
        </p:nvSpPr>
        <p:spPr bwMode="auto">
          <a:xfrm flipH="1">
            <a:off x="1787533" y="3028950"/>
            <a:ext cx="752475" cy="1239838"/>
          </a:xfrm>
          <a:prstGeom prst="line">
            <a:avLst/>
          </a:prstGeom>
          <a:noFill/>
          <a:ln w="36513">
            <a:solidFill>
              <a:srgbClr val="EE313C"/>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56" name="Oval 200"/>
          <p:cNvSpPr>
            <a:spLocks noChangeArrowheads="1"/>
          </p:cNvSpPr>
          <p:nvPr/>
        </p:nvSpPr>
        <p:spPr bwMode="auto">
          <a:xfrm>
            <a:off x="1828808" y="4079875"/>
            <a:ext cx="92075" cy="920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b="1">
              <a:latin typeface="Century Gothic"/>
              <a:cs typeface="Century Gothic"/>
            </a:endParaRPr>
          </a:p>
        </p:txBody>
      </p:sp>
      <p:sp>
        <p:nvSpPr>
          <p:cNvPr id="57" name="Oval 201"/>
          <p:cNvSpPr>
            <a:spLocks noChangeArrowheads="1"/>
          </p:cNvSpPr>
          <p:nvPr/>
        </p:nvSpPr>
        <p:spPr bwMode="auto">
          <a:xfrm>
            <a:off x="2435233" y="3087688"/>
            <a:ext cx="90488" cy="920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b="1">
              <a:latin typeface="Century Gothic"/>
              <a:cs typeface="Century Gothic"/>
            </a:endParaRPr>
          </a:p>
        </p:txBody>
      </p:sp>
      <p:sp>
        <p:nvSpPr>
          <p:cNvPr id="58" name="Line 202"/>
          <p:cNvSpPr>
            <a:spLocks noChangeShapeType="1"/>
          </p:cNvSpPr>
          <p:nvPr/>
        </p:nvSpPr>
        <p:spPr bwMode="auto">
          <a:xfrm flipH="1">
            <a:off x="4276733" y="3005138"/>
            <a:ext cx="817563" cy="1268412"/>
          </a:xfrm>
          <a:prstGeom prst="line">
            <a:avLst/>
          </a:prstGeom>
          <a:noFill/>
          <a:ln w="36513">
            <a:solidFill>
              <a:srgbClr val="EE313C"/>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59" name="Line 203"/>
          <p:cNvSpPr>
            <a:spLocks noChangeShapeType="1"/>
          </p:cNvSpPr>
          <p:nvPr/>
        </p:nvSpPr>
        <p:spPr bwMode="auto">
          <a:xfrm flipV="1">
            <a:off x="7697796" y="2968625"/>
            <a:ext cx="979487" cy="1350963"/>
          </a:xfrm>
          <a:prstGeom prst="line">
            <a:avLst/>
          </a:prstGeom>
          <a:noFill/>
          <a:ln w="36513">
            <a:solidFill>
              <a:srgbClr val="EE313C"/>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60" name="Oval 204"/>
          <p:cNvSpPr>
            <a:spLocks noChangeArrowheads="1"/>
          </p:cNvSpPr>
          <p:nvPr/>
        </p:nvSpPr>
        <p:spPr bwMode="auto">
          <a:xfrm>
            <a:off x="4327533" y="4079875"/>
            <a:ext cx="92075" cy="920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b="1">
              <a:latin typeface="Century Gothic"/>
              <a:cs typeface="Century Gothic"/>
            </a:endParaRPr>
          </a:p>
        </p:txBody>
      </p:sp>
      <p:sp>
        <p:nvSpPr>
          <p:cNvPr id="61" name="Oval 205"/>
          <p:cNvSpPr>
            <a:spLocks noChangeArrowheads="1"/>
          </p:cNvSpPr>
          <p:nvPr/>
        </p:nvSpPr>
        <p:spPr bwMode="auto">
          <a:xfrm>
            <a:off x="4970471" y="3092450"/>
            <a:ext cx="92075" cy="920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b="1">
              <a:latin typeface="Century Gothic"/>
              <a:cs typeface="Century Gothic"/>
            </a:endParaRPr>
          </a:p>
        </p:txBody>
      </p:sp>
      <p:sp>
        <p:nvSpPr>
          <p:cNvPr id="62" name="Oval 206"/>
          <p:cNvSpPr>
            <a:spLocks noChangeArrowheads="1"/>
          </p:cNvSpPr>
          <p:nvPr/>
        </p:nvSpPr>
        <p:spPr bwMode="auto">
          <a:xfrm>
            <a:off x="8493133" y="3097213"/>
            <a:ext cx="92075" cy="920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b="1">
              <a:latin typeface="Century Gothic"/>
              <a:cs typeface="Century Gothic"/>
            </a:endParaRPr>
          </a:p>
        </p:txBody>
      </p:sp>
      <p:sp>
        <p:nvSpPr>
          <p:cNvPr id="63" name="Oval 207"/>
          <p:cNvSpPr>
            <a:spLocks noChangeArrowheads="1"/>
          </p:cNvSpPr>
          <p:nvPr/>
        </p:nvSpPr>
        <p:spPr bwMode="auto">
          <a:xfrm>
            <a:off x="7780346" y="4084638"/>
            <a:ext cx="92075" cy="9207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b="1">
              <a:latin typeface="Century Gothic"/>
              <a:cs typeface="Century Gothic"/>
            </a:endParaRPr>
          </a:p>
        </p:txBody>
      </p:sp>
      <p:sp>
        <p:nvSpPr>
          <p:cNvPr id="64" name="Line 208"/>
          <p:cNvSpPr>
            <a:spLocks noChangeShapeType="1"/>
          </p:cNvSpPr>
          <p:nvPr/>
        </p:nvSpPr>
        <p:spPr bwMode="auto">
          <a:xfrm flipV="1">
            <a:off x="7110421" y="4953000"/>
            <a:ext cx="0" cy="109538"/>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65" name="Line 209"/>
          <p:cNvSpPr>
            <a:spLocks noChangeShapeType="1"/>
          </p:cNvSpPr>
          <p:nvPr/>
        </p:nvSpPr>
        <p:spPr bwMode="auto">
          <a:xfrm flipV="1">
            <a:off x="7469196" y="4953000"/>
            <a:ext cx="0" cy="109538"/>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66" name="Line 210"/>
          <p:cNvSpPr>
            <a:spLocks noChangeShapeType="1"/>
          </p:cNvSpPr>
          <p:nvPr/>
        </p:nvSpPr>
        <p:spPr bwMode="auto">
          <a:xfrm flipV="1">
            <a:off x="7826383" y="4953000"/>
            <a:ext cx="0" cy="109538"/>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67" name="Line 211"/>
          <p:cNvSpPr>
            <a:spLocks noChangeShapeType="1"/>
          </p:cNvSpPr>
          <p:nvPr/>
        </p:nvSpPr>
        <p:spPr bwMode="auto">
          <a:xfrm flipV="1">
            <a:off x="8185158" y="4953000"/>
            <a:ext cx="0" cy="109538"/>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68" name="Line 212"/>
          <p:cNvSpPr>
            <a:spLocks noChangeShapeType="1"/>
          </p:cNvSpPr>
          <p:nvPr/>
        </p:nvSpPr>
        <p:spPr bwMode="auto">
          <a:xfrm flipV="1">
            <a:off x="8543933" y="4953000"/>
            <a:ext cx="0" cy="109538"/>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b="1">
              <a:latin typeface="Century Gothic"/>
              <a:cs typeface="Century Gothic"/>
            </a:endParaRPr>
          </a:p>
        </p:txBody>
      </p:sp>
      <p:sp>
        <p:nvSpPr>
          <p:cNvPr id="69" name="Rectangle 213"/>
          <p:cNvSpPr>
            <a:spLocks noChangeArrowheads="1"/>
          </p:cNvSpPr>
          <p:nvPr/>
        </p:nvSpPr>
        <p:spPr bwMode="auto">
          <a:xfrm>
            <a:off x="8077200" y="2819400"/>
            <a:ext cx="114088"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300" b="1" i="1" dirty="0">
                <a:solidFill>
                  <a:srgbClr val="000000"/>
                </a:solidFill>
                <a:latin typeface="Century Gothic"/>
                <a:cs typeface="Century Gothic"/>
              </a:rPr>
              <a:t>S</a:t>
            </a:r>
            <a:endParaRPr lang="en-US" b="1" i="1" dirty="0">
              <a:latin typeface="Century Gothic"/>
              <a:cs typeface="Century Gothic"/>
            </a:endParaRPr>
          </a:p>
        </p:txBody>
      </p:sp>
      <p:sp>
        <p:nvSpPr>
          <p:cNvPr id="70" name="Rectangle 214"/>
          <p:cNvSpPr>
            <a:spLocks noChangeArrowheads="1"/>
          </p:cNvSpPr>
          <p:nvPr/>
        </p:nvSpPr>
        <p:spPr bwMode="auto">
          <a:xfrm>
            <a:off x="8153400" y="2906712"/>
            <a:ext cx="397545"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900" b="1" dirty="0">
                <a:solidFill>
                  <a:srgbClr val="000000"/>
                </a:solidFill>
                <a:latin typeface="Century Gothic"/>
                <a:cs typeface="Century Gothic"/>
              </a:rPr>
              <a:t>Market</a:t>
            </a:r>
            <a:endParaRPr lang="en-US" b="1" dirty="0">
              <a:latin typeface="Century Gothic"/>
              <a:cs typeface="Century Gothic"/>
            </a:endParaRPr>
          </a:p>
        </p:txBody>
      </p:sp>
      <p:sp>
        <p:nvSpPr>
          <p:cNvPr id="71" name="TextBox 29"/>
          <p:cNvSpPr txBox="1">
            <a:spLocks noChangeArrowheads="1"/>
          </p:cNvSpPr>
          <p:nvPr/>
        </p:nvSpPr>
        <p:spPr bwMode="auto">
          <a:xfrm>
            <a:off x="795346" y="1851025"/>
            <a:ext cx="248125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spcBef>
                <a:spcPct val="50000"/>
              </a:spcBef>
            </a:pPr>
            <a:r>
              <a:rPr lang="en-US" sz="1400" b="1" dirty="0">
                <a:latin typeface="Century Gothic"/>
                <a:ea typeface="MS PGothic" pitchFamily="34" charset="-128"/>
                <a:cs typeface="Century Gothic"/>
              </a:rPr>
              <a:t>(a)  Mr. Silva’s individual supply curve</a:t>
            </a:r>
          </a:p>
        </p:txBody>
      </p:sp>
      <p:sp>
        <p:nvSpPr>
          <p:cNvPr id="72" name="TextBox 29"/>
          <p:cNvSpPr txBox="1">
            <a:spLocks noChangeArrowheads="1"/>
          </p:cNvSpPr>
          <p:nvPr/>
        </p:nvSpPr>
        <p:spPr bwMode="auto">
          <a:xfrm>
            <a:off x="3919546" y="1851025"/>
            <a:ext cx="2209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spcBef>
                <a:spcPct val="50000"/>
              </a:spcBef>
            </a:pPr>
            <a:r>
              <a:rPr lang="en-US" sz="1400" b="1" dirty="0">
                <a:latin typeface="Century Gothic"/>
                <a:ea typeface="MS PGothic" pitchFamily="34" charset="-128"/>
                <a:cs typeface="Century Gothic"/>
              </a:rPr>
              <a:t>(b)  Mr. Liu’s individual supply curve</a:t>
            </a:r>
          </a:p>
        </p:txBody>
      </p:sp>
      <p:sp>
        <p:nvSpPr>
          <p:cNvPr id="73" name="TextBox 29"/>
          <p:cNvSpPr txBox="1">
            <a:spLocks noChangeArrowheads="1"/>
          </p:cNvSpPr>
          <p:nvPr/>
        </p:nvSpPr>
        <p:spPr bwMode="auto">
          <a:xfrm>
            <a:off x="6662746" y="1828800"/>
            <a:ext cx="20574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spcBef>
                <a:spcPct val="50000"/>
              </a:spcBef>
            </a:pPr>
            <a:r>
              <a:rPr lang="en-US" sz="1400" b="1" dirty="0">
                <a:latin typeface="Century Gothic"/>
                <a:ea typeface="MS PGothic" pitchFamily="34" charset="-128"/>
                <a:cs typeface="Century Gothic"/>
              </a:rPr>
              <a:t>(c)  Market supply curve</a:t>
            </a:r>
          </a:p>
        </p:txBody>
      </p:sp>
      <p:sp>
        <p:nvSpPr>
          <p:cNvPr id="74" name="TextBox 29"/>
          <p:cNvSpPr txBox="1">
            <a:spLocks noChangeArrowheads="1"/>
          </p:cNvSpPr>
          <p:nvPr/>
        </p:nvSpPr>
        <p:spPr bwMode="auto">
          <a:xfrm>
            <a:off x="-76200" y="1828800"/>
            <a:ext cx="8763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100" b="1" dirty="0">
                <a:latin typeface="Century Gothic"/>
                <a:ea typeface="MS PGothic" pitchFamily="34" charset="-128"/>
                <a:cs typeface="Century Gothic"/>
              </a:rPr>
              <a:t>Price of cotton (per pound)</a:t>
            </a:r>
          </a:p>
        </p:txBody>
      </p:sp>
      <p:sp>
        <p:nvSpPr>
          <p:cNvPr id="77" name="TextBox 30"/>
          <p:cNvSpPr txBox="1">
            <a:spLocks noChangeArrowheads="1"/>
          </p:cNvSpPr>
          <p:nvPr/>
        </p:nvSpPr>
        <p:spPr bwMode="auto">
          <a:xfrm>
            <a:off x="1270008" y="5349875"/>
            <a:ext cx="16764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r">
              <a:spcBef>
                <a:spcPct val="50000"/>
              </a:spcBef>
            </a:pPr>
            <a:r>
              <a:rPr lang="en-US" sz="1100" b="1">
                <a:latin typeface="Century Gothic"/>
                <a:ea typeface="MS PGothic" pitchFamily="34" charset="-128"/>
                <a:cs typeface="Century Gothic"/>
              </a:rPr>
              <a:t>Quantity of coffee beans (pounds)</a:t>
            </a:r>
          </a:p>
        </p:txBody>
      </p:sp>
      <p:sp>
        <p:nvSpPr>
          <p:cNvPr id="78" name="TextBox 30"/>
          <p:cNvSpPr txBox="1">
            <a:spLocks noChangeArrowheads="1"/>
          </p:cNvSpPr>
          <p:nvPr/>
        </p:nvSpPr>
        <p:spPr bwMode="auto">
          <a:xfrm>
            <a:off x="4241808" y="5330825"/>
            <a:ext cx="16764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r">
              <a:spcBef>
                <a:spcPct val="50000"/>
              </a:spcBef>
            </a:pPr>
            <a:r>
              <a:rPr lang="en-US" sz="1100" b="1">
                <a:latin typeface="Century Gothic"/>
                <a:ea typeface="MS PGothic" pitchFamily="34" charset="-128"/>
                <a:cs typeface="Century Gothic"/>
              </a:rPr>
              <a:t>Quantity of coffee beans (pounds)</a:t>
            </a:r>
          </a:p>
        </p:txBody>
      </p:sp>
      <p:sp>
        <p:nvSpPr>
          <p:cNvPr id="79" name="TextBox 30"/>
          <p:cNvSpPr txBox="1">
            <a:spLocks noChangeArrowheads="1"/>
          </p:cNvSpPr>
          <p:nvPr/>
        </p:nvSpPr>
        <p:spPr bwMode="auto">
          <a:xfrm>
            <a:off x="7213608" y="5349875"/>
            <a:ext cx="16764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r">
              <a:spcBef>
                <a:spcPct val="50000"/>
              </a:spcBef>
            </a:pPr>
            <a:r>
              <a:rPr lang="en-US" sz="1100" b="1">
                <a:latin typeface="Century Gothic"/>
                <a:ea typeface="MS PGothic" pitchFamily="34" charset="-128"/>
                <a:cs typeface="Century Gothic"/>
              </a:rPr>
              <a:t>Quantity of coffee beans (pounds)</a:t>
            </a:r>
          </a:p>
        </p:txBody>
      </p:sp>
      <p:cxnSp>
        <p:nvCxnSpPr>
          <p:cNvPr id="80" name="Straight Connector 86"/>
          <p:cNvCxnSpPr>
            <a:cxnSpLocks noChangeShapeType="1"/>
          </p:cNvCxnSpPr>
          <p:nvPr/>
        </p:nvCxnSpPr>
        <p:spPr bwMode="auto">
          <a:xfrm>
            <a:off x="2471746" y="3121025"/>
            <a:ext cx="0" cy="1752600"/>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sp>
        <p:nvSpPr>
          <p:cNvPr id="81" name="TextBox 80"/>
          <p:cNvSpPr txBox="1"/>
          <p:nvPr/>
        </p:nvSpPr>
        <p:spPr>
          <a:xfrm>
            <a:off x="2903538" y="3429000"/>
            <a:ext cx="449262" cy="830997"/>
          </a:xfrm>
          <a:prstGeom prst="rect">
            <a:avLst/>
          </a:prstGeom>
          <a:noFill/>
        </p:spPr>
        <p:txBody>
          <a:bodyPr wrap="square" rtlCol="0">
            <a:spAutoFit/>
          </a:bodyPr>
          <a:lstStyle/>
          <a:p>
            <a:r>
              <a:rPr lang="en-US" sz="4800" b="1" dirty="0">
                <a:solidFill>
                  <a:srgbClr val="990033"/>
                </a:solidFill>
                <a:latin typeface="Century Gothic"/>
                <a:cs typeface="Century Gothic"/>
              </a:rPr>
              <a:t>+</a:t>
            </a:r>
          </a:p>
        </p:txBody>
      </p:sp>
      <p:sp>
        <p:nvSpPr>
          <p:cNvPr id="82" name="TextBox 81"/>
          <p:cNvSpPr txBox="1"/>
          <p:nvPr/>
        </p:nvSpPr>
        <p:spPr>
          <a:xfrm>
            <a:off x="5867400" y="3429000"/>
            <a:ext cx="449262" cy="830997"/>
          </a:xfrm>
          <a:prstGeom prst="rect">
            <a:avLst/>
          </a:prstGeom>
          <a:noFill/>
        </p:spPr>
        <p:txBody>
          <a:bodyPr wrap="square" rtlCol="0">
            <a:spAutoFit/>
          </a:bodyPr>
          <a:lstStyle/>
          <a:p>
            <a:r>
              <a:rPr lang="en-US" sz="4800" b="1" dirty="0">
                <a:solidFill>
                  <a:srgbClr val="990033"/>
                </a:solidFill>
                <a:latin typeface="Century Gothic"/>
                <a:cs typeface="Century Gothic"/>
              </a:rPr>
              <a:t>=</a:t>
            </a:r>
          </a:p>
        </p:txBody>
      </p:sp>
      <p:sp>
        <p:nvSpPr>
          <p:cNvPr id="83" name="TextBox 29"/>
          <p:cNvSpPr txBox="1">
            <a:spLocks noChangeArrowheads="1"/>
          </p:cNvSpPr>
          <p:nvPr/>
        </p:nvSpPr>
        <p:spPr bwMode="auto">
          <a:xfrm>
            <a:off x="2933700" y="1828800"/>
            <a:ext cx="8763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100" b="1" dirty="0">
                <a:latin typeface="Century Gothic"/>
                <a:ea typeface="MS PGothic" pitchFamily="34" charset="-128"/>
                <a:cs typeface="Century Gothic"/>
              </a:rPr>
              <a:t>Price of cotton (per pound)</a:t>
            </a:r>
          </a:p>
        </p:txBody>
      </p:sp>
      <p:sp>
        <p:nvSpPr>
          <p:cNvPr id="84" name="TextBox 29"/>
          <p:cNvSpPr txBox="1">
            <a:spLocks noChangeArrowheads="1"/>
          </p:cNvSpPr>
          <p:nvPr/>
        </p:nvSpPr>
        <p:spPr bwMode="auto">
          <a:xfrm>
            <a:off x="5905500" y="1828800"/>
            <a:ext cx="8763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100" b="1" dirty="0">
                <a:latin typeface="Century Gothic"/>
                <a:ea typeface="MS PGothic" pitchFamily="34" charset="-128"/>
                <a:cs typeface="Century Gothic"/>
              </a:rPr>
              <a:t>Price of cotton (per pound)</a:t>
            </a:r>
          </a:p>
        </p:txBody>
      </p:sp>
    </p:spTree>
    <p:extLst>
      <p:ext uri="{BB962C8B-B14F-4D97-AF65-F5344CB8AC3E}">
        <p14:creationId xmlns:p14="http://schemas.microsoft.com/office/powerpoint/2010/main" val="3339003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fade">
                                      <p:cBhvr>
                                        <p:cTn id="7" dur="500"/>
                                        <p:tgtEl>
                                          <p:spTgt spid="8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2"/>
                                        </p:tgtEl>
                                        <p:attrNameLst>
                                          <p:attrName>style.visibility</p:attrName>
                                        </p:attrNameLst>
                                      </p:cBhvr>
                                      <p:to>
                                        <p:strVal val="visible"/>
                                      </p:to>
                                    </p:set>
                                    <p:animEffect transition="in" filter="fade">
                                      <p:cBhvr>
                                        <p:cTn id="11" dur="500"/>
                                        <p:tgtEl>
                                          <p:spTgt spid="82"/>
                                        </p:tgtEl>
                                      </p:cBhvr>
                                    </p:animEffect>
                                  </p:childTnLst>
                                </p:cTn>
                              </p:par>
                              <p:par>
                                <p:cTn id="12" presetID="10"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500"/>
                                        <p:tgtEl>
                                          <p:spTgt spid="2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500"/>
                                        <p:tgtEl>
                                          <p:spTgt spid="2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500"/>
                                        <p:tgtEl>
                                          <p:spTgt spid="3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fade">
                                      <p:cBhvr>
                                        <p:cTn id="35" dur="500"/>
                                        <p:tgtEl>
                                          <p:spTgt spid="3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fade">
                                      <p:cBhvr>
                                        <p:cTn id="38" dur="500"/>
                                        <p:tgtEl>
                                          <p:spTgt spid="3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6"/>
                                        </p:tgtEl>
                                        <p:attrNameLst>
                                          <p:attrName>style.visibility</p:attrName>
                                        </p:attrNameLst>
                                      </p:cBhvr>
                                      <p:to>
                                        <p:strVal val="visible"/>
                                      </p:to>
                                    </p:set>
                                    <p:animEffect transition="in" filter="fade">
                                      <p:cBhvr>
                                        <p:cTn id="41" dur="500"/>
                                        <p:tgtEl>
                                          <p:spTgt spid="3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500"/>
                                        <p:tgtEl>
                                          <p:spTgt spid="4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500"/>
                                        <p:tgtEl>
                                          <p:spTgt spid="4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500"/>
                                        <p:tgtEl>
                                          <p:spTgt spid="4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500"/>
                                        <p:tgtEl>
                                          <p:spTgt spid="4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51"/>
                                        </p:tgtEl>
                                        <p:attrNameLst>
                                          <p:attrName>style.visibility</p:attrName>
                                        </p:attrNameLst>
                                      </p:cBhvr>
                                      <p:to>
                                        <p:strVal val="visible"/>
                                      </p:to>
                                    </p:set>
                                    <p:animEffect transition="in" filter="fade">
                                      <p:cBhvr>
                                        <p:cTn id="56" dur="500"/>
                                        <p:tgtEl>
                                          <p:spTgt spid="5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59"/>
                                        </p:tgtEl>
                                        <p:attrNameLst>
                                          <p:attrName>style.visibility</p:attrName>
                                        </p:attrNameLst>
                                      </p:cBhvr>
                                      <p:to>
                                        <p:strVal val="visible"/>
                                      </p:to>
                                    </p:set>
                                    <p:animEffect transition="in" filter="fade">
                                      <p:cBhvr>
                                        <p:cTn id="59" dur="500"/>
                                        <p:tgtEl>
                                          <p:spTgt spid="5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62"/>
                                        </p:tgtEl>
                                        <p:attrNameLst>
                                          <p:attrName>style.visibility</p:attrName>
                                        </p:attrNameLst>
                                      </p:cBhvr>
                                      <p:to>
                                        <p:strVal val="visible"/>
                                      </p:to>
                                    </p:set>
                                    <p:animEffect transition="in" filter="fade">
                                      <p:cBhvr>
                                        <p:cTn id="62" dur="500"/>
                                        <p:tgtEl>
                                          <p:spTgt spid="6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63"/>
                                        </p:tgtEl>
                                        <p:attrNameLst>
                                          <p:attrName>style.visibility</p:attrName>
                                        </p:attrNameLst>
                                      </p:cBhvr>
                                      <p:to>
                                        <p:strVal val="visible"/>
                                      </p:to>
                                    </p:set>
                                    <p:animEffect transition="in" filter="fade">
                                      <p:cBhvr>
                                        <p:cTn id="65" dur="500"/>
                                        <p:tgtEl>
                                          <p:spTgt spid="6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64"/>
                                        </p:tgtEl>
                                        <p:attrNameLst>
                                          <p:attrName>style.visibility</p:attrName>
                                        </p:attrNameLst>
                                      </p:cBhvr>
                                      <p:to>
                                        <p:strVal val="visible"/>
                                      </p:to>
                                    </p:set>
                                    <p:animEffect transition="in" filter="fade">
                                      <p:cBhvr>
                                        <p:cTn id="68" dur="500"/>
                                        <p:tgtEl>
                                          <p:spTgt spid="6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65"/>
                                        </p:tgtEl>
                                        <p:attrNameLst>
                                          <p:attrName>style.visibility</p:attrName>
                                        </p:attrNameLst>
                                      </p:cBhvr>
                                      <p:to>
                                        <p:strVal val="visible"/>
                                      </p:to>
                                    </p:set>
                                    <p:animEffect transition="in" filter="fade">
                                      <p:cBhvr>
                                        <p:cTn id="71" dur="500"/>
                                        <p:tgtEl>
                                          <p:spTgt spid="6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66"/>
                                        </p:tgtEl>
                                        <p:attrNameLst>
                                          <p:attrName>style.visibility</p:attrName>
                                        </p:attrNameLst>
                                      </p:cBhvr>
                                      <p:to>
                                        <p:strVal val="visible"/>
                                      </p:to>
                                    </p:set>
                                    <p:animEffect transition="in" filter="fade">
                                      <p:cBhvr>
                                        <p:cTn id="74" dur="500"/>
                                        <p:tgtEl>
                                          <p:spTgt spid="6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67"/>
                                        </p:tgtEl>
                                        <p:attrNameLst>
                                          <p:attrName>style.visibility</p:attrName>
                                        </p:attrNameLst>
                                      </p:cBhvr>
                                      <p:to>
                                        <p:strVal val="visible"/>
                                      </p:to>
                                    </p:set>
                                    <p:animEffect transition="in" filter="fade">
                                      <p:cBhvr>
                                        <p:cTn id="77" dur="500"/>
                                        <p:tgtEl>
                                          <p:spTgt spid="6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68"/>
                                        </p:tgtEl>
                                        <p:attrNameLst>
                                          <p:attrName>style.visibility</p:attrName>
                                        </p:attrNameLst>
                                      </p:cBhvr>
                                      <p:to>
                                        <p:strVal val="visible"/>
                                      </p:to>
                                    </p:set>
                                    <p:animEffect transition="in" filter="fade">
                                      <p:cBhvr>
                                        <p:cTn id="80" dur="500"/>
                                        <p:tgtEl>
                                          <p:spTgt spid="6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69"/>
                                        </p:tgtEl>
                                        <p:attrNameLst>
                                          <p:attrName>style.visibility</p:attrName>
                                        </p:attrNameLst>
                                      </p:cBhvr>
                                      <p:to>
                                        <p:strVal val="visible"/>
                                      </p:to>
                                    </p:set>
                                    <p:animEffect transition="in" filter="fade">
                                      <p:cBhvr>
                                        <p:cTn id="83" dur="500"/>
                                        <p:tgtEl>
                                          <p:spTgt spid="6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70"/>
                                        </p:tgtEl>
                                        <p:attrNameLst>
                                          <p:attrName>style.visibility</p:attrName>
                                        </p:attrNameLst>
                                      </p:cBhvr>
                                      <p:to>
                                        <p:strVal val="visible"/>
                                      </p:to>
                                    </p:set>
                                    <p:animEffect transition="in" filter="fade">
                                      <p:cBhvr>
                                        <p:cTn id="86" dur="500"/>
                                        <p:tgtEl>
                                          <p:spTgt spid="7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73"/>
                                        </p:tgtEl>
                                        <p:attrNameLst>
                                          <p:attrName>style.visibility</p:attrName>
                                        </p:attrNameLst>
                                      </p:cBhvr>
                                      <p:to>
                                        <p:strVal val="visible"/>
                                      </p:to>
                                    </p:set>
                                    <p:animEffect transition="in" filter="fade">
                                      <p:cBhvr>
                                        <p:cTn id="89" dur="500"/>
                                        <p:tgtEl>
                                          <p:spTgt spid="73"/>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79"/>
                                        </p:tgtEl>
                                        <p:attrNameLst>
                                          <p:attrName>style.visibility</p:attrName>
                                        </p:attrNameLst>
                                      </p:cBhvr>
                                      <p:to>
                                        <p:strVal val="visible"/>
                                      </p:to>
                                    </p:set>
                                    <p:animEffect transition="in" filter="fade">
                                      <p:cBhvr>
                                        <p:cTn id="92"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p:bldP spid="34" grpId="0"/>
      <p:bldP spid="35" grpId="0"/>
      <p:bldP spid="36" grpId="0"/>
      <p:bldP spid="42" grpId="0" animBg="1"/>
      <p:bldP spid="43" grpId="0" animBg="1"/>
      <p:bldP spid="44" grpId="0"/>
      <p:bldP spid="45" grpId="0"/>
      <p:bldP spid="51" grpId="0" animBg="1"/>
      <p:bldP spid="59" grpId="0" animBg="1"/>
      <p:bldP spid="62" grpId="0" animBg="1"/>
      <p:bldP spid="63" grpId="0" animBg="1"/>
      <p:bldP spid="64" grpId="0" animBg="1"/>
      <p:bldP spid="65" grpId="0" animBg="1"/>
      <p:bldP spid="66" grpId="0" animBg="1"/>
      <p:bldP spid="67" grpId="0" animBg="1"/>
      <p:bldP spid="68" grpId="0" animBg="1"/>
      <p:bldP spid="69" grpId="0"/>
      <p:bldP spid="70" grpId="0"/>
      <p:bldP spid="73" grpId="0"/>
      <p:bldP spid="79" grpId="0"/>
      <p:bldP spid="81" grpId="0"/>
      <p:bldP spid="82" grpId="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91298" name="Rectangle 2"/>
          <p:cNvSpPr>
            <a:spLocks noGrp="1" noChangeArrowheads="1"/>
          </p:cNvSpPr>
          <p:nvPr>
            <p:ph type="title"/>
          </p:nvPr>
        </p:nvSpPr>
        <p:spPr>
          <a:xfrm>
            <a:off x="0" y="0"/>
            <a:ext cx="9144000" cy="990600"/>
          </a:xfrm>
          <a:noFill/>
        </p:spPr>
        <p:txBody>
          <a:bodyPr>
            <a:normAutofit fontScale="90000"/>
          </a:bodyPr>
          <a:lstStyle/>
          <a:p>
            <a:pPr fontAlgn="auto">
              <a:spcAft>
                <a:spcPts val="0"/>
              </a:spcAft>
              <a:defRPr/>
            </a:pPr>
            <a:r>
              <a:rPr lang="en-US" sz="4000" dirty="0">
                <a:solidFill>
                  <a:srgbClr val="9BBB59"/>
                </a:solidFill>
              </a:rPr>
              <a:t>SUPPLY, DEMAND AND MARKET EQUILIBRIUM</a:t>
            </a:r>
          </a:p>
        </p:txBody>
      </p:sp>
      <p:sp>
        <p:nvSpPr>
          <p:cNvPr id="78854" name="Rectangle 3"/>
          <p:cNvSpPr>
            <a:spLocks noGrp="1" noChangeArrowheads="1"/>
          </p:cNvSpPr>
          <p:nvPr>
            <p:ph idx="1"/>
          </p:nvPr>
        </p:nvSpPr>
        <p:spPr>
          <a:xfrm>
            <a:off x="152400" y="1447800"/>
            <a:ext cx="8839200" cy="2971800"/>
          </a:xfrm>
          <a:solidFill>
            <a:schemeClr val="bg1">
              <a:alpha val="47842"/>
            </a:schemeClr>
          </a:solidFill>
        </p:spPr>
        <p:txBody>
          <a:bodyPr>
            <a:normAutofit/>
          </a:bodyPr>
          <a:lstStyle/>
          <a:p>
            <a:r>
              <a:rPr lang="en-US" dirty="0"/>
              <a:t>When </a:t>
            </a:r>
            <a:r>
              <a:rPr lang="en-US" i="1" dirty="0">
                <a:solidFill>
                  <a:schemeClr val="accent1">
                    <a:lumMod val="75000"/>
                  </a:schemeClr>
                </a:solidFill>
              </a:rPr>
              <a:t>Q</a:t>
            </a:r>
            <a:r>
              <a:rPr lang="en-US" baseline="-25000" dirty="0">
                <a:solidFill>
                  <a:schemeClr val="accent1">
                    <a:lumMod val="75000"/>
                  </a:schemeClr>
                </a:solidFill>
              </a:rPr>
              <a:t>s</a:t>
            </a:r>
            <a:r>
              <a:rPr lang="en-US" dirty="0">
                <a:solidFill>
                  <a:schemeClr val="accent1">
                    <a:lumMod val="75000"/>
                  </a:schemeClr>
                </a:solidFill>
              </a:rPr>
              <a:t> = </a:t>
            </a:r>
            <a:r>
              <a:rPr lang="en-US" i="1" dirty="0" err="1">
                <a:solidFill>
                  <a:schemeClr val="accent1">
                    <a:lumMod val="75000"/>
                  </a:schemeClr>
                </a:solidFill>
              </a:rPr>
              <a:t>Q</a:t>
            </a:r>
            <a:r>
              <a:rPr lang="en-US" baseline="-25000" dirty="0" err="1">
                <a:solidFill>
                  <a:schemeClr val="accent1">
                    <a:lumMod val="75000"/>
                  </a:schemeClr>
                </a:solidFill>
              </a:rPr>
              <a:t>d</a:t>
            </a:r>
            <a:r>
              <a:rPr lang="en-US" dirty="0">
                <a:solidFill>
                  <a:schemeClr val="accent1">
                    <a:lumMod val="75000"/>
                  </a:schemeClr>
                </a:solidFill>
              </a:rPr>
              <a:t> </a:t>
            </a:r>
            <a:r>
              <a:rPr lang="en-US" dirty="0"/>
              <a:t>at a certain price, the market is </a:t>
            </a:r>
            <a:r>
              <a:rPr lang="en-US" dirty="0">
                <a:solidFill>
                  <a:schemeClr val="accent1">
                    <a:lumMod val="75000"/>
                  </a:schemeClr>
                </a:solidFill>
              </a:rPr>
              <a:t>in equilibrium. </a:t>
            </a:r>
          </a:p>
          <a:p>
            <a:r>
              <a:rPr lang="en-US" dirty="0"/>
              <a:t>That is, the amount consumers would purchase at this price </a:t>
            </a:r>
            <a:r>
              <a:rPr lang="en-US" dirty="0">
                <a:solidFill>
                  <a:schemeClr val="accent1">
                    <a:lumMod val="75000"/>
                  </a:schemeClr>
                </a:solidFill>
              </a:rPr>
              <a:t>is matched exactly </a:t>
            </a:r>
            <a:r>
              <a:rPr lang="en-US" dirty="0"/>
              <a:t>by the amount producers wish to sell.</a:t>
            </a:r>
          </a:p>
        </p:txBody>
      </p:sp>
      <p:sp>
        <p:nvSpPr>
          <p:cNvPr id="6" name="Oval 5"/>
          <p:cNvSpPr/>
          <p:nvPr/>
        </p:nvSpPr>
        <p:spPr>
          <a:xfrm>
            <a:off x="8382000" y="6096000"/>
            <a:ext cx="744538" cy="747713"/>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3734" name="TextBox 6">
            <a:hlinkClick r:id="rId3" action="ppaction://hlinksldjump"/>
          </p:cNvPr>
          <p:cNvSpPr txBox="1">
            <a:spLocks noChangeArrowheads="1"/>
          </p:cNvSpPr>
          <p:nvPr/>
        </p:nvSpPr>
        <p:spPr bwMode="auto">
          <a:xfrm>
            <a:off x="8428038" y="6203950"/>
            <a:ext cx="6699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1000">
                <a:latin typeface="Candara" pitchFamily="34" charset="0"/>
                <a:hlinkClick r:id="rId3" action="ppaction://hlinksldjump"/>
              </a:rPr>
              <a:t>Back to Table of contents</a:t>
            </a:r>
            <a:endParaRPr lang="en-US" sz="1000">
              <a:latin typeface="Candara" pitchFamily="34" charset="0"/>
            </a:endParaRPr>
          </a:p>
          <a:p>
            <a:pPr eaLnBrk="1" hangingPunct="1"/>
            <a:endParaRPr lang="en-US" sz="1000">
              <a:latin typeface="Candara" pitchFamily="34" charset="0"/>
            </a:endParaRPr>
          </a:p>
        </p:txBody>
      </p:sp>
    </p:spTree>
    <p:extLst>
      <p:ext uri="{BB962C8B-B14F-4D97-AF65-F5344CB8AC3E}">
        <p14:creationId xmlns:p14="http://schemas.microsoft.com/office/powerpoint/2010/main" val="9992186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8854">
                                            <p:bg/>
                                          </p:spTgt>
                                        </p:tgtEl>
                                        <p:attrNameLst>
                                          <p:attrName>style.visibility</p:attrName>
                                        </p:attrNameLst>
                                      </p:cBhvr>
                                      <p:to>
                                        <p:strVal val="visible"/>
                                      </p:to>
                                    </p:set>
                                    <p:animEffect transition="in" filter="fade">
                                      <p:cBhvr>
                                        <p:cTn id="7" dur="500"/>
                                        <p:tgtEl>
                                          <p:spTgt spid="78854">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8854">
                                            <p:txEl>
                                              <p:pRg st="0" end="0"/>
                                            </p:txEl>
                                          </p:spTgt>
                                        </p:tgtEl>
                                        <p:attrNameLst>
                                          <p:attrName>style.visibility</p:attrName>
                                        </p:attrNameLst>
                                      </p:cBhvr>
                                      <p:to>
                                        <p:strVal val="visible"/>
                                      </p:to>
                                    </p:set>
                                    <p:animEffect transition="in" filter="fade">
                                      <p:cBhvr>
                                        <p:cTn id="10" dur="500"/>
                                        <p:tgtEl>
                                          <p:spTgt spid="78854">
                                            <p:txEl>
                                              <p:pRg st="0" end="0"/>
                                            </p:txEl>
                                          </p:spTgt>
                                        </p:tgtEl>
                                      </p:cBhvr>
                                    </p:animEffect>
                                  </p:childTnLst>
                                </p:cTn>
                              </p:par>
                            </p:childTnLst>
                          </p:cTn>
                        </p:par>
                        <p:par>
                          <p:cTn id="11" fill="hold" nodeType="afterGroup">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78854">
                                            <p:txEl>
                                              <p:pRg st="1" end="1"/>
                                            </p:txEl>
                                          </p:spTgt>
                                        </p:tgtEl>
                                        <p:attrNameLst>
                                          <p:attrName>style.visibility</p:attrName>
                                        </p:attrNameLst>
                                      </p:cBhvr>
                                      <p:to>
                                        <p:strVal val="visible"/>
                                      </p:to>
                                    </p:set>
                                    <p:animEffect transition="in" filter="fade">
                                      <p:cBhvr>
                                        <p:cTn id="14" dur="500"/>
                                        <p:tgtEl>
                                          <p:spTgt spid="7885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4" grpId="0" build="p" animBg="1"/>
    </p:bldLst>
  </p:timing>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3657600"/>
            <a:ext cx="9144000" cy="2438400"/>
          </a:xfrm>
          <a:solidFill>
            <a:schemeClr val="bg1">
              <a:alpha val="71000"/>
            </a:schemeClr>
          </a:solidFill>
        </p:spPr>
        <p:txBody>
          <a:bodyPr>
            <a:normAutofit/>
          </a:bodyPr>
          <a:lstStyle/>
          <a:p>
            <a:r>
              <a:rPr lang="en-US" sz="2400" dirty="0">
                <a:latin typeface="Century Gothic"/>
                <a:cs typeface="Century Gothic"/>
              </a:rPr>
              <a:t>Because there are middlemen who bring goods to market (and get paid for their efforts),  </a:t>
            </a:r>
            <a:r>
              <a:rPr lang="en-US" sz="2400" dirty="0">
                <a:solidFill>
                  <a:schemeClr val="accent1">
                    <a:lumMod val="75000"/>
                  </a:schemeClr>
                </a:solidFill>
                <a:latin typeface="Century Gothic"/>
                <a:cs typeface="Century Gothic"/>
              </a:rPr>
              <a:t>the price that wholesale cotton farmers (sellers) receive will actually be less than the price paid by retail cotton buyers.</a:t>
            </a:r>
            <a:r>
              <a:rPr lang="en-US" sz="2400" dirty="0">
                <a:latin typeface="Century Gothic"/>
                <a:cs typeface="Century Gothic"/>
              </a:rPr>
              <a:t> </a:t>
            </a:r>
          </a:p>
          <a:p>
            <a:r>
              <a:rPr lang="en-US" sz="2400" dirty="0">
                <a:latin typeface="Century Gothic"/>
                <a:cs typeface="Century Gothic"/>
              </a:rPr>
              <a:t>But have no fear: </a:t>
            </a:r>
            <a:r>
              <a:rPr lang="en-US" sz="2400" dirty="0">
                <a:solidFill>
                  <a:srgbClr val="990033"/>
                </a:solidFill>
                <a:latin typeface="Century Gothic"/>
                <a:cs typeface="Century Gothic"/>
              </a:rPr>
              <a:t>the final price paid to retail sellers will match that paid by retail buyers at equilibrium.</a:t>
            </a:r>
          </a:p>
        </p:txBody>
      </p:sp>
      <p:sp>
        <p:nvSpPr>
          <p:cNvPr id="3" name="AutoShape 2" descr="http://www.sxc.hu/pic/l/a/ay/ayla87/1276398_28322706.jpg"/>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solidFill>
                <a:prstClr val="black"/>
              </a:solidFill>
              <a:latin typeface="Calibri"/>
            </a:endParaRPr>
          </a:p>
        </p:txBody>
      </p:sp>
      <p:sp>
        <p:nvSpPr>
          <p:cNvPr id="5" name="Footer Placeholder 4"/>
          <p:cNvSpPr>
            <a:spLocks noGrp="1"/>
          </p:cNvSpPr>
          <p:nvPr>
            <p:ph type="ftr" sz="quarter" idx="3"/>
          </p:nvPr>
        </p:nvSpPr>
        <p:spPr/>
        <p:txBody>
          <a:bodyPr/>
          <a:lstStyle/>
          <a:p>
            <a:pPr>
              <a:defRPr/>
            </a:pPr>
            <a:r>
              <a:rPr lang="en-US">
                <a:solidFill>
                  <a:prstClr val="black">
                    <a:lumMod val="50000"/>
                    <a:lumOff val="50000"/>
                  </a:prstClr>
                </a:solidFill>
                <a:latin typeface="Calibri"/>
              </a:rPr>
              <a:t>Copyright 2015 Worth Publishers    </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35858462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55" name="Text Box 23"/>
          <p:cNvSpPr txBox="1">
            <a:spLocks noChangeArrowheads="1"/>
          </p:cNvSpPr>
          <p:nvPr/>
        </p:nvSpPr>
        <p:spPr bwMode="auto">
          <a:xfrm>
            <a:off x="5791200" y="1143000"/>
            <a:ext cx="3276600" cy="1323439"/>
          </a:xfrm>
          <a:prstGeom prst="rect">
            <a:avLst/>
          </a:prstGeom>
          <a:noFill/>
          <a:ln>
            <a:noFill/>
          </a:ln>
          <a:effectLst/>
        </p:spPr>
        <p:txBody>
          <a:bodyPr>
            <a:spAutoFit/>
          </a:bodyPr>
          <a:lstStyle>
            <a:lvl1pPr marL="1588" indent="-1588">
              <a:spcBef>
                <a:spcPct val="0"/>
              </a:spcBef>
              <a:defRPr>
                <a:solidFill>
                  <a:schemeClr val="tx1"/>
                </a:solidFill>
                <a:latin typeface="Arial" pitchFamily="34" charset="0"/>
              </a:defRPr>
            </a:lvl1pPr>
            <a:lvl2pPr>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fontAlgn="base">
              <a:spcBef>
                <a:spcPct val="0"/>
              </a:spcBef>
              <a:spcAft>
                <a:spcPct val="0"/>
              </a:spcAft>
              <a:defRPr>
                <a:solidFill>
                  <a:schemeClr val="tx1"/>
                </a:solidFill>
                <a:latin typeface="Arial" pitchFamily="34" charset="0"/>
              </a:defRPr>
            </a:lvl6pPr>
            <a:lvl7pPr fontAlgn="base">
              <a:spcBef>
                <a:spcPct val="0"/>
              </a:spcBef>
              <a:spcAft>
                <a:spcPct val="0"/>
              </a:spcAft>
              <a:defRPr>
                <a:solidFill>
                  <a:schemeClr val="tx1"/>
                </a:solidFill>
                <a:latin typeface="Arial" pitchFamily="34" charset="0"/>
              </a:defRPr>
            </a:lvl7pPr>
            <a:lvl8pPr fontAlgn="base">
              <a:spcBef>
                <a:spcPct val="0"/>
              </a:spcBef>
              <a:spcAft>
                <a:spcPct val="0"/>
              </a:spcAft>
              <a:defRPr>
                <a:solidFill>
                  <a:schemeClr val="tx1"/>
                </a:solidFill>
                <a:latin typeface="Arial" pitchFamily="34" charset="0"/>
              </a:defRPr>
            </a:lvl8pPr>
            <a:lvl9pPr fontAlgn="base">
              <a:spcBef>
                <a:spcPct val="0"/>
              </a:spcBef>
              <a:spcAft>
                <a:spcPct val="0"/>
              </a:spcAft>
              <a:defRPr>
                <a:solidFill>
                  <a:schemeClr val="tx1"/>
                </a:solidFill>
                <a:latin typeface="Arial" pitchFamily="34" charset="0"/>
              </a:defRPr>
            </a:lvl9pPr>
          </a:lstStyle>
          <a:p>
            <a:pPr>
              <a:lnSpc>
                <a:spcPct val="100000"/>
              </a:lnSpc>
              <a:spcBef>
                <a:spcPct val="20000"/>
              </a:spcBef>
            </a:pPr>
            <a:r>
              <a:rPr lang="en-US" sz="2000" b="1" i="1" dirty="0">
                <a:solidFill>
                  <a:schemeClr val="tx1">
                    <a:lumMod val="75000"/>
                    <a:lumOff val="25000"/>
                  </a:schemeClr>
                </a:solidFill>
                <a:latin typeface="Century Gothic"/>
                <a:cs typeface="Century Gothic"/>
              </a:rPr>
              <a:t>Market equilibrium occurs at point E, where the supply curve and the demand curve intersect.  </a:t>
            </a:r>
          </a:p>
        </p:txBody>
      </p:sp>
      <p:cxnSp>
        <p:nvCxnSpPr>
          <p:cNvPr id="581745" name="Straight Connector 86"/>
          <p:cNvCxnSpPr>
            <a:cxnSpLocks noChangeShapeType="1"/>
          </p:cNvCxnSpPr>
          <p:nvPr/>
        </p:nvCxnSpPr>
        <p:spPr bwMode="auto">
          <a:xfrm>
            <a:off x="2540000" y="3908425"/>
            <a:ext cx="1914525" cy="3175"/>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581746" name="Straight Connector 86"/>
          <p:cNvCxnSpPr>
            <a:cxnSpLocks noChangeShapeType="1"/>
          </p:cNvCxnSpPr>
          <p:nvPr/>
        </p:nvCxnSpPr>
        <p:spPr bwMode="auto">
          <a:xfrm>
            <a:off x="4465638" y="3959225"/>
            <a:ext cx="0" cy="1068388"/>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sp>
        <p:nvSpPr>
          <p:cNvPr id="548930" name="TextBox 29"/>
          <p:cNvSpPr txBox="1">
            <a:spLocks noChangeArrowheads="1"/>
          </p:cNvSpPr>
          <p:nvPr/>
        </p:nvSpPr>
        <p:spPr bwMode="auto">
          <a:xfrm>
            <a:off x="762001" y="1096963"/>
            <a:ext cx="136048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400" dirty="0">
                <a:latin typeface="Century Gothic"/>
                <a:ea typeface="MS PGothic" pitchFamily="34" charset="-128"/>
                <a:cs typeface="Century Gothic"/>
              </a:rPr>
              <a:t>Price of cotton (per pound)</a:t>
            </a:r>
          </a:p>
        </p:txBody>
      </p:sp>
      <p:sp>
        <p:nvSpPr>
          <p:cNvPr id="548931" name="TextBox 30"/>
          <p:cNvSpPr txBox="1">
            <a:spLocks noChangeArrowheads="1"/>
          </p:cNvSpPr>
          <p:nvPr/>
        </p:nvSpPr>
        <p:spPr bwMode="auto">
          <a:xfrm>
            <a:off x="5454650" y="5715000"/>
            <a:ext cx="21653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400" dirty="0">
                <a:latin typeface="Century Gothic"/>
                <a:ea typeface="MS PGothic" pitchFamily="34" charset="-128"/>
                <a:cs typeface="Century Gothic"/>
              </a:rPr>
              <a:t>Quantity of cotton (billions of pounds)</a:t>
            </a:r>
          </a:p>
        </p:txBody>
      </p:sp>
      <p:sp>
        <p:nvSpPr>
          <p:cNvPr id="581661" name="Line 29"/>
          <p:cNvSpPr>
            <a:spLocks noChangeShapeType="1"/>
          </p:cNvSpPr>
          <p:nvPr/>
        </p:nvSpPr>
        <p:spPr bwMode="auto">
          <a:xfrm flipV="1">
            <a:off x="2298700" y="1066800"/>
            <a:ext cx="0" cy="3927475"/>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1662" name="Freeform 30"/>
          <p:cNvSpPr>
            <a:spLocks/>
          </p:cNvSpPr>
          <p:nvPr/>
        </p:nvSpPr>
        <p:spPr bwMode="auto">
          <a:xfrm>
            <a:off x="2298700" y="5080000"/>
            <a:ext cx="176213" cy="160338"/>
          </a:xfrm>
          <a:custGeom>
            <a:avLst/>
            <a:gdLst>
              <a:gd name="T0" fmla="*/ 102 w 102"/>
              <a:gd name="T1" fmla="*/ 101 h 101"/>
              <a:gd name="T2" fmla="*/ 0 w 102"/>
              <a:gd name="T3" fmla="*/ 101 h 101"/>
              <a:gd name="T4" fmla="*/ 0 w 102"/>
              <a:gd name="T5" fmla="*/ 0 h 101"/>
            </a:gdLst>
            <a:ahLst/>
            <a:cxnLst>
              <a:cxn ang="0">
                <a:pos x="T0" y="T1"/>
              </a:cxn>
              <a:cxn ang="0">
                <a:pos x="T2" y="T3"/>
              </a:cxn>
              <a:cxn ang="0">
                <a:pos x="T4" y="T5"/>
              </a:cxn>
            </a:cxnLst>
            <a:rect l="0" t="0" r="r" b="b"/>
            <a:pathLst>
              <a:path w="102" h="101">
                <a:moveTo>
                  <a:pt x="102" y="101"/>
                </a:moveTo>
                <a:lnTo>
                  <a:pt x="0" y="101"/>
                </a:lnTo>
                <a:lnTo>
                  <a:pt x="0" y="0"/>
                </a:lnTo>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581663" name="Line 31"/>
          <p:cNvSpPr>
            <a:spLocks noChangeShapeType="1"/>
          </p:cNvSpPr>
          <p:nvPr/>
        </p:nvSpPr>
        <p:spPr bwMode="auto">
          <a:xfrm flipH="1">
            <a:off x="2568575" y="5240338"/>
            <a:ext cx="4940300"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1664" name="Rectangle 32"/>
          <p:cNvSpPr>
            <a:spLocks noChangeArrowheads="1"/>
          </p:cNvSpPr>
          <p:nvPr/>
        </p:nvSpPr>
        <p:spPr bwMode="auto">
          <a:xfrm>
            <a:off x="3116263" y="5276850"/>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7</a:t>
            </a:r>
            <a:endParaRPr lang="en-US" sz="1400">
              <a:latin typeface="Century Gothic"/>
              <a:cs typeface="Century Gothic"/>
            </a:endParaRPr>
          </a:p>
        </p:txBody>
      </p:sp>
      <p:sp>
        <p:nvSpPr>
          <p:cNvPr id="581665" name="Rectangle 33"/>
          <p:cNvSpPr>
            <a:spLocks noChangeArrowheads="1"/>
          </p:cNvSpPr>
          <p:nvPr/>
        </p:nvSpPr>
        <p:spPr bwMode="auto">
          <a:xfrm>
            <a:off x="2098675" y="5276850"/>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0</a:t>
            </a:r>
            <a:endParaRPr lang="en-US" sz="1400">
              <a:latin typeface="Century Gothic"/>
              <a:cs typeface="Century Gothic"/>
            </a:endParaRPr>
          </a:p>
        </p:txBody>
      </p:sp>
      <p:sp>
        <p:nvSpPr>
          <p:cNvPr id="581666" name="Rectangle 34"/>
          <p:cNvSpPr>
            <a:spLocks noChangeArrowheads="1"/>
          </p:cNvSpPr>
          <p:nvPr/>
        </p:nvSpPr>
        <p:spPr bwMode="auto">
          <a:xfrm>
            <a:off x="4362450" y="5276850"/>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10</a:t>
            </a:r>
            <a:endParaRPr lang="en-US" sz="1400">
              <a:latin typeface="Century Gothic"/>
              <a:cs typeface="Century Gothic"/>
            </a:endParaRPr>
          </a:p>
        </p:txBody>
      </p:sp>
      <p:sp>
        <p:nvSpPr>
          <p:cNvPr id="581667" name="Rectangle 35"/>
          <p:cNvSpPr>
            <a:spLocks noChangeArrowheads="1"/>
          </p:cNvSpPr>
          <p:nvPr/>
        </p:nvSpPr>
        <p:spPr bwMode="auto">
          <a:xfrm>
            <a:off x="6534150" y="5276850"/>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15</a:t>
            </a:r>
            <a:endParaRPr lang="en-US" sz="1400">
              <a:latin typeface="Century Gothic"/>
              <a:cs typeface="Century Gothic"/>
            </a:endParaRPr>
          </a:p>
        </p:txBody>
      </p:sp>
      <p:sp>
        <p:nvSpPr>
          <p:cNvPr id="581668" name="Rectangle 36"/>
          <p:cNvSpPr>
            <a:spLocks noChangeArrowheads="1"/>
          </p:cNvSpPr>
          <p:nvPr/>
        </p:nvSpPr>
        <p:spPr bwMode="auto">
          <a:xfrm>
            <a:off x="5665788" y="5276850"/>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13</a:t>
            </a:r>
            <a:endParaRPr lang="en-US" sz="1400">
              <a:latin typeface="Century Gothic"/>
              <a:cs typeface="Century Gothic"/>
            </a:endParaRPr>
          </a:p>
        </p:txBody>
      </p:sp>
      <p:sp>
        <p:nvSpPr>
          <p:cNvPr id="581669" name="Rectangle 37"/>
          <p:cNvSpPr>
            <a:spLocks noChangeArrowheads="1"/>
          </p:cNvSpPr>
          <p:nvPr/>
        </p:nvSpPr>
        <p:spPr bwMode="auto">
          <a:xfrm>
            <a:off x="7402513" y="5276850"/>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17</a:t>
            </a:r>
            <a:endParaRPr lang="en-US" sz="1400">
              <a:latin typeface="Century Gothic"/>
              <a:cs typeface="Century Gothic"/>
            </a:endParaRPr>
          </a:p>
        </p:txBody>
      </p:sp>
      <p:sp>
        <p:nvSpPr>
          <p:cNvPr id="581680" name="Line 48"/>
          <p:cNvSpPr>
            <a:spLocks noChangeShapeType="1"/>
          </p:cNvSpPr>
          <p:nvPr/>
        </p:nvSpPr>
        <p:spPr bwMode="auto">
          <a:xfrm>
            <a:off x="2298700" y="2146300"/>
            <a:ext cx="141288"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1681" name="Line 49"/>
          <p:cNvSpPr>
            <a:spLocks noChangeShapeType="1"/>
          </p:cNvSpPr>
          <p:nvPr/>
        </p:nvSpPr>
        <p:spPr bwMode="auto">
          <a:xfrm>
            <a:off x="2298700" y="2586038"/>
            <a:ext cx="141288"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1682" name="Line 50"/>
          <p:cNvSpPr>
            <a:spLocks noChangeShapeType="1"/>
          </p:cNvSpPr>
          <p:nvPr/>
        </p:nvSpPr>
        <p:spPr bwMode="auto">
          <a:xfrm>
            <a:off x="2298700" y="3032125"/>
            <a:ext cx="141288"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1683" name="Line 51"/>
          <p:cNvSpPr>
            <a:spLocks noChangeShapeType="1"/>
          </p:cNvSpPr>
          <p:nvPr/>
        </p:nvSpPr>
        <p:spPr bwMode="auto">
          <a:xfrm>
            <a:off x="2298700" y="3473450"/>
            <a:ext cx="141288"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1684" name="Line 52"/>
          <p:cNvSpPr>
            <a:spLocks noChangeShapeType="1"/>
          </p:cNvSpPr>
          <p:nvPr/>
        </p:nvSpPr>
        <p:spPr bwMode="auto">
          <a:xfrm>
            <a:off x="2298700" y="3913188"/>
            <a:ext cx="141288"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1685" name="Line 53"/>
          <p:cNvSpPr>
            <a:spLocks noChangeShapeType="1"/>
          </p:cNvSpPr>
          <p:nvPr/>
        </p:nvSpPr>
        <p:spPr bwMode="auto">
          <a:xfrm>
            <a:off x="2298700" y="4356100"/>
            <a:ext cx="141288"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1686" name="Line 54"/>
          <p:cNvSpPr>
            <a:spLocks noChangeShapeType="1"/>
          </p:cNvSpPr>
          <p:nvPr/>
        </p:nvSpPr>
        <p:spPr bwMode="auto">
          <a:xfrm>
            <a:off x="2298700" y="4800600"/>
            <a:ext cx="141288"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1687" name="Line 55"/>
          <p:cNvSpPr>
            <a:spLocks noChangeShapeType="1"/>
          </p:cNvSpPr>
          <p:nvPr/>
        </p:nvSpPr>
        <p:spPr bwMode="auto">
          <a:xfrm flipV="1">
            <a:off x="3167063" y="5111750"/>
            <a:ext cx="0" cy="128588"/>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1688" name="Line 56"/>
          <p:cNvSpPr>
            <a:spLocks noChangeShapeType="1"/>
          </p:cNvSpPr>
          <p:nvPr/>
        </p:nvSpPr>
        <p:spPr bwMode="auto">
          <a:xfrm flipV="1">
            <a:off x="4468813" y="5111750"/>
            <a:ext cx="0" cy="128588"/>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1689" name="Line 57"/>
          <p:cNvSpPr>
            <a:spLocks noChangeShapeType="1"/>
          </p:cNvSpPr>
          <p:nvPr/>
        </p:nvSpPr>
        <p:spPr bwMode="auto">
          <a:xfrm flipV="1">
            <a:off x="5772150" y="5111750"/>
            <a:ext cx="0" cy="128588"/>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1690" name="Line 58"/>
          <p:cNvSpPr>
            <a:spLocks noChangeShapeType="1"/>
          </p:cNvSpPr>
          <p:nvPr/>
        </p:nvSpPr>
        <p:spPr bwMode="auto">
          <a:xfrm flipV="1">
            <a:off x="6638925" y="5111750"/>
            <a:ext cx="0" cy="128588"/>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1691" name="Line 59"/>
          <p:cNvSpPr>
            <a:spLocks noChangeShapeType="1"/>
          </p:cNvSpPr>
          <p:nvPr/>
        </p:nvSpPr>
        <p:spPr bwMode="auto">
          <a:xfrm flipV="1">
            <a:off x="7508875" y="5111750"/>
            <a:ext cx="0" cy="128588"/>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1692" name="Rectangle 60"/>
          <p:cNvSpPr>
            <a:spLocks noChangeArrowheads="1"/>
          </p:cNvSpPr>
          <p:nvPr/>
        </p:nvSpPr>
        <p:spPr bwMode="auto">
          <a:xfrm>
            <a:off x="1730375" y="2032000"/>
            <a:ext cx="4477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$2.00</a:t>
            </a:r>
            <a:endParaRPr lang="en-US" sz="1400">
              <a:latin typeface="Century Gothic"/>
              <a:cs typeface="Century Gothic"/>
            </a:endParaRPr>
          </a:p>
        </p:txBody>
      </p:sp>
      <p:sp>
        <p:nvSpPr>
          <p:cNvPr id="581693" name="Rectangle 61"/>
          <p:cNvSpPr>
            <a:spLocks noChangeArrowheads="1"/>
          </p:cNvSpPr>
          <p:nvPr/>
        </p:nvSpPr>
        <p:spPr bwMode="auto">
          <a:xfrm>
            <a:off x="1838325" y="2473325"/>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1.75</a:t>
            </a:r>
            <a:endParaRPr lang="en-US" sz="1400">
              <a:latin typeface="Century Gothic"/>
              <a:cs typeface="Century Gothic"/>
            </a:endParaRPr>
          </a:p>
        </p:txBody>
      </p:sp>
      <p:sp>
        <p:nvSpPr>
          <p:cNvPr id="581694" name="Rectangle 62"/>
          <p:cNvSpPr>
            <a:spLocks noChangeArrowheads="1"/>
          </p:cNvSpPr>
          <p:nvPr/>
        </p:nvSpPr>
        <p:spPr bwMode="auto">
          <a:xfrm>
            <a:off x="1838325" y="2914650"/>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1.50</a:t>
            </a:r>
            <a:endParaRPr lang="en-US" sz="1400">
              <a:latin typeface="Century Gothic"/>
              <a:cs typeface="Century Gothic"/>
            </a:endParaRPr>
          </a:p>
        </p:txBody>
      </p:sp>
      <p:sp>
        <p:nvSpPr>
          <p:cNvPr id="581695" name="Rectangle 63"/>
          <p:cNvSpPr>
            <a:spLocks noChangeArrowheads="1"/>
          </p:cNvSpPr>
          <p:nvPr/>
        </p:nvSpPr>
        <p:spPr bwMode="auto">
          <a:xfrm>
            <a:off x="1838325" y="3357563"/>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1.25</a:t>
            </a:r>
            <a:endParaRPr lang="en-US" sz="1400">
              <a:latin typeface="Century Gothic"/>
              <a:cs typeface="Century Gothic"/>
            </a:endParaRPr>
          </a:p>
        </p:txBody>
      </p:sp>
      <p:sp>
        <p:nvSpPr>
          <p:cNvPr id="581696" name="Rectangle 64"/>
          <p:cNvSpPr>
            <a:spLocks noChangeArrowheads="1"/>
          </p:cNvSpPr>
          <p:nvPr/>
        </p:nvSpPr>
        <p:spPr bwMode="auto">
          <a:xfrm>
            <a:off x="1838325" y="3798888"/>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1.00</a:t>
            </a:r>
            <a:endParaRPr lang="en-US" sz="1400">
              <a:latin typeface="Century Gothic"/>
              <a:cs typeface="Century Gothic"/>
            </a:endParaRPr>
          </a:p>
        </p:txBody>
      </p:sp>
      <p:sp>
        <p:nvSpPr>
          <p:cNvPr id="581697" name="Rectangle 65"/>
          <p:cNvSpPr>
            <a:spLocks noChangeArrowheads="1"/>
          </p:cNvSpPr>
          <p:nvPr/>
        </p:nvSpPr>
        <p:spPr bwMode="auto">
          <a:xfrm>
            <a:off x="1838325" y="4240213"/>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0.75</a:t>
            </a:r>
            <a:endParaRPr lang="en-US" sz="1400">
              <a:latin typeface="Century Gothic"/>
              <a:cs typeface="Century Gothic"/>
            </a:endParaRPr>
          </a:p>
        </p:txBody>
      </p:sp>
      <p:sp>
        <p:nvSpPr>
          <p:cNvPr id="581698" name="Rectangle 66"/>
          <p:cNvSpPr>
            <a:spLocks noChangeArrowheads="1"/>
          </p:cNvSpPr>
          <p:nvPr/>
        </p:nvSpPr>
        <p:spPr bwMode="auto">
          <a:xfrm>
            <a:off x="1838325" y="4683125"/>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0.50</a:t>
            </a:r>
            <a:endParaRPr lang="en-US" sz="1400">
              <a:latin typeface="Century Gothic"/>
              <a:cs typeface="Century Gothic"/>
            </a:endParaRPr>
          </a:p>
        </p:txBody>
      </p:sp>
      <p:sp>
        <p:nvSpPr>
          <p:cNvPr id="581709" name="Freeform 77"/>
          <p:cNvSpPr>
            <a:spLocks/>
          </p:cNvSpPr>
          <p:nvPr/>
        </p:nvSpPr>
        <p:spPr bwMode="auto">
          <a:xfrm>
            <a:off x="3602038" y="2146300"/>
            <a:ext cx="1566862" cy="2654300"/>
          </a:xfrm>
          <a:custGeom>
            <a:avLst/>
            <a:gdLst>
              <a:gd name="T0" fmla="*/ 267 w 267"/>
              <a:gd name="T1" fmla="*/ 0 h 494"/>
              <a:gd name="T2" fmla="*/ 0 w 267"/>
              <a:gd name="T3" fmla="*/ 494 h 494"/>
            </a:gdLst>
            <a:ahLst/>
            <a:cxnLst>
              <a:cxn ang="0">
                <a:pos x="T0" y="T1"/>
              </a:cxn>
              <a:cxn ang="0">
                <a:pos x="T2" y="T3"/>
              </a:cxn>
            </a:cxnLst>
            <a:rect l="0" t="0" r="r" b="b"/>
            <a:pathLst>
              <a:path w="267" h="494">
                <a:moveTo>
                  <a:pt x="267" y="0"/>
                </a:moveTo>
                <a:cubicBezTo>
                  <a:pt x="267" y="149"/>
                  <a:pt x="190" y="320"/>
                  <a:pt x="0" y="494"/>
                </a:cubicBezTo>
              </a:path>
            </a:pathLst>
          </a:custGeom>
          <a:noFill/>
          <a:ln w="42863" cap="flat">
            <a:solidFill>
              <a:srgbClr val="EE313C"/>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581710" name="Rectangle 78"/>
          <p:cNvSpPr>
            <a:spLocks noChangeArrowheads="1"/>
          </p:cNvSpPr>
          <p:nvPr/>
        </p:nvSpPr>
        <p:spPr bwMode="auto">
          <a:xfrm>
            <a:off x="4860925" y="1866900"/>
            <a:ext cx="57708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Supply</a:t>
            </a:r>
            <a:endParaRPr lang="en-US" sz="1400">
              <a:latin typeface="Century Gothic"/>
              <a:cs typeface="Century Gothic"/>
            </a:endParaRPr>
          </a:p>
        </p:txBody>
      </p:sp>
      <p:sp>
        <p:nvSpPr>
          <p:cNvPr id="581711" name="Rectangle 79"/>
          <p:cNvSpPr>
            <a:spLocks noChangeArrowheads="1"/>
          </p:cNvSpPr>
          <p:nvPr/>
        </p:nvSpPr>
        <p:spPr bwMode="auto">
          <a:xfrm>
            <a:off x="6388100" y="4691063"/>
            <a:ext cx="77381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Demand</a:t>
            </a:r>
            <a:endParaRPr lang="en-US" sz="1400">
              <a:latin typeface="Century Gothic"/>
              <a:cs typeface="Century Gothic"/>
            </a:endParaRPr>
          </a:p>
        </p:txBody>
      </p:sp>
      <p:sp>
        <p:nvSpPr>
          <p:cNvPr id="581713" name="Line 81"/>
          <p:cNvSpPr>
            <a:spLocks noChangeShapeType="1"/>
          </p:cNvSpPr>
          <p:nvPr/>
        </p:nvSpPr>
        <p:spPr bwMode="auto">
          <a:xfrm flipV="1">
            <a:off x="2241550" y="4962525"/>
            <a:ext cx="122238" cy="6350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1714" name="Line 82"/>
          <p:cNvSpPr>
            <a:spLocks noChangeShapeType="1"/>
          </p:cNvSpPr>
          <p:nvPr/>
        </p:nvSpPr>
        <p:spPr bwMode="auto">
          <a:xfrm flipV="1">
            <a:off x="2241550" y="5048250"/>
            <a:ext cx="122238" cy="6350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1715" name="Line 83"/>
          <p:cNvSpPr>
            <a:spLocks noChangeShapeType="1"/>
          </p:cNvSpPr>
          <p:nvPr/>
        </p:nvSpPr>
        <p:spPr bwMode="auto">
          <a:xfrm flipH="1">
            <a:off x="2439988" y="5181600"/>
            <a:ext cx="69850" cy="112713"/>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1716" name="Line 84"/>
          <p:cNvSpPr>
            <a:spLocks noChangeShapeType="1"/>
          </p:cNvSpPr>
          <p:nvPr/>
        </p:nvSpPr>
        <p:spPr bwMode="auto">
          <a:xfrm flipH="1">
            <a:off x="2533650" y="5181600"/>
            <a:ext cx="69850" cy="112713"/>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1717" name="Freeform 85"/>
          <p:cNvSpPr>
            <a:spLocks/>
          </p:cNvSpPr>
          <p:nvPr/>
        </p:nvSpPr>
        <p:spPr bwMode="auto">
          <a:xfrm>
            <a:off x="3214688" y="2146300"/>
            <a:ext cx="3079750" cy="2654300"/>
          </a:xfrm>
          <a:custGeom>
            <a:avLst/>
            <a:gdLst>
              <a:gd name="T0" fmla="*/ 0 w 525"/>
              <a:gd name="T1" fmla="*/ 0 h 494"/>
              <a:gd name="T2" fmla="*/ 525 w 525"/>
              <a:gd name="T3" fmla="*/ 494 h 494"/>
            </a:gdLst>
            <a:ahLst/>
            <a:cxnLst>
              <a:cxn ang="0">
                <a:pos x="T0" y="T1"/>
              </a:cxn>
              <a:cxn ang="0">
                <a:pos x="T2" y="T3"/>
              </a:cxn>
            </a:cxnLst>
            <a:rect l="0" t="0" r="r" b="b"/>
            <a:pathLst>
              <a:path w="525" h="494">
                <a:moveTo>
                  <a:pt x="0" y="0"/>
                </a:moveTo>
                <a:cubicBezTo>
                  <a:pt x="29" y="133"/>
                  <a:pt x="196" y="409"/>
                  <a:pt x="525" y="494"/>
                </a:cubicBezTo>
              </a:path>
            </a:pathLst>
          </a:custGeom>
          <a:noFill/>
          <a:ln w="42863" cap="flat">
            <a:solidFill>
              <a:srgbClr val="3C5DAA"/>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581718" name="Oval 86"/>
          <p:cNvSpPr>
            <a:spLocks noChangeArrowheads="1"/>
          </p:cNvSpPr>
          <p:nvPr/>
        </p:nvSpPr>
        <p:spPr bwMode="auto">
          <a:xfrm>
            <a:off x="4411663" y="3860800"/>
            <a:ext cx="115887" cy="10636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81719" name="Rectangle 87"/>
          <p:cNvSpPr>
            <a:spLocks noChangeArrowheads="1"/>
          </p:cNvSpPr>
          <p:nvPr/>
        </p:nvSpPr>
        <p:spPr bwMode="auto">
          <a:xfrm>
            <a:off x="4630738" y="3762375"/>
            <a:ext cx="12536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dirty="0">
                <a:solidFill>
                  <a:srgbClr val="000000"/>
                </a:solidFill>
                <a:latin typeface="Century Gothic"/>
                <a:cs typeface="Century Gothic"/>
              </a:rPr>
              <a:t>E</a:t>
            </a:r>
            <a:endParaRPr lang="en-US" sz="1400" i="1" dirty="0">
              <a:latin typeface="Century Gothic"/>
              <a:cs typeface="Century Gothic"/>
            </a:endParaRPr>
          </a:p>
        </p:txBody>
      </p:sp>
      <p:sp>
        <p:nvSpPr>
          <p:cNvPr id="581720" name="Line 88"/>
          <p:cNvSpPr>
            <a:spLocks noChangeShapeType="1"/>
          </p:cNvSpPr>
          <p:nvPr/>
        </p:nvSpPr>
        <p:spPr bwMode="auto">
          <a:xfrm flipH="1">
            <a:off x="1531938" y="3913188"/>
            <a:ext cx="255587"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1721" name="Line 89"/>
          <p:cNvSpPr>
            <a:spLocks noChangeShapeType="1"/>
          </p:cNvSpPr>
          <p:nvPr/>
        </p:nvSpPr>
        <p:spPr bwMode="auto">
          <a:xfrm flipH="1">
            <a:off x="4791075" y="3913188"/>
            <a:ext cx="258763"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1722" name="Line 90"/>
          <p:cNvSpPr>
            <a:spLocks noChangeShapeType="1"/>
          </p:cNvSpPr>
          <p:nvPr/>
        </p:nvSpPr>
        <p:spPr bwMode="auto">
          <a:xfrm>
            <a:off x="4468813" y="5492750"/>
            <a:ext cx="0" cy="238125"/>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1723" name="Freeform 91"/>
          <p:cNvSpPr>
            <a:spLocks/>
          </p:cNvSpPr>
          <p:nvPr/>
        </p:nvSpPr>
        <p:spPr bwMode="auto">
          <a:xfrm>
            <a:off x="5049838" y="3736975"/>
            <a:ext cx="1079500" cy="331788"/>
          </a:xfrm>
          <a:custGeom>
            <a:avLst/>
            <a:gdLst>
              <a:gd name="T0" fmla="*/ 184 w 184"/>
              <a:gd name="T1" fmla="*/ 48 h 62"/>
              <a:gd name="T2" fmla="*/ 169 w 184"/>
              <a:gd name="T3" fmla="*/ 62 h 62"/>
              <a:gd name="T4" fmla="*/ 14 w 184"/>
              <a:gd name="T5" fmla="*/ 62 h 62"/>
              <a:gd name="T6" fmla="*/ 0 w 184"/>
              <a:gd name="T7" fmla="*/ 48 h 62"/>
              <a:gd name="T8" fmla="*/ 0 w 184"/>
              <a:gd name="T9" fmla="*/ 15 h 62"/>
              <a:gd name="T10" fmla="*/ 14 w 184"/>
              <a:gd name="T11" fmla="*/ 0 h 62"/>
              <a:gd name="T12" fmla="*/ 169 w 184"/>
              <a:gd name="T13" fmla="*/ 0 h 62"/>
              <a:gd name="T14" fmla="*/ 184 w 184"/>
              <a:gd name="T15" fmla="*/ 15 h 62"/>
              <a:gd name="T16" fmla="*/ 184 w 184"/>
              <a:gd name="T17" fmla="*/ 48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4" h="62">
                <a:moveTo>
                  <a:pt x="184" y="48"/>
                </a:moveTo>
                <a:cubicBezTo>
                  <a:pt x="184" y="55"/>
                  <a:pt x="177" y="62"/>
                  <a:pt x="169" y="62"/>
                </a:cubicBezTo>
                <a:cubicBezTo>
                  <a:pt x="14" y="62"/>
                  <a:pt x="14" y="62"/>
                  <a:pt x="14" y="62"/>
                </a:cubicBezTo>
                <a:cubicBezTo>
                  <a:pt x="6" y="62"/>
                  <a:pt x="0" y="55"/>
                  <a:pt x="0" y="48"/>
                </a:cubicBezTo>
                <a:cubicBezTo>
                  <a:pt x="0" y="15"/>
                  <a:pt x="0" y="15"/>
                  <a:pt x="0" y="15"/>
                </a:cubicBezTo>
                <a:cubicBezTo>
                  <a:pt x="0" y="7"/>
                  <a:pt x="6" y="0"/>
                  <a:pt x="14" y="0"/>
                </a:cubicBezTo>
                <a:cubicBezTo>
                  <a:pt x="169" y="0"/>
                  <a:pt x="169" y="0"/>
                  <a:pt x="169" y="0"/>
                </a:cubicBezTo>
                <a:cubicBezTo>
                  <a:pt x="177" y="0"/>
                  <a:pt x="184" y="7"/>
                  <a:pt x="184" y="15"/>
                </a:cubicBezTo>
                <a:lnTo>
                  <a:pt x="184" y="48"/>
                </a:lnTo>
                <a:close/>
              </a:path>
            </a:pathLst>
          </a:custGeom>
          <a:solidFill>
            <a:srgbClr val="D6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81728" name="Freeform 96"/>
          <p:cNvSpPr>
            <a:spLocks/>
          </p:cNvSpPr>
          <p:nvPr/>
        </p:nvSpPr>
        <p:spPr bwMode="auto">
          <a:xfrm>
            <a:off x="3946525" y="5730875"/>
            <a:ext cx="1074738" cy="515938"/>
          </a:xfrm>
          <a:custGeom>
            <a:avLst/>
            <a:gdLst>
              <a:gd name="T0" fmla="*/ 183 w 183"/>
              <a:gd name="T1" fmla="*/ 81 h 96"/>
              <a:gd name="T2" fmla="*/ 169 w 183"/>
              <a:gd name="T3" fmla="*/ 96 h 96"/>
              <a:gd name="T4" fmla="*/ 14 w 183"/>
              <a:gd name="T5" fmla="*/ 96 h 96"/>
              <a:gd name="T6" fmla="*/ 0 w 183"/>
              <a:gd name="T7" fmla="*/ 81 h 96"/>
              <a:gd name="T8" fmla="*/ 0 w 183"/>
              <a:gd name="T9" fmla="*/ 14 h 96"/>
              <a:gd name="T10" fmla="*/ 14 w 183"/>
              <a:gd name="T11" fmla="*/ 0 h 96"/>
              <a:gd name="T12" fmla="*/ 169 w 183"/>
              <a:gd name="T13" fmla="*/ 0 h 96"/>
              <a:gd name="T14" fmla="*/ 183 w 183"/>
              <a:gd name="T15" fmla="*/ 14 h 96"/>
              <a:gd name="T16" fmla="*/ 183 w 183"/>
              <a:gd name="T17" fmla="*/ 8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3" h="96">
                <a:moveTo>
                  <a:pt x="183" y="81"/>
                </a:moveTo>
                <a:cubicBezTo>
                  <a:pt x="183" y="89"/>
                  <a:pt x="177" y="96"/>
                  <a:pt x="169" y="96"/>
                </a:cubicBezTo>
                <a:cubicBezTo>
                  <a:pt x="14" y="96"/>
                  <a:pt x="14" y="96"/>
                  <a:pt x="14" y="96"/>
                </a:cubicBezTo>
                <a:cubicBezTo>
                  <a:pt x="6" y="96"/>
                  <a:pt x="0" y="89"/>
                  <a:pt x="0" y="81"/>
                </a:cubicBezTo>
                <a:cubicBezTo>
                  <a:pt x="0" y="14"/>
                  <a:pt x="0" y="14"/>
                  <a:pt x="0" y="14"/>
                </a:cubicBezTo>
                <a:cubicBezTo>
                  <a:pt x="0" y="7"/>
                  <a:pt x="6" y="0"/>
                  <a:pt x="14" y="0"/>
                </a:cubicBezTo>
                <a:cubicBezTo>
                  <a:pt x="169" y="0"/>
                  <a:pt x="169" y="0"/>
                  <a:pt x="169" y="0"/>
                </a:cubicBezTo>
                <a:cubicBezTo>
                  <a:pt x="177" y="0"/>
                  <a:pt x="183" y="7"/>
                  <a:pt x="183" y="14"/>
                </a:cubicBezTo>
                <a:lnTo>
                  <a:pt x="183" y="81"/>
                </a:lnTo>
                <a:close/>
              </a:path>
            </a:pathLst>
          </a:custGeom>
          <a:solidFill>
            <a:srgbClr val="D6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81729" name="Freeform 97"/>
          <p:cNvSpPr>
            <a:spLocks/>
          </p:cNvSpPr>
          <p:nvPr/>
        </p:nvSpPr>
        <p:spPr bwMode="auto">
          <a:xfrm>
            <a:off x="457200" y="3678238"/>
            <a:ext cx="1074738" cy="514350"/>
          </a:xfrm>
          <a:custGeom>
            <a:avLst/>
            <a:gdLst>
              <a:gd name="T0" fmla="*/ 183 w 183"/>
              <a:gd name="T1" fmla="*/ 82 h 96"/>
              <a:gd name="T2" fmla="*/ 169 w 183"/>
              <a:gd name="T3" fmla="*/ 96 h 96"/>
              <a:gd name="T4" fmla="*/ 14 w 183"/>
              <a:gd name="T5" fmla="*/ 96 h 96"/>
              <a:gd name="T6" fmla="*/ 0 w 183"/>
              <a:gd name="T7" fmla="*/ 82 h 96"/>
              <a:gd name="T8" fmla="*/ 0 w 183"/>
              <a:gd name="T9" fmla="*/ 15 h 96"/>
              <a:gd name="T10" fmla="*/ 14 w 183"/>
              <a:gd name="T11" fmla="*/ 0 h 96"/>
              <a:gd name="T12" fmla="*/ 169 w 183"/>
              <a:gd name="T13" fmla="*/ 0 h 96"/>
              <a:gd name="T14" fmla="*/ 183 w 183"/>
              <a:gd name="T15" fmla="*/ 15 h 96"/>
              <a:gd name="T16" fmla="*/ 183 w 183"/>
              <a:gd name="T17" fmla="*/ 8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3" h="96">
                <a:moveTo>
                  <a:pt x="183" y="82"/>
                </a:moveTo>
                <a:cubicBezTo>
                  <a:pt x="183" y="89"/>
                  <a:pt x="177" y="96"/>
                  <a:pt x="169" y="96"/>
                </a:cubicBezTo>
                <a:cubicBezTo>
                  <a:pt x="14" y="96"/>
                  <a:pt x="14" y="96"/>
                  <a:pt x="14" y="96"/>
                </a:cubicBezTo>
                <a:cubicBezTo>
                  <a:pt x="6" y="96"/>
                  <a:pt x="0" y="89"/>
                  <a:pt x="0" y="82"/>
                </a:cubicBezTo>
                <a:cubicBezTo>
                  <a:pt x="0" y="15"/>
                  <a:pt x="0" y="15"/>
                  <a:pt x="0" y="15"/>
                </a:cubicBezTo>
                <a:cubicBezTo>
                  <a:pt x="0" y="7"/>
                  <a:pt x="6" y="0"/>
                  <a:pt x="14" y="0"/>
                </a:cubicBezTo>
                <a:cubicBezTo>
                  <a:pt x="169" y="0"/>
                  <a:pt x="169" y="0"/>
                  <a:pt x="169" y="0"/>
                </a:cubicBezTo>
                <a:cubicBezTo>
                  <a:pt x="177" y="0"/>
                  <a:pt x="183" y="7"/>
                  <a:pt x="183" y="15"/>
                </a:cubicBezTo>
                <a:lnTo>
                  <a:pt x="183" y="82"/>
                </a:lnTo>
                <a:close/>
              </a:path>
            </a:pathLst>
          </a:custGeom>
          <a:solidFill>
            <a:srgbClr val="D6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81739" name="TextBox 56"/>
          <p:cNvSpPr txBox="1">
            <a:spLocks noChangeArrowheads="1"/>
          </p:cNvSpPr>
          <p:nvPr/>
        </p:nvSpPr>
        <p:spPr bwMode="auto">
          <a:xfrm>
            <a:off x="5029200" y="3733800"/>
            <a:ext cx="116681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spcBef>
                <a:spcPct val="50000"/>
              </a:spcBef>
            </a:pPr>
            <a:r>
              <a:rPr lang="en-US" sz="1400">
                <a:latin typeface="Century Gothic"/>
                <a:ea typeface="MS PGothic" pitchFamily="34" charset="-128"/>
                <a:cs typeface="Century Gothic"/>
              </a:rPr>
              <a:t>Equilibrium</a:t>
            </a:r>
          </a:p>
        </p:txBody>
      </p:sp>
      <p:sp>
        <p:nvSpPr>
          <p:cNvPr id="581740" name="TextBox 56"/>
          <p:cNvSpPr txBox="1">
            <a:spLocks noChangeArrowheads="1"/>
          </p:cNvSpPr>
          <p:nvPr/>
        </p:nvSpPr>
        <p:spPr bwMode="auto">
          <a:xfrm>
            <a:off x="433387" y="3657600"/>
            <a:ext cx="116681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spcBef>
                <a:spcPct val="50000"/>
              </a:spcBef>
            </a:pPr>
            <a:r>
              <a:rPr lang="en-US" sz="1400" dirty="0">
                <a:latin typeface="Century Gothic"/>
                <a:ea typeface="MS PGothic" pitchFamily="34" charset="-128"/>
                <a:cs typeface="Century Gothic"/>
              </a:rPr>
              <a:t>Equilibrium price</a:t>
            </a:r>
          </a:p>
        </p:txBody>
      </p:sp>
      <p:sp>
        <p:nvSpPr>
          <p:cNvPr id="581741" name="TextBox 56"/>
          <p:cNvSpPr txBox="1">
            <a:spLocks noChangeArrowheads="1"/>
          </p:cNvSpPr>
          <p:nvPr/>
        </p:nvSpPr>
        <p:spPr bwMode="auto">
          <a:xfrm>
            <a:off x="3936999" y="5706530"/>
            <a:ext cx="11652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spcBef>
                <a:spcPct val="50000"/>
              </a:spcBef>
            </a:pPr>
            <a:r>
              <a:rPr lang="en-US" sz="1400" dirty="0">
                <a:latin typeface="Century Gothic"/>
                <a:ea typeface="MS PGothic" pitchFamily="34" charset="-128"/>
                <a:cs typeface="Century Gothic"/>
              </a:rPr>
              <a:t>Equilibrium quantity</a:t>
            </a:r>
          </a:p>
        </p:txBody>
      </p:sp>
      <p:sp>
        <p:nvSpPr>
          <p:cNvPr id="581748" name="Rectangle 116"/>
          <p:cNvSpPr>
            <a:spLocks noGrp="1" noRot="1" noChangeArrowheads="1"/>
          </p:cNvSpPr>
          <p:nvPr>
            <p:ph type="title"/>
          </p:nvPr>
        </p:nvSpPr>
        <p:spPr>
          <a:xfrm>
            <a:off x="0" y="76200"/>
            <a:ext cx="9144000" cy="838200"/>
          </a:xfrm>
        </p:spPr>
        <p:txBody>
          <a:bodyPr>
            <a:noAutofit/>
          </a:bodyPr>
          <a:lstStyle/>
          <a:p>
            <a:r>
              <a:rPr lang="en-US" sz="3600" dirty="0"/>
              <a:t>FINDING THE EQUILIBRIUM PRICE AND QUANTITY</a:t>
            </a:r>
          </a:p>
        </p:txBody>
      </p:sp>
    </p:spTree>
    <p:extLst>
      <p:ext uri="{BB962C8B-B14F-4D97-AF65-F5344CB8AC3E}">
        <p14:creationId xmlns:p14="http://schemas.microsoft.com/office/powerpoint/2010/main" val="40648126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81655"/>
                                        </p:tgtEl>
                                        <p:attrNameLst>
                                          <p:attrName>style.visibility</p:attrName>
                                        </p:attrNameLst>
                                      </p:cBhvr>
                                      <p:to>
                                        <p:strVal val="visible"/>
                                      </p:to>
                                    </p:set>
                                    <p:animEffect transition="in" filter="fade">
                                      <p:cBhvr>
                                        <p:cTn id="7" dur="500"/>
                                        <p:tgtEl>
                                          <p:spTgt spid="581655"/>
                                        </p:tgtEl>
                                      </p:cBhvr>
                                    </p:animEffect>
                                  </p:childTnLst>
                                </p:cTn>
                              </p:par>
                              <p:par>
                                <p:cTn id="8" presetID="1" presetClass="entr" presetSubtype="0" fill="hold" grpId="0" nodeType="withEffect">
                                  <p:stCondLst>
                                    <p:cond delay="0"/>
                                  </p:stCondLst>
                                  <p:childTnLst>
                                    <p:set>
                                      <p:cBhvr>
                                        <p:cTn id="9" dur="1" fill="hold">
                                          <p:stCondLst>
                                            <p:cond delay="0"/>
                                          </p:stCondLst>
                                        </p:cTn>
                                        <p:tgtEl>
                                          <p:spTgt spid="581719"/>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581739"/>
                                        </p:tgtEl>
                                        <p:attrNameLst>
                                          <p:attrName>style.visibility</p:attrName>
                                        </p:attrNameLst>
                                      </p:cBhvr>
                                      <p:to>
                                        <p:strVal val="visible"/>
                                      </p:to>
                                    </p:set>
                                    <p:animEffect transition="in" filter="fade">
                                      <p:cBhvr>
                                        <p:cTn id="14" dur="500"/>
                                        <p:tgtEl>
                                          <p:spTgt spid="581739"/>
                                        </p:tgtEl>
                                      </p:cBhvr>
                                    </p:animEffect>
                                  </p:childTnLst>
                                </p:cTn>
                              </p:par>
                              <p:par>
                                <p:cTn id="15" presetID="1" presetClass="entr" presetSubtype="0" fill="hold" grpId="0" nodeType="withEffect">
                                  <p:stCondLst>
                                    <p:cond delay="0"/>
                                  </p:stCondLst>
                                  <p:childTnLst>
                                    <p:set>
                                      <p:cBhvr>
                                        <p:cTn id="16" dur="1" fill="hold">
                                          <p:stCondLst>
                                            <p:cond delay="0"/>
                                          </p:stCondLst>
                                        </p:cTn>
                                        <p:tgtEl>
                                          <p:spTgt spid="5817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8174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817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817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81740"/>
                                        </p:tgtEl>
                                        <p:attrNameLst>
                                          <p:attrName>style.visibility</p:attrName>
                                        </p:attrNameLst>
                                      </p:cBhvr>
                                      <p:to>
                                        <p:strVal val="visible"/>
                                      </p:to>
                                    </p:set>
                                  </p:childTnLst>
                                </p:cTn>
                              </p:par>
                              <p:par>
                                <p:cTn id="25" presetID="10" presetClass="entr" presetSubtype="0" fill="hold" grpId="0" nodeType="withEffect">
                                  <p:stCondLst>
                                    <p:cond delay="0"/>
                                  </p:stCondLst>
                                  <p:childTnLst>
                                    <p:set>
                                      <p:cBhvr>
                                        <p:cTn id="26" dur="1" fill="hold">
                                          <p:stCondLst>
                                            <p:cond delay="0"/>
                                          </p:stCondLst>
                                        </p:cTn>
                                        <p:tgtEl>
                                          <p:spTgt spid="581723"/>
                                        </p:tgtEl>
                                        <p:attrNameLst>
                                          <p:attrName>style.visibility</p:attrName>
                                        </p:attrNameLst>
                                      </p:cBhvr>
                                      <p:to>
                                        <p:strVal val="visible"/>
                                      </p:to>
                                    </p:set>
                                    <p:animEffect transition="in" filter="fade">
                                      <p:cBhvr>
                                        <p:cTn id="27" dur="500"/>
                                        <p:tgtEl>
                                          <p:spTgt spid="581723"/>
                                        </p:tgtEl>
                                      </p:cBhvr>
                                    </p:animEffect>
                                  </p:childTnLst>
                                </p:cTn>
                              </p:par>
                              <p:par>
                                <p:cTn id="28" presetID="1" presetClass="entr" presetSubtype="0" fill="hold" grpId="0" nodeType="withEffect">
                                  <p:stCondLst>
                                    <p:cond delay="0"/>
                                  </p:stCondLst>
                                  <p:childTnLst>
                                    <p:set>
                                      <p:cBhvr>
                                        <p:cTn id="29" dur="1" fill="hold">
                                          <p:stCondLst>
                                            <p:cond delay="0"/>
                                          </p:stCondLst>
                                        </p:cTn>
                                        <p:tgtEl>
                                          <p:spTgt spid="581728"/>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581729"/>
                                        </p:tgtEl>
                                        <p:attrNameLst>
                                          <p:attrName>style.visibility</p:attrName>
                                        </p:attrNameLst>
                                      </p:cBhvr>
                                      <p:to>
                                        <p:strVal val="visible"/>
                                      </p:to>
                                    </p:set>
                                  </p:childTnLst>
                                </p:cTn>
                              </p:par>
                              <p:par>
                                <p:cTn id="32" presetID="10" presetClass="entr" presetSubtype="0" fill="hold" nodeType="withEffect">
                                  <p:stCondLst>
                                    <p:cond delay="0"/>
                                  </p:stCondLst>
                                  <p:childTnLst>
                                    <p:set>
                                      <p:cBhvr>
                                        <p:cTn id="33" dur="1" fill="hold">
                                          <p:stCondLst>
                                            <p:cond delay="0"/>
                                          </p:stCondLst>
                                        </p:cTn>
                                        <p:tgtEl>
                                          <p:spTgt spid="581745"/>
                                        </p:tgtEl>
                                        <p:attrNameLst>
                                          <p:attrName>style.visibility</p:attrName>
                                        </p:attrNameLst>
                                      </p:cBhvr>
                                      <p:to>
                                        <p:strVal val="visible"/>
                                      </p:to>
                                    </p:set>
                                    <p:animEffect transition="in" filter="fade">
                                      <p:cBhvr>
                                        <p:cTn id="34" dur="500"/>
                                        <p:tgtEl>
                                          <p:spTgt spid="581745"/>
                                        </p:tgtEl>
                                      </p:cBhvr>
                                    </p:animEffect>
                                  </p:childTnLst>
                                </p:cTn>
                              </p:par>
                              <p:par>
                                <p:cTn id="35" presetID="10" presetClass="entr" presetSubtype="0" fill="hold" nodeType="withEffect">
                                  <p:stCondLst>
                                    <p:cond delay="0"/>
                                  </p:stCondLst>
                                  <p:childTnLst>
                                    <p:set>
                                      <p:cBhvr>
                                        <p:cTn id="36" dur="1" fill="hold">
                                          <p:stCondLst>
                                            <p:cond delay="0"/>
                                          </p:stCondLst>
                                        </p:cTn>
                                        <p:tgtEl>
                                          <p:spTgt spid="581746"/>
                                        </p:tgtEl>
                                        <p:attrNameLst>
                                          <p:attrName>style.visibility</p:attrName>
                                        </p:attrNameLst>
                                      </p:cBhvr>
                                      <p:to>
                                        <p:strVal val="visible"/>
                                      </p:to>
                                    </p:set>
                                    <p:animEffect transition="in" filter="fade">
                                      <p:cBhvr>
                                        <p:cTn id="37" dur="500"/>
                                        <p:tgtEl>
                                          <p:spTgt spid="58174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581718"/>
                                        </p:tgtEl>
                                        <p:attrNameLst>
                                          <p:attrName>style.visibility</p:attrName>
                                        </p:attrNameLst>
                                      </p:cBhvr>
                                      <p:to>
                                        <p:strVal val="visible"/>
                                      </p:to>
                                    </p:set>
                                    <p:animEffect transition="in" filter="fade">
                                      <p:cBhvr>
                                        <p:cTn id="40" dur="500"/>
                                        <p:tgtEl>
                                          <p:spTgt spid="5817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655" grpId="0"/>
      <p:bldP spid="581718" grpId="0" animBg="1"/>
      <p:bldP spid="581719" grpId="0"/>
      <p:bldP spid="581720" grpId="0" animBg="1"/>
      <p:bldP spid="581721" grpId="0" animBg="1"/>
      <p:bldP spid="581722" grpId="0" animBg="1"/>
      <p:bldP spid="581723" grpId="0" animBg="1"/>
      <p:bldP spid="581728" grpId="0" animBg="1"/>
      <p:bldP spid="581729" grpId="0" animBg="1"/>
      <p:bldP spid="581739" grpId="0"/>
      <p:bldP spid="581740" grpId="0"/>
      <p:bldP spid="58174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noAutofit/>
          </a:bodyPr>
          <a:lstStyle/>
          <a:p>
            <a:r>
              <a:rPr lang="en-US" sz="3200" dirty="0"/>
              <a:t>WHY DO ALL SALES AND PURCHASES IN A MARKET TAKE PLACE AT THE SAME PRICE?</a:t>
            </a:r>
          </a:p>
        </p:txBody>
      </p:sp>
      <p:sp>
        <p:nvSpPr>
          <p:cNvPr id="3" name="Content Placeholder 2"/>
          <p:cNvSpPr>
            <a:spLocks noGrp="1"/>
          </p:cNvSpPr>
          <p:nvPr>
            <p:ph idx="1"/>
          </p:nvPr>
        </p:nvSpPr>
        <p:spPr>
          <a:xfrm>
            <a:off x="228600" y="1066800"/>
            <a:ext cx="8839200" cy="5562600"/>
          </a:xfrm>
        </p:spPr>
        <p:txBody>
          <a:bodyPr>
            <a:normAutofit/>
          </a:bodyPr>
          <a:lstStyle/>
          <a:p>
            <a:r>
              <a:rPr lang="en-US" sz="2800" dirty="0"/>
              <a:t>Where consumers don’t have time to compare prices (like a tourist trap), different stores have different prices.</a:t>
            </a:r>
          </a:p>
          <a:p>
            <a:endParaRPr lang="en-US" sz="2800" dirty="0"/>
          </a:p>
          <a:p>
            <a:endParaRPr lang="en-US" sz="2800" dirty="0"/>
          </a:p>
          <a:p>
            <a:endParaRPr lang="en-US" sz="2800" dirty="0"/>
          </a:p>
          <a:p>
            <a:endParaRPr lang="en-US" sz="2800" dirty="0"/>
          </a:p>
          <a:p>
            <a:endParaRPr lang="en-US" sz="2800" dirty="0"/>
          </a:p>
          <a:p>
            <a:endParaRPr lang="en-US" sz="2800" dirty="0"/>
          </a:p>
          <a:p>
            <a:r>
              <a:rPr lang="en-US" sz="2800" dirty="0"/>
              <a:t>In well-established markets, there is a uniform price.</a:t>
            </a:r>
          </a:p>
        </p:txBody>
      </p:sp>
      <p:pic>
        <p:nvPicPr>
          <p:cNvPr id="2050" name="Picture 2" descr="http://www.sxc.hu/pic/l/s/sy/sykicktb/529958_57836172.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657600" y="2209800"/>
            <a:ext cx="2133599" cy="32959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6183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noAutofit/>
          </a:bodyPr>
          <a:lstStyle/>
          <a:p>
            <a:r>
              <a:rPr lang="en-US" sz="3200" dirty="0"/>
              <a:t>WHY DO ALL SALES AND PURCHASES IN A MARKET TAKE PLACE AT THE SAME PRICE?</a:t>
            </a:r>
          </a:p>
        </p:txBody>
      </p:sp>
      <p:sp>
        <p:nvSpPr>
          <p:cNvPr id="3" name="Content Placeholder 2"/>
          <p:cNvSpPr>
            <a:spLocks noGrp="1"/>
          </p:cNvSpPr>
          <p:nvPr>
            <p:ph idx="1"/>
          </p:nvPr>
        </p:nvSpPr>
        <p:spPr>
          <a:xfrm>
            <a:off x="228600" y="1066800"/>
            <a:ext cx="8839200" cy="5562600"/>
          </a:xfrm>
        </p:spPr>
        <p:txBody>
          <a:bodyPr>
            <a:normAutofit/>
          </a:bodyPr>
          <a:lstStyle/>
          <a:p>
            <a:r>
              <a:rPr lang="en-US" sz="2800" dirty="0"/>
              <a:t>Where consumers don’t have time to compare prices (like a tourist trap), different stores have different prices.</a:t>
            </a:r>
          </a:p>
          <a:p>
            <a:endParaRPr lang="en-US" sz="2800" dirty="0"/>
          </a:p>
          <a:p>
            <a:endParaRPr lang="en-US" sz="2800" dirty="0"/>
          </a:p>
          <a:p>
            <a:endParaRPr lang="en-US" sz="2800" dirty="0"/>
          </a:p>
          <a:p>
            <a:endParaRPr lang="en-US" sz="2800" dirty="0"/>
          </a:p>
          <a:p>
            <a:endParaRPr lang="en-US" sz="2800" dirty="0"/>
          </a:p>
          <a:p>
            <a:endParaRPr lang="en-US" sz="2800" dirty="0"/>
          </a:p>
        </p:txBody>
      </p:sp>
      <p:pic>
        <p:nvPicPr>
          <p:cNvPr id="4" name="Picture 3"/>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2895600" y="2514600"/>
            <a:ext cx="5715000" cy="3886200"/>
          </a:xfrm>
          <a:prstGeom prst="rect">
            <a:avLst/>
          </a:prstGeom>
        </p:spPr>
      </p:pic>
    </p:spTree>
    <p:extLst>
      <p:ext uri="{BB962C8B-B14F-4D97-AF65-F5344CB8AC3E}">
        <p14:creationId xmlns:p14="http://schemas.microsoft.com/office/powerpoint/2010/main" val="1108180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3" name="Text Box 3"/>
          <p:cNvSpPr txBox="1">
            <a:spLocks noChangeArrowheads="1"/>
          </p:cNvSpPr>
          <p:nvPr/>
        </p:nvSpPr>
        <p:spPr bwMode="auto">
          <a:xfrm>
            <a:off x="457200" y="152400"/>
            <a:ext cx="82296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588" indent="-1588">
              <a:spcBef>
                <a:spcPct val="0"/>
              </a:spcBef>
              <a:defRPr>
                <a:solidFill>
                  <a:schemeClr val="tx1"/>
                </a:solidFill>
                <a:latin typeface="Arial" pitchFamily="34" charset="0"/>
              </a:defRPr>
            </a:lvl1pPr>
            <a:lvl2pPr>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fontAlgn="base">
              <a:spcBef>
                <a:spcPct val="0"/>
              </a:spcBef>
              <a:spcAft>
                <a:spcPct val="0"/>
              </a:spcAft>
              <a:defRPr>
                <a:solidFill>
                  <a:schemeClr val="tx1"/>
                </a:solidFill>
                <a:latin typeface="Arial" pitchFamily="34" charset="0"/>
              </a:defRPr>
            </a:lvl6pPr>
            <a:lvl7pPr fontAlgn="base">
              <a:spcBef>
                <a:spcPct val="0"/>
              </a:spcBef>
              <a:spcAft>
                <a:spcPct val="0"/>
              </a:spcAft>
              <a:defRPr>
                <a:solidFill>
                  <a:schemeClr val="tx1"/>
                </a:solidFill>
                <a:latin typeface="Arial" pitchFamily="34" charset="0"/>
              </a:defRPr>
            </a:lvl7pPr>
            <a:lvl8pPr fontAlgn="base">
              <a:spcBef>
                <a:spcPct val="0"/>
              </a:spcBef>
              <a:spcAft>
                <a:spcPct val="0"/>
              </a:spcAft>
              <a:defRPr>
                <a:solidFill>
                  <a:schemeClr val="tx1"/>
                </a:solidFill>
                <a:latin typeface="Arial" pitchFamily="34" charset="0"/>
              </a:defRPr>
            </a:lvl8pPr>
            <a:lvl9pPr fontAlgn="base">
              <a:spcBef>
                <a:spcPct val="0"/>
              </a:spcBef>
              <a:spcAft>
                <a:spcPct val="0"/>
              </a:spcAft>
              <a:defRPr>
                <a:solidFill>
                  <a:schemeClr val="tx1"/>
                </a:solidFill>
                <a:latin typeface="Arial" pitchFamily="34" charset="0"/>
              </a:defRPr>
            </a:lvl9pPr>
          </a:lstStyle>
          <a:p>
            <a:pPr>
              <a:spcBef>
                <a:spcPct val="50000"/>
              </a:spcBef>
            </a:pPr>
            <a:endParaRPr lang="en-US" sz="3600" b="1">
              <a:solidFill>
                <a:srgbClr val="993366"/>
              </a:solidFill>
              <a:latin typeface="Century Gothic"/>
              <a:cs typeface="Century Gothic"/>
            </a:endParaRPr>
          </a:p>
        </p:txBody>
      </p:sp>
      <p:sp>
        <p:nvSpPr>
          <p:cNvPr id="583694" name="Text Box 14"/>
          <p:cNvSpPr txBox="1">
            <a:spLocks noChangeArrowheads="1"/>
          </p:cNvSpPr>
          <p:nvPr/>
        </p:nvSpPr>
        <p:spPr bwMode="auto">
          <a:xfrm>
            <a:off x="4984750" y="990600"/>
            <a:ext cx="4083050" cy="1938992"/>
          </a:xfrm>
          <a:prstGeom prst="rect">
            <a:avLst/>
          </a:prstGeom>
          <a:noFill/>
          <a:ln>
            <a:noFill/>
          </a:ln>
          <a:effectLst/>
        </p:spPr>
        <p:txBody>
          <a:bodyPr wrap="square">
            <a:spAutoFit/>
          </a:bodyPr>
          <a:lstStyle>
            <a:lvl1pPr marL="1588" indent="-1588">
              <a:spcBef>
                <a:spcPct val="0"/>
              </a:spcBef>
              <a:defRPr>
                <a:solidFill>
                  <a:schemeClr val="tx1"/>
                </a:solidFill>
                <a:latin typeface="Arial" pitchFamily="34" charset="0"/>
              </a:defRPr>
            </a:lvl1pPr>
            <a:lvl2pPr>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fontAlgn="base">
              <a:spcBef>
                <a:spcPct val="0"/>
              </a:spcBef>
              <a:spcAft>
                <a:spcPct val="0"/>
              </a:spcAft>
              <a:defRPr>
                <a:solidFill>
                  <a:schemeClr val="tx1"/>
                </a:solidFill>
                <a:latin typeface="Arial" pitchFamily="34" charset="0"/>
              </a:defRPr>
            </a:lvl6pPr>
            <a:lvl7pPr fontAlgn="base">
              <a:spcBef>
                <a:spcPct val="0"/>
              </a:spcBef>
              <a:spcAft>
                <a:spcPct val="0"/>
              </a:spcAft>
              <a:defRPr>
                <a:solidFill>
                  <a:schemeClr val="tx1"/>
                </a:solidFill>
                <a:latin typeface="Arial" pitchFamily="34" charset="0"/>
              </a:defRPr>
            </a:lvl7pPr>
            <a:lvl8pPr fontAlgn="base">
              <a:spcBef>
                <a:spcPct val="0"/>
              </a:spcBef>
              <a:spcAft>
                <a:spcPct val="0"/>
              </a:spcAft>
              <a:defRPr>
                <a:solidFill>
                  <a:schemeClr val="tx1"/>
                </a:solidFill>
                <a:latin typeface="Arial" pitchFamily="34" charset="0"/>
              </a:defRPr>
            </a:lvl8pPr>
            <a:lvl9pPr fontAlgn="base">
              <a:spcBef>
                <a:spcPct val="0"/>
              </a:spcBef>
              <a:spcAft>
                <a:spcPct val="0"/>
              </a:spcAft>
              <a:defRPr>
                <a:solidFill>
                  <a:schemeClr val="tx1"/>
                </a:solidFill>
                <a:latin typeface="Arial" pitchFamily="34" charset="0"/>
              </a:defRPr>
            </a:lvl9pPr>
          </a:lstStyle>
          <a:p>
            <a:pPr>
              <a:lnSpc>
                <a:spcPct val="100000"/>
              </a:lnSpc>
              <a:spcBef>
                <a:spcPct val="20000"/>
              </a:spcBef>
            </a:pPr>
            <a:r>
              <a:rPr lang="en-US" sz="2000" i="1" dirty="0">
                <a:solidFill>
                  <a:schemeClr val="tx1">
                    <a:lumMod val="75000"/>
                    <a:lumOff val="25000"/>
                  </a:schemeClr>
                </a:solidFill>
                <a:latin typeface="Century Gothic"/>
                <a:cs typeface="Century Gothic"/>
              </a:rPr>
              <a:t>There is a </a:t>
            </a:r>
            <a:r>
              <a:rPr lang="en-US" sz="2000" b="1" i="1" dirty="0">
                <a:solidFill>
                  <a:srgbClr val="990033"/>
                </a:solidFill>
                <a:latin typeface="Century Gothic"/>
                <a:cs typeface="Century Gothic"/>
              </a:rPr>
              <a:t>surplus</a:t>
            </a:r>
            <a:r>
              <a:rPr lang="en-US" sz="2000" i="1" dirty="0">
                <a:solidFill>
                  <a:schemeClr val="tx1">
                    <a:lumMod val="75000"/>
                    <a:lumOff val="25000"/>
                  </a:schemeClr>
                </a:solidFill>
                <a:latin typeface="Century Gothic"/>
                <a:cs typeface="Century Gothic"/>
              </a:rPr>
              <a:t> of a good when the quantity supplied exceeds the quantity demanded. Surpluses occur when the price is above its equilibrium level. </a:t>
            </a:r>
          </a:p>
        </p:txBody>
      </p:sp>
      <p:cxnSp>
        <p:nvCxnSpPr>
          <p:cNvPr id="583804" name="Straight Connector 86"/>
          <p:cNvCxnSpPr>
            <a:cxnSpLocks noChangeShapeType="1"/>
          </p:cNvCxnSpPr>
          <p:nvPr/>
        </p:nvCxnSpPr>
        <p:spPr bwMode="auto">
          <a:xfrm>
            <a:off x="3286125" y="2979738"/>
            <a:ext cx="0" cy="2043112"/>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583803" name="Straight Connector 86"/>
          <p:cNvCxnSpPr>
            <a:cxnSpLocks noChangeShapeType="1"/>
          </p:cNvCxnSpPr>
          <p:nvPr/>
        </p:nvCxnSpPr>
        <p:spPr bwMode="auto">
          <a:xfrm>
            <a:off x="4576763" y="2979738"/>
            <a:ext cx="0" cy="2043112"/>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583802" name="Straight Connector 86"/>
          <p:cNvCxnSpPr>
            <a:cxnSpLocks noChangeShapeType="1"/>
          </p:cNvCxnSpPr>
          <p:nvPr/>
        </p:nvCxnSpPr>
        <p:spPr bwMode="auto">
          <a:xfrm>
            <a:off x="2133600" y="2967038"/>
            <a:ext cx="1188720" cy="3175"/>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583800" name="Straight Connector 86"/>
          <p:cNvCxnSpPr>
            <a:cxnSpLocks noChangeShapeType="1"/>
          </p:cNvCxnSpPr>
          <p:nvPr/>
        </p:nvCxnSpPr>
        <p:spPr bwMode="auto">
          <a:xfrm>
            <a:off x="2259013" y="3878263"/>
            <a:ext cx="1820862" cy="3175"/>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sp>
        <p:nvSpPr>
          <p:cNvPr id="583709" name="Line 29"/>
          <p:cNvSpPr>
            <a:spLocks noChangeShapeType="1"/>
          </p:cNvSpPr>
          <p:nvPr/>
        </p:nvSpPr>
        <p:spPr bwMode="auto">
          <a:xfrm flipV="1">
            <a:off x="2032000" y="957263"/>
            <a:ext cx="0" cy="4003675"/>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3710" name="Freeform 30"/>
          <p:cNvSpPr>
            <a:spLocks/>
          </p:cNvSpPr>
          <p:nvPr/>
        </p:nvSpPr>
        <p:spPr bwMode="auto">
          <a:xfrm>
            <a:off x="2032000" y="5048250"/>
            <a:ext cx="268288" cy="165100"/>
          </a:xfrm>
          <a:custGeom>
            <a:avLst/>
            <a:gdLst>
              <a:gd name="T0" fmla="*/ 155 w 155"/>
              <a:gd name="T1" fmla="*/ 97 h 97"/>
              <a:gd name="T2" fmla="*/ 0 w 155"/>
              <a:gd name="T3" fmla="*/ 97 h 97"/>
              <a:gd name="T4" fmla="*/ 0 w 155"/>
              <a:gd name="T5" fmla="*/ 0 h 97"/>
            </a:gdLst>
            <a:ahLst/>
            <a:cxnLst>
              <a:cxn ang="0">
                <a:pos x="T0" y="T1"/>
              </a:cxn>
              <a:cxn ang="0">
                <a:pos x="T2" y="T3"/>
              </a:cxn>
              <a:cxn ang="0">
                <a:pos x="T4" y="T5"/>
              </a:cxn>
            </a:cxnLst>
            <a:rect l="0" t="0" r="r" b="b"/>
            <a:pathLst>
              <a:path w="155" h="97">
                <a:moveTo>
                  <a:pt x="155" y="97"/>
                </a:moveTo>
                <a:lnTo>
                  <a:pt x="0" y="97"/>
                </a:lnTo>
                <a:lnTo>
                  <a:pt x="0" y="0"/>
                </a:lnTo>
              </a:path>
            </a:pathLst>
          </a:custGeom>
          <a:noFill/>
          <a:ln w="95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583711" name="Line 31"/>
          <p:cNvSpPr>
            <a:spLocks noChangeShapeType="1"/>
          </p:cNvSpPr>
          <p:nvPr/>
        </p:nvSpPr>
        <p:spPr bwMode="auto">
          <a:xfrm flipH="1">
            <a:off x="2476500" y="5213350"/>
            <a:ext cx="4483100"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3712" name="Rectangle 32"/>
          <p:cNvSpPr>
            <a:spLocks noChangeArrowheads="1"/>
          </p:cNvSpPr>
          <p:nvPr/>
        </p:nvSpPr>
        <p:spPr bwMode="auto">
          <a:xfrm>
            <a:off x="2801938" y="5256213"/>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7</a:t>
            </a:r>
            <a:endParaRPr lang="en-US" sz="1400">
              <a:latin typeface="Century Gothic"/>
              <a:cs typeface="Century Gothic"/>
            </a:endParaRPr>
          </a:p>
        </p:txBody>
      </p:sp>
      <p:sp>
        <p:nvSpPr>
          <p:cNvPr id="583713" name="Rectangle 33"/>
          <p:cNvSpPr>
            <a:spLocks noChangeArrowheads="1"/>
          </p:cNvSpPr>
          <p:nvPr/>
        </p:nvSpPr>
        <p:spPr bwMode="auto">
          <a:xfrm>
            <a:off x="1839913" y="5256213"/>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0</a:t>
            </a:r>
            <a:endParaRPr lang="en-US" sz="1400">
              <a:latin typeface="Century Gothic"/>
              <a:cs typeface="Century Gothic"/>
            </a:endParaRPr>
          </a:p>
        </p:txBody>
      </p:sp>
      <p:sp>
        <p:nvSpPr>
          <p:cNvPr id="583714" name="Rectangle 34"/>
          <p:cNvSpPr>
            <a:spLocks noChangeArrowheads="1"/>
          </p:cNvSpPr>
          <p:nvPr/>
        </p:nvSpPr>
        <p:spPr bwMode="auto">
          <a:xfrm>
            <a:off x="3981450" y="5256213"/>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10</a:t>
            </a:r>
            <a:endParaRPr lang="en-US" sz="1400">
              <a:latin typeface="Century Gothic"/>
              <a:cs typeface="Century Gothic"/>
            </a:endParaRPr>
          </a:p>
        </p:txBody>
      </p:sp>
      <p:sp>
        <p:nvSpPr>
          <p:cNvPr id="583715" name="Rectangle 35"/>
          <p:cNvSpPr>
            <a:spLocks noChangeArrowheads="1"/>
          </p:cNvSpPr>
          <p:nvPr/>
        </p:nvSpPr>
        <p:spPr bwMode="auto">
          <a:xfrm>
            <a:off x="6034088" y="5256213"/>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15</a:t>
            </a:r>
            <a:endParaRPr lang="en-US" sz="1400">
              <a:latin typeface="Century Gothic"/>
              <a:cs typeface="Century Gothic"/>
            </a:endParaRPr>
          </a:p>
        </p:txBody>
      </p:sp>
      <p:sp>
        <p:nvSpPr>
          <p:cNvPr id="583716" name="Rectangle 36"/>
          <p:cNvSpPr>
            <a:spLocks noChangeArrowheads="1"/>
          </p:cNvSpPr>
          <p:nvPr/>
        </p:nvSpPr>
        <p:spPr bwMode="auto">
          <a:xfrm>
            <a:off x="5213350" y="5256213"/>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13</a:t>
            </a:r>
            <a:endParaRPr lang="en-US" sz="1400">
              <a:latin typeface="Century Gothic"/>
              <a:cs typeface="Century Gothic"/>
            </a:endParaRPr>
          </a:p>
        </p:txBody>
      </p:sp>
      <p:sp>
        <p:nvSpPr>
          <p:cNvPr id="583717" name="Rectangle 37"/>
          <p:cNvSpPr>
            <a:spLocks noChangeArrowheads="1"/>
          </p:cNvSpPr>
          <p:nvPr/>
        </p:nvSpPr>
        <p:spPr bwMode="auto">
          <a:xfrm>
            <a:off x="6856413" y="5256213"/>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17</a:t>
            </a:r>
            <a:endParaRPr lang="en-US" sz="1400">
              <a:latin typeface="Century Gothic"/>
              <a:cs typeface="Century Gothic"/>
            </a:endParaRPr>
          </a:p>
        </p:txBody>
      </p:sp>
      <p:sp>
        <p:nvSpPr>
          <p:cNvPr id="583728" name="Line 48"/>
          <p:cNvSpPr>
            <a:spLocks noChangeShapeType="1"/>
          </p:cNvSpPr>
          <p:nvPr/>
        </p:nvSpPr>
        <p:spPr bwMode="auto">
          <a:xfrm>
            <a:off x="2032000" y="2058988"/>
            <a:ext cx="133350"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3729" name="Line 49"/>
          <p:cNvSpPr>
            <a:spLocks noChangeShapeType="1"/>
          </p:cNvSpPr>
          <p:nvPr/>
        </p:nvSpPr>
        <p:spPr bwMode="auto">
          <a:xfrm>
            <a:off x="2032000" y="2508250"/>
            <a:ext cx="133350"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3730" name="Line 50"/>
          <p:cNvSpPr>
            <a:spLocks noChangeShapeType="1"/>
          </p:cNvSpPr>
          <p:nvPr/>
        </p:nvSpPr>
        <p:spPr bwMode="auto">
          <a:xfrm>
            <a:off x="2032000" y="2955925"/>
            <a:ext cx="133350"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3731" name="Line 51"/>
          <p:cNvSpPr>
            <a:spLocks noChangeShapeType="1"/>
          </p:cNvSpPr>
          <p:nvPr/>
        </p:nvSpPr>
        <p:spPr bwMode="auto">
          <a:xfrm>
            <a:off x="2032000" y="3409950"/>
            <a:ext cx="133350"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3732" name="Line 52"/>
          <p:cNvSpPr>
            <a:spLocks noChangeShapeType="1"/>
          </p:cNvSpPr>
          <p:nvPr/>
        </p:nvSpPr>
        <p:spPr bwMode="auto">
          <a:xfrm>
            <a:off x="2032000" y="4308475"/>
            <a:ext cx="133350"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3733" name="Line 53"/>
          <p:cNvSpPr>
            <a:spLocks noChangeShapeType="1"/>
          </p:cNvSpPr>
          <p:nvPr/>
        </p:nvSpPr>
        <p:spPr bwMode="auto">
          <a:xfrm>
            <a:off x="2032000" y="3859213"/>
            <a:ext cx="133350"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3734" name="Line 54"/>
          <p:cNvSpPr>
            <a:spLocks noChangeShapeType="1"/>
          </p:cNvSpPr>
          <p:nvPr/>
        </p:nvSpPr>
        <p:spPr bwMode="auto">
          <a:xfrm>
            <a:off x="2032000" y="4757738"/>
            <a:ext cx="133350"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3735" name="Line 55"/>
          <p:cNvSpPr>
            <a:spLocks noChangeShapeType="1"/>
          </p:cNvSpPr>
          <p:nvPr/>
        </p:nvSpPr>
        <p:spPr bwMode="auto">
          <a:xfrm flipV="1">
            <a:off x="2854325" y="5081588"/>
            <a:ext cx="0" cy="13176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3736" name="Line 56"/>
          <p:cNvSpPr>
            <a:spLocks noChangeShapeType="1"/>
          </p:cNvSpPr>
          <p:nvPr/>
        </p:nvSpPr>
        <p:spPr bwMode="auto">
          <a:xfrm flipV="1">
            <a:off x="3303588" y="5081588"/>
            <a:ext cx="0" cy="13176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3737" name="Line 57"/>
          <p:cNvSpPr>
            <a:spLocks noChangeShapeType="1"/>
          </p:cNvSpPr>
          <p:nvPr/>
        </p:nvSpPr>
        <p:spPr bwMode="auto">
          <a:xfrm flipV="1">
            <a:off x="4084638" y="5081588"/>
            <a:ext cx="0" cy="13176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3738" name="Line 58"/>
          <p:cNvSpPr>
            <a:spLocks noChangeShapeType="1"/>
          </p:cNvSpPr>
          <p:nvPr/>
        </p:nvSpPr>
        <p:spPr bwMode="auto">
          <a:xfrm flipV="1">
            <a:off x="4575175" y="5081588"/>
            <a:ext cx="0" cy="13176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3739" name="Line 59"/>
          <p:cNvSpPr>
            <a:spLocks noChangeShapeType="1"/>
          </p:cNvSpPr>
          <p:nvPr/>
        </p:nvSpPr>
        <p:spPr bwMode="auto">
          <a:xfrm flipV="1">
            <a:off x="5318125" y="5081588"/>
            <a:ext cx="0" cy="13176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3740" name="Line 60"/>
          <p:cNvSpPr>
            <a:spLocks noChangeShapeType="1"/>
          </p:cNvSpPr>
          <p:nvPr/>
        </p:nvSpPr>
        <p:spPr bwMode="auto">
          <a:xfrm flipV="1">
            <a:off x="6138863" y="5081588"/>
            <a:ext cx="0" cy="13176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3741" name="Line 61"/>
          <p:cNvSpPr>
            <a:spLocks noChangeShapeType="1"/>
          </p:cNvSpPr>
          <p:nvPr/>
        </p:nvSpPr>
        <p:spPr bwMode="auto">
          <a:xfrm flipV="1">
            <a:off x="6959600" y="5081588"/>
            <a:ext cx="0" cy="13176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3742" name="Rectangle 62"/>
          <p:cNvSpPr>
            <a:spLocks noChangeArrowheads="1"/>
          </p:cNvSpPr>
          <p:nvPr/>
        </p:nvSpPr>
        <p:spPr bwMode="auto">
          <a:xfrm>
            <a:off x="1490663" y="1947863"/>
            <a:ext cx="4477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$2.00</a:t>
            </a:r>
            <a:endParaRPr lang="en-US" sz="1400">
              <a:latin typeface="Century Gothic"/>
              <a:cs typeface="Century Gothic"/>
            </a:endParaRPr>
          </a:p>
        </p:txBody>
      </p:sp>
      <p:sp>
        <p:nvSpPr>
          <p:cNvPr id="583743" name="Rectangle 63"/>
          <p:cNvSpPr>
            <a:spLocks noChangeArrowheads="1"/>
          </p:cNvSpPr>
          <p:nvPr/>
        </p:nvSpPr>
        <p:spPr bwMode="auto">
          <a:xfrm>
            <a:off x="1592263" y="2397125"/>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1.75</a:t>
            </a:r>
            <a:endParaRPr lang="en-US" sz="1400">
              <a:latin typeface="Century Gothic"/>
              <a:cs typeface="Century Gothic"/>
            </a:endParaRPr>
          </a:p>
        </p:txBody>
      </p:sp>
      <p:sp>
        <p:nvSpPr>
          <p:cNvPr id="583744" name="Rectangle 64"/>
          <p:cNvSpPr>
            <a:spLocks noChangeArrowheads="1"/>
          </p:cNvSpPr>
          <p:nvPr/>
        </p:nvSpPr>
        <p:spPr bwMode="auto">
          <a:xfrm>
            <a:off x="1592263" y="2847975"/>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1.50</a:t>
            </a:r>
            <a:endParaRPr lang="en-US" sz="1400">
              <a:latin typeface="Century Gothic"/>
              <a:cs typeface="Century Gothic"/>
            </a:endParaRPr>
          </a:p>
        </p:txBody>
      </p:sp>
      <p:sp>
        <p:nvSpPr>
          <p:cNvPr id="583745" name="Rectangle 65"/>
          <p:cNvSpPr>
            <a:spLocks noChangeArrowheads="1"/>
          </p:cNvSpPr>
          <p:nvPr/>
        </p:nvSpPr>
        <p:spPr bwMode="auto">
          <a:xfrm>
            <a:off x="1592263" y="3297238"/>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1.25</a:t>
            </a:r>
            <a:endParaRPr lang="en-US" sz="1400">
              <a:latin typeface="Century Gothic"/>
              <a:cs typeface="Century Gothic"/>
            </a:endParaRPr>
          </a:p>
        </p:txBody>
      </p:sp>
      <p:sp>
        <p:nvSpPr>
          <p:cNvPr id="583746" name="Rectangle 66"/>
          <p:cNvSpPr>
            <a:spLocks noChangeArrowheads="1"/>
          </p:cNvSpPr>
          <p:nvPr/>
        </p:nvSpPr>
        <p:spPr bwMode="auto">
          <a:xfrm>
            <a:off x="1592263" y="3749675"/>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1.00</a:t>
            </a:r>
            <a:endParaRPr lang="en-US" sz="1400">
              <a:latin typeface="Century Gothic"/>
              <a:cs typeface="Century Gothic"/>
            </a:endParaRPr>
          </a:p>
        </p:txBody>
      </p:sp>
      <p:sp>
        <p:nvSpPr>
          <p:cNvPr id="583747" name="Rectangle 67"/>
          <p:cNvSpPr>
            <a:spLocks noChangeArrowheads="1"/>
          </p:cNvSpPr>
          <p:nvPr/>
        </p:nvSpPr>
        <p:spPr bwMode="auto">
          <a:xfrm>
            <a:off x="1592263" y="4202113"/>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0.75</a:t>
            </a:r>
            <a:endParaRPr lang="en-US" sz="1400">
              <a:latin typeface="Century Gothic"/>
              <a:cs typeface="Century Gothic"/>
            </a:endParaRPr>
          </a:p>
        </p:txBody>
      </p:sp>
      <p:sp>
        <p:nvSpPr>
          <p:cNvPr id="583748" name="Rectangle 68"/>
          <p:cNvSpPr>
            <a:spLocks noChangeArrowheads="1"/>
          </p:cNvSpPr>
          <p:nvPr/>
        </p:nvSpPr>
        <p:spPr bwMode="auto">
          <a:xfrm>
            <a:off x="1592263" y="4649788"/>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0.50</a:t>
            </a:r>
            <a:endParaRPr lang="en-US" sz="1400">
              <a:latin typeface="Century Gothic"/>
              <a:cs typeface="Century Gothic"/>
            </a:endParaRPr>
          </a:p>
        </p:txBody>
      </p:sp>
      <p:sp>
        <p:nvSpPr>
          <p:cNvPr id="583759" name="Freeform 79"/>
          <p:cNvSpPr>
            <a:spLocks/>
          </p:cNvSpPr>
          <p:nvPr/>
        </p:nvSpPr>
        <p:spPr bwMode="auto">
          <a:xfrm>
            <a:off x="3263900" y="2058988"/>
            <a:ext cx="1476375" cy="2705100"/>
          </a:xfrm>
          <a:custGeom>
            <a:avLst/>
            <a:gdLst>
              <a:gd name="T0" fmla="*/ 266 w 266"/>
              <a:gd name="T1" fmla="*/ 0 h 494"/>
              <a:gd name="T2" fmla="*/ 0 w 266"/>
              <a:gd name="T3" fmla="*/ 494 h 494"/>
            </a:gdLst>
            <a:ahLst/>
            <a:cxnLst>
              <a:cxn ang="0">
                <a:pos x="T0" y="T1"/>
              </a:cxn>
              <a:cxn ang="0">
                <a:pos x="T2" y="T3"/>
              </a:cxn>
            </a:cxnLst>
            <a:rect l="0" t="0" r="r" b="b"/>
            <a:pathLst>
              <a:path w="266" h="494">
                <a:moveTo>
                  <a:pt x="266" y="0"/>
                </a:moveTo>
                <a:cubicBezTo>
                  <a:pt x="266" y="149"/>
                  <a:pt x="190" y="320"/>
                  <a:pt x="0" y="494"/>
                </a:cubicBezTo>
              </a:path>
            </a:pathLst>
          </a:custGeom>
          <a:noFill/>
          <a:ln w="39688" cap="flat">
            <a:solidFill>
              <a:srgbClr val="EE313C"/>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583760" name="Rectangle 80"/>
          <p:cNvSpPr>
            <a:spLocks noChangeArrowheads="1"/>
          </p:cNvSpPr>
          <p:nvPr/>
        </p:nvSpPr>
        <p:spPr bwMode="auto">
          <a:xfrm>
            <a:off x="4452938" y="1782763"/>
            <a:ext cx="57708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Supply</a:t>
            </a:r>
            <a:endParaRPr lang="en-US" sz="1400">
              <a:latin typeface="Century Gothic"/>
              <a:cs typeface="Century Gothic"/>
            </a:endParaRPr>
          </a:p>
        </p:txBody>
      </p:sp>
      <p:sp>
        <p:nvSpPr>
          <p:cNvPr id="583761" name="Rectangle 81"/>
          <p:cNvSpPr>
            <a:spLocks noChangeArrowheads="1"/>
          </p:cNvSpPr>
          <p:nvPr/>
        </p:nvSpPr>
        <p:spPr bwMode="auto">
          <a:xfrm>
            <a:off x="5870575" y="4668838"/>
            <a:ext cx="77381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Demand</a:t>
            </a:r>
            <a:endParaRPr lang="en-US" sz="1400">
              <a:latin typeface="Century Gothic"/>
              <a:cs typeface="Century Gothic"/>
            </a:endParaRPr>
          </a:p>
        </p:txBody>
      </p:sp>
      <p:sp>
        <p:nvSpPr>
          <p:cNvPr id="583763" name="Line 83"/>
          <p:cNvSpPr>
            <a:spLocks noChangeShapeType="1"/>
          </p:cNvSpPr>
          <p:nvPr/>
        </p:nvSpPr>
        <p:spPr bwMode="auto">
          <a:xfrm flipV="1">
            <a:off x="1971675" y="4929188"/>
            <a:ext cx="115888" cy="6350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3764" name="Line 84"/>
          <p:cNvSpPr>
            <a:spLocks noChangeShapeType="1"/>
          </p:cNvSpPr>
          <p:nvPr/>
        </p:nvSpPr>
        <p:spPr bwMode="auto">
          <a:xfrm flipV="1">
            <a:off x="1971675" y="5014913"/>
            <a:ext cx="115888" cy="66675"/>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3765" name="Line 85"/>
          <p:cNvSpPr>
            <a:spLocks noChangeShapeType="1"/>
          </p:cNvSpPr>
          <p:nvPr/>
        </p:nvSpPr>
        <p:spPr bwMode="auto">
          <a:xfrm flipH="1">
            <a:off x="2265363" y="5151438"/>
            <a:ext cx="68262" cy="115887"/>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3766" name="Line 86"/>
          <p:cNvSpPr>
            <a:spLocks noChangeShapeType="1"/>
          </p:cNvSpPr>
          <p:nvPr/>
        </p:nvSpPr>
        <p:spPr bwMode="auto">
          <a:xfrm flipH="1">
            <a:off x="2355850" y="5151438"/>
            <a:ext cx="65088" cy="115887"/>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3767" name="Freeform 87"/>
          <p:cNvSpPr>
            <a:spLocks/>
          </p:cNvSpPr>
          <p:nvPr/>
        </p:nvSpPr>
        <p:spPr bwMode="auto">
          <a:xfrm>
            <a:off x="2894013" y="2058988"/>
            <a:ext cx="2913062" cy="2705100"/>
          </a:xfrm>
          <a:custGeom>
            <a:avLst/>
            <a:gdLst>
              <a:gd name="T0" fmla="*/ 0 w 525"/>
              <a:gd name="T1" fmla="*/ 0 h 494"/>
              <a:gd name="T2" fmla="*/ 525 w 525"/>
              <a:gd name="T3" fmla="*/ 494 h 494"/>
            </a:gdLst>
            <a:ahLst/>
            <a:cxnLst>
              <a:cxn ang="0">
                <a:pos x="T0" y="T1"/>
              </a:cxn>
              <a:cxn ang="0">
                <a:pos x="T2" y="T3"/>
              </a:cxn>
            </a:cxnLst>
            <a:rect l="0" t="0" r="r" b="b"/>
            <a:pathLst>
              <a:path w="525" h="494">
                <a:moveTo>
                  <a:pt x="0" y="0"/>
                </a:moveTo>
                <a:cubicBezTo>
                  <a:pt x="30" y="133"/>
                  <a:pt x="196" y="409"/>
                  <a:pt x="525" y="494"/>
                </a:cubicBezTo>
              </a:path>
            </a:pathLst>
          </a:custGeom>
          <a:noFill/>
          <a:ln w="39688" cap="flat">
            <a:solidFill>
              <a:srgbClr val="3C5DAA"/>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583768" name="Oval 88"/>
          <p:cNvSpPr>
            <a:spLocks noChangeArrowheads="1"/>
          </p:cNvSpPr>
          <p:nvPr/>
        </p:nvSpPr>
        <p:spPr bwMode="auto">
          <a:xfrm>
            <a:off x="4030663" y="3805238"/>
            <a:ext cx="111125" cy="10953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83769" name="Rectangle 89"/>
          <p:cNvSpPr>
            <a:spLocks noChangeArrowheads="1"/>
          </p:cNvSpPr>
          <p:nvPr/>
        </p:nvSpPr>
        <p:spPr bwMode="auto">
          <a:xfrm>
            <a:off x="3181350" y="5256213"/>
            <a:ext cx="24870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8.1</a:t>
            </a:r>
            <a:endParaRPr lang="en-US" sz="1400">
              <a:latin typeface="Century Gothic"/>
              <a:cs typeface="Century Gothic"/>
            </a:endParaRPr>
          </a:p>
        </p:txBody>
      </p:sp>
      <p:sp>
        <p:nvSpPr>
          <p:cNvPr id="583770" name="Rectangle 90"/>
          <p:cNvSpPr>
            <a:spLocks noChangeArrowheads="1"/>
          </p:cNvSpPr>
          <p:nvPr/>
        </p:nvSpPr>
        <p:spPr bwMode="auto">
          <a:xfrm>
            <a:off x="4430713" y="5256213"/>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11.2</a:t>
            </a:r>
            <a:endParaRPr lang="en-US" sz="1400">
              <a:latin typeface="Century Gothic"/>
              <a:cs typeface="Century Gothic"/>
            </a:endParaRPr>
          </a:p>
        </p:txBody>
      </p:sp>
      <p:sp>
        <p:nvSpPr>
          <p:cNvPr id="583771" name="Rectangle 91"/>
          <p:cNvSpPr>
            <a:spLocks noChangeArrowheads="1"/>
          </p:cNvSpPr>
          <p:nvPr/>
        </p:nvSpPr>
        <p:spPr bwMode="auto">
          <a:xfrm>
            <a:off x="4221163" y="3690938"/>
            <a:ext cx="12536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dirty="0">
                <a:solidFill>
                  <a:srgbClr val="000000"/>
                </a:solidFill>
                <a:latin typeface="Century Gothic"/>
                <a:cs typeface="Century Gothic"/>
              </a:rPr>
              <a:t>E</a:t>
            </a:r>
            <a:endParaRPr lang="en-US" sz="1400" i="1" dirty="0">
              <a:latin typeface="Century Gothic"/>
              <a:cs typeface="Century Gothic"/>
            </a:endParaRPr>
          </a:p>
        </p:txBody>
      </p:sp>
      <p:sp>
        <p:nvSpPr>
          <p:cNvPr id="583772" name="Line 92"/>
          <p:cNvSpPr>
            <a:spLocks noChangeShapeType="1"/>
          </p:cNvSpPr>
          <p:nvPr/>
        </p:nvSpPr>
        <p:spPr bwMode="auto">
          <a:xfrm>
            <a:off x="4575175" y="5470525"/>
            <a:ext cx="0" cy="328613"/>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3773" name="Line 93"/>
          <p:cNvSpPr>
            <a:spLocks noChangeShapeType="1"/>
          </p:cNvSpPr>
          <p:nvPr/>
        </p:nvSpPr>
        <p:spPr bwMode="auto">
          <a:xfrm>
            <a:off x="3303588" y="5470525"/>
            <a:ext cx="0" cy="328613"/>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3774" name="Freeform 94"/>
          <p:cNvSpPr>
            <a:spLocks/>
          </p:cNvSpPr>
          <p:nvPr/>
        </p:nvSpPr>
        <p:spPr bwMode="auto">
          <a:xfrm>
            <a:off x="3616325" y="2425700"/>
            <a:ext cx="727075" cy="317500"/>
          </a:xfrm>
          <a:custGeom>
            <a:avLst/>
            <a:gdLst>
              <a:gd name="T0" fmla="*/ 131 w 131"/>
              <a:gd name="T1" fmla="*/ 43 h 58"/>
              <a:gd name="T2" fmla="*/ 117 w 131"/>
              <a:gd name="T3" fmla="*/ 58 h 58"/>
              <a:gd name="T4" fmla="*/ 14 w 131"/>
              <a:gd name="T5" fmla="*/ 58 h 58"/>
              <a:gd name="T6" fmla="*/ 0 w 131"/>
              <a:gd name="T7" fmla="*/ 43 h 58"/>
              <a:gd name="T8" fmla="*/ 0 w 131"/>
              <a:gd name="T9" fmla="*/ 15 h 58"/>
              <a:gd name="T10" fmla="*/ 14 w 131"/>
              <a:gd name="T11" fmla="*/ 0 h 58"/>
              <a:gd name="T12" fmla="*/ 117 w 131"/>
              <a:gd name="T13" fmla="*/ 0 h 58"/>
              <a:gd name="T14" fmla="*/ 131 w 131"/>
              <a:gd name="T15" fmla="*/ 15 h 58"/>
              <a:gd name="T16" fmla="*/ 131 w 131"/>
              <a:gd name="T17" fmla="*/ 4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1" h="58">
                <a:moveTo>
                  <a:pt x="131" y="43"/>
                </a:moveTo>
                <a:cubicBezTo>
                  <a:pt x="131" y="51"/>
                  <a:pt x="125" y="58"/>
                  <a:pt x="117" y="58"/>
                </a:cubicBezTo>
                <a:cubicBezTo>
                  <a:pt x="14" y="58"/>
                  <a:pt x="14" y="58"/>
                  <a:pt x="14" y="58"/>
                </a:cubicBezTo>
                <a:cubicBezTo>
                  <a:pt x="7" y="58"/>
                  <a:pt x="0" y="51"/>
                  <a:pt x="0" y="43"/>
                </a:cubicBezTo>
                <a:cubicBezTo>
                  <a:pt x="0" y="15"/>
                  <a:pt x="0" y="15"/>
                  <a:pt x="0" y="15"/>
                </a:cubicBezTo>
                <a:cubicBezTo>
                  <a:pt x="0" y="7"/>
                  <a:pt x="7" y="0"/>
                  <a:pt x="14" y="0"/>
                </a:cubicBezTo>
                <a:cubicBezTo>
                  <a:pt x="117" y="0"/>
                  <a:pt x="117" y="0"/>
                  <a:pt x="117" y="0"/>
                </a:cubicBezTo>
                <a:cubicBezTo>
                  <a:pt x="125" y="0"/>
                  <a:pt x="131" y="7"/>
                  <a:pt x="131" y="15"/>
                </a:cubicBezTo>
                <a:lnTo>
                  <a:pt x="131" y="43"/>
                </a:lnTo>
                <a:close/>
              </a:path>
            </a:pathLst>
          </a:custGeom>
          <a:solidFill>
            <a:srgbClr val="D6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83778" name="Freeform 98"/>
          <p:cNvSpPr>
            <a:spLocks/>
          </p:cNvSpPr>
          <p:nvPr/>
        </p:nvSpPr>
        <p:spPr bwMode="auto">
          <a:xfrm>
            <a:off x="4184650" y="5799138"/>
            <a:ext cx="800100" cy="525462"/>
          </a:xfrm>
          <a:custGeom>
            <a:avLst/>
            <a:gdLst>
              <a:gd name="T0" fmla="*/ 144 w 144"/>
              <a:gd name="T1" fmla="*/ 81 h 96"/>
              <a:gd name="T2" fmla="*/ 130 w 144"/>
              <a:gd name="T3" fmla="*/ 96 h 96"/>
              <a:gd name="T4" fmla="*/ 14 w 144"/>
              <a:gd name="T5" fmla="*/ 96 h 96"/>
              <a:gd name="T6" fmla="*/ 0 w 144"/>
              <a:gd name="T7" fmla="*/ 81 h 96"/>
              <a:gd name="T8" fmla="*/ 0 w 144"/>
              <a:gd name="T9" fmla="*/ 14 h 96"/>
              <a:gd name="T10" fmla="*/ 14 w 144"/>
              <a:gd name="T11" fmla="*/ 0 h 96"/>
              <a:gd name="T12" fmla="*/ 130 w 144"/>
              <a:gd name="T13" fmla="*/ 0 h 96"/>
              <a:gd name="T14" fmla="*/ 144 w 144"/>
              <a:gd name="T15" fmla="*/ 14 h 96"/>
              <a:gd name="T16" fmla="*/ 144 w 144"/>
              <a:gd name="T17" fmla="*/ 8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4" h="96">
                <a:moveTo>
                  <a:pt x="144" y="81"/>
                </a:moveTo>
                <a:cubicBezTo>
                  <a:pt x="144" y="89"/>
                  <a:pt x="138" y="96"/>
                  <a:pt x="130" y="96"/>
                </a:cubicBezTo>
                <a:cubicBezTo>
                  <a:pt x="14" y="96"/>
                  <a:pt x="14" y="96"/>
                  <a:pt x="14" y="96"/>
                </a:cubicBezTo>
                <a:cubicBezTo>
                  <a:pt x="6" y="96"/>
                  <a:pt x="0" y="89"/>
                  <a:pt x="0" y="81"/>
                </a:cubicBezTo>
                <a:cubicBezTo>
                  <a:pt x="0" y="14"/>
                  <a:pt x="0" y="14"/>
                  <a:pt x="0" y="14"/>
                </a:cubicBezTo>
                <a:cubicBezTo>
                  <a:pt x="0" y="7"/>
                  <a:pt x="6" y="0"/>
                  <a:pt x="14" y="0"/>
                </a:cubicBezTo>
                <a:cubicBezTo>
                  <a:pt x="130" y="0"/>
                  <a:pt x="130" y="0"/>
                  <a:pt x="130" y="0"/>
                </a:cubicBezTo>
                <a:cubicBezTo>
                  <a:pt x="138" y="0"/>
                  <a:pt x="144" y="7"/>
                  <a:pt x="144" y="14"/>
                </a:cubicBezTo>
                <a:lnTo>
                  <a:pt x="144" y="81"/>
                </a:lnTo>
                <a:close/>
              </a:path>
            </a:pathLst>
          </a:custGeom>
          <a:solidFill>
            <a:srgbClr val="D6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83785" name="Freeform 105"/>
          <p:cNvSpPr>
            <a:spLocks/>
          </p:cNvSpPr>
          <p:nvPr/>
        </p:nvSpPr>
        <p:spPr bwMode="auto">
          <a:xfrm>
            <a:off x="2838450" y="5799138"/>
            <a:ext cx="920750" cy="525462"/>
          </a:xfrm>
          <a:custGeom>
            <a:avLst/>
            <a:gdLst>
              <a:gd name="T0" fmla="*/ 166 w 166"/>
              <a:gd name="T1" fmla="*/ 81 h 96"/>
              <a:gd name="T2" fmla="*/ 151 w 166"/>
              <a:gd name="T3" fmla="*/ 96 h 96"/>
              <a:gd name="T4" fmla="*/ 14 w 166"/>
              <a:gd name="T5" fmla="*/ 96 h 96"/>
              <a:gd name="T6" fmla="*/ 0 w 166"/>
              <a:gd name="T7" fmla="*/ 81 h 96"/>
              <a:gd name="T8" fmla="*/ 0 w 166"/>
              <a:gd name="T9" fmla="*/ 14 h 96"/>
              <a:gd name="T10" fmla="*/ 14 w 166"/>
              <a:gd name="T11" fmla="*/ 0 h 96"/>
              <a:gd name="T12" fmla="*/ 151 w 166"/>
              <a:gd name="T13" fmla="*/ 0 h 96"/>
              <a:gd name="T14" fmla="*/ 166 w 166"/>
              <a:gd name="T15" fmla="*/ 14 h 96"/>
              <a:gd name="T16" fmla="*/ 166 w 166"/>
              <a:gd name="T17" fmla="*/ 8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6" h="96">
                <a:moveTo>
                  <a:pt x="166" y="81"/>
                </a:moveTo>
                <a:cubicBezTo>
                  <a:pt x="166" y="89"/>
                  <a:pt x="159" y="96"/>
                  <a:pt x="151" y="96"/>
                </a:cubicBezTo>
                <a:cubicBezTo>
                  <a:pt x="14" y="96"/>
                  <a:pt x="14" y="96"/>
                  <a:pt x="14" y="96"/>
                </a:cubicBezTo>
                <a:cubicBezTo>
                  <a:pt x="6" y="96"/>
                  <a:pt x="0" y="89"/>
                  <a:pt x="0" y="81"/>
                </a:cubicBezTo>
                <a:cubicBezTo>
                  <a:pt x="0" y="14"/>
                  <a:pt x="0" y="14"/>
                  <a:pt x="0" y="14"/>
                </a:cubicBezTo>
                <a:cubicBezTo>
                  <a:pt x="0" y="7"/>
                  <a:pt x="6" y="0"/>
                  <a:pt x="14" y="0"/>
                </a:cubicBezTo>
                <a:cubicBezTo>
                  <a:pt x="151" y="0"/>
                  <a:pt x="151" y="0"/>
                  <a:pt x="151" y="0"/>
                </a:cubicBezTo>
                <a:cubicBezTo>
                  <a:pt x="159" y="0"/>
                  <a:pt x="166" y="7"/>
                  <a:pt x="166" y="14"/>
                </a:cubicBezTo>
                <a:lnTo>
                  <a:pt x="166" y="81"/>
                </a:lnTo>
                <a:close/>
              </a:path>
            </a:pathLst>
          </a:custGeom>
          <a:solidFill>
            <a:srgbClr val="D6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83792" name="Freeform 112"/>
          <p:cNvSpPr>
            <a:spLocks/>
          </p:cNvSpPr>
          <p:nvPr/>
        </p:nvSpPr>
        <p:spPr bwMode="auto">
          <a:xfrm>
            <a:off x="3303588" y="2765425"/>
            <a:ext cx="1271587" cy="134938"/>
          </a:xfrm>
          <a:custGeom>
            <a:avLst/>
            <a:gdLst>
              <a:gd name="T0" fmla="*/ 0 w 229"/>
              <a:gd name="T1" fmla="*/ 25 h 25"/>
              <a:gd name="T2" fmla="*/ 16 w 229"/>
              <a:gd name="T3" fmla="*/ 10 h 25"/>
              <a:gd name="T4" fmla="*/ 108 w 229"/>
              <a:gd name="T5" fmla="*/ 10 h 25"/>
              <a:gd name="T6" fmla="*/ 119 w 229"/>
              <a:gd name="T7" fmla="*/ 0 h 25"/>
              <a:gd name="T8" fmla="*/ 129 w 229"/>
              <a:gd name="T9" fmla="*/ 10 h 25"/>
              <a:gd name="T10" fmla="*/ 213 w 229"/>
              <a:gd name="T11" fmla="*/ 10 h 25"/>
              <a:gd name="T12" fmla="*/ 229 w 229"/>
              <a:gd name="T13" fmla="*/ 25 h 25"/>
            </a:gdLst>
            <a:ahLst/>
            <a:cxnLst>
              <a:cxn ang="0">
                <a:pos x="T0" y="T1"/>
              </a:cxn>
              <a:cxn ang="0">
                <a:pos x="T2" y="T3"/>
              </a:cxn>
              <a:cxn ang="0">
                <a:pos x="T4" y="T5"/>
              </a:cxn>
              <a:cxn ang="0">
                <a:pos x="T6" y="T7"/>
              </a:cxn>
              <a:cxn ang="0">
                <a:pos x="T8" y="T9"/>
              </a:cxn>
              <a:cxn ang="0">
                <a:pos x="T10" y="T11"/>
              </a:cxn>
              <a:cxn ang="0">
                <a:pos x="T12" y="T13"/>
              </a:cxn>
            </a:cxnLst>
            <a:rect l="0" t="0" r="r" b="b"/>
            <a:pathLst>
              <a:path w="229" h="25">
                <a:moveTo>
                  <a:pt x="0" y="25"/>
                </a:moveTo>
                <a:cubicBezTo>
                  <a:pt x="0" y="15"/>
                  <a:pt x="3" y="10"/>
                  <a:pt x="16" y="10"/>
                </a:cubicBezTo>
                <a:cubicBezTo>
                  <a:pt x="19" y="10"/>
                  <a:pt x="106" y="10"/>
                  <a:pt x="108" y="10"/>
                </a:cubicBezTo>
                <a:cubicBezTo>
                  <a:pt x="112" y="10"/>
                  <a:pt x="119" y="8"/>
                  <a:pt x="119" y="0"/>
                </a:cubicBezTo>
                <a:cubicBezTo>
                  <a:pt x="119" y="8"/>
                  <a:pt x="126" y="10"/>
                  <a:pt x="129" y="10"/>
                </a:cubicBezTo>
                <a:cubicBezTo>
                  <a:pt x="132" y="10"/>
                  <a:pt x="211" y="10"/>
                  <a:pt x="213" y="10"/>
                </a:cubicBezTo>
                <a:cubicBezTo>
                  <a:pt x="227" y="10"/>
                  <a:pt x="229" y="15"/>
                  <a:pt x="229" y="25"/>
                </a:cubicBezTo>
              </a:path>
            </a:pathLst>
          </a:custGeom>
          <a:noFill/>
          <a:ln w="30163" cap="flat">
            <a:solidFill>
              <a:srgbClr val="6D6F7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583793" name="Oval 113"/>
          <p:cNvSpPr>
            <a:spLocks noChangeArrowheads="1"/>
          </p:cNvSpPr>
          <p:nvPr/>
        </p:nvSpPr>
        <p:spPr bwMode="auto">
          <a:xfrm>
            <a:off x="3248025" y="2900363"/>
            <a:ext cx="111125" cy="11112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83794" name="Oval 114"/>
          <p:cNvSpPr>
            <a:spLocks noChangeArrowheads="1"/>
          </p:cNvSpPr>
          <p:nvPr/>
        </p:nvSpPr>
        <p:spPr bwMode="auto">
          <a:xfrm>
            <a:off x="4518025" y="2900363"/>
            <a:ext cx="112713" cy="11112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83795" name="Rectangle 115"/>
          <p:cNvSpPr>
            <a:spLocks noChangeArrowheads="1"/>
          </p:cNvSpPr>
          <p:nvPr/>
        </p:nvSpPr>
        <p:spPr bwMode="auto">
          <a:xfrm>
            <a:off x="3657600" y="2514600"/>
            <a:ext cx="58980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dirty="0">
                <a:solidFill>
                  <a:srgbClr val="000000"/>
                </a:solidFill>
                <a:latin typeface="Century Gothic"/>
                <a:cs typeface="Century Gothic"/>
              </a:rPr>
              <a:t>Surplus</a:t>
            </a:r>
            <a:endParaRPr lang="en-US" sz="1400" dirty="0">
              <a:latin typeface="Century Gothic"/>
              <a:cs typeface="Century Gothic"/>
            </a:endParaRPr>
          </a:p>
        </p:txBody>
      </p:sp>
      <p:sp>
        <p:nvSpPr>
          <p:cNvPr id="583796" name="Rectangle 116"/>
          <p:cNvSpPr>
            <a:spLocks noChangeArrowheads="1"/>
          </p:cNvSpPr>
          <p:nvPr/>
        </p:nvSpPr>
        <p:spPr bwMode="auto">
          <a:xfrm>
            <a:off x="2877080" y="5833006"/>
            <a:ext cx="99377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1588" indent="-1588"/>
            <a:r>
              <a:rPr lang="en-US" sz="1400" dirty="0">
                <a:solidFill>
                  <a:srgbClr val="000000"/>
                </a:solidFill>
                <a:latin typeface="Century Gothic"/>
                <a:cs typeface="Century Gothic"/>
              </a:rPr>
              <a:t>Quantity demanded</a:t>
            </a:r>
            <a:endParaRPr lang="en-US" sz="1400" dirty="0">
              <a:latin typeface="Century Gothic"/>
              <a:cs typeface="Century Gothic"/>
            </a:endParaRPr>
          </a:p>
        </p:txBody>
      </p:sp>
      <p:sp>
        <p:nvSpPr>
          <p:cNvPr id="583797" name="Rectangle 117"/>
          <p:cNvSpPr>
            <a:spLocks noChangeArrowheads="1"/>
          </p:cNvSpPr>
          <p:nvPr/>
        </p:nvSpPr>
        <p:spPr bwMode="auto">
          <a:xfrm>
            <a:off x="4244975" y="5870573"/>
            <a:ext cx="74612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1588" indent="-1588"/>
            <a:r>
              <a:rPr lang="en-US" sz="1400" dirty="0">
                <a:solidFill>
                  <a:srgbClr val="000000"/>
                </a:solidFill>
                <a:latin typeface="Century Gothic"/>
                <a:cs typeface="Century Gothic"/>
              </a:rPr>
              <a:t>Quantity supplied</a:t>
            </a:r>
            <a:endParaRPr lang="en-US" sz="1400" dirty="0">
              <a:latin typeface="Century Gothic"/>
              <a:cs typeface="Century Gothic"/>
            </a:endParaRPr>
          </a:p>
        </p:txBody>
      </p:sp>
      <p:cxnSp>
        <p:nvCxnSpPr>
          <p:cNvPr id="583801" name="Straight Connector 86"/>
          <p:cNvCxnSpPr>
            <a:cxnSpLocks noChangeShapeType="1"/>
          </p:cNvCxnSpPr>
          <p:nvPr/>
        </p:nvCxnSpPr>
        <p:spPr bwMode="auto">
          <a:xfrm>
            <a:off x="4090988" y="3959225"/>
            <a:ext cx="0" cy="1063625"/>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sp>
        <p:nvSpPr>
          <p:cNvPr id="583807" name="Rectangle 127"/>
          <p:cNvSpPr>
            <a:spLocks noGrp="1" noRot="1" noChangeArrowheads="1"/>
          </p:cNvSpPr>
          <p:nvPr>
            <p:ph type="title"/>
          </p:nvPr>
        </p:nvSpPr>
        <p:spPr/>
        <p:txBody>
          <a:bodyPr>
            <a:noAutofit/>
          </a:bodyPr>
          <a:lstStyle/>
          <a:p>
            <a:r>
              <a:rPr lang="en-US" sz="3200" dirty="0"/>
              <a:t>WHY DOES THE MARKET PRICE FALL IF IT IS ABOVE THE EQUILIBRIUM PRICE?</a:t>
            </a:r>
          </a:p>
        </p:txBody>
      </p:sp>
      <p:sp>
        <p:nvSpPr>
          <p:cNvPr id="66" name="TextBox 29"/>
          <p:cNvSpPr txBox="1">
            <a:spLocks noChangeArrowheads="1"/>
          </p:cNvSpPr>
          <p:nvPr/>
        </p:nvSpPr>
        <p:spPr bwMode="auto">
          <a:xfrm>
            <a:off x="762001" y="1096963"/>
            <a:ext cx="136048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400" dirty="0">
                <a:latin typeface="Century Gothic"/>
                <a:ea typeface="MS PGothic" pitchFamily="34" charset="-128"/>
                <a:cs typeface="Century Gothic"/>
              </a:rPr>
              <a:t>Price of cotton (per pound)</a:t>
            </a:r>
          </a:p>
        </p:txBody>
      </p:sp>
      <p:sp>
        <p:nvSpPr>
          <p:cNvPr id="67" name="TextBox 30"/>
          <p:cNvSpPr txBox="1">
            <a:spLocks noChangeArrowheads="1"/>
          </p:cNvSpPr>
          <p:nvPr/>
        </p:nvSpPr>
        <p:spPr bwMode="auto">
          <a:xfrm>
            <a:off x="5454650" y="5715000"/>
            <a:ext cx="21653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400" dirty="0">
                <a:latin typeface="Century Gothic"/>
                <a:ea typeface="MS PGothic" pitchFamily="34" charset="-128"/>
                <a:cs typeface="Century Gothic"/>
              </a:rPr>
              <a:t>Quantity of cotton (billions of pounds)</a:t>
            </a:r>
          </a:p>
        </p:txBody>
      </p:sp>
      <p:cxnSp>
        <p:nvCxnSpPr>
          <p:cNvPr id="68" name="Straight Connector 86"/>
          <p:cNvCxnSpPr>
            <a:cxnSpLocks noChangeShapeType="1"/>
          </p:cNvCxnSpPr>
          <p:nvPr/>
        </p:nvCxnSpPr>
        <p:spPr bwMode="auto">
          <a:xfrm>
            <a:off x="3352800" y="2971800"/>
            <a:ext cx="1188720" cy="3175"/>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sp>
        <p:nvSpPr>
          <p:cNvPr id="69" name="Text Box 14"/>
          <p:cNvSpPr txBox="1">
            <a:spLocks noChangeArrowheads="1"/>
          </p:cNvSpPr>
          <p:nvPr/>
        </p:nvSpPr>
        <p:spPr bwMode="auto">
          <a:xfrm>
            <a:off x="4953000" y="3200400"/>
            <a:ext cx="3810000" cy="1015663"/>
          </a:xfrm>
          <a:prstGeom prst="rect">
            <a:avLst/>
          </a:prstGeom>
          <a:noFill/>
          <a:ln>
            <a:noFill/>
          </a:ln>
          <a:effectLst/>
        </p:spPr>
        <p:txBody>
          <a:bodyPr wrap="square">
            <a:spAutoFit/>
          </a:bodyPr>
          <a:lstStyle>
            <a:lvl1pPr marL="1588" indent="-1588">
              <a:spcBef>
                <a:spcPct val="0"/>
              </a:spcBef>
              <a:defRPr>
                <a:solidFill>
                  <a:schemeClr val="tx1"/>
                </a:solidFill>
                <a:latin typeface="Arial" pitchFamily="34" charset="0"/>
              </a:defRPr>
            </a:lvl1pPr>
            <a:lvl2pPr>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fontAlgn="base">
              <a:spcBef>
                <a:spcPct val="0"/>
              </a:spcBef>
              <a:spcAft>
                <a:spcPct val="0"/>
              </a:spcAft>
              <a:defRPr>
                <a:solidFill>
                  <a:schemeClr val="tx1"/>
                </a:solidFill>
                <a:latin typeface="Arial" pitchFamily="34" charset="0"/>
              </a:defRPr>
            </a:lvl6pPr>
            <a:lvl7pPr fontAlgn="base">
              <a:spcBef>
                <a:spcPct val="0"/>
              </a:spcBef>
              <a:spcAft>
                <a:spcPct val="0"/>
              </a:spcAft>
              <a:defRPr>
                <a:solidFill>
                  <a:schemeClr val="tx1"/>
                </a:solidFill>
                <a:latin typeface="Arial" pitchFamily="34" charset="0"/>
              </a:defRPr>
            </a:lvl7pPr>
            <a:lvl8pPr fontAlgn="base">
              <a:spcBef>
                <a:spcPct val="0"/>
              </a:spcBef>
              <a:spcAft>
                <a:spcPct val="0"/>
              </a:spcAft>
              <a:defRPr>
                <a:solidFill>
                  <a:schemeClr val="tx1"/>
                </a:solidFill>
                <a:latin typeface="Arial" pitchFamily="34" charset="0"/>
              </a:defRPr>
            </a:lvl8pPr>
            <a:lvl9pPr fontAlgn="base">
              <a:spcBef>
                <a:spcPct val="0"/>
              </a:spcBef>
              <a:spcAft>
                <a:spcPct val="0"/>
              </a:spcAft>
              <a:defRPr>
                <a:solidFill>
                  <a:schemeClr val="tx1"/>
                </a:solidFill>
                <a:latin typeface="Arial" pitchFamily="34" charset="0"/>
              </a:defRPr>
            </a:lvl9pPr>
          </a:lstStyle>
          <a:p>
            <a:pPr>
              <a:lnSpc>
                <a:spcPct val="100000"/>
              </a:lnSpc>
              <a:spcBef>
                <a:spcPct val="20000"/>
              </a:spcBef>
            </a:pPr>
            <a:r>
              <a:rPr lang="en-US" sz="2000" b="1" i="1" dirty="0">
                <a:solidFill>
                  <a:srgbClr val="990033"/>
                </a:solidFill>
                <a:latin typeface="Century Gothic"/>
                <a:cs typeface="Century Gothic"/>
              </a:rPr>
              <a:t>Surpluses</a:t>
            </a:r>
            <a:r>
              <a:rPr lang="en-US" sz="2000" i="1" dirty="0">
                <a:solidFill>
                  <a:schemeClr val="tx1">
                    <a:lumMod val="75000"/>
                    <a:lumOff val="25000"/>
                  </a:schemeClr>
                </a:solidFill>
                <a:latin typeface="Century Gothic"/>
                <a:cs typeface="Century Gothic"/>
              </a:rPr>
              <a:t> do not last: sellers will reduce price so they can move goods off the shelves.</a:t>
            </a:r>
          </a:p>
        </p:txBody>
      </p:sp>
    </p:spTree>
    <p:extLst>
      <p:ext uri="{BB962C8B-B14F-4D97-AF65-F5344CB8AC3E}">
        <p14:creationId xmlns:p14="http://schemas.microsoft.com/office/powerpoint/2010/main" val="888180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83802"/>
                                        </p:tgtEl>
                                        <p:attrNameLst>
                                          <p:attrName>style.visibility</p:attrName>
                                        </p:attrNameLst>
                                      </p:cBhvr>
                                      <p:to>
                                        <p:strVal val="visible"/>
                                      </p:to>
                                    </p:set>
                                    <p:animEffect transition="in" filter="fade">
                                      <p:cBhvr>
                                        <p:cTn id="7" dur="500"/>
                                        <p:tgtEl>
                                          <p:spTgt spid="5838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83793"/>
                                        </p:tgtEl>
                                        <p:attrNameLst>
                                          <p:attrName>style.visibility</p:attrName>
                                        </p:attrNameLst>
                                      </p:cBhvr>
                                      <p:to>
                                        <p:strVal val="visible"/>
                                      </p:to>
                                    </p:set>
                                    <p:animEffect transition="in" filter="fade">
                                      <p:cBhvr>
                                        <p:cTn id="10" dur="500"/>
                                        <p:tgtEl>
                                          <p:spTgt spid="583793"/>
                                        </p:tgtEl>
                                      </p:cBhvr>
                                    </p:animEffect>
                                  </p:childTnLst>
                                </p:cTn>
                              </p:par>
                              <p:par>
                                <p:cTn id="11" presetID="10" presetClass="entr" presetSubtype="0" fill="hold" nodeType="withEffect">
                                  <p:stCondLst>
                                    <p:cond delay="0"/>
                                  </p:stCondLst>
                                  <p:childTnLst>
                                    <p:set>
                                      <p:cBhvr>
                                        <p:cTn id="12" dur="1" fill="hold">
                                          <p:stCondLst>
                                            <p:cond delay="0"/>
                                          </p:stCondLst>
                                        </p:cTn>
                                        <p:tgtEl>
                                          <p:spTgt spid="583804"/>
                                        </p:tgtEl>
                                        <p:attrNameLst>
                                          <p:attrName>style.visibility</p:attrName>
                                        </p:attrNameLst>
                                      </p:cBhvr>
                                      <p:to>
                                        <p:strVal val="visible"/>
                                      </p:to>
                                    </p:set>
                                    <p:animEffect transition="in" filter="fade">
                                      <p:cBhvr>
                                        <p:cTn id="13" dur="500"/>
                                        <p:tgtEl>
                                          <p:spTgt spid="58380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83773"/>
                                        </p:tgtEl>
                                        <p:attrNameLst>
                                          <p:attrName>style.visibility</p:attrName>
                                        </p:attrNameLst>
                                      </p:cBhvr>
                                      <p:to>
                                        <p:strVal val="visible"/>
                                      </p:to>
                                    </p:set>
                                    <p:animEffect transition="in" filter="fade">
                                      <p:cBhvr>
                                        <p:cTn id="16" dur="500"/>
                                        <p:tgtEl>
                                          <p:spTgt spid="58377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83796"/>
                                        </p:tgtEl>
                                        <p:attrNameLst>
                                          <p:attrName>style.visibility</p:attrName>
                                        </p:attrNameLst>
                                      </p:cBhvr>
                                      <p:to>
                                        <p:strVal val="visible"/>
                                      </p:to>
                                    </p:set>
                                    <p:animEffect transition="in" filter="fade">
                                      <p:cBhvr>
                                        <p:cTn id="19" dur="500"/>
                                        <p:tgtEl>
                                          <p:spTgt spid="58379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83785"/>
                                        </p:tgtEl>
                                        <p:attrNameLst>
                                          <p:attrName>style.visibility</p:attrName>
                                        </p:attrNameLst>
                                      </p:cBhvr>
                                      <p:to>
                                        <p:strVal val="visible"/>
                                      </p:to>
                                    </p:set>
                                    <p:animEffect transition="in" filter="fade">
                                      <p:cBhvr>
                                        <p:cTn id="22" dur="500"/>
                                        <p:tgtEl>
                                          <p:spTgt spid="58378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8"/>
                                        </p:tgtEl>
                                        <p:attrNameLst>
                                          <p:attrName>style.visibility</p:attrName>
                                        </p:attrNameLst>
                                      </p:cBhvr>
                                      <p:to>
                                        <p:strVal val="visible"/>
                                      </p:to>
                                    </p:set>
                                    <p:animEffect transition="in" filter="fade">
                                      <p:cBhvr>
                                        <p:cTn id="27" dur="500"/>
                                        <p:tgtEl>
                                          <p:spTgt spid="68"/>
                                        </p:tgtEl>
                                      </p:cBhvr>
                                    </p:animEffect>
                                  </p:childTnLst>
                                </p:cTn>
                              </p:par>
                              <p:par>
                                <p:cTn id="28" presetID="10" presetClass="entr" presetSubtype="0" fill="hold" nodeType="withEffect">
                                  <p:stCondLst>
                                    <p:cond delay="0"/>
                                  </p:stCondLst>
                                  <p:childTnLst>
                                    <p:set>
                                      <p:cBhvr>
                                        <p:cTn id="29" dur="1" fill="hold">
                                          <p:stCondLst>
                                            <p:cond delay="0"/>
                                          </p:stCondLst>
                                        </p:cTn>
                                        <p:tgtEl>
                                          <p:spTgt spid="583803"/>
                                        </p:tgtEl>
                                        <p:attrNameLst>
                                          <p:attrName>style.visibility</p:attrName>
                                        </p:attrNameLst>
                                      </p:cBhvr>
                                      <p:to>
                                        <p:strVal val="visible"/>
                                      </p:to>
                                    </p:set>
                                    <p:animEffect transition="in" filter="fade">
                                      <p:cBhvr>
                                        <p:cTn id="30" dur="500"/>
                                        <p:tgtEl>
                                          <p:spTgt spid="58380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583794"/>
                                        </p:tgtEl>
                                        <p:attrNameLst>
                                          <p:attrName>style.visibility</p:attrName>
                                        </p:attrNameLst>
                                      </p:cBhvr>
                                      <p:to>
                                        <p:strVal val="visible"/>
                                      </p:to>
                                    </p:set>
                                    <p:animEffect transition="in" filter="fade">
                                      <p:cBhvr>
                                        <p:cTn id="33" dur="500"/>
                                        <p:tgtEl>
                                          <p:spTgt spid="58379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83772"/>
                                        </p:tgtEl>
                                        <p:attrNameLst>
                                          <p:attrName>style.visibility</p:attrName>
                                        </p:attrNameLst>
                                      </p:cBhvr>
                                      <p:to>
                                        <p:strVal val="visible"/>
                                      </p:to>
                                    </p:set>
                                    <p:animEffect transition="in" filter="fade">
                                      <p:cBhvr>
                                        <p:cTn id="36" dur="500"/>
                                        <p:tgtEl>
                                          <p:spTgt spid="58377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583797"/>
                                        </p:tgtEl>
                                        <p:attrNameLst>
                                          <p:attrName>style.visibility</p:attrName>
                                        </p:attrNameLst>
                                      </p:cBhvr>
                                      <p:to>
                                        <p:strVal val="visible"/>
                                      </p:to>
                                    </p:set>
                                    <p:animEffect transition="in" filter="fade">
                                      <p:cBhvr>
                                        <p:cTn id="39" dur="500"/>
                                        <p:tgtEl>
                                          <p:spTgt spid="58379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583778"/>
                                        </p:tgtEl>
                                        <p:attrNameLst>
                                          <p:attrName>style.visibility</p:attrName>
                                        </p:attrNameLst>
                                      </p:cBhvr>
                                      <p:to>
                                        <p:strVal val="visible"/>
                                      </p:to>
                                    </p:set>
                                    <p:animEffect transition="in" filter="fade">
                                      <p:cBhvr>
                                        <p:cTn id="42" dur="500"/>
                                        <p:tgtEl>
                                          <p:spTgt spid="58377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83792"/>
                                        </p:tgtEl>
                                        <p:attrNameLst>
                                          <p:attrName>style.visibility</p:attrName>
                                        </p:attrNameLst>
                                      </p:cBhvr>
                                      <p:to>
                                        <p:strVal val="visible"/>
                                      </p:to>
                                    </p:set>
                                    <p:animEffect transition="in" filter="fade">
                                      <p:cBhvr>
                                        <p:cTn id="47" dur="500"/>
                                        <p:tgtEl>
                                          <p:spTgt spid="583792"/>
                                        </p:tgtEl>
                                      </p:cBhvr>
                                    </p:animEffect>
                                  </p:childTnLst>
                                </p:cTn>
                              </p:par>
                            </p:childTnLst>
                          </p:cTn>
                        </p:par>
                        <p:par>
                          <p:cTn id="48" fill="hold">
                            <p:stCondLst>
                              <p:cond delay="500"/>
                            </p:stCondLst>
                            <p:childTnLst>
                              <p:par>
                                <p:cTn id="49" presetID="10" presetClass="entr" presetSubtype="0" fill="hold" grpId="0" nodeType="afterEffect">
                                  <p:stCondLst>
                                    <p:cond delay="0"/>
                                  </p:stCondLst>
                                  <p:childTnLst>
                                    <p:set>
                                      <p:cBhvr>
                                        <p:cTn id="50" dur="1" fill="hold">
                                          <p:stCondLst>
                                            <p:cond delay="0"/>
                                          </p:stCondLst>
                                        </p:cTn>
                                        <p:tgtEl>
                                          <p:spTgt spid="583774"/>
                                        </p:tgtEl>
                                        <p:attrNameLst>
                                          <p:attrName>style.visibility</p:attrName>
                                        </p:attrNameLst>
                                      </p:cBhvr>
                                      <p:to>
                                        <p:strVal val="visible"/>
                                      </p:to>
                                    </p:set>
                                    <p:animEffect transition="in" filter="fade">
                                      <p:cBhvr>
                                        <p:cTn id="51" dur="500"/>
                                        <p:tgtEl>
                                          <p:spTgt spid="58377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583795"/>
                                        </p:tgtEl>
                                        <p:attrNameLst>
                                          <p:attrName>style.visibility</p:attrName>
                                        </p:attrNameLst>
                                      </p:cBhvr>
                                      <p:to>
                                        <p:strVal val="visible"/>
                                      </p:to>
                                    </p:set>
                                    <p:animEffect transition="in" filter="fade">
                                      <p:cBhvr>
                                        <p:cTn id="54" dur="500"/>
                                        <p:tgtEl>
                                          <p:spTgt spid="583795"/>
                                        </p:tgtEl>
                                      </p:cBhvr>
                                    </p:animEffect>
                                  </p:childTnLst>
                                </p:cTn>
                              </p:par>
                            </p:childTnLst>
                          </p:cTn>
                        </p:par>
                        <p:par>
                          <p:cTn id="55" fill="hold">
                            <p:stCondLst>
                              <p:cond delay="1000"/>
                            </p:stCondLst>
                            <p:childTnLst>
                              <p:par>
                                <p:cTn id="56" presetID="10" presetClass="entr" presetSubtype="0" fill="hold" grpId="0" nodeType="afterEffect">
                                  <p:stCondLst>
                                    <p:cond delay="0"/>
                                  </p:stCondLst>
                                  <p:childTnLst>
                                    <p:set>
                                      <p:cBhvr>
                                        <p:cTn id="57" dur="1" fill="hold">
                                          <p:stCondLst>
                                            <p:cond delay="0"/>
                                          </p:stCondLst>
                                        </p:cTn>
                                        <p:tgtEl>
                                          <p:spTgt spid="583694"/>
                                        </p:tgtEl>
                                        <p:attrNameLst>
                                          <p:attrName>style.visibility</p:attrName>
                                        </p:attrNameLst>
                                      </p:cBhvr>
                                      <p:to>
                                        <p:strVal val="visible"/>
                                      </p:to>
                                    </p:set>
                                    <p:animEffect transition="in" filter="fade">
                                      <p:cBhvr>
                                        <p:cTn id="58" dur="500"/>
                                        <p:tgtEl>
                                          <p:spTgt spid="583694"/>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69"/>
                                        </p:tgtEl>
                                        <p:attrNameLst>
                                          <p:attrName>style.visibility</p:attrName>
                                        </p:attrNameLst>
                                      </p:cBhvr>
                                      <p:to>
                                        <p:strVal val="visible"/>
                                      </p:to>
                                    </p:set>
                                    <p:animEffect transition="in" filter="fade">
                                      <p:cBhvr>
                                        <p:cTn id="63" dur="500"/>
                                        <p:tgtEl>
                                          <p:spTgt spid="69"/>
                                        </p:tgtEl>
                                      </p:cBhvr>
                                    </p:animEffect>
                                  </p:childTnLst>
                                </p:cTn>
                              </p:par>
                              <p:par>
                                <p:cTn id="64" presetID="10" presetClass="exit" presetSubtype="0" fill="hold" grpId="1" nodeType="withEffect">
                                  <p:stCondLst>
                                    <p:cond delay="0"/>
                                  </p:stCondLst>
                                  <p:childTnLst>
                                    <p:animEffect transition="out" filter="fade">
                                      <p:cBhvr>
                                        <p:cTn id="65" dur="500"/>
                                        <p:tgtEl>
                                          <p:spTgt spid="583694"/>
                                        </p:tgtEl>
                                      </p:cBhvr>
                                    </p:animEffect>
                                    <p:set>
                                      <p:cBhvr>
                                        <p:cTn id="66" dur="1" fill="hold">
                                          <p:stCondLst>
                                            <p:cond delay="499"/>
                                          </p:stCondLst>
                                        </p:cTn>
                                        <p:tgtEl>
                                          <p:spTgt spid="583694"/>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42" presetClass="path" presetSubtype="0" accel="50000" decel="50000" fill="hold" nodeType="clickEffect">
                                  <p:stCondLst>
                                    <p:cond delay="0"/>
                                  </p:stCondLst>
                                  <p:childTnLst>
                                    <p:animMotion origin="layout" path="M -3.88889E-6 -3.7037E-7 L 0.00174 0.1338 " pathEditMode="relative" rAng="0" ptsTypes="AA">
                                      <p:cBhvr>
                                        <p:cTn id="70" dur="2000" fill="hold"/>
                                        <p:tgtEl>
                                          <p:spTgt spid="583802"/>
                                        </p:tgtEl>
                                        <p:attrNameLst>
                                          <p:attrName>ppt_x</p:attrName>
                                          <p:attrName>ppt_y</p:attrName>
                                        </p:attrNameLst>
                                      </p:cBhvr>
                                      <p:rCtr x="87" y="6690"/>
                                    </p:animMotion>
                                  </p:childTnLst>
                                </p:cTn>
                              </p:par>
                              <p:par>
                                <p:cTn id="71" presetID="42" presetClass="path" presetSubtype="0" accel="50000" decel="50000" fill="hold" nodeType="withEffect">
                                  <p:stCondLst>
                                    <p:cond delay="0"/>
                                  </p:stCondLst>
                                  <p:childTnLst>
                                    <p:animMotion origin="layout" path="M 2.77778E-6 -4.81481E-6 L 0.00173 0.13311 " pathEditMode="relative" rAng="0" ptsTypes="AA">
                                      <p:cBhvr>
                                        <p:cTn id="72" dur="2000" fill="hold"/>
                                        <p:tgtEl>
                                          <p:spTgt spid="68"/>
                                        </p:tgtEl>
                                        <p:attrNameLst>
                                          <p:attrName>ppt_x</p:attrName>
                                          <p:attrName>ppt_y</p:attrName>
                                        </p:attrNameLst>
                                      </p:cBhvr>
                                      <p:rCtr x="87" y="6644"/>
                                    </p:animMotion>
                                  </p:childTnLst>
                                </p:cTn>
                              </p:par>
                              <p:par>
                                <p:cTn id="73" presetID="10" presetClass="exit" presetSubtype="0" fill="hold" nodeType="withEffect">
                                  <p:stCondLst>
                                    <p:cond delay="0"/>
                                  </p:stCondLst>
                                  <p:childTnLst>
                                    <p:animEffect transition="out" filter="fade">
                                      <p:cBhvr>
                                        <p:cTn id="74" dur="3000"/>
                                        <p:tgtEl>
                                          <p:spTgt spid="68"/>
                                        </p:tgtEl>
                                      </p:cBhvr>
                                    </p:animEffect>
                                    <p:set>
                                      <p:cBhvr>
                                        <p:cTn id="75" dur="1" fill="hold">
                                          <p:stCondLst>
                                            <p:cond delay="2999"/>
                                          </p:stCondLst>
                                        </p:cTn>
                                        <p:tgtEl>
                                          <p:spTgt spid="68"/>
                                        </p:tgtEl>
                                        <p:attrNameLst>
                                          <p:attrName>style.visibility</p:attrName>
                                        </p:attrNameLst>
                                      </p:cBhvr>
                                      <p:to>
                                        <p:strVal val="hidden"/>
                                      </p:to>
                                    </p:set>
                                  </p:childTnLst>
                                </p:cTn>
                              </p:par>
                              <p:par>
                                <p:cTn id="76" presetID="10" presetClass="exit" presetSubtype="0" fill="hold" nodeType="withEffect">
                                  <p:stCondLst>
                                    <p:cond delay="0"/>
                                  </p:stCondLst>
                                  <p:childTnLst>
                                    <p:animEffect transition="out" filter="fade">
                                      <p:cBhvr>
                                        <p:cTn id="77" dur="3000"/>
                                        <p:tgtEl>
                                          <p:spTgt spid="583802"/>
                                        </p:tgtEl>
                                      </p:cBhvr>
                                    </p:animEffect>
                                    <p:set>
                                      <p:cBhvr>
                                        <p:cTn id="78" dur="1" fill="hold">
                                          <p:stCondLst>
                                            <p:cond delay="2999"/>
                                          </p:stCondLst>
                                        </p:cTn>
                                        <p:tgtEl>
                                          <p:spTgt spid="583802"/>
                                        </p:tgtEl>
                                        <p:attrNameLst>
                                          <p:attrName>style.visibility</p:attrName>
                                        </p:attrNameLst>
                                      </p:cBhvr>
                                      <p:to>
                                        <p:strVal val="hidden"/>
                                      </p:to>
                                    </p:set>
                                  </p:childTnLst>
                                </p:cTn>
                              </p:par>
                              <p:par>
                                <p:cTn id="79" presetID="10" presetClass="exit" presetSubtype="0" fill="hold" nodeType="withEffect">
                                  <p:stCondLst>
                                    <p:cond delay="0"/>
                                  </p:stCondLst>
                                  <p:childTnLst>
                                    <p:animEffect transition="out" filter="fade">
                                      <p:cBhvr>
                                        <p:cTn id="80" dur="500"/>
                                        <p:tgtEl>
                                          <p:spTgt spid="583804"/>
                                        </p:tgtEl>
                                      </p:cBhvr>
                                    </p:animEffect>
                                    <p:set>
                                      <p:cBhvr>
                                        <p:cTn id="81" dur="1" fill="hold">
                                          <p:stCondLst>
                                            <p:cond delay="499"/>
                                          </p:stCondLst>
                                        </p:cTn>
                                        <p:tgtEl>
                                          <p:spTgt spid="583804"/>
                                        </p:tgtEl>
                                        <p:attrNameLst>
                                          <p:attrName>style.visibility</p:attrName>
                                        </p:attrNameLst>
                                      </p:cBhvr>
                                      <p:to>
                                        <p:strVal val="hidden"/>
                                      </p:to>
                                    </p:set>
                                  </p:childTnLst>
                                </p:cTn>
                              </p:par>
                              <p:par>
                                <p:cTn id="82" presetID="10" presetClass="exit" presetSubtype="0" fill="hold" grpId="1" nodeType="withEffect">
                                  <p:stCondLst>
                                    <p:cond delay="0"/>
                                  </p:stCondLst>
                                  <p:childTnLst>
                                    <p:animEffect transition="out" filter="fade">
                                      <p:cBhvr>
                                        <p:cTn id="83" dur="500"/>
                                        <p:tgtEl>
                                          <p:spTgt spid="583773"/>
                                        </p:tgtEl>
                                      </p:cBhvr>
                                    </p:animEffect>
                                    <p:set>
                                      <p:cBhvr>
                                        <p:cTn id="84" dur="1" fill="hold">
                                          <p:stCondLst>
                                            <p:cond delay="499"/>
                                          </p:stCondLst>
                                        </p:cTn>
                                        <p:tgtEl>
                                          <p:spTgt spid="583773"/>
                                        </p:tgtEl>
                                        <p:attrNameLst>
                                          <p:attrName>style.visibility</p:attrName>
                                        </p:attrNameLst>
                                      </p:cBhvr>
                                      <p:to>
                                        <p:strVal val="hidden"/>
                                      </p:to>
                                    </p:set>
                                  </p:childTnLst>
                                </p:cTn>
                              </p:par>
                              <p:par>
                                <p:cTn id="85" presetID="10" presetClass="exit" presetSubtype="0" fill="hold" grpId="1" nodeType="withEffect">
                                  <p:stCondLst>
                                    <p:cond delay="0"/>
                                  </p:stCondLst>
                                  <p:childTnLst>
                                    <p:animEffect transition="out" filter="fade">
                                      <p:cBhvr>
                                        <p:cTn id="86" dur="500"/>
                                        <p:tgtEl>
                                          <p:spTgt spid="583796"/>
                                        </p:tgtEl>
                                      </p:cBhvr>
                                    </p:animEffect>
                                    <p:set>
                                      <p:cBhvr>
                                        <p:cTn id="87" dur="1" fill="hold">
                                          <p:stCondLst>
                                            <p:cond delay="499"/>
                                          </p:stCondLst>
                                        </p:cTn>
                                        <p:tgtEl>
                                          <p:spTgt spid="583796"/>
                                        </p:tgtEl>
                                        <p:attrNameLst>
                                          <p:attrName>style.visibility</p:attrName>
                                        </p:attrNameLst>
                                      </p:cBhvr>
                                      <p:to>
                                        <p:strVal val="hidden"/>
                                      </p:to>
                                    </p:set>
                                  </p:childTnLst>
                                </p:cTn>
                              </p:par>
                              <p:par>
                                <p:cTn id="88" presetID="10" presetClass="exit" presetSubtype="0" fill="hold" grpId="1" nodeType="withEffect">
                                  <p:stCondLst>
                                    <p:cond delay="0"/>
                                  </p:stCondLst>
                                  <p:childTnLst>
                                    <p:animEffect transition="out" filter="fade">
                                      <p:cBhvr>
                                        <p:cTn id="89" dur="500"/>
                                        <p:tgtEl>
                                          <p:spTgt spid="583785"/>
                                        </p:tgtEl>
                                      </p:cBhvr>
                                    </p:animEffect>
                                    <p:set>
                                      <p:cBhvr>
                                        <p:cTn id="90" dur="1" fill="hold">
                                          <p:stCondLst>
                                            <p:cond delay="499"/>
                                          </p:stCondLst>
                                        </p:cTn>
                                        <p:tgtEl>
                                          <p:spTgt spid="583785"/>
                                        </p:tgtEl>
                                        <p:attrNameLst>
                                          <p:attrName>style.visibility</p:attrName>
                                        </p:attrNameLst>
                                      </p:cBhvr>
                                      <p:to>
                                        <p:strVal val="hidden"/>
                                      </p:to>
                                    </p:set>
                                  </p:childTnLst>
                                </p:cTn>
                              </p:par>
                              <p:par>
                                <p:cTn id="91" presetID="10" presetClass="exit" presetSubtype="0" fill="hold" nodeType="withEffect">
                                  <p:stCondLst>
                                    <p:cond delay="0"/>
                                  </p:stCondLst>
                                  <p:childTnLst>
                                    <p:animEffect transition="out" filter="fade">
                                      <p:cBhvr>
                                        <p:cTn id="92" dur="500"/>
                                        <p:tgtEl>
                                          <p:spTgt spid="583803"/>
                                        </p:tgtEl>
                                      </p:cBhvr>
                                    </p:animEffect>
                                    <p:set>
                                      <p:cBhvr>
                                        <p:cTn id="93" dur="1" fill="hold">
                                          <p:stCondLst>
                                            <p:cond delay="499"/>
                                          </p:stCondLst>
                                        </p:cTn>
                                        <p:tgtEl>
                                          <p:spTgt spid="583803"/>
                                        </p:tgtEl>
                                        <p:attrNameLst>
                                          <p:attrName>style.visibility</p:attrName>
                                        </p:attrNameLst>
                                      </p:cBhvr>
                                      <p:to>
                                        <p:strVal val="hidden"/>
                                      </p:to>
                                    </p:set>
                                  </p:childTnLst>
                                </p:cTn>
                              </p:par>
                              <p:par>
                                <p:cTn id="94" presetID="10" presetClass="exit" presetSubtype="0" fill="hold" grpId="1" nodeType="withEffect">
                                  <p:stCondLst>
                                    <p:cond delay="0"/>
                                  </p:stCondLst>
                                  <p:childTnLst>
                                    <p:animEffect transition="out" filter="fade">
                                      <p:cBhvr>
                                        <p:cTn id="95" dur="500"/>
                                        <p:tgtEl>
                                          <p:spTgt spid="583772"/>
                                        </p:tgtEl>
                                      </p:cBhvr>
                                    </p:animEffect>
                                    <p:set>
                                      <p:cBhvr>
                                        <p:cTn id="96" dur="1" fill="hold">
                                          <p:stCondLst>
                                            <p:cond delay="499"/>
                                          </p:stCondLst>
                                        </p:cTn>
                                        <p:tgtEl>
                                          <p:spTgt spid="583772"/>
                                        </p:tgtEl>
                                        <p:attrNameLst>
                                          <p:attrName>style.visibility</p:attrName>
                                        </p:attrNameLst>
                                      </p:cBhvr>
                                      <p:to>
                                        <p:strVal val="hidden"/>
                                      </p:to>
                                    </p:set>
                                  </p:childTnLst>
                                </p:cTn>
                              </p:par>
                              <p:par>
                                <p:cTn id="97" presetID="10" presetClass="exit" presetSubtype="0" fill="hold" grpId="1" nodeType="withEffect">
                                  <p:stCondLst>
                                    <p:cond delay="0"/>
                                  </p:stCondLst>
                                  <p:childTnLst>
                                    <p:animEffect transition="out" filter="fade">
                                      <p:cBhvr>
                                        <p:cTn id="98" dur="500"/>
                                        <p:tgtEl>
                                          <p:spTgt spid="583797"/>
                                        </p:tgtEl>
                                      </p:cBhvr>
                                    </p:animEffect>
                                    <p:set>
                                      <p:cBhvr>
                                        <p:cTn id="99" dur="1" fill="hold">
                                          <p:stCondLst>
                                            <p:cond delay="499"/>
                                          </p:stCondLst>
                                        </p:cTn>
                                        <p:tgtEl>
                                          <p:spTgt spid="583797"/>
                                        </p:tgtEl>
                                        <p:attrNameLst>
                                          <p:attrName>style.visibility</p:attrName>
                                        </p:attrNameLst>
                                      </p:cBhvr>
                                      <p:to>
                                        <p:strVal val="hidden"/>
                                      </p:to>
                                    </p:set>
                                  </p:childTnLst>
                                </p:cTn>
                              </p:par>
                              <p:par>
                                <p:cTn id="100" presetID="10" presetClass="exit" presetSubtype="0" fill="hold" grpId="1" nodeType="withEffect">
                                  <p:stCondLst>
                                    <p:cond delay="0"/>
                                  </p:stCondLst>
                                  <p:childTnLst>
                                    <p:animEffect transition="out" filter="fade">
                                      <p:cBhvr>
                                        <p:cTn id="101" dur="500"/>
                                        <p:tgtEl>
                                          <p:spTgt spid="583778"/>
                                        </p:tgtEl>
                                      </p:cBhvr>
                                    </p:animEffect>
                                    <p:set>
                                      <p:cBhvr>
                                        <p:cTn id="102" dur="1" fill="hold">
                                          <p:stCondLst>
                                            <p:cond delay="499"/>
                                          </p:stCondLst>
                                        </p:cTn>
                                        <p:tgtEl>
                                          <p:spTgt spid="583778"/>
                                        </p:tgtEl>
                                        <p:attrNameLst>
                                          <p:attrName>style.visibility</p:attrName>
                                        </p:attrNameLst>
                                      </p:cBhvr>
                                      <p:to>
                                        <p:strVal val="hidden"/>
                                      </p:to>
                                    </p:set>
                                  </p:childTnLst>
                                </p:cTn>
                              </p:par>
                              <p:par>
                                <p:cTn id="103" presetID="10" presetClass="exit" presetSubtype="0" fill="hold" grpId="1" nodeType="withEffect">
                                  <p:stCondLst>
                                    <p:cond delay="0"/>
                                  </p:stCondLst>
                                  <p:childTnLst>
                                    <p:animEffect transition="out" filter="fade">
                                      <p:cBhvr>
                                        <p:cTn id="104" dur="500"/>
                                        <p:tgtEl>
                                          <p:spTgt spid="583792"/>
                                        </p:tgtEl>
                                      </p:cBhvr>
                                    </p:animEffect>
                                    <p:set>
                                      <p:cBhvr>
                                        <p:cTn id="105" dur="1" fill="hold">
                                          <p:stCondLst>
                                            <p:cond delay="499"/>
                                          </p:stCondLst>
                                        </p:cTn>
                                        <p:tgtEl>
                                          <p:spTgt spid="583792"/>
                                        </p:tgtEl>
                                        <p:attrNameLst>
                                          <p:attrName>style.visibility</p:attrName>
                                        </p:attrNameLst>
                                      </p:cBhvr>
                                      <p:to>
                                        <p:strVal val="hidden"/>
                                      </p:to>
                                    </p:set>
                                  </p:childTnLst>
                                </p:cTn>
                              </p:par>
                              <p:par>
                                <p:cTn id="106" presetID="10" presetClass="exit" presetSubtype="0" fill="hold" grpId="1" nodeType="withEffect">
                                  <p:stCondLst>
                                    <p:cond delay="0"/>
                                  </p:stCondLst>
                                  <p:childTnLst>
                                    <p:animEffect transition="out" filter="fade">
                                      <p:cBhvr>
                                        <p:cTn id="107" dur="500"/>
                                        <p:tgtEl>
                                          <p:spTgt spid="583774"/>
                                        </p:tgtEl>
                                      </p:cBhvr>
                                    </p:animEffect>
                                    <p:set>
                                      <p:cBhvr>
                                        <p:cTn id="108" dur="1" fill="hold">
                                          <p:stCondLst>
                                            <p:cond delay="499"/>
                                          </p:stCondLst>
                                        </p:cTn>
                                        <p:tgtEl>
                                          <p:spTgt spid="583774"/>
                                        </p:tgtEl>
                                        <p:attrNameLst>
                                          <p:attrName>style.visibility</p:attrName>
                                        </p:attrNameLst>
                                      </p:cBhvr>
                                      <p:to>
                                        <p:strVal val="hidden"/>
                                      </p:to>
                                    </p:set>
                                  </p:childTnLst>
                                </p:cTn>
                              </p:par>
                              <p:par>
                                <p:cTn id="109" presetID="10" presetClass="exit" presetSubtype="0" fill="hold" grpId="1" nodeType="withEffect">
                                  <p:stCondLst>
                                    <p:cond delay="0"/>
                                  </p:stCondLst>
                                  <p:childTnLst>
                                    <p:animEffect transition="out" filter="fade">
                                      <p:cBhvr>
                                        <p:cTn id="110" dur="500"/>
                                        <p:tgtEl>
                                          <p:spTgt spid="583793"/>
                                        </p:tgtEl>
                                      </p:cBhvr>
                                    </p:animEffect>
                                    <p:set>
                                      <p:cBhvr>
                                        <p:cTn id="111" dur="1" fill="hold">
                                          <p:stCondLst>
                                            <p:cond delay="499"/>
                                          </p:stCondLst>
                                        </p:cTn>
                                        <p:tgtEl>
                                          <p:spTgt spid="583793"/>
                                        </p:tgtEl>
                                        <p:attrNameLst>
                                          <p:attrName>style.visibility</p:attrName>
                                        </p:attrNameLst>
                                      </p:cBhvr>
                                      <p:to>
                                        <p:strVal val="hidden"/>
                                      </p:to>
                                    </p:set>
                                  </p:childTnLst>
                                </p:cTn>
                              </p:par>
                              <p:par>
                                <p:cTn id="112" presetID="10" presetClass="exit" presetSubtype="0" fill="hold" grpId="1" nodeType="withEffect">
                                  <p:stCondLst>
                                    <p:cond delay="0"/>
                                  </p:stCondLst>
                                  <p:childTnLst>
                                    <p:animEffect transition="out" filter="fade">
                                      <p:cBhvr>
                                        <p:cTn id="113" dur="500"/>
                                        <p:tgtEl>
                                          <p:spTgt spid="583794"/>
                                        </p:tgtEl>
                                      </p:cBhvr>
                                    </p:animEffect>
                                    <p:set>
                                      <p:cBhvr>
                                        <p:cTn id="114" dur="1" fill="hold">
                                          <p:stCondLst>
                                            <p:cond delay="499"/>
                                          </p:stCondLst>
                                        </p:cTn>
                                        <p:tgtEl>
                                          <p:spTgt spid="583794"/>
                                        </p:tgtEl>
                                        <p:attrNameLst>
                                          <p:attrName>style.visibility</p:attrName>
                                        </p:attrNameLst>
                                      </p:cBhvr>
                                      <p:to>
                                        <p:strVal val="hidden"/>
                                      </p:to>
                                    </p:set>
                                  </p:childTnLst>
                                </p:cTn>
                              </p:par>
                              <p:par>
                                <p:cTn id="115" presetID="10" presetClass="exit" presetSubtype="0" fill="hold" grpId="1" nodeType="withEffect">
                                  <p:stCondLst>
                                    <p:cond delay="0"/>
                                  </p:stCondLst>
                                  <p:childTnLst>
                                    <p:animEffect transition="out" filter="fade">
                                      <p:cBhvr>
                                        <p:cTn id="116" dur="500"/>
                                        <p:tgtEl>
                                          <p:spTgt spid="583795"/>
                                        </p:tgtEl>
                                      </p:cBhvr>
                                    </p:animEffect>
                                    <p:set>
                                      <p:cBhvr>
                                        <p:cTn id="117" dur="1" fill="hold">
                                          <p:stCondLst>
                                            <p:cond delay="499"/>
                                          </p:stCondLst>
                                        </p:cTn>
                                        <p:tgtEl>
                                          <p:spTgt spid="58379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694" grpId="0"/>
      <p:bldP spid="583694" grpId="1"/>
      <p:bldP spid="583772" grpId="0" animBg="1"/>
      <p:bldP spid="583772" grpId="1" animBg="1"/>
      <p:bldP spid="583773" grpId="0" animBg="1"/>
      <p:bldP spid="583773" grpId="1" animBg="1"/>
      <p:bldP spid="583774" grpId="0" animBg="1"/>
      <p:bldP spid="583774" grpId="1" animBg="1"/>
      <p:bldP spid="583778" grpId="0" animBg="1"/>
      <p:bldP spid="583778" grpId="1" animBg="1"/>
      <p:bldP spid="583785" grpId="0" animBg="1"/>
      <p:bldP spid="583785" grpId="1" animBg="1"/>
      <p:bldP spid="583792" grpId="0" animBg="1"/>
      <p:bldP spid="583792" grpId="1" animBg="1"/>
      <p:bldP spid="583793" grpId="0" animBg="1"/>
      <p:bldP spid="583793" grpId="1" animBg="1"/>
      <p:bldP spid="583794" grpId="0" animBg="1"/>
      <p:bldP spid="583794" grpId="1" animBg="1"/>
      <p:bldP spid="583795" grpId="0"/>
      <p:bldP spid="583795" grpId="1"/>
      <p:bldP spid="583796" grpId="0"/>
      <p:bldP spid="583796" grpId="1"/>
      <p:bldP spid="583797" grpId="0"/>
      <p:bldP spid="583797" grpId="1"/>
      <p:bldP spid="6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835" name="Freeform 107"/>
          <p:cNvSpPr>
            <a:spLocks/>
          </p:cNvSpPr>
          <p:nvPr/>
        </p:nvSpPr>
        <p:spPr bwMode="auto">
          <a:xfrm>
            <a:off x="3703638" y="4387850"/>
            <a:ext cx="1033462" cy="133350"/>
          </a:xfrm>
          <a:custGeom>
            <a:avLst/>
            <a:gdLst>
              <a:gd name="T0" fmla="*/ 0 w 178"/>
              <a:gd name="T1" fmla="*/ 0 h 25"/>
              <a:gd name="T2" fmla="*/ 16 w 178"/>
              <a:gd name="T3" fmla="*/ 15 h 25"/>
              <a:gd name="T4" fmla="*/ 81 w 178"/>
              <a:gd name="T5" fmla="*/ 15 h 25"/>
              <a:gd name="T6" fmla="*/ 91 w 178"/>
              <a:gd name="T7" fmla="*/ 25 h 25"/>
              <a:gd name="T8" fmla="*/ 102 w 178"/>
              <a:gd name="T9" fmla="*/ 15 h 25"/>
              <a:gd name="T10" fmla="*/ 162 w 178"/>
              <a:gd name="T11" fmla="*/ 15 h 25"/>
              <a:gd name="T12" fmla="*/ 178 w 17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178" h="25">
                <a:moveTo>
                  <a:pt x="0" y="0"/>
                </a:moveTo>
                <a:cubicBezTo>
                  <a:pt x="0" y="10"/>
                  <a:pt x="3" y="15"/>
                  <a:pt x="16" y="15"/>
                </a:cubicBezTo>
                <a:cubicBezTo>
                  <a:pt x="19" y="15"/>
                  <a:pt x="78" y="15"/>
                  <a:pt x="81" y="15"/>
                </a:cubicBezTo>
                <a:cubicBezTo>
                  <a:pt x="84" y="15"/>
                  <a:pt x="91" y="17"/>
                  <a:pt x="91" y="25"/>
                </a:cubicBezTo>
                <a:cubicBezTo>
                  <a:pt x="91" y="17"/>
                  <a:pt x="98" y="15"/>
                  <a:pt x="102" y="15"/>
                </a:cubicBezTo>
                <a:cubicBezTo>
                  <a:pt x="104" y="15"/>
                  <a:pt x="159" y="15"/>
                  <a:pt x="162" y="15"/>
                </a:cubicBezTo>
                <a:cubicBezTo>
                  <a:pt x="175" y="15"/>
                  <a:pt x="178" y="10"/>
                  <a:pt x="178" y="0"/>
                </a:cubicBezTo>
              </a:path>
            </a:pathLst>
          </a:custGeom>
          <a:noFill/>
          <a:ln w="30163" cap="flat">
            <a:solidFill>
              <a:srgbClr val="6D6F7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cxnSp>
        <p:nvCxnSpPr>
          <p:cNvPr id="69" name="Straight Connector 86"/>
          <p:cNvCxnSpPr>
            <a:cxnSpLocks noChangeShapeType="1"/>
          </p:cNvCxnSpPr>
          <p:nvPr/>
        </p:nvCxnSpPr>
        <p:spPr bwMode="auto">
          <a:xfrm flipV="1">
            <a:off x="3711573" y="4341015"/>
            <a:ext cx="1062038" cy="7676"/>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sp>
        <p:nvSpPr>
          <p:cNvPr id="585731" name="Text Box 3"/>
          <p:cNvSpPr txBox="1">
            <a:spLocks noChangeArrowheads="1"/>
          </p:cNvSpPr>
          <p:nvPr/>
        </p:nvSpPr>
        <p:spPr bwMode="auto">
          <a:xfrm>
            <a:off x="457200" y="152400"/>
            <a:ext cx="82296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588" indent="-1588">
              <a:spcBef>
                <a:spcPct val="0"/>
              </a:spcBef>
              <a:defRPr>
                <a:solidFill>
                  <a:schemeClr val="tx1"/>
                </a:solidFill>
                <a:latin typeface="Arial" pitchFamily="34" charset="0"/>
              </a:defRPr>
            </a:lvl1pPr>
            <a:lvl2pPr>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fontAlgn="base">
              <a:spcBef>
                <a:spcPct val="0"/>
              </a:spcBef>
              <a:spcAft>
                <a:spcPct val="0"/>
              </a:spcAft>
              <a:defRPr>
                <a:solidFill>
                  <a:schemeClr val="tx1"/>
                </a:solidFill>
                <a:latin typeface="Arial" pitchFamily="34" charset="0"/>
              </a:defRPr>
            </a:lvl6pPr>
            <a:lvl7pPr fontAlgn="base">
              <a:spcBef>
                <a:spcPct val="0"/>
              </a:spcBef>
              <a:spcAft>
                <a:spcPct val="0"/>
              </a:spcAft>
              <a:defRPr>
                <a:solidFill>
                  <a:schemeClr val="tx1"/>
                </a:solidFill>
                <a:latin typeface="Arial" pitchFamily="34" charset="0"/>
              </a:defRPr>
            </a:lvl7pPr>
            <a:lvl8pPr fontAlgn="base">
              <a:spcBef>
                <a:spcPct val="0"/>
              </a:spcBef>
              <a:spcAft>
                <a:spcPct val="0"/>
              </a:spcAft>
              <a:defRPr>
                <a:solidFill>
                  <a:schemeClr val="tx1"/>
                </a:solidFill>
                <a:latin typeface="Arial" pitchFamily="34" charset="0"/>
              </a:defRPr>
            </a:lvl8pPr>
            <a:lvl9pPr fontAlgn="base">
              <a:spcBef>
                <a:spcPct val="0"/>
              </a:spcBef>
              <a:spcAft>
                <a:spcPct val="0"/>
              </a:spcAft>
              <a:defRPr>
                <a:solidFill>
                  <a:schemeClr val="tx1"/>
                </a:solidFill>
                <a:latin typeface="Arial" pitchFamily="34" charset="0"/>
              </a:defRPr>
            </a:lvl9pPr>
          </a:lstStyle>
          <a:p>
            <a:pPr>
              <a:spcBef>
                <a:spcPct val="50000"/>
              </a:spcBef>
            </a:pPr>
            <a:endParaRPr lang="en-US" sz="3600" b="1">
              <a:solidFill>
                <a:srgbClr val="993366"/>
              </a:solidFill>
              <a:latin typeface="Century Gothic"/>
              <a:cs typeface="Century Gothic"/>
            </a:endParaRPr>
          </a:p>
        </p:txBody>
      </p:sp>
      <p:cxnSp>
        <p:nvCxnSpPr>
          <p:cNvPr id="585847" name="Straight Connector 86"/>
          <p:cNvCxnSpPr>
            <a:cxnSpLocks noChangeShapeType="1"/>
            <a:stCxn id="585775" idx="0"/>
          </p:cNvCxnSpPr>
          <p:nvPr/>
        </p:nvCxnSpPr>
        <p:spPr bwMode="auto">
          <a:xfrm flipV="1">
            <a:off x="1947863" y="4344194"/>
            <a:ext cx="1737360" cy="5556"/>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585845" name="Straight Connector 86"/>
          <p:cNvCxnSpPr>
            <a:cxnSpLocks noChangeShapeType="1"/>
          </p:cNvCxnSpPr>
          <p:nvPr/>
        </p:nvCxnSpPr>
        <p:spPr bwMode="auto">
          <a:xfrm>
            <a:off x="2151063" y="3911600"/>
            <a:ext cx="1882775" cy="7938"/>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585846" name="Straight Connector 86"/>
          <p:cNvCxnSpPr>
            <a:cxnSpLocks noChangeShapeType="1"/>
          </p:cNvCxnSpPr>
          <p:nvPr/>
        </p:nvCxnSpPr>
        <p:spPr bwMode="auto">
          <a:xfrm>
            <a:off x="4100513" y="3919538"/>
            <a:ext cx="0" cy="1109662"/>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sp>
        <p:nvSpPr>
          <p:cNvPr id="585752" name="Line 24"/>
          <p:cNvSpPr>
            <a:spLocks noChangeShapeType="1"/>
          </p:cNvSpPr>
          <p:nvPr/>
        </p:nvSpPr>
        <p:spPr bwMode="auto">
          <a:xfrm flipV="1">
            <a:off x="1947863" y="1066800"/>
            <a:ext cx="0" cy="3922713"/>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5753" name="Freeform 25"/>
          <p:cNvSpPr>
            <a:spLocks/>
          </p:cNvSpPr>
          <p:nvPr/>
        </p:nvSpPr>
        <p:spPr bwMode="auto">
          <a:xfrm>
            <a:off x="1947863" y="5075238"/>
            <a:ext cx="168275" cy="160337"/>
          </a:xfrm>
          <a:custGeom>
            <a:avLst/>
            <a:gdLst>
              <a:gd name="T0" fmla="*/ 95 w 95"/>
              <a:gd name="T1" fmla="*/ 97 h 97"/>
              <a:gd name="T2" fmla="*/ 0 w 95"/>
              <a:gd name="T3" fmla="*/ 97 h 97"/>
              <a:gd name="T4" fmla="*/ 0 w 95"/>
              <a:gd name="T5" fmla="*/ 0 h 97"/>
            </a:gdLst>
            <a:ahLst/>
            <a:cxnLst>
              <a:cxn ang="0">
                <a:pos x="T0" y="T1"/>
              </a:cxn>
              <a:cxn ang="0">
                <a:pos x="T2" y="T3"/>
              </a:cxn>
              <a:cxn ang="0">
                <a:pos x="T4" y="T5"/>
              </a:cxn>
            </a:cxnLst>
            <a:rect l="0" t="0" r="r" b="b"/>
            <a:pathLst>
              <a:path w="95" h="97">
                <a:moveTo>
                  <a:pt x="95" y="97"/>
                </a:moveTo>
                <a:lnTo>
                  <a:pt x="0" y="97"/>
                </a:lnTo>
                <a:lnTo>
                  <a:pt x="0" y="0"/>
                </a:lnTo>
              </a:path>
            </a:pathLst>
          </a:custGeom>
          <a:noFill/>
          <a:ln w="95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585754" name="Line 26"/>
          <p:cNvSpPr>
            <a:spLocks noChangeShapeType="1"/>
          </p:cNvSpPr>
          <p:nvPr/>
        </p:nvSpPr>
        <p:spPr bwMode="auto">
          <a:xfrm flipH="1">
            <a:off x="2271713" y="5235575"/>
            <a:ext cx="4824412"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5755" name="Rectangle 27"/>
          <p:cNvSpPr>
            <a:spLocks noChangeArrowheads="1"/>
          </p:cNvSpPr>
          <p:nvPr/>
        </p:nvSpPr>
        <p:spPr bwMode="auto">
          <a:xfrm>
            <a:off x="2749550" y="5276850"/>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7</a:t>
            </a:r>
            <a:endParaRPr lang="en-US" sz="1400">
              <a:latin typeface="Century Gothic"/>
              <a:cs typeface="Century Gothic"/>
            </a:endParaRPr>
          </a:p>
        </p:txBody>
      </p:sp>
      <p:sp>
        <p:nvSpPr>
          <p:cNvPr id="585756" name="Rectangle 28"/>
          <p:cNvSpPr>
            <a:spLocks noChangeArrowheads="1"/>
          </p:cNvSpPr>
          <p:nvPr/>
        </p:nvSpPr>
        <p:spPr bwMode="auto">
          <a:xfrm>
            <a:off x="1746250" y="5276850"/>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0</a:t>
            </a:r>
            <a:endParaRPr lang="en-US" sz="1400">
              <a:latin typeface="Century Gothic"/>
              <a:cs typeface="Century Gothic"/>
            </a:endParaRPr>
          </a:p>
        </p:txBody>
      </p:sp>
      <p:sp>
        <p:nvSpPr>
          <p:cNvPr id="585757" name="Rectangle 29"/>
          <p:cNvSpPr>
            <a:spLocks noChangeArrowheads="1"/>
          </p:cNvSpPr>
          <p:nvPr/>
        </p:nvSpPr>
        <p:spPr bwMode="auto">
          <a:xfrm>
            <a:off x="3984625" y="5276850"/>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10</a:t>
            </a:r>
            <a:endParaRPr lang="en-US" sz="1400">
              <a:latin typeface="Century Gothic"/>
              <a:cs typeface="Century Gothic"/>
            </a:endParaRPr>
          </a:p>
        </p:txBody>
      </p:sp>
      <p:sp>
        <p:nvSpPr>
          <p:cNvPr id="585758" name="Rectangle 30"/>
          <p:cNvSpPr>
            <a:spLocks noChangeArrowheads="1"/>
          </p:cNvSpPr>
          <p:nvPr/>
        </p:nvSpPr>
        <p:spPr bwMode="auto">
          <a:xfrm>
            <a:off x="6129338" y="5276850"/>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15</a:t>
            </a:r>
            <a:endParaRPr lang="en-US" sz="1400">
              <a:latin typeface="Century Gothic"/>
              <a:cs typeface="Century Gothic"/>
            </a:endParaRPr>
          </a:p>
        </p:txBody>
      </p:sp>
      <p:sp>
        <p:nvSpPr>
          <p:cNvPr id="585759" name="Rectangle 31"/>
          <p:cNvSpPr>
            <a:spLocks noChangeArrowheads="1"/>
          </p:cNvSpPr>
          <p:nvPr/>
        </p:nvSpPr>
        <p:spPr bwMode="auto">
          <a:xfrm>
            <a:off x="5272088" y="5276850"/>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13</a:t>
            </a:r>
            <a:endParaRPr lang="en-US" sz="1400">
              <a:latin typeface="Century Gothic"/>
              <a:cs typeface="Century Gothic"/>
            </a:endParaRPr>
          </a:p>
        </p:txBody>
      </p:sp>
      <p:sp>
        <p:nvSpPr>
          <p:cNvPr id="585760" name="Rectangle 32"/>
          <p:cNvSpPr>
            <a:spLocks noChangeArrowheads="1"/>
          </p:cNvSpPr>
          <p:nvPr/>
        </p:nvSpPr>
        <p:spPr bwMode="auto">
          <a:xfrm>
            <a:off x="6986588" y="5276850"/>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17</a:t>
            </a:r>
            <a:endParaRPr lang="en-US" sz="1400">
              <a:latin typeface="Century Gothic"/>
              <a:cs typeface="Century Gothic"/>
            </a:endParaRPr>
          </a:p>
        </p:txBody>
      </p:sp>
      <p:sp>
        <p:nvSpPr>
          <p:cNvPr id="585771" name="Line 43"/>
          <p:cNvSpPr>
            <a:spLocks noChangeShapeType="1"/>
          </p:cNvSpPr>
          <p:nvPr/>
        </p:nvSpPr>
        <p:spPr bwMode="auto">
          <a:xfrm>
            <a:off x="1947863" y="2144713"/>
            <a:ext cx="138112"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5772" name="Line 44"/>
          <p:cNvSpPr>
            <a:spLocks noChangeShapeType="1"/>
          </p:cNvSpPr>
          <p:nvPr/>
        </p:nvSpPr>
        <p:spPr bwMode="auto">
          <a:xfrm>
            <a:off x="1947863" y="2586038"/>
            <a:ext cx="138112"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5773" name="Line 45"/>
          <p:cNvSpPr>
            <a:spLocks noChangeShapeType="1"/>
          </p:cNvSpPr>
          <p:nvPr/>
        </p:nvSpPr>
        <p:spPr bwMode="auto">
          <a:xfrm>
            <a:off x="1947863" y="3024188"/>
            <a:ext cx="138112"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5774" name="Line 46"/>
          <p:cNvSpPr>
            <a:spLocks noChangeShapeType="1"/>
          </p:cNvSpPr>
          <p:nvPr/>
        </p:nvSpPr>
        <p:spPr bwMode="auto">
          <a:xfrm>
            <a:off x="1947863" y="3470275"/>
            <a:ext cx="138112"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5775" name="Line 47"/>
          <p:cNvSpPr>
            <a:spLocks noChangeShapeType="1"/>
          </p:cNvSpPr>
          <p:nvPr/>
        </p:nvSpPr>
        <p:spPr bwMode="auto">
          <a:xfrm>
            <a:off x="1947863" y="4349750"/>
            <a:ext cx="138112"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5776" name="Line 48"/>
          <p:cNvSpPr>
            <a:spLocks noChangeShapeType="1"/>
          </p:cNvSpPr>
          <p:nvPr/>
        </p:nvSpPr>
        <p:spPr bwMode="auto">
          <a:xfrm>
            <a:off x="1947863" y="3911600"/>
            <a:ext cx="138112"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5777" name="Line 49"/>
          <p:cNvSpPr>
            <a:spLocks noChangeShapeType="1"/>
          </p:cNvSpPr>
          <p:nvPr/>
        </p:nvSpPr>
        <p:spPr bwMode="auto">
          <a:xfrm>
            <a:off x="1947863" y="4789488"/>
            <a:ext cx="138112"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5778" name="Line 50"/>
          <p:cNvSpPr>
            <a:spLocks noChangeShapeType="1"/>
          </p:cNvSpPr>
          <p:nvPr/>
        </p:nvSpPr>
        <p:spPr bwMode="auto">
          <a:xfrm flipV="1">
            <a:off x="2805113" y="5106988"/>
            <a:ext cx="0" cy="128587"/>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5779" name="Line 51"/>
          <p:cNvSpPr>
            <a:spLocks noChangeShapeType="1"/>
          </p:cNvSpPr>
          <p:nvPr/>
        </p:nvSpPr>
        <p:spPr bwMode="auto">
          <a:xfrm flipV="1">
            <a:off x="3703638" y="5106988"/>
            <a:ext cx="0" cy="128587"/>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5780" name="Line 52"/>
          <p:cNvSpPr>
            <a:spLocks noChangeShapeType="1"/>
          </p:cNvSpPr>
          <p:nvPr/>
        </p:nvSpPr>
        <p:spPr bwMode="auto">
          <a:xfrm flipV="1">
            <a:off x="4092575" y="5106988"/>
            <a:ext cx="0" cy="128587"/>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5781" name="Line 53"/>
          <p:cNvSpPr>
            <a:spLocks noChangeShapeType="1"/>
          </p:cNvSpPr>
          <p:nvPr/>
        </p:nvSpPr>
        <p:spPr bwMode="auto">
          <a:xfrm flipV="1">
            <a:off x="4737100" y="5106988"/>
            <a:ext cx="0" cy="128587"/>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5782" name="Line 54"/>
          <p:cNvSpPr>
            <a:spLocks noChangeShapeType="1"/>
          </p:cNvSpPr>
          <p:nvPr/>
        </p:nvSpPr>
        <p:spPr bwMode="auto">
          <a:xfrm flipV="1">
            <a:off x="5380038" y="5106988"/>
            <a:ext cx="0" cy="128587"/>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5783" name="Line 55"/>
          <p:cNvSpPr>
            <a:spLocks noChangeShapeType="1"/>
          </p:cNvSpPr>
          <p:nvPr/>
        </p:nvSpPr>
        <p:spPr bwMode="auto">
          <a:xfrm flipV="1">
            <a:off x="6238875" y="5106988"/>
            <a:ext cx="0" cy="128587"/>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5784" name="Line 56"/>
          <p:cNvSpPr>
            <a:spLocks noChangeShapeType="1"/>
          </p:cNvSpPr>
          <p:nvPr/>
        </p:nvSpPr>
        <p:spPr bwMode="auto">
          <a:xfrm flipV="1">
            <a:off x="7096125" y="5106988"/>
            <a:ext cx="0" cy="128587"/>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5785" name="Rectangle 57"/>
          <p:cNvSpPr>
            <a:spLocks noChangeArrowheads="1"/>
          </p:cNvSpPr>
          <p:nvPr/>
        </p:nvSpPr>
        <p:spPr bwMode="auto">
          <a:xfrm>
            <a:off x="1381125" y="2036763"/>
            <a:ext cx="4477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$2.00</a:t>
            </a:r>
            <a:endParaRPr lang="en-US" sz="1400">
              <a:latin typeface="Century Gothic"/>
              <a:cs typeface="Century Gothic"/>
            </a:endParaRPr>
          </a:p>
        </p:txBody>
      </p:sp>
      <p:sp>
        <p:nvSpPr>
          <p:cNvPr id="585786" name="Rectangle 58"/>
          <p:cNvSpPr>
            <a:spLocks noChangeArrowheads="1"/>
          </p:cNvSpPr>
          <p:nvPr/>
        </p:nvSpPr>
        <p:spPr bwMode="auto">
          <a:xfrm>
            <a:off x="1489075" y="2478088"/>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1.75</a:t>
            </a:r>
            <a:endParaRPr lang="en-US" sz="1400">
              <a:latin typeface="Century Gothic"/>
              <a:cs typeface="Century Gothic"/>
            </a:endParaRPr>
          </a:p>
        </p:txBody>
      </p:sp>
      <p:sp>
        <p:nvSpPr>
          <p:cNvPr id="585787" name="Rectangle 59"/>
          <p:cNvSpPr>
            <a:spLocks noChangeArrowheads="1"/>
          </p:cNvSpPr>
          <p:nvPr/>
        </p:nvSpPr>
        <p:spPr bwMode="auto">
          <a:xfrm>
            <a:off x="1489075" y="2919413"/>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1.50</a:t>
            </a:r>
            <a:endParaRPr lang="en-US" sz="1400">
              <a:latin typeface="Century Gothic"/>
              <a:cs typeface="Century Gothic"/>
            </a:endParaRPr>
          </a:p>
        </p:txBody>
      </p:sp>
      <p:sp>
        <p:nvSpPr>
          <p:cNvPr id="585788" name="Rectangle 60"/>
          <p:cNvSpPr>
            <a:spLocks noChangeArrowheads="1"/>
          </p:cNvSpPr>
          <p:nvPr/>
        </p:nvSpPr>
        <p:spPr bwMode="auto">
          <a:xfrm>
            <a:off x="1489075" y="3359150"/>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1.25</a:t>
            </a:r>
            <a:endParaRPr lang="en-US" sz="1400">
              <a:latin typeface="Century Gothic"/>
              <a:cs typeface="Century Gothic"/>
            </a:endParaRPr>
          </a:p>
        </p:txBody>
      </p:sp>
      <p:sp>
        <p:nvSpPr>
          <p:cNvPr id="585789" name="Rectangle 61"/>
          <p:cNvSpPr>
            <a:spLocks noChangeArrowheads="1"/>
          </p:cNvSpPr>
          <p:nvPr/>
        </p:nvSpPr>
        <p:spPr bwMode="auto">
          <a:xfrm>
            <a:off x="1489075" y="3802063"/>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1.00</a:t>
            </a:r>
            <a:endParaRPr lang="en-US" sz="1400">
              <a:latin typeface="Century Gothic"/>
              <a:cs typeface="Century Gothic"/>
            </a:endParaRPr>
          </a:p>
        </p:txBody>
      </p:sp>
      <p:sp>
        <p:nvSpPr>
          <p:cNvPr id="585790" name="Rectangle 62"/>
          <p:cNvSpPr>
            <a:spLocks noChangeArrowheads="1"/>
          </p:cNvSpPr>
          <p:nvPr/>
        </p:nvSpPr>
        <p:spPr bwMode="auto">
          <a:xfrm>
            <a:off x="1489075" y="4243388"/>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0.75</a:t>
            </a:r>
            <a:endParaRPr lang="en-US" sz="1400">
              <a:latin typeface="Century Gothic"/>
              <a:cs typeface="Century Gothic"/>
            </a:endParaRPr>
          </a:p>
        </p:txBody>
      </p:sp>
      <p:sp>
        <p:nvSpPr>
          <p:cNvPr id="585791" name="Rectangle 63"/>
          <p:cNvSpPr>
            <a:spLocks noChangeArrowheads="1"/>
          </p:cNvSpPr>
          <p:nvPr/>
        </p:nvSpPr>
        <p:spPr bwMode="auto">
          <a:xfrm>
            <a:off x="1489075" y="4683125"/>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0.50</a:t>
            </a:r>
            <a:endParaRPr lang="en-US" sz="1400">
              <a:latin typeface="Century Gothic"/>
              <a:cs typeface="Century Gothic"/>
            </a:endParaRPr>
          </a:p>
        </p:txBody>
      </p:sp>
      <p:sp>
        <p:nvSpPr>
          <p:cNvPr id="585802" name="Freeform 74"/>
          <p:cNvSpPr>
            <a:spLocks/>
          </p:cNvSpPr>
          <p:nvPr/>
        </p:nvSpPr>
        <p:spPr bwMode="auto">
          <a:xfrm>
            <a:off x="3235325" y="2144713"/>
            <a:ext cx="1543050" cy="2651125"/>
          </a:xfrm>
          <a:custGeom>
            <a:avLst/>
            <a:gdLst>
              <a:gd name="T0" fmla="*/ 266 w 266"/>
              <a:gd name="T1" fmla="*/ 0 h 494"/>
              <a:gd name="T2" fmla="*/ 0 w 266"/>
              <a:gd name="T3" fmla="*/ 494 h 494"/>
            </a:gdLst>
            <a:ahLst/>
            <a:cxnLst>
              <a:cxn ang="0">
                <a:pos x="T0" y="T1"/>
              </a:cxn>
              <a:cxn ang="0">
                <a:pos x="T2" y="T3"/>
              </a:cxn>
            </a:cxnLst>
            <a:rect l="0" t="0" r="r" b="b"/>
            <a:pathLst>
              <a:path w="266" h="494">
                <a:moveTo>
                  <a:pt x="266" y="0"/>
                </a:moveTo>
                <a:cubicBezTo>
                  <a:pt x="266" y="149"/>
                  <a:pt x="190" y="320"/>
                  <a:pt x="0" y="494"/>
                </a:cubicBezTo>
              </a:path>
            </a:pathLst>
          </a:custGeom>
          <a:noFill/>
          <a:ln w="41275" cap="flat">
            <a:solidFill>
              <a:srgbClr val="EE313C"/>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585803" name="Rectangle 75"/>
          <p:cNvSpPr>
            <a:spLocks noChangeArrowheads="1"/>
          </p:cNvSpPr>
          <p:nvPr/>
        </p:nvSpPr>
        <p:spPr bwMode="auto">
          <a:xfrm>
            <a:off x="4476750" y="1876425"/>
            <a:ext cx="57708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Supply</a:t>
            </a:r>
            <a:endParaRPr lang="en-US" sz="1400">
              <a:latin typeface="Century Gothic"/>
              <a:cs typeface="Century Gothic"/>
            </a:endParaRPr>
          </a:p>
        </p:txBody>
      </p:sp>
      <p:sp>
        <p:nvSpPr>
          <p:cNvPr id="585804" name="Rectangle 76"/>
          <p:cNvSpPr>
            <a:spLocks noChangeArrowheads="1"/>
          </p:cNvSpPr>
          <p:nvPr/>
        </p:nvSpPr>
        <p:spPr bwMode="auto">
          <a:xfrm>
            <a:off x="5967413" y="4702175"/>
            <a:ext cx="77381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Demand</a:t>
            </a:r>
            <a:endParaRPr lang="en-US" sz="1400">
              <a:latin typeface="Century Gothic"/>
              <a:cs typeface="Century Gothic"/>
            </a:endParaRPr>
          </a:p>
        </p:txBody>
      </p:sp>
      <p:sp>
        <p:nvSpPr>
          <p:cNvPr id="585806" name="Line 78"/>
          <p:cNvSpPr>
            <a:spLocks noChangeShapeType="1"/>
          </p:cNvSpPr>
          <p:nvPr/>
        </p:nvSpPr>
        <p:spPr bwMode="auto">
          <a:xfrm flipV="1">
            <a:off x="1884363" y="4956175"/>
            <a:ext cx="122237" cy="6350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5807" name="Line 79"/>
          <p:cNvSpPr>
            <a:spLocks noChangeShapeType="1"/>
          </p:cNvSpPr>
          <p:nvPr/>
        </p:nvSpPr>
        <p:spPr bwMode="auto">
          <a:xfrm flipV="1">
            <a:off x="1884363" y="5041900"/>
            <a:ext cx="122237" cy="65088"/>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5808" name="Line 80"/>
          <p:cNvSpPr>
            <a:spLocks noChangeShapeType="1"/>
          </p:cNvSpPr>
          <p:nvPr/>
        </p:nvSpPr>
        <p:spPr bwMode="auto">
          <a:xfrm flipH="1">
            <a:off x="2081213" y="5175250"/>
            <a:ext cx="69850" cy="11430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5809" name="Line 81"/>
          <p:cNvSpPr>
            <a:spLocks noChangeShapeType="1"/>
          </p:cNvSpPr>
          <p:nvPr/>
        </p:nvSpPr>
        <p:spPr bwMode="auto">
          <a:xfrm flipH="1">
            <a:off x="2173288" y="5175250"/>
            <a:ext cx="69850" cy="11430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5810" name="Freeform 82"/>
          <p:cNvSpPr>
            <a:spLocks/>
          </p:cNvSpPr>
          <p:nvPr/>
        </p:nvSpPr>
        <p:spPr bwMode="auto">
          <a:xfrm>
            <a:off x="2846388" y="2144713"/>
            <a:ext cx="3044825" cy="2651125"/>
          </a:xfrm>
          <a:custGeom>
            <a:avLst/>
            <a:gdLst>
              <a:gd name="T0" fmla="*/ 0 w 525"/>
              <a:gd name="T1" fmla="*/ 0 h 494"/>
              <a:gd name="T2" fmla="*/ 525 w 525"/>
              <a:gd name="T3" fmla="*/ 494 h 494"/>
            </a:gdLst>
            <a:ahLst/>
            <a:cxnLst>
              <a:cxn ang="0">
                <a:pos x="T0" y="T1"/>
              </a:cxn>
              <a:cxn ang="0">
                <a:pos x="T2" y="T3"/>
              </a:cxn>
            </a:cxnLst>
            <a:rect l="0" t="0" r="r" b="b"/>
            <a:pathLst>
              <a:path w="525" h="494">
                <a:moveTo>
                  <a:pt x="0" y="0"/>
                </a:moveTo>
                <a:cubicBezTo>
                  <a:pt x="30" y="133"/>
                  <a:pt x="196" y="409"/>
                  <a:pt x="525" y="494"/>
                </a:cubicBezTo>
              </a:path>
            </a:pathLst>
          </a:custGeom>
          <a:noFill/>
          <a:ln w="41275" cap="flat">
            <a:solidFill>
              <a:srgbClr val="3C5DAA"/>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585811" name="Oval 83"/>
          <p:cNvSpPr>
            <a:spLocks noChangeArrowheads="1"/>
          </p:cNvSpPr>
          <p:nvPr/>
        </p:nvSpPr>
        <p:spPr bwMode="auto">
          <a:xfrm>
            <a:off x="4035425" y="3856038"/>
            <a:ext cx="115888" cy="10795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85812" name="Rectangle 84"/>
          <p:cNvSpPr>
            <a:spLocks noChangeArrowheads="1"/>
          </p:cNvSpPr>
          <p:nvPr/>
        </p:nvSpPr>
        <p:spPr bwMode="auto">
          <a:xfrm>
            <a:off x="3533775" y="5276850"/>
            <a:ext cx="24870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9.1</a:t>
            </a:r>
            <a:endParaRPr lang="en-US" sz="1400">
              <a:latin typeface="Century Gothic"/>
              <a:cs typeface="Century Gothic"/>
            </a:endParaRPr>
          </a:p>
        </p:txBody>
      </p:sp>
      <p:sp>
        <p:nvSpPr>
          <p:cNvPr id="585813" name="Rectangle 85"/>
          <p:cNvSpPr>
            <a:spLocks noChangeArrowheads="1"/>
          </p:cNvSpPr>
          <p:nvPr/>
        </p:nvSpPr>
        <p:spPr bwMode="auto">
          <a:xfrm>
            <a:off x="4552950" y="5276850"/>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11.5</a:t>
            </a:r>
            <a:endParaRPr lang="en-US" sz="1400">
              <a:latin typeface="Century Gothic"/>
              <a:cs typeface="Century Gothic"/>
            </a:endParaRPr>
          </a:p>
        </p:txBody>
      </p:sp>
      <p:sp>
        <p:nvSpPr>
          <p:cNvPr id="585814" name="Rectangle 86"/>
          <p:cNvSpPr>
            <a:spLocks noChangeArrowheads="1"/>
          </p:cNvSpPr>
          <p:nvPr/>
        </p:nvSpPr>
        <p:spPr bwMode="auto">
          <a:xfrm>
            <a:off x="4275138" y="3743325"/>
            <a:ext cx="12536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a:solidFill>
                  <a:srgbClr val="000000"/>
                </a:solidFill>
                <a:latin typeface="Century Gothic"/>
                <a:cs typeface="Century Gothic"/>
              </a:rPr>
              <a:t>E</a:t>
            </a:r>
            <a:endParaRPr lang="en-US" sz="1400" i="1">
              <a:latin typeface="Century Gothic"/>
              <a:cs typeface="Century Gothic"/>
            </a:endParaRPr>
          </a:p>
        </p:txBody>
      </p:sp>
      <p:sp>
        <p:nvSpPr>
          <p:cNvPr id="585815" name="Line 87"/>
          <p:cNvSpPr>
            <a:spLocks noChangeShapeType="1"/>
          </p:cNvSpPr>
          <p:nvPr/>
        </p:nvSpPr>
        <p:spPr bwMode="auto">
          <a:xfrm>
            <a:off x="3715674" y="5487988"/>
            <a:ext cx="0" cy="32226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5816" name="Line 88"/>
          <p:cNvSpPr>
            <a:spLocks noChangeShapeType="1"/>
          </p:cNvSpPr>
          <p:nvPr/>
        </p:nvSpPr>
        <p:spPr bwMode="auto">
          <a:xfrm>
            <a:off x="4749136" y="5487988"/>
            <a:ext cx="0" cy="32226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85817" name="Freeform 89"/>
          <p:cNvSpPr>
            <a:spLocks/>
          </p:cNvSpPr>
          <p:nvPr/>
        </p:nvSpPr>
        <p:spPr bwMode="auto">
          <a:xfrm>
            <a:off x="3797300" y="4527550"/>
            <a:ext cx="852488" cy="311150"/>
          </a:xfrm>
          <a:custGeom>
            <a:avLst/>
            <a:gdLst>
              <a:gd name="T0" fmla="*/ 147 w 147"/>
              <a:gd name="T1" fmla="*/ 44 h 58"/>
              <a:gd name="T2" fmla="*/ 133 w 147"/>
              <a:gd name="T3" fmla="*/ 58 h 58"/>
              <a:gd name="T4" fmla="*/ 14 w 147"/>
              <a:gd name="T5" fmla="*/ 58 h 58"/>
              <a:gd name="T6" fmla="*/ 0 w 147"/>
              <a:gd name="T7" fmla="*/ 44 h 58"/>
              <a:gd name="T8" fmla="*/ 0 w 147"/>
              <a:gd name="T9" fmla="*/ 15 h 58"/>
              <a:gd name="T10" fmla="*/ 14 w 147"/>
              <a:gd name="T11" fmla="*/ 0 h 58"/>
              <a:gd name="T12" fmla="*/ 133 w 147"/>
              <a:gd name="T13" fmla="*/ 0 h 58"/>
              <a:gd name="T14" fmla="*/ 147 w 147"/>
              <a:gd name="T15" fmla="*/ 15 h 58"/>
              <a:gd name="T16" fmla="*/ 147 w 147"/>
              <a:gd name="T17" fmla="*/ 4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7" h="58">
                <a:moveTo>
                  <a:pt x="147" y="44"/>
                </a:moveTo>
                <a:cubicBezTo>
                  <a:pt x="147" y="51"/>
                  <a:pt x="140" y="58"/>
                  <a:pt x="133" y="58"/>
                </a:cubicBezTo>
                <a:cubicBezTo>
                  <a:pt x="14" y="58"/>
                  <a:pt x="14" y="58"/>
                  <a:pt x="14" y="58"/>
                </a:cubicBezTo>
                <a:cubicBezTo>
                  <a:pt x="6" y="58"/>
                  <a:pt x="0" y="51"/>
                  <a:pt x="0" y="44"/>
                </a:cubicBezTo>
                <a:cubicBezTo>
                  <a:pt x="0" y="15"/>
                  <a:pt x="0" y="15"/>
                  <a:pt x="0" y="15"/>
                </a:cubicBezTo>
                <a:cubicBezTo>
                  <a:pt x="0" y="7"/>
                  <a:pt x="6" y="0"/>
                  <a:pt x="14" y="0"/>
                </a:cubicBezTo>
                <a:cubicBezTo>
                  <a:pt x="133" y="0"/>
                  <a:pt x="133" y="0"/>
                  <a:pt x="133" y="0"/>
                </a:cubicBezTo>
                <a:cubicBezTo>
                  <a:pt x="140" y="0"/>
                  <a:pt x="147" y="7"/>
                  <a:pt x="147" y="15"/>
                </a:cubicBezTo>
                <a:lnTo>
                  <a:pt x="147" y="44"/>
                </a:lnTo>
                <a:close/>
              </a:path>
            </a:pathLst>
          </a:custGeom>
          <a:solidFill>
            <a:srgbClr val="D6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85818" name="Rectangle 90"/>
          <p:cNvSpPr>
            <a:spLocks noChangeArrowheads="1"/>
          </p:cNvSpPr>
          <p:nvPr/>
        </p:nvSpPr>
        <p:spPr bwMode="auto">
          <a:xfrm>
            <a:off x="3886200" y="4572000"/>
            <a:ext cx="79143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dirty="0">
                <a:solidFill>
                  <a:srgbClr val="000000"/>
                </a:solidFill>
                <a:latin typeface="Century Gothic"/>
                <a:cs typeface="Century Gothic"/>
              </a:rPr>
              <a:t>Shortage</a:t>
            </a:r>
            <a:endParaRPr lang="en-US" sz="1400" dirty="0">
              <a:latin typeface="Century Gothic"/>
              <a:cs typeface="Century Gothic"/>
            </a:endParaRPr>
          </a:p>
        </p:txBody>
      </p:sp>
      <p:sp>
        <p:nvSpPr>
          <p:cNvPr id="585821" name="Freeform 93"/>
          <p:cNvSpPr>
            <a:spLocks/>
          </p:cNvSpPr>
          <p:nvPr/>
        </p:nvSpPr>
        <p:spPr bwMode="auto">
          <a:xfrm>
            <a:off x="3286125" y="5810250"/>
            <a:ext cx="836613" cy="514350"/>
          </a:xfrm>
          <a:custGeom>
            <a:avLst/>
            <a:gdLst>
              <a:gd name="T0" fmla="*/ 144 w 144"/>
              <a:gd name="T1" fmla="*/ 81 h 96"/>
              <a:gd name="T2" fmla="*/ 130 w 144"/>
              <a:gd name="T3" fmla="*/ 96 h 96"/>
              <a:gd name="T4" fmla="*/ 14 w 144"/>
              <a:gd name="T5" fmla="*/ 96 h 96"/>
              <a:gd name="T6" fmla="*/ 0 w 144"/>
              <a:gd name="T7" fmla="*/ 81 h 96"/>
              <a:gd name="T8" fmla="*/ 0 w 144"/>
              <a:gd name="T9" fmla="*/ 14 h 96"/>
              <a:gd name="T10" fmla="*/ 14 w 144"/>
              <a:gd name="T11" fmla="*/ 0 h 96"/>
              <a:gd name="T12" fmla="*/ 130 w 144"/>
              <a:gd name="T13" fmla="*/ 0 h 96"/>
              <a:gd name="T14" fmla="*/ 144 w 144"/>
              <a:gd name="T15" fmla="*/ 14 h 96"/>
              <a:gd name="T16" fmla="*/ 144 w 144"/>
              <a:gd name="T17" fmla="*/ 8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4" h="96">
                <a:moveTo>
                  <a:pt x="144" y="81"/>
                </a:moveTo>
                <a:cubicBezTo>
                  <a:pt x="144" y="89"/>
                  <a:pt x="138" y="96"/>
                  <a:pt x="130" y="96"/>
                </a:cubicBezTo>
                <a:cubicBezTo>
                  <a:pt x="14" y="96"/>
                  <a:pt x="14" y="96"/>
                  <a:pt x="14" y="96"/>
                </a:cubicBezTo>
                <a:cubicBezTo>
                  <a:pt x="6" y="96"/>
                  <a:pt x="0" y="89"/>
                  <a:pt x="0" y="81"/>
                </a:cubicBezTo>
                <a:cubicBezTo>
                  <a:pt x="0" y="14"/>
                  <a:pt x="0" y="14"/>
                  <a:pt x="0" y="14"/>
                </a:cubicBezTo>
                <a:cubicBezTo>
                  <a:pt x="0" y="7"/>
                  <a:pt x="6" y="0"/>
                  <a:pt x="14" y="0"/>
                </a:cubicBezTo>
                <a:cubicBezTo>
                  <a:pt x="130" y="0"/>
                  <a:pt x="130" y="0"/>
                  <a:pt x="130" y="0"/>
                </a:cubicBezTo>
                <a:cubicBezTo>
                  <a:pt x="138" y="0"/>
                  <a:pt x="144" y="7"/>
                  <a:pt x="144" y="14"/>
                </a:cubicBezTo>
                <a:lnTo>
                  <a:pt x="144" y="81"/>
                </a:lnTo>
                <a:close/>
              </a:path>
            </a:pathLst>
          </a:custGeom>
          <a:solidFill>
            <a:srgbClr val="D6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85828" name="Freeform 100"/>
          <p:cNvSpPr>
            <a:spLocks/>
          </p:cNvSpPr>
          <p:nvPr/>
        </p:nvSpPr>
        <p:spPr bwMode="auto">
          <a:xfrm>
            <a:off x="4278313" y="5810250"/>
            <a:ext cx="979487" cy="514350"/>
          </a:xfrm>
          <a:custGeom>
            <a:avLst/>
            <a:gdLst>
              <a:gd name="T0" fmla="*/ 169 w 169"/>
              <a:gd name="T1" fmla="*/ 81 h 96"/>
              <a:gd name="T2" fmla="*/ 155 w 169"/>
              <a:gd name="T3" fmla="*/ 96 h 96"/>
              <a:gd name="T4" fmla="*/ 14 w 169"/>
              <a:gd name="T5" fmla="*/ 96 h 96"/>
              <a:gd name="T6" fmla="*/ 0 w 169"/>
              <a:gd name="T7" fmla="*/ 81 h 96"/>
              <a:gd name="T8" fmla="*/ 0 w 169"/>
              <a:gd name="T9" fmla="*/ 14 h 96"/>
              <a:gd name="T10" fmla="*/ 14 w 169"/>
              <a:gd name="T11" fmla="*/ 0 h 96"/>
              <a:gd name="T12" fmla="*/ 155 w 169"/>
              <a:gd name="T13" fmla="*/ 0 h 96"/>
              <a:gd name="T14" fmla="*/ 169 w 169"/>
              <a:gd name="T15" fmla="*/ 14 h 96"/>
              <a:gd name="T16" fmla="*/ 169 w 169"/>
              <a:gd name="T17" fmla="*/ 8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9" h="96">
                <a:moveTo>
                  <a:pt x="169" y="81"/>
                </a:moveTo>
                <a:cubicBezTo>
                  <a:pt x="169" y="89"/>
                  <a:pt x="163" y="96"/>
                  <a:pt x="155" y="96"/>
                </a:cubicBezTo>
                <a:cubicBezTo>
                  <a:pt x="14" y="96"/>
                  <a:pt x="14" y="96"/>
                  <a:pt x="14" y="96"/>
                </a:cubicBezTo>
                <a:cubicBezTo>
                  <a:pt x="6" y="96"/>
                  <a:pt x="0" y="89"/>
                  <a:pt x="0" y="81"/>
                </a:cubicBezTo>
                <a:cubicBezTo>
                  <a:pt x="0" y="14"/>
                  <a:pt x="0" y="14"/>
                  <a:pt x="0" y="14"/>
                </a:cubicBezTo>
                <a:cubicBezTo>
                  <a:pt x="0" y="7"/>
                  <a:pt x="6" y="0"/>
                  <a:pt x="14" y="0"/>
                </a:cubicBezTo>
                <a:cubicBezTo>
                  <a:pt x="155" y="0"/>
                  <a:pt x="155" y="0"/>
                  <a:pt x="155" y="0"/>
                </a:cubicBezTo>
                <a:cubicBezTo>
                  <a:pt x="163" y="0"/>
                  <a:pt x="169" y="7"/>
                  <a:pt x="169" y="14"/>
                </a:cubicBezTo>
                <a:lnTo>
                  <a:pt x="169" y="81"/>
                </a:lnTo>
                <a:close/>
              </a:path>
            </a:pathLst>
          </a:custGeom>
          <a:solidFill>
            <a:srgbClr val="D6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85836" name="Oval 108"/>
          <p:cNvSpPr>
            <a:spLocks noChangeArrowheads="1"/>
          </p:cNvSpPr>
          <p:nvPr/>
        </p:nvSpPr>
        <p:spPr bwMode="auto">
          <a:xfrm>
            <a:off x="4679950" y="4291013"/>
            <a:ext cx="115888" cy="10636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85837" name="Oval 109"/>
          <p:cNvSpPr>
            <a:spLocks noChangeArrowheads="1"/>
          </p:cNvSpPr>
          <p:nvPr/>
        </p:nvSpPr>
        <p:spPr bwMode="auto">
          <a:xfrm>
            <a:off x="3646488" y="4295775"/>
            <a:ext cx="115887" cy="10795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85838" name="Rectangle 110"/>
          <p:cNvSpPr>
            <a:spLocks noChangeArrowheads="1"/>
          </p:cNvSpPr>
          <p:nvPr/>
        </p:nvSpPr>
        <p:spPr bwMode="auto">
          <a:xfrm>
            <a:off x="4388774" y="5849936"/>
            <a:ext cx="102711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1588" indent="-1588"/>
            <a:r>
              <a:rPr lang="en-US" sz="1400" dirty="0">
                <a:solidFill>
                  <a:srgbClr val="000000"/>
                </a:solidFill>
                <a:latin typeface="Century Gothic"/>
                <a:cs typeface="Century Gothic"/>
              </a:rPr>
              <a:t>Quantity demanded</a:t>
            </a:r>
            <a:endParaRPr lang="en-US" sz="1400" dirty="0">
              <a:latin typeface="Century Gothic"/>
              <a:cs typeface="Century Gothic"/>
            </a:endParaRPr>
          </a:p>
        </p:txBody>
      </p:sp>
      <p:sp>
        <p:nvSpPr>
          <p:cNvPr id="585839" name="Rectangle 111"/>
          <p:cNvSpPr>
            <a:spLocks noChangeArrowheads="1"/>
          </p:cNvSpPr>
          <p:nvPr/>
        </p:nvSpPr>
        <p:spPr bwMode="auto">
          <a:xfrm>
            <a:off x="3349625" y="5849936"/>
            <a:ext cx="76993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1588" indent="-1588"/>
            <a:r>
              <a:rPr lang="en-US" sz="1400" dirty="0">
                <a:solidFill>
                  <a:srgbClr val="000000"/>
                </a:solidFill>
                <a:latin typeface="Century Gothic"/>
                <a:cs typeface="Century Gothic"/>
              </a:rPr>
              <a:t>Quantity supplied</a:t>
            </a:r>
            <a:endParaRPr lang="en-US" sz="1400" dirty="0">
              <a:latin typeface="Century Gothic"/>
              <a:cs typeface="Century Gothic"/>
            </a:endParaRPr>
          </a:p>
        </p:txBody>
      </p:sp>
      <p:cxnSp>
        <p:nvCxnSpPr>
          <p:cNvPr id="585848" name="Straight Connector 86"/>
          <p:cNvCxnSpPr>
            <a:cxnSpLocks noChangeShapeType="1"/>
          </p:cNvCxnSpPr>
          <p:nvPr/>
        </p:nvCxnSpPr>
        <p:spPr bwMode="auto">
          <a:xfrm>
            <a:off x="4755487" y="4419601"/>
            <a:ext cx="0" cy="635000"/>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585849" name="Straight Connector 86"/>
          <p:cNvCxnSpPr>
            <a:cxnSpLocks noChangeShapeType="1"/>
          </p:cNvCxnSpPr>
          <p:nvPr/>
        </p:nvCxnSpPr>
        <p:spPr bwMode="auto">
          <a:xfrm>
            <a:off x="3719908" y="4428068"/>
            <a:ext cx="0" cy="635000"/>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sp>
        <p:nvSpPr>
          <p:cNvPr id="585737" name="Text Box 9"/>
          <p:cNvSpPr txBox="1">
            <a:spLocks noChangeArrowheads="1"/>
          </p:cNvSpPr>
          <p:nvPr/>
        </p:nvSpPr>
        <p:spPr bwMode="auto">
          <a:xfrm>
            <a:off x="5181600" y="1143000"/>
            <a:ext cx="3886200" cy="1938992"/>
          </a:xfrm>
          <a:prstGeom prst="rect">
            <a:avLst/>
          </a:prstGeom>
          <a:noFill/>
          <a:ln>
            <a:noFill/>
          </a:ln>
        </p:spPr>
        <p:txBody>
          <a:bodyPr wrap="square">
            <a:spAutoFit/>
          </a:bodyPr>
          <a:lstStyle>
            <a:lvl1pPr marL="1588" indent="-1588">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nSpc>
                <a:spcPct val="100000"/>
              </a:lnSpc>
              <a:spcBef>
                <a:spcPct val="20000"/>
              </a:spcBef>
            </a:pPr>
            <a:r>
              <a:rPr lang="en-US" sz="2000" i="1" dirty="0">
                <a:solidFill>
                  <a:schemeClr val="tx1">
                    <a:lumMod val="75000"/>
                    <a:lumOff val="25000"/>
                  </a:schemeClr>
                </a:solidFill>
                <a:latin typeface="Century Gothic"/>
                <a:cs typeface="Century Gothic"/>
              </a:rPr>
              <a:t>There is a </a:t>
            </a:r>
            <a:r>
              <a:rPr lang="en-US" sz="2000" b="1" i="1" dirty="0">
                <a:solidFill>
                  <a:srgbClr val="990033"/>
                </a:solidFill>
                <a:latin typeface="Century Gothic"/>
                <a:cs typeface="Century Gothic"/>
              </a:rPr>
              <a:t>shortage </a:t>
            </a:r>
            <a:r>
              <a:rPr lang="en-US" sz="2000" i="1" dirty="0">
                <a:solidFill>
                  <a:schemeClr val="tx1">
                    <a:lumMod val="75000"/>
                    <a:lumOff val="25000"/>
                  </a:schemeClr>
                </a:solidFill>
                <a:latin typeface="Century Gothic"/>
                <a:cs typeface="Century Gothic"/>
              </a:rPr>
              <a:t>when the quantity demanded exceeds the quantity supplied. Shortages occur when the price is below its equilibrium level. </a:t>
            </a:r>
          </a:p>
        </p:txBody>
      </p:sp>
      <p:sp>
        <p:nvSpPr>
          <p:cNvPr id="585855" name="Rectangle 127"/>
          <p:cNvSpPr>
            <a:spLocks noGrp="1" noRot="1" noChangeArrowheads="1"/>
          </p:cNvSpPr>
          <p:nvPr>
            <p:ph type="title"/>
          </p:nvPr>
        </p:nvSpPr>
        <p:spPr/>
        <p:txBody>
          <a:bodyPr>
            <a:noAutofit/>
          </a:bodyPr>
          <a:lstStyle/>
          <a:p>
            <a:r>
              <a:rPr lang="en-US" sz="3200" dirty="0"/>
              <a:t>WHY DOES THE MARKET PRICE RISE IF IT IS BELOW THE EQUILIBRIUM PRICE?</a:t>
            </a:r>
          </a:p>
        </p:txBody>
      </p:sp>
      <p:sp>
        <p:nvSpPr>
          <p:cNvPr id="66" name="TextBox 29"/>
          <p:cNvSpPr txBox="1">
            <a:spLocks noChangeArrowheads="1"/>
          </p:cNvSpPr>
          <p:nvPr/>
        </p:nvSpPr>
        <p:spPr bwMode="auto">
          <a:xfrm>
            <a:off x="762001" y="1096963"/>
            <a:ext cx="136048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400" dirty="0">
                <a:latin typeface="Century Gothic"/>
                <a:ea typeface="MS PGothic" pitchFamily="34" charset="-128"/>
                <a:cs typeface="Century Gothic"/>
              </a:rPr>
              <a:t>Price of cotton (per pound)</a:t>
            </a:r>
          </a:p>
        </p:txBody>
      </p:sp>
      <p:sp>
        <p:nvSpPr>
          <p:cNvPr id="67" name="TextBox 30"/>
          <p:cNvSpPr txBox="1">
            <a:spLocks noChangeArrowheads="1"/>
          </p:cNvSpPr>
          <p:nvPr/>
        </p:nvSpPr>
        <p:spPr bwMode="auto">
          <a:xfrm>
            <a:off x="5454650" y="5715000"/>
            <a:ext cx="21653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400" dirty="0">
                <a:latin typeface="Century Gothic"/>
                <a:ea typeface="MS PGothic" pitchFamily="34" charset="-128"/>
                <a:cs typeface="Century Gothic"/>
              </a:rPr>
              <a:t>Quantity of cotton (billions of pounds)</a:t>
            </a:r>
          </a:p>
        </p:txBody>
      </p:sp>
      <p:sp>
        <p:nvSpPr>
          <p:cNvPr id="68" name="Text Box 14"/>
          <p:cNvSpPr txBox="1">
            <a:spLocks noChangeArrowheads="1"/>
          </p:cNvSpPr>
          <p:nvPr/>
        </p:nvSpPr>
        <p:spPr bwMode="auto">
          <a:xfrm>
            <a:off x="5181600" y="3295471"/>
            <a:ext cx="3810000" cy="1015663"/>
          </a:xfrm>
          <a:prstGeom prst="rect">
            <a:avLst/>
          </a:prstGeom>
          <a:noFill/>
          <a:ln>
            <a:noFill/>
          </a:ln>
          <a:effectLst/>
        </p:spPr>
        <p:txBody>
          <a:bodyPr wrap="square">
            <a:spAutoFit/>
          </a:bodyPr>
          <a:lstStyle>
            <a:lvl1pPr marL="1588" indent="-1588">
              <a:spcBef>
                <a:spcPct val="0"/>
              </a:spcBef>
              <a:defRPr>
                <a:solidFill>
                  <a:schemeClr val="tx1"/>
                </a:solidFill>
                <a:latin typeface="Arial" pitchFamily="34" charset="0"/>
              </a:defRPr>
            </a:lvl1pPr>
            <a:lvl2pPr>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fontAlgn="base">
              <a:spcBef>
                <a:spcPct val="0"/>
              </a:spcBef>
              <a:spcAft>
                <a:spcPct val="0"/>
              </a:spcAft>
              <a:defRPr>
                <a:solidFill>
                  <a:schemeClr val="tx1"/>
                </a:solidFill>
                <a:latin typeface="Arial" pitchFamily="34" charset="0"/>
              </a:defRPr>
            </a:lvl6pPr>
            <a:lvl7pPr fontAlgn="base">
              <a:spcBef>
                <a:spcPct val="0"/>
              </a:spcBef>
              <a:spcAft>
                <a:spcPct val="0"/>
              </a:spcAft>
              <a:defRPr>
                <a:solidFill>
                  <a:schemeClr val="tx1"/>
                </a:solidFill>
                <a:latin typeface="Arial" pitchFamily="34" charset="0"/>
              </a:defRPr>
            </a:lvl7pPr>
            <a:lvl8pPr fontAlgn="base">
              <a:spcBef>
                <a:spcPct val="0"/>
              </a:spcBef>
              <a:spcAft>
                <a:spcPct val="0"/>
              </a:spcAft>
              <a:defRPr>
                <a:solidFill>
                  <a:schemeClr val="tx1"/>
                </a:solidFill>
                <a:latin typeface="Arial" pitchFamily="34" charset="0"/>
              </a:defRPr>
            </a:lvl8pPr>
            <a:lvl9pPr fontAlgn="base">
              <a:spcBef>
                <a:spcPct val="0"/>
              </a:spcBef>
              <a:spcAft>
                <a:spcPct val="0"/>
              </a:spcAft>
              <a:defRPr>
                <a:solidFill>
                  <a:schemeClr val="tx1"/>
                </a:solidFill>
                <a:latin typeface="Arial" pitchFamily="34" charset="0"/>
              </a:defRPr>
            </a:lvl9pPr>
          </a:lstStyle>
          <a:p>
            <a:pPr>
              <a:lnSpc>
                <a:spcPct val="100000"/>
              </a:lnSpc>
              <a:spcBef>
                <a:spcPct val="20000"/>
              </a:spcBef>
            </a:pPr>
            <a:r>
              <a:rPr lang="en-US" sz="2000" b="1" i="1" dirty="0">
                <a:solidFill>
                  <a:srgbClr val="990033"/>
                </a:solidFill>
                <a:latin typeface="Century Gothic"/>
                <a:cs typeface="Century Gothic"/>
              </a:rPr>
              <a:t>Shortages</a:t>
            </a:r>
            <a:r>
              <a:rPr lang="en-US" sz="2000" i="1" dirty="0">
                <a:solidFill>
                  <a:schemeClr val="tx1">
                    <a:lumMod val="75000"/>
                    <a:lumOff val="25000"/>
                  </a:schemeClr>
                </a:solidFill>
                <a:latin typeface="Century Gothic"/>
                <a:cs typeface="Century Gothic"/>
              </a:rPr>
              <a:t> do not last: sellers will increase price to increase revenue.</a:t>
            </a:r>
          </a:p>
        </p:txBody>
      </p:sp>
    </p:spTree>
    <p:extLst>
      <p:ext uri="{BB962C8B-B14F-4D97-AF65-F5344CB8AC3E}">
        <p14:creationId xmlns:p14="http://schemas.microsoft.com/office/powerpoint/2010/main" val="3933704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85847"/>
                                        </p:tgtEl>
                                        <p:attrNameLst>
                                          <p:attrName>style.visibility</p:attrName>
                                        </p:attrNameLst>
                                      </p:cBhvr>
                                      <p:to>
                                        <p:strVal val="visible"/>
                                      </p:to>
                                    </p:set>
                                    <p:animEffect transition="in" filter="fade">
                                      <p:cBhvr>
                                        <p:cTn id="7" dur="500"/>
                                        <p:tgtEl>
                                          <p:spTgt spid="585847"/>
                                        </p:tgtEl>
                                      </p:cBhvr>
                                    </p:animEffect>
                                  </p:childTnLst>
                                </p:cTn>
                              </p:par>
                              <p:par>
                                <p:cTn id="8" presetID="10" presetClass="entr" presetSubtype="0" fill="hold" nodeType="withEffect">
                                  <p:stCondLst>
                                    <p:cond delay="0"/>
                                  </p:stCondLst>
                                  <p:childTnLst>
                                    <p:set>
                                      <p:cBhvr>
                                        <p:cTn id="9" dur="1" fill="hold">
                                          <p:stCondLst>
                                            <p:cond delay="0"/>
                                          </p:stCondLst>
                                        </p:cTn>
                                        <p:tgtEl>
                                          <p:spTgt spid="585849"/>
                                        </p:tgtEl>
                                        <p:attrNameLst>
                                          <p:attrName>style.visibility</p:attrName>
                                        </p:attrNameLst>
                                      </p:cBhvr>
                                      <p:to>
                                        <p:strVal val="visible"/>
                                      </p:to>
                                    </p:set>
                                    <p:animEffect transition="in" filter="fade">
                                      <p:cBhvr>
                                        <p:cTn id="10" dur="500"/>
                                        <p:tgtEl>
                                          <p:spTgt spid="58584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85837"/>
                                        </p:tgtEl>
                                        <p:attrNameLst>
                                          <p:attrName>style.visibility</p:attrName>
                                        </p:attrNameLst>
                                      </p:cBhvr>
                                      <p:to>
                                        <p:strVal val="visible"/>
                                      </p:to>
                                    </p:set>
                                    <p:animEffect transition="in" filter="fade">
                                      <p:cBhvr>
                                        <p:cTn id="13" dur="500"/>
                                        <p:tgtEl>
                                          <p:spTgt spid="58583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85815"/>
                                        </p:tgtEl>
                                        <p:attrNameLst>
                                          <p:attrName>style.visibility</p:attrName>
                                        </p:attrNameLst>
                                      </p:cBhvr>
                                      <p:to>
                                        <p:strVal val="visible"/>
                                      </p:to>
                                    </p:set>
                                    <p:animEffect transition="in" filter="fade">
                                      <p:cBhvr>
                                        <p:cTn id="16" dur="500"/>
                                        <p:tgtEl>
                                          <p:spTgt spid="5858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85839"/>
                                        </p:tgtEl>
                                        <p:attrNameLst>
                                          <p:attrName>style.visibility</p:attrName>
                                        </p:attrNameLst>
                                      </p:cBhvr>
                                      <p:to>
                                        <p:strVal val="visible"/>
                                      </p:to>
                                    </p:set>
                                    <p:animEffect transition="in" filter="fade">
                                      <p:cBhvr>
                                        <p:cTn id="19" dur="500"/>
                                        <p:tgtEl>
                                          <p:spTgt spid="58583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85821"/>
                                        </p:tgtEl>
                                        <p:attrNameLst>
                                          <p:attrName>style.visibility</p:attrName>
                                        </p:attrNameLst>
                                      </p:cBhvr>
                                      <p:to>
                                        <p:strVal val="visible"/>
                                      </p:to>
                                    </p:set>
                                    <p:animEffect transition="in" filter="fade">
                                      <p:cBhvr>
                                        <p:cTn id="22" dur="500"/>
                                        <p:tgtEl>
                                          <p:spTgt spid="5858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9"/>
                                        </p:tgtEl>
                                        <p:attrNameLst>
                                          <p:attrName>style.visibility</p:attrName>
                                        </p:attrNameLst>
                                      </p:cBhvr>
                                      <p:to>
                                        <p:strVal val="visible"/>
                                      </p:to>
                                    </p:set>
                                    <p:animEffect transition="in" filter="fade">
                                      <p:cBhvr>
                                        <p:cTn id="27" dur="500"/>
                                        <p:tgtEl>
                                          <p:spTgt spid="6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85836"/>
                                        </p:tgtEl>
                                        <p:attrNameLst>
                                          <p:attrName>style.visibility</p:attrName>
                                        </p:attrNameLst>
                                      </p:cBhvr>
                                      <p:to>
                                        <p:strVal val="visible"/>
                                      </p:to>
                                    </p:set>
                                    <p:animEffect transition="in" filter="fade">
                                      <p:cBhvr>
                                        <p:cTn id="30" dur="500"/>
                                        <p:tgtEl>
                                          <p:spTgt spid="585836"/>
                                        </p:tgtEl>
                                      </p:cBhvr>
                                    </p:animEffect>
                                  </p:childTnLst>
                                </p:cTn>
                              </p:par>
                              <p:par>
                                <p:cTn id="31" presetID="10" presetClass="entr" presetSubtype="0" fill="hold" nodeType="withEffect">
                                  <p:stCondLst>
                                    <p:cond delay="0"/>
                                  </p:stCondLst>
                                  <p:childTnLst>
                                    <p:set>
                                      <p:cBhvr>
                                        <p:cTn id="32" dur="1" fill="hold">
                                          <p:stCondLst>
                                            <p:cond delay="0"/>
                                          </p:stCondLst>
                                        </p:cTn>
                                        <p:tgtEl>
                                          <p:spTgt spid="585848"/>
                                        </p:tgtEl>
                                        <p:attrNameLst>
                                          <p:attrName>style.visibility</p:attrName>
                                        </p:attrNameLst>
                                      </p:cBhvr>
                                      <p:to>
                                        <p:strVal val="visible"/>
                                      </p:to>
                                    </p:set>
                                    <p:animEffect transition="in" filter="fade">
                                      <p:cBhvr>
                                        <p:cTn id="33" dur="500"/>
                                        <p:tgtEl>
                                          <p:spTgt spid="58584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85816"/>
                                        </p:tgtEl>
                                        <p:attrNameLst>
                                          <p:attrName>style.visibility</p:attrName>
                                        </p:attrNameLst>
                                      </p:cBhvr>
                                      <p:to>
                                        <p:strVal val="visible"/>
                                      </p:to>
                                    </p:set>
                                    <p:animEffect transition="in" filter="fade">
                                      <p:cBhvr>
                                        <p:cTn id="36" dur="500"/>
                                        <p:tgtEl>
                                          <p:spTgt spid="5858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585838"/>
                                        </p:tgtEl>
                                        <p:attrNameLst>
                                          <p:attrName>style.visibility</p:attrName>
                                        </p:attrNameLst>
                                      </p:cBhvr>
                                      <p:to>
                                        <p:strVal val="visible"/>
                                      </p:to>
                                    </p:set>
                                    <p:animEffect transition="in" filter="fade">
                                      <p:cBhvr>
                                        <p:cTn id="39" dur="500"/>
                                        <p:tgtEl>
                                          <p:spTgt spid="58583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585828"/>
                                        </p:tgtEl>
                                        <p:attrNameLst>
                                          <p:attrName>style.visibility</p:attrName>
                                        </p:attrNameLst>
                                      </p:cBhvr>
                                      <p:to>
                                        <p:strVal val="visible"/>
                                      </p:to>
                                    </p:set>
                                    <p:animEffect transition="in" filter="fade">
                                      <p:cBhvr>
                                        <p:cTn id="42" dur="500"/>
                                        <p:tgtEl>
                                          <p:spTgt spid="585828"/>
                                        </p:tgtEl>
                                      </p:cBhvr>
                                    </p:animEffect>
                                  </p:childTnLst>
                                </p:cTn>
                              </p:par>
                            </p:childTnLst>
                          </p:cTn>
                        </p:par>
                        <p:par>
                          <p:cTn id="43" fill="hold">
                            <p:stCondLst>
                              <p:cond delay="500"/>
                            </p:stCondLst>
                            <p:childTnLst>
                              <p:par>
                                <p:cTn id="44" presetID="10" presetClass="entr" presetSubtype="0" fill="hold" grpId="0" nodeType="afterEffect">
                                  <p:stCondLst>
                                    <p:cond delay="0"/>
                                  </p:stCondLst>
                                  <p:childTnLst>
                                    <p:set>
                                      <p:cBhvr>
                                        <p:cTn id="45" dur="1" fill="hold">
                                          <p:stCondLst>
                                            <p:cond delay="0"/>
                                          </p:stCondLst>
                                        </p:cTn>
                                        <p:tgtEl>
                                          <p:spTgt spid="585835"/>
                                        </p:tgtEl>
                                        <p:attrNameLst>
                                          <p:attrName>style.visibility</p:attrName>
                                        </p:attrNameLst>
                                      </p:cBhvr>
                                      <p:to>
                                        <p:strVal val="visible"/>
                                      </p:to>
                                    </p:set>
                                    <p:animEffect transition="in" filter="fade">
                                      <p:cBhvr>
                                        <p:cTn id="46" dur="500"/>
                                        <p:tgtEl>
                                          <p:spTgt spid="585835"/>
                                        </p:tgtEl>
                                      </p:cBhvr>
                                    </p:animEffect>
                                  </p:childTnLst>
                                </p:cTn>
                              </p:par>
                            </p:childTnLst>
                          </p:cTn>
                        </p:par>
                        <p:par>
                          <p:cTn id="47" fill="hold">
                            <p:stCondLst>
                              <p:cond delay="1000"/>
                            </p:stCondLst>
                            <p:childTnLst>
                              <p:par>
                                <p:cTn id="48" presetID="10" presetClass="entr" presetSubtype="0" fill="hold" grpId="0" nodeType="afterEffect">
                                  <p:stCondLst>
                                    <p:cond delay="0"/>
                                  </p:stCondLst>
                                  <p:childTnLst>
                                    <p:set>
                                      <p:cBhvr>
                                        <p:cTn id="49" dur="1" fill="hold">
                                          <p:stCondLst>
                                            <p:cond delay="0"/>
                                          </p:stCondLst>
                                        </p:cTn>
                                        <p:tgtEl>
                                          <p:spTgt spid="585818"/>
                                        </p:tgtEl>
                                        <p:attrNameLst>
                                          <p:attrName>style.visibility</p:attrName>
                                        </p:attrNameLst>
                                      </p:cBhvr>
                                      <p:to>
                                        <p:strVal val="visible"/>
                                      </p:to>
                                    </p:set>
                                    <p:animEffect transition="in" filter="fade">
                                      <p:cBhvr>
                                        <p:cTn id="50" dur="500"/>
                                        <p:tgtEl>
                                          <p:spTgt spid="5858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585817"/>
                                        </p:tgtEl>
                                        <p:attrNameLst>
                                          <p:attrName>style.visibility</p:attrName>
                                        </p:attrNameLst>
                                      </p:cBhvr>
                                      <p:to>
                                        <p:strVal val="visible"/>
                                      </p:to>
                                    </p:set>
                                    <p:animEffect transition="in" filter="fade">
                                      <p:cBhvr>
                                        <p:cTn id="53" dur="500"/>
                                        <p:tgtEl>
                                          <p:spTgt spid="585817"/>
                                        </p:tgtEl>
                                      </p:cBhvr>
                                    </p:animEffect>
                                  </p:childTnLst>
                                </p:cTn>
                              </p:par>
                            </p:childTnLst>
                          </p:cTn>
                        </p:par>
                        <p:par>
                          <p:cTn id="54" fill="hold">
                            <p:stCondLst>
                              <p:cond delay="1500"/>
                            </p:stCondLst>
                            <p:childTnLst>
                              <p:par>
                                <p:cTn id="55" presetID="10" presetClass="entr" presetSubtype="0" fill="hold" grpId="0" nodeType="afterEffect">
                                  <p:stCondLst>
                                    <p:cond delay="0"/>
                                  </p:stCondLst>
                                  <p:childTnLst>
                                    <p:set>
                                      <p:cBhvr>
                                        <p:cTn id="56" dur="1" fill="hold">
                                          <p:stCondLst>
                                            <p:cond delay="0"/>
                                          </p:stCondLst>
                                        </p:cTn>
                                        <p:tgtEl>
                                          <p:spTgt spid="585737"/>
                                        </p:tgtEl>
                                        <p:attrNameLst>
                                          <p:attrName>style.visibility</p:attrName>
                                        </p:attrNameLst>
                                      </p:cBhvr>
                                      <p:to>
                                        <p:strVal val="visible"/>
                                      </p:to>
                                    </p:set>
                                    <p:animEffect transition="in" filter="fade">
                                      <p:cBhvr>
                                        <p:cTn id="57" dur="500"/>
                                        <p:tgtEl>
                                          <p:spTgt spid="585737"/>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xit" presetSubtype="0" fill="hold" grpId="1" nodeType="clickEffect">
                                  <p:stCondLst>
                                    <p:cond delay="0"/>
                                  </p:stCondLst>
                                  <p:childTnLst>
                                    <p:animEffect transition="out" filter="fade">
                                      <p:cBhvr>
                                        <p:cTn id="61" dur="500"/>
                                        <p:tgtEl>
                                          <p:spTgt spid="585737"/>
                                        </p:tgtEl>
                                      </p:cBhvr>
                                    </p:animEffect>
                                    <p:set>
                                      <p:cBhvr>
                                        <p:cTn id="62" dur="1" fill="hold">
                                          <p:stCondLst>
                                            <p:cond delay="499"/>
                                          </p:stCondLst>
                                        </p:cTn>
                                        <p:tgtEl>
                                          <p:spTgt spid="585737"/>
                                        </p:tgtEl>
                                        <p:attrNameLst>
                                          <p:attrName>style.visibility</p:attrName>
                                        </p:attrNameLst>
                                      </p:cBhvr>
                                      <p:to>
                                        <p:strVal val="hidden"/>
                                      </p:to>
                                    </p:set>
                                  </p:childTnLst>
                                </p:cTn>
                              </p:par>
                              <p:par>
                                <p:cTn id="63" presetID="10" presetClass="entr" presetSubtype="0" fill="hold" grpId="0" nodeType="withEffect">
                                  <p:stCondLst>
                                    <p:cond delay="0"/>
                                  </p:stCondLst>
                                  <p:childTnLst>
                                    <p:set>
                                      <p:cBhvr>
                                        <p:cTn id="64" dur="1" fill="hold">
                                          <p:stCondLst>
                                            <p:cond delay="0"/>
                                          </p:stCondLst>
                                        </p:cTn>
                                        <p:tgtEl>
                                          <p:spTgt spid="68"/>
                                        </p:tgtEl>
                                        <p:attrNameLst>
                                          <p:attrName>style.visibility</p:attrName>
                                        </p:attrNameLst>
                                      </p:cBhvr>
                                      <p:to>
                                        <p:strVal val="visible"/>
                                      </p:to>
                                    </p:set>
                                    <p:animEffect transition="in" filter="fade">
                                      <p:cBhvr>
                                        <p:cTn id="65" dur="500"/>
                                        <p:tgtEl>
                                          <p:spTgt spid="68"/>
                                        </p:tgtEl>
                                      </p:cBhvr>
                                    </p:animEffect>
                                  </p:childTnLst>
                                </p:cTn>
                              </p:par>
                            </p:childTnLst>
                          </p:cTn>
                        </p:par>
                        <p:par>
                          <p:cTn id="66" fill="hold">
                            <p:stCondLst>
                              <p:cond delay="500"/>
                            </p:stCondLst>
                            <p:childTnLst>
                              <p:par>
                                <p:cTn id="67" presetID="42" presetClass="path" presetSubtype="0" accel="50000" decel="50000" fill="hold" nodeType="afterEffect">
                                  <p:stCondLst>
                                    <p:cond delay="0"/>
                                  </p:stCondLst>
                                  <p:childTnLst>
                                    <p:animMotion origin="layout" path="M 3.88889E-6 3.7037E-6 L 0.00034 -0.06713 " pathEditMode="relative" rAng="0" ptsTypes="AA">
                                      <p:cBhvr>
                                        <p:cTn id="68" dur="2000" fill="hold"/>
                                        <p:tgtEl>
                                          <p:spTgt spid="585847"/>
                                        </p:tgtEl>
                                        <p:attrNameLst>
                                          <p:attrName>ppt_x</p:attrName>
                                          <p:attrName>ppt_y</p:attrName>
                                        </p:attrNameLst>
                                      </p:cBhvr>
                                      <p:rCtr x="17" y="-3356"/>
                                    </p:animMotion>
                                  </p:childTnLst>
                                </p:cTn>
                              </p:par>
                              <p:par>
                                <p:cTn id="69" presetID="42" presetClass="path" presetSubtype="0" accel="50000" decel="50000" fill="hold" nodeType="withEffect">
                                  <p:stCondLst>
                                    <p:cond delay="0"/>
                                  </p:stCondLst>
                                  <p:childTnLst>
                                    <p:animMotion origin="layout" path="M 5.55556E-7 2.22222E-6 L 0.00035 -0.06736 " pathEditMode="relative" rAng="0" ptsTypes="AA">
                                      <p:cBhvr>
                                        <p:cTn id="70" dur="2000" fill="hold"/>
                                        <p:tgtEl>
                                          <p:spTgt spid="69"/>
                                        </p:tgtEl>
                                        <p:attrNameLst>
                                          <p:attrName>ppt_x</p:attrName>
                                          <p:attrName>ppt_y</p:attrName>
                                        </p:attrNameLst>
                                      </p:cBhvr>
                                      <p:rCtr x="17" y="-3380"/>
                                    </p:animMotion>
                                  </p:childTnLst>
                                </p:cTn>
                              </p:par>
                              <p:par>
                                <p:cTn id="71" presetID="10" presetClass="exit" presetSubtype="0" fill="hold" nodeType="withEffect">
                                  <p:stCondLst>
                                    <p:cond delay="0"/>
                                  </p:stCondLst>
                                  <p:childTnLst>
                                    <p:animEffect transition="out" filter="fade">
                                      <p:cBhvr>
                                        <p:cTn id="72" dur="2000"/>
                                        <p:tgtEl>
                                          <p:spTgt spid="585849"/>
                                        </p:tgtEl>
                                      </p:cBhvr>
                                    </p:animEffect>
                                    <p:set>
                                      <p:cBhvr>
                                        <p:cTn id="73" dur="1" fill="hold">
                                          <p:stCondLst>
                                            <p:cond delay="1999"/>
                                          </p:stCondLst>
                                        </p:cTn>
                                        <p:tgtEl>
                                          <p:spTgt spid="585849"/>
                                        </p:tgtEl>
                                        <p:attrNameLst>
                                          <p:attrName>style.visibility</p:attrName>
                                        </p:attrNameLst>
                                      </p:cBhvr>
                                      <p:to>
                                        <p:strVal val="hidden"/>
                                      </p:to>
                                    </p:set>
                                  </p:childTnLst>
                                </p:cTn>
                              </p:par>
                              <p:par>
                                <p:cTn id="74" presetID="10" presetClass="exit" presetSubtype="0" fill="hold" nodeType="withEffect">
                                  <p:stCondLst>
                                    <p:cond delay="0"/>
                                  </p:stCondLst>
                                  <p:childTnLst>
                                    <p:animEffect transition="out" filter="fade">
                                      <p:cBhvr>
                                        <p:cTn id="75" dur="2000"/>
                                        <p:tgtEl>
                                          <p:spTgt spid="585847"/>
                                        </p:tgtEl>
                                      </p:cBhvr>
                                    </p:animEffect>
                                    <p:set>
                                      <p:cBhvr>
                                        <p:cTn id="76" dur="1" fill="hold">
                                          <p:stCondLst>
                                            <p:cond delay="1999"/>
                                          </p:stCondLst>
                                        </p:cTn>
                                        <p:tgtEl>
                                          <p:spTgt spid="585847"/>
                                        </p:tgtEl>
                                        <p:attrNameLst>
                                          <p:attrName>style.visibility</p:attrName>
                                        </p:attrNameLst>
                                      </p:cBhvr>
                                      <p:to>
                                        <p:strVal val="hidden"/>
                                      </p:to>
                                    </p:set>
                                  </p:childTnLst>
                                </p:cTn>
                              </p:par>
                              <p:par>
                                <p:cTn id="77" presetID="10" presetClass="exit" presetSubtype="0" fill="hold" nodeType="withEffect">
                                  <p:stCondLst>
                                    <p:cond delay="0"/>
                                  </p:stCondLst>
                                  <p:childTnLst>
                                    <p:animEffect transition="out" filter="fade">
                                      <p:cBhvr>
                                        <p:cTn id="78" dur="2000"/>
                                        <p:tgtEl>
                                          <p:spTgt spid="69"/>
                                        </p:tgtEl>
                                      </p:cBhvr>
                                    </p:animEffect>
                                    <p:set>
                                      <p:cBhvr>
                                        <p:cTn id="79" dur="1" fill="hold">
                                          <p:stCondLst>
                                            <p:cond delay="1999"/>
                                          </p:stCondLst>
                                        </p:cTn>
                                        <p:tgtEl>
                                          <p:spTgt spid="69"/>
                                        </p:tgtEl>
                                        <p:attrNameLst>
                                          <p:attrName>style.visibility</p:attrName>
                                        </p:attrNameLst>
                                      </p:cBhvr>
                                      <p:to>
                                        <p:strVal val="hidden"/>
                                      </p:to>
                                    </p:set>
                                  </p:childTnLst>
                                </p:cTn>
                              </p:par>
                              <p:par>
                                <p:cTn id="80" presetID="10" presetClass="exit" presetSubtype="0" fill="hold" grpId="1" nodeType="withEffect">
                                  <p:stCondLst>
                                    <p:cond delay="0"/>
                                  </p:stCondLst>
                                  <p:childTnLst>
                                    <p:animEffect transition="out" filter="fade">
                                      <p:cBhvr>
                                        <p:cTn id="81" dur="500"/>
                                        <p:tgtEl>
                                          <p:spTgt spid="585815"/>
                                        </p:tgtEl>
                                      </p:cBhvr>
                                    </p:animEffect>
                                    <p:set>
                                      <p:cBhvr>
                                        <p:cTn id="82" dur="1" fill="hold">
                                          <p:stCondLst>
                                            <p:cond delay="499"/>
                                          </p:stCondLst>
                                        </p:cTn>
                                        <p:tgtEl>
                                          <p:spTgt spid="585815"/>
                                        </p:tgtEl>
                                        <p:attrNameLst>
                                          <p:attrName>style.visibility</p:attrName>
                                        </p:attrNameLst>
                                      </p:cBhvr>
                                      <p:to>
                                        <p:strVal val="hidden"/>
                                      </p:to>
                                    </p:set>
                                  </p:childTnLst>
                                </p:cTn>
                              </p:par>
                              <p:par>
                                <p:cTn id="83" presetID="10" presetClass="exit" presetSubtype="0" fill="hold" grpId="1" nodeType="withEffect">
                                  <p:stCondLst>
                                    <p:cond delay="0"/>
                                  </p:stCondLst>
                                  <p:childTnLst>
                                    <p:animEffect transition="out" filter="fade">
                                      <p:cBhvr>
                                        <p:cTn id="84" dur="500"/>
                                        <p:tgtEl>
                                          <p:spTgt spid="585839"/>
                                        </p:tgtEl>
                                      </p:cBhvr>
                                    </p:animEffect>
                                    <p:set>
                                      <p:cBhvr>
                                        <p:cTn id="85" dur="1" fill="hold">
                                          <p:stCondLst>
                                            <p:cond delay="499"/>
                                          </p:stCondLst>
                                        </p:cTn>
                                        <p:tgtEl>
                                          <p:spTgt spid="585839"/>
                                        </p:tgtEl>
                                        <p:attrNameLst>
                                          <p:attrName>style.visibility</p:attrName>
                                        </p:attrNameLst>
                                      </p:cBhvr>
                                      <p:to>
                                        <p:strVal val="hidden"/>
                                      </p:to>
                                    </p:set>
                                  </p:childTnLst>
                                </p:cTn>
                              </p:par>
                              <p:par>
                                <p:cTn id="86" presetID="10" presetClass="exit" presetSubtype="0" fill="hold" grpId="1" nodeType="withEffect">
                                  <p:stCondLst>
                                    <p:cond delay="0"/>
                                  </p:stCondLst>
                                  <p:childTnLst>
                                    <p:animEffect transition="out" filter="fade">
                                      <p:cBhvr>
                                        <p:cTn id="87" dur="500"/>
                                        <p:tgtEl>
                                          <p:spTgt spid="585821"/>
                                        </p:tgtEl>
                                      </p:cBhvr>
                                    </p:animEffect>
                                    <p:set>
                                      <p:cBhvr>
                                        <p:cTn id="88" dur="1" fill="hold">
                                          <p:stCondLst>
                                            <p:cond delay="499"/>
                                          </p:stCondLst>
                                        </p:cTn>
                                        <p:tgtEl>
                                          <p:spTgt spid="585821"/>
                                        </p:tgtEl>
                                        <p:attrNameLst>
                                          <p:attrName>style.visibility</p:attrName>
                                        </p:attrNameLst>
                                      </p:cBhvr>
                                      <p:to>
                                        <p:strVal val="hidden"/>
                                      </p:to>
                                    </p:set>
                                  </p:childTnLst>
                                </p:cTn>
                              </p:par>
                              <p:par>
                                <p:cTn id="89" presetID="10" presetClass="exit" presetSubtype="0" fill="hold" nodeType="withEffect">
                                  <p:stCondLst>
                                    <p:cond delay="0"/>
                                  </p:stCondLst>
                                  <p:childTnLst>
                                    <p:animEffect transition="out" filter="fade">
                                      <p:cBhvr>
                                        <p:cTn id="90" dur="500"/>
                                        <p:tgtEl>
                                          <p:spTgt spid="585848"/>
                                        </p:tgtEl>
                                      </p:cBhvr>
                                    </p:animEffect>
                                    <p:set>
                                      <p:cBhvr>
                                        <p:cTn id="91" dur="1" fill="hold">
                                          <p:stCondLst>
                                            <p:cond delay="499"/>
                                          </p:stCondLst>
                                        </p:cTn>
                                        <p:tgtEl>
                                          <p:spTgt spid="585848"/>
                                        </p:tgtEl>
                                        <p:attrNameLst>
                                          <p:attrName>style.visibility</p:attrName>
                                        </p:attrNameLst>
                                      </p:cBhvr>
                                      <p:to>
                                        <p:strVal val="hidden"/>
                                      </p:to>
                                    </p:set>
                                  </p:childTnLst>
                                </p:cTn>
                              </p:par>
                              <p:par>
                                <p:cTn id="92" presetID="10" presetClass="exit" presetSubtype="0" fill="hold" grpId="1" nodeType="withEffect">
                                  <p:stCondLst>
                                    <p:cond delay="0"/>
                                  </p:stCondLst>
                                  <p:childTnLst>
                                    <p:animEffect transition="out" filter="fade">
                                      <p:cBhvr>
                                        <p:cTn id="93" dur="500"/>
                                        <p:tgtEl>
                                          <p:spTgt spid="585816"/>
                                        </p:tgtEl>
                                      </p:cBhvr>
                                    </p:animEffect>
                                    <p:set>
                                      <p:cBhvr>
                                        <p:cTn id="94" dur="1" fill="hold">
                                          <p:stCondLst>
                                            <p:cond delay="499"/>
                                          </p:stCondLst>
                                        </p:cTn>
                                        <p:tgtEl>
                                          <p:spTgt spid="585816"/>
                                        </p:tgtEl>
                                        <p:attrNameLst>
                                          <p:attrName>style.visibility</p:attrName>
                                        </p:attrNameLst>
                                      </p:cBhvr>
                                      <p:to>
                                        <p:strVal val="hidden"/>
                                      </p:to>
                                    </p:set>
                                  </p:childTnLst>
                                </p:cTn>
                              </p:par>
                              <p:par>
                                <p:cTn id="95" presetID="10" presetClass="exit" presetSubtype="0" fill="hold" grpId="1" nodeType="withEffect">
                                  <p:stCondLst>
                                    <p:cond delay="0"/>
                                  </p:stCondLst>
                                  <p:childTnLst>
                                    <p:animEffect transition="out" filter="fade">
                                      <p:cBhvr>
                                        <p:cTn id="96" dur="500"/>
                                        <p:tgtEl>
                                          <p:spTgt spid="585838"/>
                                        </p:tgtEl>
                                      </p:cBhvr>
                                    </p:animEffect>
                                    <p:set>
                                      <p:cBhvr>
                                        <p:cTn id="97" dur="1" fill="hold">
                                          <p:stCondLst>
                                            <p:cond delay="499"/>
                                          </p:stCondLst>
                                        </p:cTn>
                                        <p:tgtEl>
                                          <p:spTgt spid="585838"/>
                                        </p:tgtEl>
                                        <p:attrNameLst>
                                          <p:attrName>style.visibility</p:attrName>
                                        </p:attrNameLst>
                                      </p:cBhvr>
                                      <p:to>
                                        <p:strVal val="hidden"/>
                                      </p:to>
                                    </p:set>
                                  </p:childTnLst>
                                </p:cTn>
                              </p:par>
                              <p:par>
                                <p:cTn id="98" presetID="10" presetClass="exit" presetSubtype="0" fill="hold" grpId="1" nodeType="withEffect">
                                  <p:stCondLst>
                                    <p:cond delay="0"/>
                                  </p:stCondLst>
                                  <p:childTnLst>
                                    <p:animEffect transition="out" filter="fade">
                                      <p:cBhvr>
                                        <p:cTn id="99" dur="500"/>
                                        <p:tgtEl>
                                          <p:spTgt spid="585828"/>
                                        </p:tgtEl>
                                      </p:cBhvr>
                                    </p:animEffect>
                                    <p:set>
                                      <p:cBhvr>
                                        <p:cTn id="100" dur="1" fill="hold">
                                          <p:stCondLst>
                                            <p:cond delay="499"/>
                                          </p:stCondLst>
                                        </p:cTn>
                                        <p:tgtEl>
                                          <p:spTgt spid="585828"/>
                                        </p:tgtEl>
                                        <p:attrNameLst>
                                          <p:attrName>style.visibility</p:attrName>
                                        </p:attrNameLst>
                                      </p:cBhvr>
                                      <p:to>
                                        <p:strVal val="hidden"/>
                                      </p:to>
                                    </p:set>
                                  </p:childTnLst>
                                </p:cTn>
                              </p:par>
                              <p:par>
                                <p:cTn id="101" presetID="10" presetClass="exit" presetSubtype="0" fill="hold" grpId="1" nodeType="withEffect">
                                  <p:stCondLst>
                                    <p:cond delay="0"/>
                                  </p:stCondLst>
                                  <p:childTnLst>
                                    <p:animEffect transition="out" filter="fade">
                                      <p:cBhvr>
                                        <p:cTn id="102" dur="500"/>
                                        <p:tgtEl>
                                          <p:spTgt spid="585837"/>
                                        </p:tgtEl>
                                      </p:cBhvr>
                                    </p:animEffect>
                                    <p:set>
                                      <p:cBhvr>
                                        <p:cTn id="103" dur="1" fill="hold">
                                          <p:stCondLst>
                                            <p:cond delay="499"/>
                                          </p:stCondLst>
                                        </p:cTn>
                                        <p:tgtEl>
                                          <p:spTgt spid="585837"/>
                                        </p:tgtEl>
                                        <p:attrNameLst>
                                          <p:attrName>style.visibility</p:attrName>
                                        </p:attrNameLst>
                                      </p:cBhvr>
                                      <p:to>
                                        <p:strVal val="hidden"/>
                                      </p:to>
                                    </p:set>
                                  </p:childTnLst>
                                </p:cTn>
                              </p:par>
                              <p:par>
                                <p:cTn id="104" presetID="10" presetClass="exit" presetSubtype="0" fill="hold" grpId="1" nodeType="withEffect">
                                  <p:stCondLst>
                                    <p:cond delay="0"/>
                                  </p:stCondLst>
                                  <p:childTnLst>
                                    <p:animEffect transition="out" filter="fade">
                                      <p:cBhvr>
                                        <p:cTn id="105" dur="500"/>
                                        <p:tgtEl>
                                          <p:spTgt spid="585836"/>
                                        </p:tgtEl>
                                      </p:cBhvr>
                                    </p:animEffect>
                                    <p:set>
                                      <p:cBhvr>
                                        <p:cTn id="106" dur="1" fill="hold">
                                          <p:stCondLst>
                                            <p:cond delay="499"/>
                                          </p:stCondLst>
                                        </p:cTn>
                                        <p:tgtEl>
                                          <p:spTgt spid="585836"/>
                                        </p:tgtEl>
                                        <p:attrNameLst>
                                          <p:attrName>style.visibility</p:attrName>
                                        </p:attrNameLst>
                                      </p:cBhvr>
                                      <p:to>
                                        <p:strVal val="hidden"/>
                                      </p:to>
                                    </p:set>
                                  </p:childTnLst>
                                </p:cTn>
                              </p:par>
                              <p:par>
                                <p:cTn id="107" presetID="10" presetClass="exit" presetSubtype="0" fill="hold" grpId="1" nodeType="withEffect">
                                  <p:stCondLst>
                                    <p:cond delay="0"/>
                                  </p:stCondLst>
                                  <p:childTnLst>
                                    <p:animEffect transition="out" filter="fade">
                                      <p:cBhvr>
                                        <p:cTn id="108" dur="500"/>
                                        <p:tgtEl>
                                          <p:spTgt spid="585835"/>
                                        </p:tgtEl>
                                      </p:cBhvr>
                                    </p:animEffect>
                                    <p:set>
                                      <p:cBhvr>
                                        <p:cTn id="109" dur="1" fill="hold">
                                          <p:stCondLst>
                                            <p:cond delay="499"/>
                                          </p:stCondLst>
                                        </p:cTn>
                                        <p:tgtEl>
                                          <p:spTgt spid="585835"/>
                                        </p:tgtEl>
                                        <p:attrNameLst>
                                          <p:attrName>style.visibility</p:attrName>
                                        </p:attrNameLst>
                                      </p:cBhvr>
                                      <p:to>
                                        <p:strVal val="hidden"/>
                                      </p:to>
                                    </p:set>
                                  </p:childTnLst>
                                </p:cTn>
                              </p:par>
                              <p:par>
                                <p:cTn id="110" presetID="10" presetClass="exit" presetSubtype="0" fill="hold" grpId="1" nodeType="withEffect">
                                  <p:stCondLst>
                                    <p:cond delay="0"/>
                                  </p:stCondLst>
                                  <p:childTnLst>
                                    <p:animEffect transition="out" filter="fade">
                                      <p:cBhvr>
                                        <p:cTn id="111" dur="500"/>
                                        <p:tgtEl>
                                          <p:spTgt spid="585818"/>
                                        </p:tgtEl>
                                      </p:cBhvr>
                                    </p:animEffect>
                                    <p:set>
                                      <p:cBhvr>
                                        <p:cTn id="112" dur="1" fill="hold">
                                          <p:stCondLst>
                                            <p:cond delay="499"/>
                                          </p:stCondLst>
                                        </p:cTn>
                                        <p:tgtEl>
                                          <p:spTgt spid="585818"/>
                                        </p:tgtEl>
                                        <p:attrNameLst>
                                          <p:attrName>style.visibility</p:attrName>
                                        </p:attrNameLst>
                                      </p:cBhvr>
                                      <p:to>
                                        <p:strVal val="hidden"/>
                                      </p:to>
                                    </p:set>
                                  </p:childTnLst>
                                </p:cTn>
                              </p:par>
                              <p:par>
                                <p:cTn id="113" presetID="10" presetClass="exit" presetSubtype="0" fill="hold" grpId="1" nodeType="withEffect">
                                  <p:stCondLst>
                                    <p:cond delay="0"/>
                                  </p:stCondLst>
                                  <p:childTnLst>
                                    <p:animEffect transition="out" filter="fade">
                                      <p:cBhvr>
                                        <p:cTn id="114" dur="500"/>
                                        <p:tgtEl>
                                          <p:spTgt spid="585817"/>
                                        </p:tgtEl>
                                      </p:cBhvr>
                                    </p:animEffect>
                                    <p:set>
                                      <p:cBhvr>
                                        <p:cTn id="115" dur="1" fill="hold">
                                          <p:stCondLst>
                                            <p:cond delay="499"/>
                                          </p:stCondLst>
                                        </p:cTn>
                                        <p:tgtEl>
                                          <p:spTgt spid="5858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5835" grpId="0" animBg="1"/>
      <p:bldP spid="585835" grpId="1" animBg="1"/>
      <p:bldP spid="585815" grpId="0" animBg="1"/>
      <p:bldP spid="585815" grpId="1" animBg="1"/>
      <p:bldP spid="585816" grpId="0" animBg="1"/>
      <p:bldP spid="585816" grpId="1" animBg="1"/>
      <p:bldP spid="585817" grpId="0" animBg="1"/>
      <p:bldP spid="585817" grpId="1" animBg="1"/>
      <p:bldP spid="585818" grpId="0"/>
      <p:bldP spid="585818" grpId="1"/>
      <p:bldP spid="585821" grpId="0" animBg="1"/>
      <p:bldP spid="585821" grpId="1" animBg="1"/>
      <p:bldP spid="585828" grpId="0" animBg="1"/>
      <p:bldP spid="585828" grpId="1" animBg="1"/>
      <p:bldP spid="585836" grpId="0" animBg="1"/>
      <p:bldP spid="585836" grpId="1" animBg="1"/>
      <p:bldP spid="585837" grpId="0" animBg="1"/>
      <p:bldP spid="585837" grpId="1" animBg="1"/>
      <p:bldP spid="585838" grpId="0"/>
      <p:bldP spid="585838" grpId="1"/>
      <p:bldP spid="585839" grpId="0"/>
      <p:bldP spid="585839" grpId="1"/>
      <p:bldP spid="585737" grpId="0"/>
      <p:bldP spid="585737" grpId="1"/>
      <p:bldP spid="6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3962400" y="1219200"/>
            <a:ext cx="5029200" cy="5137150"/>
          </a:xfrm>
        </p:spPr>
        <p:txBody>
          <a:bodyPr/>
          <a:lstStyle/>
          <a:p>
            <a:pPr eaLnBrk="1" hangingPunct="1">
              <a:lnSpc>
                <a:spcPct val="90000"/>
              </a:lnSpc>
              <a:buFont typeface="Arial" pitchFamily="34" charset="0"/>
              <a:buNone/>
              <a:defRPr/>
            </a:pPr>
            <a:r>
              <a:rPr lang="en-US" sz="2400" dirty="0"/>
              <a:t>At $5, quantity supplied is ______ and quantity demanded is ______, leading to a _______.</a:t>
            </a:r>
          </a:p>
          <a:p>
            <a:pPr eaLnBrk="1" hangingPunct="1">
              <a:lnSpc>
                <a:spcPct val="90000"/>
              </a:lnSpc>
              <a:buFont typeface="Calibri" pitchFamily="34" charset="0"/>
              <a:buAutoNum type="alphaLcParenR"/>
              <a:defRPr/>
            </a:pPr>
            <a:r>
              <a:rPr lang="en-US" sz="2400" dirty="0"/>
              <a:t> 13; 6; surplus of 3 units</a:t>
            </a:r>
          </a:p>
          <a:p>
            <a:pPr eaLnBrk="1" hangingPunct="1">
              <a:lnSpc>
                <a:spcPct val="90000"/>
              </a:lnSpc>
              <a:buFont typeface="Calibri" pitchFamily="34" charset="0"/>
              <a:buAutoNum type="alphaLcParenR"/>
              <a:defRPr/>
            </a:pPr>
            <a:r>
              <a:rPr lang="en-US" sz="2400" dirty="0"/>
              <a:t> 13; 6; surplus of 4 units</a:t>
            </a:r>
          </a:p>
          <a:p>
            <a:pPr eaLnBrk="1" hangingPunct="1">
              <a:lnSpc>
                <a:spcPct val="90000"/>
              </a:lnSpc>
              <a:buFont typeface="Calibri" pitchFamily="34" charset="0"/>
              <a:buAutoNum type="alphaLcParenR"/>
              <a:defRPr/>
            </a:pPr>
            <a:r>
              <a:rPr lang="en-US" sz="2400" dirty="0"/>
              <a:t> 13; 6; surplus of 7 units</a:t>
            </a:r>
          </a:p>
          <a:p>
            <a:pPr eaLnBrk="1" hangingPunct="1">
              <a:lnSpc>
                <a:spcPct val="90000"/>
              </a:lnSpc>
              <a:buFont typeface="Calibri" pitchFamily="34" charset="0"/>
              <a:buAutoNum type="alphaLcParenR"/>
              <a:defRPr/>
            </a:pPr>
            <a:r>
              <a:rPr lang="en-US" sz="2400" dirty="0"/>
              <a:t> 13; 6; shortage of 4 units</a:t>
            </a:r>
          </a:p>
          <a:p>
            <a:pPr eaLnBrk="1" hangingPunct="1">
              <a:lnSpc>
                <a:spcPct val="90000"/>
              </a:lnSpc>
              <a:buFont typeface="Arial" pitchFamily="34" charset="0"/>
              <a:buNone/>
              <a:defRPr/>
            </a:pPr>
            <a:endParaRPr lang="en-US" sz="2400" dirty="0"/>
          </a:p>
        </p:txBody>
      </p:sp>
      <p:sp>
        <p:nvSpPr>
          <p:cNvPr id="9" name="Oval 8"/>
          <p:cNvSpPr/>
          <p:nvPr/>
        </p:nvSpPr>
        <p:spPr>
          <a:xfrm>
            <a:off x="8382000" y="6096000"/>
            <a:ext cx="744538" cy="747713"/>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Century Gothic"/>
              <a:cs typeface="Century Gothic"/>
            </a:endParaRPr>
          </a:p>
        </p:txBody>
      </p:sp>
      <p:sp>
        <p:nvSpPr>
          <p:cNvPr id="77831" name="TextBox 9">
            <a:hlinkClick r:id="rId3" action="ppaction://hlinksldjump"/>
          </p:cNvPr>
          <p:cNvSpPr txBox="1">
            <a:spLocks noChangeArrowheads="1"/>
          </p:cNvSpPr>
          <p:nvPr/>
        </p:nvSpPr>
        <p:spPr bwMode="auto">
          <a:xfrm>
            <a:off x="8428038" y="6203950"/>
            <a:ext cx="6699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900" dirty="0">
                <a:latin typeface="Century Gothic"/>
                <a:cs typeface="Century Gothic"/>
                <a:hlinkClick r:id="rId3" action="ppaction://hlinksldjump"/>
              </a:rPr>
              <a:t>Back to Table of contents</a:t>
            </a:r>
            <a:endParaRPr lang="en-US" sz="900" dirty="0">
              <a:latin typeface="Century Gothic"/>
              <a:cs typeface="Century Gothic"/>
            </a:endParaRPr>
          </a:p>
          <a:p>
            <a:pPr eaLnBrk="1" hangingPunct="1"/>
            <a:endParaRPr lang="en-US" sz="900" dirty="0">
              <a:latin typeface="Century Gothic"/>
              <a:cs typeface="Century Gothic"/>
            </a:endParaRPr>
          </a:p>
        </p:txBody>
      </p:sp>
      <p:cxnSp>
        <p:nvCxnSpPr>
          <p:cNvPr id="13" name="Straight Connector 86"/>
          <p:cNvCxnSpPr>
            <a:cxnSpLocks noChangeShapeType="1"/>
          </p:cNvCxnSpPr>
          <p:nvPr/>
        </p:nvCxnSpPr>
        <p:spPr bwMode="auto">
          <a:xfrm>
            <a:off x="887412" y="3878263"/>
            <a:ext cx="1820862" cy="3175"/>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sp>
        <p:nvSpPr>
          <p:cNvPr id="14" name="Line 29"/>
          <p:cNvSpPr>
            <a:spLocks noChangeShapeType="1"/>
          </p:cNvSpPr>
          <p:nvPr/>
        </p:nvSpPr>
        <p:spPr bwMode="auto">
          <a:xfrm flipV="1">
            <a:off x="660399" y="957263"/>
            <a:ext cx="0" cy="4003675"/>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15" name="Freeform 30"/>
          <p:cNvSpPr>
            <a:spLocks/>
          </p:cNvSpPr>
          <p:nvPr/>
        </p:nvSpPr>
        <p:spPr bwMode="auto">
          <a:xfrm>
            <a:off x="660399" y="5048250"/>
            <a:ext cx="268288" cy="165100"/>
          </a:xfrm>
          <a:custGeom>
            <a:avLst/>
            <a:gdLst>
              <a:gd name="T0" fmla="*/ 155 w 155"/>
              <a:gd name="T1" fmla="*/ 97 h 97"/>
              <a:gd name="T2" fmla="*/ 0 w 155"/>
              <a:gd name="T3" fmla="*/ 97 h 97"/>
              <a:gd name="T4" fmla="*/ 0 w 155"/>
              <a:gd name="T5" fmla="*/ 0 h 97"/>
            </a:gdLst>
            <a:ahLst/>
            <a:cxnLst>
              <a:cxn ang="0">
                <a:pos x="T0" y="T1"/>
              </a:cxn>
              <a:cxn ang="0">
                <a:pos x="T2" y="T3"/>
              </a:cxn>
              <a:cxn ang="0">
                <a:pos x="T4" y="T5"/>
              </a:cxn>
            </a:cxnLst>
            <a:rect l="0" t="0" r="r" b="b"/>
            <a:pathLst>
              <a:path w="155" h="97">
                <a:moveTo>
                  <a:pt x="155" y="97"/>
                </a:moveTo>
                <a:lnTo>
                  <a:pt x="0" y="97"/>
                </a:lnTo>
                <a:lnTo>
                  <a:pt x="0" y="0"/>
                </a:lnTo>
              </a:path>
            </a:pathLst>
          </a:custGeom>
          <a:noFill/>
          <a:ln w="95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16" name="Line 31"/>
          <p:cNvSpPr>
            <a:spLocks noChangeShapeType="1"/>
          </p:cNvSpPr>
          <p:nvPr/>
        </p:nvSpPr>
        <p:spPr bwMode="auto">
          <a:xfrm flipH="1">
            <a:off x="1104899" y="5213350"/>
            <a:ext cx="4483100"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17" name="Rectangle 32"/>
          <p:cNvSpPr>
            <a:spLocks noChangeArrowheads="1"/>
          </p:cNvSpPr>
          <p:nvPr/>
        </p:nvSpPr>
        <p:spPr bwMode="auto">
          <a:xfrm>
            <a:off x="1430337" y="5256213"/>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dirty="0">
                <a:solidFill>
                  <a:srgbClr val="000000"/>
                </a:solidFill>
                <a:latin typeface="Century Gothic"/>
                <a:cs typeface="Century Gothic"/>
              </a:rPr>
              <a:t>4</a:t>
            </a:r>
            <a:endParaRPr lang="en-US" sz="1400" dirty="0">
              <a:latin typeface="Century Gothic"/>
              <a:cs typeface="Century Gothic"/>
            </a:endParaRPr>
          </a:p>
        </p:txBody>
      </p:sp>
      <p:sp>
        <p:nvSpPr>
          <p:cNvPr id="18" name="Rectangle 33"/>
          <p:cNvSpPr>
            <a:spLocks noChangeArrowheads="1"/>
          </p:cNvSpPr>
          <p:nvPr/>
        </p:nvSpPr>
        <p:spPr bwMode="auto">
          <a:xfrm>
            <a:off x="468312" y="5256213"/>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0</a:t>
            </a:r>
            <a:endParaRPr lang="en-US" sz="1400">
              <a:latin typeface="Century Gothic"/>
              <a:cs typeface="Century Gothic"/>
            </a:endParaRPr>
          </a:p>
        </p:txBody>
      </p:sp>
      <p:sp>
        <p:nvSpPr>
          <p:cNvPr id="19" name="Rectangle 34"/>
          <p:cNvSpPr>
            <a:spLocks noChangeArrowheads="1"/>
          </p:cNvSpPr>
          <p:nvPr/>
        </p:nvSpPr>
        <p:spPr bwMode="auto">
          <a:xfrm>
            <a:off x="2609849" y="5256213"/>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10</a:t>
            </a:r>
            <a:endParaRPr lang="en-US" sz="1400">
              <a:latin typeface="Century Gothic"/>
              <a:cs typeface="Century Gothic"/>
            </a:endParaRPr>
          </a:p>
        </p:txBody>
      </p:sp>
      <p:sp>
        <p:nvSpPr>
          <p:cNvPr id="20" name="Rectangle 35"/>
          <p:cNvSpPr>
            <a:spLocks noChangeArrowheads="1"/>
          </p:cNvSpPr>
          <p:nvPr/>
        </p:nvSpPr>
        <p:spPr bwMode="auto">
          <a:xfrm>
            <a:off x="4662487" y="5256213"/>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dirty="0">
                <a:solidFill>
                  <a:srgbClr val="000000"/>
                </a:solidFill>
                <a:latin typeface="Century Gothic"/>
                <a:cs typeface="Century Gothic"/>
              </a:rPr>
              <a:t>22</a:t>
            </a:r>
            <a:endParaRPr lang="en-US" sz="1400" dirty="0">
              <a:latin typeface="Century Gothic"/>
              <a:cs typeface="Century Gothic"/>
            </a:endParaRPr>
          </a:p>
        </p:txBody>
      </p:sp>
      <p:sp>
        <p:nvSpPr>
          <p:cNvPr id="21" name="Rectangle 36"/>
          <p:cNvSpPr>
            <a:spLocks noChangeArrowheads="1"/>
          </p:cNvSpPr>
          <p:nvPr/>
        </p:nvSpPr>
        <p:spPr bwMode="auto">
          <a:xfrm>
            <a:off x="3841749" y="5256213"/>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dirty="0">
                <a:solidFill>
                  <a:srgbClr val="000000"/>
                </a:solidFill>
                <a:latin typeface="Century Gothic"/>
                <a:cs typeface="Century Gothic"/>
              </a:rPr>
              <a:t>18</a:t>
            </a:r>
            <a:endParaRPr lang="en-US" sz="1400" dirty="0">
              <a:latin typeface="Century Gothic"/>
              <a:cs typeface="Century Gothic"/>
            </a:endParaRPr>
          </a:p>
        </p:txBody>
      </p:sp>
      <p:sp>
        <p:nvSpPr>
          <p:cNvPr id="22" name="Rectangle 37"/>
          <p:cNvSpPr>
            <a:spLocks noChangeArrowheads="1"/>
          </p:cNvSpPr>
          <p:nvPr/>
        </p:nvSpPr>
        <p:spPr bwMode="auto">
          <a:xfrm>
            <a:off x="5484812" y="5256213"/>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dirty="0">
                <a:solidFill>
                  <a:srgbClr val="000000"/>
                </a:solidFill>
                <a:latin typeface="Century Gothic"/>
                <a:cs typeface="Century Gothic"/>
              </a:rPr>
              <a:t>27</a:t>
            </a:r>
            <a:endParaRPr lang="en-US" sz="1400" dirty="0">
              <a:latin typeface="Century Gothic"/>
              <a:cs typeface="Century Gothic"/>
            </a:endParaRPr>
          </a:p>
        </p:txBody>
      </p:sp>
      <p:sp>
        <p:nvSpPr>
          <p:cNvPr id="23" name="Line 48"/>
          <p:cNvSpPr>
            <a:spLocks noChangeShapeType="1"/>
          </p:cNvSpPr>
          <p:nvPr/>
        </p:nvSpPr>
        <p:spPr bwMode="auto">
          <a:xfrm>
            <a:off x="660399" y="2058988"/>
            <a:ext cx="133350"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24" name="Line 49"/>
          <p:cNvSpPr>
            <a:spLocks noChangeShapeType="1"/>
          </p:cNvSpPr>
          <p:nvPr/>
        </p:nvSpPr>
        <p:spPr bwMode="auto">
          <a:xfrm>
            <a:off x="660399" y="2508250"/>
            <a:ext cx="133350"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25" name="Line 50"/>
          <p:cNvSpPr>
            <a:spLocks noChangeShapeType="1"/>
          </p:cNvSpPr>
          <p:nvPr/>
        </p:nvSpPr>
        <p:spPr bwMode="auto">
          <a:xfrm>
            <a:off x="660399" y="2955925"/>
            <a:ext cx="133350"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26" name="Line 51"/>
          <p:cNvSpPr>
            <a:spLocks noChangeShapeType="1"/>
          </p:cNvSpPr>
          <p:nvPr/>
        </p:nvSpPr>
        <p:spPr bwMode="auto">
          <a:xfrm>
            <a:off x="660399" y="3409950"/>
            <a:ext cx="133350"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27" name="Line 52"/>
          <p:cNvSpPr>
            <a:spLocks noChangeShapeType="1"/>
          </p:cNvSpPr>
          <p:nvPr/>
        </p:nvSpPr>
        <p:spPr bwMode="auto">
          <a:xfrm>
            <a:off x="660399" y="4308475"/>
            <a:ext cx="133350"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28" name="Line 53"/>
          <p:cNvSpPr>
            <a:spLocks noChangeShapeType="1"/>
          </p:cNvSpPr>
          <p:nvPr/>
        </p:nvSpPr>
        <p:spPr bwMode="auto">
          <a:xfrm>
            <a:off x="660399" y="3859213"/>
            <a:ext cx="133350"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29" name="Line 54"/>
          <p:cNvSpPr>
            <a:spLocks noChangeShapeType="1"/>
          </p:cNvSpPr>
          <p:nvPr/>
        </p:nvSpPr>
        <p:spPr bwMode="auto">
          <a:xfrm>
            <a:off x="660399" y="4757738"/>
            <a:ext cx="133350"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30" name="Line 55"/>
          <p:cNvSpPr>
            <a:spLocks noChangeShapeType="1"/>
          </p:cNvSpPr>
          <p:nvPr/>
        </p:nvSpPr>
        <p:spPr bwMode="auto">
          <a:xfrm flipV="1">
            <a:off x="1482724" y="5081588"/>
            <a:ext cx="0" cy="13176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31" name="Line 56"/>
          <p:cNvSpPr>
            <a:spLocks noChangeShapeType="1"/>
          </p:cNvSpPr>
          <p:nvPr/>
        </p:nvSpPr>
        <p:spPr bwMode="auto">
          <a:xfrm flipV="1">
            <a:off x="1931987" y="5081588"/>
            <a:ext cx="0" cy="13176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32" name="Line 57"/>
          <p:cNvSpPr>
            <a:spLocks noChangeShapeType="1"/>
          </p:cNvSpPr>
          <p:nvPr/>
        </p:nvSpPr>
        <p:spPr bwMode="auto">
          <a:xfrm flipV="1">
            <a:off x="2713037" y="5081588"/>
            <a:ext cx="0" cy="13176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33" name="Line 58"/>
          <p:cNvSpPr>
            <a:spLocks noChangeShapeType="1"/>
          </p:cNvSpPr>
          <p:nvPr/>
        </p:nvSpPr>
        <p:spPr bwMode="auto">
          <a:xfrm flipV="1">
            <a:off x="3203574" y="5081588"/>
            <a:ext cx="0" cy="13176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34" name="Line 59"/>
          <p:cNvSpPr>
            <a:spLocks noChangeShapeType="1"/>
          </p:cNvSpPr>
          <p:nvPr/>
        </p:nvSpPr>
        <p:spPr bwMode="auto">
          <a:xfrm flipV="1">
            <a:off x="3946524" y="5081588"/>
            <a:ext cx="0" cy="13176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35" name="Line 60"/>
          <p:cNvSpPr>
            <a:spLocks noChangeShapeType="1"/>
          </p:cNvSpPr>
          <p:nvPr/>
        </p:nvSpPr>
        <p:spPr bwMode="auto">
          <a:xfrm flipV="1">
            <a:off x="4767262" y="5081588"/>
            <a:ext cx="0" cy="13176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36" name="Line 61"/>
          <p:cNvSpPr>
            <a:spLocks noChangeShapeType="1"/>
          </p:cNvSpPr>
          <p:nvPr/>
        </p:nvSpPr>
        <p:spPr bwMode="auto">
          <a:xfrm flipV="1">
            <a:off x="5587999" y="5081588"/>
            <a:ext cx="0" cy="13176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37" name="Rectangle 62"/>
          <p:cNvSpPr>
            <a:spLocks noChangeArrowheads="1"/>
          </p:cNvSpPr>
          <p:nvPr/>
        </p:nvSpPr>
        <p:spPr bwMode="auto">
          <a:xfrm>
            <a:off x="119062" y="1947863"/>
            <a:ext cx="4477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dirty="0">
                <a:solidFill>
                  <a:srgbClr val="000000"/>
                </a:solidFill>
                <a:latin typeface="Century Gothic"/>
                <a:cs typeface="Century Gothic"/>
              </a:rPr>
              <a:t>$7.00</a:t>
            </a:r>
            <a:endParaRPr lang="en-US" sz="1400" dirty="0">
              <a:latin typeface="Century Gothic"/>
              <a:cs typeface="Century Gothic"/>
            </a:endParaRPr>
          </a:p>
        </p:txBody>
      </p:sp>
      <p:sp>
        <p:nvSpPr>
          <p:cNvPr id="38" name="Rectangle 63"/>
          <p:cNvSpPr>
            <a:spLocks noChangeArrowheads="1"/>
          </p:cNvSpPr>
          <p:nvPr/>
        </p:nvSpPr>
        <p:spPr bwMode="auto">
          <a:xfrm>
            <a:off x="220662" y="2397125"/>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dirty="0">
                <a:solidFill>
                  <a:srgbClr val="000000"/>
                </a:solidFill>
                <a:latin typeface="Century Gothic"/>
                <a:cs typeface="Century Gothic"/>
              </a:rPr>
              <a:t>6.00</a:t>
            </a:r>
            <a:endParaRPr lang="en-US" sz="1400" dirty="0">
              <a:latin typeface="Century Gothic"/>
              <a:cs typeface="Century Gothic"/>
            </a:endParaRPr>
          </a:p>
        </p:txBody>
      </p:sp>
      <p:sp>
        <p:nvSpPr>
          <p:cNvPr id="39" name="Rectangle 64"/>
          <p:cNvSpPr>
            <a:spLocks noChangeArrowheads="1"/>
          </p:cNvSpPr>
          <p:nvPr/>
        </p:nvSpPr>
        <p:spPr bwMode="auto">
          <a:xfrm>
            <a:off x="220662" y="2847975"/>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dirty="0">
                <a:solidFill>
                  <a:srgbClr val="000000"/>
                </a:solidFill>
                <a:latin typeface="Century Gothic"/>
                <a:cs typeface="Century Gothic"/>
              </a:rPr>
              <a:t>5.00</a:t>
            </a:r>
            <a:endParaRPr lang="en-US" sz="1400" dirty="0">
              <a:latin typeface="Century Gothic"/>
              <a:cs typeface="Century Gothic"/>
            </a:endParaRPr>
          </a:p>
        </p:txBody>
      </p:sp>
      <p:sp>
        <p:nvSpPr>
          <p:cNvPr id="40" name="Rectangle 65"/>
          <p:cNvSpPr>
            <a:spLocks noChangeArrowheads="1"/>
          </p:cNvSpPr>
          <p:nvPr/>
        </p:nvSpPr>
        <p:spPr bwMode="auto">
          <a:xfrm>
            <a:off x="220662" y="3297238"/>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dirty="0">
                <a:solidFill>
                  <a:srgbClr val="000000"/>
                </a:solidFill>
                <a:latin typeface="Century Gothic"/>
                <a:cs typeface="Century Gothic"/>
              </a:rPr>
              <a:t>4.00</a:t>
            </a:r>
            <a:endParaRPr lang="en-US" sz="1400" dirty="0">
              <a:latin typeface="Century Gothic"/>
              <a:cs typeface="Century Gothic"/>
            </a:endParaRPr>
          </a:p>
        </p:txBody>
      </p:sp>
      <p:sp>
        <p:nvSpPr>
          <p:cNvPr id="41" name="Rectangle 66"/>
          <p:cNvSpPr>
            <a:spLocks noChangeArrowheads="1"/>
          </p:cNvSpPr>
          <p:nvPr/>
        </p:nvSpPr>
        <p:spPr bwMode="auto">
          <a:xfrm>
            <a:off x="220662" y="3749675"/>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dirty="0">
                <a:solidFill>
                  <a:srgbClr val="000000"/>
                </a:solidFill>
                <a:latin typeface="Century Gothic"/>
                <a:cs typeface="Century Gothic"/>
              </a:rPr>
              <a:t>3.00</a:t>
            </a:r>
            <a:endParaRPr lang="en-US" sz="1400" dirty="0">
              <a:latin typeface="Century Gothic"/>
              <a:cs typeface="Century Gothic"/>
            </a:endParaRPr>
          </a:p>
        </p:txBody>
      </p:sp>
      <p:sp>
        <p:nvSpPr>
          <p:cNvPr id="42" name="Rectangle 67"/>
          <p:cNvSpPr>
            <a:spLocks noChangeArrowheads="1"/>
          </p:cNvSpPr>
          <p:nvPr/>
        </p:nvSpPr>
        <p:spPr bwMode="auto">
          <a:xfrm>
            <a:off x="220662" y="4202113"/>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dirty="0">
                <a:solidFill>
                  <a:srgbClr val="000000"/>
                </a:solidFill>
                <a:latin typeface="Century Gothic"/>
                <a:cs typeface="Century Gothic"/>
              </a:rPr>
              <a:t>2.00</a:t>
            </a:r>
            <a:endParaRPr lang="en-US" sz="1400" dirty="0">
              <a:latin typeface="Century Gothic"/>
              <a:cs typeface="Century Gothic"/>
            </a:endParaRPr>
          </a:p>
        </p:txBody>
      </p:sp>
      <p:sp>
        <p:nvSpPr>
          <p:cNvPr id="43" name="Rectangle 68"/>
          <p:cNvSpPr>
            <a:spLocks noChangeArrowheads="1"/>
          </p:cNvSpPr>
          <p:nvPr/>
        </p:nvSpPr>
        <p:spPr bwMode="auto">
          <a:xfrm>
            <a:off x="220662" y="4649788"/>
            <a:ext cx="34820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dirty="0">
                <a:solidFill>
                  <a:srgbClr val="000000"/>
                </a:solidFill>
                <a:latin typeface="Century Gothic"/>
                <a:cs typeface="Century Gothic"/>
              </a:rPr>
              <a:t>1.00</a:t>
            </a:r>
            <a:endParaRPr lang="en-US" sz="1400" dirty="0">
              <a:latin typeface="Century Gothic"/>
              <a:cs typeface="Century Gothic"/>
            </a:endParaRPr>
          </a:p>
        </p:txBody>
      </p:sp>
      <p:sp>
        <p:nvSpPr>
          <p:cNvPr id="44" name="Freeform 79"/>
          <p:cNvSpPr>
            <a:spLocks/>
          </p:cNvSpPr>
          <p:nvPr/>
        </p:nvSpPr>
        <p:spPr bwMode="auto">
          <a:xfrm>
            <a:off x="1892299" y="2058988"/>
            <a:ext cx="1476375" cy="2705100"/>
          </a:xfrm>
          <a:custGeom>
            <a:avLst/>
            <a:gdLst>
              <a:gd name="T0" fmla="*/ 266 w 266"/>
              <a:gd name="T1" fmla="*/ 0 h 494"/>
              <a:gd name="T2" fmla="*/ 0 w 266"/>
              <a:gd name="T3" fmla="*/ 494 h 494"/>
            </a:gdLst>
            <a:ahLst/>
            <a:cxnLst>
              <a:cxn ang="0">
                <a:pos x="T0" y="T1"/>
              </a:cxn>
              <a:cxn ang="0">
                <a:pos x="T2" y="T3"/>
              </a:cxn>
            </a:cxnLst>
            <a:rect l="0" t="0" r="r" b="b"/>
            <a:pathLst>
              <a:path w="266" h="494">
                <a:moveTo>
                  <a:pt x="266" y="0"/>
                </a:moveTo>
                <a:cubicBezTo>
                  <a:pt x="266" y="149"/>
                  <a:pt x="190" y="320"/>
                  <a:pt x="0" y="494"/>
                </a:cubicBezTo>
              </a:path>
            </a:pathLst>
          </a:custGeom>
          <a:noFill/>
          <a:ln w="39688" cap="flat">
            <a:solidFill>
              <a:srgbClr val="EE313C"/>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45" name="Rectangle 80"/>
          <p:cNvSpPr>
            <a:spLocks noChangeArrowheads="1"/>
          </p:cNvSpPr>
          <p:nvPr/>
        </p:nvSpPr>
        <p:spPr bwMode="auto">
          <a:xfrm>
            <a:off x="3081337" y="1782763"/>
            <a:ext cx="57708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Supply</a:t>
            </a:r>
            <a:endParaRPr lang="en-US" sz="1400">
              <a:latin typeface="Century Gothic"/>
              <a:cs typeface="Century Gothic"/>
            </a:endParaRPr>
          </a:p>
        </p:txBody>
      </p:sp>
      <p:sp>
        <p:nvSpPr>
          <p:cNvPr id="46" name="Rectangle 81"/>
          <p:cNvSpPr>
            <a:spLocks noChangeArrowheads="1"/>
          </p:cNvSpPr>
          <p:nvPr/>
        </p:nvSpPr>
        <p:spPr bwMode="auto">
          <a:xfrm>
            <a:off x="4498974" y="4668838"/>
            <a:ext cx="77381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Demand</a:t>
            </a:r>
            <a:endParaRPr lang="en-US" sz="1400">
              <a:latin typeface="Century Gothic"/>
              <a:cs typeface="Century Gothic"/>
            </a:endParaRPr>
          </a:p>
        </p:txBody>
      </p:sp>
      <p:sp>
        <p:nvSpPr>
          <p:cNvPr id="47" name="Line 83"/>
          <p:cNvSpPr>
            <a:spLocks noChangeShapeType="1"/>
          </p:cNvSpPr>
          <p:nvPr/>
        </p:nvSpPr>
        <p:spPr bwMode="auto">
          <a:xfrm flipV="1">
            <a:off x="600074" y="4929188"/>
            <a:ext cx="115888" cy="6350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48" name="Line 84"/>
          <p:cNvSpPr>
            <a:spLocks noChangeShapeType="1"/>
          </p:cNvSpPr>
          <p:nvPr/>
        </p:nvSpPr>
        <p:spPr bwMode="auto">
          <a:xfrm flipV="1">
            <a:off x="600074" y="5014913"/>
            <a:ext cx="115888" cy="66675"/>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49" name="Line 85"/>
          <p:cNvSpPr>
            <a:spLocks noChangeShapeType="1"/>
          </p:cNvSpPr>
          <p:nvPr/>
        </p:nvSpPr>
        <p:spPr bwMode="auto">
          <a:xfrm flipH="1">
            <a:off x="893762" y="5151438"/>
            <a:ext cx="68262" cy="115887"/>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0" name="Line 86"/>
          <p:cNvSpPr>
            <a:spLocks noChangeShapeType="1"/>
          </p:cNvSpPr>
          <p:nvPr/>
        </p:nvSpPr>
        <p:spPr bwMode="auto">
          <a:xfrm flipH="1">
            <a:off x="984249" y="5151438"/>
            <a:ext cx="65088" cy="115887"/>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1" name="Freeform 87"/>
          <p:cNvSpPr>
            <a:spLocks/>
          </p:cNvSpPr>
          <p:nvPr/>
        </p:nvSpPr>
        <p:spPr bwMode="auto">
          <a:xfrm>
            <a:off x="1522412" y="2058988"/>
            <a:ext cx="2913062" cy="2705100"/>
          </a:xfrm>
          <a:custGeom>
            <a:avLst/>
            <a:gdLst>
              <a:gd name="T0" fmla="*/ 0 w 525"/>
              <a:gd name="T1" fmla="*/ 0 h 494"/>
              <a:gd name="T2" fmla="*/ 525 w 525"/>
              <a:gd name="T3" fmla="*/ 494 h 494"/>
            </a:gdLst>
            <a:ahLst/>
            <a:cxnLst>
              <a:cxn ang="0">
                <a:pos x="T0" y="T1"/>
              </a:cxn>
              <a:cxn ang="0">
                <a:pos x="T2" y="T3"/>
              </a:cxn>
            </a:cxnLst>
            <a:rect l="0" t="0" r="r" b="b"/>
            <a:pathLst>
              <a:path w="525" h="494">
                <a:moveTo>
                  <a:pt x="0" y="0"/>
                </a:moveTo>
                <a:cubicBezTo>
                  <a:pt x="30" y="133"/>
                  <a:pt x="196" y="409"/>
                  <a:pt x="525" y="494"/>
                </a:cubicBezTo>
              </a:path>
            </a:pathLst>
          </a:custGeom>
          <a:noFill/>
          <a:ln w="39688" cap="flat">
            <a:solidFill>
              <a:srgbClr val="3C5DAA"/>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52" name="Oval 88"/>
          <p:cNvSpPr>
            <a:spLocks noChangeArrowheads="1"/>
          </p:cNvSpPr>
          <p:nvPr/>
        </p:nvSpPr>
        <p:spPr bwMode="auto">
          <a:xfrm>
            <a:off x="2659062" y="3805238"/>
            <a:ext cx="111125" cy="10953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3" name="Rectangle 89"/>
          <p:cNvSpPr>
            <a:spLocks noChangeArrowheads="1"/>
          </p:cNvSpPr>
          <p:nvPr/>
        </p:nvSpPr>
        <p:spPr bwMode="auto">
          <a:xfrm>
            <a:off x="1905000" y="5256213"/>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dirty="0">
                <a:solidFill>
                  <a:srgbClr val="000000"/>
                </a:solidFill>
                <a:latin typeface="Century Gothic"/>
                <a:cs typeface="Century Gothic"/>
              </a:rPr>
              <a:t>6</a:t>
            </a:r>
            <a:endParaRPr lang="en-US" sz="1400" dirty="0">
              <a:latin typeface="Century Gothic"/>
              <a:cs typeface="Century Gothic"/>
            </a:endParaRPr>
          </a:p>
        </p:txBody>
      </p:sp>
      <p:sp>
        <p:nvSpPr>
          <p:cNvPr id="54" name="Rectangle 90"/>
          <p:cNvSpPr>
            <a:spLocks noChangeArrowheads="1"/>
          </p:cNvSpPr>
          <p:nvPr/>
        </p:nvSpPr>
        <p:spPr bwMode="auto">
          <a:xfrm>
            <a:off x="3101447" y="5256213"/>
            <a:ext cx="1989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dirty="0">
                <a:solidFill>
                  <a:srgbClr val="000000"/>
                </a:solidFill>
                <a:latin typeface="Century Gothic"/>
                <a:cs typeface="Century Gothic"/>
              </a:rPr>
              <a:t>13</a:t>
            </a:r>
            <a:endParaRPr lang="en-US" sz="1400" dirty="0">
              <a:latin typeface="Century Gothic"/>
              <a:cs typeface="Century Gothic"/>
            </a:endParaRPr>
          </a:p>
        </p:txBody>
      </p:sp>
      <p:sp>
        <p:nvSpPr>
          <p:cNvPr id="55" name="Rectangle 91"/>
          <p:cNvSpPr>
            <a:spLocks noChangeArrowheads="1"/>
          </p:cNvSpPr>
          <p:nvPr/>
        </p:nvSpPr>
        <p:spPr bwMode="auto">
          <a:xfrm>
            <a:off x="2849562" y="3690938"/>
            <a:ext cx="12536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dirty="0">
                <a:solidFill>
                  <a:srgbClr val="000000"/>
                </a:solidFill>
                <a:latin typeface="Century Gothic"/>
                <a:cs typeface="Century Gothic"/>
              </a:rPr>
              <a:t>E</a:t>
            </a:r>
            <a:endParaRPr lang="en-US" sz="1400" i="1" dirty="0">
              <a:latin typeface="Century Gothic"/>
              <a:cs typeface="Century Gothic"/>
            </a:endParaRPr>
          </a:p>
        </p:txBody>
      </p:sp>
      <p:cxnSp>
        <p:nvCxnSpPr>
          <p:cNvPr id="67" name="Straight Connector 86"/>
          <p:cNvCxnSpPr>
            <a:cxnSpLocks noChangeShapeType="1"/>
          </p:cNvCxnSpPr>
          <p:nvPr/>
        </p:nvCxnSpPr>
        <p:spPr bwMode="auto">
          <a:xfrm>
            <a:off x="2719387" y="3959225"/>
            <a:ext cx="0" cy="1063625"/>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sp>
        <p:nvSpPr>
          <p:cNvPr id="68" name="TextBox 29"/>
          <p:cNvSpPr txBox="1">
            <a:spLocks noChangeArrowheads="1"/>
          </p:cNvSpPr>
          <p:nvPr/>
        </p:nvSpPr>
        <p:spPr bwMode="auto">
          <a:xfrm>
            <a:off x="-376239" y="1096963"/>
            <a:ext cx="136048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400" dirty="0">
                <a:latin typeface="Century Gothic"/>
                <a:ea typeface="MS PGothic" pitchFamily="34" charset="-128"/>
                <a:cs typeface="Century Gothic"/>
              </a:rPr>
              <a:t>Price</a:t>
            </a:r>
          </a:p>
        </p:txBody>
      </p:sp>
      <p:sp>
        <p:nvSpPr>
          <p:cNvPr id="69" name="TextBox 30"/>
          <p:cNvSpPr txBox="1">
            <a:spLocks noChangeArrowheads="1"/>
          </p:cNvSpPr>
          <p:nvPr/>
        </p:nvSpPr>
        <p:spPr bwMode="auto">
          <a:xfrm>
            <a:off x="4083049" y="5715000"/>
            <a:ext cx="21653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400" dirty="0">
                <a:latin typeface="Century Gothic"/>
                <a:ea typeface="MS PGothic" pitchFamily="34" charset="-128"/>
                <a:cs typeface="Century Gothic"/>
              </a:rPr>
              <a:t>Quantity</a:t>
            </a:r>
          </a:p>
        </p:txBody>
      </p:sp>
      <p:sp>
        <p:nvSpPr>
          <p:cNvPr id="71" name="Rectangle 70"/>
          <p:cNvSpPr/>
          <p:nvPr/>
        </p:nvSpPr>
        <p:spPr>
          <a:xfrm>
            <a:off x="83181" y="6307666"/>
            <a:ext cx="1057163" cy="369332"/>
          </a:xfrm>
          <a:prstGeom prst="rect">
            <a:avLst/>
          </a:prstGeom>
        </p:spPr>
        <p:txBody>
          <a:bodyPr wrap="none">
            <a:spAutoFit/>
          </a:bodyPr>
          <a:lstStyle/>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a:cs typeface="Century Gothic"/>
                <a:hlinkClick r:id="rId4" action="ppaction://hlinksldjump"/>
              </a:rPr>
              <a:t>To Next </a:t>
            </a: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a:cs typeface="Century Gothic"/>
              <a:hlinkClick r:id="" action="ppaction://noaction"/>
            </a:endParaRPr>
          </a:p>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a:cs typeface="Century Gothic"/>
                <a:hlinkClick r:id="" action="ppaction://noaction"/>
              </a:rPr>
              <a:t>Active </a:t>
            </a: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a:cs typeface="Century Gothic"/>
                <a:hlinkClick r:id="rId4" action="ppaction://hlinksldjump"/>
              </a:rPr>
              <a:t>Learning</a:t>
            </a: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a:cs typeface="Century Gothic"/>
            </a:endParaRPr>
          </a:p>
        </p:txBody>
      </p:sp>
    </p:spTree>
    <p:extLst>
      <p:ext uri="{BB962C8B-B14F-4D97-AF65-F5344CB8AC3E}">
        <p14:creationId xmlns:p14="http://schemas.microsoft.com/office/powerpoint/2010/main" val="3936397547"/>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4">
                                            <p:txEl>
                                              <p:pRg st="3" end="3"/>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1875" name="Rectangle 3"/>
          <p:cNvSpPr>
            <a:spLocks noGrp="1" noRot="1" noChangeArrowheads="1"/>
          </p:cNvSpPr>
          <p:nvPr>
            <p:ph type="title"/>
          </p:nvPr>
        </p:nvSpPr>
        <p:spPr>
          <a:xfrm>
            <a:off x="0" y="0"/>
            <a:ext cx="9144000" cy="990600"/>
          </a:xfrm>
        </p:spPr>
        <p:txBody>
          <a:bodyPr>
            <a:normAutofit fontScale="90000"/>
          </a:bodyPr>
          <a:lstStyle/>
          <a:p>
            <a:r>
              <a:rPr lang="en-US" sz="4000" dirty="0"/>
              <a:t>WHAT HAPPENS WHEN THE DEMAND CURVE SHIFTS</a:t>
            </a:r>
          </a:p>
        </p:txBody>
      </p:sp>
      <p:cxnSp>
        <p:nvCxnSpPr>
          <p:cNvPr id="592037" name="Straight Connector 86"/>
          <p:cNvCxnSpPr>
            <a:cxnSpLocks noChangeShapeType="1"/>
          </p:cNvCxnSpPr>
          <p:nvPr/>
        </p:nvCxnSpPr>
        <p:spPr bwMode="auto">
          <a:xfrm>
            <a:off x="1781175" y="2857500"/>
            <a:ext cx="2860675" cy="12700"/>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592038" name="Straight Connector 86"/>
          <p:cNvCxnSpPr>
            <a:cxnSpLocks noChangeShapeType="1"/>
          </p:cNvCxnSpPr>
          <p:nvPr/>
        </p:nvCxnSpPr>
        <p:spPr bwMode="auto">
          <a:xfrm>
            <a:off x="4641850" y="2913063"/>
            <a:ext cx="0" cy="2614612"/>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592039" name="Straight Connector 86"/>
          <p:cNvCxnSpPr>
            <a:cxnSpLocks noChangeShapeType="1"/>
          </p:cNvCxnSpPr>
          <p:nvPr/>
        </p:nvCxnSpPr>
        <p:spPr bwMode="auto">
          <a:xfrm>
            <a:off x="1781175" y="3568700"/>
            <a:ext cx="1754188" cy="7938"/>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592040" name="Straight Connector 86"/>
          <p:cNvCxnSpPr>
            <a:cxnSpLocks noChangeShapeType="1"/>
          </p:cNvCxnSpPr>
          <p:nvPr/>
        </p:nvCxnSpPr>
        <p:spPr bwMode="auto">
          <a:xfrm>
            <a:off x="3535363" y="3587750"/>
            <a:ext cx="0" cy="1939925"/>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sp>
        <p:nvSpPr>
          <p:cNvPr id="592041" name="Freeform 169"/>
          <p:cNvSpPr>
            <a:spLocks/>
          </p:cNvSpPr>
          <p:nvPr/>
        </p:nvSpPr>
        <p:spPr bwMode="auto">
          <a:xfrm>
            <a:off x="3389313" y="6043613"/>
            <a:ext cx="1417637" cy="357187"/>
          </a:xfrm>
          <a:custGeom>
            <a:avLst/>
            <a:gdLst>
              <a:gd name="T0" fmla="*/ 214 w 214"/>
              <a:gd name="T1" fmla="*/ 40 h 59"/>
              <a:gd name="T2" fmla="*/ 196 w 214"/>
              <a:gd name="T3" fmla="*/ 59 h 59"/>
              <a:gd name="T4" fmla="*/ 17 w 214"/>
              <a:gd name="T5" fmla="*/ 59 h 59"/>
              <a:gd name="T6" fmla="*/ 0 w 214"/>
              <a:gd name="T7" fmla="*/ 40 h 59"/>
              <a:gd name="T8" fmla="*/ 0 w 214"/>
              <a:gd name="T9" fmla="*/ 20 h 59"/>
              <a:gd name="T10" fmla="*/ 17 w 214"/>
              <a:gd name="T11" fmla="*/ 0 h 59"/>
              <a:gd name="T12" fmla="*/ 196 w 214"/>
              <a:gd name="T13" fmla="*/ 0 h 59"/>
              <a:gd name="T14" fmla="*/ 214 w 214"/>
              <a:gd name="T15" fmla="*/ 20 h 59"/>
              <a:gd name="T16" fmla="*/ 214 w 214"/>
              <a:gd name="T17" fmla="*/ 4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4" h="59">
                <a:moveTo>
                  <a:pt x="214" y="40"/>
                </a:moveTo>
                <a:cubicBezTo>
                  <a:pt x="214" y="51"/>
                  <a:pt x="206" y="59"/>
                  <a:pt x="196" y="59"/>
                </a:cubicBezTo>
                <a:cubicBezTo>
                  <a:pt x="17" y="59"/>
                  <a:pt x="17" y="59"/>
                  <a:pt x="17" y="59"/>
                </a:cubicBezTo>
                <a:cubicBezTo>
                  <a:pt x="7" y="59"/>
                  <a:pt x="0" y="51"/>
                  <a:pt x="0" y="40"/>
                </a:cubicBezTo>
                <a:cubicBezTo>
                  <a:pt x="0" y="20"/>
                  <a:pt x="0" y="20"/>
                  <a:pt x="0" y="20"/>
                </a:cubicBezTo>
                <a:cubicBezTo>
                  <a:pt x="0" y="9"/>
                  <a:pt x="7" y="0"/>
                  <a:pt x="17" y="0"/>
                </a:cubicBezTo>
                <a:cubicBezTo>
                  <a:pt x="196" y="0"/>
                  <a:pt x="196" y="0"/>
                  <a:pt x="196" y="0"/>
                </a:cubicBezTo>
                <a:cubicBezTo>
                  <a:pt x="206" y="0"/>
                  <a:pt x="214" y="9"/>
                  <a:pt x="214" y="20"/>
                </a:cubicBezTo>
                <a:lnTo>
                  <a:pt x="214" y="40"/>
                </a:lnTo>
                <a:close/>
              </a:path>
            </a:pathLst>
          </a:custGeom>
          <a:solidFill>
            <a:srgbClr val="D6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92042" name="Rectangle 170"/>
          <p:cNvSpPr>
            <a:spLocks noChangeArrowheads="1"/>
          </p:cNvSpPr>
          <p:nvPr/>
        </p:nvSpPr>
        <p:spPr bwMode="auto">
          <a:xfrm>
            <a:off x="4530725" y="5705475"/>
            <a:ext cx="185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dirty="0">
                <a:solidFill>
                  <a:srgbClr val="000000"/>
                </a:solidFill>
                <a:latin typeface="Century Gothic"/>
                <a:cs typeface="Century Gothic"/>
              </a:rPr>
              <a:t>Q</a:t>
            </a:r>
            <a:endParaRPr lang="en-US" sz="1400" i="1" dirty="0">
              <a:latin typeface="Century Gothic"/>
              <a:cs typeface="Century Gothic"/>
            </a:endParaRPr>
          </a:p>
        </p:txBody>
      </p:sp>
      <p:sp>
        <p:nvSpPr>
          <p:cNvPr id="592043" name="Rectangle 171"/>
          <p:cNvSpPr>
            <a:spLocks noChangeArrowheads="1"/>
          </p:cNvSpPr>
          <p:nvPr/>
        </p:nvSpPr>
        <p:spPr bwMode="auto">
          <a:xfrm>
            <a:off x="4694238" y="5797550"/>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2</a:t>
            </a:r>
            <a:endParaRPr lang="en-US" sz="1400">
              <a:latin typeface="Century Gothic"/>
              <a:cs typeface="Century Gothic"/>
            </a:endParaRPr>
          </a:p>
        </p:txBody>
      </p:sp>
      <p:sp>
        <p:nvSpPr>
          <p:cNvPr id="592044" name="Rectangle 172"/>
          <p:cNvSpPr>
            <a:spLocks noChangeArrowheads="1"/>
          </p:cNvSpPr>
          <p:nvPr/>
        </p:nvSpPr>
        <p:spPr bwMode="auto">
          <a:xfrm>
            <a:off x="3416300" y="5681663"/>
            <a:ext cx="185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a:solidFill>
                  <a:srgbClr val="000000"/>
                </a:solidFill>
                <a:latin typeface="Century Gothic"/>
                <a:cs typeface="Century Gothic"/>
              </a:rPr>
              <a:t>Q</a:t>
            </a:r>
            <a:endParaRPr lang="en-US" sz="1400" i="1">
              <a:latin typeface="Century Gothic"/>
              <a:cs typeface="Century Gothic"/>
            </a:endParaRPr>
          </a:p>
        </p:txBody>
      </p:sp>
      <p:sp>
        <p:nvSpPr>
          <p:cNvPr id="592045" name="Rectangle 173"/>
          <p:cNvSpPr>
            <a:spLocks noChangeArrowheads="1"/>
          </p:cNvSpPr>
          <p:nvPr/>
        </p:nvSpPr>
        <p:spPr bwMode="auto">
          <a:xfrm>
            <a:off x="3598863" y="5797550"/>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a:t>
            </a:r>
            <a:endParaRPr lang="en-US" sz="1400">
              <a:latin typeface="Century Gothic"/>
              <a:cs typeface="Century Gothic"/>
            </a:endParaRPr>
          </a:p>
        </p:txBody>
      </p:sp>
      <p:sp>
        <p:nvSpPr>
          <p:cNvPr id="592046" name="Rectangle 174"/>
          <p:cNvSpPr>
            <a:spLocks noChangeArrowheads="1"/>
          </p:cNvSpPr>
          <p:nvPr/>
        </p:nvSpPr>
        <p:spPr bwMode="auto">
          <a:xfrm>
            <a:off x="1363663" y="2722563"/>
            <a:ext cx="13535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a:solidFill>
                  <a:srgbClr val="000000"/>
                </a:solidFill>
                <a:latin typeface="Century Gothic"/>
                <a:cs typeface="Century Gothic"/>
              </a:rPr>
              <a:t>P</a:t>
            </a:r>
            <a:endParaRPr lang="en-US" sz="1400" i="1">
              <a:latin typeface="Century Gothic"/>
              <a:cs typeface="Century Gothic"/>
            </a:endParaRPr>
          </a:p>
        </p:txBody>
      </p:sp>
      <p:sp>
        <p:nvSpPr>
          <p:cNvPr id="592047" name="Rectangle 175"/>
          <p:cNvSpPr>
            <a:spLocks noChangeArrowheads="1"/>
          </p:cNvSpPr>
          <p:nvPr/>
        </p:nvSpPr>
        <p:spPr bwMode="auto">
          <a:xfrm>
            <a:off x="1506538" y="2838450"/>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2</a:t>
            </a:r>
            <a:endParaRPr lang="en-US" sz="1400">
              <a:latin typeface="Century Gothic"/>
              <a:cs typeface="Century Gothic"/>
            </a:endParaRPr>
          </a:p>
        </p:txBody>
      </p:sp>
      <p:sp>
        <p:nvSpPr>
          <p:cNvPr id="592048" name="Rectangle 176"/>
          <p:cNvSpPr>
            <a:spLocks noChangeArrowheads="1"/>
          </p:cNvSpPr>
          <p:nvPr/>
        </p:nvSpPr>
        <p:spPr bwMode="auto">
          <a:xfrm>
            <a:off x="1363663" y="3422650"/>
            <a:ext cx="13535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a:solidFill>
                  <a:srgbClr val="000000"/>
                </a:solidFill>
                <a:latin typeface="Century Gothic"/>
                <a:cs typeface="Century Gothic"/>
              </a:rPr>
              <a:t>P</a:t>
            </a:r>
            <a:endParaRPr lang="en-US" sz="1400" i="1">
              <a:latin typeface="Century Gothic"/>
              <a:cs typeface="Century Gothic"/>
            </a:endParaRPr>
          </a:p>
        </p:txBody>
      </p:sp>
      <p:sp>
        <p:nvSpPr>
          <p:cNvPr id="592049" name="Rectangle 177"/>
          <p:cNvSpPr>
            <a:spLocks noChangeArrowheads="1"/>
          </p:cNvSpPr>
          <p:nvPr/>
        </p:nvSpPr>
        <p:spPr bwMode="auto">
          <a:xfrm>
            <a:off x="1506538" y="3536950"/>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a:t>
            </a:r>
            <a:endParaRPr lang="en-US" sz="1400">
              <a:latin typeface="Century Gothic"/>
              <a:cs typeface="Century Gothic"/>
            </a:endParaRPr>
          </a:p>
        </p:txBody>
      </p:sp>
      <p:sp>
        <p:nvSpPr>
          <p:cNvPr id="592050" name="Rectangle 178"/>
          <p:cNvSpPr>
            <a:spLocks noChangeArrowheads="1"/>
          </p:cNvSpPr>
          <p:nvPr/>
        </p:nvSpPr>
        <p:spPr bwMode="auto">
          <a:xfrm>
            <a:off x="6553200" y="4033838"/>
            <a:ext cx="16270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dirty="0">
                <a:solidFill>
                  <a:srgbClr val="000000"/>
                </a:solidFill>
                <a:latin typeface="Century Gothic"/>
                <a:cs typeface="Century Gothic"/>
              </a:rPr>
              <a:t>D</a:t>
            </a:r>
            <a:endParaRPr lang="en-US" sz="1400" i="1" dirty="0">
              <a:latin typeface="Century Gothic"/>
              <a:cs typeface="Century Gothic"/>
            </a:endParaRPr>
          </a:p>
        </p:txBody>
      </p:sp>
      <p:sp>
        <p:nvSpPr>
          <p:cNvPr id="592051" name="Rectangle 179"/>
          <p:cNvSpPr>
            <a:spLocks noChangeArrowheads="1"/>
          </p:cNvSpPr>
          <p:nvPr/>
        </p:nvSpPr>
        <p:spPr bwMode="auto">
          <a:xfrm>
            <a:off x="6731000" y="4149725"/>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2</a:t>
            </a:r>
            <a:endParaRPr lang="en-US" sz="1400">
              <a:latin typeface="Century Gothic"/>
              <a:cs typeface="Century Gothic"/>
            </a:endParaRPr>
          </a:p>
        </p:txBody>
      </p:sp>
      <p:sp>
        <p:nvSpPr>
          <p:cNvPr id="592052" name="Rectangle 180"/>
          <p:cNvSpPr>
            <a:spLocks noChangeArrowheads="1"/>
          </p:cNvSpPr>
          <p:nvPr/>
        </p:nvSpPr>
        <p:spPr bwMode="auto">
          <a:xfrm>
            <a:off x="6051550" y="1808163"/>
            <a:ext cx="57708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Supply</a:t>
            </a:r>
            <a:endParaRPr lang="en-US" sz="1400">
              <a:latin typeface="Century Gothic"/>
              <a:cs typeface="Century Gothic"/>
            </a:endParaRPr>
          </a:p>
        </p:txBody>
      </p:sp>
      <p:sp>
        <p:nvSpPr>
          <p:cNvPr id="592053" name="Rectangle 181"/>
          <p:cNvSpPr>
            <a:spLocks noChangeArrowheads="1"/>
          </p:cNvSpPr>
          <p:nvPr/>
        </p:nvSpPr>
        <p:spPr bwMode="auto">
          <a:xfrm>
            <a:off x="5456238" y="4733925"/>
            <a:ext cx="16270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dirty="0">
                <a:solidFill>
                  <a:srgbClr val="000000"/>
                </a:solidFill>
                <a:latin typeface="Century Gothic"/>
                <a:cs typeface="Century Gothic"/>
              </a:rPr>
              <a:t>D</a:t>
            </a:r>
            <a:endParaRPr lang="en-US" sz="1400" i="1" dirty="0">
              <a:latin typeface="Century Gothic"/>
              <a:cs typeface="Century Gothic"/>
            </a:endParaRPr>
          </a:p>
        </p:txBody>
      </p:sp>
      <p:sp>
        <p:nvSpPr>
          <p:cNvPr id="592054" name="Rectangle 182"/>
          <p:cNvSpPr>
            <a:spLocks noChangeArrowheads="1"/>
          </p:cNvSpPr>
          <p:nvPr/>
        </p:nvSpPr>
        <p:spPr bwMode="auto">
          <a:xfrm>
            <a:off x="5630863" y="4849813"/>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a:t>
            </a:r>
            <a:endParaRPr lang="en-US" sz="1400">
              <a:latin typeface="Century Gothic"/>
              <a:cs typeface="Century Gothic"/>
            </a:endParaRPr>
          </a:p>
        </p:txBody>
      </p:sp>
      <p:sp>
        <p:nvSpPr>
          <p:cNvPr id="592055" name="Rectangle 183"/>
          <p:cNvSpPr>
            <a:spLocks noChangeArrowheads="1"/>
          </p:cNvSpPr>
          <p:nvPr/>
        </p:nvSpPr>
        <p:spPr bwMode="auto">
          <a:xfrm>
            <a:off x="4546600" y="2447925"/>
            <a:ext cx="12536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dirty="0">
                <a:solidFill>
                  <a:srgbClr val="000000"/>
                </a:solidFill>
                <a:latin typeface="Century Gothic"/>
                <a:cs typeface="Century Gothic"/>
              </a:rPr>
              <a:t>E</a:t>
            </a:r>
            <a:endParaRPr lang="en-US" sz="1400" i="1" dirty="0">
              <a:latin typeface="Century Gothic"/>
              <a:cs typeface="Century Gothic"/>
            </a:endParaRPr>
          </a:p>
        </p:txBody>
      </p:sp>
      <p:sp>
        <p:nvSpPr>
          <p:cNvPr id="592056" name="Rectangle 184"/>
          <p:cNvSpPr>
            <a:spLocks noChangeArrowheads="1"/>
          </p:cNvSpPr>
          <p:nvPr/>
        </p:nvSpPr>
        <p:spPr bwMode="auto">
          <a:xfrm>
            <a:off x="4676775" y="2565400"/>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2</a:t>
            </a:r>
            <a:endParaRPr lang="en-US" sz="1400">
              <a:latin typeface="Century Gothic"/>
              <a:cs typeface="Century Gothic"/>
            </a:endParaRPr>
          </a:p>
        </p:txBody>
      </p:sp>
      <p:sp>
        <p:nvSpPr>
          <p:cNvPr id="592057" name="Rectangle 185"/>
          <p:cNvSpPr>
            <a:spLocks noChangeArrowheads="1"/>
          </p:cNvSpPr>
          <p:nvPr/>
        </p:nvSpPr>
        <p:spPr bwMode="auto">
          <a:xfrm>
            <a:off x="3443288" y="3143250"/>
            <a:ext cx="12536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dirty="0">
                <a:solidFill>
                  <a:srgbClr val="000000"/>
                </a:solidFill>
                <a:latin typeface="Century Gothic"/>
                <a:cs typeface="Century Gothic"/>
              </a:rPr>
              <a:t>E</a:t>
            </a:r>
            <a:endParaRPr lang="en-US" sz="1400" i="1" dirty="0">
              <a:latin typeface="Century Gothic"/>
              <a:cs typeface="Century Gothic"/>
            </a:endParaRPr>
          </a:p>
        </p:txBody>
      </p:sp>
      <p:sp>
        <p:nvSpPr>
          <p:cNvPr id="592058" name="Rectangle 186"/>
          <p:cNvSpPr>
            <a:spLocks noChangeArrowheads="1"/>
          </p:cNvSpPr>
          <p:nvPr/>
        </p:nvSpPr>
        <p:spPr bwMode="auto">
          <a:xfrm>
            <a:off x="3571875" y="3259138"/>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a:t>
            </a:r>
            <a:endParaRPr lang="en-US" sz="1400">
              <a:latin typeface="Century Gothic"/>
              <a:cs typeface="Century Gothic"/>
            </a:endParaRPr>
          </a:p>
        </p:txBody>
      </p:sp>
      <p:sp>
        <p:nvSpPr>
          <p:cNvPr id="592059" name="Line 187"/>
          <p:cNvSpPr>
            <a:spLocks noChangeShapeType="1"/>
          </p:cNvSpPr>
          <p:nvPr/>
        </p:nvSpPr>
        <p:spPr bwMode="auto">
          <a:xfrm>
            <a:off x="2181225" y="2565400"/>
            <a:ext cx="1684338" cy="0"/>
          </a:xfrm>
          <a:prstGeom prst="line">
            <a:avLst/>
          </a:prstGeom>
          <a:noFill/>
          <a:ln w="428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92060" name="Freeform 188"/>
          <p:cNvSpPr>
            <a:spLocks/>
          </p:cNvSpPr>
          <p:nvPr/>
        </p:nvSpPr>
        <p:spPr bwMode="auto">
          <a:xfrm>
            <a:off x="3813175" y="2511425"/>
            <a:ext cx="198438" cy="109538"/>
          </a:xfrm>
          <a:custGeom>
            <a:avLst/>
            <a:gdLst>
              <a:gd name="T0" fmla="*/ 6 w 30"/>
              <a:gd name="T1" fmla="*/ 9 h 18"/>
              <a:gd name="T2" fmla="*/ 0 w 30"/>
              <a:gd name="T3" fmla="*/ 1 h 18"/>
              <a:gd name="T4" fmla="*/ 1 w 30"/>
              <a:gd name="T5" fmla="*/ 0 h 18"/>
              <a:gd name="T6" fmla="*/ 15 w 30"/>
              <a:gd name="T7" fmla="*/ 6 h 18"/>
              <a:gd name="T8" fmla="*/ 30 w 30"/>
              <a:gd name="T9" fmla="*/ 9 h 18"/>
              <a:gd name="T10" fmla="*/ 15 w 30"/>
              <a:gd name="T11" fmla="*/ 12 h 18"/>
              <a:gd name="T12" fmla="*/ 1 w 30"/>
              <a:gd name="T13" fmla="*/ 18 h 18"/>
              <a:gd name="T14" fmla="*/ 0 w 30"/>
              <a:gd name="T15" fmla="*/ 18 h 18"/>
              <a:gd name="T16" fmla="*/ 6 w 30"/>
              <a:gd name="T17" fmla="*/ 9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18">
                <a:moveTo>
                  <a:pt x="6" y="9"/>
                </a:moveTo>
                <a:cubicBezTo>
                  <a:pt x="0" y="1"/>
                  <a:pt x="0" y="1"/>
                  <a:pt x="0" y="1"/>
                </a:cubicBezTo>
                <a:cubicBezTo>
                  <a:pt x="1" y="0"/>
                  <a:pt x="1" y="0"/>
                  <a:pt x="1" y="0"/>
                </a:cubicBezTo>
                <a:cubicBezTo>
                  <a:pt x="15" y="6"/>
                  <a:pt x="15" y="6"/>
                  <a:pt x="15" y="6"/>
                </a:cubicBezTo>
                <a:cubicBezTo>
                  <a:pt x="20" y="7"/>
                  <a:pt x="25" y="8"/>
                  <a:pt x="30" y="9"/>
                </a:cubicBezTo>
                <a:cubicBezTo>
                  <a:pt x="25" y="10"/>
                  <a:pt x="20" y="11"/>
                  <a:pt x="15" y="12"/>
                </a:cubicBezTo>
                <a:cubicBezTo>
                  <a:pt x="1" y="18"/>
                  <a:pt x="1" y="18"/>
                  <a:pt x="1" y="18"/>
                </a:cubicBezTo>
                <a:cubicBezTo>
                  <a:pt x="0" y="18"/>
                  <a:pt x="0" y="18"/>
                  <a:pt x="0" y="18"/>
                </a:cubicBezTo>
                <a:lnTo>
                  <a:pt x="6"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92061" name="Freeform 189"/>
          <p:cNvSpPr>
            <a:spLocks/>
          </p:cNvSpPr>
          <p:nvPr/>
        </p:nvSpPr>
        <p:spPr bwMode="auto">
          <a:xfrm>
            <a:off x="1704975" y="1244600"/>
            <a:ext cx="6430963" cy="4411663"/>
          </a:xfrm>
          <a:custGeom>
            <a:avLst/>
            <a:gdLst>
              <a:gd name="T0" fmla="*/ 3345 w 3345"/>
              <a:gd name="T1" fmla="*/ 2511 h 2511"/>
              <a:gd name="T2" fmla="*/ 0 w 3345"/>
              <a:gd name="T3" fmla="*/ 2511 h 2511"/>
              <a:gd name="T4" fmla="*/ 0 w 3345"/>
              <a:gd name="T5" fmla="*/ 0 h 2511"/>
            </a:gdLst>
            <a:ahLst/>
            <a:cxnLst>
              <a:cxn ang="0">
                <a:pos x="T0" y="T1"/>
              </a:cxn>
              <a:cxn ang="0">
                <a:pos x="T2" y="T3"/>
              </a:cxn>
              <a:cxn ang="0">
                <a:pos x="T4" y="T5"/>
              </a:cxn>
            </a:cxnLst>
            <a:rect l="0" t="0" r="r" b="b"/>
            <a:pathLst>
              <a:path w="3345" h="2511">
                <a:moveTo>
                  <a:pt x="3345" y="2511"/>
                </a:moveTo>
                <a:lnTo>
                  <a:pt x="0" y="2511"/>
                </a:lnTo>
                <a:lnTo>
                  <a:pt x="0" y="0"/>
                </a:lnTo>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592062" name="Line 190"/>
          <p:cNvSpPr>
            <a:spLocks noChangeShapeType="1"/>
          </p:cNvSpPr>
          <p:nvPr/>
        </p:nvSpPr>
        <p:spPr bwMode="auto">
          <a:xfrm flipV="1">
            <a:off x="2241550" y="2038350"/>
            <a:ext cx="3733800" cy="2357438"/>
          </a:xfrm>
          <a:prstGeom prst="line">
            <a:avLst/>
          </a:prstGeom>
          <a:noFill/>
          <a:ln w="42863">
            <a:solidFill>
              <a:srgbClr val="EE313C"/>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92063" name="Line 191"/>
          <p:cNvSpPr>
            <a:spLocks noChangeShapeType="1"/>
          </p:cNvSpPr>
          <p:nvPr/>
        </p:nvSpPr>
        <p:spPr bwMode="auto">
          <a:xfrm flipH="1" flipV="1">
            <a:off x="2792413" y="1687513"/>
            <a:ext cx="3732212" cy="2357437"/>
          </a:xfrm>
          <a:prstGeom prst="line">
            <a:avLst/>
          </a:prstGeom>
          <a:noFill/>
          <a:ln w="42863">
            <a:solidFill>
              <a:srgbClr val="3C5DAA"/>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92064" name="Line 192"/>
          <p:cNvSpPr>
            <a:spLocks noChangeShapeType="1"/>
          </p:cNvSpPr>
          <p:nvPr/>
        </p:nvSpPr>
        <p:spPr bwMode="auto">
          <a:xfrm flipH="1" flipV="1">
            <a:off x="1928813" y="2541588"/>
            <a:ext cx="3487737" cy="2198687"/>
          </a:xfrm>
          <a:prstGeom prst="line">
            <a:avLst/>
          </a:prstGeom>
          <a:noFill/>
          <a:ln w="42863">
            <a:solidFill>
              <a:srgbClr val="AEC5E7"/>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92065" name="Oval 193"/>
          <p:cNvSpPr>
            <a:spLocks noChangeArrowheads="1"/>
          </p:cNvSpPr>
          <p:nvPr/>
        </p:nvSpPr>
        <p:spPr bwMode="auto">
          <a:xfrm>
            <a:off x="3489325" y="3505200"/>
            <a:ext cx="131763" cy="12223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92066" name="Oval 194"/>
          <p:cNvSpPr>
            <a:spLocks noChangeArrowheads="1"/>
          </p:cNvSpPr>
          <p:nvPr/>
        </p:nvSpPr>
        <p:spPr bwMode="auto">
          <a:xfrm>
            <a:off x="4595813" y="2808288"/>
            <a:ext cx="133350" cy="12065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92067" name="Line 195"/>
          <p:cNvSpPr>
            <a:spLocks noChangeShapeType="1"/>
          </p:cNvSpPr>
          <p:nvPr/>
        </p:nvSpPr>
        <p:spPr bwMode="auto">
          <a:xfrm flipV="1">
            <a:off x="3805238" y="3171825"/>
            <a:ext cx="682625" cy="430213"/>
          </a:xfrm>
          <a:prstGeom prst="line">
            <a:avLst/>
          </a:prstGeom>
          <a:noFill/>
          <a:ln w="428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92068" name="Freeform 196"/>
          <p:cNvSpPr>
            <a:spLocks/>
          </p:cNvSpPr>
          <p:nvPr/>
        </p:nvSpPr>
        <p:spPr bwMode="auto">
          <a:xfrm>
            <a:off x="4414838" y="3100388"/>
            <a:ext cx="187325" cy="138112"/>
          </a:xfrm>
          <a:custGeom>
            <a:avLst/>
            <a:gdLst>
              <a:gd name="T0" fmla="*/ 9 w 28"/>
              <a:gd name="T1" fmla="*/ 13 h 23"/>
              <a:gd name="T2" fmla="*/ 0 w 28"/>
              <a:gd name="T3" fmla="*/ 9 h 23"/>
              <a:gd name="T4" fmla="*/ 0 w 28"/>
              <a:gd name="T5" fmla="*/ 9 h 23"/>
              <a:gd name="T6" fmla="*/ 15 w 28"/>
              <a:gd name="T7" fmla="*/ 5 h 23"/>
              <a:gd name="T8" fmla="*/ 28 w 28"/>
              <a:gd name="T9" fmla="*/ 0 h 23"/>
              <a:gd name="T10" fmla="*/ 18 w 28"/>
              <a:gd name="T11" fmla="*/ 11 h 23"/>
              <a:gd name="T12" fmla="*/ 10 w 28"/>
              <a:gd name="T13" fmla="*/ 23 h 23"/>
              <a:gd name="T14" fmla="*/ 9 w 28"/>
              <a:gd name="T15" fmla="*/ 23 h 23"/>
              <a:gd name="T16" fmla="*/ 9 w 28"/>
              <a:gd name="T1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23">
                <a:moveTo>
                  <a:pt x="9" y="13"/>
                </a:moveTo>
                <a:cubicBezTo>
                  <a:pt x="0" y="9"/>
                  <a:pt x="0" y="9"/>
                  <a:pt x="0" y="9"/>
                </a:cubicBezTo>
                <a:cubicBezTo>
                  <a:pt x="0" y="9"/>
                  <a:pt x="0" y="9"/>
                  <a:pt x="0" y="9"/>
                </a:cubicBezTo>
                <a:cubicBezTo>
                  <a:pt x="15" y="5"/>
                  <a:pt x="15" y="5"/>
                  <a:pt x="15" y="5"/>
                </a:cubicBezTo>
                <a:cubicBezTo>
                  <a:pt x="19" y="4"/>
                  <a:pt x="24" y="2"/>
                  <a:pt x="28" y="0"/>
                </a:cubicBezTo>
                <a:cubicBezTo>
                  <a:pt x="25" y="3"/>
                  <a:pt x="22" y="7"/>
                  <a:pt x="18" y="11"/>
                </a:cubicBezTo>
                <a:cubicBezTo>
                  <a:pt x="10" y="23"/>
                  <a:pt x="10" y="23"/>
                  <a:pt x="10" y="23"/>
                </a:cubicBezTo>
                <a:cubicBezTo>
                  <a:pt x="9" y="23"/>
                  <a:pt x="9" y="23"/>
                  <a:pt x="9" y="23"/>
                </a:cubicBezTo>
                <a:lnTo>
                  <a:pt x="9"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92069" name="Line 197"/>
          <p:cNvSpPr>
            <a:spLocks noChangeShapeType="1"/>
          </p:cNvSpPr>
          <p:nvPr/>
        </p:nvSpPr>
        <p:spPr bwMode="auto">
          <a:xfrm flipV="1">
            <a:off x="4468813" y="2954338"/>
            <a:ext cx="1546225" cy="357187"/>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92070" name="Freeform 198"/>
          <p:cNvSpPr>
            <a:spLocks/>
          </p:cNvSpPr>
          <p:nvPr/>
        </p:nvSpPr>
        <p:spPr bwMode="auto">
          <a:xfrm>
            <a:off x="5948363" y="2105025"/>
            <a:ext cx="2073275" cy="1492250"/>
          </a:xfrm>
          <a:custGeom>
            <a:avLst/>
            <a:gdLst>
              <a:gd name="T0" fmla="*/ 313 w 313"/>
              <a:gd name="T1" fmla="*/ 227 h 246"/>
              <a:gd name="T2" fmla="*/ 295 w 313"/>
              <a:gd name="T3" fmla="*/ 246 h 246"/>
              <a:gd name="T4" fmla="*/ 17 w 313"/>
              <a:gd name="T5" fmla="*/ 246 h 246"/>
              <a:gd name="T6" fmla="*/ 0 w 313"/>
              <a:gd name="T7" fmla="*/ 227 h 246"/>
              <a:gd name="T8" fmla="*/ 0 w 313"/>
              <a:gd name="T9" fmla="*/ 20 h 246"/>
              <a:gd name="T10" fmla="*/ 17 w 313"/>
              <a:gd name="T11" fmla="*/ 0 h 246"/>
              <a:gd name="T12" fmla="*/ 295 w 313"/>
              <a:gd name="T13" fmla="*/ 0 h 246"/>
              <a:gd name="T14" fmla="*/ 313 w 313"/>
              <a:gd name="T15" fmla="*/ 20 h 246"/>
              <a:gd name="T16" fmla="*/ 313 w 313"/>
              <a:gd name="T17" fmla="*/ 227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3" h="246">
                <a:moveTo>
                  <a:pt x="313" y="227"/>
                </a:moveTo>
                <a:cubicBezTo>
                  <a:pt x="313" y="238"/>
                  <a:pt x="305" y="246"/>
                  <a:pt x="295" y="246"/>
                </a:cubicBezTo>
                <a:cubicBezTo>
                  <a:pt x="17" y="246"/>
                  <a:pt x="17" y="246"/>
                  <a:pt x="17" y="246"/>
                </a:cubicBezTo>
                <a:cubicBezTo>
                  <a:pt x="7" y="246"/>
                  <a:pt x="0" y="238"/>
                  <a:pt x="0" y="227"/>
                </a:cubicBezTo>
                <a:cubicBezTo>
                  <a:pt x="0" y="20"/>
                  <a:pt x="0" y="20"/>
                  <a:pt x="0" y="20"/>
                </a:cubicBezTo>
                <a:cubicBezTo>
                  <a:pt x="0" y="9"/>
                  <a:pt x="7" y="0"/>
                  <a:pt x="17" y="0"/>
                </a:cubicBezTo>
                <a:cubicBezTo>
                  <a:pt x="295" y="0"/>
                  <a:pt x="295" y="0"/>
                  <a:pt x="295" y="0"/>
                </a:cubicBezTo>
                <a:cubicBezTo>
                  <a:pt x="305" y="0"/>
                  <a:pt x="313" y="9"/>
                  <a:pt x="313" y="20"/>
                </a:cubicBezTo>
                <a:lnTo>
                  <a:pt x="313" y="227"/>
                </a:lnTo>
                <a:close/>
              </a:path>
            </a:pathLst>
          </a:custGeom>
          <a:solidFill>
            <a:srgbClr val="D6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92071" name="Freeform 199"/>
          <p:cNvSpPr>
            <a:spLocks/>
          </p:cNvSpPr>
          <p:nvPr/>
        </p:nvSpPr>
        <p:spPr bwMode="auto">
          <a:xfrm>
            <a:off x="669925" y="2954338"/>
            <a:ext cx="630238" cy="598487"/>
          </a:xfrm>
          <a:custGeom>
            <a:avLst/>
            <a:gdLst>
              <a:gd name="T0" fmla="*/ 95 w 95"/>
              <a:gd name="T1" fmla="*/ 80 h 99"/>
              <a:gd name="T2" fmla="*/ 77 w 95"/>
              <a:gd name="T3" fmla="*/ 99 h 99"/>
              <a:gd name="T4" fmla="*/ 17 w 95"/>
              <a:gd name="T5" fmla="*/ 99 h 99"/>
              <a:gd name="T6" fmla="*/ 0 w 95"/>
              <a:gd name="T7" fmla="*/ 80 h 99"/>
              <a:gd name="T8" fmla="*/ 0 w 95"/>
              <a:gd name="T9" fmla="*/ 20 h 99"/>
              <a:gd name="T10" fmla="*/ 17 w 95"/>
              <a:gd name="T11" fmla="*/ 0 h 99"/>
              <a:gd name="T12" fmla="*/ 77 w 95"/>
              <a:gd name="T13" fmla="*/ 0 h 99"/>
              <a:gd name="T14" fmla="*/ 95 w 95"/>
              <a:gd name="T15" fmla="*/ 20 h 99"/>
              <a:gd name="T16" fmla="*/ 95 w 95"/>
              <a:gd name="T17" fmla="*/ 8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5" h="99">
                <a:moveTo>
                  <a:pt x="95" y="80"/>
                </a:moveTo>
                <a:cubicBezTo>
                  <a:pt x="95" y="90"/>
                  <a:pt x="87" y="99"/>
                  <a:pt x="77" y="99"/>
                </a:cubicBezTo>
                <a:cubicBezTo>
                  <a:pt x="17" y="99"/>
                  <a:pt x="17" y="99"/>
                  <a:pt x="17" y="99"/>
                </a:cubicBezTo>
                <a:cubicBezTo>
                  <a:pt x="8" y="99"/>
                  <a:pt x="0" y="90"/>
                  <a:pt x="0" y="80"/>
                </a:cubicBezTo>
                <a:cubicBezTo>
                  <a:pt x="0" y="20"/>
                  <a:pt x="0" y="20"/>
                  <a:pt x="0" y="20"/>
                </a:cubicBezTo>
                <a:cubicBezTo>
                  <a:pt x="0" y="9"/>
                  <a:pt x="8" y="0"/>
                  <a:pt x="17" y="0"/>
                </a:cubicBezTo>
                <a:cubicBezTo>
                  <a:pt x="77" y="0"/>
                  <a:pt x="77" y="0"/>
                  <a:pt x="77" y="0"/>
                </a:cubicBezTo>
                <a:cubicBezTo>
                  <a:pt x="87" y="0"/>
                  <a:pt x="95" y="9"/>
                  <a:pt x="95" y="20"/>
                </a:cubicBezTo>
                <a:lnTo>
                  <a:pt x="95" y="80"/>
                </a:lnTo>
                <a:close/>
              </a:path>
            </a:pathLst>
          </a:custGeom>
          <a:solidFill>
            <a:srgbClr val="D6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92072" name="Freeform 200"/>
          <p:cNvSpPr>
            <a:spLocks/>
          </p:cNvSpPr>
          <p:nvPr/>
        </p:nvSpPr>
        <p:spPr bwMode="auto">
          <a:xfrm>
            <a:off x="4144963" y="3263900"/>
            <a:ext cx="192087" cy="144463"/>
          </a:xfrm>
          <a:custGeom>
            <a:avLst/>
            <a:gdLst>
              <a:gd name="T0" fmla="*/ 10 w 29"/>
              <a:gd name="T1" fmla="*/ 14 h 24"/>
              <a:gd name="T2" fmla="*/ 0 w 29"/>
              <a:gd name="T3" fmla="*/ 10 h 24"/>
              <a:gd name="T4" fmla="*/ 0 w 29"/>
              <a:gd name="T5" fmla="*/ 10 h 24"/>
              <a:gd name="T6" fmla="*/ 15 w 29"/>
              <a:gd name="T7" fmla="*/ 6 h 24"/>
              <a:gd name="T8" fmla="*/ 29 w 29"/>
              <a:gd name="T9" fmla="*/ 0 h 24"/>
              <a:gd name="T10" fmla="*/ 19 w 29"/>
              <a:gd name="T11" fmla="*/ 11 h 24"/>
              <a:gd name="T12" fmla="*/ 11 w 29"/>
              <a:gd name="T13" fmla="*/ 24 h 24"/>
              <a:gd name="T14" fmla="*/ 10 w 29"/>
              <a:gd name="T15" fmla="*/ 24 h 24"/>
              <a:gd name="T16" fmla="*/ 10 w 29"/>
              <a:gd name="T17"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24">
                <a:moveTo>
                  <a:pt x="10" y="14"/>
                </a:moveTo>
                <a:cubicBezTo>
                  <a:pt x="0" y="10"/>
                  <a:pt x="0" y="10"/>
                  <a:pt x="0" y="10"/>
                </a:cubicBezTo>
                <a:cubicBezTo>
                  <a:pt x="0" y="10"/>
                  <a:pt x="0" y="10"/>
                  <a:pt x="0" y="10"/>
                </a:cubicBezTo>
                <a:cubicBezTo>
                  <a:pt x="15" y="6"/>
                  <a:pt x="15" y="6"/>
                  <a:pt x="15" y="6"/>
                </a:cubicBezTo>
                <a:cubicBezTo>
                  <a:pt x="20" y="4"/>
                  <a:pt x="25" y="2"/>
                  <a:pt x="29" y="0"/>
                </a:cubicBezTo>
                <a:cubicBezTo>
                  <a:pt x="26" y="4"/>
                  <a:pt x="22" y="8"/>
                  <a:pt x="19" y="11"/>
                </a:cubicBezTo>
                <a:cubicBezTo>
                  <a:pt x="11" y="24"/>
                  <a:pt x="11" y="24"/>
                  <a:pt x="11" y="24"/>
                </a:cubicBezTo>
                <a:cubicBezTo>
                  <a:pt x="10" y="24"/>
                  <a:pt x="10" y="24"/>
                  <a:pt x="10" y="24"/>
                </a:cubicBezTo>
                <a:lnTo>
                  <a:pt x="10"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92073" name="Freeform 201"/>
          <p:cNvSpPr>
            <a:spLocks/>
          </p:cNvSpPr>
          <p:nvPr/>
        </p:nvSpPr>
        <p:spPr bwMode="auto">
          <a:xfrm>
            <a:off x="3878263" y="3432175"/>
            <a:ext cx="193675" cy="146050"/>
          </a:xfrm>
          <a:custGeom>
            <a:avLst/>
            <a:gdLst>
              <a:gd name="T0" fmla="*/ 9 w 29"/>
              <a:gd name="T1" fmla="*/ 14 h 24"/>
              <a:gd name="T2" fmla="*/ 0 w 29"/>
              <a:gd name="T3" fmla="*/ 10 h 24"/>
              <a:gd name="T4" fmla="*/ 0 w 29"/>
              <a:gd name="T5" fmla="*/ 10 h 24"/>
              <a:gd name="T6" fmla="*/ 15 w 29"/>
              <a:gd name="T7" fmla="*/ 6 h 24"/>
              <a:gd name="T8" fmla="*/ 29 w 29"/>
              <a:gd name="T9" fmla="*/ 0 h 24"/>
              <a:gd name="T10" fmla="*/ 18 w 29"/>
              <a:gd name="T11" fmla="*/ 11 h 24"/>
              <a:gd name="T12" fmla="*/ 10 w 29"/>
              <a:gd name="T13" fmla="*/ 24 h 24"/>
              <a:gd name="T14" fmla="*/ 10 w 29"/>
              <a:gd name="T15" fmla="*/ 24 h 24"/>
              <a:gd name="T16" fmla="*/ 9 w 29"/>
              <a:gd name="T17"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24">
                <a:moveTo>
                  <a:pt x="9" y="14"/>
                </a:moveTo>
                <a:cubicBezTo>
                  <a:pt x="0" y="10"/>
                  <a:pt x="0" y="10"/>
                  <a:pt x="0" y="10"/>
                </a:cubicBezTo>
                <a:cubicBezTo>
                  <a:pt x="0" y="10"/>
                  <a:pt x="0" y="10"/>
                  <a:pt x="0" y="10"/>
                </a:cubicBezTo>
                <a:cubicBezTo>
                  <a:pt x="15" y="6"/>
                  <a:pt x="15" y="6"/>
                  <a:pt x="15" y="6"/>
                </a:cubicBezTo>
                <a:cubicBezTo>
                  <a:pt x="19" y="4"/>
                  <a:pt x="24" y="2"/>
                  <a:pt x="29" y="0"/>
                </a:cubicBezTo>
                <a:cubicBezTo>
                  <a:pt x="25" y="4"/>
                  <a:pt x="22" y="8"/>
                  <a:pt x="18" y="11"/>
                </a:cubicBezTo>
                <a:cubicBezTo>
                  <a:pt x="10" y="24"/>
                  <a:pt x="10" y="24"/>
                  <a:pt x="10" y="24"/>
                </a:cubicBezTo>
                <a:cubicBezTo>
                  <a:pt x="10" y="24"/>
                  <a:pt x="10" y="24"/>
                  <a:pt x="10" y="24"/>
                </a:cubicBezTo>
                <a:lnTo>
                  <a:pt x="9"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92074" name="Line 202"/>
          <p:cNvSpPr>
            <a:spLocks noChangeShapeType="1"/>
          </p:cNvSpPr>
          <p:nvPr/>
        </p:nvSpPr>
        <p:spPr bwMode="auto">
          <a:xfrm flipV="1">
            <a:off x="1492250" y="3117850"/>
            <a:ext cx="0" cy="303213"/>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92075" name="Freeform 203"/>
          <p:cNvSpPr>
            <a:spLocks/>
          </p:cNvSpPr>
          <p:nvPr/>
        </p:nvSpPr>
        <p:spPr bwMode="auto">
          <a:xfrm>
            <a:off x="1446213" y="3033713"/>
            <a:ext cx="93662" cy="120650"/>
          </a:xfrm>
          <a:custGeom>
            <a:avLst/>
            <a:gdLst>
              <a:gd name="T0" fmla="*/ 7 w 14"/>
              <a:gd name="T1" fmla="*/ 16 h 20"/>
              <a:gd name="T2" fmla="*/ 1 w 14"/>
              <a:gd name="T3" fmla="*/ 20 h 20"/>
              <a:gd name="T4" fmla="*/ 0 w 14"/>
              <a:gd name="T5" fmla="*/ 19 h 20"/>
              <a:gd name="T6" fmla="*/ 5 w 14"/>
              <a:gd name="T7" fmla="*/ 10 h 20"/>
              <a:gd name="T8" fmla="*/ 7 w 14"/>
              <a:gd name="T9" fmla="*/ 0 h 20"/>
              <a:gd name="T10" fmla="*/ 9 w 14"/>
              <a:gd name="T11" fmla="*/ 10 h 20"/>
              <a:gd name="T12" fmla="*/ 14 w 14"/>
              <a:gd name="T13" fmla="*/ 19 h 20"/>
              <a:gd name="T14" fmla="*/ 14 w 14"/>
              <a:gd name="T15" fmla="*/ 20 h 20"/>
              <a:gd name="T16" fmla="*/ 7 w 14"/>
              <a:gd name="T17"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 h="20">
                <a:moveTo>
                  <a:pt x="7" y="16"/>
                </a:moveTo>
                <a:cubicBezTo>
                  <a:pt x="1" y="20"/>
                  <a:pt x="1" y="20"/>
                  <a:pt x="1" y="20"/>
                </a:cubicBezTo>
                <a:cubicBezTo>
                  <a:pt x="0" y="19"/>
                  <a:pt x="0" y="19"/>
                  <a:pt x="0" y="19"/>
                </a:cubicBezTo>
                <a:cubicBezTo>
                  <a:pt x="5" y="10"/>
                  <a:pt x="5" y="10"/>
                  <a:pt x="5" y="10"/>
                </a:cubicBezTo>
                <a:cubicBezTo>
                  <a:pt x="5" y="7"/>
                  <a:pt x="6" y="3"/>
                  <a:pt x="7" y="0"/>
                </a:cubicBezTo>
                <a:cubicBezTo>
                  <a:pt x="8" y="3"/>
                  <a:pt x="9" y="7"/>
                  <a:pt x="9" y="10"/>
                </a:cubicBezTo>
                <a:cubicBezTo>
                  <a:pt x="14" y="19"/>
                  <a:pt x="14" y="19"/>
                  <a:pt x="14" y="19"/>
                </a:cubicBezTo>
                <a:cubicBezTo>
                  <a:pt x="14" y="20"/>
                  <a:pt x="14" y="20"/>
                  <a:pt x="14" y="20"/>
                </a:cubicBezTo>
                <a:lnTo>
                  <a:pt x="7"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92076" name="Line 204"/>
          <p:cNvSpPr>
            <a:spLocks noChangeShapeType="1"/>
          </p:cNvSpPr>
          <p:nvPr/>
        </p:nvSpPr>
        <p:spPr bwMode="auto">
          <a:xfrm>
            <a:off x="3713163" y="5826125"/>
            <a:ext cx="715962" cy="0"/>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92077" name="Freeform 205"/>
          <p:cNvSpPr>
            <a:spLocks/>
          </p:cNvSpPr>
          <p:nvPr/>
        </p:nvSpPr>
        <p:spPr bwMode="auto">
          <a:xfrm>
            <a:off x="4337050" y="5784850"/>
            <a:ext cx="146050" cy="84138"/>
          </a:xfrm>
          <a:custGeom>
            <a:avLst/>
            <a:gdLst>
              <a:gd name="T0" fmla="*/ 4 w 22"/>
              <a:gd name="T1" fmla="*/ 7 h 14"/>
              <a:gd name="T2" fmla="*/ 0 w 22"/>
              <a:gd name="T3" fmla="*/ 1 h 14"/>
              <a:gd name="T4" fmla="*/ 0 w 22"/>
              <a:gd name="T5" fmla="*/ 0 h 14"/>
              <a:gd name="T6" fmla="*/ 11 w 22"/>
              <a:gd name="T7" fmla="*/ 5 h 14"/>
              <a:gd name="T8" fmla="*/ 22 w 22"/>
              <a:gd name="T9" fmla="*/ 7 h 14"/>
              <a:gd name="T10" fmla="*/ 11 w 22"/>
              <a:gd name="T11" fmla="*/ 10 h 14"/>
              <a:gd name="T12" fmla="*/ 0 w 22"/>
              <a:gd name="T13" fmla="*/ 14 h 14"/>
              <a:gd name="T14" fmla="*/ 0 w 22"/>
              <a:gd name="T15" fmla="*/ 14 h 14"/>
              <a:gd name="T16" fmla="*/ 4 w 22"/>
              <a:gd name="T17" fmla="*/ 7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14">
                <a:moveTo>
                  <a:pt x="4" y="7"/>
                </a:moveTo>
                <a:cubicBezTo>
                  <a:pt x="0" y="1"/>
                  <a:pt x="0" y="1"/>
                  <a:pt x="0" y="1"/>
                </a:cubicBezTo>
                <a:cubicBezTo>
                  <a:pt x="0" y="0"/>
                  <a:pt x="0" y="0"/>
                  <a:pt x="0" y="0"/>
                </a:cubicBezTo>
                <a:cubicBezTo>
                  <a:pt x="11" y="5"/>
                  <a:pt x="11" y="5"/>
                  <a:pt x="11" y="5"/>
                </a:cubicBezTo>
                <a:cubicBezTo>
                  <a:pt x="14" y="5"/>
                  <a:pt x="18" y="6"/>
                  <a:pt x="22" y="7"/>
                </a:cubicBezTo>
                <a:cubicBezTo>
                  <a:pt x="18" y="8"/>
                  <a:pt x="14" y="9"/>
                  <a:pt x="11" y="10"/>
                </a:cubicBezTo>
                <a:cubicBezTo>
                  <a:pt x="0" y="14"/>
                  <a:pt x="0" y="14"/>
                  <a:pt x="0" y="14"/>
                </a:cubicBezTo>
                <a:cubicBezTo>
                  <a:pt x="0" y="14"/>
                  <a:pt x="0" y="14"/>
                  <a:pt x="0" y="14"/>
                </a:cubicBezTo>
                <a:lnTo>
                  <a:pt x="4"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92078" name="Line 206"/>
          <p:cNvSpPr>
            <a:spLocks noChangeShapeType="1"/>
          </p:cNvSpPr>
          <p:nvPr/>
        </p:nvSpPr>
        <p:spPr bwMode="auto">
          <a:xfrm flipV="1">
            <a:off x="3097213" y="1947863"/>
            <a:ext cx="635000" cy="588962"/>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92079" name="Freeform 207"/>
          <p:cNvSpPr>
            <a:spLocks/>
          </p:cNvSpPr>
          <p:nvPr/>
        </p:nvSpPr>
        <p:spPr bwMode="auto">
          <a:xfrm>
            <a:off x="3613150" y="1409700"/>
            <a:ext cx="1525588" cy="574675"/>
          </a:xfrm>
          <a:custGeom>
            <a:avLst/>
            <a:gdLst>
              <a:gd name="T0" fmla="*/ 230 w 230"/>
              <a:gd name="T1" fmla="*/ 79 h 95"/>
              <a:gd name="T2" fmla="*/ 219 w 230"/>
              <a:gd name="T3" fmla="*/ 95 h 95"/>
              <a:gd name="T4" fmla="*/ 11 w 230"/>
              <a:gd name="T5" fmla="*/ 95 h 95"/>
              <a:gd name="T6" fmla="*/ 0 w 230"/>
              <a:gd name="T7" fmla="*/ 79 h 95"/>
              <a:gd name="T8" fmla="*/ 0 w 230"/>
              <a:gd name="T9" fmla="*/ 16 h 95"/>
              <a:gd name="T10" fmla="*/ 11 w 230"/>
              <a:gd name="T11" fmla="*/ 0 h 95"/>
              <a:gd name="T12" fmla="*/ 219 w 230"/>
              <a:gd name="T13" fmla="*/ 0 h 95"/>
              <a:gd name="T14" fmla="*/ 230 w 230"/>
              <a:gd name="T15" fmla="*/ 16 h 95"/>
              <a:gd name="T16" fmla="*/ 230 w 230"/>
              <a:gd name="T17" fmla="*/ 7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0" h="95">
                <a:moveTo>
                  <a:pt x="230" y="79"/>
                </a:moveTo>
                <a:cubicBezTo>
                  <a:pt x="230" y="88"/>
                  <a:pt x="225" y="95"/>
                  <a:pt x="219" y="95"/>
                </a:cubicBezTo>
                <a:cubicBezTo>
                  <a:pt x="11" y="95"/>
                  <a:pt x="11" y="95"/>
                  <a:pt x="11" y="95"/>
                </a:cubicBezTo>
                <a:cubicBezTo>
                  <a:pt x="5" y="95"/>
                  <a:pt x="0" y="88"/>
                  <a:pt x="0" y="79"/>
                </a:cubicBezTo>
                <a:cubicBezTo>
                  <a:pt x="0" y="16"/>
                  <a:pt x="0" y="16"/>
                  <a:pt x="0" y="16"/>
                </a:cubicBezTo>
                <a:cubicBezTo>
                  <a:pt x="0" y="7"/>
                  <a:pt x="5" y="0"/>
                  <a:pt x="11" y="0"/>
                </a:cubicBezTo>
                <a:cubicBezTo>
                  <a:pt x="219" y="0"/>
                  <a:pt x="219" y="0"/>
                  <a:pt x="219" y="0"/>
                </a:cubicBezTo>
                <a:cubicBezTo>
                  <a:pt x="225" y="0"/>
                  <a:pt x="230" y="7"/>
                  <a:pt x="230" y="16"/>
                </a:cubicBezTo>
                <a:lnTo>
                  <a:pt x="230" y="79"/>
                </a:lnTo>
                <a:close/>
              </a:path>
            </a:pathLst>
          </a:custGeom>
          <a:solidFill>
            <a:srgbClr val="D6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48930" name="TextBox 29"/>
          <p:cNvSpPr txBox="1">
            <a:spLocks noChangeArrowheads="1"/>
          </p:cNvSpPr>
          <p:nvPr/>
        </p:nvSpPr>
        <p:spPr bwMode="auto">
          <a:xfrm>
            <a:off x="304800" y="1143000"/>
            <a:ext cx="13843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400" dirty="0">
                <a:latin typeface="Century Gothic"/>
                <a:ea typeface="MS PGothic" pitchFamily="34" charset="-128"/>
                <a:cs typeface="Century Gothic"/>
              </a:rPr>
              <a:t>Price of cotton</a:t>
            </a:r>
          </a:p>
        </p:txBody>
      </p:sp>
      <p:sp>
        <p:nvSpPr>
          <p:cNvPr id="548931" name="TextBox 30"/>
          <p:cNvSpPr txBox="1">
            <a:spLocks noChangeArrowheads="1"/>
          </p:cNvSpPr>
          <p:nvPr/>
        </p:nvSpPr>
        <p:spPr bwMode="auto">
          <a:xfrm>
            <a:off x="6211888" y="5780088"/>
            <a:ext cx="239871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400" dirty="0">
                <a:latin typeface="Century Gothic"/>
                <a:ea typeface="MS PGothic" pitchFamily="34" charset="-128"/>
                <a:cs typeface="Century Gothic"/>
              </a:rPr>
              <a:t>Quantity of cotton</a:t>
            </a:r>
          </a:p>
        </p:txBody>
      </p:sp>
      <p:sp>
        <p:nvSpPr>
          <p:cNvPr id="2" name="TextBox 29"/>
          <p:cNvSpPr txBox="1">
            <a:spLocks noChangeArrowheads="1"/>
          </p:cNvSpPr>
          <p:nvPr/>
        </p:nvSpPr>
        <p:spPr bwMode="auto">
          <a:xfrm>
            <a:off x="533400" y="2971800"/>
            <a:ext cx="8318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400" dirty="0">
                <a:solidFill>
                  <a:schemeClr val="tx1">
                    <a:lumMod val="75000"/>
                    <a:lumOff val="25000"/>
                  </a:schemeClr>
                </a:solidFill>
                <a:latin typeface="Century Gothic"/>
                <a:ea typeface="MS PGothic" pitchFamily="34" charset="-128"/>
                <a:cs typeface="Century Gothic"/>
              </a:rPr>
              <a:t>Price rises</a:t>
            </a:r>
          </a:p>
        </p:txBody>
      </p:sp>
      <p:sp>
        <p:nvSpPr>
          <p:cNvPr id="3" name="TextBox 29"/>
          <p:cNvSpPr txBox="1">
            <a:spLocks noChangeArrowheads="1"/>
          </p:cNvSpPr>
          <p:nvPr/>
        </p:nvSpPr>
        <p:spPr bwMode="auto">
          <a:xfrm>
            <a:off x="3369731" y="6079066"/>
            <a:ext cx="13843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400" dirty="0">
                <a:solidFill>
                  <a:schemeClr val="tx1">
                    <a:lumMod val="75000"/>
                    <a:lumOff val="25000"/>
                  </a:schemeClr>
                </a:solidFill>
                <a:latin typeface="Century Gothic"/>
                <a:ea typeface="MS PGothic" pitchFamily="34" charset="-128"/>
                <a:cs typeface="Century Gothic"/>
              </a:rPr>
              <a:t>Quantity rises</a:t>
            </a:r>
          </a:p>
        </p:txBody>
      </p:sp>
      <p:sp>
        <p:nvSpPr>
          <p:cNvPr id="4" name="TextBox 29"/>
          <p:cNvSpPr txBox="1">
            <a:spLocks noChangeArrowheads="1"/>
          </p:cNvSpPr>
          <p:nvPr/>
        </p:nvSpPr>
        <p:spPr bwMode="auto">
          <a:xfrm>
            <a:off x="3657600" y="1447800"/>
            <a:ext cx="14763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spcBef>
                <a:spcPct val="50000"/>
              </a:spcBef>
            </a:pPr>
            <a:r>
              <a:rPr lang="en-US" sz="1400">
                <a:solidFill>
                  <a:schemeClr val="tx1">
                    <a:lumMod val="75000"/>
                    <a:lumOff val="25000"/>
                  </a:schemeClr>
                </a:solidFill>
                <a:latin typeface="Century Gothic"/>
                <a:ea typeface="MS PGothic" pitchFamily="34" charset="-128"/>
                <a:cs typeface="Century Gothic"/>
              </a:rPr>
              <a:t>An increase in demand…</a:t>
            </a:r>
          </a:p>
        </p:txBody>
      </p:sp>
      <p:sp>
        <p:nvSpPr>
          <p:cNvPr id="5" name="TextBox 29"/>
          <p:cNvSpPr txBox="1">
            <a:spLocks noChangeArrowheads="1"/>
          </p:cNvSpPr>
          <p:nvPr/>
        </p:nvSpPr>
        <p:spPr bwMode="auto">
          <a:xfrm>
            <a:off x="5934075" y="2133600"/>
            <a:ext cx="2030413"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nSpc>
                <a:spcPct val="100000"/>
              </a:lnSpc>
              <a:spcBef>
                <a:spcPct val="50000"/>
              </a:spcBef>
            </a:pPr>
            <a:r>
              <a:rPr lang="en-US" sz="1400" dirty="0">
                <a:solidFill>
                  <a:schemeClr val="tx1">
                    <a:lumMod val="75000"/>
                    <a:lumOff val="25000"/>
                  </a:schemeClr>
                </a:solidFill>
                <a:latin typeface="Century Gothic"/>
                <a:ea typeface="MS PGothic" pitchFamily="34" charset="-128"/>
                <a:cs typeface="Century Gothic"/>
              </a:rPr>
              <a:t>… leads to a movement along the supply curve due to a higher equilibrium price and higher equilibrium quantity.</a:t>
            </a:r>
          </a:p>
        </p:txBody>
      </p:sp>
    </p:spTree>
    <p:extLst>
      <p:ext uri="{BB962C8B-B14F-4D97-AF65-F5344CB8AC3E}">
        <p14:creationId xmlns:p14="http://schemas.microsoft.com/office/powerpoint/2010/main" val="163664742"/>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48930"/>
                                        </p:tgtEl>
                                        <p:attrNameLst>
                                          <p:attrName>style.visibility</p:attrName>
                                        </p:attrNameLst>
                                      </p:cBhvr>
                                      <p:to>
                                        <p:strVal val="visible"/>
                                      </p:to>
                                    </p:set>
                                    <p:animEffect transition="in" filter="fade">
                                      <p:cBhvr>
                                        <p:cTn id="7" dur="500"/>
                                        <p:tgtEl>
                                          <p:spTgt spid="54893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92048"/>
                                        </p:tgtEl>
                                        <p:attrNameLst>
                                          <p:attrName>style.visibility</p:attrName>
                                        </p:attrNameLst>
                                      </p:cBhvr>
                                      <p:to>
                                        <p:strVal val="visible"/>
                                      </p:to>
                                    </p:set>
                                    <p:animEffect transition="in" filter="fade">
                                      <p:cBhvr>
                                        <p:cTn id="10" dur="500"/>
                                        <p:tgtEl>
                                          <p:spTgt spid="59204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92061"/>
                                        </p:tgtEl>
                                        <p:attrNameLst>
                                          <p:attrName>style.visibility</p:attrName>
                                        </p:attrNameLst>
                                      </p:cBhvr>
                                      <p:to>
                                        <p:strVal val="visible"/>
                                      </p:to>
                                    </p:set>
                                    <p:animEffect transition="in" filter="fade">
                                      <p:cBhvr>
                                        <p:cTn id="13" dur="500"/>
                                        <p:tgtEl>
                                          <p:spTgt spid="59206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92044"/>
                                        </p:tgtEl>
                                        <p:attrNameLst>
                                          <p:attrName>style.visibility</p:attrName>
                                        </p:attrNameLst>
                                      </p:cBhvr>
                                      <p:to>
                                        <p:strVal val="visible"/>
                                      </p:to>
                                    </p:set>
                                    <p:animEffect transition="in" filter="fade">
                                      <p:cBhvr>
                                        <p:cTn id="16" dur="500"/>
                                        <p:tgtEl>
                                          <p:spTgt spid="59204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48931"/>
                                        </p:tgtEl>
                                        <p:attrNameLst>
                                          <p:attrName>style.visibility</p:attrName>
                                        </p:attrNameLst>
                                      </p:cBhvr>
                                      <p:to>
                                        <p:strVal val="visible"/>
                                      </p:to>
                                    </p:set>
                                    <p:animEffect transition="in" filter="fade">
                                      <p:cBhvr>
                                        <p:cTn id="19" dur="500"/>
                                        <p:tgtEl>
                                          <p:spTgt spid="548931"/>
                                        </p:tgtEl>
                                      </p:cBhvr>
                                    </p:animEffect>
                                  </p:childTnLst>
                                </p:cTn>
                              </p:par>
                              <p:par>
                                <p:cTn id="20" presetID="10" presetClass="entr" presetSubtype="0" fill="hold" nodeType="withEffect">
                                  <p:stCondLst>
                                    <p:cond delay="0"/>
                                  </p:stCondLst>
                                  <p:childTnLst>
                                    <p:set>
                                      <p:cBhvr>
                                        <p:cTn id="21" dur="1" fill="hold">
                                          <p:stCondLst>
                                            <p:cond delay="0"/>
                                          </p:stCondLst>
                                        </p:cTn>
                                        <p:tgtEl>
                                          <p:spTgt spid="592040"/>
                                        </p:tgtEl>
                                        <p:attrNameLst>
                                          <p:attrName>style.visibility</p:attrName>
                                        </p:attrNameLst>
                                      </p:cBhvr>
                                      <p:to>
                                        <p:strVal val="visible"/>
                                      </p:to>
                                    </p:set>
                                    <p:animEffect transition="in" filter="fade">
                                      <p:cBhvr>
                                        <p:cTn id="22" dur="500"/>
                                        <p:tgtEl>
                                          <p:spTgt spid="59204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92065"/>
                                        </p:tgtEl>
                                        <p:attrNameLst>
                                          <p:attrName>style.visibility</p:attrName>
                                        </p:attrNameLst>
                                      </p:cBhvr>
                                      <p:to>
                                        <p:strVal val="visible"/>
                                      </p:to>
                                    </p:set>
                                    <p:animEffect transition="in" filter="fade">
                                      <p:cBhvr>
                                        <p:cTn id="25" dur="500"/>
                                        <p:tgtEl>
                                          <p:spTgt spid="59206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92058"/>
                                        </p:tgtEl>
                                        <p:attrNameLst>
                                          <p:attrName>style.visibility</p:attrName>
                                        </p:attrNameLst>
                                      </p:cBhvr>
                                      <p:to>
                                        <p:strVal val="visible"/>
                                      </p:to>
                                    </p:set>
                                    <p:animEffect transition="in" filter="fade">
                                      <p:cBhvr>
                                        <p:cTn id="28" dur="500"/>
                                        <p:tgtEl>
                                          <p:spTgt spid="59205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92057"/>
                                        </p:tgtEl>
                                        <p:attrNameLst>
                                          <p:attrName>style.visibility</p:attrName>
                                        </p:attrNameLst>
                                      </p:cBhvr>
                                      <p:to>
                                        <p:strVal val="visible"/>
                                      </p:to>
                                    </p:set>
                                    <p:animEffect transition="in" filter="fade">
                                      <p:cBhvr>
                                        <p:cTn id="31" dur="500"/>
                                        <p:tgtEl>
                                          <p:spTgt spid="592057"/>
                                        </p:tgtEl>
                                      </p:cBhvr>
                                    </p:animEffect>
                                  </p:childTnLst>
                                </p:cTn>
                              </p:par>
                              <p:par>
                                <p:cTn id="32" presetID="10" presetClass="entr" presetSubtype="0" fill="hold" nodeType="withEffect">
                                  <p:stCondLst>
                                    <p:cond delay="0"/>
                                  </p:stCondLst>
                                  <p:childTnLst>
                                    <p:set>
                                      <p:cBhvr>
                                        <p:cTn id="33" dur="1" fill="hold">
                                          <p:stCondLst>
                                            <p:cond delay="0"/>
                                          </p:stCondLst>
                                        </p:cTn>
                                        <p:tgtEl>
                                          <p:spTgt spid="592039"/>
                                        </p:tgtEl>
                                        <p:attrNameLst>
                                          <p:attrName>style.visibility</p:attrName>
                                        </p:attrNameLst>
                                      </p:cBhvr>
                                      <p:to>
                                        <p:strVal val="visible"/>
                                      </p:to>
                                    </p:set>
                                    <p:animEffect transition="in" filter="fade">
                                      <p:cBhvr>
                                        <p:cTn id="34" dur="500"/>
                                        <p:tgtEl>
                                          <p:spTgt spid="59203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92062"/>
                                        </p:tgtEl>
                                        <p:attrNameLst>
                                          <p:attrName>style.visibility</p:attrName>
                                        </p:attrNameLst>
                                      </p:cBhvr>
                                      <p:to>
                                        <p:strVal val="visible"/>
                                      </p:to>
                                    </p:set>
                                    <p:animEffect transition="in" filter="fade">
                                      <p:cBhvr>
                                        <p:cTn id="37" dur="500"/>
                                        <p:tgtEl>
                                          <p:spTgt spid="59206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592052"/>
                                        </p:tgtEl>
                                        <p:attrNameLst>
                                          <p:attrName>style.visibility</p:attrName>
                                        </p:attrNameLst>
                                      </p:cBhvr>
                                      <p:to>
                                        <p:strVal val="visible"/>
                                      </p:to>
                                    </p:set>
                                    <p:animEffect transition="in" filter="fade">
                                      <p:cBhvr>
                                        <p:cTn id="40" dur="500"/>
                                        <p:tgtEl>
                                          <p:spTgt spid="59205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92049"/>
                                        </p:tgtEl>
                                        <p:attrNameLst>
                                          <p:attrName>style.visibility</p:attrName>
                                        </p:attrNameLst>
                                      </p:cBhvr>
                                      <p:to>
                                        <p:strVal val="visible"/>
                                      </p:to>
                                    </p:set>
                                    <p:animEffect transition="in" filter="fade">
                                      <p:cBhvr>
                                        <p:cTn id="43" dur="500"/>
                                        <p:tgtEl>
                                          <p:spTgt spid="59204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592045"/>
                                        </p:tgtEl>
                                        <p:attrNameLst>
                                          <p:attrName>style.visibility</p:attrName>
                                        </p:attrNameLst>
                                      </p:cBhvr>
                                      <p:to>
                                        <p:strVal val="visible"/>
                                      </p:to>
                                    </p:set>
                                    <p:animEffect transition="in" filter="fade">
                                      <p:cBhvr>
                                        <p:cTn id="46" dur="500"/>
                                        <p:tgtEl>
                                          <p:spTgt spid="59204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92064"/>
                                        </p:tgtEl>
                                        <p:attrNameLst>
                                          <p:attrName>style.visibility</p:attrName>
                                        </p:attrNameLst>
                                      </p:cBhvr>
                                      <p:to>
                                        <p:strVal val="visible"/>
                                      </p:to>
                                    </p:set>
                                    <p:animEffect transition="in" filter="fade">
                                      <p:cBhvr>
                                        <p:cTn id="49" dur="500"/>
                                        <p:tgtEl>
                                          <p:spTgt spid="59206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92054"/>
                                        </p:tgtEl>
                                        <p:attrNameLst>
                                          <p:attrName>style.visibility</p:attrName>
                                        </p:attrNameLst>
                                      </p:cBhvr>
                                      <p:to>
                                        <p:strVal val="visible"/>
                                      </p:to>
                                    </p:set>
                                    <p:animEffect transition="in" filter="fade">
                                      <p:cBhvr>
                                        <p:cTn id="52" dur="500"/>
                                        <p:tgtEl>
                                          <p:spTgt spid="59205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92053"/>
                                        </p:tgtEl>
                                        <p:attrNameLst>
                                          <p:attrName>style.visibility</p:attrName>
                                        </p:attrNameLst>
                                      </p:cBhvr>
                                      <p:to>
                                        <p:strVal val="visible"/>
                                      </p:to>
                                    </p:set>
                                    <p:animEffect transition="in" filter="fade">
                                      <p:cBhvr>
                                        <p:cTn id="55" dur="500"/>
                                        <p:tgtEl>
                                          <p:spTgt spid="592053"/>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592059"/>
                                        </p:tgtEl>
                                        <p:attrNameLst>
                                          <p:attrName>style.visibility</p:attrName>
                                        </p:attrNameLst>
                                      </p:cBhvr>
                                      <p:to>
                                        <p:strVal val="visible"/>
                                      </p:to>
                                    </p:set>
                                    <p:animEffect transition="in" filter="fade">
                                      <p:cBhvr>
                                        <p:cTn id="60" dur="500"/>
                                        <p:tgtEl>
                                          <p:spTgt spid="59205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592078"/>
                                        </p:tgtEl>
                                        <p:attrNameLst>
                                          <p:attrName>style.visibility</p:attrName>
                                        </p:attrNameLst>
                                      </p:cBhvr>
                                      <p:to>
                                        <p:strVal val="visible"/>
                                      </p:to>
                                    </p:set>
                                    <p:animEffect transition="in" filter="fade">
                                      <p:cBhvr>
                                        <p:cTn id="63" dur="500"/>
                                        <p:tgtEl>
                                          <p:spTgt spid="592078"/>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592063"/>
                                        </p:tgtEl>
                                        <p:attrNameLst>
                                          <p:attrName>style.visibility</p:attrName>
                                        </p:attrNameLst>
                                      </p:cBhvr>
                                      <p:to>
                                        <p:strVal val="visible"/>
                                      </p:to>
                                    </p:set>
                                    <p:animEffect transition="in" filter="fade">
                                      <p:cBhvr>
                                        <p:cTn id="66" dur="500"/>
                                        <p:tgtEl>
                                          <p:spTgt spid="59206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
                                        </p:tgtEl>
                                        <p:attrNameLst>
                                          <p:attrName>style.visibility</p:attrName>
                                        </p:attrNameLst>
                                      </p:cBhvr>
                                      <p:to>
                                        <p:strVal val="visible"/>
                                      </p:to>
                                    </p:set>
                                    <p:animEffect transition="in" filter="fade">
                                      <p:cBhvr>
                                        <p:cTn id="69" dur="500"/>
                                        <p:tgtEl>
                                          <p:spTgt spid="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592060"/>
                                        </p:tgtEl>
                                        <p:attrNameLst>
                                          <p:attrName>style.visibility</p:attrName>
                                        </p:attrNameLst>
                                      </p:cBhvr>
                                      <p:to>
                                        <p:strVal val="visible"/>
                                      </p:to>
                                    </p:set>
                                    <p:animEffect transition="in" filter="fade">
                                      <p:cBhvr>
                                        <p:cTn id="72" dur="500"/>
                                        <p:tgtEl>
                                          <p:spTgt spid="59206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592050"/>
                                        </p:tgtEl>
                                        <p:attrNameLst>
                                          <p:attrName>style.visibility</p:attrName>
                                        </p:attrNameLst>
                                      </p:cBhvr>
                                      <p:to>
                                        <p:strVal val="visible"/>
                                      </p:to>
                                    </p:set>
                                    <p:animEffect transition="in" filter="fade">
                                      <p:cBhvr>
                                        <p:cTn id="75" dur="500"/>
                                        <p:tgtEl>
                                          <p:spTgt spid="592050"/>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592051"/>
                                        </p:tgtEl>
                                        <p:attrNameLst>
                                          <p:attrName>style.visibility</p:attrName>
                                        </p:attrNameLst>
                                      </p:cBhvr>
                                      <p:to>
                                        <p:strVal val="visible"/>
                                      </p:to>
                                    </p:set>
                                    <p:animEffect transition="in" filter="fade">
                                      <p:cBhvr>
                                        <p:cTn id="78" dur="500"/>
                                        <p:tgtEl>
                                          <p:spTgt spid="592051"/>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592079"/>
                                        </p:tgtEl>
                                        <p:attrNameLst>
                                          <p:attrName>style.visibility</p:attrName>
                                        </p:attrNameLst>
                                      </p:cBhvr>
                                      <p:to>
                                        <p:strVal val="visible"/>
                                      </p:to>
                                    </p:set>
                                    <p:animEffect transition="in" filter="fade">
                                      <p:cBhvr>
                                        <p:cTn id="81" dur="500"/>
                                        <p:tgtEl>
                                          <p:spTgt spid="592079"/>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592068"/>
                                        </p:tgtEl>
                                        <p:attrNameLst>
                                          <p:attrName>style.visibility</p:attrName>
                                        </p:attrNameLst>
                                      </p:cBhvr>
                                      <p:to>
                                        <p:strVal val="visible"/>
                                      </p:to>
                                    </p:set>
                                    <p:animEffect transition="in" filter="fade">
                                      <p:cBhvr>
                                        <p:cTn id="86" dur="500"/>
                                        <p:tgtEl>
                                          <p:spTgt spid="592068"/>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592072"/>
                                        </p:tgtEl>
                                        <p:attrNameLst>
                                          <p:attrName>style.visibility</p:attrName>
                                        </p:attrNameLst>
                                      </p:cBhvr>
                                      <p:to>
                                        <p:strVal val="visible"/>
                                      </p:to>
                                    </p:set>
                                    <p:animEffect transition="in" filter="fade">
                                      <p:cBhvr>
                                        <p:cTn id="89" dur="500"/>
                                        <p:tgtEl>
                                          <p:spTgt spid="592072"/>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592073"/>
                                        </p:tgtEl>
                                        <p:attrNameLst>
                                          <p:attrName>style.visibility</p:attrName>
                                        </p:attrNameLst>
                                      </p:cBhvr>
                                      <p:to>
                                        <p:strVal val="visible"/>
                                      </p:to>
                                    </p:set>
                                    <p:animEffect transition="in" filter="fade">
                                      <p:cBhvr>
                                        <p:cTn id="92" dur="500"/>
                                        <p:tgtEl>
                                          <p:spTgt spid="592073"/>
                                        </p:tgtEl>
                                      </p:cBhvr>
                                    </p:animEffect>
                                  </p:childTnLst>
                                </p:cTn>
                              </p:par>
                              <p:par>
                                <p:cTn id="93" presetID="10" presetClass="entr" presetSubtype="0" fill="hold" nodeType="withEffect">
                                  <p:stCondLst>
                                    <p:cond delay="0"/>
                                  </p:stCondLst>
                                  <p:childTnLst>
                                    <p:set>
                                      <p:cBhvr>
                                        <p:cTn id="94" dur="1" fill="hold">
                                          <p:stCondLst>
                                            <p:cond delay="0"/>
                                          </p:stCondLst>
                                        </p:cTn>
                                        <p:tgtEl>
                                          <p:spTgt spid="592038"/>
                                        </p:tgtEl>
                                        <p:attrNameLst>
                                          <p:attrName>style.visibility</p:attrName>
                                        </p:attrNameLst>
                                      </p:cBhvr>
                                      <p:to>
                                        <p:strVal val="visible"/>
                                      </p:to>
                                    </p:set>
                                    <p:animEffect transition="in" filter="fade">
                                      <p:cBhvr>
                                        <p:cTn id="95" dur="500"/>
                                        <p:tgtEl>
                                          <p:spTgt spid="592038"/>
                                        </p:tgtEl>
                                      </p:cBhvr>
                                    </p:animEffect>
                                  </p:childTnLst>
                                </p:cTn>
                              </p:par>
                              <p:par>
                                <p:cTn id="96" presetID="10" presetClass="entr" presetSubtype="0" fill="hold" nodeType="withEffect">
                                  <p:stCondLst>
                                    <p:cond delay="0"/>
                                  </p:stCondLst>
                                  <p:childTnLst>
                                    <p:set>
                                      <p:cBhvr>
                                        <p:cTn id="97" dur="1" fill="hold">
                                          <p:stCondLst>
                                            <p:cond delay="0"/>
                                          </p:stCondLst>
                                        </p:cTn>
                                        <p:tgtEl>
                                          <p:spTgt spid="592037"/>
                                        </p:tgtEl>
                                        <p:attrNameLst>
                                          <p:attrName>style.visibility</p:attrName>
                                        </p:attrNameLst>
                                      </p:cBhvr>
                                      <p:to>
                                        <p:strVal val="visible"/>
                                      </p:to>
                                    </p:set>
                                    <p:animEffect transition="in" filter="fade">
                                      <p:cBhvr>
                                        <p:cTn id="98" dur="500"/>
                                        <p:tgtEl>
                                          <p:spTgt spid="592037"/>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92069"/>
                                        </p:tgtEl>
                                        <p:attrNameLst>
                                          <p:attrName>style.visibility</p:attrName>
                                        </p:attrNameLst>
                                      </p:cBhvr>
                                      <p:to>
                                        <p:strVal val="visible"/>
                                      </p:to>
                                    </p:set>
                                    <p:animEffect transition="in" filter="fade">
                                      <p:cBhvr>
                                        <p:cTn id="101" dur="500"/>
                                        <p:tgtEl>
                                          <p:spTgt spid="592069"/>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92070"/>
                                        </p:tgtEl>
                                        <p:attrNameLst>
                                          <p:attrName>style.visibility</p:attrName>
                                        </p:attrNameLst>
                                      </p:cBhvr>
                                      <p:to>
                                        <p:strVal val="visible"/>
                                      </p:to>
                                    </p:set>
                                    <p:animEffect transition="in" filter="fade">
                                      <p:cBhvr>
                                        <p:cTn id="104" dur="500"/>
                                        <p:tgtEl>
                                          <p:spTgt spid="592070"/>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
                                        </p:tgtEl>
                                        <p:attrNameLst>
                                          <p:attrName>style.visibility</p:attrName>
                                        </p:attrNameLst>
                                      </p:cBhvr>
                                      <p:to>
                                        <p:strVal val="visible"/>
                                      </p:to>
                                    </p:set>
                                    <p:animEffect transition="in" filter="fade">
                                      <p:cBhvr>
                                        <p:cTn id="107" dur="500"/>
                                        <p:tgtEl>
                                          <p:spTgt spid="5"/>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92066"/>
                                        </p:tgtEl>
                                        <p:attrNameLst>
                                          <p:attrName>style.visibility</p:attrName>
                                        </p:attrNameLst>
                                      </p:cBhvr>
                                      <p:to>
                                        <p:strVal val="visible"/>
                                      </p:to>
                                    </p:set>
                                    <p:animEffect transition="in" filter="fade">
                                      <p:cBhvr>
                                        <p:cTn id="110" dur="500"/>
                                        <p:tgtEl>
                                          <p:spTgt spid="592066"/>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592056"/>
                                        </p:tgtEl>
                                        <p:attrNameLst>
                                          <p:attrName>style.visibility</p:attrName>
                                        </p:attrNameLst>
                                      </p:cBhvr>
                                      <p:to>
                                        <p:strVal val="visible"/>
                                      </p:to>
                                    </p:set>
                                    <p:animEffect transition="in" filter="fade">
                                      <p:cBhvr>
                                        <p:cTn id="113" dur="500"/>
                                        <p:tgtEl>
                                          <p:spTgt spid="592056"/>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92055"/>
                                        </p:tgtEl>
                                        <p:attrNameLst>
                                          <p:attrName>style.visibility</p:attrName>
                                        </p:attrNameLst>
                                      </p:cBhvr>
                                      <p:to>
                                        <p:strVal val="visible"/>
                                      </p:to>
                                    </p:set>
                                    <p:animEffect transition="in" filter="fade">
                                      <p:cBhvr>
                                        <p:cTn id="116" dur="500"/>
                                        <p:tgtEl>
                                          <p:spTgt spid="592055"/>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592075"/>
                                        </p:tgtEl>
                                        <p:attrNameLst>
                                          <p:attrName>style.visibility</p:attrName>
                                        </p:attrNameLst>
                                      </p:cBhvr>
                                      <p:to>
                                        <p:strVal val="visible"/>
                                      </p:to>
                                    </p:set>
                                    <p:animEffect transition="in" filter="fade">
                                      <p:cBhvr>
                                        <p:cTn id="119" dur="500"/>
                                        <p:tgtEl>
                                          <p:spTgt spid="592075"/>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592074"/>
                                        </p:tgtEl>
                                        <p:attrNameLst>
                                          <p:attrName>style.visibility</p:attrName>
                                        </p:attrNameLst>
                                      </p:cBhvr>
                                      <p:to>
                                        <p:strVal val="visible"/>
                                      </p:to>
                                    </p:set>
                                    <p:animEffect transition="in" filter="fade">
                                      <p:cBhvr>
                                        <p:cTn id="122" dur="500"/>
                                        <p:tgtEl>
                                          <p:spTgt spid="592074"/>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592047"/>
                                        </p:tgtEl>
                                        <p:attrNameLst>
                                          <p:attrName>style.visibility</p:attrName>
                                        </p:attrNameLst>
                                      </p:cBhvr>
                                      <p:to>
                                        <p:strVal val="visible"/>
                                      </p:to>
                                    </p:set>
                                    <p:animEffect transition="in" filter="fade">
                                      <p:cBhvr>
                                        <p:cTn id="125" dur="500"/>
                                        <p:tgtEl>
                                          <p:spTgt spid="592047"/>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92046"/>
                                        </p:tgtEl>
                                        <p:attrNameLst>
                                          <p:attrName>style.visibility</p:attrName>
                                        </p:attrNameLst>
                                      </p:cBhvr>
                                      <p:to>
                                        <p:strVal val="visible"/>
                                      </p:to>
                                    </p:set>
                                    <p:animEffect transition="in" filter="fade">
                                      <p:cBhvr>
                                        <p:cTn id="128" dur="500"/>
                                        <p:tgtEl>
                                          <p:spTgt spid="592046"/>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2"/>
                                        </p:tgtEl>
                                        <p:attrNameLst>
                                          <p:attrName>style.visibility</p:attrName>
                                        </p:attrNameLst>
                                      </p:cBhvr>
                                      <p:to>
                                        <p:strVal val="visible"/>
                                      </p:to>
                                    </p:set>
                                    <p:animEffect transition="in" filter="fade">
                                      <p:cBhvr>
                                        <p:cTn id="131" dur="500"/>
                                        <p:tgtEl>
                                          <p:spTgt spid="2"/>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3"/>
                                        </p:tgtEl>
                                        <p:attrNameLst>
                                          <p:attrName>style.visibility</p:attrName>
                                        </p:attrNameLst>
                                      </p:cBhvr>
                                      <p:to>
                                        <p:strVal val="visible"/>
                                      </p:to>
                                    </p:set>
                                    <p:animEffect transition="in" filter="fade">
                                      <p:cBhvr>
                                        <p:cTn id="134" dur="500"/>
                                        <p:tgtEl>
                                          <p:spTgt spid="3"/>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592077"/>
                                        </p:tgtEl>
                                        <p:attrNameLst>
                                          <p:attrName>style.visibility</p:attrName>
                                        </p:attrNameLst>
                                      </p:cBhvr>
                                      <p:to>
                                        <p:strVal val="visible"/>
                                      </p:to>
                                    </p:set>
                                    <p:animEffect transition="in" filter="fade">
                                      <p:cBhvr>
                                        <p:cTn id="137" dur="500"/>
                                        <p:tgtEl>
                                          <p:spTgt spid="592077"/>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592042"/>
                                        </p:tgtEl>
                                        <p:attrNameLst>
                                          <p:attrName>style.visibility</p:attrName>
                                        </p:attrNameLst>
                                      </p:cBhvr>
                                      <p:to>
                                        <p:strVal val="visible"/>
                                      </p:to>
                                    </p:set>
                                    <p:animEffect transition="in" filter="fade">
                                      <p:cBhvr>
                                        <p:cTn id="140" dur="500"/>
                                        <p:tgtEl>
                                          <p:spTgt spid="592042"/>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92043"/>
                                        </p:tgtEl>
                                        <p:attrNameLst>
                                          <p:attrName>style.visibility</p:attrName>
                                        </p:attrNameLst>
                                      </p:cBhvr>
                                      <p:to>
                                        <p:strVal val="visible"/>
                                      </p:to>
                                    </p:set>
                                    <p:animEffect transition="in" filter="fade">
                                      <p:cBhvr>
                                        <p:cTn id="143" dur="500"/>
                                        <p:tgtEl>
                                          <p:spTgt spid="592043"/>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592076"/>
                                        </p:tgtEl>
                                        <p:attrNameLst>
                                          <p:attrName>style.visibility</p:attrName>
                                        </p:attrNameLst>
                                      </p:cBhvr>
                                      <p:to>
                                        <p:strVal val="visible"/>
                                      </p:to>
                                    </p:set>
                                    <p:animEffect transition="in" filter="fade">
                                      <p:cBhvr>
                                        <p:cTn id="146" dur="500"/>
                                        <p:tgtEl>
                                          <p:spTgt spid="592076"/>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92071"/>
                                        </p:tgtEl>
                                        <p:attrNameLst>
                                          <p:attrName>style.visibility</p:attrName>
                                        </p:attrNameLst>
                                      </p:cBhvr>
                                      <p:to>
                                        <p:strVal val="visible"/>
                                      </p:to>
                                    </p:set>
                                    <p:animEffect transition="in" filter="fade">
                                      <p:cBhvr>
                                        <p:cTn id="149" dur="500"/>
                                        <p:tgtEl>
                                          <p:spTgt spid="592071"/>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92041"/>
                                        </p:tgtEl>
                                        <p:attrNameLst>
                                          <p:attrName>style.visibility</p:attrName>
                                        </p:attrNameLst>
                                      </p:cBhvr>
                                      <p:to>
                                        <p:strVal val="visible"/>
                                      </p:to>
                                    </p:set>
                                    <p:animEffect transition="in" filter="fade">
                                      <p:cBhvr>
                                        <p:cTn id="152" dur="500"/>
                                        <p:tgtEl>
                                          <p:spTgt spid="592041"/>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592067"/>
                                        </p:tgtEl>
                                        <p:attrNameLst>
                                          <p:attrName>style.visibility</p:attrName>
                                        </p:attrNameLst>
                                      </p:cBhvr>
                                      <p:to>
                                        <p:strVal val="visible"/>
                                      </p:to>
                                    </p:set>
                                    <p:animEffect transition="in" filter="fade">
                                      <p:cBhvr>
                                        <p:cTn id="155" dur="500"/>
                                        <p:tgtEl>
                                          <p:spTgt spid="5920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2041" grpId="0" animBg="1"/>
      <p:bldP spid="592042" grpId="0"/>
      <p:bldP spid="592043" grpId="0"/>
      <p:bldP spid="592044" grpId="0"/>
      <p:bldP spid="592045" grpId="0"/>
      <p:bldP spid="592046" grpId="0"/>
      <p:bldP spid="592047" grpId="0"/>
      <p:bldP spid="592048" grpId="0"/>
      <p:bldP spid="592049" grpId="0"/>
      <p:bldP spid="592050" grpId="0"/>
      <p:bldP spid="592051" grpId="0"/>
      <p:bldP spid="592052" grpId="0"/>
      <p:bldP spid="592053" grpId="0"/>
      <p:bldP spid="592054" grpId="0"/>
      <p:bldP spid="592055" grpId="0"/>
      <p:bldP spid="592056" grpId="0"/>
      <p:bldP spid="592057" grpId="0"/>
      <p:bldP spid="592058" grpId="0"/>
      <p:bldP spid="592059" grpId="0" animBg="1"/>
      <p:bldP spid="592060" grpId="0" animBg="1"/>
      <p:bldP spid="592061" grpId="0" animBg="1"/>
      <p:bldP spid="592062" grpId="0" animBg="1"/>
      <p:bldP spid="592063" grpId="0" animBg="1"/>
      <p:bldP spid="592064" grpId="0" animBg="1"/>
      <p:bldP spid="592065" grpId="0" animBg="1"/>
      <p:bldP spid="592066" grpId="0" animBg="1"/>
      <p:bldP spid="592067" grpId="0" animBg="1"/>
      <p:bldP spid="592068" grpId="0" animBg="1"/>
      <p:bldP spid="592069" grpId="0" animBg="1"/>
      <p:bldP spid="592070" grpId="0" animBg="1"/>
      <p:bldP spid="592071" grpId="0" animBg="1"/>
      <p:bldP spid="592072" grpId="0" animBg="1"/>
      <p:bldP spid="592073" grpId="0" animBg="1"/>
      <p:bldP spid="592074" grpId="0" animBg="1"/>
      <p:bldP spid="592075" grpId="0" animBg="1"/>
      <p:bldP spid="592076" grpId="0" animBg="1"/>
      <p:bldP spid="592077" grpId="0" animBg="1"/>
      <p:bldP spid="592078" grpId="0" animBg="1"/>
      <p:bldP spid="592079" grpId="0" animBg="1"/>
      <p:bldP spid="548930" grpId="0"/>
      <p:bldP spid="548931" grpId="0"/>
      <p:bldP spid="2" grpId="0"/>
      <p:bldP spid="3" grpId="0"/>
      <p:bldP spid="4" grpId="0"/>
      <p:bldP spid="5" grpId="0"/>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5970" name="Rectangle 2"/>
          <p:cNvSpPr>
            <a:spLocks noGrp="1" noRot="1" noChangeArrowheads="1"/>
          </p:cNvSpPr>
          <p:nvPr>
            <p:ph type="title"/>
          </p:nvPr>
        </p:nvSpPr>
        <p:spPr>
          <a:xfrm>
            <a:off x="0" y="0"/>
            <a:ext cx="9144000" cy="990600"/>
          </a:xfrm>
        </p:spPr>
        <p:txBody>
          <a:bodyPr>
            <a:noAutofit/>
          </a:bodyPr>
          <a:lstStyle/>
          <a:p>
            <a:r>
              <a:rPr lang="en-US" sz="3600" dirty="0"/>
              <a:t>WHAT HAPPENS WHEN THE SUPPLY CURVE SHIFTS</a:t>
            </a:r>
          </a:p>
        </p:txBody>
      </p:sp>
      <p:cxnSp>
        <p:nvCxnSpPr>
          <p:cNvPr id="596066" name="Straight Connector 86"/>
          <p:cNvCxnSpPr>
            <a:cxnSpLocks noChangeShapeType="1"/>
          </p:cNvCxnSpPr>
          <p:nvPr/>
        </p:nvCxnSpPr>
        <p:spPr bwMode="auto">
          <a:xfrm>
            <a:off x="2046288" y="2890838"/>
            <a:ext cx="2101850" cy="12700"/>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596067" name="Straight Connector 86"/>
          <p:cNvCxnSpPr>
            <a:cxnSpLocks noChangeShapeType="1"/>
          </p:cNvCxnSpPr>
          <p:nvPr/>
        </p:nvCxnSpPr>
        <p:spPr bwMode="auto">
          <a:xfrm>
            <a:off x="4219575" y="2944813"/>
            <a:ext cx="0" cy="2473325"/>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596068" name="Straight Connector 86"/>
          <p:cNvCxnSpPr>
            <a:cxnSpLocks noChangeShapeType="1"/>
          </p:cNvCxnSpPr>
          <p:nvPr/>
        </p:nvCxnSpPr>
        <p:spPr bwMode="auto">
          <a:xfrm>
            <a:off x="2046288" y="3967163"/>
            <a:ext cx="2689225" cy="14287"/>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596069" name="Straight Connector 86"/>
          <p:cNvCxnSpPr>
            <a:cxnSpLocks noChangeShapeType="1"/>
          </p:cNvCxnSpPr>
          <p:nvPr/>
        </p:nvCxnSpPr>
        <p:spPr bwMode="auto">
          <a:xfrm>
            <a:off x="4735513" y="4043363"/>
            <a:ext cx="0" cy="1374775"/>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sp>
        <p:nvSpPr>
          <p:cNvPr id="596070" name="Freeform 102"/>
          <p:cNvSpPr>
            <a:spLocks/>
          </p:cNvSpPr>
          <p:nvPr/>
        </p:nvSpPr>
        <p:spPr bwMode="auto">
          <a:xfrm>
            <a:off x="3962400" y="6019800"/>
            <a:ext cx="1263650" cy="400050"/>
          </a:xfrm>
          <a:custGeom>
            <a:avLst/>
            <a:gdLst>
              <a:gd name="T0" fmla="*/ 217 w 217"/>
              <a:gd name="T1" fmla="*/ 49 h 63"/>
              <a:gd name="T2" fmla="*/ 203 w 217"/>
              <a:gd name="T3" fmla="*/ 63 h 63"/>
              <a:gd name="T4" fmla="*/ 14 w 217"/>
              <a:gd name="T5" fmla="*/ 63 h 63"/>
              <a:gd name="T6" fmla="*/ 0 w 217"/>
              <a:gd name="T7" fmla="*/ 49 h 63"/>
              <a:gd name="T8" fmla="*/ 0 w 217"/>
              <a:gd name="T9" fmla="*/ 14 h 63"/>
              <a:gd name="T10" fmla="*/ 14 w 217"/>
              <a:gd name="T11" fmla="*/ 0 h 63"/>
              <a:gd name="T12" fmla="*/ 203 w 217"/>
              <a:gd name="T13" fmla="*/ 0 h 63"/>
              <a:gd name="T14" fmla="*/ 217 w 217"/>
              <a:gd name="T15" fmla="*/ 14 h 63"/>
              <a:gd name="T16" fmla="*/ 217 w 217"/>
              <a:gd name="T17" fmla="*/ 49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7" h="63">
                <a:moveTo>
                  <a:pt x="217" y="49"/>
                </a:moveTo>
                <a:cubicBezTo>
                  <a:pt x="217" y="57"/>
                  <a:pt x="211" y="63"/>
                  <a:pt x="203" y="63"/>
                </a:cubicBezTo>
                <a:cubicBezTo>
                  <a:pt x="14" y="63"/>
                  <a:pt x="14" y="63"/>
                  <a:pt x="14" y="63"/>
                </a:cubicBezTo>
                <a:cubicBezTo>
                  <a:pt x="6" y="63"/>
                  <a:pt x="0" y="57"/>
                  <a:pt x="0" y="49"/>
                </a:cubicBezTo>
                <a:cubicBezTo>
                  <a:pt x="0" y="14"/>
                  <a:pt x="0" y="14"/>
                  <a:pt x="0" y="14"/>
                </a:cubicBezTo>
                <a:cubicBezTo>
                  <a:pt x="0" y="7"/>
                  <a:pt x="6" y="0"/>
                  <a:pt x="14" y="0"/>
                </a:cubicBezTo>
                <a:cubicBezTo>
                  <a:pt x="203" y="0"/>
                  <a:pt x="203" y="0"/>
                  <a:pt x="203" y="0"/>
                </a:cubicBezTo>
                <a:cubicBezTo>
                  <a:pt x="211" y="0"/>
                  <a:pt x="217" y="7"/>
                  <a:pt x="217" y="14"/>
                </a:cubicBezTo>
                <a:lnTo>
                  <a:pt x="217" y="49"/>
                </a:lnTo>
                <a:close/>
              </a:path>
            </a:pathLst>
          </a:custGeom>
          <a:solidFill>
            <a:srgbClr val="D6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96071" name="Rectangle 103"/>
          <p:cNvSpPr>
            <a:spLocks noChangeArrowheads="1"/>
          </p:cNvSpPr>
          <p:nvPr/>
        </p:nvSpPr>
        <p:spPr bwMode="auto">
          <a:xfrm>
            <a:off x="1681163" y="2795588"/>
            <a:ext cx="13535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a:solidFill>
                  <a:srgbClr val="000000"/>
                </a:solidFill>
                <a:latin typeface="Century Gothic"/>
                <a:cs typeface="Century Gothic"/>
              </a:rPr>
              <a:t>P</a:t>
            </a:r>
            <a:endParaRPr lang="en-US" sz="1400" i="1">
              <a:latin typeface="Century Gothic"/>
              <a:cs typeface="Century Gothic"/>
            </a:endParaRPr>
          </a:p>
        </p:txBody>
      </p:sp>
      <p:sp>
        <p:nvSpPr>
          <p:cNvPr id="596072" name="Rectangle 104"/>
          <p:cNvSpPr>
            <a:spLocks noChangeArrowheads="1"/>
          </p:cNvSpPr>
          <p:nvPr/>
        </p:nvSpPr>
        <p:spPr bwMode="auto">
          <a:xfrm>
            <a:off x="1804988" y="2917825"/>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2</a:t>
            </a:r>
            <a:endParaRPr lang="en-US" sz="1400">
              <a:latin typeface="Century Gothic"/>
              <a:cs typeface="Century Gothic"/>
            </a:endParaRPr>
          </a:p>
        </p:txBody>
      </p:sp>
      <p:sp>
        <p:nvSpPr>
          <p:cNvPr id="596073" name="Rectangle 105"/>
          <p:cNvSpPr>
            <a:spLocks noChangeArrowheads="1"/>
          </p:cNvSpPr>
          <p:nvPr/>
        </p:nvSpPr>
        <p:spPr bwMode="auto">
          <a:xfrm>
            <a:off x="1681163" y="3833813"/>
            <a:ext cx="13535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a:solidFill>
                  <a:srgbClr val="000000"/>
                </a:solidFill>
                <a:latin typeface="Century Gothic"/>
                <a:cs typeface="Century Gothic"/>
              </a:rPr>
              <a:t>P</a:t>
            </a:r>
            <a:endParaRPr lang="en-US" sz="1400" i="1">
              <a:latin typeface="Century Gothic"/>
              <a:cs typeface="Century Gothic"/>
            </a:endParaRPr>
          </a:p>
        </p:txBody>
      </p:sp>
      <p:sp>
        <p:nvSpPr>
          <p:cNvPr id="596074" name="Rectangle 106"/>
          <p:cNvSpPr>
            <a:spLocks noChangeArrowheads="1"/>
          </p:cNvSpPr>
          <p:nvPr/>
        </p:nvSpPr>
        <p:spPr bwMode="auto">
          <a:xfrm>
            <a:off x="1804988" y="3956050"/>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a:t>
            </a:r>
            <a:endParaRPr lang="en-US" sz="1400">
              <a:latin typeface="Century Gothic"/>
              <a:cs typeface="Century Gothic"/>
            </a:endParaRPr>
          </a:p>
        </p:txBody>
      </p:sp>
      <p:sp>
        <p:nvSpPr>
          <p:cNvPr id="596075" name="Line 107"/>
          <p:cNvSpPr>
            <a:spLocks noChangeShapeType="1"/>
          </p:cNvSpPr>
          <p:nvPr/>
        </p:nvSpPr>
        <p:spPr bwMode="auto">
          <a:xfrm flipH="1">
            <a:off x="4595813" y="2473325"/>
            <a:ext cx="1152525" cy="0"/>
          </a:xfrm>
          <a:prstGeom prst="line">
            <a:avLst/>
          </a:prstGeom>
          <a:noFill/>
          <a:ln w="412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96076" name="Freeform 108"/>
          <p:cNvSpPr>
            <a:spLocks/>
          </p:cNvSpPr>
          <p:nvPr/>
        </p:nvSpPr>
        <p:spPr bwMode="auto">
          <a:xfrm>
            <a:off x="4467225" y="2416175"/>
            <a:ext cx="169863" cy="114300"/>
          </a:xfrm>
          <a:custGeom>
            <a:avLst/>
            <a:gdLst>
              <a:gd name="T0" fmla="*/ 24 w 29"/>
              <a:gd name="T1" fmla="*/ 9 h 18"/>
              <a:gd name="T2" fmla="*/ 29 w 29"/>
              <a:gd name="T3" fmla="*/ 0 h 18"/>
              <a:gd name="T4" fmla="*/ 29 w 29"/>
              <a:gd name="T5" fmla="*/ 0 h 18"/>
              <a:gd name="T6" fmla="*/ 15 w 29"/>
              <a:gd name="T7" fmla="*/ 6 h 18"/>
              <a:gd name="T8" fmla="*/ 0 w 29"/>
              <a:gd name="T9" fmla="*/ 9 h 18"/>
              <a:gd name="T10" fmla="*/ 15 w 29"/>
              <a:gd name="T11" fmla="*/ 12 h 18"/>
              <a:gd name="T12" fmla="*/ 29 w 29"/>
              <a:gd name="T13" fmla="*/ 18 h 18"/>
              <a:gd name="T14" fmla="*/ 29 w 29"/>
              <a:gd name="T15" fmla="*/ 18 h 18"/>
              <a:gd name="T16" fmla="*/ 24 w 29"/>
              <a:gd name="T17" fmla="*/ 9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8">
                <a:moveTo>
                  <a:pt x="24" y="9"/>
                </a:moveTo>
                <a:cubicBezTo>
                  <a:pt x="29" y="0"/>
                  <a:pt x="29" y="0"/>
                  <a:pt x="29" y="0"/>
                </a:cubicBezTo>
                <a:cubicBezTo>
                  <a:pt x="29" y="0"/>
                  <a:pt x="29" y="0"/>
                  <a:pt x="29" y="0"/>
                </a:cubicBezTo>
                <a:cubicBezTo>
                  <a:pt x="15" y="6"/>
                  <a:pt x="15" y="6"/>
                  <a:pt x="15" y="6"/>
                </a:cubicBezTo>
                <a:cubicBezTo>
                  <a:pt x="10" y="7"/>
                  <a:pt x="5" y="8"/>
                  <a:pt x="0" y="9"/>
                </a:cubicBezTo>
                <a:cubicBezTo>
                  <a:pt x="5" y="10"/>
                  <a:pt x="10" y="11"/>
                  <a:pt x="15" y="12"/>
                </a:cubicBezTo>
                <a:cubicBezTo>
                  <a:pt x="29" y="18"/>
                  <a:pt x="29" y="18"/>
                  <a:pt x="29" y="18"/>
                </a:cubicBezTo>
                <a:cubicBezTo>
                  <a:pt x="29" y="18"/>
                  <a:pt x="29" y="18"/>
                  <a:pt x="29" y="18"/>
                </a:cubicBezTo>
                <a:lnTo>
                  <a:pt x="2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96077" name="Rectangle 109"/>
          <p:cNvSpPr>
            <a:spLocks noChangeArrowheads="1"/>
          </p:cNvSpPr>
          <p:nvPr/>
        </p:nvSpPr>
        <p:spPr bwMode="auto">
          <a:xfrm>
            <a:off x="4724400" y="5638800"/>
            <a:ext cx="185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a:solidFill>
                  <a:srgbClr val="000000"/>
                </a:solidFill>
                <a:latin typeface="Century Gothic"/>
                <a:cs typeface="Century Gothic"/>
              </a:rPr>
              <a:t>Q</a:t>
            </a:r>
            <a:endParaRPr lang="en-US" sz="1400" i="1">
              <a:latin typeface="Century Gothic"/>
              <a:cs typeface="Century Gothic"/>
            </a:endParaRPr>
          </a:p>
        </p:txBody>
      </p:sp>
      <p:sp>
        <p:nvSpPr>
          <p:cNvPr id="596078" name="Rectangle 110"/>
          <p:cNvSpPr>
            <a:spLocks noChangeArrowheads="1"/>
          </p:cNvSpPr>
          <p:nvPr/>
        </p:nvSpPr>
        <p:spPr bwMode="auto">
          <a:xfrm>
            <a:off x="4876800" y="5775960"/>
            <a:ext cx="85285"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dirty="0">
                <a:solidFill>
                  <a:srgbClr val="000000"/>
                </a:solidFill>
                <a:latin typeface="Century Gothic"/>
                <a:cs typeface="Century Gothic"/>
              </a:rPr>
              <a:t>1</a:t>
            </a:r>
            <a:endParaRPr lang="en-US" sz="1200" dirty="0">
              <a:latin typeface="Century Gothic"/>
              <a:cs typeface="Century Gothic"/>
            </a:endParaRPr>
          </a:p>
        </p:txBody>
      </p:sp>
      <p:sp>
        <p:nvSpPr>
          <p:cNvPr id="596079" name="Rectangle 111"/>
          <p:cNvSpPr>
            <a:spLocks noChangeArrowheads="1"/>
          </p:cNvSpPr>
          <p:nvPr/>
        </p:nvSpPr>
        <p:spPr bwMode="auto">
          <a:xfrm>
            <a:off x="4114800" y="5638800"/>
            <a:ext cx="185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a:solidFill>
                  <a:srgbClr val="000000"/>
                </a:solidFill>
                <a:latin typeface="Century Gothic"/>
                <a:cs typeface="Century Gothic"/>
              </a:rPr>
              <a:t>Q</a:t>
            </a:r>
            <a:endParaRPr lang="en-US" sz="1400" i="1">
              <a:latin typeface="Century Gothic"/>
              <a:cs typeface="Century Gothic"/>
            </a:endParaRPr>
          </a:p>
        </p:txBody>
      </p:sp>
      <p:sp>
        <p:nvSpPr>
          <p:cNvPr id="596080" name="Rectangle 112"/>
          <p:cNvSpPr>
            <a:spLocks noChangeArrowheads="1"/>
          </p:cNvSpPr>
          <p:nvPr/>
        </p:nvSpPr>
        <p:spPr bwMode="auto">
          <a:xfrm>
            <a:off x="4258115" y="5791200"/>
            <a:ext cx="85285"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200" dirty="0">
                <a:solidFill>
                  <a:srgbClr val="000000"/>
                </a:solidFill>
                <a:latin typeface="Century Gothic"/>
                <a:cs typeface="Century Gothic"/>
              </a:rPr>
              <a:t>2</a:t>
            </a:r>
            <a:endParaRPr lang="en-US" sz="1200" dirty="0">
              <a:latin typeface="Century Gothic"/>
              <a:cs typeface="Century Gothic"/>
            </a:endParaRPr>
          </a:p>
        </p:txBody>
      </p:sp>
      <p:sp>
        <p:nvSpPr>
          <p:cNvPr id="596081" name="Line 113"/>
          <p:cNvSpPr>
            <a:spLocks noChangeShapeType="1"/>
          </p:cNvSpPr>
          <p:nvPr/>
        </p:nvSpPr>
        <p:spPr bwMode="auto">
          <a:xfrm flipV="1">
            <a:off x="1792288" y="3209925"/>
            <a:ext cx="0" cy="615950"/>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96082" name="Freeform 114"/>
          <p:cNvSpPr>
            <a:spLocks/>
          </p:cNvSpPr>
          <p:nvPr/>
        </p:nvSpPr>
        <p:spPr bwMode="auto">
          <a:xfrm>
            <a:off x="1751013" y="3121025"/>
            <a:ext cx="80962" cy="122238"/>
          </a:xfrm>
          <a:custGeom>
            <a:avLst/>
            <a:gdLst>
              <a:gd name="T0" fmla="*/ 7 w 14"/>
              <a:gd name="T1" fmla="*/ 16 h 19"/>
              <a:gd name="T2" fmla="*/ 13 w 14"/>
              <a:gd name="T3" fmla="*/ 19 h 19"/>
              <a:gd name="T4" fmla="*/ 14 w 14"/>
              <a:gd name="T5" fmla="*/ 19 h 19"/>
              <a:gd name="T6" fmla="*/ 9 w 14"/>
              <a:gd name="T7" fmla="*/ 10 h 19"/>
              <a:gd name="T8" fmla="*/ 7 w 14"/>
              <a:gd name="T9" fmla="*/ 0 h 19"/>
              <a:gd name="T10" fmla="*/ 5 w 14"/>
              <a:gd name="T11" fmla="*/ 10 h 19"/>
              <a:gd name="T12" fmla="*/ 0 w 14"/>
              <a:gd name="T13" fmla="*/ 19 h 19"/>
              <a:gd name="T14" fmla="*/ 0 w 14"/>
              <a:gd name="T15" fmla="*/ 19 h 19"/>
              <a:gd name="T16" fmla="*/ 7 w 14"/>
              <a:gd name="T17" fmla="*/ 16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 h="19">
                <a:moveTo>
                  <a:pt x="7" y="16"/>
                </a:moveTo>
                <a:cubicBezTo>
                  <a:pt x="13" y="19"/>
                  <a:pt x="13" y="19"/>
                  <a:pt x="13" y="19"/>
                </a:cubicBezTo>
                <a:cubicBezTo>
                  <a:pt x="14" y="19"/>
                  <a:pt x="14" y="19"/>
                  <a:pt x="14" y="19"/>
                </a:cubicBezTo>
                <a:cubicBezTo>
                  <a:pt x="9" y="10"/>
                  <a:pt x="9" y="10"/>
                  <a:pt x="9" y="10"/>
                </a:cubicBezTo>
                <a:cubicBezTo>
                  <a:pt x="9" y="6"/>
                  <a:pt x="8" y="3"/>
                  <a:pt x="7" y="0"/>
                </a:cubicBezTo>
                <a:cubicBezTo>
                  <a:pt x="6" y="3"/>
                  <a:pt x="5" y="6"/>
                  <a:pt x="5" y="10"/>
                </a:cubicBezTo>
                <a:cubicBezTo>
                  <a:pt x="0" y="19"/>
                  <a:pt x="0" y="19"/>
                  <a:pt x="0" y="19"/>
                </a:cubicBezTo>
                <a:cubicBezTo>
                  <a:pt x="0" y="19"/>
                  <a:pt x="0" y="19"/>
                  <a:pt x="0" y="19"/>
                </a:cubicBezTo>
                <a:lnTo>
                  <a:pt x="7"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96083" name="Line 115"/>
          <p:cNvSpPr>
            <a:spLocks noChangeShapeType="1"/>
          </p:cNvSpPr>
          <p:nvPr/>
        </p:nvSpPr>
        <p:spPr bwMode="auto">
          <a:xfrm flipH="1">
            <a:off x="4373563" y="5724525"/>
            <a:ext cx="239712" cy="0"/>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96084" name="Freeform 116"/>
          <p:cNvSpPr>
            <a:spLocks/>
          </p:cNvSpPr>
          <p:nvPr/>
        </p:nvSpPr>
        <p:spPr bwMode="auto">
          <a:xfrm>
            <a:off x="4325938" y="5681663"/>
            <a:ext cx="130175" cy="80962"/>
          </a:xfrm>
          <a:custGeom>
            <a:avLst/>
            <a:gdLst>
              <a:gd name="T0" fmla="*/ 18 w 22"/>
              <a:gd name="T1" fmla="*/ 7 h 13"/>
              <a:gd name="T2" fmla="*/ 22 w 22"/>
              <a:gd name="T3" fmla="*/ 0 h 13"/>
              <a:gd name="T4" fmla="*/ 22 w 22"/>
              <a:gd name="T5" fmla="*/ 0 h 13"/>
              <a:gd name="T6" fmla="*/ 11 w 22"/>
              <a:gd name="T7" fmla="*/ 4 h 13"/>
              <a:gd name="T8" fmla="*/ 0 w 22"/>
              <a:gd name="T9" fmla="*/ 7 h 13"/>
              <a:gd name="T10" fmla="*/ 11 w 22"/>
              <a:gd name="T11" fmla="*/ 9 h 13"/>
              <a:gd name="T12" fmla="*/ 22 w 22"/>
              <a:gd name="T13" fmla="*/ 13 h 13"/>
              <a:gd name="T14" fmla="*/ 22 w 22"/>
              <a:gd name="T15" fmla="*/ 13 h 13"/>
              <a:gd name="T16" fmla="*/ 18 w 22"/>
              <a:gd name="T17" fmla="*/ 7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13">
                <a:moveTo>
                  <a:pt x="18" y="7"/>
                </a:moveTo>
                <a:cubicBezTo>
                  <a:pt x="22" y="0"/>
                  <a:pt x="22" y="0"/>
                  <a:pt x="22" y="0"/>
                </a:cubicBezTo>
                <a:cubicBezTo>
                  <a:pt x="22" y="0"/>
                  <a:pt x="22" y="0"/>
                  <a:pt x="22" y="0"/>
                </a:cubicBezTo>
                <a:cubicBezTo>
                  <a:pt x="11" y="4"/>
                  <a:pt x="11" y="4"/>
                  <a:pt x="11" y="4"/>
                </a:cubicBezTo>
                <a:cubicBezTo>
                  <a:pt x="8" y="5"/>
                  <a:pt x="4" y="6"/>
                  <a:pt x="0" y="7"/>
                </a:cubicBezTo>
                <a:cubicBezTo>
                  <a:pt x="4" y="8"/>
                  <a:pt x="8" y="8"/>
                  <a:pt x="11" y="9"/>
                </a:cubicBezTo>
                <a:cubicBezTo>
                  <a:pt x="22" y="13"/>
                  <a:pt x="22" y="13"/>
                  <a:pt x="22" y="13"/>
                </a:cubicBezTo>
                <a:cubicBezTo>
                  <a:pt x="22" y="13"/>
                  <a:pt x="22" y="13"/>
                  <a:pt x="22" y="13"/>
                </a:cubicBezTo>
                <a:lnTo>
                  <a:pt x="18"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96085" name="Line 117"/>
          <p:cNvSpPr>
            <a:spLocks noChangeShapeType="1"/>
          </p:cNvSpPr>
          <p:nvPr/>
        </p:nvSpPr>
        <p:spPr bwMode="auto">
          <a:xfrm flipV="1">
            <a:off x="1949450" y="1035689"/>
            <a:ext cx="0" cy="4236459"/>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96086" name="Freeform 118"/>
          <p:cNvSpPr>
            <a:spLocks/>
          </p:cNvSpPr>
          <p:nvPr/>
        </p:nvSpPr>
        <p:spPr bwMode="auto">
          <a:xfrm>
            <a:off x="1949450" y="5260975"/>
            <a:ext cx="285750" cy="287338"/>
          </a:xfrm>
          <a:custGeom>
            <a:avLst/>
            <a:gdLst>
              <a:gd name="T0" fmla="*/ 163 w 163"/>
              <a:gd name="T1" fmla="*/ 150 h 150"/>
              <a:gd name="T2" fmla="*/ 0 w 163"/>
              <a:gd name="T3" fmla="*/ 150 h 150"/>
              <a:gd name="T4" fmla="*/ 0 w 163"/>
              <a:gd name="T5" fmla="*/ 0 h 150"/>
            </a:gdLst>
            <a:ahLst/>
            <a:cxnLst>
              <a:cxn ang="0">
                <a:pos x="T0" y="T1"/>
              </a:cxn>
              <a:cxn ang="0">
                <a:pos x="T2" y="T3"/>
              </a:cxn>
              <a:cxn ang="0">
                <a:pos x="T4" y="T5"/>
              </a:cxn>
            </a:cxnLst>
            <a:rect l="0" t="0" r="r" b="b"/>
            <a:pathLst>
              <a:path w="163" h="150">
                <a:moveTo>
                  <a:pt x="163" y="150"/>
                </a:moveTo>
                <a:lnTo>
                  <a:pt x="0" y="150"/>
                </a:lnTo>
                <a:lnTo>
                  <a:pt x="0" y="0"/>
                </a:lnTo>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596087" name="Line 119"/>
          <p:cNvSpPr>
            <a:spLocks noChangeShapeType="1"/>
          </p:cNvSpPr>
          <p:nvPr/>
        </p:nvSpPr>
        <p:spPr bwMode="auto">
          <a:xfrm flipH="1">
            <a:off x="2235200" y="5548313"/>
            <a:ext cx="5443538" cy="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96088" name="Rectangle 120"/>
          <p:cNvSpPr>
            <a:spLocks noChangeArrowheads="1"/>
          </p:cNvSpPr>
          <p:nvPr/>
        </p:nvSpPr>
        <p:spPr bwMode="auto">
          <a:xfrm>
            <a:off x="5510213" y="4968875"/>
            <a:ext cx="77381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Demand</a:t>
            </a:r>
            <a:endParaRPr lang="en-US" sz="1400">
              <a:latin typeface="Century Gothic"/>
              <a:cs typeface="Century Gothic"/>
            </a:endParaRPr>
          </a:p>
        </p:txBody>
      </p:sp>
      <p:sp>
        <p:nvSpPr>
          <p:cNvPr id="596089" name="Freeform 121"/>
          <p:cNvSpPr>
            <a:spLocks/>
          </p:cNvSpPr>
          <p:nvPr/>
        </p:nvSpPr>
        <p:spPr bwMode="auto">
          <a:xfrm>
            <a:off x="1066800" y="3200400"/>
            <a:ext cx="623888" cy="533400"/>
          </a:xfrm>
          <a:custGeom>
            <a:avLst/>
            <a:gdLst>
              <a:gd name="T0" fmla="*/ 94 w 94"/>
              <a:gd name="T1" fmla="*/ 81 h 95"/>
              <a:gd name="T2" fmla="*/ 80 w 94"/>
              <a:gd name="T3" fmla="*/ 95 h 95"/>
              <a:gd name="T4" fmla="*/ 14 w 94"/>
              <a:gd name="T5" fmla="*/ 95 h 95"/>
              <a:gd name="T6" fmla="*/ 0 w 94"/>
              <a:gd name="T7" fmla="*/ 81 h 95"/>
              <a:gd name="T8" fmla="*/ 0 w 94"/>
              <a:gd name="T9" fmla="*/ 14 h 95"/>
              <a:gd name="T10" fmla="*/ 14 w 94"/>
              <a:gd name="T11" fmla="*/ 0 h 95"/>
              <a:gd name="T12" fmla="*/ 80 w 94"/>
              <a:gd name="T13" fmla="*/ 0 h 95"/>
              <a:gd name="T14" fmla="*/ 94 w 94"/>
              <a:gd name="T15" fmla="*/ 14 h 95"/>
              <a:gd name="T16" fmla="*/ 94 w 94"/>
              <a:gd name="T17" fmla="*/ 8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95">
                <a:moveTo>
                  <a:pt x="94" y="81"/>
                </a:moveTo>
                <a:cubicBezTo>
                  <a:pt x="94" y="89"/>
                  <a:pt x="87" y="95"/>
                  <a:pt x="80" y="95"/>
                </a:cubicBezTo>
                <a:cubicBezTo>
                  <a:pt x="14" y="95"/>
                  <a:pt x="14" y="95"/>
                  <a:pt x="14" y="95"/>
                </a:cubicBezTo>
                <a:cubicBezTo>
                  <a:pt x="7" y="95"/>
                  <a:pt x="0" y="89"/>
                  <a:pt x="0" y="81"/>
                </a:cubicBezTo>
                <a:cubicBezTo>
                  <a:pt x="0" y="14"/>
                  <a:pt x="0" y="14"/>
                  <a:pt x="0" y="14"/>
                </a:cubicBezTo>
                <a:cubicBezTo>
                  <a:pt x="0" y="6"/>
                  <a:pt x="7" y="0"/>
                  <a:pt x="14" y="0"/>
                </a:cubicBezTo>
                <a:cubicBezTo>
                  <a:pt x="80" y="0"/>
                  <a:pt x="80" y="0"/>
                  <a:pt x="80" y="0"/>
                </a:cubicBezTo>
                <a:cubicBezTo>
                  <a:pt x="87" y="0"/>
                  <a:pt x="94" y="6"/>
                  <a:pt x="94" y="14"/>
                </a:cubicBezTo>
                <a:lnTo>
                  <a:pt x="94" y="81"/>
                </a:lnTo>
                <a:close/>
              </a:path>
            </a:pathLst>
          </a:custGeom>
          <a:solidFill>
            <a:srgbClr val="D6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96090" name="Rectangle 122"/>
          <p:cNvSpPr>
            <a:spLocks noChangeArrowheads="1"/>
          </p:cNvSpPr>
          <p:nvPr/>
        </p:nvSpPr>
        <p:spPr bwMode="auto">
          <a:xfrm>
            <a:off x="4876800" y="3886200"/>
            <a:ext cx="12536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a:solidFill>
                  <a:srgbClr val="000000"/>
                </a:solidFill>
                <a:latin typeface="Century Gothic"/>
                <a:cs typeface="Century Gothic"/>
              </a:rPr>
              <a:t>E</a:t>
            </a:r>
            <a:endParaRPr lang="en-US" sz="1400" i="1">
              <a:latin typeface="Century Gothic"/>
              <a:cs typeface="Century Gothic"/>
            </a:endParaRPr>
          </a:p>
        </p:txBody>
      </p:sp>
      <p:sp>
        <p:nvSpPr>
          <p:cNvPr id="596091" name="Rectangle 123"/>
          <p:cNvSpPr>
            <a:spLocks noChangeArrowheads="1"/>
          </p:cNvSpPr>
          <p:nvPr/>
        </p:nvSpPr>
        <p:spPr bwMode="auto">
          <a:xfrm>
            <a:off x="4994275" y="3965575"/>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a:t>
            </a:r>
            <a:endParaRPr lang="en-US" sz="1400">
              <a:latin typeface="Century Gothic"/>
              <a:cs typeface="Century Gothic"/>
            </a:endParaRPr>
          </a:p>
        </p:txBody>
      </p:sp>
      <p:sp>
        <p:nvSpPr>
          <p:cNvPr id="596092" name="Rectangle 124"/>
          <p:cNvSpPr>
            <a:spLocks noChangeArrowheads="1"/>
          </p:cNvSpPr>
          <p:nvPr/>
        </p:nvSpPr>
        <p:spPr bwMode="auto">
          <a:xfrm>
            <a:off x="5959475" y="1601788"/>
            <a:ext cx="12022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a:solidFill>
                  <a:srgbClr val="000000"/>
                </a:solidFill>
                <a:latin typeface="Century Gothic"/>
                <a:cs typeface="Century Gothic"/>
              </a:rPr>
              <a:t>S</a:t>
            </a:r>
            <a:endParaRPr lang="en-US" sz="1400" i="1">
              <a:latin typeface="Century Gothic"/>
              <a:cs typeface="Century Gothic"/>
            </a:endParaRPr>
          </a:p>
        </p:txBody>
      </p:sp>
      <p:sp>
        <p:nvSpPr>
          <p:cNvPr id="596093" name="Rectangle 125"/>
          <p:cNvSpPr>
            <a:spLocks noChangeArrowheads="1"/>
          </p:cNvSpPr>
          <p:nvPr/>
        </p:nvSpPr>
        <p:spPr bwMode="auto">
          <a:xfrm>
            <a:off x="6073775" y="1724025"/>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a:t>
            </a:r>
            <a:endParaRPr lang="en-US" sz="1400">
              <a:latin typeface="Century Gothic"/>
              <a:cs typeface="Century Gothic"/>
            </a:endParaRPr>
          </a:p>
        </p:txBody>
      </p:sp>
      <p:sp>
        <p:nvSpPr>
          <p:cNvPr id="596094" name="Rectangle 126"/>
          <p:cNvSpPr>
            <a:spLocks noChangeArrowheads="1"/>
          </p:cNvSpPr>
          <p:nvPr/>
        </p:nvSpPr>
        <p:spPr bwMode="auto">
          <a:xfrm>
            <a:off x="4538663" y="1571625"/>
            <a:ext cx="12022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a:solidFill>
                  <a:srgbClr val="000000"/>
                </a:solidFill>
                <a:latin typeface="Century Gothic"/>
                <a:cs typeface="Century Gothic"/>
              </a:rPr>
              <a:t>S</a:t>
            </a:r>
            <a:endParaRPr lang="en-US" sz="1400" i="1">
              <a:latin typeface="Century Gothic"/>
              <a:cs typeface="Century Gothic"/>
            </a:endParaRPr>
          </a:p>
        </p:txBody>
      </p:sp>
      <p:sp>
        <p:nvSpPr>
          <p:cNvPr id="596095" name="Rectangle 127"/>
          <p:cNvSpPr>
            <a:spLocks noChangeArrowheads="1"/>
          </p:cNvSpPr>
          <p:nvPr/>
        </p:nvSpPr>
        <p:spPr bwMode="auto">
          <a:xfrm>
            <a:off x="4654550" y="1693863"/>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2</a:t>
            </a:r>
            <a:endParaRPr lang="en-US" sz="1400">
              <a:latin typeface="Century Gothic"/>
              <a:cs typeface="Century Gothic"/>
            </a:endParaRPr>
          </a:p>
        </p:txBody>
      </p:sp>
      <p:sp>
        <p:nvSpPr>
          <p:cNvPr id="596096" name="Rectangle 128"/>
          <p:cNvSpPr>
            <a:spLocks noChangeArrowheads="1"/>
          </p:cNvSpPr>
          <p:nvPr/>
        </p:nvSpPr>
        <p:spPr bwMode="auto">
          <a:xfrm>
            <a:off x="4344988" y="2647950"/>
            <a:ext cx="12536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a:solidFill>
                  <a:srgbClr val="000000"/>
                </a:solidFill>
                <a:latin typeface="Century Gothic"/>
                <a:cs typeface="Century Gothic"/>
              </a:rPr>
              <a:t>E</a:t>
            </a:r>
            <a:endParaRPr lang="en-US" sz="1400" i="1">
              <a:latin typeface="Century Gothic"/>
              <a:cs typeface="Century Gothic"/>
            </a:endParaRPr>
          </a:p>
        </p:txBody>
      </p:sp>
      <p:sp>
        <p:nvSpPr>
          <p:cNvPr id="596097" name="Rectangle 129"/>
          <p:cNvSpPr>
            <a:spLocks noChangeArrowheads="1"/>
          </p:cNvSpPr>
          <p:nvPr/>
        </p:nvSpPr>
        <p:spPr bwMode="auto">
          <a:xfrm>
            <a:off x="4419600" y="2743200"/>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2</a:t>
            </a:r>
            <a:endParaRPr lang="en-US" sz="1400">
              <a:latin typeface="Century Gothic"/>
              <a:cs typeface="Century Gothic"/>
            </a:endParaRPr>
          </a:p>
        </p:txBody>
      </p:sp>
      <p:sp>
        <p:nvSpPr>
          <p:cNvPr id="596098" name="Freeform 130"/>
          <p:cNvSpPr>
            <a:spLocks/>
          </p:cNvSpPr>
          <p:nvPr/>
        </p:nvSpPr>
        <p:spPr bwMode="auto">
          <a:xfrm>
            <a:off x="4467225" y="3095625"/>
            <a:ext cx="279400" cy="577850"/>
          </a:xfrm>
          <a:custGeom>
            <a:avLst/>
            <a:gdLst>
              <a:gd name="T0" fmla="*/ 48 w 48"/>
              <a:gd name="T1" fmla="*/ 91 h 91"/>
              <a:gd name="T2" fmla="*/ 0 w 48"/>
              <a:gd name="T3" fmla="*/ 0 h 91"/>
            </a:gdLst>
            <a:ahLst/>
            <a:cxnLst>
              <a:cxn ang="0">
                <a:pos x="T0" y="T1"/>
              </a:cxn>
              <a:cxn ang="0">
                <a:pos x="T2" y="T3"/>
              </a:cxn>
            </a:cxnLst>
            <a:rect l="0" t="0" r="r" b="b"/>
            <a:pathLst>
              <a:path w="48" h="91">
                <a:moveTo>
                  <a:pt x="48" y="91"/>
                </a:moveTo>
                <a:cubicBezTo>
                  <a:pt x="31" y="63"/>
                  <a:pt x="14" y="33"/>
                  <a:pt x="0" y="0"/>
                </a:cubicBezTo>
              </a:path>
            </a:pathLst>
          </a:custGeom>
          <a:noFill/>
          <a:ln w="412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596099" name="Freeform 131"/>
          <p:cNvSpPr>
            <a:spLocks/>
          </p:cNvSpPr>
          <p:nvPr/>
        </p:nvSpPr>
        <p:spPr bwMode="auto">
          <a:xfrm>
            <a:off x="3948113" y="1785938"/>
            <a:ext cx="1492250" cy="3227387"/>
          </a:xfrm>
          <a:custGeom>
            <a:avLst/>
            <a:gdLst>
              <a:gd name="T0" fmla="*/ 0 w 256"/>
              <a:gd name="T1" fmla="*/ 0 h 508"/>
              <a:gd name="T2" fmla="*/ 256 w 256"/>
              <a:gd name="T3" fmla="*/ 508 h 508"/>
            </a:gdLst>
            <a:ahLst/>
            <a:cxnLst>
              <a:cxn ang="0">
                <a:pos x="T0" y="T1"/>
              </a:cxn>
              <a:cxn ang="0">
                <a:pos x="T2" y="T3"/>
              </a:cxn>
            </a:cxnLst>
            <a:rect l="0" t="0" r="r" b="b"/>
            <a:pathLst>
              <a:path w="256" h="508">
                <a:moveTo>
                  <a:pt x="0" y="0"/>
                </a:moveTo>
                <a:cubicBezTo>
                  <a:pt x="3" y="134"/>
                  <a:pt x="121" y="354"/>
                  <a:pt x="256" y="508"/>
                </a:cubicBezTo>
              </a:path>
            </a:pathLst>
          </a:custGeom>
          <a:noFill/>
          <a:ln w="41275" cap="flat">
            <a:solidFill>
              <a:srgbClr val="3C5DAA"/>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596100" name="Freeform 132"/>
          <p:cNvSpPr>
            <a:spLocks/>
          </p:cNvSpPr>
          <p:nvPr/>
        </p:nvSpPr>
        <p:spPr bwMode="auto">
          <a:xfrm>
            <a:off x="2811463" y="1882775"/>
            <a:ext cx="1743075" cy="3005138"/>
          </a:xfrm>
          <a:custGeom>
            <a:avLst/>
            <a:gdLst>
              <a:gd name="T0" fmla="*/ 299 w 299"/>
              <a:gd name="T1" fmla="*/ 0 h 473"/>
              <a:gd name="T2" fmla="*/ 0 w 299"/>
              <a:gd name="T3" fmla="*/ 473 h 473"/>
            </a:gdLst>
            <a:ahLst/>
            <a:cxnLst>
              <a:cxn ang="0">
                <a:pos x="T0" y="T1"/>
              </a:cxn>
              <a:cxn ang="0">
                <a:pos x="T2" y="T3"/>
              </a:cxn>
            </a:cxnLst>
            <a:rect l="0" t="0" r="r" b="b"/>
            <a:pathLst>
              <a:path w="299" h="473">
                <a:moveTo>
                  <a:pt x="299" y="0"/>
                </a:moveTo>
                <a:cubicBezTo>
                  <a:pt x="280" y="151"/>
                  <a:pt x="130" y="341"/>
                  <a:pt x="0" y="473"/>
                </a:cubicBezTo>
              </a:path>
            </a:pathLst>
          </a:custGeom>
          <a:noFill/>
          <a:ln w="41275" cap="flat">
            <a:solidFill>
              <a:srgbClr val="EE313C"/>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596101" name="Freeform 133"/>
          <p:cNvSpPr>
            <a:spLocks/>
          </p:cNvSpPr>
          <p:nvPr/>
        </p:nvSpPr>
        <p:spPr bwMode="auto">
          <a:xfrm>
            <a:off x="3500438" y="1925638"/>
            <a:ext cx="2465387" cy="3011487"/>
          </a:xfrm>
          <a:custGeom>
            <a:avLst/>
            <a:gdLst>
              <a:gd name="T0" fmla="*/ 423 w 423"/>
              <a:gd name="T1" fmla="*/ 0 h 474"/>
              <a:gd name="T2" fmla="*/ 0 w 423"/>
              <a:gd name="T3" fmla="*/ 474 h 474"/>
            </a:gdLst>
            <a:ahLst/>
            <a:cxnLst>
              <a:cxn ang="0">
                <a:pos x="T0" y="T1"/>
              </a:cxn>
              <a:cxn ang="0">
                <a:pos x="T2" y="T3"/>
              </a:cxn>
            </a:cxnLst>
            <a:rect l="0" t="0" r="r" b="b"/>
            <a:pathLst>
              <a:path w="423" h="474">
                <a:moveTo>
                  <a:pt x="423" y="0"/>
                </a:moveTo>
                <a:cubicBezTo>
                  <a:pt x="411" y="81"/>
                  <a:pt x="355" y="259"/>
                  <a:pt x="0" y="474"/>
                </a:cubicBezTo>
              </a:path>
            </a:pathLst>
          </a:custGeom>
          <a:noFill/>
          <a:ln w="41275" cap="flat">
            <a:solidFill>
              <a:srgbClr val="FAC0BF"/>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596102" name="Oval 134"/>
          <p:cNvSpPr>
            <a:spLocks noChangeArrowheads="1"/>
          </p:cNvSpPr>
          <p:nvPr/>
        </p:nvSpPr>
        <p:spPr bwMode="auto">
          <a:xfrm>
            <a:off x="4694238" y="3921125"/>
            <a:ext cx="117475" cy="1270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96103" name="Oval 135"/>
          <p:cNvSpPr>
            <a:spLocks noChangeArrowheads="1"/>
          </p:cNvSpPr>
          <p:nvPr/>
        </p:nvSpPr>
        <p:spPr bwMode="auto">
          <a:xfrm>
            <a:off x="4152900" y="2847975"/>
            <a:ext cx="115888" cy="1270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96104" name="Line 136"/>
          <p:cNvSpPr>
            <a:spLocks noChangeShapeType="1"/>
          </p:cNvSpPr>
          <p:nvPr/>
        </p:nvSpPr>
        <p:spPr bwMode="auto">
          <a:xfrm flipV="1">
            <a:off x="5329238" y="2020888"/>
            <a:ext cx="1071562" cy="452437"/>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96105" name="Line 137"/>
          <p:cNvSpPr>
            <a:spLocks noChangeShapeType="1"/>
          </p:cNvSpPr>
          <p:nvPr/>
        </p:nvSpPr>
        <p:spPr bwMode="auto">
          <a:xfrm>
            <a:off x="4624388" y="3425825"/>
            <a:ext cx="1963737" cy="242888"/>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596106" name="Freeform 138"/>
          <p:cNvSpPr>
            <a:spLocks/>
          </p:cNvSpPr>
          <p:nvPr/>
        </p:nvSpPr>
        <p:spPr bwMode="auto">
          <a:xfrm>
            <a:off x="6286500" y="1600200"/>
            <a:ext cx="1222375" cy="554038"/>
          </a:xfrm>
          <a:custGeom>
            <a:avLst/>
            <a:gdLst>
              <a:gd name="T0" fmla="*/ 210 w 210"/>
              <a:gd name="T1" fmla="*/ 81 h 95"/>
              <a:gd name="T2" fmla="*/ 195 w 210"/>
              <a:gd name="T3" fmla="*/ 95 h 95"/>
              <a:gd name="T4" fmla="*/ 14 w 210"/>
              <a:gd name="T5" fmla="*/ 95 h 95"/>
              <a:gd name="T6" fmla="*/ 0 w 210"/>
              <a:gd name="T7" fmla="*/ 81 h 95"/>
              <a:gd name="T8" fmla="*/ 0 w 210"/>
              <a:gd name="T9" fmla="*/ 14 h 95"/>
              <a:gd name="T10" fmla="*/ 14 w 210"/>
              <a:gd name="T11" fmla="*/ 0 h 95"/>
              <a:gd name="T12" fmla="*/ 195 w 210"/>
              <a:gd name="T13" fmla="*/ 0 h 95"/>
              <a:gd name="T14" fmla="*/ 210 w 210"/>
              <a:gd name="T15" fmla="*/ 14 h 95"/>
              <a:gd name="T16" fmla="*/ 210 w 210"/>
              <a:gd name="T17" fmla="*/ 8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0" h="95">
                <a:moveTo>
                  <a:pt x="210" y="81"/>
                </a:moveTo>
                <a:cubicBezTo>
                  <a:pt x="210" y="89"/>
                  <a:pt x="203" y="95"/>
                  <a:pt x="195" y="95"/>
                </a:cubicBezTo>
                <a:cubicBezTo>
                  <a:pt x="14" y="95"/>
                  <a:pt x="14" y="95"/>
                  <a:pt x="14" y="95"/>
                </a:cubicBezTo>
                <a:cubicBezTo>
                  <a:pt x="6" y="95"/>
                  <a:pt x="0" y="89"/>
                  <a:pt x="0" y="81"/>
                </a:cubicBezTo>
                <a:cubicBezTo>
                  <a:pt x="0" y="14"/>
                  <a:pt x="0" y="14"/>
                  <a:pt x="0" y="14"/>
                </a:cubicBezTo>
                <a:cubicBezTo>
                  <a:pt x="0" y="7"/>
                  <a:pt x="6" y="0"/>
                  <a:pt x="14" y="0"/>
                </a:cubicBezTo>
                <a:cubicBezTo>
                  <a:pt x="195" y="0"/>
                  <a:pt x="195" y="0"/>
                  <a:pt x="195" y="0"/>
                </a:cubicBezTo>
                <a:cubicBezTo>
                  <a:pt x="203" y="0"/>
                  <a:pt x="210" y="7"/>
                  <a:pt x="210" y="14"/>
                </a:cubicBezTo>
                <a:lnTo>
                  <a:pt x="210" y="81"/>
                </a:lnTo>
                <a:close/>
              </a:path>
            </a:pathLst>
          </a:custGeom>
          <a:solidFill>
            <a:srgbClr val="D6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96107" name="Freeform 139"/>
          <p:cNvSpPr>
            <a:spLocks/>
          </p:cNvSpPr>
          <p:nvPr/>
        </p:nvSpPr>
        <p:spPr bwMode="auto">
          <a:xfrm>
            <a:off x="4425950" y="2986088"/>
            <a:ext cx="111125" cy="198437"/>
          </a:xfrm>
          <a:custGeom>
            <a:avLst/>
            <a:gdLst>
              <a:gd name="T0" fmla="*/ 9 w 19"/>
              <a:gd name="T1" fmla="*/ 23 h 31"/>
              <a:gd name="T2" fmla="*/ 3 w 19"/>
              <a:gd name="T3" fmla="*/ 31 h 31"/>
              <a:gd name="T4" fmla="*/ 3 w 19"/>
              <a:gd name="T5" fmla="*/ 31 h 31"/>
              <a:gd name="T6" fmla="*/ 3 w 19"/>
              <a:gd name="T7" fmla="*/ 15 h 31"/>
              <a:gd name="T8" fmla="*/ 0 w 19"/>
              <a:gd name="T9" fmla="*/ 0 h 31"/>
              <a:gd name="T10" fmla="*/ 9 w 19"/>
              <a:gd name="T11" fmla="*/ 13 h 31"/>
              <a:gd name="T12" fmla="*/ 19 w 19"/>
              <a:gd name="T13" fmla="*/ 24 h 31"/>
              <a:gd name="T14" fmla="*/ 19 w 19"/>
              <a:gd name="T15" fmla="*/ 25 h 31"/>
              <a:gd name="T16" fmla="*/ 9 w 19"/>
              <a:gd name="T17" fmla="*/ 2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31">
                <a:moveTo>
                  <a:pt x="9" y="23"/>
                </a:moveTo>
                <a:cubicBezTo>
                  <a:pt x="3" y="31"/>
                  <a:pt x="3" y="31"/>
                  <a:pt x="3" y="31"/>
                </a:cubicBezTo>
                <a:cubicBezTo>
                  <a:pt x="3" y="31"/>
                  <a:pt x="3" y="31"/>
                  <a:pt x="3" y="31"/>
                </a:cubicBezTo>
                <a:cubicBezTo>
                  <a:pt x="3" y="15"/>
                  <a:pt x="3" y="15"/>
                  <a:pt x="3" y="15"/>
                </a:cubicBezTo>
                <a:cubicBezTo>
                  <a:pt x="2" y="10"/>
                  <a:pt x="1" y="5"/>
                  <a:pt x="0" y="0"/>
                </a:cubicBezTo>
                <a:cubicBezTo>
                  <a:pt x="3" y="5"/>
                  <a:pt x="6" y="9"/>
                  <a:pt x="9" y="13"/>
                </a:cubicBezTo>
                <a:cubicBezTo>
                  <a:pt x="19" y="24"/>
                  <a:pt x="19" y="24"/>
                  <a:pt x="19" y="24"/>
                </a:cubicBezTo>
                <a:cubicBezTo>
                  <a:pt x="19" y="25"/>
                  <a:pt x="19" y="25"/>
                  <a:pt x="19" y="25"/>
                </a:cubicBezTo>
                <a:lnTo>
                  <a:pt x="9"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96108" name="Freeform 140"/>
          <p:cNvSpPr>
            <a:spLocks/>
          </p:cNvSpPr>
          <p:nvPr/>
        </p:nvSpPr>
        <p:spPr bwMode="auto">
          <a:xfrm>
            <a:off x="4508500" y="3197225"/>
            <a:ext cx="120650" cy="190500"/>
          </a:xfrm>
          <a:custGeom>
            <a:avLst/>
            <a:gdLst>
              <a:gd name="T0" fmla="*/ 11 w 21"/>
              <a:gd name="T1" fmla="*/ 22 h 30"/>
              <a:gd name="T2" fmla="*/ 5 w 21"/>
              <a:gd name="T3" fmla="*/ 30 h 30"/>
              <a:gd name="T4" fmla="*/ 5 w 21"/>
              <a:gd name="T5" fmla="*/ 30 h 30"/>
              <a:gd name="T6" fmla="*/ 4 w 21"/>
              <a:gd name="T7" fmla="*/ 15 h 30"/>
              <a:gd name="T8" fmla="*/ 0 w 21"/>
              <a:gd name="T9" fmla="*/ 0 h 30"/>
              <a:gd name="T10" fmla="*/ 10 w 21"/>
              <a:gd name="T11" fmla="*/ 12 h 30"/>
              <a:gd name="T12" fmla="*/ 21 w 21"/>
              <a:gd name="T13" fmla="*/ 23 h 30"/>
              <a:gd name="T14" fmla="*/ 21 w 21"/>
              <a:gd name="T15" fmla="*/ 23 h 30"/>
              <a:gd name="T16" fmla="*/ 11 w 21"/>
              <a:gd name="T17" fmla="*/ 2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0">
                <a:moveTo>
                  <a:pt x="11" y="22"/>
                </a:moveTo>
                <a:cubicBezTo>
                  <a:pt x="5" y="30"/>
                  <a:pt x="5" y="30"/>
                  <a:pt x="5" y="30"/>
                </a:cubicBezTo>
                <a:cubicBezTo>
                  <a:pt x="5" y="30"/>
                  <a:pt x="5" y="30"/>
                  <a:pt x="5" y="30"/>
                </a:cubicBezTo>
                <a:cubicBezTo>
                  <a:pt x="4" y="15"/>
                  <a:pt x="4" y="15"/>
                  <a:pt x="4" y="15"/>
                </a:cubicBezTo>
                <a:cubicBezTo>
                  <a:pt x="3" y="10"/>
                  <a:pt x="2" y="5"/>
                  <a:pt x="0" y="0"/>
                </a:cubicBezTo>
                <a:cubicBezTo>
                  <a:pt x="4" y="4"/>
                  <a:pt x="7" y="8"/>
                  <a:pt x="10" y="12"/>
                </a:cubicBezTo>
                <a:cubicBezTo>
                  <a:pt x="21" y="23"/>
                  <a:pt x="21" y="23"/>
                  <a:pt x="21" y="23"/>
                </a:cubicBezTo>
                <a:cubicBezTo>
                  <a:pt x="21" y="23"/>
                  <a:pt x="21" y="23"/>
                  <a:pt x="21" y="23"/>
                </a:cubicBezTo>
                <a:lnTo>
                  <a:pt x="11" y="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96109" name="Freeform 141"/>
          <p:cNvSpPr>
            <a:spLocks/>
          </p:cNvSpPr>
          <p:nvPr/>
        </p:nvSpPr>
        <p:spPr bwMode="auto">
          <a:xfrm>
            <a:off x="4600575" y="3400425"/>
            <a:ext cx="128588" cy="184150"/>
          </a:xfrm>
          <a:custGeom>
            <a:avLst/>
            <a:gdLst>
              <a:gd name="T0" fmla="*/ 12 w 22"/>
              <a:gd name="T1" fmla="*/ 20 h 29"/>
              <a:gd name="T2" fmla="*/ 7 w 22"/>
              <a:gd name="T3" fmla="*/ 29 h 29"/>
              <a:gd name="T4" fmla="*/ 7 w 22"/>
              <a:gd name="T5" fmla="*/ 29 h 29"/>
              <a:gd name="T6" fmla="*/ 5 w 22"/>
              <a:gd name="T7" fmla="*/ 14 h 29"/>
              <a:gd name="T8" fmla="*/ 0 w 22"/>
              <a:gd name="T9" fmla="*/ 0 h 29"/>
              <a:gd name="T10" fmla="*/ 10 w 22"/>
              <a:gd name="T11" fmla="*/ 11 h 29"/>
              <a:gd name="T12" fmla="*/ 22 w 22"/>
              <a:gd name="T13" fmla="*/ 20 h 29"/>
              <a:gd name="T14" fmla="*/ 22 w 22"/>
              <a:gd name="T15" fmla="*/ 20 h 29"/>
              <a:gd name="T16" fmla="*/ 12 w 22"/>
              <a:gd name="T17" fmla="*/ 2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29">
                <a:moveTo>
                  <a:pt x="12" y="20"/>
                </a:moveTo>
                <a:cubicBezTo>
                  <a:pt x="7" y="29"/>
                  <a:pt x="7" y="29"/>
                  <a:pt x="7" y="29"/>
                </a:cubicBezTo>
                <a:cubicBezTo>
                  <a:pt x="7" y="29"/>
                  <a:pt x="7" y="29"/>
                  <a:pt x="7" y="29"/>
                </a:cubicBezTo>
                <a:cubicBezTo>
                  <a:pt x="5" y="14"/>
                  <a:pt x="5" y="14"/>
                  <a:pt x="5" y="14"/>
                </a:cubicBezTo>
                <a:cubicBezTo>
                  <a:pt x="3" y="9"/>
                  <a:pt x="1" y="5"/>
                  <a:pt x="0" y="0"/>
                </a:cubicBezTo>
                <a:cubicBezTo>
                  <a:pt x="3" y="3"/>
                  <a:pt x="7" y="7"/>
                  <a:pt x="10" y="11"/>
                </a:cubicBezTo>
                <a:cubicBezTo>
                  <a:pt x="22" y="20"/>
                  <a:pt x="22" y="20"/>
                  <a:pt x="22" y="20"/>
                </a:cubicBezTo>
                <a:cubicBezTo>
                  <a:pt x="22" y="20"/>
                  <a:pt x="22" y="20"/>
                  <a:pt x="22" y="20"/>
                </a:cubicBezTo>
                <a:lnTo>
                  <a:pt x="12"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96110" name="Oval 142"/>
          <p:cNvSpPr>
            <a:spLocks noChangeArrowheads="1"/>
          </p:cNvSpPr>
          <p:nvPr/>
        </p:nvSpPr>
        <p:spPr bwMode="auto">
          <a:xfrm>
            <a:off x="2566988" y="2230438"/>
            <a:ext cx="58737" cy="58737"/>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96111" name="Oval 143"/>
          <p:cNvSpPr>
            <a:spLocks noChangeArrowheads="1"/>
          </p:cNvSpPr>
          <p:nvPr/>
        </p:nvSpPr>
        <p:spPr bwMode="auto">
          <a:xfrm>
            <a:off x="4192588" y="3946525"/>
            <a:ext cx="30162" cy="2540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48930" name="TextBox 29"/>
          <p:cNvSpPr txBox="1">
            <a:spLocks noChangeArrowheads="1"/>
          </p:cNvSpPr>
          <p:nvPr/>
        </p:nvSpPr>
        <p:spPr bwMode="auto">
          <a:xfrm>
            <a:off x="533400" y="1305580"/>
            <a:ext cx="12604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400" dirty="0">
                <a:latin typeface="Century Gothic"/>
                <a:ea typeface="MS PGothic" pitchFamily="34" charset="-128"/>
                <a:cs typeface="Century Gothic"/>
              </a:rPr>
              <a:t>Price of cotton</a:t>
            </a:r>
          </a:p>
        </p:txBody>
      </p:sp>
      <p:sp>
        <p:nvSpPr>
          <p:cNvPr id="548931" name="TextBox 30"/>
          <p:cNvSpPr txBox="1">
            <a:spLocks noChangeArrowheads="1"/>
          </p:cNvSpPr>
          <p:nvPr/>
        </p:nvSpPr>
        <p:spPr bwMode="auto">
          <a:xfrm>
            <a:off x="5576888" y="5692775"/>
            <a:ext cx="218598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400" dirty="0">
                <a:latin typeface="Century Gothic"/>
                <a:ea typeface="MS PGothic" pitchFamily="34" charset="-128"/>
                <a:cs typeface="Century Gothic"/>
              </a:rPr>
              <a:t>Quantity of cotton</a:t>
            </a:r>
          </a:p>
        </p:txBody>
      </p:sp>
      <p:sp>
        <p:nvSpPr>
          <p:cNvPr id="2" name="TextBox 29"/>
          <p:cNvSpPr txBox="1">
            <a:spLocks noChangeArrowheads="1"/>
          </p:cNvSpPr>
          <p:nvPr/>
        </p:nvSpPr>
        <p:spPr bwMode="auto">
          <a:xfrm>
            <a:off x="990600" y="3217331"/>
            <a:ext cx="7556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400" dirty="0">
                <a:latin typeface="Century Gothic"/>
                <a:ea typeface="MS PGothic" pitchFamily="34" charset="-128"/>
                <a:cs typeface="Century Gothic"/>
              </a:rPr>
              <a:t>Price rises</a:t>
            </a:r>
          </a:p>
        </p:txBody>
      </p:sp>
      <p:sp>
        <p:nvSpPr>
          <p:cNvPr id="3" name="TextBox 29"/>
          <p:cNvSpPr txBox="1">
            <a:spLocks noChangeArrowheads="1"/>
          </p:cNvSpPr>
          <p:nvPr/>
        </p:nvSpPr>
        <p:spPr bwMode="auto">
          <a:xfrm>
            <a:off x="3886200" y="6062132"/>
            <a:ext cx="139700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400" dirty="0">
                <a:latin typeface="Century Gothic"/>
                <a:ea typeface="MS PGothic" pitchFamily="34" charset="-128"/>
                <a:cs typeface="Century Gothic"/>
              </a:rPr>
              <a:t>Quantity falls</a:t>
            </a:r>
          </a:p>
        </p:txBody>
      </p:sp>
      <p:sp>
        <p:nvSpPr>
          <p:cNvPr id="4" name="TextBox 29"/>
          <p:cNvSpPr txBox="1">
            <a:spLocks noChangeArrowheads="1"/>
          </p:cNvSpPr>
          <p:nvPr/>
        </p:nvSpPr>
        <p:spPr bwMode="auto">
          <a:xfrm>
            <a:off x="6307137" y="1608136"/>
            <a:ext cx="12366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400" dirty="0">
                <a:latin typeface="Century Gothic"/>
                <a:ea typeface="MS PGothic" pitchFamily="34" charset="-128"/>
                <a:cs typeface="Century Gothic"/>
              </a:rPr>
              <a:t>A decrease in supply…</a:t>
            </a:r>
          </a:p>
        </p:txBody>
      </p:sp>
      <p:grpSp>
        <p:nvGrpSpPr>
          <p:cNvPr id="596117" name="Group 149"/>
          <p:cNvGrpSpPr>
            <a:grpSpLocks noChangeAspect="1"/>
          </p:cNvGrpSpPr>
          <p:nvPr/>
        </p:nvGrpSpPr>
        <p:grpSpPr bwMode="auto">
          <a:xfrm>
            <a:off x="6500813" y="3076575"/>
            <a:ext cx="2185987" cy="1571625"/>
            <a:chOff x="2508" y="1861"/>
            <a:chExt cx="744" cy="603"/>
          </a:xfrm>
        </p:grpSpPr>
        <p:sp>
          <p:nvSpPr>
            <p:cNvPr id="596118" name="AutoShape 150"/>
            <p:cNvSpPr>
              <a:spLocks noChangeAspect="1" noChangeArrowheads="1" noTextEdit="1"/>
            </p:cNvSpPr>
            <p:nvPr/>
          </p:nvSpPr>
          <p:spPr bwMode="auto">
            <a:xfrm>
              <a:off x="2508" y="1861"/>
              <a:ext cx="744" cy="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Century Gothic"/>
                <a:cs typeface="Century Gothic"/>
              </a:endParaRPr>
            </a:p>
          </p:txBody>
        </p:sp>
        <p:sp>
          <p:nvSpPr>
            <p:cNvPr id="596119" name="Freeform 151"/>
            <p:cNvSpPr>
              <a:spLocks/>
            </p:cNvSpPr>
            <p:nvPr/>
          </p:nvSpPr>
          <p:spPr bwMode="auto">
            <a:xfrm>
              <a:off x="2510" y="1861"/>
              <a:ext cx="740" cy="601"/>
            </a:xfrm>
            <a:custGeom>
              <a:avLst/>
              <a:gdLst>
                <a:gd name="T0" fmla="*/ 313 w 313"/>
                <a:gd name="T1" fmla="*/ 235 h 254"/>
                <a:gd name="T2" fmla="*/ 296 w 313"/>
                <a:gd name="T3" fmla="*/ 254 h 254"/>
                <a:gd name="T4" fmla="*/ 18 w 313"/>
                <a:gd name="T5" fmla="*/ 254 h 254"/>
                <a:gd name="T6" fmla="*/ 0 w 313"/>
                <a:gd name="T7" fmla="*/ 235 h 254"/>
                <a:gd name="T8" fmla="*/ 0 w 313"/>
                <a:gd name="T9" fmla="*/ 19 h 254"/>
                <a:gd name="T10" fmla="*/ 18 w 313"/>
                <a:gd name="T11" fmla="*/ 0 h 254"/>
                <a:gd name="T12" fmla="*/ 296 w 313"/>
                <a:gd name="T13" fmla="*/ 0 h 254"/>
                <a:gd name="T14" fmla="*/ 313 w 313"/>
                <a:gd name="T15" fmla="*/ 19 h 254"/>
                <a:gd name="T16" fmla="*/ 313 w 313"/>
                <a:gd name="T17" fmla="*/ 235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3" h="254">
                  <a:moveTo>
                    <a:pt x="313" y="235"/>
                  </a:moveTo>
                  <a:cubicBezTo>
                    <a:pt x="313" y="245"/>
                    <a:pt x="306" y="254"/>
                    <a:pt x="296" y="254"/>
                  </a:cubicBezTo>
                  <a:cubicBezTo>
                    <a:pt x="18" y="254"/>
                    <a:pt x="18" y="254"/>
                    <a:pt x="18" y="254"/>
                  </a:cubicBezTo>
                  <a:cubicBezTo>
                    <a:pt x="8" y="254"/>
                    <a:pt x="0" y="245"/>
                    <a:pt x="0" y="235"/>
                  </a:cubicBezTo>
                  <a:cubicBezTo>
                    <a:pt x="0" y="19"/>
                    <a:pt x="0" y="19"/>
                    <a:pt x="0" y="19"/>
                  </a:cubicBezTo>
                  <a:cubicBezTo>
                    <a:pt x="0" y="8"/>
                    <a:pt x="8" y="0"/>
                    <a:pt x="18" y="0"/>
                  </a:cubicBezTo>
                  <a:cubicBezTo>
                    <a:pt x="296" y="0"/>
                    <a:pt x="296" y="0"/>
                    <a:pt x="296" y="0"/>
                  </a:cubicBezTo>
                  <a:cubicBezTo>
                    <a:pt x="306" y="0"/>
                    <a:pt x="313" y="8"/>
                    <a:pt x="313" y="19"/>
                  </a:cubicBezTo>
                  <a:lnTo>
                    <a:pt x="313" y="235"/>
                  </a:lnTo>
                  <a:close/>
                </a:path>
              </a:pathLst>
            </a:custGeom>
            <a:solidFill>
              <a:srgbClr val="D6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grpSp>
      <p:sp>
        <p:nvSpPr>
          <p:cNvPr id="5" name="TextBox 29"/>
          <p:cNvSpPr txBox="1">
            <a:spLocks noChangeArrowheads="1"/>
          </p:cNvSpPr>
          <p:nvPr/>
        </p:nvSpPr>
        <p:spPr bwMode="auto">
          <a:xfrm>
            <a:off x="6477000" y="3124200"/>
            <a:ext cx="2185988"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nSpc>
                <a:spcPct val="100000"/>
              </a:lnSpc>
              <a:spcBef>
                <a:spcPct val="50000"/>
              </a:spcBef>
            </a:pPr>
            <a:r>
              <a:rPr lang="en-US" sz="1400" dirty="0">
                <a:latin typeface="Century Gothic"/>
                <a:ea typeface="MS PGothic" pitchFamily="34" charset="-128"/>
                <a:cs typeface="Century Gothic"/>
              </a:rPr>
              <a:t>… leads to a movement along the demand curve due to a higher equilibrium price and lower equilibrium quantity.</a:t>
            </a:r>
          </a:p>
        </p:txBody>
      </p:sp>
    </p:spTree>
    <p:extLst>
      <p:ext uri="{BB962C8B-B14F-4D97-AF65-F5344CB8AC3E}">
        <p14:creationId xmlns:p14="http://schemas.microsoft.com/office/powerpoint/2010/main" val="4280919917"/>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48930"/>
                                        </p:tgtEl>
                                        <p:attrNameLst>
                                          <p:attrName>style.visibility</p:attrName>
                                        </p:attrNameLst>
                                      </p:cBhvr>
                                      <p:to>
                                        <p:strVal val="visible"/>
                                      </p:to>
                                    </p:set>
                                    <p:animEffect transition="in" filter="fade">
                                      <p:cBhvr>
                                        <p:cTn id="7" dur="500"/>
                                        <p:tgtEl>
                                          <p:spTgt spid="54893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96085"/>
                                        </p:tgtEl>
                                        <p:attrNameLst>
                                          <p:attrName>style.visibility</p:attrName>
                                        </p:attrNameLst>
                                      </p:cBhvr>
                                      <p:to>
                                        <p:strVal val="visible"/>
                                      </p:to>
                                    </p:set>
                                    <p:animEffect transition="in" filter="fade">
                                      <p:cBhvr>
                                        <p:cTn id="10" dur="500"/>
                                        <p:tgtEl>
                                          <p:spTgt spid="59608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96074"/>
                                        </p:tgtEl>
                                        <p:attrNameLst>
                                          <p:attrName>style.visibility</p:attrName>
                                        </p:attrNameLst>
                                      </p:cBhvr>
                                      <p:to>
                                        <p:strVal val="visible"/>
                                      </p:to>
                                    </p:set>
                                    <p:animEffect transition="in" filter="fade">
                                      <p:cBhvr>
                                        <p:cTn id="13" dur="500"/>
                                        <p:tgtEl>
                                          <p:spTgt spid="59607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96073"/>
                                        </p:tgtEl>
                                        <p:attrNameLst>
                                          <p:attrName>style.visibility</p:attrName>
                                        </p:attrNameLst>
                                      </p:cBhvr>
                                      <p:to>
                                        <p:strVal val="visible"/>
                                      </p:to>
                                    </p:set>
                                    <p:animEffect transition="in" filter="fade">
                                      <p:cBhvr>
                                        <p:cTn id="16" dur="500"/>
                                        <p:tgtEl>
                                          <p:spTgt spid="59607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96087"/>
                                        </p:tgtEl>
                                        <p:attrNameLst>
                                          <p:attrName>style.visibility</p:attrName>
                                        </p:attrNameLst>
                                      </p:cBhvr>
                                      <p:to>
                                        <p:strVal val="visible"/>
                                      </p:to>
                                    </p:set>
                                    <p:animEffect transition="in" filter="fade">
                                      <p:cBhvr>
                                        <p:cTn id="19" dur="500"/>
                                        <p:tgtEl>
                                          <p:spTgt spid="59608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96077"/>
                                        </p:tgtEl>
                                        <p:attrNameLst>
                                          <p:attrName>style.visibility</p:attrName>
                                        </p:attrNameLst>
                                      </p:cBhvr>
                                      <p:to>
                                        <p:strVal val="visible"/>
                                      </p:to>
                                    </p:set>
                                    <p:animEffect transition="in" filter="fade">
                                      <p:cBhvr>
                                        <p:cTn id="22" dur="500"/>
                                        <p:tgtEl>
                                          <p:spTgt spid="59607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96078"/>
                                        </p:tgtEl>
                                        <p:attrNameLst>
                                          <p:attrName>style.visibility</p:attrName>
                                        </p:attrNameLst>
                                      </p:cBhvr>
                                      <p:to>
                                        <p:strVal val="visible"/>
                                      </p:to>
                                    </p:set>
                                    <p:animEffect transition="in" filter="fade">
                                      <p:cBhvr>
                                        <p:cTn id="25" dur="500"/>
                                        <p:tgtEl>
                                          <p:spTgt spid="59607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48931"/>
                                        </p:tgtEl>
                                        <p:attrNameLst>
                                          <p:attrName>style.visibility</p:attrName>
                                        </p:attrNameLst>
                                      </p:cBhvr>
                                      <p:to>
                                        <p:strVal val="visible"/>
                                      </p:to>
                                    </p:set>
                                    <p:animEffect transition="in" filter="fade">
                                      <p:cBhvr>
                                        <p:cTn id="28" dur="500"/>
                                        <p:tgtEl>
                                          <p:spTgt spid="548931"/>
                                        </p:tgtEl>
                                      </p:cBhvr>
                                    </p:animEffect>
                                  </p:childTnLst>
                                </p:cTn>
                              </p:par>
                              <p:par>
                                <p:cTn id="29" presetID="10" presetClass="entr" presetSubtype="0" fill="hold" nodeType="withEffect">
                                  <p:stCondLst>
                                    <p:cond delay="0"/>
                                  </p:stCondLst>
                                  <p:childTnLst>
                                    <p:set>
                                      <p:cBhvr>
                                        <p:cTn id="30" dur="1" fill="hold">
                                          <p:stCondLst>
                                            <p:cond delay="0"/>
                                          </p:stCondLst>
                                        </p:cTn>
                                        <p:tgtEl>
                                          <p:spTgt spid="596069"/>
                                        </p:tgtEl>
                                        <p:attrNameLst>
                                          <p:attrName>style.visibility</p:attrName>
                                        </p:attrNameLst>
                                      </p:cBhvr>
                                      <p:to>
                                        <p:strVal val="visible"/>
                                      </p:to>
                                    </p:set>
                                    <p:animEffect transition="in" filter="fade">
                                      <p:cBhvr>
                                        <p:cTn id="31" dur="500"/>
                                        <p:tgtEl>
                                          <p:spTgt spid="596069"/>
                                        </p:tgtEl>
                                      </p:cBhvr>
                                    </p:animEffect>
                                  </p:childTnLst>
                                </p:cTn>
                              </p:par>
                              <p:par>
                                <p:cTn id="32" presetID="10" presetClass="entr" presetSubtype="0" fill="hold" nodeType="withEffect">
                                  <p:stCondLst>
                                    <p:cond delay="0"/>
                                  </p:stCondLst>
                                  <p:childTnLst>
                                    <p:set>
                                      <p:cBhvr>
                                        <p:cTn id="33" dur="1" fill="hold">
                                          <p:stCondLst>
                                            <p:cond delay="0"/>
                                          </p:stCondLst>
                                        </p:cTn>
                                        <p:tgtEl>
                                          <p:spTgt spid="596068"/>
                                        </p:tgtEl>
                                        <p:attrNameLst>
                                          <p:attrName>style.visibility</p:attrName>
                                        </p:attrNameLst>
                                      </p:cBhvr>
                                      <p:to>
                                        <p:strVal val="visible"/>
                                      </p:to>
                                    </p:set>
                                    <p:animEffect transition="in" filter="fade">
                                      <p:cBhvr>
                                        <p:cTn id="34" dur="500"/>
                                        <p:tgtEl>
                                          <p:spTgt spid="59606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96090"/>
                                        </p:tgtEl>
                                        <p:attrNameLst>
                                          <p:attrName>style.visibility</p:attrName>
                                        </p:attrNameLst>
                                      </p:cBhvr>
                                      <p:to>
                                        <p:strVal val="visible"/>
                                      </p:to>
                                    </p:set>
                                    <p:animEffect transition="in" filter="fade">
                                      <p:cBhvr>
                                        <p:cTn id="37" dur="500"/>
                                        <p:tgtEl>
                                          <p:spTgt spid="59609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596091"/>
                                        </p:tgtEl>
                                        <p:attrNameLst>
                                          <p:attrName>style.visibility</p:attrName>
                                        </p:attrNameLst>
                                      </p:cBhvr>
                                      <p:to>
                                        <p:strVal val="visible"/>
                                      </p:to>
                                    </p:set>
                                    <p:animEffect transition="in" filter="fade">
                                      <p:cBhvr>
                                        <p:cTn id="40" dur="500"/>
                                        <p:tgtEl>
                                          <p:spTgt spid="59609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96099"/>
                                        </p:tgtEl>
                                        <p:attrNameLst>
                                          <p:attrName>style.visibility</p:attrName>
                                        </p:attrNameLst>
                                      </p:cBhvr>
                                      <p:to>
                                        <p:strVal val="visible"/>
                                      </p:to>
                                    </p:set>
                                    <p:animEffect transition="in" filter="fade">
                                      <p:cBhvr>
                                        <p:cTn id="43" dur="500"/>
                                        <p:tgtEl>
                                          <p:spTgt spid="59609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596086"/>
                                        </p:tgtEl>
                                        <p:attrNameLst>
                                          <p:attrName>style.visibility</p:attrName>
                                        </p:attrNameLst>
                                      </p:cBhvr>
                                      <p:to>
                                        <p:strVal val="visible"/>
                                      </p:to>
                                    </p:set>
                                    <p:animEffect transition="in" filter="fade">
                                      <p:cBhvr>
                                        <p:cTn id="46" dur="500"/>
                                        <p:tgtEl>
                                          <p:spTgt spid="59608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96088"/>
                                        </p:tgtEl>
                                        <p:attrNameLst>
                                          <p:attrName>style.visibility</p:attrName>
                                        </p:attrNameLst>
                                      </p:cBhvr>
                                      <p:to>
                                        <p:strVal val="visible"/>
                                      </p:to>
                                    </p:set>
                                    <p:animEffect transition="in" filter="fade">
                                      <p:cBhvr>
                                        <p:cTn id="49" dur="500"/>
                                        <p:tgtEl>
                                          <p:spTgt spid="59608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96101"/>
                                        </p:tgtEl>
                                        <p:attrNameLst>
                                          <p:attrName>style.visibility</p:attrName>
                                        </p:attrNameLst>
                                      </p:cBhvr>
                                      <p:to>
                                        <p:strVal val="visible"/>
                                      </p:to>
                                    </p:set>
                                    <p:animEffect transition="in" filter="fade">
                                      <p:cBhvr>
                                        <p:cTn id="52" dur="500"/>
                                        <p:tgtEl>
                                          <p:spTgt spid="59610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96102"/>
                                        </p:tgtEl>
                                        <p:attrNameLst>
                                          <p:attrName>style.visibility</p:attrName>
                                        </p:attrNameLst>
                                      </p:cBhvr>
                                      <p:to>
                                        <p:strVal val="visible"/>
                                      </p:to>
                                    </p:set>
                                    <p:animEffect transition="in" filter="fade">
                                      <p:cBhvr>
                                        <p:cTn id="55" dur="500"/>
                                        <p:tgtEl>
                                          <p:spTgt spid="59610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596093"/>
                                        </p:tgtEl>
                                        <p:attrNameLst>
                                          <p:attrName>style.visibility</p:attrName>
                                        </p:attrNameLst>
                                      </p:cBhvr>
                                      <p:to>
                                        <p:strVal val="visible"/>
                                      </p:to>
                                    </p:set>
                                    <p:animEffect transition="in" filter="fade">
                                      <p:cBhvr>
                                        <p:cTn id="58" dur="500"/>
                                        <p:tgtEl>
                                          <p:spTgt spid="59609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596092"/>
                                        </p:tgtEl>
                                        <p:attrNameLst>
                                          <p:attrName>style.visibility</p:attrName>
                                        </p:attrNameLst>
                                      </p:cBhvr>
                                      <p:to>
                                        <p:strVal val="visible"/>
                                      </p:to>
                                    </p:set>
                                    <p:animEffect transition="in" filter="fade">
                                      <p:cBhvr>
                                        <p:cTn id="61" dur="500"/>
                                        <p:tgtEl>
                                          <p:spTgt spid="596092"/>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596106"/>
                                        </p:tgtEl>
                                        <p:attrNameLst>
                                          <p:attrName>style.visibility</p:attrName>
                                        </p:attrNameLst>
                                      </p:cBhvr>
                                      <p:to>
                                        <p:strVal val="visible"/>
                                      </p:to>
                                    </p:set>
                                    <p:animEffect transition="in" filter="fade">
                                      <p:cBhvr>
                                        <p:cTn id="66" dur="500"/>
                                        <p:tgtEl>
                                          <p:spTgt spid="596106"/>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
                                        </p:tgtEl>
                                        <p:attrNameLst>
                                          <p:attrName>style.visibility</p:attrName>
                                        </p:attrNameLst>
                                      </p:cBhvr>
                                      <p:to>
                                        <p:strVal val="visible"/>
                                      </p:to>
                                    </p:set>
                                    <p:animEffect transition="in" filter="fade">
                                      <p:cBhvr>
                                        <p:cTn id="69" dur="500"/>
                                        <p:tgtEl>
                                          <p:spTgt spid="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596104"/>
                                        </p:tgtEl>
                                        <p:attrNameLst>
                                          <p:attrName>style.visibility</p:attrName>
                                        </p:attrNameLst>
                                      </p:cBhvr>
                                      <p:to>
                                        <p:strVal val="visible"/>
                                      </p:to>
                                    </p:set>
                                    <p:animEffect transition="in" filter="fade">
                                      <p:cBhvr>
                                        <p:cTn id="72" dur="500"/>
                                        <p:tgtEl>
                                          <p:spTgt spid="59610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596075"/>
                                        </p:tgtEl>
                                        <p:attrNameLst>
                                          <p:attrName>style.visibility</p:attrName>
                                        </p:attrNameLst>
                                      </p:cBhvr>
                                      <p:to>
                                        <p:strVal val="visible"/>
                                      </p:to>
                                    </p:set>
                                    <p:animEffect transition="in" filter="fade">
                                      <p:cBhvr>
                                        <p:cTn id="75" dur="500"/>
                                        <p:tgtEl>
                                          <p:spTgt spid="59607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596076"/>
                                        </p:tgtEl>
                                        <p:attrNameLst>
                                          <p:attrName>style.visibility</p:attrName>
                                        </p:attrNameLst>
                                      </p:cBhvr>
                                      <p:to>
                                        <p:strVal val="visible"/>
                                      </p:to>
                                    </p:set>
                                    <p:animEffect transition="in" filter="fade">
                                      <p:cBhvr>
                                        <p:cTn id="78" dur="500"/>
                                        <p:tgtEl>
                                          <p:spTgt spid="59607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596094"/>
                                        </p:tgtEl>
                                        <p:attrNameLst>
                                          <p:attrName>style.visibility</p:attrName>
                                        </p:attrNameLst>
                                      </p:cBhvr>
                                      <p:to>
                                        <p:strVal val="visible"/>
                                      </p:to>
                                    </p:set>
                                    <p:animEffect transition="in" filter="fade">
                                      <p:cBhvr>
                                        <p:cTn id="81" dur="500"/>
                                        <p:tgtEl>
                                          <p:spTgt spid="596094"/>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596095"/>
                                        </p:tgtEl>
                                        <p:attrNameLst>
                                          <p:attrName>style.visibility</p:attrName>
                                        </p:attrNameLst>
                                      </p:cBhvr>
                                      <p:to>
                                        <p:strVal val="visible"/>
                                      </p:to>
                                    </p:set>
                                    <p:animEffect transition="in" filter="fade">
                                      <p:cBhvr>
                                        <p:cTn id="84" dur="500"/>
                                        <p:tgtEl>
                                          <p:spTgt spid="596095"/>
                                        </p:tgtEl>
                                      </p:cBhvr>
                                    </p:animEffect>
                                  </p:childTnLst>
                                </p:cTn>
                              </p:par>
                            </p:childTnLst>
                          </p:cTn>
                        </p:par>
                        <p:par>
                          <p:cTn id="85" fill="hold" nodeType="afterGroup">
                            <p:stCondLst>
                              <p:cond delay="500"/>
                            </p:stCondLst>
                            <p:childTnLst>
                              <p:par>
                                <p:cTn id="86" presetID="10" presetClass="entr" presetSubtype="0" fill="hold" grpId="0" nodeType="afterEffect">
                                  <p:stCondLst>
                                    <p:cond delay="0"/>
                                  </p:stCondLst>
                                  <p:childTnLst>
                                    <p:set>
                                      <p:cBhvr>
                                        <p:cTn id="87" dur="1" fill="hold">
                                          <p:stCondLst>
                                            <p:cond delay="0"/>
                                          </p:stCondLst>
                                        </p:cTn>
                                        <p:tgtEl>
                                          <p:spTgt spid="596100"/>
                                        </p:tgtEl>
                                        <p:attrNameLst>
                                          <p:attrName>style.visibility</p:attrName>
                                        </p:attrNameLst>
                                      </p:cBhvr>
                                      <p:to>
                                        <p:strVal val="visible"/>
                                      </p:to>
                                    </p:set>
                                    <p:animEffect transition="in" filter="fade">
                                      <p:cBhvr>
                                        <p:cTn id="88" dur="500"/>
                                        <p:tgtEl>
                                          <p:spTgt spid="596100"/>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596067"/>
                                        </p:tgtEl>
                                        <p:attrNameLst>
                                          <p:attrName>style.visibility</p:attrName>
                                        </p:attrNameLst>
                                      </p:cBhvr>
                                      <p:to>
                                        <p:strVal val="visible"/>
                                      </p:to>
                                    </p:set>
                                    <p:animEffect transition="in" filter="fade">
                                      <p:cBhvr>
                                        <p:cTn id="93" dur="500"/>
                                        <p:tgtEl>
                                          <p:spTgt spid="596067"/>
                                        </p:tgtEl>
                                      </p:cBhvr>
                                    </p:animEffect>
                                  </p:childTnLst>
                                </p:cTn>
                              </p:par>
                              <p:par>
                                <p:cTn id="94" presetID="10" presetClass="entr" presetSubtype="0" fill="hold" nodeType="withEffect">
                                  <p:stCondLst>
                                    <p:cond delay="0"/>
                                  </p:stCondLst>
                                  <p:childTnLst>
                                    <p:set>
                                      <p:cBhvr>
                                        <p:cTn id="95" dur="1" fill="hold">
                                          <p:stCondLst>
                                            <p:cond delay="0"/>
                                          </p:stCondLst>
                                        </p:cTn>
                                        <p:tgtEl>
                                          <p:spTgt spid="596066"/>
                                        </p:tgtEl>
                                        <p:attrNameLst>
                                          <p:attrName>style.visibility</p:attrName>
                                        </p:attrNameLst>
                                      </p:cBhvr>
                                      <p:to>
                                        <p:strVal val="visible"/>
                                      </p:to>
                                    </p:set>
                                    <p:animEffect transition="in" filter="fade">
                                      <p:cBhvr>
                                        <p:cTn id="96" dur="500"/>
                                        <p:tgtEl>
                                          <p:spTgt spid="596066"/>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596097"/>
                                        </p:tgtEl>
                                        <p:attrNameLst>
                                          <p:attrName>style.visibility</p:attrName>
                                        </p:attrNameLst>
                                      </p:cBhvr>
                                      <p:to>
                                        <p:strVal val="visible"/>
                                      </p:to>
                                    </p:set>
                                    <p:animEffect transition="in" filter="fade">
                                      <p:cBhvr>
                                        <p:cTn id="99" dur="500"/>
                                        <p:tgtEl>
                                          <p:spTgt spid="596097"/>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596080"/>
                                        </p:tgtEl>
                                        <p:attrNameLst>
                                          <p:attrName>style.visibility</p:attrName>
                                        </p:attrNameLst>
                                      </p:cBhvr>
                                      <p:to>
                                        <p:strVal val="visible"/>
                                      </p:to>
                                    </p:set>
                                    <p:animEffect transition="in" filter="fade">
                                      <p:cBhvr>
                                        <p:cTn id="102" dur="500"/>
                                        <p:tgtEl>
                                          <p:spTgt spid="596080"/>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596079"/>
                                        </p:tgtEl>
                                        <p:attrNameLst>
                                          <p:attrName>style.visibility</p:attrName>
                                        </p:attrNameLst>
                                      </p:cBhvr>
                                      <p:to>
                                        <p:strVal val="visible"/>
                                      </p:to>
                                    </p:set>
                                    <p:animEffect transition="in" filter="fade">
                                      <p:cBhvr>
                                        <p:cTn id="105" dur="500"/>
                                        <p:tgtEl>
                                          <p:spTgt spid="596079"/>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596070"/>
                                        </p:tgtEl>
                                        <p:attrNameLst>
                                          <p:attrName>style.visibility</p:attrName>
                                        </p:attrNameLst>
                                      </p:cBhvr>
                                      <p:to>
                                        <p:strVal val="visible"/>
                                      </p:to>
                                    </p:set>
                                    <p:animEffect transition="in" filter="fade">
                                      <p:cBhvr>
                                        <p:cTn id="108" dur="500"/>
                                        <p:tgtEl>
                                          <p:spTgt spid="596070"/>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
                                        </p:tgtEl>
                                        <p:attrNameLst>
                                          <p:attrName>style.visibility</p:attrName>
                                        </p:attrNameLst>
                                      </p:cBhvr>
                                      <p:to>
                                        <p:strVal val="visible"/>
                                      </p:to>
                                    </p:set>
                                    <p:animEffect transition="in" filter="fade">
                                      <p:cBhvr>
                                        <p:cTn id="111" dur="500"/>
                                        <p:tgtEl>
                                          <p:spTgt spid="3"/>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596089"/>
                                        </p:tgtEl>
                                        <p:attrNameLst>
                                          <p:attrName>style.visibility</p:attrName>
                                        </p:attrNameLst>
                                      </p:cBhvr>
                                      <p:to>
                                        <p:strVal val="visible"/>
                                      </p:to>
                                    </p:set>
                                    <p:animEffect transition="in" filter="fade">
                                      <p:cBhvr>
                                        <p:cTn id="114" dur="500"/>
                                        <p:tgtEl>
                                          <p:spTgt spid="596089"/>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2"/>
                                        </p:tgtEl>
                                        <p:attrNameLst>
                                          <p:attrName>style.visibility</p:attrName>
                                        </p:attrNameLst>
                                      </p:cBhvr>
                                      <p:to>
                                        <p:strVal val="visible"/>
                                      </p:to>
                                    </p:set>
                                    <p:animEffect transition="in" filter="fade">
                                      <p:cBhvr>
                                        <p:cTn id="117" dur="500"/>
                                        <p:tgtEl>
                                          <p:spTgt spid="2"/>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596082"/>
                                        </p:tgtEl>
                                        <p:attrNameLst>
                                          <p:attrName>style.visibility</p:attrName>
                                        </p:attrNameLst>
                                      </p:cBhvr>
                                      <p:to>
                                        <p:strVal val="visible"/>
                                      </p:to>
                                    </p:set>
                                    <p:animEffect transition="in" filter="fade">
                                      <p:cBhvr>
                                        <p:cTn id="120" dur="500"/>
                                        <p:tgtEl>
                                          <p:spTgt spid="596082"/>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596081"/>
                                        </p:tgtEl>
                                        <p:attrNameLst>
                                          <p:attrName>style.visibility</p:attrName>
                                        </p:attrNameLst>
                                      </p:cBhvr>
                                      <p:to>
                                        <p:strVal val="visible"/>
                                      </p:to>
                                    </p:set>
                                    <p:animEffect transition="in" filter="fade">
                                      <p:cBhvr>
                                        <p:cTn id="123" dur="500"/>
                                        <p:tgtEl>
                                          <p:spTgt spid="596081"/>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596071"/>
                                        </p:tgtEl>
                                        <p:attrNameLst>
                                          <p:attrName>style.visibility</p:attrName>
                                        </p:attrNameLst>
                                      </p:cBhvr>
                                      <p:to>
                                        <p:strVal val="visible"/>
                                      </p:to>
                                    </p:set>
                                    <p:animEffect transition="in" filter="fade">
                                      <p:cBhvr>
                                        <p:cTn id="126" dur="500"/>
                                        <p:tgtEl>
                                          <p:spTgt spid="596071"/>
                                        </p:tgtEl>
                                      </p:cBhvr>
                                    </p:animEffect>
                                  </p:childTnLst>
                                </p:cTn>
                              </p:par>
                              <p:par>
                                <p:cTn id="127" presetID="10" presetClass="entr" presetSubtype="0" fill="hold" nodeType="withEffect">
                                  <p:stCondLst>
                                    <p:cond delay="0"/>
                                  </p:stCondLst>
                                  <p:childTnLst>
                                    <p:set>
                                      <p:cBhvr>
                                        <p:cTn id="128" dur="1" fill="hold">
                                          <p:stCondLst>
                                            <p:cond delay="0"/>
                                          </p:stCondLst>
                                        </p:cTn>
                                        <p:tgtEl>
                                          <p:spTgt spid="596117"/>
                                        </p:tgtEl>
                                        <p:attrNameLst>
                                          <p:attrName>style.visibility</p:attrName>
                                        </p:attrNameLst>
                                      </p:cBhvr>
                                      <p:to>
                                        <p:strVal val="visible"/>
                                      </p:to>
                                    </p:set>
                                    <p:animEffect transition="in" filter="fade">
                                      <p:cBhvr>
                                        <p:cTn id="129" dur="500"/>
                                        <p:tgtEl>
                                          <p:spTgt spid="596117"/>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5"/>
                                        </p:tgtEl>
                                        <p:attrNameLst>
                                          <p:attrName>style.visibility</p:attrName>
                                        </p:attrNameLst>
                                      </p:cBhvr>
                                      <p:to>
                                        <p:strVal val="visible"/>
                                      </p:to>
                                    </p:set>
                                    <p:animEffect transition="in" filter="fade">
                                      <p:cBhvr>
                                        <p:cTn id="132" dur="500"/>
                                        <p:tgtEl>
                                          <p:spTgt spid="5"/>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596105"/>
                                        </p:tgtEl>
                                        <p:attrNameLst>
                                          <p:attrName>style.visibility</p:attrName>
                                        </p:attrNameLst>
                                      </p:cBhvr>
                                      <p:to>
                                        <p:strVal val="visible"/>
                                      </p:to>
                                    </p:set>
                                    <p:animEffect transition="in" filter="fade">
                                      <p:cBhvr>
                                        <p:cTn id="135" dur="500"/>
                                        <p:tgtEl>
                                          <p:spTgt spid="596105"/>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596107"/>
                                        </p:tgtEl>
                                        <p:attrNameLst>
                                          <p:attrName>style.visibility</p:attrName>
                                        </p:attrNameLst>
                                      </p:cBhvr>
                                      <p:to>
                                        <p:strVal val="visible"/>
                                      </p:to>
                                    </p:set>
                                    <p:animEffect transition="in" filter="fade">
                                      <p:cBhvr>
                                        <p:cTn id="138" dur="500"/>
                                        <p:tgtEl>
                                          <p:spTgt spid="596107"/>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596109"/>
                                        </p:tgtEl>
                                        <p:attrNameLst>
                                          <p:attrName>style.visibility</p:attrName>
                                        </p:attrNameLst>
                                      </p:cBhvr>
                                      <p:to>
                                        <p:strVal val="visible"/>
                                      </p:to>
                                    </p:set>
                                    <p:animEffect transition="in" filter="fade">
                                      <p:cBhvr>
                                        <p:cTn id="141" dur="500"/>
                                        <p:tgtEl>
                                          <p:spTgt spid="596109"/>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96108"/>
                                        </p:tgtEl>
                                        <p:attrNameLst>
                                          <p:attrName>style.visibility</p:attrName>
                                        </p:attrNameLst>
                                      </p:cBhvr>
                                      <p:to>
                                        <p:strVal val="visible"/>
                                      </p:to>
                                    </p:set>
                                    <p:animEffect transition="in" filter="fade">
                                      <p:cBhvr>
                                        <p:cTn id="144" dur="500"/>
                                        <p:tgtEl>
                                          <p:spTgt spid="596108"/>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596098"/>
                                        </p:tgtEl>
                                        <p:attrNameLst>
                                          <p:attrName>style.visibility</p:attrName>
                                        </p:attrNameLst>
                                      </p:cBhvr>
                                      <p:to>
                                        <p:strVal val="visible"/>
                                      </p:to>
                                    </p:set>
                                    <p:animEffect transition="in" filter="fade">
                                      <p:cBhvr>
                                        <p:cTn id="147" dur="500"/>
                                        <p:tgtEl>
                                          <p:spTgt spid="596098"/>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596072"/>
                                        </p:tgtEl>
                                        <p:attrNameLst>
                                          <p:attrName>style.visibility</p:attrName>
                                        </p:attrNameLst>
                                      </p:cBhvr>
                                      <p:to>
                                        <p:strVal val="visible"/>
                                      </p:to>
                                    </p:set>
                                    <p:animEffect transition="in" filter="fade">
                                      <p:cBhvr>
                                        <p:cTn id="150" dur="500"/>
                                        <p:tgtEl>
                                          <p:spTgt spid="596072"/>
                                        </p:tgtEl>
                                      </p:cBhvr>
                                    </p:animEffect>
                                  </p:childTnLst>
                                </p:cTn>
                              </p:par>
                              <p:par>
                                <p:cTn id="151" presetID="10" presetClass="entr" presetSubtype="0" fill="hold" grpId="1" nodeType="withEffect">
                                  <p:stCondLst>
                                    <p:cond delay="0"/>
                                  </p:stCondLst>
                                  <p:childTnLst>
                                    <p:set>
                                      <p:cBhvr>
                                        <p:cTn id="152" dur="1" fill="hold">
                                          <p:stCondLst>
                                            <p:cond delay="0"/>
                                          </p:stCondLst>
                                        </p:cTn>
                                        <p:tgtEl>
                                          <p:spTgt spid="596077"/>
                                        </p:tgtEl>
                                        <p:attrNameLst>
                                          <p:attrName>style.visibility</p:attrName>
                                        </p:attrNameLst>
                                      </p:cBhvr>
                                      <p:to>
                                        <p:strVal val="visible"/>
                                      </p:to>
                                    </p:set>
                                    <p:animEffect transition="in" filter="fade">
                                      <p:cBhvr>
                                        <p:cTn id="153" dur="500"/>
                                        <p:tgtEl>
                                          <p:spTgt spid="596077"/>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596083"/>
                                        </p:tgtEl>
                                        <p:attrNameLst>
                                          <p:attrName>style.visibility</p:attrName>
                                        </p:attrNameLst>
                                      </p:cBhvr>
                                      <p:to>
                                        <p:strVal val="visible"/>
                                      </p:to>
                                    </p:set>
                                    <p:animEffect transition="in" filter="fade">
                                      <p:cBhvr>
                                        <p:cTn id="156" dur="500"/>
                                        <p:tgtEl>
                                          <p:spTgt spid="596083"/>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596084"/>
                                        </p:tgtEl>
                                        <p:attrNameLst>
                                          <p:attrName>style.visibility</p:attrName>
                                        </p:attrNameLst>
                                      </p:cBhvr>
                                      <p:to>
                                        <p:strVal val="visible"/>
                                      </p:to>
                                    </p:set>
                                    <p:animEffect transition="in" filter="fade">
                                      <p:cBhvr>
                                        <p:cTn id="159" dur="500"/>
                                        <p:tgtEl>
                                          <p:spTgt spid="596084"/>
                                        </p:tgtEl>
                                      </p:cBhvr>
                                    </p:animEffect>
                                  </p:childTnLst>
                                </p:cTn>
                              </p:par>
                              <p:par>
                                <p:cTn id="160" presetID="10" presetClass="entr" presetSubtype="0" fill="hold" grpId="0" nodeType="withEffect">
                                  <p:stCondLst>
                                    <p:cond delay="0"/>
                                  </p:stCondLst>
                                  <p:childTnLst>
                                    <p:set>
                                      <p:cBhvr>
                                        <p:cTn id="161" dur="1" fill="hold">
                                          <p:stCondLst>
                                            <p:cond delay="0"/>
                                          </p:stCondLst>
                                        </p:cTn>
                                        <p:tgtEl>
                                          <p:spTgt spid="596096"/>
                                        </p:tgtEl>
                                        <p:attrNameLst>
                                          <p:attrName>style.visibility</p:attrName>
                                        </p:attrNameLst>
                                      </p:cBhvr>
                                      <p:to>
                                        <p:strVal val="visible"/>
                                      </p:to>
                                    </p:set>
                                    <p:animEffect transition="in" filter="fade">
                                      <p:cBhvr>
                                        <p:cTn id="162" dur="500"/>
                                        <p:tgtEl>
                                          <p:spTgt spid="596096"/>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596103"/>
                                        </p:tgtEl>
                                        <p:attrNameLst>
                                          <p:attrName>style.visibility</p:attrName>
                                        </p:attrNameLst>
                                      </p:cBhvr>
                                      <p:to>
                                        <p:strVal val="visible"/>
                                      </p:to>
                                    </p:set>
                                    <p:animEffect transition="in" filter="fade">
                                      <p:cBhvr>
                                        <p:cTn id="165" dur="500"/>
                                        <p:tgtEl>
                                          <p:spTgt spid="596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6070" grpId="0" animBg="1"/>
      <p:bldP spid="596071" grpId="0"/>
      <p:bldP spid="596072" grpId="0"/>
      <p:bldP spid="596073" grpId="0"/>
      <p:bldP spid="596074" grpId="0"/>
      <p:bldP spid="596075" grpId="0" animBg="1"/>
      <p:bldP spid="596076" grpId="0" animBg="1"/>
      <p:bldP spid="596077" grpId="0"/>
      <p:bldP spid="596077" grpId="1"/>
      <p:bldP spid="596078" grpId="0"/>
      <p:bldP spid="596079" grpId="0"/>
      <p:bldP spid="596080" grpId="0"/>
      <p:bldP spid="596081" grpId="0" animBg="1"/>
      <p:bldP spid="596082" grpId="0" animBg="1"/>
      <p:bldP spid="596083" grpId="0" animBg="1"/>
      <p:bldP spid="596084" grpId="0" animBg="1"/>
      <p:bldP spid="596085" grpId="0" animBg="1"/>
      <p:bldP spid="596086" grpId="0" animBg="1"/>
      <p:bldP spid="596087" grpId="0" animBg="1"/>
      <p:bldP spid="596088" grpId="0"/>
      <p:bldP spid="596089" grpId="0" animBg="1"/>
      <p:bldP spid="596090" grpId="0"/>
      <p:bldP spid="596091" grpId="0"/>
      <p:bldP spid="596092" grpId="0"/>
      <p:bldP spid="596093" grpId="0"/>
      <p:bldP spid="596094" grpId="0"/>
      <p:bldP spid="596095" grpId="0"/>
      <p:bldP spid="596096" grpId="0"/>
      <p:bldP spid="596097" grpId="0"/>
      <p:bldP spid="596098" grpId="0" animBg="1"/>
      <p:bldP spid="596099" grpId="0" animBg="1"/>
      <p:bldP spid="596100" grpId="0" animBg="1"/>
      <p:bldP spid="596101" grpId="0" animBg="1"/>
      <p:bldP spid="596102" grpId="0" animBg="1"/>
      <p:bldP spid="596103" grpId="0" animBg="1"/>
      <p:bldP spid="596104" grpId="0" animBg="1"/>
      <p:bldP spid="596105" grpId="0" animBg="1"/>
      <p:bldP spid="596106" grpId="0" animBg="1"/>
      <p:bldP spid="596107" grpId="0" animBg="1"/>
      <p:bldP spid="596108" grpId="0" animBg="1"/>
      <p:bldP spid="596109" grpId="0" animBg="1"/>
      <p:bldP spid="548930" grpId="0"/>
      <p:bldP spid="548931" grpId="0"/>
      <p:bldP spid="2" grpId="0"/>
      <p:bldP spid="3" grpId="0"/>
      <p:bldP spid="4" grpId="0"/>
      <p:bldP spid="5" grpId="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36899" name="Picture 2" descr="http://www.imageafter.com/dbase/images/nature_characters_humanoids/b7nature_characters_humanoids000.jpg"/>
          <p:cNvPicPr>
            <a:picLocks noGrp="1" noChangeAspect="1" noChangeArrowheads="1"/>
          </p:cNvPicPr>
          <p:nvPr>
            <p:ph sz="half" idx="1"/>
          </p:nvPr>
        </p:nvPicPr>
        <p:blipFill>
          <a:blip r:embed="rId3" cstate="screen">
            <a:extLst>
              <a:ext uri="{28A0092B-C50C-407E-A947-70E740481C1C}">
                <a14:useLocalDpi xmlns:a14="http://schemas.microsoft.com/office/drawing/2010/main"/>
              </a:ext>
            </a:extLst>
          </a:blip>
          <a:srcRect/>
          <a:stretch>
            <a:fillRect/>
          </a:stretch>
        </p:blipFill>
        <p:spPr>
          <a:xfrm>
            <a:off x="0" y="1600200"/>
            <a:ext cx="3086100" cy="3573463"/>
          </a:xfrm>
          <a:effectLst>
            <a:outerShdw blurRad="292100" dist="139700" dir="2700000" algn="tl" rotWithShape="0">
              <a:srgbClr val="333333">
                <a:alpha val="65000"/>
              </a:srgbClr>
            </a:outerShdw>
          </a:effectLst>
        </p:spPr>
      </p:pic>
      <p:sp>
        <p:nvSpPr>
          <p:cNvPr id="79876" name="Content Placeholder 7"/>
          <p:cNvSpPr>
            <a:spLocks noGrp="1"/>
          </p:cNvSpPr>
          <p:nvPr>
            <p:ph sz="half" idx="2"/>
          </p:nvPr>
        </p:nvSpPr>
        <p:spPr>
          <a:xfrm>
            <a:off x="3276600" y="1493837"/>
            <a:ext cx="5867400" cy="4983163"/>
          </a:xfrm>
        </p:spPr>
        <p:txBody>
          <a:bodyPr>
            <a:noAutofit/>
          </a:bodyPr>
          <a:lstStyle/>
          <a:p>
            <a:pPr eaLnBrk="1" hangingPunct="1">
              <a:buFont typeface="Arial" pitchFamily="34" charset="0"/>
              <a:buNone/>
              <a:tabLst>
                <a:tab pos="0" algn="l"/>
              </a:tabLst>
              <a:defRPr/>
            </a:pPr>
            <a:r>
              <a:rPr lang="en-US" sz="2800" dirty="0">
                <a:latin typeface="Century Gothic"/>
              </a:rPr>
              <a:t>If garden gnomes regain popularity, what will happen?</a:t>
            </a:r>
          </a:p>
          <a:p>
            <a:pPr marL="511175" lvl="1" indent="-457200" eaLnBrk="1" hangingPunct="1">
              <a:buFont typeface="Calibri" pitchFamily="34" charset="0"/>
              <a:buAutoNum type="alphaLcParenR"/>
              <a:tabLst>
                <a:tab pos="0" algn="l"/>
              </a:tabLst>
              <a:defRPr/>
            </a:pPr>
            <a:r>
              <a:rPr lang="en-US" sz="2400" dirty="0">
                <a:latin typeface="Century Gothic"/>
              </a:rPr>
              <a:t>Equilibrium price and quantity both fall.</a:t>
            </a:r>
          </a:p>
          <a:p>
            <a:pPr marL="511175" lvl="1" indent="-457200" eaLnBrk="1" hangingPunct="1">
              <a:buFont typeface="Calibri" pitchFamily="34" charset="0"/>
              <a:buAutoNum type="alphaLcParenR"/>
              <a:tabLst>
                <a:tab pos="0" algn="l"/>
              </a:tabLst>
              <a:defRPr/>
            </a:pPr>
            <a:r>
              <a:rPr lang="en-US" sz="2400" dirty="0">
                <a:latin typeface="Century Gothic"/>
              </a:rPr>
              <a:t>Equilibrium price and quantity both rise.</a:t>
            </a:r>
          </a:p>
          <a:p>
            <a:pPr marL="511175" lvl="1" indent="-457200" eaLnBrk="1" hangingPunct="1">
              <a:buFont typeface="Calibri" pitchFamily="34" charset="0"/>
              <a:buAutoNum type="alphaLcParenR"/>
              <a:tabLst>
                <a:tab pos="0" algn="l"/>
              </a:tabLst>
              <a:defRPr/>
            </a:pPr>
            <a:r>
              <a:rPr lang="en-US" sz="2400" dirty="0">
                <a:latin typeface="Century Gothic"/>
              </a:rPr>
              <a:t>Equilibrium price falls and quantity rises.</a:t>
            </a:r>
          </a:p>
          <a:p>
            <a:pPr marL="511175" lvl="1" indent="-457200" eaLnBrk="1" hangingPunct="1">
              <a:buFont typeface="Calibri" pitchFamily="34" charset="0"/>
              <a:buAutoNum type="alphaLcParenR"/>
              <a:tabLst>
                <a:tab pos="0" algn="l"/>
              </a:tabLst>
              <a:defRPr/>
            </a:pPr>
            <a:r>
              <a:rPr lang="en-US" sz="2400" dirty="0">
                <a:latin typeface="Century Gothic"/>
              </a:rPr>
              <a:t>Equilibrium price rises and quantity falls.</a:t>
            </a:r>
          </a:p>
        </p:txBody>
      </p:sp>
      <p:sp>
        <p:nvSpPr>
          <p:cNvPr id="9" name="Oval 8"/>
          <p:cNvSpPr/>
          <p:nvPr/>
        </p:nvSpPr>
        <p:spPr>
          <a:xfrm>
            <a:off x="8382000" y="6096000"/>
            <a:ext cx="744538" cy="747713"/>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8855" name="TextBox 9">
            <a:hlinkClick r:id="rId4" action="ppaction://hlinksldjump"/>
          </p:cNvPr>
          <p:cNvSpPr txBox="1">
            <a:spLocks noChangeArrowheads="1"/>
          </p:cNvSpPr>
          <p:nvPr/>
        </p:nvSpPr>
        <p:spPr bwMode="auto">
          <a:xfrm>
            <a:off x="8428038" y="6203950"/>
            <a:ext cx="6699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1000">
                <a:latin typeface="Candara" pitchFamily="34" charset="0"/>
                <a:hlinkClick r:id="rId4" action="ppaction://hlinksldjump"/>
              </a:rPr>
              <a:t>Back to Table of contents</a:t>
            </a:r>
            <a:endParaRPr lang="en-US" sz="1000">
              <a:latin typeface="Candara" pitchFamily="34" charset="0"/>
            </a:endParaRPr>
          </a:p>
          <a:p>
            <a:pPr eaLnBrk="1" hangingPunct="1"/>
            <a:endParaRPr lang="en-US" sz="1000">
              <a:latin typeface="Candara" pitchFamily="34" charset="0"/>
            </a:endParaRPr>
          </a:p>
        </p:txBody>
      </p:sp>
      <p:sp>
        <p:nvSpPr>
          <p:cNvPr id="8" name="Rectangle 7"/>
          <p:cNvSpPr/>
          <p:nvPr/>
        </p:nvSpPr>
        <p:spPr>
          <a:xfrm>
            <a:off x="25705" y="6307666"/>
            <a:ext cx="1172116" cy="369332"/>
          </a:xfrm>
          <a:prstGeom prst="rect">
            <a:avLst/>
          </a:prstGeom>
        </p:spPr>
        <p:txBody>
          <a:bodyPr wrap="none">
            <a:spAutoFit/>
          </a:bodyPr>
          <a:lstStyle/>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5" action="ppaction://hlinksldjump"/>
              </a:rPr>
              <a:t>To Next </a:t>
            </a: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 action="ppaction://noaction"/>
            </a:endParaRPr>
          </a:p>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 action="ppaction://noaction"/>
              </a:rPr>
              <a:t>Active </a:t>
            </a: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5" action="ppaction://hlinksldjump"/>
              </a:rPr>
              <a:t>Learning</a:t>
            </a: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797523943"/>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79876">
                                            <p:txEl>
                                              <p:pRg st="2" end="2"/>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40995" name="Content Placeholder 4" descr="violin makers.jpg"/>
          <p:cNvPicPr>
            <a:picLocks noGrp="1" noChangeAspect="1"/>
          </p:cNvPicPr>
          <p:nvPr>
            <p:ph sz="half" idx="1"/>
          </p:nvPr>
        </p:nvPicPr>
        <p:blipFill>
          <a:blip r:embed="rId3" cstate="screen">
            <a:extLst>
              <a:ext uri="{28A0092B-C50C-407E-A947-70E740481C1C}">
                <a14:useLocalDpi xmlns:a14="http://schemas.microsoft.com/office/drawing/2010/main"/>
              </a:ext>
            </a:extLst>
          </a:blip>
          <a:srcRect/>
          <a:stretch>
            <a:fillRect/>
          </a:stretch>
        </p:blipFill>
        <p:spPr>
          <a:xfrm>
            <a:off x="0" y="1524000"/>
            <a:ext cx="3086100" cy="3573463"/>
          </a:xfrm>
          <a:effectLst>
            <a:outerShdw blurRad="292100" dist="139700" dir="2700000" algn="tl" rotWithShape="0">
              <a:srgbClr val="333333">
                <a:alpha val="65000"/>
              </a:srgbClr>
            </a:outerShdw>
          </a:effectLst>
        </p:spPr>
      </p:pic>
      <p:sp>
        <p:nvSpPr>
          <p:cNvPr id="4" name="Content Placeholder 3"/>
          <p:cNvSpPr>
            <a:spLocks noGrp="1"/>
          </p:cNvSpPr>
          <p:nvPr>
            <p:ph sz="half" idx="2"/>
          </p:nvPr>
        </p:nvSpPr>
        <p:spPr>
          <a:xfrm>
            <a:off x="3276600" y="1493837"/>
            <a:ext cx="5867400" cy="4983163"/>
          </a:xfrm>
        </p:spPr>
        <p:txBody>
          <a:bodyPr>
            <a:noAutofit/>
          </a:bodyPr>
          <a:lstStyle/>
          <a:p>
            <a:pPr eaLnBrk="1" hangingPunct="1">
              <a:buFont typeface="Arial" pitchFamily="34" charset="0"/>
              <a:buNone/>
              <a:defRPr/>
            </a:pPr>
            <a:r>
              <a:rPr lang="en-US" sz="2800" dirty="0">
                <a:latin typeface="Century Gothic"/>
              </a:rPr>
              <a:t>If the cost of wood falls, what will happen to equilibrium price and quantity in the violin market?</a:t>
            </a:r>
          </a:p>
          <a:p>
            <a:pPr marL="914400" lvl="1" indent="-514350" eaLnBrk="1" hangingPunct="1">
              <a:buFont typeface="Calibri" pitchFamily="34" charset="0"/>
              <a:buAutoNum type="alphaLcParenR"/>
              <a:defRPr/>
            </a:pPr>
            <a:r>
              <a:rPr lang="en-US" sz="2400" dirty="0">
                <a:latin typeface="Century Gothic"/>
              </a:rPr>
              <a:t>Both fall.</a:t>
            </a:r>
          </a:p>
          <a:p>
            <a:pPr marL="914400" lvl="1" indent="-514350" eaLnBrk="1" hangingPunct="1">
              <a:buFont typeface="Calibri" pitchFamily="34" charset="0"/>
              <a:buAutoNum type="alphaLcParenR"/>
              <a:defRPr/>
            </a:pPr>
            <a:r>
              <a:rPr lang="en-US" sz="2400" dirty="0">
                <a:latin typeface="Century Gothic"/>
              </a:rPr>
              <a:t>Both rise.</a:t>
            </a:r>
          </a:p>
          <a:p>
            <a:pPr marL="914400" lvl="1" indent="-514350" eaLnBrk="1" hangingPunct="1">
              <a:buFont typeface="Calibri" pitchFamily="34" charset="0"/>
              <a:buAutoNum type="alphaLcParenR"/>
              <a:defRPr/>
            </a:pPr>
            <a:r>
              <a:rPr lang="en-US" sz="2400" dirty="0">
                <a:latin typeface="Century Gothic"/>
              </a:rPr>
              <a:t>Price falls and quantity rises.</a:t>
            </a:r>
          </a:p>
          <a:p>
            <a:pPr marL="914400" lvl="1" indent="-514350" eaLnBrk="1" hangingPunct="1">
              <a:buFont typeface="Calibri" pitchFamily="34" charset="0"/>
              <a:buAutoNum type="alphaLcParenR"/>
              <a:defRPr/>
            </a:pPr>
            <a:r>
              <a:rPr lang="en-US" sz="2400" dirty="0">
                <a:latin typeface="Century Gothic"/>
              </a:rPr>
              <a:t>Price rises and quantity falls.</a:t>
            </a:r>
          </a:p>
        </p:txBody>
      </p:sp>
      <p:sp>
        <p:nvSpPr>
          <p:cNvPr id="10" name="Oval 9"/>
          <p:cNvSpPr/>
          <p:nvPr/>
        </p:nvSpPr>
        <p:spPr>
          <a:xfrm>
            <a:off x="8382000" y="6096000"/>
            <a:ext cx="744538" cy="747713"/>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9879" name="TextBox 10">
            <a:hlinkClick r:id="rId4" action="ppaction://hlinksldjump"/>
          </p:cNvPr>
          <p:cNvSpPr txBox="1">
            <a:spLocks noChangeArrowheads="1"/>
          </p:cNvSpPr>
          <p:nvPr/>
        </p:nvSpPr>
        <p:spPr bwMode="auto">
          <a:xfrm>
            <a:off x="8428038" y="6203950"/>
            <a:ext cx="6699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US" sz="1000">
                <a:latin typeface="Candara" pitchFamily="34" charset="0"/>
                <a:hlinkClick r:id="rId4" action="ppaction://hlinksldjump"/>
              </a:rPr>
              <a:t>Back to Table of contents</a:t>
            </a:r>
            <a:endParaRPr lang="en-US" sz="1000">
              <a:latin typeface="Candara" pitchFamily="34" charset="0"/>
            </a:endParaRPr>
          </a:p>
          <a:p>
            <a:pPr eaLnBrk="1" hangingPunct="1"/>
            <a:endParaRPr lang="en-US" sz="1000">
              <a:latin typeface="Candara" pitchFamily="34" charset="0"/>
            </a:endParaRPr>
          </a:p>
        </p:txBody>
      </p:sp>
      <p:sp>
        <p:nvSpPr>
          <p:cNvPr id="8" name="Rectangle 7"/>
          <p:cNvSpPr/>
          <p:nvPr/>
        </p:nvSpPr>
        <p:spPr>
          <a:xfrm>
            <a:off x="83181" y="6307666"/>
            <a:ext cx="1057163" cy="369332"/>
          </a:xfrm>
          <a:prstGeom prst="rect">
            <a:avLst/>
          </a:prstGeom>
        </p:spPr>
        <p:txBody>
          <a:bodyPr wrap="none">
            <a:spAutoFit/>
          </a:bodyPr>
          <a:lstStyle/>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5" action="ppaction://hlinksldjump"/>
              </a:rPr>
              <a:t>To Next </a:t>
            </a: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 action="ppaction://noaction"/>
            </a:endParaRPr>
          </a:p>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 action="ppaction://noaction"/>
              </a:rPr>
              <a:t>Active </a:t>
            </a: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5" action="ppaction://hlinksldjump"/>
              </a:rPr>
              <a:t>Learning</a:t>
            </a: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669465637"/>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4">
                                            <p:txEl>
                                              <p:pRg st="3" end="3"/>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648200" y="1295400"/>
            <a:ext cx="4419600" cy="5105400"/>
          </a:xfrm>
        </p:spPr>
        <p:txBody>
          <a:bodyPr>
            <a:normAutofit fontScale="92500" lnSpcReduction="10000"/>
          </a:bodyPr>
          <a:lstStyle/>
          <a:p>
            <a:r>
              <a:rPr lang="en-US" sz="2800" dirty="0">
                <a:solidFill>
                  <a:srgbClr val="E46C0A"/>
                </a:solidFill>
                <a:latin typeface="Century Gothic"/>
                <a:cs typeface="Century Gothic"/>
              </a:rPr>
              <a:t>THE COTTON SPIKE AND CRASH OF 2011</a:t>
            </a:r>
          </a:p>
          <a:p>
            <a:r>
              <a:rPr lang="en-US" sz="2800" dirty="0">
                <a:latin typeface="Century Gothic"/>
                <a:cs typeface="Century Gothic"/>
              </a:rPr>
              <a:t>What caused the price spike?</a:t>
            </a:r>
          </a:p>
          <a:p>
            <a:pPr marL="457200" indent="-457200">
              <a:buFont typeface="Arial"/>
              <a:buChar char="•"/>
            </a:pPr>
            <a:r>
              <a:rPr lang="en-US" sz="2800" i="1" dirty="0">
                <a:latin typeface="Century Gothic"/>
                <a:cs typeface="Century Gothic"/>
              </a:rPr>
              <a:t>Falling supply</a:t>
            </a:r>
          </a:p>
          <a:p>
            <a:pPr marL="457200" indent="-457200">
              <a:buFont typeface="Arial"/>
              <a:buChar char="•"/>
            </a:pPr>
            <a:r>
              <a:rPr lang="en-US" sz="2800" i="1" dirty="0">
                <a:latin typeface="Century Gothic"/>
                <a:cs typeface="Century Gothic"/>
              </a:rPr>
              <a:t>Rising demand</a:t>
            </a:r>
          </a:p>
          <a:p>
            <a:pPr marL="457200" indent="-457200">
              <a:buFont typeface="Arial"/>
              <a:buChar char="•"/>
            </a:pPr>
            <a:r>
              <a:rPr lang="en-US" sz="2800" i="1" dirty="0">
                <a:latin typeface="Century Gothic"/>
                <a:cs typeface="Century Gothic"/>
              </a:rPr>
              <a:t>Then, in response to higher prices, manufacturers switched to polyester (and eventually supply increased also)</a:t>
            </a:r>
          </a:p>
        </p:txBody>
      </p:sp>
      <p:pic>
        <p:nvPicPr>
          <p:cNvPr id="6" name="Picture 5"/>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676400"/>
            <a:ext cx="4532543" cy="3581400"/>
          </a:xfrm>
          <a:prstGeom prst="rect">
            <a:avLst/>
          </a:prstGeom>
        </p:spPr>
      </p:pic>
    </p:spTree>
    <p:extLst>
      <p:ext uri="{BB962C8B-B14F-4D97-AF65-F5344CB8AC3E}">
        <p14:creationId xmlns:p14="http://schemas.microsoft.com/office/powerpoint/2010/main" val="29468257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3200" dirty="0">
                <a:latin typeface="Century Gothic"/>
                <a:cs typeface="Century Gothic"/>
              </a:rPr>
              <a:t>Which curve is it, anyway?</a:t>
            </a:r>
          </a:p>
          <a:p>
            <a:r>
              <a:rPr lang="en-US" sz="3200" dirty="0">
                <a:latin typeface="Century Gothic"/>
                <a:cs typeface="Century Gothic"/>
              </a:rPr>
              <a:t>How do you know what caused a price change?</a:t>
            </a:r>
          </a:p>
          <a:p>
            <a:r>
              <a:rPr lang="en-US" sz="3200" dirty="0">
                <a:latin typeface="Century Gothic"/>
                <a:cs typeface="Century Gothic"/>
              </a:rPr>
              <a:t>Look at the outcome: </a:t>
            </a:r>
            <a:r>
              <a:rPr lang="en-US" sz="3200" dirty="0">
                <a:solidFill>
                  <a:schemeClr val="accent1">
                    <a:lumMod val="75000"/>
                  </a:schemeClr>
                </a:solidFill>
                <a:latin typeface="Century Gothic"/>
                <a:cs typeface="Century Gothic"/>
              </a:rPr>
              <a:t>if the price and quantity move</a:t>
            </a:r>
            <a:r>
              <a:rPr lang="en-US" sz="3200" dirty="0">
                <a:solidFill>
                  <a:srgbClr val="990033"/>
                </a:solidFill>
                <a:latin typeface="Century Gothic"/>
                <a:cs typeface="Century Gothic"/>
              </a:rPr>
              <a:t> </a:t>
            </a:r>
            <a:r>
              <a:rPr lang="en-US" sz="3200" dirty="0">
                <a:solidFill>
                  <a:schemeClr val="accent1">
                    <a:lumMod val="75000"/>
                  </a:schemeClr>
                </a:solidFill>
                <a:latin typeface="Century Gothic"/>
                <a:cs typeface="Century Gothic"/>
              </a:rPr>
              <a:t>together,</a:t>
            </a:r>
            <a:r>
              <a:rPr lang="en-US" sz="3200" dirty="0">
                <a:solidFill>
                  <a:srgbClr val="990033"/>
                </a:solidFill>
                <a:latin typeface="Century Gothic"/>
                <a:cs typeface="Century Gothic"/>
              </a:rPr>
              <a:t> it was a demand change.</a:t>
            </a:r>
            <a:r>
              <a:rPr lang="en-US" sz="3200" dirty="0">
                <a:latin typeface="Century Gothic"/>
                <a:cs typeface="Century Gothic"/>
              </a:rPr>
              <a:t> </a:t>
            </a:r>
            <a:r>
              <a:rPr lang="en-US" sz="3200" dirty="0">
                <a:solidFill>
                  <a:schemeClr val="accent1">
                    <a:lumMod val="75000"/>
                  </a:schemeClr>
                </a:solidFill>
                <a:latin typeface="Century Gothic"/>
                <a:cs typeface="Century Gothic"/>
              </a:rPr>
              <a:t>If they move in opposite directions, </a:t>
            </a:r>
            <a:r>
              <a:rPr lang="en-US" sz="3200" dirty="0">
                <a:solidFill>
                  <a:srgbClr val="990033"/>
                </a:solidFill>
                <a:latin typeface="Century Gothic"/>
                <a:cs typeface="Century Gothic"/>
              </a:rPr>
              <a:t>a supply change.</a:t>
            </a:r>
          </a:p>
        </p:txBody>
      </p:sp>
      <p:pic>
        <p:nvPicPr>
          <p:cNvPr id="3074" name="Picture 2" descr="Question Mark"/>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550270" y="609601"/>
            <a:ext cx="2022230" cy="175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2839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cxnSp>
        <p:nvCxnSpPr>
          <p:cNvPr id="612575" name="Straight Connector 86"/>
          <p:cNvCxnSpPr>
            <a:cxnSpLocks noChangeShapeType="1"/>
          </p:cNvCxnSpPr>
          <p:nvPr/>
        </p:nvCxnSpPr>
        <p:spPr bwMode="auto">
          <a:xfrm>
            <a:off x="5032375" y="3270250"/>
            <a:ext cx="0" cy="2681288"/>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sp>
        <p:nvSpPr>
          <p:cNvPr id="612354" name="Rectangle 2"/>
          <p:cNvSpPr>
            <a:spLocks noGrp="1" noRot="1" noChangeArrowheads="1"/>
          </p:cNvSpPr>
          <p:nvPr>
            <p:ph type="title"/>
          </p:nvPr>
        </p:nvSpPr>
        <p:spPr>
          <a:xfrm>
            <a:off x="0" y="0"/>
            <a:ext cx="9144000" cy="990600"/>
          </a:xfrm>
        </p:spPr>
        <p:txBody>
          <a:bodyPr>
            <a:noAutofit/>
          </a:bodyPr>
          <a:lstStyle/>
          <a:p>
            <a:r>
              <a:rPr lang="en-US" sz="3600" dirty="0"/>
              <a:t>SIMULTANEOUS SHIFTS OF SUPPLY AND DEMAND</a:t>
            </a:r>
          </a:p>
        </p:txBody>
      </p:sp>
      <p:sp>
        <p:nvSpPr>
          <p:cNvPr id="612388" name="Text Box 36"/>
          <p:cNvSpPr txBox="1">
            <a:spLocks noChangeArrowheads="1"/>
          </p:cNvSpPr>
          <p:nvPr/>
        </p:nvSpPr>
        <p:spPr bwMode="auto">
          <a:xfrm>
            <a:off x="6324600" y="2743200"/>
            <a:ext cx="2819400" cy="923330"/>
          </a:xfrm>
          <a:prstGeom prst="rect">
            <a:avLst/>
          </a:prstGeom>
          <a:noFill/>
          <a:ln>
            <a:noFill/>
          </a:ln>
          <a:effectLst/>
        </p:spPr>
        <p:txBody>
          <a:bodyPr>
            <a:spAutoFit/>
          </a:bodyPr>
          <a:lstStyle>
            <a:lvl1pPr marL="1588" indent="-1588">
              <a:spcBef>
                <a:spcPct val="0"/>
              </a:spcBef>
              <a:defRPr>
                <a:solidFill>
                  <a:schemeClr val="tx1"/>
                </a:solidFill>
                <a:latin typeface="Arial" pitchFamily="34" charset="0"/>
              </a:defRPr>
            </a:lvl1pPr>
            <a:lvl2pPr>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fontAlgn="base">
              <a:spcBef>
                <a:spcPct val="0"/>
              </a:spcBef>
              <a:spcAft>
                <a:spcPct val="0"/>
              </a:spcAft>
              <a:defRPr>
                <a:solidFill>
                  <a:schemeClr val="tx1"/>
                </a:solidFill>
                <a:latin typeface="Arial" pitchFamily="34" charset="0"/>
              </a:defRPr>
            </a:lvl6pPr>
            <a:lvl7pPr fontAlgn="base">
              <a:spcBef>
                <a:spcPct val="0"/>
              </a:spcBef>
              <a:spcAft>
                <a:spcPct val="0"/>
              </a:spcAft>
              <a:defRPr>
                <a:solidFill>
                  <a:schemeClr val="tx1"/>
                </a:solidFill>
                <a:latin typeface="Arial" pitchFamily="34" charset="0"/>
              </a:defRPr>
            </a:lvl7pPr>
            <a:lvl8pPr fontAlgn="base">
              <a:spcBef>
                <a:spcPct val="0"/>
              </a:spcBef>
              <a:spcAft>
                <a:spcPct val="0"/>
              </a:spcAft>
              <a:defRPr>
                <a:solidFill>
                  <a:schemeClr val="tx1"/>
                </a:solidFill>
                <a:latin typeface="Arial" pitchFamily="34" charset="0"/>
              </a:defRPr>
            </a:lvl8pPr>
            <a:lvl9pPr fontAlgn="base">
              <a:spcBef>
                <a:spcPct val="0"/>
              </a:spcBef>
              <a:spcAft>
                <a:spcPct val="0"/>
              </a:spcAft>
              <a:defRPr>
                <a:solidFill>
                  <a:schemeClr val="tx1"/>
                </a:solidFill>
                <a:latin typeface="Arial" pitchFamily="34" charset="0"/>
              </a:defRPr>
            </a:lvl9pPr>
          </a:lstStyle>
          <a:p>
            <a:pPr>
              <a:lnSpc>
                <a:spcPct val="100000"/>
              </a:lnSpc>
              <a:spcBef>
                <a:spcPct val="20000"/>
              </a:spcBef>
            </a:pPr>
            <a:r>
              <a:rPr lang="en-US" dirty="0">
                <a:latin typeface="Century Gothic"/>
                <a:cs typeface="Century Gothic"/>
              </a:rPr>
              <a:t>Two opposing forces determining the equilibrium quantity:</a:t>
            </a:r>
          </a:p>
        </p:txBody>
      </p:sp>
      <p:sp>
        <p:nvSpPr>
          <p:cNvPr id="612479" name="Text Box 127"/>
          <p:cNvSpPr txBox="1">
            <a:spLocks noChangeArrowheads="1"/>
          </p:cNvSpPr>
          <p:nvPr/>
        </p:nvSpPr>
        <p:spPr bwMode="auto">
          <a:xfrm>
            <a:off x="6324600" y="3648670"/>
            <a:ext cx="2819400" cy="923330"/>
          </a:xfrm>
          <a:prstGeom prst="rect">
            <a:avLst/>
          </a:prstGeom>
          <a:noFill/>
          <a:ln>
            <a:noFill/>
          </a:ln>
          <a:effectLst/>
        </p:spPr>
        <p:txBody>
          <a:bodyPr>
            <a:spAutoFit/>
          </a:bodyPr>
          <a:lstStyle>
            <a:lvl1pPr marL="1588" indent="-1588">
              <a:spcBef>
                <a:spcPct val="0"/>
              </a:spcBef>
              <a:defRPr>
                <a:solidFill>
                  <a:schemeClr val="tx1"/>
                </a:solidFill>
                <a:latin typeface="Arial" pitchFamily="34" charset="0"/>
              </a:defRPr>
            </a:lvl1pPr>
            <a:lvl2pPr>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fontAlgn="base">
              <a:spcBef>
                <a:spcPct val="0"/>
              </a:spcBef>
              <a:spcAft>
                <a:spcPct val="0"/>
              </a:spcAft>
              <a:defRPr>
                <a:solidFill>
                  <a:schemeClr val="tx1"/>
                </a:solidFill>
                <a:latin typeface="Arial" pitchFamily="34" charset="0"/>
              </a:defRPr>
            </a:lvl6pPr>
            <a:lvl7pPr fontAlgn="base">
              <a:spcBef>
                <a:spcPct val="0"/>
              </a:spcBef>
              <a:spcAft>
                <a:spcPct val="0"/>
              </a:spcAft>
              <a:defRPr>
                <a:solidFill>
                  <a:schemeClr val="tx1"/>
                </a:solidFill>
                <a:latin typeface="Arial" pitchFamily="34" charset="0"/>
              </a:defRPr>
            </a:lvl7pPr>
            <a:lvl8pPr fontAlgn="base">
              <a:spcBef>
                <a:spcPct val="0"/>
              </a:spcBef>
              <a:spcAft>
                <a:spcPct val="0"/>
              </a:spcAft>
              <a:defRPr>
                <a:solidFill>
                  <a:schemeClr val="tx1"/>
                </a:solidFill>
                <a:latin typeface="Arial" pitchFamily="34" charset="0"/>
              </a:defRPr>
            </a:lvl8pPr>
            <a:lvl9pPr fontAlgn="base">
              <a:spcBef>
                <a:spcPct val="0"/>
              </a:spcBef>
              <a:spcAft>
                <a:spcPct val="0"/>
              </a:spcAft>
              <a:defRPr>
                <a:solidFill>
                  <a:schemeClr val="tx1"/>
                </a:solidFill>
                <a:latin typeface="Arial" pitchFamily="34" charset="0"/>
              </a:defRPr>
            </a:lvl9pPr>
          </a:lstStyle>
          <a:p>
            <a:pPr>
              <a:lnSpc>
                <a:spcPct val="100000"/>
              </a:lnSpc>
              <a:spcBef>
                <a:spcPct val="20000"/>
              </a:spcBef>
            </a:pPr>
            <a:r>
              <a:rPr lang="en-US" dirty="0">
                <a:latin typeface="Century Gothic"/>
                <a:cs typeface="Century Gothic"/>
              </a:rPr>
              <a:t>The increase in demand dominates the decrease in supply.</a:t>
            </a:r>
          </a:p>
        </p:txBody>
      </p:sp>
      <p:sp>
        <p:nvSpPr>
          <p:cNvPr id="548931" name="TextBox 30"/>
          <p:cNvSpPr txBox="1">
            <a:spLocks noChangeArrowheads="1"/>
          </p:cNvSpPr>
          <p:nvPr/>
        </p:nvSpPr>
        <p:spPr bwMode="auto">
          <a:xfrm>
            <a:off x="6477000" y="6019800"/>
            <a:ext cx="19812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400" dirty="0">
                <a:latin typeface="Century Gothic"/>
                <a:ea typeface="MS PGothic" pitchFamily="34" charset="-128"/>
                <a:cs typeface="Century Gothic"/>
              </a:rPr>
              <a:t>Quantity of cotton</a:t>
            </a:r>
          </a:p>
        </p:txBody>
      </p:sp>
      <p:cxnSp>
        <p:nvCxnSpPr>
          <p:cNvPr id="612530" name="Straight Connector 86"/>
          <p:cNvCxnSpPr>
            <a:cxnSpLocks noChangeShapeType="1"/>
          </p:cNvCxnSpPr>
          <p:nvPr/>
        </p:nvCxnSpPr>
        <p:spPr bwMode="auto">
          <a:xfrm>
            <a:off x="2300288" y="4502150"/>
            <a:ext cx="1993900" cy="7938"/>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612531" name="Straight Connector 86"/>
          <p:cNvCxnSpPr>
            <a:cxnSpLocks noChangeShapeType="1"/>
          </p:cNvCxnSpPr>
          <p:nvPr/>
        </p:nvCxnSpPr>
        <p:spPr bwMode="auto">
          <a:xfrm>
            <a:off x="2300288" y="3259138"/>
            <a:ext cx="2754312" cy="11112"/>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sp>
        <p:nvSpPr>
          <p:cNvPr id="612532" name="Rectangle 180"/>
          <p:cNvSpPr>
            <a:spLocks noChangeArrowheads="1"/>
          </p:cNvSpPr>
          <p:nvPr/>
        </p:nvSpPr>
        <p:spPr bwMode="auto">
          <a:xfrm>
            <a:off x="4953000" y="6096000"/>
            <a:ext cx="185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a:solidFill>
                  <a:srgbClr val="000000"/>
                </a:solidFill>
                <a:latin typeface="Century Gothic"/>
                <a:cs typeface="Century Gothic"/>
              </a:rPr>
              <a:t>Q</a:t>
            </a:r>
            <a:endParaRPr lang="en-US" sz="1400" i="1">
              <a:latin typeface="Century Gothic"/>
              <a:cs typeface="Century Gothic"/>
            </a:endParaRPr>
          </a:p>
        </p:txBody>
      </p:sp>
      <p:sp>
        <p:nvSpPr>
          <p:cNvPr id="612533" name="Rectangle 181"/>
          <p:cNvSpPr>
            <a:spLocks noChangeArrowheads="1"/>
          </p:cNvSpPr>
          <p:nvPr/>
        </p:nvSpPr>
        <p:spPr bwMode="auto">
          <a:xfrm>
            <a:off x="5113338" y="6148388"/>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2</a:t>
            </a:r>
            <a:endParaRPr lang="en-US" sz="1400">
              <a:latin typeface="Century Gothic"/>
              <a:cs typeface="Century Gothic"/>
            </a:endParaRPr>
          </a:p>
        </p:txBody>
      </p:sp>
      <p:sp>
        <p:nvSpPr>
          <p:cNvPr id="612534" name="Rectangle 182"/>
          <p:cNvSpPr>
            <a:spLocks noChangeArrowheads="1"/>
          </p:cNvSpPr>
          <p:nvPr/>
        </p:nvSpPr>
        <p:spPr bwMode="auto">
          <a:xfrm>
            <a:off x="4186238" y="6035675"/>
            <a:ext cx="185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a:solidFill>
                  <a:srgbClr val="000000"/>
                </a:solidFill>
                <a:latin typeface="Century Gothic"/>
                <a:cs typeface="Century Gothic"/>
              </a:rPr>
              <a:t>Q</a:t>
            </a:r>
            <a:endParaRPr lang="en-US" sz="1400" i="1">
              <a:latin typeface="Century Gothic"/>
              <a:cs typeface="Century Gothic"/>
            </a:endParaRPr>
          </a:p>
        </p:txBody>
      </p:sp>
      <p:sp>
        <p:nvSpPr>
          <p:cNvPr id="612535" name="Rectangle 183"/>
          <p:cNvSpPr>
            <a:spLocks noChangeArrowheads="1"/>
          </p:cNvSpPr>
          <p:nvPr/>
        </p:nvSpPr>
        <p:spPr bwMode="auto">
          <a:xfrm>
            <a:off x="4379913" y="6148388"/>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a:t>
            </a:r>
            <a:endParaRPr lang="en-US" sz="1400">
              <a:latin typeface="Century Gothic"/>
              <a:cs typeface="Century Gothic"/>
            </a:endParaRPr>
          </a:p>
        </p:txBody>
      </p:sp>
      <p:sp>
        <p:nvSpPr>
          <p:cNvPr id="612536" name="Rectangle 184"/>
          <p:cNvSpPr>
            <a:spLocks noChangeArrowheads="1"/>
          </p:cNvSpPr>
          <p:nvPr/>
        </p:nvSpPr>
        <p:spPr bwMode="auto">
          <a:xfrm>
            <a:off x="1839913" y="3108325"/>
            <a:ext cx="13535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a:solidFill>
                  <a:srgbClr val="000000"/>
                </a:solidFill>
                <a:latin typeface="Century Gothic"/>
                <a:cs typeface="Century Gothic"/>
              </a:rPr>
              <a:t>P</a:t>
            </a:r>
            <a:endParaRPr lang="en-US" sz="1400" i="1">
              <a:latin typeface="Century Gothic"/>
              <a:cs typeface="Century Gothic"/>
            </a:endParaRPr>
          </a:p>
        </p:txBody>
      </p:sp>
      <p:sp>
        <p:nvSpPr>
          <p:cNvPr id="612537" name="Rectangle 185"/>
          <p:cNvSpPr>
            <a:spLocks noChangeArrowheads="1"/>
          </p:cNvSpPr>
          <p:nvPr/>
        </p:nvSpPr>
        <p:spPr bwMode="auto">
          <a:xfrm>
            <a:off x="1989138" y="3221038"/>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2</a:t>
            </a:r>
            <a:endParaRPr lang="en-US" sz="1400">
              <a:latin typeface="Century Gothic"/>
              <a:cs typeface="Century Gothic"/>
            </a:endParaRPr>
          </a:p>
        </p:txBody>
      </p:sp>
      <p:sp>
        <p:nvSpPr>
          <p:cNvPr id="612538" name="Rectangle 186"/>
          <p:cNvSpPr>
            <a:spLocks noChangeArrowheads="1"/>
          </p:cNvSpPr>
          <p:nvPr/>
        </p:nvSpPr>
        <p:spPr bwMode="auto">
          <a:xfrm>
            <a:off x="1839913" y="4364038"/>
            <a:ext cx="13535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a:solidFill>
                  <a:srgbClr val="000000"/>
                </a:solidFill>
                <a:latin typeface="Century Gothic"/>
                <a:cs typeface="Century Gothic"/>
              </a:rPr>
              <a:t>P</a:t>
            </a:r>
            <a:endParaRPr lang="en-US" sz="1400" i="1">
              <a:latin typeface="Century Gothic"/>
              <a:cs typeface="Century Gothic"/>
            </a:endParaRPr>
          </a:p>
        </p:txBody>
      </p:sp>
      <p:sp>
        <p:nvSpPr>
          <p:cNvPr id="612539" name="Rectangle 187"/>
          <p:cNvSpPr>
            <a:spLocks noChangeArrowheads="1"/>
          </p:cNvSpPr>
          <p:nvPr/>
        </p:nvSpPr>
        <p:spPr bwMode="auto">
          <a:xfrm>
            <a:off x="1989138" y="4475163"/>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a:t>
            </a:r>
            <a:endParaRPr lang="en-US" sz="1400">
              <a:latin typeface="Century Gothic"/>
              <a:cs typeface="Century Gothic"/>
            </a:endParaRPr>
          </a:p>
        </p:txBody>
      </p:sp>
      <p:sp>
        <p:nvSpPr>
          <p:cNvPr id="612540" name="Rectangle 188"/>
          <p:cNvSpPr>
            <a:spLocks noChangeArrowheads="1"/>
          </p:cNvSpPr>
          <p:nvPr/>
        </p:nvSpPr>
        <p:spPr bwMode="auto">
          <a:xfrm>
            <a:off x="5938838" y="2027238"/>
            <a:ext cx="12022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a:solidFill>
                  <a:srgbClr val="000000"/>
                </a:solidFill>
                <a:latin typeface="Century Gothic"/>
                <a:cs typeface="Century Gothic"/>
              </a:rPr>
              <a:t>S</a:t>
            </a:r>
            <a:endParaRPr lang="en-US" sz="1400" i="1">
              <a:latin typeface="Century Gothic"/>
              <a:cs typeface="Century Gothic"/>
            </a:endParaRPr>
          </a:p>
        </p:txBody>
      </p:sp>
      <p:sp>
        <p:nvSpPr>
          <p:cNvPr id="612541" name="Rectangle 189"/>
          <p:cNvSpPr>
            <a:spLocks noChangeArrowheads="1"/>
          </p:cNvSpPr>
          <p:nvPr/>
        </p:nvSpPr>
        <p:spPr bwMode="auto">
          <a:xfrm>
            <a:off x="6076950" y="2141538"/>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2</a:t>
            </a:r>
            <a:endParaRPr lang="en-US" sz="1400">
              <a:latin typeface="Century Gothic"/>
              <a:cs typeface="Century Gothic"/>
            </a:endParaRPr>
          </a:p>
        </p:txBody>
      </p:sp>
      <p:sp>
        <p:nvSpPr>
          <p:cNvPr id="612542" name="Rectangle 190"/>
          <p:cNvSpPr>
            <a:spLocks noChangeArrowheads="1"/>
          </p:cNvSpPr>
          <p:nvPr/>
        </p:nvSpPr>
        <p:spPr bwMode="auto">
          <a:xfrm>
            <a:off x="6507163" y="4887913"/>
            <a:ext cx="16270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a:solidFill>
                  <a:srgbClr val="000000"/>
                </a:solidFill>
                <a:latin typeface="Century Gothic"/>
                <a:cs typeface="Century Gothic"/>
              </a:rPr>
              <a:t>D</a:t>
            </a:r>
            <a:endParaRPr lang="en-US" sz="1400" i="1">
              <a:latin typeface="Century Gothic"/>
              <a:cs typeface="Century Gothic"/>
            </a:endParaRPr>
          </a:p>
        </p:txBody>
      </p:sp>
      <p:sp>
        <p:nvSpPr>
          <p:cNvPr id="612543" name="Rectangle 191"/>
          <p:cNvSpPr>
            <a:spLocks noChangeArrowheads="1"/>
          </p:cNvSpPr>
          <p:nvPr/>
        </p:nvSpPr>
        <p:spPr bwMode="auto">
          <a:xfrm>
            <a:off x="6694488" y="5005388"/>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2</a:t>
            </a:r>
            <a:endParaRPr lang="en-US" sz="1400">
              <a:latin typeface="Century Gothic"/>
              <a:cs typeface="Century Gothic"/>
            </a:endParaRPr>
          </a:p>
        </p:txBody>
      </p:sp>
      <p:sp>
        <p:nvSpPr>
          <p:cNvPr id="612544" name="Rectangle 192"/>
          <p:cNvSpPr>
            <a:spLocks noChangeArrowheads="1"/>
          </p:cNvSpPr>
          <p:nvPr/>
        </p:nvSpPr>
        <p:spPr bwMode="auto">
          <a:xfrm>
            <a:off x="4664075" y="5095875"/>
            <a:ext cx="16270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a:solidFill>
                  <a:srgbClr val="000000"/>
                </a:solidFill>
                <a:latin typeface="Century Gothic"/>
                <a:cs typeface="Century Gothic"/>
              </a:rPr>
              <a:t>D</a:t>
            </a:r>
            <a:endParaRPr lang="en-US" sz="1400" i="1">
              <a:latin typeface="Century Gothic"/>
              <a:cs typeface="Century Gothic"/>
            </a:endParaRPr>
          </a:p>
        </p:txBody>
      </p:sp>
      <p:sp>
        <p:nvSpPr>
          <p:cNvPr id="612545" name="Rectangle 193"/>
          <p:cNvSpPr>
            <a:spLocks noChangeArrowheads="1"/>
          </p:cNvSpPr>
          <p:nvPr/>
        </p:nvSpPr>
        <p:spPr bwMode="auto">
          <a:xfrm>
            <a:off x="4854575" y="5213350"/>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a:t>
            </a:r>
            <a:endParaRPr lang="en-US" sz="1400">
              <a:latin typeface="Century Gothic"/>
              <a:cs typeface="Century Gothic"/>
            </a:endParaRPr>
          </a:p>
        </p:txBody>
      </p:sp>
      <p:sp>
        <p:nvSpPr>
          <p:cNvPr id="612546" name="Rectangle 194"/>
          <p:cNvSpPr>
            <a:spLocks noChangeArrowheads="1"/>
          </p:cNvSpPr>
          <p:nvPr/>
        </p:nvSpPr>
        <p:spPr bwMode="auto">
          <a:xfrm>
            <a:off x="6534150" y="2027238"/>
            <a:ext cx="12022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a:solidFill>
                  <a:srgbClr val="000000"/>
                </a:solidFill>
                <a:latin typeface="Century Gothic"/>
                <a:cs typeface="Century Gothic"/>
              </a:rPr>
              <a:t>S</a:t>
            </a:r>
            <a:endParaRPr lang="en-US" sz="1400" i="1">
              <a:latin typeface="Century Gothic"/>
              <a:cs typeface="Century Gothic"/>
            </a:endParaRPr>
          </a:p>
        </p:txBody>
      </p:sp>
      <p:sp>
        <p:nvSpPr>
          <p:cNvPr id="612547" name="Rectangle 195"/>
          <p:cNvSpPr>
            <a:spLocks noChangeArrowheads="1"/>
          </p:cNvSpPr>
          <p:nvPr/>
        </p:nvSpPr>
        <p:spPr bwMode="auto">
          <a:xfrm>
            <a:off x="6675438" y="2141538"/>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a:t>
            </a:r>
            <a:endParaRPr lang="en-US" sz="1400">
              <a:latin typeface="Century Gothic"/>
              <a:cs typeface="Century Gothic"/>
            </a:endParaRPr>
          </a:p>
        </p:txBody>
      </p:sp>
      <p:sp>
        <p:nvSpPr>
          <p:cNvPr id="612548" name="Rectangle 196"/>
          <p:cNvSpPr>
            <a:spLocks noChangeArrowheads="1"/>
          </p:cNvSpPr>
          <p:nvPr/>
        </p:nvSpPr>
        <p:spPr bwMode="auto">
          <a:xfrm>
            <a:off x="4179888" y="4059238"/>
            <a:ext cx="12536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a:solidFill>
                  <a:srgbClr val="000000"/>
                </a:solidFill>
                <a:latin typeface="Century Gothic"/>
                <a:cs typeface="Century Gothic"/>
              </a:rPr>
              <a:t>E</a:t>
            </a:r>
            <a:endParaRPr lang="en-US" sz="1400" i="1">
              <a:latin typeface="Century Gothic"/>
              <a:cs typeface="Century Gothic"/>
            </a:endParaRPr>
          </a:p>
        </p:txBody>
      </p:sp>
      <p:sp>
        <p:nvSpPr>
          <p:cNvPr id="612549" name="Rectangle 197"/>
          <p:cNvSpPr>
            <a:spLocks noChangeArrowheads="1"/>
          </p:cNvSpPr>
          <p:nvPr/>
        </p:nvSpPr>
        <p:spPr bwMode="auto">
          <a:xfrm>
            <a:off x="4318000" y="4170363"/>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a:t>
            </a:r>
            <a:endParaRPr lang="en-US" sz="1400">
              <a:latin typeface="Century Gothic"/>
              <a:cs typeface="Century Gothic"/>
            </a:endParaRPr>
          </a:p>
        </p:txBody>
      </p:sp>
      <p:sp>
        <p:nvSpPr>
          <p:cNvPr id="612550" name="Rectangle 198"/>
          <p:cNvSpPr>
            <a:spLocks noChangeArrowheads="1"/>
          </p:cNvSpPr>
          <p:nvPr/>
        </p:nvSpPr>
        <p:spPr bwMode="auto">
          <a:xfrm>
            <a:off x="4916488" y="2782888"/>
            <a:ext cx="12536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a:solidFill>
                  <a:srgbClr val="000000"/>
                </a:solidFill>
                <a:latin typeface="Century Gothic"/>
                <a:cs typeface="Century Gothic"/>
              </a:rPr>
              <a:t>E</a:t>
            </a:r>
            <a:endParaRPr lang="en-US" sz="1400" i="1">
              <a:latin typeface="Century Gothic"/>
              <a:cs typeface="Century Gothic"/>
            </a:endParaRPr>
          </a:p>
        </p:txBody>
      </p:sp>
      <p:sp>
        <p:nvSpPr>
          <p:cNvPr id="612551" name="Rectangle 199"/>
          <p:cNvSpPr>
            <a:spLocks noChangeArrowheads="1"/>
          </p:cNvSpPr>
          <p:nvPr/>
        </p:nvSpPr>
        <p:spPr bwMode="auto">
          <a:xfrm>
            <a:off x="5056188" y="2900363"/>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2</a:t>
            </a:r>
            <a:endParaRPr lang="en-US" sz="1400">
              <a:latin typeface="Century Gothic"/>
              <a:cs typeface="Century Gothic"/>
            </a:endParaRPr>
          </a:p>
        </p:txBody>
      </p:sp>
      <p:sp>
        <p:nvSpPr>
          <p:cNvPr id="612552" name="Line 200"/>
          <p:cNvSpPr>
            <a:spLocks noChangeShapeType="1"/>
          </p:cNvSpPr>
          <p:nvPr/>
        </p:nvSpPr>
        <p:spPr bwMode="auto">
          <a:xfrm flipH="1">
            <a:off x="5734050" y="2813050"/>
            <a:ext cx="252413" cy="0"/>
          </a:xfrm>
          <a:prstGeom prst="line">
            <a:avLst/>
          </a:prstGeom>
          <a:noFill/>
          <a:ln w="444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12553" name="Freeform 201"/>
          <p:cNvSpPr>
            <a:spLocks/>
          </p:cNvSpPr>
          <p:nvPr/>
        </p:nvSpPr>
        <p:spPr bwMode="auto">
          <a:xfrm>
            <a:off x="5583238" y="2759075"/>
            <a:ext cx="204787" cy="107950"/>
          </a:xfrm>
          <a:custGeom>
            <a:avLst/>
            <a:gdLst>
              <a:gd name="T0" fmla="*/ 23 w 29"/>
              <a:gd name="T1" fmla="*/ 9 h 18"/>
              <a:gd name="T2" fmla="*/ 29 w 29"/>
              <a:gd name="T3" fmla="*/ 17 h 18"/>
              <a:gd name="T4" fmla="*/ 28 w 29"/>
              <a:gd name="T5" fmla="*/ 18 h 18"/>
              <a:gd name="T6" fmla="*/ 14 w 29"/>
              <a:gd name="T7" fmla="*/ 12 h 18"/>
              <a:gd name="T8" fmla="*/ 0 w 29"/>
              <a:gd name="T9" fmla="*/ 9 h 18"/>
              <a:gd name="T10" fmla="*/ 14 w 29"/>
              <a:gd name="T11" fmla="*/ 6 h 18"/>
              <a:gd name="T12" fmla="*/ 28 w 29"/>
              <a:gd name="T13" fmla="*/ 0 h 18"/>
              <a:gd name="T14" fmla="*/ 29 w 29"/>
              <a:gd name="T15" fmla="*/ 0 h 18"/>
              <a:gd name="T16" fmla="*/ 23 w 29"/>
              <a:gd name="T17" fmla="*/ 9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8">
                <a:moveTo>
                  <a:pt x="23" y="9"/>
                </a:moveTo>
                <a:cubicBezTo>
                  <a:pt x="29" y="17"/>
                  <a:pt x="29" y="17"/>
                  <a:pt x="29" y="17"/>
                </a:cubicBezTo>
                <a:cubicBezTo>
                  <a:pt x="28" y="18"/>
                  <a:pt x="28" y="18"/>
                  <a:pt x="28" y="18"/>
                </a:cubicBezTo>
                <a:cubicBezTo>
                  <a:pt x="14" y="12"/>
                  <a:pt x="14" y="12"/>
                  <a:pt x="14" y="12"/>
                </a:cubicBezTo>
                <a:cubicBezTo>
                  <a:pt x="9" y="11"/>
                  <a:pt x="4" y="10"/>
                  <a:pt x="0" y="9"/>
                </a:cubicBezTo>
                <a:cubicBezTo>
                  <a:pt x="4" y="8"/>
                  <a:pt x="9" y="7"/>
                  <a:pt x="14" y="6"/>
                </a:cubicBezTo>
                <a:cubicBezTo>
                  <a:pt x="28" y="0"/>
                  <a:pt x="28" y="0"/>
                  <a:pt x="28" y="0"/>
                </a:cubicBezTo>
                <a:cubicBezTo>
                  <a:pt x="29" y="0"/>
                  <a:pt x="29" y="0"/>
                  <a:pt x="29" y="0"/>
                </a:cubicBezTo>
                <a:lnTo>
                  <a:pt x="23"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612554" name="Freeform 202"/>
          <p:cNvSpPr>
            <a:spLocks/>
          </p:cNvSpPr>
          <p:nvPr/>
        </p:nvSpPr>
        <p:spPr bwMode="auto">
          <a:xfrm>
            <a:off x="2206625" y="1601788"/>
            <a:ext cx="5337175" cy="4410075"/>
          </a:xfrm>
          <a:custGeom>
            <a:avLst/>
            <a:gdLst>
              <a:gd name="T0" fmla="*/ 2697 w 2697"/>
              <a:gd name="T1" fmla="*/ 2606 h 2606"/>
              <a:gd name="T2" fmla="*/ 0 w 2697"/>
              <a:gd name="T3" fmla="*/ 2606 h 2606"/>
              <a:gd name="T4" fmla="*/ 0 w 2697"/>
              <a:gd name="T5" fmla="*/ 0 h 2606"/>
            </a:gdLst>
            <a:ahLst/>
            <a:cxnLst>
              <a:cxn ang="0">
                <a:pos x="T0" y="T1"/>
              </a:cxn>
              <a:cxn ang="0">
                <a:pos x="T2" y="T3"/>
              </a:cxn>
              <a:cxn ang="0">
                <a:pos x="T4" y="T5"/>
              </a:cxn>
            </a:cxnLst>
            <a:rect l="0" t="0" r="r" b="b"/>
            <a:pathLst>
              <a:path w="2697" h="2606">
                <a:moveTo>
                  <a:pt x="2697" y="2606"/>
                </a:moveTo>
                <a:lnTo>
                  <a:pt x="0" y="2606"/>
                </a:lnTo>
                <a:lnTo>
                  <a:pt x="0" y="0"/>
                </a:lnTo>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612555" name="Line 203"/>
          <p:cNvSpPr>
            <a:spLocks noChangeShapeType="1"/>
          </p:cNvSpPr>
          <p:nvPr/>
        </p:nvSpPr>
        <p:spPr bwMode="auto">
          <a:xfrm flipH="1" flipV="1">
            <a:off x="2349500" y="2649538"/>
            <a:ext cx="2562225" cy="2435225"/>
          </a:xfrm>
          <a:prstGeom prst="line">
            <a:avLst/>
          </a:prstGeom>
          <a:noFill/>
          <a:ln w="44450">
            <a:solidFill>
              <a:srgbClr val="AEC5E7"/>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12556" name="Line 204"/>
          <p:cNvSpPr>
            <a:spLocks noChangeShapeType="1"/>
          </p:cNvSpPr>
          <p:nvPr/>
        </p:nvSpPr>
        <p:spPr bwMode="auto">
          <a:xfrm flipV="1">
            <a:off x="2744788" y="2346325"/>
            <a:ext cx="3241675" cy="3082925"/>
          </a:xfrm>
          <a:prstGeom prst="line">
            <a:avLst/>
          </a:prstGeom>
          <a:noFill/>
          <a:ln w="44450">
            <a:solidFill>
              <a:srgbClr val="EE313C"/>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12557" name="Line 205"/>
          <p:cNvSpPr>
            <a:spLocks noChangeShapeType="1"/>
          </p:cNvSpPr>
          <p:nvPr/>
        </p:nvSpPr>
        <p:spPr bwMode="auto">
          <a:xfrm flipV="1">
            <a:off x="3284538" y="2346325"/>
            <a:ext cx="3289300" cy="3132138"/>
          </a:xfrm>
          <a:prstGeom prst="line">
            <a:avLst/>
          </a:prstGeom>
          <a:noFill/>
          <a:ln w="44450">
            <a:solidFill>
              <a:srgbClr val="FAC0BF"/>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12558" name="Oval 206"/>
          <p:cNvSpPr>
            <a:spLocks noChangeArrowheads="1"/>
          </p:cNvSpPr>
          <p:nvPr/>
        </p:nvSpPr>
        <p:spPr bwMode="auto">
          <a:xfrm>
            <a:off x="4232275" y="4448175"/>
            <a:ext cx="141288" cy="12223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612559" name="Line 207"/>
          <p:cNvSpPr>
            <a:spLocks noChangeShapeType="1"/>
          </p:cNvSpPr>
          <p:nvPr/>
        </p:nvSpPr>
        <p:spPr bwMode="auto">
          <a:xfrm>
            <a:off x="5392738" y="2238375"/>
            <a:ext cx="439737" cy="490538"/>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12560" name="Line 208"/>
          <p:cNvSpPr>
            <a:spLocks noChangeShapeType="1"/>
          </p:cNvSpPr>
          <p:nvPr/>
        </p:nvSpPr>
        <p:spPr bwMode="auto">
          <a:xfrm>
            <a:off x="4719638" y="4757738"/>
            <a:ext cx="1614487" cy="0"/>
          </a:xfrm>
          <a:prstGeom prst="line">
            <a:avLst/>
          </a:prstGeom>
          <a:noFill/>
          <a:ln w="444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12561" name="Freeform 209"/>
          <p:cNvSpPr>
            <a:spLocks/>
          </p:cNvSpPr>
          <p:nvPr/>
        </p:nvSpPr>
        <p:spPr bwMode="auto">
          <a:xfrm>
            <a:off x="6276975" y="4703763"/>
            <a:ext cx="212725" cy="101600"/>
          </a:xfrm>
          <a:custGeom>
            <a:avLst/>
            <a:gdLst>
              <a:gd name="T0" fmla="*/ 6 w 30"/>
              <a:gd name="T1" fmla="*/ 9 h 17"/>
              <a:gd name="T2" fmla="*/ 0 w 30"/>
              <a:gd name="T3" fmla="*/ 0 h 17"/>
              <a:gd name="T4" fmla="*/ 1 w 30"/>
              <a:gd name="T5" fmla="*/ 0 h 17"/>
              <a:gd name="T6" fmla="*/ 15 w 30"/>
              <a:gd name="T7" fmla="*/ 5 h 17"/>
              <a:gd name="T8" fmla="*/ 30 w 30"/>
              <a:gd name="T9" fmla="*/ 9 h 17"/>
              <a:gd name="T10" fmla="*/ 15 w 30"/>
              <a:gd name="T11" fmla="*/ 12 h 17"/>
              <a:gd name="T12" fmla="*/ 1 w 30"/>
              <a:gd name="T13" fmla="*/ 17 h 17"/>
              <a:gd name="T14" fmla="*/ 0 w 30"/>
              <a:gd name="T15" fmla="*/ 17 h 17"/>
              <a:gd name="T16" fmla="*/ 6 w 30"/>
              <a:gd name="T17" fmla="*/ 9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17">
                <a:moveTo>
                  <a:pt x="6" y="9"/>
                </a:moveTo>
                <a:cubicBezTo>
                  <a:pt x="0" y="0"/>
                  <a:pt x="0" y="0"/>
                  <a:pt x="0" y="0"/>
                </a:cubicBezTo>
                <a:cubicBezTo>
                  <a:pt x="1" y="0"/>
                  <a:pt x="1" y="0"/>
                  <a:pt x="1" y="0"/>
                </a:cubicBezTo>
                <a:cubicBezTo>
                  <a:pt x="15" y="5"/>
                  <a:pt x="15" y="5"/>
                  <a:pt x="15" y="5"/>
                </a:cubicBezTo>
                <a:cubicBezTo>
                  <a:pt x="20" y="6"/>
                  <a:pt x="25" y="7"/>
                  <a:pt x="30" y="9"/>
                </a:cubicBezTo>
                <a:cubicBezTo>
                  <a:pt x="25" y="10"/>
                  <a:pt x="20" y="11"/>
                  <a:pt x="15" y="12"/>
                </a:cubicBezTo>
                <a:cubicBezTo>
                  <a:pt x="1" y="17"/>
                  <a:pt x="1" y="17"/>
                  <a:pt x="1" y="17"/>
                </a:cubicBezTo>
                <a:cubicBezTo>
                  <a:pt x="0" y="17"/>
                  <a:pt x="0" y="17"/>
                  <a:pt x="0" y="17"/>
                </a:cubicBezTo>
                <a:lnTo>
                  <a:pt x="6"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612562" name="Line 210"/>
          <p:cNvSpPr>
            <a:spLocks noChangeShapeType="1"/>
          </p:cNvSpPr>
          <p:nvPr/>
        </p:nvSpPr>
        <p:spPr bwMode="auto">
          <a:xfrm>
            <a:off x="5335588" y="4835525"/>
            <a:ext cx="128587" cy="455613"/>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12563" name="Rectangle 211"/>
          <p:cNvSpPr>
            <a:spLocks noChangeArrowheads="1"/>
          </p:cNvSpPr>
          <p:nvPr/>
        </p:nvSpPr>
        <p:spPr bwMode="auto">
          <a:xfrm>
            <a:off x="2362200" y="1232356"/>
            <a:ext cx="51054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1588" indent="-1588"/>
            <a:r>
              <a:rPr lang="en-US" sz="1400" dirty="0">
                <a:solidFill>
                  <a:srgbClr val="000000"/>
                </a:solidFill>
                <a:latin typeface="Century Gothic"/>
                <a:cs typeface="Century Gothic"/>
              </a:rPr>
              <a:t>(a) </a:t>
            </a:r>
            <a:r>
              <a:rPr lang="en-US" sz="1400" b="1" dirty="0">
                <a:solidFill>
                  <a:srgbClr val="000000"/>
                </a:solidFill>
                <a:latin typeface="Century Gothic"/>
                <a:cs typeface="Century Gothic"/>
              </a:rPr>
              <a:t>One possible outcome: Price rises, quantity rises.</a:t>
            </a:r>
            <a:endParaRPr lang="en-US" sz="1400" b="1" dirty="0">
              <a:latin typeface="Century Gothic"/>
              <a:cs typeface="Century Gothic"/>
            </a:endParaRPr>
          </a:p>
        </p:txBody>
      </p:sp>
      <p:sp>
        <p:nvSpPr>
          <p:cNvPr id="612564" name="Freeform 212"/>
          <p:cNvSpPr>
            <a:spLocks/>
          </p:cNvSpPr>
          <p:nvPr/>
        </p:nvSpPr>
        <p:spPr bwMode="auto">
          <a:xfrm>
            <a:off x="5151438" y="5260975"/>
            <a:ext cx="1565275" cy="574675"/>
          </a:xfrm>
          <a:custGeom>
            <a:avLst/>
            <a:gdLst>
              <a:gd name="T0" fmla="*/ 221 w 221"/>
              <a:gd name="T1" fmla="*/ 79 h 95"/>
              <a:gd name="T2" fmla="*/ 205 w 221"/>
              <a:gd name="T3" fmla="*/ 95 h 95"/>
              <a:gd name="T4" fmla="*/ 16 w 221"/>
              <a:gd name="T5" fmla="*/ 95 h 95"/>
              <a:gd name="T6" fmla="*/ 0 w 221"/>
              <a:gd name="T7" fmla="*/ 79 h 95"/>
              <a:gd name="T8" fmla="*/ 0 w 221"/>
              <a:gd name="T9" fmla="*/ 16 h 95"/>
              <a:gd name="T10" fmla="*/ 16 w 221"/>
              <a:gd name="T11" fmla="*/ 0 h 95"/>
              <a:gd name="T12" fmla="*/ 205 w 221"/>
              <a:gd name="T13" fmla="*/ 0 h 95"/>
              <a:gd name="T14" fmla="*/ 221 w 221"/>
              <a:gd name="T15" fmla="*/ 16 h 95"/>
              <a:gd name="T16" fmla="*/ 221 w 221"/>
              <a:gd name="T17" fmla="*/ 7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1" h="95">
                <a:moveTo>
                  <a:pt x="221" y="79"/>
                </a:moveTo>
                <a:cubicBezTo>
                  <a:pt x="221" y="87"/>
                  <a:pt x="214" y="95"/>
                  <a:pt x="205" y="95"/>
                </a:cubicBezTo>
                <a:cubicBezTo>
                  <a:pt x="16" y="95"/>
                  <a:pt x="16" y="95"/>
                  <a:pt x="16" y="95"/>
                </a:cubicBezTo>
                <a:cubicBezTo>
                  <a:pt x="7" y="95"/>
                  <a:pt x="0" y="87"/>
                  <a:pt x="0" y="79"/>
                </a:cubicBezTo>
                <a:cubicBezTo>
                  <a:pt x="0" y="16"/>
                  <a:pt x="0" y="16"/>
                  <a:pt x="0" y="16"/>
                </a:cubicBezTo>
                <a:cubicBezTo>
                  <a:pt x="0" y="7"/>
                  <a:pt x="7" y="0"/>
                  <a:pt x="16" y="0"/>
                </a:cubicBezTo>
                <a:cubicBezTo>
                  <a:pt x="205" y="0"/>
                  <a:pt x="205" y="0"/>
                  <a:pt x="205" y="0"/>
                </a:cubicBezTo>
                <a:cubicBezTo>
                  <a:pt x="214" y="0"/>
                  <a:pt x="221" y="7"/>
                  <a:pt x="221" y="16"/>
                </a:cubicBezTo>
                <a:lnTo>
                  <a:pt x="221" y="79"/>
                </a:lnTo>
                <a:close/>
              </a:path>
            </a:pathLst>
          </a:custGeom>
          <a:solidFill>
            <a:srgbClr val="D6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612565" name="Line 213"/>
          <p:cNvSpPr>
            <a:spLocks noChangeShapeType="1"/>
          </p:cNvSpPr>
          <p:nvPr/>
        </p:nvSpPr>
        <p:spPr bwMode="auto">
          <a:xfrm flipH="1" flipV="1">
            <a:off x="3616325" y="1905000"/>
            <a:ext cx="3078163" cy="2925763"/>
          </a:xfrm>
          <a:prstGeom prst="line">
            <a:avLst/>
          </a:prstGeom>
          <a:noFill/>
          <a:ln w="44450">
            <a:solidFill>
              <a:srgbClr val="3C5DAA"/>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12566" name="Oval 214"/>
          <p:cNvSpPr>
            <a:spLocks noChangeArrowheads="1"/>
          </p:cNvSpPr>
          <p:nvPr/>
        </p:nvSpPr>
        <p:spPr bwMode="auto">
          <a:xfrm>
            <a:off x="4967288" y="3194050"/>
            <a:ext cx="142875" cy="12223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612567" name="Line 215"/>
          <p:cNvSpPr>
            <a:spLocks noChangeShapeType="1"/>
          </p:cNvSpPr>
          <p:nvPr/>
        </p:nvSpPr>
        <p:spPr bwMode="auto">
          <a:xfrm flipV="1">
            <a:off x="1973263" y="3522663"/>
            <a:ext cx="0" cy="847725"/>
          </a:xfrm>
          <a:prstGeom prst="line">
            <a:avLst/>
          </a:prstGeom>
          <a:noFill/>
          <a:ln w="174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12568" name="Freeform 216"/>
          <p:cNvSpPr>
            <a:spLocks/>
          </p:cNvSpPr>
          <p:nvPr/>
        </p:nvSpPr>
        <p:spPr bwMode="auto">
          <a:xfrm>
            <a:off x="1924050" y="3435350"/>
            <a:ext cx="100013" cy="115888"/>
          </a:xfrm>
          <a:custGeom>
            <a:avLst/>
            <a:gdLst>
              <a:gd name="T0" fmla="*/ 7 w 14"/>
              <a:gd name="T1" fmla="*/ 16 h 19"/>
              <a:gd name="T2" fmla="*/ 1 w 14"/>
              <a:gd name="T3" fmla="*/ 19 h 19"/>
              <a:gd name="T4" fmla="*/ 0 w 14"/>
              <a:gd name="T5" fmla="*/ 19 h 19"/>
              <a:gd name="T6" fmla="*/ 5 w 14"/>
              <a:gd name="T7" fmla="*/ 10 h 19"/>
              <a:gd name="T8" fmla="*/ 7 w 14"/>
              <a:gd name="T9" fmla="*/ 0 h 19"/>
              <a:gd name="T10" fmla="*/ 9 w 14"/>
              <a:gd name="T11" fmla="*/ 10 h 19"/>
              <a:gd name="T12" fmla="*/ 14 w 14"/>
              <a:gd name="T13" fmla="*/ 19 h 19"/>
              <a:gd name="T14" fmla="*/ 14 w 14"/>
              <a:gd name="T15" fmla="*/ 19 h 19"/>
              <a:gd name="T16" fmla="*/ 7 w 14"/>
              <a:gd name="T17" fmla="*/ 16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 h="19">
                <a:moveTo>
                  <a:pt x="7" y="16"/>
                </a:moveTo>
                <a:cubicBezTo>
                  <a:pt x="1" y="19"/>
                  <a:pt x="1" y="19"/>
                  <a:pt x="1" y="19"/>
                </a:cubicBezTo>
                <a:cubicBezTo>
                  <a:pt x="0" y="19"/>
                  <a:pt x="0" y="19"/>
                  <a:pt x="0" y="19"/>
                </a:cubicBezTo>
                <a:cubicBezTo>
                  <a:pt x="5" y="10"/>
                  <a:pt x="5" y="10"/>
                  <a:pt x="5" y="10"/>
                </a:cubicBezTo>
                <a:cubicBezTo>
                  <a:pt x="5" y="6"/>
                  <a:pt x="6" y="3"/>
                  <a:pt x="7" y="0"/>
                </a:cubicBezTo>
                <a:cubicBezTo>
                  <a:pt x="8" y="3"/>
                  <a:pt x="9" y="6"/>
                  <a:pt x="9" y="10"/>
                </a:cubicBezTo>
                <a:cubicBezTo>
                  <a:pt x="14" y="19"/>
                  <a:pt x="14" y="19"/>
                  <a:pt x="14" y="19"/>
                </a:cubicBezTo>
                <a:cubicBezTo>
                  <a:pt x="14" y="19"/>
                  <a:pt x="14" y="19"/>
                  <a:pt x="14" y="19"/>
                </a:cubicBezTo>
                <a:lnTo>
                  <a:pt x="7"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612569" name="Line 217"/>
          <p:cNvSpPr>
            <a:spLocks noChangeShapeType="1"/>
          </p:cNvSpPr>
          <p:nvPr/>
        </p:nvSpPr>
        <p:spPr bwMode="auto">
          <a:xfrm>
            <a:off x="4473575" y="6181725"/>
            <a:ext cx="381000" cy="0"/>
          </a:xfrm>
          <a:prstGeom prst="line">
            <a:avLst/>
          </a:prstGeom>
          <a:noFill/>
          <a:ln w="174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12570" name="Freeform 218"/>
          <p:cNvSpPr>
            <a:spLocks/>
          </p:cNvSpPr>
          <p:nvPr/>
        </p:nvSpPr>
        <p:spPr bwMode="auto">
          <a:xfrm>
            <a:off x="4756150" y="6138863"/>
            <a:ext cx="155575" cy="84137"/>
          </a:xfrm>
          <a:custGeom>
            <a:avLst/>
            <a:gdLst>
              <a:gd name="T0" fmla="*/ 4 w 22"/>
              <a:gd name="T1" fmla="*/ 7 h 14"/>
              <a:gd name="T2" fmla="*/ 0 w 22"/>
              <a:gd name="T3" fmla="*/ 1 h 14"/>
              <a:gd name="T4" fmla="*/ 0 w 22"/>
              <a:gd name="T5" fmla="*/ 0 h 14"/>
              <a:gd name="T6" fmla="*/ 11 w 22"/>
              <a:gd name="T7" fmla="*/ 5 h 14"/>
              <a:gd name="T8" fmla="*/ 22 w 22"/>
              <a:gd name="T9" fmla="*/ 7 h 14"/>
              <a:gd name="T10" fmla="*/ 11 w 22"/>
              <a:gd name="T11" fmla="*/ 10 h 14"/>
              <a:gd name="T12" fmla="*/ 0 w 22"/>
              <a:gd name="T13" fmla="*/ 14 h 14"/>
              <a:gd name="T14" fmla="*/ 0 w 22"/>
              <a:gd name="T15" fmla="*/ 14 h 14"/>
              <a:gd name="T16" fmla="*/ 4 w 22"/>
              <a:gd name="T17" fmla="*/ 7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14">
                <a:moveTo>
                  <a:pt x="4" y="7"/>
                </a:moveTo>
                <a:cubicBezTo>
                  <a:pt x="0" y="1"/>
                  <a:pt x="0" y="1"/>
                  <a:pt x="0" y="1"/>
                </a:cubicBezTo>
                <a:cubicBezTo>
                  <a:pt x="0" y="0"/>
                  <a:pt x="0" y="0"/>
                  <a:pt x="0" y="0"/>
                </a:cubicBezTo>
                <a:cubicBezTo>
                  <a:pt x="11" y="5"/>
                  <a:pt x="11" y="5"/>
                  <a:pt x="11" y="5"/>
                </a:cubicBezTo>
                <a:cubicBezTo>
                  <a:pt x="14" y="5"/>
                  <a:pt x="18" y="6"/>
                  <a:pt x="22" y="7"/>
                </a:cubicBezTo>
                <a:cubicBezTo>
                  <a:pt x="18" y="8"/>
                  <a:pt x="14" y="9"/>
                  <a:pt x="11" y="10"/>
                </a:cubicBezTo>
                <a:cubicBezTo>
                  <a:pt x="0" y="14"/>
                  <a:pt x="0" y="14"/>
                  <a:pt x="0" y="14"/>
                </a:cubicBezTo>
                <a:cubicBezTo>
                  <a:pt x="0" y="14"/>
                  <a:pt x="0" y="14"/>
                  <a:pt x="0" y="14"/>
                </a:cubicBezTo>
                <a:lnTo>
                  <a:pt x="4"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612571" name="Freeform 219"/>
          <p:cNvSpPr>
            <a:spLocks/>
          </p:cNvSpPr>
          <p:nvPr/>
        </p:nvSpPr>
        <p:spPr bwMode="auto">
          <a:xfrm>
            <a:off x="4114800" y="1600200"/>
            <a:ext cx="1524000" cy="533400"/>
          </a:xfrm>
          <a:custGeom>
            <a:avLst/>
            <a:gdLst>
              <a:gd name="T0" fmla="*/ 174 w 174"/>
              <a:gd name="T1" fmla="*/ 118 h 134"/>
              <a:gd name="T2" fmla="*/ 158 w 174"/>
              <a:gd name="T3" fmla="*/ 134 h 134"/>
              <a:gd name="T4" fmla="*/ 16 w 174"/>
              <a:gd name="T5" fmla="*/ 134 h 134"/>
              <a:gd name="T6" fmla="*/ 0 w 174"/>
              <a:gd name="T7" fmla="*/ 118 h 134"/>
              <a:gd name="T8" fmla="*/ 0 w 174"/>
              <a:gd name="T9" fmla="*/ 16 h 134"/>
              <a:gd name="T10" fmla="*/ 16 w 174"/>
              <a:gd name="T11" fmla="*/ 0 h 134"/>
              <a:gd name="T12" fmla="*/ 158 w 174"/>
              <a:gd name="T13" fmla="*/ 0 h 134"/>
              <a:gd name="T14" fmla="*/ 174 w 174"/>
              <a:gd name="T15" fmla="*/ 16 h 134"/>
              <a:gd name="T16" fmla="*/ 174 w 174"/>
              <a:gd name="T17" fmla="*/ 118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4" h="134">
                <a:moveTo>
                  <a:pt x="174" y="118"/>
                </a:moveTo>
                <a:cubicBezTo>
                  <a:pt x="174" y="127"/>
                  <a:pt x="167" y="134"/>
                  <a:pt x="158" y="134"/>
                </a:cubicBezTo>
                <a:cubicBezTo>
                  <a:pt x="16" y="134"/>
                  <a:pt x="16" y="134"/>
                  <a:pt x="16" y="134"/>
                </a:cubicBezTo>
                <a:cubicBezTo>
                  <a:pt x="7" y="134"/>
                  <a:pt x="0" y="127"/>
                  <a:pt x="0" y="118"/>
                </a:cubicBezTo>
                <a:cubicBezTo>
                  <a:pt x="0" y="16"/>
                  <a:pt x="0" y="16"/>
                  <a:pt x="0" y="16"/>
                </a:cubicBezTo>
                <a:cubicBezTo>
                  <a:pt x="0" y="8"/>
                  <a:pt x="7" y="0"/>
                  <a:pt x="16" y="0"/>
                </a:cubicBezTo>
                <a:cubicBezTo>
                  <a:pt x="158" y="0"/>
                  <a:pt x="158" y="0"/>
                  <a:pt x="158" y="0"/>
                </a:cubicBezTo>
                <a:cubicBezTo>
                  <a:pt x="167" y="0"/>
                  <a:pt x="174" y="8"/>
                  <a:pt x="174" y="16"/>
                </a:cubicBezTo>
                <a:lnTo>
                  <a:pt x="174" y="118"/>
                </a:lnTo>
                <a:close/>
              </a:path>
            </a:pathLst>
          </a:custGeom>
          <a:solidFill>
            <a:srgbClr val="D6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48930" name="TextBox 29"/>
          <p:cNvSpPr txBox="1">
            <a:spLocks noChangeArrowheads="1"/>
          </p:cNvSpPr>
          <p:nvPr/>
        </p:nvSpPr>
        <p:spPr bwMode="auto">
          <a:xfrm>
            <a:off x="685800" y="1563688"/>
            <a:ext cx="14239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400" dirty="0">
                <a:latin typeface="Century Gothic"/>
                <a:ea typeface="MS PGothic" pitchFamily="34" charset="-128"/>
                <a:cs typeface="Century Gothic"/>
              </a:rPr>
              <a:t>Price of cotton</a:t>
            </a:r>
          </a:p>
        </p:txBody>
      </p:sp>
      <p:sp>
        <p:nvSpPr>
          <p:cNvPr id="2" name="TextBox 29"/>
          <p:cNvSpPr txBox="1">
            <a:spLocks noChangeArrowheads="1"/>
          </p:cNvSpPr>
          <p:nvPr/>
        </p:nvSpPr>
        <p:spPr bwMode="auto">
          <a:xfrm>
            <a:off x="4038600" y="1600200"/>
            <a:ext cx="1600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400" dirty="0">
                <a:latin typeface="Century Gothic"/>
                <a:ea typeface="MS PGothic" pitchFamily="34" charset="-128"/>
                <a:cs typeface="Century Gothic"/>
              </a:rPr>
              <a:t>Small decrease in supply</a:t>
            </a:r>
          </a:p>
        </p:txBody>
      </p:sp>
      <p:sp>
        <p:nvSpPr>
          <p:cNvPr id="3" name="TextBox 29"/>
          <p:cNvSpPr txBox="1">
            <a:spLocks noChangeArrowheads="1"/>
          </p:cNvSpPr>
          <p:nvPr/>
        </p:nvSpPr>
        <p:spPr bwMode="auto">
          <a:xfrm>
            <a:off x="5029200" y="5257800"/>
            <a:ext cx="1752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400" dirty="0">
                <a:latin typeface="Century Gothic"/>
                <a:ea typeface="MS PGothic" pitchFamily="34" charset="-128"/>
                <a:cs typeface="Century Gothic"/>
              </a:rPr>
              <a:t>Large increase in demand</a:t>
            </a:r>
          </a:p>
        </p:txBody>
      </p:sp>
      <p:cxnSp>
        <p:nvCxnSpPr>
          <p:cNvPr id="612576" name="Straight Connector 86"/>
          <p:cNvCxnSpPr>
            <a:cxnSpLocks noChangeShapeType="1"/>
          </p:cNvCxnSpPr>
          <p:nvPr/>
        </p:nvCxnSpPr>
        <p:spPr bwMode="auto">
          <a:xfrm>
            <a:off x="4294188" y="4570413"/>
            <a:ext cx="0" cy="1381125"/>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694328294"/>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2388"/>
                                        </p:tgtEl>
                                        <p:attrNameLst>
                                          <p:attrName>style.visibility</p:attrName>
                                        </p:attrNameLst>
                                      </p:cBhvr>
                                      <p:to>
                                        <p:strVal val="visible"/>
                                      </p:to>
                                    </p:set>
                                    <p:animEffect transition="in" filter="fade">
                                      <p:cBhvr>
                                        <p:cTn id="7" dur="500"/>
                                        <p:tgtEl>
                                          <p:spTgt spid="61238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48931"/>
                                        </p:tgtEl>
                                        <p:attrNameLst>
                                          <p:attrName>style.visibility</p:attrName>
                                        </p:attrNameLst>
                                      </p:cBhvr>
                                      <p:to>
                                        <p:strVal val="visible"/>
                                      </p:to>
                                    </p:set>
                                    <p:animEffect transition="in" filter="fade">
                                      <p:cBhvr>
                                        <p:cTn id="10" dur="500"/>
                                        <p:tgtEl>
                                          <p:spTgt spid="548931"/>
                                        </p:tgtEl>
                                      </p:cBhvr>
                                    </p:animEffect>
                                  </p:childTnLst>
                                </p:cTn>
                              </p:par>
                              <p:par>
                                <p:cTn id="11" presetID="10" presetClass="entr" presetSubtype="0" fill="hold" nodeType="withEffect">
                                  <p:stCondLst>
                                    <p:cond delay="0"/>
                                  </p:stCondLst>
                                  <p:childTnLst>
                                    <p:set>
                                      <p:cBhvr>
                                        <p:cTn id="12" dur="1" fill="hold">
                                          <p:stCondLst>
                                            <p:cond delay="0"/>
                                          </p:stCondLst>
                                        </p:cTn>
                                        <p:tgtEl>
                                          <p:spTgt spid="612530"/>
                                        </p:tgtEl>
                                        <p:attrNameLst>
                                          <p:attrName>style.visibility</p:attrName>
                                        </p:attrNameLst>
                                      </p:cBhvr>
                                      <p:to>
                                        <p:strVal val="visible"/>
                                      </p:to>
                                    </p:set>
                                    <p:animEffect transition="in" filter="fade">
                                      <p:cBhvr>
                                        <p:cTn id="13" dur="500"/>
                                        <p:tgtEl>
                                          <p:spTgt spid="61253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12554"/>
                                        </p:tgtEl>
                                        <p:attrNameLst>
                                          <p:attrName>style.visibility</p:attrName>
                                        </p:attrNameLst>
                                      </p:cBhvr>
                                      <p:to>
                                        <p:strVal val="visible"/>
                                      </p:to>
                                    </p:set>
                                    <p:animEffect transition="in" filter="fade">
                                      <p:cBhvr>
                                        <p:cTn id="16" dur="500"/>
                                        <p:tgtEl>
                                          <p:spTgt spid="61255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12534"/>
                                        </p:tgtEl>
                                        <p:attrNameLst>
                                          <p:attrName>style.visibility</p:attrName>
                                        </p:attrNameLst>
                                      </p:cBhvr>
                                      <p:to>
                                        <p:strVal val="visible"/>
                                      </p:to>
                                    </p:set>
                                    <p:animEffect transition="in" filter="fade">
                                      <p:cBhvr>
                                        <p:cTn id="19" dur="500"/>
                                        <p:tgtEl>
                                          <p:spTgt spid="61253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12535"/>
                                        </p:tgtEl>
                                        <p:attrNameLst>
                                          <p:attrName>style.visibility</p:attrName>
                                        </p:attrNameLst>
                                      </p:cBhvr>
                                      <p:to>
                                        <p:strVal val="visible"/>
                                      </p:to>
                                    </p:set>
                                    <p:animEffect transition="in" filter="fade">
                                      <p:cBhvr>
                                        <p:cTn id="22" dur="500"/>
                                        <p:tgtEl>
                                          <p:spTgt spid="61253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48930"/>
                                        </p:tgtEl>
                                        <p:attrNameLst>
                                          <p:attrName>style.visibility</p:attrName>
                                        </p:attrNameLst>
                                      </p:cBhvr>
                                      <p:to>
                                        <p:strVal val="visible"/>
                                      </p:to>
                                    </p:set>
                                    <p:animEffect transition="in" filter="fade">
                                      <p:cBhvr>
                                        <p:cTn id="25" dur="500"/>
                                        <p:tgtEl>
                                          <p:spTgt spid="54893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12549"/>
                                        </p:tgtEl>
                                        <p:attrNameLst>
                                          <p:attrName>style.visibility</p:attrName>
                                        </p:attrNameLst>
                                      </p:cBhvr>
                                      <p:to>
                                        <p:strVal val="visible"/>
                                      </p:to>
                                    </p:set>
                                    <p:animEffect transition="in" filter="fade">
                                      <p:cBhvr>
                                        <p:cTn id="28" dur="500"/>
                                        <p:tgtEl>
                                          <p:spTgt spid="61254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12557"/>
                                        </p:tgtEl>
                                        <p:attrNameLst>
                                          <p:attrName>style.visibility</p:attrName>
                                        </p:attrNameLst>
                                      </p:cBhvr>
                                      <p:to>
                                        <p:strVal val="visible"/>
                                      </p:to>
                                    </p:set>
                                    <p:animEffect transition="in" filter="fade">
                                      <p:cBhvr>
                                        <p:cTn id="31" dur="500"/>
                                        <p:tgtEl>
                                          <p:spTgt spid="612557"/>
                                        </p:tgtEl>
                                      </p:cBhvr>
                                    </p:animEffect>
                                  </p:childTnLst>
                                </p:cTn>
                              </p:par>
                              <p:par>
                                <p:cTn id="32" presetID="10" presetClass="entr" presetSubtype="0" fill="hold" nodeType="withEffect">
                                  <p:stCondLst>
                                    <p:cond delay="0"/>
                                  </p:stCondLst>
                                  <p:childTnLst>
                                    <p:set>
                                      <p:cBhvr>
                                        <p:cTn id="33" dur="1" fill="hold">
                                          <p:stCondLst>
                                            <p:cond delay="0"/>
                                          </p:stCondLst>
                                        </p:cTn>
                                        <p:tgtEl>
                                          <p:spTgt spid="612576"/>
                                        </p:tgtEl>
                                        <p:attrNameLst>
                                          <p:attrName>style.visibility</p:attrName>
                                        </p:attrNameLst>
                                      </p:cBhvr>
                                      <p:to>
                                        <p:strVal val="visible"/>
                                      </p:to>
                                    </p:set>
                                    <p:animEffect transition="in" filter="fade">
                                      <p:cBhvr>
                                        <p:cTn id="34" dur="500"/>
                                        <p:tgtEl>
                                          <p:spTgt spid="61257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612539"/>
                                        </p:tgtEl>
                                        <p:attrNameLst>
                                          <p:attrName>style.visibility</p:attrName>
                                        </p:attrNameLst>
                                      </p:cBhvr>
                                      <p:to>
                                        <p:strVal val="visible"/>
                                      </p:to>
                                    </p:set>
                                    <p:animEffect transition="in" filter="fade">
                                      <p:cBhvr>
                                        <p:cTn id="37" dur="500"/>
                                        <p:tgtEl>
                                          <p:spTgt spid="61253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612555"/>
                                        </p:tgtEl>
                                        <p:attrNameLst>
                                          <p:attrName>style.visibility</p:attrName>
                                        </p:attrNameLst>
                                      </p:cBhvr>
                                      <p:to>
                                        <p:strVal val="visible"/>
                                      </p:to>
                                    </p:set>
                                    <p:animEffect transition="in" filter="fade">
                                      <p:cBhvr>
                                        <p:cTn id="40" dur="500"/>
                                        <p:tgtEl>
                                          <p:spTgt spid="61255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612544"/>
                                        </p:tgtEl>
                                        <p:attrNameLst>
                                          <p:attrName>style.visibility</p:attrName>
                                        </p:attrNameLst>
                                      </p:cBhvr>
                                      <p:to>
                                        <p:strVal val="visible"/>
                                      </p:to>
                                    </p:set>
                                    <p:animEffect transition="in" filter="fade">
                                      <p:cBhvr>
                                        <p:cTn id="43" dur="500"/>
                                        <p:tgtEl>
                                          <p:spTgt spid="61254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612545"/>
                                        </p:tgtEl>
                                        <p:attrNameLst>
                                          <p:attrName>style.visibility</p:attrName>
                                        </p:attrNameLst>
                                      </p:cBhvr>
                                      <p:to>
                                        <p:strVal val="visible"/>
                                      </p:to>
                                    </p:set>
                                    <p:animEffect transition="in" filter="fade">
                                      <p:cBhvr>
                                        <p:cTn id="46" dur="500"/>
                                        <p:tgtEl>
                                          <p:spTgt spid="61254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612558"/>
                                        </p:tgtEl>
                                        <p:attrNameLst>
                                          <p:attrName>style.visibility</p:attrName>
                                        </p:attrNameLst>
                                      </p:cBhvr>
                                      <p:to>
                                        <p:strVal val="visible"/>
                                      </p:to>
                                    </p:set>
                                    <p:animEffect transition="in" filter="fade">
                                      <p:cBhvr>
                                        <p:cTn id="49" dur="500"/>
                                        <p:tgtEl>
                                          <p:spTgt spid="61255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612546"/>
                                        </p:tgtEl>
                                        <p:attrNameLst>
                                          <p:attrName>style.visibility</p:attrName>
                                        </p:attrNameLst>
                                      </p:cBhvr>
                                      <p:to>
                                        <p:strVal val="visible"/>
                                      </p:to>
                                    </p:set>
                                    <p:animEffect transition="in" filter="fade">
                                      <p:cBhvr>
                                        <p:cTn id="52" dur="500"/>
                                        <p:tgtEl>
                                          <p:spTgt spid="61254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612548"/>
                                        </p:tgtEl>
                                        <p:attrNameLst>
                                          <p:attrName>style.visibility</p:attrName>
                                        </p:attrNameLst>
                                      </p:cBhvr>
                                      <p:to>
                                        <p:strVal val="visible"/>
                                      </p:to>
                                    </p:set>
                                    <p:animEffect transition="in" filter="fade">
                                      <p:cBhvr>
                                        <p:cTn id="55" dur="500"/>
                                        <p:tgtEl>
                                          <p:spTgt spid="61254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612547"/>
                                        </p:tgtEl>
                                        <p:attrNameLst>
                                          <p:attrName>style.visibility</p:attrName>
                                        </p:attrNameLst>
                                      </p:cBhvr>
                                      <p:to>
                                        <p:strVal val="visible"/>
                                      </p:to>
                                    </p:set>
                                    <p:animEffect transition="in" filter="fade">
                                      <p:cBhvr>
                                        <p:cTn id="58" dur="500"/>
                                        <p:tgtEl>
                                          <p:spTgt spid="61254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612538"/>
                                        </p:tgtEl>
                                        <p:attrNameLst>
                                          <p:attrName>style.visibility</p:attrName>
                                        </p:attrNameLst>
                                      </p:cBhvr>
                                      <p:to>
                                        <p:strVal val="visible"/>
                                      </p:to>
                                    </p:set>
                                    <p:animEffect transition="in" filter="fade">
                                      <p:cBhvr>
                                        <p:cTn id="61" dur="500"/>
                                        <p:tgtEl>
                                          <p:spTgt spid="612538"/>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612542"/>
                                        </p:tgtEl>
                                        <p:attrNameLst>
                                          <p:attrName>style.visibility</p:attrName>
                                        </p:attrNameLst>
                                      </p:cBhvr>
                                      <p:to>
                                        <p:strVal val="visible"/>
                                      </p:to>
                                    </p:set>
                                    <p:animEffect transition="in" filter="fade">
                                      <p:cBhvr>
                                        <p:cTn id="66" dur="500"/>
                                        <p:tgtEl>
                                          <p:spTgt spid="61254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612543"/>
                                        </p:tgtEl>
                                        <p:attrNameLst>
                                          <p:attrName>style.visibility</p:attrName>
                                        </p:attrNameLst>
                                      </p:cBhvr>
                                      <p:to>
                                        <p:strVal val="visible"/>
                                      </p:to>
                                    </p:set>
                                    <p:animEffect transition="in" filter="fade">
                                      <p:cBhvr>
                                        <p:cTn id="69" dur="500"/>
                                        <p:tgtEl>
                                          <p:spTgt spid="61254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612565"/>
                                        </p:tgtEl>
                                        <p:attrNameLst>
                                          <p:attrName>style.visibility</p:attrName>
                                        </p:attrNameLst>
                                      </p:cBhvr>
                                      <p:to>
                                        <p:strVal val="visible"/>
                                      </p:to>
                                    </p:set>
                                    <p:animEffect transition="in" filter="fade">
                                      <p:cBhvr>
                                        <p:cTn id="72" dur="500"/>
                                        <p:tgtEl>
                                          <p:spTgt spid="61256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612562"/>
                                        </p:tgtEl>
                                        <p:attrNameLst>
                                          <p:attrName>style.visibility</p:attrName>
                                        </p:attrNameLst>
                                      </p:cBhvr>
                                      <p:to>
                                        <p:strVal val="visible"/>
                                      </p:to>
                                    </p:set>
                                    <p:animEffect transition="in" filter="fade">
                                      <p:cBhvr>
                                        <p:cTn id="75" dur="500"/>
                                        <p:tgtEl>
                                          <p:spTgt spid="61256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612561"/>
                                        </p:tgtEl>
                                        <p:attrNameLst>
                                          <p:attrName>style.visibility</p:attrName>
                                        </p:attrNameLst>
                                      </p:cBhvr>
                                      <p:to>
                                        <p:strVal val="visible"/>
                                      </p:to>
                                    </p:set>
                                    <p:animEffect transition="in" filter="fade">
                                      <p:cBhvr>
                                        <p:cTn id="78" dur="500"/>
                                        <p:tgtEl>
                                          <p:spTgt spid="612561"/>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612560"/>
                                        </p:tgtEl>
                                        <p:attrNameLst>
                                          <p:attrName>style.visibility</p:attrName>
                                        </p:attrNameLst>
                                      </p:cBhvr>
                                      <p:to>
                                        <p:strVal val="visible"/>
                                      </p:to>
                                    </p:set>
                                    <p:animEffect transition="in" filter="fade">
                                      <p:cBhvr>
                                        <p:cTn id="81" dur="500"/>
                                        <p:tgtEl>
                                          <p:spTgt spid="61256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612564"/>
                                        </p:tgtEl>
                                        <p:attrNameLst>
                                          <p:attrName>style.visibility</p:attrName>
                                        </p:attrNameLst>
                                      </p:cBhvr>
                                      <p:to>
                                        <p:strVal val="visible"/>
                                      </p:to>
                                    </p:set>
                                    <p:animEffect transition="in" filter="fade">
                                      <p:cBhvr>
                                        <p:cTn id="84" dur="500"/>
                                        <p:tgtEl>
                                          <p:spTgt spid="61256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
                                        </p:tgtEl>
                                        <p:attrNameLst>
                                          <p:attrName>style.visibility</p:attrName>
                                        </p:attrNameLst>
                                      </p:cBhvr>
                                      <p:to>
                                        <p:strVal val="visible"/>
                                      </p:to>
                                    </p:set>
                                    <p:animEffect transition="in" filter="fade">
                                      <p:cBhvr>
                                        <p:cTn id="87" dur="500"/>
                                        <p:tgtEl>
                                          <p:spTgt spid="3"/>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612553"/>
                                        </p:tgtEl>
                                        <p:attrNameLst>
                                          <p:attrName>style.visibility</p:attrName>
                                        </p:attrNameLst>
                                      </p:cBhvr>
                                      <p:to>
                                        <p:strVal val="visible"/>
                                      </p:to>
                                    </p:set>
                                    <p:animEffect transition="in" filter="fade">
                                      <p:cBhvr>
                                        <p:cTn id="92" dur="500"/>
                                        <p:tgtEl>
                                          <p:spTgt spid="612553"/>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612556"/>
                                        </p:tgtEl>
                                        <p:attrNameLst>
                                          <p:attrName>style.visibility</p:attrName>
                                        </p:attrNameLst>
                                      </p:cBhvr>
                                      <p:to>
                                        <p:strVal val="visible"/>
                                      </p:to>
                                    </p:set>
                                    <p:animEffect transition="in" filter="fade">
                                      <p:cBhvr>
                                        <p:cTn id="95" dur="500"/>
                                        <p:tgtEl>
                                          <p:spTgt spid="612556"/>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612541"/>
                                        </p:tgtEl>
                                        <p:attrNameLst>
                                          <p:attrName>style.visibility</p:attrName>
                                        </p:attrNameLst>
                                      </p:cBhvr>
                                      <p:to>
                                        <p:strVal val="visible"/>
                                      </p:to>
                                    </p:set>
                                    <p:animEffect transition="in" filter="fade">
                                      <p:cBhvr>
                                        <p:cTn id="98" dur="500"/>
                                        <p:tgtEl>
                                          <p:spTgt spid="612541"/>
                                        </p:tgtEl>
                                      </p:cBhvr>
                                    </p:animEffect>
                                  </p:childTnLst>
                                </p:cTn>
                              </p:par>
                              <p:par>
                                <p:cTn id="99" presetID="10" presetClass="entr" presetSubtype="0" fill="hold" nodeType="withEffect">
                                  <p:stCondLst>
                                    <p:cond delay="0"/>
                                  </p:stCondLst>
                                  <p:childTnLst>
                                    <p:set>
                                      <p:cBhvr>
                                        <p:cTn id="100" dur="1" fill="hold">
                                          <p:stCondLst>
                                            <p:cond delay="0"/>
                                          </p:stCondLst>
                                        </p:cTn>
                                        <p:tgtEl>
                                          <p:spTgt spid="2"/>
                                        </p:tgtEl>
                                        <p:attrNameLst>
                                          <p:attrName>style.visibility</p:attrName>
                                        </p:attrNameLst>
                                      </p:cBhvr>
                                      <p:to>
                                        <p:strVal val="visible"/>
                                      </p:to>
                                    </p:set>
                                    <p:animEffect transition="in" filter="fade">
                                      <p:cBhvr>
                                        <p:cTn id="101" dur="500"/>
                                        <p:tgtEl>
                                          <p:spTgt spid="2"/>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612571"/>
                                        </p:tgtEl>
                                        <p:attrNameLst>
                                          <p:attrName>style.visibility</p:attrName>
                                        </p:attrNameLst>
                                      </p:cBhvr>
                                      <p:to>
                                        <p:strVal val="visible"/>
                                      </p:to>
                                    </p:set>
                                    <p:animEffect transition="in" filter="fade">
                                      <p:cBhvr>
                                        <p:cTn id="104" dur="500"/>
                                        <p:tgtEl>
                                          <p:spTgt spid="612571"/>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612559"/>
                                        </p:tgtEl>
                                        <p:attrNameLst>
                                          <p:attrName>style.visibility</p:attrName>
                                        </p:attrNameLst>
                                      </p:cBhvr>
                                      <p:to>
                                        <p:strVal val="visible"/>
                                      </p:to>
                                    </p:set>
                                    <p:animEffect transition="in" filter="fade">
                                      <p:cBhvr>
                                        <p:cTn id="107" dur="500"/>
                                        <p:tgtEl>
                                          <p:spTgt spid="612559"/>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612552"/>
                                        </p:tgtEl>
                                        <p:attrNameLst>
                                          <p:attrName>style.visibility</p:attrName>
                                        </p:attrNameLst>
                                      </p:cBhvr>
                                      <p:to>
                                        <p:strVal val="visible"/>
                                      </p:to>
                                    </p:set>
                                    <p:animEffect transition="in" filter="fade">
                                      <p:cBhvr>
                                        <p:cTn id="110" dur="500"/>
                                        <p:tgtEl>
                                          <p:spTgt spid="612552"/>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612540"/>
                                        </p:tgtEl>
                                        <p:attrNameLst>
                                          <p:attrName>style.visibility</p:attrName>
                                        </p:attrNameLst>
                                      </p:cBhvr>
                                      <p:to>
                                        <p:strVal val="visible"/>
                                      </p:to>
                                    </p:set>
                                    <p:animEffect transition="in" filter="fade">
                                      <p:cBhvr>
                                        <p:cTn id="113" dur="500"/>
                                        <p:tgtEl>
                                          <p:spTgt spid="612540"/>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10" presetClass="entr" presetSubtype="0" fill="hold" grpId="0" nodeType="clickEffect">
                                  <p:stCondLst>
                                    <p:cond delay="0"/>
                                  </p:stCondLst>
                                  <p:childTnLst>
                                    <p:set>
                                      <p:cBhvr>
                                        <p:cTn id="117" dur="1" fill="hold">
                                          <p:stCondLst>
                                            <p:cond delay="0"/>
                                          </p:stCondLst>
                                        </p:cTn>
                                        <p:tgtEl>
                                          <p:spTgt spid="612567"/>
                                        </p:tgtEl>
                                        <p:attrNameLst>
                                          <p:attrName>style.visibility</p:attrName>
                                        </p:attrNameLst>
                                      </p:cBhvr>
                                      <p:to>
                                        <p:strVal val="visible"/>
                                      </p:to>
                                    </p:set>
                                    <p:animEffect transition="in" filter="fade">
                                      <p:cBhvr>
                                        <p:cTn id="118" dur="500"/>
                                        <p:tgtEl>
                                          <p:spTgt spid="612567"/>
                                        </p:tgtEl>
                                      </p:cBhvr>
                                    </p:animEffect>
                                  </p:childTnLst>
                                </p:cTn>
                              </p:par>
                              <p:par>
                                <p:cTn id="119" presetID="10" presetClass="entr" presetSubtype="0" fill="hold" nodeType="withEffect">
                                  <p:stCondLst>
                                    <p:cond delay="0"/>
                                  </p:stCondLst>
                                  <p:childTnLst>
                                    <p:set>
                                      <p:cBhvr>
                                        <p:cTn id="120" dur="1" fill="hold">
                                          <p:stCondLst>
                                            <p:cond delay="0"/>
                                          </p:stCondLst>
                                        </p:cTn>
                                        <p:tgtEl>
                                          <p:spTgt spid="612575"/>
                                        </p:tgtEl>
                                        <p:attrNameLst>
                                          <p:attrName>style.visibility</p:attrName>
                                        </p:attrNameLst>
                                      </p:cBhvr>
                                      <p:to>
                                        <p:strVal val="visible"/>
                                      </p:to>
                                    </p:set>
                                    <p:animEffect transition="in" filter="fade">
                                      <p:cBhvr>
                                        <p:cTn id="121" dur="500"/>
                                        <p:tgtEl>
                                          <p:spTgt spid="612575"/>
                                        </p:tgtEl>
                                      </p:cBhvr>
                                    </p:animEffect>
                                  </p:childTnLst>
                                </p:cTn>
                              </p:par>
                              <p:par>
                                <p:cTn id="122" presetID="10" presetClass="entr" presetSubtype="0" fill="hold" nodeType="withEffect">
                                  <p:stCondLst>
                                    <p:cond delay="0"/>
                                  </p:stCondLst>
                                  <p:childTnLst>
                                    <p:set>
                                      <p:cBhvr>
                                        <p:cTn id="123" dur="1" fill="hold">
                                          <p:stCondLst>
                                            <p:cond delay="0"/>
                                          </p:stCondLst>
                                        </p:cTn>
                                        <p:tgtEl>
                                          <p:spTgt spid="612531"/>
                                        </p:tgtEl>
                                        <p:attrNameLst>
                                          <p:attrName>style.visibility</p:attrName>
                                        </p:attrNameLst>
                                      </p:cBhvr>
                                      <p:to>
                                        <p:strVal val="visible"/>
                                      </p:to>
                                    </p:set>
                                    <p:animEffect transition="in" filter="fade">
                                      <p:cBhvr>
                                        <p:cTn id="124" dur="500"/>
                                        <p:tgtEl>
                                          <p:spTgt spid="612531"/>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612537"/>
                                        </p:tgtEl>
                                        <p:attrNameLst>
                                          <p:attrName>style.visibility</p:attrName>
                                        </p:attrNameLst>
                                      </p:cBhvr>
                                      <p:to>
                                        <p:strVal val="visible"/>
                                      </p:to>
                                    </p:set>
                                    <p:animEffect transition="in" filter="fade">
                                      <p:cBhvr>
                                        <p:cTn id="127" dur="500"/>
                                        <p:tgtEl>
                                          <p:spTgt spid="612537"/>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612568"/>
                                        </p:tgtEl>
                                        <p:attrNameLst>
                                          <p:attrName>style.visibility</p:attrName>
                                        </p:attrNameLst>
                                      </p:cBhvr>
                                      <p:to>
                                        <p:strVal val="visible"/>
                                      </p:to>
                                    </p:set>
                                    <p:animEffect transition="in" filter="fade">
                                      <p:cBhvr>
                                        <p:cTn id="130" dur="500"/>
                                        <p:tgtEl>
                                          <p:spTgt spid="612568"/>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612569"/>
                                        </p:tgtEl>
                                        <p:attrNameLst>
                                          <p:attrName>style.visibility</p:attrName>
                                        </p:attrNameLst>
                                      </p:cBhvr>
                                      <p:to>
                                        <p:strVal val="visible"/>
                                      </p:to>
                                    </p:set>
                                    <p:animEffect transition="in" filter="fade">
                                      <p:cBhvr>
                                        <p:cTn id="133" dur="500"/>
                                        <p:tgtEl>
                                          <p:spTgt spid="612569"/>
                                        </p:tgtEl>
                                      </p:cBhvr>
                                    </p:animEffect>
                                  </p:childTnLst>
                                </p:cTn>
                              </p:par>
                              <p:par>
                                <p:cTn id="134" presetID="10" presetClass="entr" presetSubtype="0" fill="hold" nodeType="withEffect">
                                  <p:stCondLst>
                                    <p:cond delay="0"/>
                                  </p:stCondLst>
                                  <p:childTnLst>
                                    <p:set>
                                      <p:cBhvr>
                                        <p:cTn id="135" dur="1" fill="hold">
                                          <p:stCondLst>
                                            <p:cond delay="0"/>
                                          </p:stCondLst>
                                        </p:cTn>
                                        <p:tgtEl>
                                          <p:spTgt spid="612536"/>
                                        </p:tgtEl>
                                        <p:attrNameLst>
                                          <p:attrName>style.visibility</p:attrName>
                                        </p:attrNameLst>
                                      </p:cBhvr>
                                      <p:to>
                                        <p:strVal val="visible"/>
                                      </p:to>
                                    </p:set>
                                    <p:animEffect transition="in" filter="fade">
                                      <p:cBhvr>
                                        <p:cTn id="136" dur="500"/>
                                        <p:tgtEl>
                                          <p:spTgt spid="612536"/>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612551"/>
                                        </p:tgtEl>
                                        <p:attrNameLst>
                                          <p:attrName>style.visibility</p:attrName>
                                        </p:attrNameLst>
                                      </p:cBhvr>
                                      <p:to>
                                        <p:strVal val="visible"/>
                                      </p:to>
                                    </p:set>
                                    <p:animEffect transition="in" filter="fade">
                                      <p:cBhvr>
                                        <p:cTn id="139" dur="500"/>
                                        <p:tgtEl>
                                          <p:spTgt spid="612551"/>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612550"/>
                                        </p:tgtEl>
                                        <p:attrNameLst>
                                          <p:attrName>style.visibility</p:attrName>
                                        </p:attrNameLst>
                                      </p:cBhvr>
                                      <p:to>
                                        <p:strVal val="visible"/>
                                      </p:to>
                                    </p:set>
                                    <p:animEffect transition="in" filter="fade">
                                      <p:cBhvr>
                                        <p:cTn id="142" dur="500"/>
                                        <p:tgtEl>
                                          <p:spTgt spid="612550"/>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612533"/>
                                        </p:tgtEl>
                                        <p:attrNameLst>
                                          <p:attrName>style.visibility</p:attrName>
                                        </p:attrNameLst>
                                      </p:cBhvr>
                                      <p:to>
                                        <p:strVal val="visible"/>
                                      </p:to>
                                    </p:set>
                                    <p:animEffect transition="in" filter="fade">
                                      <p:cBhvr>
                                        <p:cTn id="145" dur="500"/>
                                        <p:tgtEl>
                                          <p:spTgt spid="612533"/>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612532"/>
                                        </p:tgtEl>
                                        <p:attrNameLst>
                                          <p:attrName>style.visibility</p:attrName>
                                        </p:attrNameLst>
                                      </p:cBhvr>
                                      <p:to>
                                        <p:strVal val="visible"/>
                                      </p:to>
                                    </p:set>
                                    <p:animEffect transition="in" filter="fade">
                                      <p:cBhvr>
                                        <p:cTn id="148" dur="500"/>
                                        <p:tgtEl>
                                          <p:spTgt spid="612532"/>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612566"/>
                                        </p:tgtEl>
                                        <p:attrNameLst>
                                          <p:attrName>style.visibility</p:attrName>
                                        </p:attrNameLst>
                                      </p:cBhvr>
                                      <p:to>
                                        <p:strVal val="visible"/>
                                      </p:to>
                                    </p:set>
                                    <p:animEffect transition="in" filter="fade">
                                      <p:cBhvr>
                                        <p:cTn id="151" dur="500"/>
                                        <p:tgtEl>
                                          <p:spTgt spid="612566"/>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612570"/>
                                        </p:tgtEl>
                                        <p:attrNameLst>
                                          <p:attrName>style.visibility</p:attrName>
                                        </p:attrNameLst>
                                      </p:cBhvr>
                                      <p:to>
                                        <p:strVal val="visible"/>
                                      </p:to>
                                    </p:set>
                                    <p:animEffect transition="in" filter="fade">
                                      <p:cBhvr>
                                        <p:cTn id="154" dur="500"/>
                                        <p:tgtEl>
                                          <p:spTgt spid="612570"/>
                                        </p:tgtEl>
                                      </p:cBhvr>
                                    </p:animEffect>
                                  </p:childTnLst>
                                </p:cTn>
                              </p:par>
                            </p:childTnLst>
                          </p:cTn>
                        </p:par>
                      </p:childTnLst>
                    </p:cTn>
                  </p:par>
                  <p:par>
                    <p:cTn id="155" fill="hold">
                      <p:stCondLst>
                        <p:cond delay="indefinite"/>
                      </p:stCondLst>
                      <p:childTnLst>
                        <p:par>
                          <p:cTn id="156" fill="hold">
                            <p:stCondLst>
                              <p:cond delay="0"/>
                            </p:stCondLst>
                            <p:childTnLst>
                              <p:par>
                                <p:cTn id="157" presetID="10" presetClass="entr" presetSubtype="0" fill="hold" grpId="0" nodeType="clickEffect">
                                  <p:stCondLst>
                                    <p:cond delay="0"/>
                                  </p:stCondLst>
                                  <p:childTnLst>
                                    <p:set>
                                      <p:cBhvr>
                                        <p:cTn id="158" dur="1" fill="hold">
                                          <p:stCondLst>
                                            <p:cond delay="0"/>
                                          </p:stCondLst>
                                        </p:cTn>
                                        <p:tgtEl>
                                          <p:spTgt spid="612479"/>
                                        </p:tgtEl>
                                        <p:attrNameLst>
                                          <p:attrName>style.visibility</p:attrName>
                                        </p:attrNameLst>
                                      </p:cBhvr>
                                      <p:to>
                                        <p:strVal val="visible"/>
                                      </p:to>
                                    </p:set>
                                    <p:animEffect transition="in" filter="fade">
                                      <p:cBhvr>
                                        <p:cTn id="159" dur="500"/>
                                        <p:tgtEl>
                                          <p:spTgt spid="612479"/>
                                        </p:tgtEl>
                                      </p:cBhvr>
                                    </p:animEffect>
                                  </p:childTnLst>
                                </p:cTn>
                              </p:par>
                            </p:childTnLst>
                          </p:cTn>
                        </p:par>
                        <p:par>
                          <p:cTn id="160" fill="hold">
                            <p:stCondLst>
                              <p:cond delay="500"/>
                            </p:stCondLst>
                            <p:childTnLst>
                              <p:par>
                                <p:cTn id="161" presetID="10" presetClass="entr" presetSubtype="0" fill="hold" grpId="0" nodeType="afterEffect">
                                  <p:stCondLst>
                                    <p:cond delay="0"/>
                                  </p:stCondLst>
                                  <p:childTnLst>
                                    <p:set>
                                      <p:cBhvr>
                                        <p:cTn id="162" dur="1" fill="hold">
                                          <p:stCondLst>
                                            <p:cond delay="0"/>
                                          </p:stCondLst>
                                        </p:cTn>
                                        <p:tgtEl>
                                          <p:spTgt spid="612563"/>
                                        </p:tgtEl>
                                        <p:attrNameLst>
                                          <p:attrName>style.visibility</p:attrName>
                                        </p:attrNameLst>
                                      </p:cBhvr>
                                      <p:to>
                                        <p:strVal val="visible"/>
                                      </p:to>
                                    </p:set>
                                    <p:animEffect transition="in" filter="fade">
                                      <p:cBhvr>
                                        <p:cTn id="163" dur="500"/>
                                        <p:tgtEl>
                                          <p:spTgt spid="6125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2388" grpId="0"/>
      <p:bldP spid="612479" grpId="0"/>
      <p:bldP spid="548931" grpId="0"/>
      <p:bldP spid="612532" grpId="0"/>
      <p:bldP spid="612533" grpId="0"/>
      <p:bldP spid="612534" grpId="0"/>
      <p:bldP spid="612535" grpId="0"/>
      <p:bldP spid="612537" grpId="0"/>
      <p:bldP spid="612538" grpId="0"/>
      <p:bldP spid="612539" grpId="0"/>
      <p:bldP spid="612540" grpId="0"/>
      <p:bldP spid="612541" grpId="0"/>
      <p:bldP spid="612542" grpId="0"/>
      <p:bldP spid="612543" grpId="0"/>
      <p:bldP spid="612544" grpId="0"/>
      <p:bldP spid="612545" grpId="0"/>
      <p:bldP spid="612546" grpId="0"/>
      <p:bldP spid="612547" grpId="0"/>
      <p:bldP spid="612548" grpId="0"/>
      <p:bldP spid="612549" grpId="0"/>
      <p:bldP spid="612550" grpId="0"/>
      <p:bldP spid="612551" grpId="0"/>
      <p:bldP spid="612552" grpId="0" animBg="1"/>
      <p:bldP spid="612553" grpId="0" animBg="1"/>
      <p:bldP spid="612554" grpId="0" animBg="1"/>
      <p:bldP spid="612555" grpId="0" animBg="1"/>
      <p:bldP spid="612556" grpId="0" animBg="1"/>
      <p:bldP spid="612557" grpId="0" animBg="1"/>
      <p:bldP spid="612558" grpId="0" animBg="1"/>
      <p:bldP spid="612559" grpId="0" animBg="1"/>
      <p:bldP spid="612560" grpId="0" animBg="1"/>
      <p:bldP spid="612561" grpId="0" animBg="1"/>
      <p:bldP spid="612562" grpId="0" animBg="1"/>
      <p:bldP spid="612563" grpId="0"/>
      <p:bldP spid="612564" grpId="0" animBg="1"/>
      <p:bldP spid="612565" grpId="0" animBg="1"/>
      <p:bldP spid="612566" grpId="0" animBg="1"/>
      <p:bldP spid="612567" grpId="0" animBg="1"/>
      <p:bldP spid="612568" grpId="0" animBg="1"/>
      <p:bldP spid="612569" grpId="0" animBg="1"/>
      <p:bldP spid="612570" grpId="0" animBg="1"/>
      <p:bldP spid="612571" grpId="0" animBg="1"/>
      <p:bldP spid="548930" grpId="0"/>
      <p:bldP spid="3" grpId="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02" name="Rectangle 2"/>
          <p:cNvSpPr>
            <a:spLocks noGrp="1" noRot="1" noChangeArrowheads="1"/>
          </p:cNvSpPr>
          <p:nvPr>
            <p:ph type="title"/>
          </p:nvPr>
        </p:nvSpPr>
        <p:spPr>
          <a:xfrm>
            <a:off x="0" y="0"/>
            <a:ext cx="9144000" cy="990600"/>
          </a:xfrm>
        </p:spPr>
        <p:txBody>
          <a:bodyPr>
            <a:noAutofit/>
          </a:bodyPr>
          <a:lstStyle/>
          <a:p>
            <a:r>
              <a:rPr lang="en-US" sz="3600" dirty="0"/>
              <a:t>SIMULTANEOUS SHIFTS OF SUPPLY AND DEMAND</a:t>
            </a:r>
          </a:p>
        </p:txBody>
      </p:sp>
      <p:sp>
        <p:nvSpPr>
          <p:cNvPr id="614515" name="Text Box 115"/>
          <p:cNvSpPr txBox="1">
            <a:spLocks noChangeArrowheads="1"/>
          </p:cNvSpPr>
          <p:nvPr/>
        </p:nvSpPr>
        <p:spPr bwMode="auto">
          <a:xfrm>
            <a:off x="6477000" y="2362200"/>
            <a:ext cx="2667000" cy="923330"/>
          </a:xfrm>
          <a:prstGeom prst="rect">
            <a:avLst/>
          </a:prstGeom>
          <a:noFill/>
          <a:ln>
            <a:noFill/>
          </a:ln>
          <a:effectLst/>
        </p:spPr>
        <p:txBody>
          <a:bodyPr>
            <a:spAutoFit/>
          </a:bodyPr>
          <a:lstStyle>
            <a:lvl1pPr marL="1588" indent="-1588">
              <a:spcBef>
                <a:spcPct val="0"/>
              </a:spcBef>
              <a:defRPr>
                <a:solidFill>
                  <a:schemeClr val="tx1"/>
                </a:solidFill>
                <a:latin typeface="Arial" pitchFamily="34" charset="0"/>
              </a:defRPr>
            </a:lvl1pPr>
            <a:lvl2pPr>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fontAlgn="base">
              <a:spcBef>
                <a:spcPct val="0"/>
              </a:spcBef>
              <a:spcAft>
                <a:spcPct val="0"/>
              </a:spcAft>
              <a:defRPr>
                <a:solidFill>
                  <a:schemeClr val="tx1"/>
                </a:solidFill>
                <a:latin typeface="Arial" pitchFamily="34" charset="0"/>
              </a:defRPr>
            </a:lvl6pPr>
            <a:lvl7pPr fontAlgn="base">
              <a:spcBef>
                <a:spcPct val="0"/>
              </a:spcBef>
              <a:spcAft>
                <a:spcPct val="0"/>
              </a:spcAft>
              <a:defRPr>
                <a:solidFill>
                  <a:schemeClr val="tx1"/>
                </a:solidFill>
                <a:latin typeface="Arial" pitchFamily="34" charset="0"/>
              </a:defRPr>
            </a:lvl7pPr>
            <a:lvl8pPr fontAlgn="base">
              <a:spcBef>
                <a:spcPct val="0"/>
              </a:spcBef>
              <a:spcAft>
                <a:spcPct val="0"/>
              </a:spcAft>
              <a:defRPr>
                <a:solidFill>
                  <a:schemeClr val="tx1"/>
                </a:solidFill>
                <a:latin typeface="Arial" pitchFamily="34" charset="0"/>
              </a:defRPr>
            </a:lvl8pPr>
            <a:lvl9pPr fontAlgn="base">
              <a:spcBef>
                <a:spcPct val="0"/>
              </a:spcBef>
              <a:spcAft>
                <a:spcPct val="0"/>
              </a:spcAft>
              <a:defRPr>
                <a:solidFill>
                  <a:schemeClr val="tx1"/>
                </a:solidFill>
                <a:latin typeface="Arial" pitchFamily="34" charset="0"/>
              </a:defRPr>
            </a:lvl9pPr>
          </a:lstStyle>
          <a:p>
            <a:pPr>
              <a:lnSpc>
                <a:spcPct val="100000"/>
              </a:lnSpc>
              <a:spcBef>
                <a:spcPct val="20000"/>
              </a:spcBef>
            </a:pPr>
            <a:r>
              <a:rPr lang="en-US" dirty="0">
                <a:latin typeface="Century Gothic"/>
                <a:cs typeface="Century Gothic"/>
              </a:rPr>
              <a:t>Two opposing forces determining the equilibrium quantity:</a:t>
            </a:r>
          </a:p>
        </p:txBody>
      </p:sp>
      <p:sp>
        <p:nvSpPr>
          <p:cNvPr id="614565" name="AutoShape 165"/>
          <p:cNvSpPr>
            <a:spLocks noChangeAspect="1" noChangeArrowheads="1" noTextEdit="1"/>
          </p:cNvSpPr>
          <p:nvPr/>
        </p:nvSpPr>
        <p:spPr bwMode="auto">
          <a:xfrm>
            <a:off x="6324600" y="7239000"/>
            <a:ext cx="1495425"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Century Gothic"/>
              <a:cs typeface="Century Gothic"/>
            </a:endParaRPr>
          </a:p>
        </p:txBody>
      </p:sp>
      <p:cxnSp>
        <p:nvCxnSpPr>
          <p:cNvPr id="614566" name="Straight Connector 86"/>
          <p:cNvCxnSpPr>
            <a:cxnSpLocks noChangeShapeType="1"/>
          </p:cNvCxnSpPr>
          <p:nvPr/>
        </p:nvCxnSpPr>
        <p:spPr bwMode="auto">
          <a:xfrm>
            <a:off x="3894138" y="3275013"/>
            <a:ext cx="0" cy="2655887"/>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614567" name="Straight Connector 86"/>
          <p:cNvCxnSpPr>
            <a:cxnSpLocks noChangeShapeType="1"/>
          </p:cNvCxnSpPr>
          <p:nvPr/>
        </p:nvCxnSpPr>
        <p:spPr bwMode="auto">
          <a:xfrm>
            <a:off x="1895475" y="3265488"/>
            <a:ext cx="1998663" cy="9525"/>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614568" name="Straight Connector 86"/>
          <p:cNvCxnSpPr>
            <a:cxnSpLocks noChangeShapeType="1"/>
          </p:cNvCxnSpPr>
          <p:nvPr/>
        </p:nvCxnSpPr>
        <p:spPr bwMode="auto">
          <a:xfrm>
            <a:off x="4292600" y="4291013"/>
            <a:ext cx="0" cy="1639887"/>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614569" name="Straight Connector 86"/>
          <p:cNvCxnSpPr>
            <a:cxnSpLocks noChangeShapeType="1"/>
          </p:cNvCxnSpPr>
          <p:nvPr/>
        </p:nvCxnSpPr>
        <p:spPr bwMode="auto">
          <a:xfrm>
            <a:off x="1974850" y="4291013"/>
            <a:ext cx="2317750" cy="11112"/>
          </a:xfrm>
          <a:prstGeom prst="line">
            <a:avLst/>
          </a:prstGeom>
          <a:noFill/>
          <a:ln w="22225">
            <a:solidFill>
              <a:srgbClr val="9C9C9C"/>
            </a:solidFill>
            <a:prstDash val="sysDot"/>
            <a:round/>
            <a:headEnd/>
            <a:tailEnd type="none" w="med" len="lg"/>
          </a:ln>
          <a:extLst>
            <a:ext uri="{909E8E84-426E-40DD-AFC4-6F175D3DCCD1}">
              <a14:hiddenFill xmlns:a14="http://schemas.microsoft.com/office/drawing/2010/main">
                <a:noFill/>
              </a14:hiddenFill>
            </a:ext>
          </a:extLst>
        </p:spPr>
      </p:cxnSp>
      <p:sp>
        <p:nvSpPr>
          <p:cNvPr id="614570" name="Rectangle 170"/>
          <p:cNvSpPr>
            <a:spLocks noChangeArrowheads="1"/>
          </p:cNvSpPr>
          <p:nvPr/>
        </p:nvSpPr>
        <p:spPr bwMode="auto">
          <a:xfrm>
            <a:off x="4267200" y="6096000"/>
            <a:ext cx="185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a:solidFill>
                  <a:srgbClr val="000000"/>
                </a:solidFill>
                <a:latin typeface="Century Gothic"/>
                <a:cs typeface="Century Gothic"/>
              </a:rPr>
              <a:t>Q</a:t>
            </a:r>
            <a:endParaRPr lang="en-US" sz="1400" i="1">
              <a:latin typeface="Century Gothic"/>
              <a:cs typeface="Century Gothic"/>
            </a:endParaRPr>
          </a:p>
        </p:txBody>
      </p:sp>
      <p:sp>
        <p:nvSpPr>
          <p:cNvPr id="614571" name="Rectangle 171"/>
          <p:cNvSpPr>
            <a:spLocks noChangeArrowheads="1"/>
          </p:cNvSpPr>
          <p:nvPr/>
        </p:nvSpPr>
        <p:spPr bwMode="auto">
          <a:xfrm>
            <a:off x="4419600" y="6248400"/>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a:t>
            </a:r>
            <a:endParaRPr lang="en-US" sz="1400">
              <a:latin typeface="Century Gothic"/>
              <a:cs typeface="Century Gothic"/>
            </a:endParaRPr>
          </a:p>
        </p:txBody>
      </p:sp>
      <p:sp>
        <p:nvSpPr>
          <p:cNvPr id="614572" name="Rectangle 172"/>
          <p:cNvSpPr>
            <a:spLocks noChangeArrowheads="1"/>
          </p:cNvSpPr>
          <p:nvPr/>
        </p:nvSpPr>
        <p:spPr bwMode="auto">
          <a:xfrm>
            <a:off x="3810000" y="6096000"/>
            <a:ext cx="185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a:solidFill>
                  <a:srgbClr val="000000"/>
                </a:solidFill>
                <a:latin typeface="Century Gothic"/>
                <a:cs typeface="Century Gothic"/>
              </a:rPr>
              <a:t>Q</a:t>
            </a:r>
            <a:endParaRPr lang="en-US" sz="1400" i="1">
              <a:latin typeface="Century Gothic"/>
              <a:cs typeface="Century Gothic"/>
            </a:endParaRPr>
          </a:p>
        </p:txBody>
      </p:sp>
      <p:sp>
        <p:nvSpPr>
          <p:cNvPr id="614573" name="Rectangle 173"/>
          <p:cNvSpPr>
            <a:spLocks noChangeArrowheads="1"/>
          </p:cNvSpPr>
          <p:nvPr/>
        </p:nvSpPr>
        <p:spPr bwMode="auto">
          <a:xfrm>
            <a:off x="3886200" y="6248400"/>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2</a:t>
            </a:r>
            <a:endParaRPr lang="en-US" sz="1400">
              <a:latin typeface="Century Gothic"/>
              <a:cs typeface="Century Gothic"/>
            </a:endParaRPr>
          </a:p>
        </p:txBody>
      </p:sp>
      <p:sp>
        <p:nvSpPr>
          <p:cNvPr id="614574" name="Rectangle 174"/>
          <p:cNvSpPr>
            <a:spLocks noChangeArrowheads="1"/>
          </p:cNvSpPr>
          <p:nvPr/>
        </p:nvSpPr>
        <p:spPr bwMode="auto">
          <a:xfrm>
            <a:off x="1503363" y="3108325"/>
            <a:ext cx="13535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a:solidFill>
                  <a:srgbClr val="000000"/>
                </a:solidFill>
                <a:latin typeface="Century Gothic"/>
                <a:cs typeface="Century Gothic"/>
              </a:rPr>
              <a:t>P</a:t>
            </a:r>
            <a:endParaRPr lang="en-US" sz="1400" i="1">
              <a:latin typeface="Century Gothic"/>
              <a:cs typeface="Century Gothic"/>
            </a:endParaRPr>
          </a:p>
        </p:txBody>
      </p:sp>
      <p:sp>
        <p:nvSpPr>
          <p:cNvPr id="614575" name="Rectangle 175"/>
          <p:cNvSpPr>
            <a:spLocks noChangeArrowheads="1"/>
          </p:cNvSpPr>
          <p:nvPr/>
        </p:nvSpPr>
        <p:spPr bwMode="auto">
          <a:xfrm>
            <a:off x="1639888" y="3228975"/>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2</a:t>
            </a:r>
            <a:endParaRPr lang="en-US" sz="1400">
              <a:latin typeface="Century Gothic"/>
              <a:cs typeface="Century Gothic"/>
            </a:endParaRPr>
          </a:p>
        </p:txBody>
      </p:sp>
      <p:sp>
        <p:nvSpPr>
          <p:cNvPr id="614576" name="Rectangle 176"/>
          <p:cNvSpPr>
            <a:spLocks noChangeArrowheads="1"/>
          </p:cNvSpPr>
          <p:nvPr/>
        </p:nvSpPr>
        <p:spPr bwMode="auto">
          <a:xfrm>
            <a:off x="1503363" y="4149725"/>
            <a:ext cx="13535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a:solidFill>
                  <a:srgbClr val="000000"/>
                </a:solidFill>
                <a:latin typeface="Century Gothic"/>
                <a:cs typeface="Century Gothic"/>
              </a:rPr>
              <a:t>P</a:t>
            </a:r>
            <a:endParaRPr lang="en-US" sz="1400" i="1">
              <a:latin typeface="Century Gothic"/>
              <a:cs typeface="Century Gothic"/>
            </a:endParaRPr>
          </a:p>
        </p:txBody>
      </p:sp>
      <p:sp>
        <p:nvSpPr>
          <p:cNvPr id="614577" name="Rectangle 177"/>
          <p:cNvSpPr>
            <a:spLocks noChangeArrowheads="1"/>
          </p:cNvSpPr>
          <p:nvPr/>
        </p:nvSpPr>
        <p:spPr bwMode="auto">
          <a:xfrm>
            <a:off x="1639888" y="4268788"/>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a:t>
            </a:r>
            <a:endParaRPr lang="en-US" sz="1400">
              <a:latin typeface="Century Gothic"/>
              <a:cs typeface="Century Gothic"/>
            </a:endParaRPr>
          </a:p>
        </p:txBody>
      </p:sp>
      <p:sp>
        <p:nvSpPr>
          <p:cNvPr id="614578" name="Rectangle 178"/>
          <p:cNvSpPr>
            <a:spLocks noChangeArrowheads="1"/>
          </p:cNvSpPr>
          <p:nvPr/>
        </p:nvSpPr>
        <p:spPr bwMode="auto">
          <a:xfrm>
            <a:off x="4976813" y="1778000"/>
            <a:ext cx="12022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a:solidFill>
                  <a:srgbClr val="000000"/>
                </a:solidFill>
                <a:latin typeface="Century Gothic"/>
                <a:cs typeface="Century Gothic"/>
              </a:rPr>
              <a:t>S</a:t>
            </a:r>
            <a:endParaRPr lang="en-US" sz="1400" i="1">
              <a:latin typeface="Century Gothic"/>
              <a:cs typeface="Century Gothic"/>
            </a:endParaRPr>
          </a:p>
        </p:txBody>
      </p:sp>
      <p:sp>
        <p:nvSpPr>
          <p:cNvPr id="614579" name="Rectangle 179"/>
          <p:cNvSpPr>
            <a:spLocks noChangeArrowheads="1"/>
          </p:cNvSpPr>
          <p:nvPr/>
        </p:nvSpPr>
        <p:spPr bwMode="auto">
          <a:xfrm>
            <a:off x="5103813" y="1897063"/>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2</a:t>
            </a:r>
            <a:endParaRPr lang="en-US" sz="1400">
              <a:latin typeface="Century Gothic"/>
              <a:cs typeface="Century Gothic"/>
            </a:endParaRPr>
          </a:p>
        </p:txBody>
      </p:sp>
      <p:sp>
        <p:nvSpPr>
          <p:cNvPr id="614580" name="Rectangle 180"/>
          <p:cNvSpPr>
            <a:spLocks noChangeArrowheads="1"/>
          </p:cNvSpPr>
          <p:nvPr/>
        </p:nvSpPr>
        <p:spPr bwMode="auto">
          <a:xfrm>
            <a:off x="5568950" y="5170488"/>
            <a:ext cx="16270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a:solidFill>
                  <a:srgbClr val="000000"/>
                </a:solidFill>
                <a:latin typeface="Century Gothic"/>
                <a:cs typeface="Century Gothic"/>
              </a:rPr>
              <a:t>D</a:t>
            </a:r>
            <a:endParaRPr lang="en-US" sz="1400" i="1">
              <a:latin typeface="Century Gothic"/>
              <a:cs typeface="Century Gothic"/>
            </a:endParaRPr>
          </a:p>
        </p:txBody>
      </p:sp>
      <p:sp>
        <p:nvSpPr>
          <p:cNvPr id="614581" name="Rectangle 181"/>
          <p:cNvSpPr>
            <a:spLocks noChangeArrowheads="1"/>
          </p:cNvSpPr>
          <p:nvPr/>
        </p:nvSpPr>
        <p:spPr bwMode="auto">
          <a:xfrm>
            <a:off x="5738813" y="5291138"/>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2</a:t>
            </a:r>
            <a:endParaRPr lang="en-US" sz="1400">
              <a:latin typeface="Century Gothic"/>
              <a:cs typeface="Century Gothic"/>
            </a:endParaRPr>
          </a:p>
        </p:txBody>
      </p:sp>
      <p:sp>
        <p:nvSpPr>
          <p:cNvPr id="614582" name="Rectangle 182"/>
          <p:cNvSpPr>
            <a:spLocks noChangeArrowheads="1"/>
          </p:cNvSpPr>
          <p:nvPr/>
        </p:nvSpPr>
        <p:spPr bwMode="auto">
          <a:xfrm>
            <a:off x="5187950" y="5438775"/>
            <a:ext cx="16270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a:solidFill>
                  <a:srgbClr val="000000"/>
                </a:solidFill>
                <a:latin typeface="Century Gothic"/>
                <a:cs typeface="Century Gothic"/>
              </a:rPr>
              <a:t>D</a:t>
            </a:r>
            <a:endParaRPr lang="en-US" sz="1400" i="1">
              <a:latin typeface="Century Gothic"/>
              <a:cs typeface="Century Gothic"/>
            </a:endParaRPr>
          </a:p>
        </p:txBody>
      </p:sp>
      <p:sp>
        <p:nvSpPr>
          <p:cNvPr id="614583" name="Rectangle 183"/>
          <p:cNvSpPr>
            <a:spLocks noChangeArrowheads="1"/>
          </p:cNvSpPr>
          <p:nvPr/>
        </p:nvSpPr>
        <p:spPr bwMode="auto">
          <a:xfrm>
            <a:off x="5359400" y="5557838"/>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a:t>
            </a:r>
            <a:endParaRPr lang="en-US" sz="1400">
              <a:latin typeface="Century Gothic"/>
              <a:cs typeface="Century Gothic"/>
            </a:endParaRPr>
          </a:p>
        </p:txBody>
      </p:sp>
      <p:sp>
        <p:nvSpPr>
          <p:cNvPr id="614584" name="Rectangle 184"/>
          <p:cNvSpPr>
            <a:spLocks noChangeArrowheads="1"/>
          </p:cNvSpPr>
          <p:nvPr/>
        </p:nvSpPr>
        <p:spPr bwMode="auto">
          <a:xfrm>
            <a:off x="5772150" y="2312988"/>
            <a:ext cx="12022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a:solidFill>
                  <a:srgbClr val="000000"/>
                </a:solidFill>
                <a:latin typeface="Century Gothic"/>
                <a:cs typeface="Century Gothic"/>
              </a:rPr>
              <a:t>S</a:t>
            </a:r>
            <a:endParaRPr lang="en-US" sz="1400" i="1">
              <a:latin typeface="Century Gothic"/>
              <a:cs typeface="Century Gothic"/>
            </a:endParaRPr>
          </a:p>
        </p:txBody>
      </p:sp>
      <p:sp>
        <p:nvSpPr>
          <p:cNvPr id="614585" name="Rectangle 185"/>
          <p:cNvSpPr>
            <a:spLocks noChangeArrowheads="1"/>
          </p:cNvSpPr>
          <p:nvPr/>
        </p:nvSpPr>
        <p:spPr bwMode="auto">
          <a:xfrm>
            <a:off x="5897563" y="2428875"/>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a:t>
            </a:r>
            <a:endParaRPr lang="en-US" sz="1400">
              <a:latin typeface="Century Gothic"/>
              <a:cs typeface="Century Gothic"/>
            </a:endParaRPr>
          </a:p>
        </p:txBody>
      </p:sp>
      <p:sp>
        <p:nvSpPr>
          <p:cNvPr id="614586" name="Rectangle 186"/>
          <p:cNvSpPr>
            <a:spLocks noChangeArrowheads="1"/>
          </p:cNvSpPr>
          <p:nvPr/>
        </p:nvSpPr>
        <p:spPr bwMode="auto">
          <a:xfrm>
            <a:off x="4175125" y="3833813"/>
            <a:ext cx="12536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a:solidFill>
                  <a:srgbClr val="000000"/>
                </a:solidFill>
                <a:latin typeface="Century Gothic"/>
                <a:cs typeface="Century Gothic"/>
              </a:rPr>
              <a:t>E</a:t>
            </a:r>
            <a:endParaRPr lang="en-US" sz="1400" i="1">
              <a:latin typeface="Century Gothic"/>
              <a:cs typeface="Century Gothic"/>
            </a:endParaRPr>
          </a:p>
        </p:txBody>
      </p:sp>
      <p:sp>
        <p:nvSpPr>
          <p:cNvPr id="614587" name="Rectangle 187"/>
          <p:cNvSpPr>
            <a:spLocks noChangeArrowheads="1"/>
          </p:cNvSpPr>
          <p:nvPr/>
        </p:nvSpPr>
        <p:spPr bwMode="auto">
          <a:xfrm>
            <a:off x="4302125" y="3952875"/>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1</a:t>
            </a:r>
            <a:endParaRPr lang="en-US" sz="1400">
              <a:latin typeface="Century Gothic"/>
              <a:cs typeface="Century Gothic"/>
            </a:endParaRPr>
          </a:p>
        </p:txBody>
      </p:sp>
      <p:sp>
        <p:nvSpPr>
          <p:cNvPr id="614588" name="Rectangle 188"/>
          <p:cNvSpPr>
            <a:spLocks noChangeArrowheads="1"/>
          </p:cNvSpPr>
          <p:nvPr/>
        </p:nvSpPr>
        <p:spPr bwMode="auto">
          <a:xfrm>
            <a:off x="3775075" y="2781300"/>
            <a:ext cx="12536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i="1">
                <a:solidFill>
                  <a:srgbClr val="000000"/>
                </a:solidFill>
                <a:latin typeface="Century Gothic"/>
                <a:cs typeface="Century Gothic"/>
              </a:rPr>
              <a:t>E</a:t>
            </a:r>
            <a:endParaRPr lang="en-US" sz="1400" i="1">
              <a:latin typeface="Century Gothic"/>
              <a:cs typeface="Century Gothic"/>
            </a:endParaRPr>
          </a:p>
        </p:txBody>
      </p:sp>
      <p:sp>
        <p:nvSpPr>
          <p:cNvPr id="614589" name="Rectangle 189"/>
          <p:cNvSpPr>
            <a:spLocks noChangeArrowheads="1"/>
          </p:cNvSpPr>
          <p:nvPr/>
        </p:nvSpPr>
        <p:spPr bwMode="auto">
          <a:xfrm>
            <a:off x="3902075" y="2901950"/>
            <a:ext cx="994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1588" indent="-1588"/>
            <a:r>
              <a:rPr lang="en-US" sz="1400">
                <a:solidFill>
                  <a:srgbClr val="000000"/>
                </a:solidFill>
                <a:latin typeface="Century Gothic"/>
                <a:cs typeface="Century Gothic"/>
              </a:rPr>
              <a:t>2</a:t>
            </a:r>
            <a:endParaRPr lang="en-US" sz="1400">
              <a:latin typeface="Century Gothic"/>
              <a:cs typeface="Century Gothic"/>
            </a:endParaRPr>
          </a:p>
        </p:txBody>
      </p:sp>
      <p:sp>
        <p:nvSpPr>
          <p:cNvPr id="614590" name="Line 190"/>
          <p:cNvSpPr>
            <a:spLocks noChangeShapeType="1"/>
          </p:cNvSpPr>
          <p:nvPr/>
        </p:nvSpPr>
        <p:spPr bwMode="auto">
          <a:xfrm>
            <a:off x="4899025" y="4859338"/>
            <a:ext cx="230188" cy="0"/>
          </a:xfrm>
          <a:prstGeom prst="line">
            <a:avLst/>
          </a:prstGeom>
          <a:noFill/>
          <a:ln w="492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14591" name="Freeform 191"/>
          <p:cNvSpPr>
            <a:spLocks/>
          </p:cNvSpPr>
          <p:nvPr/>
        </p:nvSpPr>
        <p:spPr bwMode="auto">
          <a:xfrm>
            <a:off x="5084763" y="4802188"/>
            <a:ext cx="185737" cy="111125"/>
          </a:xfrm>
          <a:custGeom>
            <a:avLst/>
            <a:gdLst>
              <a:gd name="T0" fmla="*/ 5 w 29"/>
              <a:gd name="T1" fmla="*/ 9 h 18"/>
              <a:gd name="T2" fmla="*/ 0 w 29"/>
              <a:gd name="T3" fmla="*/ 0 h 18"/>
              <a:gd name="T4" fmla="*/ 0 w 29"/>
              <a:gd name="T5" fmla="*/ 0 h 18"/>
              <a:gd name="T6" fmla="*/ 14 w 29"/>
              <a:gd name="T7" fmla="*/ 5 h 18"/>
              <a:gd name="T8" fmla="*/ 29 w 29"/>
              <a:gd name="T9" fmla="*/ 9 h 18"/>
              <a:gd name="T10" fmla="*/ 14 w 29"/>
              <a:gd name="T11" fmla="*/ 12 h 18"/>
              <a:gd name="T12" fmla="*/ 0 w 29"/>
              <a:gd name="T13" fmla="*/ 18 h 18"/>
              <a:gd name="T14" fmla="*/ 0 w 29"/>
              <a:gd name="T15" fmla="*/ 17 h 18"/>
              <a:gd name="T16" fmla="*/ 5 w 29"/>
              <a:gd name="T17" fmla="*/ 9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8">
                <a:moveTo>
                  <a:pt x="5" y="9"/>
                </a:moveTo>
                <a:cubicBezTo>
                  <a:pt x="0" y="0"/>
                  <a:pt x="0" y="0"/>
                  <a:pt x="0" y="0"/>
                </a:cubicBezTo>
                <a:cubicBezTo>
                  <a:pt x="0" y="0"/>
                  <a:pt x="0" y="0"/>
                  <a:pt x="0" y="0"/>
                </a:cubicBezTo>
                <a:cubicBezTo>
                  <a:pt x="14" y="5"/>
                  <a:pt x="14" y="5"/>
                  <a:pt x="14" y="5"/>
                </a:cubicBezTo>
                <a:cubicBezTo>
                  <a:pt x="19" y="7"/>
                  <a:pt x="24" y="8"/>
                  <a:pt x="29" y="9"/>
                </a:cubicBezTo>
                <a:cubicBezTo>
                  <a:pt x="24" y="10"/>
                  <a:pt x="19" y="11"/>
                  <a:pt x="14" y="12"/>
                </a:cubicBezTo>
                <a:cubicBezTo>
                  <a:pt x="0" y="18"/>
                  <a:pt x="0" y="18"/>
                  <a:pt x="0" y="18"/>
                </a:cubicBezTo>
                <a:cubicBezTo>
                  <a:pt x="0" y="17"/>
                  <a:pt x="0" y="17"/>
                  <a:pt x="0" y="17"/>
                </a:cubicBez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614592" name="Freeform 192"/>
          <p:cNvSpPr>
            <a:spLocks/>
          </p:cNvSpPr>
          <p:nvPr/>
        </p:nvSpPr>
        <p:spPr bwMode="auto">
          <a:xfrm>
            <a:off x="1835150" y="1479550"/>
            <a:ext cx="4826000" cy="4562475"/>
          </a:xfrm>
          <a:custGeom>
            <a:avLst/>
            <a:gdLst>
              <a:gd name="T0" fmla="*/ 2898 w 2898"/>
              <a:gd name="T1" fmla="*/ 2803 h 2803"/>
              <a:gd name="T2" fmla="*/ 0 w 2898"/>
              <a:gd name="T3" fmla="*/ 2803 h 2803"/>
              <a:gd name="T4" fmla="*/ 0 w 2898"/>
              <a:gd name="T5" fmla="*/ 0 h 2803"/>
            </a:gdLst>
            <a:ahLst/>
            <a:cxnLst>
              <a:cxn ang="0">
                <a:pos x="T0" y="T1"/>
              </a:cxn>
              <a:cxn ang="0">
                <a:pos x="T2" y="T3"/>
              </a:cxn>
              <a:cxn ang="0">
                <a:pos x="T4" y="T5"/>
              </a:cxn>
            </a:cxnLst>
            <a:rect l="0" t="0" r="r" b="b"/>
            <a:pathLst>
              <a:path w="2898" h="2803">
                <a:moveTo>
                  <a:pt x="2898" y="2803"/>
                </a:moveTo>
                <a:lnTo>
                  <a:pt x="0" y="2803"/>
                </a:lnTo>
                <a:lnTo>
                  <a:pt x="0" y="0"/>
                </a:lnTo>
              </a:path>
            </a:pathLst>
          </a:custGeom>
          <a:noFill/>
          <a:ln w="1270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latin typeface="Century Gothic"/>
              <a:cs typeface="Century Gothic"/>
            </a:endParaRPr>
          </a:p>
        </p:txBody>
      </p:sp>
      <p:sp>
        <p:nvSpPr>
          <p:cNvPr id="614593" name="Line 193"/>
          <p:cNvSpPr>
            <a:spLocks noChangeShapeType="1"/>
          </p:cNvSpPr>
          <p:nvPr/>
        </p:nvSpPr>
        <p:spPr bwMode="auto">
          <a:xfrm flipH="1" flipV="1">
            <a:off x="2449513" y="2289175"/>
            <a:ext cx="2841625" cy="3082925"/>
          </a:xfrm>
          <a:prstGeom prst="line">
            <a:avLst/>
          </a:prstGeom>
          <a:noFill/>
          <a:ln w="49213">
            <a:solidFill>
              <a:srgbClr val="AEC5E7"/>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14594" name="Line 194"/>
          <p:cNvSpPr>
            <a:spLocks noChangeShapeType="1"/>
          </p:cNvSpPr>
          <p:nvPr/>
        </p:nvSpPr>
        <p:spPr bwMode="auto">
          <a:xfrm flipV="1">
            <a:off x="2341563" y="2100263"/>
            <a:ext cx="2627312" cy="2851150"/>
          </a:xfrm>
          <a:prstGeom prst="line">
            <a:avLst/>
          </a:prstGeom>
          <a:noFill/>
          <a:ln w="49213">
            <a:solidFill>
              <a:srgbClr val="EE313C"/>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14595" name="Line 195"/>
          <p:cNvSpPr>
            <a:spLocks noChangeShapeType="1"/>
          </p:cNvSpPr>
          <p:nvPr/>
        </p:nvSpPr>
        <p:spPr bwMode="auto">
          <a:xfrm flipV="1">
            <a:off x="3181350" y="2638425"/>
            <a:ext cx="2646363" cy="2878138"/>
          </a:xfrm>
          <a:prstGeom prst="line">
            <a:avLst/>
          </a:prstGeom>
          <a:noFill/>
          <a:ln w="49213">
            <a:solidFill>
              <a:srgbClr val="FAC0BF"/>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14596" name="Line 196"/>
          <p:cNvSpPr>
            <a:spLocks noChangeShapeType="1"/>
          </p:cNvSpPr>
          <p:nvPr/>
        </p:nvSpPr>
        <p:spPr bwMode="auto">
          <a:xfrm>
            <a:off x="4206875" y="2157413"/>
            <a:ext cx="762000" cy="638175"/>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14597" name="Line 197"/>
          <p:cNvSpPr>
            <a:spLocks noChangeShapeType="1"/>
          </p:cNvSpPr>
          <p:nvPr/>
        </p:nvSpPr>
        <p:spPr bwMode="auto">
          <a:xfrm flipH="1">
            <a:off x="4597400" y="2884488"/>
            <a:ext cx="871538" cy="0"/>
          </a:xfrm>
          <a:prstGeom prst="line">
            <a:avLst/>
          </a:prstGeom>
          <a:noFill/>
          <a:ln w="492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14598" name="Freeform 198"/>
          <p:cNvSpPr>
            <a:spLocks/>
          </p:cNvSpPr>
          <p:nvPr/>
        </p:nvSpPr>
        <p:spPr bwMode="auto">
          <a:xfrm>
            <a:off x="4462463" y="2827338"/>
            <a:ext cx="187325" cy="112712"/>
          </a:xfrm>
          <a:custGeom>
            <a:avLst/>
            <a:gdLst>
              <a:gd name="T0" fmla="*/ 24 w 29"/>
              <a:gd name="T1" fmla="*/ 9 h 18"/>
              <a:gd name="T2" fmla="*/ 29 w 29"/>
              <a:gd name="T3" fmla="*/ 18 h 18"/>
              <a:gd name="T4" fmla="*/ 29 w 29"/>
              <a:gd name="T5" fmla="*/ 18 h 18"/>
              <a:gd name="T6" fmla="*/ 15 w 29"/>
              <a:gd name="T7" fmla="*/ 12 h 18"/>
              <a:gd name="T8" fmla="*/ 0 w 29"/>
              <a:gd name="T9" fmla="*/ 9 h 18"/>
              <a:gd name="T10" fmla="*/ 15 w 29"/>
              <a:gd name="T11" fmla="*/ 6 h 18"/>
              <a:gd name="T12" fmla="*/ 29 w 29"/>
              <a:gd name="T13" fmla="*/ 0 h 18"/>
              <a:gd name="T14" fmla="*/ 29 w 29"/>
              <a:gd name="T15" fmla="*/ 0 h 18"/>
              <a:gd name="T16" fmla="*/ 24 w 29"/>
              <a:gd name="T17" fmla="*/ 9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18">
                <a:moveTo>
                  <a:pt x="24" y="9"/>
                </a:moveTo>
                <a:cubicBezTo>
                  <a:pt x="29" y="18"/>
                  <a:pt x="29" y="18"/>
                  <a:pt x="29" y="18"/>
                </a:cubicBezTo>
                <a:cubicBezTo>
                  <a:pt x="29" y="18"/>
                  <a:pt x="29" y="18"/>
                  <a:pt x="29" y="18"/>
                </a:cubicBezTo>
                <a:cubicBezTo>
                  <a:pt x="15" y="12"/>
                  <a:pt x="15" y="12"/>
                  <a:pt x="15" y="12"/>
                </a:cubicBezTo>
                <a:cubicBezTo>
                  <a:pt x="10" y="11"/>
                  <a:pt x="5" y="10"/>
                  <a:pt x="0" y="9"/>
                </a:cubicBezTo>
                <a:cubicBezTo>
                  <a:pt x="5" y="8"/>
                  <a:pt x="10" y="7"/>
                  <a:pt x="15" y="6"/>
                </a:cubicBezTo>
                <a:cubicBezTo>
                  <a:pt x="29" y="0"/>
                  <a:pt x="29" y="0"/>
                  <a:pt x="29" y="0"/>
                </a:cubicBezTo>
                <a:cubicBezTo>
                  <a:pt x="29" y="0"/>
                  <a:pt x="29" y="0"/>
                  <a:pt x="29" y="0"/>
                </a:cubicBezTo>
                <a:lnTo>
                  <a:pt x="2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614599" name="Rectangle 199"/>
          <p:cNvSpPr>
            <a:spLocks noChangeArrowheads="1"/>
          </p:cNvSpPr>
          <p:nvPr/>
        </p:nvSpPr>
        <p:spPr bwMode="auto">
          <a:xfrm>
            <a:off x="2133600" y="1076979"/>
            <a:ext cx="61722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1588" indent="-1588"/>
            <a:r>
              <a:rPr lang="en-US" sz="1400" dirty="0">
                <a:solidFill>
                  <a:srgbClr val="000000"/>
                </a:solidFill>
                <a:latin typeface="Century Gothic"/>
                <a:cs typeface="Century Gothic"/>
              </a:rPr>
              <a:t>(b) </a:t>
            </a:r>
            <a:r>
              <a:rPr lang="en-US" sz="1400" b="1" dirty="0">
                <a:solidFill>
                  <a:srgbClr val="000000"/>
                </a:solidFill>
                <a:latin typeface="Century Gothic"/>
                <a:cs typeface="Century Gothic"/>
              </a:rPr>
              <a:t>Another possible outcome: price rises, quantity falls</a:t>
            </a:r>
            <a:endParaRPr lang="en-US" sz="1400" b="1" dirty="0">
              <a:latin typeface="Century Gothic"/>
              <a:cs typeface="Century Gothic"/>
            </a:endParaRPr>
          </a:p>
        </p:txBody>
      </p:sp>
      <p:sp>
        <p:nvSpPr>
          <p:cNvPr id="614600" name="Oval 200"/>
          <p:cNvSpPr>
            <a:spLocks noChangeArrowheads="1"/>
          </p:cNvSpPr>
          <p:nvPr/>
        </p:nvSpPr>
        <p:spPr bwMode="auto">
          <a:xfrm>
            <a:off x="4232275" y="4237038"/>
            <a:ext cx="127000" cy="12541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614601" name="Line 201"/>
          <p:cNvSpPr>
            <a:spLocks noChangeShapeType="1"/>
          </p:cNvSpPr>
          <p:nvPr/>
        </p:nvSpPr>
        <p:spPr bwMode="auto">
          <a:xfrm flipH="1" flipV="1">
            <a:off x="2784475" y="2044700"/>
            <a:ext cx="2819400" cy="3063875"/>
          </a:xfrm>
          <a:prstGeom prst="line">
            <a:avLst/>
          </a:prstGeom>
          <a:noFill/>
          <a:ln w="49213">
            <a:solidFill>
              <a:srgbClr val="3C5DAA"/>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14602" name="Oval 202"/>
          <p:cNvSpPr>
            <a:spLocks noChangeArrowheads="1"/>
          </p:cNvSpPr>
          <p:nvPr/>
        </p:nvSpPr>
        <p:spPr bwMode="auto">
          <a:xfrm>
            <a:off x="3835400" y="3197225"/>
            <a:ext cx="128588" cy="12541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614603" name="Line 203"/>
          <p:cNvSpPr>
            <a:spLocks noChangeShapeType="1"/>
          </p:cNvSpPr>
          <p:nvPr/>
        </p:nvSpPr>
        <p:spPr bwMode="auto">
          <a:xfrm flipV="1">
            <a:off x="1624013" y="3516313"/>
            <a:ext cx="0" cy="639762"/>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14604" name="Freeform 204"/>
          <p:cNvSpPr>
            <a:spLocks/>
          </p:cNvSpPr>
          <p:nvPr/>
        </p:nvSpPr>
        <p:spPr bwMode="auto">
          <a:xfrm>
            <a:off x="1579563" y="3429000"/>
            <a:ext cx="90487" cy="125413"/>
          </a:xfrm>
          <a:custGeom>
            <a:avLst/>
            <a:gdLst>
              <a:gd name="T0" fmla="*/ 7 w 14"/>
              <a:gd name="T1" fmla="*/ 16 h 20"/>
              <a:gd name="T2" fmla="*/ 1 w 14"/>
              <a:gd name="T3" fmla="*/ 20 h 20"/>
              <a:gd name="T4" fmla="*/ 0 w 14"/>
              <a:gd name="T5" fmla="*/ 19 h 20"/>
              <a:gd name="T6" fmla="*/ 5 w 14"/>
              <a:gd name="T7" fmla="*/ 10 h 20"/>
              <a:gd name="T8" fmla="*/ 7 w 14"/>
              <a:gd name="T9" fmla="*/ 0 h 20"/>
              <a:gd name="T10" fmla="*/ 9 w 14"/>
              <a:gd name="T11" fmla="*/ 10 h 20"/>
              <a:gd name="T12" fmla="*/ 14 w 14"/>
              <a:gd name="T13" fmla="*/ 19 h 20"/>
              <a:gd name="T14" fmla="*/ 14 w 14"/>
              <a:gd name="T15" fmla="*/ 20 h 20"/>
              <a:gd name="T16" fmla="*/ 7 w 14"/>
              <a:gd name="T17"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 h="20">
                <a:moveTo>
                  <a:pt x="7" y="16"/>
                </a:moveTo>
                <a:cubicBezTo>
                  <a:pt x="1" y="20"/>
                  <a:pt x="1" y="20"/>
                  <a:pt x="1" y="20"/>
                </a:cubicBezTo>
                <a:cubicBezTo>
                  <a:pt x="0" y="19"/>
                  <a:pt x="0" y="19"/>
                  <a:pt x="0" y="19"/>
                </a:cubicBezTo>
                <a:cubicBezTo>
                  <a:pt x="5" y="10"/>
                  <a:pt x="5" y="10"/>
                  <a:pt x="5" y="10"/>
                </a:cubicBezTo>
                <a:cubicBezTo>
                  <a:pt x="5" y="7"/>
                  <a:pt x="6" y="3"/>
                  <a:pt x="7" y="0"/>
                </a:cubicBezTo>
                <a:cubicBezTo>
                  <a:pt x="8" y="3"/>
                  <a:pt x="9" y="7"/>
                  <a:pt x="9" y="10"/>
                </a:cubicBezTo>
                <a:cubicBezTo>
                  <a:pt x="14" y="19"/>
                  <a:pt x="14" y="19"/>
                  <a:pt x="14" y="19"/>
                </a:cubicBezTo>
                <a:cubicBezTo>
                  <a:pt x="14" y="20"/>
                  <a:pt x="14" y="20"/>
                  <a:pt x="14" y="20"/>
                </a:cubicBezTo>
                <a:lnTo>
                  <a:pt x="7"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614605" name="Line 205"/>
          <p:cNvSpPr>
            <a:spLocks noChangeShapeType="1"/>
          </p:cNvSpPr>
          <p:nvPr/>
        </p:nvSpPr>
        <p:spPr bwMode="auto">
          <a:xfrm flipH="1">
            <a:off x="4040188" y="6218238"/>
            <a:ext cx="211137" cy="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14606" name="Freeform 206"/>
          <p:cNvSpPr>
            <a:spLocks/>
          </p:cNvSpPr>
          <p:nvPr/>
        </p:nvSpPr>
        <p:spPr bwMode="auto">
          <a:xfrm>
            <a:off x="3981450" y="6173788"/>
            <a:ext cx="141288" cy="87312"/>
          </a:xfrm>
          <a:custGeom>
            <a:avLst/>
            <a:gdLst>
              <a:gd name="T0" fmla="*/ 18 w 22"/>
              <a:gd name="T1" fmla="*/ 7 h 14"/>
              <a:gd name="T2" fmla="*/ 22 w 22"/>
              <a:gd name="T3" fmla="*/ 14 h 14"/>
              <a:gd name="T4" fmla="*/ 22 w 22"/>
              <a:gd name="T5" fmla="*/ 14 h 14"/>
              <a:gd name="T6" fmla="*/ 12 w 22"/>
              <a:gd name="T7" fmla="*/ 10 h 14"/>
              <a:gd name="T8" fmla="*/ 0 w 22"/>
              <a:gd name="T9" fmla="*/ 7 h 14"/>
              <a:gd name="T10" fmla="*/ 12 w 22"/>
              <a:gd name="T11" fmla="*/ 5 h 14"/>
              <a:gd name="T12" fmla="*/ 22 w 22"/>
              <a:gd name="T13" fmla="*/ 0 h 14"/>
              <a:gd name="T14" fmla="*/ 22 w 22"/>
              <a:gd name="T15" fmla="*/ 1 h 14"/>
              <a:gd name="T16" fmla="*/ 18 w 22"/>
              <a:gd name="T17" fmla="*/ 7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14">
                <a:moveTo>
                  <a:pt x="18" y="7"/>
                </a:moveTo>
                <a:cubicBezTo>
                  <a:pt x="22" y="14"/>
                  <a:pt x="22" y="14"/>
                  <a:pt x="22" y="14"/>
                </a:cubicBezTo>
                <a:cubicBezTo>
                  <a:pt x="22" y="14"/>
                  <a:pt x="22" y="14"/>
                  <a:pt x="22" y="14"/>
                </a:cubicBezTo>
                <a:cubicBezTo>
                  <a:pt x="12" y="10"/>
                  <a:pt x="12" y="10"/>
                  <a:pt x="12" y="10"/>
                </a:cubicBezTo>
                <a:cubicBezTo>
                  <a:pt x="8" y="9"/>
                  <a:pt x="4" y="8"/>
                  <a:pt x="0" y="7"/>
                </a:cubicBezTo>
                <a:cubicBezTo>
                  <a:pt x="4" y="6"/>
                  <a:pt x="8" y="5"/>
                  <a:pt x="12" y="5"/>
                </a:cubicBezTo>
                <a:cubicBezTo>
                  <a:pt x="22" y="0"/>
                  <a:pt x="22" y="0"/>
                  <a:pt x="22" y="0"/>
                </a:cubicBezTo>
                <a:cubicBezTo>
                  <a:pt x="22" y="1"/>
                  <a:pt x="22" y="1"/>
                  <a:pt x="22" y="1"/>
                </a:cubicBezTo>
                <a:lnTo>
                  <a:pt x="18"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614607" name="Line 207"/>
          <p:cNvSpPr>
            <a:spLocks noChangeShapeType="1"/>
          </p:cNvSpPr>
          <p:nvPr/>
        </p:nvSpPr>
        <p:spPr bwMode="auto">
          <a:xfrm flipV="1">
            <a:off x="5006975" y="4381500"/>
            <a:ext cx="212725" cy="393700"/>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latin typeface="Century Gothic"/>
              <a:cs typeface="Century Gothic"/>
            </a:endParaRPr>
          </a:p>
        </p:txBody>
      </p:sp>
      <p:sp>
        <p:nvSpPr>
          <p:cNvPr id="614608" name="Freeform 208"/>
          <p:cNvSpPr>
            <a:spLocks/>
          </p:cNvSpPr>
          <p:nvPr/>
        </p:nvSpPr>
        <p:spPr bwMode="auto">
          <a:xfrm>
            <a:off x="5084763" y="3886200"/>
            <a:ext cx="1468437" cy="523220"/>
          </a:xfrm>
          <a:custGeom>
            <a:avLst/>
            <a:gdLst>
              <a:gd name="T0" fmla="*/ 174 w 174"/>
              <a:gd name="T1" fmla="*/ 117 h 133"/>
              <a:gd name="T2" fmla="*/ 158 w 174"/>
              <a:gd name="T3" fmla="*/ 133 h 133"/>
              <a:gd name="T4" fmla="*/ 16 w 174"/>
              <a:gd name="T5" fmla="*/ 133 h 133"/>
              <a:gd name="T6" fmla="*/ 0 w 174"/>
              <a:gd name="T7" fmla="*/ 117 h 133"/>
              <a:gd name="T8" fmla="*/ 0 w 174"/>
              <a:gd name="T9" fmla="*/ 16 h 133"/>
              <a:gd name="T10" fmla="*/ 16 w 174"/>
              <a:gd name="T11" fmla="*/ 0 h 133"/>
              <a:gd name="T12" fmla="*/ 158 w 174"/>
              <a:gd name="T13" fmla="*/ 0 h 133"/>
              <a:gd name="T14" fmla="*/ 174 w 174"/>
              <a:gd name="T15" fmla="*/ 16 h 133"/>
              <a:gd name="T16" fmla="*/ 174 w 174"/>
              <a:gd name="T17" fmla="*/ 117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4" h="133">
                <a:moveTo>
                  <a:pt x="174" y="117"/>
                </a:moveTo>
                <a:cubicBezTo>
                  <a:pt x="174" y="126"/>
                  <a:pt x="167" y="133"/>
                  <a:pt x="158" y="133"/>
                </a:cubicBezTo>
                <a:cubicBezTo>
                  <a:pt x="16" y="133"/>
                  <a:pt x="16" y="133"/>
                  <a:pt x="16" y="133"/>
                </a:cubicBezTo>
                <a:cubicBezTo>
                  <a:pt x="7" y="133"/>
                  <a:pt x="0" y="126"/>
                  <a:pt x="0" y="117"/>
                </a:cubicBezTo>
                <a:cubicBezTo>
                  <a:pt x="0" y="16"/>
                  <a:pt x="0" y="16"/>
                  <a:pt x="0" y="16"/>
                </a:cubicBezTo>
                <a:cubicBezTo>
                  <a:pt x="0" y="7"/>
                  <a:pt x="7" y="0"/>
                  <a:pt x="16" y="0"/>
                </a:cubicBezTo>
                <a:cubicBezTo>
                  <a:pt x="158" y="0"/>
                  <a:pt x="158" y="0"/>
                  <a:pt x="158" y="0"/>
                </a:cubicBezTo>
                <a:cubicBezTo>
                  <a:pt x="167" y="0"/>
                  <a:pt x="174" y="7"/>
                  <a:pt x="174" y="16"/>
                </a:cubicBezTo>
                <a:lnTo>
                  <a:pt x="174" y="117"/>
                </a:lnTo>
                <a:close/>
              </a:path>
            </a:pathLst>
          </a:custGeom>
          <a:solidFill>
            <a:srgbClr val="D6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548930" name="TextBox 29"/>
          <p:cNvSpPr txBox="1">
            <a:spLocks noChangeArrowheads="1"/>
          </p:cNvSpPr>
          <p:nvPr/>
        </p:nvSpPr>
        <p:spPr bwMode="auto">
          <a:xfrm>
            <a:off x="228600" y="1368623"/>
            <a:ext cx="16764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400" dirty="0">
                <a:latin typeface="Century Gothic"/>
                <a:ea typeface="MS PGothic" pitchFamily="34" charset="-128"/>
                <a:cs typeface="Century Gothic"/>
              </a:rPr>
              <a:t>Price of cotton</a:t>
            </a:r>
          </a:p>
        </p:txBody>
      </p:sp>
      <p:sp>
        <p:nvSpPr>
          <p:cNvPr id="548931" name="TextBox 30"/>
          <p:cNvSpPr txBox="1">
            <a:spLocks noChangeArrowheads="1"/>
          </p:cNvSpPr>
          <p:nvPr/>
        </p:nvSpPr>
        <p:spPr bwMode="auto">
          <a:xfrm>
            <a:off x="4876800" y="6096000"/>
            <a:ext cx="207803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400" dirty="0">
                <a:latin typeface="Century Gothic"/>
                <a:ea typeface="MS PGothic" pitchFamily="34" charset="-128"/>
                <a:cs typeface="Century Gothic"/>
              </a:rPr>
              <a:t>Quantity of cotton</a:t>
            </a:r>
          </a:p>
        </p:txBody>
      </p:sp>
      <p:sp>
        <p:nvSpPr>
          <p:cNvPr id="614611" name="Freeform 211"/>
          <p:cNvSpPr>
            <a:spLocks/>
          </p:cNvSpPr>
          <p:nvPr/>
        </p:nvSpPr>
        <p:spPr bwMode="auto">
          <a:xfrm>
            <a:off x="3254375" y="1633538"/>
            <a:ext cx="1038225" cy="679450"/>
          </a:xfrm>
          <a:custGeom>
            <a:avLst/>
            <a:gdLst>
              <a:gd name="T0" fmla="*/ 227 w 227"/>
              <a:gd name="T1" fmla="*/ 80 h 96"/>
              <a:gd name="T2" fmla="*/ 211 w 227"/>
              <a:gd name="T3" fmla="*/ 96 h 96"/>
              <a:gd name="T4" fmla="*/ 16 w 227"/>
              <a:gd name="T5" fmla="*/ 96 h 96"/>
              <a:gd name="T6" fmla="*/ 0 w 227"/>
              <a:gd name="T7" fmla="*/ 80 h 96"/>
              <a:gd name="T8" fmla="*/ 0 w 227"/>
              <a:gd name="T9" fmla="*/ 16 h 96"/>
              <a:gd name="T10" fmla="*/ 16 w 227"/>
              <a:gd name="T11" fmla="*/ 0 h 96"/>
              <a:gd name="T12" fmla="*/ 211 w 227"/>
              <a:gd name="T13" fmla="*/ 0 h 96"/>
              <a:gd name="T14" fmla="*/ 227 w 227"/>
              <a:gd name="T15" fmla="*/ 16 h 96"/>
              <a:gd name="T16" fmla="*/ 227 w 227"/>
              <a:gd name="T17" fmla="*/ 8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7" h="96">
                <a:moveTo>
                  <a:pt x="227" y="80"/>
                </a:moveTo>
                <a:cubicBezTo>
                  <a:pt x="227" y="89"/>
                  <a:pt x="219" y="96"/>
                  <a:pt x="211" y="96"/>
                </a:cubicBezTo>
                <a:cubicBezTo>
                  <a:pt x="16" y="96"/>
                  <a:pt x="16" y="96"/>
                  <a:pt x="16" y="96"/>
                </a:cubicBezTo>
                <a:cubicBezTo>
                  <a:pt x="7" y="96"/>
                  <a:pt x="0" y="89"/>
                  <a:pt x="0" y="80"/>
                </a:cubicBezTo>
                <a:cubicBezTo>
                  <a:pt x="0" y="16"/>
                  <a:pt x="0" y="16"/>
                  <a:pt x="0" y="16"/>
                </a:cubicBezTo>
                <a:cubicBezTo>
                  <a:pt x="0" y="8"/>
                  <a:pt x="7" y="0"/>
                  <a:pt x="16" y="0"/>
                </a:cubicBezTo>
                <a:cubicBezTo>
                  <a:pt x="211" y="0"/>
                  <a:pt x="211" y="0"/>
                  <a:pt x="211" y="0"/>
                </a:cubicBezTo>
                <a:cubicBezTo>
                  <a:pt x="219" y="0"/>
                  <a:pt x="227" y="8"/>
                  <a:pt x="227" y="16"/>
                </a:cubicBezTo>
                <a:lnTo>
                  <a:pt x="227" y="80"/>
                </a:lnTo>
                <a:close/>
              </a:path>
            </a:pathLst>
          </a:custGeom>
          <a:solidFill>
            <a:srgbClr val="D6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entury Gothic"/>
              <a:cs typeface="Century Gothic"/>
            </a:endParaRPr>
          </a:p>
        </p:txBody>
      </p:sp>
      <p:sp>
        <p:nvSpPr>
          <p:cNvPr id="2" name="TextBox 29"/>
          <p:cNvSpPr txBox="1">
            <a:spLocks noChangeArrowheads="1"/>
          </p:cNvSpPr>
          <p:nvPr/>
        </p:nvSpPr>
        <p:spPr bwMode="auto">
          <a:xfrm>
            <a:off x="3200400" y="1600200"/>
            <a:ext cx="103822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400" dirty="0">
                <a:latin typeface="Century Gothic"/>
                <a:ea typeface="MS PGothic" pitchFamily="34" charset="-128"/>
                <a:cs typeface="Century Gothic"/>
              </a:rPr>
              <a:t>Large decrease in supply</a:t>
            </a:r>
          </a:p>
        </p:txBody>
      </p:sp>
      <p:sp>
        <p:nvSpPr>
          <p:cNvPr id="3" name="TextBox 29"/>
          <p:cNvSpPr txBox="1">
            <a:spLocks noChangeArrowheads="1"/>
          </p:cNvSpPr>
          <p:nvPr/>
        </p:nvSpPr>
        <p:spPr bwMode="auto">
          <a:xfrm>
            <a:off x="5105400" y="3886200"/>
            <a:ext cx="1447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0"/>
              </a:spcBef>
              <a:defRPr>
                <a:solidFill>
                  <a:schemeClr val="tx1"/>
                </a:solidFill>
                <a:latin typeface="Arial" pitchFamily="34" charset="0"/>
              </a:defRPr>
            </a:lvl1pPr>
            <a:lvl2pPr marL="37931725" indent="-37474525">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marL="457200" fontAlgn="base">
              <a:spcBef>
                <a:spcPct val="0"/>
              </a:spcBef>
              <a:spcAft>
                <a:spcPct val="0"/>
              </a:spcAft>
              <a:defRPr>
                <a:solidFill>
                  <a:schemeClr val="tx1"/>
                </a:solidFill>
                <a:latin typeface="Arial" pitchFamily="34" charset="0"/>
              </a:defRPr>
            </a:lvl6pPr>
            <a:lvl7pPr marL="914400" fontAlgn="base">
              <a:spcBef>
                <a:spcPct val="0"/>
              </a:spcBef>
              <a:spcAft>
                <a:spcPct val="0"/>
              </a:spcAft>
              <a:defRPr>
                <a:solidFill>
                  <a:schemeClr val="tx1"/>
                </a:solidFill>
                <a:latin typeface="Arial" pitchFamily="34" charset="0"/>
              </a:defRPr>
            </a:lvl7pPr>
            <a:lvl8pPr marL="1371600" fontAlgn="base">
              <a:spcBef>
                <a:spcPct val="0"/>
              </a:spcBef>
              <a:spcAft>
                <a:spcPct val="0"/>
              </a:spcAft>
              <a:defRPr>
                <a:solidFill>
                  <a:schemeClr val="tx1"/>
                </a:solidFill>
                <a:latin typeface="Arial" pitchFamily="34" charset="0"/>
              </a:defRPr>
            </a:lvl8pPr>
            <a:lvl9pPr marL="1828800" fontAlgn="base">
              <a:spcBef>
                <a:spcPct val="0"/>
              </a:spcBef>
              <a:spcAft>
                <a:spcPct val="0"/>
              </a:spcAft>
              <a:defRPr>
                <a:solidFill>
                  <a:schemeClr val="tx1"/>
                </a:solidFill>
                <a:latin typeface="Arial" pitchFamily="34" charset="0"/>
              </a:defRPr>
            </a:lvl9pPr>
          </a:lstStyle>
          <a:p>
            <a:pPr algn="ctr">
              <a:spcBef>
                <a:spcPct val="50000"/>
              </a:spcBef>
            </a:pPr>
            <a:r>
              <a:rPr lang="en-US" sz="1400" dirty="0">
                <a:latin typeface="Century Gothic"/>
                <a:ea typeface="MS PGothic" pitchFamily="34" charset="-128"/>
                <a:cs typeface="Century Gothic"/>
              </a:rPr>
              <a:t>Small increase in demand</a:t>
            </a:r>
          </a:p>
        </p:txBody>
      </p:sp>
      <p:sp>
        <p:nvSpPr>
          <p:cNvPr id="54" name="Text Box 127"/>
          <p:cNvSpPr txBox="1">
            <a:spLocks noChangeArrowheads="1"/>
          </p:cNvSpPr>
          <p:nvPr/>
        </p:nvSpPr>
        <p:spPr bwMode="auto">
          <a:xfrm>
            <a:off x="6477000" y="3200400"/>
            <a:ext cx="2667000" cy="923330"/>
          </a:xfrm>
          <a:prstGeom prst="rect">
            <a:avLst/>
          </a:prstGeom>
          <a:noFill/>
          <a:ln>
            <a:noFill/>
          </a:ln>
          <a:effectLst/>
        </p:spPr>
        <p:txBody>
          <a:bodyPr wrap="square">
            <a:spAutoFit/>
          </a:bodyPr>
          <a:lstStyle>
            <a:lvl1pPr marL="1588" indent="-1588">
              <a:spcBef>
                <a:spcPct val="0"/>
              </a:spcBef>
              <a:defRPr>
                <a:solidFill>
                  <a:schemeClr val="tx1"/>
                </a:solidFill>
                <a:latin typeface="Arial" pitchFamily="34" charset="0"/>
              </a:defRPr>
            </a:lvl1pPr>
            <a:lvl2pPr>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fontAlgn="base">
              <a:spcBef>
                <a:spcPct val="0"/>
              </a:spcBef>
              <a:spcAft>
                <a:spcPct val="0"/>
              </a:spcAft>
              <a:defRPr>
                <a:solidFill>
                  <a:schemeClr val="tx1"/>
                </a:solidFill>
                <a:latin typeface="Arial" pitchFamily="34" charset="0"/>
              </a:defRPr>
            </a:lvl6pPr>
            <a:lvl7pPr fontAlgn="base">
              <a:spcBef>
                <a:spcPct val="0"/>
              </a:spcBef>
              <a:spcAft>
                <a:spcPct val="0"/>
              </a:spcAft>
              <a:defRPr>
                <a:solidFill>
                  <a:schemeClr val="tx1"/>
                </a:solidFill>
                <a:latin typeface="Arial" pitchFamily="34" charset="0"/>
              </a:defRPr>
            </a:lvl7pPr>
            <a:lvl8pPr fontAlgn="base">
              <a:spcBef>
                <a:spcPct val="0"/>
              </a:spcBef>
              <a:spcAft>
                <a:spcPct val="0"/>
              </a:spcAft>
              <a:defRPr>
                <a:solidFill>
                  <a:schemeClr val="tx1"/>
                </a:solidFill>
                <a:latin typeface="Arial" pitchFamily="34" charset="0"/>
              </a:defRPr>
            </a:lvl8pPr>
            <a:lvl9pPr fontAlgn="base">
              <a:spcBef>
                <a:spcPct val="0"/>
              </a:spcBef>
              <a:spcAft>
                <a:spcPct val="0"/>
              </a:spcAft>
              <a:defRPr>
                <a:solidFill>
                  <a:schemeClr val="tx1"/>
                </a:solidFill>
                <a:latin typeface="Arial" pitchFamily="34" charset="0"/>
              </a:defRPr>
            </a:lvl9pPr>
          </a:lstStyle>
          <a:p>
            <a:pPr>
              <a:lnSpc>
                <a:spcPct val="100000"/>
              </a:lnSpc>
              <a:spcBef>
                <a:spcPct val="20000"/>
              </a:spcBef>
            </a:pPr>
            <a:r>
              <a:rPr lang="en-US" dirty="0">
                <a:latin typeface="Century Gothic"/>
                <a:cs typeface="Century Gothic"/>
              </a:rPr>
              <a:t>The decrease in supply dominates the increase in demand.</a:t>
            </a:r>
          </a:p>
        </p:txBody>
      </p:sp>
    </p:spTree>
    <p:extLst>
      <p:ext uri="{BB962C8B-B14F-4D97-AF65-F5344CB8AC3E}">
        <p14:creationId xmlns:p14="http://schemas.microsoft.com/office/powerpoint/2010/main" val="1482706686"/>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14515"/>
                                        </p:tgtEl>
                                        <p:attrNameLst>
                                          <p:attrName>style.visibility</p:attrName>
                                        </p:attrNameLst>
                                      </p:cBhvr>
                                      <p:to>
                                        <p:strVal val="visible"/>
                                      </p:to>
                                    </p:set>
                                    <p:animEffect transition="in" filter="fade">
                                      <p:cBhvr>
                                        <p:cTn id="7" dur="500"/>
                                        <p:tgtEl>
                                          <p:spTgt spid="6145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14599"/>
                                        </p:tgtEl>
                                        <p:attrNameLst>
                                          <p:attrName>style.visibility</p:attrName>
                                        </p:attrNameLst>
                                      </p:cBhvr>
                                      <p:to>
                                        <p:strVal val="visible"/>
                                      </p:to>
                                    </p:set>
                                    <p:animEffect transition="in" filter="fade">
                                      <p:cBhvr>
                                        <p:cTn id="10" dur="500"/>
                                        <p:tgtEl>
                                          <p:spTgt spid="61459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48930"/>
                                        </p:tgtEl>
                                        <p:attrNameLst>
                                          <p:attrName>style.visibility</p:attrName>
                                        </p:attrNameLst>
                                      </p:cBhvr>
                                      <p:to>
                                        <p:strVal val="visible"/>
                                      </p:to>
                                    </p:set>
                                    <p:animEffect transition="in" filter="fade">
                                      <p:cBhvr>
                                        <p:cTn id="13" dur="500"/>
                                        <p:tgtEl>
                                          <p:spTgt spid="54893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14576"/>
                                        </p:tgtEl>
                                        <p:attrNameLst>
                                          <p:attrName>style.visibility</p:attrName>
                                        </p:attrNameLst>
                                      </p:cBhvr>
                                      <p:to>
                                        <p:strVal val="visible"/>
                                      </p:to>
                                    </p:set>
                                    <p:animEffect transition="in" filter="fade">
                                      <p:cBhvr>
                                        <p:cTn id="16" dur="500"/>
                                        <p:tgtEl>
                                          <p:spTgt spid="61457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14577"/>
                                        </p:tgtEl>
                                        <p:attrNameLst>
                                          <p:attrName>style.visibility</p:attrName>
                                        </p:attrNameLst>
                                      </p:cBhvr>
                                      <p:to>
                                        <p:strVal val="visible"/>
                                      </p:to>
                                    </p:set>
                                    <p:animEffect transition="in" filter="fade">
                                      <p:cBhvr>
                                        <p:cTn id="19" dur="500"/>
                                        <p:tgtEl>
                                          <p:spTgt spid="61457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14587"/>
                                        </p:tgtEl>
                                        <p:attrNameLst>
                                          <p:attrName>style.visibility</p:attrName>
                                        </p:attrNameLst>
                                      </p:cBhvr>
                                      <p:to>
                                        <p:strVal val="visible"/>
                                      </p:to>
                                    </p:set>
                                    <p:animEffect transition="in" filter="fade">
                                      <p:cBhvr>
                                        <p:cTn id="22" dur="500"/>
                                        <p:tgtEl>
                                          <p:spTgt spid="61458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14586"/>
                                        </p:tgtEl>
                                        <p:attrNameLst>
                                          <p:attrName>style.visibility</p:attrName>
                                        </p:attrNameLst>
                                      </p:cBhvr>
                                      <p:to>
                                        <p:strVal val="visible"/>
                                      </p:to>
                                    </p:set>
                                    <p:animEffect transition="in" filter="fade">
                                      <p:cBhvr>
                                        <p:cTn id="25" dur="500"/>
                                        <p:tgtEl>
                                          <p:spTgt spid="61458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14600"/>
                                        </p:tgtEl>
                                        <p:attrNameLst>
                                          <p:attrName>style.visibility</p:attrName>
                                        </p:attrNameLst>
                                      </p:cBhvr>
                                      <p:to>
                                        <p:strVal val="visible"/>
                                      </p:to>
                                    </p:set>
                                    <p:animEffect transition="in" filter="fade">
                                      <p:cBhvr>
                                        <p:cTn id="28" dur="500"/>
                                        <p:tgtEl>
                                          <p:spTgt spid="61460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14595"/>
                                        </p:tgtEl>
                                        <p:attrNameLst>
                                          <p:attrName>style.visibility</p:attrName>
                                        </p:attrNameLst>
                                      </p:cBhvr>
                                      <p:to>
                                        <p:strVal val="visible"/>
                                      </p:to>
                                    </p:set>
                                    <p:animEffect transition="in" filter="fade">
                                      <p:cBhvr>
                                        <p:cTn id="31" dur="500"/>
                                        <p:tgtEl>
                                          <p:spTgt spid="61459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614585"/>
                                        </p:tgtEl>
                                        <p:attrNameLst>
                                          <p:attrName>style.visibility</p:attrName>
                                        </p:attrNameLst>
                                      </p:cBhvr>
                                      <p:to>
                                        <p:strVal val="visible"/>
                                      </p:to>
                                    </p:set>
                                    <p:animEffect transition="in" filter="fade">
                                      <p:cBhvr>
                                        <p:cTn id="34" dur="500"/>
                                        <p:tgtEl>
                                          <p:spTgt spid="61458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614584"/>
                                        </p:tgtEl>
                                        <p:attrNameLst>
                                          <p:attrName>style.visibility</p:attrName>
                                        </p:attrNameLst>
                                      </p:cBhvr>
                                      <p:to>
                                        <p:strVal val="visible"/>
                                      </p:to>
                                    </p:set>
                                    <p:animEffect transition="in" filter="fade">
                                      <p:cBhvr>
                                        <p:cTn id="37" dur="500"/>
                                        <p:tgtEl>
                                          <p:spTgt spid="61458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614571"/>
                                        </p:tgtEl>
                                        <p:attrNameLst>
                                          <p:attrName>style.visibility</p:attrName>
                                        </p:attrNameLst>
                                      </p:cBhvr>
                                      <p:to>
                                        <p:strVal val="visible"/>
                                      </p:to>
                                    </p:set>
                                    <p:animEffect transition="in" filter="fade">
                                      <p:cBhvr>
                                        <p:cTn id="40" dur="500"/>
                                        <p:tgtEl>
                                          <p:spTgt spid="61457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614592"/>
                                        </p:tgtEl>
                                        <p:attrNameLst>
                                          <p:attrName>style.visibility</p:attrName>
                                        </p:attrNameLst>
                                      </p:cBhvr>
                                      <p:to>
                                        <p:strVal val="visible"/>
                                      </p:to>
                                    </p:set>
                                    <p:animEffect transition="in" filter="fade">
                                      <p:cBhvr>
                                        <p:cTn id="43" dur="500"/>
                                        <p:tgtEl>
                                          <p:spTgt spid="61459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614570"/>
                                        </p:tgtEl>
                                        <p:attrNameLst>
                                          <p:attrName>style.visibility</p:attrName>
                                        </p:attrNameLst>
                                      </p:cBhvr>
                                      <p:to>
                                        <p:strVal val="visible"/>
                                      </p:to>
                                    </p:set>
                                    <p:animEffect transition="in" filter="fade">
                                      <p:cBhvr>
                                        <p:cTn id="46" dur="500"/>
                                        <p:tgtEl>
                                          <p:spTgt spid="61457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48931"/>
                                        </p:tgtEl>
                                        <p:attrNameLst>
                                          <p:attrName>style.visibility</p:attrName>
                                        </p:attrNameLst>
                                      </p:cBhvr>
                                      <p:to>
                                        <p:strVal val="visible"/>
                                      </p:to>
                                    </p:set>
                                    <p:animEffect transition="in" filter="fade">
                                      <p:cBhvr>
                                        <p:cTn id="49" dur="500"/>
                                        <p:tgtEl>
                                          <p:spTgt spid="548931"/>
                                        </p:tgtEl>
                                      </p:cBhvr>
                                    </p:animEffect>
                                  </p:childTnLst>
                                </p:cTn>
                              </p:par>
                              <p:par>
                                <p:cTn id="50" presetID="10" presetClass="entr" presetSubtype="0" fill="hold" nodeType="withEffect">
                                  <p:stCondLst>
                                    <p:cond delay="0"/>
                                  </p:stCondLst>
                                  <p:childTnLst>
                                    <p:set>
                                      <p:cBhvr>
                                        <p:cTn id="51" dur="1" fill="hold">
                                          <p:stCondLst>
                                            <p:cond delay="0"/>
                                          </p:stCondLst>
                                        </p:cTn>
                                        <p:tgtEl>
                                          <p:spTgt spid="614568"/>
                                        </p:tgtEl>
                                        <p:attrNameLst>
                                          <p:attrName>style.visibility</p:attrName>
                                        </p:attrNameLst>
                                      </p:cBhvr>
                                      <p:to>
                                        <p:strVal val="visible"/>
                                      </p:to>
                                    </p:set>
                                    <p:animEffect transition="in" filter="fade">
                                      <p:cBhvr>
                                        <p:cTn id="52" dur="500"/>
                                        <p:tgtEl>
                                          <p:spTgt spid="614568"/>
                                        </p:tgtEl>
                                      </p:cBhvr>
                                    </p:animEffect>
                                  </p:childTnLst>
                                </p:cTn>
                              </p:par>
                              <p:par>
                                <p:cTn id="53" presetID="10" presetClass="entr" presetSubtype="0" fill="hold" nodeType="withEffect">
                                  <p:stCondLst>
                                    <p:cond delay="0"/>
                                  </p:stCondLst>
                                  <p:childTnLst>
                                    <p:set>
                                      <p:cBhvr>
                                        <p:cTn id="54" dur="1" fill="hold">
                                          <p:stCondLst>
                                            <p:cond delay="0"/>
                                          </p:stCondLst>
                                        </p:cTn>
                                        <p:tgtEl>
                                          <p:spTgt spid="614569"/>
                                        </p:tgtEl>
                                        <p:attrNameLst>
                                          <p:attrName>style.visibility</p:attrName>
                                        </p:attrNameLst>
                                      </p:cBhvr>
                                      <p:to>
                                        <p:strVal val="visible"/>
                                      </p:to>
                                    </p:set>
                                    <p:animEffect transition="in" filter="fade">
                                      <p:cBhvr>
                                        <p:cTn id="55" dur="500"/>
                                        <p:tgtEl>
                                          <p:spTgt spid="61456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614583"/>
                                        </p:tgtEl>
                                        <p:attrNameLst>
                                          <p:attrName>style.visibility</p:attrName>
                                        </p:attrNameLst>
                                      </p:cBhvr>
                                      <p:to>
                                        <p:strVal val="visible"/>
                                      </p:to>
                                    </p:set>
                                    <p:animEffect transition="in" filter="fade">
                                      <p:cBhvr>
                                        <p:cTn id="58" dur="500"/>
                                        <p:tgtEl>
                                          <p:spTgt spid="61458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614582"/>
                                        </p:tgtEl>
                                        <p:attrNameLst>
                                          <p:attrName>style.visibility</p:attrName>
                                        </p:attrNameLst>
                                      </p:cBhvr>
                                      <p:to>
                                        <p:strVal val="visible"/>
                                      </p:to>
                                    </p:set>
                                    <p:animEffect transition="in" filter="fade">
                                      <p:cBhvr>
                                        <p:cTn id="61" dur="500"/>
                                        <p:tgtEl>
                                          <p:spTgt spid="61458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614593"/>
                                        </p:tgtEl>
                                        <p:attrNameLst>
                                          <p:attrName>style.visibility</p:attrName>
                                        </p:attrNameLst>
                                      </p:cBhvr>
                                      <p:to>
                                        <p:strVal val="visible"/>
                                      </p:to>
                                    </p:set>
                                    <p:animEffect transition="in" filter="fade">
                                      <p:cBhvr>
                                        <p:cTn id="64" dur="500"/>
                                        <p:tgtEl>
                                          <p:spTgt spid="614593"/>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614597"/>
                                        </p:tgtEl>
                                        <p:attrNameLst>
                                          <p:attrName>style.visibility</p:attrName>
                                        </p:attrNameLst>
                                      </p:cBhvr>
                                      <p:to>
                                        <p:strVal val="visible"/>
                                      </p:to>
                                    </p:set>
                                    <p:animEffect transition="in" filter="fade">
                                      <p:cBhvr>
                                        <p:cTn id="69" dur="500"/>
                                        <p:tgtEl>
                                          <p:spTgt spid="614597"/>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614596"/>
                                        </p:tgtEl>
                                        <p:attrNameLst>
                                          <p:attrName>style.visibility</p:attrName>
                                        </p:attrNameLst>
                                      </p:cBhvr>
                                      <p:to>
                                        <p:strVal val="visible"/>
                                      </p:to>
                                    </p:set>
                                    <p:animEffect transition="in" filter="fade">
                                      <p:cBhvr>
                                        <p:cTn id="72" dur="500"/>
                                        <p:tgtEl>
                                          <p:spTgt spid="61459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
                                        </p:tgtEl>
                                        <p:attrNameLst>
                                          <p:attrName>style.visibility</p:attrName>
                                        </p:attrNameLst>
                                      </p:cBhvr>
                                      <p:to>
                                        <p:strVal val="visible"/>
                                      </p:to>
                                    </p:set>
                                    <p:animEffect transition="in" filter="fade">
                                      <p:cBhvr>
                                        <p:cTn id="75" dur="500"/>
                                        <p:tgtEl>
                                          <p:spTgt spid="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614594"/>
                                        </p:tgtEl>
                                        <p:attrNameLst>
                                          <p:attrName>style.visibility</p:attrName>
                                        </p:attrNameLst>
                                      </p:cBhvr>
                                      <p:to>
                                        <p:strVal val="visible"/>
                                      </p:to>
                                    </p:set>
                                    <p:animEffect transition="in" filter="fade">
                                      <p:cBhvr>
                                        <p:cTn id="78" dur="500"/>
                                        <p:tgtEl>
                                          <p:spTgt spid="614594"/>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614611"/>
                                        </p:tgtEl>
                                        <p:attrNameLst>
                                          <p:attrName>style.visibility</p:attrName>
                                        </p:attrNameLst>
                                      </p:cBhvr>
                                      <p:to>
                                        <p:strVal val="visible"/>
                                      </p:to>
                                    </p:set>
                                    <p:animEffect transition="in" filter="fade">
                                      <p:cBhvr>
                                        <p:cTn id="81" dur="500"/>
                                        <p:tgtEl>
                                          <p:spTgt spid="614611"/>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614579"/>
                                        </p:tgtEl>
                                        <p:attrNameLst>
                                          <p:attrName>style.visibility</p:attrName>
                                        </p:attrNameLst>
                                      </p:cBhvr>
                                      <p:to>
                                        <p:strVal val="visible"/>
                                      </p:to>
                                    </p:set>
                                    <p:animEffect transition="in" filter="fade">
                                      <p:cBhvr>
                                        <p:cTn id="84" dur="500"/>
                                        <p:tgtEl>
                                          <p:spTgt spid="61457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614578"/>
                                        </p:tgtEl>
                                        <p:attrNameLst>
                                          <p:attrName>style.visibility</p:attrName>
                                        </p:attrNameLst>
                                      </p:cBhvr>
                                      <p:to>
                                        <p:strVal val="visible"/>
                                      </p:to>
                                    </p:set>
                                    <p:animEffect transition="in" filter="fade">
                                      <p:cBhvr>
                                        <p:cTn id="87" dur="500"/>
                                        <p:tgtEl>
                                          <p:spTgt spid="614578"/>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614598"/>
                                        </p:tgtEl>
                                        <p:attrNameLst>
                                          <p:attrName>style.visibility</p:attrName>
                                        </p:attrNameLst>
                                      </p:cBhvr>
                                      <p:to>
                                        <p:strVal val="visible"/>
                                      </p:to>
                                    </p:set>
                                    <p:animEffect transition="in" filter="fade">
                                      <p:cBhvr>
                                        <p:cTn id="90" dur="500"/>
                                        <p:tgtEl>
                                          <p:spTgt spid="614598"/>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614608"/>
                                        </p:tgtEl>
                                        <p:attrNameLst>
                                          <p:attrName>style.visibility</p:attrName>
                                        </p:attrNameLst>
                                      </p:cBhvr>
                                      <p:to>
                                        <p:strVal val="visible"/>
                                      </p:to>
                                    </p:set>
                                    <p:animEffect transition="in" filter="fade">
                                      <p:cBhvr>
                                        <p:cTn id="95" dur="500"/>
                                        <p:tgtEl>
                                          <p:spTgt spid="614608"/>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
                                        </p:tgtEl>
                                        <p:attrNameLst>
                                          <p:attrName>style.visibility</p:attrName>
                                        </p:attrNameLst>
                                      </p:cBhvr>
                                      <p:to>
                                        <p:strVal val="visible"/>
                                      </p:to>
                                    </p:set>
                                    <p:animEffect transition="in" filter="fade">
                                      <p:cBhvr>
                                        <p:cTn id="98" dur="500"/>
                                        <p:tgtEl>
                                          <p:spTgt spid="3"/>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614590"/>
                                        </p:tgtEl>
                                        <p:attrNameLst>
                                          <p:attrName>style.visibility</p:attrName>
                                        </p:attrNameLst>
                                      </p:cBhvr>
                                      <p:to>
                                        <p:strVal val="visible"/>
                                      </p:to>
                                    </p:set>
                                    <p:animEffect transition="in" filter="fade">
                                      <p:cBhvr>
                                        <p:cTn id="101" dur="500"/>
                                        <p:tgtEl>
                                          <p:spTgt spid="614590"/>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614591"/>
                                        </p:tgtEl>
                                        <p:attrNameLst>
                                          <p:attrName>style.visibility</p:attrName>
                                        </p:attrNameLst>
                                      </p:cBhvr>
                                      <p:to>
                                        <p:strVal val="visible"/>
                                      </p:to>
                                    </p:set>
                                    <p:animEffect transition="in" filter="fade">
                                      <p:cBhvr>
                                        <p:cTn id="104" dur="500"/>
                                        <p:tgtEl>
                                          <p:spTgt spid="614591"/>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614607"/>
                                        </p:tgtEl>
                                        <p:attrNameLst>
                                          <p:attrName>style.visibility</p:attrName>
                                        </p:attrNameLst>
                                      </p:cBhvr>
                                      <p:to>
                                        <p:strVal val="visible"/>
                                      </p:to>
                                    </p:set>
                                    <p:animEffect transition="in" filter="fade">
                                      <p:cBhvr>
                                        <p:cTn id="107" dur="500"/>
                                        <p:tgtEl>
                                          <p:spTgt spid="614607"/>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614601"/>
                                        </p:tgtEl>
                                        <p:attrNameLst>
                                          <p:attrName>style.visibility</p:attrName>
                                        </p:attrNameLst>
                                      </p:cBhvr>
                                      <p:to>
                                        <p:strVal val="visible"/>
                                      </p:to>
                                    </p:set>
                                    <p:animEffect transition="in" filter="fade">
                                      <p:cBhvr>
                                        <p:cTn id="110" dur="500"/>
                                        <p:tgtEl>
                                          <p:spTgt spid="614601"/>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614580"/>
                                        </p:tgtEl>
                                        <p:attrNameLst>
                                          <p:attrName>style.visibility</p:attrName>
                                        </p:attrNameLst>
                                      </p:cBhvr>
                                      <p:to>
                                        <p:strVal val="visible"/>
                                      </p:to>
                                    </p:set>
                                    <p:animEffect transition="in" filter="fade">
                                      <p:cBhvr>
                                        <p:cTn id="113" dur="500"/>
                                        <p:tgtEl>
                                          <p:spTgt spid="614580"/>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614581"/>
                                        </p:tgtEl>
                                        <p:attrNameLst>
                                          <p:attrName>style.visibility</p:attrName>
                                        </p:attrNameLst>
                                      </p:cBhvr>
                                      <p:to>
                                        <p:strVal val="visible"/>
                                      </p:to>
                                    </p:set>
                                    <p:animEffect transition="in" filter="fade">
                                      <p:cBhvr>
                                        <p:cTn id="116" dur="500"/>
                                        <p:tgtEl>
                                          <p:spTgt spid="614581"/>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614602"/>
                                        </p:tgtEl>
                                        <p:attrNameLst>
                                          <p:attrName>style.visibility</p:attrName>
                                        </p:attrNameLst>
                                      </p:cBhvr>
                                      <p:to>
                                        <p:strVal val="visible"/>
                                      </p:to>
                                    </p:set>
                                    <p:animEffect transition="in" filter="fade">
                                      <p:cBhvr>
                                        <p:cTn id="121" dur="500"/>
                                        <p:tgtEl>
                                          <p:spTgt spid="614602"/>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614589"/>
                                        </p:tgtEl>
                                        <p:attrNameLst>
                                          <p:attrName>style.visibility</p:attrName>
                                        </p:attrNameLst>
                                      </p:cBhvr>
                                      <p:to>
                                        <p:strVal val="visible"/>
                                      </p:to>
                                    </p:set>
                                    <p:animEffect transition="in" filter="fade">
                                      <p:cBhvr>
                                        <p:cTn id="124" dur="500"/>
                                        <p:tgtEl>
                                          <p:spTgt spid="614589"/>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614588"/>
                                        </p:tgtEl>
                                        <p:attrNameLst>
                                          <p:attrName>style.visibility</p:attrName>
                                        </p:attrNameLst>
                                      </p:cBhvr>
                                      <p:to>
                                        <p:strVal val="visible"/>
                                      </p:to>
                                    </p:set>
                                    <p:animEffect transition="in" filter="fade">
                                      <p:cBhvr>
                                        <p:cTn id="127" dur="500"/>
                                        <p:tgtEl>
                                          <p:spTgt spid="614588"/>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614604"/>
                                        </p:tgtEl>
                                        <p:attrNameLst>
                                          <p:attrName>style.visibility</p:attrName>
                                        </p:attrNameLst>
                                      </p:cBhvr>
                                      <p:to>
                                        <p:strVal val="visible"/>
                                      </p:to>
                                    </p:set>
                                    <p:animEffect transition="in" filter="fade">
                                      <p:cBhvr>
                                        <p:cTn id="130" dur="500"/>
                                        <p:tgtEl>
                                          <p:spTgt spid="614604"/>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614603"/>
                                        </p:tgtEl>
                                        <p:attrNameLst>
                                          <p:attrName>style.visibility</p:attrName>
                                        </p:attrNameLst>
                                      </p:cBhvr>
                                      <p:to>
                                        <p:strVal val="visible"/>
                                      </p:to>
                                    </p:set>
                                    <p:animEffect transition="in" filter="fade">
                                      <p:cBhvr>
                                        <p:cTn id="133" dur="500"/>
                                        <p:tgtEl>
                                          <p:spTgt spid="614603"/>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614575"/>
                                        </p:tgtEl>
                                        <p:attrNameLst>
                                          <p:attrName>style.visibility</p:attrName>
                                        </p:attrNameLst>
                                      </p:cBhvr>
                                      <p:to>
                                        <p:strVal val="visible"/>
                                      </p:to>
                                    </p:set>
                                    <p:animEffect transition="in" filter="fade">
                                      <p:cBhvr>
                                        <p:cTn id="136" dur="500"/>
                                        <p:tgtEl>
                                          <p:spTgt spid="614575"/>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614574"/>
                                        </p:tgtEl>
                                        <p:attrNameLst>
                                          <p:attrName>style.visibility</p:attrName>
                                        </p:attrNameLst>
                                      </p:cBhvr>
                                      <p:to>
                                        <p:strVal val="visible"/>
                                      </p:to>
                                    </p:set>
                                    <p:animEffect transition="in" filter="fade">
                                      <p:cBhvr>
                                        <p:cTn id="139" dur="500"/>
                                        <p:tgtEl>
                                          <p:spTgt spid="614574"/>
                                        </p:tgtEl>
                                      </p:cBhvr>
                                    </p:animEffect>
                                  </p:childTnLst>
                                </p:cTn>
                              </p:par>
                              <p:par>
                                <p:cTn id="140" presetID="10" presetClass="entr" presetSubtype="0" fill="hold" grpId="1" nodeType="withEffect">
                                  <p:stCondLst>
                                    <p:cond delay="0"/>
                                  </p:stCondLst>
                                  <p:childTnLst>
                                    <p:set>
                                      <p:cBhvr>
                                        <p:cTn id="141" dur="1" fill="hold">
                                          <p:stCondLst>
                                            <p:cond delay="0"/>
                                          </p:stCondLst>
                                        </p:cTn>
                                        <p:tgtEl>
                                          <p:spTgt spid="614571"/>
                                        </p:tgtEl>
                                        <p:attrNameLst>
                                          <p:attrName>style.visibility</p:attrName>
                                        </p:attrNameLst>
                                      </p:cBhvr>
                                      <p:to>
                                        <p:strVal val="visible"/>
                                      </p:to>
                                    </p:set>
                                    <p:animEffect transition="in" filter="fade">
                                      <p:cBhvr>
                                        <p:cTn id="142" dur="500"/>
                                        <p:tgtEl>
                                          <p:spTgt spid="614571"/>
                                        </p:tgtEl>
                                      </p:cBhvr>
                                    </p:animEffect>
                                  </p:childTnLst>
                                </p:cTn>
                              </p:par>
                              <p:par>
                                <p:cTn id="143" presetID="10" presetClass="entr" presetSubtype="0" fill="hold" grpId="1" nodeType="withEffect">
                                  <p:stCondLst>
                                    <p:cond delay="0"/>
                                  </p:stCondLst>
                                  <p:childTnLst>
                                    <p:set>
                                      <p:cBhvr>
                                        <p:cTn id="144" dur="1" fill="hold">
                                          <p:stCondLst>
                                            <p:cond delay="0"/>
                                          </p:stCondLst>
                                        </p:cTn>
                                        <p:tgtEl>
                                          <p:spTgt spid="614592"/>
                                        </p:tgtEl>
                                        <p:attrNameLst>
                                          <p:attrName>style.visibility</p:attrName>
                                        </p:attrNameLst>
                                      </p:cBhvr>
                                      <p:to>
                                        <p:strVal val="visible"/>
                                      </p:to>
                                    </p:set>
                                    <p:animEffect transition="in" filter="fade">
                                      <p:cBhvr>
                                        <p:cTn id="145" dur="500"/>
                                        <p:tgtEl>
                                          <p:spTgt spid="614592"/>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614572"/>
                                        </p:tgtEl>
                                        <p:attrNameLst>
                                          <p:attrName>style.visibility</p:attrName>
                                        </p:attrNameLst>
                                      </p:cBhvr>
                                      <p:to>
                                        <p:strVal val="visible"/>
                                      </p:to>
                                    </p:set>
                                    <p:animEffect transition="in" filter="fade">
                                      <p:cBhvr>
                                        <p:cTn id="148" dur="500"/>
                                        <p:tgtEl>
                                          <p:spTgt spid="614572"/>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614573"/>
                                        </p:tgtEl>
                                        <p:attrNameLst>
                                          <p:attrName>style.visibility</p:attrName>
                                        </p:attrNameLst>
                                      </p:cBhvr>
                                      <p:to>
                                        <p:strVal val="visible"/>
                                      </p:to>
                                    </p:set>
                                    <p:animEffect transition="in" filter="fade">
                                      <p:cBhvr>
                                        <p:cTn id="151" dur="500"/>
                                        <p:tgtEl>
                                          <p:spTgt spid="614573"/>
                                        </p:tgtEl>
                                      </p:cBhvr>
                                    </p:animEffect>
                                  </p:childTnLst>
                                </p:cTn>
                              </p:par>
                              <p:par>
                                <p:cTn id="152" presetID="10" presetClass="entr" presetSubtype="0" fill="hold" nodeType="withEffect">
                                  <p:stCondLst>
                                    <p:cond delay="0"/>
                                  </p:stCondLst>
                                  <p:childTnLst>
                                    <p:set>
                                      <p:cBhvr>
                                        <p:cTn id="153" dur="1" fill="hold">
                                          <p:stCondLst>
                                            <p:cond delay="0"/>
                                          </p:stCondLst>
                                        </p:cTn>
                                        <p:tgtEl>
                                          <p:spTgt spid="614567"/>
                                        </p:tgtEl>
                                        <p:attrNameLst>
                                          <p:attrName>style.visibility</p:attrName>
                                        </p:attrNameLst>
                                      </p:cBhvr>
                                      <p:to>
                                        <p:strVal val="visible"/>
                                      </p:to>
                                    </p:set>
                                    <p:animEffect transition="in" filter="fade">
                                      <p:cBhvr>
                                        <p:cTn id="154" dur="500"/>
                                        <p:tgtEl>
                                          <p:spTgt spid="614567"/>
                                        </p:tgtEl>
                                      </p:cBhvr>
                                    </p:animEffect>
                                  </p:childTnLst>
                                </p:cTn>
                              </p:par>
                              <p:par>
                                <p:cTn id="155" presetID="10" presetClass="entr" presetSubtype="0" fill="hold" nodeType="withEffect">
                                  <p:stCondLst>
                                    <p:cond delay="0"/>
                                  </p:stCondLst>
                                  <p:childTnLst>
                                    <p:set>
                                      <p:cBhvr>
                                        <p:cTn id="156" dur="1" fill="hold">
                                          <p:stCondLst>
                                            <p:cond delay="0"/>
                                          </p:stCondLst>
                                        </p:cTn>
                                        <p:tgtEl>
                                          <p:spTgt spid="614566"/>
                                        </p:tgtEl>
                                        <p:attrNameLst>
                                          <p:attrName>style.visibility</p:attrName>
                                        </p:attrNameLst>
                                      </p:cBhvr>
                                      <p:to>
                                        <p:strVal val="visible"/>
                                      </p:to>
                                    </p:set>
                                    <p:animEffect transition="in" filter="fade">
                                      <p:cBhvr>
                                        <p:cTn id="157" dur="500"/>
                                        <p:tgtEl>
                                          <p:spTgt spid="614566"/>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614605"/>
                                        </p:tgtEl>
                                        <p:attrNameLst>
                                          <p:attrName>style.visibility</p:attrName>
                                        </p:attrNameLst>
                                      </p:cBhvr>
                                      <p:to>
                                        <p:strVal val="visible"/>
                                      </p:to>
                                    </p:set>
                                    <p:animEffect transition="in" filter="fade">
                                      <p:cBhvr>
                                        <p:cTn id="160" dur="500"/>
                                        <p:tgtEl>
                                          <p:spTgt spid="614605"/>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614606"/>
                                        </p:tgtEl>
                                        <p:attrNameLst>
                                          <p:attrName>style.visibility</p:attrName>
                                        </p:attrNameLst>
                                      </p:cBhvr>
                                      <p:to>
                                        <p:strVal val="visible"/>
                                      </p:to>
                                    </p:set>
                                    <p:animEffect transition="in" filter="fade">
                                      <p:cBhvr>
                                        <p:cTn id="163" dur="500"/>
                                        <p:tgtEl>
                                          <p:spTgt spid="614606"/>
                                        </p:tgtEl>
                                      </p:cBhvr>
                                    </p:animEffect>
                                  </p:childTnLst>
                                </p:cTn>
                              </p:par>
                            </p:childTnLst>
                          </p:cTn>
                        </p:par>
                      </p:childTnLst>
                    </p:cTn>
                  </p:par>
                  <p:par>
                    <p:cTn id="164" fill="hold">
                      <p:stCondLst>
                        <p:cond delay="indefinite"/>
                      </p:stCondLst>
                      <p:childTnLst>
                        <p:par>
                          <p:cTn id="165" fill="hold">
                            <p:stCondLst>
                              <p:cond delay="0"/>
                            </p:stCondLst>
                            <p:childTnLst>
                              <p:par>
                                <p:cTn id="166" presetID="10" presetClass="entr" presetSubtype="0" fill="hold" grpId="0" nodeType="clickEffect">
                                  <p:stCondLst>
                                    <p:cond delay="0"/>
                                  </p:stCondLst>
                                  <p:childTnLst>
                                    <p:set>
                                      <p:cBhvr>
                                        <p:cTn id="167" dur="1" fill="hold">
                                          <p:stCondLst>
                                            <p:cond delay="0"/>
                                          </p:stCondLst>
                                        </p:cTn>
                                        <p:tgtEl>
                                          <p:spTgt spid="54"/>
                                        </p:tgtEl>
                                        <p:attrNameLst>
                                          <p:attrName>style.visibility</p:attrName>
                                        </p:attrNameLst>
                                      </p:cBhvr>
                                      <p:to>
                                        <p:strVal val="visible"/>
                                      </p:to>
                                    </p:set>
                                    <p:animEffect transition="in" filter="fade">
                                      <p:cBhvr>
                                        <p:cTn id="168"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515" grpId="0"/>
      <p:bldP spid="614570" grpId="0"/>
      <p:bldP spid="614571" grpId="0"/>
      <p:bldP spid="614571" grpId="1"/>
      <p:bldP spid="614572" grpId="0"/>
      <p:bldP spid="614573" grpId="0"/>
      <p:bldP spid="614574" grpId="0"/>
      <p:bldP spid="614575" grpId="0"/>
      <p:bldP spid="614576" grpId="0"/>
      <p:bldP spid="614577" grpId="0"/>
      <p:bldP spid="614578" grpId="0"/>
      <p:bldP spid="614579" grpId="0"/>
      <p:bldP spid="614580" grpId="0"/>
      <p:bldP spid="614581" grpId="0"/>
      <p:bldP spid="614582" grpId="0"/>
      <p:bldP spid="614583" grpId="0"/>
      <p:bldP spid="614584" grpId="0"/>
      <p:bldP spid="614585" grpId="0"/>
      <p:bldP spid="614586" grpId="0"/>
      <p:bldP spid="614587" grpId="0"/>
      <p:bldP spid="614588" grpId="0"/>
      <p:bldP spid="614589" grpId="0"/>
      <p:bldP spid="614590" grpId="0" animBg="1"/>
      <p:bldP spid="614591" grpId="0" animBg="1"/>
      <p:bldP spid="614592" grpId="0" animBg="1"/>
      <p:bldP spid="614592" grpId="1" animBg="1"/>
      <p:bldP spid="614593" grpId="0" animBg="1"/>
      <p:bldP spid="614594" grpId="0" animBg="1"/>
      <p:bldP spid="614595" grpId="0" animBg="1"/>
      <p:bldP spid="614596" grpId="0" animBg="1"/>
      <p:bldP spid="614597" grpId="0" animBg="1"/>
      <p:bldP spid="614598" grpId="0" animBg="1"/>
      <p:bldP spid="614599" grpId="0"/>
      <p:bldP spid="614600" grpId="0" animBg="1"/>
      <p:bldP spid="614601" grpId="0" animBg="1"/>
      <p:bldP spid="614602" grpId="0" animBg="1"/>
      <p:bldP spid="614603" grpId="0" animBg="1"/>
      <p:bldP spid="614604" grpId="0" animBg="1"/>
      <p:bldP spid="614605" grpId="0" animBg="1"/>
      <p:bldP spid="614606" grpId="0" animBg="1"/>
      <p:bldP spid="614607" grpId="0" animBg="1"/>
      <p:bldP spid="614608" grpId="0" animBg="1"/>
      <p:bldP spid="548930" grpId="0"/>
      <p:bldP spid="548931" grpId="0"/>
      <p:bldP spid="614611" grpId="0" animBg="1"/>
      <p:bldP spid="2" grpId="0"/>
      <p:bldP spid="3" grpId="0"/>
      <p:bldP spid="5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3" name="Content Placeholder 2"/>
          <p:cNvSpPr>
            <a:spLocks noGrp="1"/>
          </p:cNvSpPr>
          <p:nvPr>
            <p:ph idx="1"/>
          </p:nvPr>
        </p:nvSpPr>
        <p:spPr>
          <a:xfrm>
            <a:off x="228600" y="1295400"/>
            <a:ext cx="8686800" cy="5060950"/>
          </a:xfrm>
        </p:spPr>
        <p:txBody>
          <a:bodyPr>
            <a:noAutofit/>
          </a:bodyPr>
          <a:lstStyle/>
          <a:p>
            <a:r>
              <a:rPr lang="en-US" sz="2800" dirty="0"/>
              <a:t>Consumers in Mayville consider houses and apartments to be substitutes. There is an increase in the price of houses in Mayville at the same time three new apartment buildings open there. In the market for apartments in Mayville:</a:t>
            </a:r>
          </a:p>
          <a:p>
            <a:pPr marL="457200" indent="-457200">
              <a:buFont typeface="+mj-lt"/>
              <a:buAutoNum type="alphaLcParenR"/>
            </a:pPr>
            <a:r>
              <a:rPr lang="en-US" sz="2800" dirty="0"/>
              <a:t>the equilibrium price will rise.</a:t>
            </a:r>
          </a:p>
          <a:p>
            <a:pPr marL="457200" indent="-457200">
              <a:buFont typeface="+mj-lt"/>
              <a:buAutoNum type="alphaLcParenR"/>
            </a:pPr>
            <a:r>
              <a:rPr lang="en-US" sz="2800" dirty="0"/>
              <a:t>the equilibrium price will fall.</a:t>
            </a:r>
          </a:p>
          <a:p>
            <a:pPr marL="457200" indent="-457200">
              <a:buFont typeface="+mj-lt"/>
              <a:buAutoNum type="alphaLcParenR"/>
            </a:pPr>
            <a:r>
              <a:rPr lang="en-US" sz="2800" dirty="0"/>
              <a:t>the equilibrium quantity will rise.</a:t>
            </a:r>
          </a:p>
          <a:p>
            <a:pPr marL="457200" indent="-457200">
              <a:buFont typeface="+mj-lt"/>
              <a:buAutoNum type="alphaLcParenR"/>
            </a:pPr>
            <a:r>
              <a:rPr lang="en-US" sz="2800" dirty="0"/>
              <a:t>the equilibrium quantity will fall.</a:t>
            </a:r>
          </a:p>
        </p:txBody>
      </p:sp>
    </p:spTree>
    <p:extLst>
      <p:ext uri="{BB962C8B-B14F-4D97-AF65-F5344CB8AC3E}">
        <p14:creationId xmlns:p14="http://schemas.microsoft.com/office/powerpoint/2010/main" val="904375381"/>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question"/>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200400" y="4640581"/>
            <a:ext cx="2285999" cy="221742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a:bodyPr>
          <a:lstStyle/>
          <a:p>
            <a:r>
              <a:rPr lang="en-US" sz="3600" dirty="0"/>
              <a:t>COMPETITIVE MARKETS—AND OTHERS</a:t>
            </a:r>
          </a:p>
        </p:txBody>
      </p:sp>
      <p:sp>
        <p:nvSpPr>
          <p:cNvPr id="3" name="Content Placeholder 2"/>
          <p:cNvSpPr>
            <a:spLocks noGrp="1"/>
          </p:cNvSpPr>
          <p:nvPr>
            <p:ph idx="1"/>
          </p:nvPr>
        </p:nvSpPr>
        <p:spPr/>
        <p:txBody>
          <a:bodyPr>
            <a:normAutofit/>
          </a:bodyPr>
          <a:lstStyle/>
          <a:p>
            <a:r>
              <a:rPr lang="en-US" dirty="0"/>
              <a:t>When markets are not competitive (as we’ll see in future chapters), things get a little more complicated.</a:t>
            </a:r>
          </a:p>
          <a:p>
            <a:endParaRPr lang="en-US" dirty="0"/>
          </a:p>
          <a:p>
            <a:r>
              <a:rPr lang="en-US" dirty="0"/>
              <a:t>For instance, large sellers will have to predict how their production, marketing, and pricing decisions will affect the entire market (and their own profits).</a:t>
            </a:r>
          </a:p>
        </p:txBody>
      </p:sp>
    </p:spTree>
    <p:extLst>
      <p:ext uri="{BB962C8B-B14F-4D97-AF65-F5344CB8AC3E}">
        <p14:creationId xmlns:p14="http://schemas.microsoft.com/office/powerpoint/2010/main" val="427366295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b36b51b489c4ca4a433848442769c5724e52fb9"/>
</p:tagLst>
</file>

<file path=ppt/theme/theme1.xml><?xml version="1.0" encoding="utf-8"?>
<a:theme xmlns:a="http://schemas.openxmlformats.org/drawingml/2006/main" name="2_Custom Design">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4e Krugman Theme">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6_Custom Design">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_Newest 2e theme">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Custom 1">
      <a:majorFont>
        <a:latin typeface="Garamond"/>
        <a:ea typeface=""/>
        <a:cs typeface=""/>
      </a:majorFont>
      <a:minorFont>
        <a:latin typeface="Century Gothic"/>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0_Stone ppt Theme1">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11_Stone ppt Theme1">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12_Stone ppt Theme1">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3_Stone ppt Theme1">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7_Custom Design">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newer Krugman PPT theme">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8_Krugman 3e main content">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9_Krugman 3e main content">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10_Krugman 3e main content">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Krugman 3e Pitfalls">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name="11_Krugman 3e main content">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Krugman 3e theme</Template>
  <TotalTime>10083</TotalTime>
  <Words>3419</Words>
  <Application>Microsoft Macintosh PowerPoint</Application>
  <PresentationFormat>On-screen Show (4:3)</PresentationFormat>
  <Paragraphs>659</Paragraphs>
  <Slides>55</Slides>
  <Notes>50</Notes>
  <HiddenSlides>0</HiddenSlides>
  <MMClips>0</MMClips>
  <ScaleCrop>false</ScaleCrop>
  <HeadingPairs>
    <vt:vector size="6" baseType="variant">
      <vt:variant>
        <vt:lpstr>Fonts Used</vt:lpstr>
      </vt:variant>
      <vt:variant>
        <vt:i4>8</vt:i4>
      </vt:variant>
      <vt:variant>
        <vt:lpstr>Theme</vt:lpstr>
      </vt:variant>
      <vt:variant>
        <vt:i4>16</vt:i4>
      </vt:variant>
      <vt:variant>
        <vt:lpstr>Slide Titles</vt:lpstr>
      </vt:variant>
      <vt:variant>
        <vt:i4>55</vt:i4>
      </vt:variant>
    </vt:vector>
  </HeadingPairs>
  <TitlesOfParts>
    <vt:vector size="79" baseType="lpstr">
      <vt:lpstr>Arial</vt:lpstr>
      <vt:lpstr>Calibri</vt:lpstr>
      <vt:lpstr>Candara</vt:lpstr>
      <vt:lpstr>Century Gothic</vt:lpstr>
      <vt:lpstr>Gill Sans</vt:lpstr>
      <vt:lpstr>Times</vt:lpstr>
      <vt:lpstr>Verdana</vt:lpstr>
      <vt:lpstr>Wingdings</vt:lpstr>
      <vt:lpstr>2_Custom Design</vt:lpstr>
      <vt:lpstr>Custom Design</vt:lpstr>
      <vt:lpstr>4e Krugman Theme</vt:lpstr>
      <vt:lpstr>6_Custom Design</vt:lpstr>
      <vt:lpstr>1_Newest 2e theme</vt:lpstr>
      <vt:lpstr>10_Stone ppt Theme1</vt:lpstr>
      <vt:lpstr>11_Stone ppt Theme1</vt:lpstr>
      <vt:lpstr>12_Stone ppt Theme1</vt:lpstr>
      <vt:lpstr>13_Stone ppt Theme1</vt:lpstr>
      <vt:lpstr>7_Custom Design</vt:lpstr>
      <vt:lpstr>newer Krugman PPT theme</vt:lpstr>
      <vt:lpstr>8_Krugman 3e main content</vt:lpstr>
      <vt:lpstr>9_Krugman 3e main content</vt:lpstr>
      <vt:lpstr>10_Krugman 3e main content</vt:lpstr>
      <vt:lpstr>Krugman 3e Pitfalls</vt:lpstr>
      <vt:lpstr>11_Krugman 3e main content</vt:lpstr>
      <vt:lpstr>Economics 2220 Principles Of Macroeconomics</vt:lpstr>
      <vt:lpstr>PowerPoint Presentation</vt:lpstr>
      <vt:lpstr>PowerPoint Presentation</vt:lpstr>
      <vt:lpstr>PowerPoint Presentation</vt:lpstr>
      <vt:lpstr>COMPETITIVE MARKETS</vt:lpstr>
      <vt:lpstr>DEMAND</vt:lpstr>
      <vt:lpstr>THE DEMAND SCHEDULE AND THE DEMAND CURVE</vt:lpstr>
      <vt:lpstr>PowerPoint Presentation</vt:lpstr>
      <vt:lpstr>CHANGES IN DEMAND VS. CHANGES IN QUANTITY DEMANDED</vt:lpstr>
      <vt:lpstr>THE DEMAND SCHEDULE AND THE DEMAND CURVE</vt:lpstr>
      <vt:lpstr>SHIFTS OF THE DEMAND CURVE</vt:lpstr>
      <vt:lpstr>SHIFTS OF THE DEMAND CURVE</vt:lpstr>
      <vt:lpstr>UNDERSTANDING SHIFTS OF THE DEMAND CURVE</vt:lpstr>
      <vt:lpstr>CHANGES IN PRICE OF RELATED GOODS: SUBSTITUTES</vt:lpstr>
      <vt:lpstr>CHANGES IN PRICE OF RELATED GOODS: COMPLEMENTS</vt:lpstr>
      <vt:lpstr>CHANGES IN INCOME</vt:lpstr>
      <vt:lpstr>CHANGES IN TASTES</vt:lpstr>
      <vt:lpstr>CHANGES IN EXPECTATIONS</vt:lpstr>
      <vt:lpstr>PowerPoint Presentation</vt:lpstr>
      <vt:lpstr>CHANGES IN THE NUMBER OF CONSUMERS</vt:lpstr>
      <vt:lpstr>PowerPoint Presentation</vt:lpstr>
      <vt:lpstr>INDIVIDUAL DEMAND CURVES AND THE MARKET DEMAND CURVE</vt:lpstr>
      <vt:lpstr>PowerPoint Presentation</vt:lpstr>
      <vt:lpstr>SUPPLY</vt:lpstr>
      <vt:lpstr>THE SUPPLY SCHEDULE AND THE SUPPLY CURVE</vt:lpstr>
      <vt:lpstr>AN INCREASE IN SUPPLY</vt:lpstr>
      <vt:lpstr>SHIFTS OF THE SUPPLY CURVE</vt:lpstr>
      <vt:lpstr>UNDERSTANDING SHIFTS OF THE SUPPLY CURVE</vt:lpstr>
      <vt:lpstr>CHANGES IN INPUT PRICES</vt:lpstr>
      <vt:lpstr>CHANGES IN INPUT PRICES</vt:lpstr>
      <vt:lpstr>CHANGES IN THE PRICE OF RELATED GOODS OR SERVICES</vt:lpstr>
      <vt:lpstr>CHANGES IN TECHNOLOGY</vt:lpstr>
      <vt:lpstr>CHANGES IN EXPECTATIONS</vt:lpstr>
      <vt:lpstr>CHANGES IN EXPECTATIONS</vt:lpstr>
      <vt:lpstr>CHANGES IN EXPECTATIONS</vt:lpstr>
      <vt:lpstr>CHANGES IN NUMBER OF PRODUCERS</vt:lpstr>
      <vt:lpstr>THE INDIVIDUAL SUPPLY CURVE AND THE MARKET SUPPLY CURVE</vt:lpstr>
      <vt:lpstr>SUPPLY, DEMAND AND MARKET EQUILIBRIUM</vt:lpstr>
      <vt:lpstr>PowerPoint Presentation</vt:lpstr>
      <vt:lpstr>FINDING THE EQUILIBRIUM PRICE AND QUANTITY</vt:lpstr>
      <vt:lpstr>WHY DO ALL SALES AND PURCHASES IN A MARKET TAKE PLACE AT THE SAME PRICE?</vt:lpstr>
      <vt:lpstr>WHY DO ALL SALES AND PURCHASES IN A MARKET TAKE PLACE AT THE SAME PRICE?</vt:lpstr>
      <vt:lpstr>WHY DOES THE MARKET PRICE FALL IF IT IS ABOVE THE EQUILIBRIUM PRICE?</vt:lpstr>
      <vt:lpstr>WHY DOES THE MARKET PRICE RISE IF IT IS BELOW THE EQUILIBRIUM PRICE?</vt:lpstr>
      <vt:lpstr>PowerPoint Presentation</vt:lpstr>
      <vt:lpstr>WHAT HAPPENS WHEN THE DEMAND CURVE SHIFTS</vt:lpstr>
      <vt:lpstr>WHAT HAPPENS WHEN THE SUPPLY CURVE SHIFTS</vt:lpstr>
      <vt:lpstr>PowerPoint Presentation</vt:lpstr>
      <vt:lpstr>PowerPoint Presentation</vt:lpstr>
      <vt:lpstr>PowerPoint Presentation</vt:lpstr>
      <vt:lpstr>PowerPoint Presentation</vt:lpstr>
      <vt:lpstr>SIMULTANEOUS SHIFTS OF SUPPLY AND DEMAND</vt:lpstr>
      <vt:lpstr>SIMULTANEOUS SHIFTS OF SUPPLY AND DEMAND</vt:lpstr>
      <vt:lpstr>PowerPoint Presentation</vt:lpstr>
      <vt:lpstr>COMPETITIVE MARKETS—AND OTHERS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Economic Models: Trade-Offs and Trade</dc:title>
  <dc:subject/>
  <dc:creator>Solina Lindahl</dc:creator>
  <cp:keywords/>
  <dc:description/>
  <cp:lastModifiedBy>Zhigang Feng</cp:lastModifiedBy>
  <cp:revision>228</cp:revision>
  <dcterms:created xsi:type="dcterms:W3CDTF">2012-06-20T14:36:21Z</dcterms:created>
  <dcterms:modified xsi:type="dcterms:W3CDTF">2022-09-07T13:42:08Z</dcterms:modified>
  <cp:category/>
</cp:coreProperties>
</file>