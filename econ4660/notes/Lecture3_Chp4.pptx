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9" r:id="rId4"/>
    <p:sldId id="361" r:id="rId5"/>
    <p:sldId id="352" r:id="rId6"/>
    <p:sldId id="288" r:id="rId7"/>
    <p:sldId id="353" r:id="rId8"/>
    <p:sldId id="340" r:id="rId9"/>
    <p:sldId id="341" r:id="rId10"/>
    <p:sldId id="306" r:id="rId11"/>
    <p:sldId id="332" r:id="rId12"/>
    <p:sldId id="333" r:id="rId13"/>
    <p:sldId id="347" r:id="rId14"/>
    <p:sldId id="330" r:id="rId15"/>
    <p:sldId id="331" r:id="rId16"/>
    <p:sldId id="260" r:id="rId17"/>
    <p:sldId id="265" r:id="rId18"/>
    <p:sldId id="266" r:id="rId19"/>
    <p:sldId id="263" r:id="rId20"/>
    <p:sldId id="262" r:id="rId21"/>
    <p:sldId id="261" r:id="rId22"/>
    <p:sldId id="267" r:id="rId23"/>
    <p:sldId id="268" r:id="rId24"/>
    <p:sldId id="270" r:id="rId25"/>
    <p:sldId id="269" r:id="rId26"/>
    <p:sldId id="271" r:id="rId27"/>
    <p:sldId id="272" r:id="rId28"/>
    <p:sldId id="275" r:id="rId29"/>
    <p:sldId id="274" r:id="rId30"/>
    <p:sldId id="276" r:id="rId31"/>
    <p:sldId id="277" r:id="rId32"/>
    <p:sldId id="279" r:id="rId33"/>
    <p:sldId id="278" r:id="rId34"/>
    <p:sldId id="282" r:id="rId35"/>
    <p:sldId id="280" r:id="rId36"/>
    <p:sldId id="281" r:id="rId37"/>
    <p:sldId id="334" r:id="rId38"/>
    <p:sldId id="283" r:id="rId39"/>
    <p:sldId id="355" r:id="rId40"/>
    <p:sldId id="358" r:id="rId41"/>
    <p:sldId id="356" r:id="rId42"/>
    <p:sldId id="357" r:id="rId43"/>
    <p:sldId id="284" r:id="rId44"/>
    <p:sldId id="344" r:id="rId45"/>
    <p:sldId id="345" r:id="rId46"/>
    <p:sldId id="346" r:id="rId47"/>
    <p:sldId id="359" r:id="rId48"/>
    <p:sldId id="360" r:id="rId49"/>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68" autoAdjust="0"/>
    <p:restoredTop sz="63741"/>
  </p:normalViewPr>
  <p:slideViewPr>
    <p:cSldViewPr>
      <p:cViewPr varScale="1">
        <p:scale>
          <a:sx n="79" d="100"/>
          <a:sy n="79" d="100"/>
        </p:scale>
        <p:origin x="1880" y="1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gang Feng" userId="3218556_tp_dropbox" providerId="OAuth2" clId="{204798D8-AC2F-0C4D-9557-E504459D72FC}"/>
    <pc:docChg chg="custSel modSld">
      <pc:chgData name="Zhigang Feng" userId="3218556_tp_dropbox" providerId="OAuth2" clId="{204798D8-AC2F-0C4D-9557-E504459D72FC}" dt="2020-09-21T23:40:59.027" v="0" actId="7634"/>
      <pc:docMkLst>
        <pc:docMk/>
      </pc:docMkLst>
      <pc:sldChg chg="addSp">
        <pc:chgData name="Zhigang Feng" userId="3218556_tp_dropbox" providerId="OAuth2" clId="{204798D8-AC2F-0C4D-9557-E504459D72FC}" dt="2020-09-21T23:40:59.027" v="0" actId="7634"/>
        <pc:sldMkLst>
          <pc:docMk/>
          <pc:sldMk cId="0" sldId="261"/>
        </pc:sldMkLst>
        <pc:inkChg chg="add">
          <ac:chgData name="Zhigang Feng" userId="3218556_tp_dropbox" providerId="OAuth2" clId="{204798D8-AC2F-0C4D-9557-E504459D72FC}" dt="2020-09-21T23:40:59.027" v="0" actId="7634"/>
          <ac:inkMkLst>
            <pc:docMk/>
            <pc:sldMk cId="0" sldId="261"/>
            <ac:inkMk id="2" creationId="{D0484987-3DB6-2245-A4C9-F8F7787D6C95}"/>
          </ac:inkMkLst>
        </pc:inkChg>
      </pc:sldChg>
      <pc:sldChg chg="addSp">
        <pc:chgData name="Zhigang Feng" userId="3218556_tp_dropbox" providerId="OAuth2" clId="{204798D8-AC2F-0C4D-9557-E504459D72FC}" dt="2020-09-21T23:40:59.027" v="0" actId="7634"/>
        <pc:sldMkLst>
          <pc:docMk/>
          <pc:sldMk cId="0" sldId="267"/>
        </pc:sldMkLst>
        <pc:inkChg chg="add">
          <ac:chgData name="Zhigang Feng" userId="3218556_tp_dropbox" providerId="OAuth2" clId="{204798D8-AC2F-0C4D-9557-E504459D72FC}" dt="2020-09-21T23:40:59.027" v="0" actId="7634"/>
          <ac:inkMkLst>
            <pc:docMk/>
            <pc:sldMk cId="0" sldId="267"/>
            <ac:inkMk id="2" creationId="{AD84CA90-D86E-3445-BE00-9E6C1CB38BDC}"/>
          </ac:inkMkLst>
        </pc:inkChg>
      </pc:sldChg>
      <pc:sldChg chg="addSp">
        <pc:chgData name="Zhigang Feng" userId="3218556_tp_dropbox" providerId="OAuth2" clId="{204798D8-AC2F-0C4D-9557-E504459D72FC}" dt="2020-09-21T23:40:59.027" v="0" actId="7634"/>
        <pc:sldMkLst>
          <pc:docMk/>
          <pc:sldMk cId="0" sldId="268"/>
        </pc:sldMkLst>
        <pc:inkChg chg="add">
          <ac:chgData name="Zhigang Feng" userId="3218556_tp_dropbox" providerId="OAuth2" clId="{204798D8-AC2F-0C4D-9557-E504459D72FC}" dt="2020-09-21T23:40:59.027" v="0" actId="7634"/>
          <ac:inkMkLst>
            <pc:docMk/>
            <pc:sldMk cId="0" sldId="268"/>
            <ac:inkMk id="2" creationId="{D279358C-2860-BD45-B327-B006AFD19C46}"/>
          </ac:inkMkLst>
        </pc:inkChg>
      </pc:sldChg>
      <pc:sldChg chg="addSp">
        <pc:chgData name="Zhigang Feng" userId="3218556_tp_dropbox" providerId="OAuth2" clId="{204798D8-AC2F-0C4D-9557-E504459D72FC}" dt="2020-09-21T23:40:59.027" v="0" actId="7634"/>
        <pc:sldMkLst>
          <pc:docMk/>
          <pc:sldMk cId="0" sldId="270"/>
        </pc:sldMkLst>
        <pc:inkChg chg="add">
          <ac:chgData name="Zhigang Feng" userId="3218556_tp_dropbox" providerId="OAuth2" clId="{204798D8-AC2F-0C4D-9557-E504459D72FC}" dt="2020-09-21T23:40:59.027" v="0" actId="7634"/>
          <ac:inkMkLst>
            <pc:docMk/>
            <pc:sldMk cId="0" sldId="270"/>
            <ac:inkMk id="2" creationId="{74FE8838-CF9C-0441-B7B1-C3D15D4C0A78}"/>
          </ac:inkMkLst>
        </pc:ink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oleObject" Target="file:///C:\Documents%20and%20Settings\Administrator\&#26700;&#38754;\&#26085;&#26412;&#21382;&#24180;GDP.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1"/>
          <c:order val="0"/>
          <c:tx>
            <c:strRef>
              <c:f>Sheet1!$E$3</c:f>
              <c:strCache>
                <c:ptCount val="1"/>
                <c:pt idx="0">
                  <c:v>实际增长(%)</c:v>
                </c:pt>
              </c:strCache>
            </c:strRef>
          </c:tx>
          <c:marker>
            <c:symbol val="none"/>
          </c:marker>
          <c:cat>
            <c:numRef>
              <c:f>Sheet1!$A$4:$A$58</c:f>
              <c:numCache>
                <c:formatCode>General</c:formatCode>
                <c:ptCount val="55"/>
                <c:pt idx="0">
                  <c:v>1955</c:v>
                </c:pt>
                <c:pt idx="1">
                  <c:v>1956</c:v>
                </c:pt>
                <c:pt idx="2">
                  <c:v>1957</c:v>
                </c:pt>
                <c:pt idx="3">
                  <c:v>1958</c:v>
                </c:pt>
                <c:pt idx="4">
                  <c:v>1959</c:v>
                </c:pt>
                <c:pt idx="5">
                  <c:v>1960</c:v>
                </c:pt>
                <c:pt idx="6">
                  <c:v>1961</c:v>
                </c:pt>
                <c:pt idx="7">
                  <c:v>1962</c:v>
                </c:pt>
                <c:pt idx="8">
                  <c:v>1963</c:v>
                </c:pt>
                <c:pt idx="9">
                  <c:v>1964</c:v>
                </c:pt>
                <c:pt idx="10">
                  <c:v>1965</c:v>
                </c:pt>
                <c:pt idx="11">
                  <c:v>1966</c:v>
                </c:pt>
                <c:pt idx="12">
                  <c:v>1967</c:v>
                </c:pt>
                <c:pt idx="13">
                  <c:v>1968</c:v>
                </c:pt>
                <c:pt idx="14">
                  <c:v>1969</c:v>
                </c:pt>
                <c:pt idx="15">
                  <c:v>1970</c:v>
                </c:pt>
                <c:pt idx="16">
                  <c:v>1971</c:v>
                </c:pt>
                <c:pt idx="17">
                  <c:v>1972</c:v>
                </c:pt>
                <c:pt idx="18">
                  <c:v>1973</c:v>
                </c:pt>
                <c:pt idx="19">
                  <c:v>1974</c:v>
                </c:pt>
                <c:pt idx="20">
                  <c:v>1975</c:v>
                </c:pt>
                <c:pt idx="21">
                  <c:v>1976</c:v>
                </c:pt>
                <c:pt idx="22">
                  <c:v>1977</c:v>
                </c:pt>
                <c:pt idx="23">
                  <c:v>1978</c:v>
                </c:pt>
                <c:pt idx="24">
                  <c:v>1979</c:v>
                </c:pt>
                <c:pt idx="25">
                  <c:v>1980</c:v>
                </c:pt>
                <c:pt idx="26">
                  <c:v>1981</c:v>
                </c:pt>
                <c:pt idx="27">
                  <c:v>1982</c:v>
                </c:pt>
                <c:pt idx="28">
                  <c:v>1983</c:v>
                </c:pt>
                <c:pt idx="29">
                  <c:v>1984</c:v>
                </c:pt>
                <c:pt idx="30">
                  <c:v>1985</c:v>
                </c:pt>
                <c:pt idx="31">
                  <c:v>1986</c:v>
                </c:pt>
                <c:pt idx="32">
                  <c:v>1987</c:v>
                </c:pt>
                <c:pt idx="33">
                  <c:v>1988</c:v>
                </c:pt>
                <c:pt idx="34">
                  <c:v>1989</c:v>
                </c:pt>
                <c:pt idx="35">
                  <c:v>1990</c:v>
                </c:pt>
                <c:pt idx="36">
                  <c:v>1991</c:v>
                </c:pt>
                <c:pt idx="37">
                  <c:v>1992</c:v>
                </c:pt>
                <c:pt idx="38">
                  <c:v>1993</c:v>
                </c:pt>
                <c:pt idx="39">
                  <c:v>1994</c:v>
                </c:pt>
                <c:pt idx="40">
                  <c:v>1995</c:v>
                </c:pt>
                <c:pt idx="41">
                  <c:v>1996</c:v>
                </c:pt>
                <c:pt idx="42">
                  <c:v>1997</c:v>
                </c:pt>
                <c:pt idx="43">
                  <c:v>1998</c:v>
                </c:pt>
                <c:pt idx="44">
                  <c:v>1999</c:v>
                </c:pt>
                <c:pt idx="45">
                  <c:v>2000</c:v>
                </c:pt>
                <c:pt idx="46">
                  <c:v>2001</c:v>
                </c:pt>
                <c:pt idx="47">
                  <c:v>2002</c:v>
                </c:pt>
                <c:pt idx="48">
                  <c:v>2003</c:v>
                </c:pt>
                <c:pt idx="49">
                  <c:v>2004</c:v>
                </c:pt>
                <c:pt idx="50">
                  <c:v>2005</c:v>
                </c:pt>
                <c:pt idx="51">
                  <c:v>2006</c:v>
                </c:pt>
                <c:pt idx="52">
                  <c:v>2007</c:v>
                </c:pt>
                <c:pt idx="53">
                  <c:v>2008</c:v>
                </c:pt>
                <c:pt idx="54">
                  <c:v>2009</c:v>
                </c:pt>
              </c:numCache>
            </c:numRef>
          </c:cat>
          <c:val>
            <c:numRef>
              <c:f>Sheet1!$E$5:$E$58</c:f>
              <c:numCache>
                <c:formatCode>0.0_ </c:formatCode>
                <c:ptCount val="54"/>
                <c:pt idx="0">
                  <c:v>7.5</c:v>
                </c:pt>
                <c:pt idx="1">
                  <c:v>7.8</c:v>
                </c:pt>
                <c:pt idx="2">
                  <c:v>6.2</c:v>
                </c:pt>
                <c:pt idx="3">
                  <c:v>9.4</c:v>
                </c:pt>
                <c:pt idx="4">
                  <c:v>13.1</c:v>
                </c:pt>
                <c:pt idx="5">
                  <c:v>11.9</c:v>
                </c:pt>
                <c:pt idx="6">
                  <c:v>8.6</c:v>
                </c:pt>
                <c:pt idx="7">
                  <c:v>8.8000000000000007</c:v>
                </c:pt>
                <c:pt idx="8">
                  <c:v>11.2</c:v>
                </c:pt>
                <c:pt idx="9">
                  <c:v>5.7</c:v>
                </c:pt>
                <c:pt idx="10">
                  <c:v>10.200000000000001</c:v>
                </c:pt>
                <c:pt idx="11">
                  <c:v>11.1</c:v>
                </c:pt>
                <c:pt idx="12">
                  <c:v>11.9</c:v>
                </c:pt>
                <c:pt idx="13">
                  <c:v>12</c:v>
                </c:pt>
                <c:pt idx="14">
                  <c:v>10.3</c:v>
                </c:pt>
                <c:pt idx="15">
                  <c:v>4.4000000000000004</c:v>
                </c:pt>
                <c:pt idx="16">
                  <c:v>8.4</c:v>
                </c:pt>
                <c:pt idx="17">
                  <c:v>8</c:v>
                </c:pt>
                <c:pt idx="18">
                  <c:v>-1.2</c:v>
                </c:pt>
                <c:pt idx="19">
                  <c:v>3.1</c:v>
                </c:pt>
                <c:pt idx="20">
                  <c:v>4</c:v>
                </c:pt>
                <c:pt idx="21">
                  <c:v>4.4000000000000004</c:v>
                </c:pt>
                <c:pt idx="22">
                  <c:v>5.3</c:v>
                </c:pt>
                <c:pt idx="23">
                  <c:v>5.5</c:v>
                </c:pt>
                <c:pt idx="24">
                  <c:v>2.8</c:v>
                </c:pt>
                <c:pt idx="25">
                  <c:v>3.2</c:v>
                </c:pt>
                <c:pt idx="26">
                  <c:v>3.1</c:v>
                </c:pt>
                <c:pt idx="27">
                  <c:v>2.2999999999999998</c:v>
                </c:pt>
                <c:pt idx="28">
                  <c:v>3.9</c:v>
                </c:pt>
                <c:pt idx="29">
                  <c:v>4.4000000000000004</c:v>
                </c:pt>
                <c:pt idx="30">
                  <c:v>2.9</c:v>
                </c:pt>
                <c:pt idx="31">
                  <c:v>4.2</c:v>
                </c:pt>
                <c:pt idx="32">
                  <c:v>6.2</c:v>
                </c:pt>
                <c:pt idx="33">
                  <c:v>4.8</c:v>
                </c:pt>
                <c:pt idx="34">
                  <c:v>5.0999999999999996</c:v>
                </c:pt>
                <c:pt idx="35">
                  <c:v>3.8</c:v>
                </c:pt>
                <c:pt idx="36">
                  <c:v>1</c:v>
                </c:pt>
                <c:pt idx="37">
                  <c:v>0.30000000000000032</c:v>
                </c:pt>
                <c:pt idx="38">
                  <c:v>3.9</c:v>
                </c:pt>
                <c:pt idx="39">
                  <c:v>2</c:v>
                </c:pt>
                <c:pt idx="40">
                  <c:v>2.7</c:v>
                </c:pt>
                <c:pt idx="41">
                  <c:v>0</c:v>
                </c:pt>
                <c:pt idx="42">
                  <c:v>-0.5</c:v>
                </c:pt>
                <c:pt idx="43">
                  <c:v>-0.1</c:v>
                </c:pt>
                <c:pt idx="44">
                  <c:v>2.9</c:v>
                </c:pt>
                <c:pt idx="45">
                  <c:v>0.2</c:v>
                </c:pt>
                <c:pt idx="46">
                  <c:v>0.30000000000000032</c:v>
                </c:pt>
                <c:pt idx="47">
                  <c:v>1.4</c:v>
                </c:pt>
                <c:pt idx="48">
                  <c:v>2.7</c:v>
                </c:pt>
                <c:pt idx="49">
                  <c:v>1.9000000000000001</c:v>
                </c:pt>
                <c:pt idx="50">
                  <c:v>2</c:v>
                </c:pt>
                <c:pt idx="51">
                  <c:v>2.4</c:v>
                </c:pt>
                <c:pt idx="52">
                  <c:v>-1.1000000000000001</c:v>
                </c:pt>
                <c:pt idx="53">
                  <c:v>-5</c:v>
                </c:pt>
              </c:numCache>
            </c:numRef>
          </c:val>
          <c:smooth val="0"/>
          <c:extLst>
            <c:ext xmlns:c16="http://schemas.microsoft.com/office/drawing/2014/chart" uri="{C3380CC4-5D6E-409C-BE32-E72D297353CC}">
              <c16:uniqueId val="{00000001-1A96-46F5-8318-4EACE2271C11}"/>
            </c:ext>
          </c:extLst>
        </c:ser>
        <c:dLbls>
          <c:showLegendKey val="0"/>
          <c:showVal val="0"/>
          <c:showCatName val="0"/>
          <c:showSerName val="0"/>
          <c:showPercent val="0"/>
          <c:showBubbleSize val="0"/>
        </c:dLbls>
        <c:smooth val="0"/>
        <c:axId val="238851736"/>
        <c:axId val="238852128"/>
      </c:lineChart>
      <c:catAx>
        <c:axId val="238851736"/>
        <c:scaling>
          <c:orientation val="minMax"/>
        </c:scaling>
        <c:delete val="0"/>
        <c:axPos val="b"/>
        <c:numFmt formatCode="General" sourceLinked="1"/>
        <c:majorTickMark val="out"/>
        <c:minorTickMark val="none"/>
        <c:tickLblPos val="nextTo"/>
        <c:txPr>
          <a:bodyPr/>
          <a:lstStyle/>
          <a:p>
            <a:pPr>
              <a:defRPr lang="zh-CN"/>
            </a:pPr>
            <a:endParaRPr lang="en-US"/>
          </a:p>
        </c:txPr>
        <c:crossAx val="238852128"/>
        <c:crossesAt val="-10"/>
        <c:auto val="1"/>
        <c:lblAlgn val="ctr"/>
        <c:lblOffset val="100"/>
        <c:noMultiLvlLbl val="0"/>
      </c:catAx>
      <c:valAx>
        <c:axId val="238852128"/>
        <c:scaling>
          <c:orientation val="minMax"/>
        </c:scaling>
        <c:delete val="0"/>
        <c:axPos val="l"/>
        <c:majorGridlines>
          <c:spPr>
            <a:ln>
              <a:prstDash val="dash"/>
            </a:ln>
          </c:spPr>
        </c:majorGridlines>
        <c:numFmt formatCode="0.0_ " sourceLinked="1"/>
        <c:majorTickMark val="out"/>
        <c:minorTickMark val="none"/>
        <c:tickLblPos val="nextTo"/>
        <c:txPr>
          <a:bodyPr/>
          <a:lstStyle/>
          <a:p>
            <a:pPr>
              <a:defRPr lang="zh-CN"/>
            </a:pPr>
            <a:endParaRPr lang="en-US"/>
          </a:p>
        </c:txPr>
        <c:crossAx val="238851736"/>
        <c:crosses val="autoZero"/>
        <c:crossBetween val="between"/>
      </c:valAx>
    </c:plotArea>
    <c:plotVisOnly val="1"/>
    <c:dispBlanksAs val="gap"/>
    <c:showDLblsOverMax val="0"/>
  </c:chart>
  <c:spPr>
    <a:ln>
      <a:noFill/>
    </a:ln>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1EF98FE8-A4B9-1F43-8924-947AABE84502}" type="datetimeFigureOut">
              <a:rPr lang="en-US" smtClean="0"/>
              <a:t>9/15/25</a:t>
            </a:fld>
            <a:endParaRPr lang="en-US"/>
          </a:p>
        </p:txBody>
      </p:sp>
      <p:sp>
        <p:nvSpPr>
          <p:cNvPr id="4" name="Slide Image Placeholder 3"/>
          <p:cNvSpPr>
            <a:spLocks noGrp="1" noRot="1" noChangeAspect="1"/>
          </p:cNvSpPr>
          <p:nvPr>
            <p:ph type="sldImg" idx="2"/>
          </p:nvPr>
        </p:nvSpPr>
        <p:spPr>
          <a:xfrm>
            <a:off x="1246188" y="1279525"/>
            <a:ext cx="4606925"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A7874FEA-2FCF-0E4C-AAC6-A89227903642}" type="slidenum">
              <a:rPr lang="en-US" smtClean="0"/>
              <a:t>‹#›</a:t>
            </a:fld>
            <a:endParaRPr lang="en-US"/>
          </a:p>
        </p:txBody>
      </p:sp>
    </p:spTree>
    <p:extLst>
      <p:ext uri="{BB962C8B-B14F-4D97-AF65-F5344CB8AC3E}">
        <p14:creationId xmlns:p14="http://schemas.microsoft.com/office/powerpoint/2010/main" val="4108675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Schumpeter's concept of "creative destruction" is a core component of his economic theory. This concept suggests that economic growth is driven by innovation and change, which can disrupt existing industries even as they create new ones. Let's break this down further:</a:t>
            </a:r>
          </a:p>
          <a:p>
            <a:endParaRPr lang="en-US" dirty="0"/>
          </a:p>
          <a:p>
            <a:r>
              <a:rPr lang="en-US" dirty="0"/>
              <a:t>1. Innovation as a Driver of Advantage: Schumpeter proposed that firms seek to outdo each other by innovating. This could be through new methods of production, new products, new markets, new sources of supply, or new ways of organizing businesses. By doing so, firms can gain a competitive advantage over their rivals and increase their market share.</a:t>
            </a:r>
          </a:p>
          <a:p>
            <a:endParaRPr lang="en-US" dirty="0"/>
          </a:p>
          <a:p>
            <a:r>
              <a:rPr lang="en-US" dirty="0"/>
              <a:t>2. The Process of Creative Destruction: However, innovation isn't a one-time thing. As firms introduce new innovations, they can disrupt existing businesses—hence the term "creative destruction." For instance, the introduction of smartphones disrupted the market for feature phones, and online streaming services have challenged traditional cable TV. </a:t>
            </a:r>
          </a:p>
          <a:p>
            <a:endParaRPr lang="en-US" dirty="0"/>
          </a:p>
          <a:p>
            <a:r>
              <a:rPr lang="en-US" dirty="0"/>
              <a:t>3. Prevention of Permanent Monopolies: Schumpeter believed this process of creative destruction prevents the formation of permanent monopolies because the constant change and innovation make it difficult for one firm to dominate indefinitely. Today's successful innovator could be tomorrow's disrupted business.</a:t>
            </a:r>
          </a:p>
          <a:p>
            <a:endParaRPr lang="en-US" dirty="0"/>
          </a:p>
          <a:p>
            <a:r>
              <a:rPr lang="en-US" dirty="0"/>
              <a:t>4. Technological Progress and Economic Growth: Finally, according to Schumpeter, this cycle of innovation, disruption, and new innovation is what drives technological progress and, in turn, economic growth. The constant striving for better, more efficient, and more appealing products and services leads to an increase in productivity, which ultimately drives economic growth.</a:t>
            </a:r>
          </a:p>
          <a:p>
            <a:endParaRPr lang="en-US" dirty="0"/>
          </a:p>
          <a:p>
            <a:r>
              <a:rPr lang="en-US" dirty="0"/>
              <a:t>It's worth noting that while creative destruction can drive economic growth and technological progress, it can also have negative consequences, such as job losses in disrupted industries. However, in the long run, the creation of new industries and jobs tends to offset these losses. The key challenge for societies and economies is to manage this process in a way that maximizes its benefits and minim minimizes its costs.</a:t>
            </a:r>
          </a:p>
        </p:txBody>
      </p:sp>
      <p:sp>
        <p:nvSpPr>
          <p:cNvPr id="4" name="Slide Number Placeholder 3"/>
          <p:cNvSpPr>
            <a:spLocks noGrp="1"/>
          </p:cNvSpPr>
          <p:nvPr>
            <p:ph type="sldNum" sz="quarter" idx="5"/>
          </p:nvPr>
        </p:nvSpPr>
        <p:spPr/>
        <p:txBody>
          <a:bodyPr/>
          <a:lstStyle/>
          <a:p>
            <a:fld id="{A7874FEA-2FCF-0E4C-AAC6-A89227903642}" type="slidenum">
              <a:rPr lang="en-US" smtClean="0"/>
              <a:t>2</a:t>
            </a:fld>
            <a:endParaRPr lang="en-US"/>
          </a:p>
        </p:txBody>
      </p:sp>
    </p:spTree>
    <p:extLst>
      <p:ext uri="{BB962C8B-B14F-4D97-AF65-F5344CB8AC3E}">
        <p14:creationId xmlns:p14="http://schemas.microsoft.com/office/powerpoint/2010/main" val="1425428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Walt Whitman Rostow was an American economist who proposed a model of economic development known as "Rostow's Stages of Economic Growth". This model suggests that economies go through five stages of growth as they develop. Here are the stages:</a:t>
            </a:r>
          </a:p>
          <a:p>
            <a:endParaRPr lang="en-US" dirty="0"/>
          </a:p>
          <a:p>
            <a:r>
              <a:rPr lang="en-US" dirty="0"/>
              <a:t>1. Traditional Society: This stage is characterized by a subsistence-based economy, where output (production) is based on the level of the available technology. Agriculture is the most important sector and production is labor-intensive. Society is structured around families or tribes, and innovation is slow or non-existent.</a:t>
            </a:r>
          </a:p>
          <a:p>
            <a:endParaRPr lang="en-US" dirty="0"/>
          </a:p>
          <a:p>
            <a:r>
              <a:rPr lang="en-US" dirty="0"/>
              <a:t>2. Preconditions for Take-Off: Society begins to develop manufacturing and there is a drive towards technological and infrastructure development. Institutions that can help mobilize capital are formed, and savings and investments grow. At this stage, the groundwork is laid for sustained growth.</a:t>
            </a:r>
          </a:p>
        </p:txBody>
      </p:sp>
      <p:sp>
        <p:nvSpPr>
          <p:cNvPr id="4" name="Slide Number Placeholder 3"/>
          <p:cNvSpPr>
            <a:spLocks noGrp="1"/>
          </p:cNvSpPr>
          <p:nvPr>
            <p:ph type="sldNum" sz="quarter" idx="5"/>
          </p:nvPr>
        </p:nvSpPr>
        <p:spPr/>
        <p:txBody>
          <a:bodyPr/>
          <a:lstStyle/>
          <a:p>
            <a:fld id="{A7874FEA-2FCF-0E4C-AAC6-A89227903642}" type="slidenum">
              <a:rPr lang="en-US" smtClean="0"/>
              <a:t>3</a:t>
            </a:fld>
            <a:endParaRPr lang="en-US"/>
          </a:p>
        </p:txBody>
      </p:sp>
    </p:spTree>
    <p:extLst>
      <p:ext uri="{BB962C8B-B14F-4D97-AF65-F5344CB8AC3E}">
        <p14:creationId xmlns:p14="http://schemas.microsoft.com/office/powerpoint/2010/main" val="4208773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pPr algn="l">
              <a:buFont typeface="+mj-lt"/>
              <a:buAutoNum type="arabicPeriod"/>
            </a:pPr>
            <a:r>
              <a:rPr lang="en-US" b="1" i="0" u="none" strike="noStrike" dirty="0">
                <a:solidFill>
                  <a:srgbClr val="FFFFFF"/>
                </a:solidFill>
                <a:effectLst/>
                <a:latin typeface="Söhne"/>
              </a:rPr>
              <a:t>The Take-off Stage</a:t>
            </a:r>
            <a:r>
              <a:rPr lang="en-US" b="0" i="0" u="none" strike="noStrike" dirty="0">
                <a:solidFill>
                  <a:srgbClr val="FFFFFF"/>
                </a:solidFill>
                <a:effectLst/>
                <a:latin typeface="Söhne"/>
              </a:rPr>
              <a:t>:</a:t>
            </a:r>
          </a:p>
          <a:p>
            <a:pPr marL="742950" lvl="1" indent="-285750" algn="l">
              <a:buFont typeface="+mj-lt"/>
              <a:buAutoNum type="arabicPeriod"/>
            </a:pPr>
            <a:r>
              <a:rPr lang="en-US" b="0" i="0" u="none" strike="noStrike" dirty="0">
                <a:solidFill>
                  <a:srgbClr val="FFFFFF"/>
                </a:solidFill>
                <a:effectLst/>
                <a:latin typeface="Söhne"/>
              </a:rPr>
              <a:t>This is the stage in which a country's economy transitions from a traditional, agriculturally based economy to one that begins to embrace industrialization.</a:t>
            </a:r>
          </a:p>
          <a:p>
            <a:pPr marL="742950" lvl="1" indent="-285750" algn="l">
              <a:buFont typeface="+mj-lt"/>
              <a:buAutoNum type="arabicPeriod"/>
            </a:pPr>
            <a:r>
              <a:rPr lang="en-US" b="0" i="0" u="none" strike="noStrike" dirty="0">
                <a:solidFill>
                  <a:srgbClr val="FFFFFF"/>
                </a:solidFill>
                <a:effectLst/>
                <a:latin typeface="Söhne"/>
              </a:rPr>
              <a:t>There's a noticeable shift in the growth rate, which accelerates, and this growth is sustained.</a:t>
            </a:r>
          </a:p>
          <a:p>
            <a:pPr marL="742950" lvl="1" indent="-285750" algn="l">
              <a:buFont typeface="+mj-lt"/>
              <a:buAutoNum type="arabicPeriod"/>
            </a:pPr>
            <a:r>
              <a:rPr lang="en-US" b="0" i="0" u="none" strike="noStrike" dirty="0">
                <a:solidFill>
                  <a:srgbClr val="FFFFFF"/>
                </a:solidFill>
                <a:effectLst/>
                <a:latin typeface="Söhne"/>
              </a:rPr>
              <a:t>As you mentioned, it's relatively brief compared to other stages. This period sets the stage for sustained growth and expansion into the subsequent "drive to maturity" and "age of high mass consumption" stages.</a:t>
            </a:r>
          </a:p>
          <a:p>
            <a:pPr algn="l">
              <a:buFont typeface="+mj-lt"/>
              <a:buAutoNum type="arabicPeriod"/>
            </a:pPr>
            <a:r>
              <a:rPr lang="en-US" b="1" i="0" u="none" strike="noStrike" dirty="0">
                <a:solidFill>
                  <a:srgbClr val="FFFFFF"/>
                </a:solidFill>
                <a:effectLst/>
                <a:latin typeface="Söhne"/>
              </a:rPr>
              <a:t>Initiation by Political Changes</a:t>
            </a:r>
            <a:r>
              <a:rPr lang="en-US" b="0" i="0" u="none" strike="noStrike" dirty="0">
                <a:solidFill>
                  <a:srgbClr val="FFFFFF"/>
                </a:solidFill>
                <a:effectLst/>
                <a:latin typeface="Söhne"/>
              </a:rPr>
              <a:t>:</a:t>
            </a:r>
          </a:p>
          <a:p>
            <a:pPr marL="742950" lvl="1" indent="-285750" algn="l">
              <a:buFont typeface="+mj-lt"/>
              <a:buAutoNum type="arabicPeriod"/>
            </a:pPr>
            <a:r>
              <a:rPr lang="en-US" b="0" i="0" u="none" strike="noStrike" dirty="0">
                <a:solidFill>
                  <a:srgbClr val="FFFFFF"/>
                </a:solidFill>
                <a:effectLst/>
                <a:latin typeface="Söhne"/>
              </a:rPr>
              <a:t>The take-off stage can be initiated by various triggers, and one of them can be significant political changes.</a:t>
            </a:r>
          </a:p>
          <a:p>
            <a:pPr marL="742950" lvl="1" indent="-285750" algn="l">
              <a:buFont typeface="+mj-lt"/>
              <a:buAutoNum type="arabicPeriod"/>
            </a:pPr>
            <a:r>
              <a:rPr lang="en-US" b="0" i="0" u="none" strike="noStrike" dirty="0">
                <a:solidFill>
                  <a:srgbClr val="FFFFFF"/>
                </a:solidFill>
                <a:effectLst/>
                <a:latin typeface="Söhne"/>
              </a:rPr>
              <a:t>The 1961 military coup in South Korea led by Park Chung-</a:t>
            </a:r>
            <a:r>
              <a:rPr lang="en-US" b="0" i="0" u="none" strike="noStrike" dirty="0" err="1">
                <a:solidFill>
                  <a:srgbClr val="FFFFFF"/>
                </a:solidFill>
                <a:effectLst/>
                <a:latin typeface="Söhne"/>
              </a:rPr>
              <a:t>Hee</a:t>
            </a:r>
            <a:r>
              <a:rPr lang="en-US" b="0" i="0" u="none" strike="noStrike" dirty="0">
                <a:solidFill>
                  <a:srgbClr val="FFFFFF"/>
                </a:solidFill>
                <a:effectLst/>
                <a:latin typeface="Söhne"/>
              </a:rPr>
              <a:t> is an example where political change spurred economic growth. Park’s leadership, although controversial, was marked by significant industrialization and modernization.</a:t>
            </a:r>
          </a:p>
          <a:p>
            <a:pPr marL="742950" lvl="1" indent="-285750" algn="l">
              <a:buFont typeface="+mj-lt"/>
              <a:buAutoNum type="arabicPeriod"/>
            </a:pPr>
            <a:r>
              <a:rPr lang="en-US" b="0" i="0" u="none" strike="noStrike" dirty="0">
                <a:solidFill>
                  <a:srgbClr val="FFFFFF"/>
                </a:solidFill>
                <a:effectLst/>
                <a:latin typeface="Söhne"/>
              </a:rPr>
              <a:t>However, not all political upheavals lead to positive economic outcomes. The Khmer Rouge's reign in Cambodia and the establishment of the Islamic Republic under Khomeini in Iran are examples where political change led to economic stagnation or even regression.</a:t>
            </a:r>
          </a:p>
          <a:p>
            <a:pPr algn="l">
              <a:buFont typeface="+mj-lt"/>
              <a:buAutoNum type="arabicPeriod"/>
            </a:pPr>
            <a:r>
              <a:rPr lang="en-US" b="1" i="0" u="none" strike="noStrike" dirty="0">
                <a:solidFill>
                  <a:srgbClr val="FFFFFF"/>
                </a:solidFill>
                <a:effectLst/>
                <a:latin typeface="Söhne"/>
              </a:rPr>
              <a:t>Technological Breakthrough</a:t>
            </a:r>
            <a:r>
              <a:rPr lang="en-US" b="0" i="0" u="none" strike="noStrike" dirty="0">
                <a:solidFill>
                  <a:srgbClr val="FFFFFF"/>
                </a:solidFill>
                <a:effectLst/>
                <a:latin typeface="Söhne"/>
              </a:rPr>
              <a:t>:</a:t>
            </a:r>
          </a:p>
          <a:p>
            <a:pPr marL="742950" lvl="1" indent="-285750" algn="l">
              <a:buFont typeface="+mj-lt"/>
              <a:buAutoNum type="arabicPeriod"/>
            </a:pPr>
            <a:r>
              <a:rPr lang="en-US" b="0" i="0" u="none" strike="noStrike" dirty="0">
                <a:solidFill>
                  <a:srgbClr val="FFFFFF"/>
                </a:solidFill>
                <a:effectLst/>
                <a:latin typeface="Söhne"/>
              </a:rPr>
              <a:t>A significant technological breakthrough can spark the take-off stage.</a:t>
            </a:r>
          </a:p>
          <a:p>
            <a:pPr marL="742950" lvl="1" indent="-285750" algn="l">
              <a:buFont typeface="+mj-lt"/>
              <a:buAutoNum type="arabicPeriod"/>
            </a:pPr>
            <a:r>
              <a:rPr lang="en-US" b="0" i="0" u="none" strike="noStrike" dirty="0">
                <a:solidFill>
                  <a:srgbClr val="FFFFFF"/>
                </a:solidFill>
                <a:effectLst/>
                <a:latin typeface="Söhne"/>
              </a:rPr>
              <a:t>The Industrial Revolution in England during the latter half of the 18th century is a prime example. Innovations in machinery, transportation, and production techniques revolutionized the British economy and set the stage for the modern industrialized world.</a:t>
            </a:r>
          </a:p>
          <a:p>
            <a:pPr algn="l">
              <a:buFont typeface="+mj-lt"/>
              <a:buAutoNum type="arabicPeriod"/>
            </a:pPr>
            <a:r>
              <a:rPr lang="en-US" b="1" i="0" u="none" strike="noStrike" dirty="0">
                <a:solidFill>
                  <a:srgbClr val="FFFFFF"/>
                </a:solidFill>
                <a:effectLst/>
                <a:latin typeface="Söhne"/>
              </a:rPr>
              <a:t>Institutional Development</a:t>
            </a:r>
            <a:r>
              <a:rPr lang="en-US" b="0" i="0" u="none" strike="noStrike" dirty="0">
                <a:solidFill>
                  <a:srgbClr val="FFFFFF"/>
                </a:solidFill>
                <a:effectLst/>
                <a:latin typeface="Söhne"/>
              </a:rPr>
              <a:t>:</a:t>
            </a:r>
          </a:p>
          <a:p>
            <a:pPr marL="742950" lvl="1" indent="-285750" algn="l">
              <a:buFont typeface="+mj-lt"/>
              <a:buAutoNum type="arabicPeriod"/>
            </a:pPr>
            <a:r>
              <a:rPr lang="en-US" b="0" i="0" u="none" strike="noStrike" dirty="0">
                <a:solidFill>
                  <a:srgbClr val="FFFFFF"/>
                </a:solidFill>
                <a:effectLst/>
                <a:latin typeface="Söhne"/>
              </a:rPr>
              <a:t>For an economy to sustain its growth during the take-off stage, it requires robust institutions.</a:t>
            </a:r>
          </a:p>
          <a:p>
            <a:pPr marL="742950" lvl="1" indent="-285750" algn="l">
              <a:buFont typeface="+mj-lt"/>
              <a:buAutoNum type="arabicPeriod"/>
            </a:pPr>
            <a:r>
              <a:rPr lang="en-US" b="0" i="0" u="none" strike="noStrike" dirty="0">
                <a:solidFill>
                  <a:srgbClr val="FFFFFF"/>
                </a:solidFill>
                <a:effectLst/>
                <a:latin typeface="Söhne"/>
              </a:rPr>
              <a:t>Commercial banks, thrift institutions, bond and stock markets, insurance companies, pension funds, etc., play a pivotal role. They help channel domestic funds into productive investments, thus fueling growth.</a:t>
            </a:r>
          </a:p>
          <a:p>
            <a:pPr algn="l">
              <a:buFont typeface="+mj-lt"/>
              <a:buAutoNum type="arabicPeriod"/>
            </a:pPr>
            <a:r>
              <a:rPr lang="en-US" b="1" i="0" u="none" strike="noStrike" dirty="0">
                <a:solidFill>
                  <a:srgbClr val="FFFFFF"/>
                </a:solidFill>
                <a:effectLst/>
                <a:latin typeface="Söhne"/>
              </a:rPr>
              <a:t>Foreign Investment</a:t>
            </a:r>
            <a:r>
              <a:rPr lang="en-US" b="0" i="0" u="none" strike="noStrike" dirty="0">
                <a:solidFill>
                  <a:srgbClr val="FFFFFF"/>
                </a:solidFill>
                <a:effectLst/>
                <a:latin typeface="Söhne"/>
              </a:rPr>
              <a:t>:</a:t>
            </a:r>
          </a:p>
          <a:p>
            <a:pPr marL="742950" lvl="1" indent="-285750" algn="l">
              <a:buFont typeface="+mj-lt"/>
              <a:buAutoNum type="arabicPeriod"/>
            </a:pPr>
            <a:r>
              <a:rPr lang="en-US" b="0" i="0" u="none" strike="noStrike" dirty="0">
                <a:solidFill>
                  <a:srgbClr val="FFFFFF"/>
                </a:solidFill>
                <a:effectLst/>
                <a:latin typeface="Söhne"/>
              </a:rPr>
              <a:t>Investment from foreign entities can play a crucial role in the take-off stage. This capital can be used to build infrastructure, enhance production capacities, and introduce new technologies.</a:t>
            </a:r>
          </a:p>
          <a:p>
            <a:pPr algn="l">
              <a:buFont typeface="+mj-lt"/>
              <a:buAutoNum type="arabicPeriod"/>
            </a:pPr>
            <a:r>
              <a:rPr lang="en-US" b="1" i="0" u="none" strike="noStrike" dirty="0">
                <a:solidFill>
                  <a:srgbClr val="FFFFFF"/>
                </a:solidFill>
                <a:effectLst/>
                <a:latin typeface="Söhne"/>
              </a:rPr>
              <a:t>Economic Reforms</a:t>
            </a:r>
            <a:r>
              <a:rPr lang="en-US" b="0" i="0" u="none" strike="noStrike" dirty="0">
                <a:solidFill>
                  <a:srgbClr val="FFFFFF"/>
                </a:solidFill>
                <a:effectLst/>
                <a:latin typeface="Söhne"/>
              </a:rPr>
              <a:t>:</a:t>
            </a:r>
          </a:p>
          <a:p>
            <a:pPr marL="742950" lvl="1" indent="-285750" algn="l">
              <a:buFont typeface="+mj-lt"/>
              <a:buAutoNum type="arabicPeriod"/>
            </a:pPr>
            <a:r>
              <a:rPr lang="en-US" b="0" i="0" u="none" strike="noStrike" dirty="0">
                <a:solidFill>
                  <a:srgbClr val="FFFFFF"/>
                </a:solidFill>
                <a:effectLst/>
                <a:latin typeface="Söhne"/>
              </a:rPr>
              <a:t>Structural economic reforms can also act as a catalyst for the take-off stage.</a:t>
            </a:r>
          </a:p>
          <a:p>
            <a:pPr marL="742950" lvl="1" indent="-285750" algn="l">
              <a:buFont typeface="+mj-lt"/>
              <a:buAutoNum type="arabicPeriod"/>
            </a:pPr>
            <a:r>
              <a:rPr lang="en-US" b="0" i="0" u="none" strike="noStrike" dirty="0">
                <a:solidFill>
                  <a:srgbClr val="FFFFFF"/>
                </a:solidFill>
                <a:effectLst/>
                <a:latin typeface="Söhne"/>
              </a:rPr>
              <a:t>China's economic reforms, initiated in the late 1970s under the leadership of Deng Xiaoping, are a testament to this. By opening up to foreign investments, decentralizing economic decision-making, and introducing market mechanisms, China embarked on a period of rapid and sustained economic growth.</a:t>
            </a:r>
          </a:p>
          <a:p>
            <a:pPr algn="l"/>
            <a:r>
              <a:rPr lang="en-US" b="0" i="0" u="none" strike="noStrike" dirty="0">
                <a:solidFill>
                  <a:srgbClr val="FFFFFF"/>
                </a:solidFill>
                <a:effectLst/>
                <a:latin typeface="Söhne"/>
              </a:rPr>
              <a:t>In conclusion, Rostow's theory offers a structuralist perspective on economic development. While it provides a framework to understand the progression of economies, real-world scenarios often deviate from this idealized model due to various sociopolitical, cultural, and external factors.</a:t>
            </a:r>
          </a:p>
          <a:p>
            <a:br>
              <a:rPr lang="en-US" dirty="0"/>
            </a:br>
            <a:endParaRPr lang="en-US" dirty="0"/>
          </a:p>
        </p:txBody>
      </p:sp>
      <p:sp>
        <p:nvSpPr>
          <p:cNvPr id="4" name="Slide Number Placeholder 3"/>
          <p:cNvSpPr>
            <a:spLocks noGrp="1"/>
          </p:cNvSpPr>
          <p:nvPr>
            <p:ph type="sldNum" sz="quarter" idx="5"/>
          </p:nvPr>
        </p:nvSpPr>
        <p:spPr/>
        <p:txBody>
          <a:bodyPr/>
          <a:lstStyle/>
          <a:p>
            <a:fld id="{A7874FEA-2FCF-0E4C-AAC6-A89227903642}" type="slidenum">
              <a:rPr lang="en-US" smtClean="0"/>
              <a:t>5</a:t>
            </a:fld>
            <a:endParaRPr lang="en-US"/>
          </a:p>
        </p:txBody>
      </p:sp>
    </p:spTree>
    <p:extLst>
      <p:ext uri="{BB962C8B-B14F-4D97-AF65-F5344CB8AC3E}">
        <p14:creationId xmlns:p14="http://schemas.microsoft.com/office/powerpoint/2010/main" val="3189770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4. Drive to Maturity: The economy diversifies into new areas, and less reliance is placed on imports as more sectors of the economy become self-sufficient. Technology spreads to cover all sectors of the economy, leading to increased productivity and steady economic growth.</a:t>
            </a:r>
          </a:p>
          <a:p>
            <a:endParaRPr lang="en-US" dirty="0"/>
          </a:p>
          <a:p>
            <a:endParaRPr lang="en-US" dirty="0"/>
          </a:p>
          <a:p>
            <a:r>
              <a:rPr lang="en-US" dirty="0"/>
              <a:t>5. Age of High Mass Consumption: At this stage, the economy is characterized by high income and widespread consumption of goods and services. Society shifts from a production orientation to a consumption one, and services sector expands significantly. </a:t>
            </a:r>
          </a:p>
          <a:p>
            <a:endParaRPr lang="en-US" dirty="0"/>
          </a:p>
          <a:p>
            <a:r>
              <a:rPr lang="en-US" dirty="0"/>
              <a:t>It's worth noting that while Rostow's model provides a useful framework for understanding the process of economic development, it has been criticized for being too simplistic and not taking into account the specific circumstances and complexities of individual countries. It is also often critiqued for its heavy reliance on Western models of development, which may not be universally applicable.</a:t>
            </a:r>
          </a:p>
          <a:p>
            <a:endParaRPr lang="en-US" dirty="0"/>
          </a:p>
        </p:txBody>
      </p:sp>
      <p:sp>
        <p:nvSpPr>
          <p:cNvPr id="4" name="Slide Number Placeholder 3"/>
          <p:cNvSpPr>
            <a:spLocks noGrp="1"/>
          </p:cNvSpPr>
          <p:nvPr>
            <p:ph type="sldNum" sz="quarter" idx="5"/>
          </p:nvPr>
        </p:nvSpPr>
        <p:spPr/>
        <p:txBody>
          <a:bodyPr/>
          <a:lstStyle/>
          <a:p>
            <a:fld id="{A7874FEA-2FCF-0E4C-AAC6-A89227903642}" type="slidenum">
              <a:rPr lang="en-US" smtClean="0"/>
              <a:t>6</a:t>
            </a:fld>
            <a:endParaRPr lang="en-US"/>
          </a:p>
        </p:txBody>
      </p:sp>
    </p:spTree>
    <p:extLst>
      <p:ext uri="{BB962C8B-B14F-4D97-AF65-F5344CB8AC3E}">
        <p14:creationId xmlns:p14="http://schemas.microsoft.com/office/powerpoint/2010/main" val="3673178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The key similarities between Buddenbrooks dynamics and Rostow's stages of growth are:</a:t>
            </a:r>
          </a:p>
          <a:p>
            <a:pPr algn="l">
              <a:buFont typeface="+mj-lt"/>
              <a:buAutoNum type="arabicPeriod"/>
            </a:pPr>
            <a:r>
              <a:rPr lang="en-US" b="0" i="0" u="none" strike="noStrike" dirty="0">
                <a:solidFill>
                  <a:srgbClr val="000000"/>
                </a:solidFill>
                <a:effectLst/>
              </a:rPr>
              <a:t>Both describe developmental cycles</a:t>
            </a:r>
          </a:p>
          <a:p>
            <a:pPr algn="l">
              <a:buFont typeface="+mj-lt"/>
              <a:buAutoNum type="arabicPeriod"/>
            </a:pPr>
            <a:r>
              <a:rPr lang="en-US" b="0" i="0" u="none" strike="noStrike" dirty="0">
                <a:solidFill>
                  <a:srgbClr val="000000"/>
                </a:solidFill>
                <a:effectLst/>
              </a:rPr>
              <a:t>They involve generational changes</a:t>
            </a:r>
          </a:p>
          <a:p>
            <a:pPr algn="l">
              <a:buFont typeface="+mj-lt"/>
              <a:buAutoNum type="arabicPeriod"/>
            </a:pPr>
            <a:r>
              <a:rPr lang="en-US" b="0" i="0" u="none" strike="noStrike" dirty="0">
                <a:solidFill>
                  <a:srgbClr val="000000"/>
                </a:solidFill>
                <a:effectLst/>
              </a:rPr>
              <a:t>Both imply a peak followed by potential decline</a:t>
            </a:r>
          </a:p>
          <a:p>
            <a:pPr algn="l">
              <a:buFont typeface="+mj-lt"/>
              <a:buAutoNum type="arabicPeriod"/>
            </a:pPr>
            <a:r>
              <a:rPr lang="en-US" b="0" i="0" u="none" strike="noStrike" dirty="0">
                <a:solidFill>
                  <a:srgbClr val="000000"/>
                </a:solidFill>
                <a:effectLst/>
              </a:rPr>
              <a:t>They reflect shifts in values and culture over time</a:t>
            </a:r>
          </a:p>
          <a:p>
            <a:pPr algn="l">
              <a:buFont typeface="+mj-lt"/>
              <a:buAutoNum type="arabicPeriod"/>
            </a:pPr>
            <a:r>
              <a:rPr lang="en-US" b="0" i="0" u="none" strike="noStrike" dirty="0">
                <a:solidFill>
                  <a:srgbClr val="000000"/>
                </a:solidFill>
                <a:effectLst/>
              </a:rPr>
              <a:t>Both highlight challenges in maintaining success or growth</a:t>
            </a:r>
          </a:p>
          <a:p>
            <a:pPr algn="l">
              <a:buFont typeface="+mj-lt"/>
              <a:buAutoNum type="arabicPeriod"/>
            </a:pPr>
            <a:r>
              <a:rPr lang="en-US" b="0" i="0" u="none" strike="noStrike" dirty="0">
                <a:solidFill>
                  <a:srgbClr val="000000"/>
                </a:solidFill>
                <a:effectLst/>
              </a:rPr>
              <a:t>While typically applied at different scales (family/firm vs society), their principles could potentially be adapted to various levels of analysis</a:t>
            </a:r>
          </a:p>
          <a:p>
            <a:endParaRPr lang="en-US" dirty="0"/>
          </a:p>
        </p:txBody>
      </p:sp>
      <p:sp>
        <p:nvSpPr>
          <p:cNvPr id="4" name="Slide Number Placeholder 3"/>
          <p:cNvSpPr>
            <a:spLocks noGrp="1"/>
          </p:cNvSpPr>
          <p:nvPr>
            <p:ph type="sldNum" sz="quarter" idx="5"/>
          </p:nvPr>
        </p:nvSpPr>
        <p:spPr/>
        <p:txBody>
          <a:bodyPr/>
          <a:lstStyle/>
          <a:p>
            <a:fld id="{A7874FEA-2FCF-0E4C-AAC6-A89227903642}" type="slidenum">
              <a:rPr lang="en-US" smtClean="0"/>
              <a:t>7</a:t>
            </a:fld>
            <a:endParaRPr lang="en-US"/>
          </a:p>
        </p:txBody>
      </p:sp>
    </p:spTree>
    <p:extLst>
      <p:ext uri="{BB962C8B-B14F-4D97-AF65-F5344CB8AC3E}">
        <p14:creationId xmlns:p14="http://schemas.microsoft.com/office/powerpoint/2010/main" val="200489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Lack of Detail: Many economists argue that Rostow's model lacks the necessary details about the preconditions for growth. While it provides broad stages, it doesn't offer specific guidance on what policy measures are necessary to move from one stage to the next.</a:t>
            </a:r>
          </a:p>
          <a:p>
            <a:endParaRPr lang="en-US" dirty="0"/>
          </a:p>
          <a:p>
            <a:r>
              <a:rPr lang="en-US" dirty="0"/>
              <a:t>2. Oversimplification and Lack of Flexibility: Rostow's model is seen by some as too rigid and deterministic. Economic development can be a complex, non-linear process that doesn't necessarily follow a fixed path. It's influenced by a wide range of factors, including geography, culture, history, politics, and international relations, many of which are not taken into account in Rostow's model.</a:t>
            </a:r>
          </a:p>
          <a:p>
            <a:endParaRPr lang="en-US" dirty="0"/>
          </a:p>
          <a:p>
            <a:r>
              <a:rPr lang="en-US" dirty="0"/>
              <a:t>Regarding Rostow's views on the Soviet Union, he recognized the rapid industrialization that occurred under communism, describing it as a transition into a major industrial power. However, this view has also been criticized for not considering the significant social, political, and economic costs associated with Soviet-style planned economies.</a:t>
            </a:r>
          </a:p>
          <a:p>
            <a:endParaRPr lang="en-US" dirty="0"/>
          </a:p>
          <a:p>
            <a:r>
              <a:rPr lang="en-US" dirty="0"/>
              <a:t>The influence of Rostow's model can be seen in the foreign aid policies of the United States and other developed countries during the Cold War era. The belief that helping countries achieve "take-off" could prevent them from turning to communism led to an increase in foreign aid, particularly in the late 1950s and early 1960s. John F. Kennedy, for example, argued that helping new nations reach self-sustaining growth was a strategic necessity, given the pressures they faced from communist influences.</a:t>
            </a:r>
          </a:p>
          <a:p>
            <a:endParaRPr lang="en-US" dirty="0"/>
          </a:p>
          <a:p>
            <a:r>
              <a:rPr lang="en-US" dirty="0"/>
              <a:t>While Rostow's model may have its limitations and criticisms, it has nonetheless played a significant role in shaping economic development theory and policy.</a:t>
            </a:r>
          </a:p>
        </p:txBody>
      </p:sp>
      <p:sp>
        <p:nvSpPr>
          <p:cNvPr id="4" name="Slide Number Placeholder 3"/>
          <p:cNvSpPr>
            <a:spLocks noGrp="1"/>
          </p:cNvSpPr>
          <p:nvPr>
            <p:ph type="sldNum" sz="quarter" idx="5"/>
          </p:nvPr>
        </p:nvSpPr>
        <p:spPr/>
        <p:txBody>
          <a:bodyPr/>
          <a:lstStyle/>
          <a:p>
            <a:fld id="{A7874FEA-2FCF-0E4C-AAC6-A89227903642}" type="slidenum">
              <a:rPr lang="en-US" smtClean="0"/>
              <a:t>8</a:t>
            </a:fld>
            <a:endParaRPr lang="en-US"/>
          </a:p>
        </p:txBody>
      </p:sp>
    </p:spTree>
    <p:extLst>
      <p:ext uri="{BB962C8B-B14F-4D97-AF65-F5344CB8AC3E}">
        <p14:creationId xmlns:p14="http://schemas.microsoft.com/office/powerpoint/2010/main" val="1387302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Harrod-</a:t>
            </a:r>
            <a:r>
              <a:rPr lang="en-US" dirty="0" err="1"/>
              <a:t>Domar</a:t>
            </a:r>
            <a:r>
              <a:rPr lang="en-US" dirty="0"/>
              <a:t> model is a classic economic growth model that was developed independently by Sir Roy Harrod and </a:t>
            </a:r>
            <a:r>
              <a:rPr lang="en-US" dirty="0" err="1"/>
              <a:t>Evsey</a:t>
            </a:r>
            <a:r>
              <a:rPr lang="en-US" dirty="0"/>
              <a:t> </a:t>
            </a:r>
            <a:r>
              <a:rPr lang="en-US" dirty="0" err="1"/>
              <a:t>Domar</a:t>
            </a:r>
            <a:r>
              <a:rPr lang="en-US" dirty="0"/>
              <a:t> in the 1930s and 1940s. The model was initially designed to help understand the economic dynamics of advanced economies, but it later became influential in development economics, particularly in the context of understanding the capital requirements of developing countries.</a:t>
            </a:r>
          </a:p>
          <a:p>
            <a:endParaRPr lang="en-US" dirty="0"/>
          </a:p>
          <a:p>
            <a:r>
              <a:rPr lang="en-US" dirty="0"/>
              <a:t>Here are the key elements and assumptions of the Harrod-</a:t>
            </a:r>
            <a:r>
              <a:rPr lang="en-US" dirty="0" err="1"/>
              <a:t>Domar</a:t>
            </a:r>
            <a:r>
              <a:rPr lang="en-US" dirty="0"/>
              <a:t> model:</a:t>
            </a:r>
          </a:p>
          <a:p>
            <a:endParaRPr lang="en-US" dirty="0"/>
          </a:p>
          <a:p>
            <a:r>
              <a:rPr lang="en-US" dirty="0"/>
              <a:t>1. **Capital-output ratio (v)**: This is a key parameter in the model and represents the amount of capital required to produce one additional unit of output. For instance, if \( v = 4 \), then 4 units of capital are needed to produce one unit of output.</a:t>
            </a:r>
          </a:p>
          <a:p>
            <a:endParaRPr lang="en-US" dirty="0"/>
          </a:p>
          <a:p>
            <a:r>
              <a:rPr lang="en-US" dirty="0"/>
              <a:t>2. **Savings ratio (s)**: This represents the proportion of income that is saved rather than consumed. For instance, if \( s = 0.2 \), then 20% of income is saved.</a:t>
            </a:r>
          </a:p>
          <a:p>
            <a:endParaRPr lang="en-US" dirty="0"/>
          </a:p>
          <a:p>
            <a:r>
              <a:rPr lang="en-US" dirty="0"/>
              <a:t>3. **Growth rate of GDP (g)**: The rate at which the Gross Domestic Product of the economy grows. The Harrod-</a:t>
            </a:r>
            <a:r>
              <a:rPr lang="en-US" dirty="0" err="1"/>
              <a:t>Domar</a:t>
            </a:r>
            <a:r>
              <a:rPr lang="en-US" dirty="0"/>
              <a:t> model relates this growth rate to the savings ratio and the capital-output ratio.</a:t>
            </a:r>
          </a:p>
          <a:p>
            <a:endParaRPr lang="en-US" dirty="0"/>
          </a:p>
          <a:p>
            <a:r>
              <a:rPr lang="en-US" dirty="0"/>
              <a:t>4. **Key Equation**: The fundamental equation of the Harrod-</a:t>
            </a:r>
            <a:r>
              <a:rPr lang="en-US" dirty="0" err="1"/>
              <a:t>Domar</a:t>
            </a:r>
            <a:r>
              <a:rPr lang="en-US" dirty="0"/>
              <a:t> model relates the growth rate of GDP to the savings ratio and the capital-output ratio. It is given by:</a:t>
            </a:r>
          </a:p>
          <a:p>
            <a:endParaRPr lang="en-US" dirty="0"/>
          </a:p>
          <a:p>
            <a:r>
              <a:rPr lang="en-US" dirty="0"/>
              <a:t>\[</a:t>
            </a:r>
          </a:p>
          <a:p>
            <a:r>
              <a:rPr lang="en-US" dirty="0"/>
              <a:t>g = \frac{s}{v}</a:t>
            </a:r>
          </a:p>
          <a:p>
            <a:r>
              <a:rPr lang="en-US" dirty="0"/>
              <a:t>\]</a:t>
            </a:r>
          </a:p>
          <a:p>
            <a:endParaRPr lang="en-US" dirty="0"/>
          </a:p>
          <a:p>
            <a:r>
              <a:rPr lang="en-US" dirty="0"/>
              <a:t>Where:</a:t>
            </a:r>
          </a:p>
          <a:p>
            <a:r>
              <a:rPr lang="en-US" dirty="0"/>
              <a:t>\( g \) = Growth rate of GDP</a:t>
            </a:r>
          </a:p>
          <a:p>
            <a:r>
              <a:rPr lang="en-US" dirty="0"/>
              <a:t>\( s \) = Savings ratio</a:t>
            </a:r>
          </a:p>
          <a:p>
            <a:r>
              <a:rPr lang="en-US" dirty="0"/>
              <a:t>\( v \) = Capital-output ratio</a:t>
            </a:r>
          </a:p>
          <a:p>
            <a:endParaRPr lang="en-US" dirty="0"/>
          </a:p>
          <a:p>
            <a:r>
              <a:rPr lang="en-US" dirty="0"/>
              <a:t>5. **Model Implications**:</a:t>
            </a:r>
          </a:p>
          <a:p>
            <a:r>
              <a:rPr lang="en-US" dirty="0"/>
              <a:t>   - The model suggests that there's a direct relationship between the savings ratio and economic growth. The higher the proportion of income that is saved, the higher the growth rate of GDP.</a:t>
            </a:r>
          </a:p>
          <a:p>
            <a:r>
              <a:rPr lang="en-US" dirty="0"/>
              <a:t>   - At the same time, there's an inverse relationship between the capital-output ratio and economic growth. The more capital required to produce one unit of output, the slower the growth.</a:t>
            </a:r>
          </a:p>
          <a:p>
            <a:endParaRPr lang="en-US" dirty="0"/>
          </a:p>
          <a:p>
            <a:r>
              <a:rPr lang="en-US" dirty="0"/>
              <a:t>6. **Applications in Development Economics**: In the context of developing countries, the Harrod-</a:t>
            </a:r>
            <a:r>
              <a:rPr lang="en-US" dirty="0" err="1"/>
              <a:t>Domar</a:t>
            </a:r>
            <a:r>
              <a:rPr lang="en-US" dirty="0"/>
              <a:t> model has been used to estimate the required levels of investment to achieve desired growth targets. Given a desired growth rate and an estimated capital-output ratio, policymakers can use the model to estimate the necessary savings (or foreign aid) to achieve the growth target.</a:t>
            </a:r>
          </a:p>
          <a:p>
            <a:endParaRPr lang="en-US" dirty="0"/>
          </a:p>
          <a:p>
            <a:r>
              <a:rPr lang="en-US" dirty="0"/>
              <a:t>7. **Critiques**:</a:t>
            </a:r>
          </a:p>
          <a:p>
            <a:r>
              <a:rPr lang="en-US" dirty="0"/>
              <a:t>   - The model is overly simplistic and relies heavily on the assumptions of a stable capital-output ratio and a direct relationship between savings and investment.</a:t>
            </a:r>
          </a:p>
          <a:p>
            <a:r>
              <a:rPr lang="en-US" dirty="0"/>
              <a:t>   - It does not take into account other factors that influence growth, such as technological progress, labor force growth, or institutional factors.</a:t>
            </a:r>
          </a:p>
          <a:p>
            <a:r>
              <a:rPr lang="en-US" dirty="0"/>
              <a:t>   - The model does not account for diminishing returns to capital.</a:t>
            </a:r>
          </a:p>
          <a:p>
            <a:endParaRPr lang="en-US" dirty="0"/>
          </a:p>
          <a:p>
            <a:r>
              <a:rPr lang="en-US" dirty="0"/>
              <a:t>Despite its limitations, the Harrod-</a:t>
            </a:r>
            <a:r>
              <a:rPr lang="en-US" dirty="0" err="1"/>
              <a:t>Domar</a:t>
            </a:r>
            <a:r>
              <a:rPr lang="en-US" dirty="0"/>
              <a:t> model played a crucial role in early development economics and still serves as a foundational concept for understanding the relationship between savings, investment, and growth.</a:t>
            </a:r>
          </a:p>
        </p:txBody>
      </p:sp>
      <p:sp>
        <p:nvSpPr>
          <p:cNvPr id="4" name="Slide Number Placeholder 3"/>
          <p:cNvSpPr>
            <a:spLocks noGrp="1"/>
          </p:cNvSpPr>
          <p:nvPr>
            <p:ph type="sldNum" sz="quarter" idx="5"/>
          </p:nvPr>
        </p:nvSpPr>
        <p:spPr/>
        <p:txBody>
          <a:bodyPr/>
          <a:lstStyle/>
          <a:p>
            <a:fld id="{A7874FEA-2FCF-0E4C-AAC6-A89227903642}" type="slidenum">
              <a:rPr lang="en-US" smtClean="0"/>
              <a:t>16</a:t>
            </a:fld>
            <a:endParaRPr lang="en-US"/>
          </a:p>
        </p:txBody>
      </p:sp>
    </p:spTree>
    <p:extLst>
      <p:ext uri="{BB962C8B-B14F-4D97-AF65-F5344CB8AC3E}">
        <p14:creationId xmlns:p14="http://schemas.microsoft.com/office/powerpoint/2010/main" val="2030283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Interpretation of ICOR:</a:t>
            </a:r>
          </a:p>
          <a:p>
            <a:r>
              <a:rPr lang="en-US" dirty="0"/>
              <a:t>- A lower ICOR indicates that a country is more efficient in its use of new capital for production, meaning less additional capital is needed to generate one unit of additional output.</a:t>
            </a:r>
          </a:p>
          <a:p>
            <a:r>
              <a:rPr lang="en-US" dirty="0"/>
              <a:t>- A higher ICOR suggests that more capital is required to produce an additional unit of output, indicating inefficiency.</a:t>
            </a:r>
          </a:p>
          <a:p>
            <a:endParaRPr lang="en-US" dirty="0"/>
          </a:p>
          <a:p>
            <a:r>
              <a:rPr lang="en-US" dirty="0"/>
              <a:t>Factors influencing ICOR:</a:t>
            </a:r>
          </a:p>
          <a:p>
            <a:r>
              <a:rPr lang="en-US" dirty="0"/>
              <a:t>1. **Technological Progress**: Technological improvements can lead to a lower ICOR as the same or lesser amount of capital can produce more output.</a:t>
            </a:r>
          </a:p>
          <a:p>
            <a:r>
              <a:rPr lang="en-US" dirty="0"/>
              <a:t>2. **Quality of Investments**: If investments are directed towards more productive sectors or areas, the ICOR can be lower.</a:t>
            </a:r>
          </a:p>
          <a:p>
            <a:r>
              <a:rPr lang="en-US" dirty="0"/>
              <a:t>3. **Economic Policies**: Sound economic policies that promote efficient capital allocation can lead to a lower ICOR.</a:t>
            </a:r>
          </a:p>
          <a:p>
            <a:r>
              <a:rPr lang="en-US" dirty="0"/>
              <a:t>4. **External Factors**: Factors such as natural disasters, geopolitical tensions, etc., can increase ICOR if they lead to disruptions in production.</a:t>
            </a:r>
          </a:p>
          <a:p>
            <a:endParaRPr lang="en-US" dirty="0"/>
          </a:p>
          <a:p>
            <a:r>
              <a:rPr lang="en-US" dirty="0"/>
              <a:t>ICOR in Development Planning:</a:t>
            </a:r>
          </a:p>
          <a:p>
            <a:r>
              <a:rPr lang="en-US" dirty="0"/>
              <a:t>In development economics, ICOR is used to estimate the amount of investment required to achieve a certain growth target. For example, if a country has an ICOR of 4 and wants to increase its GDP by 1 unit, it would need an investment of 4 units of capital.</a:t>
            </a:r>
          </a:p>
          <a:p>
            <a:endParaRPr lang="en-US" dirty="0"/>
          </a:p>
          <a:p>
            <a:r>
              <a:rPr lang="en-US" dirty="0"/>
              <a:t>However, it's essential to note that ICOR is a simplification. Real-world economies are influenced by a multitude of factors, and ICOR should be seen as one tool among many to assess and plan for economic growth.</a:t>
            </a:r>
          </a:p>
        </p:txBody>
      </p:sp>
      <p:sp>
        <p:nvSpPr>
          <p:cNvPr id="4" name="Slide Number Placeholder 3"/>
          <p:cNvSpPr>
            <a:spLocks noGrp="1"/>
          </p:cNvSpPr>
          <p:nvPr>
            <p:ph type="sldNum" sz="quarter" idx="5"/>
          </p:nvPr>
        </p:nvSpPr>
        <p:spPr/>
        <p:txBody>
          <a:bodyPr/>
          <a:lstStyle/>
          <a:p>
            <a:fld id="{A7874FEA-2FCF-0E4C-AAC6-A89227903642}" type="slidenum">
              <a:rPr lang="en-US" smtClean="0"/>
              <a:t>17</a:t>
            </a:fld>
            <a:endParaRPr lang="en-US"/>
          </a:p>
        </p:txBody>
      </p:sp>
    </p:spTree>
    <p:extLst>
      <p:ext uri="{BB962C8B-B14F-4D97-AF65-F5344CB8AC3E}">
        <p14:creationId xmlns:p14="http://schemas.microsoft.com/office/powerpoint/2010/main" val="2325141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 Harrod-</a:t>
            </a:r>
            <a:r>
              <a:rPr lang="en-US" dirty="0" err="1"/>
              <a:t>Domar</a:t>
            </a:r>
            <a:r>
              <a:rPr lang="en-US" dirty="0"/>
              <a:t> model and the Neoclassical (Solow) Growth Theory are fundamental frameworks in the study of economic growth, but they differ in their assumptions, focus, and implications. Let's explore their relationship and key differences:</a:t>
            </a:r>
          </a:p>
          <a:p>
            <a:endParaRPr lang="en-US" dirty="0"/>
          </a:p>
          <a:p>
            <a:r>
              <a:rPr lang="en-US" dirty="0"/>
              <a:t>1. **Focus on Capital Accumulation**:</a:t>
            </a:r>
          </a:p>
          <a:p>
            <a:r>
              <a:rPr lang="en-US" dirty="0"/>
              <a:t>   - **Harrod-</a:t>
            </a:r>
            <a:r>
              <a:rPr lang="en-US" dirty="0" err="1"/>
              <a:t>Domar</a:t>
            </a:r>
            <a:r>
              <a:rPr lang="en-US" dirty="0"/>
              <a:t>**: The model emphasizes the role of savings and capital accumulation in determining growth. It suggests that growth is directly proportional to the savings rate and inversely proportional to the capital-output ratio.</a:t>
            </a:r>
          </a:p>
          <a:p>
            <a:r>
              <a:rPr lang="en-US" dirty="0"/>
              <a:t>   - **Neoclassical Growth Theory**: While capital accumulation is a component, the model incorporates diminishing returns to capital. This means that, in the long run, simply accumulating more capital won't sustain high growth rates.</a:t>
            </a:r>
          </a:p>
          <a:p>
            <a:endParaRPr lang="en-US" dirty="0"/>
          </a:p>
          <a:p>
            <a:r>
              <a:rPr lang="en-US" dirty="0"/>
              <a:t>2. **Stability and Growth**:</a:t>
            </a:r>
          </a:p>
          <a:p>
            <a:r>
              <a:rPr lang="en-US" dirty="0"/>
              <a:t>   - **Harrod-</a:t>
            </a:r>
            <a:r>
              <a:rPr lang="en-US" dirty="0" err="1"/>
              <a:t>Domar</a:t>
            </a:r>
            <a:r>
              <a:rPr lang="en-US" dirty="0"/>
              <a:t>**: The model introduces the concepts of warranted growth (growth rate at which firms wish to grow), natural growth (growth rate of the labor force), and actual growth. Discrepancies between these rates can lead to instability, implying that economies can be inherently unstable.</a:t>
            </a:r>
          </a:p>
          <a:p>
            <a:r>
              <a:rPr lang="en-US" dirty="0"/>
              <a:t>   - **Neoclassical Growth Theory**: Economies converge to a steady-state growth rate driven by exogenous technological progress. In this steady state, growth is stable and determined solely by technological growth.</a:t>
            </a:r>
          </a:p>
          <a:p>
            <a:endParaRPr lang="en-US" dirty="0"/>
          </a:p>
          <a:p>
            <a:r>
              <a:rPr lang="en-US" dirty="0"/>
              <a:t>3. **Role of Technology**:</a:t>
            </a:r>
          </a:p>
          <a:p>
            <a:r>
              <a:rPr lang="en-US" dirty="0"/>
              <a:t>   - **Harrod-</a:t>
            </a:r>
            <a:r>
              <a:rPr lang="en-US" dirty="0" err="1"/>
              <a:t>Domar</a:t>
            </a:r>
            <a:r>
              <a:rPr lang="en-US" dirty="0"/>
              <a:t>**: Technology is not a central component of the model.</a:t>
            </a:r>
          </a:p>
          <a:p>
            <a:r>
              <a:rPr lang="en-US" dirty="0"/>
              <a:t>   - **Neoclassical Growth Theory**: Technological progress is essential for long-term sustained growth. In the steady state, the growth rate of the economy is determined by the rate of technological progress.</a:t>
            </a:r>
          </a:p>
          <a:p>
            <a:endParaRPr lang="en-US" dirty="0"/>
          </a:p>
          <a:p>
            <a:r>
              <a:rPr lang="en-US" dirty="0"/>
              <a:t>4. **Policy Implications**:</a:t>
            </a:r>
          </a:p>
          <a:p>
            <a:r>
              <a:rPr lang="en-US" dirty="0"/>
              <a:t>   - **Harrod-</a:t>
            </a:r>
            <a:r>
              <a:rPr lang="en-US" dirty="0" err="1"/>
              <a:t>Domar</a:t>
            </a:r>
            <a:r>
              <a:rPr lang="en-US" dirty="0"/>
              <a:t>**: The model suggests that increasing the savings rate or improving the efficiency of capital (decreasing the capital-output ratio) can lead to higher growth. It has been used to justify policies aimed at increasing savings or attracting foreign aid/investment in developing countries.</a:t>
            </a:r>
          </a:p>
          <a:p>
            <a:r>
              <a:rPr lang="en-US" dirty="0"/>
              <a:t>   - **Neoclassical Growth Theory**: While increasing the savings rate can lead to a higher level of income, it won't change the long-term growth rate. Policies that foster technological advancement become critical for sustained long-term growth.</a:t>
            </a:r>
          </a:p>
          <a:p>
            <a:endParaRPr lang="en-US" dirty="0"/>
          </a:p>
          <a:p>
            <a:r>
              <a:rPr lang="en-US" dirty="0"/>
              <a:t>5. **Critiques and Limitations**:</a:t>
            </a:r>
          </a:p>
          <a:p>
            <a:r>
              <a:rPr lang="en-US" dirty="0"/>
              <a:t>   - **Harrod-</a:t>
            </a:r>
            <a:r>
              <a:rPr lang="en-US" dirty="0" err="1"/>
              <a:t>Domar</a:t>
            </a:r>
            <a:r>
              <a:rPr lang="en-US" dirty="0"/>
              <a:t>**: It's criticized for its simplicity and for not considering the diminishing returns to capital. It can sometimes overestimate the capital needs of an economy.</a:t>
            </a:r>
          </a:p>
          <a:p>
            <a:r>
              <a:rPr lang="en-US" dirty="0"/>
              <a:t>   - **Neoclassical Growth Theory**: Critics point out its reliance on exogenous technological progress and its assumptions about constant returns to scale and diminishing returns to individual factors.</a:t>
            </a:r>
          </a:p>
          <a:p>
            <a:endParaRPr lang="en-US" dirty="0"/>
          </a:p>
          <a:p>
            <a:r>
              <a:rPr lang="en-US" dirty="0"/>
              <a:t>In essence, while both models shed light on the growth process, the Harrod-</a:t>
            </a:r>
            <a:r>
              <a:rPr lang="en-US" dirty="0" err="1"/>
              <a:t>Domar</a:t>
            </a:r>
            <a:r>
              <a:rPr lang="en-US" dirty="0"/>
              <a:t> model is more short-term and emphasizes capital accumulation, while the Neoclassical Growth Theory provides a long-term view, introducing diminishing returns to capital and the centrality of technological progress. Over time, many economists have integrated insights from both models and other theories to develop a more comprehensive understanding of economic growth.</a:t>
            </a:r>
          </a:p>
        </p:txBody>
      </p:sp>
      <p:sp>
        <p:nvSpPr>
          <p:cNvPr id="4" name="Slide Number Placeholder 3"/>
          <p:cNvSpPr>
            <a:spLocks noGrp="1"/>
          </p:cNvSpPr>
          <p:nvPr>
            <p:ph type="sldNum" sz="quarter" idx="5"/>
          </p:nvPr>
        </p:nvSpPr>
        <p:spPr/>
        <p:txBody>
          <a:bodyPr/>
          <a:lstStyle/>
          <a:p>
            <a:fld id="{A7874FEA-2FCF-0E4C-AAC6-A89227903642}" type="slidenum">
              <a:rPr lang="en-US" smtClean="0"/>
              <a:t>34</a:t>
            </a:fld>
            <a:endParaRPr lang="en-US"/>
          </a:p>
        </p:txBody>
      </p:sp>
    </p:spTree>
    <p:extLst>
      <p:ext uri="{BB962C8B-B14F-4D97-AF65-F5344CB8AC3E}">
        <p14:creationId xmlns:p14="http://schemas.microsoft.com/office/powerpoint/2010/main" val="2875794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 Romer, a prominent economist and Nobel laureate, has contributed significantly to the theory of endogenous growth, which seeks to explain long-term economic growth by looking at internal factors like innovation and investment in human capital.</a:t>
            </a:r>
          </a:p>
          <a:p>
            <a:endParaRPr lang="en-US" dirty="0"/>
          </a:p>
          <a:p>
            <a:r>
              <a:rPr lang="en-US" dirty="0"/>
              <a:t>Romer's work, as highlighted in his 1986 paper "Increasing Returns and Long-Run Growth", introduces a few critical concepts:</a:t>
            </a:r>
          </a:p>
          <a:p>
            <a:endParaRPr lang="en-US" dirty="0"/>
          </a:p>
          <a:p>
            <a:r>
              <a:rPr lang="en-US" dirty="0"/>
              <a:t>1. **Diminishing Returns vs. Increasing Returns**: The traditional economic theory suggests that keeping labor constant and adding more capital leads to diminishing returns. However, Romer argues that firms seeking to maximize profit will often find new technologies that help them get more productivity out of each unit of labor, which can lead to increasing returns to capital.</a:t>
            </a:r>
          </a:p>
          <a:p>
            <a:endParaRPr lang="en-US" dirty="0"/>
          </a:p>
          <a:p>
            <a:r>
              <a:rPr lang="en-US" dirty="0"/>
              <a:t>2. **Knowledge Spillover Effect**: Romer introduces the concept of knowledge spillover. When one firm innovates, it's not just that firm that benefits. The new technology or process can 'leak' or spill over to other firms, either through observation, worker movement, or other channels. This spread of knowledge can lead to broader productivity gains across the economy.</a:t>
            </a:r>
          </a:p>
          <a:p>
            <a:endParaRPr lang="en-US" dirty="0"/>
          </a:p>
          <a:p>
            <a:r>
              <a:rPr lang="en-US" dirty="0"/>
              <a:t>3. **Capital Concentration and Wealth Inequality**: Another implication of Romer's work is that capital tends to move to places where capital already exists. This leads to increasing returns, making the rich richer and potentially widening inequality.</a:t>
            </a:r>
          </a:p>
          <a:p>
            <a:endParaRPr lang="en-US" dirty="0"/>
          </a:p>
          <a:p>
            <a:r>
              <a:rPr lang="en-US" dirty="0"/>
              <a:t>4. **Endogenous Technological Progress**: Unlike the Solow growth model, which takes technological progress as exogenous (determined outside the economic system), Romer's model treats it as endogenous (determined within the economic system). This means that the rate of technological progress is influenced by the actions of individuals and firms within the economy, such as their decisions to invest in research and development (R&amp;D).</a:t>
            </a:r>
          </a:p>
          <a:p>
            <a:endParaRPr lang="en-US" dirty="0"/>
          </a:p>
          <a:p>
            <a:r>
              <a:rPr lang="en-US" dirty="0"/>
              <a:t>Romer's theory provides an essential framework for understanding how innovation, knowledge spillovers, and capital accumulation drive long-term economic growth. It also underlines the importance of policies that promote innovation, such as investments in education, R&amp;D, and intellectual property rights protection.</a:t>
            </a:r>
          </a:p>
        </p:txBody>
      </p:sp>
      <p:sp>
        <p:nvSpPr>
          <p:cNvPr id="4" name="Slide Number Placeholder 3"/>
          <p:cNvSpPr>
            <a:spLocks noGrp="1"/>
          </p:cNvSpPr>
          <p:nvPr>
            <p:ph type="sldNum" sz="quarter" idx="5"/>
          </p:nvPr>
        </p:nvSpPr>
        <p:spPr/>
        <p:txBody>
          <a:bodyPr/>
          <a:lstStyle/>
          <a:p>
            <a:fld id="{A7874FEA-2FCF-0E4C-AAC6-A89227903642}" type="slidenum">
              <a:rPr lang="en-US" smtClean="0"/>
              <a:t>35</a:t>
            </a:fld>
            <a:endParaRPr lang="en-US"/>
          </a:p>
        </p:txBody>
      </p:sp>
    </p:spTree>
    <p:extLst>
      <p:ext uri="{BB962C8B-B14F-4D97-AF65-F5344CB8AC3E}">
        <p14:creationId xmlns:p14="http://schemas.microsoft.com/office/powerpoint/2010/main" val="3801782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E. Lucas, Jr., another influential economist and Nobel laureate, extended the concept of endogenous growth theory in his 1988 paper "On the Mechanics of Economic Development." His work emphasizes the role of human capital in economic growth and development. Let's unpack the main points:</a:t>
            </a:r>
          </a:p>
          <a:p>
            <a:endParaRPr lang="en-US" dirty="0"/>
          </a:p>
          <a:p>
            <a:r>
              <a:rPr lang="en-US" dirty="0"/>
              <a:t>1. **Role of Human Capital**: Lucas argued that human capital, which can be increased through education or learning by doing, is a critical driver of economic growth. In his model, countries with more human capital (a more educated or skilled workforce) grow faster than those with less.</a:t>
            </a:r>
          </a:p>
          <a:p>
            <a:endParaRPr lang="en-US" dirty="0"/>
          </a:p>
          <a:p>
            <a:r>
              <a:rPr lang="en-US" dirty="0"/>
              <a:t>2. **External Effects of Human Capital**: Lucas also recognized that human capital has external effects—benefits that extend beyond the individual or firm. For example, the knowledge and skills of workers can "spill over" to others in the same economy, enhancing the productivity of others and contributing to broader economic growth.</a:t>
            </a:r>
          </a:p>
          <a:p>
            <a:endParaRPr lang="en-US" dirty="0"/>
          </a:p>
          <a:p>
            <a:r>
              <a:rPr lang="en-US" dirty="0"/>
              <a:t>3. **Complementarity Among Highly Skilled Workers**: In Lucas's model, highly skilled workers are seen as complements to each other—that is, the presence of one highly skilled worker can enhance the productivity of others. This complementarity can lead to the clustering of highly skilled workers in certain areas, as they seek to benefit from proximity to others with similar skills.</a:t>
            </a:r>
          </a:p>
          <a:p>
            <a:endParaRPr lang="en-US" dirty="0"/>
          </a:p>
          <a:p>
            <a:r>
              <a:rPr lang="en-US" dirty="0"/>
              <a:t>4. **Agglomeration Effects**: Lucas's comment about Manhattan and downtown Chicago rents refers to the concept of agglomeration effects. Agglomeration refers to the phenomenon where companies and people locate near one another to take advantage of the benefits that come from proximity, like the ability to share knowledge more easily or access a larger pool of skilled workers. These agglomeration effects can lead to higher productivity and faster economic growth in these areas.</a:t>
            </a:r>
          </a:p>
          <a:p>
            <a:endParaRPr lang="en-US" dirty="0"/>
          </a:p>
          <a:p>
            <a:r>
              <a:rPr lang="en-US" dirty="0"/>
              <a:t>Overall, Lucas's work highlights the central role of human capital in driving economic growth and development. It suggests that policies promoting education and skills development can have significant long-term benefits for economic growth. At the same time, it also underscores the importance of understanding the spatial dynamics of economic development, as the benefits of human capital can be influenced by geography and proximity to others.</a:t>
            </a:r>
          </a:p>
        </p:txBody>
      </p:sp>
      <p:sp>
        <p:nvSpPr>
          <p:cNvPr id="4" name="Slide Number Placeholder 3"/>
          <p:cNvSpPr>
            <a:spLocks noGrp="1"/>
          </p:cNvSpPr>
          <p:nvPr>
            <p:ph type="sldNum" sz="quarter" idx="5"/>
          </p:nvPr>
        </p:nvSpPr>
        <p:spPr/>
        <p:txBody>
          <a:bodyPr/>
          <a:lstStyle/>
          <a:p>
            <a:fld id="{A7874FEA-2FCF-0E4C-AAC6-A89227903642}" type="slidenum">
              <a:rPr lang="en-US" smtClean="0"/>
              <a:t>36</a:t>
            </a:fld>
            <a:endParaRPr lang="en-US"/>
          </a:p>
        </p:txBody>
      </p:sp>
    </p:spTree>
    <p:extLst>
      <p:ext uri="{BB962C8B-B14F-4D97-AF65-F5344CB8AC3E}">
        <p14:creationId xmlns:p14="http://schemas.microsoft.com/office/powerpoint/2010/main" val="2314152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E. Lucas Jr.'s 1990 paper "Why Doesn't Capital Flow from Rich to Poor Countries?" poses an important question related to the distribution of global wealth and investment. According to classical economic theory, capital should flow from rich countries (where capital is abundant and the marginal returns are lower) to poor countries (where capital is scarce and the potential returns are higher). But in reality, this doesn't always happen, and Lucas sought to understand why.</a:t>
            </a:r>
          </a:p>
          <a:p>
            <a:endParaRPr lang="en-US" dirty="0"/>
          </a:p>
          <a:p>
            <a:r>
              <a:rPr lang="en-US" dirty="0"/>
              <a:t>1. **Interdependence of Physical and Human Capital**: Lucas argued that the return on physical capital (like machinery, buildings, etc.) depends positively on the amount of human capital (skills, education, etc.) present. So, if a country has low levels of human capital, the productivity and return on physical capital will also be lower. This relationship could discourage investment in countries with less human capital.</a:t>
            </a:r>
          </a:p>
          <a:p>
            <a:endParaRPr lang="en-US" dirty="0"/>
          </a:p>
          <a:p>
            <a:r>
              <a:rPr lang="en-US" dirty="0"/>
              <a:t>2. **Human Capital and Capital Flows**: Considering the interdependence between physical and human capital can help explain why capital does not flow freely from rich to poor countries. If the productivity of investment depends on the presence of skilled labor and strong institutions, then investors might prefer to invest in wealthier countries with more human capital, even if the potential returns seem higher in poorer countries.</a:t>
            </a:r>
          </a:p>
          <a:p>
            <a:endParaRPr lang="en-US" dirty="0"/>
          </a:p>
          <a:p>
            <a:r>
              <a:rPr lang="en-US" dirty="0"/>
              <a:t>3. **The Role of Inequality**: In Lucas's model, considering human capital can significantly reduce the predicted return on investment in poorer countries. For example, Lucas estimated that without considering human capital, the return on investment in India could be up to 58 times higher than in the U.S. But once you factor in the lower levels of human capital in India, the expected return drops significantly. </a:t>
            </a:r>
          </a:p>
          <a:p>
            <a:endParaRPr lang="en-US" dirty="0"/>
          </a:p>
          <a:p>
            <a:r>
              <a:rPr lang="en-US" dirty="0"/>
              <a:t>So, Lucas's work underscores the importance of human capital in economic development and global investment flows. It suggests that improving education and skills development in poorer countries could help attract more foreign investment and contribute to economic growth. However, it also raises complex questions about the role of inequality in the global economy, and how it might be addressed.</a:t>
            </a:r>
          </a:p>
        </p:txBody>
      </p:sp>
      <p:sp>
        <p:nvSpPr>
          <p:cNvPr id="4" name="Slide Number Placeholder 3"/>
          <p:cNvSpPr>
            <a:spLocks noGrp="1"/>
          </p:cNvSpPr>
          <p:nvPr>
            <p:ph type="sldNum" sz="quarter" idx="5"/>
          </p:nvPr>
        </p:nvSpPr>
        <p:spPr/>
        <p:txBody>
          <a:bodyPr/>
          <a:lstStyle/>
          <a:p>
            <a:fld id="{A7874FEA-2FCF-0E4C-AAC6-A89227903642}" type="slidenum">
              <a:rPr lang="en-US" smtClean="0"/>
              <a:t>37</a:t>
            </a:fld>
            <a:endParaRPr lang="en-US"/>
          </a:p>
        </p:txBody>
      </p:sp>
    </p:spTree>
    <p:extLst>
      <p:ext uri="{BB962C8B-B14F-4D97-AF65-F5344CB8AC3E}">
        <p14:creationId xmlns:p14="http://schemas.microsoft.com/office/powerpoint/2010/main" val="2704711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his 1990 paper, he addressed the influence of public infrastructure and policy on economic development, in an attempt to explain the Solow residual - the part of economic output not explained by the amount of inputs used in production, often interpreted as the level of an economy's productivity.</a:t>
            </a:r>
          </a:p>
          <a:p>
            <a:endParaRPr lang="en-US" dirty="0"/>
          </a:p>
          <a:p>
            <a:r>
              <a:rPr lang="en-US" dirty="0"/>
              <a:t>Here are the key takeaways from Barro's work:</a:t>
            </a:r>
          </a:p>
          <a:p>
            <a:endParaRPr lang="en-US" dirty="0"/>
          </a:p>
          <a:p>
            <a:r>
              <a:rPr lang="en-US" dirty="0"/>
              <a:t>1. **Role of Government**: Barro emphasized that the government can affect economic growth both positively and negatively. The government can foster growth by providing public goods and infrastructure, establishing and enforcing property rights, and maintaining political stability. Conversely, government can hinder growth through corruption, misallocation of resources, or excessive regulation.</a:t>
            </a:r>
          </a:p>
          <a:p>
            <a:endParaRPr lang="en-US" dirty="0"/>
          </a:p>
          <a:p>
            <a:r>
              <a:rPr lang="en-US" dirty="0"/>
              <a:t>2. **Public Infrastructure**: He argued that public infrastructure—such as roads, schools, hospitals, communication systems, and health care facilities—can significantly contribute to economic growth. They enhance productivity by improving transport efficiency, raising education levels, improving health, and facilitating information exchange.</a:t>
            </a:r>
          </a:p>
          <a:p>
            <a:endParaRPr lang="en-US" dirty="0"/>
          </a:p>
          <a:p>
            <a:r>
              <a:rPr lang="en-US" dirty="0"/>
              <a:t>3. **Inclusion in the Growth Equation**: By incorporating these elements of public infrastructure into the growth equation, Barro aimed to better explain the Solow residual. This acknowledges that public infrastructure contributes to an economy's total factor productivity—essentially, how efficiently inputs are used in production.</a:t>
            </a:r>
          </a:p>
          <a:p>
            <a:endParaRPr lang="en-US" dirty="0"/>
          </a:p>
          <a:p>
            <a:r>
              <a:rPr lang="en-US" dirty="0"/>
              <a:t>So, Barro's work broadens our understanding of economic growth by recognizing the significant role that government and public infrastructure play in enhancing or hindering development. This insight informs policy strategies aimed at promoting sustainable economic growth and reducing poverty.</a:t>
            </a:r>
          </a:p>
        </p:txBody>
      </p:sp>
      <p:sp>
        <p:nvSpPr>
          <p:cNvPr id="4" name="Slide Number Placeholder 3"/>
          <p:cNvSpPr>
            <a:spLocks noGrp="1"/>
          </p:cNvSpPr>
          <p:nvPr>
            <p:ph type="sldNum" sz="quarter" idx="5"/>
          </p:nvPr>
        </p:nvSpPr>
        <p:spPr/>
        <p:txBody>
          <a:bodyPr/>
          <a:lstStyle/>
          <a:p>
            <a:fld id="{A7874FEA-2FCF-0E4C-AAC6-A89227903642}" type="slidenum">
              <a:rPr lang="en-US" smtClean="0"/>
              <a:t>38</a:t>
            </a:fld>
            <a:endParaRPr lang="en-US"/>
          </a:p>
        </p:txBody>
      </p:sp>
    </p:spTree>
    <p:extLst>
      <p:ext uri="{BB962C8B-B14F-4D97-AF65-F5344CB8AC3E}">
        <p14:creationId xmlns:p14="http://schemas.microsoft.com/office/powerpoint/2010/main" val="4122420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Douglass North, a Nobel laureate in Economics, and his collaborator Lance Davis, provided significant contributions to the field of institutional economics. They stressed the importance of institutions—defined as the humanly devised constraints that structure human interaction—in explaining economic growth and development. They worked to explain why some countries developed earlier than others by focusing on the role of institutional change.</a:t>
            </a:r>
          </a:p>
          <a:p>
            <a:endParaRPr lang="en-US" dirty="0"/>
          </a:p>
          <a:p>
            <a:r>
              <a:rPr lang="en-US" dirty="0"/>
              <a:t>Their key ideas include:</a:t>
            </a:r>
          </a:p>
          <a:p>
            <a:endParaRPr lang="en-US" dirty="0"/>
          </a:p>
          <a:p>
            <a:r>
              <a:rPr lang="en-US" dirty="0"/>
              <a:t>1. **Role of Institutions**: North and Davis emphasized that institutions, which include formal rules like laws and informal constraints like norms, are crucial in shaping the economic performance of a society. They affect the cost of transactions and production, and thereby influence economic outcomes.</a:t>
            </a:r>
          </a:p>
          <a:p>
            <a:endParaRPr lang="en-US" dirty="0"/>
          </a:p>
          <a:p>
            <a:r>
              <a:rPr lang="en-US" dirty="0"/>
              <a:t>2. **Institutional Change**: North and Davis argued that changes in institutions, driven by political, social, and economic forces, are key to economic growth. Institutional changes can reduce transaction costs, improve property rights security, and incentivize productive economic activities.</a:t>
            </a:r>
          </a:p>
          <a:p>
            <a:endParaRPr lang="en-US" dirty="0"/>
          </a:p>
          <a:p>
            <a:r>
              <a:rPr lang="en-US" dirty="0"/>
              <a:t>3. **Explaining Development Divergence**: They used their institutional framework to explain why some countries developed earlier than others. For instance, in "The Rise of the Western World," they argue that the rise of the West was largely due to changes in institutional arrangements that reduced transaction costs and allowed for more efficient markets.</a:t>
            </a:r>
          </a:p>
          <a:p>
            <a:endParaRPr lang="en-US" dirty="0"/>
          </a:p>
          <a:p>
            <a:r>
              <a:rPr lang="en-US" dirty="0"/>
              <a:t>4. **Lessons for Developing Countries**: Their work suggests that developing countries can boost their economic growth by improving their institutions. Enhancements can be made in the rule of law, property rights enforcement, reducing corruption, and promoting good governance.</a:t>
            </a:r>
          </a:p>
          <a:p>
            <a:endParaRPr lang="en-US" dirty="0"/>
          </a:p>
          <a:p>
            <a:r>
              <a:rPr lang="en-US" dirty="0"/>
              <a:t>By emphasizing the importance of institutions, North and Davis have substantially broadened our understanding of economic development. They've shown that economic growth isn't just a matter of accumulating more physical capital, but also involves creating institutional frameworks that promote efficient and productive economic activities.</a:t>
            </a:r>
          </a:p>
          <a:p>
            <a:endParaRPr lang="en-US" dirty="0"/>
          </a:p>
          <a:p>
            <a:endParaRPr lang="en-US" dirty="0"/>
          </a:p>
          <a:p>
            <a:r>
              <a:rPr lang="en-US" dirty="0"/>
              <a:t>+++++++++++++++++++++++++++++++++++++++++++++++++++++++++++++++++++++++++++++++++++++++++++++++++++++++++</a:t>
            </a:r>
          </a:p>
          <a:p>
            <a:endParaRPr lang="en-US" dirty="0"/>
          </a:p>
          <a:p>
            <a:endParaRPr lang="en-US" dirty="0"/>
          </a:p>
          <a:p>
            <a:r>
              <a:rPr lang="en-US" dirty="0"/>
              <a:t>Daron Acemoglu, Simon Johnson, and James Robinson's 2001 paper "The Colonial Origins of Comparative Development: An Empirical Investigation" offers a unique approach to understanding why countries today exhibit such vast disparities in economic development. The authors' main argument is that the differing levels of institutional development among former colonies can be traced back to the nature and strategy of the colonial rule. </a:t>
            </a:r>
          </a:p>
          <a:p>
            <a:endParaRPr lang="en-US" dirty="0"/>
          </a:p>
          <a:p>
            <a:r>
              <a:rPr lang="en-US" dirty="0"/>
              <a:t>1. **Protection Against Expropriation**: The authors argue that economic institutions that protect against expropriation, or the act of taking away property by government, are crucial for economic growth. They found that in countries where such protections were stronger, there was a higher level of economic development, measured by log GDP per capita. These protections create an environment conducive to investment and innovation, thus leading to higher economic output. </a:t>
            </a:r>
          </a:p>
          <a:p>
            <a:endParaRPr lang="en-US" dirty="0"/>
          </a:p>
          <a:p>
            <a:r>
              <a:rPr lang="en-US" dirty="0"/>
              <a:t>2. **Colonial Origins**: Acemoglu, Johnson, and Robinson argue that the differences in these institutions can be traced back to the colonial era. In colonies where Europeans could settle in large numbers (like Australia or the United States), they established institutions that protected property rights and limited the power of the government. In colonies where large-scale European settlement was not possible due to disease environments (like much of Africa), Europeans set up "extractive institutions" that were aimed at transferring as much of the colonies' resources to the colonizers as possible. These institutions provided little protection against expropriation and, in many cases, persisted after independence.</a:t>
            </a:r>
          </a:p>
          <a:p>
            <a:endParaRPr lang="en-US" dirty="0"/>
          </a:p>
          <a:p>
            <a:r>
              <a:rPr lang="en-US" dirty="0"/>
              <a:t>3. **Long-term Impacts**: The authors found that these early institutional choices had long-term impacts. The countries that had more inclusive institutions during the colonial period are typically the richer countries today, while those that had extractive institutions are generally the poorer ones.</a:t>
            </a:r>
          </a:p>
          <a:p>
            <a:endParaRPr lang="en-US" dirty="0"/>
          </a:p>
          <a:p>
            <a:r>
              <a:rPr lang="en-US" dirty="0"/>
              <a:t>This work offers a historical and institutional perspective to economic development, emphasizing the critical role of institutions and the historical contingencies that shape them. It also underscores the long-lasting impacts of colonialism on today's global economic disparities.</a:t>
            </a:r>
          </a:p>
        </p:txBody>
      </p:sp>
      <p:sp>
        <p:nvSpPr>
          <p:cNvPr id="4" name="Slide Number Placeholder 3"/>
          <p:cNvSpPr>
            <a:spLocks noGrp="1"/>
          </p:cNvSpPr>
          <p:nvPr>
            <p:ph type="sldNum" sz="quarter" idx="5"/>
          </p:nvPr>
        </p:nvSpPr>
        <p:spPr/>
        <p:txBody>
          <a:bodyPr/>
          <a:lstStyle/>
          <a:p>
            <a:fld id="{A7874FEA-2FCF-0E4C-AAC6-A89227903642}" type="slidenum">
              <a:rPr lang="en-US" smtClean="0"/>
              <a:t>39</a:t>
            </a:fld>
            <a:endParaRPr lang="en-US"/>
          </a:p>
        </p:txBody>
      </p:sp>
    </p:spTree>
    <p:extLst>
      <p:ext uri="{BB962C8B-B14F-4D97-AF65-F5344CB8AC3E}">
        <p14:creationId xmlns:p14="http://schemas.microsoft.com/office/powerpoint/2010/main" val="3444960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1. **Investment in Physical Capital**: Investments in machinery, infrastructure, and technology can boost an economy's productivity and lead to economic growth.</a:t>
            </a:r>
          </a:p>
          <a:p>
            <a:endParaRPr lang="en-US" dirty="0"/>
          </a:p>
          <a:p>
            <a:r>
              <a:rPr lang="en-US" dirty="0"/>
              <a:t>2. **Investment in Human Capital**: Investment in education, training, and health can enhance a workforce's skills and productivity, leading to economic development.</a:t>
            </a:r>
          </a:p>
          <a:p>
            <a:endParaRPr lang="en-US" dirty="0"/>
          </a:p>
          <a:p>
            <a:r>
              <a:rPr lang="en-US" dirty="0"/>
              <a:t>3. **Openness (Export)**: Openness to trade allows a country to benefit from comparative advantages and global markets, which can drive economic growth.</a:t>
            </a:r>
          </a:p>
          <a:p>
            <a:endParaRPr lang="en-US" dirty="0"/>
          </a:p>
          <a:p>
            <a:r>
              <a:rPr lang="en-US" dirty="0"/>
              <a:t>4. **Government Size**: The government plays a crucial role in economic development by providing public goods, maintaining law and order, and creating a favorable environment for economic activities. However, an excessively large government might become inefficient or hinder economic activities.</a:t>
            </a:r>
          </a:p>
          <a:p>
            <a:endParaRPr lang="en-US" dirty="0"/>
          </a:p>
          <a:p>
            <a:r>
              <a:rPr lang="en-US" dirty="0"/>
              <a:t>5. **Population Growth**: Population growth can both positively and negatively impact economic development. A growing population can provide a larger labor force, but if it outpaces economic growth, it could lead to higher dependency ratios and lower per capita income.</a:t>
            </a:r>
          </a:p>
          <a:p>
            <a:endParaRPr lang="en-US" dirty="0"/>
          </a:p>
          <a:p>
            <a:r>
              <a:rPr lang="en-US" dirty="0"/>
              <a:t>6. **Fiscal &amp; Monetary Policies**: Sound fiscal and monetary policies can promote economic stability, encourage investment, and spur economic growth.</a:t>
            </a:r>
          </a:p>
          <a:p>
            <a:endParaRPr lang="en-US" dirty="0"/>
          </a:p>
          <a:p>
            <a:r>
              <a:rPr lang="en-US" dirty="0"/>
              <a:t>7. **Resource Allocation**: Efficient allocation of resources can lead to higher productivity and economic growth, while misallocation can hinder development.</a:t>
            </a:r>
          </a:p>
          <a:p>
            <a:endParaRPr lang="en-US" dirty="0"/>
          </a:p>
          <a:p>
            <a:r>
              <a:rPr lang="en-US" dirty="0"/>
              <a:t>8. **Political Stability**: Political stability can foster a favorable business environment, encourage investment, and contribute to economic growth. On the other hand, political instability can deter investment and hinder economic development.</a:t>
            </a:r>
          </a:p>
          <a:p>
            <a:endParaRPr lang="en-US" dirty="0"/>
          </a:p>
          <a:p>
            <a:r>
              <a:rPr lang="en-US" dirty="0"/>
              <a:t>9. **Culture**: Cultural attitudes towards work, innovation, cooperation, and other economic activities can influence economic development. </a:t>
            </a:r>
          </a:p>
          <a:p>
            <a:endParaRPr lang="en-US" dirty="0"/>
          </a:p>
          <a:p>
            <a:r>
              <a:rPr lang="en-US" dirty="0"/>
              <a:t>10. **Geography**: Geography can influence economic development through its impact on climate, natural resources availability, and access to markets.</a:t>
            </a:r>
          </a:p>
        </p:txBody>
      </p:sp>
      <p:sp>
        <p:nvSpPr>
          <p:cNvPr id="4" name="Slide Number Placeholder 3"/>
          <p:cNvSpPr>
            <a:spLocks noGrp="1"/>
          </p:cNvSpPr>
          <p:nvPr>
            <p:ph type="sldNum" sz="quarter" idx="5"/>
          </p:nvPr>
        </p:nvSpPr>
        <p:spPr/>
        <p:txBody>
          <a:bodyPr/>
          <a:lstStyle/>
          <a:p>
            <a:fld id="{A7874FEA-2FCF-0E4C-AAC6-A89227903642}" type="slidenum">
              <a:rPr lang="en-US" smtClean="0"/>
              <a:t>43</a:t>
            </a:fld>
            <a:endParaRPr lang="en-US"/>
          </a:p>
        </p:txBody>
      </p:sp>
    </p:spTree>
    <p:extLst>
      <p:ext uri="{BB962C8B-B14F-4D97-AF65-F5344CB8AC3E}">
        <p14:creationId xmlns:p14="http://schemas.microsoft.com/office/powerpoint/2010/main" val="1005555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626E298-A9B4-4138-A610-F156DE44047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84A4116-0F50-484F-B99F-0F89D5C82BF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49763D6-385D-48A2-93B3-96C206A6BE09}"/>
              </a:ext>
            </a:extLst>
          </p:cNvPr>
          <p:cNvSpPr>
            <a:spLocks noGrp="1" noChangeArrowheads="1"/>
          </p:cNvSpPr>
          <p:nvPr>
            <p:ph type="sldNum" sz="quarter" idx="12"/>
          </p:nvPr>
        </p:nvSpPr>
        <p:spPr>
          <a:ln/>
        </p:spPr>
        <p:txBody>
          <a:bodyPr/>
          <a:lstStyle>
            <a:lvl1pPr>
              <a:defRPr/>
            </a:lvl1pPr>
          </a:lstStyle>
          <a:p>
            <a:pPr>
              <a:defRPr/>
            </a:pPr>
            <a:fld id="{DB80C65B-9138-4E3B-B89C-CD60A1837671}" type="slidenum">
              <a:rPr lang="en-US" altLang="zh-CN"/>
              <a:pPr>
                <a:defRPr/>
              </a:pPr>
              <a:t>‹#›</a:t>
            </a:fld>
            <a:endParaRPr lang="en-US" altLang="zh-CN"/>
          </a:p>
        </p:txBody>
      </p:sp>
    </p:spTree>
    <p:extLst>
      <p:ext uri="{BB962C8B-B14F-4D97-AF65-F5344CB8AC3E}">
        <p14:creationId xmlns:p14="http://schemas.microsoft.com/office/powerpoint/2010/main" val="3904287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370F3DD-2D11-463E-AF0F-CD82004D9AB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C78CCDE-2858-45AF-82EC-B29B90879A4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66733F6-FFC5-416A-A8C4-8A8D1AD57DFC}"/>
              </a:ext>
            </a:extLst>
          </p:cNvPr>
          <p:cNvSpPr>
            <a:spLocks noGrp="1" noChangeArrowheads="1"/>
          </p:cNvSpPr>
          <p:nvPr>
            <p:ph type="sldNum" sz="quarter" idx="12"/>
          </p:nvPr>
        </p:nvSpPr>
        <p:spPr>
          <a:ln/>
        </p:spPr>
        <p:txBody>
          <a:bodyPr/>
          <a:lstStyle>
            <a:lvl1pPr>
              <a:defRPr/>
            </a:lvl1pPr>
          </a:lstStyle>
          <a:p>
            <a:pPr>
              <a:defRPr/>
            </a:pPr>
            <a:fld id="{2F5980D7-B299-45B2-9EF5-2DA601274189}" type="slidenum">
              <a:rPr lang="en-US" altLang="zh-CN"/>
              <a:pPr>
                <a:defRPr/>
              </a:pPr>
              <a:t>‹#›</a:t>
            </a:fld>
            <a:endParaRPr lang="en-US" altLang="zh-CN"/>
          </a:p>
        </p:txBody>
      </p:sp>
    </p:spTree>
    <p:extLst>
      <p:ext uri="{BB962C8B-B14F-4D97-AF65-F5344CB8AC3E}">
        <p14:creationId xmlns:p14="http://schemas.microsoft.com/office/powerpoint/2010/main" val="4209918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6A9C784-F8FA-488A-B80C-F3C25CB3BB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525DA7F-3D95-4F8B-B87A-0BD5DF19E96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356A01B-638D-4C3B-8FDD-D33CFDD5C057}"/>
              </a:ext>
            </a:extLst>
          </p:cNvPr>
          <p:cNvSpPr>
            <a:spLocks noGrp="1" noChangeArrowheads="1"/>
          </p:cNvSpPr>
          <p:nvPr>
            <p:ph type="sldNum" sz="quarter" idx="12"/>
          </p:nvPr>
        </p:nvSpPr>
        <p:spPr>
          <a:ln/>
        </p:spPr>
        <p:txBody>
          <a:bodyPr/>
          <a:lstStyle>
            <a:lvl1pPr>
              <a:defRPr/>
            </a:lvl1pPr>
          </a:lstStyle>
          <a:p>
            <a:pPr>
              <a:defRPr/>
            </a:pPr>
            <a:fld id="{57A112CF-2B0C-4CA8-8235-CDF122CBC52F}" type="slidenum">
              <a:rPr lang="en-US" altLang="zh-CN"/>
              <a:pPr>
                <a:defRPr/>
              </a:pPr>
              <a:t>‹#›</a:t>
            </a:fld>
            <a:endParaRPr lang="en-US" altLang="zh-CN"/>
          </a:p>
        </p:txBody>
      </p:sp>
    </p:spTree>
    <p:extLst>
      <p:ext uri="{BB962C8B-B14F-4D97-AF65-F5344CB8AC3E}">
        <p14:creationId xmlns:p14="http://schemas.microsoft.com/office/powerpoint/2010/main" val="1388330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31D20DC-122C-4247-9DB0-3E48A11DE46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B26B961-563A-45EF-AF3A-93B698BA914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02A76FB-EE83-4827-B9D8-03D91B1F7AC8}"/>
              </a:ext>
            </a:extLst>
          </p:cNvPr>
          <p:cNvSpPr>
            <a:spLocks noGrp="1" noChangeArrowheads="1"/>
          </p:cNvSpPr>
          <p:nvPr>
            <p:ph type="sldNum" sz="quarter" idx="12"/>
          </p:nvPr>
        </p:nvSpPr>
        <p:spPr>
          <a:ln/>
        </p:spPr>
        <p:txBody>
          <a:bodyPr/>
          <a:lstStyle>
            <a:lvl1pPr>
              <a:defRPr/>
            </a:lvl1pPr>
          </a:lstStyle>
          <a:p>
            <a:pPr>
              <a:defRPr/>
            </a:pPr>
            <a:fld id="{968C8D90-3818-41B4-A0C8-A8990DF36DC4}" type="slidenum">
              <a:rPr lang="en-US" altLang="zh-CN"/>
              <a:pPr>
                <a:defRPr/>
              </a:pPr>
              <a:t>‹#›</a:t>
            </a:fld>
            <a:endParaRPr lang="en-US" altLang="zh-CN"/>
          </a:p>
        </p:txBody>
      </p:sp>
    </p:spTree>
    <p:extLst>
      <p:ext uri="{BB962C8B-B14F-4D97-AF65-F5344CB8AC3E}">
        <p14:creationId xmlns:p14="http://schemas.microsoft.com/office/powerpoint/2010/main" val="1221482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CB01DE5-C17A-44F5-8D38-B7BA2004005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9576FB7-0043-44D3-9BE8-7EF8665AA5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36BBC72-E887-4227-940E-5F577AD06AB0}"/>
              </a:ext>
            </a:extLst>
          </p:cNvPr>
          <p:cNvSpPr>
            <a:spLocks noGrp="1" noChangeArrowheads="1"/>
          </p:cNvSpPr>
          <p:nvPr>
            <p:ph type="sldNum" sz="quarter" idx="12"/>
          </p:nvPr>
        </p:nvSpPr>
        <p:spPr>
          <a:ln/>
        </p:spPr>
        <p:txBody>
          <a:bodyPr/>
          <a:lstStyle>
            <a:lvl1pPr>
              <a:defRPr/>
            </a:lvl1pPr>
          </a:lstStyle>
          <a:p>
            <a:pPr>
              <a:defRPr/>
            </a:pPr>
            <a:fld id="{9C4212C8-070C-45D1-8FA7-B7069133E480}" type="slidenum">
              <a:rPr lang="en-US" altLang="zh-CN"/>
              <a:pPr>
                <a:defRPr/>
              </a:pPr>
              <a:t>‹#›</a:t>
            </a:fld>
            <a:endParaRPr lang="en-US" altLang="zh-CN"/>
          </a:p>
        </p:txBody>
      </p:sp>
    </p:spTree>
    <p:extLst>
      <p:ext uri="{BB962C8B-B14F-4D97-AF65-F5344CB8AC3E}">
        <p14:creationId xmlns:p14="http://schemas.microsoft.com/office/powerpoint/2010/main" val="101486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30D8066-860D-413F-BB8D-B9622A3090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E7F805C-E277-48DE-8AE2-B5A8C6C169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82EBC97-46B1-482C-A474-A551ECDA36D4}"/>
              </a:ext>
            </a:extLst>
          </p:cNvPr>
          <p:cNvSpPr>
            <a:spLocks noGrp="1" noChangeArrowheads="1"/>
          </p:cNvSpPr>
          <p:nvPr>
            <p:ph type="sldNum" sz="quarter" idx="12"/>
          </p:nvPr>
        </p:nvSpPr>
        <p:spPr>
          <a:ln/>
        </p:spPr>
        <p:txBody>
          <a:bodyPr/>
          <a:lstStyle>
            <a:lvl1pPr>
              <a:defRPr/>
            </a:lvl1pPr>
          </a:lstStyle>
          <a:p>
            <a:pPr>
              <a:defRPr/>
            </a:pPr>
            <a:fld id="{CBEBC88F-EE3B-4372-8AEE-E16A166901C2}" type="slidenum">
              <a:rPr lang="en-US" altLang="zh-CN"/>
              <a:pPr>
                <a:defRPr/>
              </a:pPr>
              <a:t>‹#›</a:t>
            </a:fld>
            <a:endParaRPr lang="en-US" altLang="zh-CN"/>
          </a:p>
        </p:txBody>
      </p:sp>
    </p:spTree>
    <p:extLst>
      <p:ext uri="{BB962C8B-B14F-4D97-AF65-F5344CB8AC3E}">
        <p14:creationId xmlns:p14="http://schemas.microsoft.com/office/powerpoint/2010/main" val="1502791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8A9E39-0068-4218-9F78-EB3674C666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BDCD7F19-CAB2-49A6-8597-AC773248695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40EC5D2-5ABA-4938-8ED2-5598EAA04148}"/>
              </a:ext>
            </a:extLst>
          </p:cNvPr>
          <p:cNvSpPr>
            <a:spLocks noGrp="1" noChangeArrowheads="1"/>
          </p:cNvSpPr>
          <p:nvPr>
            <p:ph type="sldNum" sz="quarter" idx="12"/>
          </p:nvPr>
        </p:nvSpPr>
        <p:spPr>
          <a:ln/>
        </p:spPr>
        <p:txBody>
          <a:bodyPr/>
          <a:lstStyle>
            <a:lvl1pPr>
              <a:defRPr/>
            </a:lvl1pPr>
          </a:lstStyle>
          <a:p>
            <a:pPr>
              <a:defRPr/>
            </a:pPr>
            <a:fld id="{4AFD4E35-9FCE-4107-A717-B3E6FC52F68D}" type="slidenum">
              <a:rPr lang="en-US" altLang="zh-CN"/>
              <a:pPr>
                <a:defRPr/>
              </a:pPr>
              <a:t>‹#›</a:t>
            </a:fld>
            <a:endParaRPr lang="en-US" altLang="zh-CN"/>
          </a:p>
        </p:txBody>
      </p:sp>
    </p:spTree>
    <p:extLst>
      <p:ext uri="{BB962C8B-B14F-4D97-AF65-F5344CB8AC3E}">
        <p14:creationId xmlns:p14="http://schemas.microsoft.com/office/powerpoint/2010/main" val="2766864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0906692-3255-4105-9B2B-7F608A4362B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86EB63A-0017-4355-96CD-E07D6E8B80D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B5C7772-64FC-4A5A-BC30-2CBBA6ED99BE}"/>
              </a:ext>
            </a:extLst>
          </p:cNvPr>
          <p:cNvSpPr>
            <a:spLocks noGrp="1" noChangeArrowheads="1"/>
          </p:cNvSpPr>
          <p:nvPr>
            <p:ph type="sldNum" sz="quarter" idx="12"/>
          </p:nvPr>
        </p:nvSpPr>
        <p:spPr>
          <a:ln/>
        </p:spPr>
        <p:txBody>
          <a:bodyPr/>
          <a:lstStyle>
            <a:lvl1pPr>
              <a:defRPr/>
            </a:lvl1pPr>
          </a:lstStyle>
          <a:p>
            <a:pPr>
              <a:defRPr/>
            </a:pPr>
            <a:fld id="{586D8CFD-6A39-4A8C-9AB7-30BCB9061D04}" type="slidenum">
              <a:rPr lang="en-US" altLang="zh-CN"/>
              <a:pPr>
                <a:defRPr/>
              </a:pPr>
              <a:t>‹#›</a:t>
            </a:fld>
            <a:endParaRPr lang="en-US" altLang="zh-CN"/>
          </a:p>
        </p:txBody>
      </p:sp>
    </p:spTree>
    <p:extLst>
      <p:ext uri="{BB962C8B-B14F-4D97-AF65-F5344CB8AC3E}">
        <p14:creationId xmlns:p14="http://schemas.microsoft.com/office/powerpoint/2010/main" val="4012915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158FB69-0966-4818-9A85-673642D6A60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62BA7E3-3B31-451E-B63B-675D6FB962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828A648-8D02-4E51-98AB-486057D81614}"/>
              </a:ext>
            </a:extLst>
          </p:cNvPr>
          <p:cNvSpPr>
            <a:spLocks noGrp="1" noChangeArrowheads="1"/>
          </p:cNvSpPr>
          <p:nvPr>
            <p:ph type="sldNum" sz="quarter" idx="12"/>
          </p:nvPr>
        </p:nvSpPr>
        <p:spPr>
          <a:ln/>
        </p:spPr>
        <p:txBody>
          <a:bodyPr/>
          <a:lstStyle>
            <a:lvl1pPr>
              <a:defRPr/>
            </a:lvl1pPr>
          </a:lstStyle>
          <a:p>
            <a:pPr>
              <a:defRPr/>
            </a:pPr>
            <a:fld id="{A7FED620-5BB8-4F78-AECF-D68159DD0474}" type="slidenum">
              <a:rPr lang="en-US" altLang="zh-CN"/>
              <a:pPr>
                <a:defRPr/>
              </a:pPr>
              <a:t>‹#›</a:t>
            </a:fld>
            <a:endParaRPr lang="en-US" altLang="zh-CN"/>
          </a:p>
        </p:txBody>
      </p:sp>
    </p:spTree>
    <p:extLst>
      <p:ext uri="{BB962C8B-B14F-4D97-AF65-F5344CB8AC3E}">
        <p14:creationId xmlns:p14="http://schemas.microsoft.com/office/powerpoint/2010/main" val="129280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8854447-8D20-4AC1-82C4-AFD8C58C39A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9297AF9-5FEE-4C5C-AF77-DEC5D610FD1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1291CE1-4707-469E-B6E8-58F21F0DB396}"/>
              </a:ext>
            </a:extLst>
          </p:cNvPr>
          <p:cNvSpPr>
            <a:spLocks noGrp="1" noChangeArrowheads="1"/>
          </p:cNvSpPr>
          <p:nvPr>
            <p:ph type="sldNum" sz="quarter" idx="12"/>
          </p:nvPr>
        </p:nvSpPr>
        <p:spPr>
          <a:ln/>
        </p:spPr>
        <p:txBody>
          <a:bodyPr/>
          <a:lstStyle>
            <a:lvl1pPr>
              <a:defRPr/>
            </a:lvl1pPr>
          </a:lstStyle>
          <a:p>
            <a:pPr>
              <a:defRPr/>
            </a:pPr>
            <a:fld id="{ACD37112-0557-409A-BDF7-95C106FD28E0}" type="slidenum">
              <a:rPr lang="en-US" altLang="zh-CN"/>
              <a:pPr>
                <a:defRPr/>
              </a:pPr>
              <a:t>‹#›</a:t>
            </a:fld>
            <a:endParaRPr lang="en-US" altLang="zh-CN"/>
          </a:p>
        </p:txBody>
      </p:sp>
    </p:spTree>
    <p:extLst>
      <p:ext uri="{BB962C8B-B14F-4D97-AF65-F5344CB8AC3E}">
        <p14:creationId xmlns:p14="http://schemas.microsoft.com/office/powerpoint/2010/main" val="4274328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1277898-A5AF-44F7-83A6-F36129FE653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44E314C-C443-4215-BDEA-84DAC59089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586C764-3843-4DBC-B0E9-C4B3FD9159A4}"/>
              </a:ext>
            </a:extLst>
          </p:cNvPr>
          <p:cNvSpPr>
            <a:spLocks noGrp="1" noChangeArrowheads="1"/>
          </p:cNvSpPr>
          <p:nvPr>
            <p:ph type="sldNum" sz="quarter" idx="12"/>
          </p:nvPr>
        </p:nvSpPr>
        <p:spPr>
          <a:ln/>
        </p:spPr>
        <p:txBody>
          <a:bodyPr/>
          <a:lstStyle>
            <a:lvl1pPr>
              <a:defRPr/>
            </a:lvl1pPr>
          </a:lstStyle>
          <a:p>
            <a:pPr>
              <a:defRPr/>
            </a:pPr>
            <a:fld id="{299967AF-B1F1-4D2D-BB3E-6657C40BB13D}" type="slidenum">
              <a:rPr lang="en-US" altLang="zh-CN"/>
              <a:pPr>
                <a:defRPr/>
              </a:pPr>
              <a:t>‹#›</a:t>
            </a:fld>
            <a:endParaRPr lang="en-US" altLang="zh-CN"/>
          </a:p>
        </p:txBody>
      </p:sp>
    </p:spTree>
    <p:extLst>
      <p:ext uri="{BB962C8B-B14F-4D97-AF65-F5344CB8AC3E}">
        <p14:creationId xmlns:p14="http://schemas.microsoft.com/office/powerpoint/2010/main" val="1929016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FD62D680-CC44-4F18-872C-098A80F9908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27E117B9-4782-42BB-926F-0E421817EB8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ECB6FD79-E7D3-42C0-9C3B-0125749A2E14}"/>
              </a:ext>
            </a:extLst>
          </p:cNvPr>
          <p:cNvSpPr>
            <a:spLocks noGrp="1" noChangeArrowheads="1"/>
          </p:cNvSpPr>
          <p:nvPr>
            <p:ph type="sldNum" sz="quarter" idx="12"/>
          </p:nvPr>
        </p:nvSpPr>
        <p:spPr>
          <a:ln/>
        </p:spPr>
        <p:txBody>
          <a:bodyPr/>
          <a:lstStyle>
            <a:lvl1pPr>
              <a:defRPr/>
            </a:lvl1pPr>
          </a:lstStyle>
          <a:p>
            <a:pPr>
              <a:defRPr/>
            </a:pPr>
            <a:fld id="{46693141-30BF-4981-8119-C866F015CD77}" type="slidenum">
              <a:rPr lang="en-US" altLang="zh-CN"/>
              <a:pPr>
                <a:defRPr/>
              </a:pPr>
              <a:t>‹#›</a:t>
            </a:fld>
            <a:endParaRPr lang="en-US" altLang="zh-CN"/>
          </a:p>
        </p:txBody>
      </p:sp>
    </p:spTree>
    <p:extLst>
      <p:ext uri="{BB962C8B-B14F-4D97-AF65-F5344CB8AC3E}">
        <p14:creationId xmlns:p14="http://schemas.microsoft.com/office/powerpoint/2010/main" val="884462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id="{EA634626-3FD1-4C90-BF05-AFDDD506427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13FB179-E1E7-4F3A-8999-DE2DD5C780C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EF698EE-D7A3-4655-81EE-98E26552257B}"/>
              </a:ext>
            </a:extLst>
          </p:cNvPr>
          <p:cNvSpPr>
            <a:spLocks noGrp="1" noChangeArrowheads="1"/>
          </p:cNvSpPr>
          <p:nvPr>
            <p:ph type="sldNum" sz="quarter" idx="12"/>
          </p:nvPr>
        </p:nvSpPr>
        <p:spPr>
          <a:ln/>
        </p:spPr>
        <p:txBody>
          <a:bodyPr/>
          <a:lstStyle>
            <a:lvl1pPr>
              <a:defRPr/>
            </a:lvl1pPr>
          </a:lstStyle>
          <a:p>
            <a:pPr>
              <a:defRPr/>
            </a:pPr>
            <a:fld id="{323C7338-D688-4993-8767-F35674741DA4}" type="slidenum">
              <a:rPr lang="en-US" altLang="zh-CN"/>
              <a:pPr>
                <a:defRPr/>
              </a:pPr>
              <a:t>‹#›</a:t>
            </a:fld>
            <a:endParaRPr lang="en-US" altLang="zh-CN"/>
          </a:p>
        </p:txBody>
      </p:sp>
    </p:spTree>
    <p:extLst>
      <p:ext uri="{BB962C8B-B14F-4D97-AF65-F5344CB8AC3E}">
        <p14:creationId xmlns:p14="http://schemas.microsoft.com/office/powerpoint/2010/main" val="2113065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5F2BF5D-1D1D-4319-920D-CAA4483D767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C7338E8-9168-440E-B000-4DDE69B924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77793E5-C148-4BDD-AFD9-53682A45DDBF}"/>
              </a:ext>
            </a:extLst>
          </p:cNvPr>
          <p:cNvSpPr>
            <a:spLocks noGrp="1" noChangeArrowheads="1"/>
          </p:cNvSpPr>
          <p:nvPr>
            <p:ph type="sldNum" sz="quarter" idx="12"/>
          </p:nvPr>
        </p:nvSpPr>
        <p:spPr>
          <a:ln/>
        </p:spPr>
        <p:txBody>
          <a:bodyPr/>
          <a:lstStyle>
            <a:lvl1pPr>
              <a:defRPr/>
            </a:lvl1pPr>
          </a:lstStyle>
          <a:p>
            <a:pPr>
              <a:defRPr/>
            </a:pPr>
            <a:fld id="{2E5AB49B-0F44-4A3C-A948-7D7A4E0247DF}" type="slidenum">
              <a:rPr lang="en-US" altLang="zh-CN"/>
              <a:pPr>
                <a:defRPr/>
              </a:pPr>
              <a:t>‹#›</a:t>
            </a:fld>
            <a:endParaRPr lang="en-US" altLang="zh-CN"/>
          </a:p>
        </p:txBody>
      </p:sp>
    </p:spTree>
    <p:extLst>
      <p:ext uri="{BB962C8B-B14F-4D97-AF65-F5344CB8AC3E}">
        <p14:creationId xmlns:p14="http://schemas.microsoft.com/office/powerpoint/2010/main" val="3674195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B4C98A7-375A-43D2-ABF0-70E772E39944}"/>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85E8E6B-FBF6-46CB-B9F7-E911D7B2709E}"/>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C97EB6E8-0D74-4054-AB85-CC93A172037E}"/>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a:extLst>
              <a:ext uri="{FF2B5EF4-FFF2-40B4-BE49-F238E27FC236}">
                <a16:creationId xmlns:a16="http://schemas.microsoft.com/office/drawing/2014/main" id="{01647763-3431-4AB3-A016-FCEA9D6C9A60}"/>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a:extLst>
              <a:ext uri="{FF2B5EF4-FFF2-40B4-BE49-F238E27FC236}">
                <a16:creationId xmlns:a16="http://schemas.microsoft.com/office/drawing/2014/main" id="{F0DEB8CD-D939-49EC-A7C9-FEE6CFBAB0DC}"/>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4B961888-3AF4-4A5E-84FC-F329B0205FE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8.bin"/><Relationship Id="rId18" Type="http://schemas.openxmlformats.org/officeDocument/2006/relationships/image" Target="../media/image12.w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9.wmf"/><Relationship Id="rId17" Type="http://schemas.openxmlformats.org/officeDocument/2006/relationships/oleObject" Target="../embeddings/oleObject10.bin"/><Relationship Id="rId2" Type="http://schemas.openxmlformats.org/officeDocument/2006/relationships/notesSlide" Target="../notesSlides/notesSlide7.xml"/><Relationship Id="rId16" Type="http://schemas.openxmlformats.org/officeDocument/2006/relationships/image" Target="../media/image11.wmf"/><Relationship Id="rId1" Type="http://schemas.openxmlformats.org/officeDocument/2006/relationships/slideLayout" Target="../slideLayouts/slideLayout12.xml"/><Relationship Id="rId6" Type="http://schemas.openxmlformats.org/officeDocument/2006/relationships/image" Target="../media/image6.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6.bin"/><Relationship Id="rId14" Type="http://schemas.openxmlformats.org/officeDocument/2006/relationships/image" Target="../media/image10.wmf"/></Relationships>
</file>

<file path=ppt/slides/_rels/slide1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wmf"/><Relationship Id="rId5" Type="http://schemas.openxmlformats.org/officeDocument/2006/relationships/oleObject" Target="../embeddings/oleObject12.bin"/><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9.wmf"/><Relationship Id="rId3" Type="http://schemas.openxmlformats.org/officeDocument/2006/relationships/image" Target="../media/image16.wmf"/><Relationship Id="rId7" Type="http://schemas.openxmlformats.org/officeDocument/2006/relationships/image" Target="../media/image5.wmf"/><Relationship Id="rId12" Type="http://schemas.openxmlformats.org/officeDocument/2006/relationships/oleObject" Target="../embeddings/oleObject17.bin"/><Relationship Id="rId2" Type="http://schemas.openxmlformats.org/officeDocument/2006/relationships/oleObject" Target="../embeddings/oleObject14.bin"/><Relationship Id="rId1" Type="http://schemas.openxmlformats.org/officeDocument/2006/relationships/slideLayout" Target="../slideLayouts/slideLayout12.xml"/><Relationship Id="rId6" Type="http://schemas.openxmlformats.org/officeDocument/2006/relationships/oleObject" Target="../embeddings/oleObject3.bin"/><Relationship Id="rId11"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oleObject" Target="../embeddings/oleObject16.bin"/><Relationship Id="rId4" Type="http://schemas.openxmlformats.org/officeDocument/2006/relationships/oleObject" Target="../embeddings/oleObject15.bin"/><Relationship Id="rId9" Type="http://schemas.openxmlformats.org/officeDocument/2006/relationships/image" Target="../media/image7.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5.wmf"/><Relationship Id="rId7" Type="http://schemas.openxmlformats.org/officeDocument/2006/relationships/image" Target="../media/image21.wmf"/><Relationship Id="rId2" Type="http://schemas.openxmlformats.org/officeDocument/2006/relationships/oleObject" Target="../embeddings/oleObject3.bin"/><Relationship Id="rId1" Type="http://schemas.openxmlformats.org/officeDocument/2006/relationships/slideLayout" Target="../slideLayouts/slideLayout12.xml"/><Relationship Id="rId6" Type="http://schemas.openxmlformats.org/officeDocument/2006/relationships/oleObject" Target="../embeddings/oleObject19.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12.xml"/><Relationship Id="rId6" Type="http://schemas.openxmlformats.org/officeDocument/2006/relationships/oleObject" Target="../embeddings/oleObject24.bin"/><Relationship Id="rId5" Type="http://schemas.openxmlformats.org/officeDocument/2006/relationships/image" Target="../media/image25.wmf"/><Relationship Id="rId4" Type="http://schemas.openxmlformats.org/officeDocument/2006/relationships/oleObject" Target="../embeddings/oleObject23.bin"/><Relationship Id="rId9" Type="http://schemas.openxmlformats.org/officeDocument/2006/relationships/image" Target="../media/image27.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33.wmf"/><Relationship Id="rId18" Type="http://schemas.openxmlformats.org/officeDocument/2006/relationships/oleObject" Target="../embeddings/oleObject34.bin"/><Relationship Id="rId3" Type="http://schemas.openxmlformats.org/officeDocument/2006/relationships/image" Target="../media/image28.wmf"/><Relationship Id="rId21" Type="http://schemas.openxmlformats.org/officeDocument/2006/relationships/image" Target="../media/image37.wmf"/><Relationship Id="rId7" Type="http://schemas.openxmlformats.org/officeDocument/2006/relationships/image" Target="../media/image30.wmf"/><Relationship Id="rId12" Type="http://schemas.openxmlformats.org/officeDocument/2006/relationships/oleObject" Target="../embeddings/oleObject31.bin"/><Relationship Id="rId17" Type="http://schemas.openxmlformats.org/officeDocument/2006/relationships/image" Target="../media/image35.wmf"/><Relationship Id="rId2" Type="http://schemas.openxmlformats.org/officeDocument/2006/relationships/oleObject" Target="../embeddings/oleObject26.bin"/><Relationship Id="rId16" Type="http://schemas.openxmlformats.org/officeDocument/2006/relationships/oleObject" Target="../embeddings/oleObject33.bin"/><Relationship Id="rId20" Type="http://schemas.openxmlformats.org/officeDocument/2006/relationships/oleObject" Target="../embeddings/oleObject35.bin"/><Relationship Id="rId1" Type="http://schemas.openxmlformats.org/officeDocument/2006/relationships/slideLayout" Target="../slideLayouts/slideLayout14.xml"/><Relationship Id="rId6" Type="http://schemas.openxmlformats.org/officeDocument/2006/relationships/oleObject" Target="../embeddings/oleObject28.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23" Type="http://schemas.openxmlformats.org/officeDocument/2006/relationships/image" Target="../media/image17.wmf"/><Relationship Id="rId10" Type="http://schemas.openxmlformats.org/officeDocument/2006/relationships/oleObject" Target="../embeddings/oleObject30.bin"/><Relationship Id="rId19" Type="http://schemas.openxmlformats.org/officeDocument/2006/relationships/image" Target="../media/image36.wmf"/><Relationship Id="rId4" Type="http://schemas.openxmlformats.org/officeDocument/2006/relationships/oleObject" Target="../embeddings/oleObject27.bin"/><Relationship Id="rId9" Type="http://schemas.openxmlformats.org/officeDocument/2006/relationships/image" Target="../media/image31.wmf"/><Relationship Id="rId14" Type="http://schemas.openxmlformats.org/officeDocument/2006/relationships/oleObject" Target="../embeddings/oleObject32.bin"/><Relationship Id="rId22" Type="http://schemas.openxmlformats.org/officeDocument/2006/relationships/oleObject" Target="../embeddings/oleObject3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37.bin"/><Relationship Id="rId1" Type="http://schemas.openxmlformats.org/officeDocument/2006/relationships/slideLayout" Target="../slideLayouts/slideLayout14.xml"/><Relationship Id="rId6" Type="http://schemas.openxmlformats.org/officeDocument/2006/relationships/oleObject" Target="../embeddings/oleObject39.bin"/><Relationship Id="rId5" Type="http://schemas.openxmlformats.org/officeDocument/2006/relationships/image" Target="../media/image39.wmf"/><Relationship Id="rId4" Type="http://schemas.openxmlformats.org/officeDocument/2006/relationships/oleObject" Target="../embeddings/oleObject38.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17.wmf"/><Relationship Id="rId3" Type="http://schemas.openxmlformats.org/officeDocument/2006/relationships/image" Target="../media/image41.wmf"/><Relationship Id="rId7" Type="http://schemas.openxmlformats.org/officeDocument/2006/relationships/image" Target="../media/image43.wmf"/><Relationship Id="rId12" Type="http://schemas.openxmlformats.org/officeDocument/2006/relationships/oleObject" Target="../embeddings/oleObject36.bin"/><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4.wmf"/></Relationships>
</file>

<file path=ppt/slides/_rels/slide26.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5.bin"/><Relationship Id="rId1" Type="http://schemas.openxmlformats.org/officeDocument/2006/relationships/slideLayout" Target="../slideLayouts/slideLayout2.xml"/><Relationship Id="rId5" Type="http://schemas.openxmlformats.org/officeDocument/2006/relationships/image" Target="../media/image47.wmf"/><Relationship Id="rId4" Type="http://schemas.openxmlformats.org/officeDocument/2006/relationships/oleObject" Target="../embeddings/oleObject46.bin"/></Relationships>
</file>

<file path=ppt/slides/_rels/slide27.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47.bin"/><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7.bin"/><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48.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1.wmf"/><Relationship Id="rId12" Type="http://schemas.openxmlformats.org/officeDocument/2006/relationships/oleObject" Target="../embeddings/oleObject54.bin"/><Relationship Id="rId2" Type="http://schemas.openxmlformats.org/officeDocument/2006/relationships/oleObject" Target="../embeddings/oleObject49.bin"/><Relationship Id="rId1" Type="http://schemas.openxmlformats.org/officeDocument/2006/relationships/slideLayout" Target="../slideLayouts/slideLayout2.xml"/><Relationship Id="rId6" Type="http://schemas.openxmlformats.org/officeDocument/2006/relationships/oleObject" Target="../embeddings/oleObject51.bin"/><Relationship Id="rId11" Type="http://schemas.openxmlformats.org/officeDocument/2006/relationships/image" Target="../media/image53.wmf"/><Relationship Id="rId5" Type="http://schemas.openxmlformats.org/officeDocument/2006/relationships/image" Target="../media/image50.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2.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55.png"/><Relationship Id="rId7" Type="http://schemas.openxmlformats.org/officeDocument/2006/relationships/image" Target="../media/image55.wmf"/><Relationship Id="rId1" Type="http://schemas.openxmlformats.org/officeDocument/2006/relationships/slideLayout" Target="../slideLayouts/slideLayout2.xml"/><Relationship Id="rId6" Type="http://schemas.openxmlformats.org/officeDocument/2006/relationships/oleObject" Target="../embeddings/oleObject55.bin"/><Relationship Id="rId11" Type="http://schemas.openxmlformats.org/officeDocument/2006/relationships/image" Target="../media/image56.wmf"/><Relationship Id="rId5" Type="http://schemas.openxmlformats.org/officeDocument/2006/relationships/image" Target="../media/image39.wmf"/><Relationship Id="rId10" Type="http://schemas.openxmlformats.org/officeDocument/2006/relationships/oleObject" Target="../embeddings/oleObject56.bin"/><Relationship Id="rId4" Type="http://schemas.openxmlformats.org/officeDocument/2006/relationships/oleObject" Target="../embeddings/oleObject48.bin"/><Relationship Id="rId9" Type="http://schemas.openxmlformats.org/officeDocument/2006/relationships/image" Target="../media/image53.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2.wmf"/><Relationship Id="rId18" Type="http://schemas.openxmlformats.org/officeDocument/2006/relationships/oleObject" Target="../embeddings/oleObject65.bin"/><Relationship Id="rId3" Type="http://schemas.openxmlformats.org/officeDocument/2006/relationships/image" Target="../media/image57.wmf"/><Relationship Id="rId7" Type="http://schemas.openxmlformats.org/officeDocument/2006/relationships/image" Target="../media/image59.wmf"/><Relationship Id="rId12" Type="http://schemas.openxmlformats.org/officeDocument/2006/relationships/oleObject" Target="../embeddings/oleObject62.bin"/><Relationship Id="rId17" Type="http://schemas.openxmlformats.org/officeDocument/2006/relationships/image" Target="../media/image64.wmf"/><Relationship Id="rId2" Type="http://schemas.openxmlformats.org/officeDocument/2006/relationships/oleObject" Target="../embeddings/oleObject57.bin"/><Relationship Id="rId16"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59.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61.bin"/><Relationship Id="rId19" Type="http://schemas.openxmlformats.org/officeDocument/2006/relationships/image" Target="../media/image65.wmf"/><Relationship Id="rId4" Type="http://schemas.openxmlformats.org/officeDocument/2006/relationships/oleObject" Target="../embeddings/oleObject58.bin"/><Relationship Id="rId9" Type="http://schemas.openxmlformats.org/officeDocument/2006/relationships/image" Target="../media/image60.wmf"/><Relationship Id="rId14" Type="http://schemas.openxmlformats.org/officeDocument/2006/relationships/oleObject" Target="../embeddings/oleObject63.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66.wmf"/><Relationship Id="rId7" Type="http://schemas.openxmlformats.org/officeDocument/2006/relationships/image" Target="../media/image68.wmf"/><Relationship Id="rId2" Type="http://schemas.openxmlformats.org/officeDocument/2006/relationships/oleObject" Target="../embeddings/oleObject66.bin"/><Relationship Id="rId1" Type="http://schemas.openxmlformats.org/officeDocument/2006/relationships/slideLayout" Target="../slideLayouts/slideLayout2.xml"/><Relationship Id="rId6" Type="http://schemas.openxmlformats.org/officeDocument/2006/relationships/oleObject" Target="../embeddings/oleObject68.bin"/><Relationship Id="rId5" Type="http://schemas.openxmlformats.org/officeDocument/2006/relationships/image" Target="../media/image67.wmf"/><Relationship Id="rId4" Type="http://schemas.openxmlformats.org/officeDocument/2006/relationships/oleObject" Target="../embeddings/oleObject67.bin"/><Relationship Id="rId9" Type="http://schemas.openxmlformats.org/officeDocument/2006/relationships/image" Target="../media/image69.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0.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1.wmf"/></Relationships>
</file>

<file path=ppt/slides/_rels/slide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DD00218-79A5-46DE-BBEE-C84B9CD312CF}"/>
              </a:ext>
            </a:extLst>
          </p:cNvPr>
          <p:cNvSpPr>
            <a:spLocks noGrp="1" noChangeArrowheads="1"/>
          </p:cNvSpPr>
          <p:nvPr>
            <p:ph type="ctrTitle"/>
          </p:nvPr>
        </p:nvSpPr>
        <p:spPr>
          <a:xfrm>
            <a:off x="571500" y="1643063"/>
            <a:ext cx="7772400" cy="1470025"/>
          </a:xfrm>
        </p:spPr>
        <p:txBody>
          <a:bodyPr/>
          <a:lstStyle/>
          <a:p>
            <a:pPr eaLnBrk="1" hangingPunct="1"/>
            <a:r>
              <a:rPr lang="en-US" altLang="zh-CN">
                <a:latin typeface="Times New Roman" panose="02020603050405020304" pitchFamily="18" charset="0"/>
              </a:rPr>
              <a:t>International Economic Development</a:t>
            </a:r>
          </a:p>
        </p:txBody>
      </p:sp>
      <p:sp>
        <p:nvSpPr>
          <p:cNvPr id="2051" name="Rectangle 3">
            <a:extLst>
              <a:ext uri="{FF2B5EF4-FFF2-40B4-BE49-F238E27FC236}">
                <a16:creationId xmlns:a16="http://schemas.microsoft.com/office/drawing/2014/main" id="{6F84B094-182B-44CB-871C-BAB86E9C5717}"/>
              </a:ext>
            </a:extLst>
          </p:cNvPr>
          <p:cNvSpPr>
            <a:spLocks noGrp="1" noChangeArrowheads="1"/>
          </p:cNvSpPr>
          <p:nvPr>
            <p:ph type="subTitle" idx="1"/>
          </p:nvPr>
        </p:nvSpPr>
        <p:spPr>
          <a:xfrm>
            <a:off x="1428750" y="3857625"/>
            <a:ext cx="7031038" cy="1874838"/>
          </a:xfrm>
        </p:spPr>
        <p:txBody>
          <a:bodyPr/>
          <a:lstStyle/>
          <a:p>
            <a:pPr eaLnBrk="1" hangingPunct="1"/>
            <a:r>
              <a:rPr lang="en-US" altLang="zh-CN" sz="2800">
                <a:latin typeface="Times New Roman" panose="02020603050405020304" pitchFamily="18" charset="0"/>
              </a:rPr>
              <a:t>ECON 4660/8666</a:t>
            </a:r>
          </a:p>
          <a:p>
            <a:pPr eaLnBrk="1" hangingPunct="1"/>
            <a:endParaRPr lang="en-US" altLang="zh-CN">
              <a:latin typeface="Times New Roman" panose="02020603050405020304" pitchFamily="18" charset="0"/>
            </a:endParaRPr>
          </a:p>
          <a:p>
            <a:pPr eaLnBrk="1" hangingPunct="1"/>
            <a:r>
              <a:rPr lang="en-US" altLang="zh-CN">
                <a:latin typeface="Times New Roman" panose="02020603050405020304" pitchFamily="18" charset="0"/>
              </a:rPr>
              <a:t>Lecture 3: Theories of Economic Growth</a:t>
            </a:r>
          </a:p>
          <a:p>
            <a:pPr eaLnBrk="1" hangingPunct="1"/>
            <a:endParaRPr lang="en-US" altLang="zh-CN">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0F4D4554-FF76-4D2C-BB22-1C8919133E98}"/>
              </a:ext>
            </a:extLst>
          </p:cNvPr>
          <p:cNvSpPr>
            <a:spLocks noGrp="1" noChangeArrowheads="1"/>
          </p:cNvSpPr>
          <p:nvPr>
            <p:ph type="body" idx="1"/>
          </p:nvPr>
        </p:nvSpPr>
        <p:spPr>
          <a:xfrm>
            <a:off x="457200" y="549275"/>
            <a:ext cx="8229600" cy="5245100"/>
          </a:xfrm>
        </p:spPr>
        <p:txBody>
          <a:bodyPr/>
          <a:lstStyle/>
          <a:p>
            <a:pPr eaLnBrk="1" hangingPunct="1">
              <a:lnSpc>
                <a:spcPct val="90000"/>
              </a:lnSpc>
              <a:buFontTx/>
              <a:buNone/>
              <a:defRPr/>
            </a:pPr>
            <a:r>
              <a:rPr lang="en-US" altLang="zh-CN" sz="2800" dirty="0">
                <a:latin typeface="+mj-lt"/>
              </a:rPr>
              <a:t>I. Schumpeter’s Model of Innovation</a:t>
            </a:r>
          </a:p>
          <a:p>
            <a:pPr eaLnBrk="1" hangingPunct="1">
              <a:lnSpc>
                <a:spcPct val="90000"/>
              </a:lnSpc>
              <a:buFontTx/>
              <a:buNone/>
              <a:defRPr/>
            </a:pPr>
            <a:endParaRPr lang="en-US" altLang="zh-CN" sz="2800" dirty="0">
              <a:latin typeface="Times New Roman" panose="02020603050405020304" pitchFamily="18" charset="0"/>
            </a:endParaRPr>
          </a:p>
          <a:p>
            <a:pPr eaLnBrk="1" hangingPunct="1">
              <a:lnSpc>
                <a:spcPct val="90000"/>
              </a:lnSpc>
              <a:spcAft>
                <a:spcPts val="600"/>
              </a:spcAft>
              <a:defRPr/>
            </a:pPr>
            <a:r>
              <a:rPr lang="en-US" altLang="zh-CN" sz="2400" dirty="0">
                <a:latin typeface="Times New Roman" panose="02020603050405020304" pitchFamily="18" charset="0"/>
              </a:rPr>
              <a:t>Joseph Schumpeter (1934)</a:t>
            </a:r>
          </a:p>
          <a:p>
            <a:pPr lvl="1" eaLnBrk="1" hangingPunct="1">
              <a:lnSpc>
                <a:spcPct val="90000"/>
              </a:lnSpc>
              <a:spcAft>
                <a:spcPts val="600"/>
              </a:spcAft>
              <a:defRPr/>
            </a:pPr>
            <a:r>
              <a:rPr lang="en-US" altLang="zh-CN" sz="2000" i="1" dirty="0">
                <a:latin typeface="Times New Roman" panose="02020603050405020304" pitchFamily="18" charset="0"/>
              </a:rPr>
              <a:t>The Theory of Economic Development</a:t>
            </a:r>
            <a:r>
              <a:rPr lang="en-US" altLang="zh-CN" sz="2000" dirty="0">
                <a:latin typeface="Times New Roman" panose="02020603050405020304" pitchFamily="18" charset="0"/>
              </a:rPr>
              <a:t>. Harvard U. press.</a:t>
            </a:r>
            <a:endParaRPr lang="en-US" altLang="zh-CN" sz="2400" dirty="0">
              <a:latin typeface="Times New Roman" panose="02020603050405020304" pitchFamily="18" charset="0"/>
            </a:endParaRPr>
          </a:p>
          <a:p>
            <a:pPr eaLnBrk="1" hangingPunct="1">
              <a:lnSpc>
                <a:spcPct val="90000"/>
              </a:lnSpc>
              <a:spcAft>
                <a:spcPts val="600"/>
              </a:spcAft>
              <a:defRPr/>
            </a:pPr>
            <a:r>
              <a:rPr lang="en-US" altLang="zh-CN" sz="2400" dirty="0">
                <a:latin typeface="Times New Roman" panose="02020603050405020304" pitchFamily="18" charset="0"/>
              </a:rPr>
              <a:t>Capitalist economy is a process of “creative destructions”. Each firm seeks to gain an advantage through innovation, e.g., a more attractive design, a new product, etc.</a:t>
            </a:r>
            <a:endParaRPr lang="en-US" altLang="zh-CN" sz="2800" dirty="0">
              <a:latin typeface="Times New Roman" panose="02020603050405020304" pitchFamily="18" charset="0"/>
            </a:endParaRPr>
          </a:p>
          <a:p>
            <a:pPr eaLnBrk="1" hangingPunct="1">
              <a:lnSpc>
                <a:spcPct val="90000"/>
              </a:lnSpc>
              <a:spcAft>
                <a:spcPts val="600"/>
              </a:spcAft>
              <a:defRPr/>
            </a:pPr>
            <a:r>
              <a:rPr lang="en-US" altLang="zh-CN" sz="2400" dirty="0">
                <a:latin typeface="Times New Roman" panose="02020603050405020304" pitchFamily="18" charset="0"/>
              </a:rPr>
              <a:t>As a result, the innovator destroys the monopoly power that its competitors gained because of earlier innovations.</a:t>
            </a:r>
          </a:p>
          <a:p>
            <a:pPr eaLnBrk="1" hangingPunct="1">
              <a:lnSpc>
                <a:spcPct val="90000"/>
              </a:lnSpc>
              <a:spcAft>
                <a:spcPts val="600"/>
              </a:spcAft>
              <a:defRPr/>
            </a:pPr>
            <a:r>
              <a:rPr lang="en-US" altLang="zh-CN" sz="2400" dirty="0">
                <a:latin typeface="Times New Roman" panose="02020603050405020304" pitchFamily="18" charset="0"/>
              </a:rPr>
              <a:t>This continuous creation and destruction prevents permanent monopolies, and society experiences constant technological progress, which is the source of economic growth.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32E6971C-50E3-42DB-926F-334DD7B1CD8D}"/>
              </a:ext>
            </a:extLst>
          </p:cNvPr>
          <p:cNvSpPr>
            <a:spLocks noGrp="1" noChangeArrowheads="1"/>
          </p:cNvSpPr>
          <p:nvPr>
            <p:ph type="body" idx="1"/>
          </p:nvPr>
        </p:nvSpPr>
        <p:spPr>
          <a:xfrm>
            <a:off x="468313" y="357188"/>
            <a:ext cx="8218487" cy="6500812"/>
          </a:xfrm>
        </p:spPr>
        <p:txBody>
          <a:bodyPr/>
          <a:lstStyle/>
          <a:p>
            <a:pPr eaLnBrk="1" hangingPunct="1">
              <a:lnSpc>
                <a:spcPct val="80000"/>
              </a:lnSpc>
              <a:buFontTx/>
              <a:buNone/>
              <a:defRPr/>
            </a:pPr>
            <a:r>
              <a:rPr lang="en-US" altLang="zh-CN" sz="2800" dirty="0">
                <a:latin typeface="+mj-lt"/>
              </a:rPr>
              <a:t>II. Rostow’s stages of Growth </a:t>
            </a:r>
          </a:p>
          <a:p>
            <a:pPr eaLnBrk="1" hangingPunct="1">
              <a:lnSpc>
                <a:spcPct val="80000"/>
              </a:lnSpc>
              <a:buFontTx/>
              <a:buNone/>
              <a:defRPr/>
            </a:pPr>
            <a:endParaRPr lang="en-US" altLang="zh-CN" sz="2000" dirty="0">
              <a:latin typeface="Times New Roman" panose="02020603050405020304" pitchFamily="18" charset="0"/>
            </a:endParaRPr>
          </a:p>
          <a:p>
            <a:pPr eaLnBrk="1" hangingPunct="1">
              <a:lnSpc>
                <a:spcPct val="80000"/>
              </a:lnSpc>
              <a:buFontTx/>
              <a:buNone/>
              <a:defRPr/>
            </a:pPr>
            <a:endParaRPr lang="en-US" altLang="zh-CN" sz="900" dirty="0">
              <a:latin typeface="Times New Roman" panose="02020603050405020304" pitchFamily="18" charset="0"/>
            </a:endParaRPr>
          </a:p>
          <a:p>
            <a:pPr eaLnBrk="1" hangingPunct="1">
              <a:lnSpc>
                <a:spcPct val="80000"/>
              </a:lnSpc>
              <a:defRPr/>
            </a:pPr>
            <a:r>
              <a:rPr lang="en-US" altLang="zh-CN" sz="2200" dirty="0">
                <a:latin typeface="Times New Roman" panose="02020603050405020304" pitchFamily="18" charset="0"/>
                <a:cs typeface="Times New Roman" panose="02020603050405020304" pitchFamily="18" charset="0"/>
              </a:rPr>
              <a:t>Rostow Adviser to President Eisenhower </a:t>
            </a:r>
            <a:r>
              <a:rPr lang="en-US" altLang="en-US" sz="2200" dirty="0">
                <a:latin typeface="Times New Roman" panose="02020603050405020304" pitchFamily="18" charset="0"/>
                <a:cs typeface="Times New Roman" panose="02020603050405020304" pitchFamily="18" charset="0"/>
              </a:rPr>
              <a:t>on economic and foreign policy</a:t>
            </a:r>
          </a:p>
          <a:p>
            <a:pPr lvl="1" eaLnBrk="1" hangingPunct="1">
              <a:lnSpc>
                <a:spcPct val="80000"/>
              </a:lnSpc>
              <a:defRPr/>
            </a:pPr>
            <a:r>
              <a:rPr lang="en-US" altLang="zh-CN"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Stages of Economic Growth: A Non-Communist Manifesto</a:t>
            </a:r>
            <a:r>
              <a:rPr lang="en-US" altLang="zh-CN" sz="1800" dirty="0">
                <a:latin typeface="Times New Roman" panose="02020603050405020304" pitchFamily="18" charset="0"/>
                <a:cs typeface="Times New Roman" panose="02020603050405020304" pitchFamily="18" charset="0"/>
              </a:rPr>
              <a:t>.” 1960</a:t>
            </a:r>
          </a:p>
          <a:p>
            <a:pPr lvl="1" eaLnBrk="1" hangingPunct="1">
              <a:lnSpc>
                <a:spcPct val="80000"/>
              </a:lnSpc>
              <a:defRPr/>
            </a:pPr>
            <a:r>
              <a:rPr lang="en-US" altLang="zh-CN" sz="1800" dirty="0">
                <a:latin typeface="Times New Roman" panose="02020603050405020304" pitchFamily="18" charset="0"/>
                <a:cs typeface="Times New Roman" panose="02020603050405020304" pitchFamily="18" charset="0"/>
              </a:rPr>
              <a:t>“The Take-Off into Self-Sustained Growth” (Econ J.  46-1, 1956),  </a:t>
            </a:r>
          </a:p>
          <a:p>
            <a:pPr eaLnBrk="1" hangingPunct="1">
              <a:lnSpc>
                <a:spcPct val="80000"/>
              </a:lnSpc>
              <a:buFontTx/>
              <a:buNone/>
              <a:defRPr/>
            </a:pPr>
            <a:endParaRPr lang="en-US" altLang="zh-CN" sz="2200" dirty="0">
              <a:latin typeface="Times New Roman" panose="02020603050405020304" pitchFamily="18" charset="0"/>
              <a:cs typeface="Times New Roman" panose="02020603050405020304" pitchFamily="18" charset="0"/>
            </a:endParaRPr>
          </a:p>
          <a:p>
            <a:pPr eaLnBrk="1" hangingPunct="1">
              <a:lnSpc>
                <a:spcPct val="80000"/>
              </a:lnSpc>
              <a:buFontTx/>
              <a:buNone/>
              <a:defRPr/>
            </a:pPr>
            <a:r>
              <a:rPr lang="en-US" altLang="zh-CN" sz="2200" dirty="0">
                <a:latin typeface="Times New Roman" panose="02020603050405020304" pitchFamily="18" charset="0"/>
              </a:rPr>
              <a:t>       1. The traditional society. </a:t>
            </a:r>
          </a:p>
          <a:p>
            <a:pPr lvl="2" eaLnBrk="1" hangingPunct="1">
              <a:lnSpc>
                <a:spcPct val="80000"/>
              </a:lnSpc>
              <a:defRPr/>
            </a:pPr>
            <a:r>
              <a:rPr lang="en-US" altLang="zh-CN" sz="1800" dirty="0">
                <a:latin typeface="Times New Roman" panose="02020603050405020304" pitchFamily="18" charset="0"/>
              </a:rPr>
              <a:t>Agriculture, self-sufficiency, persisted for centuries</a:t>
            </a:r>
          </a:p>
          <a:p>
            <a:pPr lvl="1" eaLnBrk="1" hangingPunct="1">
              <a:lnSpc>
                <a:spcPct val="80000"/>
              </a:lnSpc>
              <a:buFontTx/>
              <a:buNone/>
              <a:defRPr/>
            </a:pPr>
            <a:endParaRPr lang="en-US" altLang="zh-CN" sz="2200" dirty="0">
              <a:latin typeface="Times New Roman" panose="02020603050405020304" pitchFamily="18" charset="0"/>
            </a:endParaRPr>
          </a:p>
          <a:p>
            <a:pPr eaLnBrk="1" hangingPunct="1">
              <a:lnSpc>
                <a:spcPct val="80000"/>
              </a:lnSpc>
              <a:buFontTx/>
              <a:buNone/>
              <a:defRPr/>
            </a:pPr>
            <a:r>
              <a:rPr lang="en-US" altLang="zh-CN" sz="2200" dirty="0">
                <a:latin typeface="Times New Roman" panose="02020603050405020304" pitchFamily="18" charset="0"/>
              </a:rPr>
              <a:t>       2. The transitional stage (the pre-conditions for take-off into self-sustaining growth). </a:t>
            </a:r>
          </a:p>
          <a:p>
            <a:pPr lvl="2" eaLnBrk="1" hangingPunct="1">
              <a:lnSpc>
                <a:spcPct val="80000"/>
              </a:lnSpc>
              <a:defRPr/>
            </a:pPr>
            <a:r>
              <a:rPr lang="en-US" altLang="zh-CN" sz="1800" dirty="0">
                <a:latin typeface="Times New Roman" panose="02020603050405020304" pitchFamily="18" charset="0"/>
              </a:rPr>
              <a:t>Surplus of labor in rural</a:t>
            </a:r>
          </a:p>
          <a:p>
            <a:pPr lvl="2" eaLnBrk="1" hangingPunct="1">
              <a:lnSpc>
                <a:spcPct val="80000"/>
              </a:lnSpc>
              <a:defRPr/>
            </a:pPr>
            <a:r>
              <a:rPr lang="en-US" altLang="zh-CN" sz="1800" dirty="0">
                <a:latin typeface="Times New Roman" panose="02020603050405020304" pitchFamily="18" charset="0"/>
              </a:rPr>
              <a:t>more savings &amp; investment, import of capital goods, </a:t>
            </a:r>
            <a:r>
              <a:rPr lang="en-US" altLang="zh-CN" sz="1800" dirty="0">
                <a:latin typeface="Times New Roman" panose="02020603050405020304" pitchFamily="18" charset="0"/>
                <a:cs typeface="Times New Roman" panose="02020603050405020304" pitchFamily="18" charset="0"/>
              </a:rPr>
              <a:t>development requires substantial investment in capital</a:t>
            </a:r>
          </a:p>
          <a:p>
            <a:pPr lvl="2" eaLnBrk="1" hangingPunct="1">
              <a:lnSpc>
                <a:spcPct val="80000"/>
              </a:lnSpc>
              <a:defRPr/>
            </a:pPr>
            <a:r>
              <a:rPr lang="en-US" altLang="zh-CN" sz="1800" dirty="0">
                <a:latin typeface="Times New Roman" panose="02020603050405020304" pitchFamily="18" charset="0"/>
              </a:rPr>
              <a:t>Last for a number of decades</a:t>
            </a:r>
          </a:p>
          <a:p>
            <a:pPr lvl="1" eaLnBrk="1" hangingPunct="1">
              <a:lnSpc>
                <a:spcPct val="80000"/>
              </a:lnSpc>
              <a:buFontTx/>
              <a:buNone/>
              <a:defRPr/>
            </a:pPr>
            <a:endParaRPr lang="en-US" altLang="zh-CN" sz="800" dirty="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graph&#10;&#10;AI-generated content may be incorrect.">
            <a:extLst>
              <a:ext uri="{FF2B5EF4-FFF2-40B4-BE49-F238E27FC236}">
                <a16:creationId xmlns:a16="http://schemas.microsoft.com/office/drawing/2014/main" id="{6FF9FEC5-EF9E-C826-F466-087DC4BCB2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2610" y="0"/>
            <a:ext cx="5798780" cy="6858000"/>
          </a:xfrm>
          <a:prstGeom prst="rect">
            <a:avLst/>
          </a:prstGeom>
        </p:spPr>
      </p:pic>
    </p:spTree>
    <p:extLst>
      <p:ext uri="{BB962C8B-B14F-4D97-AF65-F5344CB8AC3E}">
        <p14:creationId xmlns:p14="http://schemas.microsoft.com/office/powerpoint/2010/main" val="383118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3839C6A4-B207-4D05-B689-A51663E5B81D}"/>
              </a:ext>
            </a:extLst>
          </p:cNvPr>
          <p:cNvSpPr>
            <a:spLocks noGrp="1" noChangeArrowheads="1"/>
          </p:cNvSpPr>
          <p:nvPr>
            <p:ph idx="1"/>
          </p:nvPr>
        </p:nvSpPr>
        <p:spPr>
          <a:xfrm>
            <a:off x="539750" y="476250"/>
            <a:ext cx="8147050" cy="5649913"/>
          </a:xfrm>
        </p:spPr>
        <p:txBody>
          <a:bodyPr/>
          <a:lstStyle/>
          <a:p>
            <a:pPr lvl="1" eaLnBrk="1" hangingPunct="1">
              <a:lnSpc>
                <a:spcPct val="80000"/>
              </a:lnSpc>
              <a:buFontTx/>
              <a:buNone/>
            </a:pPr>
            <a:r>
              <a:rPr lang="en-US" altLang="zh-CN" sz="1200" dirty="0">
                <a:latin typeface="Times New Roman" panose="02020603050405020304" pitchFamily="18" charset="0"/>
              </a:rPr>
              <a:t> </a:t>
            </a:r>
          </a:p>
          <a:p>
            <a:pPr lvl="1" eaLnBrk="1" hangingPunct="1">
              <a:lnSpc>
                <a:spcPct val="80000"/>
              </a:lnSpc>
              <a:buFontTx/>
              <a:buNone/>
            </a:pPr>
            <a:endParaRPr lang="en-US" altLang="zh-CN" sz="2400" dirty="0">
              <a:latin typeface="Times New Roman" panose="02020603050405020304" pitchFamily="18" charset="0"/>
            </a:endParaRPr>
          </a:p>
          <a:p>
            <a:pPr lvl="1" eaLnBrk="1" hangingPunct="1">
              <a:lnSpc>
                <a:spcPct val="80000"/>
              </a:lnSpc>
              <a:buFontTx/>
              <a:buNone/>
            </a:pPr>
            <a:r>
              <a:rPr lang="en-US" altLang="zh-CN" sz="2400" dirty="0">
                <a:latin typeface="Times New Roman" panose="02020603050405020304" pitchFamily="18" charset="0"/>
              </a:rPr>
              <a:t>3. The take-off:  growth rate accelerates, relatively brief </a:t>
            </a:r>
          </a:p>
          <a:p>
            <a:pPr lvl="2" eaLnBrk="1" hangingPunct="1">
              <a:lnSpc>
                <a:spcPct val="80000"/>
              </a:lnSpc>
              <a:spcAft>
                <a:spcPts val="600"/>
              </a:spcAft>
            </a:pPr>
            <a:r>
              <a:rPr lang="en-US" altLang="zh-CN" sz="1800" dirty="0">
                <a:latin typeface="Times New Roman" panose="02020603050405020304" pitchFamily="18" charset="0"/>
              </a:rPr>
              <a:t>Could be initiated by a revolution military coup in S. Korea in </a:t>
            </a:r>
            <a:r>
              <a:rPr lang="en-US" altLang="zh-CN" sz="1800" dirty="0">
                <a:latin typeface="Times New Roman" panose="02020603050405020304" pitchFamily="18" charset="0"/>
                <a:cs typeface="Times New Roman" panose="02020603050405020304" pitchFamily="18" charset="0"/>
              </a:rPr>
              <a:t>1961 (</a:t>
            </a:r>
            <a:r>
              <a:rPr lang="en-US" altLang="en-US" sz="1800" dirty="0">
                <a:latin typeface="Times New Roman" panose="02020603050405020304" pitchFamily="18" charset="0"/>
                <a:cs typeface="Times New Roman" panose="02020603050405020304" pitchFamily="18" charset="0"/>
              </a:rPr>
              <a:t>Park Chung-Hee,1961 military coup, 1963 elected president, till 1979);</a:t>
            </a:r>
          </a:p>
          <a:p>
            <a:pPr lvl="2" eaLnBrk="1" hangingPunct="1">
              <a:lnSpc>
                <a:spcPct val="80000"/>
              </a:lnSpc>
              <a:spcAft>
                <a:spcPts val="600"/>
              </a:spcAft>
              <a:buFontTx/>
              <a:buNone/>
            </a:pPr>
            <a:r>
              <a:rPr lang="en-US" altLang="zh-CN" sz="1800" dirty="0">
                <a:latin typeface="Times New Roman" panose="02020603050405020304" pitchFamily="18" charset="0"/>
              </a:rPr>
              <a:t>    But Khmer Rouge in </a:t>
            </a:r>
            <a:r>
              <a:rPr lang="en-US" altLang="zh-CN" sz="1800" dirty="0">
                <a:latin typeface="Times New Roman" panose="02020603050405020304" pitchFamily="18" charset="0"/>
                <a:cs typeface="Times New Roman" panose="02020603050405020304" pitchFamily="18" charset="0"/>
              </a:rPr>
              <a:t>Cambodia (“</a:t>
            </a:r>
            <a:r>
              <a:rPr lang="en-US" altLang="en-US" sz="1800" dirty="0">
                <a:latin typeface="Times New Roman" panose="02020603050405020304" pitchFamily="18" charset="0"/>
                <a:cs typeface="Times New Roman" panose="02020603050405020304" pitchFamily="18" charset="0"/>
              </a:rPr>
              <a:t>Red Cambodians”, followers of the Communist Party of Kampuchea,1975 to 1979, Pol Pot, </a:t>
            </a:r>
            <a:r>
              <a:rPr lang="en-US" altLang="zh-CN" sz="1800" dirty="0">
                <a:latin typeface="Times New Roman" panose="02020603050405020304" pitchFamily="18" charset="0"/>
                <a:cs typeface="Times New Roman" panose="02020603050405020304" pitchFamily="18" charset="0"/>
              </a:rPr>
              <a:t>killed </a:t>
            </a:r>
            <a:r>
              <a:rPr lang="en-US" altLang="en-US" sz="1800" dirty="0">
                <a:latin typeface="Times New Roman" panose="02020603050405020304" pitchFamily="18" charset="0"/>
                <a:cs typeface="Times New Roman" panose="02020603050405020304" pitchFamily="18" charset="0"/>
              </a:rPr>
              <a:t>3,300,000 people) and </a:t>
            </a:r>
            <a:r>
              <a:rPr lang="en-US" altLang="zh-CN" sz="1800" dirty="0">
                <a:latin typeface="Times New Roman" panose="02020603050405020304" pitchFamily="18" charset="0"/>
                <a:cs typeface="Times New Roman" panose="02020603050405020304" pitchFamily="18" charset="0"/>
              </a:rPr>
              <a:t>Khomeini in Iran, counter examples</a:t>
            </a:r>
          </a:p>
          <a:p>
            <a:pPr lvl="2" eaLnBrk="1" hangingPunct="1">
              <a:lnSpc>
                <a:spcPct val="80000"/>
              </a:lnSpc>
              <a:spcAft>
                <a:spcPts val="600"/>
              </a:spcAft>
            </a:pPr>
            <a:r>
              <a:rPr lang="en-US" altLang="zh-CN" sz="1800" dirty="0">
                <a:latin typeface="Times New Roman" panose="02020603050405020304" pitchFamily="18" charset="0"/>
              </a:rPr>
              <a:t>Technological breakthrough.  The Industrial Revolution in England in the latter half of the 18</a:t>
            </a:r>
            <a:r>
              <a:rPr lang="en-US" altLang="zh-CN" sz="1800" baseline="30000" dirty="0">
                <a:latin typeface="Times New Roman" panose="02020603050405020304" pitchFamily="18" charset="0"/>
              </a:rPr>
              <a:t>th</a:t>
            </a:r>
            <a:r>
              <a:rPr lang="en-US" altLang="zh-CN" sz="1800" dirty="0">
                <a:latin typeface="Times New Roman" panose="02020603050405020304" pitchFamily="18" charset="0"/>
              </a:rPr>
              <a:t> century</a:t>
            </a:r>
          </a:p>
          <a:p>
            <a:pPr lvl="2" eaLnBrk="1" hangingPunct="1">
              <a:lnSpc>
                <a:spcPct val="80000"/>
              </a:lnSpc>
              <a:spcAft>
                <a:spcPts val="600"/>
              </a:spcAft>
            </a:pPr>
            <a:r>
              <a:rPr lang="en-US" altLang="zh-CN" sz="1800" dirty="0">
                <a:latin typeface="Times New Roman" panose="02020603050405020304" pitchFamily="18" charset="0"/>
              </a:rPr>
              <a:t>Institutional development, such as commercial banks, thrift institutions, bond and stock markets, insurance companies, pension funds, etc.  Channel domestic funds into investment</a:t>
            </a:r>
          </a:p>
          <a:p>
            <a:pPr lvl="2" eaLnBrk="1" hangingPunct="1">
              <a:lnSpc>
                <a:spcPct val="80000"/>
              </a:lnSpc>
              <a:spcAft>
                <a:spcPts val="600"/>
              </a:spcAft>
            </a:pPr>
            <a:r>
              <a:rPr lang="en-US" altLang="zh-CN" sz="1800" dirty="0">
                <a:latin typeface="Times New Roman" panose="02020603050405020304" pitchFamily="18" charset="0"/>
              </a:rPr>
              <a:t>Foreign investment       </a:t>
            </a:r>
          </a:p>
          <a:p>
            <a:pPr lvl="2" eaLnBrk="1" hangingPunct="1">
              <a:lnSpc>
                <a:spcPct val="80000"/>
              </a:lnSpc>
              <a:spcAft>
                <a:spcPts val="600"/>
              </a:spcAft>
            </a:pPr>
            <a:r>
              <a:rPr lang="en-US" altLang="zh-CN" sz="1800" dirty="0">
                <a:latin typeface="Times New Roman" panose="02020603050405020304" pitchFamily="18" charset="0"/>
              </a:rPr>
              <a:t>Economic</a:t>
            </a:r>
            <a:r>
              <a:rPr lang="zh-CN" altLang="en-US" sz="1800" dirty="0">
                <a:latin typeface="Times New Roman" panose="02020603050405020304" pitchFamily="18" charset="0"/>
              </a:rPr>
              <a:t> </a:t>
            </a:r>
            <a:r>
              <a:rPr lang="en-US" altLang="zh-CN" sz="1800" dirty="0">
                <a:latin typeface="Times New Roman" panose="02020603050405020304" pitchFamily="18" charset="0"/>
              </a:rPr>
              <a:t>reforms, China</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5FFE9062-D557-4615-9EC5-DD205DFE1F9D}"/>
              </a:ext>
            </a:extLst>
          </p:cNvPr>
          <p:cNvSpPr>
            <a:spLocks noGrp="1" noChangeArrowheads="1"/>
          </p:cNvSpPr>
          <p:nvPr>
            <p:ph type="body" idx="1"/>
          </p:nvPr>
        </p:nvSpPr>
        <p:spPr>
          <a:xfrm>
            <a:off x="107950" y="1052513"/>
            <a:ext cx="8567738" cy="4752975"/>
          </a:xfrm>
        </p:spPr>
        <p:txBody>
          <a:bodyPr/>
          <a:lstStyle/>
          <a:p>
            <a:pPr lvl="1" eaLnBrk="1" hangingPunct="1">
              <a:spcBef>
                <a:spcPts val="1200"/>
              </a:spcBef>
              <a:buFontTx/>
              <a:buNone/>
            </a:pPr>
            <a:r>
              <a:rPr lang="en-US" altLang="zh-CN" sz="2400">
                <a:latin typeface="Times New Roman" panose="02020603050405020304" pitchFamily="18" charset="0"/>
              </a:rPr>
              <a:t>4. The drive to maturity:  Sustained growth</a:t>
            </a:r>
          </a:p>
          <a:p>
            <a:pPr lvl="1" eaLnBrk="1" hangingPunct="1">
              <a:spcBef>
                <a:spcPts val="1200"/>
              </a:spcBef>
              <a:buFontTx/>
              <a:buNone/>
            </a:pPr>
            <a:r>
              <a:rPr lang="en-US" altLang="zh-CN" sz="1800">
                <a:latin typeface="Times New Roman" panose="02020603050405020304" pitchFamily="18" charset="0"/>
              </a:rPr>
              <a:t>    </a:t>
            </a:r>
            <a:r>
              <a:rPr lang="en-US" altLang="zh-CN" sz="1800">
                <a:latin typeface="Times New Roman" panose="02020603050405020304" pitchFamily="18" charset="0"/>
                <a:cs typeface="Times New Roman" panose="02020603050405020304" pitchFamily="18" charset="0"/>
              </a:rPr>
              <a:t>The economy diversifies into new areas.  Technological innovation is providing a diverse range of investment opportunities.  The economy is producing a wide range of goods and services</a:t>
            </a:r>
          </a:p>
          <a:p>
            <a:pPr lvl="1" eaLnBrk="1" hangingPunct="1">
              <a:spcBef>
                <a:spcPts val="1200"/>
              </a:spcBef>
              <a:buFontTx/>
              <a:buNone/>
            </a:pPr>
            <a:r>
              <a:rPr lang="en-US" altLang="zh-CN" sz="2400">
                <a:latin typeface="Times New Roman" panose="02020603050405020304" pitchFamily="18" charset="0"/>
              </a:rPr>
              <a:t>5. The age of high mass consumption</a:t>
            </a:r>
          </a:p>
          <a:p>
            <a:pPr lvl="1" eaLnBrk="1" hangingPunct="1">
              <a:spcBef>
                <a:spcPts val="1200"/>
              </a:spcBef>
              <a:buFontTx/>
              <a:buNone/>
            </a:pPr>
            <a:r>
              <a:rPr lang="en-US" altLang="zh-CN" sz="1800">
                <a:latin typeface="Times New Roman" panose="02020603050405020304" pitchFamily="18" charset="0"/>
              </a:rPr>
              <a:t>    </a:t>
            </a:r>
            <a:r>
              <a:rPr lang="en-US" altLang="zh-CN" sz="1800">
                <a:latin typeface="Times New Roman" panose="02020603050405020304" pitchFamily="18" charset="0"/>
                <a:cs typeface="Times New Roman" panose="02020603050405020304" pitchFamily="18" charset="0"/>
              </a:rPr>
              <a:t>The economy is moving towards mass consumption.  Durable consumer goods industries flourish.  Service sector becomes increasingly dominant.  E</a:t>
            </a:r>
            <a:r>
              <a:rPr lang="en-US" altLang="en-US" sz="1800">
                <a:latin typeface="Times New Roman" panose="02020603050405020304" pitchFamily="18" charset="0"/>
                <a:cs typeface="Times New Roman" panose="02020603050405020304" pitchFamily="18" charset="0"/>
              </a:rPr>
              <a:t>conomic security is provided.</a:t>
            </a:r>
            <a:endParaRPr lang="en-US" altLang="zh-CN" sz="1800">
              <a:latin typeface="Times New Roman" panose="02020603050405020304" pitchFamily="18" charset="0"/>
              <a:cs typeface="Times New Roman" panose="02020603050405020304" pitchFamily="18" charset="0"/>
            </a:endParaRPr>
          </a:p>
          <a:p>
            <a:pPr lvl="1" eaLnBrk="1" hangingPunct="1">
              <a:spcBef>
                <a:spcPts val="1200"/>
              </a:spcBef>
              <a:buFontTx/>
              <a:buNone/>
            </a:pPr>
            <a:r>
              <a:rPr lang="en-US" altLang="zh-CN" sz="2400">
                <a:latin typeface="Times New Roman" panose="02020603050405020304" pitchFamily="18" charset="0"/>
              </a:rPr>
              <a:t>6. The stage of pursuing quality of life</a:t>
            </a:r>
          </a:p>
          <a:p>
            <a:pPr lvl="1" eaLnBrk="1" hangingPunct="1">
              <a:spcBef>
                <a:spcPts val="1200"/>
              </a:spcBef>
              <a:buFontTx/>
              <a:buNone/>
            </a:pPr>
            <a:r>
              <a:rPr lang="en-US" altLang="zh-CN" sz="1800">
                <a:latin typeface="Times New Roman" panose="02020603050405020304" pitchFamily="18" charset="0"/>
                <a:cs typeface="Times New Roman" panose="02020603050405020304" pitchFamily="18" charset="0"/>
              </a:rPr>
              <a:t>     Improving quality of products.  Increasing leisure time.  Increasing education, healthcare, social welfare expenditures.  </a:t>
            </a:r>
          </a:p>
          <a:p>
            <a:pPr eaLnBrk="1" hangingPunct="1">
              <a:lnSpc>
                <a:spcPts val="1200"/>
              </a:lnSpc>
              <a:buFontTx/>
              <a:buNone/>
            </a:pPr>
            <a:endParaRPr lang="en-US" altLang="en-US" sz="2000"/>
          </a:p>
          <a:p>
            <a:pPr eaLnBrk="1" hangingPunct="1">
              <a:buFontTx/>
              <a:buNone/>
            </a:pPr>
            <a:r>
              <a:rPr lang="en-US" altLang="en-US" sz="2000"/>
              <a:t>     </a:t>
            </a:r>
            <a:br>
              <a:rPr lang="en-US" altLang="en-US" sz="2200">
                <a:latin typeface="Times New Roman" panose="02020603050405020304" pitchFamily="18" charset="0"/>
                <a:cs typeface="Times New Roman" panose="02020603050405020304" pitchFamily="18" charset="0"/>
              </a:rPr>
            </a:br>
            <a:br>
              <a:rPr lang="en-US" altLang="en-US" sz="2000"/>
            </a:br>
            <a:endParaRPr lang="en-US" altLang="zh-CN"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97072DD-D74F-404D-B965-B9FB27FD157D}"/>
              </a:ext>
            </a:extLst>
          </p:cNvPr>
          <p:cNvSpPr>
            <a:spLocks noGrp="1"/>
          </p:cNvSpPr>
          <p:nvPr>
            <p:ph type="title"/>
          </p:nvPr>
        </p:nvSpPr>
        <p:spPr>
          <a:xfrm>
            <a:off x="539750" y="490538"/>
            <a:ext cx="5256213" cy="561975"/>
          </a:xfrm>
        </p:spPr>
        <p:txBody>
          <a:bodyPr/>
          <a:lstStyle/>
          <a:p>
            <a:pPr marL="342900" indent="-342900" algn="l" eaLnBrk="1" hangingPunct="1">
              <a:lnSpc>
                <a:spcPct val="90000"/>
              </a:lnSpc>
              <a:spcBef>
                <a:spcPct val="20000"/>
              </a:spcBef>
              <a:defRPr/>
            </a:pPr>
            <a:r>
              <a:rPr lang="en-US" altLang="en-US" sz="2800" dirty="0" err="1">
                <a:solidFill>
                  <a:schemeClr val="tx1"/>
                </a:solidFill>
                <a:ea typeface="+mn-ea"/>
                <a:cs typeface="+mn-cs"/>
              </a:rPr>
              <a:t>Buddenbrooks</a:t>
            </a:r>
            <a:r>
              <a:rPr lang="en-US" altLang="en-US" sz="2800" dirty="0">
                <a:solidFill>
                  <a:schemeClr val="tx1"/>
                </a:solidFill>
                <a:ea typeface="+mn-ea"/>
                <a:cs typeface="+mn-cs"/>
              </a:rPr>
              <a:t> dynamics</a:t>
            </a:r>
          </a:p>
        </p:txBody>
      </p:sp>
      <p:sp>
        <p:nvSpPr>
          <p:cNvPr id="7171" name="Content Placeholder 2">
            <a:extLst>
              <a:ext uri="{FF2B5EF4-FFF2-40B4-BE49-F238E27FC236}">
                <a16:creationId xmlns:a16="http://schemas.microsoft.com/office/drawing/2014/main" id="{346C4E4C-0B4A-4B42-BD09-7ABE4711C961}"/>
              </a:ext>
            </a:extLst>
          </p:cNvPr>
          <p:cNvSpPr>
            <a:spLocks noGrp="1"/>
          </p:cNvSpPr>
          <p:nvPr>
            <p:ph idx="1"/>
          </p:nvPr>
        </p:nvSpPr>
        <p:spPr>
          <a:xfrm>
            <a:off x="457200" y="1125538"/>
            <a:ext cx="8229600" cy="5000625"/>
          </a:xfrm>
        </p:spPr>
        <p:txBody>
          <a:bodyPr/>
          <a:lstStyle/>
          <a:p>
            <a:pPr>
              <a:defRPr/>
            </a:pPr>
            <a:endParaRPr lang="en-US" altLang="en-US" sz="2200" dirty="0">
              <a:latin typeface="Times New Roman" panose="02020603050405020304" pitchFamily="18" charset="0"/>
              <a:cs typeface="Times New Roman" panose="02020603050405020304" pitchFamily="18" charset="0"/>
            </a:endParaRPr>
          </a:p>
          <a:p>
            <a:pPr marL="0" indent="0">
              <a:buFontTx/>
              <a:buNone/>
              <a:defRPr/>
            </a:pPr>
            <a:r>
              <a:rPr lang="en-US" altLang="en-US" sz="2200" dirty="0">
                <a:latin typeface="Times New Roman" panose="02020603050405020304" pitchFamily="18" charset="0"/>
                <a:cs typeface="Times New Roman" panose="02020603050405020304" pitchFamily="18" charset="0"/>
              </a:rPr>
              <a:t>In Thomas Mann's novel of </a:t>
            </a:r>
            <a:r>
              <a:rPr lang="en-US" altLang="en-US" sz="2200" dirty="0" err="1">
                <a:latin typeface="Times New Roman" panose="02020603050405020304" pitchFamily="18" charset="0"/>
                <a:cs typeface="Times New Roman" panose="02020603050405020304" pitchFamily="18" charset="0"/>
              </a:rPr>
              <a:t>Buddenbrooks</a:t>
            </a:r>
            <a:r>
              <a:rPr lang="en-US" altLang="en-US" sz="2200" dirty="0">
                <a:latin typeface="Times New Roman" panose="02020603050405020304" pitchFamily="18" charset="0"/>
                <a:cs typeface="Times New Roman" panose="02020603050405020304" pitchFamily="18" charset="0"/>
              </a:rPr>
              <a:t> dynamics (1901, German)</a:t>
            </a:r>
            <a:r>
              <a:rPr lang="en-US" altLang="en-US" sz="2200" dirty="0"/>
              <a:t>, </a:t>
            </a:r>
            <a:r>
              <a:rPr lang="en-US" altLang="en-US" sz="2200" dirty="0">
                <a:latin typeface="Times New Roman" panose="02020603050405020304" pitchFamily="18" charset="0"/>
                <a:cs typeface="Times New Roman" panose="02020603050405020304" pitchFamily="18" charset="0"/>
              </a:rPr>
              <a:t>there are three generations. </a:t>
            </a:r>
          </a:p>
          <a:p>
            <a:pPr marL="0" indent="0">
              <a:buFontTx/>
              <a:buNone/>
              <a:defRPr/>
            </a:pPr>
            <a:endParaRPr lang="en-US" altLang="en-US" sz="2200" dirty="0">
              <a:latin typeface="Times New Roman" panose="02020603050405020304" pitchFamily="18" charset="0"/>
              <a:cs typeface="Times New Roman" panose="02020603050405020304" pitchFamily="18" charset="0"/>
            </a:endParaRPr>
          </a:p>
          <a:p>
            <a:pPr>
              <a:defRPr/>
            </a:pPr>
            <a:r>
              <a:rPr lang="en-US" altLang="en-US" sz="2200" dirty="0">
                <a:latin typeface="Times New Roman" panose="02020603050405020304" pitchFamily="18" charset="0"/>
                <a:cs typeface="Times New Roman" panose="02020603050405020304" pitchFamily="18" charset="0"/>
              </a:rPr>
              <a:t>The first sought money; the second, born to money, sought social and civic position; the third, born to comfort and family prestige, looked to the life of music. </a:t>
            </a:r>
          </a:p>
          <a:p>
            <a:pPr>
              <a:defRPr/>
            </a:pPr>
            <a:r>
              <a:rPr lang="en-US" altLang="en-US" sz="2200" dirty="0">
                <a:latin typeface="Times New Roman" panose="02020603050405020304" pitchFamily="18" charset="0"/>
                <a:cs typeface="Times New Roman" panose="02020603050405020304" pitchFamily="18" charset="0"/>
              </a:rPr>
              <a:t>The phrase is designed to suggest, then, the changing aspirations of generations, as they place a low value on what they take for granted and seek new forms of satisfaction.  </a:t>
            </a:r>
          </a:p>
          <a:p>
            <a:pPr>
              <a:defRPr/>
            </a:pPr>
            <a:r>
              <a:rPr lang="en-US" altLang="en-US" sz="2200" dirty="0">
                <a:latin typeface="Times New Roman" panose="02020603050405020304" pitchFamily="18" charset="0"/>
                <a:cs typeface="Times New Roman" panose="02020603050405020304" pitchFamily="18" charset="0"/>
              </a:rPr>
              <a:t>The work led to a Nobel Prize in Literature for Mann in 1929.</a:t>
            </a:r>
            <a:endParaRPr lang="en-US" alt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3196CB57-CF39-482F-810C-719A45C66744}"/>
              </a:ext>
            </a:extLst>
          </p:cNvPr>
          <p:cNvSpPr>
            <a:spLocks noGrp="1" noChangeArrowheads="1"/>
          </p:cNvSpPr>
          <p:nvPr>
            <p:ph idx="1"/>
          </p:nvPr>
        </p:nvSpPr>
        <p:spPr>
          <a:xfrm>
            <a:off x="250825" y="260350"/>
            <a:ext cx="8229600" cy="5761038"/>
          </a:xfrm>
        </p:spPr>
        <p:txBody>
          <a:bodyPr/>
          <a:lstStyle/>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Criticisms:</a:t>
            </a:r>
          </a:p>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     Many economists argue that Rostow's model does not set down the detailed nature of the pre-conditions for growth.  In reality, policy makers are unable to clearly identify stages.  Thus, not very helpful.</a:t>
            </a:r>
          </a:p>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Rostow’s view on Soviet Union:</a:t>
            </a:r>
          </a:p>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     Rostow saw in Russia “a nation surging under communism, into a long-delayed status as an industrial power of the first order.”</a:t>
            </a:r>
          </a:p>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Policy impacts of Rostow’s work:</a:t>
            </a:r>
          </a:p>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     To prevent communist revolution, U.S. increased foreign aid in the late 1950s.</a:t>
            </a:r>
          </a:p>
          <a:p>
            <a:pPr eaLnBrk="1" hangingPunct="1">
              <a:spcBef>
                <a:spcPts val="1200"/>
              </a:spcBef>
              <a:buFontTx/>
              <a:buNone/>
            </a:pPr>
            <a:r>
              <a:rPr lang="en-US" altLang="zh-CN" sz="2200" dirty="0">
                <a:latin typeface="Times New Roman" panose="02020603050405020304" pitchFamily="18" charset="0"/>
                <a:cs typeface="Times New Roman" panose="02020603050405020304" pitchFamily="18" charset="0"/>
              </a:rPr>
              <a:t>     J.F.K. mentioned, new nations need help to reach self-sustaining growth for special reason, w/o exception, they are under communist pressure.  </a:t>
            </a:r>
          </a:p>
          <a:p>
            <a:pPr>
              <a:buFontTx/>
              <a:buNone/>
            </a:pPr>
            <a:endParaRPr lang="en-US" alt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3" name="Freeform 21">
            <a:extLst>
              <a:ext uri="{FF2B5EF4-FFF2-40B4-BE49-F238E27FC236}">
                <a16:creationId xmlns:a16="http://schemas.microsoft.com/office/drawing/2014/main" id="{7C02AB44-D02D-4A38-AE10-6EA8C6FC9802}"/>
              </a:ext>
            </a:extLst>
          </p:cNvPr>
          <p:cNvSpPr>
            <a:spLocks/>
          </p:cNvSpPr>
          <p:nvPr/>
        </p:nvSpPr>
        <p:spPr bwMode="auto">
          <a:xfrm rot="1852431">
            <a:off x="120650" y="2435225"/>
            <a:ext cx="615950" cy="539750"/>
          </a:xfrm>
          <a:custGeom>
            <a:avLst/>
            <a:gdLst>
              <a:gd name="T0" fmla="*/ 2147483646 w 719"/>
              <a:gd name="T1" fmla="*/ 2147483646 h 630"/>
              <a:gd name="T2" fmla="*/ 2147483646 w 719"/>
              <a:gd name="T3" fmla="*/ 2147483646 h 630"/>
              <a:gd name="T4" fmla="*/ 2147483646 w 719"/>
              <a:gd name="T5" fmla="*/ 2147483646 h 630"/>
              <a:gd name="T6" fmla="*/ 0 w 719"/>
              <a:gd name="T7" fmla="*/ 2147483646 h 630"/>
              <a:gd name="T8" fmla="*/ 0 w 719"/>
              <a:gd name="T9" fmla="*/ 2147483646 h 630"/>
              <a:gd name="T10" fmla="*/ 2147483646 w 719"/>
              <a:gd name="T11" fmla="*/ 2147483646 h 630"/>
              <a:gd name="T12" fmla="*/ 2147483646 w 719"/>
              <a:gd name="T13" fmla="*/ 0 h 630"/>
              <a:gd name="T14" fmla="*/ 2147483646 w 719"/>
              <a:gd name="T15" fmla="*/ 0 h 630"/>
              <a:gd name="T16" fmla="*/ 2147483646 w 719"/>
              <a:gd name="T17" fmla="*/ 2147483646 h 630"/>
              <a:gd name="T18" fmla="*/ 2147483646 w 719"/>
              <a:gd name="T19" fmla="*/ 2147483646 h 6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9"/>
              <a:gd name="T31" fmla="*/ 0 h 630"/>
              <a:gd name="T32" fmla="*/ 719 w 719"/>
              <a:gd name="T33" fmla="*/ 630 h 6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9" h="630">
                <a:moveTo>
                  <a:pt x="402" y="630"/>
                </a:moveTo>
                <a:lnTo>
                  <a:pt x="280" y="630"/>
                </a:lnTo>
                <a:lnTo>
                  <a:pt x="548" y="351"/>
                </a:lnTo>
                <a:lnTo>
                  <a:pt x="0" y="351"/>
                </a:lnTo>
                <a:lnTo>
                  <a:pt x="0" y="266"/>
                </a:lnTo>
                <a:lnTo>
                  <a:pt x="548" y="266"/>
                </a:lnTo>
                <a:lnTo>
                  <a:pt x="280" y="0"/>
                </a:lnTo>
                <a:lnTo>
                  <a:pt x="402" y="0"/>
                </a:lnTo>
                <a:lnTo>
                  <a:pt x="719" y="315"/>
                </a:lnTo>
                <a:lnTo>
                  <a:pt x="402" y="6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19" name="Freeform 23">
            <a:extLst>
              <a:ext uri="{FF2B5EF4-FFF2-40B4-BE49-F238E27FC236}">
                <a16:creationId xmlns:a16="http://schemas.microsoft.com/office/drawing/2014/main" id="{62123340-A9BD-47CA-97AB-4BBD42D39E47}"/>
              </a:ext>
            </a:extLst>
          </p:cNvPr>
          <p:cNvSpPr>
            <a:spLocks/>
          </p:cNvSpPr>
          <p:nvPr/>
        </p:nvSpPr>
        <p:spPr bwMode="auto">
          <a:xfrm rot="1852431">
            <a:off x="120650" y="4298950"/>
            <a:ext cx="615950" cy="539750"/>
          </a:xfrm>
          <a:custGeom>
            <a:avLst/>
            <a:gdLst>
              <a:gd name="T0" fmla="*/ 2147483646 w 719"/>
              <a:gd name="T1" fmla="*/ 2147483646 h 630"/>
              <a:gd name="T2" fmla="*/ 2147483646 w 719"/>
              <a:gd name="T3" fmla="*/ 2147483646 h 630"/>
              <a:gd name="T4" fmla="*/ 2147483646 w 719"/>
              <a:gd name="T5" fmla="*/ 2147483646 h 630"/>
              <a:gd name="T6" fmla="*/ 0 w 719"/>
              <a:gd name="T7" fmla="*/ 2147483646 h 630"/>
              <a:gd name="T8" fmla="*/ 0 w 719"/>
              <a:gd name="T9" fmla="*/ 2147483646 h 630"/>
              <a:gd name="T10" fmla="*/ 2147483646 w 719"/>
              <a:gd name="T11" fmla="*/ 2147483646 h 630"/>
              <a:gd name="T12" fmla="*/ 2147483646 w 719"/>
              <a:gd name="T13" fmla="*/ 0 h 630"/>
              <a:gd name="T14" fmla="*/ 2147483646 w 719"/>
              <a:gd name="T15" fmla="*/ 0 h 630"/>
              <a:gd name="T16" fmla="*/ 2147483646 w 719"/>
              <a:gd name="T17" fmla="*/ 2147483646 h 630"/>
              <a:gd name="T18" fmla="*/ 2147483646 w 719"/>
              <a:gd name="T19" fmla="*/ 2147483646 h 6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9"/>
              <a:gd name="T31" fmla="*/ 0 h 630"/>
              <a:gd name="T32" fmla="*/ 719 w 719"/>
              <a:gd name="T33" fmla="*/ 630 h 6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9" h="630">
                <a:moveTo>
                  <a:pt x="402" y="630"/>
                </a:moveTo>
                <a:lnTo>
                  <a:pt x="280" y="630"/>
                </a:lnTo>
                <a:lnTo>
                  <a:pt x="548" y="351"/>
                </a:lnTo>
                <a:lnTo>
                  <a:pt x="0" y="351"/>
                </a:lnTo>
                <a:lnTo>
                  <a:pt x="0" y="266"/>
                </a:lnTo>
                <a:lnTo>
                  <a:pt x="548" y="266"/>
                </a:lnTo>
                <a:lnTo>
                  <a:pt x="280" y="0"/>
                </a:lnTo>
                <a:lnTo>
                  <a:pt x="402" y="0"/>
                </a:lnTo>
                <a:lnTo>
                  <a:pt x="719" y="315"/>
                </a:lnTo>
                <a:lnTo>
                  <a:pt x="402" y="6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TextBox 3">
            <a:extLst>
              <a:ext uri="{FF2B5EF4-FFF2-40B4-BE49-F238E27FC236}">
                <a16:creationId xmlns:a16="http://schemas.microsoft.com/office/drawing/2014/main" id="{F053467C-D1BF-4246-AA05-309AAC9220F9}"/>
              </a:ext>
            </a:extLst>
          </p:cNvPr>
          <p:cNvSpPr txBox="1"/>
          <p:nvPr/>
        </p:nvSpPr>
        <p:spPr>
          <a:xfrm>
            <a:off x="5076056" y="1988840"/>
            <a:ext cx="1033854" cy="578882"/>
          </a:xfrm>
          <a:prstGeom prst="roundRect">
            <a:avLst/>
          </a:prstGeom>
          <a:solidFill>
            <a:schemeClr val="tx1">
              <a:lumMod val="50000"/>
              <a:lumOff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800" dirty="0">
                <a:solidFill>
                  <a:schemeClr val="bg1"/>
                </a:solidFill>
              </a:rPr>
              <a:t>2018</a:t>
            </a:r>
            <a:endParaRPr lang="zh-CN" altLang="en-US" sz="2800" dirty="0">
              <a:solidFill>
                <a:schemeClr val="bg1"/>
              </a:solidFill>
            </a:endParaRPr>
          </a:p>
        </p:txBody>
      </p:sp>
      <p:sp>
        <p:nvSpPr>
          <p:cNvPr id="28" name="TextBox 27">
            <a:extLst>
              <a:ext uri="{FF2B5EF4-FFF2-40B4-BE49-F238E27FC236}">
                <a16:creationId xmlns:a16="http://schemas.microsoft.com/office/drawing/2014/main" id="{25EC12D5-D28E-4074-B4BC-F677DE4A6DFA}"/>
              </a:ext>
            </a:extLst>
          </p:cNvPr>
          <p:cNvSpPr txBox="1"/>
          <p:nvPr/>
        </p:nvSpPr>
        <p:spPr>
          <a:xfrm>
            <a:off x="1547664" y="1988840"/>
            <a:ext cx="968767" cy="578882"/>
          </a:xfrm>
          <a:prstGeom prst="roundRect">
            <a:avLst/>
          </a:pr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800" dirty="0"/>
              <a:t>1978</a:t>
            </a:r>
            <a:endParaRPr lang="zh-CN" altLang="en-US" sz="2800" dirty="0"/>
          </a:p>
        </p:txBody>
      </p:sp>
      <p:cxnSp>
        <p:nvCxnSpPr>
          <p:cNvPr id="8" name="直接连接符 7">
            <a:extLst>
              <a:ext uri="{FF2B5EF4-FFF2-40B4-BE49-F238E27FC236}">
                <a16:creationId xmlns:a16="http://schemas.microsoft.com/office/drawing/2014/main" id="{A2F75AE2-03ED-4DB0-9E5C-F5E056AF2C23}"/>
              </a:ext>
            </a:extLst>
          </p:cNvPr>
          <p:cNvCxnSpPr/>
          <p:nvPr/>
        </p:nvCxnSpPr>
        <p:spPr>
          <a:xfrm>
            <a:off x="3924300" y="2060575"/>
            <a:ext cx="71438" cy="424973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9" name="流程图: 可选过程 8">
            <a:extLst>
              <a:ext uri="{FF2B5EF4-FFF2-40B4-BE49-F238E27FC236}">
                <a16:creationId xmlns:a16="http://schemas.microsoft.com/office/drawing/2014/main" id="{66642591-D4C3-4453-BDD6-983B8A6AB6A0}"/>
              </a:ext>
            </a:extLst>
          </p:cNvPr>
          <p:cNvSpPr/>
          <p:nvPr/>
        </p:nvSpPr>
        <p:spPr>
          <a:xfrm>
            <a:off x="3059113" y="2714625"/>
            <a:ext cx="1800225" cy="836613"/>
          </a:xfrm>
          <a:prstGeom prst="flowChartAlternateProcess">
            <a:avLst/>
          </a:prstGeom>
          <a:solidFill>
            <a:srgbClr val="92D050"/>
          </a:soli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defRPr/>
            </a:pPr>
            <a:r>
              <a:rPr lang="en-US" altLang="zh-CN" sz="2000" dirty="0">
                <a:solidFill>
                  <a:srgbClr val="FFFFFF"/>
                </a:solidFill>
              </a:rPr>
              <a:t>Per capita GDP</a:t>
            </a:r>
            <a:endParaRPr lang="zh-CN" altLang="en-US" sz="2000" dirty="0">
              <a:solidFill>
                <a:srgbClr val="FFFFFF"/>
              </a:solidFill>
            </a:endParaRPr>
          </a:p>
        </p:txBody>
      </p:sp>
      <p:sp>
        <p:nvSpPr>
          <p:cNvPr id="35" name="流程图: 可选过程 34">
            <a:extLst>
              <a:ext uri="{FF2B5EF4-FFF2-40B4-BE49-F238E27FC236}">
                <a16:creationId xmlns:a16="http://schemas.microsoft.com/office/drawing/2014/main" id="{7134EDDF-B8A5-4E55-B839-6A8B49CA1FF5}"/>
              </a:ext>
            </a:extLst>
          </p:cNvPr>
          <p:cNvSpPr/>
          <p:nvPr/>
        </p:nvSpPr>
        <p:spPr>
          <a:xfrm>
            <a:off x="3059113" y="4005263"/>
            <a:ext cx="1800225" cy="935037"/>
          </a:xfrm>
          <a:prstGeom prst="flowChartAlternateProcess">
            <a:avLst/>
          </a:prstGeom>
          <a:solidFill>
            <a:srgbClr val="92D050"/>
          </a:soli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defRPr/>
            </a:pPr>
            <a:r>
              <a:rPr lang="en-US" altLang="zh-CN" sz="2800" dirty="0">
                <a:solidFill>
                  <a:srgbClr val="FFFFFF"/>
                </a:solidFill>
              </a:rPr>
              <a:t>GDP</a:t>
            </a:r>
            <a:endParaRPr lang="zh-CN" altLang="en-US" sz="2800" dirty="0">
              <a:solidFill>
                <a:srgbClr val="FFFFFF"/>
              </a:solidFill>
            </a:endParaRPr>
          </a:p>
        </p:txBody>
      </p:sp>
      <p:cxnSp>
        <p:nvCxnSpPr>
          <p:cNvPr id="21" name="直接连接符 20">
            <a:extLst>
              <a:ext uri="{FF2B5EF4-FFF2-40B4-BE49-F238E27FC236}">
                <a16:creationId xmlns:a16="http://schemas.microsoft.com/office/drawing/2014/main" id="{3C31F6BC-C982-4BE8-A8FF-4B02EA80BE57}"/>
              </a:ext>
            </a:extLst>
          </p:cNvPr>
          <p:cNvCxnSpPr/>
          <p:nvPr/>
        </p:nvCxnSpPr>
        <p:spPr>
          <a:xfrm flipH="1">
            <a:off x="996950" y="3644900"/>
            <a:ext cx="2927350" cy="0"/>
          </a:xfrm>
          <a:prstGeom prst="line">
            <a:avLst/>
          </a:prstGeom>
          <a:ln w="76200">
            <a:solidFill>
              <a:srgbClr val="FFC000"/>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0A07912B-FEF2-42BA-8920-7AB4898E8331}"/>
              </a:ext>
            </a:extLst>
          </p:cNvPr>
          <p:cNvCxnSpPr/>
          <p:nvPr/>
        </p:nvCxnSpPr>
        <p:spPr>
          <a:xfrm flipH="1">
            <a:off x="3924300" y="3644900"/>
            <a:ext cx="2927350" cy="0"/>
          </a:xfrm>
          <a:prstGeom prst="line">
            <a:avLst/>
          </a:prstGeom>
          <a:ln w="76200">
            <a:solidFill>
              <a:schemeClr val="tx1">
                <a:lumMod val="50000"/>
                <a:lumOff val="50000"/>
              </a:schemeClr>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7CD4793B-0773-4CE6-9EDB-12B2FEA17F2E}"/>
              </a:ext>
            </a:extLst>
          </p:cNvPr>
          <p:cNvCxnSpPr/>
          <p:nvPr/>
        </p:nvCxnSpPr>
        <p:spPr>
          <a:xfrm flipH="1">
            <a:off x="3924300" y="5013325"/>
            <a:ext cx="2927350" cy="0"/>
          </a:xfrm>
          <a:prstGeom prst="line">
            <a:avLst/>
          </a:prstGeom>
          <a:ln w="76200">
            <a:solidFill>
              <a:schemeClr val="tx1">
                <a:lumMod val="50000"/>
                <a:lumOff val="50000"/>
              </a:schemeClr>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7362F9D1-3CC3-46F4-98D7-744FFECECC90}"/>
              </a:ext>
            </a:extLst>
          </p:cNvPr>
          <p:cNvCxnSpPr/>
          <p:nvPr/>
        </p:nvCxnSpPr>
        <p:spPr>
          <a:xfrm flipH="1">
            <a:off x="996950" y="5013325"/>
            <a:ext cx="2927350" cy="0"/>
          </a:xfrm>
          <a:prstGeom prst="line">
            <a:avLst/>
          </a:prstGeom>
          <a:ln w="76200">
            <a:solidFill>
              <a:srgbClr val="FFC000"/>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169" name="TextBox 7168">
            <a:extLst>
              <a:ext uri="{FF2B5EF4-FFF2-40B4-BE49-F238E27FC236}">
                <a16:creationId xmlns:a16="http://schemas.microsoft.com/office/drawing/2014/main" id="{F4BE8688-A2B3-47B2-8585-C0A47336EF05}"/>
              </a:ext>
            </a:extLst>
          </p:cNvPr>
          <p:cNvSpPr txBox="1">
            <a:spLocks noChangeArrowheads="1"/>
          </p:cNvSpPr>
          <p:nvPr/>
        </p:nvSpPr>
        <p:spPr bwMode="auto">
          <a:xfrm>
            <a:off x="971550" y="2781300"/>
            <a:ext cx="139172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dirty="0">
                <a:latin typeface="Times New Roman" panose="02020603050405020304" pitchFamily="18" charset="0"/>
                <a:cs typeface="Times New Roman" panose="02020603050405020304" pitchFamily="18" charset="0"/>
              </a:rPr>
              <a:t>US $156.4</a:t>
            </a:r>
            <a:endParaRPr lang="zh-CN" altLang="en-US" sz="2200"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372BEEC-F417-4876-80B0-7B0FDBD9C19A}"/>
              </a:ext>
            </a:extLst>
          </p:cNvPr>
          <p:cNvSpPr txBox="1">
            <a:spLocks noChangeArrowheads="1"/>
          </p:cNvSpPr>
          <p:nvPr/>
        </p:nvSpPr>
        <p:spPr bwMode="auto">
          <a:xfrm>
            <a:off x="971550" y="4160838"/>
            <a:ext cx="223170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dirty="0">
                <a:latin typeface="Times New Roman" panose="02020603050405020304" pitchFamily="18" charset="0"/>
                <a:cs typeface="Times New Roman" panose="02020603050405020304" pitchFamily="18" charset="0"/>
              </a:rPr>
              <a:t>US $149.5 billion</a:t>
            </a:r>
            <a:endParaRPr lang="zh-CN" altLang="en-US" sz="22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45B367-C443-45CF-A3CE-814F312241F6}"/>
              </a:ext>
            </a:extLst>
          </p:cNvPr>
          <p:cNvSpPr txBox="1">
            <a:spLocks noChangeArrowheads="1"/>
          </p:cNvSpPr>
          <p:nvPr/>
        </p:nvSpPr>
        <p:spPr bwMode="auto">
          <a:xfrm>
            <a:off x="5103813" y="4167188"/>
            <a:ext cx="20906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200" dirty="0">
                <a:solidFill>
                  <a:srgbClr val="FF0000"/>
                </a:solidFill>
                <a:latin typeface="Times New Roman" panose="02020603050405020304" pitchFamily="18" charset="0"/>
                <a:cs typeface="Times New Roman" panose="02020603050405020304" pitchFamily="18" charset="0"/>
              </a:rPr>
              <a:t>US $13.6 trillion</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BC653248-9C4D-40FA-9CAC-9E23CB5BE9C8}"/>
              </a:ext>
            </a:extLst>
          </p:cNvPr>
          <p:cNvSpPr txBox="1">
            <a:spLocks noChangeArrowheads="1"/>
          </p:cNvSpPr>
          <p:nvPr/>
        </p:nvSpPr>
        <p:spPr bwMode="auto">
          <a:xfrm>
            <a:off x="5076825" y="2781300"/>
            <a:ext cx="132119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200" dirty="0">
                <a:solidFill>
                  <a:srgbClr val="FF0000"/>
                </a:solidFill>
                <a:latin typeface="Times New Roman" panose="02020603050405020304" pitchFamily="18" charset="0"/>
                <a:cs typeface="Times New Roman" panose="02020603050405020304" pitchFamily="18" charset="0"/>
              </a:rPr>
              <a:t>US $9770</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sp>
        <p:nvSpPr>
          <p:cNvPr id="9237" name="Rectangle 1">
            <a:extLst>
              <a:ext uri="{FF2B5EF4-FFF2-40B4-BE49-F238E27FC236}">
                <a16:creationId xmlns:a16="http://schemas.microsoft.com/office/drawing/2014/main" id="{DD744233-F211-4F83-81BC-CECFD8554B4E}"/>
              </a:ext>
            </a:extLst>
          </p:cNvPr>
          <p:cNvSpPr>
            <a:spLocks noChangeArrowheads="1"/>
          </p:cNvSpPr>
          <p:nvPr/>
        </p:nvSpPr>
        <p:spPr bwMode="auto">
          <a:xfrm>
            <a:off x="250825" y="765175"/>
            <a:ext cx="7993063"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200">
                <a:latin typeface="Times New Roman" panose="02020603050405020304" pitchFamily="18" charset="0"/>
                <a:cs typeface="Times New Roman" panose="02020603050405020304" pitchFamily="18" charset="0"/>
              </a:rPr>
              <a:t>1. China’s economic growth</a:t>
            </a:r>
          </a:p>
          <a:p>
            <a:pPr eaLnBrk="1" hangingPunct="1">
              <a:spcBef>
                <a:spcPct val="0"/>
              </a:spcBef>
              <a:buFontTx/>
              <a:buNone/>
            </a:pPr>
            <a:r>
              <a:rPr lang="en-US" altLang="en-US" sz="2000">
                <a:latin typeface="Times New Roman" panose="02020603050405020304" pitchFamily="18" charset="0"/>
                <a:cs typeface="Times New Roman" panose="02020603050405020304" pitchFamily="18" charset="0"/>
              </a:rPr>
              <a:t>The economic reforms started in 1978 have transformed China from one of the poorest countries into an up-middle-income country.</a:t>
            </a:r>
          </a:p>
        </p:txBody>
      </p:sp>
      <p:sp>
        <p:nvSpPr>
          <p:cNvPr id="9238" name="Rectangle 2">
            <a:extLst>
              <a:ext uri="{FF2B5EF4-FFF2-40B4-BE49-F238E27FC236}">
                <a16:creationId xmlns:a16="http://schemas.microsoft.com/office/drawing/2014/main" id="{E68FFD24-DA40-411A-BC37-F7265094D3F4}"/>
              </a:ext>
            </a:extLst>
          </p:cNvPr>
          <p:cNvSpPr>
            <a:spLocks noChangeArrowheads="1"/>
          </p:cNvSpPr>
          <p:nvPr/>
        </p:nvSpPr>
        <p:spPr bwMode="auto">
          <a:xfrm>
            <a:off x="250825" y="115888"/>
            <a:ext cx="87852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90000"/>
              </a:lnSpc>
              <a:buFontTx/>
              <a:buNone/>
              <a:defRPr/>
            </a:pPr>
            <a:r>
              <a:rPr lang="en-US" altLang="en-US" sz="2800" dirty="0">
                <a:latin typeface="+mj-lt"/>
                <a:ea typeface="+mn-ea"/>
              </a:rPr>
              <a:t>III. Economic Development in Selected Countries</a:t>
            </a:r>
          </a:p>
          <a:p>
            <a:pPr algn="ctr" eaLnBrk="1" hangingPunct="1">
              <a:spcBef>
                <a:spcPct val="0"/>
              </a:spcBef>
              <a:buFontTx/>
              <a:buNone/>
              <a:defRPr/>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nodeType="withEffect">
                                  <p:stCondLst>
                                    <p:cond delay="0"/>
                                  </p:stCondLst>
                                  <p:childTnLst>
                                    <p:set>
                                      <p:cBhvr>
                                        <p:cTn id="6" dur="1" fill="hold">
                                          <p:stCondLst>
                                            <p:cond delay="0"/>
                                          </p:stCondLst>
                                        </p:cTn>
                                        <p:tgtEl>
                                          <p:spTgt spid="3093"/>
                                        </p:tgtEl>
                                        <p:attrNameLst>
                                          <p:attrName>style.visibility</p:attrName>
                                        </p:attrNameLst>
                                      </p:cBhvr>
                                      <p:to>
                                        <p:strVal val="visible"/>
                                      </p:to>
                                    </p:set>
                                    <p:animEffect transition="in" filter="fade">
                                      <p:cBhvr>
                                        <p:cTn id="7" dur="500"/>
                                        <p:tgtEl>
                                          <p:spTgt spid="3093"/>
                                        </p:tgtEl>
                                      </p:cBhvr>
                                    </p:animEffect>
                                    <p:anim calcmode="lin" valueType="num">
                                      <p:cBhvr>
                                        <p:cTn id="8" dur="500" fill="hold"/>
                                        <p:tgtEl>
                                          <p:spTgt spid="3093"/>
                                        </p:tgtEl>
                                        <p:attrNameLst>
                                          <p:attrName>ppt_x</p:attrName>
                                        </p:attrNameLst>
                                      </p:cBhvr>
                                      <p:tavLst>
                                        <p:tav tm="0">
                                          <p:val>
                                            <p:strVal val="#ppt_x"/>
                                          </p:val>
                                        </p:tav>
                                        <p:tav tm="100000">
                                          <p:val>
                                            <p:strVal val="#ppt_x"/>
                                          </p:val>
                                        </p:tav>
                                      </p:tavLst>
                                    </p:anim>
                                    <p:anim calcmode="lin" valueType="num">
                                      <p:cBhvr>
                                        <p:cTn id="9" dur="500" fill="hold"/>
                                        <p:tgtEl>
                                          <p:spTgt spid="309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169"/>
                                        </p:tgtEl>
                                        <p:attrNameLst>
                                          <p:attrName>style.visibility</p:attrName>
                                        </p:attrNameLst>
                                      </p:cBhvr>
                                      <p:to>
                                        <p:strVal val="visible"/>
                                      </p:to>
                                    </p:set>
                                    <p:animEffect transition="in" filter="wipe(down)">
                                      <p:cBhvr>
                                        <p:cTn id="33" dur="500"/>
                                        <p:tgtEl>
                                          <p:spTgt spid="7169"/>
                                        </p:tgtEl>
                                      </p:cBhvr>
                                    </p:animEffect>
                                  </p:childTnLst>
                                </p:cTn>
                              </p:par>
                              <p:par>
                                <p:cTn id="34" presetID="22" presetClass="entr" presetSubtype="4"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down)">
                                      <p:cBhvr>
                                        <p:cTn id="36" dur="500"/>
                                        <p:tgtEl>
                                          <p:spTgt spid="21"/>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wipe(down)">
                                      <p:cBhvr>
                                        <p:cTn id="39" dur="500"/>
                                        <p:tgtEl>
                                          <p:spTgt spid="47"/>
                                        </p:tgtEl>
                                      </p:cBhvr>
                                    </p:animEffect>
                                  </p:childTnLst>
                                </p:cTn>
                              </p:par>
                              <p:par>
                                <p:cTn id="40" presetID="22" presetClass="entr" presetSubtype="4"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down)">
                                      <p:cBhvr>
                                        <p:cTn id="42" dur="500"/>
                                        <p:tgtEl>
                                          <p:spTgt spid="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wipe(down)">
                                      <p:cBhvr>
                                        <p:cTn id="47" dur="500"/>
                                        <p:tgtEl>
                                          <p:spTgt spid="45"/>
                                        </p:tgtEl>
                                      </p:cBhvr>
                                    </p:animEffect>
                                  </p:childTnLst>
                                </p:cTn>
                              </p:par>
                              <p:par>
                                <p:cTn id="48" presetID="22" presetClass="entr" presetSubtype="4" fill="hold"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wipe(down)">
                                      <p:cBhvr>
                                        <p:cTn id="50" dur="500"/>
                                        <p:tgtEl>
                                          <p:spTgt spid="42"/>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wipe(down)">
                                      <p:cBhvr>
                                        <p:cTn id="53" dur="500"/>
                                        <p:tgtEl>
                                          <p:spTgt spid="46"/>
                                        </p:tgtEl>
                                      </p:cBhvr>
                                    </p:animEffect>
                                  </p:childTnLst>
                                </p:cTn>
                              </p:par>
                              <p:par>
                                <p:cTn id="54" presetID="22" presetClass="entr" presetSubtype="4"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down)">
                                      <p:cBhvr>
                                        <p:cTn id="5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5" grpId="0" animBg="1"/>
      <p:bldP spid="7169" grpId="0"/>
      <p:bldP spid="45" grpId="0"/>
      <p:bldP spid="46"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E2AC0E4-5A65-46CA-9DBF-6E583AC48B27}"/>
              </a:ext>
            </a:extLst>
          </p:cNvPr>
          <p:cNvSpPr>
            <a:spLocks noGrp="1" noChangeArrowheads="1"/>
          </p:cNvSpPr>
          <p:nvPr>
            <p:ph type="title"/>
          </p:nvPr>
        </p:nvSpPr>
        <p:spPr>
          <a:xfrm>
            <a:off x="457200" y="0"/>
            <a:ext cx="8229600" cy="549275"/>
          </a:xfrm>
        </p:spPr>
        <p:txBody>
          <a:bodyPr/>
          <a:lstStyle/>
          <a:p>
            <a:r>
              <a:rPr lang="en-US" altLang="zh-CN" sz="2200">
                <a:latin typeface="Times New Roman" panose="02020603050405020304" pitchFamily="18" charset="0"/>
                <a:cs typeface="Times New Roman" panose="02020603050405020304" pitchFamily="18" charset="0"/>
              </a:rPr>
              <a:t>China’s GDP Growth 1978-2010</a:t>
            </a:r>
          </a:p>
        </p:txBody>
      </p:sp>
      <p:sp>
        <p:nvSpPr>
          <p:cNvPr id="10243" name="Rectangle 2">
            <a:extLst>
              <a:ext uri="{FF2B5EF4-FFF2-40B4-BE49-F238E27FC236}">
                <a16:creationId xmlns:a16="http://schemas.microsoft.com/office/drawing/2014/main" id="{086A980C-86E3-47FC-92A7-24FB07C0278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p>
        </p:txBody>
      </p:sp>
      <p:graphicFrame>
        <p:nvGraphicFramePr>
          <p:cNvPr id="10244" name="Object 2">
            <a:extLst>
              <a:ext uri="{FF2B5EF4-FFF2-40B4-BE49-F238E27FC236}">
                <a16:creationId xmlns:a16="http://schemas.microsoft.com/office/drawing/2014/main" id="{FD64A83B-F841-4A80-9C62-076667353E98}"/>
              </a:ext>
            </a:extLst>
          </p:cNvPr>
          <p:cNvGraphicFramePr>
            <a:graphicFrameLocks noChangeAspect="1"/>
          </p:cNvGraphicFramePr>
          <p:nvPr/>
        </p:nvGraphicFramePr>
        <p:xfrm>
          <a:off x="53975" y="476250"/>
          <a:ext cx="9036050" cy="5716588"/>
        </p:xfrm>
        <a:graphic>
          <a:graphicData uri="http://schemas.openxmlformats.org/presentationml/2006/ole">
            <mc:AlternateContent xmlns:mc="http://schemas.openxmlformats.org/markup-compatibility/2006">
              <mc:Choice xmlns:v="urn:schemas-microsoft-com:vml" Requires="v">
                <p:oleObj name="Worksheet" r:id="rId2" imgW="11563551" imgH="7115075" progId="Excel.Sheet.12">
                  <p:embed/>
                </p:oleObj>
              </mc:Choice>
              <mc:Fallback>
                <p:oleObj name="Worksheet" r:id="rId2" imgW="11563551" imgH="7115075" progId="Excel.Sheet.12">
                  <p:embed/>
                  <p:pic>
                    <p:nvPicPr>
                      <p:cNvPr id="10244" name="Object 2">
                        <a:extLst>
                          <a:ext uri="{FF2B5EF4-FFF2-40B4-BE49-F238E27FC236}">
                            <a16:creationId xmlns:a16="http://schemas.microsoft.com/office/drawing/2014/main" id="{FD64A83B-F841-4A80-9C62-076667353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 y="476250"/>
                        <a:ext cx="9036050" cy="571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581F4CF3-58C8-410D-BC21-3E5C4F53B008}"/>
              </a:ext>
            </a:extLst>
          </p:cNvPr>
          <p:cNvSpPr>
            <a:spLocks noGrp="1" noChangeArrowheads="1"/>
          </p:cNvSpPr>
          <p:nvPr>
            <p:ph type="title"/>
          </p:nvPr>
        </p:nvSpPr>
        <p:spPr>
          <a:xfrm>
            <a:off x="446856" y="457200"/>
            <a:ext cx="8229600" cy="560388"/>
          </a:xfrm>
        </p:spPr>
        <p:txBody>
          <a:bodyPr/>
          <a:lstStyle/>
          <a:p>
            <a:pPr algn="l"/>
            <a:r>
              <a:rPr lang="en-US" altLang="zh-CN" sz="2200">
                <a:latin typeface="Times New Roman" panose="02020603050405020304" pitchFamily="18" charset="0"/>
                <a:cs typeface="Times New Roman" panose="02020603050405020304" pitchFamily="18" charset="0"/>
              </a:rPr>
              <a:t>2. US GDP Growth 1930-2009</a:t>
            </a:r>
            <a:endParaRPr lang="zh-CN" altLang="en-US" sz="2200">
              <a:latin typeface="Times New Roman" panose="02020603050405020304" pitchFamily="18" charset="0"/>
              <a:cs typeface="Times New Roman" panose="02020603050405020304" pitchFamily="18" charset="0"/>
            </a:endParaRPr>
          </a:p>
        </p:txBody>
      </p:sp>
      <p:graphicFrame>
        <p:nvGraphicFramePr>
          <p:cNvPr id="11267" name="内容占位符 6">
            <a:extLst>
              <a:ext uri="{FF2B5EF4-FFF2-40B4-BE49-F238E27FC236}">
                <a16:creationId xmlns:a16="http://schemas.microsoft.com/office/drawing/2014/main" id="{81917EE0-47AA-488D-9F68-CBCF78591CDF}"/>
              </a:ext>
            </a:extLst>
          </p:cNvPr>
          <p:cNvGraphicFramePr>
            <a:graphicFrameLocks noGrp="1" noChangeAspect="1"/>
          </p:cNvGraphicFramePr>
          <p:nvPr>
            <p:ph idx="1"/>
          </p:nvPr>
        </p:nvGraphicFramePr>
        <p:xfrm>
          <a:off x="-228600" y="1143000"/>
          <a:ext cx="9144000" cy="4953000"/>
        </p:xfrm>
        <a:graphic>
          <a:graphicData uri="http://schemas.openxmlformats.org/presentationml/2006/ole">
            <mc:AlternateContent xmlns:mc="http://schemas.openxmlformats.org/markup-compatibility/2006">
              <mc:Choice xmlns:v="urn:schemas-microsoft-com:vml" Requires="v">
                <p:oleObj name="文档" r:id="rId2" imgW="5287655" imgH="2778224" progId="Word.Document.12">
                  <p:embed/>
                </p:oleObj>
              </mc:Choice>
              <mc:Fallback>
                <p:oleObj name="文档" r:id="rId2" imgW="5287655" imgH="2778224" progId="Word.Document.12">
                  <p:embed/>
                  <p:pic>
                    <p:nvPicPr>
                      <p:cNvPr id="11267" name="内容占位符 6">
                        <a:extLst>
                          <a:ext uri="{FF2B5EF4-FFF2-40B4-BE49-F238E27FC236}">
                            <a16:creationId xmlns:a16="http://schemas.microsoft.com/office/drawing/2014/main" id="{81917EE0-47AA-488D-9F68-CBCF78591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91440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18332005-009E-492C-8EBA-6A05DA57D1C7}"/>
              </a:ext>
            </a:extLst>
          </p:cNvPr>
          <p:cNvSpPr>
            <a:spLocks noGrp="1" noChangeArrowheads="1"/>
          </p:cNvSpPr>
          <p:nvPr>
            <p:ph type="title"/>
          </p:nvPr>
        </p:nvSpPr>
        <p:spPr>
          <a:xfrm>
            <a:off x="533400" y="304800"/>
            <a:ext cx="8229600" cy="865188"/>
          </a:xfrm>
        </p:spPr>
        <p:txBody>
          <a:bodyPr/>
          <a:lstStyle/>
          <a:p>
            <a:pPr algn="l"/>
            <a:r>
              <a:rPr lang="en-US" altLang="zh-CN" sz="2200">
                <a:latin typeface="Times New Roman" panose="02020603050405020304" pitchFamily="18" charset="0"/>
                <a:cs typeface="Times New Roman" panose="02020603050405020304" pitchFamily="18" charset="0"/>
              </a:rPr>
              <a:t>3. Japan’s GDP Growth</a:t>
            </a:r>
            <a:r>
              <a:rPr lang="zh-CN" altLang="en-US" sz="2200">
                <a:latin typeface="Times New Roman" panose="02020603050405020304" pitchFamily="18" charset="0"/>
                <a:cs typeface="Times New Roman" panose="02020603050405020304" pitchFamily="18" charset="0"/>
              </a:rPr>
              <a:t>（</a:t>
            </a:r>
            <a:r>
              <a:rPr lang="en-US" altLang="zh-CN" sz="2200">
                <a:latin typeface="Times New Roman" panose="02020603050405020304" pitchFamily="18" charset="0"/>
                <a:cs typeface="Times New Roman" panose="02020603050405020304" pitchFamily="18" charset="0"/>
              </a:rPr>
              <a:t>1955-2009</a:t>
            </a:r>
            <a:r>
              <a:rPr lang="zh-CN" altLang="en-US" sz="2200">
                <a:latin typeface="Times New Roman" panose="02020603050405020304" pitchFamily="18" charset="0"/>
                <a:cs typeface="Times New Roman" panose="02020603050405020304" pitchFamily="18" charset="0"/>
              </a:rPr>
              <a:t>）</a:t>
            </a:r>
          </a:p>
        </p:txBody>
      </p:sp>
      <p:graphicFrame>
        <p:nvGraphicFramePr>
          <p:cNvPr id="6" name="内容占位符 5">
            <a:extLst>
              <a:ext uri="{FF2B5EF4-FFF2-40B4-BE49-F238E27FC236}">
                <a16:creationId xmlns:a16="http://schemas.microsoft.com/office/drawing/2014/main" id="{7E185CA0-A7EB-42DE-8EF7-5B95073115AC}"/>
              </a:ext>
            </a:extLst>
          </p:cNvPr>
          <p:cNvGraphicFramePr>
            <a:graphicFrameLocks noGrp="1"/>
          </p:cNvGraphicFramePr>
          <p:nvPr>
            <p:ph idx="1"/>
            <p:extLst>
              <p:ext uri="{D42A27DB-BD31-4B8C-83A1-F6EECF244321}">
                <p14:modId xmlns:p14="http://schemas.microsoft.com/office/powerpoint/2010/main" val="453162511"/>
              </p:ext>
            </p:extLst>
          </p:nvPr>
        </p:nvGraphicFramePr>
        <p:xfrm>
          <a:off x="251520" y="1484784"/>
          <a:ext cx="8458200" cy="470912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1D50981-BA3A-485D-86AD-25D1EC16FB83}"/>
              </a:ext>
            </a:extLst>
          </p:cNvPr>
          <p:cNvSpPr>
            <a:spLocks noGrp="1" noChangeArrowheads="1"/>
          </p:cNvSpPr>
          <p:nvPr>
            <p:ph type="title"/>
          </p:nvPr>
        </p:nvSpPr>
        <p:spPr>
          <a:xfrm>
            <a:off x="457200" y="274638"/>
            <a:ext cx="8229600" cy="490537"/>
          </a:xfrm>
        </p:spPr>
        <p:txBody>
          <a:bodyPr/>
          <a:lstStyle/>
          <a:p>
            <a:pPr algn="l"/>
            <a:r>
              <a:rPr lang="en-US" altLang="en-US" sz="2400" dirty="0">
                <a:latin typeface="Times New Roman" panose="02020603050405020304" pitchFamily="18" charset="0"/>
                <a:cs typeface="Times New Roman" panose="02020603050405020304" pitchFamily="18" charset="0"/>
              </a:rPr>
              <a:t>4. </a:t>
            </a:r>
          </a:p>
        </p:txBody>
      </p:sp>
      <p:pic>
        <p:nvPicPr>
          <p:cNvPr id="5" name="Picture 4">
            <a:extLst>
              <a:ext uri="{FF2B5EF4-FFF2-40B4-BE49-F238E27FC236}">
                <a16:creationId xmlns:a16="http://schemas.microsoft.com/office/drawing/2014/main" id="{4222375D-4DFB-4846-ADB8-10C6DF0B0D6D}"/>
              </a:ext>
            </a:extLst>
          </p:cNvPr>
          <p:cNvPicPr>
            <a:picLocks noChangeAspect="1"/>
          </p:cNvPicPr>
          <p:nvPr/>
        </p:nvPicPr>
        <p:blipFill>
          <a:blip r:embed="rId2"/>
          <a:stretch>
            <a:fillRect/>
          </a:stretch>
        </p:blipFill>
        <p:spPr>
          <a:xfrm>
            <a:off x="1043608" y="131394"/>
            <a:ext cx="6912768" cy="67266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20DEE28C-DD92-4268-9285-D1F406626427}"/>
              </a:ext>
            </a:extLst>
          </p:cNvPr>
          <p:cNvGraphicFramePr>
            <a:graphicFrameLocks noGrp="1"/>
          </p:cNvGraphicFramePr>
          <p:nvPr>
            <p:ph idx="1"/>
            <p:extLst>
              <p:ext uri="{D42A27DB-BD31-4B8C-83A1-F6EECF244321}">
                <p14:modId xmlns:p14="http://schemas.microsoft.com/office/powerpoint/2010/main" val="2287054987"/>
              </p:ext>
            </p:extLst>
          </p:nvPr>
        </p:nvGraphicFramePr>
        <p:xfrm>
          <a:off x="77788" y="639763"/>
          <a:ext cx="9031288" cy="6102353"/>
        </p:xfrm>
        <a:graphic>
          <a:graphicData uri="http://schemas.openxmlformats.org/drawingml/2006/table">
            <a:tbl>
              <a:tblPr/>
              <a:tblGrid>
                <a:gridCol w="1022350">
                  <a:extLst>
                    <a:ext uri="{9D8B030D-6E8A-4147-A177-3AD203B41FA5}">
                      <a16:colId xmlns:a16="http://schemas.microsoft.com/office/drawing/2014/main" val="2504328190"/>
                    </a:ext>
                  </a:extLst>
                </a:gridCol>
                <a:gridCol w="795338">
                  <a:extLst>
                    <a:ext uri="{9D8B030D-6E8A-4147-A177-3AD203B41FA5}">
                      <a16:colId xmlns:a16="http://schemas.microsoft.com/office/drawing/2014/main" val="2643669016"/>
                    </a:ext>
                  </a:extLst>
                </a:gridCol>
                <a:gridCol w="928687">
                  <a:extLst>
                    <a:ext uri="{9D8B030D-6E8A-4147-A177-3AD203B41FA5}">
                      <a16:colId xmlns:a16="http://schemas.microsoft.com/office/drawing/2014/main" val="4245911277"/>
                    </a:ext>
                  </a:extLst>
                </a:gridCol>
                <a:gridCol w="973138">
                  <a:extLst>
                    <a:ext uri="{9D8B030D-6E8A-4147-A177-3AD203B41FA5}">
                      <a16:colId xmlns:a16="http://schemas.microsoft.com/office/drawing/2014/main" val="3808367631"/>
                    </a:ext>
                  </a:extLst>
                </a:gridCol>
                <a:gridCol w="850900">
                  <a:extLst>
                    <a:ext uri="{9D8B030D-6E8A-4147-A177-3AD203B41FA5}">
                      <a16:colId xmlns:a16="http://schemas.microsoft.com/office/drawing/2014/main" val="3797751662"/>
                    </a:ext>
                  </a:extLst>
                </a:gridCol>
                <a:gridCol w="774700">
                  <a:extLst>
                    <a:ext uri="{9D8B030D-6E8A-4147-A177-3AD203B41FA5}">
                      <a16:colId xmlns:a16="http://schemas.microsoft.com/office/drawing/2014/main" val="1134077365"/>
                    </a:ext>
                  </a:extLst>
                </a:gridCol>
                <a:gridCol w="611187">
                  <a:extLst>
                    <a:ext uri="{9D8B030D-6E8A-4147-A177-3AD203B41FA5}">
                      <a16:colId xmlns:a16="http://schemas.microsoft.com/office/drawing/2014/main" val="4093896449"/>
                    </a:ext>
                  </a:extLst>
                </a:gridCol>
                <a:gridCol w="663575">
                  <a:extLst>
                    <a:ext uri="{9D8B030D-6E8A-4147-A177-3AD203B41FA5}">
                      <a16:colId xmlns:a16="http://schemas.microsoft.com/office/drawing/2014/main" val="2894609382"/>
                    </a:ext>
                  </a:extLst>
                </a:gridCol>
                <a:gridCol w="755650">
                  <a:extLst>
                    <a:ext uri="{9D8B030D-6E8A-4147-A177-3AD203B41FA5}">
                      <a16:colId xmlns:a16="http://schemas.microsoft.com/office/drawing/2014/main" val="3274861749"/>
                    </a:ext>
                  </a:extLst>
                </a:gridCol>
                <a:gridCol w="909638">
                  <a:extLst>
                    <a:ext uri="{9D8B030D-6E8A-4147-A177-3AD203B41FA5}">
                      <a16:colId xmlns:a16="http://schemas.microsoft.com/office/drawing/2014/main" val="626228297"/>
                    </a:ext>
                  </a:extLst>
                </a:gridCol>
                <a:gridCol w="746125">
                  <a:extLst>
                    <a:ext uri="{9D8B030D-6E8A-4147-A177-3AD203B41FA5}">
                      <a16:colId xmlns:a16="http://schemas.microsoft.com/office/drawing/2014/main" val="3407494288"/>
                    </a:ext>
                  </a:extLst>
                </a:gridCol>
              </a:tblGrid>
              <a:tr h="73170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Countries</a:t>
                      </a:r>
                      <a:endPar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Total wealth</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Produced capital and urban land</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Intangible capital</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Natural capital</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Pasture</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land</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Crop</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land</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Pro</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tected areas</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Non-</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timber forest re</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sources</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Timber resources</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Subsoil assets</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58232837"/>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Australia</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371,031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58,179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288,686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24,167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5,590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4,365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1,421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551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748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11,491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132622826"/>
                  </a:ext>
                </a:extLst>
              </a:tr>
              <a:tr h="3436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Bangladesh</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6,000</a:t>
                      </a:r>
                      <a:endParaRPr kumimoji="0" lang="zh-CN" altLang="zh-CN" sz="12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817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4,221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961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810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180320584"/>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Belgium</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451,714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60,561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388,123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3,030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2,161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575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254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824966530"/>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Brazil</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86,922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9,643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70,528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6,752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1,311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1,998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1,708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433480021"/>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Canada</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324,979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54,226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235,982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34,771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1,631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2,829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5,756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1,264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4,724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18,566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55806591"/>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China</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9,387</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2,956</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4,208</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2,223</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146</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1,404</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27</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29</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106</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511</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324222357"/>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Ethiopia</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1,965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992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796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91484326"/>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Franc</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468,024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57,814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403,874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6,335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2,091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2,747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1,026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307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87063853"/>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German</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496,447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68,678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423,323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4,445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1,586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1,176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1,113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263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269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113108638"/>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Greece</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236,972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28,973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203,445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4,554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573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702886078"/>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India</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6,820</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1,154</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3,738</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1,928</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192</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1,340</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122</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14</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59</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rPr>
                        <a:t>201</a:t>
                      </a:r>
                      <a:endParaRPr kumimoji="0" lang="zh-CN" altLang="zh-CN" sz="12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687829086"/>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Indonesia</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13,869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2,382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8,015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3,472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1,245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1,549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889260061"/>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Japan</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493,241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150,258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341,470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1,513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710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364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962336594"/>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S Korea</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141,282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31,399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107,864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1,241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65462504"/>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Malaysia</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46,687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13,065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24,520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9,103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1,369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438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6,922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459151285"/>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Mexico</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61,872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18,959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34,420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8,493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721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1,195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6,075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146229031"/>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Philippines</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19,351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2,673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15,129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1,549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1,308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187013893"/>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Russia</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38,709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15,593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5,900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17,217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1,342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1,262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1,317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1,228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292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11,777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378960454"/>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Sweden</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513,424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58,331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447,143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7,950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1,676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1,549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908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2,434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263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58300232"/>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Thailand</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35,854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7,624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24,294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3,936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2,370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855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469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870294931"/>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UK</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408,753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55,239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346,347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7,167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1,291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583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495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4,739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706416606"/>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US</a:t>
                      </a:r>
                      <a:endParaRPr kumimoji="0" lang="zh-CN" altLang="en-US"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512,612</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79,851</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418,009</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14,752</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1,665</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2,752</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1,651</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238</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1,341</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rPr>
                        <a:t>7,106</a:t>
                      </a:r>
                      <a:endParaRPr kumimoji="0" lang="zh-CN" altLang="zh-CN" sz="12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964871019"/>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World</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95,860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16,850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74,998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4,011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536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1,496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252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1,302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610578427"/>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Low inc</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7,532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1,174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4,434</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1,925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1,143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32852322"/>
                  </a:ext>
                </a:extLst>
              </a:tr>
              <a:tr h="19421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Middle inc</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27,616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5,347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18,773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3,426</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1,583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120</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1,089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004710637"/>
                  </a:ext>
                </a:extLst>
              </a:tr>
              <a:tr h="36585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rPr>
                        <a:t>High inc (OECD)</a:t>
                      </a:r>
                      <a:endParaRPr kumimoji="0" lang="zh-CN" altLang="zh-CN" sz="12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439,063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76,193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353,339</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9,531</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1,552</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2,008</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1,215</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183</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rPr>
                        <a:t>747</a:t>
                      </a:r>
                      <a:endParaRPr kumimoji="0" lang="zh-CN" altLang="zh-CN" sz="12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3,825</a:t>
                      </a:r>
                      <a:endParaRPr kumimoji="0" lang="zh-CN" altLang="zh-CN" sz="12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5042" marR="550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047622650"/>
                  </a:ext>
                </a:extLst>
              </a:tr>
            </a:tbl>
          </a:graphicData>
        </a:graphic>
      </p:graphicFrame>
      <p:sp>
        <p:nvSpPr>
          <p:cNvPr id="14676" name="Rectangle 1">
            <a:extLst>
              <a:ext uri="{FF2B5EF4-FFF2-40B4-BE49-F238E27FC236}">
                <a16:creationId xmlns:a16="http://schemas.microsoft.com/office/drawing/2014/main" id="{0E301AD6-045B-4BCE-B90A-2EC1857B1BB0}"/>
              </a:ext>
            </a:extLst>
          </p:cNvPr>
          <p:cNvSpPr>
            <a:spLocks noChangeArrowheads="1"/>
          </p:cNvSpPr>
          <p:nvPr/>
        </p:nvSpPr>
        <p:spPr bwMode="auto">
          <a:xfrm>
            <a:off x="107950" y="63500"/>
            <a:ext cx="88566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200">
                <a:solidFill>
                  <a:srgbClr val="211D1E"/>
                </a:solidFill>
                <a:latin typeface="Times New Roman" panose="02020603050405020304" pitchFamily="18" charset="0"/>
                <a:ea typeface="Univers 47 CondensedLight"/>
                <a:cs typeface="Times New Roman" panose="02020603050405020304" pitchFamily="18" charset="0"/>
              </a:rPr>
              <a:t>5. Wealth of Nations 2000 </a:t>
            </a:r>
            <a:r>
              <a:rPr lang="zh-CN" altLang="en-US" sz="2200">
                <a:solidFill>
                  <a:srgbClr val="211D1E"/>
                </a:solidFill>
                <a:latin typeface="Times New Roman" panose="02020603050405020304" pitchFamily="18" charset="0"/>
                <a:ea typeface="Univers 47 CondensedLight"/>
                <a:cs typeface="Times New Roman" panose="02020603050405020304" pitchFamily="18" charset="0"/>
              </a:rPr>
              <a:t>（</a:t>
            </a:r>
            <a:r>
              <a:rPr lang="en-US" altLang="zh-CN" sz="2200">
                <a:solidFill>
                  <a:srgbClr val="211D1E"/>
                </a:solidFill>
                <a:latin typeface="Times New Roman" panose="02020603050405020304" pitchFamily="18" charset="0"/>
                <a:ea typeface="Univers 47 CondensedLight"/>
                <a:cs typeface="Times New Roman" panose="02020603050405020304" pitchFamily="18" charset="0"/>
              </a:rPr>
              <a:t>$per capita</a:t>
            </a:r>
            <a:r>
              <a:rPr lang="zh-CN" altLang="en-US" sz="2200">
                <a:solidFill>
                  <a:srgbClr val="211D1E"/>
                </a:solidFill>
                <a:latin typeface="Times New Roman" panose="02020603050405020304" pitchFamily="18" charset="0"/>
                <a:ea typeface="Univers 47 CondensedLight"/>
                <a:cs typeface="Times New Roman" panose="02020603050405020304" pitchFamily="18" charset="0"/>
              </a:rPr>
              <a:t>） </a:t>
            </a:r>
            <a:r>
              <a:rPr lang="en-US" altLang="zh-CN" sz="2200">
                <a:solidFill>
                  <a:srgbClr val="211D1E"/>
                </a:solidFill>
                <a:latin typeface="Times New Roman" panose="02020603050405020304" pitchFamily="18" charset="0"/>
                <a:ea typeface="Univers 47 CondensedLight"/>
                <a:cs typeface="Times New Roman" panose="02020603050405020304" pitchFamily="18" charset="0"/>
              </a:rPr>
              <a:t>WDR 2010</a:t>
            </a:r>
            <a:endParaRPr lang="zh-CN" altLang="en-US" sz="2200">
              <a:latin typeface="Times New Roman" panose="02020603050405020304" pitchFamily="18" charset="0"/>
              <a:ea typeface="Univers 47 CondensedLight"/>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551AA6A2-4FAA-4100-815E-6BF04BBBD564}"/>
              </a:ext>
            </a:extLst>
          </p:cNvPr>
          <p:cNvSpPr>
            <a:spLocks noGrp="1" noChangeArrowheads="1"/>
          </p:cNvSpPr>
          <p:nvPr>
            <p:ph type="title"/>
          </p:nvPr>
        </p:nvSpPr>
        <p:spPr>
          <a:xfrm>
            <a:off x="0" y="0"/>
            <a:ext cx="8686800" cy="549275"/>
          </a:xfrm>
        </p:spPr>
        <p:txBody>
          <a:bodyPr/>
          <a:lstStyle/>
          <a:p>
            <a:pPr algn="l"/>
            <a:r>
              <a:rPr lang="en-US" altLang="zh-CN" sz="2200">
                <a:latin typeface="Times New Roman" panose="02020603050405020304" pitchFamily="18" charset="0"/>
                <a:cs typeface="Times New Roman" panose="02020603050405020304" pitchFamily="18" charset="0"/>
              </a:rPr>
              <a:t>6. Population and GNI  in 2008  WDR 2010</a:t>
            </a:r>
            <a:endParaRPr lang="zh-CN" altLang="en-US" sz="4000">
              <a:latin typeface="Times New Roman" panose="02020603050405020304" pitchFamily="18" charset="0"/>
              <a:cs typeface="Times New Roman" panose="02020603050405020304" pitchFamily="18" charset="0"/>
            </a:endParaRPr>
          </a:p>
        </p:txBody>
      </p:sp>
      <p:graphicFrame>
        <p:nvGraphicFramePr>
          <p:cNvPr id="4" name="内容占位符 3">
            <a:extLst>
              <a:ext uri="{FF2B5EF4-FFF2-40B4-BE49-F238E27FC236}">
                <a16:creationId xmlns:a16="http://schemas.microsoft.com/office/drawing/2014/main" id="{9EF29851-0877-4DB9-BD6F-966DB731725B}"/>
              </a:ext>
            </a:extLst>
          </p:cNvPr>
          <p:cNvGraphicFramePr>
            <a:graphicFrameLocks noGrp="1"/>
          </p:cNvGraphicFramePr>
          <p:nvPr>
            <p:ph idx="1"/>
            <p:extLst>
              <p:ext uri="{D42A27DB-BD31-4B8C-83A1-F6EECF244321}">
                <p14:modId xmlns:p14="http://schemas.microsoft.com/office/powerpoint/2010/main" val="3769928138"/>
              </p:ext>
            </p:extLst>
          </p:nvPr>
        </p:nvGraphicFramePr>
        <p:xfrm>
          <a:off x="107950" y="549275"/>
          <a:ext cx="9036050" cy="6210307"/>
        </p:xfrm>
        <a:graphic>
          <a:graphicData uri="http://schemas.openxmlformats.org/drawingml/2006/table">
            <a:tbl>
              <a:tblPr/>
              <a:tblGrid>
                <a:gridCol w="1223690">
                  <a:extLst>
                    <a:ext uri="{9D8B030D-6E8A-4147-A177-3AD203B41FA5}">
                      <a16:colId xmlns:a16="http://schemas.microsoft.com/office/drawing/2014/main" val="1408514248"/>
                    </a:ext>
                  </a:extLst>
                </a:gridCol>
                <a:gridCol w="1512168">
                  <a:extLst>
                    <a:ext uri="{9D8B030D-6E8A-4147-A177-3AD203B41FA5}">
                      <a16:colId xmlns:a16="http://schemas.microsoft.com/office/drawing/2014/main" val="4164912134"/>
                    </a:ext>
                  </a:extLst>
                </a:gridCol>
                <a:gridCol w="1584176">
                  <a:extLst>
                    <a:ext uri="{9D8B030D-6E8A-4147-A177-3AD203B41FA5}">
                      <a16:colId xmlns:a16="http://schemas.microsoft.com/office/drawing/2014/main" val="4199430143"/>
                    </a:ext>
                  </a:extLst>
                </a:gridCol>
                <a:gridCol w="1709291">
                  <a:extLst>
                    <a:ext uri="{9D8B030D-6E8A-4147-A177-3AD203B41FA5}">
                      <a16:colId xmlns:a16="http://schemas.microsoft.com/office/drawing/2014/main" val="2581698682"/>
                    </a:ext>
                  </a:extLst>
                </a:gridCol>
                <a:gridCol w="1503363">
                  <a:extLst>
                    <a:ext uri="{9D8B030D-6E8A-4147-A177-3AD203B41FA5}">
                      <a16:colId xmlns:a16="http://schemas.microsoft.com/office/drawing/2014/main" val="2745745598"/>
                    </a:ext>
                  </a:extLst>
                </a:gridCol>
                <a:gridCol w="1503362">
                  <a:extLst>
                    <a:ext uri="{9D8B030D-6E8A-4147-A177-3AD203B41FA5}">
                      <a16:colId xmlns:a16="http://schemas.microsoft.com/office/drawing/2014/main" val="1502825787"/>
                    </a:ext>
                  </a:extLst>
                </a:gridCol>
              </a:tblGrid>
              <a:tr h="67151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Country</a:t>
                      </a:r>
                      <a:endPar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Population (million)</a:t>
                      </a:r>
                      <a:endPar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GNI</a:t>
                      </a:r>
                      <a:r>
                        <a:rPr kumimoji="0" lang="zh-CN" altLang="en-US"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a:t>
                      </a: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US$ billion</a:t>
                      </a:r>
                      <a:r>
                        <a:rPr kumimoji="0" lang="zh-CN" altLang="en-US"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a:t>
                      </a:r>
                      <a:endParaRPr kumimoji="0" lang="zh-CN" altLang="en-US"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Per capita GNI (US$</a:t>
                      </a:r>
                      <a:r>
                        <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GNI based on PPP</a:t>
                      </a:r>
                      <a:r>
                        <a:rPr kumimoji="0" lang="zh-CN" altLang="en-US"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a:t>
                      </a: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US$ billion</a:t>
                      </a:r>
                      <a:r>
                        <a:rPr kumimoji="0" lang="zh-CN" altLang="en-US"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a:t>
                      </a:r>
                      <a:endParaRPr kumimoji="0" lang="zh-CN" altLang="en-US"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GNI based on PPP(US$)</a:t>
                      </a:r>
                      <a:endPar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550662032"/>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Australia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862.5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40,350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727.5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34,040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980308385"/>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Canada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1,390.00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41,730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1,206.50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36,220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257419581"/>
                  </a:ext>
                </a:extLst>
              </a:tr>
              <a:tr h="2476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Chile</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157.5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9,400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222.4</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13,270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369827538"/>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China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1,326</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3,899.30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2,940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7,984.00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6,020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503302358"/>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Ethiopia</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22.7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70.2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66353171"/>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Finland</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255.7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48,120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189.5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35,660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198934565"/>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France</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62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2,702.2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42,250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2,134.40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34,400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163296935"/>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Germany</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3,485.70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42,440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2,952.40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35,940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4049200858"/>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India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rPr>
                        <a:t>1,140</a:t>
                      </a:r>
                      <a:endParaRPr kumimoji="0" lang="zh-CN"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rPr>
                        <a:t>1,215.50</a:t>
                      </a:r>
                      <a:endParaRPr kumimoji="0" lang="zh-CN"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rPr>
                        <a:t>1,070</a:t>
                      </a:r>
                      <a:endParaRPr kumimoji="0" lang="zh-CN"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rPr>
                        <a:t>3,374.90</a:t>
                      </a:r>
                      <a:endParaRPr kumimoji="0" lang="zh-CN"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rPr>
                        <a:t>2,960</a:t>
                      </a:r>
                      <a:endParaRPr kumimoji="0" lang="zh-CN" altLang="zh-CN" sz="1400" b="0" i="0" u="none" strike="noStrike" cap="none" normalizeH="0" baseline="0">
                        <a:ln>
                          <a:noFill/>
                        </a:ln>
                        <a:solidFill>
                          <a:srgbClr val="E46C0A"/>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787980164"/>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Indonesia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228</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458.2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2,010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875.1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1171638"/>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Japan</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128</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4,879.20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38,210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4,497.70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35,220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281155939"/>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S Korea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49</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1,046.30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21,530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1,366.90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28,120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635824210"/>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Malaysia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188.1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6,970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370.8</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13,740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275047749"/>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Mexico</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106</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1,061.40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9,980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1,517.20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14,270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01479630"/>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Norway</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415.3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87,070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279</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58,500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120293817"/>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Philippines</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90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170.4</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1,890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352.4</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3,900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70999363"/>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Russia</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1,364.50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9,620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2,216.30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15,630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160284497"/>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Singapore</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168.2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34,760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232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47,940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717194901"/>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Spain</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46</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1,456.50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31,960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1,418.70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31,130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398269335"/>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Sweden</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9</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469.7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50,940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38,180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232666632"/>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Thailand</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67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191.7</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2,840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403.4</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5,990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670950031"/>
                  </a:ext>
                </a:extLst>
              </a:tr>
              <a:tr h="2889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rPr>
                        <a:t>UK</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61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2,787.20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45,390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2,218.20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36,130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270340614"/>
                  </a:ext>
                </a:extLst>
              </a:tr>
              <a:tr h="3016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rPr>
                        <a:t>US</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304</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14,466.10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47,580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14,282.70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rPr>
                        <a:t>46,970</a:t>
                      </a:r>
                      <a:endParaRPr kumimoji="0" lang="zh-CN" altLang="zh-CN" sz="1400" b="0"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598073421"/>
                  </a:ext>
                </a:extLst>
              </a:tr>
              <a:tr h="2238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World</a:t>
                      </a:r>
                      <a:endParaRPr kumimoji="0" lang="zh-CN" altLang="en-US"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6,692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57,637.5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8,613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69,309</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10,357</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8522" marR="5852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34460083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4D9A8E84-EAF8-4843-946B-842271F2A918}"/>
              </a:ext>
            </a:extLst>
          </p:cNvPr>
          <p:cNvSpPr>
            <a:spLocks noGrp="1" noChangeArrowheads="1"/>
          </p:cNvSpPr>
          <p:nvPr>
            <p:ph type="body" sz="half" idx="1"/>
          </p:nvPr>
        </p:nvSpPr>
        <p:spPr>
          <a:xfrm>
            <a:off x="179388" y="260350"/>
            <a:ext cx="7848600" cy="5905500"/>
          </a:xfrm>
        </p:spPr>
        <p:txBody>
          <a:bodyPr/>
          <a:lstStyle/>
          <a:p>
            <a:pPr eaLnBrk="1" hangingPunct="1">
              <a:lnSpc>
                <a:spcPct val="90000"/>
              </a:lnSpc>
              <a:buFontTx/>
              <a:buNone/>
            </a:pPr>
            <a:r>
              <a:rPr lang="en-US" altLang="zh-CN" sz="2800" dirty="0">
                <a:latin typeface="Times New Roman" panose="02020603050405020304" pitchFamily="18" charset="0"/>
                <a:cs typeface="Times New Roman" panose="02020603050405020304" pitchFamily="18" charset="0"/>
              </a:rPr>
              <a:t>IV. </a:t>
            </a:r>
            <a:r>
              <a:rPr lang="en-US" altLang="zh-CN" sz="2800" dirty="0">
                <a:latin typeface="Times New Roman" panose="02020603050405020304" pitchFamily="18" charset="0"/>
              </a:rPr>
              <a:t>The </a:t>
            </a:r>
            <a:r>
              <a:rPr lang="en-US" altLang="zh-CN" sz="2800" dirty="0" err="1">
                <a:latin typeface="Times New Roman" panose="02020603050405020304" pitchFamily="18" charset="0"/>
              </a:rPr>
              <a:t>Harrod-Domar</a:t>
            </a:r>
            <a:r>
              <a:rPr lang="en-US" altLang="zh-CN" sz="2800" dirty="0">
                <a:latin typeface="Times New Roman" panose="02020603050405020304" pitchFamily="18" charset="0"/>
              </a:rPr>
              <a:t> Model </a:t>
            </a:r>
          </a:p>
          <a:p>
            <a:pPr eaLnBrk="1" hangingPunct="1">
              <a:lnSpc>
                <a:spcPct val="90000"/>
              </a:lnSpc>
            </a:pPr>
            <a:endParaRPr lang="en-US" altLang="zh-CN" sz="2800" dirty="0">
              <a:latin typeface="Times New Roman" panose="02020603050405020304" pitchFamily="18" charset="0"/>
            </a:endParaRPr>
          </a:p>
          <a:p>
            <a:pPr eaLnBrk="1" hangingPunct="1">
              <a:lnSpc>
                <a:spcPct val="90000"/>
              </a:lnSpc>
            </a:pPr>
            <a:r>
              <a:rPr lang="en-US" altLang="zh-CN" sz="2800" dirty="0">
                <a:latin typeface="Times New Roman" panose="02020603050405020304" pitchFamily="18" charset="0"/>
              </a:rPr>
              <a:t>To grow, savings must be greater than replacement.</a:t>
            </a:r>
          </a:p>
          <a:p>
            <a:pPr eaLnBrk="1" hangingPunct="1">
              <a:lnSpc>
                <a:spcPct val="90000"/>
              </a:lnSpc>
            </a:pPr>
            <a:r>
              <a:rPr lang="en-US" altLang="zh-CN" sz="2800" dirty="0">
                <a:latin typeface="Times New Roman" panose="02020603050405020304" pitchFamily="18" charset="0"/>
              </a:rPr>
              <a:t>Output (</a:t>
            </a:r>
            <a:r>
              <a:rPr lang="en-US" altLang="zh-CN" sz="2800" i="1" dirty="0">
                <a:latin typeface="Times New Roman" panose="02020603050405020304" pitchFamily="18" charset="0"/>
              </a:rPr>
              <a:t>Y</a:t>
            </a:r>
            <a:r>
              <a:rPr lang="en-US" altLang="zh-CN" sz="2800" dirty="0">
                <a:latin typeface="Times New Roman" panose="02020603050405020304" pitchFamily="18" charset="0"/>
              </a:rPr>
              <a:t>) produced by capital (</a:t>
            </a:r>
            <a:r>
              <a:rPr lang="en-US" altLang="zh-CN" sz="2800" i="1" dirty="0">
                <a:latin typeface="Times New Roman" panose="02020603050405020304" pitchFamily="18" charset="0"/>
              </a:rPr>
              <a:t>K</a:t>
            </a:r>
            <a:r>
              <a:rPr lang="en-US" altLang="zh-CN" sz="2800" dirty="0">
                <a:latin typeface="Times New Roman" panose="02020603050405020304" pitchFamily="18" charset="0"/>
              </a:rPr>
              <a:t>):</a:t>
            </a:r>
          </a:p>
          <a:p>
            <a:pPr lvl="2" eaLnBrk="1" hangingPunct="1">
              <a:lnSpc>
                <a:spcPct val="90000"/>
              </a:lnSpc>
              <a:buFontTx/>
              <a:buNone/>
            </a:pPr>
            <a:endParaRPr lang="en-US" altLang="zh-CN" sz="2000" dirty="0">
              <a:latin typeface="Times New Roman" panose="02020603050405020304" pitchFamily="18" charset="0"/>
            </a:endParaRPr>
          </a:p>
          <a:p>
            <a:pPr lvl="2" eaLnBrk="1" hangingPunct="1">
              <a:lnSpc>
                <a:spcPct val="90000"/>
              </a:lnSpc>
              <a:buFontTx/>
              <a:buNone/>
            </a:pPr>
            <a:endParaRPr lang="en-US" altLang="zh-CN" sz="2000" dirty="0">
              <a:latin typeface="Times New Roman" panose="02020603050405020304" pitchFamily="18" charset="0"/>
            </a:endParaRPr>
          </a:p>
          <a:p>
            <a:pPr lvl="2" eaLnBrk="1" hangingPunct="1">
              <a:lnSpc>
                <a:spcPct val="90000"/>
              </a:lnSpc>
              <a:buFontTx/>
              <a:buNone/>
            </a:pPr>
            <a:r>
              <a:rPr lang="en-US" altLang="zh-CN" sz="2000" dirty="0">
                <a:latin typeface="Times New Roman" panose="02020603050405020304" pitchFamily="18" charset="0"/>
              </a:rPr>
              <a:t>Where </a:t>
            </a:r>
            <a:r>
              <a:rPr lang="en-US" altLang="zh-CN" sz="2000" i="1" dirty="0">
                <a:latin typeface="Times New Roman" panose="02020603050405020304" pitchFamily="18" charset="0"/>
              </a:rPr>
              <a:t>C</a:t>
            </a:r>
            <a:r>
              <a:rPr lang="en-US" altLang="zh-CN" sz="2000" dirty="0">
                <a:latin typeface="Times New Roman" panose="02020603050405020304" pitchFamily="18" charset="0"/>
              </a:rPr>
              <a:t> is a constant, indicating capital-output ratio (          ) </a:t>
            </a:r>
          </a:p>
          <a:p>
            <a:pPr eaLnBrk="1" hangingPunct="1">
              <a:lnSpc>
                <a:spcPct val="90000"/>
              </a:lnSpc>
            </a:pPr>
            <a:r>
              <a:rPr lang="en-US" altLang="zh-CN" sz="2800" dirty="0">
                <a:latin typeface="Times New Roman" panose="02020603050405020304" pitchFamily="18" charset="0"/>
              </a:rPr>
              <a:t>Changes in output:</a:t>
            </a:r>
          </a:p>
          <a:p>
            <a:pPr eaLnBrk="1" hangingPunct="1">
              <a:lnSpc>
                <a:spcPct val="90000"/>
              </a:lnSpc>
              <a:buFontTx/>
              <a:buNone/>
            </a:pPr>
            <a:endParaRPr lang="en-US" altLang="zh-CN" sz="2800" dirty="0">
              <a:latin typeface="Times New Roman" panose="02020603050405020304" pitchFamily="18" charset="0"/>
            </a:endParaRPr>
          </a:p>
          <a:p>
            <a:pPr eaLnBrk="1" hangingPunct="1">
              <a:lnSpc>
                <a:spcPct val="90000"/>
              </a:lnSpc>
              <a:buFontTx/>
              <a:buNone/>
            </a:pPr>
            <a:r>
              <a:rPr lang="en-US" altLang="zh-CN" sz="2800" dirty="0">
                <a:latin typeface="Times New Roman" panose="02020603050405020304" pitchFamily="18" charset="0"/>
              </a:rPr>
              <a:t>     Growth rate of output:</a:t>
            </a:r>
          </a:p>
          <a:p>
            <a:pPr eaLnBrk="1" hangingPunct="1">
              <a:lnSpc>
                <a:spcPct val="90000"/>
              </a:lnSpc>
              <a:buFontTx/>
              <a:buNone/>
            </a:pPr>
            <a:endParaRPr lang="en-US" altLang="zh-CN" sz="2800" dirty="0">
              <a:latin typeface="Times New Roman" panose="02020603050405020304" pitchFamily="18" charset="0"/>
            </a:endParaRPr>
          </a:p>
          <a:p>
            <a:pPr eaLnBrk="1" hangingPunct="1">
              <a:lnSpc>
                <a:spcPct val="90000"/>
              </a:lnSpc>
              <a:buFontTx/>
              <a:buNone/>
            </a:pPr>
            <a:r>
              <a:rPr lang="en-US" altLang="zh-CN" sz="2800" dirty="0">
                <a:latin typeface="Times New Roman" panose="02020603050405020304" pitchFamily="18" charset="0"/>
              </a:rPr>
              <a:t>     Defining              , </a:t>
            </a:r>
          </a:p>
          <a:p>
            <a:pPr eaLnBrk="1" hangingPunct="1">
              <a:lnSpc>
                <a:spcPct val="90000"/>
              </a:lnSpc>
              <a:buFontTx/>
              <a:buNone/>
            </a:pPr>
            <a:r>
              <a:rPr lang="en-US" altLang="zh-CN" sz="2800" dirty="0">
                <a:latin typeface="Times New Roman" panose="02020603050405020304" pitchFamily="18" charset="0"/>
              </a:rPr>
              <a:t>                          ,  where   </a:t>
            </a:r>
          </a:p>
        </p:txBody>
      </p:sp>
      <p:graphicFrame>
        <p:nvGraphicFramePr>
          <p:cNvPr id="16387" name="Object 2">
            <a:extLst>
              <a:ext uri="{FF2B5EF4-FFF2-40B4-BE49-F238E27FC236}">
                <a16:creationId xmlns:a16="http://schemas.microsoft.com/office/drawing/2014/main" id="{8277FE4A-1DB4-46BD-AF32-9AF85A89C8EF}"/>
              </a:ext>
            </a:extLst>
          </p:cNvPr>
          <p:cNvGraphicFramePr>
            <a:graphicFrameLocks noGrp="1" noChangeAspect="1"/>
          </p:cNvGraphicFramePr>
          <p:nvPr>
            <p:ph sz="quarter" idx="2"/>
            <p:extLst>
              <p:ext uri="{D42A27DB-BD31-4B8C-83A1-F6EECF244321}">
                <p14:modId xmlns:p14="http://schemas.microsoft.com/office/powerpoint/2010/main" val="4093422804"/>
              </p:ext>
            </p:extLst>
          </p:nvPr>
        </p:nvGraphicFramePr>
        <p:xfrm>
          <a:off x="3995738" y="2132856"/>
          <a:ext cx="720725" cy="636588"/>
        </p:xfrm>
        <a:graphic>
          <a:graphicData uri="http://schemas.openxmlformats.org/presentationml/2006/ole">
            <mc:AlternateContent xmlns:mc="http://schemas.openxmlformats.org/markup-compatibility/2006">
              <mc:Choice xmlns:v="urn:schemas-microsoft-com:vml" Requires="v">
                <p:oleObj name="Equation" r:id="rId3" imgW="444307" imgH="393529" progId="Equation.DSMT4">
                  <p:embed/>
                </p:oleObj>
              </mc:Choice>
              <mc:Fallback>
                <p:oleObj name="Equation" r:id="rId3" imgW="444307" imgH="393529" progId="Equation.DSMT4">
                  <p:embed/>
                  <p:pic>
                    <p:nvPicPr>
                      <p:cNvPr id="16387" name="Object 2">
                        <a:extLst>
                          <a:ext uri="{FF2B5EF4-FFF2-40B4-BE49-F238E27FC236}">
                            <a16:creationId xmlns:a16="http://schemas.microsoft.com/office/drawing/2014/main" id="{8277FE4A-1DB4-46BD-AF32-9AF85A89C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2132856"/>
                        <a:ext cx="720725"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8" name="Object 9">
            <a:extLst>
              <a:ext uri="{FF2B5EF4-FFF2-40B4-BE49-F238E27FC236}">
                <a16:creationId xmlns:a16="http://schemas.microsoft.com/office/drawing/2014/main" id="{92D1E524-6155-49AE-B127-EFD627D9AF94}"/>
              </a:ext>
            </a:extLst>
          </p:cNvPr>
          <p:cNvGraphicFramePr>
            <a:graphicFrameLocks noGrp="1" noChangeAspect="1"/>
          </p:cNvGraphicFramePr>
          <p:nvPr>
            <p:ph sz="quarter" idx="3"/>
            <p:extLst>
              <p:ext uri="{D42A27DB-BD31-4B8C-83A1-F6EECF244321}">
                <p14:modId xmlns:p14="http://schemas.microsoft.com/office/powerpoint/2010/main" val="661339110"/>
              </p:ext>
            </p:extLst>
          </p:nvPr>
        </p:nvGraphicFramePr>
        <p:xfrm>
          <a:off x="6659563" y="2664271"/>
          <a:ext cx="720725" cy="620713"/>
        </p:xfrm>
        <a:graphic>
          <a:graphicData uri="http://schemas.openxmlformats.org/presentationml/2006/ole">
            <mc:AlternateContent xmlns:mc="http://schemas.openxmlformats.org/markup-compatibility/2006">
              <mc:Choice xmlns:v="urn:schemas-microsoft-com:vml" Requires="v">
                <p:oleObj name="Equation" r:id="rId5" imgW="457002" imgH="393529" progId="Equation.DSMT4">
                  <p:embed/>
                </p:oleObj>
              </mc:Choice>
              <mc:Fallback>
                <p:oleObj name="Equation" r:id="rId5" imgW="457002" imgH="393529" progId="Equation.DSMT4">
                  <p:embed/>
                  <p:pic>
                    <p:nvPicPr>
                      <p:cNvPr id="16388" name="Object 9">
                        <a:extLst>
                          <a:ext uri="{FF2B5EF4-FFF2-40B4-BE49-F238E27FC236}">
                            <a16:creationId xmlns:a16="http://schemas.microsoft.com/office/drawing/2014/main" id="{92D1E524-6155-49AE-B127-EFD627D9AF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563" y="2664271"/>
                        <a:ext cx="720725"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9" name="Object 3">
            <a:extLst>
              <a:ext uri="{FF2B5EF4-FFF2-40B4-BE49-F238E27FC236}">
                <a16:creationId xmlns:a16="http://schemas.microsoft.com/office/drawing/2014/main" id="{F6B45634-8AA9-4D0A-97C6-87099F0FC8EF}"/>
              </a:ext>
            </a:extLst>
          </p:cNvPr>
          <p:cNvGraphicFramePr>
            <a:graphicFrameLocks noChangeAspect="1"/>
          </p:cNvGraphicFramePr>
          <p:nvPr>
            <p:extLst>
              <p:ext uri="{D42A27DB-BD31-4B8C-83A1-F6EECF244321}">
                <p14:modId xmlns:p14="http://schemas.microsoft.com/office/powerpoint/2010/main" val="4044022843"/>
              </p:ext>
            </p:extLst>
          </p:nvPr>
        </p:nvGraphicFramePr>
        <p:xfrm>
          <a:off x="3592513" y="3127052"/>
          <a:ext cx="1066800" cy="661988"/>
        </p:xfrm>
        <a:graphic>
          <a:graphicData uri="http://schemas.openxmlformats.org/presentationml/2006/ole">
            <mc:AlternateContent xmlns:mc="http://schemas.openxmlformats.org/markup-compatibility/2006">
              <mc:Choice xmlns:v="urn:schemas-microsoft-com:vml" Requires="v">
                <p:oleObj name="Equation" r:id="rId7" imgW="634725" imgH="393529" progId="Equation.DSMT4">
                  <p:embed/>
                </p:oleObj>
              </mc:Choice>
              <mc:Fallback>
                <p:oleObj name="Equation" r:id="rId7" imgW="634725" imgH="393529" progId="Equation.DSMT4">
                  <p:embed/>
                  <p:pic>
                    <p:nvPicPr>
                      <p:cNvPr id="16389" name="Object 3">
                        <a:extLst>
                          <a:ext uri="{FF2B5EF4-FFF2-40B4-BE49-F238E27FC236}">
                            <a16:creationId xmlns:a16="http://schemas.microsoft.com/office/drawing/2014/main" id="{F6B45634-8AA9-4D0A-97C6-87099F0FC8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92513" y="3127052"/>
                        <a:ext cx="1066800"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0" name="Object 11">
            <a:extLst>
              <a:ext uri="{FF2B5EF4-FFF2-40B4-BE49-F238E27FC236}">
                <a16:creationId xmlns:a16="http://schemas.microsoft.com/office/drawing/2014/main" id="{4B00D456-BFCF-4A02-A842-A50EDDE943CD}"/>
              </a:ext>
            </a:extLst>
          </p:cNvPr>
          <p:cNvGraphicFramePr>
            <a:graphicFrameLocks noChangeAspect="1"/>
          </p:cNvGraphicFramePr>
          <p:nvPr>
            <p:extLst>
              <p:ext uri="{D42A27DB-BD31-4B8C-83A1-F6EECF244321}">
                <p14:modId xmlns:p14="http://schemas.microsoft.com/office/powerpoint/2010/main" val="2241070832"/>
              </p:ext>
            </p:extLst>
          </p:nvPr>
        </p:nvGraphicFramePr>
        <p:xfrm>
          <a:off x="3949700" y="5445224"/>
          <a:ext cx="696913" cy="720725"/>
        </p:xfrm>
        <a:graphic>
          <a:graphicData uri="http://schemas.openxmlformats.org/presentationml/2006/ole">
            <mc:AlternateContent xmlns:mc="http://schemas.openxmlformats.org/markup-compatibility/2006">
              <mc:Choice xmlns:v="urn:schemas-microsoft-com:vml" Requires="v">
                <p:oleObj name="Equation" r:id="rId9" imgW="380835" imgH="393529" progId="Equation.DSMT4">
                  <p:embed/>
                </p:oleObj>
              </mc:Choice>
              <mc:Fallback>
                <p:oleObj name="Equation" r:id="rId9" imgW="380835" imgH="393529" progId="Equation.DSMT4">
                  <p:embed/>
                  <p:pic>
                    <p:nvPicPr>
                      <p:cNvPr id="16390" name="Object 11">
                        <a:extLst>
                          <a:ext uri="{FF2B5EF4-FFF2-40B4-BE49-F238E27FC236}">
                            <a16:creationId xmlns:a16="http://schemas.microsoft.com/office/drawing/2014/main" id="{4B00D456-BFCF-4A02-A842-A50EDDE943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9700" y="5445224"/>
                        <a:ext cx="69691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6">
            <a:extLst>
              <a:ext uri="{FF2B5EF4-FFF2-40B4-BE49-F238E27FC236}">
                <a16:creationId xmlns:a16="http://schemas.microsoft.com/office/drawing/2014/main" id="{BA8D5D22-1131-422A-B749-2F19F238207F}"/>
              </a:ext>
            </a:extLst>
          </p:cNvPr>
          <p:cNvGraphicFramePr>
            <a:graphicFrameLocks noChangeAspect="1"/>
          </p:cNvGraphicFramePr>
          <p:nvPr>
            <p:extLst>
              <p:ext uri="{D42A27DB-BD31-4B8C-83A1-F6EECF244321}">
                <p14:modId xmlns:p14="http://schemas.microsoft.com/office/powerpoint/2010/main" val="3773059515"/>
              </p:ext>
            </p:extLst>
          </p:nvPr>
        </p:nvGraphicFramePr>
        <p:xfrm>
          <a:off x="1074738" y="5589240"/>
          <a:ext cx="1512887" cy="365125"/>
        </p:xfrm>
        <a:graphic>
          <a:graphicData uri="http://schemas.openxmlformats.org/presentationml/2006/ole">
            <mc:AlternateContent xmlns:mc="http://schemas.openxmlformats.org/markup-compatibility/2006">
              <mc:Choice xmlns:v="urn:schemas-microsoft-com:vml" Requires="v">
                <p:oleObj name="Equation" r:id="rId11" imgW="736280" imgH="177723" progId="Equation.DSMT4">
                  <p:embed/>
                </p:oleObj>
              </mc:Choice>
              <mc:Fallback>
                <p:oleObj name="Equation" r:id="rId11" imgW="736280" imgH="177723" progId="Equation.DSMT4">
                  <p:embed/>
                  <p:pic>
                    <p:nvPicPr>
                      <p:cNvPr id="16391" name="Object 6">
                        <a:extLst>
                          <a:ext uri="{FF2B5EF4-FFF2-40B4-BE49-F238E27FC236}">
                            <a16:creationId xmlns:a16="http://schemas.microsoft.com/office/drawing/2014/main" id="{BA8D5D22-1131-422A-B749-2F19F238207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4738" y="5589240"/>
                        <a:ext cx="15128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2" name="Object 8">
            <a:extLst>
              <a:ext uri="{FF2B5EF4-FFF2-40B4-BE49-F238E27FC236}">
                <a16:creationId xmlns:a16="http://schemas.microsoft.com/office/drawing/2014/main" id="{3BB47D75-B453-444C-878C-F418308474D2}"/>
              </a:ext>
            </a:extLst>
          </p:cNvPr>
          <p:cNvGraphicFramePr>
            <a:graphicFrameLocks noChangeAspect="1"/>
          </p:cNvGraphicFramePr>
          <p:nvPr>
            <p:extLst>
              <p:ext uri="{D42A27DB-BD31-4B8C-83A1-F6EECF244321}">
                <p14:modId xmlns:p14="http://schemas.microsoft.com/office/powerpoint/2010/main" val="1975211639"/>
              </p:ext>
            </p:extLst>
          </p:nvPr>
        </p:nvGraphicFramePr>
        <p:xfrm>
          <a:off x="3490267" y="4869160"/>
          <a:ext cx="1801813" cy="657225"/>
        </p:xfrm>
        <a:graphic>
          <a:graphicData uri="http://schemas.openxmlformats.org/presentationml/2006/ole">
            <mc:AlternateContent xmlns:mc="http://schemas.openxmlformats.org/markup-compatibility/2006">
              <mc:Choice xmlns:v="urn:schemas-microsoft-com:vml" Requires="v">
                <p:oleObj name="Equation" r:id="rId13" imgW="1079032" imgH="393529" progId="Equation.DSMT4">
                  <p:embed/>
                </p:oleObj>
              </mc:Choice>
              <mc:Fallback>
                <p:oleObj name="Equation" r:id="rId13" imgW="1079032" imgH="393529" progId="Equation.DSMT4">
                  <p:embed/>
                  <p:pic>
                    <p:nvPicPr>
                      <p:cNvPr id="16392" name="Object 8">
                        <a:extLst>
                          <a:ext uri="{FF2B5EF4-FFF2-40B4-BE49-F238E27FC236}">
                            <a16:creationId xmlns:a16="http://schemas.microsoft.com/office/drawing/2014/main" id="{3BB47D75-B453-444C-878C-F418308474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0267" y="4869160"/>
                        <a:ext cx="1801813"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3" name="Object 4">
            <a:extLst>
              <a:ext uri="{FF2B5EF4-FFF2-40B4-BE49-F238E27FC236}">
                <a16:creationId xmlns:a16="http://schemas.microsoft.com/office/drawing/2014/main" id="{FBC820DE-D04F-4158-866A-3594AEF46603}"/>
              </a:ext>
            </a:extLst>
          </p:cNvPr>
          <p:cNvGraphicFramePr>
            <a:graphicFrameLocks noChangeAspect="1"/>
          </p:cNvGraphicFramePr>
          <p:nvPr>
            <p:extLst>
              <p:ext uri="{D42A27DB-BD31-4B8C-83A1-F6EECF244321}">
                <p14:modId xmlns:p14="http://schemas.microsoft.com/office/powerpoint/2010/main" val="3296706673"/>
              </p:ext>
            </p:extLst>
          </p:nvPr>
        </p:nvGraphicFramePr>
        <p:xfrm>
          <a:off x="4125913" y="4077072"/>
          <a:ext cx="1584325" cy="682625"/>
        </p:xfrm>
        <a:graphic>
          <a:graphicData uri="http://schemas.openxmlformats.org/presentationml/2006/ole">
            <mc:AlternateContent xmlns:mc="http://schemas.openxmlformats.org/markup-compatibility/2006">
              <mc:Choice xmlns:v="urn:schemas-microsoft-com:vml" Requires="v">
                <p:oleObj name="Equation" r:id="rId15" imgW="914400" imgH="393700" progId="Equation.DSMT4">
                  <p:embed/>
                </p:oleObj>
              </mc:Choice>
              <mc:Fallback>
                <p:oleObj name="Equation" r:id="rId15" imgW="914400" imgH="393700" progId="Equation.DSMT4">
                  <p:embed/>
                  <p:pic>
                    <p:nvPicPr>
                      <p:cNvPr id="16393" name="Object 4">
                        <a:extLst>
                          <a:ext uri="{FF2B5EF4-FFF2-40B4-BE49-F238E27FC236}">
                            <a16:creationId xmlns:a16="http://schemas.microsoft.com/office/drawing/2014/main" id="{FBC820DE-D04F-4158-866A-3594AEF4660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5913" y="4077072"/>
                        <a:ext cx="1584325" cy="6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4" name="Object 5">
            <a:extLst>
              <a:ext uri="{FF2B5EF4-FFF2-40B4-BE49-F238E27FC236}">
                <a16:creationId xmlns:a16="http://schemas.microsoft.com/office/drawing/2014/main" id="{5EE856DB-A739-4270-A189-14C27114670C}"/>
              </a:ext>
            </a:extLst>
          </p:cNvPr>
          <p:cNvGraphicFramePr>
            <a:graphicFrameLocks noChangeAspect="1"/>
          </p:cNvGraphicFramePr>
          <p:nvPr>
            <p:extLst>
              <p:ext uri="{D42A27DB-BD31-4B8C-83A1-F6EECF244321}">
                <p14:modId xmlns:p14="http://schemas.microsoft.com/office/powerpoint/2010/main" val="2236744620"/>
              </p:ext>
            </p:extLst>
          </p:nvPr>
        </p:nvGraphicFramePr>
        <p:xfrm>
          <a:off x="2197373" y="4797152"/>
          <a:ext cx="1006475" cy="762000"/>
        </p:xfrm>
        <a:graphic>
          <a:graphicData uri="http://schemas.openxmlformats.org/presentationml/2006/ole">
            <mc:AlternateContent xmlns:mc="http://schemas.openxmlformats.org/markup-compatibility/2006">
              <mc:Choice xmlns:v="urn:schemas-microsoft-com:vml" Requires="v">
                <p:oleObj name="Equation" r:id="rId17" imgW="520474" imgH="393529" progId="Equation.DSMT4">
                  <p:embed/>
                </p:oleObj>
              </mc:Choice>
              <mc:Fallback>
                <p:oleObj name="Equation" r:id="rId17" imgW="520474" imgH="393529" progId="Equation.DSMT4">
                  <p:embed/>
                  <p:pic>
                    <p:nvPicPr>
                      <p:cNvPr id="16394" name="Object 5">
                        <a:extLst>
                          <a:ext uri="{FF2B5EF4-FFF2-40B4-BE49-F238E27FC236}">
                            <a16:creationId xmlns:a16="http://schemas.microsoft.com/office/drawing/2014/main" id="{5EE856DB-A739-4270-A189-14C27114670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97373" y="4797152"/>
                        <a:ext cx="10064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22ABD4EF-4696-4E89-823D-D9E471CEC1BA}"/>
              </a:ext>
            </a:extLst>
          </p:cNvPr>
          <p:cNvSpPr>
            <a:spLocks noGrp="1" noChangeArrowheads="1"/>
          </p:cNvSpPr>
          <p:nvPr>
            <p:ph type="body" sz="half" idx="1"/>
          </p:nvPr>
        </p:nvSpPr>
        <p:spPr>
          <a:xfrm>
            <a:off x="250825" y="333375"/>
            <a:ext cx="8281988" cy="6119813"/>
          </a:xfrm>
        </p:spPr>
        <p:txBody>
          <a:bodyPr/>
          <a:lstStyle/>
          <a:p>
            <a:pPr eaLnBrk="1" hangingPunct="1">
              <a:defRPr/>
            </a:pPr>
            <a:r>
              <a:rPr lang="en-US" altLang="zh-CN" sz="2400" dirty="0">
                <a:latin typeface="Times New Roman" panose="02020603050405020304" pitchFamily="18" charset="0"/>
              </a:rPr>
              <a:t>This is the famous Harrod-</a:t>
            </a:r>
            <a:r>
              <a:rPr lang="en-US" altLang="zh-CN" sz="2400" dirty="0" err="1">
                <a:latin typeface="Times New Roman" panose="02020603050405020304" pitchFamily="18" charset="0"/>
              </a:rPr>
              <a:t>Domar</a:t>
            </a:r>
            <a:r>
              <a:rPr lang="en-US" altLang="zh-CN" sz="2400" dirty="0">
                <a:latin typeface="Times New Roman" panose="02020603050405020304" pitchFamily="18" charset="0"/>
              </a:rPr>
              <a:t> theory of economic growth, indicating that the growth rate is determined by the savings rate and capital-output ratio ( which is assumed to be constant). </a:t>
            </a:r>
            <a:r>
              <a:rPr lang="en-US" altLang="zh-CN" sz="2400" u="sng" dirty="0">
                <a:latin typeface="Times New Roman" panose="02020603050405020304" pitchFamily="18" charset="0"/>
              </a:rPr>
              <a:t>High savings rate, high growth, low capital use, high growth.</a:t>
            </a:r>
          </a:p>
          <a:p>
            <a:pPr lvl="1" eaLnBrk="1" hangingPunct="1">
              <a:defRPr/>
            </a:pPr>
            <a:r>
              <a:rPr lang="en-US" altLang="zh-CN" sz="2000" dirty="0">
                <a:latin typeface="Times New Roman" panose="02020603050405020304" pitchFamily="18" charset="0"/>
              </a:rPr>
              <a:t>    Example:   C = 3,    s = 9%</a:t>
            </a:r>
          </a:p>
          <a:p>
            <a:pPr eaLnBrk="1" hangingPunct="1">
              <a:buFontTx/>
              <a:buNone/>
              <a:defRPr/>
            </a:pPr>
            <a:r>
              <a:rPr lang="en-US" altLang="zh-CN" sz="2000" dirty="0">
                <a:latin typeface="Times New Roman" panose="02020603050405020304" pitchFamily="18" charset="0"/>
              </a:rPr>
              <a:t>                             </a:t>
            </a:r>
          </a:p>
          <a:p>
            <a:pPr eaLnBrk="1" hangingPunct="1">
              <a:buFontTx/>
              <a:buNone/>
              <a:defRPr/>
            </a:pPr>
            <a:endParaRPr lang="en-US" altLang="zh-CN" sz="2000" dirty="0">
              <a:latin typeface="Times New Roman" panose="02020603050405020304" pitchFamily="18" charset="0"/>
            </a:endParaRPr>
          </a:p>
          <a:p>
            <a:pPr eaLnBrk="1" hangingPunct="1">
              <a:buFontTx/>
              <a:buNone/>
              <a:defRPr/>
            </a:pPr>
            <a:endParaRPr lang="en-US" altLang="zh-CN" sz="2000" dirty="0">
              <a:latin typeface="Times New Roman" panose="02020603050405020304" pitchFamily="18" charset="0"/>
            </a:endParaRPr>
          </a:p>
          <a:p>
            <a:pPr eaLnBrk="1" hangingPunct="1">
              <a:defRPr/>
            </a:pPr>
            <a:r>
              <a:rPr lang="en-US" altLang="zh-CN" sz="2400" dirty="0">
                <a:latin typeface="Times New Roman" panose="02020603050405020304" pitchFamily="18" charset="0"/>
              </a:rPr>
              <a:t>Incremental capital-output ratio (ICOR):</a:t>
            </a:r>
          </a:p>
          <a:p>
            <a:pPr eaLnBrk="1" hangingPunct="1">
              <a:buFontTx/>
              <a:buNone/>
              <a:defRPr/>
            </a:pPr>
            <a:r>
              <a:rPr lang="en-US" altLang="zh-CN" sz="2400" dirty="0">
                <a:latin typeface="Times New Roman" panose="02020603050405020304" pitchFamily="18" charset="0"/>
              </a:rPr>
              <a:t>     increase in capital/ increase in output =</a:t>
            </a:r>
            <a:r>
              <a:rPr lang="en-US" altLang="zh-CN" sz="2800" dirty="0"/>
              <a:t> </a:t>
            </a:r>
            <a:endParaRPr lang="en-US" altLang="zh-CN" sz="2800" dirty="0">
              <a:latin typeface="Times New Roman" panose="02020603050405020304" pitchFamily="18" charset="0"/>
            </a:endParaRPr>
          </a:p>
          <a:p>
            <a:pPr marL="457200" lvl="1" indent="0" eaLnBrk="1" hangingPunct="1">
              <a:buFontTx/>
              <a:buNone/>
              <a:defRPr/>
            </a:pPr>
            <a:r>
              <a:rPr lang="en-US" altLang="zh-CN" sz="2000" dirty="0">
                <a:latin typeface="Times New Roman" panose="02020603050405020304" pitchFamily="18" charset="0"/>
              </a:rPr>
              <a:t>   </a:t>
            </a:r>
          </a:p>
          <a:p>
            <a:pPr lvl="1" eaLnBrk="1" hangingPunct="1">
              <a:defRPr/>
            </a:pPr>
            <a:r>
              <a:rPr lang="en-US" altLang="zh-CN" sz="2000" dirty="0">
                <a:latin typeface="Times New Roman" panose="02020603050405020304" pitchFamily="18" charset="0"/>
              </a:rPr>
              <a:t> Example: </a:t>
            </a:r>
            <a:r>
              <a:rPr lang="el-GR" altLang="zh-CN" sz="2000" dirty="0">
                <a:latin typeface="Times New Roman" panose="02020603050405020304" pitchFamily="18" charset="0"/>
                <a:cs typeface="Times New Roman" panose="02020603050405020304" pitchFamily="18" charset="0"/>
              </a:rPr>
              <a:t>Δ</a:t>
            </a:r>
            <a:r>
              <a:rPr lang="en-US" altLang="zh-CN" sz="2000" dirty="0">
                <a:latin typeface="Times New Roman" panose="02020603050405020304" pitchFamily="18" charset="0"/>
                <a:cs typeface="Times New Roman" panose="02020603050405020304" pitchFamily="18" charset="0"/>
              </a:rPr>
              <a:t>K = 3,000, </a:t>
            </a:r>
            <a:r>
              <a:rPr lang="el-GR" altLang="zh-CN" sz="2000" dirty="0">
                <a:latin typeface="Times New Roman" panose="02020603050405020304" pitchFamily="18" charset="0"/>
                <a:cs typeface="Times New Roman" panose="02020603050405020304" pitchFamily="18" charset="0"/>
              </a:rPr>
              <a:t>Δ</a:t>
            </a:r>
            <a:r>
              <a:rPr lang="en-US" altLang="zh-CN" sz="2000" dirty="0">
                <a:latin typeface="Times New Roman" panose="02020603050405020304" pitchFamily="18" charset="0"/>
                <a:cs typeface="Times New Roman" panose="02020603050405020304" pitchFamily="18" charset="0"/>
              </a:rPr>
              <a:t>Y = 1,000</a:t>
            </a:r>
          </a:p>
          <a:p>
            <a:pPr lvl="1" eaLnBrk="1" hangingPunct="1">
              <a:buFontTx/>
              <a:buNone/>
              <a:defRPr/>
            </a:pPr>
            <a:endParaRPr lang="en-US" altLang="zh-CN" sz="2000" dirty="0">
              <a:latin typeface="Times New Roman" panose="02020603050405020304" pitchFamily="18" charset="0"/>
              <a:cs typeface="Times New Roman" panose="02020603050405020304" pitchFamily="18" charset="0"/>
            </a:endParaRPr>
          </a:p>
          <a:p>
            <a:pPr lvl="1" eaLnBrk="1" hangingPunct="1">
              <a:buFontTx/>
              <a:buNone/>
              <a:defRPr/>
            </a:pPr>
            <a:r>
              <a:rPr lang="en-US" altLang="zh-CN" sz="2000" dirty="0">
                <a:latin typeface="Times New Roman" panose="02020603050405020304" pitchFamily="18" charset="0"/>
                <a:cs typeface="Times New Roman" panose="02020603050405020304" pitchFamily="18" charset="0"/>
              </a:rPr>
              <a:t>                           ICOR=            =3</a:t>
            </a:r>
            <a:endParaRPr lang="el-GR" altLang="zh-CN" sz="2000" dirty="0">
              <a:latin typeface="Times New Roman" panose="02020603050405020304" pitchFamily="18" charset="0"/>
              <a:cs typeface="Times New Roman" panose="02020603050405020304" pitchFamily="18" charset="0"/>
            </a:endParaRPr>
          </a:p>
        </p:txBody>
      </p:sp>
      <p:graphicFrame>
        <p:nvGraphicFramePr>
          <p:cNvPr id="17411" name="Object 2">
            <a:extLst>
              <a:ext uri="{FF2B5EF4-FFF2-40B4-BE49-F238E27FC236}">
                <a16:creationId xmlns:a16="http://schemas.microsoft.com/office/drawing/2014/main" id="{C0687CE8-3AD4-44D8-9AC2-B751E38E0416}"/>
              </a:ext>
            </a:extLst>
          </p:cNvPr>
          <p:cNvGraphicFramePr>
            <a:graphicFrameLocks noGrp="1" noChangeAspect="1"/>
          </p:cNvGraphicFramePr>
          <p:nvPr>
            <p:ph sz="quarter" idx="2"/>
          </p:nvPr>
        </p:nvGraphicFramePr>
        <p:xfrm>
          <a:off x="2484438" y="2349500"/>
          <a:ext cx="1582737" cy="711200"/>
        </p:xfrm>
        <a:graphic>
          <a:graphicData uri="http://schemas.openxmlformats.org/presentationml/2006/ole">
            <mc:AlternateContent xmlns:mc="http://schemas.openxmlformats.org/markup-compatibility/2006">
              <mc:Choice xmlns:v="urn:schemas-microsoft-com:vml" Requires="v">
                <p:oleObj name="Equation" r:id="rId3" imgW="875920" imgH="393529" progId="Equation.DSMT4">
                  <p:embed/>
                </p:oleObj>
              </mc:Choice>
              <mc:Fallback>
                <p:oleObj name="Equation" r:id="rId3" imgW="875920" imgH="393529" progId="Equation.DSMT4">
                  <p:embed/>
                  <p:pic>
                    <p:nvPicPr>
                      <p:cNvPr id="17411" name="Object 2">
                        <a:extLst>
                          <a:ext uri="{FF2B5EF4-FFF2-40B4-BE49-F238E27FC236}">
                            <a16:creationId xmlns:a16="http://schemas.microsoft.com/office/drawing/2014/main" id="{C0687CE8-3AD4-44D8-9AC2-B751E38E0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349500"/>
                        <a:ext cx="1582737"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2" name="Object 4">
            <a:extLst>
              <a:ext uri="{FF2B5EF4-FFF2-40B4-BE49-F238E27FC236}">
                <a16:creationId xmlns:a16="http://schemas.microsoft.com/office/drawing/2014/main" id="{2DDE0E2B-7B22-4DC1-978A-6288B6135F65}"/>
              </a:ext>
            </a:extLst>
          </p:cNvPr>
          <p:cNvGraphicFramePr>
            <a:graphicFrameLocks noGrp="1" noChangeAspect="1"/>
          </p:cNvGraphicFramePr>
          <p:nvPr>
            <p:ph sz="quarter" idx="3"/>
          </p:nvPr>
        </p:nvGraphicFramePr>
        <p:xfrm>
          <a:off x="3348038" y="5300663"/>
          <a:ext cx="539750" cy="576262"/>
        </p:xfrm>
        <a:graphic>
          <a:graphicData uri="http://schemas.openxmlformats.org/presentationml/2006/ole">
            <mc:AlternateContent xmlns:mc="http://schemas.openxmlformats.org/markup-compatibility/2006">
              <mc:Choice xmlns:v="urn:schemas-microsoft-com:vml" Requires="v">
                <p:oleObj name="Equation" r:id="rId5" imgW="368140" imgH="393529" progId="Equation.DSMT4">
                  <p:embed/>
                </p:oleObj>
              </mc:Choice>
              <mc:Fallback>
                <p:oleObj name="Equation" r:id="rId5" imgW="368140" imgH="393529" progId="Equation.DSMT4">
                  <p:embed/>
                  <p:pic>
                    <p:nvPicPr>
                      <p:cNvPr id="17412" name="Object 4">
                        <a:extLst>
                          <a:ext uri="{FF2B5EF4-FFF2-40B4-BE49-F238E27FC236}">
                            <a16:creationId xmlns:a16="http://schemas.microsoft.com/office/drawing/2014/main" id="{2DDE0E2B-7B22-4DC1-978A-6288B6135F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5300663"/>
                        <a:ext cx="5397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3" name="Object 3">
            <a:extLst>
              <a:ext uri="{FF2B5EF4-FFF2-40B4-BE49-F238E27FC236}">
                <a16:creationId xmlns:a16="http://schemas.microsoft.com/office/drawing/2014/main" id="{9C7D0E41-5954-44CF-9C1E-D0E4A97D1175}"/>
              </a:ext>
            </a:extLst>
          </p:cNvPr>
          <p:cNvGraphicFramePr>
            <a:graphicFrameLocks noChangeAspect="1"/>
          </p:cNvGraphicFramePr>
          <p:nvPr/>
        </p:nvGraphicFramePr>
        <p:xfrm>
          <a:off x="5651500" y="3754438"/>
          <a:ext cx="414338" cy="647700"/>
        </p:xfrm>
        <a:graphic>
          <a:graphicData uri="http://schemas.openxmlformats.org/presentationml/2006/ole">
            <mc:AlternateContent xmlns:mc="http://schemas.openxmlformats.org/markup-compatibility/2006">
              <mc:Choice xmlns:v="urn:schemas-microsoft-com:vml" Requires="v">
                <p:oleObj name="Equation" r:id="rId7" imgW="279279" imgH="393529" progId="Equation.DSMT4">
                  <p:embed/>
                </p:oleObj>
              </mc:Choice>
              <mc:Fallback>
                <p:oleObj name="Equation" r:id="rId7" imgW="279279" imgH="393529" progId="Equation.DSMT4">
                  <p:embed/>
                  <p:pic>
                    <p:nvPicPr>
                      <p:cNvPr id="17413" name="Object 3">
                        <a:extLst>
                          <a:ext uri="{FF2B5EF4-FFF2-40B4-BE49-F238E27FC236}">
                            <a16:creationId xmlns:a16="http://schemas.microsoft.com/office/drawing/2014/main" id="{9C7D0E41-5954-44CF-9C1E-D0E4A97D1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500" y="3754438"/>
                        <a:ext cx="4143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6E84BE76-FB52-4A8B-B2B2-45D98CB873DB}"/>
              </a:ext>
            </a:extLst>
          </p:cNvPr>
          <p:cNvSpPr>
            <a:spLocks noGrp="1" noChangeArrowheads="1"/>
          </p:cNvSpPr>
          <p:nvPr>
            <p:ph type="body" sz="half" idx="1"/>
          </p:nvPr>
        </p:nvSpPr>
        <p:spPr>
          <a:xfrm>
            <a:off x="395288" y="333375"/>
            <a:ext cx="7777162" cy="6264275"/>
          </a:xfrm>
        </p:spPr>
        <p:txBody>
          <a:bodyPr/>
          <a:lstStyle/>
          <a:p>
            <a:pPr eaLnBrk="1" hangingPunct="1">
              <a:lnSpc>
                <a:spcPct val="90000"/>
              </a:lnSpc>
              <a:buFontTx/>
              <a:buNone/>
            </a:pPr>
            <a:endParaRPr lang="en-US" altLang="zh-CN" sz="2400">
              <a:latin typeface="Times New Roman" panose="02020603050405020304" pitchFamily="18" charset="0"/>
            </a:endParaRPr>
          </a:p>
          <a:p>
            <a:pPr eaLnBrk="1" hangingPunct="1">
              <a:lnSpc>
                <a:spcPct val="90000"/>
              </a:lnSpc>
            </a:pPr>
            <a:r>
              <a:rPr lang="en-US" altLang="zh-CN" sz="2400">
                <a:latin typeface="Times New Roman" panose="02020603050405020304" pitchFamily="18" charset="0"/>
              </a:rPr>
              <a:t>ICOR = COR if COR is constant.</a:t>
            </a:r>
          </a:p>
          <a:p>
            <a:pPr lvl="1" eaLnBrk="1" hangingPunct="1">
              <a:lnSpc>
                <a:spcPct val="90000"/>
              </a:lnSpc>
              <a:buFontTx/>
              <a:buNone/>
            </a:pPr>
            <a:r>
              <a:rPr lang="en-US" altLang="zh-CN" sz="2000">
                <a:latin typeface="Times New Roman" panose="02020603050405020304" pitchFamily="18" charset="0"/>
              </a:rPr>
              <a:t>                 </a:t>
            </a:r>
            <a:endParaRPr lang="en-US" altLang="zh-CN" sz="3200">
              <a:latin typeface="Times New Roman" panose="02020603050405020304" pitchFamily="18" charset="0"/>
              <a:cs typeface="Times New Roman" panose="02020603050405020304" pitchFamily="18" charset="0"/>
            </a:endParaRPr>
          </a:p>
          <a:p>
            <a:pPr lvl="1" eaLnBrk="1" hangingPunct="1">
              <a:lnSpc>
                <a:spcPct val="90000"/>
              </a:lnSpc>
              <a:buFontTx/>
              <a:buNone/>
            </a:pPr>
            <a:r>
              <a:rPr lang="en-US" altLang="zh-CN" sz="3200">
                <a:latin typeface="Times New Roman" panose="02020603050405020304" pitchFamily="18" charset="0"/>
                <a:cs typeface="Times New Roman" panose="02020603050405020304" pitchFamily="18" charset="0"/>
              </a:rPr>
              <a:t> </a:t>
            </a:r>
            <a:r>
              <a:rPr lang="en-US" altLang="zh-CN" sz="2000">
                <a:latin typeface="Times New Roman" panose="02020603050405020304" pitchFamily="18" charset="0"/>
                <a:cs typeface="Times New Roman" panose="02020603050405020304" pitchFamily="18" charset="0"/>
              </a:rPr>
              <a:t>Capital-output ratio, C</a:t>
            </a:r>
            <a:endParaRPr lang="en-US" altLang="zh-CN" sz="2000">
              <a:latin typeface="Times New Roman" panose="02020603050405020304" pitchFamily="18" charset="0"/>
            </a:endParaRPr>
          </a:p>
          <a:p>
            <a:pPr lvl="1" eaLnBrk="1" hangingPunct="1">
              <a:lnSpc>
                <a:spcPct val="90000"/>
              </a:lnSpc>
              <a:buFontTx/>
              <a:buNone/>
            </a:pPr>
            <a:r>
              <a:rPr lang="en-US" altLang="zh-CN" sz="2000">
                <a:latin typeface="Times New Roman" panose="02020603050405020304" pitchFamily="18" charset="0"/>
              </a:rPr>
              <a:t>                  </a:t>
            </a:r>
            <a:endParaRPr lang="en-US" altLang="zh-CN" sz="3200">
              <a:latin typeface="Times New Roman" panose="02020603050405020304" pitchFamily="18" charset="0"/>
              <a:cs typeface="Times New Roman" panose="02020603050405020304" pitchFamily="18" charset="0"/>
            </a:endParaRPr>
          </a:p>
          <a:p>
            <a:pPr lvl="1" eaLnBrk="1" hangingPunct="1">
              <a:lnSpc>
                <a:spcPct val="90000"/>
              </a:lnSpc>
              <a:buFontTx/>
              <a:buNone/>
            </a:pPr>
            <a:r>
              <a:rPr lang="en-US" altLang="zh-CN" sz="3200">
                <a:latin typeface="Times New Roman" panose="02020603050405020304" pitchFamily="18" charset="0"/>
              </a:rPr>
              <a:t>         </a:t>
            </a:r>
          </a:p>
          <a:p>
            <a:pPr lvl="1" eaLnBrk="1" hangingPunct="1">
              <a:lnSpc>
                <a:spcPct val="90000"/>
              </a:lnSpc>
            </a:pPr>
            <a:endParaRPr lang="en-US" altLang="zh-CN" sz="2000">
              <a:latin typeface="Times New Roman" panose="02020603050405020304" pitchFamily="18" charset="0"/>
            </a:endParaRPr>
          </a:p>
          <a:p>
            <a:pPr lvl="1" eaLnBrk="1" hangingPunct="1">
              <a:lnSpc>
                <a:spcPct val="90000"/>
              </a:lnSpc>
            </a:pPr>
            <a:endParaRPr lang="en-US" altLang="zh-CN" sz="2000"/>
          </a:p>
          <a:p>
            <a:pPr lvl="1" eaLnBrk="1" hangingPunct="1">
              <a:lnSpc>
                <a:spcPct val="90000"/>
              </a:lnSpc>
            </a:pPr>
            <a:r>
              <a:rPr lang="en-US" altLang="zh-CN" sz="2400">
                <a:latin typeface="Times New Roman" panose="02020603050405020304" pitchFamily="18" charset="0"/>
              </a:rPr>
              <a:t>Example:</a:t>
            </a:r>
          </a:p>
          <a:p>
            <a:pPr eaLnBrk="1" hangingPunct="1">
              <a:lnSpc>
                <a:spcPct val="90000"/>
              </a:lnSpc>
              <a:buFontTx/>
              <a:buNone/>
            </a:pPr>
            <a:r>
              <a:rPr lang="en-US" altLang="zh-CN" sz="2800">
                <a:latin typeface="Times New Roman" panose="02020603050405020304" pitchFamily="18" charset="0"/>
              </a:rPr>
              <a:t>                   </a:t>
            </a:r>
            <a:r>
              <a:rPr lang="en-US" altLang="zh-CN" sz="2400">
                <a:latin typeface="Times New Roman" panose="02020603050405020304" pitchFamily="18" charset="0"/>
              </a:rPr>
              <a:t>K = 3,000, Y = 1,000, </a:t>
            </a:r>
            <a:r>
              <a:rPr lang="el-GR" altLang="zh-CN" sz="2400">
                <a:latin typeface="Times New Roman" panose="02020603050405020304" pitchFamily="18" charset="0"/>
                <a:cs typeface="Times New Roman" panose="02020603050405020304" pitchFamily="18" charset="0"/>
              </a:rPr>
              <a:t>Δ</a:t>
            </a:r>
            <a:r>
              <a:rPr lang="en-US" altLang="zh-CN" sz="2400">
                <a:latin typeface="Times New Roman" panose="02020603050405020304" pitchFamily="18" charset="0"/>
                <a:cs typeface="Times New Roman" panose="02020603050405020304" pitchFamily="18" charset="0"/>
              </a:rPr>
              <a:t>K</a:t>
            </a:r>
            <a:r>
              <a:rPr lang="en-US" altLang="zh-CN" sz="2000">
                <a:latin typeface="Times New Roman" panose="02020603050405020304" pitchFamily="18" charset="0"/>
                <a:cs typeface="Times New Roman" panose="02020603050405020304" pitchFamily="18" charset="0"/>
              </a:rPr>
              <a:t> = </a:t>
            </a:r>
            <a:r>
              <a:rPr lang="en-US" altLang="zh-CN" sz="2400">
                <a:latin typeface="Times New Roman" panose="02020603050405020304" pitchFamily="18" charset="0"/>
                <a:cs typeface="Times New Roman" panose="02020603050405020304" pitchFamily="18" charset="0"/>
              </a:rPr>
              <a:t>300,</a:t>
            </a:r>
            <a:r>
              <a:rPr lang="en-US" altLang="zh-CN" sz="2000">
                <a:latin typeface="Times New Roman" panose="02020603050405020304" pitchFamily="18" charset="0"/>
                <a:cs typeface="Times New Roman" panose="02020603050405020304" pitchFamily="18" charset="0"/>
              </a:rPr>
              <a:t> </a:t>
            </a:r>
            <a:r>
              <a:rPr lang="el-GR" altLang="zh-CN" sz="2400">
                <a:latin typeface="Times New Roman" panose="02020603050405020304" pitchFamily="18" charset="0"/>
                <a:cs typeface="Times New Roman" panose="02020603050405020304" pitchFamily="18" charset="0"/>
              </a:rPr>
              <a:t>Δ</a:t>
            </a:r>
            <a:r>
              <a:rPr lang="en-US" altLang="zh-CN" sz="2400">
                <a:latin typeface="Times New Roman" panose="02020603050405020304" pitchFamily="18" charset="0"/>
                <a:cs typeface="Times New Roman" panose="02020603050405020304" pitchFamily="18" charset="0"/>
              </a:rPr>
              <a:t>Y = 100</a:t>
            </a:r>
          </a:p>
          <a:p>
            <a:pPr eaLnBrk="1" hangingPunct="1">
              <a:lnSpc>
                <a:spcPct val="90000"/>
              </a:lnSpc>
              <a:buFontTx/>
              <a:buNone/>
            </a:pPr>
            <a:endParaRPr lang="en-US" altLang="zh-CN" sz="2400">
              <a:latin typeface="Times New Roman" panose="02020603050405020304" pitchFamily="18" charset="0"/>
              <a:cs typeface="Times New Roman" panose="02020603050405020304" pitchFamily="18" charset="0"/>
            </a:endParaRPr>
          </a:p>
        </p:txBody>
      </p:sp>
      <p:graphicFrame>
        <p:nvGraphicFramePr>
          <p:cNvPr id="18435" name="Object 8">
            <a:extLst>
              <a:ext uri="{FF2B5EF4-FFF2-40B4-BE49-F238E27FC236}">
                <a16:creationId xmlns:a16="http://schemas.microsoft.com/office/drawing/2014/main" id="{471D3922-1A29-4B29-8CB8-7D5F69AF3CFA}"/>
              </a:ext>
            </a:extLst>
          </p:cNvPr>
          <p:cNvGraphicFramePr>
            <a:graphicFrameLocks noGrp="1" noChangeAspect="1"/>
          </p:cNvGraphicFramePr>
          <p:nvPr>
            <p:ph sz="quarter" idx="2"/>
          </p:nvPr>
        </p:nvGraphicFramePr>
        <p:xfrm>
          <a:off x="1763713" y="2276475"/>
          <a:ext cx="792162" cy="681038"/>
        </p:xfrm>
        <a:graphic>
          <a:graphicData uri="http://schemas.openxmlformats.org/presentationml/2006/ole">
            <mc:AlternateContent xmlns:mc="http://schemas.openxmlformats.org/markup-compatibility/2006">
              <mc:Choice xmlns:v="urn:schemas-microsoft-com:vml" Requires="v">
                <p:oleObj name="Equation" r:id="rId2" imgW="457002" imgH="393529" progId="Equation.DSMT4">
                  <p:embed/>
                </p:oleObj>
              </mc:Choice>
              <mc:Fallback>
                <p:oleObj name="Equation" r:id="rId2" imgW="457002" imgH="393529" progId="Equation.DSMT4">
                  <p:embed/>
                  <p:pic>
                    <p:nvPicPr>
                      <p:cNvPr id="18435" name="Object 8">
                        <a:extLst>
                          <a:ext uri="{FF2B5EF4-FFF2-40B4-BE49-F238E27FC236}">
                            <a16:creationId xmlns:a16="http://schemas.microsoft.com/office/drawing/2014/main" id="{471D3922-1A29-4B29-8CB8-7D5F69AF3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2276475"/>
                        <a:ext cx="792162"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6" name="Object 9">
            <a:extLst>
              <a:ext uri="{FF2B5EF4-FFF2-40B4-BE49-F238E27FC236}">
                <a16:creationId xmlns:a16="http://schemas.microsoft.com/office/drawing/2014/main" id="{3C4FD183-D9D2-4F51-AD81-F733D16ACF4C}"/>
              </a:ext>
            </a:extLst>
          </p:cNvPr>
          <p:cNvGraphicFramePr>
            <a:graphicFrameLocks noGrp="1" noChangeAspect="1"/>
          </p:cNvGraphicFramePr>
          <p:nvPr>
            <p:ph sz="quarter" idx="3"/>
          </p:nvPr>
        </p:nvGraphicFramePr>
        <p:xfrm>
          <a:off x="2627313" y="2492375"/>
          <a:ext cx="358775" cy="287338"/>
        </p:xfrm>
        <a:graphic>
          <a:graphicData uri="http://schemas.openxmlformats.org/presentationml/2006/ole">
            <mc:AlternateContent xmlns:mc="http://schemas.openxmlformats.org/markup-compatibility/2006">
              <mc:Choice xmlns:v="urn:schemas-microsoft-com:vml" Requires="v">
                <p:oleObj name="Equation" r:id="rId4" imgW="190417" imgH="152334" progId="Equation.DSMT4">
                  <p:embed/>
                </p:oleObj>
              </mc:Choice>
              <mc:Fallback>
                <p:oleObj name="Equation" r:id="rId4" imgW="190417" imgH="152334" progId="Equation.DSMT4">
                  <p:embed/>
                  <p:pic>
                    <p:nvPicPr>
                      <p:cNvPr id="18436" name="Object 9">
                        <a:extLst>
                          <a:ext uri="{FF2B5EF4-FFF2-40B4-BE49-F238E27FC236}">
                            <a16:creationId xmlns:a16="http://schemas.microsoft.com/office/drawing/2014/main" id="{3C4FD183-D9D2-4F51-AD81-F733D16ACF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2492375"/>
                        <a:ext cx="35877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7" name="Object 2">
            <a:extLst>
              <a:ext uri="{FF2B5EF4-FFF2-40B4-BE49-F238E27FC236}">
                <a16:creationId xmlns:a16="http://schemas.microsoft.com/office/drawing/2014/main" id="{22B7258E-60BA-43AB-867F-2F5CCA063A97}"/>
              </a:ext>
            </a:extLst>
          </p:cNvPr>
          <p:cNvGraphicFramePr>
            <a:graphicFrameLocks noChangeAspect="1"/>
          </p:cNvGraphicFramePr>
          <p:nvPr/>
        </p:nvGraphicFramePr>
        <p:xfrm>
          <a:off x="3132138" y="2276475"/>
          <a:ext cx="792162" cy="701675"/>
        </p:xfrm>
        <a:graphic>
          <a:graphicData uri="http://schemas.openxmlformats.org/presentationml/2006/ole">
            <mc:AlternateContent xmlns:mc="http://schemas.openxmlformats.org/markup-compatibility/2006">
              <mc:Choice xmlns:v="urn:schemas-microsoft-com:vml" Requires="v">
                <p:oleObj name="Equation" r:id="rId6" imgW="444307" imgH="393529" progId="Equation.DSMT4">
                  <p:embed/>
                </p:oleObj>
              </mc:Choice>
              <mc:Fallback>
                <p:oleObj name="Equation" r:id="rId6" imgW="444307" imgH="393529" progId="Equation.DSMT4">
                  <p:embed/>
                  <p:pic>
                    <p:nvPicPr>
                      <p:cNvPr id="18437" name="Object 2">
                        <a:extLst>
                          <a:ext uri="{FF2B5EF4-FFF2-40B4-BE49-F238E27FC236}">
                            <a16:creationId xmlns:a16="http://schemas.microsoft.com/office/drawing/2014/main" id="{22B7258E-60BA-43AB-867F-2F5CCA063A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2276475"/>
                        <a:ext cx="7921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8" name="Object 3">
            <a:extLst>
              <a:ext uri="{FF2B5EF4-FFF2-40B4-BE49-F238E27FC236}">
                <a16:creationId xmlns:a16="http://schemas.microsoft.com/office/drawing/2014/main" id="{33A31113-FBAA-40D1-8017-E48C34CC4772}"/>
              </a:ext>
            </a:extLst>
          </p:cNvPr>
          <p:cNvGraphicFramePr>
            <a:graphicFrameLocks noChangeAspect="1"/>
          </p:cNvGraphicFramePr>
          <p:nvPr/>
        </p:nvGraphicFramePr>
        <p:xfrm>
          <a:off x="4643438" y="2276475"/>
          <a:ext cx="1066800" cy="661988"/>
        </p:xfrm>
        <a:graphic>
          <a:graphicData uri="http://schemas.openxmlformats.org/presentationml/2006/ole">
            <mc:AlternateContent xmlns:mc="http://schemas.openxmlformats.org/markup-compatibility/2006">
              <mc:Choice xmlns:v="urn:schemas-microsoft-com:vml" Requires="v">
                <p:oleObj name="Equation" r:id="rId8" imgW="634725" imgH="393529" progId="Equation.DSMT4">
                  <p:embed/>
                </p:oleObj>
              </mc:Choice>
              <mc:Fallback>
                <p:oleObj name="Equation" r:id="rId8" imgW="634725" imgH="393529" progId="Equation.DSMT4">
                  <p:embed/>
                  <p:pic>
                    <p:nvPicPr>
                      <p:cNvPr id="18438" name="Object 3">
                        <a:extLst>
                          <a:ext uri="{FF2B5EF4-FFF2-40B4-BE49-F238E27FC236}">
                            <a16:creationId xmlns:a16="http://schemas.microsoft.com/office/drawing/2014/main" id="{33A31113-FBAA-40D1-8017-E48C34CC47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3438" y="2276475"/>
                        <a:ext cx="1066800"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9" name="Object 6">
            <a:extLst>
              <a:ext uri="{FF2B5EF4-FFF2-40B4-BE49-F238E27FC236}">
                <a16:creationId xmlns:a16="http://schemas.microsoft.com/office/drawing/2014/main" id="{EFDE09BA-4DB8-4F69-8F89-C2D35DA0E43F}"/>
              </a:ext>
            </a:extLst>
          </p:cNvPr>
          <p:cNvGraphicFramePr>
            <a:graphicFrameLocks noChangeAspect="1"/>
          </p:cNvGraphicFramePr>
          <p:nvPr/>
        </p:nvGraphicFramePr>
        <p:xfrm>
          <a:off x="3132138" y="2924175"/>
          <a:ext cx="936625" cy="676275"/>
        </p:xfrm>
        <a:graphic>
          <a:graphicData uri="http://schemas.openxmlformats.org/presentationml/2006/ole">
            <mc:AlternateContent xmlns:mc="http://schemas.openxmlformats.org/markup-compatibility/2006">
              <mc:Choice xmlns:v="urn:schemas-microsoft-com:vml" Requires="v">
                <p:oleObj name="Equation" r:id="rId10" imgW="545863" imgH="393529" progId="Equation.DSMT4">
                  <p:embed/>
                </p:oleObj>
              </mc:Choice>
              <mc:Fallback>
                <p:oleObj name="Equation" r:id="rId10" imgW="545863" imgH="393529" progId="Equation.DSMT4">
                  <p:embed/>
                  <p:pic>
                    <p:nvPicPr>
                      <p:cNvPr id="18439" name="Object 6">
                        <a:extLst>
                          <a:ext uri="{FF2B5EF4-FFF2-40B4-BE49-F238E27FC236}">
                            <a16:creationId xmlns:a16="http://schemas.microsoft.com/office/drawing/2014/main" id="{EFDE09BA-4DB8-4F69-8F89-C2D35DA0E4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2138" y="2924175"/>
                        <a:ext cx="9366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0" name="Object 5">
            <a:extLst>
              <a:ext uri="{FF2B5EF4-FFF2-40B4-BE49-F238E27FC236}">
                <a16:creationId xmlns:a16="http://schemas.microsoft.com/office/drawing/2014/main" id="{587F9AD4-B895-4977-ADB7-4FFFF8856388}"/>
              </a:ext>
            </a:extLst>
          </p:cNvPr>
          <p:cNvGraphicFramePr>
            <a:graphicFrameLocks noChangeAspect="1"/>
          </p:cNvGraphicFramePr>
          <p:nvPr/>
        </p:nvGraphicFramePr>
        <p:xfrm>
          <a:off x="2195513" y="4797425"/>
          <a:ext cx="2384425" cy="654050"/>
        </p:xfrm>
        <a:graphic>
          <a:graphicData uri="http://schemas.openxmlformats.org/presentationml/2006/ole">
            <mc:AlternateContent xmlns:mc="http://schemas.openxmlformats.org/markup-compatibility/2006">
              <mc:Choice xmlns:v="urn:schemas-microsoft-com:vml" Requires="v">
                <p:oleObj name="Equation" r:id="rId12" imgW="1435100" imgH="393700" progId="Equation.DSMT4">
                  <p:embed/>
                </p:oleObj>
              </mc:Choice>
              <mc:Fallback>
                <p:oleObj name="Equation" r:id="rId12" imgW="1435100" imgH="393700" progId="Equation.DSMT4">
                  <p:embed/>
                  <p:pic>
                    <p:nvPicPr>
                      <p:cNvPr id="18440" name="Object 5">
                        <a:extLst>
                          <a:ext uri="{FF2B5EF4-FFF2-40B4-BE49-F238E27FC236}">
                            <a16:creationId xmlns:a16="http://schemas.microsoft.com/office/drawing/2014/main" id="{587F9AD4-B895-4977-ADB7-4FFFF885638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5513" y="4797425"/>
                        <a:ext cx="23844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1" name="Object 15">
            <a:extLst>
              <a:ext uri="{FF2B5EF4-FFF2-40B4-BE49-F238E27FC236}">
                <a16:creationId xmlns:a16="http://schemas.microsoft.com/office/drawing/2014/main" id="{5070854D-B489-43B8-A975-C96B386E4A5D}"/>
              </a:ext>
            </a:extLst>
          </p:cNvPr>
          <p:cNvGraphicFramePr>
            <a:graphicFrameLocks noChangeAspect="1"/>
          </p:cNvGraphicFramePr>
          <p:nvPr/>
        </p:nvGraphicFramePr>
        <p:xfrm>
          <a:off x="4140200" y="2492375"/>
          <a:ext cx="358775" cy="287338"/>
        </p:xfrm>
        <a:graphic>
          <a:graphicData uri="http://schemas.openxmlformats.org/presentationml/2006/ole">
            <mc:AlternateContent xmlns:mc="http://schemas.openxmlformats.org/markup-compatibility/2006">
              <mc:Choice xmlns:v="urn:schemas-microsoft-com:vml" Requires="v">
                <p:oleObj name="Equation" r:id="rId4" imgW="190417" imgH="152334" progId="Equation.DSMT4">
                  <p:embed/>
                </p:oleObj>
              </mc:Choice>
              <mc:Fallback>
                <p:oleObj name="Equation" r:id="rId4" imgW="190417" imgH="152334" progId="Equation.DSMT4">
                  <p:embed/>
                  <p:pic>
                    <p:nvPicPr>
                      <p:cNvPr id="18441" name="Object 15">
                        <a:extLst>
                          <a:ext uri="{FF2B5EF4-FFF2-40B4-BE49-F238E27FC236}">
                            <a16:creationId xmlns:a16="http://schemas.microsoft.com/office/drawing/2014/main" id="{5070854D-B489-43B8-A975-C96B386E4A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0200" y="2492375"/>
                        <a:ext cx="35877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2" name="Object 16">
            <a:extLst>
              <a:ext uri="{FF2B5EF4-FFF2-40B4-BE49-F238E27FC236}">
                <a16:creationId xmlns:a16="http://schemas.microsoft.com/office/drawing/2014/main" id="{41085BCE-8ADF-48FC-AB7D-55CBF62E89E5}"/>
              </a:ext>
            </a:extLst>
          </p:cNvPr>
          <p:cNvGraphicFramePr>
            <a:graphicFrameLocks noChangeAspect="1"/>
          </p:cNvGraphicFramePr>
          <p:nvPr/>
        </p:nvGraphicFramePr>
        <p:xfrm>
          <a:off x="2627313" y="3141663"/>
          <a:ext cx="358775" cy="287337"/>
        </p:xfrm>
        <a:graphic>
          <a:graphicData uri="http://schemas.openxmlformats.org/presentationml/2006/ole">
            <mc:AlternateContent xmlns:mc="http://schemas.openxmlformats.org/markup-compatibility/2006">
              <mc:Choice xmlns:v="urn:schemas-microsoft-com:vml" Requires="v">
                <p:oleObj name="Equation" r:id="rId4" imgW="190417" imgH="152334" progId="Equation.DSMT4">
                  <p:embed/>
                </p:oleObj>
              </mc:Choice>
              <mc:Fallback>
                <p:oleObj name="Equation" r:id="rId4" imgW="190417" imgH="152334" progId="Equation.DSMT4">
                  <p:embed/>
                  <p:pic>
                    <p:nvPicPr>
                      <p:cNvPr id="18442" name="Object 16">
                        <a:extLst>
                          <a:ext uri="{FF2B5EF4-FFF2-40B4-BE49-F238E27FC236}">
                            <a16:creationId xmlns:a16="http://schemas.microsoft.com/office/drawing/2014/main" id="{41085BCE-8ADF-48FC-AB7D-55CBF62E89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3141663"/>
                        <a:ext cx="35877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512AA556-3116-4C8E-AD97-D9B9FEFB7AA5}"/>
              </a:ext>
            </a:extLst>
          </p:cNvPr>
          <p:cNvSpPr>
            <a:spLocks noGrp="1" noChangeArrowheads="1"/>
          </p:cNvSpPr>
          <p:nvPr>
            <p:ph type="body" sz="half" idx="1"/>
          </p:nvPr>
        </p:nvSpPr>
        <p:spPr>
          <a:xfrm>
            <a:off x="357188" y="214313"/>
            <a:ext cx="8137525" cy="6192837"/>
          </a:xfrm>
        </p:spPr>
        <p:txBody>
          <a:bodyPr/>
          <a:lstStyle/>
          <a:p>
            <a:pPr eaLnBrk="1" hangingPunct="1"/>
            <a:r>
              <a:rPr lang="en-US" altLang="zh-CN" sz="2800">
                <a:latin typeface="Times New Roman" panose="02020603050405020304" pitchFamily="18" charset="0"/>
              </a:rPr>
              <a:t>Production functions consistent with constant capital-output ratio:</a:t>
            </a:r>
          </a:p>
          <a:p>
            <a:pPr eaLnBrk="1" hangingPunct="1">
              <a:buFontTx/>
              <a:buNone/>
            </a:pPr>
            <a:r>
              <a:rPr lang="en-US" altLang="zh-CN" sz="2800">
                <a:latin typeface="Times New Roman" panose="02020603050405020304" pitchFamily="18" charset="0"/>
              </a:rPr>
              <a:t>     1.                  (For Example, C = 3)</a:t>
            </a:r>
          </a:p>
          <a:p>
            <a:pPr eaLnBrk="1" hangingPunct="1">
              <a:buFontTx/>
              <a:buNone/>
            </a:pPr>
            <a:r>
              <a:rPr lang="en-US" altLang="zh-CN" sz="2800">
                <a:latin typeface="Times New Roman" panose="02020603050405020304" pitchFamily="18" charset="0"/>
              </a:rPr>
              <a:t>       </a:t>
            </a:r>
          </a:p>
          <a:p>
            <a:pPr eaLnBrk="1" hangingPunct="1">
              <a:buFontTx/>
              <a:buNone/>
            </a:pPr>
            <a:r>
              <a:rPr lang="en-US" altLang="zh-CN" sz="2800">
                <a:latin typeface="Times New Roman" panose="02020603050405020304" pitchFamily="18" charset="0"/>
              </a:rPr>
              <a:t>     2.                              , L is labor, a=b=0.5 constant</a:t>
            </a:r>
            <a:endParaRPr lang="en-US" altLang="zh-CN" sz="2800"/>
          </a:p>
          <a:p>
            <a:pPr lvl="1" eaLnBrk="1" hangingPunct="1"/>
            <a:r>
              <a:rPr lang="en-US" altLang="zh-CN">
                <a:latin typeface="Times New Roman" panose="02020603050405020304" pitchFamily="18" charset="0"/>
              </a:rPr>
              <a:t>Example:</a:t>
            </a:r>
          </a:p>
          <a:p>
            <a:pPr eaLnBrk="1" hangingPunct="1">
              <a:buFontTx/>
              <a:buNone/>
            </a:pPr>
            <a:endParaRPr lang="en-US" altLang="zh-CN" sz="2800">
              <a:latin typeface="Times New Roman" panose="02020603050405020304" pitchFamily="18" charset="0"/>
            </a:endParaRPr>
          </a:p>
          <a:p>
            <a:pPr eaLnBrk="1" hangingPunct="1">
              <a:buFontTx/>
              <a:buNone/>
            </a:pPr>
            <a:r>
              <a:rPr lang="en-US" altLang="zh-CN" sz="2800">
                <a:latin typeface="Times New Roman" panose="02020603050405020304" pitchFamily="18" charset="0"/>
              </a:rPr>
              <a:t>     </a:t>
            </a:r>
          </a:p>
          <a:p>
            <a:pPr eaLnBrk="1" hangingPunct="1">
              <a:buFontTx/>
              <a:buNone/>
            </a:pPr>
            <a:endParaRPr lang="en-US" altLang="zh-CN" sz="2800">
              <a:latin typeface="Times New Roman" panose="02020603050405020304" pitchFamily="18" charset="0"/>
            </a:endParaRPr>
          </a:p>
        </p:txBody>
      </p:sp>
      <p:graphicFrame>
        <p:nvGraphicFramePr>
          <p:cNvPr id="19459" name="Object 2">
            <a:extLst>
              <a:ext uri="{FF2B5EF4-FFF2-40B4-BE49-F238E27FC236}">
                <a16:creationId xmlns:a16="http://schemas.microsoft.com/office/drawing/2014/main" id="{C9B78A3E-0D4E-4BB8-9B0A-A94A6E4CC972}"/>
              </a:ext>
            </a:extLst>
          </p:cNvPr>
          <p:cNvGraphicFramePr>
            <a:graphicFrameLocks noGrp="1" noChangeAspect="1"/>
          </p:cNvGraphicFramePr>
          <p:nvPr>
            <p:ph sz="quarter" idx="2"/>
          </p:nvPr>
        </p:nvGraphicFramePr>
        <p:xfrm>
          <a:off x="1331913" y="1052513"/>
          <a:ext cx="1079500" cy="830262"/>
        </p:xfrm>
        <a:graphic>
          <a:graphicData uri="http://schemas.openxmlformats.org/presentationml/2006/ole">
            <mc:AlternateContent xmlns:mc="http://schemas.openxmlformats.org/markup-compatibility/2006">
              <mc:Choice xmlns:v="urn:schemas-microsoft-com:vml" Requires="v">
                <p:oleObj name="Equation" r:id="rId2" imgW="444307" imgH="393529" progId="Equation.DSMT4">
                  <p:embed/>
                </p:oleObj>
              </mc:Choice>
              <mc:Fallback>
                <p:oleObj name="Equation" r:id="rId2" imgW="444307" imgH="393529" progId="Equation.DSMT4">
                  <p:embed/>
                  <p:pic>
                    <p:nvPicPr>
                      <p:cNvPr id="19459" name="Object 2">
                        <a:extLst>
                          <a:ext uri="{FF2B5EF4-FFF2-40B4-BE49-F238E27FC236}">
                            <a16:creationId xmlns:a16="http://schemas.microsoft.com/office/drawing/2014/main" id="{C9B78A3E-0D4E-4BB8-9B0A-A94A6E4CC9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052513"/>
                        <a:ext cx="10795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0" name="Object 9">
            <a:extLst>
              <a:ext uri="{FF2B5EF4-FFF2-40B4-BE49-F238E27FC236}">
                <a16:creationId xmlns:a16="http://schemas.microsoft.com/office/drawing/2014/main" id="{14F1B3CA-66D6-4FB1-A5B6-D7CBE189AC99}"/>
              </a:ext>
            </a:extLst>
          </p:cNvPr>
          <p:cNvGraphicFramePr>
            <a:graphicFrameLocks noGrp="1" noChangeAspect="1"/>
          </p:cNvGraphicFramePr>
          <p:nvPr>
            <p:ph sz="quarter" idx="3"/>
          </p:nvPr>
        </p:nvGraphicFramePr>
        <p:xfrm>
          <a:off x="1258888" y="2205038"/>
          <a:ext cx="2592387" cy="601662"/>
        </p:xfrm>
        <a:graphic>
          <a:graphicData uri="http://schemas.openxmlformats.org/presentationml/2006/ole">
            <mc:AlternateContent xmlns:mc="http://schemas.openxmlformats.org/markup-compatibility/2006">
              <mc:Choice xmlns:v="urn:schemas-microsoft-com:vml" Requires="v">
                <p:oleObj name="Equation" r:id="rId4" imgW="1091726" imgH="253890" progId="Equation.DSMT4">
                  <p:embed/>
                </p:oleObj>
              </mc:Choice>
              <mc:Fallback>
                <p:oleObj name="Equation" r:id="rId4" imgW="1091726" imgH="253890" progId="Equation.DSMT4">
                  <p:embed/>
                  <p:pic>
                    <p:nvPicPr>
                      <p:cNvPr id="19460" name="Object 9">
                        <a:extLst>
                          <a:ext uri="{FF2B5EF4-FFF2-40B4-BE49-F238E27FC236}">
                            <a16:creationId xmlns:a16="http://schemas.microsoft.com/office/drawing/2014/main" id="{14F1B3CA-66D6-4FB1-A5B6-D7CBE189AC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205038"/>
                        <a:ext cx="2592387" cy="60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1" name="Object 11">
            <a:extLst>
              <a:ext uri="{FF2B5EF4-FFF2-40B4-BE49-F238E27FC236}">
                <a16:creationId xmlns:a16="http://schemas.microsoft.com/office/drawing/2014/main" id="{1E090017-74E0-481D-A071-1C49390ECA09}"/>
              </a:ext>
            </a:extLst>
          </p:cNvPr>
          <p:cNvGraphicFramePr>
            <a:graphicFrameLocks noChangeAspect="1"/>
          </p:cNvGraphicFramePr>
          <p:nvPr/>
        </p:nvGraphicFramePr>
        <p:xfrm>
          <a:off x="7235825" y="4221163"/>
          <a:ext cx="1244600" cy="254000"/>
        </p:xfrm>
        <a:graphic>
          <a:graphicData uri="http://schemas.openxmlformats.org/presentationml/2006/ole">
            <mc:AlternateContent xmlns:mc="http://schemas.openxmlformats.org/markup-compatibility/2006">
              <mc:Choice xmlns:v="urn:schemas-microsoft-com:vml" Requires="v">
                <p:oleObj name="Equation" r:id="rId6" imgW="1244600" imgH="254000" progId="Equation.DSMT4">
                  <p:embed/>
                </p:oleObj>
              </mc:Choice>
              <mc:Fallback>
                <p:oleObj name="Equation" r:id="rId6" imgW="1244600" imgH="254000" progId="Equation.DSMT4">
                  <p:embed/>
                  <p:pic>
                    <p:nvPicPr>
                      <p:cNvPr id="19461" name="Object 11">
                        <a:extLst>
                          <a:ext uri="{FF2B5EF4-FFF2-40B4-BE49-F238E27FC236}">
                            <a16:creationId xmlns:a16="http://schemas.microsoft.com/office/drawing/2014/main" id="{1E090017-74E0-481D-A071-1C49390ECA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5825" y="4221163"/>
                        <a:ext cx="12446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2" name="Object 12">
            <a:extLst>
              <a:ext uri="{FF2B5EF4-FFF2-40B4-BE49-F238E27FC236}">
                <a16:creationId xmlns:a16="http://schemas.microsoft.com/office/drawing/2014/main" id="{553ED46B-ABA8-48A6-9E1D-2DFD9FAAF857}"/>
              </a:ext>
            </a:extLst>
          </p:cNvPr>
          <p:cNvGraphicFramePr>
            <a:graphicFrameLocks noChangeAspect="1"/>
          </p:cNvGraphicFramePr>
          <p:nvPr/>
        </p:nvGraphicFramePr>
        <p:xfrm>
          <a:off x="7235825" y="4581525"/>
          <a:ext cx="1244600" cy="254000"/>
        </p:xfrm>
        <a:graphic>
          <a:graphicData uri="http://schemas.openxmlformats.org/presentationml/2006/ole">
            <mc:AlternateContent xmlns:mc="http://schemas.openxmlformats.org/markup-compatibility/2006">
              <mc:Choice xmlns:v="urn:schemas-microsoft-com:vml" Requires="v">
                <p:oleObj name="Equation" r:id="rId8" imgW="1244600" imgH="254000" progId="Equation.DSMT4">
                  <p:embed/>
                </p:oleObj>
              </mc:Choice>
              <mc:Fallback>
                <p:oleObj name="Equation" r:id="rId8" imgW="1244600" imgH="254000" progId="Equation.DSMT4">
                  <p:embed/>
                  <p:pic>
                    <p:nvPicPr>
                      <p:cNvPr id="19462" name="Object 12">
                        <a:extLst>
                          <a:ext uri="{FF2B5EF4-FFF2-40B4-BE49-F238E27FC236}">
                            <a16:creationId xmlns:a16="http://schemas.microsoft.com/office/drawing/2014/main" id="{553ED46B-ABA8-48A6-9E1D-2DFD9FAAF85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35825" y="4581525"/>
                        <a:ext cx="12446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3" name="Object 10">
            <a:extLst>
              <a:ext uri="{FF2B5EF4-FFF2-40B4-BE49-F238E27FC236}">
                <a16:creationId xmlns:a16="http://schemas.microsoft.com/office/drawing/2014/main" id="{DCC1B439-2A50-4E9D-9C27-AB4AFB4CE204}"/>
              </a:ext>
            </a:extLst>
          </p:cNvPr>
          <p:cNvGraphicFramePr>
            <a:graphicFrameLocks noChangeAspect="1"/>
          </p:cNvGraphicFramePr>
          <p:nvPr/>
        </p:nvGraphicFramePr>
        <p:xfrm>
          <a:off x="7235825" y="3860800"/>
          <a:ext cx="1225550" cy="250825"/>
        </p:xfrm>
        <a:graphic>
          <a:graphicData uri="http://schemas.openxmlformats.org/presentationml/2006/ole">
            <mc:AlternateContent xmlns:mc="http://schemas.openxmlformats.org/markup-compatibility/2006">
              <mc:Choice xmlns:v="urn:schemas-microsoft-com:vml" Requires="v">
                <p:oleObj name="Equation" r:id="rId10" imgW="1244600" imgH="254000" progId="Equation.DSMT4">
                  <p:embed/>
                </p:oleObj>
              </mc:Choice>
              <mc:Fallback>
                <p:oleObj name="Equation" r:id="rId10" imgW="1244600" imgH="254000" progId="Equation.DSMT4">
                  <p:embed/>
                  <p:pic>
                    <p:nvPicPr>
                      <p:cNvPr id="19463" name="Object 10">
                        <a:extLst>
                          <a:ext uri="{FF2B5EF4-FFF2-40B4-BE49-F238E27FC236}">
                            <a16:creationId xmlns:a16="http://schemas.microsoft.com/office/drawing/2014/main" id="{DCC1B439-2A50-4E9D-9C27-AB4AFB4CE20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35825" y="3860800"/>
                        <a:ext cx="1225550"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58" name="Group 142">
            <a:extLst>
              <a:ext uri="{FF2B5EF4-FFF2-40B4-BE49-F238E27FC236}">
                <a16:creationId xmlns:a16="http://schemas.microsoft.com/office/drawing/2014/main" id="{F5CED54A-2339-4818-BD1C-8208A64A1AE5}"/>
              </a:ext>
            </a:extLst>
          </p:cNvPr>
          <p:cNvGraphicFramePr>
            <a:graphicFrameLocks noGrp="1"/>
          </p:cNvGraphicFramePr>
          <p:nvPr/>
        </p:nvGraphicFramePr>
        <p:xfrm>
          <a:off x="4572000" y="3500438"/>
          <a:ext cx="2679700" cy="2346344"/>
        </p:xfrm>
        <a:graphic>
          <a:graphicData uri="http://schemas.openxmlformats.org/drawingml/2006/table">
            <a:tbl>
              <a:tblPr/>
              <a:tblGrid>
                <a:gridCol w="685800">
                  <a:extLst>
                    <a:ext uri="{9D8B030D-6E8A-4147-A177-3AD203B41FA5}">
                      <a16:colId xmlns:a16="http://schemas.microsoft.com/office/drawing/2014/main" val="20000"/>
                    </a:ext>
                  </a:extLst>
                </a:gridCol>
                <a:gridCol w="7747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K</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L</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Y</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A</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B</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A'</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B'</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6</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351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6</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76" marB="4567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9493" name="Line 144">
            <a:extLst>
              <a:ext uri="{FF2B5EF4-FFF2-40B4-BE49-F238E27FC236}">
                <a16:creationId xmlns:a16="http://schemas.microsoft.com/office/drawing/2014/main" id="{21B9C1CA-F10E-4298-B042-117D9C11609A}"/>
              </a:ext>
            </a:extLst>
          </p:cNvPr>
          <p:cNvSpPr>
            <a:spLocks noChangeShapeType="1"/>
          </p:cNvSpPr>
          <p:nvPr/>
        </p:nvSpPr>
        <p:spPr bwMode="auto">
          <a:xfrm>
            <a:off x="5724525" y="6092825"/>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94" name="Line 146">
            <a:extLst>
              <a:ext uri="{FF2B5EF4-FFF2-40B4-BE49-F238E27FC236}">
                <a16:creationId xmlns:a16="http://schemas.microsoft.com/office/drawing/2014/main" id="{FCE96C3B-98FF-4BF7-A823-7C8DDD071675}"/>
              </a:ext>
            </a:extLst>
          </p:cNvPr>
          <p:cNvSpPr>
            <a:spLocks noChangeShapeType="1"/>
          </p:cNvSpPr>
          <p:nvPr/>
        </p:nvSpPr>
        <p:spPr bwMode="auto">
          <a:xfrm flipV="1">
            <a:off x="857250" y="3500438"/>
            <a:ext cx="0" cy="22336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95" name="Line 147">
            <a:extLst>
              <a:ext uri="{FF2B5EF4-FFF2-40B4-BE49-F238E27FC236}">
                <a16:creationId xmlns:a16="http://schemas.microsoft.com/office/drawing/2014/main" id="{A024AC16-7D39-4A44-9B0C-462100913042}"/>
              </a:ext>
            </a:extLst>
          </p:cNvPr>
          <p:cNvSpPr>
            <a:spLocks noChangeShapeType="1"/>
          </p:cNvSpPr>
          <p:nvPr/>
        </p:nvSpPr>
        <p:spPr bwMode="auto">
          <a:xfrm>
            <a:off x="857250" y="5715000"/>
            <a:ext cx="25923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96" name="Line 149">
            <a:extLst>
              <a:ext uri="{FF2B5EF4-FFF2-40B4-BE49-F238E27FC236}">
                <a16:creationId xmlns:a16="http://schemas.microsoft.com/office/drawing/2014/main" id="{CBF9998B-64CD-45C8-BBCF-A59C75DBAB8C}"/>
              </a:ext>
            </a:extLst>
          </p:cNvPr>
          <p:cNvSpPr>
            <a:spLocks noChangeShapeType="1"/>
          </p:cNvSpPr>
          <p:nvPr/>
        </p:nvSpPr>
        <p:spPr bwMode="auto">
          <a:xfrm>
            <a:off x="827088" y="5300663"/>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7" name="Line 150">
            <a:extLst>
              <a:ext uri="{FF2B5EF4-FFF2-40B4-BE49-F238E27FC236}">
                <a16:creationId xmlns:a16="http://schemas.microsoft.com/office/drawing/2014/main" id="{3CD93567-9527-4E57-9769-030AF203A468}"/>
              </a:ext>
            </a:extLst>
          </p:cNvPr>
          <p:cNvSpPr>
            <a:spLocks noChangeShapeType="1"/>
          </p:cNvSpPr>
          <p:nvPr/>
        </p:nvSpPr>
        <p:spPr bwMode="auto">
          <a:xfrm>
            <a:off x="827088" y="5229225"/>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9378" name="Group 162">
            <a:extLst>
              <a:ext uri="{FF2B5EF4-FFF2-40B4-BE49-F238E27FC236}">
                <a16:creationId xmlns:a16="http://schemas.microsoft.com/office/drawing/2014/main" id="{7BFAE24E-0837-4C35-9A82-304964CBDFE3}"/>
              </a:ext>
            </a:extLst>
          </p:cNvPr>
          <p:cNvGraphicFramePr>
            <a:graphicFrameLocks noGrp="1"/>
          </p:cNvGraphicFramePr>
          <p:nvPr/>
        </p:nvGraphicFramePr>
        <p:xfrm>
          <a:off x="395288" y="3357563"/>
          <a:ext cx="609600" cy="334964"/>
        </p:xfrm>
        <a:graphic>
          <a:graphicData uri="http://schemas.openxmlformats.org/drawingml/2006/table">
            <a:tbl>
              <a:tblPr/>
              <a:tblGrid>
                <a:gridCol w="609600">
                  <a:extLst>
                    <a:ext uri="{9D8B030D-6E8A-4147-A177-3AD203B41FA5}">
                      <a16:colId xmlns:a16="http://schemas.microsoft.com/office/drawing/2014/main" val="20000"/>
                    </a:ext>
                  </a:extLst>
                </a:gridCol>
              </a:tblGrid>
              <a:tr h="3349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K</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388" name="Group 172">
            <a:extLst>
              <a:ext uri="{FF2B5EF4-FFF2-40B4-BE49-F238E27FC236}">
                <a16:creationId xmlns:a16="http://schemas.microsoft.com/office/drawing/2014/main" id="{2A88DBBE-7EA5-463C-B094-8923ED92C8D1}"/>
              </a:ext>
            </a:extLst>
          </p:cNvPr>
          <p:cNvGraphicFramePr>
            <a:graphicFrameLocks noGrp="1"/>
          </p:cNvGraphicFramePr>
          <p:nvPr/>
        </p:nvGraphicFramePr>
        <p:xfrm>
          <a:off x="3492500" y="5734050"/>
          <a:ext cx="609600" cy="334966"/>
        </p:xfrm>
        <a:graphic>
          <a:graphicData uri="http://schemas.openxmlformats.org/drawingml/2006/table">
            <a:tbl>
              <a:tblPr/>
              <a:tblGrid>
                <a:gridCol w="609600">
                  <a:extLst>
                    <a:ext uri="{9D8B030D-6E8A-4147-A177-3AD203B41FA5}">
                      <a16:colId xmlns:a16="http://schemas.microsoft.com/office/drawing/2014/main" val="20000"/>
                    </a:ext>
                  </a:extLst>
                </a:gridCol>
              </a:tblGrid>
              <a:tr h="3349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L</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3" marB="4556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61" name="Straight Connector 60">
            <a:extLst>
              <a:ext uri="{FF2B5EF4-FFF2-40B4-BE49-F238E27FC236}">
                <a16:creationId xmlns:a16="http://schemas.microsoft.com/office/drawing/2014/main" id="{AF6D27B4-B4F5-4C6E-A5C3-1C1FCDCF49BD}"/>
              </a:ext>
            </a:extLst>
          </p:cNvPr>
          <p:cNvCxnSpPr/>
          <p:nvPr/>
        </p:nvCxnSpPr>
        <p:spPr>
          <a:xfrm rot="5400000" flipH="1" flipV="1">
            <a:off x="504826" y="4400550"/>
            <a:ext cx="1655762" cy="1587"/>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3594EA8A-D307-4097-976C-BDB7E9C74314}"/>
              </a:ext>
            </a:extLst>
          </p:cNvPr>
          <p:cNvCxnSpPr/>
          <p:nvPr/>
        </p:nvCxnSpPr>
        <p:spPr>
          <a:xfrm>
            <a:off x="1331913" y="5229225"/>
            <a:ext cx="1428750" cy="1588"/>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BB409E2E-7435-4224-AB25-2E0C440FD636}"/>
              </a:ext>
            </a:extLst>
          </p:cNvPr>
          <p:cNvCxnSpPr/>
          <p:nvPr/>
        </p:nvCxnSpPr>
        <p:spPr>
          <a:xfrm rot="5400000" flipH="1" flipV="1">
            <a:off x="1392238" y="4179888"/>
            <a:ext cx="928687" cy="1587"/>
          </a:xfrm>
          <a:prstGeom prst="line">
            <a:avLst/>
          </a:prstGeom>
        </p:spPr>
        <p:style>
          <a:lnRef idx="1">
            <a:schemeClr val="accent2"/>
          </a:lnRef>
          <a:fillRef idx="0">
            <a:schemeClr val="accent2"/>
          </a:fillRef>
          <a:effectRef idx="0">
            <a:schemeClr val="accent2"/>
          </a:effectRef>
          <a:fontRef idx="minor">
            <a:schemeClr val="tx1"/>
          </a:fontRef>
        </p:style>
      </p:cxnSp>
      <p:cxnSp>
        <p:nvCxnSpPr>
          <p:cNvPr id="74" name="Straight Connector 73">
            <a:extLst>
              <a:ext uri="{FF2B5EF4-FFF2-40B4-BE49-F238E27FC236}">
                <a16:creationId xmlns:a16="http://schemas.microsoft.com/office/drawing/2014/main" id="{C2CF698F-9AD1-4DE3-A394-BC29D9295AC5}"/>
              </a:ext>
            </a:extLst>
          </p:cNvPr>
          <p:cNvCxnSpPr/>
          <p:nvPr/>
        </p:nvCxnSpPr>
        <p:spPr>
          <a:xfrm>
            <a:off x="1857375" y="4643438"/>
            <a:ext cx="857250" cy="1587"/>
          </a:xfrm>
          <a:prstGeom prst="line">
            <a:avLst/>
          </a:prstGeom>
        </p:spPr>
        <p:style>
          <a:lnRef idx="1">
            <a:schemeClr val="accent2"/>
          </a:lnRef>
          <a:fillRef idx="0">
            <a:schemeClr val="accent2"/>
          </a:fillRef>
          <a:effectRef idx="0">
            <a:schemeClr val="accent2"/>
          </a:effectRef>
          <a:fontRef idx="minor">
            <a:schemeClr val="tx1"/>
          </a:fontRef>
        </p:style>
      </p:cxnSp>
      <p:cxnSp>
        <p:nvCxnSpPr>
          <p:cNvPr id="76" name="Straight Connector 75">
            <a:extLst>
              <a:ext uri="{FF2B5EF4-FFF2-40B4-BE49-F238E27FC236}">
                <a16:creationId xmlns:a16="http://schemas.microsoft.com/office/drawing/2014/main" id="{E1CA2D7B-7CB7-465F-8B74-424630467133}"/>
              </a:ext>
            </a:extLst>
          </p:cNvPr>
          <p:cNvCxnSpPr/>
          <p:nvPr/>
        </p:nvCxnSpPr>
        <p:spPr>
          <a:xfrm>
            <a:off x="857250" y="5286375"/>
            <a:ext cx="71438" cy="1588"/>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67F98CD2-B01B-4E1B-8CEB-15DB173FF5E2}"/>
              </a:ext>
            </a:extLst>
          </p:cNvPr>
          <p:cNvCxnSpPr/>
          <p:nvPr/>
        </p:nvCxnSpPr>
        <p:spPr>
          <a:xfrm rot="10800000">
            <a:off x="857250" y="4643438"/>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825725EF-8773-4967-85D9-6C7F2256F7E4}"/>
              </a:ext>
            </a:extLst>
          </p:cNvPr>
          <p:cNvCxnSpPr/>
          <p:nvPr/>
        </p:nvCxnSpPr>
        <p:spPr>
          <a:xfrm rot="10800000">
            <a:off x="857250" y="4071938"/>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C88C2625-C1CA-45D2-83F5-70E0F1C16FF2}"/>
              </a:ext>
            </a:extLst>
          </p:cNvPr>
          <p:cNvCxnSpPr/>
          <p:nvPr/>
        </p:nvCxnSpPr>
        <p:spPr>
          <a:xfrm rot="5400000">
            <a:off x="1322388" y="5678488"/>
            <a:ext cx="71437" cy="1587"/>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EA40C238-976C-4714-A89D-D850B8056C7D}"/>
              </a:ext>
            </a:extLst>
          </p:cNvPr>
          <p:cNvCxnSpPr/>
          <p:nvPr/>
        </p:nvCxnSpPr>
        <p:spPr>
          <a:xfrm rot="5400000">
            <a:off x="1822450" y="5678488"/>
            <a:ext cx="71437" cy="1588"/>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20954148-F8B6-4234-BA03-E6FAFA24A6E7}"/>
              </a:ext>
            </a:extLst>
          </p:cNvPr>
          <p:cNvCxnSpPr/>
          <p:nvPr/>
        </p:nvCxnSpPr>
        <p:spPr>
          <a:xfrm rot="5400000">
            <a:off x="2322513" y="5678488"/>
            <a:ext cx="71437" cy="1587"/>
          </a:xfrm>
          <a:prstGeom prst="line">
            <a:avLst/>
          </a:prstGeom>
        </p:spPr>
        <p:style>
          <a:lnRef idx="1">
            <a:schemeClr val="dk1"/>
          </a:lnRef>
          <a:fillRef idx="0">
            <a:schemeClr val="dk1"/>
          </a:fillRef>
          <a:effectRef idx="0">
            <a:schemeClr val="dk1"/>
          </a:effectRef>
          <a:fontRef idx="minor">
            <a:schemeClr val="tx1"/>
          </a:fontRef>
        </p:style>
      </p:cxnSp>
      <p:graphicFrame>
        <p:nvGraphicFramePr>
          <p:cNvPr id="4161" name="Group 65">
            <a:extLst>
              <a:ext uri="{FF2B5EF4-FFF2-40B4-BE49-F238E27FC236}">
                <a16:creationId xmlns:a16="http://schemas.microsoft.com/office/drawing/2014/main" id="{D84608C0-6CFE-4C42-8A1C-5C2A38885823}"/>
              </a:ext>
            </a:extLst>
          </p:cNvPr>
          <p:cNvGraphicFramePr>
            <a:graphicFrameLocks noGrp="1"/>
          </p:cNvGraphicFramePr>
          <p:nvPr/>
        </p:nvGraphicFramePr>
        <p:xfrm>
          <a:off x="2916238" y="5157788"/>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Y=1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171" name="Group 75">
            <a:extLst>
              <a:ext uri="{FF2B5EF4-FFF2-40B4-BE49-F238E27FC236}">
                <a16:creationId xmlns:a16="http://schemas.microsoft.com/office/drawing/2014/main" id="{4836B593-423C-4F73-880E-BF0BECD9B7FE}"/>
              </a:ext>
            </a:extLst>
          </p:cNvPr>
          <p:cNvGraphicFramePr>
            <a:graphicFrameLocks noGrp="1"/>
          </p:cNvGraphicFramePr>
          <p:nvPr/>
        </p:nvGraphicFramePr>
        <p:xfrm>
          <a:off x="2916238" y="4508500"/>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Y=2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181" name="Group 85">
            <a:extLst>
              <a:ext uri="{FF2B5EF4-FFF2-40B4-BE49-F238E27FC236}">
                <a16:creationId xmlns:a16="http://schemas.microsoft.com/office/drawing/2014/main" id="{F6D33B2E-65E5-4E22-8F86-E2CCA27D790F}"/>
              </a:ext>
            </a:extLst>
          </p:cNvPr>
          <p:cNvGraphicFramePr>
            <a:graphicFrameLocks noGrp="1"/>
          </p:cNvGraphicFramePr>
          <p:nvPr/>
        </p:nvGraphicFramePr>
        <p:xfrm>
          <a:off x="250825" y="5157788"/>
          <a:ext cx="649288" cy="244475"/>
        </p:xfrm>
        <a:graphic>
          <a:graphicData uri="http://schemas.openxmlformats.org/drawingml/2006/table">
            <a:tbl>
              <a:tblPr/>
              <a:tblGrid>
                <a:gridCol w="649288">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191" name="Group 95">
            <a:extLst>
              <a:ext uri="{FF2B5EF4-FFF2-40B4-BE49-F238E27FC236}">
                <a16:creationId xmlns:a16="http://schemas.microsoft.com/office/drawing/2014/main" id="{9D5E32E7-D27B-42FF-B149-6A30F58C9B8F}"/>
              </a:ext>
            </a:extLst>
          </p:cNvPr>
          <p:cNvGraphicFramePr>
            <a:graphicFrameLocks noGrp="1"/>
          </p:cNvGraphicFramePr>
          <p:nvPr/>
        </p:nvGraphicFramePr>
        <p:xfrm>
          <a:off x="1042988" y="5805488"/>
          <a:ext cx="433387" cy="244475"/>
        </p:xfrm>
        <a:graphic>
          <a:graphicData uri="http://schemas.openxmlformats.org/drawingml/2006/table">
            <a:tbl>
              <a:tblPr/>
              <a:tblGrid>
                <a:gridCol w="433387">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01" name="Group 105">
            <a:extLst>
              <a:ext uri="{FF2B5EF4-FFF2-40B4-BE49-F238E27FC236}">
                <a16:creationId xmlns:a16="http://schemas.microsoft.com/office/drawing/2014/main" id="{A250BCCE-B56B-4833-9680-CEF6EB0A09B6}"/>
              </a:ext>
            </a:extLst>
          </p:cNvPr>
          <p:cNvGraphicFramePr>
            <a:graphicFrameLocks noGrp="1"/>
          </p:cNvGraphicFramePr>
          <p:nvPr/>
        </p:nvGraphicFramePr>
        <p:xfrm>
          <a:off x="611188" y="4508500"/>
          <a:ext cx="292100" cy="244475"/>
        </p:xfrm>
        <a:graphic>
          <a:graphicData uri="http://schemas.openxmlformats.org/drawingml/2006/table">
            <a:tbl>
              <a:tblPr/>
              <a:tblGrid>
                <a:gridCol w="2921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11" name="Group 115">
            <a:extLst>
              <a:ext uri="{FF2B5EF4-FFF2-40B4-BE49-F238E27FC236}">
                <a16:creationId xmlns:a16="http://schemas.microsoft.com/office/drawing/2014/main" id="{D6EFC1A6-967E-4520-B283-E3688BD4768D}"/>
              </a:ext>
            </a:extLst>
          </p:cNvPr>
          <p:cNvGraphicFramePr>
            <a:graphicFrameLocks noGrp="1"/>
          </p:cNvGraphicFramePr>
          <p:nvPr/>
        </p:nvGraphicFramePr>
        <p:xfrm>
          <a:off x="1692275" y="5805488"/>
          <a:ext cx="292100" cy="244475"/>
        </p:xfrm>
        <a:graphic>
          <a:graphicData uri="http://schemas.openxmlformats.org/drawingml/2006/table">
            <a:tbl>
              <a:tblPr/>
              <a:tblGrid>
                <a:gridCol w="2921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23" name="Group 127">
            <a:extLst>
              <a:ext uri="{FF2B5EF4-FFF2-40B4-BE49-F238E27FC236}">
                <a16:creationId xmlns:a16="http://schemas.microsoft.com/office/drawing/2014/main" id="{99CF550F-67C0-4D7E-941D-C560CC0DA502}"/>
              </a:ext>
            </a:extLst>
          </p:cNvPr>
          <p:cNvGraphicFramePr>
            <a:graphicFrameLocks noGrp="1"/>
          </p:cNvGraphicFramePr>
          <p:nvPr/>
        </p:nvGraphicFramePr>
        <p:xfrm>
          <a:off x="611188" y="3933825"/>
          <a:ext cx="292100" cy="244475"/>
        </p:xfrm>
        <a:graphic>
          <a:graphicData uri="http://schemas.openxmlformats.org/drawingml/2006/table">
            <a:tbl>
              <a:tblPr/>
              <a:tblGrid>
                <a:gridCol w="2921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33" name="Group 137">
            <a:extLst>
              <a:ext uri="{FF2B5EF4-FFF2-40B4-BE49-F238E27FC236}">
                <a16:creationId xmlns:a16="http://schemas.microsoft.com/office/drawing/2014/main" id="{20F03B42-91F0-4909-B582-1514AA5AB473}"/>
              </a:ext>
            </a:extLst>
          </p:cNvPr>
          <p:cNvGraphicFramePr>
            <a:graphicFrameLocks noGrp="1"/>
          </p:cNvGraphicFramePr>
          <p:nvPr/>
        </p:nvGraphicFramePr>
        <p:xfrm>
          <a:off x="2195513" y="5805488"/>
          <a:ext cx="292100" cy="244475"/>
        </p:xfrm>
        <a:graphic>
          <a:graphicData uri="http://schemas.openxmlformats.org/drawingml/2006/table">
            <a:tbl>
              <a:tblPr/>
              <a:tblGrid>
                <a:gridCol w="2921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45" name="Group 149">
            <a:extLst>
              <a:ext uri="{FF2B5EF4-FFF2-40B4-BE49-F238E27FC236}">
                <a16:creationId xmlns:a16="http://schemas.microsoft.com/office/drawing/2014/main" id="{9D060394-AEAD-483C-8859-F8F4A5CE1F42}"/>
              </a:ext>
            </a:extLst>
          </p:cNvPr>
          <p:cNvGraphicFramePr>
            <a:graphicFrameLocks noGrp="1"/>
          </p:cNvGraphicFramePr>
          <p:nvPr/>
        </p:nvGraphicFramePr>
        <p:xfrm>
          <a:off x="3492500" y="5013325"/>
          <a:ext cx="1008063" cy="431800"/>
        </p:xfrm>
        <a:graphic>
          <a:graphicData uri="http://schemas.openxmlformats.org/drawingml/2006/table">
            <a:tbl>
              <a:tblPr/>
              <a:tblGrid>
                <a:gridCol w="1008063">
                  <a:extLst>
                    <a:ext uri="{9D8B030D-6E8A-4147-A177-3AD203B41FA5}">
                      <a16:colId xmlns:a16="http://schemas.microsoft.com/office/drawing/2014/main" val="20000"/>
                    </a:ext>
                  </a:extLst>
                </a:gridCol>
              </a:tblGrid>
              <a:tr h="431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Isoquant</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530" name="Line 150">
            <a:extLst>
              <a:ext uri="{FF2B5EF4-FFF2-40B4-BE49-F238E27FC236}">
                <a16:creationId xmlns:a16="http://schemas.microsoft.com/office/drawing/2014/main" id="{05177333-8917-4355-8C6E-F2D4D3702850}"/>
              </a:ext>
            </a:extLst>
          </p:cNvPr>
          <p:cNvSpPr>
            <a:spLocks noChangeShapeType="1"/>
          </p:cNvSpPr>
          <p:nvPr/>
        </p:nvSpPr>
        <p:spPr bwMode="auto">
          <a:xfrm flipV="1">
            <a:off x="827088" y="4149725"/>
            <a:ext cx="1512887" cy="1584325"/>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4256" name="Group 160">
            <a:extLst>
              <a:ext uri="{FF2B5EF4-FFF2-40B4-BE49-F238E27FC236}">
                <a16:creationId xmlns:a16="http://schemas.microsoft.com/office/drawing/2014/main" id="{7D6753DD-F423-4194-958E-B9DD6007E006}"/>
              </a:ext>
            </a:extLst>
          </p:cNvPr>
          <p:cNvGraphicFramePr>
            <a:graphicFrameLocks noGrp="1"/>
          </p:cNvGraphicFramePr>
          <p:nvPr/>
        </p:nvGraphicFramePr>
        <p:xfrm>
          <a:off x="323850" y="5734050"/>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66" name="Group 170">
            <a:extLst>
              <a:ext uri="{FF2B5EF4-FFF2-40B4-BE49-F238E27FC236}">
                <a16:creationId xmlns:a16="http://schemas.microsoft.com/office/drawing/2014/main" id="{F52DAE09-172A-40ED-A0DC-A280AA23C3E8}"/>
              </a:ext>
            </a:extLst>
          </p:cNvPr>
          <p:cNvGraphicFramePr>
            <a:graphicFrameLocks noGrp="1"/>
          </p:cNvGraphicFramePr>
          <p:nvPr/>
        </p:nvGraphicFramePr>
        <p:xfrm>
          <a:off x="1042988" y="5084763"/>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77" name="Group 181">
            <a:extLst>
              <a:ext uri="{FF2B5EF4-FFF2-40B4-BE49-F238E27FC236}">
                <a16:creationId xmlns:a16="http://schemas.microsoft.com/office/drawing/2014/main" id="{8F1ABE42-C5D5-430C-9C93-A9AEBB8F1033}"/>
              </a:ext>
            </a:extLst>
          </p:cNvPr>
          <p:cNvGraphicFramePr>
            <a:graphicFrameLocks noGrp="1"/>
          </p:cNvGraphicFramePr>
          <p:nvPr/>
        </p:nvGraphicFramePr>
        <p:xfrm>
          <a:off x="1763713" y="5300663"/>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288" name="Group 192">
            <a:extLst>
              <a:ext uri="{FF2B5EF4-FFF2-40B4-BE49-F238E27FC236}">
                <a16:creationId xmlns:a16="http://schemas.microsoft.com/office/drawing/2014/main" id="{3F71033C-05AF-4C01-88E1-B6F090E170F3}"/>
              </a:ext>
            </a:extLst>
          </p:cNvPr>
          <p:cNvGraphicFramePr>
            <a:graphicFrameLocks noGrp="1"/>
          </p:cNvGraphicFramePr>
          <p:nvPr/>
        </p:nvGraphicFramePr>
        <p:xfrm>
          <a:off x="1042988" y="4508500"/>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1EEB9F05-F5BB-4000-A928-F8AC1A341E0E}"/>
              </a:ext>
            </a:extLst>
          </p:cNvPr>
          <p:cNvSpPr>
            <a:spLocks noGrp="1" noChangeArrowheads="1"/>
          </p:cNvSpPr>
          <p:nvPr>
            <p:ph type="body" idx="1"/>
          </p:nvPr>
        </p:nvSpPr>
        <p:spPr>
          <a:xfrm>
            <a:off x="395288" y="620713"/>
            <a:ext cx="8291512" cy="5505450"/>
          </a:xfrm>
        </p:spPr>
        <p:txBody>
          <a:bodyPr/>
          <a:lstStyle/>
          <a:p>
            <a:pPr eaLnBrk="1" hangingPunct="1"/>
            <a:r>
              <a:rPr lang="en-US" altLang="zh-CN" sz="2400">
                <a:latin typeface="Times New Roman" panose="02020603050405020304" pitchFamily="18" charset="0"/>
              </a:rPr>
              <a:t>In the real world, capital-output ratio varies a lot.</a:t>
            </a:r>
          </a:p>
          <a:p>
            <a:pPr lvl="1" eaLnBrk="1" hangingPunct="1">
              <a:buFontTx/>
              <a:buNone/>
            </a:pPr>
            <a:r>
              <a:rPr lang="en-US" altLang="zh-CN" sz="2400">
                <a:latin typeface="Times New Roman" panose="02020603050405020304" pitchFamily="18" charset="0"/>
              </a:rPr>
              <a:t>                      1980-1989          1990-1997</a:t>
            </a:r>
          </a:p>
          <a:p>
            <a:pPr eaLnBrk="1" hangingPunct="1">
              <a:buFontTx/>
              <a:buNone/>
            </a:pPr>
            <a:r>
              <a:rPr lang="en-US" altLang="zh-CN" sz="2400">
                <a:latin typeface="Times New Roman" panose="02020603050405020304" pitchFamily="18" charset="0"/>
              </a:rPr>
              <a:t>   U.S.                   3.6                      2.8</a:t>
            </a:r>
          </a:p>
          <a:p>
            <a:pPr eaLnBrk="1" hangingPunct="1">
              <a:buFontTx/>
              <a:buNone/>
            </a:pPr>
            <a:r>
              <a:rPr lang="en-US" altLang="zh-CN" sz="2400">
                <a:latin typeface="Times New Roman" panose="02020603050405020304" pitchFamily="18" charset="0"/>
              </a:rPr>
              <a:t>   Japan                 4.6                      6.5</a:t>
            </a:r>
          </a:p>
          <a:p>
            <a:pPr eaLnBrk="1" hangingPunct="1">
              <a:buFontTx/>
              <a:buNone/>
            </a:pPr>
            <a:r>
              <a:rPr lang="en-US" altLang="zh-CN" sz="2400">
                <a:latin typeface="Times New Roman" panose="02020603050405020304" pitchFamily="18" charset="0"/>
              </a:rPr>
              <a:t>   Venezuela          6.7                      2.8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2D9A693-AE27-4349-B1EE-358F34202AF7}"/>
              </a:ext>
            </a:extLst>
          </p:cNvPr>
          <p:cNvSpPr>
            <a:spLocks noGrp="1" noChangeArrowheads="1"/>
          </p:cNvSpPr>
          <p:nvPr>
            <p:ph type="title"/>
          </p:nvPr>
        </p:nvSpPr>
        <p:spPr>
          <a:xfrm>
            <a:off x="457200" y="274638"/>
            <a:ext cx="8229600" cy="911225"/>
          </a:xfrm>
        </p:spPr>
        <p:txBody>
          <a:bodyPr/>
          <a:lstStyle/>
          <a:p>
            <a:pPr algn="l" eaLnBrk="1" hangingPunct="1"/>
            <a:r>
              <a:rPr lang="en-US" altLang="zh-CN" sz="2800" dirty="0">
                <a:latin typeface="Times New Roman" panose="02020603050405020304" pitchFamily="18" charset="0"/>
              </a:rPr>
              <a:t>V. Neoclassical Growth Theory</a:t>
            </a:r>
          </a:p>
        </p:txBody>
      </p:sp>
      <p:sp>
        <p:nvSpPr>
          <p:cNvPr id="21507" name="Rectangle 3">
            <a:extLst>
              <a:ext uri="{FF2B5EF4-FFF2-40B4-BE49-F238E27FC236}">
                <a16:creationId xmlns:a16="http://schemas.microsoft.com/office/drawing/2014/main" id="{4506BB8F-9CEA-4460-85CF-0D2C6AA3156E}"/>
              </a:ext>
            </a:extLst>
          </p:cNvPr>
          <p:cNvSpPr>
            <a:spLocks noGrp="1" noChangeArrowheads="1"/>
          </p:cNvSpPr>
          <p:nvPr>
            <p:ph type="body" sz="half" idx="1"/>
          </p:nvPr>
        </p:nvSpPr>
        <p:spPr>
          <a:xfrm>
            <a:off x="468313" y="1341438"/>
            <a:ext cx="7775575" cy="4895850"/>
          </a:xfrm>
        </p:spPr>
        <p:txBody>
          <a:bodyPr/>
          <a:lstStyle/>
          <a:p>
            <a:pPr eaLnBrk="1" hangingPunct="1"/>
            <a:r>
              <a:rPr lang="en-US" altLang="zh-CN" sz="2400">
                <a:latin typeface="Times New Roman" panose="02020603050405020304" pitchFamily="18" charset="0"/>
              </a:rPr>
              <a:t>Solow, MIT, Nobel prize, 1987</a:t>
            </a:r>
            <a:endParaRPr lang="en-US" altLang="zh-CN" sz="2400"/>
          </a:p>
          <a:p>
            <a:pPr lvl="1" eaLnBrk="1" hangingPunct="1"/>
            <a:r>
              <a:rPr lang="en-US" altLang="zh-CN" sz="2000">
                <a:latin typeface="Times New Roman" panose="02020603050405020304" pitchFamily="18" charset="0"/>
              </a:rPr>
              <a:t>Adding labor input in the Harrod-Domar model, and assume that labor and capital are substitutable.</a:t>
            </a:r>
          </a:p>
          <a:p>
            <a:pPr eaLnBrk="1" hangingPunct="1">
              <a:buFontTx/>
              <a:buNone/>
            </a:pPr>
            <a:r>
              <a:rPr lang="en-US" altLang="zh-CN" sz="2400">
                <a:latin typeface="Times New Roman" panose="02020603050405020304" pitchFamily="18" charset="0"/>
              </a:rPr>
              <a:t>1. Production function</a:t>
            </a:r>
            <a:endParaRPr lang="en-US" altLang="zh-CN" sz="2800"/>
          </a:p>
          <a:p>
            <a:pPr lvl="1" eaLnBrk="1" hangingPunct="1"/>
            <a:r>
              <a:rPr lang="en-US" altLang="zh-CN" sz="2000">
                <a:latin typeface="Times New Roman" panose="02020603050405020304" pitchFamily="18" charset="0"/>
              </a:rPr>
              <a:t>Example:</a:t>
            </a:r>
            <a:r>
              <a:rPr lang="en-US" altLang="zh-CN" sz="2400">
                <a:latin typeface="Times New Roman" panose="02020603050405020304" pitchFamily="18" charset="0"/>
              </a:rPr>
              <a:t>                            </a:t>
            </a:r>
          </a:p>
          <a:p>
            <a:pPr lvl="1" eaLnBrk="1" hangingPunct="1">
              <a:buFontTx/>
              <a:buNone/>
            </a:pPr>
            <a:r>
              <a:rPr lang="en-US" altLang="zh-CN" sz="2400">
                <a:latin typeface="Times New Roman" panose="02020603050405020304" pitchFamily="18" charset="0"/>
              </a:rPr>
              <a:t>                                       </a:t>
            </a:r>
          </a:p>
          <a:p>
            <a:pPr eaLnBrk="1" hangingPunct="1">
              <a:buFontTx/>
              <a:buNone/>
            </a:pPr>
            <a:r>
              <a:rPr lang="en-US" altLang="zh-CN" sz="2800">
                <a:latin typeface="Times New Roman" panose="02020603050405020304" pitchFamily="18" charset="0"/>
              </a:rPr>
              <a:t>                                     </a:t>
            </a:r>
          </a:p>
        </p:txBody>
      </p:sp>
      <p:graphicFrame>
        <p:nvGraphicFramePr>
          <p:cNvPr id="21508" name="Object 14">
            <a:extLst>
              <a:ext uri="{FF2B5EF4-FFF2-40B4-BE49-F238E27FC236}">
                <a16:creationId xmlns:a16="http://schemas.microsoft.com/office/drawing/2014/main" id="{9695458E-E10F-407F-BE2A-F7757D68C5C0}"/>
              </a:ext>
            </a:extLst>
          </p:cNvPr>
          <p:cNvGraphicFramePr>
            <a:graphicFrameLocks noGrp="1" noChangeAspect="1"/>
          </p:cNvGraphicFramePr>
          <p:nvPr>
            <p:ph sz="quarter" idx="2"/>
          </p:nvPr>
        </p:nvGraphicFramePr>
        <p:xfrm>
          <a:off x="3419475" y="2565400"/>
          <a:ext cx="1295400" cy="339725"/>
        </p:xfrm>
        <a:graphic>
          <a:graphicData uri="http://schemas.openxmlformats.org/presentationml/2006/ole">
            <mc:AlternateContent xmlns:mc="http://schemas.openxmlformats.org/markup-compatibility/2006">
              <mc:Choice xmlns:v="urn:schemas-microsoft-com:vml" Requires="v">
                <p:oleObj name="Equation" r:id="rId2" imgW="774364" imgH="203112" progId="Equation.DSMT4">
                  <p:embed/>
                </p:oleObj>
              </mc:Choice>
              <mc:Fallback>
                <p:oleObj name="Equation" r:id="rId2" imgW="774364" imgH="203112" progId="Equation.DSMT4">
                  <p:embed/>
                  <p:pic>
                    <p:nvPicPr>
                      <p:cNvPr id="21508" name="Object 14">
                        <a:extLst>
                          <a:ext uri="{FF2B5EF4-FFF2-40B4-BE49-F238E27FC236}">
                            <a16:creationId xmlns:a16="http://schemas.microsoft.com/office/drawing/2014/main" id="{9695458E-E10F-407F-BE2A-F7757D68C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2565400"/>
                        <a:ext cx="12954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9" name="Object 15">
            <a:extLst>
              <a:ext uri="{FF2B5EF4-FFF2-40B4-BE49-F238E27FC236}">
                <a16:creationId xmlns:a16="http://schemas.microsoft.com/office/drawing/2014/main" id="{29226746-5E31-4D4E-9033-EF4030E7E025}"/>
              </a:ext>
            </a:extLst>
          </p:cNvPr>
          <p:cNvGraphicFramePr>
            <a:graphicFrameLocks noGrp="1" noChangeAspect="1"/>
          </p:cNvGraphicFramePr>
          <p:nvPr>
            <p:ph sz="quarter" idx="3"/>
          </p:nvPr>
        </p:nvGraphicFramePr>
        <p:xfrm>
          <a:off x="2700338" y="2852738"/>
          <a:ext cx="1439862" cy="666750"/>
        </p:xfrm>
        <a:graphic>
          <a:graphicData uri="http://schemas.openxmlformats.org/presentationml/2006/ole">
            <mc:AlternateContent xmlns:mc="http://schemas.openxmlformats.org/markup-compatibility/2006">
              <mc:Choice xmlns:v="urn:schemas-microsoft-com:vml" Requires="v">
                <p:oleObj name="Equation" r:id="rId4" imgW="850531" imgH="393529" progId="Equation.DSMT4">
                  <p:embed/>
                </p:oleObj>
              </mc:Choice>
              <mc:Fallback>
                <p:oleObj name="Equation" r:id="rId4" imgW="850531" imgH="393529" progId="Equation.DSMT4">
                  <p:embed/>
                  <p:pic>
                    <p:nvPicPr>
                      <p:cNvPr id="21509" name="Object 15">
                        <a:extLst>
                          <a:ext uri="{FF2B5EF4-FFF2-40B4-BE49-F238E27FC236}">
                            <a16:creationId xmlns:a16="http://schemas.microsoft.com/office/drawing/2014/main" id="{29226746-5E31-4D4E-9033-EF4030E7E0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2852738"/>
                        <a:ext cx="1439862"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0" name="Object 16">
            <a:extLst>
              <a:ext uri="{FF2B5EF4-FFF2-40B4-BE49-F238E27FC236}">
                <a16:creationId xmlns:a16="http://schemas.microsoft.com/office/drawing/2014/main" id="{1C7674BB-F9B9-43FF-8A6C-414145A0D9CF}"/>
              </a:ext>
            </a:extLst>
          </p:cNvPr>
          <p:cNvGraphicFramePr>
            <a:graphicFrameLocks noChangeAspect="1"/>
          </p:cNvGraphicFramePr>
          <p:nvPr/>
        </p:nvGraphicFramePr>
        <p:xfrm>
          <a:off x="1258888" y="3357563"/>
          <a:ext cx="1439862" cy="708025"/>
        </p:xfrm>
        <a:graphic>
          <a:graphicData uri="http://schemas.openxmlformats.org/presentationml/2006/ole">
            <mc:AlternateContent xmlns:mc="http://schemas.openxmlformats.org/markup-compatibility/2006">
              <mc:Choice xmlns:v="urn:schemas-microsoft-com:vml" Requires="v">
                <p:oleObj name="Equation" r:id="rId6" imgW="799753" imgH="393529" progId="Equation.DSMT4">
                  <p:embed/>
                </p:oleObj>
              </mc:Choice>
              <mc:Fallback>
                <p:oleObj name="Equation" r:id="rId6" imgW="799753" imgH="393529" progId="Equation.DSMT4">
                  <p:embed/>
                  <p:pic>
                    <p:nvPicPr>
                      <p:cNvPr id="21510" name="Object 16">
                        <a:extLst>
                          <a:ext uri="{FF2B5EF4-FFF2-40B4-BE49-F238E27FC236}">
                            <a16:creationId xmlns:a16="http://schemas.microsoft.com/office/drawing/2014/main" id="{1C7674BB-F9B9-43FF-8A6C-414145A0D9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3357563"/>
                        <a:ext cx="143986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1" name="Object 9">
            <a:extLst>
              <a:ext uri="{FF2B5EF4-FFF2-40B4-BE49-F238E27FC236}">
                <a16:creationId xmlns:a16="http://schemas.microsoft.com/office/drawing/2014/main" id="{423699AC-06F9-4CE6-ADD8-50813BA0D8A7}"/>
              </a:ext>
            </a:extLst>
          </p:cNvPr>
          <p:cNvGraphicFramePr>
            <a:graphicFrameLocks noChangeAspect="1"/>
          </p:cNvGraphicFramePr>
          <p:nvPr/>
        </p:nvGraphicFramePr>
        <p:xfrm>
          <a:off x="3851275" y="3860800"/>
          <a:ext cx="3889375" cy="2482850"/>
        </p:xfrm>
        <a:graphic>
          <a:graphicData uri="http://schemas.openxmlformats.org/presentationml/2006/ole">
            <mc:AlternateContent xmlns:mc="http://schemas.openxmlformats.org/markup-compatibility/2006">
              <mc:Choice xmlns:v="urn:schemas-microsoft-com:vml" Requires="v">
                <p:oleObj name="图表" r:id="rId8" imgW="3371850" imgH="2152650" progId="Excel.Chart.8">
                  <p:embed/>
                </p:oleObj>
              </mc:Choice>
              <mc:Fallback>
                <p:oleObj name="图表" r:id="rId8" imgW="3371850" imgH="2152650" progId="Excel.Chart.8">
                  <p:embed/>
                  <p:pic>
                    <p:nvPicPr>
                      <p:cNvPr id="21511" name="Object 9">
                        <a:extLst>
                          <a:ext uri="{FF2B5EF4-FFF2-40B4-BE49-F238E27FC236}">
                            <a16:creationId xmlns:a16="http://schemas.microsoft.com/office/drawing/2014/main" id="{423699AC-06F9-4CE6-ADD8-50813BA0D8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1275" y="3860800"/>
                        <a:ext cx="3889375"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24" name="Group 56">
            <a:extLst>
              <a:ext uri="{FF2B5EF4-FFF2-40B4-BE49-F238E27FC236}">
                <a16:creationId xmlns:a16="http://schemas.microsoft.com/office/drawing/2014/main" id="{4B3EEFA7-DB35-44BD-9E65-4838DBEDA486}"/>
              </a:ext>
            </a:extLst>
          </p:cNvPr>
          <p:cNvGraphicFramePr>
            <a:graphicFrameLocks noGrp="1"/>
          </p:cNvGraphicFramePr>
          <p:nvPr/>
        </p:nvGraphicFramePr>
        <p:xfrm>
          <a:off x="1187450" y="4005263"/>
          <a:ext cx="2160588" cy="2232026"/>
        </p:xfrm>
        <a:graphic>
          <a:graphicData uri="http://schemas.openxmlformats.org/drawingml/2006/table">
            <a:tbl>
              <a:tblPr/>
              <a:tblGrid>
                <a:gridCol w="471488">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8012">
                  <a:extLst>
                    <a:ext uri="{9D8B030D-6E8A-4147-A177-3AD203B41FA5}">
                      <a16:colId xmlns:a16="http://schemas.microsoft.com/office/drawing/2014/main" val="20002"/>
                    </a:ext>
                  </a:extLst>
                </a:gridCol>
                <a:gridCol w="471488">
                  <a:extLst>
                    <a:ext uri="{9D8B030D-6E8A-4147-A177-3AD203B41FA5}">
                      <a16:colId xmlns:a16="http://schemas.microsoft.com/office/drawing/2014/main" val="20003"/>
                    </a:ext>
                  </a:extLst>
                </a:gridCol>
              </a:tblGrid>
              <a:tr h="392113">
                <a:tc gridSpan="4">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Isoquants</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6198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K</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937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921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921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anchor="ct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156" name="Group 36">
            <a:extLst>
              <a:ext uri="{FF2B5EF4-FFF2-40B4-BE49-F238E27FC236}">
                <a16:creationId xmlns:a16="http://schemas.microsoft.com/office/drawing/2014/main" id="{352B0725-7D4D-4530-826E-807799AC3C6B}"/>
              </a:ext>
            </a:extLst>
          </p:cNvPr>
          <p:cNvGraphicFramePr>
            <a:graphicFrameLocks noGrp="1"/>
          </p:cNvGraphicFramePr>
          <p:nvPr/>
        </p:nvGraphicFramePr>
        <p:xfrm>
          <a:off x="6732588" y="5157788"/>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166" name="Group 46">
            <a:extLst>
              <a:ext uri="{FF2B5EF4-FFF2-40B4-BE49-F238E27FC236}">
                <a16:creationId xmlns:a16="http://schemas.microsoft.com/office/drawing/2014/main" id="{F409CC3D-2F8B-4851-9151-8F77D04AA332}"/>
              </a:ext>
            </a:extLst>
          </p:cNvPr>
          <p:cNvGraphicFramePr>
            <a:graphicFrameLocks noGrp="1"/>
          </p:cNvGraphicFramePr>
          <p:nvPr/>
        </p:nvGraphicFramePr>
        <p:xfrm>
          <a:off x="4932363" y="4221163"/>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178" name="Group 58">
            <a:extLst>
              <a:ext uri="{FF2B5EF4-FFF2-40B4-BE49-F238E27FC236}">
                <a16:creationId xmlns:a16="http://schemas.microsoft.com/office/drawing/2014/main" id="{520FAFC0-836C-4B81-A948-BE597CD55078}"/>
              </a:ext>
            </a:extLst>
          </p:cNvPr>
          <p:cNvGraphicFramePr>
            <a:graphicFrameLocks noGrp="1"/>
          </p:cNvGraphicFramePr>
          <p:nvPr/>
        </p:nvGraphicFramePr>
        <p:xfrm>
          <a:off x="5219700" y="4941888"/>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A4A80A92-7444-46CF-A92E-6511EB9C0A72}"/>
              </a:ext>
            </a:extLst>
          </p:cNvPr>
          <p:cNvSpPr>
            <a:spLocks noGrp="1" noChangeArrowheads="1"/>
          </p:cNvSpPr>
          <p:nvPr>
            <p:ph type="body" sz="half" idx="1"/>
          </p:nvPr>
        </p:nvSpPr>
        <p:spPr>
          <a:xfrm>
            <a:off x="323850" y="142875"/>
            <a:ext cx="8351838" cy="6429375"/>
          </a:xfrm>
        </p:spPr>
        <p:txBody>
          <a:bodyPr/>
          <a:lstStyle/>
          <a:p>
            <a:pPr eaLnBrk="1" hangingPunct="1">
              <a:lnSpc>
                <a:spcPct val="80000"/>
              </a:lnSpc>
            </a:pPr>
            <a:r>
              <a:rPr lang="en-US" altLang="zh-CN" sz="2800" dirty="0">
                <a:latin typeface="Times New Roman" panose="02020603050405020304" pitchFamily="18" charset="0"/>
              </a:rPr>
              <a:t>Output-Labor ratio </a:t>
            </a:r>
          </a:p>
          <a:p>
            <a:pPr eaLnBrk="1" hangingPunct="1">
              <a:lnSpc>
                <a:spcPct val="80000"/>
              </a:lnSpc>
              <a:buFontTx/>
              <a:buNone/>
            </a:pPr>
            <a:r>
              <a:rPr lang="en-US" altLang="zh-CN" sz="2800" dirty="0">
                <a:latin typeface="Times New Roman" panose="02020603050405020304" pitchFamily="18" charset="0"/>
              </a:rPr>
              <a:t>       </a:t>
            </a:r>
            <a:r>
              <a:rPr lang="en-US" altLang="zh-CN" sz="2000" i="1" dirty="0">
                <a:latin typeface="Times New Roman" panose="02020603050405020304" pitchFamily="18" charset="0"/>
              </a:rPr>
              <a:t>Y=F(K, L)</a:t>
            </a:r>
            <a:r>
              <a:rPr lang="en-US" altLang="zh-CN" sz="2800" dirty="0">
                <a:latin typeface="Times New Roman" panose="02020603050405020304" pitchFamily="18" charset="0"/>
              </a:rPr>
              <a:t>                          </a:t>
            </a:r>
            <a:endParaRPr lang="en-US" altLang="zh-CN" sz="1800" i="1" dirty="0">
              <a:latin typeface="Times New Roman" panose="02020603050405020304" pitchFamily="18" charset="0"/>
            </a:endParaRPr>
          </a:p>
          <a:p>
            <a:pPr eaLnBrk="1" hangingPunct="1">
              <a:lnSpc>
                <a:spcPct val="80000"/>
              </a:lnSpc>
              <a:buFontTx/>
              <a:buNone/>
            </a:pPr>
            <a:r>
              <a:rPr lang="en-US" altLang="zh-CN" sz="2800" dirty="0">
                <a:latin typeface="Times New Roman" panose="02020603050405020304" pitchFamily="18" charset="0"/>
              </a:rPr>
              <a:t>Let</a:t>
            </a:r>
          </a:p>
          <a:p>
            <a:pPr eaLnBrk="1" hangingPunct="1">
              <a:lnSpc>
                <a:spcPct val="80000"/>
              </a:lnSpc>
              <a:buFontTx/>
              <a:buNone/>
            </a:pPr>
            <a:endParaRPr lang="en-US" altLang="zh-CN" sz="2800" dirty="0">
              <a:latin typeface="Times New Roman" panose="02020603050405020304" pitchFamily="18" charset="0"/>
            </a:endParaRPr>
          </a:p>
          <a:p>
            <a:pPr eaLnBrk="1" hangingPunct="1">
              <a:lnSpc>
                <a:spcPct val="80000"/>
              </a:lnSpc>
              <a:buFontTx/>
              <a:buNone/>
            </a:pPr>
            <a:endParaRPr lang="en-US" altLang="zh-CN" sz="1000" dirty="0">
              <a:latin typeface="Times New Roman" panose="02020603050405020304" pitchFamily="18" charset="0"/>
            </a:endParaRPr>
          </a:p>
          <a:p>
            <a:pPr eaLnBrk="1" hangingPunct="1">
              <a:lnSpc>
                <a:spcPct val="80000"/>
              </a:lnSpc>
              <a:buFontTx/>
              <a:buNone/>
            </a:pPr>
            <a:r>
              <a:rPr lang="en-US" altLang="zh-CN" sz="2800" dirty="0">
                <a:latin typeface="Times New Roman" panose="02020603050405020304" pitchFamily="18" charset="0"/>
              </a:rPr>
              <a:t>2. Capital accumulation</a:t>
            </a:r>
          </a:p>
          <a:p>
            <a:pPr eaLnBrk="1" hangingPunct="1">
              <a:lnSpc>
                <a:spcPct val="80000"/>
              </a:lnSpc>
              <a:buFontTx/>
              <a:buNone/>
            </a:pPr>
            <a:r>
              <a:rPr lang="en-US" altLang="zh-CN" sz="2800" dirty="0">
                <a:latin typeface="Times New Roman" panose="02020603050405020304" pitchFamily="18" charset="0"/>
              </a:rPr>
              <a:t>                                           </a:t>
            </a:r>
            <a:r>
              <a:rPr lang="en-US" altLang="zh-CN" sz="2000" dirty="0">
                <a:latin typeface="Times New Roman" panose="02020603050405020304" pitchFamily="18" charset="0"/>
              </a:rPr>
              <a:t>where</a:t>
            </a:r>
            <a:r>
              <a:rPr lang="en-US" altLang="zh-CN" sz="2800" dirty="0">
                <a:latin typeface="Times New Roman" panose="02020603050405020304" pitchFamily="18" charset="0"/>
              </a:rPr>
              <a:t>  </a:t>
            </a:r>
            <a:r>
              <a:rPr lang="en-US" altLang="zh-CN" sz="2000" i="1" dirty="0">
                <a:latin typeface="Times New Roman" panose="02020603050405020304" pitchFamily="18" charset="0"/>
              </a:rPr>
              <a:t>s = S/Y</a:t>
            </a:r>
          </a:p>
          <a:p>
            <a:pPr eaLnBrk="1" hangingPunct="1">
              <a:lnSpc>
                <a:spcPct val="80000"/>
              </a:lnSpc>
              <a:buFontTx/>
              <a:buNone/>
            </a:pPr>
            <a:r>
              <a:rPr lang="en-US" altLang="zh-CN" sz="2800" dirty="0">
                <a:latin typeface="Times New Roman" panose="02020603050405020304" pitchFamily="18" charset="0"/>
              </a:rPr>
              <a:t>    </a:t>
            </a:r>
            <a:r>
              <a:rPr lang="en-US" altLang="zh-CN" sz="2400" dirty="0">
                <a:latin typeface="Times New Roman" panose="02020603050405020304" pitchFamily="18" charset="0"/>
              </a:rPr>
              <a:t>s = saving rate, d = depreciation rate.</a:t>
            </a:r>
          </a:p>
          <a:p>
            <a:pPr eaLnBrk="1" hangingPunct="1">
              <a:lnSpc>
                <a:spcPct val="80000"/>
              </a:lnSpc>
              <a:buFontTx/>
              <a:buNone/>
            </a:pPr>
            <a:r>
              <a:rPr lang="en-US" altLang="zh-CN" sz="2800" dirty="0">
                <a:latin typeface="Times New Roman" panose="02020603050405020304" pitchFamily="18" charset="0"/>
              </a:rPr>
              <a:t>                     </a:t>
            </a:r>
            <a:r>
              <a:rPr lang="el-GR" altLang="zh-CN" sz="2000" i="1" dirty="0">
                <a:latin typeface="Times New Roman" panose="02020603050405020304" pitchFamily="18" charset="0"/>
                <a:cs typeface="Times New Roman" panose="02020603050405020304" pitchFamily="18" charset="0"/>
              </a:rPr>
              <a:t>Δ</a:t>
            </a:r>
            <a:r>
              <a:rPr lang="en-US" altLang="zh-CN" sz="2000" i="1" dirty="0">
                <a:latin typeface="Times New Roman" panose="02020603050405020304" pitchFamily="18" charset="0"/>
                <a:cs typeface="Times New Roman" panose="02020603050405020304" pitchFamily="18" charset="0"/>
              </a:rPr>
              <a:t>K/L= </a:t>
            </a:r>
            <a:r>
              <a:rPr lang="en-US" altLang="zh-CN" sz="2000" i="1" dirty="0" err="1">
                <a:latin typeface="Times New Roman" panose="02020603050405020304" pitchFamily="18" charset="0"/>
                <a:cs typeface="Times New Roman" panose="02020603050405020304" pitchFamily="18" charset="0"/>
              </a:rPr>
              <a:t>sy</a:t>
            </a:r>
            <a:r>
              <a:rPr lang="en-US" altLang="zh-CN" sz="2000" i="1" dirty="0">
                <a:latin typeface="Times New Roman" panose="02020603050405020304" pitchFamily="18" charset="0"/>
                <a:cs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rPr>
              <a:t>dk</a:t>
            </a:r>
            <a:r>
              <a:rPr lang="en-US" altLang="zh-CN" sz="1800" i="1" dirty="0">
                <a:latin typeface="Times New Roman" panose="02020603050405020304" pitchFamily="18" charset="0"/>
                <a:cs typeface="Times New Roman" panose="02020603050405020304" pitchFamily="18" charset="0"/>
              </a:rPr>
              <a:t> </a:t>
            </a:r>
            <a:r>
              <a:rPr lang="en-US" altLang="zh-CN" sz="1800" i="1" dirty="0">
                <a:latin typeface="Times New Roman" panose="02020603050405020304" pitchFamily="18" charset="0"/>
              </a:rPr>
              <a:t>                            </a:t>
            </a:r>
            <a:r>
              <a:rPr lang="en-US" altLang="zh-CN" sz="1800" dirty="0">
                <a:latin typeface="Times New Roman" panose="02020603050405020304" pitchFamily="18" charset="0"/>
              </a:rPr>
              <a:t>(1)</a:t>
            </a:r>
          </a:p>
          <a:p>
            <a:pPr eaLnBrk="1" hangingPunct="1">
              <a:lnSpc>
                <a:spcPct val="80000"/>
              </a:lnSpc>
              <a:buFontTx/>
              <a:buNone/>
            </a:pPr>
            <a:r>
              <a:rPr lang="en-US" altLang="zh-CN" sz="2800" dirty="0">
                <a:latin typeface="Times New Roman" panose="02020603050405020304" pitchFamily="18" charset="0"/>
              </a:rPr>
              <a:t>   since</a:t>
            </a:r>
          </a:p>
          <a:p>
            <a:pPr eaLnBrk="1" hangingPunct="1">
              <a:lnSpc>
                <a:spcPct val="80000"/>
              </a:lnSpc>
              <a:buFontTx/>
              <a:buNone/>
            </a:pPr>
            <a:r>
              <a:rPr lang="en-US" altLang="zh-CN" sz="2800" dirty="0">
                <a:latin typeface="Times New Roman" panose="02020603050405020304" pitchFamily="18" charset="0"/>
              </a:rPr>
              <a:t>                                             </a:t>
            </a:r>
            <a:r>
              <a:rPr lang="en-US" altLang="zh-CN" sz="1800" dirty="0">
                <a:latin typeface="Times New Roman" panose="02020603050405020304" pitchFamily="18" charset="0"/>
              </a:rPr>
              <a:t>                 (2)</a:t>
            </a:r>
          </a:p>
          <a:p>
            <a:pPr eaLnBrk="1" hangingPunct="1">
              <a:lnSpc>
                <a:spcPct val="80000"/>
              </a:lnSpc>
              <a:buFontTx/>
              <a:buNone/>
            </a:pPr>
            <a:endParaRPr lang="en-US" altLang="zh-CN" sz="2800" dirty="0">
              <a:latin typeface="Times New Roman" panose="02020603050405020304" pitchFamily="18" charset="0"/>
            </a:endParaRPr>
          </a:p>
          <a:p>
            <a:pPr eaLnBrk="1" hangingPunct="1">
              <a:lnSpc>
                <a:spcPct val="80000"/>
              </a:lnSpc>
              <a:buFontTx/>
              <a:buNone/>
            </a:pPr>
            <a:r>
              <a:rPr lang="en-US" altLang="zh-CN" sz="2800" dirty="0">
                <a:latin typeface="Times New Roman" panose="02020603050405020304" pitchFamily="18" charset="0"/>
              </a:rPr>
              <a:t>   </a:t>
            </a:r>
            <a:r>
              <a:rPr lang="en-US" altLang="zh-CN" sz="2400" dirty="0">
                <a:latin typeface="Times New Roman" panose="02020603050405020304" pitchFamily="18" charset="0"/>
              </a:rPr>
              <a:t>Let</a:t>
            </a:r>
          </a:p>
          <a:p>
            <a:pPr eaLnBrk="1" hangingPunct="1">
              <a:lnSpc>
                <a:spcPct val="80000"/>
              </a:lnSpc>
              <a:buFontTx/>
              <a:buNone/>
            </a:pPr>
            <a:r>
              <a:rPr lang="en-US" altLang="zh-CN" sz="2400" dirty="0">
                <a:latin typeface="Times New Roman" panose="02020603050405020304" pitchFamily="18" charset="0"/>
              </a:rPr>
              <a:t>   (1)&amp;(2)           </a:t>
            </a:r>
          </a:p>
        </p:txBody>
      </p:sp>
      <p:graphicFrame>
        <p:nvGraphicFramePr>
          <p:cNvPr id="22531" name="Object 2">
            <a:extLst>
              <a:ext uri="{FF2B5EF4-FFF2-40B4-BE49-F238E27FC236}">
                <a16:creationId xmlns:a16="http://schemas.microsoft.com/office/drawing/2014/main" id="{88383443-3389-4821-981D-A969A6E955D0}"/>
              </a:ext>
            </a:extLst>
          </p:cNvPr>
          <p:cNvGraphicFramePr>
            <a:graphicFrameLocks noChangeAspect="1"/>
          </p:cNvGraphicFramePr>
          <p:nvPr/>
        </p:nvGraphicFramePr>
        <p:xfrm>
          <a:off x="2857500" y="549275"/>
          <a:ext cx="1081088" cy="523875"/>
        </p:xfrm>
        <a:graphic>
          <a:graphicData uri="http://schemas.openxmlformats.org/presentationml/2006/ole">
            <mc:AlternateContent xmlns:mc="http://schemas.openxmlformats.org/markup-compatibility/2006">
              <mc:Choice xmlns:v="urn:schemas-microsoft-com:vml" Requires="v">
                <p:oleObj name="Equation" r:id="rId2" imgW="812447" imgH="393529" progId="Equation.DSMT4">
                  <p:embed/>
                </p:oleObj>
              </mc:Choice>
              <mc:Fallback>
                <p:oleObj name="Equation" r:id="rId2" imgW="812447" imgH="393529" progId="Equation.DSMT4">
                  <p:embed/>
                  <p:pic>
                    <p:nvPicPr>
                      <p:cNvPr id="22531" name="Object 2">
                        <a:extLst>
                          <a:ext uri="{FF2B5EF4-FFF2-40B4-BE49-F238E27FC236}">
                            <a16:creationId xmlns:a16="http://schemas.microsoft.com/office/drawing/2014/main" id="{88383443-3389-4821-981D-A969A6E955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549275"/>
                        <a:ext cx="10810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2" name="Object 3">
            <a:extLst>
              <a:ext uri="{FF2B5EF4-FFF2-40B4-BE49-F238E27FC236}">
                <a16:creationId xmlns:a16="http://schemas.microsoft.com/office/drawing/2014/main" id="{6FDAAD1A-D83D-4A8E-BB01-861EAA8091B5}"/>
              </a:ext>
            </a:extLst>
          </p:cNvPr>
          <p:cNvGraphicFramePr>
            <a:graphicFrameLocks noChangeAspect="1"/>
          </p:cNvGraphicFramePr>
          <p:nvPr/>
        </p:nvGraphicFramePr>
        <p:xfrm>
          <a:off x="1000125" y="981075"/>
          <a:ext cx="534988" cy="517525"/>
        </p:xfrm>
        <a:graphic>
          <a:graphicData uri="http://schemas.openxmlformats.org/presentationml/2006/ole">
            <mc:AlternateContent xmlns:mc="http://schemas.openxmlformats.org/markup-compatibility/2006">
              <mc:Choice xmlns:v="urn:schemas-microsoft-com:vml" Requires="v">
                <p:oleObj name="Equation" r:id="rId4" imgW="406048" imgH="393359" progId="Equation.DSMT4">
                  <p:embed/>
                </p:oleObj>
              </mc:Choice>
              <mc:Fallback>
                <p:oleObj name="Equation" r:id="rId4" imgW="406048" imgH="393359" progId="Equation.DSMT4">
                  <p:embed/>
                  <p:pic>
                    <p:nvPicPr>
                      <p:cNvPr id="22532" name="Object 3">
                        <a:extLst>
                          <a:ext uri="{FF2B5EF4-FFF2-40B4-BE49-F238E27FC236}">
                            <a16:creationId xmlns:a16="http://schemas.microsoft.com/office/drawing/2014/main" id="{6FDAAD1A-D83D-4A8E-BB01-861EAA8091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125" y="981075"/>
                        <a:ext cx="53498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3" name="Object 4">
            <a:extLst>
              <a:ext uri="{FF2B5EF4-FFF2-40B4-BE49-F238E27FC236}">
                <a16:creationId xmlns:a16="http://schemas.microsoft.com/office/drawing/2014/main" id="{BC6A83F5-0144-411A-8756-DB07F8EAD257}"/>
              </a:ext>
            </a:extLst>
          </p:cNvPr>
          <p:cNvGraphicFramePr>
            <a:graphicFrameLocks noChangeAspect="1"/>
          </p:cNvGraphicFramePr>
          <p:nvPr/>
        </p:nvGraphicFramePr>
        <p:xfrm>
          <a:off x="1785938" y="981075"/>
          <a:ext cx="571500" cy="520700"/>
        </p:xfrm>
        <a:graphic>
          <a:graphicData uri="http://schemas.openxmlformats.org/presentationml/2006/ole">
            <mc:AlternateContent xmlns:mc="http://schemas.openxmlformats.org/markup-compatibility/2006">
              <mc:Choice xmlns:v="urn:schemas-microsoft-com:vml" Requires="v">
                <p:oleObj name="Equation" r:id="rId6" imgW="431613" imgH="393529" progId="Equation.DSMT4">
                  <p:embed/>
                </p:oleObj>
              </mc:Choice>
              <mc:Fallback>
                <p:oleObj name="Equation" r:id="rId6" imgW="431613" imgH="393529" progId="Equation.DSMT4">
                  <p:embed/>
                  <p:pic>
                    <p:nvPicPr>
                      <p:cNvPr id="22533" name="Object 4">
                        <a:extLst>
                          <a:ext uri="{FF2B5EF4-FFF2-40B4-BE49-F238E27FC236}">
                            <a16:creationId xmlns:a16="http://schemas.microsoft.com/office/drawing/2014/main" id="{BC6A83F5-0144-411A-8756-DB07F8EAD2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5938" y="981075"/>
                        <a:ext cx="5715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4" name="Object 5">
            <a:extLst>
              <a:ext uri="{FF2B5EF4-FFF2-40B4-BE49-F238E27FC236}">
                <a16:creationId xmlns:a16="http://schemas.microsoft.com/office/drawing/2014/main" id="{1DE57536-9363-481A-92B7-63AC47D00984}"/>
              </a:ext>
            </a:extLst>
          </p:cNvPr>
          <p:cNvGraphicFramePr>
            <a:graphicFrameLocks noChangeAspect="1"/>
          </p:cNvGraphicFramePr>
          <p:nvPr/>
        </p:nvGraphicFramePr>
        <p:xfrm>
          <a:off x="2286000" y="1643063"/>
          <a:ext cx="1800225" cy="320675"/>
        </p:xfrm>
        <a:graphic>
          <a:graphicData uri="http://schemas.openxmlformats.org/presentationml/2006/ole">
            <mc:AlternateContent xmlns:mc="http://schemas.openxmlformats.org/markup-compatibility/2006">
              <mc:Choice xmlns:v="urn:schemas-microsoft-com:vml" Requires="v">
                <p:oleObj name="Equation" r:id="rId8" imgW="1143000" imgH="203200" progId="Equation.DSMT4">
                  <p:embed/>
                </p:oleObj>
              </mc:Choice>
              <mc:Fallback>
                <p:oleObj name="Equation" r:id="rId8" imgW="1143000" imgH="203200" progId="Equation.DSMT4">
                  <p:embed/>
                  <p:pic>
                    <p:nvPicPr>
                      <p:cNvPr id="22534" name="Object 5">
                        <a:extLst>
                          <a:ext uri="{FF2B5EF4-FFF2-40B4-BE49-F238E27FC236}">
                            <a16:creationId xmlns:a16="http://schemas.microsoft.com/office/drawing/2014/main" id="{1DE57536-9363-481A-92B7-63AC47D0098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0" y="1643063"/>
                        <a:ext cx="18002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5" name="Object 6">
            <a:extLst>
              <a:ext uri="{FF2B5EF4-FFF2-40B4-BE49-F238E27FC236}">
                <a16:creationId xmlns:a16="http://schemas.microsoft.com/office/drawing/2014/main" id="{92B8DB3A-116D-417A-BB85-042FBBDA702B}"/>
              </a:ext>
            </a:extLst>
          </p:cNvPr>
          <p:cNvGraphicFramePr>
            <a:graphicFrameLocks noChangeAspect="1"/>
          </p:cNvGraphicFramePr>
          <p:nvPr/>
        </p:nvGraphicFramePr>
        <p:xfrm>
          <a:off x="2357438" y="2492375"/>
          <a:ext cx="1439862" cy="284163"/>
        </p:xfrm>
        <a:graphic>
          <a:graphicData uri="http://schemas.openxmlformats.org/presentationml/2006/ole">
            <mc:AlternateContent xmlns:mc="http://schemas.openxmlformats.org/markup-compatibility/2006">
              <mc:Choice xmlns:v="urn:schemas-microsoft-com:vml" Requires="v">
                <p:oleObj name="Equation" r:id="rId10" imgW="901309" imgH="177723" progId="Equation.DSMT4">
                  <p:embed/>
                </p:oleObj>
              </mc:Choice>
              <mc:Fallback>
                <p:oleObj name="Equation" r:id="rId10" imgW="901309" imgH="177723" progId="Equation.DSMT4">
                  <p:embed/>
                  <p:pic>
                    <p:nvPicPr>
                      <p:cNvPr id="22535" name="Object 6">
                        <a:extLst>
                          <a:ext uri="{FF2B5EF4-FFF2-40B4-BE49-F238E27FC236}">
                            <a16:creationId xmlns:a16="http://schemas.microsoft.com/office/drawing/2014/main" id="{92B8DB3A-116D-417A-BB85-042FBBDA70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7438" y="2492375"/>
                        <a:ext cx="1439862"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6" name="Object 8">
            <a:extLst>
              <a:ext uri="{FF2B5EF4-FFF2-40B4-BE49-F238E27FC236}">
                <a16:creationId xmlns:a16="http://schemas.microsoft.com/office/drawing/2014/main" id="{EE4E0A65-D857-4E38-886C-34EEAD68B5E6}"/>
              </a:ext>
            </a:extLst>
          </p:cNvPr>
          <p:cNvGraphicFramePr>
            <a:graphicFrameLocks noChangeAspect="1"/>
          </p:cNvGraphicFramePr>
          <p:nvPr>
            <p:extLst>
              <p:ext uri="{D42A27DB-BD31-4B8C-83A1-F6EECF244321}">
                <p14:modId xmlns:p14="http://schemas.microsoft.com/office/powerpoint/2010/main" val="1338202765"/>
              </p:ext>
            </p:extLst>
          </p:nvPr>
        </p:nvGraphicFramePr>
        <p:xfrm>
          <a:off x="1571625" y="3645024"/>
          <a:ext cx="3429000" cy="552450"/>
        </p:xfrm>
        <a:graphic>
          <a:graphicData uri="http://schemas.openxmlformats.org/presentationml/2006/ole">
            <mc:AlternateContent xmlns:mc="http://schemas.openxmlformats.org/markup-compatibility/2006">
              <mc:Choice xmlns:v="urn:schemas-microsoft-com:vml" Requires="v">
                <p:oleObj name="Equation" r:id="rId12" imgW="2451100" imgH="393700" progId="Equation.DSMT4">
                  <p:embed/>
                </p:oleObj>
              </mc:Choice>
              <mc:Fallback>
                <p:oleObj name="Equation" r:id="rId12" imgW="2451100" imgH="393700" progId="Equation.DSMT4">
                  <p:embed/>
                  <p:pic>
                    <p:nvPicPr>
                      <p:cNvPr id="22536" name="Object 8">
                        <a:extLst>
                          <a:ext uri="{FF2B5EF4-FFF2-40B4-BE49-F238E27FC236}">
                            <a16:creationId xmlns:a16="http://schemas.microsoft.com/office/drawing/2014/main" id="{EE4E0A65-D857-4E38-886C-34EEAD68B5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71625" y="3645024"/>
                        <a:ext cx="34290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7" name="Object 10">
            <a:extLst>
              <a:ext uri="{FF2B5EF4-FFF2-40B4-BE49-F238E27FC236}">
                <a16:creationId xmlns:a16="http://schemas.microsoft.com/office/drawing/2014/main" id="{EDF9477C-CB66-4FFC-93D3-94ABAF914E3C}"/>
              </a:ext>
            </a:extLst>
          </p:cNvPr>
          <p:cNvGraphicFramePr>
            <a:graphicFrameLocks noChangeAspect="1"/>
          </p:cNvGraphicFramePr>
          <p:nvPr>
            <p:extLst>
              <p:ext uri="{D42A27DB-BD31-4B8C-83A1-F6EECF244321}">
                <p14:modId xmlns:p14="http://schemas.microsoft.com/office/powerpoint/2010/main" val="3758689539"/>
              </p:ext>
            </p:extLst>
          </p:nvPr>
        </p:nvGraphicFramePr>
        <p:xfrm>
          <a:off x="1214438" y="4221088"/>
          <a:ext cx="1643062" cy="612775"/>
        </p:xfrm>
        <a:graphic>
          <a:graphicData uri="http://schemas.openxmlformats.org/presentationml/2006/ole">
            <mc:AlternateContent xmlns:mc="http://schemas.openxmlformats.org/markup-compatibility/2006">
              <mc:Choice xmlns:v="urn:schemas-microsoft-com:vml" Requires="v">
                <p:oleObj name="Equation" r:id="rId14" imgW="1054100" imgH="393700" progId="Equation.DSMT4">
                  <p:embed/>
                </p:oleObj>
              </mc:Choice>
              <mc:Fallback>
                <p:oleObj name="Equation" r:id="rId14" imgW="1054100" imgH="393700" progId="Equation.DSMT4">
                  <p:embed/>
                  <p:pic>
                    <p:nvPicPr>
                      <p:cNvPr id="22537" name="Object 10">
                        <a:extLst>
                          <a:ext uri="{FF2B5EF4-FFF2-40B4-BE49-F238E27FC236}">
                            <a16:creationId xmlns:a16="http://schemas.microsoft.com/office/drawing/2014/main" id="{EDF9477C-CB66-4FFC-93D3-94ABAF914E3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4438" y="4221088"/>
                        <a:ext cx="164306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8" name="Object 12">
            <a:extLst>
              <a:ext uri="{FF2B5EF4-FFF2-40B4-BE49-F238E27FC236}">
                <a16:creationId xmlns:a16="http://schemas.microsoft.com/office/drawing/2014/main" id="{2977BA9F-9E06-4A87-9A95-5C1CB2E7A360}"/>
              </a:ext>
            </a:extLst>
          </p:cNvPr>
          <p:cNvGraphicFramePr>
            <a:graphicFrameLocks noChangeAspect="1"/>
          </p:cNvGraphicFramePr>
          <p:nvPr/>
        </p:nvGraphicFramePr>
        <p:xfrm>
          <a:off x="2714625" y="5429250"/>
          <a:ext cx="1728788" cy="322263"/>
        </p:xfrm>
        <a:graphic>
          <a:graphicData uri="http://schemas.openxmlformats.org/presentationml/2006/ole">
            <mc:AlternateContent xmlns:mc="http://schemas.openxmlformats.org/markup-compatibility/2006">
              <mc:Choice xmlns:v="urn:schemas-microsoft-com:vml" Requires="v">
                <p:oleObj name="Equation" r:id="rId16" imgW="1091726" imgH="203112" progId="Equation.DSMT4">
                  <p:embed/>
                </p:oleObj>
              </mc:Choice>
              <mc:Fallback>
                <p:oleObj name="Equation" r:id="rId16" imgW="1091726" imgH="203112" progId="Equation.DSMT4">
                  <p:embed/>
                  <p:pic>
                    <p:nvPicPr>
                      <p:cNvPr id="22538" name="Object 12">
                        <a:extLst>
                          <a:ext uri="{FF2B5EF4-FFF2-40B4-BE49-F238E27FC236}">
                            <a16:creationId xmlns:a16="http://schemas.microsoft.com/office/drawing/2014/main" id="{2977BA9F-9E06-4A87-9A95-5C1CB2E7A36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14625" y="5429250"/>
                        <a:ext cx="1728788"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9" name="Object 13">
            <a:extLst>
              <a:ext uri="{FF2B5EF4-FFF2-40B4-BE49-F238E27FC236}">
                <a16:creationId xmlns:a16="http://schemas.microsoft.com/office/drawing/2014/main" id="{DA32536A-5D60-4127-AFF1-8696B0767606}"/>
              </a:ext>
            </a:extLst>
          </p:cNvPr>
          <p:cNvGraphicFramePr>
            <a:graphicFrameLocks noChangeAspect="1"/>
          </p:cNvGraphicFramePr>
          <p:nvPr/>
        </p:nvGraphicFramePr>
        <p:xfrm>
          <a:off x="2714625" y="5929313"/>
          <a:ext cx="1800225" cy="320675"/>
        </p:xfrm>
        <a:graphic>
          <a:graphicData uri="http://schemas.openxmlformats.org/presentationml/2006/ole">
            <mc:AlternateContent xmlns:mc="http://schemas.openxmlformats.org/markup-compatibility/2006">
              <mc:Choice xmlns:v="urn:schemas-microsoft-com:vml" Requires="v">
                <p:oleObj name="Equation" r:id="rId18" imgW="1143000" imgH="203200" progId="Equation.DSMT4">
                  <p:embed/>
                </p:oleObj>
              </mc:Choice>
              <mc:Fallback>
                <p:oleObj name="Equation" r:id="rId18" imgW="1143000" imgH="203200" progId="Equation.DSMT4">
                  <p:embed/>
                  <p:pic>
                    <p:nvPicPr>
                      <p:cNvPr id="22539" name="Object 13">
                        <a:extLst>
                          <a:ext uri="{FF2B5EF4-FFF2-40B4-BE49-F238E27FC236}">
                            <a16:creationId xmlns:a16="http://schemas.microsoft.com/office/drawing/2014/main" id="{DA32536A-5D60-4127-AFF1-8696B076760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14625" y="5929313"/>
                        <a:ext cx="18002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0" name="Object 11">
            <a:extLst>
              <a:ext uri="{FF2B5EF4-FFF2-40B4-BE49-F238E27FC236}">
                <a16:creationId xmlns:a16="http://schemas.microsoft.com/office/drawing/2014/main" id="{36AB9899-F811-46A0-832A-AAB2773534FC}"/>
              </a:ext>
            </a:extLst>
          </p:cNvPr>
          <p:cNvGraphicFramePr>
            <a:graphicFrameLocks noGrp="1" noChangeAspect="1"/>
          </p:cNvGraphicFramePr>
          <p:nvPr>
            <p:ph sz="half" idx="2"/>
            <p:extLst>
              <p:ext uri="{D42A27DB-BD31-4B8C-83A1-F6EECF244321}">
                <p14:modId xmlns:p14="http://schemas.microsoft.com/office/powerpoint/2010/main" val="699892419"/>
              </p:ext>
            </p:extLst>
          </p:nvPr>
        </p:nvGraphicFramePr>
        <p:xfrm>
          <a:off x="1785938" y="4941168"/>
          <a:ext cx="792162" cy="554038"/>
        </p:xfrm>
        <a:graphic>
          <a:graphicData uri="http://schemas.openxmlformats.org/presentationml/2006/ole">
            <mc:AlternateContent xmlns:mc="http://schemas.openxmlformats.org/markup-compatibility/2006">
              <mc:Choice xmlns:v="urn:schemas-microsoft-com:vml" Requires="v">
                <p:oleObj name="Equation" r:id="rId20" imgW="482391" imgH="393529" progId="Equation.DSMT4">
                  <p:embed/>
                </p:oleObj>
              </mc:Choice>
              <mc:Fallback>
                <p:oleObj name="Equation" r:id="rId20" imgW="482391" imgH="393529" progId="Equation.DSMT4">
                  <p:embed/>
                  <p:pic>
                    <p:nvPicPr>
                      <p:cNvPr id="22540" name="Object 11">
                        <a:extLst>
                          <a:ext uri="{FF2B5EF4-FFF2-40B4-BE49-F238E27FC236}">
                            <a16:creationId xmlns:a16="http://schemas.microsoft.com/office/drawing/2014/main" id="{36AB9899-F811-46A0-832A-AAB2773534F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85938" y="4941168"/>
                        <a:ext cx="792162"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1" name="Object 9">
            <a:extLst>
              <a:ext uri="{FF2B5EF4-FFF2-40B4-BE49-F238E27FC236}">
                <a16:creationId xmlns:a16="http://schemas.microsoft.com/office/drawing/2014/main" id="{B6BDAF13-50C9-4E8C-9CC9-1DA659B3B573}"/>
              </a:ext>
            </a:extLst>
          </p:cNvPr>
          <p:cNvGraphicFramePr>
            <a:graphicFrameLocks noChangeAspect="1"/>
          </p:cNvGraphicFramePr>
          <p:nvPr/>
        </p:nvGraphicFramePr>
        <p:xfrm>
          <a:off x="642938" y="4429125"/>
          <a:ext cx="614362" cy="247650"/>
        </p:xfrm>
        <a:graphic>
          <a:graphicData uri="http://schemas.openxmlformats.org/presentationml/2006/ole">
            <mc:AlternateContent xmlns:mc="http://schemas.openxmlformats.org/markup-compatibility/2006">
              <mc:Choice xmlns:v="urn:schemas-microsoft-com:vml" Requires="v">
                <p:oleObj name="Equation" r:id="rId22" imgW="190417" imgH="152334" progId="Equation.DSMT4">
                  <p:embed/>
                </p:oleObj>
              </mc:Choice>
              <mc:Fallback>
                <p:oleObj name="Equation" r:id="rId22" imgW="190417" imgH="152334" progId="Equation.DSMT4">
                  <p:embed/>
                  <p:pic>
                    <p:nvPicPr>
                      <p:cNvPr id="22541" name="Object 9">
                        <a:extLst>
                          <a:ext uri="{FF2B5EF4-FFF2-40B4-BE49-F238E27FC236}">
                            <a16:creationId xmlns:a16="http://schemas.microsoft.com/office/drawing/2014/main" id="{B6BDAF13-50C9-4E8C-9CC9-1DA659B3B57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2938" y="4429125"/>
                        <a:ext cx="61436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2" name="Object 30">
            <a:extLst>
              <a:ext uri="{FF2B5EF4-FFF2-40B4-BE49-F238E27FC236}">
                <a16:creationId xmlns:a16="http://schemas.microsoft.com/office/drawing/2014/main" id="{2478129A-E20B-452B-B8CF-01A4A4F44708}"/>
              </a:ext>
            </a:extLst>
          </p:cNvPr>
          <p:cNvGraphicFramePr>
            <a:graphicFrameLocks noChangeAspect="1"/>
          </p:cNvGraphicFramePr>
          <p:nvPr/>
        </p:nvGraphicFramePr>
        <p:xfrm>
          <a:off x="1714500" y="5500688"/>
          <a:ext cx="676275" cy="273050"/>
        </p:xfrm>
        <a:graphic>
          <a:graphicData uri="http://schemas.openxmlformats.org/presentationml/2006/ole">
            <mc:AlternateContent xmlns:mc="http://schemas.openxmlformats.org/markup-compatibility/2006">
              <mc:Choice xmlns:v="urn:schemas-microsoft-com:vml" Requires="v">
                <p:oleObj name="Equation" r:id="rId22" imgW="190417" imgH="152334" progId="Equation.DSMT4">
                  <p:embed/>
                </p:oleObj>
              </mc:Choice>
              <mc:Fallback>
                <p:oleObj name="Equation" r:id="rId22" imgW="190417" imgH="152334" progId="Equation.DSMT4">
                  <p:embed/>
                  <p:pic>
                    <p:nvPicPr>
                      <p:cNvPr id="22542" name="Object 30">
                        <a:extLst>
                          <a:ext uri="{FF2B5EF4-FFF2-40B4-BE49-F238E27FC236}">
                            <a16:creationId xmlns:a16="http://schemas.microsoft.com/office/drawing/2014/main" id="{2478129A-E20B-452B-B8CF-01A4A4F4470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714500" y="5500688"/>
                        <a:ext cx="6762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3" name="Object 31">
            <a:extLst>
              <a:ext uri="{FF2B5EF4-FFF2-40B4-BE49-F238E27FC236}">
                <a16:creationId xmlns:a16="http://schemas.microsoft.com/office/drawing/2014/main" id="{0BF1776A-79A3-4C50-8525-3D75820643FC}"/>
              </a:ext>
            </a:extLst>
          </p:cNvPr>
          <p:cNvGraphicFramePr>
            <a:graphicFrameLocks noChangeAspect="1"/>
          </p:cNvGraphicFramePr>
          <p:nvPr/>
        </p:nvGraphicFramePr>
        <p:xfrm>
          <a:off x="1714500" y="5929313"/>
          <a:ext cx="676275" cy="273050"/>
        </p:xfrm>
        <a:graphic>
          <a:graphicData uri="http://schemas.openxmlformats.org/presentationml/2006/ole">
            <mc:AlternateContent xmlns:mc="http://schemas.openxmlformats.org/markup-compatibility/2006">
              <mc:Choice xmlns:v="urn:schemas-microsoft-com:vml" Requires="v">
                <p:oleObj name="Equation" r:id="rId22" imgW="190417" imgH="152334" progId="Equation.DSMT4">
                  <p:embed/>
                </p:oleObj>
              </mc:Choice>
              <mc:Fallback>
                <p:oleObj name="Equation" r:id="rId22" imgW="190417" imgH="152334" progId="Equation.DSMT4">
                  <p:embed/>
                  <p:pic>
                    <p:nvPicPr>
                      <p:cNvPr id="22543" name="Object 31">
                        <a:extLst>
                          <a:ext uri="{FF2B5EF4-FFF2-40B4-BE49-F238E27FC236}">
                            <a16:creationId xmlns:a16="http://schemas.microsoft.com/office/drawing/2014/main" id="{0BF1776A-79A3-4C50-8525-3D75820643F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714500" y="5929313"/>
                        <a:ext cx="6762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9A24FDBB-A48B-4553-B2BC-31B51A272182}"/>
              </a:ext>
            </a:extLst>
          </p:cNvPr>
          <p:cNvSpPr>
            <a:spLocks noGrp="1" noChangeArrowheads="1"/>
          </p:cNvSpPr>
          <p:nvPr>
            <p:ph type="body" idx="1"/>
          </p:nvPr>
        </p:nvSpPr>
        <p:spPr>
          <a:xfrm>
            <a:off x="395288" y="1125538"/>
            <a:ext cx="8291512" cy="5327650"/>
          </a:xfrm>
        </p:spPr>
        <p:txBody>
          <a:bodyPr/>
          <a:lstStyle/>
          <a:p>
            <a:pPr eaLnBrk="1" hangingPunct="1"/>
            <a:r>
              <a:rPr lang="en-US" altLang="zh-CN" sz="2200" dirty="0">
                <a:latin typeface="Times New Roman" panose="02020603050405020304" pitchFamily="18" charset="0"/>
              </a:rPr>
              <a:t>Change in capital-labor ratio</a:t>
            </a:r>
          </a:p>
          <a:p>
            <a:pPr eaLnBrk="1" hangingPunct="1">
              <a:buFontTx/>
              <a:buNone/>
            </a:pPr>
            <a:r>
              <a:rPr lang="en-US" altLang="zh-CN" sz="2200" dirty="0">
                <a:latin typeface="Times New Roman" panose="02020603050405020304" pitchFamily="18" charset="0"/>
              </a:rPr>
              <a:t>    a. Positively related to per capita saving, </a:t>
            </a:r>
            <a:r>
              <a:rPr lang="en-US" altLang="zh-CN" sz="2200" i="1" dirty="0" err="1">
                <a:latin typeface="Times New Roman" panose="02020603050405020304" pitchFamily="18" charset="0"/>
              </a:rPr>
              <a:t>sy</a:t>
            </a:r>
            <a:endParaRPr lang="en-US" altLang="zh-CN" sz="2200" i="1" dirty="0">
              <a:latin typeface="Times New Roman" panose="02020603050405020304" pitchFamily="18" charset="0"/>
            </a:endParaRPr>
          </a:p>
          <a:p>
            <a:pPr eaLnBrk="1" hangingPunct="1">
              <a:buFontTx/>
              <a:buNone/>
            </a:pPr>
            <a:r>
              <a:rPr lang="en-US" altLang="zh-CN" sz="2200" dirty="0">
                <a:latin typeface="Times New Roman" panose="02020603050405020304" pitchFamily="18" charset="0"/>
              </a:rPr>
              <a:t>    b. Negatively related to population growth, </a:t>
            </a:r>
            <a:r>
              <a:rPr lang="en-US" altLang="zh-CN" sz="2200" i="1" dirty="0">
                <a:latin typeface="Times New Roman" panose="02020603050405020304" pitchFamily="18" charset="0"/>
              </a:rPr>
              <a:t>n</a:t>
            </a:r>
          </a:p>
          <a:p>
            <a:pPr eaLnBrk="1" hangingPunct="1">
              <a:buFontTx/>
              <a:buNone/>
            </a:pPr>
            <a:r>
              <a:rPr lang="en-US" altLang="zh-CN" sz="2200" dirty="0">
                <a:latin typeface="Times New Roman" panose="02020603050405020304" pitchFamily="18" charset="0"/>
              </a:rPr>
              <a:t>    c. Negatively related to depreciation rate, </a:t>
            </a:r>
            <a:r>
              <a:rPr lang="en-US" altLang="zh-CN" sz="2200" i="1" dirty="0">
                <a:latin typeface="Times New Roman" panose="02020603050405020304" pitchFamily="18" charset="0"/>
              </a:rPr>
              <a:t>d</a:t>
            </a:r>
            <a:r>
              <a:rPr lang="en-US" altLang="zh-CN" sz="2200" dirty="0">
                <a:latin typeface="Times New Roman" panose="02020603050405020304" pitchFamily="18" charset="0"/>
              </a:rPr>
              <a:t> </a:t>
            </a:r>
          </a:p>
          <a:p>
            <a:pPr eaLnBrk="1" hangingPunct="1">
              <a:buFontTx/>
              <a:buNone/>
            </a:pPr>
            <a:endParaRPr lang="en-US" altLang="zh-CN" sz="2200" dirty="0">
              <a:latin typeface="Times New Roman" panose="02020603050405020304" pitchFamily="18" charset="0"/>
            </a:endParaRPr>
          </a:p>
          <a:p>
            <a:pPr eaLnBrk="1" hangingPunct="1"/>
            <a:r>
              <a:rPr lang="en-US" altLang="zh-CN" sz="2200" dirty="0">
                <a:latin typeface="Times New Roman" panose="02020603050405020304" pitchFamily="18" charset="0"/>
              </a:rPr>
              <a:t>Capital deepening:</a:t>
            </a:r>
            <a:endParaRPr lang="en-US" altLang="zh-CN" sz="2200" dirty="0"/>
          </a:p>
          <a:p>
            <a:pPr lvl="1" eaLnBrk="1" hangingPunct="1"/>
            <a:r>
              <a:rPr lang="en-US" altLang="zh-CN" sz="2200" dirty="0">
                <a:latin typeface="Times New Roman" panose="02020603050405020304" pitchFamily="18" charset="0"/>
              </a:rPr>
              <a:t>The process to increase </a:t>
            </a:r>
            <a:r>
              <a:rPr lang="en-US" altLang="zh-CN" sz="2200" i="1" dirty="0">
                <a:latin typeface="Times New Roman" panose="02020603050405020304" pitchFamily="18" charset="0"/>
              </a:rPr>
              <a:t>k</a:t>
            </a:r>
            <a:r>
              <a:rPr lang="en-US" altLang="zh-CN" sz="2200" dirty="0">
                <a:latin typeface="Times New Roman" panose="02020603050405020304" pitchFamily="18" charset="0"/>
              </a:rPr>
              <a:t> (i.e., </a:t>
            </a:r>
            <a:r>
              <a:rPr lang="en-US" altLang="zh-CN" sz="2200" i="1" dirty="0" err="1">
                <a:latin typeface="Times New Roman" panose="02020603050405020304" pitchFamily="18" charset="0"/>
              </a:rPr>
              <a:t>Δ</a:t>
            </a:r>
            <a:r>
              <a:rPr lang="en-US" altLang="zh-CN" sz="2200" i="1" dirty="0">
                <a:latin typeface="Times New Roman" panose="02020603050405020304" pitchFamily="18" charset="0"/>
              </a:rPr>
              <a:t> k </a:t>
            </a:r>
            <a:r>
              <a:rPr lang="en-US" altLang="zh-CN" sz="2200" dirty="0">
                <a:latin typeface="Times New Roman" panose="02020603050405020304" pitchFamily="18" charset="0"/>
              </a:rPr>
              <a:t>&gt;0) is called Capital deepening. Important for growth in transition.</a:t>
            </a:r>
          </a:p>
          <a:p>
            <a:pPr lvl="1" eaLnBrk="1" hangingPunct="1"/>
            <a:endParaRPr lang="en-US" altLang="zh-CN" sz="2200" dirty="0">
              <a:latin typeface="Times New Roman" panose="02020603050405020304" pitchFamily="18" charset="0"/>
            </a:endParaRPr>
          </a:p>
          <a:p>
            <a:pPr eaLnBrk="1" hangingPunct="1"/>
            <a:r>
              <a:rPr lang="en-US" altLang="zh-CN" sz="2200" dirty="0">
                <a:latin typeface="Times New Roman" panose="02020603050405020304" pitchFamily="18" charset="0"/>
              </a:rPr>
              <a:t>Capital widening:</a:t>
            </a:r>
            <a:endParaRPr lang="en-US" altLang="zh-CN" sz="2200" dirty="0"/>
          </a:p>
          <a:p>
            <a:pPr lvl="1" eaLnBrk="1" hangingPunct="1"/>
            <a:r>
              <a:rPr lang="en-US" altLang="zh-CN" sz="2200" dirty="0">
                <a:latin typeface="Times New Roman" panose="02020603050405020304" pitchFamily="18" charset="0"/>
              </a:rPr>
              <a:t>The process to keep </a:t>
            </a:r>
            <a:r>
              <a:rPr lang="en-US" altLang="zh-CN" sz="2200" i="1" dirty="0">
                <a:latin typeface="Times New Roman" panose="02020603050405020304" pitchFamily="18" charset="0"/>
              </a:rPr>
              <a:t>k </a:t>
            </a:r>
            <a:r>
              <a:rPr lang="en-US" altLang="zh-CN" sz="2200" dirty="0">
                <a:latin typeface="Times New Roman" panose="02020603050405020304" pitchFamily="18" charset="0"/>
              </a:rPr>
              <a:t>constant (i.e., </a:t>
            </a:r>
            <a:r>
              <a:rPr lang="en-US" altLang="zh-CN" sz="2200" i="1" dirty="0" err="1">
                <a:latin typeface="Times New Roman" panose="02020603050405020304" pitchFamily="18" charset="0"/>
              </a:rPr>
              <a:t>Δ</a:t>
            </a:r>
            <a:r>
              <a:rPr lang="en-US" altLang="zh-CN" sz="2200" i="1" dirty="0">
                <a:latin typeface="Times New Roman" panose="02020603050405020304" pitchFamily="18" charset="0"/>
              </a:rPr>
              <a:t> k </a:t>
            </a:r>
            <a:r>
              <a:rPr lang="en-US" altLang="zh-CN" sz="2200" dirty="0">
                <a:latin typeface="Times New Roman" panose="02020603050405020304" pitchFamily="18" charset="0"/>
              </a:rPr>
              <a:t>= 0) is called Capital widening.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B5C96F4A-A0AF-4FE7-B8B8-C647296FB0C6}"/>
              </a:ext>
            </a:extLst>
          </p:cNvPr>
          <p:cNvSpPr>
            <a:spLocks noGrp="1" noChangeArrowheads="1"/>
          </p:cNvSpPr>
          <p:nvPr>
            <p:ph type="body" sz="half" idx="1"/>
          </p:nvPr>
        </p:nvSpPr>
        <p:spPr>
          <a:xfrm>
            <a:off x="468313" y="333375"/>
            <a:ext cx="8064500" cy="6048375"/>
          </a:xfrm>
          <a:ln cap="rnd">
            <a:solidFill>
              <a:srgbClr val="000000"/>
            </a:solidFill>
            <a:prstDash val="sysDot"/>
            <a:miter lim="800000"/>
            <a:headEnd/>
            <a:tailEnd/>
          </a:ln>
        </p:spPr>
        <p:txBody>
          <a:bodyPr/>
          <a:lstStyle/>
          <a:p>
            <a:pPr marL="609600" indent="-609600" eaLnBrk="1" hangingPunct="1">
              <a:lnSpc>
                <a:spcPct val="90000"/>
              </a:lnSpc>
              <a:buFontTx/>
              <a:buNone/>
            </a:pPr>
            <a:r>
              <a:rPr lang="en-US" altLang="zh-CN" sz="2400" dirty="0">
                <a:latin typeface="Times New Roman" panose="02020603050405020304" pitchFamily="18" charset="0"/>
              </a:rPr>
              <a:t>3. The steady-state equilibrium:                            </a:t>
            </a:r>
            <a:r>
              <a:rPr lang="en-US" altLang="zh-CN" sz="1800" i="1" dirty="0">
                <a:latin typeface="Times New Roman" panose="02020603050405020304" pitchFamily="18" charset="0"/>
              </a:rPr>
              <a:t>(</a:t>
            </a:r>
            <a:r>
              <a:rPr lang="el-GR" altLang="zh-CN" sz="1800" i="1" dirty="0">
                <a:latin typeface="Times New Roman" panose="02020603050405020304" pitchFamily="18" charset="0"/>
                <a:cs typeface="Times New Roman" panose="02020603050405020304" pitchFamily="18" charset="0"/>
              </a:rPr>
              <a:t>Δ</a:t>
            </a:r>
            <a:r>
              <a:rPr lang="en-US" altLang="zh-CN" sz="1800" i="1" dirty="0">
                <a:latin typeface="Times New Roman" panose="02020603050405020304" pitchFamily="18" charset="0"/>
                <a:cs typeface="Times New Roman" panose="02020603050405020304" pitchFamily="18" charset="0"/>
              </a:rPr>
              <a:t>k = 0, </a:t>
            </a:r>
            <a:r>
              <a:rPr lang="el-GR" altLang="zh-CN" sz="1800" i="1" dirty="0">
                <a:latin typeface="Times New Roman" panose="02020603050405020304" pitchFamily="18" charset="0"/>
                <a:cs typeface="Times New Roman" panose="02020603050405020304" pitchFamily="18" charset="0"/>
              </a:rPr>
              <a:t>Δ</a:t>
            </a:r>
            <a:r>
              <a:rPr lang="en-US" altLang="zh-CN" sz="1800" i="1" dirty="0">
                <a:latin typeface="Times New Roman" panose="02020603050405020304" pitchFamily="18" charset="0"/>
                <a:cs typeface="Times New Roman" panose="02020603050405020304" pitchFamily="18" charset="0"/>
              </a:rPr>
              <a:t>y = 0</a:t>
            </a:r>
            <a:r>
              <a:rPr lang="en-US" altLang="zh-CN" sz="1800" i="1" dirty="0">
                <a:latin typeface="Times New Roman" panose="02020603050405020304" pitchFamily="18" charset="0"/>
              </a:rPr>
              <a:t>)</a:t>
            </a: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buFontTx/>
              <a:buNone/>
            </a:pPr>
            <a:endParaRPr lang="en-US" altLang="zh-CN" sz="2400" dirty="0">
              <a:latin typeface="Times New Roman" panose="02020603050405020304" pitchFamily="18" charset="0"/>
            </a:endParaRPr>
          </a:p>
          <a:p>
            <a:pPr marL="609600" indent="-609600" eaLnBrk="1" hangingPunct="1">
              <a:lnSpc>
                <a:spcPct val="90000"/>
              </a:lnSpc>
            </a:pPr>
            <a:r>
              <a:rPr lang="en-US" altLang="zh-CN" sz="1800" dirty="0">
                <a:latin typeface="Times New Roman" panose="02020603050405020304" pitchFamily="18" charset="0"/>
              </a:rPr>
              <a:t> </a:t>
            </a:r>
            <a:r>
              <a:rPr lang="en-US" altLang="zh-CN" sz="1800" i="1" dirty="0">
                <a:latin typeface="Times New Roman" panose="02020603050405020304" pitchFamily="18" charset="0"/>
              </a:rPr>
              <a:t>k</a:t>
            </a:r>
            <a:r>
              <a:rPr lang="en-US" altLang="zh-CN" sz="1000" dirty="0">
                <a:latin typeface="Times New Roman" panose="02020603050405020304" pitchFamily="18" charset="0"/>
              </a:rPr>
              <a:t>0</a:t>
            </a:r>
            <a:r>
              <a:rPr lang="en-US" altLang="zh-CN" sz="1800" dirty="0">
                <a:latin typeface="Times New Roman" panose="02020603050405020304" pitchFamily="18" charset="0"/>
              </a:rPr>
              <a:t>: steady-state capital-labor ratio;</a:t>
            </a:r>
          </a:p>
          <a:p>
            <a:pPr marL="609600" indent="-609600" eaLnBrk="1" hangingPunct="1">
              <a:lnSpc>
                <a:spcPct val="90000"/>
              </a:lnSpc>
            </a:pPr>
            <a:r>
              <a:rPr lang="en-US" altLang="zh-CN" sz="1800" dirty="0">
                <a:latin typeface="Times New Roman" panose="02020603050405020304" pitchFamily="18" charset="0"/>
              </a:rPr>
              <a:t> </a:t>
            </a:r>
            <a:r>
              <a:rPr lang="en-US" altLang="zh-CN" sz="1800" i="1" dirty="0">
                <a:latin typeface="Times New Roman" panose="02020603050405020304" pitchFamily="18" charset="0"/>
              </a:rPr>
              <a:t>y</a:t>
            </a:r>
            <a:r>
              <a:rPr lang="en-US" altLang="zh-CN" sz="1000" dirty="0">
                <a:latin typeface="Times New Roman" panose="02020603050405020304" pitchFamily="18" charset="0"/>
              </a:rPr>
              <a:t>0</a:t>
            </a:r>
            <a:r>
              <a:rPr lang="en-US" altLang="zh-CN" sz="1800" dirty="0">
                <a:latin typeface="Times New Roman" panose="02020603050405020304" pitchFamily="18" charset="0"/>
              </a:rPr>
              <a:t>: steady-state output-labor ratio.</a:t>
            </a:r>
          </a:p>
          <a:p>
            <a:pPr marL="609600" indent="-609600" eaLnBrk="1" hangingPunct="1">
              <a:lnSpc>
                <a:spcPct val="90000"/>
              </a:lnSpc>
            </a:pPr>
            <a:r>
              <a:rPr lang="en-US" altLang="zh-CN" sz="1800" dirty="0">
                <a:latin typeface="Times New Roman" panose="02020603050405020304" pitchFamily="18" charset="0"/>
              </a:rPr>
              <a:t>New saving = new capital needed for the growth of  workforce &amp; depreciation.</a:t>
            </a:r>
          </a:p>
          <a:p>
            <a:pPr marL="609600" indent="-609600" eaLnBrk="1" hangingPunct="1">
              <a:lnSpc>
                <a:spcPct val="90000"/>
              </a:lnSpc>
            </a:pPr>
            <a:r>
              <a:rPr lang="en-US" altLang="zh-CN" sz="1800" dirty="0">
                <a:latin typeface="Times New Roman" panose="02020603050405020304" pitchFamily="18" charset="0"/>
              </a:rPr>
              <a:t>The growth rate of output per worker,     , and the growth rate of capital per worker     , are 0. </a:t>
            </a:r>
          </a:p>
          <a:p>
            <a:pPr marL="609600" indent="-609600" eaLnBrk="1" hangingPunct="1">
              <a:lnSpc>
                <a:spcPct val="90000"/>
              </a:lnSpc>
            </a:pPr>
            <a:r>
              <a:rPr lang="en-US" altLang="zh-CN" sz="1800" dirty="0">
                <a:latin typeface="Times New Roman" panose="02020603050405020304" pitchFamily="18" charset="0"/>
              </a:rPr>
              <a:t>Growth rate of </a:t>
            </a:r>
            <a:r>
              <a:rPr lang="en-US" altLang="zh-CN" sz="1800" i="1" dirty="0">
                <a:latin typeface="Times New Roman" panose="02020603050405020304" pitchFamily="18" charset="0"/>
              </a:rPr>
              <a:t>Y </a:t>
            </a:r>
            <a:r>
              <a:rPr lang="en-US" altLang="zh-CN" sz="1800" dirty="0">
                <a:latin typeface="Times New Roman" panose="02020603050405020304" pitchFamily="18" charset="0"/>
              </a:rPr>
              <a:t>= Growth rate of </a:t>
            </a:r>
            <a:r>
              <a:rPr lang="en-US" altLang="zh-CN" sz="1800" i="1" dirty="0">
                <a:latin typeface="Times New Roman" panose="02020603050405020304" pitchFamily="18" charset="0"/>
              </a:rPr>
              <a:t>L</a:t>
            </a:r>
            <a:r>
              <a:rPr lang="en-US" altLang="zh-CN" sz="1800" dirty="0">
                <a:latin typeface="Times New Roman" panose="02020603050405020304" pitchFamily="18" charset="0"/>
              </a:rPr>
              <a:t>.</a:t>
            </a:r>
          </a:p>
        </p:txBody>
      </p:sp>
      <p:graphicFrame>
        <p:nvGraphicFramePr>
          <p:cNvPr id="24579" name="Object 7">
            <a:extLst>
              <a:ext uri="{FF2B5EF4-FFF2-40B4-BE49-F238E27FC236}">
                <a16:creationId xmlns:a16="http://schemas.microsoft.com/office/drawing/2014/main" id="{F60BCA7A-9385-47D1-BA2E-4B7F9AF2837C}"/>
              </a:ext>
            </a:extLst>
          </p:cNvPr>
          <p:cNvGraphicFramePr>
            <a:graphicFrameLocks noChangeAspect="1"/>
          </p:cNvGraphicFramePr>
          <p:nvPr/>
        </p:nvGraphicFramePr>
        <p:xfrm>
          <a:off x="1914525" y="5492750"/>
          <a:ext cx="209550" cy="431800"/>
        </p:xfrm>
        <a:graphic>
          <a:graphicData uri="http://schemas.openxmlformats.org/presentationml/2006/ole">
            <mc:AlternateContent xmlns:mc="http://schemas.openxmlformats.org/markup-compatibility/2006">
              <mc:Choice xmlns:v="urn:schemas-microsoft-com:vml" Requires="v">
                <p:oleObj name="Equation" r:id="rId2" imgW="190417" imgH="393529" progId="Equation.DSMT4">
                  <p:embed/>
                </p:oleObj>
              </mc:Choice>
              <mc:Fallback>
                <p:oleObj name="Equation" r:id="rId2" imgW="190417" imgH="393529" progId="Equation.DSMT4">
                  <p:embed/>
                  <p:pic>
                    <p:nvPicPr>
                      <p:cNvPr id="24579" name="Object 7">
                        <a:extLst>
                          <a:ext uri="{FF2B5EF4-FFF2-40B4-BE49-F238E27FC236}">
                            <a16:creationId xmlns:a16="http://schemas.microsoft.com/office/drawing/2014/main" id="{F60BCA7A-9385-47D1-BA2E-4B7F9AF28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5492750"/>
                        <a:ext cx="2095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0" name="Object 9">
            <a:extLst>
              <a:ext uri="{FF2B5EF4-FFF2-40B4-BE49-F238E27FC236}">
                <a16:creationId xmlns:a16="http://schemas.microsoft.com/office/drawing/2014/main" id="{79D6EEA2-BE51-4734-866A-7BBC77BE0AAC}"/>
              </a:ext>
            </a:extLst>
          </p:cNvPr>
          <p:cNvGraphicFramePr>
            <a:graphicFrameLocks noGrp="1" noChangeAspect="1"/>
          </p:cNvGraphicFramePr>
          <p:nvPr>
            <p:ph sz="half" idx="2"/>
          </p:nvPr>
        </p:nvGraphicFramePr>
        <p:xfrm>
          <a:off x="4737100" y="5222875"/>
          <a:ext cx="195263" cy="465138"/>
        </p:xfrm>
        <a:graphic>
          <a:graphicData uri="http://schemas.openxmlformats.org/presentationml/2006/ole">
            <mc:AlternateContent xmlns:mc="http://schemas.openxmlformats.org/markup-compatibility/2006">
              <mc:Choice xmlns:v="urn:schemas-microsoft-com:vml" Requires="v">
                <p:oleObj name="Equation" r:id="rId4" imgW="164957" imgH="393359" progId="Equation.DSMT4">
                  <p:embed/>
                </p:oleObj>
              </mc:Choice>
              <mc:Fallback>
                <p:oleObj name="Equation" r:id="rId4" imgW="164957" imgH="393359" progId="Equation.DSMT4">
                  <p:embed/>
                  <p:pic>
                    <p:nvPicPr>
                      <p:cNvPr id="24580" name="Object 9">
                        <a:extLst>
                          <a:ext uri="{FF2B5EF4-FFF2-40B4-BE49-F238E27FC236}">
                            <a16:creationId xmlns:a16="http://schemas.microsoft.com/office/drawing/2014/main" id="{79D6EEA2-BE51-4734-866A-7BBC77BE0A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7100" y="5222875"/>
                        <a:ext cx="19526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 name="Straight Arrow Connector 8">
            <a:extLst>
              <a:ext uri="{FF2B5EF4-FFF2-40B4-BE49-F238E27FC236}">
                <a16:creationId xmlns:a16="http://schemas.microsoft.com/office/drawing/2014/main" id="{6443CC21-A3F1-4162-BE3D-5E28EDD9CA38}"/>
              </a:ext>
            </a:extLst>
          </p:cNvPr>
          <p:cNvCxnSpPr/>
          <p:nvPr/>
        </p:nvCxnSpPr>
        <p:spPr>
          <a:xfrm rot="5400000" flipH="1" flipV="1">
            <a:off x="107157" y="2321719"/>
            <a:ext cx="2786062"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E67680A-3EA8-4F6F-94CD-C1A4741C5DB2}"/>
              </a:ext>
            </a:extLst>
          </p:cNvPr>
          <p:cNvCxnSpPr/>
          <p:nvPr/>
        </p:nvCxnSpPr>
        <p:spPr>
          <a:xfrm>
            <a:off x="1500188" y="3714750"/>
            <a:ext cx="4572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583" name="Straight Connector 13">
            <a:extLst>
              <a:ext uri="{FF2B5EF4-FFF2-40B4-BE49-F238E27FC236}">
                <a16:creationId xmlns:a16="http://schemas.microsoft.com/office/drawing/2014/main" id="{039C3EAB-68BE-438F-A1EE-72955ECC1002}"/>
              </a:ext>
            </a:extLst>
          </p:cNvPr>
          <p:cNvCxnSpPr>
            <a:cxnSpLocks noChangeShapeType="1"/>
          </p:cNvCxnSpPr>
          <p:nvPr/>
        </p:nvCxnSpPr>
        <p:spPr bwMode="auto">
          <a:xfrm flipV="1">
            <a:off x="1547813" y="1268413"/>
            <a:ext cx="4214812" cy="2428875"/>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sp>
        <p:nvSpPr>
          <p:cNvPr id="16" name="Freeform 15">
            <a:extLst>
              <a:ext uri="{FF2B5EF4-FFF2-40B4-BE49-F238E27FC236}">
                <a16:creationId xmlns:a16="http://schemas.microsoft.com/office/drawing/2014/main" id="{36A48BC6-2CD6-4286-925B-4C802A37CFF6}"/>
              </a:ext>
            </a:extLst>
          </p:cNvPr>
          <p:cNvSpPr/>
          <p:nvPr/>
        </p:nvSpPr>
        <p:spPr>
          <a:xfrm>
            <a:off x="1500188" y="1014413"/>
            <a:ext cx="4579937" cy="2689225"/>
          </a:xfrm>
          <a:custGeom>
            <a:avLst/>
            <a:gdLst>
              <a:gd name="connsiteX0" fmla="*/ 0 w 4581144"/>
              <a:gd name="connsiteY0" fmla="*/ 2688336 h 2688336"/>
              <a:gd name="connsiteX1" fmla="*/ 1179576 w 4581144"/>
              <a:gd name="connsiteY1" fmla="*/ 722376 h 2688336"/>
              <a:gd name="connsiteX2" fmla="*/ 4581144 w 4581144"/>
              <a:gd name="connsiteY2" fmla="*/ 0 h 2688336"/>
            </a:gdLst>
            <a:ahLst/>
            <a:cxnLst>
              <a:cxn ang="0">
                <a:pos x="connsiteX0" y="connsiteY0"/>
              </a:cxn>
              <a:cxn ang="0">
                <a:pos x="connsiteX1" y="connsiteY1"/>
              </a:cxn>
              <a:cxn ang="0">
                <a:pos x="connsiteX2" y="connsiteY2"/>
              </a:cxn>
            </a:cxnLst>
            <a:rect l="l" t="t" r="r" b="b"/>
            <a:pathLst>
              <a:path w="4581144" h="2688336">
                <a:moveTo>
                  <a:pt x="0" y="2688336"/>
                </a:moveTo>
                <a:cubicBezTo>
                  <a:pt x="208026" y="1929384"/>
                  <a:pt x="416052" y="1170432"/>
                  <a:pt x="1179576" y="722376"/>
                </a:cubicBezTo>
                <a:cubicBezTo>
                  <a:pt x="1943100" y="274320"/>
                  <a:pt x="4015740" y="109728"/>
                  <a:pt x="4581144" y="0"/>
                </a:cubicBezTo>
              </a:path>
            </a:pathLst>
          </a:custGeom>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en-US"/>
          </a:p>
        </p:txBody>
      </p:sp>
      <p:sp>
        <p:nvSpPr>
          <p:cNvPr id="17" name="Freeform 16">
            <a:extLst>
              <a:ext uri="{FF2B5EF4-FFF2-40B4-BE49-F238E27FC236}">
                <a16:creationId xmlns:a16="http://schemas.microsoft.com/office/drawing/2014/main" id="{03BCFEBF-DC54-4B21-9792-5CA633BD9F58}"/>
              </a:ext>
            </a:extLst>
          </p:cNvPr>
          <p:cNvSpPr/>
          <p:nvPr/>
        </p:nvSpPr>
        <p:spPr>
          <a:xfrm>
            <a:off x="1500188" y="1785938"/>
            <a:ext cx="4013200" cy="1927225"/>
          </a:xfrm>
          <a:custGeom>
            <a:avLst/>
            <a:gdLst>
              <a:gd name="connsiteX0" fmla="*/ 0 w 4005072"/>
              <a:gd name="connsiteY0" fmla="*/ 1947672 h 1947672"/>
              <a:gd name="connsiteX1" fmla="*/ 1207008 w 4005072"/>
              <a:gd name="connsiteY1" fmla="*/ 630936 h 1947672"/>
              <a:gd name="connsiteX2" fmla="*/ 4005072 w 4005072"/>
              <a:gd name="connsiteY2" fmla="*/ 0 h 1947672"/>
            </a:gdLst>
            <a:ahLst/>
            <a:cxnLst>
              <a:cxn ang="0">
                <a:pos x="connsiteX0" y="connsiteY0"/>
              </a:cxn>
              <a:cxn ang="0">
                <a:pos x="connsiteX1" y="connsiteY1"/>
              </a:cxn>
              <a:cxn ang="0">
                <a:pos x="connsiteX2" y="connsiteY2"/>
              </a:cxn>
            </a:cxnLst>
            <a:rect l="l" t="t" r="r" b="b"/>
            <a:pathLst>
              <a:path w="4005072" h="1947672">
                <a:moveTo>
                  <a:pt x="0" y="1947672"/>
                </a:moveTo>
                <a:cubicBezTo>
                  <a:pt x="269748" y="1451610"/>
                  <a:pt x="539496" y="955548"/>
                  <a:pt x="1207008" y="630936"/>
                </a:cubicBezTo>
                <a:cubicBezTo>
                  <a:pt x="1874520" y="306324"/>
                  <a:pt x="2939796" y="153162"/>
                  <a:pt x="4005072" y="0"/>
                </a:cubicBezTo>
              </a:path>
            </a:pathLst>
          </a:custGeom>
        </p:spPr>
        <p:style>
          <a:lnRef idx="1">
            <a:schemeClr val="accent6"/>
          </a:lnRef>
          <a:fillRef idx="0">
            <a:schemeClr val="accent6"/>
          </a:fillRef>
          <a:effectRef idx="0">
            <a:schemeClr val="accent6"/>
          </a:effectRef>
          <a:fontRef idx="minor">
            <a:schemeClr val="tx1"/>
          </a:fontRef>
        </p:style>
        <p:txBody>
          <a:bodyPr anchor="ctr"/>
          <a:lstStyle/>
          <a:p>
            <a:pPr algn="ctr" eaLnBrk="1" hangingPunct="1">
              <a:defRPr/>
            </a:pPr>
            <a:endParaRPr lang="en-US"/>
          </a:p>
        </p:txBody>
      </p:sp>
      <p:cxnSp>
        <p:nvCxnSpPr>
          <p:cNvPr id="24586" name="Straight Connector 18">
            <a:extLst>
              <a:ext uri="{FF2B5EF4-FFF2-40B4-BE49-F238E27FC236}">
                <a16:creationId xmlns:a16="http://schemas.microsoft.com/office/drawing/2014/main" id="{DD9D45CB-3532-43FF-9272-4944756D3162}"/>
              </a:ext>
            </a:extLst>
          </p:cNvPr>
          <p:cNvCxnSpPr>
            <a:cxnSpLocks noChangeShapeType="1"/>
          </p:cNvCxnSpPr>
          <p:nvPr/>
        </p:nvCxnSpPr>
        <p:spPr bwMode="auto">
          <a:xfrm rot="5400000">
            <a:off x="1605757" y="2750344"/>
            <a:ext cx="1930400" cy="1587"/>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cxnSp>
        <p:nvCxnSpPr>
          <p:cNvPr id="24587" name="Straight Connector 20">
            <a:extLst>
              <a:ext uri="{FF2B5EF4-FFF2-40B4-BE49-F238E27FC236}">
                <a16:creationId xmlns:a16="http://schemas.microsoft.com/office/drawing/2014/main" id="{6567CFB7-9CA9-491C-8F21-6EF1C752CFBB}"/>
              </a:ext>
            </a:extLst>
          </p:cNvPr>
          <p:cNvCxnSpPr>
            <a:cxnSpLocks noChangeShapeType="1"/>
          </p:cNvCxnSpPr>
          <p:nvPr/>
        </p:nvCxnSpPr>
        <p:spPr bwMode="auto">
          <a:xfrm rot="10800000">
            <a:off x="1500188" y="1785938"/>
            <a:ext cx="1071562" cy="1587"/>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cxnSp>
        <p:nvCxnSpPr>
          <p:cNvPr id="24588" name="Straight Connector 24">
            <a:extLst>
              <a:ext uri="{FF2B5EF4-FFF2-40B4-BE49-F238E27FC236}">
                <a16:creationId xmlns:a16="http://schemas.microsoft.com/office/drawing/2014/main" id="{495EBF89-50B9-45FC-8A0F-692685BD87C3}"/>
              </a:ext>
            </a:extLst>
          </p:cNvPr>
          <p:cNvCxnSpPr>
            <a:cxnSpLocks noChangeShapeType="1"/>
          </p:cNvCxnSpPr>
          <p:nvPr/>
        </p:nvCxnSpPr>
        <p:spPr bwMode="auto">
          <a:xfrm rot="5400000">
            <a:off x="3320257" y="2464594"/>
            <a:ext cx="2501900" cy="1587"/>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cxnSp>
        <p:nvCxnSpPr>
          <p:cNvPr id="24589" name="Straight Connector 26">
            <a:extLst>
              <a:ext uri="{FF2B5EF4-FFF2-40B4-BE49-F238E27FC236}">
                <a16:creationId xmlns:a16="http://schemas.microsoft.com/office/drawing/2014/main" id="{D9E59787-BC02-4253-AC41-4905758BE13E}"/>
              </a:ext>
            </a:extLst>
          </p:cNvPr>
          <p:cNvCxnSpPr>
            <a:cxnSpLocks noChangeShapeType="1"/>
          </p:cNvCxnSpPr>
          <p:nvPr/>
        </p:nvCxnSpPr>
        <p:spPr bwMode="auto">
          <a:xfrm rot="10800000">
            <a:off x="1500188" y="1214438"/>
            <a:ext cx="3071812" cy="1587"/>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cxnSp>
        <p:nvCxnSpPr>
          <p:cNvPr id="24590" name="Straight Connector 34">
            <a:extLst>
              <a:ext uri="{FF2B5EF4-FFF2-40B4-BE49-F238E27FC236}">
                <a16:creationId xmlns:a16="http://schemas.microsoft.com/office/drawing/2014/main" id="{FB7979DC-7E47-4F9F-8D31-7CE0B7C8110E}"/>
              </a:ext>
            </a:extLst>
          </p:cNvPr>
          <p:cNvCxnSpPr>
            <a:cxnSpLocks noChangeShapeType="1"/>
          </p:cNvCxnSpPr>
          <p:nvPr/>
        </p:nvCxnSpPr>
        <p:spPr bwMode="auto">
          <a:xfrm rot="5400000">
            <a:off x="4106862" y="2393951"/>
            <a:ext cx="2644775" cy="0"/>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cxnSp>
        <p:nvCxnSpPr>
          <p:cNvPr id="24591" name="Straight Connector 40">
            <a:extLst>
              <a:ext uri="{FF2B5EF4-FFF2-40B4-BE49-F238E27FC236}">
                <a16:creationId xmlns:a16="http://schemas.microsoft.com/office/drawing/2014/main" id="{B7207CFA-2C59-40D7-811A-E3885EFAE76D}"/>
              </a:ext>
            </a:extLst>
          </p:cNvPr>
          <p:cNvCxnSpPr>
            <a:cxnSpLocks noChangeShapeType="1"/>
          </p:cNvCxnSpPr>
          <p:nvPr/>
        </p:nvCxnSpPr>
        <p:spPr bwMode="auto">
          <a:xfrm rot="10800000">
            <a:off x="1500188" y="1071563"/>
            <a:ext cx="3929062" cy="1587"/>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graphicFrame>
        <p:nvGraphicFramePr>
          <p:cNvPr id="8219" name="Group 27">
            <a:extLst>
              <a:ext uri="{FF2B5EF4-FFF2-40B4-BE49-F238E27FC236}">
                <a16:creationId xmlns:a16="http://schemas.microsoft.com/office/drawing/2014/main" id="{B957CBD6-496A-464E-820A-680F2DE16D01}"/>
              </a:ext>
            </a:extLst>
          </p:cNvPr>
          <p:cNvGraphicFramePr>
            <a:graphicFrameLocks noGrp="1"/>
          </p:cNvGraphicFramePr>
          <p:nvPr/>
        </p:nvGraphicFramePr>
        <p:xfrm>
          <a:off x="6084888" y="908050"/>
          <a:ext cx="609600" cy="274638"/>
        </p:xfrm>
        <a:graphic>
          <a:graphicData uri="http://schemas.openxmlformats.org/drawingml/2006/table">
            <a:tbl>
              <a:tblPr/>
              <a:tblGrid>
                <a:gridCol w="609600">
                  <a:extLst>
                    <a:ext uri="{9D8B030D-6E8A-4147-A177-3AD203B41FA5}">
                      <a16:colId xmlns:a16="http://schemas.microsoft.com/office/drawing/2014/main" val="20000"/>
                    </a:ext>
                  </a:extLst>
                </a:gridCol>
              </a:tblGrid>
              <a:tr h="274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y=f(k)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3" marB="4577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29" name="Group 37">
            <a:extLst>
              <a:ext uri="{FF2B5EF4-FFF2-40B4-BE49-F238E27FC236}">
                <a16:creationId xmlns:a16="http://schemas.microsoft.com/office/drawing/2014/main" id="{88D1123C-E6E1-4EC6-8091-FCBC6EB1099E}"/>
              </a:ext>
            </a:extLst>
          </p:cNvPr>
          <p:cNvGraphicFramePr>
            <a:graphicFrameLocks noGrp="1"/>
          </p:cNvGraphicFramePr>
          <p:nvPr/>
        </p:nvGraphicFramePr>
        <p:xfrm>
          <a:off x="5795963" y="1196975"/>
          <a:ext cx="609600" cy="274638"/>
        </p:xfrm>
        <a:graphic>
          <a:graphicData uri="http://schemas.openxmlformats.org/drawingml/2006/table">
            <a:tbl>
              <a:tblPr/>
              <a:tblGrid>
                <a:gridCol w="609600">
                  <a:extLst>
                    <a:ext uri="{9D8B030D-6E8A-4147-A177-3AD203B41FA5}">
                      <a16:colId xmlns:a16="http://schemas.microsoft.com/office/drawing/2014/main" val="20000"/>
                    </a:ext>
                  </a:extLst>
                </a:gridCol>
              </a:tblGrid>
              <a:tr h="274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(n+d)k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3" marB="4577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30" name="Group 38">
            <a:extLst>
              <a:ext uri="{FF2B5EF4-FFF2-40B4-BE49-F238E27FC236}">
                <a16:creationId xmlns:a16="http://schemas.microsoft.com/office/drawing/2014/main" id="{8A25578A-79FD-4804-8F72-018F77FA929F}"/>
              </a:ext>
            </a:extLst>
          </p:cNvPr>
          <p:cNvGraphicFramePr>
            <a:graphicFrameLocks noGrp="1"/>
          </p:cNvGraphicFramePr>
          <p:nvPr/>
        </p:nvGraphicFramePr>
        <p:xfrm>
          <a:off x="900113" y="3789363"/>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55" name="Group 63">
            <a:extLst>
              <a:ext uri="{FF2B5EF4-FFF2-40B4-BE49-F238E27FC236}">
                <a16:creationId xmlns:a16="http://schemas.microsoft.com/office/drawing/2014/main" id="{8FD43CCC-7D83-439A-9702-46185FB1CCD2}"/>
              </a:ext>
            </a:extLst>
          </p:cNvPr>
          <p:cNvGraphicFramePr>
            <a:graphicFrameLocks noGrp="1"/>
          </p:cNvGraphicFramePr>
          <p:nvPr/>
        </p:nvGraphicFramePr>
        <p:xfrm>
          <a:off x="971550" y="765175"/>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67" name="Group 75">
            <a:extLst>
              <a:ext uri="{FF2B5EF4-FFF2-40B4-BE49-F238E27FC236}">
                <a16:creationId xmlns:a16="http://schemas.microsoft.com/office/drawing/2014/main" id="{FF7D743F-473E-4379-80BF-E558B52D1774}"/>
              </a:ext>
            </a:extLst>
          </p:cNvPr>
          <p:cNvGraphicFramePr>
            <a:graphicFrameLocks noGrp="1"/>
          </p:cNvGraphicFramePr>
          <p:nvPr/>
        </p:nvGraphicFramePr>
        <p:xfrm>
          <a:off x="1116013" y="908050"/>
          <a:ext cx="576262" cy="258764"/>
        </p:xfrm>
        <a:graphic>
          <a:graphicData uri="http://schemas.openxmlformats.org/drawingml/2006/table">
            <a:tbl>
              <a:tblPr/>
              <a:tblGrid>
                <a:gridCol w="576262">
                  <a:extLst>
                    <a:ext uri="{9D8B030D-6E8A-4147-A177-3AD203B41FA5}">
                      <a16:colId xmlns:a16="http://schemas.microsoft.com/office/drawing/2014/main" val="20000"/>
                    </a:ext>
                  </a:extLst>
                </a:gridCol>
              </a:tblGrid>
              <a:tr h="2587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77" name="Group 85">
            <a:extLst>
              <a:ext uri="{FF2B5EF4-FFF2-40B4-BE49-F238E27FC236}">
                <a16:creationId xmlns:a16="http://schemas.microsoft.com/office/drawing/2014/main" id="{61D50859-DFDF-406B-9B8B-0934B94A028B}"/>
              </a:ext>
            </a:extLst>
          </p:cNvPr>
          <p:cNvGraphicFramePr>
            <a:graphicFrameLocks noGrp="1"/>
          </p:cNvGraphicFramePr>
          <p:nvPr/>
        </p:nvGraphicFramePr>
        <p:xfrm>
          <a:off x="1116013" y="1125538"/>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87" name="Group 95">
            <a:extLst>
              <a:ext uri="{FF2B5EF4-FFF2-40B4-BE49-F238E27FC236}">
                <a16:creationId xmlns:a16="http://schemas.microsoft.com/office/drawing/2014/main" id="{966115BF-CA4E-4CB5-A2C1-6201F70A08F8}"/>
              </a:ext>
            </a:extLst>
          </p:cNvPr>
          <p:cNvGraphicFramePr>
            <a:graphicFrameLocks noGrp="1"/>
          </p:cNvGraphicFramePr>
          <p:nvPr/>
        </p:nvGraphicFramePr>
        <p:xfrm>
          <a:off x="1116013" y="170021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97" name="Group 105">
            <a:extLst>
              <a:ext uri="{FF2B5EF4-FFF2-40B4-BE49-F238E27FC236}">
                <a16:creationId xmlns:a16="http://schemas.microsoft.com/office/drawing/2014/main" id="{40389D60-BA98-401F-9C83-BA08F4EABB6D}"/>
              </a:ext>
            </a:extLst>
          </p:cNvPr>
          <p:cNvGraphicFramePr>
            <a:graphicFrameLocks noGrp="1"/>
          </p:cNvGraphicFramePr>
          <p:nvPr/>
        </p:nvGraphicFramePr>
        <p:xfrm>
          <a:off x="6084888"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307" name="Group 115">
            <a:extLst>
              <a:ext uri="{FF2B5EF4-FFF2-40B4-BE49-F238E27FC236}">
                <a16:creationId xmlns:a16="http://schemas.microsoft.com/office/drawing/2014/main" id="{7DE42E7C-A75C-441D-B9A4-A07ADF5511F5}"/>
              </a:ext>
            </a:extLst>
          </p:cNvPr>
          <p:cNvGraphicFramePr>
            <a:graphicFrameLocks noGrp="1"/>
          </p:cNvGraphicFramePr>
          <p:nvPr/>
        </p:nvGraphicFramePr>
        <p:xfrm>
          <a:off x="2411413"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317" name="Group 125">
            <a:extLst>
              <a:ext uri="{FF2B5EF4-FFF2-40B4-BE49-F238E27FC236}">
                <a16:creationId xmlns:a16="http://schemas.microsoft.com/office/drawing/2014/main" id="{9A627F57-23AC-4406-A1F4-A24665A9A1E0}"/>
              </a:ext>
            </a:extLst>
          </p:cNvPr>
          <p:cNvGraphicFramePr>
            <a:graphicFrameLocks noGrp="1"/>
          </p:cNvGraphicFramePr>
          <p:nvPr/>
        </p:nvGraphicFramePr>
        <p:xfrm>
          <a:off x="4356100"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328" name="Group 136">
            <a:extLst>
              <a:ext uri="{FF2B5EF4-FFF2-40B4-BE49-F238E27FC236}">
                <a16:creationId xmlns:a16="http://schemas.microsoft.com/office/drawing/2014/main" id="{264DA5A2-F3D9-4A46-9DCC-5EE58E45C1A4}"/>
              </a:ext>
            </a:extLst>
          </p:cNvPr>
          <p:cNvGraphicFramePr>
            <a:graphicFrameLocks noGrp="1"/>
          </p:cNvGraphicFramePr>
          <p:nvPr/>
        </p:nvGraphicFramePr>
        <p:xfrm>
          <a:off x="5292725"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4614" name="Object 19">
            <a:extLst>
              <a:ext uri="{FF2B5EF4-FFF2-40B4-BE49-F238E27FC236}">
                <a16:creationId xmlns:a16="http://schemas.microsoft.com/office/drawing/2014/main" id="{D3CD564F-29CE-4D39-A903-0CCCB802B130}"/>
              </a:ext>
            </a:extLst>
          </p:cNvPr>
          <p:cNvGraphicFramePr>
            <a:graphicFrameLocks noChangeAspect="1"/>
          </p:cNvGraphicFramePr>
          <p:nvPr/>
        </p:nvGraphicFramePr>
        <p:xfrm>
          <a:off x="4572000" y="620713"/>
          <a:ext cx="1150938" cy="282575"/>
        </p:xfrm>
        <a:graphic>
          <a:graphicData uri="http://schemas.openxmlformats.org/presentationml/2006/ole">
            <mc:AlternateContent xmlns:mc="http://schemas.openxmlformats.org/markup-compatibility/2006">
              <mc:Choice xmlns:v="urn:schemas-microsoft-com:vml" Requires="v">
                <p:oleObj name="Equation" r:id="rId6" imgW="825500" imgH="203200" progId="Equation.DSMT4">
                  <p:embed/>
                </p:oleObj>
              </mc:Choice>
              <mc:Fallback>
                <p:oleObj name="Equation" r:id="rId6" imgW="825500" imgH="203200" progId="Equation.DSMT4">
                  <p:embed/>
                  <p:pic>
                    <p:nvPicPr>
                      <p:cNvPr id="24614" name="Object 19">
                        <a:extLst>
                          <a:ext uri="{FF2B5EF4-FFF2-40B4-BE49-F238E27FC236}">
                            <a16:creationId xmlns:a16="http://schemas.microsoft.com/office/drawing/2014/main" id="{D3CD564F-29CE-4D39-A903-0CCCB802B1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620713"/>
                        <a:ext cx="1150938"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15" name="Line 138">
            <a:extLst>
              <a:ext uri="{FF2B5EF4-FFF2-40B4-BE49-F238E27FC236}">
                <a16:creationId xmlns:a16="http://schemas.microsoft.com/office/drawing/2014/main" id="{9D4D4A0A-3CB9-480F-892B-2ABCD889CFEE}"/>
              </a:ext>
            </a:extLst>
          </p:cNvPr>
          <p:cNvSpPr>
            <a:spLocks noChangeShapeType="1"/>
          </p:cNvSpPr>
          <p:nvPr/>
        </p:nvSpPr>
        <p:spPr bwMode="auto">
          <a:xfrm flipV="1">
            <a:off x="3419475" y="2205038"/>
            <a:ext cx="43180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616" name="Line 139">
            <a:extLst>
              <a:ext uri="{FF2B5EF4-FFF2-40B4-BE49-F238E27FC236}">
                <a16:creationId xmlns:a16="http://schemas.microsoft.com/office/drawing/2014/main" id="{85EF789A-7741-4F21-8F51-CC8C350161E6}"/>
              </a:ext>
            </a:extLst>
          </p:cNvPr>
          <p:cNvSpPr>
            <a:spLocks noChangeShapeType="1"/>
          </p:cNvSpPr>
          <p:nvPr/>
        </p:nvSpPr>
        <p:spPr bwMode="auto">
          <a:xfrm flipH="1">
            <a:off x="5148263" y="1628775"/>
            <a:ext cx="215900" cy="714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8341" name="Group 149">
            <a:extLst>
              <a:ext uri="{FF2B5EF4-FFF2-40B4-BE49-F238E27FC236}">
                <a16:creationId xmlns:a16="http://schemas.microsoft.com/office/drawing/2014/main" id="{740A26DE-549E-4109-848F-BBA75AF4E23E}"/>
              </a:ext>
            </a:extLst>
          </p:cNvPr>
          <p:cNvGraphicFramePr>
            <a:graphicFrameLocks noGrp="1"/>
          </p:cNvGraphicFramePr>
          <p:nvPr/>
        </p:nvGraphicFramePr>
        <p:xfrm>
          <a:off x="4572000" y="1989138"/>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342" name="Group 150">
            <a:extLst>
              <a:ext uri="{FF2B5EF4-FFF2-40B4-BE49-F238E27FC236}">
                <a16:creationId xmlns:a16="http://schemas.microsoft.com/office/drawing/2014/main" id="{FA5C93A3-2E9C-414B-9C82-B590B6AC16DA}"/>
              </a:ext>
            </a:extLst>
          </p:cNvPr>
          <p:cNvGraphicFramePr>
            <a:graphicFrameLocks noGrp="1"/>
          </p:cNvGraphicFramePr>
          <p:nvPr/>
        </p:nvGraphicFramePr>
        <p:xfrm>
          <a:off x="5651500" y="170021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14">
            <a:extLst>
              <a:ext uri="{FF2B5EF4-FFF2-40B4-BE49-F238E27FC236}">
                <a16:creationId xmlns:a16="http://schemas.microsoft.com/office/drawing/2014/main" id="{1B8ACF5C-8D4A-4D5C-8629-7BA8C039A44E}"/>
              </a:ext>
            </a:extLst>
          </p:cNvPr>
          <p:cNvGraphicFramePr>
            <a:graphicFrameLocks noChangeAspect="1"/>
          </p:cNvGraphicFramePr>
          <p:nvPr/>
        </p:nvGraphicFramePr>
        <p:xfrm>
          <a:off x="1046163" y="787400"/>
          <a:ext cx="1008062" cy="665163"/>
        </p:xfrm>
        <a:graphic>
          <a:graphicData uri="http://schemas.openxmlformats.org/presentationml/2006/ole">
            <mc:AlternateContent xmlns:mc="http://schemas.openxmlformats.org/markup-compatibility/2006">
              <mc:Choice xmlns:v="urn:schemas-microsoft-com:vml" Requires="v">
                <p:oleObj name="Equation" r:id="rId2" imgW="596641" imgH="393529" progId="Equation.DSMT4">
                  <p:embed/>
                </p:oleObj>
              </mc:Choice>
              <mc:Fallback>
                <p:oleObj name="Equation" r:id="rId2" imgW="596641" imgH="393529" progId="Equation.DSMT4">
                  <p:embed/>
                  <p:pic>
                    <p:nvPicPr>
                      <p:cNvPr id="25602" name="Object 14">
                        <a:extLst>
                          <a:ext uri="{FF2B5EF4-FFF2-40B4-BE49-F238E27FC236}">
                            <a16:creationId xmlns:a16="http://schemas.microsoft.com/office/drawing/2014/main" id="{1B8ACF5C-8D4A-4D5C-8629-7BA8C039A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163" y="787400"/>
                        <a:ext cx="1008062" cy="66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3" name="Object 15">
            <a:extLst>
              <a:ext uri="{FF2B5EF4-FFF2-40B4-BE49-F238E27FC236}">
                <a16:creationId xmlns:a16="http://schemas.microsoft.com/office/drawing/2014/main" id="{F996C7CB-1D3D-4D01-A816-B93C47E92C6D}"/>
              </a:ext>
            </a:extLst>
          </p:cNvPr>
          <p:cNvGraphicFramePr>
            <a:graphicFrameLocks noChangeAspect="1"/>
          </p:cNvGraphicFramePr>
          <p:nvPr/>
        </p:nvGraphicFramePr>
        <p:xfrm>
          <a:off x="1042988" y="1484313"/>
          <a:ext cx="2160587" cy="582612"/>
        </p:xfrm>
        <a:graphic>
          <a:graphicData uri="http://schemas.openxmlformats.org/presentationml/2006/ole">
            <mc:AlternateContent xmlns:mc="http://schemas.openxmlformats.org/markup-compatibility/2006">
              <mc:Choice xmlns:v="urn:schemas-microsoft-com:vml" Requires="v">
                <p:oleObj name="Equation" r:id="rId4" imgW="1459866" imgH="393529" progId="Equation.DSMT4">
                  <p:embed/>
                </p:oleObj>
              </mc:Choice>
              <mc:Fallback>
                <p:oleObj name="Equation" r:id="rId4" imgW="1459866" imgH="393529" progId="Equation.DSMT4">
                  <p:embed/>
                  <p:pic>
                    <p:nvPicPr>
                      <p:cNvPr id="25603" name="Object 15">
                        <a:extLst>
                          <a:ext uri="{FF2B5EF4-FFF2-40B4-BE49-F238E27FC236}">
                            <a16:creationId xmlns:a16="http://schemas.microsoft.com/office/drawing/2014/main" id="{F996C7CB-1D3D-4D01-A816-B93C47E92C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484313"/>
                        <a:ext cx="2160587"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4" name="Object 16">
            <a:extLst>
              <a:ext uri="{FF2B5EF4-FFF2-40B4-BE49-F238E27FC236}">
                <a16:creationId xmlns:a16="http://schemas.microsoft.com/office/drawing/2014/main" id="{9975AA37-6748-4414-8485-5026F778F191}"/>
              </a:ext>
            </a:extLst>
          </p:cNvPr>
          <p:cNvGraphicFramePr>
            <a:graphicFrameLocks noChangeAspect="1"/>
          </p:cNvGraphicFramePr>
          <p:nvPr/>
        </p:nvGraphicFramePr>
        <p:xfrm>
          <a:off x="1071563" y="2357438"/>
          <a:ext cx="1571625" cy="293687"/>
        </p:xfrm>
        <a:graphic>
          <a:graphicData uri="http://schemas.openxmlformats.org/presentationml/2006/ole">
            <mc:AlternateContent xmlns:mc="http://schemas.openxmlformats.org/markup-compatibility/2006">
              <mc:Choice xmlns:v="urn:schemas-microsoft-com:vml" Requires="v">
                <p:oleObj name="Equation" r:id="rId6" imgW="952087" imgH="177723" progId="Equation.DSMT4">
                  <p:embed/>
                </p:oleObj>
              </mc:Choice>
              <mc:Fallback>
                <p:oleObj name="Equation" r:id="rId6" imgW="952087" imgH="177723" progId="Equation.DSMT4">
                  <p:embed/>
                  <p:pic>
                    <p:nvPicPr>
                      <p:cNvPr id="25604" name="Object 16">
                        <a:extLst>
                          <a:ext uri="{FF2B5EF4-FFF2-40B4-BE49-F238E27FC236}">
                            <a16:creationId xmlns:a16="http://schemas.microsoft.com/office/drawing/2014/main" id="{9975AA37-6748-4414-8485-5026F778F1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1563" y="2357438"/>
                        <a:ext cx="1571625" cy="29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5" name="Object 17">
            <a:extLst>
              <a:ext uri="{FF2B5EF4-FFF2-40B4-BE49-F238E27FC236}">
                <a16:creationId xmlns:a16="http://schemas.microsoft.com/office/drawing/2014/main" id="{22C80816-B61A-43B9-849B-3B1590B959A1}"/>
              </a:ext>
            </a:extLst>
          </p:cNvPr>
          <p:cNvGraphicFramePr>
            <a:graphicFrameLocks noChangeAspect="1"/>
          </p:cNvGraphicFramePr>
          <p:nvPr/>
        </p:nvGraphicFramePr>
        <p:xfrm>
          <a:off x="1143000" y="2928938"/>
          <a:ext cx="1368425" cy="642937"/>
        </p:xfrm>
        <a:graphic>
          <a:graphicData uri="http://schemas.openxmlformats.org/presentationml/2006/ole">
            <mc:AlternateContent xmlns:mc="http://schemas.openxmlformats.org/markup-compatibility/2006">
              <mc:Choice xmlns:v="urn:schemas-microsoft-com:vml" Requires="v">
                <p:oleObj name="Equation" r:id="rId8" imgW="837836" imgH="393529" progId="Equation.DSMT4">
                  <p:embed/>
                </p:oleObj>
              </mc:Choice>
              <mc:Fallback>
                <p:oleObj name="Equation" r:id="rId8" imgW="837836" imgH="393529" progId="Equation.DSMT4">
                  <p:embed/>
                  <p:pic>
                    <p:nvPicPr>
                      <p:cNvPr id="25605" name="Object 17">
                        <a:extLst>
                          <a:ext uri="{FF2B5EF4-FFF2-40B4-BE49-F238E27FC236}">
                            <a16:creationId xmlns:a16="http://schemas.microsoft.com/office/drawing/2014/main" id="{22C80816-B61A-43B9-849B-3B1590B959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2928938"/>
                        <a:ext cx="1368425"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6" name="Object 18">
            <a:extLst>
              <a:ext uri="{FF2B5EF4-FFF2-40B4-BE49-F238E27FC236}">
                <a16:creationId xmlns:a16="http://schemas.microsoft.com/office/drawing/2014/main" id="{41B68CB1-081A-4750-9B9C-1ABE562D12B5}"/>
              </a:ext>
            </a:extLst>
          </p:cNvPr>
          <p:cNvGraphicFramePr>
            <a:graphicFrameLocks noChangeAspect="1"/>
          </p:cNvGraphicFramePr>
          <p:nvPr/>
        </p:nvGraphicFramePr>
        <p:xfrm>
          <a:off x="1214438" y="3786188"/>
          <a:ext cx="1071562" cy="663575"/>
        </p:xfrm>
        <a:graphic>
          <a:graphicData uri="http://schemas.openxmlformats.org/presentationml/2006/ole">
            <mc:AlternateContent xmlns:mc="http://schemas.openxmlformats.org/markup-compatibility/2006">
              <mc:Choice xmlns:v="urn:schemas-microsoft-com:vml" Requires="v">
                <p:oleObj name="Equation" r:id="rId10" imgW="634725" imgH="393529" progId="Equation.DSMT4">
                  <p:embed/>
                </p:oleObj>
              </mc:Choice>
              <mc:Fallback>
                <p:oleObj name="Equation" r:id="rId10" imgW="634725" imgH="393529" progId="Equation.DSMT4">
                  <p:embed/>
                  <p:pic>
                    <p:nvPicPr>
                      <p:cNvPr id="25606" name="Object 18">
                        <a:extLst>
                          <a:ext uri="{FF2B5EF4-FFF2-40B4-BE49-F238E27FC236}">
                            <a16:creationId xmlns:a16="http://schemas.microsoft.com/office/drawing/2014/main" id="{41B68CB1-081A-4750-9B9C-1ABE562D12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4438" y="3786188"/>
                        <a:ext cx="1071562"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7" name="Object 10">
            <a:extLst>
              <a:ext uri="{FF2B5EF4-FFF2-40B4-BE49-F238E27FC236}">
                <a16:creationId xmlns:a16="http://schemas.microsoft.com/office/drawing/2014/main" id="{0F0F1168-656C-4A8B-AC06-721CCC646DF9}"/>
              </a:ext>
            </a:extLst>
          </p:cNvPr>
          <p:cNvGraphicFramePr>
            <a:graphicFrameLocks noChangeAspect="1"/>
          </p:cNvGraphicFramePr>
          <p:nvPr/>
        </p:nvGraphicFramePr>
        <p:xfrm>
          <a:off x="500063" y="2357438"/>
          <a:ext cx="676275" cy="273050"/>
        </p:xfrm>
        <a:graphic>
          <a:graphicData uri="http://schemas.openxmlformats.org/presentationml/2006/ole">
            <mc:AlternateContent xmlns:mc="http://schemas.openxmlformats.org/markup-compatibility/2006">
              <mc:Choice xmlns:v="urn:schemas-microsoft-com:vml" Requires="v">
                <p:oleObj name="Equation" r:id="rId12" imgW="190417" imgH="152334" progId="Equation.DSMT4">
                  <p:embed/>
                </p:oleObj>
              </mc:Choice>
              <mc:Fallback>
                <p:oleObj name="Equation" r:id="rId12" imgW="190417" imgH="152334" progId="Equation.DSMT4">
                  <p:embed/>
                  <p:pic>
                    <p:nvPicPr>
                      <p:cNvPr id="25607" name="Object 10">
                        <a:extLst>
                          <a:ext uri="{FF2B5EF4-FFF2-40B4-BE49-F238E27FC236}">
                            <a16:creationId xmlns:a16="http://schemas.microsoft.com/office/drawing/2014/main" id="{0F0F1168-656C-4A8B-AC06-721CCC646DF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0063" y="2357438"/>
                        <a:ext cx="6762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8" name="Object 11">
            <a:extLst>
              <a:ext uri="{FF2B5EF4-FFF2-40B4-BE49-F238E27FC236}">
                <a16:creationId xmlns:a16="http://schemas.microsoft.com/office/drawing/2014/main" id="{CEB73EE7-1957-4FC5-B37C-8086E803F390}"/>
              </a:ext>
            </a:extLst>
          </p:cNvPr>
          <p:cNvGraphicFramePr>
            <a:graphicFrameLocks noChangeAspect="1"/>
          </p:cNvGraphicFramePr>
          <p:nvPr/>
        </p:nvGraphicFramePr>
        <p:xfrm>
          <a:off x="500063" y="3143250"/>
          <a:ext cx="676275" cy="273050"/>
        </p:xfrm>
        <a:graphic>
          <a:graphicData uri="http://schemas.openxmlformats.org/presentationml/2006/ole">
            <mc:AlternateContent xmlns:mc="http://schemas.openxmlformats.org/markup-compatibility/2006">
              <mc:Choice xmlns:v="urn:schemas-microsoft-com:vml" Requires="v">
                <p:oleObj name="Equation" r:id="rId12" imgW="190417" imgH="152334" progId="Equation.DSMT4">
                  <p:embed/>
                </p:oleObj>
              </mc:Choice>
              <mc:Fallback>
                <p:oleObj name="Equation" r:id="rId12" imgW="190417" imgH="152334" progId="Equation.DSMT4">
                  <p:embed/>
                  <p:pic>
                    <p:nvPicPr>
                      <p:cNvPr id="25608" name="Object 11">
                        <a:extLst>
                          <a:ext uri="{FF2B5EF4-FFF2-40B4-BE49-F238E27FC236}">
                            <a16:creationId xmlns:a16="http://schemas.microsoft.com/office/drawing/2014/main" id="{CEB73EE7-1957-4FC5-B37C-8086E803F39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0063" y="3143250"/>
                        <a:ext cx="6762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9" name="Object 12">
            <a:extLst>
              <a:ext uri="{FF2B5EF4-FFF2-40B4-BE49-F238E27FC236}">
                <a16:creationId xmlns:a16="http://schemas.microsoft.com/office/drawing/2014/main" id="{25B00BF3-CC4D-42BF-95F7-E5F4110E4B92}"/>
              </a:ext>
            </a:extLst>
          </p:cNvPr>
          <p:cNvGraphicFramePr>
            <a:graphicFrameLocks noChangeAspect="1"/>
          </p:cNvGraphicFramePr>
          <p:nvPr/>
        </p:nvGraphicFramePr>
        <p:xfrm>
          <a:off x="500063" y="3929063"/>
          <a:ext cx="676275" cy="273050"/>
        </p:xfrm>
        <a:graphic>
          <a:graphicData uri="http://schemas.openxmlformats.org/presentationml/2006/ole">
            <mc:AlternateContent xmlns:mc="http://schemas.openxmlformats.org/markup-compatibility/2006">
              <mc:Choice xmlns:v="urn:schemas-microsoft-com:vml" Requires="v">
                <p:oleObj name="Equation" r:id="rId12" imgW="190417" imgH="152334" progId="Equation.DSMT4">
                  <p:embed/>
                </p:oleObj>
              </mc:Choice>
              <mc:Fallback>
                <p:oleObj name="Equation" r:id="rId12" imgW="190417" imgH="152334" progId="Equation.DSMT4">
                  <p:embed/>
                  <p:pic>
                    <p:nvPicPr>
                      <p:cNvPr id="25609" name="Object 12">
                        <a:extLst>
                          <a:ext uri="{FF2B5EF4-FFF2-40B4-BE49-F238E27FC236}">
                            <a16:creationId xmlns:a16="http://schemas.microsoft.com/office/drawing/2014/main" id="{25B00BF3-CC4D-42BF-95F7-E5F4110E4B9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0063" y="3929063"/>
                        <a:ext cx="6762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2B071E5C-B28F-46BA-8AF3-CF684E75BCC1}"/>
              </a:ext>
            </a:extLst>
          </p:cNvPr>
          <p:cNvSpPr>
            <a:spLocks noGrp="1" noChangeArrowheads="1"/>
          </p:cNvSpPr>
          <p:nvPr>
            <p:ph type="body" idx="1"/>
          </p:nvPr>
        </p:nvSpPr>
        <p:spPr>
          <a:xfrm>
            <a:off x="457200" y="642938"/>
            <a:ext cx="8229600" cy="5483225"/>
          </a:xfrm>
        </p:spPr>
        <p:txBody>
          <a:bodyPr/>
          <a:lstStyle/>
          <a:p>
            <a:pPr eaLnBrk="1" hangingPunct="1"/>
            <a:r>
              <a:rPr lang="en-US" altLang="zh-CN" sz="2200" dirty="0">
                <a:latin typeface="Times New Roman" panose="02020603050405020304" pitchFamily="18" charset="0"/>
              </a:rPr>
              <a:t>An implication of Solow model:</a:t>
            </a:r>
            <a:endParaRPr lang="en-US" altLang="zh-CN" sz="2200" dirty="0"/>
          </a:p>
          <a:p>
            <a:pPr lvl="1" eaLnBrk="1" hangingPunct="1"/>
            <a:r>
              <a:rPr lang="en-US" altLang="zh-CN" sz="2200" dirty="0">
                <a:latin typeface="Times New Roman" panose="02020603050405020304" pitchFamily="18" charset="0"/>
              </a:rPr>
              <a:t>When countries have the same Steady State level of </a:t>
            </a:r>
            <a:r>
              <a:rPr lang="en-US" altLang="zh-CN" sz="2200" i="1" dirty="0">
                <a:latin typeface="Times New Roman" panose="02020603050405020304" pitchFamily="18" charset="0"/>
              </a:rPr>
              <a:t>y</a:t>
            </a:r>
            <a:r>
              <a:rPr lang="en-US" altLang="zh-CN" sz="2200" dirty="0">
                <a:latin typeface="Times New Roman" panose="02020603050405020304" pitchFamily="18" charset="0"/>
              </a:rPr>
              <a:t>, poor countries are expected to grow faster than rich countries and eventually catch up.</a:t>
            </a:r>
            <a:endParaRPr lang="en-US" altLang="zh-CN" sz="2200" dirty="0"/>
          </a:p>
          <a:p>
            <a:pPr lvl="1" eaLnBrk="1" hangingPunct="1"/>
            <a:r>
              <a:rPr lang="en-US" altLang="zh-CN" sz="2200" dirty="0">
                <a:latin typeface="Times New Roman" panose="02020603050405020304" pitchFamily="18" charset="0"/>
              </a:rPr>
              <a:t>Think about the case where one country’s income is at      and the other country’ s income is at     . The first country’s per capita income will not grow, while the second country’s income will grow.</a:t>
            </a:r>
          </a:p>
          <a:p>
            <a:pPr eaLnBrk="1" hangingPunct="1">
              <a:buFontTx/>
              <a:buNone/>
            </a:pPr>
            <a:r>
              <a:rPr lang="en-US" altLang="zh-CN" sz="2200" dirty="0">
                <a:latin typeface="Times New Roman" panose="02020603050405020304" pitchFamily="18" charset="0"/>
              </a:rPr>
              <a:t>     See the previous picture.</a:t>
            </a:r>
          </a:p>
        </p:txBody>
      </p:sp>
      <p:graphicFrame>
        <p:nvGraphicFramePr>
          <p:cNvPr id="26627" name="Object 3">
            <a:extLst>
              <a:ext uri="{FF2B5EF4-FFF2-40B4-BE49-F238E27FC236}">
                <a16:creationId xmlns:a16="http://schemas.microsoft.com/office/drawing/2014/main" id="{B6FB130F-CD82-4A12-8C29-E009B9DE3028}"/>
              </a:ext>
            </a:extLst>
          </p:cNvPr>
          <p:cNvGraphicFramePr>
            <a:graphicFrameLocks noChangeAspect="1"/>
          </p:cNvGraphicFramePr>
          <p:nvPr>
            <p:extLst>
              <p:ext uri="{D42A27DB-BD31-4B8C-83A1-F6EECF244321}">
                <p14:modId xmlns:p14="http://schemas.microsoft.com/office/powerpoint/2010/main" val="3530806943"/>
              </p:ext>
            </p:extLst>
          </p:nvPr>
        </p:nvGraphicFramePr>
        <p:xfrm>
          <a:off x="4964609" y="2420938"/>
          <a:ext cx="304800" cy="504825"/>
        </p:xfrm>
        <a:graphic>
          <a:graphicData uri="http://schemas.openxmlformats.org/presentationml/2006/ole">
            <mc:AlternateContent xmlns:mc="http://schemas.openxmlformats.org/markup-compatibility/2006">
              <mc:Choice xmlns:v="urn:schemas-microsoft-com:vml" Requires="v">
                <p:oleObj name="Equation" r:id="rId2" imgW="177646" imgH="228402" progId="Equation.DSMT4">
                  <p:embed/>
                </p:oleObj>
              </mc:Choice>
              <mc:Fallback>
                <p:oleObj name="Equation" r:id="rId2" imgW="177646" imgH="228402" progId="Equation.DSMT4">
                  <p:embed/>
                  <p:pic>
                    <p:nvPicPr>
                      <p:cNvPr id="26627" name="Object 3">
                        <a:extLst>
                          <a:ext uri="{FF2B5EF4-FFF2-40B4-BE49-F238E27FC236}">
                            <a16:creationId xmlns:a16="http://schemas.microsoft.com/office/drawing/2014/main" id="{B6FB130F-CD82-4A12-8C29-E009B9DE3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4609" y="2420938"/>
                        <a:ext cx="3048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8" name="Object 4">
            <a:extLst>
              <a:ext uri="{FF2B5EF4-FFF2-40B4-BE49-F238E27FC236}">
                <a16:creationId xmlns:a16="http://schemas.microsoft.com/office/drawing/2014/main" id="{A2813CB3-5594-4516-8FE8-550A1FE7B9A5}"/>
              </a:ext>
            </a:extLst>
          </p:cNvPr>
          <p:cNvGraphicFramePr>
            <a:graphicFrameLocks noChangeAspect="1"/>
          </p:cNvGraphicFramePr>
          <p:nvPr>
            <p:extLst>
              <p:ext uri="{D42A27DB-BD31-4B8C-83A1-F6EECF244321}">
                <p14:modId xmlns:p14="http://schemas.microsoft.com/office/powerpoint/2010/main" val="3109071687"/>
              </p:ext>
            </p:extLst>
          </p:nvPr>
        </p:nvGraphicFramePr>
        <p:xfrm>
          <a:off x="7452320" y="2060575"/>
          <a:ext cx="284162" cy="504825"/>
        </p:xfrm>
        <a:graphic>
          <a:graphicData uri="http://schemas.openxmlformats.org/presentationml/2006/ole">
            <mc:AlternateContent xmlns:mc="http://schemas.openxmlformats.org/markup-compatibility/2006">
              <mc:Choice xmlns:v="urn:schemas-microsoft-com:vml" Requires="v">
                <p:oleObj name="Equation" r:id="rId4" imgW="165028" imgH="228501" progId="Equation.DSMT4">
                  <p:embed/>
                </p:oleObj>
              </mc:Choice>
              <mc:Fallback>
                <p:oleObj name="Equation" r:id="rId4" imgW="165028" imgH="228501" progId="Equation.DSMT4">
                  <p:embed/>
                  <p:pic>
                    <p:nvPicPr>
                      <p:cNvPr id="26628" name="Object 4">
                        <a:extLst>
                          <a:ext uri="{FF2B5EF4-FFF2-40B4-BE49-F238E27FC236}">
                            <a16:creationId xmlns:a16="http://schemas.microsoft.com/office/drawing/2014/main" id="{A2813CB3-5594-4516-8FE8-550A1FE7B9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2320" y="2060575"/>
                        <a:ext cx="2841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927086FA-2E60-48AD-AD70-B48F0B819E0D}"/>
              </a:ext>
            </a:extLst>
          </p:cNvPr>
          <p:cNvSpPr>
            <a:spLocks noGrp="1" noChangeArrowheads="1"/>
          </p:cNvSpPr>
          <p:nvPr>
            <p:ph type="body" sz="half" idx="1"/>
          </p:nvPr>
        </p:nvSpPr>
        <p:spPr>
          <a:xfrm>
            <a:off x="395288" y="333375"/>
            <a:ext cx="8208962" cy="5903913"/>
          </a:xfrm>
        </p:spPr>
        <p:txBody>
          <a:bodyPr/>
          <a:lstStyle/>
          <a:p>
            <a:pPr marL="609600" indent="-609600" eaLnBrk="1" hangingPunct="1">
              <a:lnSpc>
                <a:spcPct val="90000"/>
              </a:lnSpc>
              <a:buFontTx/>
              <a:buNone/>
            </a:pPr>
            <a:r>
              <a:rPr lang="en-US" altLang="zh-CN" sz="2400" dirty="0">
                <a:latin typeface="Times New Roman" panose="02020603050405020304" pitchFamily="18" charset="0"/>
              </a:rPr>
              <a:t>4. An increase in the savings rate</a:t>
            </a: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endParaRPr lang="en-US" altLang="zh-CN" sz="2800" dirty="0">
              <a:latin typeface="Times New Roman" panose="02020603050405020304" pitchFamily="18" charset="0"/>
            </a:endParaRPr>
          </a:p>
          <a:p>
            <a:pPr marL="609600" indent="-609600" eaLnBrk="1" hangingPunct="1">
              <a:lnSpc>
                <a:spcPct val="90000"/>
              </a:lnSpc>
              <a:buFontTx/>
              <a:buNone/>
            </a:pPr>
            <a:r>
              <a:rPr lang="en-US" altLang="zh-CN" sz="1800" i="1" dirty="0">
                <a:latin typeface="Times New Roman" panose="02020603050405020304" pitchFamily="18" charset="0"/>
              </a:rPr>
              <a:t>s</a:t>
            </a:r>
            <a:r>
              <a:rPr lang="en-US" altLang="zh-CN" sz="1800" dirty="0"/>
              <a:t>↑,</a:t>
            </a:r>
            <a:r>
              <a:rPr lang="en-US" altLang="zh-CN" sz="1800" dirty="0">
                <a:latin typeface="Times New Roman" panose="02020603050405020304" pitchFamily="18" charset="0"/>
              </a:rPr>
              <a:t> </a:t>
            </a:r>
            <a:r>
              <a:rPr lang="en-US" altLang="zh-CN" sz="1800" i="1" dirty="0">
                <a:latin typeface="Times New Roman" panose="02020603050405020304" pitchFamily="18" charset="0"/>
              </a:rPr>
              <a:t>k</a:t>
            </a:r>
            <a:r>
              <a:rPr lang="en-US" altLang="zh-CN" sz="1800" dirty="0"/>
              <a:t>↑,</a:t>
            </a:r>
            <a:r>
              <a:rPr lang="en-US" altLang="zh-CN" sz="1800" dirty="0">
                <a:latin typeface="Times New Roman" panose="02020603050405020304" pitchFamily="18" charset="0"/>
              </a:rPr>
              <a:t> </a:t>
            </a:r>
            <a:r>
              <a:rPr lang="en-US" altLang="zh-CN" sz="1800" i="1" dirty="0">
                <a:latin typeface="Times New Roman" panose="02020603050405020304" pitchFamily="18" charset="0"/>
              </a:rPr>
              <a:t>y</a:t>
            </a:r>
            <a:r>
              <a:rPr lang="en-US" altLang="zh-CN" sz="1800" dirty="0"/>
              <a:t>↑</a:t>
            </a:r>
            <a:r>
              <a:rPr lang="en-US" altLang="zh-CN" sz="1800" dirty="0">
                <a:latin typeface="Times New Roman" panose="02020603050405020304" pitchFamily="18" charset="0"/>
              </a:rPr>
              <a:t> in transition, no growth in S.S.</a:t>
            </a:r>
          </a:p>
          <a:p>
            <a:pPr marL="609600" indent="-609600" eaLnBrk="1" hangingPunct="1">
              <a:lnSpc>
                <a:spcPct val="90000"/>
              </a:lnSpc>
            </a:pPr>
            <a:r>
              <a:rPr lang="en-US" altLang="zh-CN" sz="1800" dirty="0">
                <a:latin typeface="Times New Roman" panose="02020603050405020304" pitchFamily="18" charset="0"/>
              </a:rPr>
              <a:t>Savings rate does not affect S.S growth rate</a:t>
            </a:r>
          </a:p>
          <a:p>
            <a:pPr marL="609600" indent="-609600" eaLnBrk="1" hangingPunct="1">
              <a:lnSpc>
                <a:spcPct val="90000"/>
              </a:lnSpc>
            </a:pPr>
            <a:r>
              <a:rPr lang="en-US" altLang="zh-CN" sz="1800" dirty="0">
                <a:latin typeface="Times New Roman" panose="02020603050405020304" pitchFamily="18" charset="0"/>
              </a:rPr>
              <a:t>Facts: Investment can explain growth of East Asian industrialized economies, but not others.</a:t>
            </a:r>
          </a:p>
        </p:txBody>
      </p:sp>
      <p:cxnSp>
        <p:nvCxnSpPr>
          <p:cNvPr id="13" name="Straight Arrow Connector 12">
            <a:extLst>
              <a:ext uri="{FF2B5EF4-FFF2-40B4-BE49-F238E27FC236}">
                <a16:creationId xmlns:a16="http://schemas.microsoft.com/office/drawing/2014/main" id="{9BBF97B5-6E0B-47ED-AF87-61AC66234E05}"/>
              </a:ext>
            </a:extLst>
          </p:cNvPr>
          <p:cNvCxnSpPr/>
          <p:nvPr/>
        </p:nvCxnSpPr>
        <p:spPr>
          <a:xfrm rot="5400000" flipH="1" flipV="1">
            <a:off x="107157" y="2321719"/>
            <a:ext cx="2786062"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Freeform 13">
            <a:extLst>
              <a:ext uri="{FF2B5EF4-FFF2-40B4-BE49-F238E27FC236}">
                <a16:creationId xmlns:a16="http://schemas.microsoft.com/office/drawing/2014/main" id="{3789FF07-FF4E-4D9C-9AD0-F9C63DF654C3}"/>
              </a:ext>
            </a:extLst>
          </p:cNvPr>
          <p:cNvSpPr/>
          <p:nvPr/>
        </p:nvSpPr>
        <p:spPr>
          <a:xfrm>
            <a:off x="1500188" y="1014413"/>
            <a:ext cx="4579937" cy="2689225"/>
          </a:xfrm>
          <a:custGeom>
            <a:avLst/>
            <a:gdLst>
              <a:gd name="connsiteX0" fmla="*/ 0 w 4581144"/>
              <a:gd name="connsiteY0" fmla="*/ 2688336 h 2688336"/>
              <a:gd name="connsiteX1" fmla="*/ 1179576 w 4581144"/>
              <a:gd name="connsiteY1" fmla="*/ 722376 h 2688336"/>
              <a:gd name="connsiteX2" fmla="*/ 4581144 w 4581144"/>
              <a:gd name="connsiteY2" fmla="*/ 0 h 2688336"/>
            </a:gdLst>
            <a:ahLst/>
            <a:cxnLst>
              <a:cxn ang="0">
                <a:pos x="connsiteX0" y="connsiteY0"/>
              </a:cxn>
              <a:cxn ang="0">
                <a:pos x="connsiteX1" y="connsiteY1"/>
              </a:cxn>
              <a:cxn ang="0">
                <a:pos x="connsiteX2" y="connsiteY2"/>
              </a:cxn>
            </a:cxnLst>
            <a:rect l="l" t="t" r="r" b="b"/>
            <a:pathLst>
              <a:path w="4581144" h="2688336">
                <a:moveTo>
                  <a:pt x="0" y="2688336"/>
                </a:moveTo>
                <a:cubicBezTo>
                  <a:pt x="208026" y="1929384"/>
                  <a:pt x="416052" y="1170432"/>
                  <a:pt x="1179576" y="722376"/>
                </a:cubicBezTo>
                <a:cubicBezTo>
                  <a:pt x="1943100" y="274320"/>
                  <a:pt x="4015740" y="109728"/>
                  <a:pt x="4581144" y="0"/>
                </a:cubicBezTo>
              </a:path>
            </a:pathLst>
          </a:custGeom>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en-US"/>
          </a:p>
        </p:txBody>
      </p:sp>
      <p:cxnSp>
        <p:nvCxnSpPr>
          <p:cNvPr id="16" name="Straight Connector 15">
            <a:extLst>
              <a:ext uri="{FF2B5EF4-FFF2-40B4-BE49-F238E27FC236}">
                <a16:creationId xmlns:a16="http://schemas.microsoft.com/office/drawing/2014/main" id="{D6517865-B306-4A3A-AA0B-81808D978080}"/>
              </a:ext>
            </a:extLst>
          </p:cNvPr>
          <p:cNvCxnSpPr/>
          <p:nvPr/>
        </p:nvCxnSpPr>
        <p:spPr>
          <a:xfrm rot="10800000">
            <a:off x="1500188" y="1214438"/>
            <a:ext cx="3071812"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84BE62-F095-4EC6-880A-E921382A3C0A}"/>
              </a:ext>
            </a:extLst>
          </p:cNvPr>
          <p:cNvCxnSpPr/>
          <p:nvPr/>
        </p:nvCxnSpPr>
        <p:spPr>
          <a:xfrm rot="10800000">
            <a:off x="1500188" y="1071563"/>
            <a:ext cx="3929062" cy="1587"/>
          </a:xfrm>
          <a:prstGeom prst="line">
            <a:avLst/>
          </a:prstGeom>
        </p:spPr>
        <p:style>
          <a:lnRef idx="1">
            <a:schemeClr val="accent1"/>
          </a:lnRef>
          <a:fillRef idx="0">
            <a:schemeClr val="accent1"/>
          </a:fillRef>
          <a:effectRef idx="0">
            <a:schemeClr val="accent1"/>
          </a:effectRef>
          <a:fontRef idx="minor">
            <a:schemeClr val="tx1"/>
          </a:fontRef>
        </p:style>
      </p:cxnSp>
      <p:sp>
        <p:nvSpPr>
          <p:cNvPr id="27655" name="Freeform 17">
            <a:extLst>
              <a:ext uri="{FF2B5EF4-FFF2-40B4-BE49-F238E27FC236}">
                <a16:creationId xmlns:a16="http://schemas.microsoft.com/office/drawing/2014/main" id="{2550CBF9-3C9A-4CE3-A29A-2E9996E1E9D5}"/>
              </a:ext>
            </a:extLst>
          </p:cNvPr>
          <p:cNvSpPr>
            <a:spLocks noChangeArrowheads="1"/>
          </p:cNvSpPr>
          <p:nvPr/>
        </p:nvSpPr>
        <p:spPr bwMode="auto">
          <a:xfrm>
            <a:off x="1500188" y="1785938"/>
            <a:ext cx="4013200" cy="1927225"/>
          </a:xfrm>
          <a:custGeom>
            <a:avLst/>
            <a:gdLst>
              <a:gd name="T0" fmla="*/ 0 w 4005072"/>
              <a:gd name="T1" fmla="*/ 1495464 h 1947672"/>
              <a:gd name="T2" fmla="*/ 1269910 w 4005072"/>
              <a:gd name="T3" fmla="*/ 484446 h 1947672"/>
              <a:gd name="T4" fmla="*/ 4213783 w 4005072"/>
              <a:gd name="T5" fmla="*/ 0 h 1947672"/>
              <a:gd name="T6" fmla="*/ 0 60000 65536"/>
              <a:gd name="T7" fmla="*/ 0 60000 65536"/>
              <a:gd name="T8" fmla="*/ 0 60000 65536"/>
              <a:gd name="T9" fmla="*/ 0 w 4005072"/>
              <a:gd name="T10" fmla="*/ 0 h 1947672"/>
              <a:gd name="T11" fmla="*/ 4005072 w 4005072"/>
              <a:gd name="T12" fmla="*/ 1947672 h 1947672"/>
            </a:gdLst>
            <a:ahLst/>
            <a:cxnLst>
              <a:cxn ang="T6">
                <a:pos x="T0" y="T1"/>
              </a:cxn>
              <a:cxn ang="T7">
                <a:pos x="T2" y="T3"/>
              </a:cxn>
              <a:cxn ang="T8">
                <a:pos x="T4" y="T5"/>
              </a:cxn>
            </a:cxnLst>
            <a:rect l="T9" t="T10" r="T11" b="T12"/>
            <a:pathLst>
              <a:path w="4005072" h="1947672">
                <a:moveTo>
                  <a:pt x="0" y="1947672"/>
                </a:moveTo>
                <a:cubicBezTo>
                  <a:pt x="269748" y="1451610"/>
                  <a:pt x="539496" y="955548"/>
                  <a:pt x="1207008" y="630936"/>
                </a:cubicBezTo>
                <a:cubicBezTo>
                  <a:pt x="1874520" y="306324"/>
                  <a:pt x="2939796" y="153162"/>
                  <a:pt x="4005072" y="0"/>
                </a:cubicBezTo>
              </a:path>
            </a:pathLst>
          </a:custGeom>
          <a:noFill/>
          <a:ln w="952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19" name="Straight Arrow Connector 18">
            <a:extLst>
              <a:ext uri="{FF2B5EF4-FFF2-40B4-BE49-F238E27FC236}">
                <a16:creationId xmlns:a16="http://schemas.microsoft.com/office/drawing/2014/main" id="{46EF5CC5-7D23-4ED4-8EA1-4517FBED200E}"/>
              </a:ext>
            </a:extLst>
          </p:cNvPr>
          <p:cNvCxnSpPr/>
          <p:nvPr/>
        </p:nvCxnSpPr>
        <p:spPr>
          <a:xfrm>
            <a:off x="1500188" y="3714750"/>
            <a:ext cx="4572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657" name="Straight Connector 19">
            <a:extLst>
              <a:ext uri="{FF2B5EF4-FFF2-40B4-BE49-F238E27FC236}">
                <a16:creationId xmlns:a16="http://schemas.microsoft.com/office/drawing/2014/main" id="{F3902AF6-B83B-485A-8E06-758268888558}"/>
              </a:ext>
            </a:extLst>
          </p:cNvPr>
          <p:cNvCxnSpPr>
            <a:cxnSpLocks noChangeShapeType="1"/>
          </p:cNvCxnSpPr>
          <p:nvPr/>
        </p:nvCxnSpPr>
        <p:spPr bwMode="auto">
          <a:xfrm flipV="1">
            <a:off x="1500188" y="1285875"/>
            <a:ext cx="4214812" cy="2428875"/>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22" name="Straight Connector 21">
            <a:extLst>
              <a:ext uri="{FF2B5EF4-FFF2-40B4-BE49-F238E27FC236}">
                <a16:creationId xmlns:a16="http://schemas.microsoft.com/office/drawing/2014/main" id="{7337ECD0-7AF3-4114-B247-9B7110E2C6D4}"/>
              </a:ext>
            </a:extLst>
          </p:cNvPr>
          <p:cNvCxnSpPr/>
          <p:nvPr/>
        </p:nvCxnSpPr>
        <p:spPr>
          <a:xfrm rot="5400000">
            <a:off x="3320257" y="2464594"/>
            <a:ext cx="25019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D6CCE32-378E-4B6F-ADF7-14031BB5C8CC}"/>
              </a:ext>
            </a:extLst>
          </p:cNvPr>
          <p:cNvCxnSpPr/>
          <p:nvPr/>
        </p:nvCxnSpPr>
        <p:spPr>
          <a:xfrm rot="5400000">
            <a:off x="4106862" y="2393951"/>
            <a:ext cx="2644775" cy="0"/>
          </a:xfrm>
          <a:prstGeom prst="line">
            <a:avLst/>
          </a:prstGeom>
        </p:spPr>
        <p:style>
          <a:lnRef idx="1">
            <a:schemeClr val="accent1"/>
          </a:lnRef>
          <a:fillRef idx="0">
            <a:schemeClr val="accent1"/>
          </a:fillRef>
          <a:effectRef idx="0">
            <a:schemeClr val="accent1"/>
          </a:effectRef>
          <a:fontRef idx="minor">
            <a:schemeClr val="tx1"/>
          </a:fontRef>
        </p:style>
      </p:cxnSp>
      <p:sp>
        <p:nvSpPr>
          <p:cNvPr id="27660" name="Freeform 23">
            <a:extLst>
              <a:ext uri="{FF2B5EF4-FFF2-40B4-BE49-F238E27FC236}">
                <a16:creationId xmlns:a16="http://schemas.microsoft.com/office/drawing/2014/main" id="{CC7F809E-C8E7-4E9A-8494-2D1161B5AEC3}"/>
              </a:ext>
            </a:extLst>
          </p:cNvPr>
          <p:cNvSpPr>
            <a:spLocks noChangeArrowheads="1"/>
          </p:cNvSpPr>
          <p:nvPr/>
        </p:nvSpPr>
        <p:spPr bwMode="auto">
          <a:xfrm>
            <a:off x="1517650" y="1398588"/>
            <a:ext cx="4297363" cy="2305050"/>
          </a:xfrm>
          <a:custGeom>
            <a:avLst/>
            <a:gdLst>
              <a:gd name="T0" fmla="*/ 0 w 4297680"/>
              <a:gd name="T1" fmla="*/ 2317278 h 2304288"/>
              <a:gd name="T2" fmla="*/ 1132428 w 4297680"/>
              <a:gd name="T3" fmla="*/ 689666 h 2304288"/>
              <a:gd name="T4" fmla="*/ 4292291 w 4297680"/>
              <a:gd name="T5" fmla="*/ 0 h 2304288"/>
              <a:gd name="T6" fmla="*/ 0 60000 65536"/>
              <a:gd name="T7" fmla="*/ 0 60000 65536"/>
              <a:gd name="T8" fmla="*/ 0 60000 65536"/>
              <a:gd name="T9" fmla="*/ 0 w 4297680"/>
              <a:gd name="T10" fmla="*/ 0 h 2304288"/>
              <a:gd name="T11" fmla="*/ 4297680 w 4297680"/>
              <a:gd name="T12" fmla="*/ 2304288 h 2304288"/>
            </a:gdLst>
            <a:ahLst/>
            <a:cxnLst>
              <a:cxn ang="T6">
                <a:pos x="T0" y="T1"/>
              </a:cxn>
              <a:cxn ang="T7">
                <a:pos x="T2" y="T3"/>
              </a:cxn>
              <a:cxn ang="T8">
                <a:pos x="T4" y="T5"/>
              </a:cxn>
            </a:cxnLst>
            <a:rect l="T9" t="T10" r="T11" b="T12"/>
            <a:pathLst>
              <a:path w="4297680" h="2304288">
                <a:moveTo>
                  <a:pt x="0" y="2304288"/>
                </a:moveTo>
                <a:cubicBezTo>
                  <a:pt x="208788" y="1687068"/>
                  <a:pt x="417576" y="1069848"/>
                  <a:pt x="1133856" y="685800"/>
                </a:cubicBezTo>
                <a:cubicBezTo>
                  <a:pt x="1850136" y="301752"/>
                  <a:pt x="3073908" y="150876"/>
                  <a:pt x="4297680" y="0"/>
                </a:cubicBezTo>
              </a:path>
            </a:pathLst>
          </a:custGeom>
          <a:noFill/>
          <a:ln w="3175" algn="ctr">
            <a:solidFill>
              <a:srgbClr val="0000FF"/>
            </a:solidFill>
            <a:miter lim="800000"/>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en-US"/>
          </a:p>
        </p:txBody>
      </p:sp>
      <p:graphicFrame>
        <p:nvGraphicFramePr>
          <p:cNvPr id="10265" name="Group 25">
            <a:extLst>
              <a:ext uri="{FF2B5EF4-FFF2-40B4-BE49-F238E27FC236}">
                <a16:creationId xmlns:a16="http://schemas.microsoft.com/office/drawing/2014/main" id="{A27DD7D0-5137-4FB1-9134-C67EFCA0D4C7}"/>
              </a:ext>
            </a:extLst>
          </p:cNvPr>
          <p:cNvGraphicFramePr>
            <a:graphicFrameLocks noGrp="1"/>
          </p:cNvGraphicFramePr>
          <p:nvPr/>
        </p:nvGraphicFramePr>
        <p:xfrm>
          <a:off x="4500563" y="1989138"/>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275" name="Group 35">
            <a:extLst>
              <a:ext uri="{FF2B5EF4-FFF2-40B4-BE49-F238E27FC236}">
                <a16:creationId xmlns:a16="http://schemas.microsoft.com/office/drawing/2014/main" id="{26D261A4-A32D-421F-B452-E388EC728715}"/>
              </a:ext>
            </a:extLst>
          </p:cNvPr>
          <p:cNvGraphicFramePr>
            <a:graphicFrameLocks noGrp="1"/>
          </p:cNvGraphicFramePr>
          <p:nvPr/>
        </p:nvGraphicFramePr>
        <p:xfrm>
          <a:off x="5508625" y="1412875"/>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276" name="Group 36">
            <a:extLst>
              <a:ext uri="{FF2B5EF4-FFF2-40B4-BE49-F238E27FC236}">
                <a16:creationId xmlns:a16="http://schemas.microsoft.com/office/drawing/2014/main" id="{6E1CD5FB-C837-4D41-8EFF-06308CD80B75}"/>
              </a:ext>
            </a:extLst>
          </p:cNvPr>
          <p:cNvGraphicFramePr>
            <a:graphicFrameLocks noGrp="1"/>
          </p:cNvGraphicFramePr>
          <p:nvPr/>
        </p:nvGraphicFramePr>
        <p:xfrm>
          <a:off x="6084888" y="908050"/>
          <a:ext cx="609600" cy="274638"/>
        </p:xfrm>
        <a:graphic>
          <a:graphicData uri="http://schemas.openxmlformats.org/drawingml/2006/table">
            <a:tbl>
              <a:tblPr/>
              <a:tblGrid>
                <a:gridCol w="609600">
                  <a:extLst>
                    <a:ext uri="{9D8B030D-6E8A-4147-A177-3AD203B41FA5}">
                      <a16:colId xmlns:a16="http://schemas.microsoft.com/office/drawing/2014/main" val="20000"/>
                    </a:ext>
                  </a:extLst>
                </a:gridCol>
              </a:tblGrid>
              <a:tr h="274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y=f(k)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3" marB="4577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667" name="Object 5">
            <a:extLst>
              <a:ext uri="{FF2B5EF4-FFF2-40B4-BE49-F238E27FC236}">
                <a16:creationId xmlns:a16="http://schemas.microsoft.com/office/drawing/2014/main" id="{68AA821F-7F02-4248-8EA4-5101715D9A3E}"/>
              </a:ext>
            </a:extLst>
          </p:cNvPr>
          <p:cNvGraphicFramePr>
            <a:graphicFrameLocks noChangeAspect="1"/>
          </p:cNvGraphicFramePr>
          <p:nvPr/>
        </p:nvGraphicFramePr>
        <p:xfrm>
          <a:off x="5940425" y="1268413"/>
          <a:ext cx="228600" cy="228600"/>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27667" name="Object 5">
                        <a:extLst>
                          <a:ext uri="{FF2B5EF4-FFF2-40B4-BE49-F238E27FC236}">
                            <a16:creationId xmlns:a16="http://schemas.microsoft.com/office/drawing/2014/main" id="{68AA821F-7F02-4248-8EA4-5101715D9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1268413"/>
                        <a:ext cx="228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3" name="Group 53">
            <a:extLst>
              <a:ext uri="{FF2B5EF4-FFF2-40B4-BE49-F238E27FC236}">
                <a16:creationId xmlns:a16="http://schemas.microsoft.com/office/drawing/2014/main" id="{084ECB45-0A49-4F75-A5DC-FFBBC23A1E5A}"/>
              </a:ext>
            </a:extLst>
          </p:cNvPr>
          <p:cNvGraphicFramePr>
            <a:graphicFrameLocks noGrp="1"/>
          </p:cNvGraphicFramePr>
          <p:nvPr/>
        </p:nvGraphicFramePr>
        <p:xfrm>
          <a:off x="5651500" y="170021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03" name="Group 63">
            <a:extLst>
              <a:ext uri="{FF2B5EF4-FFF2-40B4-BE49-F238E27FC236}">
                <a16:creationId xmlns:a16="http://schemas.microsoft.com/office/drawing/2014/main" id="{07780242-AB19-4086-93EA-C3F9DFFC0B6C}"/>
              </a:ext>
            </a:extLst>
          </p:cNvPr>
          <p:cNvGraphicFramePr>
            <a:graphicFrameLocks noGrp="1"/>
          </p:cNvGraphicFramePr>
          <p:nvPr/>
        </p:nvGraphicFramePr>
        <p:xfrm>
          <a:off x="6948488" y="2708275"/>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s' &gt; s</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13" name="Group 73">
            <a:extLst>
              <a:ext uri="{FF2B5EF4-FFF2-40B4-BE49-F238E27FC236}">
                <a16:creationId xmlns:a16="http://schemas.microsoft.com/office/drawing/2014/main" id="{06D9C595-17AF-4DBD-B6B3-36BE3B5ABB35}"/>
              </a:ext>
            </a:extLst>
          </p:cNvPr>
          <p:cNvGraphicFramePr>
            <a:graphicFrameLocks noGrp="1"/>
          </p:cNvGraphicFramePr>
          <p:nvPr/>
        </p:nvGraphicFramePr>
        <p:xfrm>
          <a:off x="6300788"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23" name="Group 83">
            <a:extLst>
              <a:ext uri="{FF2B5EF4-FFF2-40B4-BE49-F238E27FC236}">
                <a16:creationId xmlns:a16="http://schemas.microsoft.com/office/drawing/2014/main" id="{4A90840D-85E5-4054-98DD-E94A5256D69E}"/>
              </a:ext>
            </a:extLst>
          </p:cNvPr>
          <p:cNvGraphicFramePr>
            <a:graphicFrameLocks noGrp="1"/>
          </p:cNvGraphicFramePr>
          <p:nvPr/>
        </p:nvGraphicFramePr>
        <p:xfrm>
          <a:off x="971550" y="692150"/>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88" name="Group 148">
            <a:extLst>
              <a:ext uri="{FF2B5EF4-FFF2-40B4-BE49-F238E27FC236}">
                <a16:creationId xmlns:a16="http://schemas.microsoft.com/office/drawing/2014/main" id="{8BF4E904-6EBE-45BB-9704-7BDB92A92ECD}"/>
              </a:ext>
            </a:extLst>
          </p:cNvPr>
          <p:cNvGraphicFramePr>
            <a:graphicFrameLocks noGrp="1"/>
          </p:cNvGraphicFramePr>
          <p:nvPr/>
        </p:nvGraphicFramePr>
        <p:xfrm>
          <a:off x="1042988" y="1125538"/>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87" name="Group 147">
            <a:extLst>
              <a:ext uri="{FF2B5EF4-FFF2-40B4-BE49-F238E27FC236}">
                <a16:creationId xmlns:a16="http://schemas.microsoft.com/office/drawing/2014/main" id="{70AE5EBB-5064-4497-A2D0-6E39C094B221}"/>
              </a:ext>
            </a:extLst>
          </p:cNvPr>
          <p:cNvGraphicFramePr>
            <a:graphicFrameLocks noGrp="1"/>
          </p:cNvGraphicFramePr>
          <p:nvPr/>
        </p:nvGraphicFramePr>
        <p:xfrm>
          <a:off x="1042988" y="765175"/>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86" name="Group 146">
            <a:extLst>
              <a:ext uri="{FF2B5EF4-FFF2-40B4-BE49-F238E27FC236}">
                <a16:creationId xmlns:a16="http://schemas.microsoft.com/office/drawing/2014/main" id="{CC503375-EE72-4E6F-AABC-1CC090BCB834}"/>
              </a:ext>
            </a:extLst>
          </p:cNvPr>
          <p:cNvGraphicFramePr>
            <a:graphicFrameLocks noGrp="1"/>
          </p:cNvGraphicFramePr>
          <p:nvPr/>
        </p:nvGraphicFramePr>
        <p:xfrm>
          <a:off x="4356100" y="3789363"/>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385" name="Group 145">
            <a:extLst>
              <a:ext uri="{FF2B5EF4-FFF2-40B4-BE49-F238E27FC236}">
                <a16:creationId xmlns:a16="http://schemas.microsoft.com/office/drawing/2014/main" id="{11F74C17-3988-4ECF-BC36-EFE332FCF312}"/>
              </a:ext>
            </a:extLst>
          </p:cNvPr>
          <p:cNvGraphicFramePr>
            <a:graphicFrameLocks noGrp="1"/>
          </p:cNvGraphicFramePr>
          <p:nvPr/>
        </p:nvGraphicFramePr>
        <p:xfrm>
          <a:off x="5148263" y="3789363"/>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1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7684" name="Line 125">
            <a:extLst>
              <a:ext uri="{FF2B5EF4-FFF2-40B4-BE49-F238E27FC236}">
                <a16:creationId xmlns:a16="http://schemas.microsoft.com/office/drawing/2014/main" id="{1FBBB7E8-9906-4DBA-8A92-87A8A0B2309B}"/>
              </a:ext>
            </a:extLst>
          </p:cNvPr>
          <p:cNvSpPr>
            <a:spLocks noChangeShapeType="1"/>
          </p:cNvSpPr>
          <p:nvPr/>
        </p:nvSpPr>
        <p:spPr bwMode="auto">
          <a:xfrm flipV="1">
            <a:off x="5795963" y="1484313"/>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0366" name="Group 126">
            <a:extLst>
              <a:ext uri="{FF2B5EF4-FFF2-40B4-BE49-F238E27FC236}">
                <a16:creationId xmlns:a16="http://schemas.microsoft.com/office/drawing/2014/main" id="{9E31F692-040F-4184-8416-75D664C9B9AA}"/>
              </a:ext>
            </a:extLst>
          </p:cNvPr>
          <p:cNvGraphicFramePr>
            <a:graphicFrameLocks noGrp="1"/>
          </p:cNvGraphicFramePr>
          <p:nvPr/>
        </p:nvGraphicFramePr>
        <p:xfrm>
          <a:off x="900113" y="3789363"/>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27687" name="AutoShape 132">
            <a:extLst>
              <a:ext uri="{FF2B5EF4-FFF2-40B4-BE49-F238E27FC236}">
                <a16:creationId xmlns:a16="http://schemas.microsoft.com/office/drawing/2014/main" id="{597A8F28-AC3C-4FBB-AA55-9AC3E73AB776}"/>
              </a:ext>
            </a:extLst>
          </p:cNvPr>
          <p:cNvCxnSpPr>
            <a:cxnSpLocks noChangeShapeType="1"/>
          </p:cNvCxnSpPr>
          <p:nvPr/>
        </p:nvCxnSpPr>
        <p:spPr bwMode="auto">
          <a:xfrm>
            <a:off x="4787900" y="3573463"/>
            <a:ext cx="487363"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graphicFrame>
        <p:nvGraphicFramePr>
          <p:cNvPr id="10382" name="Group 142">
            <a:extLst>
              <a:ext uri="{FF2B5EF4-FFF2-40B4-BE49-F238E27FC236}">
                <a16:creationId xmlns:a16="http://schemas.microsoft.com/office/drawing/2014/main" id="{517D7DA4-7B31-4075-BF00-4983F811A0E7}"/>
              </a:ext>
            </a:extLst>
          </p:cNvPr>
          <p:cNvGraphicFramePr>
            <a:graphicFrameLocks noGrp="1"/>
          </p:cNvGraphicFramePr>
          <p:nvPr/>
        </p:nvGraphicFramePr>
        <p:xfrm>
          <a:off x="4787900" y="3284538"/>
          <a:ext cx="609600" cy="304800"/>
        </p:xfrm>
        <a:graphic>
          <a:graphicData uri="http://schemas.openxmlformats.org/drawingml/2006/table">
            <a:tbl>
              <a:tblPr/>
              <a:tblGrid>
                <a:gridCol w="609600">
                  <a:extLst>
                    <a:ext uri="{9D8B030D-6E8A-4147-A177-3AD203B41FA5}">
                      <a16:colId xmlns:a16="http://schemas.microsoft.com/office/drawing/2014/main" val="20000"/>
                    </a:ext>
                  </a:extLst>
                </a:gridCol>
              </a:tblGrid>
              <a:tr h="2476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l-GR" altLang="zh-CN" sz="14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Δ</a:t>
                      </a:r>
                      <a:r>
                        <a:rPr kumimoji="0" lang="el-GR" altLang="zh-CN" sz="1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 </a:t>
                      </a:r>
                      <a:r>
                        <a:rPr kumimoji="0" lang="en-US" altLang="zh-CN" sz="14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3E7B4935-B5AE-4E0D-A7AE-E388A3A14AAC}"/>
              </a:ext>
            </a:extLst>
          </p:cNvPr>
          <p:cNvSpPr>
            <a:spLocks noGrp="1" noChangeArrowheads="1"/>
          </p:cNvSpPr>
          <p:nvPr>
            <p:ph type="body" idx="1"/>
          </p:nvPr>
        </p:nvSpPr>
        <p:spPr>
          <a:xfrm>
            <a:off x="428625" y="571500"/>
            <a:ext cx="8229600" cy="5576888"/>
          </a:xfrm>
        </p:spPr>
        <p:txBody>
          <a:bodyPr/>
          <a:lstStyle/>
          <a:p>
            <a:pPr marL="0" indent="0" eaLnBrk="1" hangingPunct="1">
              <a:lnSpc>
                <a:spcPct val="90000"/>
              </a:lnSpc>
              <a:buFontTx/>
              <a:buNone/>
              <a:defRPr/>
            </a:pPr>
            <a:r>
              <a:rPr lang="en-US" altLang="zh-CN" sz="2200" dirty="0">
                <a:latin typeface="Times New Roman" panose="02020603050405020304" pitchFamily="18" charset="0"/>
              </a:rPr>
              <a:t>Example:     </a:t>
            </a:r>
          </a:p>
          <a:p>
            <a:pPr eaLnBrk="1" hangingPunct="1">
              <a:lnSpc>
                <a:spcPct val="90000"/>
              </a:lnSpc>
              <a:defRPr/>
            </a:pPr>
            <a:r>
              <a:rPr lang="en-US" altLang="zh-CN" sz="2200" dirty="0">
                <a:latin typeface="Times New Roman" panose="02020603050405020304" pitchFamily="18" charset="0"/>
              </a:rPr>
              <a:t>Nigeria &amp; Hong Kong</a:t>
            </a:r>
          </a:p>
          <a:p>
            <a:pPr marL="609600" indent="-609600" eaLnBrk="1" hangingPunct="1">
              <a:lnSpc>
                <a:spcPct val="90000"/>
              </a:lnSpc>
              <a:buFontTx/>
              <a:buNone/>
              <a:defRPr/>
            </a:pPr>
            <a:r>
              <a:rPr lang="en-US" altLang="zh-CN" sz="2200" dirty="0"/>
              <a:t>          </a:t>
            </a:r>
            <a:r>
              <a:rPr lang="en-US" altLang="zh-CN" sz="2200" dirty="0">
                <a:latin typeface="Times New Roman" panose="02020603050405020304" pitchFamily="18" charset="0"/>
              </a:rPr>
              <a:t>↑     by over 250% from 1960-1985.</a:t>
            </a:r>
          </a:p>
          <a:p>
            <a:pPr marL="609600" indent="-609600" eaLnBrk="1" hangingPunct="1">
              <a:lnSpc>
                <a:spcPct val="90000"/>
              </a:lnSpc>
              <a:buFontTx/>
              <a:buNone/>
              <a:defRPr/>
            </a:pPr>
            <a:r>
              <a:rPr lang="en-US" altLang="zh-CN" sz="2200" dirty="0">
                <a:latin typeface="Times New Roman" panose="02020603050405020304" pitchFamily="18" charset="0"/>
              </a:rPr>
              <a:t>           ↑     by 12% &amp; 328% respectively</a:t>
            </a:r>
            <a:r>
              <a:rPr lang="en-US" altLang="zh-CN" sz="2200" dirty="0"/>
              <a:t>.</a:t>
            </a:r>
            <a:endParaRPr lang="en-US" altLang="zh-CN" sz="2200" dirty="0">
              <a:latin typeface="Times New Roman" panose="02020603050405020304" pitchFamily="18" charset="0"/>
            </a:endParaRPr>
          </a:p>
          <a:p>
            <a:pPr marL="609600" indent="-609600" eaLnBrk="1" hangingPunct="1">
              <a:lnSpc>
                <a:spcPct val="90000"/>
              </a:lnSpc>
              <a:buFontTx/>
              <a:buNone/>
              <a:defRPr/>
            </a:pPr>
            <a:endParaRPr lang="en-US" altLang="zh-CN" sz="2200" dirty="0">
              <a:latin typeface="Times New Roman" panose="02020603050405020304" pitchFamily="18" charset="0"/>
            </a:endParaRPr>
          </a:p>
          <a:p>
            <a:pPr eaLnBrk="1" hangingPunct="1">
              <a:defRPr/>
            </a:pPr>
            <a:r>
              <a:rPr lang="en-US" altLang="zh-CN" sz="2200" dirty="0">
                <a:latin typeface="Times New Roman" panose="02020603050405020304" pitchFamily="18" charset="0"/>
              </a:rPr>
              <a:t>Gambia &amp; Japan</a:t>
            </a:r>
          </a:p>
          <a:p>
            <a:pPr eaLnBrk="1" hangingPunct="1">
              <a:buFontTx/>
              <a:buNone/>
              <a:defRPr/>
            </a:pPr>
            <a:r>
              <a:rPr lang="en-US" altLang="zh-CN" sz="2200" dirty="0">
                <a:latin typeface="Times New Roman" panose="02020603050405020304" pitchFamily="18" charset="0"/>
              </a:rPr>
              <a:t>            ↑      by over 500% from 1960-1985.</a:t>
            </a:r>
          </a:p>
          <a:p>
            <a:pPr eaLnBrk="1" hangingPunct="1">
              <a:buFontTx/>
              <a:buNone/>
              <a:defRPr/>
            </a:pPr>
            <a:r>
              <a:rPr lang="en-US" altLang="zh-CN" sz="2200" dirty="0">
                <a:latin typeface="Times New Roman" panose="02020603050405020304" pitchFamily="18" charset="0"/>
              </a:rPr>
              <a:t>            ↑      by 2% &amp; 260% respectively</a:t>
            </a:r>
            <a:r>
              <a:rPr lang="en-US" altLang="zh-CN" dirty="0"/>
              <a:t>.</a:t>
            </a:r>
          </a:p>
        </p:txBody>
      </p:sp>
      <p:graphicFrame>
        <p:nvGraphicFramePr>
          <p:cNvPr id="28675" name="Object 7">
            <a:extLst>
              <a:ext uri="{FF2B5EF4-FFF2-40B4-BE49-F238E27FC236}">
                <a16:creationId xmlns:a16="http://schemas.microsoft.com/office/drawing/2014/main" id="{C4B2398D-F446-4ABA-9B8F-4B1D439FF8E4}"/>
              </a:ext>
            </a:extLst>
          </p:cNvPr>
          <p:cNvGraphicFramePr>
            <a:graphicFrameLocks noChangeAspect="1"/>
          </p:cNvGraphicFramePr>
          <p:nvPr/>
        </p:nvGraphicFramePr>
        <p:xfrm>
          <a:off x="1046163" y="2843213"/>
          <a:ext cx="265112" cy="369887"/>
        </p:xfrm>
        <a:graphic>
          <a:graphicData uri="http://schemas.openxmlformats.org/presentationml/2006/ole">
            <mc:AlternateContent xmlns:mc="http://schemas.openxmlformats.org/markup-compatibility/2006">
              <mc:Choice xmlns:v="urn:schemas-microsoft-com:vml" Requires="v">
                <p:oleObj name="Equation" r:id="rId2" imgW="190417" imgH="393529" progId="Equation.DSMT4">
                  <p:embed/>
                </p:oleObj>
              </mc:Choice>
              <mc:Fallback>
                <p:oleObj name="Equation" r:id="rId2" imgW="190417" imgH="393529" progId="Equation.DSMT4">
                  <p:embed/>
                  <p:pic>
                    <p:nvPicPr>
                      <p:cNvPr id="28675" name="Object 7">
                        <a:extLst>
                          <a:ext uri="{FF2B5EF4-FFF2-40B4-BE49-F238E27FC236}">
                            <a16:creationId xmlns:a16="http://schemas.microsoft.com/office/drawing/2014/main" id="{C4B2398D-F446-4ABA-9B8F-4B1D439FF8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163" y="2843213"/>
                        <a:ext cx="265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6" name="Object 8">
            <a:extLst>
              <a:ext uri="{FF2B5EF4-FFF2-40B4-BE49-F238E27FC236}">
                <a16:creationId xmlns:a16="http://schemas.microsoft.com/office/drawing/2014/main" id="{0ED740C8-CC1B-4B80-AEA1-138F5E85FB39}"/>
              </a:ext>
            </a:extLst>
          </p:cNvPr>
          <p:cNvGraphicFramePr>
            <a:graphicFrameLocks noChangeAspect="1"/>
          </p:cNvGraphicFramePr>
          <p:nvPr/>
        </p:nvGraphicFramePr>
        <p:xfrm>
          <a:off x="1066800" y="3378200"/>
          <a:ext cx="244475" cy="411163"/>
        </p:xfrm>
        <a:graphic>
          <a:graphicData uri="http://schemas.openxmlformats.org/presentationml/2006/ole">
            <mc:AlternateContent xmlns:mc="http://schemas.openxmlformats.org/markup-compatibility/2006">
              <mc:Choice xmlns:v="urn:schemas-microsoft-com:vml" Requires="v">
                <p:oleObj name="Equation" r:id="rId4" imgW="164957" imgH="393359" progId="Equation.DSMT4">
                  <p:embed/>
                </p:oleObj>
              </mc:Choice>
              <mc:Fallback>
                <p:oleObj name="Equation" r:id="rId4" imgW="164957" imgH="393359" progId="Equation.DSMT4">
                  <p:embed/>
                  <p:pic>
                    <p:nvPicPr>
                      <p:cNvPr id="28676" name="Object 8">
                        <a:extLst>
                          <a:ext uri="{FF2B5EF4-FFF2-40B4-BE49-F238E27FC236}">
                            <a16:creationId xmlns:a16="http://schemas.microsoft.com/office/drawing/2014/main" id="{0ED740C8-CC1B-4B80-AEA1-138F5E85FB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378200"/>
                        <a:ext cx="2444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7" name="Object 7">
            <a:extLst>
              <a:ext uri="{FF2B5EF4-FFF2-40B4-BE49-F238E27FC236}">
                <a16:creationId xmlns:a16="http://schemas.microsoft.com/office/drawing/2014/main" id="{2D3654EE-D87A-46AB-A9BF-5500BEEFB458}"/>
              </a:ext>
            </a:extLst>
          </p:cNvPr>
          <p:cNvGraphicFramePr>
            <a:graphicFrameLocks noChangeAspect="1"/>
          </p:cNvGraphicFramePr>
          <p:nvPr/>
        </p:nvGraphicFramePr>
        <p:xfrm>
          <a:off x="1001713" y="1381125"/>
          <a:ext cx="250825" cy="360363"/>
        </p:xfrm>
        <a:graphic>
          <a:graphicData uri="http://schemas.openxmlformats.org/presentationml/2006/ole">
            <mc:AlternateContent xmlns:mc="http://schemas.openxmlformats.org/markup-compatibility/2006">
              <mc:Choice xmlns:v="urn:schemas-microsoft-com:vml" Requires="v">
                <p:oleObj name="Equation" r:id="rId2" imgW="190417" imgH="393529" progId="Equation.DSMT4">
                  <p:embed/>
                </p:oleObj>
              </mc:Choice>
              <mc:Fallback>
                <p:oleObj name="Equation" r:id="rId2" imgW="190417" imgH="393529" progId="Equation.DSMT4">
                  <p:embed/>
                  <p:pic>
                    <p:nvPicPr>
                      <p:cNvPr id="28677" name="Object 7">
                        <a:extLst>
                          <a:ext uri="{FF2B5EF4-FFF2-40B4-BE49-F238E27FC236}">
                            <a16:creationId xmlns:a16="http://schemas.microsoft.com/office/drawing/2014/main" id="{2D3654EE-D87A-46AB-A9BF-5500BEEFB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713" y="1381125"/>
                        <a:ext cx="2508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8" name="Object 8">
            <a:extLst>
              <a:ext uri="{FF2B5EF4-FFF2-40B4-BE49-F238E27FC236}">
                <a16:creationId xmlns:a16="http://schemas.microsoft.com/office/drawing/2014/main" id="{0F8CE668-64C5-4693-85F8-A1474574EFFC}"/>
              </a:ext>
            </a:extLst>
          </p:cNvPr>
          <p:cNvGraphicFramePr>
            <a:graphicFrameLocks noChangeAspect="1"/>
          </p:cNvGraphicFramePr>
          <p:nvPr/>
        </p:nvGraphicFramePr>
        <p:xfrm>
          <a:off x="1001713" y="1735138"/>
          <a:ext cx="244475" cy="358775"/>
        </p:xfrm>
        <a:graphic>
          <a:graphicData uri="http://schemas.openxmlformats.org/presentationml/2006/ole">
            <mc:AlternateContent xmlns:mc="http://schemas.openxmlformats.org/markup-compatibility/2006">
              <mc:Choice xmlns:v="urn:schemas-microsoft-com:vml" Requires="v">
                <p:oleObj name="Equation" r:id="rId4" imgW="164957" imgH="393359" progId="Equation.DSMT4">
                  <p:embed/>
                </p:oleObj>
              </mc:Choice>
              <mc:Fallback>
                <p:oleObj name="Equation" r:id="rId4" imgW="164957" imgH="393359" progId="Equation.DSMT4">
                  <p:embed/>
                  <p:pic>
                    <p:nvPicPr>
                      <p:cNvPr id="28678" name="Object 8">
                        <a:extLst>
                          <a:ext uri="{FF2B5EF4-FFF2-40B4-BE49-F238E27FC236}">
                            <a16:creationId xmlns:a16="http://schemas.microsoft.com/office/drawing/2014/main" id="{0F8CE668-64C5-4693-85F8-A1474574EF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1713" y="1735138"/>
                        <a:ext cx="2444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97AEDD03-CC1D-4445-951E-25F50BAACADA}"/>
              </a:ext>
            </a:extLst>
          </p:cNvPr>
          <p:cNvSpPr>
            <a:spLocks noGrp="1" noChangeArrowheads="1"/>
          </p:cNvSpPr>
          <p:nvPr>
            <p:ph type="body" idx="1"/>
          </p:nvPr>
        </p:nvSpPr>
        <p:spPr>
          <a:xfrm>
            <a:off x="323850" y="404813"/>
            <a:ext cx="8362950" cy="6453187"/>
          </a:xfrm>
        </p:spPr>
        <p:txBody>
          <a:bodyPr/>
          <a:lstStyle/>
          <a:p>
            <a:pPr marL="609600" indent="-609600" eaLnBrk="1" hangingPunct="1">
              <a:lnSpc>
                <a:spcPct val="80000"/>
              </a:lnSpc>
              <a:buFontTx/>
              <a:buNone/>
            </a:pPr>
            <a:r>
              <a:rPr lang="en-US" altLang="zh-CN" sz="2400" dirty="0">
                <a:latin typeface="Times New Roman" panose="02020603050405020304" pitchFamily="18" charset="0"/>
              </a:rPr>
              <a:t>5. An increase in the labor force growth</a:t>
            </a: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endParaRPr lang="en-US" altLang="zh-CN" sz="2400" dirty="0">
              <a:latin typeface="Times New Roman" panose="02020603050405020304" pitchFamily="18" charset="0"/>
            </a:endParaRPr>
          </a:p>
          <a:p>
            <a:pPr marL="609600" indent="-609600" eaLnBrk="1" hangingPunct="1">
              <a:lnSpc>
                <a:spcPct val="80000"/>
              </a:lnSpc>
              <a:buFontTx/>
              <a:buNone/>
            </a:pPr>
            <a:r>
              <a:rPr lang="en-US" altLang="zh-CN" sz="2400" dirty="0"/>
              <a:t>           </a:t>
            </a:r>
          </a:p>
          <a:p>
            <a:pPr marL="609600" indent="-609600" eaLnBrk="1" hangingPunct="1">
              <a:lnSpc>
                <a:spcPct val="80000"/>
              </a:lnSpc>
              <a:buFontTx/>
              <a:buNone/>
            </a:pPr>
            <a:r>
              <a:rPr lang="en-US" altLang="zh-CN" sz="2400" dirty="0"/>
              <a:t> </a:t>
            </a:r>
            <a:r>
              <a:rPr lang="en-US" altLang="zh-CN" sz="1800" i="1" dirty="0">
                <a:latin typeface="Times New Roman" panose="02020603050405020304" pitchFamily="18" charset="0"/>
              </a:rPr>
              <a:t>n</a:t>
            </a:r>
            <a:r>
              <a:rPr lang="en-US" altLang="zh-CN" sz="1800" dirty="0"/>
              <a:t>↑,</a:t>
            </a:r>
            <a:r>
              <a:rPr lang="en-US" altLang="zh-CN" sz="1800" dirty="0">
                <a:latin typeface="Times New Roman" panose="02020603050405020304" pitchFamily="18" charset="0"/>
              </a:rPr>
              <a:t> </a:t>
            </a:r>
            <a:r>
              <a:rPr lang="en-US" altLang="zh-CN" sz="1800" i="1" dirty="0">
                <a:latin typeface="Times New Roman" panose="02020603050405020304" pitchFamily="18" charset="0"/>
              </a:rPr>
              <a:t>k</a:t>
            </a:r>
            <a:r>
              <a:rPr lang="en-US" altLang="zh-CN" sz="1800" dirty="0"/>
              <a:t>↓,</a:t>
            </a:r>
            <a:r>
              <a:rPr lang="en-US" altLang="zh-CN" sz="1800" dirty="0">
                <a:latin typeface="Times New Roman" panose="02020603050405020304" pitchFamily="18" charset="0"/>
              </a:rPr>
              <a:t> </a:t>
            </a:r>
            <a:r>
              <a:rPr lang="en-US" altLang="zh-CN" sz="1800" i="1" dirty="0">
                <a:latin typeface="Times New Roman" panose="02020603050405020304" pitchFamily="18" charset="0"/>
              </a:rPr>
              <a:t>y</a:t>
            </a:r>
            <a:r>
              <a:rPr lang="en-US" altLang="zh-CN" sz="1800" dirty="0"/>
              <a:t>↓</a:t>
            </a:r>
            <a:r>
              <a:rPr lang="en-US" altLang="zh-CN" sz="1800" dirty="0">
                <a:latin typeface="Times New Roman" panose="02020603050405020304" pitchFamily="18" charset="0"/>
              </a:rPr>
              <a:t> in transition</a:t>
            </a:r>
            <a:endParaRPr lang="en-US" altLang="zh-CN" sz="1800" dirty="0"/>
          </a:p>
          <a:p>
            <a:pPr marL="990600" lvl="1" indent="-533400" eaLnBrk="1" hangingPunct="1">
              <a:lnSpc>
                <a:spcPct val="80000"/>
              </a:lnSpc>
            </a:pPr>
            <a:r>
              <a:rPr lang="en-US" altLang="zh-CN" sz="1800" i="1" u="sng" dirty="0">
                <a:latin typeface="Times New Roman" panose="02020603050405020304" pitchFamily="18" charset="0"/>
              </a:rPr>
              <a:t>n</a:t>
            </a:r>
            <a:r>
              <a:rPr lang="en-US" altLang="zh-CN" sz="1800" u="sng" dirty="0">
                <a:latin typeface="Times New Roman" panose="02020603050405020304" pitchFamily="18" charset="0"/>
              </a:rPr>
              <a:t> does not affect the S.S. growth rate.  S.S. growth is 0.</a:t>
            </a:r>
          </a:p>
          <a:p>
            <a:pPr marL="609600" indent="-609600" eaLnBrk="1" hangingPunct="1">
              <a:lnSpc>
                <a:spcPct val="80000"/>
              </a:lnSpc>
              <a:buFontTx/>
              <a:buNone/>
            </a:pPr>
            <a:r>
              <a:rPr lang="en-US" altLang="zh-CN" sz="1800" dirty="0">
                <a:latin typeface="Times New Roman" panose="02020603050405020304" pitchFamily="18" charset="0"/>
              </a:rPr>
              <a:t>Note: a. Two countries with same income level may have different growth rates in transition if they have different S.S. levels of income (China, Indonesia).</a:t>
            </a:r>
          </a:p>
          <a:p>
            <a:pPr marL="609600" indent="-609600" eaLnBrk="1" hangingPunct="1">
              <a:lnSpc>
                <a:spcPct val="80000"/>
              </a:lnSpc>
              <a:buFontTx/>
              <a:buNone/>
            </a:pPr>
            <a:r>
              <a:rPr lang="en-US" altLang="zh-CN" sz="1800" dirty="0">
                <a:latin typeface="Times New Roman" panose="02020603050405020304" pitchFamily="18" charset="0"/>
              </a:rPr>
              <a:t>               S.S. income level is determined by saving rate, population growth rate, etc.</a:t>
            </a:r>
          </a:p>
          <a:p>
            <a:pPr marL="609600" indent="-609600" eaLnBrk="1" hangingPunct="1">
              <a:lnSpc>
                <a:spcPct val="80000"/>
              </a:lnSpc>
              <a:buFontTx/>
              <a:buNone/>
            </a:pPr>
            <a:r>
              <a:rPr lang="en-US" altLang="zh-CN" sz="1800" dirty="0">
                <a:latin typeface="Times New Roman" panose="02020603050405020304" pitchFamily="18" charset="0"/>
              </a:rPr>
              <a:t>           b. Two countries with the same S.S. income level may have different growth rates if they are in different point in the transition to the S.S. (China, Singapore).</a:t>
            </a:r>
          </a:p>
          <a:p>
            <a:pPr marL="609600" indent="-609600" eaLnBrk="1" hangingPunct="1">
              <a:lnSpc>
                <a:spcPct val="80000"/>
              </a:lnSpc>
              <a:buFontTx/>
              <a:buNone/>
            </a:pPr>
            <a:endParaRPr lang="en-US" altLang="zh-CN" sz="1800" dirty="0">
              <a:latin typeface="Times New Roman" panose="02020603050405020304" pitchFamily="18" charset="0"/>
            </a:endParaRPr>
          </a:p>
          <a:p>
            <a:pPr marL="609600" indent="-609600" eaLnBrk="1" hangingPunct="1">
              <a:lnSpc>
                <a:spcPct val="80000"/>
              </a:lnSpc>
              <a:buFontTx/>
              <a:buNone/>
            </a:pPr>
            <a:r>
              <a:rPr lang="en-US" altLang="zh-CN" sz="1800" dirty="0">
                <a:latin typeface="Times New Roman" panose="02020603050405020304" pitchFamily="18" charset="0"/>
              </a:rPr>
              <a:t>In the real world, we see savings rate </a:t>
            </a:r>
            <a:r>
              <a:rPr lang="en-US" altLang="zh-CN" sz="1800" dirty="0"/>
              <a:t>↓ </a:t>
            </a:r>
            <a:r>
              <a:rPr lang="en-US" altLang="zh-CN" sz="1800" dirty="0">
                <a:latin typeface="Times New Roman" panose="02020603050405020304" pitchFamily="18" charset="0"/>
              </a:rPr>
              <a:t>and population growth rate</a:t>
            </a:r>
            <a:r>
              <a:rPr lang="en-US" altLang="zh-CN" sz="1800" dirty="0"/>
              <a:t>↓</a:t>
            </a:r>
            <a:r>
              <a:rPr lang="en-US" altLang="zh-CN" sz="1800" dirty="0">
                <a:latin typeface="Times New Roman" panose="02020603050405020304" pitchFamily="18" charset="0"/>
              </a:rPr>
              <a:t>. What’s the implication to the growth rate?</a:t>
            </a:r>
          </a:p>
          <a:p>
            <a:pPr marL="609600" indent="-609600" eaLnBrk="1" hangingPunct="1">
              <a:lnSpc>
                <a:spcPct val="80000"/>
              </a:lnSpc>
              <a:buFontTx/>
              <a:buNone/>
            </a:pPr>
            <a:endParaRPr lang="en-US" altLang="zh-CN" sz="1800" dirty="0">
              <a:latin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F5148AF4-5796-426F-A223-79E6EB9536F4}"/>
              </a:ext>
            </a:extLst>
          </p:cNvPr>
          <p:cNvCxnSpPr/>
          <p:nvPr/>
        </p:nvCxnSpPr>
        <p:spPr>
          <a:xfrm rot="5400000" flipH="1" flipV="1">
            <a:off x="107157" y="2321719"/>
            <a:ext cx="2786062"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7D1439D0-0B8F-47DD-9243-7D7D47E93C08}"/>
              </a:ext>
            </a:extLst>
          </p:cNvPr>
          <p:cNvCxnSpPr/>
          <p:nvPr/>
        </p:nvCxnSpPr>
        <p:spPr>
          <a:xfrm rot="10800000">
            <a:off x="1500188" y="1214438"/>
            <a:ext cx="3071812"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9E887BE-C46D-47DA-9124-D08BEA400C0F}"/>
              </a:ext>
            </a:extLst>
          </p:cNvPr>
          <p:cNvCxnSpPr/>
          <p:nvPr/>
        </p:nvCxnSpPr>
        <p:spPr>
          <a:xfrm rot="10800000">
            <a:off x="1500188" y="2143125"/>
            <a:ext cx="2000250" cy="1588"/>
          </a:xfrm>
          <a:prstGeom prst="line">
            <a:avLst/>
          </a:prstGeom>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1007754B-783B-4402-B4AD-0B0338703FF9}"/>
              </a:ext>
            </a:extLst>
          </p:cNvPr>
          <p:cNvSpPr/>
          <p:nvPr/>
        </p:nvSpPr>
        <p:spPr>
          <a:xfrm>
            <a:off x="1500188" y="1785938"/>
            <a:ext cx="4013200" cy="1927225"/>
          </a:xfrm>
          <a:custGeom>
            <a:avLst/>
            <a:gdLst>
              <a:gd name="connsiteX0" fmla="*/ 0 w 4005072"/>
              <a:gd name="connsiteY0" fmla="*/ 1947672 h 1947672"/>
              <a:gd name="connsiteX1" fmla="*/ 1207008 w 4005072"/>
              <a:gd name="connsiteY1" fmla="*/ 630936 h 1947672"/>
              <a:gd name="connsiteX2" fmla="*/ 4005072 w 4005072"/>
              <a:gd name="connsiteY2" fmla="*/ 0 h 1947672"/>
            </a:gdLst>
            <a:ahLst/>
            <a:cxnLst>
              <a:cxn ang="0">
                <a:pos x="connsiteX0" y="connsiteY0"/>
              </a:cxn>
              <a:cxn ang="0">
                <a:pos x="connsiteX1" y="connsiteY1"/>
              </a:cxn>
              <a:cxn ang="0">
                <a:pos x="connsiteX2" y="connsiteY2"/>
              </a:cxn>
            </a:cxnLst>
            <a:rect l="l" t="t" r="r" b="b"/>
            <a:pathLst>
              <a:path w="4005072" h="1947672">
                <a:moveTo>
                  <a:pt x="0" y="1947672"/>
                </a:moveTo>
                <a:cubicBezTo>
                  <a:pt x="269748" y="1451610"/>
                  <a:pt x="539496" y="955548"/>
                  <a:pt x="1207008" y="630936"/>
                </a:cubicBezTo>
                <a:cubicBezTo>
                  <a:pt x="1874520" y="306324"/>
                  <a:pt x="2939796" y="153162"/>
                  <a:pt x="4005072" y="0"/>
                </a:cubicBezTo>
              </a:path>
            </a:pathLst>
          </a:custGeom>
        </p:spPr>
        <p:style>
          <a:lnRef idx="1">
            <a:schemeClr val="accent6"/>
          </a:lnRef>
          <a:fillRef idx="0">
            <a:schemeClr val="accent6"/>
          </a:fillRef>
          <a:effectRef idx="0">
            <a:schemeClr val="accent6"/>
          </a:effectRef>
          <a:fontRef idx="minor">
            <a:schemeClr val="tx1"/>
          </a:fontRef>
        </p:style>
        <p:txBody>
          <a:bodyPr anchor="ctr"/>
          <a:lstStyle/>
          <a:p>
            <a:pPr algn="ctr" eaLnBrk="1" hangingPunct="1">
              <a:defRPr/>
            </a:pPr>
            <a:endParaRPr lang="en-US"/>
          </a:p>
        </p:txBody>
      </p:sp>
      <p:cxnSp>
        <p:nvCxnSpPr>
          <p:cNvPr id="9" name="Straight Arrow Connector 8">
            <a:extLst>
              <a:ext uri="{FF2B5EF4-FFF2-40B4-BE49-F238E27FC236}">
                <a16:creationId xmlns:a16="http://schemas.microsoft.com/office/drawing/2014/main" id="{4B4B6644-3F9F-4204-924C-66A25EC05C05}"/>
              </a:ext>
            </a:extLst>
          </p:cNvPr>
          <p:cNvCxnSpPr/>
          <p:nvPr/>
        </p:nvCxnSpPr>
        <p:spPr>
          <a:xfrm>
            <a:off x="1500188" y="3714750"/>
            <a:ext cx="4572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704" name="Straight Connector 9">
            <a:extLst>
              <a:ext uri="{FF2B5EF4-FFF2-40B4-BE49-F238E27FC236}">
                <a16:creationId xmlns:a16="http://schemas.microsoft.com/office/drawing/2014/main" id="{70D60EE6-606C-4572-AA4A-4F71D44FA7F7}"/>
              </a:ext>
            </a:extLst>
          </p:cNvPr>
          <p:cNvCxnSpPr>
            <a:cxnSpLocks noChangeShapeType="1"/>
          </p:cNvCxnSpPr>
          <p:nvPr/>
        </p:nvCxnSpPr>
        <p:spPr bwMode="auto">
          <a:xfrm flipV="1">
            <a:off x="1500188" y="1285875"/>
            <a:ext cx="4214812" cy="2428875"/>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11" name="Straight Connector 10">
            <a:extLst>
              <a:ext uri="{FF2B5EF4-FFF2-40B4-BE49-F238E27FC236}">
                <a16:creationId xmlns:a16="http://schemas.microsoft.com/office/drawing/2014/main" id="{318B4A06-1B5F-4201-A9CF-CB3CA43F79B7}"/>
              </a:ext>
            </a:extLst>
          </p:cNvPr>
          <p:cNvCxnSpPr/>
          <p:nvPr/>
        </p:nvCxnSpPr>
        <p:spPr>
          <a:xfrm rot="5400000">
            <a:off x="3320257" y="2464594"/>
            <a:ext cx="2501900" cy="1587"/>
          </a:xfrm>
          <a:prstGeom prst="line">
            <a:avLst/>
          </a:prstGeom>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1656B6B9-0171-497A-AE03-85ABDBB10E01}"/>
              </a:ext>
            </a:extLst>
          </p:cNvPr>
          <p:cNvSpPr/>
          <p:nvPr/>
        </p:nvSpPr>
        <p:spPr>
          <a:xfrm>
            <a:off x="1500188" y="1014413"/>
            <a:ext cx="4579937" cy="2689225"/>
          </a:xfrm>
          <a:custGeom>
            <a:avLst/>
            <a:gdLst>
              <a:gd name="connsiteX0" fmla="*/ 0 w 4581144"/>
              <a:gd name="connsiteY0" fmla="*/ 2688336 h 2688336"/>
              <a:gd name="connsiteX1" fmla="*/ 1179576 w 4581144"/>
              <a:gd name="connsiteY1" fmla="*/ 722376 h 2688336"/>
              <a:gd name="connsiteX2" fmla="*/ 4581144 w 4581144"/>
              <a:gd name="connsiteY2" fmla="*/ 0 h 2688336"/>
            </a:gdLst>
            <a:ahLst/>
            <a:cxnLst>
              <a:cxn ang="0">
                <a:pos x="connsiteX0" y="connsiteY0"/>
              </a:cxn>
              <a:cxn ang="0">
                <a:pos x="connsiteX1" y="connsiteY1"/>
              </a:cxn>
              <a:cxn ang="0">
                <a:pos x="connsiteX2" y="connsiteY2"/>
              </a:cxn>
            </a:cxnLst>
            <a:rect l="l" t="t" r="r" b="b"/>
            <a:pathLst>
              <a:path w="4581144" h="2688336">
                <a:moveTo>
                  <a:pt x="0" y="2688336"/>
                </a:moveTo>
                <a:cubicBezTo>
                  <a:pt x="208026" y="1929384"/>
                  <a:pt x="416052" y="1170432"/>
                  <a:pt x="1179576" y="722376"/>
                </a:cubicBezTo>
                <a:cubicBezTo>
                  <a:pt x="1943100" y="274320"/>
                  <a:pt x="4015740" y="109728"/>
                  <a:pt x="4581144" y="0"/>
                </a:cubicBezTo>
              </a:path>
            </a:pathLst>
          </a:custGeom>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en-US"/>
          </a:p>
        </p:txBody>
      </p:sp>
      <p:cxnSp>
        <p:nvCxnSpPr>
          <p:cNvPr id="29707" name="Straight Connector 13">
            <a:extLst>
              <a:ext uri="{FF2B5EF4-FFF2-40B4-BE49-F238E27FC236}">
                <a16:creationId xmlns:a16="http://schemas.microsoft.com/office/drawing/2014/main" id="{B5127988-C9F0-4438-ADF0-AF84DB72E1BE}"/>
              </a:ext>
            </a:extLst>
          </p:cNvPr>
          <p:cNvCxnSpPr>
            <a:cxnSpLocks noChangeShapeType="1"/>
            <a:stCxn id="12" idx="0"/>
          </p:cNvCxnSpPr>
          <p:nvPr/>
        </p:nvCxnSpPr>
        <p:spPr bwMode="auto">
          <a:xfrm flipV="1">
            <a:off x="1500188" y="1357313"/>
            <a:ext cx="3000375" cy="2346325"/>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17" name="Straight Connector 16">
            <a:extLst>
              <a:ext uri="{FF2B5EF4-FFF2-40B4-BE49-F238E27FC236}">
                <a16:creationId xmlns:a16="http://schemas.microsoft.com/office/drawing/2014/main" id="{A451AA03-63CE-44D2-9611-DD35AC771157}"/>
              </a:ext>
            </a:extLst>
          </p:cNvPr>
          <p:cNvCxnSpPr/>
          <p:nvPr/>
        </p:nvCxnSpPr>
        <p:spPr>
          <a:xfrm rot="5400000">
            <a:off x="2713037" y="2928938"/>
            <a:ext cx="1573213" cy="158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6638" name="Group 14">
            <a:extLst>
              <a:ext uri="{FF2B5EF4-FFF2-40B4-BE49-F238E27FC236}">
                <a16:creationId xmlns:a16="http://schemas.microsoft.com/office/drawing/2014/main" id="{ABD40E63-AD83-4B84-B787-825B518EFC96}"/>
              </a:ext>
            </a:extLst>
          </p:cNvPr>
          <p:cNvGraphicFramePr>
            <a:graphicFrameLocks noGrp="1"/>
          </p:cNvGraphicFramePr>
          <p:nvPr/>
        </p:nvGraphicFramePr>
        <p:xfrm>
          <a:off x="900113" y="3789363"/>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50" name="Group 26">
            <a:extLst>
              <a:ext uri="{FF2B5EF4-FFF2-40B4-BE49-F238E27FC236}">
                <a16:creationId xmlns:a16="http://schemas.microsoft.com/office/drawing/2014/main" id="{B8B6D1A1-41BD-4F58-88A6-64D3396B8C91}"/>
              </a:ext>
            </a:extLst>
          </p:cNvPr>
          <p:cNvGraphicFramePr>
            <a:graphicFrameLocks noGrp="1"/>
          </p:cNvGraphicFramePr>
          <p:nvPr/>
        </p:nvGraphicFramePr>
        <p:xfrm>
          <a:off x="971550" y="692150"/>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56" name="Group 32">
            <a:extLst>
              <a:ext uri="{FF2B5EF4-FFF2-40B4-BE49-F238E27FC236}">
                <a16:creationId xmlns:a16="http://schemas.microsoft.com/office/drawing/2014/main" id="{EC973A86-1069-44F5-A799-BAD36B34087C}"/>
              </a:ext>
            </a:extLst>
          </p:cNvPr>
          <p:cNvGraphicFramePr>
            <a:graphicFrameLocks noGrp="1"/>
          </p:cNvGraphicFramePr>
          <p:nvPr/>
        </p:nvGraphicFramePr>
        <p:xfrm>
          <a:off x="1116013" y="1989138"/>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8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62" name="Group 38">
            <a:extLst>
              <a:ext uri="{FF2B5EF4-FFF2-40B4-BE49-F238E27FC236}">
                <a16:creationId xmlns:a16="http://schemas.microsoft.com/office/drawing/2014/main" id="{3A551D24-538E-473B-81D4-F30928D44BFE}"/>
              </a:ext>
            </a:extLst>
          </p:cNvPr>
          <p:cNvGraphicFramePr>
            <a:graphicFrameLocks noGrp="1"/>
          </p:cNvGraphicFramePr>
          <p:nvPr/>
        </p:nvGraphicFramePr>
        <p:xfrm>
          <a:off x="1116013" y="1052513"/>
          <a:ext cx="896937" cy="331787"/>
        </p:xfrm>
        <a:graphic>
          <a:graphicData uri="http://schemas.openxmlformats.org/drawingml/2006/table">
            <a:tbl>
              <a:tblPr/>
              <a:tblGrid>
                <a:gridCol w="896937">
                  <a:extLst>
                    <a:ext uri="{9D8B030D-6E8A-4147-A177-3AD203B41FA5}">
                      <a16:colId xmlns:a16="http://schemas.microsoft.com/office/drawing/2014/main" val="20000"/>
                    </a:ext>
                  </a:extLst>
                </a:gridCol>
              </a:tblGrid>
              <a:tr h="33178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68" name="Group 44">
            <a:extLst>
              <a:ext uri="{FF2B5EF4-FFF2-40B4-BE49-F238E27FC236}">
                <a16:creationId xmlns:a16="http://schemas.microsoft.com/office/drawing/2014/main" id="{850F4C74-D0DD-442F-BC7A-5C227FE7030E}"/>
              </a:ext>
            </a:extLst>
          </p:cNvPr>
          <p:cNvGraphicFramePr>
            <a:graphicFrameLocks noGrp="1"/>
          </p:cNvGraphicFramePr>
          <p:nvPr/>
        </p:nvGraphicFramePr>
        <p:xfrm>
          <a:off x="4427538"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74" name="Group 50">
            <a:extLst>
              <a:ext uri="{FF2B5EF4-FFF2-40B4-BE49-F238E27FC236}">
                <a16:creationId xmlns:a16="http://schemas.microsoft.com/office/drawing/2014/main" id="{B1367017-189D-4CF7-8010-C69E92A18A38}"/>
              </a:ext>
            </a:extLst>
          </p:cNvPr>
          <p:cNvGraphicFramePr>
            <a:graphicFrameLocks noGrp="1"/>
          </p:cNvGraphicFramePr>
          <p:nvPr/>
        </p:nvGraphicFramePr>
        <p:xfrm>
          <a:off x="3348038" y="378936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8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80" name="Group 56">
            <a:extLst>
              <a:ext uri="{FF2B5EF4-FFF2-40B4-BE49-F238E27FC236}">
                <a16:creationId xmlns:a16="http://schemas.microsoft.com/office/drawing/2014/main" id="{8894F603-29DA-4DDE-8A4F-3AB9BCF7465B}"/>
              </a:ext>
            </a:extLst>
          </p:cNvPr>
          <p:cNvGraphicFramePr>
            <a:graphicFrameLocks noGrp="1"/>
          </p:cNvGraphicFramePr>
          <p:nvPr/>
        </p:nvGraphicFramePr>
        <p:xfrm>
          <a:off x="5940425" y="3716338"/>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86" name="Group 62">
            <a:extLst>
              <a:ext uri="{FF2B5EF4-FFF2-40B4-BE49-F238E27FC236}">
                <a16:creationId xmlns:a16="http://schemas.microsoft.com/office/drawing/2014/main" id="{4A21FCFC-F358-413E-AABF-1D1BE0E7BE4B}"/>
              </a:ext>
            </a:extLst>
          </p:cNvPr>
          <p:cNvGraphicFramePr>
            <a:graphicFrameLocks noGrp="1"/>
          </p:cNvGraphicFramePr>
          <p:nvPr/>
        </p:nvGraphicFramePr>
        <p:xfrm>
          <a:off x="6084888" y="836613"/>
          <a:ext cx="609600" cy="344487"/>
        </p:xfrm>
        <a:graphic>
          <a:graphicData uri="http://schemas.openxmlformats.org/drawingml/2006/table">
            <a:tbl>
              <a:tblPr/>
              <a:tblGrid>
                <a:gridCol w="609600">
                  <a:extLst>
                    <a:ext uri="{9D8B030D-6E8A-4147-A177-3AD203B41FA5}">
                      <a16:colId xmlns:a16="http://schemas.microsoft.com/office/drawing/2014/main" val="20000"/>
                    </a:ext>
                  </a:extLst>
                </a:gridCol>
              </a:tblGrid>
              <a:tr h="34448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y=f(k)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92" name="Group 68">
            <a:extLst>
              <a:ext uri="{FF2B5EF4-FFF2-40B4-BE49-F238E27FC236}">
                <a16:creationId xmlns:a16="http://schemas.microsoft.com/office/drawing/2014/main" id="{1F78F495-EDC0-49B1-BB3B-55E7CBBDF266}"/>
              </a:ext>
            </a:extLst>
          </p:cNvPr>
          <p:cNvGraphicFramePr>
            <a:graphicFrameLocks noGrp="1"/>
          </p:cNvGraphicFramePr>
          <p:nvPr/>
        </p:nvGraphicFramePr>
        <p:xfrm>
          <a:off x="5795963" y="1268413"/>
          <a:ext cx="609600" cy="274637"/>
        </p:xfrm>
        <a:graphic>
          <a:graphicData uri="http://schemas.openxmlformats.org/drawingml/2006/table">
            <a:tbl>
              <a:tblPr/>
              <a:tblGrid>
                <a:gridCol w="609600">
                  <a:extLst>
                    <a:ext uri="{9D8B030D-6E8A-4147-A177-3AD203B41FA5}">
                      <a16:colId xmlns:a16="http://schemas.microsoft.com/office/drawing/2014/main" val="20000"/>
                    </a:ext>
                  </a:extLst>
                </a:gridCol>
              </a:tblGrid>
              <a:tr h="27463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(n+d)k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3" marB="4577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698" name="Group 74">
            <a:extLst>
              <a:ext uri="{FF2B5EF4-FFF2-40B4-BE49-F238E27FC236}">
                <a16:creationId xmlns:a16="http://schemas.microsoft.com/office/drawing/2014/main" id="{443B4A08-E319-4554-B098-A569D96C8071}"/>
              </a:ext>
            </a:extLst>
          </p:cNvPr>
          <p:cNvGraphicFramePr>
            <a:graphicFrameLocks noGrp="1"/>
          </p:cNvGraphicFramePr>
          <p:nvPr/>
        </p:nvGraphicFramePr>
        <p:xfrm>
          <a:off x="5651500" y="1700213"/>
          <a:ext cx="609600" cy="258764"/>
        </p:xfrm>
        <a:graphic>
          <a:graphicData uri="http://schemas.openxmlformats.org/drawingml/2006/table">
            <a:tbl>
              <a:tblPr/>
              <a:tblGrid>
                <a:gridCol w="609600">
                  <a:extLst>
                    <a:ext uri="{9D8B030D-6E8A-4147-A177-3AD203B41FA5}">
                      <a16:colId xmlns:a16="http://schemas.microsoft.com/office/drawing/2014/main" val="20000"/>
                    </a:ext>
                  </a:extLst>
                </a:gridCol>
              </a:tblGrid>
              <a:tr h="258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62" marB="45562"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704" name="Group 80">
            <a:extLst>
              <a:ext uri="{FF2B5EF4-FFF2-40B4-BE49-F238E27FC236}">
                <a16:creationId xmlns:a16="http://schemas.microsoft.com/office/drawing/2014/main" id="{7AFA7580-6870-41C4-A2DC-4B311CAC7282}"/>
              </a:ext>
            </a:extLst>
          </p:cNvPr>
          <p:cNvGraphicFramePr>
            <a:graphicFrameLocks noGrp="1"/>
          </p:cNvGraphicFramePr>
          <p:nvPr/>
        </p:nvGraphicFramePr>
        <p:xfrm>
          <a:off x="6948488" y="2708275"/>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n' &gt; n</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731" name="Rectangle 86">
            <a:extLst>
              <a:ext uri="{FF2B5EF4-FFF2-40B4-BE49-F238E27FC236}">
                <a16:creationId xmlns:a16="http://schemas.microsoft.com/office/drawing/2014/main" id="{24DF1497-A204-4420-AB24-7823E40A40A1}"/>
              </a:ext>
            </a:extLst>
          </p:cNvPr>
          <p:cNvSpPr>
            <a:spLocks noChangeArrowheads="1"/>
          </p:cNvSpPr>
          <p:nvPr/>
        </p:nvSpPr>
        <p:spPr bwMode="auto">
          <a:xfrm>
            <a:off x="4643438" y="1989138"/>
            <a:ext cx="276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000">
                <a:latin typeface="Times New Roman" panose="02020603050405020304" pitchFamily="18" charset="0"/>
              </a:rPr>
              <a:t>A</a:t>
            </a:r>
          </a:p>
        </p:txBody>
      </p:sp>
      <p:graphicFrame>
        <p:nvGraphicFramePr>
          <p:cNvPr id="26734" name="Group 110">
            <a:extLst>
              <a:ext uri="{FF2B5EF4-FFF2-40B4-BE49-F238E27FC236}">
                <a16:creationId xmlns:a16="http://schemas.microsoft.com/office/drawing/2014/main" id="{CAE1199A-441A-4573-87EC-384F4251AF27}"/>
              </a:ext>
            </a:extLst>
          </p:cNvPr>
          <p:cNvGraphicFramePr>
            <a:graphicFrameLocks noGrp="1"/>
          </p:cNvGraphicFramePr>
          <p:nvPr/>
        </p:nvGraphicFramePr>
        <p:xfrm>
          <a:off x="4643438" y="1196975"/>
          <a:ext cx="792162" cy="274638"/>
        </p:xfrm>
        <a:graphic>
          <a:graphicData uri="http://schemas.openxmlformats.org/drawingml/2006/table">
            <a:tbl>
              <a:tblPr/>
              <a:tblGrid>
                <a:gridCol w="792162">
                  <a:extLst>
                    <a:ext uri="{9D8B030D-6E8A-4147-A177-3AD203B41FA5}">
                      <a16:colId xmlns:a16="http://schemas.microsoft.com/office/drawing/2014/main" val="20000"/>
                    </a:ext>
                  </a:extLst>
                </a:gridCol>
              </a:tblGrid>
              <a:tr h="274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12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+d)k</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3" marB="4577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6731" name="Group 107">
            <a:extLst>
              <a:ext uri="{FF2B5EF4-FFF2-40B4-BE49-F238E27FC236}">
                <a16:creationId xmlns:a16="http://schemas.microsoft.com/office/drawing/2014/main" id="{424B7139-DD6D-497D-84EE-AF953B04B18D}"/>
              </a:ext>
            </a:extLst>
          </p:cNvPr>
          <p:cNvGraphicFramePr>
            <a:graphicFrameLocks noGrp="1"/>
          </p:cNvGraphicFramePr>
          <p:nvPr/>
        </p:nvGraphicFramePr>
        <p:xfrm>
          <a:off x="3203575" y="1844675"/>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C</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736" name="Line 108">
            <a:extLst>
              <a:ext uri="{FF2B5EF4-FFF2-40B4-BE49-F238E27FC236}">
                <a16:creationId xmlns:a16="http://schemas.microsoft.com/office/drawing/2014/main" id="{88E7527C-DA44-4C08-8FA1-08C1B750B8E7}"/>
              </a:ext>
            </a:extLst>
          </p:cNvPr>
          <p:cNvSpPr>
            <a:spLocks noChangeShapeType="1"/>
          </p:cNvSpPr>
          <p:nvPr/>
        </p:nvSpPr>
        <p:spPr bwMode="auto">
          <a:xfrm flipV="1">
            <a:off x="4284663" y="1557338"/>
            <a:ext cx="0" cy="287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603F1F0E-F77A-41E3-873B-71CA9F153914}"/>
              </a:ext>
            </a:extLst>
          </p:cNvPr>
          <p:cNvSpPr>
            <a:spLocks noGrp="1" noChangeArrowheads="1"/>
          </p:cNvSpPr>
          <p:nvPr>
            <p:ph type="body" idx="1"/>
          </p:nvPr>
        </p:nvSpPr>
        <p:spPr>
          <a:xfrm>
            <a:off x="395288" y="476250"/>
            <a:ext cx="8291512" cy="5649913"/>
          </a:xfrm>
        </p:spPr>
        <p:txBody>
          <a:bodyPr/>
          <a:lstStyle/>
          <a:p>
            <a:pPr marL="609600" indent="-609600" eaLnBrk="1" hangingPunct="1">
              <a:buFontTx/>
              <a:buNone/>
            </a:pPr>
            <a:r>
              <a:rPr lang="en-US" altLang="zh-CN" sz="2400">
                <a:latin typeface="Times New Roman" panose="02020603050405020304" pitchFamily="18" charset="0"/>
              </a:rPr>
              <a:t>6. Technological Change in the Solow Model</a:t>
            </a:r>
          </a:p>
          <a:p>
            <a:pPr marL="609600" indent="-609600" eaLnBrk="1" hangingPunct="1">
              <a:buFontTx/>
              <a:buNone/>
            </a:pPr>
            <a:endParaRPr lang="en-US" altLang="zh-CN">
              <a:latin typeface="Times New Roman" panose="02020603050405020304" pitchFamily="18" charset="0"/>
            </a:endParaRPr>
          </a:p>
          <a:p>
            <a:pPr marL="609600" indent="-609600" eaLnBrk="1" hangingPunct="1">
              <a:buFontTx/>
              <a:buNone/>
            </a:pPr>
            <a:r>
              <a:rPr lang="en-US" altLang="zh-CN" sz="2400">
                <a:latin typeface="Times New Roman" panose="02020603050405020304" pitchFamily="18" charset="0"/>
              </a:rPr>
              <a:t>      </a:t>
            </a:r>
            <a:r>
              <a:rPr lang="en-US" altLang="zh-CN" sz="2400" i="1">
                <a:latin typeface="Times New Roman" panose="02020603050405020304" pitchFamily="18" charset="0"/>
              </a:rPr>
              <a:t>T</a:t>
            </a:r>
            <a:r>
              <a:rPr lang="en-US" altLang="zh-CN" sz="2400" i="1"/>
              <a:t>× </a:t>
            </a:r>
            <a:r>
              <a:rPr lang="en-US" altLang="zh-CN" sz="2400" i="1">
                <a:latin typeface="Times New Roman" panose="02020603050405020304" pitchFamily="18" charset="0"/>
              </a:rPr>
              <a:t>L</a:t>
            </a:r>
            <a:r>
              <a:rPr lang="en-US" altLang="zh-CN" sz="2400"/>
              <a:t> </a:t>
            </a:r>
            <a:r>
              <a:rPr lang="en-US" altLang="zh-CN" sz="2400">
                <a:latin typeface="Times New Roman" panose="02020603050405020304" pitchFamily="18" charset="0"/>
              </a:rPr>
              <a:t>Called effective unites of labor</a:t>
            </a:r>
          </a:p>
          <a:p>
            <a:pPr marL="609600" indent="-609600" eaLnBrk="1" hangingPunct="1">
              <a:buFontTx/>
              <a:buNone/>
            </a:pPr>
            <a:r>
              <a:rPr lang="en-US" altLang="zh-CN" sz="2400">
                <a:latin typeface="Times New Roman" panose="02020603050405020304" pitchFamily="18" charset="0"/>
              </a:rPr>
              <a:t>      </a:t>
            </a:r>
            <a:r>
              <a:rPr lang="en-US" altLang="zh-CN" sz="2400" i="1">
                <a:latin typeface="Times New Roman" panose="02020603050405020304" pitchFamily="18" charset="0"/>
              </a:rPr>
              <a:t>T</a:t>
            </a:r>
            <a:r>
              <a:rPr lang="en-US" altLang="zh-CN" sz="2400">
                <a:latin typeface="Times New Roman" panose="02020603050405020304" pitchFamily="18" charset="0"/>
              </a:rPr>
              <a:t> represents technological progress.  Labor augmenting tech. </a:t>
            </a:r>
          </a:p>
          <a:p>
            <a:pPr marL="609600" indent="-609600" eaLnBrk="1" hangingPunct="1"/>
            <a:r>
              <a:rPr lang="en-US" altLang="zh-CN" sz="2400">
                <a:latin typeface="Times New Roman" panose="02020603050405020304" pitchFamily="18" charset="0"/>
              </a:rPr>
              <a:t>Technology improves at a constant rate, </a:t>
            </a:r>
            <a:r>
              <a:rPr lang="el-GR" altLang="zh-CN" sz="2400" i="1">
                <a:latin typeface="Times New Roman" panose="02020603050405020304" pitchFamily="18" charset="0"/>
              </a:rPr>
              <a:t>θ</a:t>
            </a:r>
            <a:r>
              <a:rPr lang="en-US" altLang="zh-CN" sz="2400">
                <a:latin typeface="Times New Roman" panose="02020603050405020304" pitchFamily="18" charset="0"/>
              </a:rPr>
              <a:t>.</a:t>
            </a:r>
          </a:p>
          <a:p>
            <a:pPr marL="609600" indent="-609600" eaLnBrk="1" hangingPunct="1">
              <a:buFontTx/>
              <a:buNone/>
            </a:pPr>
            <a:endParaRPr lang="en-US" altLang="zh-CN" sz="2400">
              <a:latin typeface="Times New Roman" panose="02020603050405020304" pitchFamily="18" charset="0"/>
            </a:endParaRPr>
          </a:p>
          <a:p>
            <a:pPr marL="609600" indent="-609600" eaLnBrk="1" hangingPunct="1"/>
            <a:r>
              <a:rPr lang="en-US" altLang="zh-CN" sz="2400">
                <a:latin typeface="Times New Roman" panose="02020603050405020304" pitchFamily="18" charset="0"/>
              </a:rPr>
              <a:t>The growth of effective labor: </a:t>
            </a:r>
            <a:r>
              <a:rPr lang="en-US" altLang="zh-CN" sz="2400" i="1">
                <a:latin typeface="Times New Roman" panose="02020603050405020304" pitchFamily="18" charset="0"/>
              </a:rPr>
              <a:t>n+</a:t>
            </a:r>
            <a:r>
              <a:rPr lang="el-GR" altLang="zh-CN" sz="2400" i="1">
                <a:latin typeface="Times New Roman" panose="02020603050405020304" pitchFamily="18" charset="0"/>
              </a:rPr>
              <a:t>θ</a:t>
            </a:r>
            <a:r>
              <a:rPr lang="en-US" altLang="zh-CN" sz="2400" i="1">
                <a:latin typeface="Times New Roman" panose="02020603050405020304" pitchFamily="18" charset="0"/>
              </a:rPr>
              <a:t> </a:t>
            </a:r>
          </a:p>
          <a:p>
            <a:pPr marL="609600" indent="-609600" eaLnBrk="1" hangingPunct="1">
              <a:buFontTx/>
              <a:buNone/>
            </a:pPr>
            <a:r>
              <a:rPr lang="en-US" altLang="zh-CN">
                <a:latin typeface="Times New Roman" panose="02020603050405020304" pitchFamily="18" charset="0"/>
              </a:rPr>
              <a:t>                                           </a:t>
            </a:r>
            <a:r>
              <a:rPr lang="en-US" altLang="zh-CN" sz="1800" i="1">
                <a:latin typeface="Times New Roman" panose="02020603050405020304" pitchFamily="18" charset="0"/>
              </a:rPr>
              <a:t>= dT/T+ dL/L = </a:t>
            </a:r>
            <a:r>
              <a:rPr lang="el-GR" altLang="zh-CN" sz="1800" i="1">
                <a:latin typeface="Times New Roman" panose="02020603050405020304" pitchFamily="18" charset="0"/>
              </a:rPr>
              <a:t>θ</a:t>
            </a:r>
            <a:r>
              <a:rPr lang="en-US" altLang="zh-CN" sz="1800" i="1">
                <a:latin typeface="Times New Roman" panose="02020603050405020304" pitchFamily="18" charset="0"/>
              </a:rPr>
              <a:t> +</a:t>
            </a:r>
            <a:r>
              <a:rPr lang="el-GR" altLang="zh-CN" sz="1800" i="1">
                <a:latin typeface="Times New Roman" panose="02020603050405020304" pitchFamily="18" charset="0"/>
              </a:rPr>
              <a:t> </a:t>
            </a:r>
            <a:r>
              <a:rPr lang="en-US" altLang="zh-CN" sz="1800" i="1">
                <a:latin typeface="Times New Roman" panose="02020603050405020304" pitchFamily="18" charset="0"/>
              </a:rPr>
              <a:t>n</a:t>
            </a:r>
          </a:p>
          <a:p>
            <a:pPr marL="609600" indent="-609600" eaLnBrk="1" hangingPunct="1">
              <a:buFontTx/>
              <a:buNone/>
            </a:pPr>
            <a:r>
              <a:rPr lang="en-US" altLang="zh-CN" sz="2400">
                <a:latin typeface="Times New Roman" panose="02020603050405020304" pitchFamily="18" charset="0"/>
              </a:rPr>
              <a:t>       </a:t>
            </a:r>
            <a:r>
              <a:rPr lang="en-US" altLang="zh-CN" sz="2400" i="1">
                <a:latin typeface="Times New Roman" panose="02020603050405020304" pitchFamily="18" charset="0"/>
              </a:rPr>
              <a:t>n</a:t>
            </a:r>
            <a:r>
              <a:rPr lang="en-US" altLang="zh-CN" sz="2400">
                <a:latin typeface="Times New Roman" panose="02020603050405020304" pitchFamily="18" charset="0"/>
              </a:rPr>
              <a:t> is the rate of labor force growth.</a:t>
            </a:r>
          </a:p>
        </p:txBody>
      </p:sp>
      <p:graphicFrame>
        <p:nvGraphicFramePr>
          <p:cNvPr id="30723" name="Object 9">
            <a:extLst>
              <a:ext uri="{FF2B5EF4-FFF2-40B4-BE49-F238E27FC236}">
                <a16:creationId xmlns:a16="http://schemas.microsoft.com/office/drawing/2014/main" id="{2660B103-1FDF-4026-98EE-B97561398E44}"/>
              </a:ext>
            </a:extLst>
          </p:cNvPr>
          <p:cNvGraphicFramePr>
            <a:graphicFrameLocks noChangeAspect="1"/>
          </p:cNvGraphicFramePr>
          <p:nvPr/>
        </p:nvGraphicFramePr>
        <p:xfrm>
          <a:off x="2916238" y="1196975"/>
          <a:ext cx="1727200" cy="349250"/>
        </p:xfrm>
        <a:graphic>
          <a:graphicData uri="http://schemas.openxmlformats.org/presentationml/2006/ole">
            <mc:AlternateContent xmlns:mc="http://schemas.openxmlformats.org/markup-compatibility/2006">
              <mc:Choice xmlns:v="urn:schemas-microsoft-com:vml" Requires="v">
                <p:oleObj name="Equation" r:id="rId2" imgW="1002865" imgH="203112" progId="Equation.DSMT4">
                  <p:embed/>
                </p:oleObj>
              </mc:Choice>
              <mc:Fallback>
                <p:oleObj name="Equation" r:id="rId2" imgW="1002865" imgH="203112" progId="Equation.DSMT4">
                  <p:embed/>
                  <p:pic>
                    <p:nvPicPr>
                      <p:cNvPr id="30723" name="Object 9">
                        <a:extLst>
                          <a:ext uri="{FF2B5EF4-FFF2-40B4-BE49-F238E27FC236}">
                            <a16:creationId xmlns:a16="http://schemas.microsoft.com/office/drawing/2014/main" id="{2660B103-1FDF-4026-98EE-B97561398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196975"/>
                        <a:ext cx="17272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4" name="Object 10">
            <a:extLst>
              <a:ext uri="{FF2B5EF4-FFF2-40B4-BE49-F238E27FC236}">
                <a16:creationId xmlns:a16="http://schemas.microsoft.com/office/drawing/2014/main" id="{B33570B1-CBFC-4621-A7CE-DBD388797636}"/>
              </a:ext>
            </a:extLst>
          </p:cNvPr>
          <p:cNvGraphicFramePr>
            <a:graphicFrameLocks noChangeAspect="1"/>
          </p:cNvGraphicFramePr>
          <p:nvPr/>
        </p:nvGraphicFramePr>
        <p:xfrm>
          <a:off x="2928938" y="2760663"/>
          <a:ext cx="785812" cy="609600"/>
        </p:xfrm>
        <a:graphic>
          <a:graphicData uri="http://schemas.openxmlformats.org/presentationml/2006/ole">
            <mc:AlternateContent xmlns:mc="http://schemas.openxmlformats.org/markup-compatibility/2006">
              <mc:Choice xmlns:v="urn:schemas-microsoft-com:vml" Requires="v">
                <p:oleObj name="Equation" r:id="rId4" imgW="507780" imgH="393529" progId="Equation.DSMT4">
                  <p:embed/>
                </p:oleObj>
              </mc:Choice>
              <mc:Fallback>
                <p:oleObj name="Equation" r:id="rId4" imgW="507780" imgH="393529" progId="Equation.DSMT4">
                  <p:embed/>
                  <p:pic>
                    <p:nvPicPr>
                      <p:cNvPr id="30724" name="Object 10">
                        <a:extLst>
                          <a:ext uri="{FF2B5EF4-FFF2-40B4-BE49-F238E27FC236}">
                            <a16:creationId xmlns:a16="http://schemas.microsoft.com/office/drawing/2014/main" id="{B33570B1-CBFC-4621-A7CE-DBD3887976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2760663"/>
                        <a:ext cx="7858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5" name="Object 11">
            <a:extLst>
              <a:ext uri="{FF2B5EF4-FFF2-40B4-BE49-F238E27FC236}">
                <a16:creationId xmlns:a16="http://schemas.microsoft.com/office/drawing/2014/main" id="{6E0FEE84-1446-4164-8140-1131C7070FF6}"/>
              </a:ext>
            </a:extLst>
          </p:cNvPr>
          <p:cNvGraphicFramePr>
            <a:graphicFrameLocks noChangeAspect="1"/>
          </p:cNvGraphicFramePr>
          <p:nvPr/>
        </p:nvGraphicFramePr>
        <p:xfrm>
          <a:off x="2843213" y="3729038"/>
          <a:ext cx="1800225" cy="563562"/>
        </p:xfrm>
        <a:graphic>
          <a:graphicData uri="http://schemas.openxmlformats.org/presentationml/2006/ole">
            <mc:AlternateContent xmlns:mc="http://schemas.openxmlformats.org/markup-compatibility/2006">
              <mc:Choice xmlns:v="urn:schemas-microsoft-com:vml" Requires="v">
                <p:oleObj name="Equation" r:id="rId6" imgW="1256755" imgH="393529" progId="Equation.DSMT4">
                  <p:embed/>
                </p:oleObj>
              </mc:Choice>
              <mc:Fallback>
                <p:oleObj name="Equation" r:id="rId6" imgW="1256755" imgH="393529" progId="Equation.DSMT4">
                  <p:embed/>
                  <p:pic>
                    <p:nvPicPr>
                      <p:cNvPr id="30725" name="Object 11">
                        <a:extLst>
                          <a:ext uri="{FF2B5EF4-FFF2-40B4-BE49-F238E27FC236}">
                            <a16:creationId xmlns:a16="http://schemas.microsoft.com/office/drawing/2014/main" id="{6E0FEE84-1446-4164-8140-1131C7070F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213" y="3729038"/>
                        <a:ext cx="1800225"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6" name="Object 12">
            <a:extLst>
              <a:ext uri="{FF2B5EF4-FFF2-40B4-BE49-F238E27FC236}">
                <a16:creationId xmlns:a16="http://schemas.microsoft.com/office/drawing/2014/main" id="{EFC40AA5-A8C3-4A12-8B73-995D06F667BF}"/>
              </a:ext>
            </a:extLst>
          </p:cNvPr>
          <p:cNvGraphicFramePr>
            <a:graphicFrameLocks noChangeAspect="1"/>
          </p:cNvGraphicFramePr>
          <p:nvPr/>
        </p:nvGraphicFramePr>
        <p:xfrm>
          <a:off x="2357438" y="5000625"/>
          <a:ext cx="2714625" cy="417513"/>
        </p:xfrm>
        <a:graphic>
          <a:graphicData uri="http://schemas.openxmlformats.org/presentationml/2006/ole">
            <mc:AlternateContent xmlns:mc="http://schemas.openxmlformats.org/markup-compatibility/2006">
              <mc:Choice xmlns:v="urn:schemas-microsoft-com:vml" Requires="v">
                <p:oleObj name="Equation" r:id="rId8" imgW="1485900" imgH="228600" progId="Equation.DSMT4">
                  <p:embed/>
                </p:oleObj>
              </mc:Choice>
              <mc:Fallback>
                <p:oleObj name="Equation" r:id="rId8" imgW="1485900" imgH="228600" progId="Equation.DSMT4">
                  <p:embed/>
                  <p:pic>
                    <p:nvPicPr>
                      <p:cNvPr id="30726" name="Object 12">
                        <a:extLst>
                          <a:ext uri="{FF2B5EF4-FFF2-40B4-BE49-F238E27FC236}">
                            <a16:creationId xmlns:a16="http://schemas.microsoft.com/office/drawing/2014/main" id="{EFC40AA5-A8C3-4A12-8B73-995D06F667B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7438" y="5000625"/>
                        <a:ext cx="2714625"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7" name="Object 13">
            <a:extLst>
              <a:ext uri="{FF2B5EF4-FFF2-40B4-BE49-F238E27FC236}">
                <a16:creationId xmlns:a16="http://schemas.microsoft.com/office/drawing/2014/main" id="{582CA9B2-29CA-4822-8AAC-2F013455269B}"/>
              </a:ext>
            </a:extLst>
          </p:cNvPr>
          <p:cNvGraphicFramePr>
            <a:graphicFrameLocks noChangeAspect="1"/>
          </p:cNvGraphicFramePr>
          <p:nvPr/>
        </p:nvGraphicFramePr>
        <p:xfrm>
          <a:off x="5715000" y="4929188"/>
          <a:ext cx="792163" cy="598487"/>
        </p:xfrm>
        <a:graphic>
          <a:graphicData uri="http://schemas.openxmlformats.org/presentationml/2006/ole">
            <mc:AlternateContent xmlns:mc="http://schemas.openxmlformats.org/markup-compatibility/2006">
              <mc:Choice xmlns:v="urn:schemas-microsoft-com:vml" Requires="v">
                <p:oleObj name="Equation" r:id="rId10" imgW="520474" imgH="393529" progId="Equation.DSMT4">
                  <p:embed/>
                </p:oleObj>
              </mc:Choice>
              <mc:Fallback>
                <p:oleObj name="Equation" r:id="rId10" imgW="520474" imgH="393529" progId="Equation.DSMT4">
                  <p:embed/>
                  <p:pic>
                    <p:nvPicPr>
                      <p:cNvPr id="30727" name="Object 13">
                        <a:extLst>
                          <a:ext uri="{FF2B5EF4-FFF2-40B4-BE49-F238E27FC236}">
                            <a16:creationId xmlns:a16="http://schemas.microsoft.com/office/drawing/2014/main" id="{582CA9B2-29CA-4822-8AAC-2F013455269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5000" y="4929188"/>
                        <a:ext cx="792163" cy="59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8" name="Object 14">
            <a:extLst>
              <a:ext uri="{FF2B5EF4-FFF2-40B4-BE49-F238E27FC236}">
                <a16:creationId xmlns:a16="http://schemas.microsoft.com/office/drawing/2014/main" id="{2E882C5E-EA60-4F65-905F-70EA838A1820}"/>
              </a:ext>
            </a:extLst>
          </p:cNvPr>
          <p:cNvGraphicFramePr>
            <a:graphicFrameLocks noChangeAspect="1"/>
          </p:cNvGraphicFramePr>
          <p:nvPr/>
        </p:nvGraphicFramePr>
        <p:xfrm>
          <a:off x="6948488" y="4868863"/>
          <a:ext cx="863600" cy="636587"/>
        </p:xfrm>
        <a:graphic>
          <a:graphicData uri="http://schemas.openxmlformats.org/presentationml/2006/ole">
            <mc:AlternateContent xmlns:mc="http://schemas.openxmlformats.org/markup-compatibility/2006">
              <mc:Choice xmlns:v="urn:schemas-microsoft-com:vml" Requires="v">
                <p:oleObj name="Equation" r:id="rId12" imgW="533169" imgH="393529" progId="Equation.DSMT4">
                  <p:embed/>
                </p:oleObj>
              </mc:Choice>
              <mc:Fallback>
                <p:oleObj name="Equation" r:id="rId12" imgW="533169" imgH="393529" progId="Equation.DSMT4">
                  <p:embed/>
                  <p:pic>
                    <p:nvPicPr>
                      <p:cNvPr id="30728" name="Object 14">
                        <a:extLst>
                          <a:ext uri="{FF2B5EF4-FFF2-40B4-BE49-F238E27FC236}">
                            <a16:creationId xmlns:a16="http://schemas.microsoft.com/office/drawing/2014/main" id="{2E882C5E-EA60-4F65-905F-70EA838A182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48488" y="4868863"/>
                        <a:ext cx="863600" cy="63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746" name="Rectangle 3">
                <a:extLst>
                  <a:ext uri="{FF2B5EF4-FFF2-40B4-BE49-F238E27FC236}">
                    <a16:creationId xmlns:a16="http://schemas.microsoft.com/office/drawing/2014/main" id="{F2F2ACC4-AE8D-4276-990E-5986574AAE7C}"/>
                  </a:ext>
                </a:extLst>
              </p:cNvPr>
              <p:cNvSpPr>
                <a:spLocks noGrp="1" noChangeArrowheads="1"/>
              </p:cNvSpPr>
              <p:nvPr>
                <p:ph type="body" idx="1"/>
              </p:nvPr>
            </p:nvSpPr>
            <p:spPr>
              <a:xfrm>
                <a:off x="395288" y="333375"/>
                <a:ext cx="8291512" cy="5792788"/>
              </a:xfrm>
            </p:spPr>
            <p:txBody>
              <a:bodyPr/>
              <a:lstStyle/>
              <a:p>
                <a:pPr eaLnBrk="1" hangingPunct="1">
                  <a:lnSpc>
                    <a:spcPct val="80000"/>
                  </a:lnSpc>
                </a:pPr>
                <a:endParaRPr lang="en-US" altLang="zh-CN" sz="2400" dirty="0">
                  <a:latin typeface="Times New Roman" panose="02020603050405020304" pitchFamily="18" charset="0"/>
                </a:endParaRPr>
              </a:p>
              <a:p>
                <a:pPr eaLnBrk="1" hangingPunct="1">
                  <a:lnSpc>
                    <a:spcPct val="80000"/>
                  </a:lnSpc>
                </a:pPr>
                <a:endParaRPr lang="en-US" altLang="zh-CN" sz="2400" dirty="0">
                  <a:latin typeface="Times New Roman" panose="02020603050405020304" pitchFamily="18" charset="0"/>
                </a:endParaRPr>
              </a:p>
              <a:p>
                <a:pPr eaLnBrk="1" hangingPunct="1">
                  <a:lnSpc>
                    <a:spcPct val="80000"/>
                  </a:lnSpc>
                </a:pPr>
                <a:endParaRPr lang="en-US" altLang="zh-CN" sz="2400" dirty="0">
                  <a:latin typeface="Times New Roman" panose="02020603050405020304" pitchFamily="18" charset="0"/>
                </a:endParaRPr>
              </a:p>
              <a:p>
                <a:pPr eaLnBrk="1" hangingPunct="1">
                  <a:lnSpc>
                    <a:spcPct val="80000"/>
                  </a:lnSpc>
                </a:pPr>
                <a:endParaRPr lang="en-US" altLang="zh-CN" sz="2400" dirty="0">
                  <a:latin typeface="Times New Roman" panose="02020603050405020304" pitchFamily="18" charset="0"/>
                </a:endParaRPr>
              </a:p>
              <a:p>
                <a:pPr eaLnBrk="1" hangingPunct="1">
                  <a:lnSpc>
                    <a:spcPct val="80000"/>
                  </a:lnSpc>
                </a:pPr>
                <a:endParaRPr lang="en-US" altLang="zh-CN" sz="2400" dirty="0">
                  <a:latin typeface="Times New Roman" panose="02020603050405020304" pitchFamily="18" charset="0"/>
                </a:endParaRPr>
              </a:p>
              <a:p>
                <a:pPr eaLnBrk="1" hangingPunct="1">
                  <a:lnSpc>
                    <a:spcPct val="80000"/>
                  </a:lnSpc>
                </a:pPr>
                <a:endParaRPr lang="en-US" altLang="zh-CN" sz="2400" dirty="0">
                  <a:latin typeface="Times New Roman" panose="02020603050405020304" pitchFamily="18" charset="0"/>
                </a:endParaRPr>
              </a:p>
              <a:p>
                <a:pPr eaLnBrk="1" hangingPunct="1">
                  <a:lnSpc>
                    <a:spcPct val="80000"/>
                  </a:lnSpc>
                  <a:buFontTx/>
                  <a:buNone/>
                </a:pPr>
                <a:endParaRPr lang="en-US" altLang="zh-CN" sz="2400" dirty="0">
                  <a:latin typeface="Times New Roman" panose="02020603050405020304" pitchFamily="18" charset="0"/>
                </a:endParaRPr>
              </a:p>
              <a:p>
                <a:pPr eaLnBrk="1" hangingPunct="1">
                  <a:lnSpc>
                    <a:spcPct val="80000"/>
                  </a:lnSpc>
                  <a:buFontTx/>
                  <a:buNone/>
                </a:pPr>
                <a:endParaRPr lang="en-US" altLang="zh-CN" sz="2400" dirty="0">
                  <a:latin typeface="Times New Roman" panose="02020603050405020304" pitchFamily="18" charset="0"/>
                </a:endParaRPr>
              </a:p>
              <a:p>
                <a:pPr eaLnBrk="1" hangingPunct="1">
                  <a:lnSpc>
                    <a:spcPct val="80000"/>
                  </a:lnSpc>
                </a:pPr>
                <a:endParaRPr lang="en-US" altLang="zh-CN" sz="1800" dirty="0">
                  <a:latin typeface="Times New Roman" panose="02020603050405020304" pitchFamily="18" charset="0"/>
                </a:endParaRPr>
              </a:p>
              <a:p>
                <a:pPr eaLnBrk="1" hangingPunct="1">
                  <a:lnSpc>
                    <a:spcPct val="80000"/>
                  </a:lnSpc>
                </a:pPr>
                <a:r>
                  <a:rPr lang="en-US" altLang="zh-CN" sz="2200" dirty="0">
                    <a:latin typeface="Times New Roman" panose="02020603050405020304" pitchFamily="18" charset="0"/>
                  </a:rPr>
                  <a:t>                                     constant per effective worker</a:t>
                </a:r>
              </a:p>
              <a:p>
                <a:pPr eaLnBrk="1" hangingPunct="1">
                  <a:lnSpc>
                    <a:spcPct val="80000"/>
                  </a:lnSpc>
                  <a:buFontTx/>
                  <a:buNone/>
                </a:pPr>
                <a:r>
                  <a:rPr lang="en-US" altLang="zh-CN" sz="2200" dirty="0">
                    <a:latin typeface="Times New Roman" panose="02020603050405020304" pitchFamily="18" charset="0"/>
                  </a:rPr>
                  <a:t>      </a:t>
                </a:r>
                <a:r>
                  <a:rPr lang="en-US" altLang="zh-CN" sz="2000" dirty="0">
                    <a:latin typeface="Times New Roman" panose="02020603050405020304" pitchFamily="18" charset="0"/>
                  </a:rPr>
                  <a:t>In the </a:t>
                </a:r>
                <a:r>
                  <a:rPr lang="en-US" altLang="zh-CN" sz="2000" dirty="0" err="1">
                    <a:latin typeface="Times New Roman" panose="02020603050405020304" pitchFamily="18" charset="0"/>
                  </a:rPr>
                  <a:t>s.s.</a:t>
                </a:r>
                <a:r>
                  <a:rPr lang="en-US" altLang="zh-CN" sz="2000" dirty="0">
                    <a:latin typeface="Times New Roman" panose="02020603050405020304" pitchFamily="18" charset="0"/>
                  </a:rPr>
                  <a:t>:</a:t>
                </a:r>
              </a:p>
              <a:p>
                <a:pPr eaLnBrk="1" hangingPunct="1">
                  <a:lnSpc>
                    <a:spcPct val="80000"/>
                  </a:lnSpc>
                </a:pPr>
                <a:r>
                  <a:rPr lang="en-US" altLang="zh-CN" sz="2000" i="1" dirty="0">
                    <a:latin typeface="Times New Roman" panose="02020603050405020304" pitchFamily="18" charset="0"/>
                  </a:rPr>
                  <a:t>Y</a:t>
                </a:r>
                <a:r>
                  <a:rPr lang="en-US" altLang="zh-CN" sz="2000" dirty="0">
                    <a:latin typeface="Times New Roman" panose="02020603050405020304" pitchFamily="18" charset="0"/>
                  </a:rPr>
                  <a:t> grows at the rate </a:t>
                </a:r>
                <a:r>
                  <a:rPr lang="en-US" altLang="zh-CN" sz="2000" i="1" dirty="0">
                    <a:latin typeface="Times New Roman" panose="02020603050405020304" pitchFamily="18" charset="0"/>
                  </a:rPr>
                  <a:t>n+</a:t>
                </a:r>
                <a:r>
                  <a:rPr lang="el-GR" altLang="zh-CN" sz="2000" i="1" dirty="0">
                    <a:latin typeface="Times New Roman" panose="02020603050405020304" pitchFamily="18" charset="0"/>
                  </a:rPr>
                  <a:t> θ</a:t>
                </a:r>
                <a:r>
                  <a:rPr lang="en-US" altLang="zh-CN" sz="2000" i="1" dirty="0">
                    <a:latin typeface="Times New Roman" panose="02020603050405020304" pitchFamily="18" charset="0"/>
                  </a:rPr>
                  <a:t> , </a:t>
                </a:r>
                <a:r>
                  <a:rPr lang="en-US" altLang="zh-CN" sz="2000" i="1" u="sng" dirty="0">
                    <a:latin typeface="Times New Roman" panose="02020603050405020304" pitchFamily="18" charset="0"/>
                  </a:rPr>
                  <a:t>effective labor grows  at n+</a:t>
                </a:r>
                <a:r>
                  <a:rPr lang="el-GR" altLang="zh-CN" sz="2000" i="1" u="sng" dirty="0">
                    <a:latin typeface="Times New Roman" panose="02020603050405020304" pitchFamily="18" charset="0"/>
                  </a:rPr>
                  <a:t> θ</a:t>
                </a:r>
                <a:r>
                  <a:rPr lang="en-US" altLang="zh-CN" sz="2000" i="1" u="sng" dirty="0">
                    <a:latin typeface="Times New Roman" panose="02020603050405020304" pitchFamily="18" charset="0"/>
                  </a:rPr>
                  <a:t> .</a:t>
                </a:r>
              </a:p>
              <a:p>
                <a:pPr eaLnBrk="1" hangingPunct="1">
                  <a:lnSpc>
                    <a:spcPct val="80000"/>
                  </a:lnSpc>
                  <a:buFontTx/>
                  <a:buNone/>
                </a:pPr>
                <a:r>
                  <a:rPr lang="en-US" altLang="zh-CN" sz="2000" dirty="0">
                    <a:latin typeface="Times New Roman" panose="02020603050405020304" pitchFamily="18" charset="0"/>
                  </a:rPr>
                  <a:t>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𝑒</m:t>
                        </m:r>
                      </m:sub>
                    </m:sSub>
                  </m:oMath>
                </a14:m>
                <a:r>
                  <a:rPr lang="en-US" altLang="zh-CN" sz="2000" dirty="0">
                    <a:latin typeface="Times New Roman" panose="02020603050405020304" pitchFamily="18" charset="0"/>
                  </a:rPr>
                  <a:t>  does not grow,</a:t>
                </a:r>
              </a:p>
              <a:p>
                <a:pPr eaLnBrk="1" hangingPunct="1">
                  <a:lnSpc>
                    <a:spcPct val="80000"/>
                  </a:lnSpc>
                  <a:buFontTx/>
                  <a:buNone/>
                </a:pPr>
                <a:r>
                  <a:rPr lang="en-US" altLang="zh-CN" sz="2000" dirty="0">
                    <a:latin typeface="Times New Roman" panose="02020603050405020304" pitchFamily="18" charset="0"/>
                  </a:rPr>
                  <a:t>      </a:t>
                </a:r>
                <a:r>
                  <a:rPr lang="en-US" altLang="zh-CN" sz="2000" i="1" dirty="0">
                    <a:latin typeface="Times New Roman" panose="02020603050405020304" pitchFamily="18" charset="0"/>
                  </a:rPr>
                  <a:t>y</a:t>
                </a:r>
                <a:r>
                  <a:rPr lang="en-US" altLang="zh-CN" sz="2000" dirty="0">
                    <a:latin typeface="Times New Roman" panose="02020603050405020304" pitchFamily="18" charset="0"/>
                  </a:rPr>
                  <a:t>, output per actual worker, grow at </a:t>
                </a:r>
                <a:r>
                  <a:rPr lang="el-GR" altLang="zh-CN" sz="2000" i="1" dirty="0">
                    <a:latin typeface="Times New Roman" panose="02020603050405020304" pitchFamily="18" charset="0"/>
                  </a:rPr>
                  <a:t>θ</a:t>
                </a:r>
                <a:r>
                  <a:rPr lang="en-US" altLang="zh-CN" sz="2000" i="1" dirty="0">
                    <a:latin typeface="Times New Roman" panose="02020603050405020304" pitchFamily="18" charset="0"/>
                  </a:rPr>
                  <a:t>.</a:t>
                </a:r>
                <a:endParaRPr lang="en-US" altLang="zh-CN" sz="2000" dirty="0"/>
              </a:p>
              <a:p>
                <a:pPr lvl="1" eaLnBrk="1" hangingPunct="1">
                  <a:lnSpc>
                    <a:spcPct val="80000"/>
                  </a:lnSpc>
                </a:pPr>
                <a:r>
                  <a:rPr lang="en-US" altLang="zh-CN" sz="2000" u="sng" dirty="0">
                    <a:latin typeface="Times New Roman" panose="02020603050405020304" pitchFamily="18" charset="0"/>
                  </a:rPr>
                  <a:t>Technology changes can cause long-run per capita output growth .</a:t>
                </a:r>
              </a:p>
              <a:p>
                <a:pPr lvl="1" eaLnBrk="1" hangingPunct="1">
                  <a:lnSpc>
                    <a:spcPct val="80000"/>
                  </a:lnSpc>
                  <a:buFontTx/>
                  <a:buNone/>
                </a:pPr>
                <a:endParaRPr lang="en-US" altLang="zh-CN" sz="2000" u="sng" dirty="0">
                  <a:latin typeface="Times New Roman" panose="02020603050405020304" pitchFamily="18" charset="0"/>
                </a:endParaRPr>
              </a:p>
              <a:p>
                <a:pPr lvl="1" eaLnBrk="1" hangingPunct="1">
                  <a:lnSpc>
                    <a:spcPct val="80000"/>
                  </a:lnSpc>
                  <a:buFontTx/>
                  <a:buNone/>
                </a:pPr>
                <a:r>
                  <a:rPr lang="en-US" altLang="zh-CN" sz="2000" dirty="0">
                    <a:latin typeface="Times New Roman" panose="02020603050405020304" pitchFamily="18" charset="0"/>
                  </a:rPr>
                  <a:t>                              ↑  while         fixed </a:t>
                </a:r>
              </a:p>
            </p:txBody>
          </p:sp>
        </mc:Choice>
        <mc:Fallback xmlns="">
          <p:sp>
            <p:nvSpPr>
              <p:cNvPr id="31746" name="Rectangle 3">
                <a:extLst>
                  <a:ext uri="{FF2B5EF4-FFF2-40B4-BE49-F238E27FC236}">
                    <a16:creationId xmlns:a16="http://schemas.microsoft.com/office/drawing/2014/main" id="{F2F2ACC4-AE8D-4276-990E-5986574AAE7C}"/>
                  </a:ext>
                </a:extLst>
              </p:cNvPr>
              <p:cNvSpPr>
                <a:spLocks noGrp="1" noRot="1" noChangeAspect="1" noMove="1" noResize="1" noEditPoints="1" noAdjustHandles="1" noChangeArrowheads="1" noChangeShapeType="1" noTextEdit="1"/>
              </p:cNvSpPr>
              <p:nvPr>
                <p:ph type="body" idx="1"/>
              </p:nvPr>
            </p:nvSpPr>
            <p:spPr>
              <a:xfrm>
                <a:off x="395288" y="333375"/>
                <a:ext cx="8291512" cy="5792788"/>
              </a:xfrm>
              <a:blipFill>
                <a:blip r:embed="rId3"/>
                <a:stretch>
                  <a:fillRect l="-809" b="-632"/>
                </a:stretch>
              </a:blipFill>
            </p:spPr>
            <p:txBody>
              <a:bodyPr/>
              <a:lstStyle/>
              <a:p>
                <a:r>
                  <a:rPr lang="en-US">
                    <a:noFill/>
                  </a:rPr>
                  <a:t> </a:t>
                </a:r>
              </a:p>
            </p:txBody>
          </p:sp>
        </mc:Fallback>
      </mc:AlternateContent>
      <p:graphicFrame>
        <p:nvGraphicFramePr>
          <p:cNvPr id="31747" name="Object 8">
            <a:extLst>
              <a:ext uri="{FF2B5EF4-FFF2-40B4-BE49-F238E27FC236}">
                <a16:creationId xmlns:a16="http://schemas.microsoft.com/office/drawing/2014/main" id="{E73B2EAE-DB2F-42F5-ADBC-C55DFAB480C9}"/>
              </a:ext>
            </a:extLst>
          </p:cNvPr>
          <p:cNvGraphicFramePr>
            <a:graphicFrameLocks noChangeAspect="1"/>
          </p:cNvGraphicFramePr>
          <p:nvPr/>
        </p:nvGraphicFramePr>
        <p:xfrm>
          <a:off x="2479675" y="5576888"/>
          <a:ext cx="211138" cy="504825"/>
        </p:xfrm>
        <a:graphic>
          <a:graphicData uri="http://schemas.openxmlformats.org/presentationml/2006/ole">
            <mc:AlternateContent xmlns:mc="http://schemas.openxmlformats.org/markup-compatibility/2006">
              <mc:Choice xmlns:v="urn:schemas-microsoft-com:vml" Requires="v">
                <p:oleObj name="Equation" r:id="rId4" imgW="164957" imgH="393359" progId="Equation.DSMT4">
                  <p:embed/>
                </p:oleObj>
              </mc:Choice>
              <mc:Fallback>
                <p:oleObj name="Equation" r:id="rId4" imgW="164957" imgH="393359" progId="Equation.DSMT4">
                  <p:embed/>
                  <p:pic>
                    <p:nvPicPr>
                      <p:cNvPr id="31747" name="Object 8">
                        <a:extLst>
                          <a:ext uri="{FF2B5EF4-FFF2-40B4-BE49-F238E27FC236}">
                            <a16:creationId xmlns:a16="http://schemas.microsoft.com/office/drawing/2014/main" id="{E73B2EAE-DB2F-42F5-ADBC-C55DFAB480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9675" y="5576888"/>
                        <a:ext cx="21113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8" name="Object 2">
            <a:extLst>
              <a:ext uri="{FF2B5EF4-FFF2-40B4-BE49-F238E27FC236}">
                <a16:creationId xmlns:a16="http://schemas.microsoft.com/office/drawing/2014/main" id="{847614A7-2BF9-4AF9-93E3-40B66DD16C0A}"/>
              </a:ext>
            </a:extLst>
          </p:cNvPr>
          <p:cNvGraphicFramePr>
            <a:graphicFrameLocks noChangeAspect="1"/>
          </p:cNvGraphicFramePr>
          <p:nvPr/>
        </p:nvGraphicFramePr>
        <p:xfrm>
          <a:off x="785813" y="3286125"/>
          <a:ext cx="698500" cy="515938"/>
        </p:xfrm>
        <a:graphic>
          <a:graphicData uri="http://schemas.openxmlformats.org/presentationml/2006/ole">
            <mc:AlternateContent xmlns:mc="http://schemas.openxmlformats.org/markup-compatibility/2006">
              <mc:Choice xmlns:v="urn:schemas-microsoft-com:vml" Requires="v">
                <p:oleObj name="Equation" r:id="rId6" imgW="533169" imgH="393529" progId="Equation.DSMT4">
                  <p:embed/>
                </p:oleObj>
              </mc:Choice>
              <mc:Fallback>
                <p:oleObj name="Equation" r:id="rId6" imgW="533169" imgH="393529" progId="Equation.DSMT4">
                  <p:embed/>
                  <p:pic>
                    <p:nvPicPr>
                      <p:cNvPr id="31748" name="Object 2">
                        <a:extLst>
                          <a:ext uri="{FF2B5EF4-FFF2-40B4-BE49-F238E27FC236}">
                            <a16:creationId xmlns:a16="http://schemas.microsoft.com/office/drawing/2014/main" id="{847614A7-2BF9-4AF9-93E3-40B66DD16C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813" y="3286125"/>
                        <a:ext cx="6985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9" name="Object 3">
            <a:extLst>
              <a:ext uri="{FF2B5EF4-FFF2-40B4-BE49-F238E27FC236}">
                <a16:creationId xmlns:a16="http://schemas.microsoft.com/office/drawing/2014/main" id="{81C56FD8-2F9B-4EC8-992D-FCE2A98ECC02}"/>
              </a:ext>
            </a:extLst>
          </p:cNvPr>
          <p:cNvGraphicFramePr>
            <a:graphicFrameLocks noChangeAspect="1"/>
          </p:cNvGraphicFramePr>
          <p:nvPr/>
        </p:nvGraphicFramePr>
        <p:xfrm>
          <a:off x="1857375" y="3286125"/>
          <a:ext cx="642938" cy="485775"/>
        </p:xfrm>
        <a:graphic>
          <a:graphicData uri="http://schemas.openxmlformats.org/presentationml/2006/ole">
            <mc:AlternateContent xmlns:mc="http://schemas.openxmlformats.org/markup-compatibility/2006">
              <mc:Choice xmlns:v="urn:schemas-microsoft-com:vml" Requires="v">
                <p:oleObj name="Equation" r:id="rId8" imgW="520474" imgH="393529" progId="Equation.DSMT4">
                  <p:embed/>
                </p:oleObj>
              </mc:Choice>
              <mc:Fallback>
                <p:oleObj name="Equation" r:id="rId8" imgW="520474" imgH="393529" progId="Equation.DSMT4">
                  <p:embed/>
                  <p:pic>
                    <p:nvPicPr>
                      <p:cNvPr id="31749" name="Object 3">
                        <a:extLst>
                          <a:ext uri="{FF2B5EF4-FFF2-40B4-BE49-F238E27FC236}">
                            <a16:creationId xmlns:a16="http://schemas.microsoft.com/office/drawing/2014/main" id="{81C56FD8-2F9B-4EC8-992D-FCE2A98ECC0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7375" y="3286125"/>
                        <a:ext cx="642938"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0" name="Object 4">
            <a:extLst>
              <a:ext uri="{FF2B5EF4-FFF2-40B4-BE49-F238E27FC236}">
                <a16:creationId xmlns:a16="http://schemas.microsoft.com/office/drawing/2014/main" id="{AD3E18A2-F3DF-44E4-A044-9789E7A397BB}"/>
              </a:ext>
            </a:extLst>
          </p:cNvPr>
          <p:cNvGraphicFramePr>
            <a:graphicFrameLocks noChangeAspect="1"/>
          </p:cNvGraphicFramePr>
          <p:nvPr/>
        </p:nvGraphicFramePr>
        <p:xfrm>
          <a:off x="3833813" y="5565775"/>
          <a:ext cx="309562" cy="504825"/>
        </p:xfrm>
        <a:graphic>
          <a:graphicData uri="http://schemas.openxmlformats.org/presentationml/2006/ole">
            <mc:AlternateContent xmlns:mc="http://schemas.openxmlformats.org/markup-compatibility/2006">
              <mc:Choice xmlns:v="urn:schemas-microsoft-com:vml" Requires="v">
                <p:oleObj name="Equation" r:id="rId10" imgW="241195" imgH="393529" progId="Equation.DSMT4">
                  <p:embed/>
                </p:oleObj>
              </mc:Choice>
              <mc:Fallback>
                <p:oleObj name="Equation" r:id="rId10" imgW="241195" imgH="393529" progId="Equation.DSMT4">
                  <p:embed/>
                  <p:pic>
                    <p:nvPicPr>
                      <p:cNvPr id="31750" name="Object 4">
                        <a:extLst>
                          <a:ext uri="{FF2B5EF4-FFF2-40B4-BE49-F238E27FC236}">
                            <a16:creationId xmlns:a16="http://schemas.microsoft.com/office/drawing/2014/main" id="{AD3E18A2-F3DF-44E4-A044-9789E7A397B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33813" y="5565775"/>
                        <a:ext cx="3095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Freeform 15">
            <a:extLst>
              <a:ext uri="{FF2B5EF4-FFF2-40B4-BE49-F238E27FC236}">
                <a16:creationId xmlns:a16="http://schemas.microsoft.com/office/drawing/2014/main" id="{A0C3CCC8-91E3-49D4-8F7A-443497FDB9FC}"/>
              </a:ext>
            </a:extLst>
          </p:cNvPr>
          <p:cNvSpPr/>
          <p:nvPr/>
        </p:nvSpPr>
        <p:spPr>
          <a:xfrm>
            <a:off x="1571625" y="357188"/>
            <a:ext cx="4581525" cy="2687637"/>
          </a:xfrm>
          <a:custGeom>
            <a:avLst/>
            <a:gdLst>
              <a:gd name="connsiteX0" fmla="*/ 0 w 4581144"/>
              <a:gd name="connsiteY0" fmla="*/ 2688336 h 2688336"/>
              <a:gd name="connsiteX1" fmla="*/ 1179576 w 4581144"/>
              <a:gd name="connsiteY1" fmla="*/ 722376 h 2688336"/>
              <a:gd name="connsiteX2" fmla="*/ 4581144 w 4581144"/>
              <a:gd name="connsiteY2" fmla="*/ 0 h 2688336"/>
            </a:gdLst>
            <a:ahLst/>
            <a:cxnLst>
              <a:cxn ang="0">
                <a:pos x="connsiteX0" y="connsiteY0"/>
              </a:cxn>
              <a:cxn ang="0">
                <a:pos x="connsiteX1" y="connsiteY1"/>
              </a:cxn>
              <a:cxn ang="0">
                <a:pos x="connsiteX2" y="connsiteY2"/>
              </a:cxn>
            </a:cxnLst>
            <a:rect l="l" t="t" r="r" b="b"/>
            <a:pathLst>
              <a:path w="4581144" h="2688336">
                <a:moveTo>
                  <a:pt x="0" y="2688336"/>
                </a:moveTo>
                <a:cubicBezTo>
                  <a:pt x="208026" y="1929384"/>
                  <a:pt x="416052" y="1170432"/>
                  <a:pt x="1179576" y="722376"/>
                </a:cubicBezTo>
                <a:cubicBezTo>
                  <a:pt x="1943100" y="274320"/>
                  <a:pt x="4015740" y="109728"/>
                  <a:pt x="4581144" y="0"/>
                </a:cubicBezTo>
              </a:path>
            </a:pathLst>
          </a:custGeom>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en-US"/>
          </a:p>
        </p:txBody>
      </p:sp>
      <p:cxnSp>
        <p:nvCxnSpPr>
          <p:cNvPr id="23" name="Straight Arrow Connector 22">
            <a:extLst>
              <a:ext uri="{FF2B5EF4-FFF2-40B4-BE49-F238E27FC236}">
                <a16:creationId xmlns:a16="http://schemas.microsoft.com/office/drawing/2014/main" id="{1FD3F2C6-7F16-4BD2-9A82-15A8D0A90ACC}"/>
              </a:ext>
            </a:extLst>
          </p:cNvPr>
          <p:cNvCxnSpPr/>
          <p:nvPr/>
        </p:nvCxnSpPr>
        <p:spPr>
          <a:xfrm rot="5400000" flipH="1" flipV="1">
            <a:off x="178593" y="1678782"/>
            <a:ext cx="27860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4" name="Freeform 23">
            <a:extLst>
              <a:ext uri="{FF2B5EF4-FFF2-40B4-BE49-F238E27FC236}">
                <a16:creationId xmlns:a16="http://schemas.microsoft.com/office/drawing/2014/main" id="{A0990751-FA14-4605-888E-62EAE9245058}"/>
              </a:ext>
            </a:extLst>
          </p:cNvPr>
          <p:cNvSpPr/>
          <p:nvPr/>
        </p:nvSpPr>
        <p:spPr>
          <a:xfrm>
            <a:off x="1571625" y="1143000"/>
            <a:ext cx="4013200" cy="1927225"/>
          </a:xfrm>
          <a:custGeom>
            <a:avLst/>
            <a:gdLst>
              <a:gd name="connsiteX0" fmla="*/ 0 w 4005072"/>
              <a:gd name="connsiteY0" fmla="*/ 1947672 h 1947672"/>
              <a:gd name="connsiteX1" fmla="*/ 1207008 w 4005072"/>
              <a:gd name="connsiteY1" fmla="*/ 630936 h 1947672"/>
              <a:gd name="connsiteX2" fmla="*/ 4005072 w 4005072"/>
              <a:gd name="connsiteY2" fmla="*/ 0 h 1947672"/>
            </a:gdLst>
            <a:ahLst/>
            <a:cxnLst>
              <a:cxn ang="0">
                <a:pos x="connsiteX0" y="connsiteY0"/>
              </a:cxn>
              <a:cxn ang="0">
                <a:pos x="connsiteX1" y="connsiteY1"/>
              </a:cxn>
              <a:cxn ang="0">
                <a:pos x="connsiteX2" y="connsiteY2"/>
              </a:cxn>
            </a:cxnLst>
            <a:rect l="l" t="t" r="r" b="b"/>
            <a:pathLst>
              <a:path w="4005072" h="1947672">
                <a:moveTo>
                  <a:pt x="0" y="1947672"/>
                </a:moveTo>
                <a:cubicBezTo>
                  <a:pt x="269748" y="1451610"/>
                  <a:pt x="539496" y="955548"/>
                  <a:pt x="1207008" y="630936"/>
                </a:cubicBezTo>
                <a:cubicBezTo>
                  <a:pt x="1874520" y="306324"/>
                  <a:pt x="2939796" y="153162"/>
                  <a:pt x="4005072" y="0"/>
                </a:cubicBezTo>
              </a:path>
            </a:pathLst>
          </a:custGeom>
        </p:spPr>
        <p:style>
          <a:lnRef idx="1">
            <a:schemeClr val="accent6"/>
          </a:lnRef>
          <a:fillRef idx="0">
            <a:schemeClr val="accent6"/>
          </a:fillRef>
          <a:effectRef idx="0">
            <a:schemeClr val="accent6"/>
          </a:effectRef>
          <a:fontRef idx="minor">
            <a:schemeClr val="tx1"/>
          </a:fontRef>
        </p:style>
        <p:txBody>
          <a:bodyPr anchor="ctr"/>
          <a:lstStyle/>
          <a:p>
            <a:pPr algn="ctr" eaLnBrk="1" hangingPunct="1">
              <a:defRPr/>
            </a:pPr>
            <a:endParaRPr lang="en-US"/>
          </a:p>
        </p:txBody>
      </p:sp>
      <p:cxnSp>
        <p:nvCxnSpPr>
          <p:cNvPr id="25" name="Straight Connector 24">
            <a:extLst>
              <a:ext uri="{FF2B5EF4-FFF2-40B4-BE49-F238E27FC236}">
                <a16:creationId xmlns:a16="http://schemas.microsoft.com/office/drawing/2014/main" id="{C1A29A23-56A6-4326-A3D5-214A1C2DB7E8}"/>
              </a:ext>
            </a:extLst>
          </p:cNvPr>
          <p:cNvCxnSpPr/>
          <p:nvPr/>
        </p:nvCxnSpPr>
        <p:spPr>
          <a:xfrm flipV="1">
            <a:off x="1571625" y="636588"/>
            <a:ext cx="4214813" cy="2428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24BE92F-43C6-4B0A-876E-82D37F094B21}"/>
              </a:ext>
            </a:extLst>
          </p:cNvPr>
          <p:cNvCxnSpPr/>
          <p:nvPr/>
        </p:nvCxnSpPr>
        <p:spPr>
          <a:xfrm>
            <a:off x="1571625" y="3071813"/>
            <a:ext cx="4572000" cy="158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aphicFrame>
        <p:nvGraphicFramePr>
          <p:cNvPr id="13325" name="Group 13">
            <a:extLst>
              <a:ext uri="{FF2B5EF4-FFF2-40B4-BE49-F238E27FC236}">
                <a16:creationId xmlns:a16="http://schemas.microsoft.com/office/drawing/2014/main" id="{DF0FC5D7-AA3A-4070-A6C7-C523A8E3E0FF}"/>
              </a:ext>
            </a:extLst>
          </p:cNvPr>
          <p:cNvGraphicFramePr>
            <a:graphicFrameLocks noGrp="1"/>
          </p:cNvGraphicFramePr>
          <p:nvPr/>
        </p:nvGraphicFramePr>
        <p:xfrm>
          <a:off x="900113" y="2924175"/>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410" name="Group 98">
            <a:extLst>
              <a:ext uri="{FF2B5EF4-FFF2-40B4-BE49-F238E27FC236}">
                <a16:creationId xmlns:a16="http://schemas.microsoft.com/office/drawing/2014/main" id="{E487B11D-A107-4EDF-A583-3AFB7D85178F}"/>
              </a:ext>
            </a:extLst>
          </p:cNvPr>
          <p:cNvGraphicFramePr>
            <a:graphicFrameLocks noGrp="1"/>
          </p:cNvGraphicFramePr>
          <p:nvPr/>
        </p:nvGraphicFramePr>
        <p:xfrm>
          <a:off x="1135063" y="0"/>
          <a:ext cx="379412" cy="365132"/>
        </p:xfrm>
        <a:graphic>
          <a:graphicData uri="http://schemas.openxmlformats.org/drawingml/2006/table">
            <a:tbl>
              <a:tblPr/>
              <a:tblGrid>
                <a:gridCol w="379412">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569" marR="91569"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403" name="Group 91">
            <a:extLst>
              <a:ext uri="{FF2B5EF4-FFF2-40B4-BE49-F238E27FC236}">
                <a16:creationId xmlns:a16="http://schemas.microsoft.com/office/drawing/2014/main" id="{FF547F74-0F14-4942-B18E-82394FD0601A}"/>
              </a:ext>
            </a:extLst>
          </p:cNvPr>
          <p:cNvGraphicFramePr>
            <a:graphicFrameLocks noGrp="1"/>
          </p:cNvGraphicFramePr>
          <p:nvPr/>
        </p:nvGraphicFramePr>
        <p:xfrm>
          <a:off x="5651500" y="981075"/>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363" name="Group 51">
            <a:extLst>
              <a:ext uri="{FF2B5EF4-FFF2-40B4-BE49-F238E27FC236}">
                <a16:creationId xmlns:a16="http://schemas.microsoft.com/office/drawing/2014/main" id="{52F44EF3-70EF-4D68-A694-5D977EA2674E}"/>
              </a:ext>
            </a:extLst>
          </p:cNvPr>
          <p:cNvGraphicFramePr>
            <a:graphicFrameLocks noGrp="1"/>
          </p:cNvGraphicFramePr>
          <p:nvPr/>
        </p:nvGraphicFramePr>
        <p:xfrm>
          <a:off x="6227763" y="260350"/>
          <a:ext cx="865187" cy="274638"/>
        </p:xfrm>
        <a:graphic>
          <a:graphicData uri="http://schemas.openxmlformats.org/drawingml/2006/table">
            <a:tbl>
              <a:tblPr/>
              <a:tblGrid>
                <a:gridCol w="865187">
                  <a:extLst>
                    <a:ext uri="{9D8B030D-6E8A-4147-A177-3AD203B41FA5}">
                      <a16:colId xmlns:a16="http://schemas.microsoft.com/office/drawing/2014/main" val="20000"/>
                    </a:ext>
                  </a:extLst>
                </a:gridCol>
              </a:tblGrid>
              <a:tr h="274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=f(k</a:t>
                      </a:r>
                      <a:r>
                        <a:rPr kumimoji="0" lang="en-US" altLang="zh-CN" sz="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3" marB="45773"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369" name="Group 57">
            <a:extLst>
              <a:ext uri="{FF2B5EF4-FFF2-40B4-BE49-F238E27FC236}">
                <a16:creationId xmlns:a16="http://schemas.microsoft.com/office/drawing/2014/main" id="{C40271AA-CB57-4388-889F-715F8B356F0C}"/>
              </a:ext>
            </a:extLst>
          </p:cNvPr>
          <p:cNvGraphicFramePr>
            <a:graphicFrameLocks noGrp="1"/>
          </p:cNvGraphicFramePr>
          <p:nvPr/>
        </p:nvGraphicFramePr>
        <p:xfrm>
          <a:off x="5867400" y="549275"/>
          <a:ext cx="936625" cy="274638"/>
        </p:xfrm>
        <a:graphic>
          <a:graphicData uri="http://schemas.openxmlformats.org/drawingml/2006/table">
            <a:tbl>
              <a:tblPr/>
              <a:tblGrid>
                <a:gridCol w="936625">
                  <a:extLst>
                    <a:ext uri="{9D8B030D-6E8A-4147-A177-3AD203B41FA5}">
                      <a16:colId xmlns:a16="http://schemas.microsoft.com/office/drawing/2014/main" val="20000"/>
                    </a:ext>
                  </a:extLst>
                </a:gridCol>
              </a:tblGrid>
              <a:tr h="27463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(n+d+</a:t>
                      </a:r>
                      <a:r>
                        <a:rPr kumimoji="0" lang="el-GR" altLang="zh-CN" sz="1000" b="0" i="1" u="none" strike="noStrike" cap="none" normalizeH="0" baseline="0">
                          <a:ln>
                            <a:noFill/>
                          </a:ln>
                          <a:solidFill>
                            <a:schemeClr val="tx1"/>
                          </a:solidFill>
                          <a:effectLst/>
                          <a:latin typeface="Times New Roman" pitchFamily="18" charset="0"/>
                          <a:ea typeface="宋体" pitchFamily="2" charset="-122"/>
                        </a:rPr>
                        <a:t>θ</a:t>
                      </a:r>
                      <a:r>
                        <a:rPr kumimoji="0" lang="en-US" altLang="zh-CN" sz="1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)ke</a:t>
                      </a:r>
                    </a:p>
                  </a:txBody>
                  <a:tcPr marT="45773" marB="45773" anchor="b"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405" name="Group 93">
            <a:extLst>
              <a:ext uri="{FF2B5EF4-FFF2-40B4-BE49-F238E27FC236}">
                <a16:creationId xmlns:a16="http://schemas.microsoft.com/office/drawing/2014/main" id="{57DAF18A-2CFE-4EB3-BFAC-FADE78F134E4}"/>
              </a:ext>
            </a:extLst>
          </p:cNvPr>
          <p:cNvGraphicFramePr>
            <a:graphicFrameLocks noGrp="1"/>
          </p:cNvGraphicFramePr>
          <p:nvPr/>
        </p:nvGraphicFramePr>
        <p:xfrm>
          <a:off x="6227763" y="2997200"/>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31768" name="Straight Connector 26">
            <a:extLst>
              <a:ext uri="{FF2B5EF4-FFF2-40B4-BE49-F238E27FC236}">
                <a16:creationId xmlns:a16="http://schemas.microsoft.com/office/drawing/2014/main" id="{F820D516-043C-49E8-A367-DA5AFB351FE4}"/>
              </a:ext>
            </a:extLst>
          </p:cNvPr>
          <p:cNvCxnSpPr>
            <a:cxnSpLocks noChangeShapeType="1"/>
          </p:cNvCxnSpPr>
          <p:nvPr/>
        </p:nvCxnSpPr>
        <p:spPr bwMode="auto">
          <a:xfrm rot="10800000">
            <a:off x="1628775" y="577850"/>
            <a:ext cx="3071813" cy="1588"/>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cxnSp>
        <p:nvCxnSpPr>
          <p:cNvPr id="31769" name="Straight Connector 24">
            <a:extLst>
              <a:ext uri="{FF2B5EF4-FFF2-40B4-BE49-F238E27FC236}">
                <a16:creationId xmlns:a16="http://schemas.microsoft.com/office/drawing/2014/main" id="{474BDAD2-0879-4C62-93DD-0B7B76AF5885}"/>
              </a:ext>
            </a:extLst>
          </p:cNvPr>
          <p:cNvCxnSpPr>
            <a:cxnSpLocks noChangeShapeType="1"/>
          </p:cNvCxnSpPr>
          <p:nvPr/>
        </p:nvCxnSpPr>
        <p:spPr bwMode="auto">
          <a:xfrm rot="5400000">
            <a:off x="3817144" y="2167732"/>
            <a:ext cx="1800225" cy="1587"/>
          </a:xfrm>
          <a:prstGeom prst="line">
            <a:avLst/>
          </a:prstGeom>
          <a:noFill/>
          <a:ln w="9525" algn="ctr">
            <a:solidFill>
              <a:srgbClr val="B6DCDF"/>
            </a:solidFill>
            <a:prstDash val="dashDot"/>
            <a:round/>
            <a:headEnd/>
            <a:tailEnd/>
          </a:ln>
          <a:extLst>
            <a:ext uri="{909E8E84-426E-40DD-AFC4-6F175D3DCCD1}">
              <a14:hiddenFill xmlns:a14="http://schemas.microsoft.com/office/drawing/2010/main">
                <a:noFill/>
              </a14:hiddenFill>
            </a:ext>
          </a:extLst>
        </p:spPr>
      </p:cxnSp>
      <p:graphicFrame>
        <p:nvGraphicFramePr>
          <p:cNvPr id="13406" name="Group 94">
            <a:extLst>
              <a:ext uri="{FF2B5EF4-FFF2-40B4-BE49-F238E27FC236}">
                <a16:creationId xmlns:a16="http://schemas.microsoft.com/office/drawing/2014/main" id="{F678173E-5D3B-4106-BB78-CF25193B5DC2}"/>
              </a:ext>
            </a:extLst>
          </p:cNvPr>
          <p:cNvGraphicFramePr>
            <a:graphicFrameLocks noGrp="1"/>
          </p:cNvGraphicFramePr>
          <p:nvPr/>
        </p:nvGraphicFramePr>
        <p:xfrm>
          <a:off x="1135063" y="400050"/>
          <a:ext cx="436562" cy="365132"/>
        </p:xfrm>
        <a:graphic>
          <a:graphicData uri="http://schemas.openxmlformats.org/drawingml/2006/table">
            <a:tbl>
              <a:tblPr/>
              <a:tblGrid>
                <a:gridCol w="436562">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en-US" altLang="zh-CN" sz="1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e0</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408" name="Group 96">
            <a:extLst>
              <a:ext uri="{FF2B5EF4-FFF2-40B4-BE49-F238E27FC236}">
                <a16:creationId xmlns:a16="http://schemas.microsoft.com/office/drawing/2014/main" id="{4389A172-783B-4C00-938F-AADDB890F366}"/>
              </a:ext>
            </a:extLst>
          </p:cNvPr>
          <p:cNvGraphicFramePr>
            <a:graphicFrameLocks noGrp="1"/>
          </p:cNvGraphicFramePr>
          <p:nvPr/>
        </p:nvGraphicFramePr>
        <p:xfrm>
          <a:off x="4572000" y="3141663"/>
          <a:ext cx="609600" cy="365132"/>
        </p:xfrm>
        <a:graphic>
          <a:graphicData uri="http://schemas.openxmlformats.org/drawingml/2006/table">
            <a:tbl>
              <a:tblPr/>
              <a:tblGrid>
                <a:gridCol w="609600">
                  <a:extLst>
                    <a:ext uri="{9D8B030D-6E8A-4147-A177-3AD203B41FA5}">
                      <a16:colId xmlns:a16="http://schemas.microsoft.com/office/drawing/2014/main" val="20000"/>
                    </a:ext>
                  </a:extLst>
                </a:gridCol>
              </a:tblGrid>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406" marB="45406"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411" name="Group 99">
            <a:extLst>
              <a:ext uri="{FF2B5EF4-FFF2-40B4-BE49-F238E27FC236}">
                <a16:creationId xmlns:a16="http://schemas.microsoft.com/office/drawing/2014/main" id="{F53339BB-CA25-4502-B357-5E9154827799}"/>
              </a:ext>
            </a:extLst>
          </p:cNvPr>
          <p:cNvGraphicFramePr>
            <a:graphicFrameLocks noGrp="1"/>
          </p:cNvGraphicFramePr>
          <p:nvPr/>
        </p:nvGraphicFramePr>
        <p:xfrm>
          <a:off x="2484438" y="115888"/>
          <a:ext cx="1511300" cy="639788"/>
        </p:xfrm>
        <a:graphic>
          <a:graphicData uri="http://schemas.openxmlformats.org/drawingml/2006/table">
            <a:tbl>
              <a:tblPr/>
              <a:tblGrid>
                <a:gridCol w="1511300">
                  <a:extLst>
                    <a:ext uri="{9D8B030D-6E8A-4147-A177-3AD203B41FA5}">
                      <a16:colId xmlns:a16="http://schemas.microsoft.com/office/drawing/2014/main" val="20000"/>
                    </a:ext>
                  </a:extLst>
                </a:gridCol>
              </a:tblGrid>
              <a:tr h="639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a:t>
                      </a:r>
                      <a:r>
                        <a:rPr kumimoji="0" lang="en-US" altLang="zh-CN" sz="11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n+d+</a:t>
                      </a:r>
                      <a:r>
                        <a:rPr kumimoji="0" lang="el-GR" altLang="zh-CN" sz="1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θ</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1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p>
                    <a:p>
                      <a:pPr marL="0" marR="0" lvl="0" indent="0" algn="l" defTabSz="914400" rtl="0" eaLnBrk="0" fontAlgn="b"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574" marB="45574"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402" name="Group 90">
            <a:extLst>
              <a:ext uri="{FF2B5EF4-FFF2-40B4-BE49-F238E27FC236}">
                <a16:creationId xmlns:a16="http://schemas.microsoft.com/office/drawing/2014/main" id="{313F34C5-4CFC-427C-8977-1240FCDDA0DB}"/>
              </a:ext>
            </a:extLst>
          </p:cNvPr>
          <p:cNvGraphicFramePr>
            <a:graphicFrameLocks noGrp="1"/>
          </p:cNvGraphicFramePr>
          <p:nvPr/>
        </p:nvGraphicFramePr>
        <p:xfrm>
          <a:off x="4716463" y="1341438"/>
          <a:ext cx="609600" cy="244475"/>
        </p:xfrm>
        <a:graphic>
          <a:graphicData uri="http://schemas.openxmlformats.org/drawingml/2006/table">
            <a:tbl>
              <a:tblPr/>
              <a:tblGrid>
                <a:gridCol w="609600">
                  <a:extLst>
                    <a:ext uri="{9D8B030D-6E8A-4147-A177-3AD203B41FA5}">
                      <a16:colId xmlns:a16="http://schemas.microsoft.com/office/drawing/2014/main" val="20000"/>
                    </a:ext>
                  </a:extLst>
                </a:gridCol>
              </a:tblGrid>
              <a:tr h="244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373" marR="91373" marT="45839" marB="45839" anchor="b"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1778" name="Line 138">
            <a:extLst>
              <a:ext uri="{FF2B5EF4-FFF2-40B4-BE49-F238E27FC236}">
                <a16:creationId xmlns:a16="http://schemas.microsoft.com/office/drawing/2014/main" id="{E1CEFC1D-7691-424D-8BDB-7812C351FB0B}"/>
              </a:ext>
            </a:extLst>
          </p:cNvPr>
          <p:cNvSpPr>
            <a:spLocks noChangeShapeType="1"/>
          </p:cNvSpPr>
          <p:nvPr/>
        </p:nvSpPr>
        <p:spPr bwMode="auto">
          <a:xfrm flipV="1">
            <a:off x="3462338" y="1554163"/>
            <a:ext cx="43180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9" name="Line 139">
            <a:extLst>
              <a:ext uri="{FF2B5EF4-FFF2-40B4-BE49-F238E27FC236}">
                <a16:creationId xmlns:a16="http://schemas.microsoft.com/office/drawing/2014/main" id="{CE930314-5E47-4E9F-BA73-4D6A16412A9F}"/>
              </a:ext>
            </a:extLst>
          </p:cNvPr>
          <p:cNvSpPr>
            <a:spLocks noChangeShapeType="1"/>
          </p:cNvSpPr>
          <p:nvPr/>
        </p:nvSpPr>
        <p:spPr bwMode="auto">
          <a:xfrm flipH="1">
            <a:off x="5219700" y="1022350"/>
            <a:ext cx="215900" cy="714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1A5D0142-8419-4E6C-8EA1-F2EA0C11FEC6}"/>
              </a:ext>
            </a:extLst>
          </p:cNvPr>
          <p:cNvSpPr>
            <a:spLocks noGrp="1" noChangeArrowheads="1"/>
          </p:cNvSpPr>
          <p:nvPr>
            <p:ph type="body" idx="1"/>
          </p:nvPr>
        </p:nvSpPr>
        <p:spPr>
          <a:xfrm>
            <a:off x="214313" y="357188"/>
            <a:ext cx="8929687" cy="5721350"/>
          </a:xfrm>
        </p:spPr>
        <p:txBody>
          <a:bodyPr/>
          <a:lstStyle/>
          <a:p>
            <a:pPr eaLnBrk="1" hangingPunct="1">
              <a:buFontTx/>
              <a:buNone/>
            </a:pPr>
            <a:r>
              <a:rPr lang="en-US" altLang="zh-CN" sz="2800">
                <a:latin typeface="Times New Roman" panose="02020603050405020304" pitchFamily="18" charset="0"/>
                <a:cs typeface="Times New Roman" panose="02020603050405020304" pitchFamily="18" charset="0"/>
              </a:rPr>
              <a:t>7. Growth rate of output</a:t>
            </a:r>
          </a:p>
          <a:p>
            <a:pPr eaLnBrk="1" hangingPunct="1">
              <a:buFontTx/>
              <a:buNone/>
            </a:pPr>
            <a:r>
              <a:rPr lang="en-US" altLang="zh-CN" sz="2800">
                <a:latin typeface="Times New Roman" panose="02020603050405020304" pitchFamily="18" charset="0"/>
                <a:cs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rPr>
              <a:t>Y=F(K, L, R, A)                   R= resources (land, other), A= productivity                                             </a:t>
            </a:r>
          </a:p>
          <a:p>
            <a:pPr eaLnBrk="1" hangingPunct="1">
              <a:buFontTx/>
              <a:buNone/>
            </a:pPr>
            <a:r>
              <a:rPr lang="en-US" altLang="zh-CN" sz="2000" i="1">
                <a:latin typeface="Times New Roman" panose="02020603050405020304" pitchFamily="18" charset="0"/>
                <a:cs typeface="Times New Roman" panose="02020603050405020304" pitchFamily="18" charset="0"/>
              </a:rPr>
              <a:t>                                                              , </a:t>
            </a:r>
            <a:r>
              <a:rPr lang="en-US" altLang="zh-CN" sz="1600" i="1">
                <a:latin typeface="Times New Roman" panose="02020603050405020304" pitchFamily="18" charset="0"/>
                <a:cs typeface="Times New Roman" panose="02020603050405020304" pitchFamily="18" charset="0"/>
              </a:rPr>
              <a:t>F</a:t>
            </a:r>
            <a:r>
              <a:rPr lang="en-US" altLang="zh-CN" sz="800" i="1">
                <a:latin typeface="Times New Roman" panose="02020603050405020304" pitchFamily="18" charset="0"/>
                <a:cs typeface="Times New Roman" panose="02020603050405020304" pitchFamily="18" charset="0"/>
              </a:rPr>
              <a:t>K</a:t>
            </a:r>
            <a:r>
              <a:rPr lang="en-US" altLang="zh-CN" sz="2000" i="1">
                <a:latin typeface="Times New Roman" panose="02020603050405020304" pitchFamily="18" charset="0"/>
                <a:cs typeface="Times New Roman" panose="02020603050405020304" pitchFamily="18" charset="0"/>
              </a:rPr>
              <a:t>=</a:t>
            </a:r>
            <a:r>
              <a:rPr lang="en-US" altLang="zh-CN" sz="1800" i="1">
                <a:latin typeface="Times New Roman" panose="02020603050405020304" pitchFamily="18" charset="0"/>
                <a:cs typeface="Times New Roman" panose="02020603050405020304" pitchFamily="18" charset="0"/>
              </a:rPr>
              <a:t>mp</a:t>
            </a:r>
            <a:r>
              <a:rPr lang="en-US" altLang="zh-CN" sz="800" i="1">
                <a:latin typeface="Times New Roman" panose="02020603050405020304" pitchFamily="18" charset="0"/>
                <a:cs typeface="Times New Roman" panose="02020603050405020304" pitchFamily="18" charset="0"/>
              </a:rPr>
              <a:t>K</a:t>
            </a:r>
            <a:r>
              <a:rPr lang="en-US" altLang="zh-CN" sz="1000" i="1">
                <a:latin typeface="Times New Roman" panose="02020603050405020304" pitchFamily="18" charset="0"/>
                <a:cs typeface="Times New Roman" panose="02020603050405020304" pitchFamily="18" charset="0"/>
              </a:rPr>
              <a:t>,</a:t>
            </a:r>
            <a:r>
              <a:rPr lang="en-US" altLang="zh-CN" sz="2000" i="1">
                <a:latin typeface="Times New Roman" panose="02020603050405020304" pitchFamily="18" charset="0"/>
                <a:cs typeface="Times New Roman" panose="02020603050405020304" pitchFamily="18" charset="0"/>
              </a:rPr>
              <a:t> </a:t>
            </a:r>
            <a:r>
              <a:rPr lang="en-US" altLang="zh-CN" sz="1800" i="1">
                <a:latin typeface="Times New Roman" panose="02020603050405020304" pitchFamily="18" charset="0"/>
                <a:cs typeface="Times New Roman" panose="02020603050405020304" pitchFamily="18" charset="0"/>
              </a:rPr>
              <a:t>F</a:t>
            </a:r>
            <a:r>
              <a:rPr lang="en-US" altLang="zh-CN" sz="800" i="1">
                <a:latin typeface="Times New Roman" panose="02020603050405020304" pitchFamily="18" charset="0"/>
                <a:cs typeface="Times New Roman" panose="02020603050405020304" pitchFamily="18" charset="0"/>
              </a:rPr>
              <a:t>L</a:t>
            </a:r>
            <a:r>
              <a:rPr lang="en-US" altLang="zh-CN" sz="2400" i="1">
                <a:latin typeface="Times New Roman" panose="02020603050405020304" pitchFamily="18" charset="0"/>
                <a:cs typeface="Times New Roman" panose="02020603050405020304" pitchFamily="18" charset="0"/>
              </a:rPr>
              <a:t>=</a:t>
            </a:r>
            <a:r>
              <a:rPr lang="en-US" altLang="zh-CN" sz="1800" i="1">
                <a:latin typeface="Times New Roman" panose="02020603050405020304" pitchFamily="18" charset="0"/>
                <a:cs typeface="Times New Roman" panose="02020603050405020304" pitchFamily="18" charset="0"/>
              </a:rPr>
              <a:t>mp</a:t>
            </a:r>
            <a:r>
              <a:rPr lang="en-US" altLang="zh-CN" sz="800" i="1">
                <a:latin typeface="Times New Roman" panose="02020603050405020304" pitchFamily="18" charset="0"/>
                <a:cs typeface="Times New Roman" panose="02020603050405020304" pitchFamily="18" charset="0"/>
              </a:rPr>
              <a:t>L</a:t>
            </a:r>
            <a:r>
              <a:rPr lang="en-US" altLang="zh-CN" sz="1000" i="1">
                <a:latin typeface="Times New Roman" panose="02020603050405020304" pitchFamily="18" charset="0"/>
                <a:cs typeface="Times New Roman" panose="02020603050405020304" pitchFamily="18" charset="0"/>
              </a:rPr>
              <a:t>, </a:t>
            </a:r>
          </a:p>
          <a:p>
            <a:pPr eaLnBrk="1" hangingPunct="1">
              <a:buFontTx/>
              <a:buNone/>
            </a:pPr>
            <a:endParaRPr lang="en-US" altLang="zh-CN" sz="1000" i="1">
              <a:latin typeface="Times New Roman" panose="02020603050405020304" pitchFamily="18" charset="0"/>
              <a:cs typeface="Times New Roman" panose="02020603050405020304" pitchFamily="18" charset="0"/>
            </a:endParaRPr>
          </a:p>
          <a:p>
            <a:pPr eaLnBrk="1" hangingPunct="1">
              <a:buFontTx/>
              <a:buNone/>
            </a:pPr>
            <a:endParaRPr lang="en-US" altLang="zh-CN" sz="1000" i="1">
              <a:latin typeface="Times New Roman" panose="02020603050405020304" pitchFamily="18" charset="0"/>
              <a:cs typeface="Times New Roman" panose="02020603050405020304" pitchFamily="18" charset="0"/>
            </a:endParaRPr>
          </a:p>
          <a:p>
            <a:pPr eaLnBrk="1" hangingPunct="1">
              <a:buFontTx/>
              <a:buNone/>
            </a:pPr>
            <a:endParaRPr lang="en-US" altLang="zh-CN" sz="1000" i="1">
              <a:latin typeface="Times New Roman" panose="02020603050405020304" pitchFamily="18" charset="0"/>
              <a:cs typeface="Times New Roman" panose="02020603050405020304" pitchFamily="18" charset="0"/>
            </a:endParaRPr>
          </a:p>
          <a:p>
            <a:pPr eaLnBrk="1" hangingPunct="1">
              <a:buFontTx/>
              <a:buNone/>
            </a:pPr>
            <a:endParaRPr lang="en-US" altLang="zh-CN" sz="1000" i="1">
              <a:latin typeface="Times New Roman" panose="02020603050405020304" pitchFamily="18" charset="0"/>
              <a:cs typeface="Times New Roman" panose="02020603050405020304" pitchFamily="18" charset="0"/>
            </a:endParaRPr>
          </a:p>
          <a:p>
            <a:pPr eaLnBrk="1" hangingPunct="1">
              <a:buFontTx/>
              <a:buNone/>
            </a:pPr>
            <a:endParaRPr lang="en-US" altLang="zh-CN" sz="1000" i="1">
              <a:latin typeface="Times New Roman" panose="02020603050405020304" pitchFamily="18" charset="0"/>
              <a:cs typeface="Times New Roman" panose="02020603050405020304" pitchFamily="18" charset="0"/>
            </a:endParaRPr>
          </a:p>
          <a:p>
            <a:pPr eaLnBrk="1" hangingPunct="1">
              <a:buFontTx/>
              <a:buNone/>
            </a:pPr>
            <a:r>
              <a:rPr lang="en-US" altLang="zh-CN" sz="1800" i="1">
                <a:latin typeface="Times New Roman" panose="02020603050405020304" pitchFamily="18" charset="0"/>
              </a:rPr>
              <a:t>Δ</a:t>
            </a:r>
            <a:r>
              <a:rPr lang="en-US" altLang="zh-CN" sz="1800" i="1">
                <a:latin typeface="Times New Roman" panose="02020603050405020304" pitchFamily="18" charset="0"/>
                <a:cs typeface="Times New Roman" panose="02020603050405020304" pitchFamily="18" charset="0"/>
              </a:rPr>
              <a:t>K=I</a:t>
            </a:r>
            <a:r>
              <a:rPr lang="en-US" altLang="zh-CN" sz="2000" i="1">
                <a:latin typeface="Times New Roman" panose="02020603050405020304" pitchFamily="18" charset="0"/>
                <a:cs typeface="Times New Roman" panose="02020603050405020304" pitchFamily="18" charset="0"/>
              </a:rPr>
              <a:t>                                                            </a:t>
            </a:r>
            <a:r>
              <a:rPr lang="en-US" altLang="zh-CN" sz="2000">
                <a:latin typeface="Times New Roman" panose="02020603050405020304" pitchFamily="18" charset="0"/>
                <a:cs typeface="Times New Roman" panose="02020603050405020304" pitchFamily="18" charset="0"/>
              </a:rPr>
              <a:t>(                                                             )</a:t>
            </a:r>
          </a:p>
          <a:p>
            <a:pPr eaLnBrk="1" hangingPunct="1">
              <a:buFontTx/>
              <a:buNone/>
            </a:pPr>
            <a:endParaRPr lang="en-US" altLang="zh-CN" sz="2000">
              <a:latin typeface="Times New Roman" panose="02020603050405020304" pitchFamily="18" charset="0"/>
              <a:cs typeface="Times New Roman" panose="02020603050405020304" pitchFamily="18" charset="0"/>
            </a:endParaRPr>
          </a:p>
          <a:p>
            <a:pPr eaLnBrk="1" hangingPunct="1">
              <a:buFontTx/>
              <a:buNone/>
            </a:pPr>
            <a:r>
              <a:rPr lang="en-US" altLang="zh-CN" sz="2000">
                <a:latin typeface="Times New Roman" panose="02020603050405020304" pitchFamily="18" charset="0"/>
                <a:cs typeface="Times New Roman" panose="02020603050405020304" pitchFamily="18" charset="0"/>
              </a:rPr>
              <a:t>                                                                            </a:t>
            </a:r>
            <a:r>
              <a:rPr lang="en-US" altLang="zh-CN" sz="1800">
                <a:latin typeface="Times New Roman" panose="02020603050405020304" pitchFamily="18" charset="0"/>
                <a:cs typeface="Times New Roman" panose="02020603050405020304" pitchFamily="18" charset="0"/>
              </a:rPr>
              <a:t>Total factor productivity</a:t>
            </a:r>
          </a:p>
          <a:p>
            <a:pPr eaLnBrk="1" hangingPunct="1">
              <a:buFontTx/>
              <a:buNone/>
            </a:pPr>
            <a:endParaRPr lang="en-US" altLang="zh-CN" sz="2000" u="sng">
              <a:latin typeface="Times New Roman" panose="02020603050405020304" pitchFamily="18" charset="0"/>
              <a:cs typeface="Times New Roman" panose="02020603050405020304" pitchFamily="18" charset="0"/>
            </a:endParaRPr>
          </a:p>
          <a:p>
            <a:pPr eaLnBrk="1" hangingPunct="1">
              <a:buFontTx/>
              <a:buNone/>
            </a:pPr>
            <a:r>
              <a:rPr lang="en-US" altLang="zh-CN" sz="2000">
                <a:latin typeface="Times New Roman" panose="02020603050405020304" pitchFamily="18" charset="0"/>
                <a:cs typeface="Times New Roman" panose="02020603050405020304" pitchFamily="18" charset="0"/>
              </a:rPr>
              <a:t>Where                 is productivity growth, “residual” .</a:t>
            </a:r>
          </a:p>
          <a:p>
            <a:pPr eaLnBrk="1" hangingPunct="1">
              <a:buFontTx/>
              <a:buNone/>
            </a:pPr>
            <a:r>
              <a:rPr lang="en-US" altLang="zh-CN" sz="2000">
                <a:latin typeface="Times New Roman" panose="02020603050405020304" pitchFamily="18" charset="0"/>
                <a:cs typeface="Times New Roman" panose="02020603050405020304" pitchFamily="18" charset="0"/>
              </a:rPr>
              <a:t>                            is  Capital share in output. </a:t>
            </a:r>
          </a:p>
          <a:p>
            <a:pPr eaLnBrk="1" hangingPunct="1">
              <a:buFontTx/>
              <a:buNone/>
            </a:pPr>
            <a:r>
              <a:rPr lang="en-US" altLang="zh-CN" sz="2000">
                <a:latin typeface="Times New Roman" panose="02020603050405020304" pitchFamily="18" charset="0"/>
                <a:cs typeface="Times New Roman" panose="02020603050405020304" pitchFamily="18" charset="0"/>
              </a:rPr>
              <a:t>                            is Labor share in output.</a:t>
            </a:r>
          </a:p>
          <a:p>
            <a:pPr eaLnBrk="1" hangingPunct="1">
              <a:buFontTx/>
              <a:buNone/>
            </a:pPr>
            <a:r>
              <a:rPr lang="en-US" altLang="zh-CN" sz="2000">
                <a:latin typeface="Times New Roman" panose="02020603050405020304" pitchFamily="18" charset="0"/>
                <a:cs typeface="Times New Roman" panose="02020603050405020304" pitchFamily="18" charset="0"/>
              </a:rPr>
              <a:t>                            is Land share in output.           </a:t>
            </a:r>
          </a:p>
        </p:txBody>
      </p:sp>
      <p:graphicFrame>
        <p:nvGraphicFramePr>
          <p:cNvPr id="32771" name="Object 2">
            <a:extLst>
              <a:ext uri="{FF2B5EF4-FFF2-40B4-BE49-F238E27FC236}">
                <a16:creationId xmlns:a16="http://schemas.microsoft.com/office/drawing/2014/main" id="{0E222055-46FF-424D-AE32-A6D5CD54D415}"/>
              </a:ext>
            </a:extLst>
          </p:cNvPr>
          <p:cNvGraphicFramePr>
            <a:graphicFrameLocks noChangeAspect="1"/>
          </p:cNvGraphicFramePr>
          <p:nvPr/>
        </p:nvGraphicFramePr>
        <p:xfrm>
          <a:off x="1187450" y="1484313"/>
          <a:ext cx="2928938" cy="306387"/>
        </p:xfrm>
        <a:graphic>
          <a:graphicData uri="http://schemas.openxmlformats.org/presentationml/2006/ole">
            <mc:AlternateContent xmlns:mc="http://schemas.openxmlformats.org/markup-compatibility/2006">
              <mc:Choice xmlns:v="urn:schemas-microsoft-com:vml" Requires="v">
                <p:oleObj name="Equation" r:id="rId2" imgW="2184400" imgH="228600" progId="Equation.DSMT4">
                  <p:embed/>
                </p:oleObj>
              </mc:Choice>
              <mc:Fallback>
                <p:oleObj name="Equation" r:id="rId2" imgW="2184400" imgH="228600" progId="Equation.DSMT4">
                  <p:embed/>
                  <p:pic>
                    <p:nvPicPr>
                      <p:cNvPr id="32771" name="Object 2">
                        <a:extLst>
                          <a:ext uri="{FF2B5EF4-FFF2-40B4-BE49-F238E27FC236}">
                            <a16:creationId xmlns:a16="http://schemas.microsoft.com/office/drawing/2014/main" id="{0E222055-46FF-424D-AE32-A6D5CD54D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484313"/>
                        <a:ext cx="2928938"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2" name="Object 3">
            <a:extLst>
              <a:ext uri="{FF2B5EF4-FFF2-40B4-BE49-F238E27FC236}">
                <a16:creationId xmlns:a16="http://schemas.microsoft.com/office/drawing/2014/main" id="{AC704F3A-BF9D-4B37-8998-3F2A6287C53C}"/>
              </a:ext>
            </a:extLst>
          </p:cNvPr>
          <p:cNvGraphicFramePr>
            <a:graphicFrameLocks noChangeAspect="1"/>
          </p:cNvGraphicFramePr>
          <p:nvPr/>
        </p:nvGraphicFramePr>
        <p:xfrm>
          <a:off x="1214438" y="2000250"/>
          <a:ext cx="3081337" cy="500063"/>
        </p:xfrm>
        <a:graphic>
          <a:graphicData uri="http://schemas.openxmlformats.org/presentationml/2006/ole">
            <mc:AlternateContent xmlns:mc="http://schemas.openxmlformats.org/markup-compatibility/2006">
              <mc:Choice xmlns:v="urn:schemas-microsoft-com:vml" Requires="v">
                <p:oleObj name="Equation" r:id="rId4" imgW="2425700" imgH="393700" progId="Equation.DSMT4">
                  <p:embed/>
                </p:oleObj>
              </mc:Choice>
              <mc:Fallback>
                <p:oleObj name="Equation" r:id="rId4" imgW="2425700" imgH="393700" progId="Equation.DSMT4">
                  <p:embed/>
                  <p:pic>
                    <p:nvPicPr>
                      <p:cNvPr id="32772" name="Object 3">
                        <a:extLst>
                          <a:ext uri="{FF2B5EF4-FFF2-40B4-BE49-F238E27FC236}">
                            <a16:creationId xmlns:a16="http://schemas.microsoft.com/office/drawing/2014/main" id="{AC704F3A-BF9D-4B37-8998-3F2A6287C5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2000250"/>
                        <a:ext cx="308133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3" name="Object 4">
            <a:extLst>
              <a:ext uri="{FF2B5EF4-FFF2-40B4-BE49-F238E27FC236}">
                <a16:creationId xmlns:a16="http://schemas.microsoft.com/office/drawing/2014/main" id="{7073B027-908E-46CF-83A8-07295D37EF8C}"/>
              </a:ext>
            </a:extLst>
          </p:cNvPr>
          <p:cNvGraphicFramePr>
            <a:graphicFrameLocks noChangeAspect="1"/>
          </p:cNvGraphicFramePr>
          <p:nvPr/>
        </p:nvGraphicFramePr>
        <p:xfrm>
          <a:off x="4786313" y="2714625"/>
          <a:ext cx="3856037" cy="500063"/>
        </p:xfrm>
        <a:graphic>
          <a:graphicData uri="http://schemas.openxmlformats.org/presentationml/2006/ole">
            <mc:AlternateContent xmlns:mc="http://schemas.openxmlformats.org/markup-compatibility/2006">
              <mc:Choice xmlns:v="urn:schemas-microsoft-com:vml" Requires="v">
                <p:oleObj name="Equation" r:id="rId6" imgW="3035300" imgH="393700" progId="Equation.DSMT4">
                  <p:embed/>
                </p:oleObj>
              </mc:Choice>
              <mc:Fallback>
                <p:oleObj name="Equation" r:id="rId6" imgW="3035300" imgH="393700" progId="Equation.DSMT4">
                  <p:embed/>
                  <p:pic>
                    <p:nvPicPr>
                      <p:cNvPr id="32773" name="Object 4">
                        <a:extLst>
                          <a:ext uri="{FF2B5EF4-FFF2-40B4-BE49-F238E27FC236}">
                            <a16:creationId xmlns:a16="http://schemas.microsoft.com/office/drawing/2014/main" id="{7073B027-908E-46CF-83A8-07295D37EF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6313" y="2714625"/>
                        <a:ext cx="385603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4" name="Object 5">
            <a:extLst>
              <a:ext uri="{FF2B5EF4-FFF2-40B4-BE49-F238E27FC236}">
                <a16:creationId xmlns:a16="http://schemas.microsoft.com/office/drawing/2014/main" id="{5840E3AA-0BC2-4B9E-AB1A-37A2B5CFC113}"/>
              </a:ext>
            </a:extLst>
          </p:cNvPr>
          <p:cNvGraphicFramePr>
            <a:graphicFrameLocks noChangeAspect="1"/>
          </p:cNvGraphicFramePr>
          <p:nvPr/>
        </p:nvGraphicFramePr>
        <p:xfrm>
          <a:off x="1143000" y="2714625"/>
          <a:ext cx="3306763" cy="500063"/>
        </p:xfrm>
        <a:graphic>
          <a:graphicData uri="http://schemas.openxmlformats.org/presentationml/2006/ole">
            <mc:AlternateContent xmlns:mc="http://schemas.openxmlformats.org/markup-compatibility/2006">
              <mc:Choice xmlns:v="urn:schemas-microsoft-com:vml" Requires="v">
                <p:oleObj name="Equation" r:id="rId8" imgW="2603500" imgH="393700" progId="Equation.DSMT4">
                  <p:embed/>
                </p:oleObj>
              </mc:Choice>
              <mc:Fallback>
                <p:oleObj name="Equation" r:id="rId8" imgW="2603500" imgH="393700" progId="Equation.DSMT4">
                  <p:embed/>
                  <p:pic>
                    <p:nvPicPr>
                      <p:cNvPr id="32774" name="Object 5">
                        <a:extLst>
                          <a:ext uri="{FF2B5EF4-FFF2-40B4-BE49-F238E27FC236}">
                            <a16:creationId xmlns:a16="http://schemas.microsoft.com/office/drawing/2014/main" id="{5840E3AA-0BC2-4B9E-AB1A-37A2B5CFC1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2714625"/>
                        <a:ext cx="3306763"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5" name="Object 6">
            <a:extLst>
              <a:ext uri="{FF2B5EF4-FFF2-40B4-BE49-F238E27FC236}">
                <a16:creationId xmlns:a16="http://schemas.microsoft.com/office/drawing/2014/main" id="{081458FF-936B-4D3F-B95B-1F374D550E59}"/>
              </a:ext>
            </a:extLst>
          </p:cNvPr>
          <p:cNvGraphicFramePr>
            <a:graphicFrameLocks noChangeAspect="1"/>
          </p:cNvGraphicFramePr>
          <p:nvPr/>
        </p:nvGraphicFramePr>
        <p:xfrm>
          <a:off x="1214438" y="3429000"/>
          <a:ext cx="2662237" cy="500063"/>
        </p:xfrm>
        <a:graphic>
          <a:graphicData uri="http://schemas.openxmlformats.org/presentationml/2006/ole">
            <mc:AlternateContent xmlns:mc="http://schemas.openxmlformats.org/markup-compatibility/2006">
              <mc:Choice xmlns:v="urn:schemas-microsoft-com:vml" Requires="v">
                <p:oleObj name="Equation" r:id="rId10" imgW="2095500" imgH="393700" progId="Equation.DSMT4">
                  <p:embed/>
                </p:oleObj>
              </mc:Choice>
              <mc:Fallback>
                <p:oleObj name="Equation" r:id="rId10" imgW="2095500" imgH="393700" progId="Equation.DSMT4">
                  <p:embed/>
                  <p:pic>
                    <p:nvPicPr>
                      <p:cNvPr id="32775" name="Object 6">
                        <a:extLst>
                          <a:ext uri="{FF2B5EF4-FFF2-40B4-BE49-F238E27FC236}">
                            <a16:creationId xmlns:a16="http://schemas.microsoft.com/office/drawing/2014/main" id="{081458FF-936B-4D3F-B95B-1F374D550E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4438" y="3429000"/>
                        <a:ext cx="266223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6" name="Object 7">
            <a:extLst>
              <a:ext uri="{FF2B5EF4-FFF2-40B4-BE49-F238E27FC236}">
                <a16:creationId xmlns:a16="http://schemas.microsoft.com/office/drawing/2014/main" id="{A0FD6D21-74E0-40BB-889A-7A70D830A511}"/>
              </a:ext>
            </a:extLst>
          </p:cNvPr>
          <p:cNvGraphicFramePr>
            <a:graphicFrameLocks noChangeAspect="1"/>
          </p:cNvGraphicFramePr>
          <p:nvPr/>
        </p:nvGraphicFramePr>
        <p:xfrm>
          <a:off x="1214438" y="4143375"/>
          <a:ext cx="795337" cy="393700"/>
        </p:xfrm>
        <a:graphic>
          <a:graphicData uri="http://schemas.openxmlformats.org/presentationml/2006/ole">
            <mc:AlternateContent xmlns:mc="http://schemas.openxmlformats.org/markup-compatibility/2006">
              <mc:Choice xmlns:v="urn:schemas-microsoft-com:vml" Requires="v">
                <p:oleObj name="Equation" r:id="rId12" imgW="672808" imgH="393529" progId="Equation.DSMT4">
                  <p:embed/>
                </p:oleObj>
              </mc:Choice>
              <mc:Fallback>
                <p:oleObj name="Equation" r:id="rId12" imgW="672808" imgH="393529" progId="Equation.DSMT4">
                  <p:embed/>
                  <p:pic>
                    <p:nvPicPr>
                      <p:cNvPr id="32776" name="Object 7">
                        <a:extLst>
                          <a:ext uri="{FF2B5EF4-FFF2-40B4-BE49-F238E27FC236}">
                            <a16:creationId xmlns:a16="http://schemas.microsoft.com/office/drawing/2014/main" id="{A0FD6D21-74E0-40BB-889A-7A70D830A5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4438" y="4143375"/>
                        <a:ext cx="79533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7" name="Object 9">
            <a:extLst>
              <a:ext uri="{FF2B5EF4-FFF2-40B4-BE49-F238E27FC236}">
                <a16:creationId xmlns:a16="http://schemas.microsoft.com/office/drawing/2014/main" id="{C836C510-4C24-43A0-9A7A-A43A982DFB49}"/>
              </a:ext>
            </a:extLst>
          </p:cNvPr>
          <p:cNvGraphicFramePr>
            <a:graphicFrameLocks noChangeAspect="1"/>
          </p:cNvGraphicFramePr>
          <p:nvPr/>
        </p:nvGraphicFramePr>
        <p:xfrm>
          <a:off x="1214438" y="4572000"/>
          <a:ext cx="815975" cy="406400"/>
        </p:xfrm>
        <a:graphic>
          <a:graphicData uri="http://schemas.openxmlformats.org/presentationml/2006/ole">
            <mc:AlternateContent xmlns:mc="http://schemas.openxmlformats.org/markup-compatibility/2006">
              <mc:Choice xmlns:v="urn:schemas-microsoft-com:vml" Requires="v">
                <p:oleObj name="Equation" r:id="rId14" imgW="672808" imgH="393529" progId="Equation.DSMT4">
                  <p:embed/>
                </p:oleObj>
              </mc:Choice>
              <mc:Fallback>
                <p:oleObj name="Equation" r:id="rId14" imgW="672808" imgH="393529" progId="Equation.DSMT4">
                  <p:embed/>
                  <p:pic>
                    <p:nvPicPr>
                      <p:cNvPr id="32777" name="Object 9">
                        <a:extLst>
                          <a:ext uri="{FF2B5EF4-FFF2-40B4-BE49-F238E27FC236}">
                            <a16:creationId xmlns:a16="http://schemas.microsoft.com/office/drawing/2014/main" id="{C836C510-4C24-43A0-9A7A-A43A982DFB4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4438" y="4572000"/>
                        <a:ext cx="81597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8" name="Object 10">
            <a:extLst>
              <a:ext uri="{FF2B5EF4-FFF2-40B4-BE49-F238E27FC236}">
                <a16:creationId xmlns:a16="http://schemas.microsoft.com/office/drawing/2014/main" id="{B422ADE9-7046-4ABD-B115-AE267CB9419B}"/>
              </a:ext>
            </a:extLst>
          </p:cNvPr>
          <p:cNvGraphicFramePr>
            <a:graphicFrameLocks noChangeAspect="1"/>
          </p:cNvGraphicFramePr>
          <p:nvPr/>
        </p:nvGraphicFramePr>
        <p:xfrm>
          <a:off x="1214438" y="4929188"/>
          <a:ext cx="785812" cy="393700"/>
        </p:xfrm>
        <a:graphic>
          <a:graphicData uri="http://schemas.openxmlformats.org/presentationml/2006/ole">
            <mc:AlternateContent xmlns:mc="http://schemas.openxmlformats.org/markup-compatibility/2006">
              <mc:Choice xmlns:v="urn:schemas-microsoft-com:vml" Requires="v">
                <p:oleObj name="Equation" r:id="rId16" imgW="609336" imgH="393529" progId="Equation.DSMT4">
                  <p:embed/>
                </p:oleObj>
              </mc:Choice>
              <mc:Fallback>
                <p:oleObj name="Equation" r:id="rId16" imgW="609336" imgH="393529" progId="Equation.DSMT4">
                  <p:embed/>
                  <p:pic>
                    <p:nvPicPr>
                      <p:cNvPr id="32778" name="Object 10">
                        <a:extLst>
                          <a:ext uri="{FF2B5EF4-FFF2-40B4-BE49-F238E27FC236}">
                            <a16:creationId xmlns:a16="http://schemas.microsoft.com/office/drawing/2014/main" id="{B422ADE9-7046-4ABD-B115-AE267CB9419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14438" y="4929188"/>
                        <a:ext cx="78581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9" name="Object 11">
            <a:extLst>
              <a:ext uri="{FF2B5EF4-FFF2-40B4-BE49-F238E27FC236}">
                <a16:creationId xmlns:a16="http://schemas.microsoft.com/office/drawing/2014/main" id="{6D1B8B82-2DA6-4F41-8955-89C3A2293832}"/>
              </a:ext>
            </a:extLst>
          </p:cNvPr>
          <p:cNvGraphicFramePr>
            <a:graphicFrameLocks noChangeAspect="1"/>
          </p:cNvGraphicFramePr>
          <p:nvPr/>
        </p:nvGraphicFramePr>
        <p:xfrm>
          <a:off x="1214438" y="5357813"/>
          <a:ext cx="785812" cy="371475"/>
        </p:xfrm>
        <a:graphic>
          <a:graphicData uri="http://schemas.openxmlformats.org/presentationml/2006/ole">
            <mc:AlternateContent xmlns:mc="http://schemas.openxmlformats.org/markup-compatibility/2006">
              <mc:Choice xmlns:v="urn:schemas-microsoft-com:vml" Requires="v">
                <p:oleObj name="Equation" r:id="rId18" imgW="634725" imgH="393529" progId="Equation.DSMT4">
                  <p:embed/>
                </p:oleObj>
              </mc:Choice>
              <mc:Fallback>
                <p:oleObj name="Equation" r:id="rId18" imgW="634725" imgH="393529" progId="Equation.DSMT4">
                  <p:embed/>
                  <p:pic>
                    <p:nvPicPr>
                      <p:cNvPr id="32779" name="Object 11">
                        <a:extLst>
                          <a:ext uri="{FF2B5EF4-FFF2-40B4-BE49-F238E27FC236}">
                            <a16:creationId xmlns:a16="http://schemas.microsoft.com/office/drawing/2014/main" id="{6D1B8B82-2DA6-4F41-8955-89C3A229383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14438" y="5357813"/>
                        <a:ext cx="785812"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486D134B-1479-42BF-8440-9BC66BFAAFC8}"/>
              </a:ext>
            </a:extLst>
          </p:cNvPr>
          <p:cNvSpPr>
            <a:spLocks noGrp="1" noChangeArrowheads="1"/>
          </p:cNvSpPr>
          <p:nvPr>
            <p:ph type="body" idx="1"/>
          </p:nvPr>
        </p:nvSpPr>
        <p:spPr>
          <a:xfrm>
            <a:off x="457200" y="765175"/>
            <a:ext cx="8229600" cy="5360988"/>
          </a:xfrm>
        </p:spPr>
        <p:txBody>
          <a:bodyPr/>
          <a:lstStyle/>
          <a:p>
            <a:pPr eaLnBrk="1" hangingPunct="1">
              <a:lnSpc>
                <a:spcPct val="80000"/>
              </a:lnSpc>
            </a:pPr>
            <a:r>
              <a:rPr lang="en-US" altLang="zh-CN" sz="2000" dirty="0">
                <a:latin typeface="Times New Roman" panose="02020603050405020304" pitchFamily="18" charset="0"/>
              </a:rPr>
              <a:t>Example: </a:t>
            </a:r>
            <a:r>
              <a:rPr lang="en-US" altLang="zh-CN" sz="2400" i="1" dirty="0">
                <a:latin typeface="Times New Roman" panose="02020603050405020304" pitchFamily="18" charset="0"/>
              </a:rPr>
              <a:t>a</a:t>
            </a:r>
            <a:r>
              <a:rPr lang="en-US" altLang="zh-CN" sz="2400" dirty="0">
                <a:latin typeface="Times New Roman" panose="02020603050405020304" pitchFamily="18" charset="0"/>
              </a:rPr>
              <a:t> </a:t>
            </a:r>
            <a:r>
              <a:rPr lang="en-US" altLang="zh-CN" sz="2000" dirty="0">
                <a:latin typeface="Times New Roman" panose="02020603050405020304" pitchFamily="18" charset="0"/>
              </a:rPr>
              <a:t>= 0.02</a:t>
            </a:r>
          </a:p>
          <a:p>
            <a:pPr eaLnBrk="1" hangingPunct="1">
              <a:lnSpc>
                <a:spcPct val="80000"/>
              </a:lnSpc>
              <a:buFontTx/>
              <a:buNone/>
            </a:pPr>
            <a:r>
              <a:rPr lang="en-US" altLang="zh-CN" sz="2000" dirty="0">
                <a:latin typeface="Times New Roman" panose="02020603050405020304" pitchFamily="18" charset="0"/>
              </a:rPr>
              <a:t>                      </a:t>
            </a:r>
            <a:r>
              <a:rPr lang="en-US" altLang="zh-CN" sz="2400" i="1" dirty="0" err="1">
                <a:latin typeface="Times New Roman" panose="02020603050405020304" pitchFamily="18" charset="0"/>
              </a:rPr>
              <a:t>a</a:t>
            </a:r>
            <a:r>
              <a:rPr lang="en-US" altLang="zh-CN" sz="800" dirty="0" err="1">
                <a:latin typeface="Times New Roman" panose="02020603050405020304" pitchFamily="18" charset="0"/>
              </a:rPr>
              <a:t>K</a:t>
            </a:r>
            <a:r>
              <a:rPr lang="en-US" altLang="zh-CN" sz="800" dirty="0">
                <a:latin typeface="Times New Roman" panose="02020603050405020304" pitchFamily="18" charset="0"/>
              </a:rPr>
              <a:t> </a:t>
            </a:r>
            <a:r>
              <a:rPr lang="en-US" altLang="zh-CN" sz="2000" dirty="0">
                <a:latin typeface="Times New Roman" panose="02020603050405020304" pitchFamily="18" charset="0"/>
              </a:rPr>
              <a:t>= 0.2,              = 0.05</a:t>
            </a:r>
          </a:p>
          <a:p>
            <a:pPr eaLnBrk="1" hangingPunct="1">
              <a:lnSpc>
                <a:spcPct val="80000"/>
              </a:lnSpc>
              <a:buFontTx/>
              <a:buNone/>
            </a:pPr>
            <a:r>
              <a:rPr lang="en-US" altLang="zh-CN" sz="2000" dirty="0">
                <a:latin typeface="Times New Roman" panose="02020603050405020304" pitchFamily="18" charset="0"/>
              </a:rPr>
              <a:t>                      </a:t>
            </a:r>
            <a:r>
              <a:rPr lang="en-US" altLang="zh-CN" sz="2400" i="1" dirty="0" err="1">
                <a:latin typeface="Times New Roman" panose="02020603050405020304" pitchFamily="18" charset="0"/>
              </a:rPr>
              <a:t>a</a:t>
            </a:r>
            <a:r>
              <a:rPr lang="en-US" altLang="zh-CN" sz="800" dirty="0" err="1">
                <a:latin typeface="Times New Roman" panose="02020603050405020304" pitchFamily="18" charset="0"/>
              </a:rPr>
              <a:t>L</a:t>
            </a:r>
            <a:r>
              <a:rPr lang="en-US" altLang="zh-CN" sz="800" dirty="0">
                <a:latin typeface="Times New Roman" panose="02020603050405020304" pitchFamily="18" charset="0"/>
              </a:rPr>
              <a:t> </a:t>
            </a:r>
            <a:r>
              <a:rPr lang="en-US" altLang="zh-CN" sz="2000" dirty="0">
                <a:latin typeface="Times New Roman" panose="02020603050405020304" pitchFamily="18" charset="0"/>
              </a:rPr>
              <a:t>= 0.7,              = 0.03</a:t>
            </a:r>
          </a:p>
          <a:p>
            <a:pPr eaLnBrk="1" hangingPunct="1">
              <a:lnSpc>
                <a:spcPct val="80000"/>
              </a:lnSpc>
              <a:buFontTx/>
              <a:buNone/>
            </a:pPr>
            <a:r>
              <a:rPr lang="en-US" altLang="zh-CN" sz="2000" dirty="0">
                <a:latin typeface="Times New Roman" panose="02020603050405020304" pitchFamily="18" charset="0"/>
              </a:rPr>
              <a:t>                      </a:t>
            </a:r>
            <a:r>
              <a:rPr lang="en-US" altLang="zh-CN" sz="2400" i="1" dirty="0" err="1">
                <a:latin typeface="Times New Roman" panose="02020603050405020304" pitchFamily="18" charset="0"/>
              </a:rPr>
              <a:t>a</a:t>
            </a:r>
            <a:r>
              <a:rPr lang="en-US" altLang="zh-CN" sz="800" dirty="0" err="1">
                <a:latin typeface="Times New Roman" panose="02020603050405020304" pitchFamily="18" charset="0"/>
              </a:rPr>
              <a:t>R</a:t>
            </a:r>
            <a:r>
              <a:rPr lang="en-US" altLang="zh-CN" sz="800" dirty="0">
                <a:latin typeface="Times New Roman" panose="02020603050405020304" pitchFamily="18" charset="0"/>
              </a:rPr>
              <a:t> </a:t>
            </a:r>
            <a:r>
              <a:rPr lang="en-US" altLang="zh-CN" sz="2000" dirty="0">
                <a:latin typeface="Times New Roman" panose="02020603050405020304" pitchFamily="18" charset="0"/>
              </a:rPr>
              <a:t>= 0.1,              = 0.01</a:t>
            </a:r>
          </a:p>
          <a:p>
            <a:pPr eaLnBrk="1" hangingPunct="1">
              <a:lnSpc>
                <a:spcPct val="80000"/>
              </a:lnSpc>
            </a:pPr>
            <a:r>
              <a:rPr lang="en-US" altLang="zh-CN" sz="2000" dirty="0">
                <a:latin typeface="Times New Roman" panose="02020603050405020304" pitchFamily="18" charset="0"/>
              </a:rPr>
              <a:t>           </a:t>
            </a:r>
            <a:r>
              <a:rPr lang="en-US" altLang="zh-CN" sz="1800" dirty="0">
                <a:latin typeface="Times New Roman" panose="02020603050405020304" pitchFamily="18" charset="0"/>
              </a:rPr>
              <a:t>= ?</a:t>
            </a:r>
            <a:r>
              <a:rPr lang="en-US" altLang="zh-CN" sz="2000" dirty="0">
                <a:latin typeface="Times New Roman" panose="02020603050405020304" pitchFamily="18" charset="0"/>
              </a:rPr>
              <a:t> </a:t>
            </a:r>
          </a:p>
          <a:p>
            <a:pPr eaLnBrk="1" hangingPunct="1">
              <a:lnSpc>
                <a:spcPct val="80000"/>
              </a:lnSpc>
              <a:buFontTx/>
              <a:buNone/>
            </a:pPr>
            <a:r>
              <a:rPr lang="en-US" altLang="zh-CN" sz="2000" dirty="0">
                <a:latin typeface="Times New Roman" panose="02020603050405020304" pitchFamily="18" charset="0"/>
              </a:rPr>
              <a:t>         </a:t>
            </a:r>
          </a:p>
          <a:p>
            <a:pPr eaLnBrk="1" hangingPunct="1">
              <a:lnSpc>
                <a:spcPct val="80000"/>
              </a:lnSpc>
              <a:buFontTx/>
              <a:buNone/>
            </a:pPr>
            <a:r>
              <a:rPr lang="en-US" altLang="zh-CN" sz="2000" dirty="0">
                <a:latin typeface="Times New Roman" panose="02020603050405020304" pitchFamily="18" charset="0"/>
              </a:rPr>
              <a:t>                   = 0.02 + 0.2 × 0.05 + 0.7 × 0.03 × 0.1 × 0.01</a:t>
            </a:r>
          </a:p>
          <a:p>
            <a:pPr eaLnBrk="1" hangingPunct="1">
              <a:lnSpc>
                <a:spcPct val="80000"/>
              </a:lnSpc>
              <a:buFontTx/>
              <a:buNone/>
            </a:pPr>
            <a:r>
              <a:rPr lang="en-US" altLang="zh-CN" sz="2000" dirty="0">
                <a:latin typeface="Times New Roman" panose="02020603050405020304" pitchFamily="18" charset="0"/>
              </a:rPr>
              <a:t>                   = 0.02 + 0.01 + 0.021 + 0.001</a:t>
            </a:r>
          </a:p>
          <a:p>
            <a:pPr eaLnBrk="1" hangingPunct="1">
              <a:lnSpc>
                <a:spcPct val="80000"/>
              </a:lnSpc>
              <a:buFontTx/>
              <a:buNone/>
            </a:pPr>
            <a:r>
              <a:rPr lang="en-US" altLang="zh-CN" sz="2000" dirty="0">
                <a:latin typeface="Times New Roman" panose="02020603050405020304" pitchFamily="18" charset="0"/>
              </a:rPr>
              <a:t>                   = 0.052 = 5.2%</a:t>
            </a:r>
          </a:p>
          <a:p>
            <a:pPr eaLnBrk="1" hangingPunct="1">
              <a:lnSpc>
                <a:spcPct val="80000"/>
              </a:lnSpc>
              <a:buFontTx/>
              <a:buNone/>
            </a:pPr>
            <a:endParaRPr lang="en-US" altLang="zh-CN" dirty="0"/>
          </a:p>
          <a:p>
            <a:pPr lvl="1" eaLnBrk="1" hangingPunct="1"/>
            <a:r>
              <a:rPr lang="en-US" altLang="zh-CN" sz="1800" dirty="0">
                <a:latin typeface="Times New Roman" panose="02020603050405020304" pitchFamily="18" charset="0"/>
              </a:rPr>
              <a:t>This kind of analysis is called growth accounting or sources of growth analysis.</a:t>
            </a:r>
          </a:p>
          <a:p>
            <a:pPr eaLnBrk="1" hangingPunct="1">
              <a:lnSpc>
                <a:spcPct val="80000"/>
              </a:lnSpc>
            </a:pPr>
            <a:endParaRPr lang="en-US" altLang="zh-CN" sz="1800" dirty="0">
              <a:latin typeface="Times New Roman" panose="02020603050405020304" pitchFamily="18" charset="0"/>
            </a:endParaRPr>
          </a:p>
        </p:txBody>
      </p:sp>
      <p:graphicFrame>
        <p:nvGraphicFramePr>
          <p:cNvPr id="33795" name="Object 12">
            <a:extLst>
              <a:ext uri="{FF2B5EF4-FFF2-40B4-BE49-F238E27FC236}">
                <a16:creationId xmlns:a16="http://schemas.microsoft.com/office/drawing/2014/main" id="{3B6C3CBA-2946-4976-AD26-40CAE096CA4B}"/>
              </a:ext>
            </a:extLst>
          </p:cNvPr>
          <p:cNvGraphicFramePr>
            <a:graphicFrameLocks noChangeAspect="1"/>
          </p:cNvGraphicFramePr>
          <p:nvPr/>
        </p:nvGraphicFramePr>
        <p:xfrm>
          <a:off x="1225550" y="2171700"/>
          <a:ext cx="266700" cy="393700"/>
        </p:xfrm>
        <a:graphic>
          <a:graphicData uri="http://schemas.openxmlformats.org/presentationml/2006/ole">
            <mc:AlternateContent xmlns:mc="http://schemas.openxmlformats.org/markup-compatibility/2006">
              <mc:Choice xmlns:v="urn:schemas-microsoft-com:vml" Requires="v">
                <p:oleObj name="Equation" r:id="rId2" imgW="266469" imgH="393359" progId="Equation.DSMT4">
                  <p:embed/>
                </p:oleObj>
              </mc:Choice>
              <mc:Fallback>
                <p:oleObj name="Equation" r:id="rId2" imgW="266469" imgH="393359" progId="Equation.DSMT4">
                  <p:embed/>
                  <p:pic>
                    <p:nvPicPr>
                      <p:cNvPr id="33795" name="Object 12">
                        <a:extLst>
                          <a:ext uri="{FF2B5EF4-FFF2-40B4-BE49-F238E27FC236}">
                            <a16:creationId xmlns:a16="http://schemas.microsoft.com/office/drawing/2014/main" id="{3B6C3CBA-2946-4976-AD26-40CAE096C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550" y="2171700"/>
                        <a:ext cx="266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6" name="Object 13">
            <a:extLst>
              <a:ext uri="{FF2B5EF4-FFF2-40B4-BE49-F238E27FC236}">
                <a16:creationId xmlns:a16="http://schemas.microsoft.com/office/drawing/2014/main" id="{42DEF30E-7EB2-4192-AADA-55B9EC3492C2}"/>
              </a:ext>
            </a:extLst>
          </p:cNvPr>
          <p:cNvGraphicFramePr>
            <a:graphicFrameLocks noChangeAspect="1"/>
          </p:cNvGraphicFramePr>
          <p:nvPr/>
        </p:nvGraphicFramePr>
        <p:xfrm>
          <a:off x="3224213" y="1952625"/>
          <a:ext cx="266700" cy="393700"/>
        </p:xfrm>
        <a:graphic>
          <a:graphicData uri="http://schemas.openxmlformats.org/presentationml/2006/ole">
            <mc:AlternateContent xmlns:mc="http://schemas.openxmlformats.org/markup-compatibility/2006">
              <mc:Choice xmlns:v="urn:schemas-microsoft-com:vml" Requires="v">
                <p:oleObj name="Equation" r:id="rId4" imgW="266469" imgH="393359" progId="Equation.DSMT4">
                  <p:embed/>
                </p:oleObj>
              </mc:Choice>
              <mc:Fallback>
                <p:oleObj name="Equation" r:id="rId4" imgW="266469" imgH="393359" progId="Equation.DSMT4">
                  <p:embed/>
                  <p:pic>
                    <p:nvPicPr>
                      <p:cNvPr id="33796" name="Object 13">
                        <a:extLst>
                          <a:ext uri="{FF2B5EF4-FFF2-40B4-BE49-F238E27FC236}">
                            <a16:creationId xmlns:a16="http://schemas.microsoft.com/office/drawing/2014/main" id="{42DEF30E-7EB2-4192-AADA-55B9EC3492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4213" y="1952625"/>
                        <a:ext cx="266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7" name="Object 14">
            <a:extLst>
              <a:ext uri="{FF2B5EF4-FFF2-40B4-BE49-F238E27FC236}">
                <a16:creationId xmlns:a16="http://schemas.microsoft.com/office/drawing/2014/main" id="{8975A4B0-017C-47B2-95F0-F78503608BD5}"/>
              </a:ext>
            </a:extLst>
          </p:cNvPr>
          <p:cNvGraphicFramePr>
            <a:graphicFrameLocks noChangeAspect="1"/>
          </p:cNvGraphicFramePr>
          <p:nvPr/>
        </p:nvGraphicFramePr>
        <p:xfrm>
          <a:off x="3173413" y="1131888"/>
          <a:ext cx="304800" cy="428625"/>
        </p:xfrm>
        <a:graphic>
          <a:graphicData uri="http://schemas.openxmlformats.org/presentationml/2006/ole">
            <mc:AlternateContent xmlns:mc="http://schemas.openxmlformats.org/markup-compatibility/2006">
              <mc:Choice xmlns:v="urn:schemas-microsoft-com:vml" Requires="v">
                <p:oleObj name="Equation" r:id="rId6" imgW="279279" imgH="393529" progId="Equation.DSMT4">
                  <p:embed/>
                </p:oleObj>
              </mc:Choice>
              <mc:Fallback>
                <p:oleObj name="Equation" r:id="rId6" imgW="279279" imgH="393529" progId="Equation.DSMT4">
                  <p:embed/>
                  <p:pic>
                    <p:nvPicPr>
                      <p:cNvPr id="33797" name="Object 14">
                        <a:extLst>
                          <a:ext uri="{FF2B5EF4-FFF2-40B4-BE49-F238E27FC236}">
                            <a16:creationId xmlns:a16="http://schemas.microsoft.com/office/drawing/2014/main" id="{8975A4B0-017C-47B2-95F0-F78503608B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3413" y="1131888"/>
                        <a:ext cx="304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8" name="Object 15">
            <a:extLst>
              <a:ext uri="{FF2B5EF4-FFF2-40B4-BE49-F238E27FC236}">
                <a16:creationId xmlns:a16="http://schemas.microsoft.com/office/drawing/2014/main" id="{3734558E-933F-44D2-A3F5-1CAABF8686FF}"/>
              </a:ext>
            </a:extLst>
          </p:cNvPr>
          <p:cNvGraphicFramePr>
            <a:graphicFrameLocks noChangeAspect="1"/>
          </p:cNvGraphicFramePr>
          <p:nvPr/>
        </p:nvGraphicFramePr>
        <p:xfrm>
          <a:off x="3224213" y="1535113"/>
          <a:ext cx="254000" cy="393700"/>
        </p:xfrm>
        <a:graphic>
          <a:graphicData uri="http://schemas.openxmlformats.org/presentationml/2006/ole">
            <mc:AlternateContent xmlns:mc="http://schemas.openxmlformats.org/markup-compatibility/2006">
              <mc:Choice xmlns:v="urn:schemas-microsoft-com:vml" Requires="v">
                <p:oleObj name="Equation" r:id="rId8" imgW="253890" imgH="393529" progId="Equation.DSMT4">
                  <p:embed/>
                </p:oleObj>
              </mc:Choice>
              <mc:Fallback>
                <p:oleObj name="Equation" r:id="rId8" imgW="253890" imgH="393529" progId="Equation.DSMT4">
                  <p:embed/>
                  <p:pic>
                    <p:nvPicPr>
                      <p:cNvPr id="33798" name="Object 15">
                        <a:extLst>
                          <a:ext uri="{FF2B5EF4-FFF2-40B4-BE49-F238E27FC236}">
                            <a16:creationId xmlns:a16="http://schemas.microsoft.com/office/drawing/2014/main" id="{3734558E-933F-44D2-A3F5-1CAABF8686F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24213" y="1535113"/>
                        <a:ext cx="2540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9" name="Object 8">
            <a:extLst>
              <a:ext uri="{FF2B5EF4-FFF2-40B4-BE49-F238E27FC236}">
                <a16:creationId xmlns:a16="http://schemas.microsoft.com/office/drawing/2014/main" id="{958A3CBC-0F9B-4D4C-936D-6597D2F98535}"/>
              </a:ext>
            </a:extLst>
          </p:cNvPr>
          <p:cNvGraphicFramePr>
            <a:graphicFrameLocks noChangeAspect="1"/>
          </p:cNvGraphicFramePr>
          <p:nvPr/>
        </p:nvGraphicFramePr>
        <p:xfrm>
          <a:off x="1276350" y="2708275"/>
          <a:ext cx="215900" cy="433388"/>
        </p:xfrm>
        <a:graphic>
          <a:graphicData uri="http://schemas.openxmlformats.org/presentationml/2006/ole">
            <mc:AlternateContent xmlns:mc="http://schemas.openxmlformats.org/markup-compatibility/2006">
              <mc:Choice xmlns:v="urn:schemas-microsoft-com:vml" Requires="v">
                <p:oleObj name="Equation" r:id="rId2" imgW="266469" imgH="393359" progId="Equation.DSMT4">
                  <p:embed/>
                </p:oleObj>
              </mc:Choice>
              <mc:Fallback>
                <p:oleObj name="Equation" r:id="rId2" imgW="266469" imgH="393359" progId="Equation.DSMT4">
                  <p:embed/>
                  <p:pic>
                    <p:nvPicPr>
                      <p:cNvPr id="33799" name="Object 8">
                        <a:extLst>
                          <a:ext uri="{FF2B5EF4-FFF2-40B4-BE49-F238E27FC236}">
                            <a16:creationId xmlns:a16="http://schemas.microsoft.com/office/drawing/2014/main" id="{958A3CBC-0F9B-4D4C-936D-6597D2F985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6350" y="2708275"/>
                        <a:ext cx="2159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7ACA19AA-6F1A-4C9D-BE86-029251769FD7}"/>
              </a:ext>
            </a:extLst>
          </p:cNvPr>
          <p:cNvSpPr>
            <a:spLocks noGrp="1" noChangeArrowheads="1"/>
          </p:cNvSpPr>
          <p:nvPr>
            <p:ph type="body" idx="1"/>
          </p:nvPr>
        </p:nvSpPr>
        <p:spPr>
          <a:xfrm>
            <a:off x="457200" y="620713"/>
            <a:ext cx="8229600" cy="5505450"/>
          </a:xfrm>
        </p:spPr>
        <p:txBody>
          <a:bodyPr/>
          <a:lstStyle/>
          <a:p>
            <a:pPr eaLnBrk="1" hangingPunct="1">
              <a:lnSpc>
                <a:spcPct val="80000"/>
              </a:lnSpc>
            </a:pPr>
            <a:r>
              <a:rPr lang="en-US" altLang="zh-CN" sz="2400" dirty="0">
                <a:latin typeface="Times New Roman" panose="02020603050405020304" pitchFamily="18" charset="0"/>
                <a:cs typeface="Times New Roman" panose="02020603050405020304" pitchFamily="18" charset="0"/>
              </a:rPr>
              <a:t>Shortcomings:</a:t>
            </a:r>
          </a:p>
          <a:p>
            <a:pPr lvl="1" eaLnBrk="1" hangingPunct="1"/>
            <a:r>
              <a:rPr lang="en-US" altLang="zh-CN" sz="2400" dirty="0">
                <a:latin typeface="Times New Roman" panose="02020603050405020304" pitchFamily="18" charset="0"/>
                <a:cs typeface="Times New Roman" panose="02020603050405020304" pitchFamily="18" charset="0"/>
              </a:rPr>
              <a:t>The neoclassical growth theory does not provide a satisfactory explanation of changes in technology. “</a:t>
            </a:r>
            <a:r>
              <a:rPr lang="en-US" altLang="zh-CN" sz="2400" i="1" dirty="0">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 is usually assumed to be fixed. Since “</a:t>
            </a:r>
            <a:r>
              <a:rPr lang="en-US" altLang="zh-CN" sz="2400" i="1" dirty="0">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 determines the growth rate (based on empirical analyses). Economic growth seems to have fallen on countries from heaven.</a:t>
            </a:r>
          </a:p>
          <a:p>
            <a:pPr lvl="1" eaLnBrk="1" hangingPunct="1"/>
            <a:r>
              <a:rPr lang="en-US" altLang="zh-CN" sz="2400" dirty="0">
                <a:latin typeface="Times New Roman" panose="02020603050405020304" pitchFamily="18" charset="0"/>
                <a:cs typeface="Times New Roman" panose="02020603050405020304" pitchFamily="18" charset="0"/>
              </a:rPr>
              <a:t>Based on neoclassical growth theory, capital should move from rich country to poor country, because in the poor country labor is abundant and rate of return on capital is high. Evidence does not support this. </a:t>
            </a:r>
          </a:p>
          <a:p>
            <a:pPr lvl="1" eaLnBrk="1" hangingPunct="1"/>
            <a:r>
              <a:rPr lang="en-US" altLang="zh-CN" sz="2400" dirty="0">
                <a:latin typeface="Times New Roman" panose="02020603050405020304" pitchFamily="18" charset="0"/>
                <a:cs typeface="Times New Roman" panose="02020603050405020304" pitchFamily="18" charset="0"/>
              </a:rPr>
              <a:t>Also, if more capital moves to the poor countries, the poor countries should grow faster and eventually catch up the rich. In fact, poor countries grew slower.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F6C5F77-7261-4DC9-84CA-47A4796E03B9}"/>
              </a:ext>
            </a:extLst>
          </p:cNvPr>
          <p:cNvSpPr>
            <a:spLocks noGrp="1" noChangeArrowheads="1"/>
          </p:cNvSpPr>
          <p:nvPr>
            <p:ph type="title"/>
          </p:nvPr>
        </p:nvSpPr>
        <p:spPr>
          <a:xfrm>
            <a:off x="457200" y="274638"/>
            <a:ext cx="8229600" cy="706437"/>
          </a:xfrm>
        </p:spPr>
        <p:txBody>
          <a:bodyPr/>
          <a:lstStyle/>
          <a:p>
            <a:pPr algn="l" eaLnBrk="1" hangingPunct="1"/>
            <a:r>
              <a:rPr lang="en-US" altLang="zh-CN" sz="2800">
                <a:latin typeface="Times New Roman" panose="02020603050405020304" pitchFamily="18" charset="0"/>
                <a:cs typeface="Times New Roman" panose="02020603050405020304" pitchFamily="18" charset="0"/>
              </a:rPr>
              <a:t>VI. </a:t>
            </a:r>
            <a:r>
              <a:rPr lang="en-US" altLang="zh-CN" sz="2800">
                <a:latin typeface="Times New Roman" panose="02020603050405020304" pitchFamily="18" charset="0"/>
              </a:rPr>
              <a:t>The New Growth Theory</a:t>
            </a:r>
          </a:p>
        </p:txBody>
      </p:sp>
      <p:sp>
        <p:nvSpPr>
          <p:cNvPr id="35843" name="Rectangle 3">
            <a:extLst>
              <a:ext uri="{FF2B5EF4-FFF2-40B4-BE49-F238E27FC236}">
                <a16:creationId xmlns:a16="http://schemas.microsoft.com/office/drawing/2014/main" id="{69C4ECA6-9C7B-415F-A6E0-936EC6E9DCCF}"/>
              </a:ext>
            </a:extLst>
          </p:cNvPr>
          <p:cNvSpPr>
            <a:spLocks noGrp="1" noChangeArrowheads="1"/>
          </p:cNvSpPr>
          <p:nvPr>
            <p:ph type="body" idx="1"/>
          </p:nvPr>
        </p:nvSpPr>
        <p:spPr>
          <a:xfrm>
            <a:off x="457200" y="1125538"/>
            <a:ext cx="8229600" cy="5543550"/>
          </a:xfrm>
        </p:spPr>
        <p:txBody>
          <a:bodyPr/>
          <a:lstStyle/>
          <a:p>
            <a:pPr eaLnBrk="1" hangingPunct="1">
              <a:lnSpc>
                <a:spcPct val="90000"/>
              </a:lnSpc>
              <a:spcAft>
                <a:spcPts val="600"/>
              </a:spcAft>
            </a:pPr>
            <a:r>
              <a:rPr lang="en-US" altLang="zh-CN" sz="2400" dirty="0">
                <a:latin typeface="Times New Roman" panose="02020603050405020304" pitchFamily="18" charset="0"/>
              </a:rPr>
              <a:t>Paul </a:t>
            </a:r>
            <a:r>
              <a:rPr lang="en-US" altLang="zh-CN" sz="2400" dirty="0" err="1">
                <a:latin typeface="Times New Roman" panose="02020603050405020304" pitchFamily="18" charset="0"/>
              </a:rPr>
              <a:t>Romer</a:t>
            </a:r>
            <a:r>
              <a:rPr lang="en-US" altLang="zh-CN" sz="2400" dirty="0">
                <a:latin typeface="Times New Roman" panose="02020603050405020304" pitchFamily="18" charset="0"/>
              </a:rPr>
              <a:t> (1986), “</a:t>
            </a:r>
            <a:r>
              <a:rPr lang="en-US" altLang="zh-CN" sz="2400" i="1" dirty="0">
                <a:latin typeface="Times New Roman" panose="02020603050405020304" pitchFamily="18" charset="0"/>
              </a:rPr>
              <a:t>Increasing returns &amp; Long-run economic growth”</a:t>
            </a:r>
            <a:r>
              <a:rPr lang="en-US" altLang="zh-CN" sz="2400" dirty="0">
                <a:latin typeface="Times New Roman" panose="02020603050405020304" pitchFamily="18" charset="0"/>
              </a:rPr>
              <a:t>, Journal of Political Economy.</a:t>
            </a:r>
            <a:endParaRPr lang="en-US" altLang="zh-CN" sz="2400" dirty="0"/>
          </a:p>
          <a:p>
            <a:pPr lvl="1" eaLnBrk="1" hangingPunct="1">
              <a:lnSpc>
                <a:spcPct val="90000"/>
              </a:lnSpc>
              <a:spcAft>
                <a:spcPts val="600"/>
              </a:spcAft>
            </a:pPr>
            <a:r>
              <a:rPr lang="en-US" altLang="zh-CN" sz="2000" dirty="0">
                <a:latin typeface="Times New Roman" panose="02020603050405020304" pitchFamily="18" charset="0"/>
              </a:rPr>
              <a:t>Same labor, more capital</a:t>
            </a:r>
            <a:r>
              <a:rPr lang="en-US" altLang="zh-CN"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rPr>
              <a:t> diminishing returns. But profit –maximizing firms seek out new technologies that economize on labor.</a:t>
            </a:r>
            <a:endParaRPr lang="en-US" altLang="zh-CN" sz="2000" dirty="0"/>
          </a:p>
          <a:p>
            <a:pPr lvl="1" eaLnBrk="1" hangingPunct="1">
              <a:lnSpc>
                <a:spcPct val="90000"/>
              </a:lnSpc>
              <a:spcAft>
                <a:spcPts val="600"/>
              </a:spcAft>
            </a:pPr>
            <a:r>
              <a:rPr lang="en-US" altLang="zh-CN" sz="2000" dirty="0">
                <a:latin typeface="Times New Roman" panose="02020603050405020304" pitchFamily="18" charset="0"/>
              </a:rPr>
              <a:t>Productive knowledge has spill over effect, i.e., new technology of one firm can leak to other firms.</a:t>
            </a:r>
          </a:p>
          <a:p>
            <a:pPr lvl="1" eaLnBrk="1" hangingPunct="1">
              <a:lnSpc>
                <a:spcPct val="90000"/>
              </a:lnSpc>
              <a:spcAft>
                <a:spcPts val="600"/>
              </a:spcAft>
            </a:pPr>
            <a:endParaRPr lang="en-US" altLang="zh-CN" sz="2000" dirty="0">
              <a:latin typeface="Times New Roman" panose="02020603050405020304" pitchFamily="18" charset="0"/>
            </a:endParaRPr>
          </a:p>
          <a:p>
            <a:pPr eaLnBrk="1" hangingPunct="1">
              <a:lnSpc>
                <a:spcPct val="90000"/>
              </a:lnSpc>
              <a:spcAft>
                <a:spcPts val="600"/>
              </a:spcAft>
            </a:pPr>
            <a:r>
              <a:rPr lang="en-US" altLang="zh-CN" sz="2400" dirty="0">
                <a:latin typeface="Times New Roman" panose="02020603050405020304" pitchFamily="18" charset="0"/>
              </a:rPr>
              <a:t>The spillover of knowledge causes increasing returns to capital.</a:t>
            </a:r>
          </a:p>
          <a:p>
            <a:pPr eaLnBrk="1" hangingPunct="1">
              <a:lnSpc>
                <a:spcPct val="90000"/>
              </a:lnSpc>
              <a:spcAft>
                <a:spcPts val="600"/>
              </a:spcAft>
            </a:pPr>
            <a:r>
              <a:rPr lang="en-US" altLang="zh-CN" sz="2400" dirty="0">
                <a:latin typeface="Times New Roman" panose="02020603050405020304" pitchFamily="18" charset="0"/>
              </a:rPr>
              <a:t>Capital moves to the place with more capital.  Rich becomes richer. </a:t>
            </a:r>
          </a:p>
          <a:p>
            <a:pPr eaLnBrk="1" hangingPunct="1">
              <a:lnSpc>
                <a:spcPct val="90000"/>
              </a:lnSpc>
              <a:spcAft>
                <a:spcPts val="600"/>
              </a:spcAft>
            </a:pPr>
            <a:r>
              <a:rPr lang="en-US" altLang="zh-CN" sz="2400" dirty="0">
                <a:latin typeface="Times New Roman" panose="02020603050405020304" pitchFamily="18" charset="0"/>
              </a:rPr>
              <a:t>Solow takes technology progress as given, or determined by the progress of basic sciences.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1F3F16FD-FBD5-4A53-8458-2178513B1B1C}"/>
              </a:ext>
            </a:extLst>
          </p:cNvPr>
          <p:cNvSpPr>
            <a:spLocks noGrp="1" noChangeArrowheads="1"/>
          </p:cNvSpPr>
          <p:nvPr>
            <p:ph type="body" idx="1"/>
          </p:nvPr>
        </p:nvSpPr>
        <p:spPr>
          <a:xfrm>
            <a:off x="457200" y="836613"/>
            <a:ext cx="8229600" cy="5761037"/>
          </a:xfrm>
        </p:spPr>
        <p:txBody>
          <a:bodyPr/>
          <a:lstStyle/>
          <a:p>
            <a:pPr eaLnBrk="1" hangingPunct="1"/>
            <a:r>
              <a:rPr lang="en-US" altLang="en-US" sz="2400" dirty="0">
                <a:latin typeface="Times New Roman" panose="02020603050405020304" pitchFamily="18" charset="0"/>
                <a:cs typeface="Times New Roman" panose="02020603050405020304" pitchFamily="18" charset="0"/>
              </a:rPr>
              <a:t>Robert E. Lucas, Jr.</a:t>
            </a:r>
            <a:r>
              <a:rPr lang="en-US" altLang="zh-CN" sz="2400" dirty="0">
                <a:latin typeface="Times New Roman" panose="02020603050405020304" pitchFamily="18" charset="0"/>
              </a:rPr>
              <a:t> (1988), “</a:t>
            </a:r>
            <a:r>
              <a:rPr lang="en-US" altLang="zh-CN" sz="2400" i="1" dirty="0">
                <a:latin typeface="Times New Roman" panose="02020603050405020304" pitchFamily="18" charset="0"/>
              </a:rPr>
              <a:t>The Mechanism of Economic Development</a:t>
            </a:r>
            <a:r>
              <a:rPr lang="en-US" altLang="zh-CN" sz="2400" dirty="0">
                <a:latin typeface="Times New Roman" panose="02020603050405020304" pitchFamily="18" charset="0"/>
              </a:rPr>
              <a:t>,” Journal of Monetary Economics</a:t>
            </a:r>
            <a:endParaRPr lang="en-US" altLang="zh-CN" sz="2400" dirty="0"/>
          </a:p>
          <a:p>
            <a:pPr lvl="1" eaLnBrk="1" hangingPunct="1"/>
            <a:r>
              <a:rPr lang="en-US" altLang="zh-CN" sz="2000" dirty="0">
                <a:latin typeface="Times New Roman" panose="02020603050405020304" pitchFamily="18" charset="0"/>
              </a:rPr>
              <a:t>The endogenous growth  theories try to explain the technological progress, the “residual”.</a:t>
            </a:r>
          </a:p>
          <a:p>
            <a:pPr eaLnBrk="1" hangingPunct="1"/>
            <a:endParaRPr lang="en-US" altLang="zh-CN" sz="2400" dirty="0">
              <a:latin typeface="Times New Roman" panose="02020603050405020304" pitchFamily="18" charset="0"/>
            </a:endParaRPr>
          </a:p>
          <a:p>
            <a:pPr lvl="1" eaLnBrk="1" hangingPunct="1"/>
            <a:r>
              <a:rPr lang="en-US" altLang="zh-CN" sz="2000" dirty="0">
                <a:latin typeface="Times New Roman" panose="02020603050405020304" pitchFamily="18" charset="0"/>
              </a:rPr>
              <a:t>H is human capital (through education or learning by doing).</a:t>
            </a:r>
            <a:endParaRPr lang="en-US" altLang="zh-CN" sz="2000" dirty="0"/>
          </a:p>
          <a:p>
            <a:pPr lvl="1" eaLnBrk="1" hangingPunct="1"/>
            <a:r>
              <a:rPr lang="en-US" altLang="zh-CN" sz="2000" dirty="0">
                <a:latin typeface="Times New Roman" panose="02020603050405020304" pitchFamily="18" charset="0"/>
              </a:rPr>
              <a:t>Countries with more human capital grow faster.</a:t>
            </a:r>
            <a:endParaRPr lang="en-US" altLang="zh-CN" sz="2000" dirty="0"/>
          </a:p>
          <a:p>
            <a:pPr lvl="1" eaLnBrk="1" hangingPunct="1"/>
            <a:r>
              <a:rPr lang="en-US" altLang="zh-CN" sz="2000" dirty="0">
                <a:latin typeface="Times New Roman" panose="02020603050405020304" pitchFamily="18" charset="0"/>
              </a:rPr>
              <a:t>Human capital has external effects. The more human capital a country has, the higher the productivity of human capital will be.</a:t>
            </a:r>
            <a:endParaRPr lang="en-US" altLang="zh-CN" sz="2000" dirty="0"/>
          </a:p>
          <a:p>
            <a:pPr lvl="1" eaLnBrk="1" hangingPunct="1"/>
            <a:r>
              <a:rPr lang="en-US" altLang="zh-CN" sz="2000" dirty="0">
                <a:latin typeface="Times New Roman" panose="02020603050405020304" pitchFamily="18" charset="0"/>
              </a:rPr>
              <a:t>Highly skilled workers complement one another. </a:t>
            </a:r>
            <a:endParaRPr lang="en-US" altLang="zh-CN" sz="2000" dirty="0"/>
          </a:p>
          <a:p>
            <a:pPr lvl="1" eaLnBrk="1" hangingPunct="1"/>
            <a:r>
              <a:rPr lang="en-US" altLang="zh-CN" sz="2000" dirty="0">
                <a:latin typeface="Times New Roman" panose="02020603050405020304" pitchFamily="18" charset="0"/>
              </a:rPr>
              <a:t>Lucas: “what can be paying Manhattan or downtown Chicago rents for, if not for being near other people?”</a:t>
            </a:r>
          </a:p>
        </p:txBody>
      </p:sp>
      <p:graphicFrame>
        <p:nvGraphicFramePr>
          <p:cNvPr id="36867" name="Object 16">
            <a:extLst>
              <a:ext uri="{FF2B5EF4-FFF2-40B4-BE49-F238E27FC236}">
                <a16:creationId xmlns:a16="http://schemas.microsoft.com/office/drawing/2014/main" id="{B143B470-C6A3-47D9-9E6B-F9AAF4673CC9}"/>
              </a:ext>
            </a:extLst>
          </p:cNvPr>
          <p:cNvGraphicFramePr>
            <a:graphicFrameLocks noChangeAspect="1"/>
          </p:cNvGraphicFramePr>
          <p:nvPr/>
        </p:nvGraphicFramePr>
        <p:xfrm>
          <a:off x="1619250" y="2359025"/>
          <a:ext cx="2208213" cy="422275"/>
        </p:xfrm>
        <a:graphic>
          <a:graphicData uri="http://schemas.openxmlformats.org/presentationml/2006/ole">
            <mc:AlternateContent xmlns:mc="http://schemas.openxmlformats.org/markup-compatibility/2006">
              <mc:Choice xmlns:v="urn:schemas-microsoft-com:vml" Requires="v">
                <p:oleObj name="Equation" r:id="rId3" imgW="1091726" imgH="228501" progId="Equation.DSMT4">
                  <p:embed/>
                </p:oleObj>
              </mc:Choice>
              <mc:Fallback>
                <p:oleObj name="Equation" r:id="rId3" imgW="1091726" imgH="228501" progId="Equation.DSMT4">
                  <p:embed/>
                  <p:pic>
                    <p:nvPicPr>
                      <p:cNvPr id="36867" name="Object 16">
                        <a:extLst>
                          <a:ext uri="{FF2B5EF4-FFF2-40B4-BE49-F238E27FC236}">
                            <a16:creationId xmlns:a16="http://schemas.microsoft.com/office/drawing/2014/main" id="{B143B470-C6A3-47D9-9E6B-F9AAF4673C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2359025"/>
                        <a:ext cx="22082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a:extLst>
              <a:ext uri="{FF2B5EF4-FFF2-40B4-BE49-F238E27FC236}">
                <a16:creationId xmlns:a16="http://schemas.microsoft.com/office/drawing/2014/main" id="{F7B8E3DE-54C7-4187-9609-B9DD6F433F54}"/>
              </a:ext>
            </a:extLst>
          </p:cNvPr>
          <p:cNvSpPr>
            <a:spLocks noChangeArrowheads="1"/>
          </p:cNvSpPr>
          <p:nvPr/>
        </p:nvSpPr>
        <p:spPr bwMode="auto">
          <a:xfrm>
            <a:off x="395288" y="476250"/>
            <a:ext cx="7345362"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1085850" indent="-3429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spcAft>
                <a:spcPts val="1200"/>
              </a:spcAft>
            </a:pPr>
            <a:endParaRPr lang="en-US" altLang="en-US" sz="2400" dirty="0">
              <a:latin typeface="Times New Roman" panose="02020603050405020304" pitchFamily="18" charset="0"/>
              <a:cs typeface="Times New Roman" panose="02020603050405020304" pitchFamily="18" charset="0"/>
            </a:endParaRPr>
          </a:p>
          <a:p>
            <a:pPr eaLnBrk="1" hangingPunct="1">
              <a:spcBef>
                <a:spcPct val="0"/>
              </a:spcBef>
              <a:spcAft>
                <a:spcPts val="1200"/>
              </a:spcAft>
            </a:pPr>
            <a:r>
              <a:rPr lang="en-US" altLang="en-US" sz="2400" dirty="0">
                <a:latin typeface="Times New Roman" panose="02020603050405020304" pitchFamily="18" charset="0"/>
                <a:cs typeface="Times New Roman" panose="02020603050405020304" pitchFamily="18" charset="0"/>
              </a:rPr>
              <a:t>Robert E. Lucas, Jr. (1990), “</a:t>
            </a:r>
            <a:r>
              <a:rPr lang="en-US" altLang="en-US" sz="2400" i="1" dirty="0">
                <a:latin typeface="Times New Roman" panose="02020603050405020304" pitchFamily="18" charset="0"/>
                <a:cs typeface="Times New Roman" panose="02020603050405020304" pitchFamily="18" charset="0"/>
              </a:rPr>
              <a:t>Why Doesn't Capital Flow from Rich to Poor Countries?</a:t>
            </a:r>
            <a:r>
              <a:rPr lang="en-US" altLang="en-US" sz="2400" dirty="0">
                <a:latin typeface="Times New Roman" panose="02020603050405020304" pitchFamily="18" charset="0"/>
                <a:cs typeface="Times New Roman" panose="02020603050405020304" pitchFamily="18" charset="0"/>
              </a:rPr>
              <a:t>” The American Economic Review</a:t>
            </a:r>
          </a:p>
          <a:p>
            <a:pPr lvl="1" eaLnBrk="1" hangingPunct="1">
              <a:spcBef>
                <a:spcPct val="0"/>
              </a:spcBef>
              <a:spcAft>
                <a:spcPts val="1200"/>
              </a:spcAft>
            </a:pPr>
            <a:r>
              <a:rPr lang="en-US" altLang="zh-CN" sz="2000" dirty="0">
                <a:latin typeface="Times New Roman" panose="02020603050405020304" pitchFamily="18" charset="0"/>
                <a:cs typeface="Times New Roman" panose="02020603050405020304" pitchFamily="18" charset="0"/>
              </a:rPr>
              <a:t>Return to physical capital depends positively on the stock of human capital </a:t>
            </a:r>
          </a:p>
          <a:p>
            <a:pPr lvl="1" eaLnBrk="1" hangingPunct="1">
              <a:spcBef>
                <a:spcPct val="0"/>
              </a:spcBef>
              <a:spcAft>
                <a:spcPts val="1200"/>
              </a:spcAft>
            </a:pPr>
            <a:r>
              <a:rPr lang="en-US" altLang="zh-CN" sz="2000" dirty="0">
                <a:latin typeface="Times New Roman" panose="02020603050405020304" pitchFamily="18" charset="0"/>
                <a:cs typeface="Times New Roman" panose="02020603050405020304" pitchFamily="18" charset="0"/>
              </a:rPr>
              <a:t>With the consideration of human capital, one can understand why capital does not move to the poor countries.</a:t>
            </a:r>
          </a:p>
          <a:p>
            <a:pPr lvl="1" eaLnBrk="1" hangingPunct="1">
              <a:spcBef>
                <a:spcPct val="0"/>
              </a:spcBef>
              <a:spcAft>
                <a:spcPts val="1200"/>
              </a:spcAft>
            </a:pPr>
            <a:r>
              <a:rPr lang="en-US" altLang="zh-CN" sz="2000" dirty="0">
                <a:latin typeface="Times New Roman" panose="02020603050405020304" pitchFamily="18" charset="0"/>
                <a:cs typeface="Times New Roman" panose="02020603050405020304" pitchFamily="18" charset="0"/>
              </a:rPr>
              <a:t>Without considering human capital, India </a:t>
            </a:r>
            <a:r>
              <a:rPr lang="en-US" altLang="zh-CN" sz="2000" i="1" dirty="0">
                <a:latin typeface="Times New Roman" panose="02020603050405020304" pitchFamily="18" charset="0"/>
                <a:cs typeface="Times New Roman" panose="02020603050405020304" pitchFamily="18" charset="0"/>
              </a:rPr>
              <a:t>r</a:t>
            </a:r>
            <a:r>
              <a:rPr lang="en-US" altLang="zh-CN" sz="2000" dirty="0">
                <a:latin typeface="Times New Roman" panose="02020603050405020304" pitchFamily="18" charset="0"/>
                <a:cs typeface="Times New Roman" panose="02020603050405020304" pitchFamily="18" charset="0"/>
              </a:rPr>
              <a:t> could be  58 times higher.</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9A87235C-D152-4909-AD68-2677E5B70B05}"/>
              </a:ext>
            </a:extLst>
          </p:cNvPr>
          <p:cNvSpPr>
            <a:spLocks noGrp="1" noChangeArrowheads="1"/>
          </p:cNvSpPr>
          <p:nvPr>
            <p:ph type="body" idx="1"/>
          </p:nvPr>
        </p:nvSpPr>
        <p:spPr>
          <a:xfrm>
            <a:off x="457200" y="692150"/>
            <a:ext cx="8229600" cy="5434013"/>
          </a:xfrm>
        </p:spPr>
        <p:txBody>
          <a:bodyPr/>
          <a:lstStyle/>
          <a:p>
            <a:pPr eaLnBrk="1" hangingPunct="1"/>
            <a:r>
              <a:rPr lang="en-US" altLang="zh-CN" sz="2200" dirty="0">
                <a:latin typeface="Times New Roman" panose="02020603050405020304" pitchFamily="18" charset="0"/>
              </a:rPr>
              <a:t>Human capital </a:t>
            </a:r>
            <a:r>
              <a:rPr lang="en-US" altLang="zh-CN" sz="2200" dirty="0" err="1">
                <a:latin typeface="Times New Roman" panose="02020603050405020304" pitchFamily="18" charset="0"/>
              </a:rPr>
              <a:t>v.s</a:t>
            </a:r>
            <a:r>
              <a:rPr lang="en-US" altLang="zh-CN" sz="2200" dirty="0">
                <a:latin typeface="Times New Roman" panose="02020603050405020304" pitchFamily="18" charset="0"/>
              </a:rPr>
              <a:t>. knowledge</a:t>
            </a:r>
            <a:endParaRPr lang="en-US" altLang="zh-CN" sz="2200" dirty="0"/>
          </a:p>
          <a:p>
            <a:pPr lvl="1" eaLnBrk="1" hangingPunct="1"/>
            <a:r>
              <a:rPr lang="en-US" altLang="zh-CN" sz="2200" dirty="0">
                <a:latin typeface="Times New Roman" panose="02020603050405020304" pitchFamily="18" charset="0"/>
              </a:rPr>
              <a:t>Human capital includes productive skills carried by human being.</a:t>
            </a:r>
            <a:endParaRPr lang="en-US" altLang="zh-CN" sz="2200" dirty="0"/>
          </a:p>
          <a:p>
            <a:pPr lvl="1" eaLnBrk="1" hangingPunct="1"/>
            <a:r>
              <a:rPr lang="en-US" altLang="zh-CN" sz="2200" dirty="0">
                <a:latin typeface="Times New Roman" panose="02020603050405020304" pitchFamily="18" charset="0"/>
              </a:rPr>
              <a:t>Knowledge is understanding, familiarity, or information gained by learning or experience. Knowledge can be stored in books, films, ……</a:t>
            </a:r>
          </a:p>
          <a:p>
            <a:pPr eaLnBrk="1" hangingPunct="1"/>
            <a:r>
              <a:rPr lang="en-US" altLang="zh-CN" sz="2200" dirty="0">
                <a:latin typeface="Times New Roman" panose="02020603050405020304" pitchFamily="18" charset="0"/>
              </a:rPr>
              <a:t>Barro (1990)</a:t>
            </a:r>
            <a:endParaRPr lang="en-US" altLang="zh-CN" sz="2200" dirty="0"/>
          </a:p>
          <a:p>
            <a:pPr lvl="1" eaLnBrk="1" hangingPunct="1"/>
            <a:r>
              <a:rPr lang="en-US" altLang="zh-CN" sz="2200" dirty="0">
                <a:latin typeface="Times New Roman" panose="02020603050405020304" pitchFamily="18" charset="0"/>
              </a:rPr>
              <a:t>Government can affect economic growth. Public infrastructure (roads, schools, hospital, communication systems, health care facilities) can be included in the growth equation to explain the Solow residual.</a:t>
            </a:r>
          </a:p>
          <a:p>
            <a:pPr lvl="1" eaLnBrk="1" hangingPunct="1">
              <a:buFontTx/>
              <a:buNone/>
            </a:pPr>
            <a:endParaRPr lang="en-US" altLang="zh-CN" sz="2200" dirty="0">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E5998487-E762-4072-9A87-CA4D8BB4282F}"/>
              </a:ext>
            </a:extLst>
          </p:cNvPr>
          <p:cNvSpPr>
            <a:spLocks noGrp="1" noChangeArrowheads="1"/>
          </p:cNvSpPr>
          <p:nvPr>
            <p:ph type="title"/>
          </p:nvPr>
        </p:nvSpPr>
        <p:spPr>
          <a:xfrm>
            <a:off x="179388" y="115888"/>
            <a:ext cx="8785225" cy="649287"/>
          </a:xfrm>
        </p:spPr>
        <p:txBody>
          <a:bodyPr/>
          <a:lstStyle/>
          <a:p>
            <a:r>
              <a:rPr lang="en-US" altLang="en-US" sz="2400">
                <a:latin typeface="Times New Roman" panose="02020603050405020304" pitchFamily="18" charset="0"/>
                <a:cs typeface="Times New Roman" panose="02020603050405020304" pitchFamily="18" charset="0"/>
              </a:rPr>
              <a:t>VII. Some Empirical Findings on Determinants of Economic Growth</a:t>
            </a:r>
          </a:p>
        </p:txBody>
      </p:sp>
      <p:sp>
        <p:nvSpPr>
          <p:cNvPr id="46083" name="Content Placeholder 2">
            <a:extLst>
              <a:ext uri="{FF2B5EF4-FFF2-40B4-BE49-F238E27FC236}">
                <a16:creationId xmlns:a16="http://schemas.microsoft.com/office/drawing/2014/main" id="{D505349B-34C7-4D04-96C3-8B0D0765CBDD}"/>
              </a:ext>
            </a:extLst>
          </p:cNvPr>
          <p:cNvSpPr>
            <a:spLocks noGrp="1"/>
          </p:cNvSpPr>
          <p:nvPr>
            <p:ph idx="1"/>
          </p:nvPr>
        </p:nvSpPr>
        <p:spPr>
          <a:xfrm>
            <a:off x="611188" y="836613"/>
            <a:ext cx="8229600" cy="4857750"/>
          </a:xfrm>
        </p:spPr>
        <p:txBody>
          <a:bodyPr/>
          <a:lstStyle/>
          <a:p>
            <a:pPr marL="0" indent="0">
              <a:buFontTx/>
              <a:buNone/>
              <a:defRPr/>
            </a:pPr>
            <a:r>
              <a:rPr lang="en-US" sz="2200" dirty="0">
                <a:latin typeface="Times New Roman" panose="02020603050405020304" pitchFamily="18" charset="0"/>
                <a:ea typeface="ＭＳ Ｐゴシック" panose="020B0600070205080204" pitchFamily="34" charset="-128"/>
                <a:cs typeface="Times New Roman" panose="02020603050405020304" pitchFamily="18" charset="0"/>
              </a:rPr>
              <a:t>Douglass North </a:t>
            </a:r>
            <a:r>
              <a:rPr lang="en-US" sz="2200" dirty="0">
                <a:latin typeface="Times New Roman" panose="02020603050405020304" pitchFamily="18" charset="0"/>
                <a:cs typeface="Times New Roman" panose="02020603050405020304" pitchFamily="18" charset="0"/>
              </a:rPr>
              <a:t>and Lance Davis (1970), </a:t>
            </a:r>
            <a:r>
              <a:rPr lang="en-US" sz="2200" i="1" dirty="0">
                <a:latin typeface="Times New Roman" panose="02020603050405020304" pitchFamily="18" charset="0"/>
                <a:cs typeface="Times New Roman" panose="02020603050405020304" pitchFamily="18" charset="0"/>
              </a:rPr>
              <a:t>Institutional Change and American Economic Growth</a:t>
            </a:r>
            <a:r>
              <a:rPr lang="en-US" sz="2200" dirty="0">
                <a:latin typeface="Times New Roman" panose="02020603050405020304" pitchFamily="18" charset="0"/>
                <a:cs typeface="Times New Roman" panose="02020603050405020304" pitchFamily="18" charset="0"/>
              </a:rPr>
              <a:t>;   North and Thomas (1973), </a:t>
            </a:r>
            <a:r>
              <a:rPr lang="en-US" sz="2200" i="1" dirty="0">
                <a:latin typeface="Times New Roman" panose="02020603050405020304" pitchFamily="18" charset="0"/>
                <a:cs typeface="Times New Roman" panose="02020603050405020304" pitchFamily="18" charset="0"/>
              </a:rPr>
              <a:t>The Rise of the Western World: A New Economic History</a:t>
            </a:r>
            <a:r>
              <a:rPr lang="en-US" sz="2200" dirty="0">
                <a:latin typeface="Times New Roman" panose="02020603050405020304" pitchFamily="18" charset="0"/>
                <a:cs typeface="Times New Roman" panose="02020603050405020304" pitchFamily="18" charset="0"/>
              </a:rPr>
              <a:t>. Cambridge, U.K.: Cambridge U. Press.</a:t>
            </a:r>
          </a:p>
          <a:p>
            <a:pPr eaLnBrk="1" hangingPunct="1">
              <a:spcBef>
                <a:spcPts val="1200"/>
              </a:spcBef>
              <a:defRPr/>
            </a:pPr>
            <a:r>
              <a:rPr lang="en-US" sz="2200" i="1" dirty="0">
                <a:latin typeface="Times New Roman" panose="02020603050405020304" pitchFamily="18" charset="0"/>
                <a:ea typeface="ＭＳ Ｐゴシック" panose="020B0600070205080204" pitchFamily="34" charset="-128"/>
                <a:cs typeface="Times New Roman" panose="02020603050405020304" pitchFamily="18" charset="0"/>
              </a:rPr>
              <a:t>Institutions </a:t>
            </a:r>
            <a:r>
              <a:rPr lang="en-US" sz="2200" dirty="0">
                <a:latin typeface="Times New Roman" panose="02020603050405020304" pitchFamily="18" charset="0"/>
                <a:ea typeface="ＭＳ Ｐゴシック" panose="020B0600070205080204" pitchFamily="34" charset="-128"/>
                <a:cs typeface="Times New Roman" panose="02020603050405020304" pitchFamily="18" charset="0"/>
              </a:rPr>
              <a:t>are key to understanding why some countries developed earlier than others.</a:t>
            </a:r>
          </a:p>
          <a:p>
            <a:pPr marL="0" indent="0">
              <a:buFontTx/>
              <a:buNone/>
              <a:defRPr/>
            </a:pPr>
            <a:r>
              <a:rPr lang="en-US" sz="2200" dirty="0">
                <a:latin typeface="Times New Roman" panose="02020603050405020304" pitchFamily="18" charset="0"/>
                <a:cs typeface="Times New Roman" panose="02020603050405020304" pitchFamily="18" charset="0"/>
              </a:rPr>
              <a:t>Daron </a:t>
            </a:r>
            <a:r>
              <a:rPr lang="en-US" sz="2200" dirty="0" err="1">
                <a:latin typeface="Times New Roman" panose="02020603050405020304" pitchFamily="18" charset="0"/>
                <a:cs typeface="Times New Roman" panose="02020603050405020304" pitchFamily="18" charset="0"/>
              </a:rPr>
              <a:t>Acemoglu</a:t>
            </a:r>
            <a:r>
              <a:rPr lang="en-US" sz="2200" dirty="0">
                <a:latin typeface="Times New Roman" panose="02020603050405020304" pitchFamily="18" charset="0"/>
                <a:cs typeface="Times New Roman" panose="02020603050405020304" pitchFamily="18" charset="0"/>
              </a:rPr>
              <a:t>, Simon Johnson, James Robinson (2001),</a:t>
            </a:r>
          </a:p>
          <a:p>
            <a:pPr marL="0" indent="0">
              <a:buFontTx/>
              <a:buNone/>
              <a:defRPr/>
            </a:pPr>
            <a:r>
              <a:rPr lang="en-US" sz="2200" i="1" dirty="0">
                <a:latin typeface="Times New Roman" panose="02020603050405020304" pitchFamily="18" charset="0"/>
                <a:cs typeface="Times New Roman" panose="02020603050405020304" pitchFamily="18" charset="0"/>
              </a:rPr>
              <a:t>“The Colonial Origins of Comparative Development: An Empirical Investigation</a:t>
            </a:r>
            <a:r>
              <a:rPr lang="en-US" sz="2200" dirty="0">
                <a:latin typeface="Times New Roman" panose="02020603050405020304" pitchFamily="18" charset="0"/>
                <a:cs typeface="Times New Roman" panose="02020603050405020304" pitchFamily="18" charset="0"/>
              </a:rPr>
              <a:t>,” American Economic Review</a:t>
            </a:r>
            <a:r>
              <a:rPr lang="en-US" sz="2200" i="1" dirty="0">
                <a:latin typeface="Times New Roman" panose="02020603050405020304" pitchFamily="18" charset="0"/>
                <a:cs typeface="Times New Roman" panose="02020603050405020304" pitchFamily="18" charset="0"/>
              </a:rPr>
              <a:t> </a:t>
            </a:r>
          </a:p>
          <a:p>
            <a:pPr>
              <a:defRPr/>
            </a:pPr>
            <a:r>
              <a:rPr lang="en-US" sz="2200" dirty="0">
                <a:latin typeface="Times New Roman" panose="02020603050405020304" pitchFamily="18" charset="0"/>
                <a:ea typeface="MS PGothic" panose="020B0600070205080204" pitchFamily="34" charset="-128"/>
                <a:cs typeface="Times New Roman" panose="02020603050405020304" pitchFamily="18" charset="0"/>
              </a:rPr>
              <a:t>Countries in which economic agents are better protected against the risk of expropriation, and indicator of the quality of institutions, have a higher level of economic development as measured by log GDP per capita.</a:t>
            </a:r>
          </a:p>
          <a:p>
            <a:pPr eaLnBrk="1" hangingPunct="1">
              <a:defRPr/>
            </a:pPr>
            <a:endParaRPr lang="en-US" sz="2200" dirty="0">
              <a:latin typeface="Times New Roman" panose="02020603050405020304" pitchFamily="18" charset="0"/>
              <a:ea typeface="MS PGothic" panose="020B0600070205080204" pitchFamily="34" charset="-128"/>
              <a:cs typeface="Times New Roman" panose="02020603050405020304" pitchFamily="18" charset="0"/>
            </a:endParaRPr>
          </a:p>
          <a:p>
            <a:pPr>
              <a:defRPr/>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CAF3832A-9874-48C0-AED3-9F33E4C8710A}"/>
              </a:ext>
            </a:extLst>
          </p:cNvPr>
          <p:cNvSpPr>
            <a:spLocks noGrp="1" noChangeArrowheads="1"/>
          </p:cNvSpPr>
          <p:nvPr>
            <p:ph type="title"/>
          </p:nvPr>
        </p:nvSpPr>
        <p:spPr>
          <a:xfrm>
            <a:off x="323850" y="341313"/>
            <a:ext cx="8229600" cy="1143000"/>
          </a:xfrm>
        </p:spPr>
        <p:txBody>
          <a:bodyPr/>
          <a:lstStyle/>
          <a:p>
            <a:pPr algn="l"/>
            <a:r>
              <a:rPr lang="en-US" altLang="en-US" sz="2200">
                <a:latin typeface="Times New Roman" panose="02020603050405020304" pitchFamily="18" charset="0"/>
                <a:cs typeface="Times New Roman" panose="02020603050405020304" pitchFamily="18" charset="0"/>
              </a:rPr>
              <a:t>John Luke Gallup, Jeffrey D. Sachs, and Andrew D. Mellinger,</a:t>
            </a:r>
            <a:br>
              <a:rPr lang="en-US" altLang="en-US" sz="22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Geography and Economic Development, </a:t>
            </a:r>
            <a:r>
              <a:rPr lang="en-US" altLang="en-US" sz="2200" i="1">
                <a:latin typeface="Times New Roman" panose="02020603050405020304" pitchFamily="18" charset="0"/>
                <a:cs typeface="Times New Roman" panose="02020603050405020304" pitchFamily="18" charset="0"/>
              </a:rPr>
              <a:t>International Regional Science Review (1999), </a:t>
            </a:r>
            <a:endParaRPr lang="en-US" altLang="en-US" sz="2200">
              <a:latin typeface="Times New Roman" panose="02020603050405020304" pitchFamily="18" charset="0"/>
              <a:cs typeface="Times New Roman" panose="02020603050405020304" pitchFamily="18" charset="0"/>
            </a:endParaRPr>
          </a:p>
        </p:txBody>
      </p:sp>
      <p:sp>
        <p:nvSpPr>
          <p:cNvPr id="40963" name="Content Placeholder 2">
            <a:extLst>
              <a:ext uri="{FF2B5EF4-FFF2-40B4-BE49-F238E27FC236}">
                <a16:creationId xmlns:a16="http://schemas.microsoft.com/office/drawing/2014/main" id="{3DA6D7EB-696F-4642-816A-6C171AB2E9E8}"/>
              </a:ext>
            </a:extLst>
          </p:cNvPr>
          <p:cNvSpPr>
            <a:spLocks noGrp="1" noChangeArrowheads="1"/>
          </p:cNvSpPr>
          <p:nvPr>
            <p:ph idx="1"/>
          </p:nvPr>
        </p:nvSpPr>
        <p:spPr>
          <a:xfrm>
            <a:off x="468313" y="1668463"/>
            <a:ext cx="8213725" cy="4784725"/>
          </a:xfrm>
        </p:spPr>
        <p:txBody>
          <a:bodyPr/>
          <a:lstStyle/>
          <a:p>
            <a:pPr eaLnBrk="1" hangingPunct="1"/>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Two geographic factors influencing growth: distance from the equator and geographical isolation</a:t>
            </a:r>
          </a:p>
          <a:p>
            <a:pPr eaLnBrk="1" hangingPunct="1">
              <a:spcBef>
                <a:spcPts val="12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Rich countries tend to be located in temperate zones, poor countries in the tropics:</a:t>
            </a:r>
          </a:p>
          <a:p>
            <a:pPr marL="639763" lvl="2" indent="-285750" eaLnBrk="1" hangingPunct="1">
              <a:spcBef>
                <a:spcPts val="4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tropical disease (malaria, sleeping sickness),</a:t>
            </a:r>
          </a:p>
          <a:p>
            <a:pPr marL="639763" lvl="2" indent="-285750" eaLnBrk="1" hangingPunct="1">
              <a:spcBef>
                <a:spcPts val="4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intense heat makes hard labor (farming, construction) difficult,</a:t>
            </a:r>
          </a:p>
          <a:p>
            <a:pPr marL="639763" lvl="2" indent="-285750" eaLnBrk="1" hangingPunct="1">
              <a:spcBef>
                <a:spcPts val="4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rainfall volatility affects agricultural productivity and flooding. </a:t>
            </a:r>
          </a:p>
          <a:p>
            <a:pPr eaLnBrk="1" hangingPunct="1">
              <a:spcBef>
                <a:spcPts val="12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Landlocked areas tend to be underdeveloped:</a:t>
            </a:r>
          </a:p>
          <a:p>
            <a:pPr marL="639763" lvl="2" indent="-285750" eaLnBrk="1" hangingPunct="1">
              <a:spcBef>
                <a:spcPts val="4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lower population density means less challenges and cooperation in using resources, </a:t>
            </a:r>
          </a:p>
          <a:p>
            <a:pPr marL="639763" lvl="2" indent="-285750" eaLnBrk="1" hangingPunct="1">
              <a:spcBef>
                <a:spcPts val="400"/>
              </a:spcBef>
            </a:pPr>
            <a:r>
              <a:rPr lang="en-US" altLang="en-US" sz="2200" dirty="0">
                <a:latin typeface="Times New Roman" panose="02020603050405020304" pitchFamily="18" charset="0"/>
                <a:ea typeface="MS PGothic" panose="020B0600070205080204" pitchFamily="34" charset="-128"/>
                <a:cs typeface="Times New Roman" panose="02020603050405020304" pitchFamily="18" charset="0"/>
              </a:rPr>
              <a:t>lack of access to trade and outside influences (e.g., high transportation cost).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BED11252-5D60-46CA-A2F4-677BDA2698AE}"/>
              </a:ext>
            </a:extLst>
          </p:cNvPr>
          <p:cNvSpPr>
            <a:spLocks noGrp="1" noChangeArrowheads="1"/>
          </p:cNvSpPr>
          <p:nvPr>
            <p:ph type="title"/>
          </p:nvPr>
        </p:nvSpPr>
        <p:spPr>
          <a:xfrm>
            <a:off x="179388" y="274638"/>
            <a:ext cx="8507412" cy="706437"/>
          </a:xfrm>
        </p:spPr>
        <p:txBody>
          <a:bodyPr/>
          <a:lstStyle/>
          <a:p>
            <a:pPr algn="l"/>
            <a:r>
              <a:rPr lang="en-US" altLang="en-US" sz="2400">
                <a:latin typeface="Times New Roman" panose="02020603050405020304" pitchFamily="18" charset="0"/>
                <a:cs typeface="Times New Roman" panose="02020603050405020304" pitchFamily="18" charset="0"/>
              </a:rPr>
              <a:t>Jeffrey D. Sachs and Andrew M. Warner (1997), Natural resource abundance and economic growth.</a:t>
            </a:r>
            <a:endParaRPr lang="en-US" altLang="en-US" sz="2200">
              <a:latin typeface="Times New Roman" panose="02020603050405020304" pitchFamily="18" charset="0"/>
              <a:cs typeface="Times New Roman" panose="02020603050405020304" pitchFamily="18" charset="0"/>
            </a:endParaRPr>
          </a:p>
        </p:txBody>
      </p:sp>
      <p:sp>
        <p:nvSpPr>
          <p:cNvPr id="41987" name="Content Placeholder 2">
            <a:extLst>
              <a:ext uri="{FF2B5EF4-FFF2-40B4-BE49-F238E27FC236}">
                <a16:creationId xmlns:a16="http://schemas.microsoft.com/office/drawing/2014/main" id="{BE1D0735-202E-4EAB-8C3E-DCD8700BC7C3}"/>
              </a:ext>
            </a:extLst>
          </p:cNvPr>
          <p:cNvSpPr>
            <a:spLocks noGrp="1" noChangeArrowheads="1"/>
          </p:cNvSpPr>
          <p:nvPr>
            <p:ph idx="1"/>
          </p:nvPr>
        </p:nvSpPr>
        <p:spPr>
          <a:xfrm>
            <a:off x="179388" y="1052513"/>
            <a:ext cx="8856662" cy="4857750"/>
          </a:xfrm>
        </p:spPr>
        <p:txBody>
          <a:bodyPr/>
          <a:lstStyle/>
          <a:p>
            <a:pPr>
              <a:spcBef>
                <a:spcPts val="1200"/>
              </a:spcBef>
            </a:pPr>
            <a:r>
              <a:rPr lang="en-US" altLang="en-US" sz="2200">
                <a:latin typeface="Times New Roman" panose="02020603050405020304" pitchFamily="18" charset="0"/>
                <a:cs typeface="Times New Roman" panose="02020603050405020304" pitchFamily="18" charset="0"/>
              </a:rPr>
              <a:t>One of the surprising features of modern economic growth is that economies abundant in natural resources have tended to grow slower than economies without substantial natural resources. </a:t>
            </a:r>
          </a:p>
          <a:p>
            <a:pPr>
              <a:spcBef>
                <a:spcPts val="1200"/>
              </a:spcBef>
            </a:pPr>
            <a:r>
              <a:rPr lang="en-US" altLang="en-US" sz="2200">
                <a:latin typeface="Times New Roman" panose="02020603050405020304" pitchFamily="18" charset="0"/>
                <a:cs typeface="Times New Roman" panose="02020603050405020304" pitchFamily="18" charset="0"/>
              </a:rPr>
              <a:t>Economies with a high ratio of natural resource exports to GDP in 1970 tended to grow slowly during the subsequent 20-year period 1970-1990. </a:t>
            </a:r>
          </a:p>
          <a:p>
            <a:pPr>
              <a:spcBef>
                <a:spcPts val="1200"/>
              </a:spcBef>
            </a:pPr>
            <a:r>
              <a:rPr lang="en-US" altLang="en-US" sz="2200">
                <a:latin typeface="Times New Roman" panose="02020603050405020304" pitchFamily="18" charset="0"/>
                <a:cs typeface="Times New Roman" panose="02020603050405020304" pitchFamily="18" charset="0"/>
              </a:rPr>
              <a:t>This negative relationship holds true even after controlling for many variables found to be important for economic growth by previous authors.</a:t>
            </a:r>
          </a:p>
          <a:p>
            <a:pPr>
              <a:spcBef>
                <a:spcPts val="1200"/>
              </a:spcBef>
            </a:pPr>
            <a:r>
              <a:rPr lang="en-US" altLang="en-US" sz="2200">
                <a:latin typeface="Times New Roman" panose="02020603050405020304" pitchFamily="18" charset="0"/>
                <a:cs typeface="Times New Roman" panose="02020603050405020304" pitchFamily="18" charset="0"/>
              </a:rPr>
              <a:t>In the 17th century, resource-poor Netherlands eclipsed Spain.  In the 19th and 20th centuries, resource-poor countries such as Switzerland and Japan surged ahead of resource abundant Russia.  In the past 30 years, the world’s star performers have been the resource-poor Korea, Taiwan, Hong Kong, Singapore -- while the oil-rich countries of Mexico, Nigeria, and Venezuela, have gone bankrupt.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3209AFB0-3A07-44E1-8B03-3B6E5DC48BE7}"/>
              </a:ext>
            </a:extLst>
          </p:cNvPr>
          <p:cNvSpPr>
            <a:spLocks noGrp="1" noChangeArrowheads="1"/>
          </p:cNvSpPr>
          <p:nvPr>
            <p:ph idx="1"/>
          </p:nvPr>
        </p:nvSpPr>
        <p:spPr>
          <a:xfrm>
            <a:off x="539750" y="260350"/>
            <a:ext cx="8147050" cy="5865813"/>
          </a:xfrm>
        </p:spPr>
        <p:txBody>
          <a:bodyPr/>
          <a:lstStyle/>
          <a:p>
            <a:pPr>
              <a:spcBef>
                <a:spcPts val="1200"/>
              </a:spcBef>
            </a:pPr>
            <a:r>
              <a:rPr lang="en-US" altLang="en-US" sz="2200" dirty="0">
                <a:latin typeface="Times New Roman" panose="02020603050405020304" pitchFamily="18" charset="0"/>
                <a:cs typeface="Times New Roman" panose="02020603050405020304" pitchFamily="18" charset="0"/>
              </a:rPr>
              <a:t>One early explanation of the phenomenon is social: that easy riches lead to sloth.  French political philosopher Jean </a:t>
            </a:r>
            <a:r>
              <a:rPr lang="en-US" altLang="en-US" sz="2200" dirty="0" err="1">
                <a:latin typeface="Times New Roman" panose="02020603050405020304" pitchFamily="18" charset="0"/>
                <a:cs typeface="Times New Roman" panose="02020603050405020304" pitchFamily="18" charset="0"/>
              </a:rPr>
              <a:t>Bodin</a:t>
            </a:r>
            <a:r>
              <a:rPr lang="en-US" altLang="en-US" sz="2200" dirty="0">
                <a:latin typeface="Times New Roman" panose="02020603050405020304" pitchFamily="18" charset="0"/>
                <a:cs typeface="Times New Roman" panose="02020603050405020304" pitchFamily="18" charset="0"/>
              </a:rPr>
              <a:t> [1576, reprinted 1962] claimed: </a:t>
            </a:r>
          </a:p>
          <a:p>
            <a:pPr lvl="1">
              <a:spcBef>
                <a:spcPts val="1200"/>
              </a:spcBef>
            </a:pPr>
            <a:r>
              <a:rPr lang="en-US" altLang="en-US" sz="1800" dirty="0">
                <a:latin typeface="Times New Roman" panose="02020603050405020304" pitchFamily="18" charset="0"/>
                <a:cs typeface="Times New Roman" panose="02020603050405020304" pitchFamily="18" charset="0"/>
              </a:rPr>
              <a:t>“</a:t>
            </a:r>
            <a:r>
              <a:rPr lang="en-US" altLang="en-US" sz="1800" i="1" dirty="0">
                <a:latin typeface="Times New Roman" panose="02020603050405020304" pitchFamily="18" charset="0"/>
                <a:cs typeface="Times New Roman" panose="02020603050405020304" pitchFamily="18" charset="0"/>
              </a:rPr>
              <a:t>men of a fat and fertile soil, are most commonly effeminate and cowards; whereas contrariwise a barren country make men temperate by necessity, and by consequence careful, vigilant, and industrious.</a:t>
            </a:r>
            <a:r>
              <a:rPr lang="en-US" altLang="en-US" sz="1800" dirty="0">
                <a:latin typeface="Times New Roman" panose="02020603050405020304" pitchFamily="18" charset="0"/>
                <a:cs typeface="Times New Roman" panose="02020603050405020304" pitchFamily="18" charset="0"/>
              </a:rPr>
              <a:t>”                           </a:t>
            </a:r>
          </a:p>
          <a:p>
            <a:pPr>
              <a:spcBef>
                <a:spcPts val="1200"/>
              </a:spcBef>
            </a:pPr>
            <a:r>
              <a:rPr lang="en-US" altLang="en-US" sz="2200" dirty="0">
                <a:latin typeface="Times New Roman" panose="02020603050405020304" pitchFamily="18" charset="0"/>
                <a:cs typeface="Times New Roman" panose="02020603050405020304" pitchFamily="18" charset="0"/>
              </a:rPr>
              <a:t>The Authors’ hypothesis:  </a:t>
            </a:r>
          </a:p>
          <a:p>
            <a:pPr lvl="1">
              <a:spcBef>
                <a:spcPts val="1200"/>
              </a:spcBef>
            </a:pPr>
            <a:r>
              <a:rPr lang="en-US" altLang="en-US" sz="1800" dirty="0">
                <a:latin typeface="Times New Roman" panose="02020603050405020304" pitchFamily="18" charset="0"/>
                <a:cs typeface="Times New Roman" panose="02020603050405020304" pitchFamily="18" charset="0"/>
              </a:rPr>
              <a:t>high natural resource abundance leads to increased rent-seeking, corruption, and poorer overall government efficiency; </a:t>
            </a:r>
          </a:p>
          <a:p>
            <a:pPr lvl="1">
              <a:spcBef>
                <a:spcPts val="1200"/>
              </a:spcBef>
            </a:pPr>
            <a:r>
              <a:rPr lang="en-US" altLang="en-US" sz="1800" dirty="0">
                <a:latin typeface="Times New Roman" panose="02020603050405020304" pitchFamily="18" charset="0"/>
                <a:cs typeface="Times New Roman" panose="02020603050405020304" pitchFamily="18" charset="0"/>
              </a:rPr>
              <a:t>encourages countries to pursue protectionist, state-led development strategies.</a:t>
            </a:r>
          </a:p>
          <a:p>
            <a:pPr>
              <a:spcBef>
                <a:spcPts val="1200"/>
              </a:spcBef>
            </a:pP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CCA4088E-F19D-45AB-9C2E-BB6AFC2826D4}"/>
              </a:ext>
            </a:extLst>
          </p:cNvPr>
          <p:cNvSpPr>
            <a:spLocks noGrp="1" noChangeArrowheads="1"/>
          </p:cNvSpPr>
          <p:nvPr>
            <p:ph type="body" idx="1"/>
          </p:nvPr>
        </p:nvSpPr>
        <p:spPr>
          <a:xfrm>
            <a:off x="323850" y="549275"/>
            <a:ext cx="8362950" cy="5576888"/>
          </a:xfrm>
        </p:spPr>
        <p:txBody>
          <a:bodyPr/>
          <a:lstStyle/>
          <a:p>
            <a:pPr marL="617537" indent="-457200" eaLnBrk="1" hangingPunct="1">
              <a:defRPr/>
            </a:pPr>
            <a:r>
              <a:rPr lang="en-US" altLang="zh-CN" sz="2400" dirty="0">
                <a:latin typeface="Times New Roman" panose="02020603050405020304" pitchFamily="18" charset="0"/>
              </a:rPr>
              <a:t>Factors Affecting Economic Development</a:t>
            </a:r>
          </a:p>
          <a:p>
            <a:pPr indent="-182563" eaLnBrk="1" hangingPunct="1">
              <a:spcBef>
                <a:spcPts val="1200"/>
              </a:spcBef>
              <a:buFontTx/>
              <a:buNone/>
              <a:defRPr/>
            </a:pPr>
            <a:r>
              <a:rPr lang="en-US" altLang="zh-CN" sz="2000" dirty="0">
                <a:latin typeface="Times New Roman" panose="02020603050405020304" pitchFamily="18" charset="0"/>
              </a:rPr>
              <a:t>   1. Investment in Physical Capital</a:t>
            </a:r>
          </a:p>
          <a:p>
            <a:pPr indent="-182563" eaLnBrk="1" hangingPunct="1">
              <a:spcBef>
                <a:spcPts val="1200"/>
              </a:spcBef>
              <a:buFontTx/>
              <a:buNone/>
              <a:defRPr/>
            </a:pPr>
            <a:r>
              <a:rPr lang="en-US" altLang="zh-CN" sz="2000" dirty="0">
                <a:latin typeface="Times New Roman" panose="02020603050405020304" pitchFamily="18" charset="0"/>
              </a:rPr>
              <a:t>   2. Investment in Human Capital </a:t>
            </a:r>
          </a:p>
          <a:p>
            <a:pPr indent="-182563" eaLnBrk="1" hangingPunct="1">
              <a:spcBef>
                <a:spcPts val="1200"/>
              </a:spcBef>
              <a:buFontTx/>
              <a:buNone/>
              <a:defRPr/>
            </a:pPr>
            <a:r>
              <a:rPr lang="en-US" altLang="zh-CN" sz="2000" dirty="0">
                <a:latin typeface="Times New Roman" panose="02020603050405020304" pitchFamily="18" charset="0"/>
              </a:rPr>
              <a:t>   3. Openness (Export)</a:t>
            </a:r>
          </a:p>
          <a:p>
            <a:pPr indent="-182563" eaLnBrk="1" hangingPunct="1">
              <a:spcBef>
                <a:spcPts val="1200"/>
              </a:spcBef>
              <a:buFontTx/>
              <a:buNone/>
              <a:defRPr/>
            </a:pPr>
            <a:r>
              <a:rPr lang="en-US" altLang="zh-CN" sz="2000" dirty="0">
                <a:latin typeface="Times New Roman" panose="02020603050405020304" pitchFamily="18" charset="0"/>
              </a:rPr>
              <a:t>   4. Government Size: </a:t>
            </a:r>
          </a:p>
          <a:p>
            <a:pPr indent="-182563" eaLnBrk="1" hangingPunct="1">
              <a:spcBef>
                <a:spcPts val="1200"/>
              </a:spcBef>
              <a:buFontTx/>
              <a:buNone/>
              <a:defRPr/>
            </a:pPr>
            <a:r>
              <a:rPr lang="en-US" altLang="zh-CN" sz="2000" dirty="0">
                <a:latin typeface="Times New Roman" panose="02020603050405020304" pitchFamily="18" charset="0"/>
              </a:rPr>
              <a:t>   5. Population Growth</a:t>
            </a:r>
          </a:p>
          <a:p>
            <a:pPr indent="-182563" eaLnBrk="1" hangingPunct="1">
              <a:spcBef>
                <a:spcPts val="1200"/>
              </a:spcBef>
              <a:buFontTx/>
              <a:buNone/>
              <a:defRPr/>
            </a:pPr>
            <a:r>
              <a:rPr lang="en-US" altLang="zh-CN" sz="2000" dirty="0">
                <a:latin typeface="Times New Roman" panose="02020603050405020304" pitchFamily="18" charset="0"/>
              </a:rPr>
              <a:t>   6. Fiscal &amp; Monetary Policies</a:t>
            </a:r>
          </a:p>
          <a:p>
            <a:pPr indent="-182563" eaLnBrk="1" hangingPunct="1">
              <a:spcBef>
                <a:spcPts val="1200"/>
              </a:spcBef>
              <a:buFontTx/>
              <a:buNone/>
              <a:defRPr/>
            </a:pPr>
            <a:r>
              <a:rPr lang="en-US" altLang="zh-CN" sz="2000" dirty="0">
                <a:latin typeface="Times New Roman" panose="02020603050405020304" pitchFamily="18" charset="0"/>
              </a:rPr>
              <a:t>   7. Resource Allocation</a:t>
            </a:r>
          </a:p>
          <a:p>
            <a:pPr indent="-182563" eaLnBrk="1" hangingPunct="1">
              <a:spcBef>
                <a:spcPts val="1200"/>
              </a:spcBef>
              <a:buFontTx/>
              <a:buNone/>
              <a:defRPr/>
            </a:pPr>
            <a:r>
              <a:rPr lang="en-US" altLang="zh-CN" sz="2000" dirty="0">
                <a:latin typeface="Times New Roman" panose="02020603050405020304" pitchFamily="18" charset="0"/>
              </a:rPr>
              <a:t>   8. Political Stability</a:t>
            </a:r>
          </a:p>
          <a:p>
            <a:pPr indent="-182563" eaLnBrk="1" hangingPunct="1">
              <a:spcBef>
                <a:spcPts val="1200"/>
              </a:spcBef>
              <a:buFontTx/>
              <a:buNone/>
              <a:defRPr/>
            </a:pPr>
            <a:r>
              <a:rPr lang="en-US" altLang="zh-CN" sz="2000" dirty="0">
                <a:latin typeface="Times New Roman" panose="02020603050405020304" pitchFamily="18" charset="0"/>
              </a:rPr>
              <a:t>   9. Culture</a:t>
            </a:r>
          </a:p>
          <a:p>
            <a:pPr indent="-182563" eaLnBrk="1" hangingPunct="1">
              <a:spcBef>
                <a:spcPts val="1200"/>
              </a:spcBef>
              <a:buFontTx/>
              <a:buNone/>
              <a:defRPr/>
            </a:pPr>
            <a:r>
              <a:rPr lang="en-US" altLang="zh-CN" sz="2000" dirty="0">
                <a:latin typeface="Times New Roman" panose="02020603050405020304" pitchFamily="18" charset="0"/>
              </a:rPr>
              <a:t>  10. Geography</a:t>
            </a:r>
            <a:endParaRPr lang="en-US" altLang="zh-CN" sz="2000" dirty="0"/>
          </a:p>
          <a:p>
            <a:pPr lvl="1" eaLnBrk="1" hangingPunct="1">
              <a:defRPr/>
            </a:pPr>
            <a:r>
              <a:rPr lang="en-US" altLang="zh-CN" sz="2000" dirty="0">
                <a:latin typeface="Times New Roman" panose="02020603050405020304" pitchFamily="18" charset="0"/>
              </a:rPr>
              <a:t>To grow fast, every part of the economy must function well.</a:t>
            </a:r>
          </a:p>
        </p:txBody>
      </p:sp>
      <p:graphicFrame>
        <p:nvGraphicFramePr>
          <p:cNvPr id="44035" name="Object 17">
            <a:extLst>
              <a:ext uri="{FF2B5EF4-FFF2-40B4-BE49-F238E27FC236}">
                <a16:creationId xmlns:a16="http://schemas.microsoft.com/office/drawing/2014/main" id="{CD5FEB42-AEC0-416A-9EAC-E1DBF3FE5346}"/>
              </a:ext>
            </a:extLst>
          </p:cNvPr>
          <p:cNvGraphicFramePr>
            <a:graphicFrameLocks noChangeAspect="1"/>
          </p:cNvGraphicFramePr>
          <p:nvPr>
            <p:extLst>
              <p:ext uri="{D42A27DB-BD31-4B8C-83A1-F6EECF244321}">
                <p14:modId xmlns:p14="http://schemas.microsoft.com/office/powerpoint/2010/main" val="1386026461"/>
              </p:ext>
            </p:extLst>
          </p:nvPr>
        </p:nvGraphicFramePr>
        <p:xfrm>
          <a:off x="2919663" y="2447553"/>
          <a:ext cx="500210" cy="432049"/>
        </p:xfrm>
        <a:graphic>
          <a:graphicData uri="http://schemas.openxmlformats.org/presentationml/2006/ole">
            <mc:AlternateContent xmlns:mc="http://schemas.openxmlformats.org/markup-compatibility/2006">
              <mc:Choice xmlns:v="urn:schemas-microsoft-com:vml" Requires="v">
                <p:oleObj name="Equation" r:id="rId3" imgW="380835" imgH="393529" progId="Equation.DSMT4">
                  <p:embed/>
                </p:oleObj>
              </mc:Choice>
              <mc:Fallback>
                <p:oleObj name="Equation" r:id="rId3" imgW="380835" imgH="393529" progId="Equation.DSMT4">
                  <p:embed/>
                  <p:pic>
                    <p:nvPicPr>
                      <p:cNvPr id="44035" name="Object 17">
                        <a:extLst>
                          <a:ext uri="{FF2B5EF4-FFF2-40B4-BE49-F238E27FC236}">
                            <a16:creationId xmlns:a16="http://schemas.microsoft.com/office/drawing/2014/main" id="{CD5FEB42-AEC0-416A-9EAC-E1DBF3FE53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663" y="2447553"/>
                        <a:ext cx="500210" cy="432049"/>
                      </a:xfrm>
                      <a:prstGeom prst="rect">
                        <a:avLst/>
                      </a:prstGeom>
                      <a:noFill/>
                      <a:ln>
                        <a:noFill/>
                      </a:ln>
                      <a:effec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a:extLst>
              <a:ext uri="{FF2B5EF4-FFF2-40B4-BE49-F238E27FC236}">
                <a16:creationId xmlns:a16="http://schemas.microsoft.com/office/drawing/2014/main" id="{817818DC-FBD7-4D92-8B67-FB89F5037BB9}"/>
              </a:ext>
            </a:extLst>
          </p:cNvPr>
          <p:cNvSpPr>
            <a:spLocks noGrp="1" noChangeArrowheads="1"/>
          </p:cNvSpPr>
          <p:nvPr>
            <p:ph type="title" idx="4294967295"/>
          </p:nvPr>
        </p:nvSpPr>
        <p:spPr>
          <a:xfrm>
            <a:off x="107950" y="44450"/>
            <a:ext cx="8856663" cy="720725"/>
          </a:xfrm>
        </p:spPr>
        <p:txBody>
          <a:bodyPr/>
          <a:lstStyle/>
          <a:p>
            <a:pPr algn="l"/>
            <a:r>
              <a:rPr lang="en-US" altLang="zh-CN" sz="2400">
                <a:solidFill>
                  <a:schemeClr val="tx1"/>
                </a:solidFill>
                <a:latin typeface="Times New Roman" panose="02020603050405020304" pitchFamily="18" charset="0"/>
                <a:cs typeface="Times New Roman" panose="02020603050405020304" pitchFamily="18" charset="0"/>
              </a:rPr>
              <a:t>VII. How Long it will Take for a Poor Country Catch Up with a Rich</a:t>
            </a:r>
            <a:endParaRPr lang="en-GB" altLang="zh-CN" sz="2400">
              <a:solidFill>
                <a:schemeClr val="tx1"/>
              </a:solidFill>
              <a:latin typeface="Times New Roman" panose="02020603050405020304" pitchFamily="18" charset="0"/>
              <a:cs typeface="Times New Roman" panose="02020603050405020304" pitchFamily="18" charset="0"/>
            </a:endParaRPr>
          </a:p>
        </p:txBody>
      </p:sp>
      <p:sp>
        <p:nvSpPr>
          <p:cNvPr id="3095" name="Freeform 23">
            <a:extLst>
              <a:ext uri="{FF2B5EF4-FFF2-40B4-BE49-F238E27FC236}">
                <a16:creationId xmlns:a16="http://schemas.microsoft.com/office/drawing/2014/main" id="{A3FD57D0-21D3-4AB9-961C-916100E1909C}"/>
              </a:ext>
            </a:extLst>
          </p:cNvPr>
          <p:cNvSpPr>
            <a:spLocks/>
          </p:cNvSpPr>
          <p:nvPr/>
        </p:nvSpPr>
        <p:spPr bwMode="auto">
          <a:xfrm rot="1852431">
            <a:off x="120650" y="4298950"/>
            <a:ext cx="615950" cy="539750"/>
          </a:xfrm>
          <a:custGeom>
            <a:avLst/>
            <a:gdLst>
              <a:gd name="T0" fmla="*/ 2147483646 w 719"/>
              <a:gd name="T1" fmla="*/ 2147483646 h 630"/>
              <a:gd name="T2" fmla="*/ 2147483646 w 719"/>
              <a:gd name="T3" fmla="*/ 2147483646 h 630"/>
              <a:gd name="T4" fmla="*/ 2147483646 w 719"/>
              <a:gd name="T5" fmla="*/ 2147483646 h 630"/>
              <a:gd name="T6" fmla="*/ 0 w 719"/>
              <a:gd name="T7" fmla="*/ 2147483646 h 630"/>
              <a:gd name="T8" fmla="*/ 0 w 719"/>
              <a:gd name="T9" fmla="*/ 2147483646 h 630"/>
              <a:gd name="T10" fmla="*/ 2147483646 w 719"/>
              <a:gd name="T11" fmla="*/ 2147483646 h 630"/>
              <a:gd name="T12" fmla="*/ 2147483646 w 719"/>
              <a:gd name="T13" fmla="*/ 0 h 630"/>
              <a:gd name="T14" fmla="*/ 2147483646 w 719"/>
              <a:gd name="T15" fmla="*/ 0 h 630"/>
              <a:gd name="T16" fmla="*/ 2147483646 w 719"/>
              <a:gd name="T17" fmla="*/ 2147483646 h 630"/>
              <a:gd name="T18" fmla="*/ 2147483646 w 719"/>
              <a:gd name="T19" fmla="*/ 2147483646 h 6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9"/>
              <a:gd name="T31" fmla="*/ 0 h 630"/>
              <a:gd name="T32" fmla="*/ 719 w 719"/>
              <a:gd name="T33" fmla="*/ 630 h 6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9" h="630">
                <a:moveTo>
                  <a:pt x="402" y="630"/>
                </a:moveTo>
                <a:lnTo>
                  <a:pt x="280" y="630"/>
                </a:lnTo>
                <a:lnTo>
                  <a:pt x="548" y="351"/>
                </a:lnTo>
                <a:lnTo>
                  <a:pt x="0" y="351"/>
                </a:lnTo>
                <a:lnTo>
                  <a:pt x="0" y="266"/>
                </a:lnTo>
                <a:lnTo>
                  <a:pt x="548" y="266"/>
                </a:lnTo>
                <a:lnTo>
                  <a:pt x="280" y="0"/>
                </a:lnTo>
                <a:lnTo>
                  <a:pt x="402" y="0"/>
                </a:lnTo>
                <a:lnTo>
                  <a:pt x="719" y="315"/>
                </a:lnTo>
                <a:lnTo>
                  <a:pt x="402" y="6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矩形 5">
            <a:extLst>
              <a:ext uri="{FF2B5EF4-FFF2-40B4-BE49-F238E27FC236}">
                <a16:creationId xmlns:a16="http://schemas.microsoft.com/office/drawing/2014/main" id="{C16BA3E6-67C9-4370-AA0F-1E53F367F873}"/>
              </a:ext>
            </a:extLst>
          </p:cNvPr>
          <p:cNvSpPr>
            <a:spLocks noChangeArrowheads="1"/>
          </p:cNvSpPr>
          <p:nvPr/>
        </p:nvSpPr>
        <p:spPr bwMode="auto">
          <a:xfrm>
            <a:off x="395288" y="908050"/>
            <a:ext cx="8497887"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solidFill>
                  <a:srgbClr val="C00000"/>
                </a:solidFill>
                <a:latin typeface="Times New Roman" panose="02020603050405020304" pitchFamily="18" charset="0"/>
                <a:cs typeface="Times New Roman" panose="02020603050405020304" pitchFamily="18" charset="0"/>
              </a:rPr>
              <a:t>China and the US:</a:t>
            </a:r>
          </a:p>
          <a:p>
            <a:pPr eaLnBrk="1" hangingPunct="1">
              <a:spcBef>
                <a:spcPct val="0"/>
              </a:spcBef>
              <a:buFontTx/>
              <a:buNone/>
            </a:pPr>
            <a:r>
              <a:rPr lang="en-US" altLang="zh-CN" sz="2200">
                <a:solidFill>
                  <a:srgbClr val="C00000"/>
                </a:solidFill>
                <a:latin typeface="Times New Roman" panose="02020603050405020304" pitchFamily="18" charset="0"/>
                <a:cs typeface="Times New Roman" panose="02020603050405020304" pitchFamily="18" charset="0"/>
              </a:rPr>
              <a:t>Total GDP</a:t>
            </a:r>
          </a:p>
          <a:p>
            <a:pPr eaLnBrk="1" hangingPunct="1">
              <a:spcBef>
                <a:spcPct val="0"/>
              </a:spcBef>
              <a:buFontTx/>
              <a:buNone/>
            </a:pPr>
            <a:r>
              <a:rPr lang="en-US" altLang="zh-CN" sz="2200">
                <a:latin typeface="Times New Roman" panose="02020603050405020304" pitchFamily="18" charset="0"/>
                <a:cs typeface="Times New Roman" panose="02020603050405020304" pitchFamily="18" charset="0"/>
              </a:rPr>
              <a:t>In 2011, total GDP was $7.298 trillion in China based on the official exchange rate, and it was $15.094 trillion in the United States.</a:t>
            </a:r>
            <a:endParaRPr lang="zh-CN" altLang="en-US" sz="220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716EC602-E6C2-4AC9-87A5-BEA4BD4CFCB9}"/>
              </a:ext>
            </a:extLst>
          </p:cNvPr>
          <p:cNvSpPr>
            <a:spLocks noChangeArrowheads="1"/>
          </p:cNvSpPr>
          <p:nvPr/>
        </p:nvSpPr>
        <p:spPr bwMode="auto">
          <a:xfrm>
            <a:off x="860425" y="2276475"/>
            <a:ext cx="80327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000"/>
              <a:t> </a:t>
            </a:r>
            <a:r>
              <a:rPr lang="en-US" altLang="zh-CN" sz="2000" i="1"/>
              <a:t>t</a:t>
            </a:r>
            <a:r>
              <a:rPr lang="en-US" altLang="zh-CN" sz="2000"/>
              <a:t> :the number of years it will take to for China to catch the United States </a:t>
            </a:r>
          </a:p>
          <a:p>
            <a:pPr eaLnBrk="1" hangingPunct="1">
              <a:spcBef>
                <a:spcPct val="0"/>
              </a:spcBef>
              <a:buFontTx/>
              <a:buNone/>
            </a:pPr>
            <a:r>
              <a:rPr lang="en-US" altLang="zh-CN" sz="2000"/>
              <a:t> γ : the growth rate of GDP in China</a:t>
            </a:r>
          </a:p>
          <a:p>
            <a:pPr eaLnBrk="1" hangingPunct="1">
              <a:spcBef>
                <a:spcPct val="0"/>
              </a:spcBef>
              <a:buFontTx/>
              <a:buNone/>
            </a:pPr>
            <a:r>
              <a:rPr lang="en-US" altLang="zh-CN" sz="2000"/>
              <a:t>φ : the growth rate in the United States</a:t>
            </a:r>
            <a:endParaRPr lang="zh-CN" altLang="en-US" sz="2000"/>
          </a:p>
        </p:txBody>
      </p:sp>
      <p:sp>
        <p:nvSpPr>
          <p:cNvPr id="8" name="TextBox 7">
            <a:extLst>
              <a:ext uri="{FF2B5EF4-FFF2-40B4-BE49-F238E27FC236}">
                <a16:creationId xmlns:a16="http://schemas.microsoft.com/office/drawing/2014/main" id="{81785FBE-7619-4055-8DCC-C6E2EC529B2D}"/>
              </a:ext>
            </a:extLst>
          </p:cNvPr>
          <p:cNvSpPr txBox="1">
            <a:spLocks noRot="1" noChangeAspect="1" noMove="1" noResize="1" noEditPoints="1" noAdjustHandles="1" noChangeArrowheads="1" noChangeShapeType="1" noTextEdit="1"/>
          </p:cNvSpPr>
          <p:nvPr/>
        </p:nvSpPr>
        <p:spPr>
          <a:xfrm>
            <a:off x="1043608" y="3804888"/>
            <a:ext cx="2786725" cy="468205"/>
          </a:xfrm>
          <a:prstGeom prst="rect">
            <a:avLst/>
          </a:prstGeom>
          <a:blipFill rotWithShape="1">
            <a:blip r:embed="rId2"/>
            <a:stretch>
              <a:fillRect l="-3282" t="-7792" r="-4814" b="-29870"/>
            </a:stretch>
          </a:blipFill>
        </p:spPr>
        <p:txBody>
          <a:bodyPr/>
          <a:lstStyle/>
          <a:p>
            <a:pPr eaLnBrk="1" hangingPunct="1">
              <a:defRPr/>
            </a:pPr>
            <a:r>
              <a:rPr lang="en-US" dirty="0">
                <a:ln w="3175"/>
                <a:effectLst>
                  <a:outerShdw blurRad="38100" dist="19050" dir="2700000" algn="tl" rotWithShape="0">
                    <a:schemeClr val="dk1">
                      <a:alpha val="40000"/>
                    </a:schemeClr>
                  </a:outerShdw>
                </a:effectLst>
              </a:rPr>
              <a:t> </a:t>
            </a:r>
          </a:p>
        </p:txBody>
      </p:sp>
      <p:graphicFrame>
        <p:nvGraphicFramePr>
          <p:cNvPr id="9" name="表格 8">
            <a:extLst>
              <a:ext uri="{FF2B5EF4-FFF2-40B4-BE49-F238E27FC236}">
                <a16:creationId xmlns:a16="http://schemas.microsoft.com/office/drawing/2014/main" id="{AF764A4B-7D30-486F-A4AA-B74ABB07E7F6}"/>
              </a:ext>
            </a:extLst>
          </p:cNvPr>
          <p:cNvGraphicFramePr>
            <a:graphicFrameLocks noGrp="1"/>
          </p:cNvGraphicFramePr>
          <p:nvPr/>
        </p:nvGraphicFramePr>
        <p:xfrm>
          <a:off x="428625" y="4606925"/>
          <a:ext cx="7527925" cy="1524000"/>
        </p:xfrm>
        <a:graphic>
          <a:graphicData uri="http://schemas.openxmlformats.org/drawingml/2006/table">
            <a:tbl>
              <a:tblPr/>
              <a:tblGrid>
                <a:gridCol w="3351213">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2509837">
                  <a:extLst>
                    <a:ext uri="{9D8B030D-6E8A-4147-A177-3AD203B41FA5}">
                      <a16:colId xmlns:a16="http://schemas.microsoft.com/office/drawing/2014/main" val="20002"/>
                    </a:ext>
                  </a:extLst>
                </a:gridCol>
              </a:tblGrid>
              <a:tr h="371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US growth rate φ</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China growth rate γ</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1"/>
                  </a:ext>
                </a:extLst>
              </a:tr>
              <a:tr h="371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Time needed to catch up t</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14.5 years</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18.17 years</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Year</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2026</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2030</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7" presetClass="entr" presetSubtype="0" fill="hold" nodeType="clickEffect">
                                  <p:stCondLst>
                                    <p:cond delay="0"/>
                                  </p:stCondLst>
                                  <p:childTnLst>
                                    <p:set>
                                      <p:cBhvr>
                                        <p:cTn id="37" dur="1" fill="hold">
                                          <p:stCondLst>
                                            <p:cond delay="0"/>
                                          </p:stCondLst>
                                        </p:cTn>
                                        <p:tgtEl>
                                          <p:spTgt spid="3095"/>
                                        </p:tgtEl>
                                        <p:attrNameLst>
                                          <p:attrName>style.visibility</p:attrName>
                                        </p:attrNameLst>
                                      </p:cBhvr>
                                      <p:to>
                                        <p:strVal val="visible"/>
                                      </p:to>
                                    </p:set>
                                    <p:animEffect transition="in" filter="fade">
                                      <p:cBhvr>
                                        <p:cTn id="38" dur="1000"/>
                                        <p:tgtEl>
                                          <p:spTgt spid="3095"/>
                                        </p:tgtEl>
                                      </p:cBhvr>
                                    </p:animEffect>
                                    <p:anim calcmode="lin" valueType="num">
                                      <p:cBhvr>
                                        <p:cTn id="39" dur="1000" fill="hold"/>
                                        <p:tgtEl>
                                          <p:spTgt spid="3095"/>
                                        </p:tgtEl>
                                        <p:attrNameLst>
                                          <p:attrName>ppt_x</p:attrName>
                                        </p:attrNameLst>
                                      </p:cBhvr>
                                      <p:tavLst>
                                        <p:tav tm="0">
                                          <p:val>
                                            <p:strVal val="#ppt_x"/>
                                          </p:val>
                                        </p:tav>
                                        <p:tav tm="100000">
                                          <p:val>
                                            <p:strVal val="#ppt_x"/>
                                          </p:val>
                                        </p:tav>
                                      </p:tavLst>
                                    </p:anim>
                                    <p:anim calcmode="lin" valueType="num">
                                      <p:cBhvr>
                                        <p:cTn id="40" dur="1000" fill="hold"/>
                                        <p:tgtEl>
                                          <p:spTgt spid="3095"/>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42"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1000"/>
                                        <p:tgtEl>
                                          <p:spTgt spid="9"/>
                                        </p:tgtEl>
                                      </p:cBhvr>
                                    </p:animEffect>
                                    <p:anim calcmode="lin" valueType="num">
                                      <p:cBhvr>
                                        <p:cTn id="46" dur="1000" fill="hold"/>
                                        <p:tgtEl>
                                          <p:spTgt spid="9"/>
                                        </p:tgtEl>
                                        <p:attrNameLst>
                                          <p:attrName>ppt_x</p:attrName>
                                        </p:attrNameLst>
                                      </p:cBhvr>
                                      <p:tavLst>
                                        <p:tav tm="0">
                                          <p:val>
                                            <p:strVal val="#ppt_x"/>
                                          </p:val>
                                        </p:tav>
                                        <p:tav tm="100000">
                                          <p:val>
                                            <p:strVal val="#ppt_x"/>
                                          </p:val>
                                        </p:tav>
                                      </p:tavLst>
                                    </p:anim>
                                    <p:anim calcmode="lin" valueType="num">
                                      <p:cBhvr>
                                        <p:cTn id="4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5" name="Freeform 23">
            <a:extLst>
              <a:ext uri="{FF2B5EF4-FFF2-40B4-BE49-F238E27FC236}">
                <a16:creationId xmlns:a16="http://schemas.microsoft.com/office/drawing/2014/main" id="{D12689FA-EF02-4659-87D0-FC0AF3D4B58B}"/>
              </a:ext>
            </a:extLst>
          </p:cNvPr>
          <p:cNvSpPr>
            <a:spLocks/>
          </p:cNvSpPr>
          <p:nvPr/>
        </p:nvSpPr>
        <p:spPr bwMode="auto">
          <a:xfrm rot="1852431">
            <a:off x="120650" y="4298950"/>
            <a:ext cx="615950" cy="539750"/>
          </a:xfrm>
          <a:custGeom>
            <a:avLst/>
            <a:gdLst>
              <a:gd name="T0" fmla="*/ 2147483646 w 719"/>
              <a:gd name="T1" fmla="*/ 2147483646 h 630"/>
              <a:gd name="T2" fmla="*/ 2147483646 w 719"/>
              <a:gd name="T3" fmla="*/ 2147483646 h 630"/>
              <a:gd name="T4" fmla="*/ 2147483646 w 719"/>
              <a:gd name="T5" fmla="*/ 2147483646 h 630"/>
              <a:gd name="T6" fmla="*/ 0 w 719"/>
              <a:gd name="T7" fmla="*/ 2147483646 h 630"/>
              <a:gd name="T8" fmla="*/ 0 w 719"/>
              <a:gd name="T9" fmla="*/ 2147483646 h 630"/>
              <a:gd name="T10" fmla="*/ 2147483646 w 719"/>
              <a:gd name="T11" fmla="*/ 2147483646 h 630"/>
              <a:gd name="T12" fmla="*/ 2147483646 w 719"/>
              <a:gd name="T13" fmla="*/ 0 h 630"/>
              <a:gd name="T14" fmla="*/ 2147483646 w 719"/>
              <a:gd name="T15" fmla="*/ 0 h 630"/>
              <a:gd name="T16" fmla="*/ 2147483646 w 719"/>
              <a:gd name="T17" fmla="*/ 2147483646 h 630"/>
              <a:gd name="T18" fmla="*/ 2147483646 w 719"/>
              <a:gd name="T19" fmla="*/ 2147483646 h 6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9"/>
              <a:gd name="T31" fmla="*/ 0 h 630"/>
              <a:gd name="T32" fmla="*/ 719 w 719"/>
              <a:gd name="T33" fmla="*/ 630 h 6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9" h="630">
                <a:moveTo>
                  <a:pt x="402" y="630"/>
                </a:moveTo>
                <a:lnTo>
                  <a:pt x="280" y="630"/>
                </a:lnTo>
                <a:lnTo>
                  <a:pt x="548" y="351"/>
                </a:lnTo>
                <a:lnTo>
                  <a:pt x="0" y="351"/>
                </a:lnTo>
                <a:lnTo>
                  <a:pt x="0" y="266"/>
                </a:lnTo>
                <a:lnTo>
                  <a:pt x="548" y="266"/>
                </a:lnTo>
                <a:lnTo>
                  <a:pt x="280" y="0"/>
                </a:lnTo>
                <a:lnTo>
                  <a:pt x="402" y="0"/>
                </a:lnTo>
                <a:lnTo>
                  <a:pt x="719" y="315"/>
                </a:lnTo>
                <a:lnTo>
                  <a:pt x="402" y="6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083" name="矩形 5">
            <a:extLst>
              <a:ext uri="{FF2B5EF4-FFF2-40B4-BE49-F238E27FC236}">
                <a16:creationId xmlns:a16="http://schemas.microsoft.com/office/drawing/2014/main" id="{AAF46265-F75A-497A-B65E-D9C32C372745}"/>
              </a:ext>
            </a:extLst>
          </p:cNvPr>
          <p:cNvSpPr>
            <a:spLocks noChangeArrowheads="1"/>
          </p:cNvSpPr>
          <p:nvPr/>
        </p:nvSpPr>
        <p:spPr bwMode="auto">
          <a:xfrm>
            <a:off x="828675" y="476250"/>
            <a:ext cx="80660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dirty="0">
                <a:solidFill>
                  <a:srgbClr val="C00000"/>
                </a:solidFill>
                <a:latin typeface="Times New Roman" panose="02020603050405020304" pitchFamily="18" charset="0"/>
                <a:cs typeface="Times New Roman" panose="02020603050405020304" pitchFamily="18" charset="0"/>
              </a:rPr>
              <a:t>Per capita GDP</a:t>
            </a:r>
          </a:p>
          <a:p>
            <a:pPr eaLnBrk="1" hangingPunct="1">
              <a:spcBef>
                <a:spcPct val="0"/>
              </a:spcBef>
              <a:buFontTx/>
              <a:buNone/>
            </a:pPr>
            <a:r>
              <a:rPr lang="en-US" altLang="zh-CN" sz="2200" dirty="0">
                <a:latin typeface="Times New Roman" panose="02020603050405020304" pitchFamily="18" charset="0"/>
                <a:cs typeface="Times New Roman" panose="02020603050405020304" pitchFamily="18" charset="0"/>
              </a:rPr>
              <a:t>In 2011, per capita GDP was $5,432 trillion in China based on the official exchange rate, and $48,442 trillion in the United States. </a:t>
            </a:r>
            <a:endParaRPr lang="zh-CN" altLang="en-US" sz="2200" dirty="0">
              <a:latin typeface="Times New Roman" panose="02020603050405020304" pitchFamily="18" charset="0"/>
              <a:cs typeface="Times New Roman" panose="02020603050405020304" pitchFamily="18" charset="0"/>
            </a:endParaRPr>
          </a:p>
        </p:txBody>
      </p:sp>
      <p:sp>
        <p:nvSpPr>
          <p:cNvPr id="46084" name="矩形 4">
            <a:extLst>
              <a:ext uri="{FF2B5EF4-FFF2-40B4-BE49-F238E27FC236}">
                <a16:creationId xmlns:a16="http://schemas.microsoft.com/office/drawing/2014/main" id="{F7B6700C-AA20-418A-93DD-70A9279006E5}"/>
              </a:ext>
            </a:extLst>
          </p:cNvPr>
          <p:cNvSpPr>
            <a:spLocks noChangeArrowheads="1"/>
          </p:cNvSpPr>
          <p:nvPr/>
        </p:nvSpPr>
        <p:spPr bwMode="auto">
          <a:xfrm>
            <a:off x="901700" y="2078038"/>
            <a:ext cx="79930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000"/>
              <a:t> </a:t>
            </a:r>
            <a:r>
              <a:rPr lang="en-US" altLang="zh-CN" sz="2000" i="1"/>
              <a:t>t</a:t>
            </a:r>
            <a:r>
              <a:rPr lang="en-US" altLang="zh-CN" sz="2000"/>
              <a:t> :the number of years it will take to for China to catch the United States </a:t>
            </a:r>
          </a:p>
          <a:p>
            <a:pPr eaLnBrk="1" hangingPunct="1">
              <a:spcBef>
                <a:spcPct val="0"/>
              </a:spcBef>
              <a:buFontTx/>
              <a:buNone/>
            </a:pPr>
            <a:r>
              <a:rPr lang="en-US" altLang="zh-CN" sz="2000"/>
              <a:t> γ : the growth rate of GDP in China</a:t>
            </a:r>
          </a:p>
          <a:p>
            <a:pPr eaLnBrk="1" hangingPunct="1">
              <a:spcBef>
                <a:spcPct val="0"/>
              </a:spcBef>
              <a:buFontTx/>
              <a:buNone/>
            </a:pPr>
            <a:r>
              <a:rPr lang="en-US" altLang="zh-CN" sz="2000"/>
              <a:t>φ : the growth rate in the United States</a:t>
            </a:r>
            <a:endParaRPr lang="zh-CN" altLang="en-US" sz="2000"/>
          </a:p>
        </p:txBody>
      </p:sp>
      <p:sp>
        <p:nvSpPr>
          <p:cNvPr id="8" name="TextBox 7">
            <a:extLst>
              <a:ext uri="{FF2B5EF4-FFF2-40B4-BE49-F238E27FC236}">
                <a16:creationId xmlns:a16="http://schemas.microsoft.com/office/drawing/2014/main" id="{1CB07024-03EF-4438-BCAC-4A010CAF69C6}"/>
              </a:ext>
            </a:extLst>
          </p:cNvPr>
          <p:cNvSpPr txBox="1">
            <a:spLocks noRot="1" noChangeAspect="1" noMove="1" noResize="1" noEditPoints="1" noAdjustHandles="1" noChangeArrowheads="1" noChangeShapeType="1" noTextEdit="1"/>
          </p:cNvSpPr>
          <p:nvPr/>
        </p:nvSpPr>
        <p:spPr>
          <a:xfrm>
            <a:off x="1043608" y="3804888"/>
            <a:ext cx="2364686" cy="468205"/>
          </a:xfrm>
          <a:prstGeom prst="rect">
            <a:avLst/>
          </a:prstGeom>
          <a:blipFill rotWithShape="1">
            <a:blip r:embed="rId2"/>
            <a:stretch>
              <a:fillRect l="-3866" t="-7792" r="-6186" b="-29870"/>
            </a:stretch>
          </a:blipFill>
        </p:spPr>
        <p:txBody>
          <a:bodyPr/>
          <a:lstStyle/>
          <a:p>
            <a:pPr eaLnBrk="1" hangingPunct="1">
              <a:defRPr/>
            </a:pPr>
            <a:r>
              <a:rPr lang="en-US" dirty="0">
                <a:noFill/>
              </a:rPr>
              <a:t> </a:t>
            </a:r>
          </a:p>
        </p:txBody>
      </p:sp>
      <p:graphicFrame>
        <p:nvGraphicFramePr>
          <p:cNvPr id="9" name="表格 8">
            <a:extLst>
              <a:ext uri="{FF2B5EF4-FFF2-40B4-BE49-F238E27FC236}">
                <a16:creationId xmlns:a16="http://schemas.microsoft.com/office/drawing/2014/main" id="{C434483B-97B0-4C61-A1C1-F6893BDD7EB1}"/>
              </a:ext>
            </a:extLst>
          </p:cNvPr>
          <p:cNvGraphicFramePr>
            <a:graphicFrameLocks noGrp="1"/>
          </p:cNvGraphicFramePr>
          <p:nvPr/>
        </p:nvGraphicFramePr>
        <p:xfrm>
          <a:off x="428625" y="4391025"/>
          <a:ext cx="8104188" cy="1739900"/>
        </p:xfrm>
        <a:graphic>
          <a:graphicData uri="http://schemas.openxmlformats.org/drawingml/2006/table">
            <a:tbl>
              <a:tblPr/>
              <a:tblGrid>
                <a:gridCol w="3279775">
                  <a:extLst>
                    <a:ext uri="{9D8B030D-6E8A-4147-A177-3AD203B41FA5}">
                      <a16:colId xmlns:a16="http://schemas.microsoft.com/office/drawing/2014/main" val="20000"/>
                    </a:ext>
                  </a:extLst>
                </a:gridCol>
                <a:gridCol w="2122488">
                  <a:extLst>
                    <a:ext uri="{9D8B030D-6E8A-4147-A177-3AD203B41FA5}">
                      <a16:colId xmlns:a16="http://schemas.microsoft.com/office/drawing/2014/main" val="20001"/>
                    </a:ext>
                  </a:extLst>
                </a:gridCol>
                <a:gridCol w="2701925">
                  <a:extLst>
                    <a:ext uri="{9D8B030D-6E8A-4147-A177-3AD203B41FA5}">
                      <a16:colId xmlns:a16="http://schemas.microsoft.com/office/drawing/2014/main" val="20002"/>
                    </a:ext>
                  </a:extLst>
                </a:gridCol>
              </a:tblGrid>
              <a:tr h="5969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US growth rate φ</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China growth rate γ</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8%</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1"/>
                  </a:ext>
                </a:extLst>
              </a:tr>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Time needed to catch up t</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43.76 years</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54.7 years</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Year</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a:ln>
                            <a:noFill/>
                          </a:ln>
                          <a:solidFill>
                            <a:schemeClr val="tx1"/>
                          </a:solidFill>
                          <a:effectLst/>
                          <a:latin typeface="Arial" panose="020B0604020202020204" pitchFamily="34" charset="0"/>
                          <a:ea typeface="宋体" panose="02010600030101010101" pitchFamily="2" charset="-122"/>
                        </a:rPr>
                        <a:t>2055</a:t>
                      </a:r>
                      <a:endParaRPr kumimoji="0" lang="zh-CN" altLang="en-US" sz="1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2066</a:t>
                      </a:r>
                      <a:endParaRPr kumimoji="0" lang="zh-CN" altLang="en-US" sz="1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3095"/>
                                        </p:tgtEl>
                                        <p:attrNameLst>
                                          <p:attrName>style.visibility</p:attrName>
                                        </p:attrNameLst>
                                      </p:cBhvr>
                                      <p:to>
                                        <p:strVal val="visible"/>
                                      </p:to>
                                    </p:set>
                                    <p:animEffect transition="in" filter="fade">
                                      <p:cBhvr>
                                        <p:cTn id="7" dur="1000"/>
                                        <p:tgtEl>
                                          <p:spTgt spid="3095"/>
                                        </p:tgtEl>
                                      </p:cBhvr>
                                    </p:animEffect>
                                    <p:anim calcmode="lin" valueType="num">
                                      <p:cBhvr>
                                        <p:cTn id="8" dur="1000" fill="hold"/>
                                        <p:tgtEl>
                                          <p:spTgt spid="3095"/>
                                        </p:tgtEl>
                                        <p:attrNameLst>
                                          <p:attrName>ppt_x</p:attrName>
                                        </p:attrNameLst>
                                      </p:cBhvr>
                                      <p:tavLst>
                                        <p:tav tm="0">
                                          <p:val>
                                            <p:strVal val="#ppt_x"/>
                                          </p:val>
                                        </p:tav>
                                        <p:tav tm="100000">
                                          <p:val>
                                            <p:strVal val="#ppt_x"/>
                                          </p:val>
                                        </p:tav>
                                      </p:tavLst>
                                    </p:anim>
                                    <p:anim calcmode="lin" valueType="num">
                                      <p:cBhvr>
                                        <p:cTn id="9" dur="1000" fill="hold"/>
                                        <p:tgtEl>
                                          <p:spTgt spid="309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7887-4EF1-4A36-AAFE-A4D8AFFD7DFC}"/>
              </a:ext>
            </a:extLst>
          </p:cNvPr>
          <p:cNvSpPr>
            <a:spLocks noGrp="1"/>
          </p:cNvSpPr>
          <p:nvPr>
            <p:ph type="title"/>
          </p:nvPr>
        </p:nvSpPr>
        <p:spPr>
          <a:xfrm>
            <a:off x="457200" y="274638"/>
            <a:ext cx="8229600" cy="490537"/>
          </a:xfrm>
        </p:spPr>
        <p:txBody>
          <a:bodyPr>
            <a:normAutofit fontScale="90000"/>
          </a:bodyPr>
          <a:lstStyle/>
          <a:p>
            <a:pPr algn="l">
              <a:defRPr/>
            </a:pPr>
            <a:r>
              <a:rPr lang="en-US" sz="2000"/>
              <a:t>      GDP, Per Capita GDP, Population in UK and China 1500-1900</a:t>
            </a:r>
            <a:br>
              <a:rPr lang="en-US" sz="2000"/>
            </a:br>
            <a:endParaRPr lang="en-US" sz="1600">
              <a:solidFill>
                <a:schemeClr val="accent1"/>
              </a:solidFill>
            </a:endParaRPr>
          </a:p>
        </p:txBody>
      </p:sp>
      <p:graphicFrame>
        <p:nvGraphicFramePr>
          <p:cNvPr id="4" name="Content Placeholder 3">
            <a:extLst>
              <a:ext uri="{FF2B5EF4-FFF2-40B4-BE49-F238E27FC236}">
                <a16:creationId xmlns:a16="http://schemas.microsoft.com/office/drawing/2014/main" id="{217C91A2-A624-45FA-921D-2169D5FFE40F}"/>
              </a:ext>
            </a:extLst>
          </p:cNvPr>
          <p:cNvGraphicFramePr>
            <a:graphicFrameLocks noGrp="1"/>
          </p:cNvGraphicFramePr>
          <p:nvPr>
            <p:ph idx="1"/>
          </p:nvPr>
        </p:nvGraphicFramePr>
        <p:xfrm>
          <a:off x="539750" y="765175"/>
          <a:ext cx="8208963" cy="2527304"/>
        </p:xfrm>
        <a:graphic>
          <a:graphicData uri="http://schemas.openxmlformats.org/drawingml/2006/table">
            <a:tbl>
              <a:tblPr/>
              <a:tblGrid>
                <a:gridCol w="927100">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820737">
                  <a:extLst>
                    <a:ext uri="{9D8B030D-6E8A-4147-A177-3AD203B41FA5}">
                      <a16:colId xmlns:a16="http://schemas.microsoft.com/office/drawing/2014/main" val="20003"/>
                    </a:ext>
                  </a:extLst>
                </a:gridCol>
                <a:gridCol w="820738">
                  <a:extLst>
                    <a:ext uri="{9D8B030D-6E8A-4147-A177-3AD203B41FA5}">
                      <a16:colId xmlns:a16="http://schemas.microsoft.com/office/drawing/2014/main" val="20004"/>
                    </a:ext>
                  </a:extLst>
                </a:gridCol>
                <a:gridCol w="820737">
                  <a:extLst>
                    <a:ext uri="{9D8B030D-6E8A-4147-A177-3AD203B41FA5}">
                      <a16:colId xmlns:a16="http://schemas.microsoft.com/office/drawing/2014/main" val="20005"/>
                    </a:ext>
                  </a:extLst>
                </a:gridCol>
                <a:gridCol w="822325">
                  <a:extLst>
                    <a:ext uri="{9D8B030D-6E8A-4147-A177-3AD203B41FA5}">
                      <a16:colId xmlns:a16="http://schemas.microsoft.com/office/drawing/2014/main" val="20006"/>
                    </a:ext>
                  </a:extLst>
                </a:gridCol>
                <a:gridCol w="820738">
                  <a:extLst>
                    <a:ext uri="{9D8B030D-6E8A-4147-A177-3AD203B41FA5}">
                      <a16:colId xmlns:a16="http://schemas.microsoft.com/office/drawing/2014/main" val="20007"/>
                    </a:ext>
                  </a:extLst>
                </a:gridCol>
                <a:gridCol w="820737">
                  <a:extLst>
                    <a:ext uri="{9D8B030D-6E8A-4147-A177-3AD203B41FA5}">
                      <a16:colId xmlns:a16="http://schemas.microsoft.com/office/drawing/2014/main" val="20008"/>
                    </a:ext>
                  </a:extLst>
                </a:gridCol>
                <a:gridCol w="820738">
                  <a:extLst>
                    <a:ext uri="{9D8B030D-6E8A-4147-A177-3AD203B41FA5}">
                      <a16:colId xmlns:a16="http://schemas.microsoft.com/office/drawing/2014/main" val="20009"/>
                    </a:ext>
                  </a:extLst>
                </a:gridCol>
              </a:tblGrid>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Year</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008000"/>
                          </a:solidFill>
                          <a:effectLst/>
                          <a:latin typeface="Calibri" panose="020F0502020204030204" pitchFamily="34" charset="0"/>
                          <a:ea typeface="宋体" panose="02010600030101010101" pitchFamily="2" charset="-122"/>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008000"/>
                          </a:solidFill>
                          <a:effectLst/>
                          <a:latin typeface="Calibri" panose="020F0502020204030204" pitchFamily="34" charset="0"/>
                          <a:ea typeface="宋体" panose="02010600030101010101" pitchFamily="2" charset="-122"/>
                        </a:rPr>
                        <a:t>1500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008000"/>
                          </a:solidFill>
                          <a:effectLst/>
                          <a:latin typeface="Calibri" panose="020F0502020204030204" pitchFamily="34" charset="0"/>
                          <a:ea typeface="宋体" panose="02010600030101010101" pitchFamily="2" charset="-122"/>
                        </a:rPr>
                        <a:t>1600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008000"/>
                          </a:solidFill>
                          <a:effectLst/>
                          <a:latin typeface="Calibri" panose="020F0502020204030204" pitchFamily="34" charset="0"/>
                          <a:ea typeface="宋体" panose="02010600030101010101" pitchFamily="2" charset="-122"/>
                        </a:rPr>
                        <a:t>1700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FF0000"/>
                          </a:solidFill>
                          <a:effectLst/>
                          <a:latin typeface="Calibri" panose="020F0502020204030204" pitchFamily="34" charset="0"/>
                          <a:ea typeface="宋体" panose="02010600030101010101" pitchFamily="2" charset="-122"/>
                        </a:rPr>
                        <a:t>1820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FF0000"/>
                          </a:solidFill>
                          <a:effectLst/>
                          <a:latin typeface="Calibri" panose="020F0502020204030204" pitchFamily="34" charset="0"/>
                          <a:ea typeface="宋体" panose="02010600030101010101" pitchFamily="2" charset="-122"/>
                        </a:rPr>
                        <a:t>1850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FF0000"/>
                          </a:solidFill>
                          <a:effectLst/>
                          <a:latin typeface="Calibri" panose="020F0502020204030204" pitchFamily="34" charset="0"/>
                          <a:ea typeface="宋体" panose="02010600030101010101" pitchFamily="2" charset="-122"/>
                        </a:rPr>
                        <a:t>1870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008000"/>
                          </a:solidFill>
                          <a:effectLst/>
                          <a:latin typeface="Calibri" panose="020F0502020204030204" pitchFamily="34" charset="0"/>
                          <a:ea typeface="宋体" panose="02010600030101010101" pitchFamily="2" charset="-122"/>
                        </a:rPr>
                        <a:t>1890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1" i="0" u="none" strike="noStrike" cap="none" normalizeH="0" baseline="0">
                          <a:ln>
                            <a:noFill/>
                          </a:ln>
                          <a:solidFill>
                            <a:srgbClr val="008000"/>
                          </a:solidFill>
                          <a:effectLst/>
                          <a:latin typeface="Calibri" panose="020F0502020204030204" pitchFamily="34" charset="0"/>
                          <a:ea typeface="宋体" panose="02010600030101010101" pitchFamily="2" charset="-122"/>
                        </a:rPr>
                        <a:t>1900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Total</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UK</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2,815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6,007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10,709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36,232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63,342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100,180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150,269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184,861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GDP</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China</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61,800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96,000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82,800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228,600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247,200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189,740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205,304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218,074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8000"/>
                          </a:solidFill>
                          <a:effectLst/>
                          <a:latin typeface="Calibri" panose="020F0502020204030204" pitchFamily="34" charset="0"/>
                          <a:ea typeface="宋体" panose="02010600030101010101" pitchFamily="2" charset="-122"/>
                        </a:rPr>
                        <a:t>China/UK</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21.95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15.98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7.73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6.31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3.9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1.89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Per Capita</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UK</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714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974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1,250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1,706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2,330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3,190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4,009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4,492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GDP</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China</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530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540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545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8000"/>
                          </a:solidFill>
                          <a:effectLst/>
                          <a:latin typeface="Calibri" panose="020F0502020204030204" pitchFamily="34" charset="0"/>
                          <a:ea typeface="宋体" panose="02010600030101010101" pitchFamily="2" charset="-122"/>
                        </a:rPr>
                        <a:t>China/UK</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0.84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0.62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0.48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0.35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0.26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0.17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0.13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0.12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971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FF0000"/>
                          </a:solidFill>
                          <a:effectLst/>
                          <a:latin typeface="Calibri" panose="020F0502020204030204" pitchFamily="34" charset="0"/>
                          <a:ea typeface="宋体" panose="02010600030101010101" pitchFamily="2" charset="-122"/>
                        </a:rPr>
                        <a:t>Population</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UK</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3,942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6,170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8,565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21,239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27,181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31,400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37,485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41,155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1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China</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103,000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160,000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138,000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381,000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412,000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358,000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380,000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400,000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84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8000"/>
                          </a:solidFill>
                          <a:effectLst/>
                          <a:latin typeface="Calibri" panose="020F0502020204030204" pitchFamily="34" charset="0"/>
                          <a:ea typeface="宋体" panose="02010600030101010101" pitchFamily="2" charset="-122"/>
                        </a:rPr>
                        <a:t>China/UK</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26.13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25.93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16.11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17.94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15.16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10.14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500" b="0" i="0" u="none" strike="noStrike" cap="none" normalizeH="0" baseline="0">
                          <a:ln>
                            <a:noFill/>
                          </a:ln>
                          <a:solidFill>
                            <a:srgbClr val="000000"/>
                          </a:solidFill>
                          <a:effectLst/>
                          <a:latin typeface="Calibri" panose="020F0502020204030204" pitchFamily="34" charset="0"/>
                          <a:ea typeface="宋体" panose="02010600030101010101" pitchFamily="2" charset="-122"/>
                        </a:rPr>
                        <a:t>9.72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5" name="Table 4">
            <a:extLst>
              <a:ext uri="{FF2B5EF4-FFF2-40B4-BE49-F238E27FC236}">
                <a16:creationId xmlns:a16="http://schemas.microsoft.com/office/drawing/2014/main" id="{C1B41F68-8B23-417D-8F31-A9DA0F4AE084}"/>
              </a:ext>
            </a:extLst>
          </p:cNvPr>
          <p:cNvGraphicFramePr>
            <a:graphicFrameLocks noGrp="1"/>
          </p:cNvGraphicFramePr>
          <p:nvPr/>
        </p:nvGraphicFramePr>
        <p:xfrm>
          <a:off x="468313" y="6021388"/>
          <a:ext cx="7559675" cy="503237"/>
        </p:xfrm>
        <a:graphic>
          <a:graphicData uri="http://schemas.openxmlformats.org/drawingml/2006/table">
            <a:tbl>
              <a:tblPr/>
              <a:tblGrid>
                <a:gridCol w="7559675">
                  <a:extLst>
                    <a:ext uri="{9D8B030D-6E8A-4147-A177-3AD203B41FA5}">
                      <a16:colId xmlns:a16="http://schemas.microsoft.com/office/drawing/2014/main" val="20000"/>
                    </a:ext>
                  </a:extLst>
                </a:gridCol>
              </a:tblGrid>
              <a:tr h="503237">
                <a:tc>
                  <a:txBody>
                    <a:bodyPr/>
                    <a:lstStyle/>
                    <a:p>
                      <a:r>
                        <a:rPr lang="en-US" sz="1400" b="0" i="0" u="none" strike="noStrike" dirty="0" err="1">
                          <a:solidFill>
                            <a:srgbClr val="993300"/>
                          </a:solidFill>
                          <a:latin typeface="Arial"/>
                        </a:rPr>
                        <a:t>Maddison</a:t>
                      </a:r>
                      <a:r>
                        <a:rPr lang="en-US" sz="1400" b="0" i="0" u="none" strike="noStrike" dirty="0">
                          <a:solidFill>
                            <a:srgbClr val="993300"/>
                          </a:solidFill>
                          <a:latin typeface="Arial"/>
                        </a:rPr>
                        <a:t>,</a:t>
                      </a:r>
                      <a:r>
                        <a:rPr lang="en-US" sz="1400" b="0" i="0" u="none" strike="noStrike" baseline="0" dirty="0">
                          <a:solidFill>
                            <a:srgbClr val="993300"/>
                          </a:solidFill>
                          <a:latin typeface="Arial"/>
                        </a:rPr>
                        <a:t> 2003, </a:t>
                      </a:r>
                      <a:r>
                        <a:rPr lang="en-US" sz="1400" b="1" kern="1200" dirty="0">
                          <a:solidFill>
                            <a:schemeClr val="tx1"/>
                          </a:solidFill>
                          <a:latin typeface="+mn-lt"/>
                          <a:ea typeface="+mn-ea"/>
                          <a:cs typeface="+mn-cs"/>
                        </a:rPr>
                        <a:t>The World Economy: Historical Statistics</a:t>
                      </a:r>
                      <a:r>
                        <a:rPr lang="en-US" sz="1400" b="0" kern="1200" dirty="0">
                          <a:solidFill>
                            <a:schemeClr val="tx1"/>
                          </a:solidFill>
                          <a:latin typeface="+mn-lt"/>
                          <a:ea typeface="+mn-ea"/>
                          <a:cs typeface="+mn-cs"/>
                        </a:rPr>
                        <a:t>,</a:t>
                      </a:r>
                      <a:r>
                        <a:rPr lang="en-US" sz="1400" b="0" kern="1200" baseline="0" dirty="0">
                          <a:solidFill>
                            <a:schemeClr val="tx1"/>
                          </a:solidFill>
                          <a:latin typeface="+mn-lt"/>
                          <a:ea typeface="+mn-ea"/>
                          <a:cs typeface="+mn-cs"/>
                        </a:rPr>
                        <a:t> </a:t>
                      </a:r>
                      <a:r>
                        <a:rPr lang="en-US" sz="1400" kern="1200" dirty="0">
                          <a:solidFill>
                            <a:schemeClr val="tx1"/>
                          </a:solidFill>
                          <a:latin typeface="+mn-lt"/>
                          <a:ea typeface="+mn-ea"/>
                          <a:cs typeface="+mn-cs"/>
                        </a:rPr>
                        <a:t>OECD, Paris 2003</a:t>
                      </a:r>
                      <a:br>
                        <a:rPr lang="en-US" sz="1400" kern="1200" dirty="0">
                          <a:solidFill>
                            <a:schemeClr val="tx1"/>
                          </a:solidFill>
                          <a:latin typeface="+mn-lt"/>
                          <a:ea typeface="+mn-ea"/>
                          <a:cs typeface="+mn-cs"/>
                        </a:rPr>
                      </a:br>
                      <a:r>
                        <a:rPr lang="en-US" sz="1400" b="0" i="0" u="none" strike="noStrike" dirty="0">
                          <a:solidFill>
                            <a:srgbClr val="993300"/>
                          </a:solidFill>
                          <a:latin typeface="Arial"/>
                        </a:rPr>
                        <a:t>(1990 International Geary-</a:t>
                      </a:r>
                      <a:r>
                        <a:rPr lang="en-US" sz="1400" b="0" i="0" u="none" strike="noStrike" dirty="0" err="1">
                          <a:solidFill>
                            <a:srgbClr val="993300"/>
                          </a:solidFill>
                          <a:latin typeface="Arial"/>
                        </a:rPr>
                        <a:t>Khamis</a:t>
                      </a:r>
                      <a:r>
                        <a:rPr lang="en-US" sz="1400" b="0" i="0" u="none" strike="noStrike" dirty="0">
                          <a:solidFill>
                            <a:srgbClr val="993300"/>
                          </a:solidFill>
                          <a:latin typeface="Arial"/>
                        </a:rPr>
                        <a:t> Dollars)</a:t>
                      </a:r>
                    </a:p>
                  </a:txBody>
                  <a:tcPr marL="9524" marR="9524" marT="9510" marB="0" anchor="b">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47232" name="Rectangle 5">
            <a:extLst>
              <a:ext uri="{FF2B5EF4-FFF2-40B4-BE49-F238E27FC236}">
                <a16:creationId xmlns:a16="http://schemas.microsoft.com/office/drawing/2014/main" id="{5C35755E-5F02-4E4A-8E76-F5CE19424DAA}"/>
              </a:ext>
            </a:extLst>
          </p:cNvPr>
          <p:cNvSpPr>
            <a:spLocks noChangeArrowheads="1"/>
          </p:cNvSpPr>
          <p:nvPr/>
        </p:nvSpPr>
        <p:spPr bwMode="auto">
          <a:xfrm>
            <a:off x="539750" y="3716338"/>
            <a:ext cx="79930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800"/>
              <a:t>In </a:t>
            </a:r>
            <a:r>
              <a:rPr lang="en-US" altLang="en-US" sz="1800" i="1"/>
              <a:t>Wealth Of Nations, </a:t>
            </a:r>
            <a:r>
              <a:rPr lang="en-US" altLang="en-US" sz="1800"/>
              <a:t>Adam Smith suggested that the wealth of nations be measured in per capita terms. Today when it is said, for example, that England is wealthier than China, it is based the per capita income.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72E6E33-48C2-43E6-BF6E-4D019BCE3204}"/>
              </a:ext>
            </a:extLst>
          </p:cNvPr>
          <p:cNvSpPr>
            <a:spLocks noGrp="1" noChangeArrowheads="1"/>
          </p:cNvSpPr>
          <p:nvPr>
            <p:ph type="title"/>
          </p:nvPr>
        </p:nvSpPr>
        <p:spPr>
          <a:xfrm>
            <a:off x="457200" y="274638"/>
            <a:ext cx="8229600" cy="706437"/>
          </a:xfrm>
        </p:spPr>
        <p:txBody>
          <a:bodyPr/>
          <a:lstStyle/>
          <a:p>
            <a:pPr eaLnBrk="1" hangingPunct="1"/>
            <a:r>
              <a:rPr lang="en-US" altLang="zh-CN" sz="2800">
                <a:latin typeface="Times New Roman" panose="02020603050405020304" pitchFamily="18" charset="0"/>
                <a:cs typeface="Times New Roman" panose="02020603050405020304" pitchFamily="18" charset="0"/>
              </a:rPr>
              <a:t>Case Study: South Korea and Argentina</a:t>
            </a:r>
            <a:endParaRPr lang="en-US" altLang="zh-CN" sz="2800">
              <a:latin typeface="Times New Roman" panose="02020603050405020304" pitchFamily="18" charset="0"/>
            </a:endParaRPr>
          </a:p>
        </p:txBody>
      </p:sp>
      <p:sp>
        <p:nvSpPr>
          <p:cNvPr id="48131" name="Content Placeholder 1">
            <a:extLst>
              <a:ext uri="{FF2B5EF4-FFF2-40B4-BE49-F238E27FC236}">
                <a16:creationId xmlns:a16="http://schemas.microsoft.com/office/drawing/2014/main" id="{D135F69F-3112-45DB-AF50-C2BEAAF80494}"/>
              </a:ext>
            </a:extLst>
          </p:cNvPr>
          <p:cNvSpPr>
            <a:spLocks noGrp="1" noChangeArrowheads="1"/>
          </p:cNvSpPr>
          <p:nvPr>
            <p:ph idx="1"/>
          </p:nvPr>
        </p:nvSpPr>
        <p:spPr>
          <a:xfrm>
            <a:off x="457200" y="1412776"/>
            <a:ext cx="8229600" cy="4525963"/>
          </a:xfrm>
        </p:spPr>
        <p:txBody>
          <a:bodyPr/>
          <a:lstStyle/>
          <a:p>
            <a:r>
              <a:rPr lang="en-US" altLang="zh-CN" sz="2000" dirty="0">
                <a:latin typeface="Times New Roman" panose="02020603050405020304" pitchFamily="18" charset="0"/>
                <a:cs typeface="Times New Roman" panose="02020603050405020304" pitchFamily="18" charset="0"/>
              </a:rPr>
              <a:t>Two countries compared: </a:t>
            </a:r>
          </a:p>
          <a:p>
            <a:pPr lvl="1"/>
            <a:r>
              <a:rPr lang="en-US" altLang="zh-CN" sz="1600" dirty="0">
                <a:latin typeface="Times New Roman" panose="02020603050405020304" pitchFamily="18" charset="0"/>
                <a:cs typeface="Times New Roman" panose="02020603050405020304" pitchFamily="18" charset="0"/>
              </a:rPr>
              <a:t>In 2011, the population was 41 millions in Argentina and 50 millions in South Korea. </a:t>
            </a:r>
          </a:p>
          <a:p>
            <a:pPr lvl="1"/>
            <a:r>
              <a:rPr lang="en-US" altLang="zh-CN" sz="1600" dirty="0">
                <a:latin typeface="Times New Roman" panose="02020603050405020304" pitchFamily="18" charset="0"/>
                <a:cs typeface="Times New Roman" panose="02020603050405020304" pitchFamily="18" charset="0"/>
              </a:rPr>
              <a:t>In 2016, GDP per capita was $18,494 in Argentina, and $28,539 in South Korea.  In 1960, theses number were $1148 vs $158. </a:t>
            </a:r>
          </a:p>
          <a:p>
            <a:pPr lvl="1"/>
            <a:r>
              <a:rPr lang="en-US" altLang="zh-CN" sz="1600" dirty="0">
                <a:latin typeface="Times New Roman" panose="02020603050405020304" pitchFamily="18" charset="0"/>
                <a:cs typeface="Times New Roman" panose="02020603050405020304" pitchFamily="18" charset="0"/>
              </a:rPr>
              <a:t>S. Korea was a Japanese  colony until 1945, wholly dependent on maintaining goodwill of the US for defense against N. Korea. </a:t>
            </a: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Stage of growth</a:t>
            </a:r>
          </a:p>
          <a:p>
            <a:pPr lvl="1"/>
            <a:r>
              <a:rPr lang="en-US" altLang="en-US" sz="1600" dirty="0">
                <a:latin typeface="Times New Roman" panose="02020603050405020304" pitchFamily="18" charset="0"/>
                <a:cs typeface="Times New Roman" panose="02020603050405020304" pitchFamily="18" charset="0"/>
              </a:rPr>
              <a:t>South Korea</a:t>
            </a:r>
          </a:p>
          <a:p>
            <a:pPr lvl="2"/>
            <a:r>
              <a:rPr lang="en-US" altLang="en-US" sz="1200" dirty="0">
                <a:latin typeface="Times New Roman" panose="02020603050405020304" pitchFamily="18" charset="0"/>
                <a:cs typeface="Times New Roman" panose="02020603050405020304" pitchFamily="18" charset="0"/>
              </a:rPr>
              <a:t>It was not included in </a:t>
            </a:r>
            <a:r>
              <a:rPr lang="en-US" altLang="en-US" sz="1200" dirty="0" err="1">
                <a:latin typeface="Times New Roman" panose="02020603050405020304" pitchFamily="18" charset="0"/>
                <a:cs typeface="Times New Roman" panose="02020603050405020304" pitchFamily="18" charset="0"/>
              </a:rPr>
              <a:t>Rostow</a:t>
            </a:r>
            <a:r>
              <a:rPr lang="en-US" altLang="en-US" sz="1200" dirty="0">
                <a:latin typeface="Times New Roman" panose="02020603050405020304" pitchFamily="18" charset="0"/>
                <a:cs typeface="Times New Roman" panose="02020603050405020304" pitchFamily="18" charset="0"/>
              </a:rPr>
              <a:t>’ original book. India was picked by </a:t>
            </a:r>
            <a:r>
              <a:rPr lang="en-US" altLang="en-US" sz="1200" dirty="0" err="1">
                <a:latin typeface="Times New Roman" panose="02020603050405020304" pitchFamily="18" charset="0"/>
                <a:cs typeface="Times New Roman" panose="02020603050405020304" pitchFamily="18" charset="0"/>
              </a:rPr>
              <a:t>Rostow</a:t>
            </a:r>
            <a:r>
              <a:rPr lang="en-US" altLang="en-US" sz="1200" dirty="0">
                <a:latin typeface="Times New Roman" panose="02020603050405020304" pitchFamily="18" charset="0"/>
                <a:cs typeface="Times New Roman" panose="02020603050405020304" pitchFamily="18" charset="0"/>
              </a:rPr>
              <a:t> for takeoff.</a:t>
            </a:r>
          </a:p>
          <a:p>
            <a:pPr lvl="2"/>
            <a:r>
              <a:rPr lang="en-US" altLang="en-US" sz="1200" dirty="0">
                <a:latin typeface="Times New Roman" panose="02020603050405020304" pitchFamily="18" charset="0"/>
                <a:cs typeface="Times New Roman" panose="02020603050405020304" pitchFamily="18" charset="0"/>
              </a:rPr>
              <a:t>Investment ratio as income: 15% in 1965, 37% in 1990, 40% in 2000-2007 period.</a:t>
            </a:r>
          </a:p>
          <a:p>
            <a:pPr lvl="2"/>
            <a:r>
              <a:rPr lang="en-US" altLang="en-US" sz="1200" dirty="0">
                <a:latin typeface="Times New Roman" panose="02020603050405020304" pitchFamily="18" charset="0"/>
                <a:cs typeface="Times New Roman" panose="02020603050405020304" pitchFamily="18" charset="0"/>
              </a:rPr>
              <a:t> Maturity is attained in less than 60 years, due to difference in productivity gap.</a:t>
            </a:r>
          </a:p>
          <a:p>
            <a:pPr lvl="1"/>
            <a:r>
              <a:rPr lang="en-US" altLang="en-US" sz="1600" dirty="0">
                <a:latin typeface="Times New Roman" panose="02020603050405020304" pitchFamily="18" charset="0"/>
                <a:cs typeface="Times New Roman" panose="02020603050405020304" pitchFamily="18" charset="0"/>
              </a:rPr>
              <a:t>Argentina</a:t>
            </a:r>
          </a:p>
          <a:p>
            <a:pPr lvl="2"/>
            <a:r>
              <a:rPr lang="en-US" altLang="en-US" sz="1200" dirty="0" err="1">
                <a:latin typeface="Times New Roman" panose="02020603050405020304" pitchFamily="18" charset="0"/>
                <a:cs typeface="Times New Roman" panose="02020603050405020304" pitchFamily="18" charset="0"/>
              </a:rPr>
              <a:t>Rostow</a:t>
            </a:r>
            <a:r>
              <a:rPr lang="en-US" altLang="en-US" sz="1200" dirty="0">
                <a:latin typeface="Times New Roman" panose="02020603050405020304" pitchFamily="18" charset="0"/>
                <a:cs typeface="Times New Roman" panose="02020603050405020304" pitchFamily="18" charset="0"/>
              </a:rPr>
              <a:t> dated Argentina’s precondition for takeoff as an extended period before 1914 and takeoff began in WWI, concluded that “in Latin America the takeoff has been completed in two major cases (Mexico and Argentina).”</a:t>
            </a:r>
          </a:p>
          <a:p>
            <a:pPr lvl="2"/>
            <a:r>
              <a:rPr lang="en-US" altLang="en-US" sz="1200" dirty="0">
                <a:latin typeface="Times New Roman" panose="02020603050405020304" pitchFamily="18" charset="0"/>
                <a:cs typeface="Times New Roman" panose="02020603050405020304" pitchFamily="18" charset="0"/>
              </a:rPr>
              <a:t>Argentina had negative growth rate throughout the 1965-1990 period. In the 1980s, domestic investment shank at a -8.3% rate. </a:t>
            </a:r>
          </a:p>
          <a:p>
            <a:pPr lvl="2"/>
            <a:r>
              <a:rPr lang="en-US" altLang="en-US" sz="1200" dirty="0">
                <a:latin typeface="Times New Roman" panose="02020603050405020304" pitchFamily="18" charset="0"/>
                <a:cs typeface="Times New Roman" panose="02020603050405020304" pitchFamily="18" charset="0"/>
              </a:rPr>
              <a:t>Argentina has demonstrated that development progress is not irreversible and that sustained growth can come to an end. </a:t>
            </a:r>
          </a:p>
          <a:p>
            <a:pPr lvl="1"/>
            <a:endParaRPr lang="en-US" altLang="en-US" sz="1600" dirty="0">
              <a:latin typeface="Times New Roman" panose="02020603050405020304" pitchFamily="18" charset="0"/>
              <a:cs typeface="Times New Roman" panose="02020603050405020304" pitchFamily="18" charset="0"/>
            </a:endParaRPr>
          </a:p>
          <a:p>
            <a:pPr marL="0" indent="0">
              <a:buNone/>
            </a:pPr>
            <a:endParaRPr lang="en-US" alt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72E6E33-48C2-43E6-BF6E-4D019BCE3204}"/>
              </a:ext>
            </a:extLst>
          </p:cNvPr>
          <p:cNvSpPr>
            <a:spLocks noGrp="1" noChangeArrowheads="1"/>
          </p:cNvSpPr>
          <p:nvPr>
            <p:ph type="title"/>
          </p:nvPr>
        </p:nvSpPr>
        <p:spPr>
          <a:xfrm>
            <a:off x="457200" y="274638"/>
            <a:ext cx="8229600" cy="706437"/>
          </a:xfrm>
        </p:spPr>
        <p:txBody>
          <a:bodyPr/>
          <a:lstStyle/>
          <a:p>
            <a:pPr eaLnBrk="1" hangingPunct="1"/>
            <a:r>
              <a:rPr lang="en-US" altLang="zh-CN" sz="2800">
                <a:latin typeface="Times New Roman" panose="02020603050405020304" pitchFamily="18" charset="0"/>
                <a:cs typeface="Times New Roman" panose="02020603050405020304" pitchFamily="18" charset="0"/>
              </a:rPr>
              <a:t>Case Study: South Korea and Argentina</a:t>
            </a:r>
            <a:endParaRPr lang="en-US" altLang="zh-CN" sz="2800">
              <a:latin typeface="Times New Roman" panose="02020603050405020304" pitchFamily="18" charset="0"/>
            </a:endParaRPr>
          </a:p>
        </p:txBody>
      </p:sp>
      <p:sp>
        <p:nvSpPr>
          <p:cNvPr id="48131" name="Content Placeholder 1">
            <a:extLst>
              <a:ext uri="{FF2B5EF4-FFF2-40B4-BE49-F238E27FC236}">
                <a16:creationId xmlns:a16="http://schemas.microsoft.com/office/drawing/2014/main" id="{D135F69F-3112-45DB-AF50-C2BEAAF80494}"/>
              </a:ext>
            </a:extLst>
          </p:cNvPr>
          <p:cNvSpPr>
            <a:spLocks noGrp="1" noChangeArrowheads="1"/>
          </p:cNvSpPr>
          <p:nvPr>
            <p:ph idx="1"/>
          </p:nvPr>
        </p:nvSpPr>
        <p:spPr>
          <a:xfrm>
            <a:off x="457200" y="1412776"/>
            <a:ext cx="8229600" cy="4525963"/>
          </a:xfrm>
        </p:spPr>
        <p:txBody>
          <a:bodyPr/>
          <a:lstStyle/>
          <a:p>
            <a:r>
              <a:rPr lang="en-US" altLang="zh-CN" sz="2000" dirty="0">
                <a:latin typeface="Times New Roman" panose="02020603050405020304" pitchFamily="18" charset="0"/>
                <a:cs typeface="Times New Roman" panose="02020603050405020304" pitchFamily="18" charset="0"/>
              </a:rPr>
              <a:t>Two countries compared: </a:t>
            </a:r>
          </a:p>
          <a:p>
            <a:pPr lvl="1"/>
            <a:r>
              <a:rPr lang="en-US" altLang="zh-CN" sz="1600" dirty="0">
                <a:latin typeface="Times New Roman" panose="02020603050405020304" pitchFamily="18" charset="0"/>
                <a:cs typeface="Times New Roman" panose="02020603050405020304" pitchFamily="18" charset="0"/>
              </a:rPr>
              <a:t>In 2011, the population was 41 millions in Argentina and 50 millions in South Korea. </a:t>
            </a:r>
          </a:p>
          <a:p>
            <a:pPr lvl="1"/>
            <a:r>
              <a:rPr lang="en-US" altLang="zh-CN" sz="1600" dirty="0">
                <a:latin typeface="Times New Roman" panose="02020603050405020304" pitchFamily="18" charset="0"/>
                <a:cs typeface="Times New Roman" panose="02020603050405020304" pitchFamily="18" charset="0"/>
              </a:rPr>
              <a:t>In 2016, GDP per capita was $18,494 in Argentina, and $28,539 in South Korea.  In 1960, theses number were $1148 vs $158. </a:t>
            </a:r>
          </a:p>
          <a:p>
            <a:pPr lvl="1"/>
            <a:r>
              <a:rPr lang="en-US" altLang="zh-CN" sz="1600" dirty="0">
                <a:latin typeface="Times New Roman" panose="02020603050405020304" pitchFamily="18" charset="0"/>
                <a:cs typeface="Times New Roman" panose="02020603050405020304" pitchFamily="18" charset="0"/>
              </a:rPr>
              <a:t>S. Korea was a Japanese  colony until 1945, wholly dependent on maintaining goodwill of the US for defense against N. Korea. </a:t>
            </a:r>
          </a:p>
          <a:p>
            <a:endParaRPr lang="en-US" altLang="en-US" sz="20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Neoclassical theory</a:t>
            </a:r>
          </a:p>
          <a:p>
            <a:pPr lvl="1"/>
            <a:r>
              <a:rPr lang="en-US" altLang="en-US" sz="1600" dirty="0">
                <a:latin typeface="Times New Roman" panose="02020603050405020304" pitchFamily="18" charset="0"/>
                <a:cs typeface="Times New Roman" panose="02020603050405020304" pitchFamily="18" charset="0"/>
              </a:rPr>
              <a:t>South Korea</a:t>
            </a:r>
          </a:p>
          <a:p>
            <a:pPr lvl="2"/>
            <a:r>
              <a:rPr lang="en-US" altLang="en-US" sz="1200" dirty="0">
                <a:latin typeface="Times New Roman" panose="02020603050405020304" pitchFamily="18" charset="0"/>
                <a:cs typeface="Times New Roman" panose="02020603050405020304" pitchFamily="18" charset="0"/>
              </a:rPr>
              <a:t>The government makes extensive use of development planning, uses a wide range of tax breaks and incentives to induce firms to follow government directives and interventions, sets individual  company export targets, orchestrates efforts in various industries to upgrade the average technological level, coordinates foreign technology licensing agreements, uses monopoly power to get the best deal from competing multinationals, and incudes firms to move rapidly up the ladder of comparative advantage. </a:t>
            </a:r>
          </a:p>
          <a:p>
            <a:pPr lvl="1"/>
            <a:r>
              <a:rPr lang="en-US" altLang="en-US" sz="1600" dirty="0">
                <a:latin typeface="Times New Roman" panose="02020603050405020304" pitchFamily="18" charset="0"/>
                <a:cs typeface="Times New Roman" panose="02020603050405020304" pitchFamily="18" charset="0"/>
              </a:rPr>
              <a:t>Argentina</a:t>
            </a:r>
          </a:p>
          <a:p>
            <a:pPr lvl="2"/>
            <a:r>
              <a:rPr lang="en-US" altLang="en-US" sz="1200" dirty="0">
                <a:latin typeface="Times New Roman" panose="02020603050405020304" pitchFamily="18" charset="0"/>
                <a:cs typeface="Times New Roman" panose="02020603050405020304" pitchFamily="18" charset="0"/>
              </a:rPr>
              <a:t>Government policy consistently seemed to support privileged interests rather than broad goals of development. Government failure was usually worse than market failure in the country. </a:t>
            </a:r>
          </a:p>
          <a:p>
            <a:pPr lvl="2"/>
            <a:r>
              <a:rPr lang="en-US" altLang="en-US" sz="1200" dirty="0">
                <a:latin typeface="Times New Roman" panose="02020603050405020304" pitchFamily="18" charset="0"/>
                <a:cs typeface="Times New Roman" panose="02020603050405020304" pitchFamily="18" charset="0"/>
              </a:rPr>
              <a:t>Faulty interventionist restrictions, inefficient state enterprise, bias against production for exports, and unnecessary red tape hurt industry and entrepreneurship. </a:t>
            </a:r>
          </a:p>
          <a:p>
            <a:pPr marL="0" indent="0">
              <a:buNone/>
            </a:pPr>
            <a:endParaRPr lang="en-US" altLang="en-US" sz="2000" dirty="0"/>
          </a:p>
        </p:txBody>
      </p:sp>
    </p:spTree>
    <p:extLst>
      <p:ext uri="{BB962C8B-B14F-4D97-AF65-F5344CB8AC3E}">
        <p14:creationId xmlns:p14="http://schemas.microsoft.com/office/powerpoint/2010/main" val="917276097"/>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3801</TotalTime>
  <Words>9685</Words>
  <Application>Microsoft Macintosh PowerPoint</Application>
  <PresentationFormat>On-screen Show (4:3)</PresentationFormat>
  <Paragraphs>1295</Paragraphs>
  <Slides>48</Slides>
  <Notes>15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4</vt:i4>
      </vt:variant>
      <vt:variant>
        <vt:lpstr>Slide Titles</vt:lpstr>
      </vt:variant>
      <vt:variant>
        <vt:i4>48</vt:i4>
      </vt:variant>
    </vt:vector>
  </HeadingPairs>
  <TitlesOfParts>
    <vt:vector size="58" baseType="lpstr">
      <vt:lpstr>Söhne</vt:lpstr>
      <vt:lpstr>Arial</vt:lpstr>
      <vt:lpstr>Calibri</vt:lpstr>
      <vt:lpstr>Cambria Math</vt:lpstr>
      <vt:lpstr>Times New Roman</vt:lpstr>
      <vt:lpstr>默认设计模板</vt:lpstr>
      <vt:lpstr>Worksheet</vt:lpstr>
      <vt:lpstr>文档</vt:lpstr>
      <vt:lpstr>Equation</vt:lpstr>
      <vt:lpstr>图表</vt:lpstr>
      <vt:lpstr>International Economic Development</vt:lpstr>
      <vt:lpstr>PowerPoint Presentation</vt:lpstr>
      <vt:lpstr>PowerPoint Presentation</vt:lpstr>
      <vt:lpstr>PowerPoint Presentation</vt:lpstr>
      <vt:lpstr>PowerPoint Presentation</vt:lpstr>
      <vt:lpstr>PowerPoint Presentation</vt:lpstr>
      <vt:lpstr>Buddenbrooks dynamics</vt:lpstr>
      <vt:lpstr>PowerPoint Presentation</vt:lpstr>
      <vt:lpstr>PowerPoint Presentation</vt:lpstr>
      <vt:lpstr>China’s GDP Growth 1978-2010</vt:lpstr>
      <vt:lpstr>2. US GDP Growth 1930-2009</vt:lpstr>
      <vt:lpstr>3. Japan’s GDP Growth（1955-2009）</vt:lpstr>
      <vt:lpstr>4. </vt:lpstr>
      <vt:lpstr>PowerPoint Presentation</vt:lpstr>
      <vt:lpstr>6. Population and GNI  in 2008  WDR 2010</vt:lpstr>
      <vt:lpstr>PowerPoint Presentation</vt:lpstr>
      <vt:lpstr>PowerPoint Presentation</vt:lpstr>
      <vt:lpstr>PowerPoint Presentation</vt:lpstr>
      <vt:lpstr>PowerPoint Presentation</vt:lpstr>
      <vt:lpstr>PowerPoint Presentation</vt:lpstr>
      <vt:lpstr>V. Neoclassical Growth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 The New Growth Theory</vt:lpstr>
      <vt:lpstr>PowerPoint Presentation</vt:lpstr>
      <vt:lpstr>PowerPoint Presentation</vt:lpstr>
      <vt:lpstr>PowerPoint Presentation</vt:lpstr>
      <vt:lpstr>VII. Some Empirical Findings on Determinants of Economic Growth</vt:lpstr>
      <vt:lpstr>John Luke Gallup, Jeffrey D. Sachs, and Andrew D. Mellinger, Geography and Economic Development, International Regional Science Review (1999), </vt:lpstr>
      <vt:lpstr>Jeffrey D. Sachs and Andrew M. Warner (1997), Natural resource abundance and economic growth.</vt:lpstr>
      <vt:lpstr>PowerPoint Presentation</vt:lpstr>
      <vt:lpstr>PowerPoint Presentation</vt:lpstr>
      <vt:lpstr>VII. How Long it will Take for a Poor Country Catch Up with a Rich</vt:lpstr>
      <vt:lpstr>PowerPoint Presentation</vt:lpstr>
      <vt:lpstr>      GDP, Per Capita GDP, Population in UK and China 1500-1900 </vt:lpstr>
      <vt:lpstr>Case Study: South Korea and Argentina</vt:lpstr>
      <vt:lpstr>Case Study: South Korea and Argentina</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 Development</dc:title>
  <dc:creator>微软用户</dc:creator>
  <cp:lastModifiedBy>Zhigang Feng</cp:lastModifiedBy>
  <cp:revision>171</cp:revision>
  <dcterms:created xsi:type="dcterms:W3CDTF">2009-01-13T02:47:44Z</dcterms:created>
  <dcterms:modified xsi:type="dcterms:W3CDTF">2025-09-15T21:20:14Z</dcterms:modified>
</cp:coreProperties>
</file>