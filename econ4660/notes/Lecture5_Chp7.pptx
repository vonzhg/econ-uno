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handoutMasterIdLst>
    <p:handoutMasterId r:id="rId41"/>
  </p:handoutMasterIdLst>
  <p:sldIdLst>
    <p:sldId id="256" r:id="rId2"/>
    <p:sldId id="284" r:id="rId3"/>
    <p:sldId id="285" r:id="rId4"/>
    <p:sldId id="306" r:id="rId5"/>
    <p:sldId id="286" r:id="rId6"/>
    <p:sldId id="287" r:id="rId7"/>
    <p:sldId id="288" r:id="rId8"/>
    <p:sldId id="289" r:id="rId9"/>
    <p:sldId id="290" r:id="rId10"/>
    <p:sldId id="261" r:id="rId11"/>
    <p:sldId id="265" r:id="rId12"/>
    <p:sldId id="267" r:id="rId13"/>
    <p:sldId id="278" r:id="rId14"/>
    <p:sldId id="279" r:id="rId15"/>
    <p:sldId id="275" r:id="rId16"/>
    <p:sldId id="276" r:id="rId17"/>
    <p:sldId id="257" r:id="rId18"/>
    <p:sldId id="258" r:id="rId19"/>
    <p:sldId id="259" r:id="rId20"/>
    <p:sldId id="260" r:id="rId21"/>
    <p:sldId id="281" r:id="rId22"/>
    <p:sldId id="282" r:id="rId23"/>
    <p:sldId id="283" r:id="rId24"/>
    <p:sldId id="307" r:id="rId25"/>
    <p:sldId id="294" r:id="rId26"/>
    <p:sldId id="295" r:id="rId27"/>
    <p:sldId id="262" r:id="rId28"/>
    <p:sldId id="296" r:id="rId29"/>
    <p:sldId id="297" r:id="rId30"/>
    <p:sldId id="298" r:id="rId31"/>
    <p:sldId id="299" r:id="rId32"/>
    <p:sldId id="301" r:id="rId33"/>
    <p:sldId id="303" r:id="rId34"/>
    <p:sldId id="304" r:id="rId35"/>
    <p:sldId id="305" r:id="rId36"/>
    <p:sldId id="263" r:id="rId37"/>
    <p:sldId id="291" r:id="rId38"/>
    <p:sldId id="293" r:id="rId39"/>
  </p:sldIdLst>
  <p:sldSz cx="9144000" cy="6858000" type="screen4x3"/>
  <p:notesSz cx="6881813" cy="92964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723" autoAdjust="0"/>
    <p:restoredTop sz="70000"/>
  </p:normalViewPr>
  <p:slideViewPr>
    <p:cSldViewPr>
      <p:cViewPr varScale="1">
        <p:scale>
          <a:sx n="69" d="100"/>
          <a:sy n="69" d="100"/>
        </p:scale>
        <p:origin x="664" y="19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06675E8-CFA2-45A1-BB6A-3CB1876D52BF}"/>
              </a:ext>
            </a:extLst>
          </p:cNvPr>
          <p:cNvSpPr>
            <a:spLocks noGrp="1"/>
          </p:cNvSpPr>
          <p:nvPr>
            <p:ph type="hdr" sz="quarter"/>
          </p:nvPr>
        </p:nvSpPr>
        <p:spPr>
          <a:xfrm>
            <a:off x="0" y="0"/>
            <a:ext cx="2982913" cy="466725"/>
          </a:xfrm>
          <a:prstGeom prst="rect">
            <a:avLst/>
          </a:prstGeom>
        </p:spPr>
        <p:txBody>
          <a:bodyPr vert="horz" lIns="92446" tIns="46223" rIns="92446" bIns="46223"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id="{AA1DC757-52F6-42C0-8AC3-FE006EC6A69A}"/>
              </a:ext>
            </a:extLst>
          </p:cNvPr>
          <p:cNvSpPr>
            <a:spLocks noGrp="1"/>
          </p:cNvSpPr>
          <p:nvPr>
            <p:ph type="dt" sz="quarter" idx="1"/>
          </p:nvPr>
        </p:nvSpPr>
        <p:spPr>
          <a:xfrm>
            <a:off x="3897313" y="0"/>
            <a:ext cx="2982912" cy="466725"/>
          </a:xfrm>
          <a:prstGeom prst="rect">
            <a:avLst/>
          </a:prstGeom>
        </p:spPr>
        <p:txBody>
          <a:bodyPr vert="horz" lIns="92446" tIns="46223" rIns="92446" bIns="46223" rtlCol="0"/>
          <a:lstStyle>
            <a:lvl1pPr algn="r">
              <a:defRPr sz="1200"/>
            </a:lvl1pPr>
          </a:lstStyle>
          <a:p>
            <a:pPr>
              <a:defRPr/>
            </a:pPr>
            <a:fld id="{921A428A-3FBB-4901-8485-DC38CB596D20}" type="datetimeFigureOut">
              <a:rPr lang="en-US"/>
              <a:pPr>
                <a:defRPr/>
              </a:pPr>
              <a:t>10/7/24</a:t>
            </a:fld>
            <a:endParaRPr lang="en-US"/>
          </a:p>
        </p:txBody>
      </p:sp>
      <p:sp>
        <p:nvSpPr>
          <p:cNvPr id="4" name="Footer Placeholder 3">
            <a:extLst>
              <a:ext uri="{FF2B5EF4-FFF2-40B4-BE49-F238E27FC236}">
                <a16:creationId xmlns:a16="http://schemas.microsoft.com/office/drawing/2014/main" id="{3A2AF7C0-2E8B-4D24-9603-B066CC33C737}"/>
              </a:ext>
            </a:extLst>
          </p:cNvPr>
          <p:cNvSpPr>
            <a:spLocks noGrp="1"/>
          </p:cNvSpPr>
          <p:nvPr>
            <p:ph type="ftr" sz="quarter" idx="2"/>
          </p:nvPr>
        </p:nvSpPr>
        <p:spPr>
          <a:xfrm>
            <a:off x="0" y="8829675"/>
            <a:ext cx="2982913" cy="466725"/>
          </a:xfrm>
          <a:prstGeom prst="rect">
            <a:avLst/>
          </a:prstGeom>
        </p:spPr>
        <p:txBody>
          <a:bodyPr vert="horz" lIns="92446" tIns="46223" rIns="92446" bIns="46223" rtlCol="0" anchor="b"/>
          <a:lstStyle>
            <a:lvl1pPr algn="l">
              <a:defRPr sz="1200"/>
            </a:lvl1pPr>
          </a:lstStyle>
          <a:p>
            <a:pPr>
              <a:defRPr/>
            </a:pPr>
            <a:endParaRPr lang="en-US"/>
          </a:p>
        </p:txBody>
      </p:sp>
      <p:sp>
        <p:nvSpPr>
          <p:cNvPr id="5" name="Slide Number Placeholder 4">
            <a:extLst>
              <a:ext uri="{FF2B5EF4-FFF2-40B4-BE49-F238E27FC236}">
                <a16:creationId xmlns:a16="http://schemas.microsoft.com/office/drawing/2014/main" id="{8D3D748D-94BD-4ED7-96CA-CEB75E0C53AD}"/>
              </a:ext>
            </a:extLst>
          </p:cNvPr>
          <p:cNvSpPr>
            <a:spLocks noGrp="1"/>
          </p:cNvSpPr>
          <p:nvPr>
            <p:ph type="sldNum" sz="quarter" idx="3"/>
          </p:nvPr>
        </p:nvSpPr>
        <p:spPr>
          <a:xfrm>
            <a:off x="3897313" y="8829675"/>
            <a:ext cx="2982912" cy="466725"/>
          </a:xfrm>
          <a:prstGeom prst="rect">
            <a:avLst/>
          </a:prstGeom>
        </p:spPr>
        <p:txBody>
          <a:bodyPr vert="horz" lIns="92446" tIns="46223" rIns="92446" bIns="46223" rtlCol="0" anchor="b"/>
          <a:lstStyle>
            <a:lvl1pPr algn="r">
              <a:defRPr sz="1200"/>
            </a:lvl1pPr>
          </a:lstStyle>
          <a:p>
            <a:pPr>
              <a:defRPr/>
            </a:pPr>
            <a:fld id="{1AEE9E4D-9066-438A-9E39-76FA51B555CE}"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555CA8C-F0D5-4ED0-8D71-EA9FCA8F2292}"/>
              </a:ext>
            </a:extLst>
          </p:cNvPr>
          <p:cNvSpPr>
            <a:spLocks noGrp="1"/>
          </p:cNvSpPr>
          <p:nvPr>
            <p:ph type="hdr" sz="quarter"/>
          </p:nvPr>
        </p:nvSpPr>
        <p:spPr>
          <a:xfrm>
            <a:off x="0" y="0"/>
            <a:ext cx="2982913" cy="465138"/>
          </a:xfrm>
          <a:prstGeom prst="rect">
            <a:avLst/>
          </a:prstGeom>
        </p:spPr>
        <p:txBody>
          <a:bodyPr vert="horz" lIns="92446" tIns="46223" rIns="92446" bIns="46223" rtlCol="0"/>
          <a:lstStyle>
            <a:lvl1pPr algn="l" eaLnBrk="1" hangingPunct="1">
              <a:defRPr sz="1200">
                <a:latin typeface="Arial" charset="0"/>
              </a:defRPr>
            </a:lvl1pPr>
          </a:lstStyle>
          <a:p>
            <a:pPr>
              <a:defRPr/>
            </a:pPr>
            <a:endParaRPr lang="en-US"/>
          </a:p>
        </p:txBody>
      </p:sp>
      <p:sp>
        <p:nvSpPr>
          <p:cNvPr id="3" name="Date Placeholder 2">
            <a:extLst>
              <a:ext uri="{FF2B5EF4-FFF2-40B4-BE49-F238E27FC236}">
                <a16:creationId xmlns:a16="http://schemas.microsoft.com/office/drawing/2014/main" id="{326F4B2B-9C5D-48A1-B417-524DF98F9C87}"/>
              </a:ext>
            </a:extLst>
          </p:cNvPr>
          <p:cNvSpPr>
            <a:spLocks noGrp="1"/>
          </p:cNvSpPr>
          <p:nvPr>
            <p:ph type="dt" idx="1"/>
          </p:nvPr>
        </p:nvSpPr>
        <p:spPr>
          <a:xfrm>
            <a:off x="3897313" y="0"/>
            <a:ext cx="2982912" cy="465138"/>
          </a:xfrm>
          <a:prstGeom prst="rect">
            <a:avLst/>
          </a:prstGeom>
        </p:spPr>
        <p:txBody>
          <a:bodyPr vert="horz" lIns="92446" tIns="46223" rIns="92446" bIns="46223" rtlCol="0"/>
          <a:lstStyle>
            <a:lvl1pPr algn="r" eaLnBrk="1" hangingPunct="1">
              <a:defRPr sz="1200">
                <a:latin typeface="Arial" charset="0"/>
              </a:defRPr>
            </a:lvl1pPr>
          </a:lstStyle>
          <a:p>
            <a:pPr>
              <a:defRPr/>
            </a:pPr>
            <a:fld id="{510D3B93-66A8-4010-A51B-D12E976DA272}" type="datetimeFigureOut">
              <a:rPr lang="en-US"/>
              <a:pPr>
                <a:defRPr/>
              </a:pPr>
              <a:t>10/7/24</a:t>
            </a:fld>
            <a:endParaRPr lang="en-US"/>
          </a:p>
        </p:txBody>
      </p:sp>
      <p:sp>
        <p:nvSpPr>
          <p:cNvPr id="4" name="Slide Image Placeholder 3">
            <a:extLst>
              <a:ext uri="{FF2B5EF4-FFF2-40B4-BE49-F238E27FC236}">
                <a16:creationId xmlns:a16="http://schemas.microsoft.com/office/drawing/2014/main" id="{F644B0C1-CA08-4648-AACE-CDDC80FD13E7}"/>
              </a:ext>
            </a:extLst>
          </p:cNvPr>
          <p:cNvSpPr>
            <a:spLocks noGrp="1" noRot="1" noChangeAspect="1"/>
          </p:cNvSpPr>
          <p:nvPr>
            <p:ph type="sldImg" idx="2"/>
          </p:nvPr>
        </p:nvSpPr>
        <p:spPr>
          <a:xfrm>
            <a:off x="1117600" y="696913"/>
            <a:ext cx="4648200" cy="3486150"/>
          </a:xfrm>
          <a:prstGeom prst="rect">
            <a:avLst/>
          </a:prstGeom>
          <a:noFill/>
          <a:ln w="12700">
            <a:solidFill>
              <a:prstClr val="black"/>
            </a:solidFill>
          </a:ln>
        </p:spPr>
        <p:txBody>
          <a:bodyPr vert="horz" lIns="92446" tIns="46223" rIns="92446" bIns="46223" rtlCol="0" anchor="ctr"/>
          <a:lstStyle/>
          <a:p>
            <a:pPr lvl="0"/>
            <a:endParaRPr lang="en-US" noProof="0"/>
          </a:p>
        </p:txBody>
      </p:sp>
      <p:sp>
        <p:nvSpPr>
          <p:cNvPr id="5" name="Notes Placeholder 4">
            <a:extLst>
              <a:ext uri="{FF2B5EF4-FFF2-40B4-BE49-F238E27FC236}">
                <a16:creationId xmlns:a16="http://schemas.microsoft.com/office/drawing/2014/main" id="{E8E4B436-58C1-4E6A-829E-77B53008A4BB}"/>
              </a:ext>
            </a:extLst>
          </p:cNvPr>
          <p:cNvSpPr>
            <a:spLocks noGrp="1"/>
          </p:cNvSpPr>
          <p:nvPr>
            <p:ph type="body" sz="quarter" idx="3"/>
          </p:nvPr>
        </p:nvSpPr>
        <p:spPr>
          <a:xfrm>
            <a:off x="688975" y="4416425"/>
            <a:ext cx="5505450" cy="4183063"/>
          </a:xfrm>
          <a:prstGeom prst="rect">
            <a:avLst/>
          </a:prstGeom>
        </p:spPr>
        <p:txBody>
          <a:bodyPr vert="horz" lIns="92446" tIns="46223" rIns="92446" bIns="4622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C496ECA7-B164-4694-8718-0050F5708C37}"/>
              </a:ext>
            </a:extLst>
          </p:cNvPr>
          <p:cNvSpPr>
            <a:spLocks noGrp="1"/>
          </p:cNvSpPr>
          <p:nvPr>
            <p:ph type="ftr" sz="quarter" idx="4"/>
          </p:nvPr>
        </p:nvSpPr>
        <p:spPr>
          <a:xfrm>
            <a:off x="0" y="8829675"/>
            <a:ext cx="2982913" cy="465138"/>
          </a:xfrm>
          <a:prstGeom prst="rect">
            <a:avLst/>
          </a:prstGeom>
        </p:spPr>
        <p:txBody>
          <a:bodyPr vert="horz" lIns="92446" tIns="46223" rIns="92446" bIns="46223" rtlCol="0" anchor="b"/>
          <a:lstStyle>
            <a:lvl1pPr algn="l" eaLnBrk="1" hangingPunct="1">
              <a:defRPr sz="1200">
                <a:latin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258D2CBC-F90D-45CC-A9C1-7D276EBD2084}"/>
              </a:ext>
            </a:extLst>
          </p:cNvPr>
          <p:cNvSpPr>
            <a:spLocks noGrp="1"/>
          </p:cNvSpPr>
          <p:nvPr>
            <p:ph type="sldNum" sz="quarter" idx="5"/>
          </p:nvPr>
        </p:nvSpPr>
        <p:spPr>
          <a:xfrm>
            <a:off x="3897313" y="8829675"/>
            <a:ext cx="2982912" cy="465138"/>
          </a:xfrm>
          <a:prstGeom prst="rect">
            <a:avLst/>
          </a:prstGeom>
        </p:spPr>
        <p:txBody>
          <a:bodyPr vert="horz" wrap="square" lIns="92446" tIns="46223" rIns="92446" bIns="46223" numCol="1" anchor="b" anchorCtr="0" compatLnSpc="1">
            <a:prstTxWarp prst="textNoShape">
              <a:avLst/>
            </a:prstTxWarp>
          </a:bodyPr>
          <a:lstStyle>
            <a:lvl1pPr algn="r" eaLnBrk="1" hangingPunct="1">
              <a:defRPr sz="1200"/>
            </a:lvl1pPr>
          </a:lstStyle>
          <a:p>
            <a:pPr>
              <a:defRPr/>
            </a:pPr>
            <a:fld id="{7BB2877C-180D-4D5B-9B03-1CE301C5E104}"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BB2877C-180D-4D5B-9B03-1CE301C5E104}" type="slidenum">
              <a:rPr lang="en-US" smtClean="0"/>
              <a:pPr>
                <a:defRPr/>
              </a:pPr>
              <a:t>3</a:t>
            </a:fld>
            <a:endParaRPr lang="en-US"/>
          </a:p>
        </p:txBody>
      </p:sp>
    </p:spTree>
    <p:extLst>
      <p:ext uri="{BB962C8B-B14F-4D97-AF65-F5344CB8AC3E}">
        <p14:creationId xmlns:p14="http://schemas.microsoft.com/office/powerpoint/2010/main" val="15386613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BB2877C-180D-4D5B-9B03-1CE301C5E104}" type="slidenum">
              <a:rPr lang="en-US" smtClean="0"/>
              <a:pPr>
                <a:defRPr/>
              </a:pPr>
              <a:t>4</a:t>
            </a:fld>
            <a:endParaRPr lang="en-US"/>
          </a:p>
        </p:txBody>
      </p:sp>
    </p:spTree>
    <p:extLst>
      <p:ext uri="{BB962C8B-B14F-4D97-AF65-F5344CB8AC3E}">
        <p14:creationId xmlns:p14="http://schemas.microsoft.com/office/powerpoint/2010/main" val="4048745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BB2877C-180D-4D5B-9B03-1CE301C5E104}" type="slidenum">
              <a:rPr lang="en-US" smtClean="0"/>
              <a:pPr>
                <a:defRPr/>
              </a:pPr>
              <a:t>5</a:t>
            </a:fld>
            <a:endParaRPr lang="en-US"/>
          </a:p>
        </p:txBody>
      </p:sp>
    </p:spTree>
    <p:extLst>
      <p:ext uri="{BB962C8B-B14F-4D97-AF65-F5344CB8AC3E}">
        <p14:creationId xmlns:p14="http://schemas.microsoft.com/office/powerpoint/2010/main" val="3974479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endParaRPr lang="en-US" dirty="0"/>
          </a:p>
          <a:p>
            <a:r>
              <a:rPr lang="en-US" dirty="0"/>
              <a:t>**Pay-As-You-Go (PAYG) Social Security System**</a:t>
            </a:r>
          </a:p>
          <a:p>
            <a:endParaRPr lang="en-US" dirty="0"/>
          </a:p>
          <a:p>
            <a:r>
              <a:rPr lang="en-US" dirty="0"/>
              <a:t>**1. Definition:**</a:t>
            </a:r>
          </a:p>
          <a:p>
            <a:endParaRPr lang="en-US" dirty="0"/>
          </a:p>
          <a:p>
            <a:r>
              <a:rPr lang="en-US" dirty="0"/>
              <a:t>The "Pay-As-You-Go" or "PAYG" social security system is a type of social insurance scheme where current workers finance the benefits of current retirees. In essence, today's workers pay for today's retirees, and when today's workers retire themselves, the next generation of workers will pay for them.</a:t>
            </a:r>
          </a:p>
          <a:p>
            <a:endParaRPr lang="en-US" dirty="0"/>
          </a:p>
          <a:p>
            <a:r>
              <a:rPr lang="en-US" dirty="0"/>
              <a:t>**2. How it Works:**</a:t>
            </a:r>
          </a:p>
          <a:p>
            <a:endParaRPr lang="en-US" dirty="0"/>
          </a:p>
          <a:p>
            <a:r>
              <a:rPr lang="en-US" dirty="0"/>
              <a:t>- In a PAYG system, workers pay social security taxes or similar contributions.</a:t>
            </a:r>
          </a:p>
          <a:p>
            <a:r>
              <a:rPr lang="en-US" dirty="0"/>
              <a:t>- These funds are not saved or invested for future retirees but are directly transferred to current retirees as their pension.</a:t>
            </a:r>
          </a:p>
          <a:p>
            <a:r>
              <a:rPr lang="en-US" dirty="0"/>
              <a:t>- When the workers retire, they expect a similar support from the next generation of workers.</a:t>
            </a:r>
          </a:p>
          <a:p>
            <a:endParaRPr lang="en-US" dirty="0"/>
          </a:p>
          <a:p>
            <a:r>
              <a:rPr lang="en-US" dirty="0"/>
              <a:t>**3. Advantages:**</a:t>
            </a:r>
          </a:p>
          <a:p>
            <a:endParaRPr lang="en-US" dirty="0"/>
          </a:p>
          <a:p>
            <a:r>
              <a:rPr lang="en-US" dirty="0"/>
              <a:t>- **Simplicity and Directness:** The PAYG system doesn't require intricate investment strategies or fund management.</a:t>
            </a:r>
          </a:p>
          <a:p>
            <a:r>
              <a:rPr lang="en-US" dirty="0"/>
              <a:t>- **Economic Stimulus:** As retirees often spend their pensions on consumption, this can drive economic activity.</a:t>
            </a:r>
          </a:p>
          <a:p>
            <a:r>
              <a:rPr lang="en-US" dirty="0"/>
              <a:t>- **Addresses Population Imbalances:** In its early stages, the system can be more efficient when there are fewer retirees and many workers.</a:t>
            </a:r>
          </a:p>
          <a:p>
            <a:endParaRPr lang="en-US" dirty="0"/>
          </a:p>
          <a:p>
            <a:r>
              <a:rPr lang="en-US" dirty="0"/>
              <a:t>**4. Disadvantages:**</a:t>
            </a:r>
          </a:p>
          <a:p>
            <a:endParaRPr lang="en-US" dirty="0"/>
          </a:p>
          <a:p>
            <a:r>
              <a:rPr lang="en-US" dirty="0"/>
              <a:t>- **Risk of Aging Population:** The system can run into funding issues when the number of workers decreases and the number of retirees increases.</a:t>
            </a:r>
          </a:p>
          <a:p>
            <a:r>
              <a:rPr lang="en-US" dirty="0"/>
              <a:t>- **Dependence on Future Workers:** The PAYG system is highly dependent on future workers and their contributions.</a:t>
            </a:r>
          </a:p>
          <a:p>
            <a:r>
              <a:rPr lang="en-US" dirty="0"/>
              <a:t>- **Potential Political Risks:** Policymakers might increase tax rates or decrease benefits to ensure the system's continuity.</a:t>
            </a:r>
          </a:p>
          <a:p>
            <a:endParaRPr lang="en-US" dirty="0"/>
          </a:p>
          <a:p>
            <a:r>
              <a:rPr lang="en-US" dirty="0"/>
              <a:t>**5. Conclusion:**</a:t>
            </a:r>
          </a:p>
          <a:p>
            <a:endParaRPr lang="en-US" dirty="0"/>
          </a:p>
          <a:p>
            <a:r>
              <a:rPr lang="en-US" dirty="0"/>
              <a:t>The PAYG social security system is the cornerstone of social security systems in many countries. However, with aging populations in many parts of the world, the sustainability of this system is being questioned. To ensure its long-term viability, many countries are considering reforms to their social security systems, including introducing capitalized elements where part of the funds are invested and earn returns for future retirees.</a:t>
            </a:r>
          </a:p>
        </p:txBody>
      </p:sp>
      <p:sp>
        <p:nvSpPr>
          <p:cNvPr id="4" name="Slide Number Placeholder 3"/>
          <p:cNvSpPr>
            <a:spLocks noGrp="1"/>
          </p:cNvSpPr>
          <p:nvPr>
            <p:ph type="sldNum" sz="quarter" idx="5"/>
          </p:nvPr>
        </p:nvSpPr>
        <p:spPr/>
        <p:txBody>
          <a:bodyPr/>
          <a:lstStyle/>
          <a:p>
            <a:pPr>
              <a:defRPr/>
            </a:pPr>
            <a:fld id="{7BB2877C-180D-4D5B-9B03-1CE301C5E104}" type="slidenum">
              <a:rPr lang="en-US" smtClean="0"/>
              <a:pPr>
                <a:defRPr/>
              </a:pPr>
              <a:t>6</a:t>
            </a:fld>
            <a:endParaRPr lang="en-US"/>
          </a:p>
        </p:txBody>
      </p:sp>
    </p:spTree>
    <p:extLst>
      <p:ext uri="{BB962C8B-B14F-4D97-AF65-F5344CB8AC3E}">
        <p14:creationId xmlns:p14="http://schemas.microsoft.com/office/powerpoint/2010/main" val="9977221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dirty="0"/>
              <a:t>The population decline from 1300 to 1400, particularly in China, was largely driven by a combination of major historical events, natural disasters, and social upheavals. Several key factors contributed to this population decline:</a:t>
            </a:r>
          </a:p>
          <a:p>
            <a:endParaRPr lang="en-US" dirty="0"/>
          </a:p>
          <a:p>
            <a:r>
              <a:rPr lang="en-US" dirty="0"/>
              <a:t>### 1. **The Black Death (Plague)**</a:t>
            </a:r>
          </a:p>
          <a:p>
            <a:r>
              <a:rPr lang="en-US" dirty="0"/>
              <a:t>   - While the Black Death is often associated with Europe, its effects were felt across the entire Eurasian continent, including China. The plague spread along the Silk Road, with estimates suggesting that it significantly impacted population centers in China during the 14th century. Some sources estimate that China lost up to **25 to 50 percent** of its population during this time due to the plague.</a:t>
            </a:r>
          </a:p>
          <a:p>
            <a:endParaRPr lang="en-US" dirty="0"/>
          </a:p>
          <a:p>
            <a:r>
              <a:rPr lang="en-US" dirty="0"/>
              <a:t>### 2. **Mongol Rule and Decline**</a:t>
            </a:r>
          </a:p>
          <a:p>
            <a:r>
              <a:rPr lang="en-US" dirty="0"/>
              <a:t>   - The **Mongol Empire**, particularly under the Yuan Dynasty in China, controlled much of Asia during the 13th and early 14th centuries. However, by the mid-14th century, the empire began to weaken, and the Yuan Dynasty faced severe internal problems, including corruption, rebellion, and economic instability.</a:t>
            </a:r>
          </a:p>
          <a:p>
            <a:r>
              <a:rPr lang="en-US" dirty="0"/>
              <a:t>   - The decline of Mongol control led to widespread **civil unrest** and **rebellions**, culminating in the **Red Turban Rebellion** (1351–1368), which was instrumental in overthrowing the Yuan and establishing the **Ming Dynasty**. The civil wars and rebellions further exacerbated population losses.</a:t>
            </a:r>
          </a:p>
          <a:p>
            <a:endParaRPr lang="en-US" dirty="0"/>
          </a:p>
          <a:p>
            <a:r>
              <a:rPr lang="en-US" dirty="0"/>
              <a:t>### 3. **Famine and Natural Disasters**</a:t>
            </a:r>
          </a:p>
          <a:p>
            <a:r>
              <a:rPr lang="en-US" dirty="0"/>
              <a:t>   - Natural disasters such as **droughts, floods**, and **famine** were frequent in 14th-century China. The Yellow River frequently flooded, displacing large numbers of people and destroying agricultural land. In particular, famines were exacerbated by the breakdown of governmental infrastructure during the fall of the Yuan Dynasty.</a:t>
            </a:r>
          </a:p>
          <a:p>
            <a:r>
              <a:rPr lang="en-US" dirty="0"/>
              <a:t>   - Poor harvests and food shortages worsened the already challenging conditions, leading to widespread starvation and a further reduction in the population.</a:t>
            </a:r>
          </a:p>
          <a:p>
            <a:endParaRPr lang="en-US" dirty="0"/>
          </a:p>
          <a:p>
            <a:r>
              <a:rPr lang="en-US" dirty="0"/>
              <a:t>### 4. **Political Instability**</a:t>
            </a:r>
          </a:p>
          <a:p>
            <a:r>
              <a:rPr lang="en-US" dirty="0"/>
              <a:t>   - The Yuan Dynasty, controlled by the Mongols, struggled to maintain its grip on China. Ethnic tensions between the ruling Mongols and the Chinese population increased, and the widespread corruption and mismanagement of the Yuan court led to rebellion.</a:t>
            </a:r>
          </a:p>
          <a:p>
            <a:r>
              <a:rPr lang="en-US" dirty="0"/>
              <a:t>   - The transition from the Yuan to the **Ming Dynasty** was marked by decades of warfare and destruction, contributing to population loss through violence, forced migration, and disruption of agricultural production.</a:t>
            </a:r>
          </a:p>
          <a:p>
            <a:endParaRPr lang="en-US" dirty="0"/>
          </a:p>
          <a:p>
            <a:r>
              <a:rPr lang="en-US" dirty="0"/>
              <a:t>### Population Impact:</a:t>
            </a:r>
          </a:p>
          <a:p>
            <a:r>
              <a:rPr lang="en-US" dirty="0"/>
              <a:t>The combined effects of the **plague**, **natural disasters**, **political upheaval**, and **civil wars** led to a significant decline in China's population between 1300 and 1400. While exact figures are difficult to determine, some estimates suggest that China’s population might have been reduced by up to **40 million people** during this century, falling from an estimated **120-130 million in 1300** to **about 80-90 million by 1400**.</a:t>
            </a:r>
          </a:p>
          <a:p>
            <a:endParaRPr lang="en-US" dirty="0"/>
          </a:p>
          <a:p>
            <a:r>
              <a:rPr lang="en-US" dirty="0"/>
              <a:t>This decline was part of a broader trend of population loss across the globe, particularly in Eurasia, where the Black Death and related crises had a devastating impact.</a:t>
            </a:r>
          </a:p>
        </p:txBody>
      </p:sp>
      <p:sp>
        <p:nvSpPr>
          <p:cNvPr id="4" name="Slide Number Placeholder 3"/>
          <p:cNvSpPr>
            <a:spLocks noGrp="1"/>
          </p:cNvSpPr>
          <p:nvPr>
            <p:ph type="sldNum" sz="quarter" idx="5"/>
          </p:nvPr>
        </p:nvSpPr>
        <p:spPr/>
        <p:txBody>
          <a:bodyPr/>
          <a:lstStyle/>
          <a:p>
            <a:pPr>
              <a:defRPr/>
            </a:pPr>
            <a:fld id="{7BB2877C-180D-4D5B-9B03-1CE301C5E104}" type="slidenum">
              <a:rPr lang="en-US" smtClean="0"/>
              <a:pPr>
                <a:defRPr/>
              </a:pPr>
              <a:t>14</a:t>
            </a:fld>
            <a:endParaRPr lang="en-US"/>
          </a:p>
        </p:txBody>
      </p:sp>
    </p:spTree>
    <p:extLst>
      <p:ext uri="{BB962C8B-B14F-4D97-AF65-F5344CB8AC3E}">
        <p14:creationId xmlns:p14="http://schemas.microsoft.com/office/powerpoint/2010/main" val="5366563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pPr algn="l"/>
            <a:r>
              <a:rPr lang="en-US" b="1" i="0" u="none" strike="noStrike" dirty="0">
                <a:effectLst/>
                <a:latin typeface="Söhne"/>
              </a:rPr>
              <a:t>Stage I: High Birth Rate, High Death Rate</a:t>
            </a:r>
          </a:p>
          <a:p>
            <a:pPr algn="l">
              <a:buFont typeface="Arial" panose="020B0604020202020204" pitchFamily="34" charset="0"/>
              <a:buChar char="•"/>
            </a:pPr>
            <a:r>
              <a:rPr lang="en-US" b="1" i="0" u="none" strike="noStrike" dirty="0">
                <a:solidFill>
                  <a:srgbClr val="D1D5DB"/>
                </a:solidFill>
                <a:effectLst/>
                <a:latin typeface="Söhne"/>
              </a:rPr>
              <a:t>Characteristics</a:t>
            </a:r>
            <a:r>
              <a:rPr lang="en-US" b="0" i="0" u="none" strike="noStrike" dirty="0">
                <a:solidFill>
                  <a:srgbClr val="D1D5DB"/>
                </a:solidFill>
                <a:effectLst/>
                <a:latin typeface="Söhne"/>
              </a:rPr>
              <a:t>:</a:t>
            </a:r>
          </a:p>
          <a:p>
            <a:pPr marL="742950" lvl="1" indent="-285750" algn="l">
              <a:buFont typeface="Arial" panose="020B0604020202020204" pitchFamily="34" charset="0"/>
              <a:buChar char="•"/>
            </a:pPr>
            <a:r>
              <a:rPr lang="en-US" b="0" i="0" u="none" strike="noStrike" dirty="0">
                <a:solidFill>
                  <a:srgbClr val="D1D5DB"/>
                </a:solidFill>
                <a:effectLst/>
                <a:latin typeface="Söhne"/>
              </a:rPr>
              <a:t>Both birth and death rates are high, so the population size remains fairly stable but can have minor fluctuations.</a:t>
            </a:r>
          </a:p>
          <a:p>
            <a:pPr marL="742950" lvl="1" indent="-285750" algn="l">
              <a:buFont typeface="Arial" panose="020B0604020202020204" pitchFamily="34" charset="0"/>
              <a:buChar char="•"/>
            </a:pPr>
            <a:r>
              <a:rPr lang="en-US" b="0" i="0" u="none" strike="noStrike" dirty="0">
                <a:solidFill>
                  <a:srgbClr val="D1D5DB"/>
                </a:solidFill>
                <a:effectLst/>
                <a:latin typeface="Söhne"/>
              </a:rPr>
              <a:t>High birth rates due to lack of family planning, cultural factors, and economic benefits of having more hands to work.</a:t>
            </a:r>
          </a:p>
          <a:p>
            <a:pPr marL="742950" lvl="1" indent="-285750" algn="l">
              <a:buFont typeface="Arial" panose="020B0604020202020204" pitchFamily="34" charset="0"/>
              <a:buChar char="•"/>
            </a:pPr>
            <a:r>
              <a:rPr lang="en-US" b="0" i="0" u="none" strike="noStrike" dirty="0">
                <a:solidFill>
                  <a:srgbClr val="D1D5DB"/>
                </a:solidFill>
                <a:effectLst/>
                <a:latin typeface="Söhne"/>
              </a:rPr>
              <a:t>High death rates due to diseases, famine, lack of clean water and sanitation, lack of healthcare.</a:t>
            </a:r>
          </a:p>
          <a:p>
            <a:pPr algn="l">
              <a:buFont typeface="Arial" panose="020B0604020202020204" pitchFamily="34" charset="0"/>
              <a:buChar char="•"/>
            </a:pPr>
            <a:r>
              <a:rPr lang="en-US" b="1" i="0" u="none" strike="noStrike" dirty="0">
                <a:solidFill>
                  <a:srgbClr val="D1D5DB"/>
                </a:solidFill>
                <a:effectLst/>
                <a:latin typeface="Söhne"/>
              </a:rPr>
              <a:t>Examples</a:t>
            </a:r>
            <a:r>
              <a:rPr lang="en-US" b="0" i="0" u="none" strike="noStrike" dirty="0">
                <a:solidFill>
                  <a:srgbClr val="D1D5DB"/>
                </a:solidFill>
                <a:effectLst/>
                <a:latin typeface="Söhne"/>
              </a:rPr>
              <a:t>: Pre-industrial societies, few countries are in this stage today.</a:t>
            </a:r>
          </a:p>
          <a:p>
            <a:pPr algn="l">
              <a:buFont typeface="Arial" panose="020B0604020202020204" pitchFamily="34" charset="0"/>
              <a:buChar char="•"/>
            </a:pPr>
            <a:endParaRPr lang="en-US" b="0" i="0" u="none" strike="noStrike" dirty="0">
              <a:solidFill>
                <a:srgbClr val="D1D5DB"/>
              </a:solidFill>
              <a:effectLst/>
              <a:latin typeface="Söhne"/>
            </a:endParaRPr>
          </a:p>
          <a:p>
            <a:pPr algn="l"/>
            <a:r>
              <a:rPr lang="en-US" b="1" i="0" u="none" strike="noStrike" dirty="0">
                <a:effectLst/>
                <a:latin typeface="Söhne"/>
              </a:rPr>
              <a:t>Stage II: Beginning of the Transition</a:t>
            </a:r>
          </a:p>
          <a:p>
            <a:pPr algn="l">
              <a:buFont typeface="Arial" panose="020B0604020202020204" pitchFamily="34" charset="0"/>
              <a:buChar char="•"/>
            </a:pPr>
            <a:r>
              <a:rPr lang="en-US" b="1" i="0" u="none" strike="noStrike" dirty="0">
                <a:solidFill>
                  <a:srgbClr val="D1D5DB"/>
                </a:solidFill>
                <a:effectLst/>
                <a:latin typeface="Söhne"/>
              </a:rPr>
              <a:t>Characteristics</a:t>
            </a:r>
            <a:r>
              <a:rPr lang="en-US" b="0" i="0" u="none" strike="noStrike" dirty="0">
                <a:solidFill>
                  <a:srgbClr val="D1D5DB"/>
                </a:solidFill>
                <a:effectLst/>
                <a:latin typeface="Söhne"/>
              </a:rPr>
              <a:t>:</a:t>
            </a:r>
          </a:p>
          <a:p>
            <a:pPr marL="742950" lvl="1" indent="-285750" algn="l">
              <a:buFont typeface="Arial" panose="020B0604020202020204" pitchFamily="34" charset="0"/>
              <a:buChar char="•"/>
            </a:pPr>
            <a:r>
              <a:rPr lang="en-US" b="0" i="0" u="none" strike="noStrike" dirty="0">
                <a:solidFill>
                  <a:srgbClr val="D1D5DB"/>
                </a:solidFill>
                <a:effectLst/>
                <a:latin typeface="Söhne"/>
              </a:rPr>
              <a:t>Death rates begin to fall rapidly, but birth rates remain high, leading to a surge in population.</a:t>
            </a:r>
          </a:p>
          <a:p>
            <a:pPr marL="742950" lvl="1" indent="-285750" algn="l">
              <a:buFont typeface="Arial" panose="020B0604020202020204" pitchFamily="34" charset="0"/>
              <a:buChar char="•"/>
            </a:pPr>
            <a:r>
              <a:rPr lang="en-US" b="0" i="0" u="none" strike="noStrike" dirty="0">
                <a:solidFill>
                  <a:srgbClr val="D1D5DB"/>
                </a:solidFill>
                <a:effectLst/>
                <a:latin typeface="Söhne"/>
              </a:rPr>
              <a:t>Improvements in healthcare, sanitation, and food supply lead to reduced mortality.</a:t>
            </a:r>
          </a:p>
          <a:p>
            <a:pPr marL="742950" lvl="1" indent="-285750" algn="l">
              <a:buFont typeface="Arial" panose="020B0604020202020204" pitchFamily="34" charset="0"/>
              <a:buChar char="•"/>
            </a:pPr>
            <a:r>
              <a:rPr lang="en-US" b="0" i="0" u="none" strike="noStrike" dirty="0">
                <a:solidFill>
                  <a:srgbClr val="D1D5DB"/>
                </a:solidFill>
                <a:effectLst/>
                <a:latin typeface="Söhne"/>
              </a:rPr>
              <a:t>Birth rates remain high due to cultural values and lack of access to family planning.</a:t>
            </a:r>
          </a:p>
          <a:p>
            <a:pPr algn="l">
              <a:buFont typeface="Arial" panose="020B0604020202020204" pitchFamily="34" charset="0"/>
              <a:buChar char="•"/>
            </a:pPr>
            <a:r>
              <a:rPr lang="en-US" b="1" i="0" u="none" strike="noStrike" dirty="0">
                <a:solidFill>
                  <a:srgbClr val="D1D5DB"/>
                </a:solidFill>
                <a:effectLst/>
                <a:latin typeface="Söhne"/>
              </a:rPr>
              <a:t>Examples</a:t>
            </a:r>
            <a:r>
              <a:rPr lang="en-US" b="0" i="0" u="none" strike="noStrike" dirty="0">
                <a:solidFill>
                  <a:srgbClr val="D1D5DB"/>
                </a:solidFill>
                <a:effectLst/>
                <a:latin typeface="Söhne"/>
              </a:rPr>
              <a:t>: Many sub-Saharan African countries are currently in this stage.</a:t>
            </a:r>
          </a:p>
          <a:p>
            <a:pPr algn="l">
              <a:buFont typeface="Arial" panose="020B0604020202020204" pitchFamily="34" charset="0"/>
              <a:buChar char="•"/>
            </a:pPr>
            <a:endParaRPr lang="en-US" b="0" i="0" u="none" strike="noStrike" dirty="0">
              <a:solidFill>
                <a:srgbClr val="D1D5DB"/>
              </a:solidFill>
              <a:effectLst/>
              <a:latin typeface="Söhne"/>
            </a:endParaRPr>
          </a:p>
          <a:p>
            <a:pPr algn="l"/>
            <a:r>
              <a:rPr lang="en-US" b="1" i="0" u="none" strike="noStrike" dirty="0">
                <a:effectLst/>
                <a:latin typeface="Söhne"/>
              </a:rPr>
              <a:t>Stage III: Decline in the Birth Rate</a:t>
            </a:r>
          </a:p>
          <a:p>
            <a:pPr algn="l">
              <a:buFont typeface="Arial" panose="020B0604020202020204" pitchFamily="34" charset="0"/>
              <a:buChar char="•"/>
            </a:pPr>
            <a:r>
              <a:rPr lang="en-US" b="1" i="0" u="none" strike="noStrike" dirty="0">
                <a:solidFill>
                  <a:srgbClr val="D1D5DB"/>
                </a:solidFill>
                <a:effectLst/>
                <a:latin typeface="Söhne"/>
              </a:rPr>
              <a:t>Characteristics</a:t>
            </a:r>
            <a:r>
              <a:rPr lang="en-US" b="0" i="0" u="none" strike="noStrike" dirty="0">
                <a:solidFill>
                  <a:srgbClr val="D1D5DB"/>
                </a:solidFill>
                <a:effectLst/>
                <a:latin typeface="Söhne"/>
              </a:rPr>
              <a:t>:</a:t>
            </a:r>
          </a:p>
          <a:p>
            <a:pPr marL="742950" lvl="1" indent="-285750" algn="l">
              <a:buFont typeface="Arial" panose="020B0604020202020204" pitchFamily="34" charset="0"/>
              <a:buChar char="•"/>
            </a:pPr>
            <a:r>
              <a:rPr lang="en-US" b="0" i="0" u="none" strike="noStrike" dirty="0">
                <a:solidFill>
                  <a:srgbClr val="D1D5DB"/>
                </a:solidFill>
                <a:effectLst/>
                <a:latin typeface="Söhne"/>
              </a:rPr>
              <a:t>Birth rates start to decline, but the population continues to grow because the base number of young people is already large.</a:t>
            </a:r>
          </a:p>
          <a:p>
            <a:pPr marL="742950" lvl="1" indent="-285750" algn="l">
              <a:buFont typeface="Arial" panose="020B0604020202020204" pitchFamily="34" charset="0"/>
              <a:buChar char="•"/>
            </a:pPr>
            <a:r>
              <a:rPr lang="en-US" b="0" i="0" u="none" strike="noStrike" dirty="0">
                <a:solidFill>
                  <a:srgbClr val="D1D5DB"/>
                </a:solidFill>
                <a:effectLst/>
                <a:latin typeface="Söhne"/>
              </a:rPr>
              <a:t>The decline in birth rate can be attributed to increased access to contraception, improved status and education of women, urbanization, and the desire for smaller families.</a:t>
            </a:r>
          </a:p>
          <a:p>
            <a:pPr marL="742950" lvl="1" indent="-285750" algn="l">
              <a:buFont typeface="Arial" panose="020B0604020202020204" pitchFamily="34" charset="0"/>
              <a:buChar char="•"/>
            </a:pPr>
            <a:r>
              <a:rPr lang="en-US" b="0" i="0" u="none" strike="noStrike" dirty="0">
                <a:solidFill>
                  <a:srgbClr val="D1D5DB"/>
                </a:solidFill>
                <a:effectLst/>
                <a:latin typeface="Söhne"/>
              </a:rPr>
              <a:t>Death rates continue to fall, but at a slower rate than in Stage II.</a:t>
            </a:r>
          </a:p>
          <a:p>
            <a:pPr algn="l">
              <a:buFont typeface="Arial" panose="020B0604020202020204" pitchFamily="34" charset="0"/>
              <a:buChar char="•"/>
            </a:pPr>
            <a:r>
              <a:rPr lang="en-US" b="1" i="0" u="none" strike="noStrike" dirty="0">
                <a:solidFill>
                  <a:srgbClr val="D1D5DB"/>
                </a:solidFill>
                <a:effectLst/>
                <a:latin typeface="Söhne"/>
              </a:rPr>
              <a:t>Examples</a:t>
            </a:r>
            <a:r>
              <a:rPr lang="en-US" b="0" i="0" u="none" strike="noStrike" dirty="0">
                <a:solidFill>
                  <a:srgbClr val="D1D5DB"/>
                </a:solidFill>
                <a:effectLst/>
                <a:latin typeface="Söhne"/>
              </a:rPr>
              <a:t>: Countries like India and Brazil have characteristics of this stage.</a:t>
            </a:r>
          </a:p>
          <a:p>
            <a:pPr algn="l">
              <a:buFont typeface="Arial" panose="020B0604020202020204" pitchFamily="34" charset="0"/>
              <a:buChar char="•"/>
            </a:pPr>
            <a:endParaRPr lang="en-US" b="0" i="0" u="none" strike="noStrike" dirty="0">
              <a:solidFill>
                <a:srgbClr val="D1D5DB"/>
              </a:solidFill>
              <a:effectLst/>
              <a:latin typeface="Söhne"/>
            </a:endParaRPr>
          </a:p>
          <a:p>
            <a:pPr algn="l"/>
            <a:r>
              <a:rPr lang="en-US" b="1" i="0" u="none" strike="noStrike" dirty="0">
                <a:effectLst/>
                <a:latin typeface="Söhne"/>
              </a:rPr>
              <a:t>Stage IV: Population Growth Zero/Negative</a:t>
            </a:r>
          </a:p>
          <a:p>
            <a:pPr algn="l">
              <a:buFont typeface="Arial" panose="020B0604020202020204" pitchFamily="34" charset="0"/>
              <a:buChar char="•"/>
            </a:pPr>
            <a:r>
              <a:rPr lang="en-US" b="1" i="0" u="none" strike="noStrike" dirty="0">
                <a:solidFill>
                  <a:srgbClr val="D1D5DB"/>
                </a:solidFill>
                <a:effectLst/>
                <a:latin typeface="Söhne"/>
              </a:rPr>
              <a:t>Characteristics</a:t>
            </a:r>
            <a:r>
              <a:rPr lang="en-US" b="0" i="0" u="none" strike="noStrike" dirty="0">
                <a:solidFill>
                  <a:srgbClr val="D1D5DB"/>
                </a:solidFill>
                <a:effectLst/>
                <a:latin typeface="Söhne"/>
              </a:rPr>
              <a:t>:</a:t>
            </a:r>
          </a:p>
          <a:p>
            <a:pPr marL="742950" lvl="1" indent="-285750" algn="l">
              <a:buFont typeface="Arial" panose="020B0604020202020204" pitchFamily="34" charset="0"/>
              <a:buChar char="•"/>
            </a:pPr>
            <a:r>
              <a:rPr lang="en-US" b="0" i="0" u="none" strike="noStrike" dirty="0">
                <a:solidFill>
                  <a:srgbClr val="D1D5DB"/>
                </a:solidFill>
                <a:effectLst/>
                <a:latin typeface="Söhne"/>
              </a:rPr>
              <a:t>Both birth and death rates are low, leading to an aging population and, in some cases, a shrinking population.</a:t>
            </a:r>
          </a:p>
          <a:p>
            <a:pPr marL="742950" lvl="1" indent="-285750" algn="l">
              <a:buFont typeface="Arial" panose="020B0604020202020204" pitchFamily="34" charset="0"/>
              <a:buChar char="•"/>
            </a:pPr>
            <a:r>
              <a:rPr lang="en-US" b="0" i="0" u="none" strike="noStrike" dirty="0">
                <a:solidFill>
                  <a:srgbClr val="D1D5DB"/>
                </a:solidFill>
                <a:effectLst/>
                <a:latin typeface="Söhne"/>
              </a:rPr>
              <a:t>Birth rates are low due to urbanization, greater access to contraception, and shifts in values where smaller families are preferred.</a:t>
            </a:r>
          </a:p>
          <a:p>
            <a:pPr marL="742950" lvl="1" indent="-285750" algn="l">
              <a:buFont typeface="Arial" panose="020B0604020202020204" pitchFamily="34" charset="0"/>
              <a:buChar char="•"/>
            </a:pPr>
            <a:r>
              <a:rPr lang="en-US" b="0" i="0" u="none" strike="noStrike" dirty="0">
                <a:solidFill>
                  <a:srgbClr val="D1D5DB"/>
                </a:solidFill>
                <a:effectLst/>
                <a:latin typeface="Söhne"/>
              </a:rPr>
              <a:t>Death rates are low due to advanced healthcare facilities and better living conditions.</a:t>
            </a:r>
          </a:p>
          <a:p>
            <a:pPr algn="l">
              <a:buFont typeface="Arial" panose="020B0604020202020204" pitchFamily="34" charset="0"/>
              <a:buChar char="•"/>
            </a:pPr>
            <a:r>
              <a:rPr lang="en-US" b="1" i="0" u="none" strike="noStrike" dirty="0">
                <a:solidFill>
                  <a:srgbClr val="D1D5DB"/>
                </a:solidFill>
                <a:effectLst/>
                <a:latin typeface="Söhne"/>
              </a:rPr>
              <a:t>Examples</a:t>
            </a:r>
            <a:r>
              <a:rPr lang="en-US" b="0" i="0" u="none" strike="noStrike" dirty="0">
                <a:solidFill>
                  <a:srgbClr val="D1D5DB"/>
                </a:solidFill>
                <a:effectLst/>
                <a:latin typeface="Söhne"/>
              </a:rPr>
              <a:t>: Many developed countries, such as Japan, Germany, and Italy, are in this stage.</a:t>
            </a:r>
          </a:p>
          <a:p>
            <a:br>
              <a:rPr lang="en-US" dirty="0"/>
            </a:br>
            <a:endParaRPr lang="en-US" dirty="0"/>
          </a:p>
        </p:txBody>
      </p:sp>
      <p:sp>
        <p:nvSpPr>
          <p:cNvPr id="4" name="Slide Number Placeholder 3"/>
          <p:cNvSpPr>
            <a:spLocks noGrp="1"/>
          </p:cNvSpPr>
          <p:nvPr>
            <p:ph type="sldNum" sz="quarter" idx="5"/>
          </p:nvPr>
        </p:nvSpPr>
        <p:spPr/>
        <p:txBody>
          <a:bodyPr/>
          <a:lstStyle/>
          <a:p>
            <a:pPr>
              <a:defRPr/>
            </a:pPr>
            <a:fld id="{7BB2877C-180D-4D5B-9B03-1CE301C5E104}" type="slidenum">
              <a:rPr lang="en-US" smtClean="0"/>
              <a:pPr>
                <a:defRPr/>
              </a:pPr>
              <a:t>19</a:t>
            </a:fld>
            <a:endParaRPr lang="en-US"/>
          </a:p>
        </p:txBody>
      </p:sp>
    </p:spTree>
    <p:extLst>
      <p:ext uri="{BB962C8B-B14F-4D97-AF65-F5344CB8AC3E}">
        <p14:creationId xmlns:p14="http://schemas.microsoft.com/office/powerpoint/2010/main" val="24058735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BB2877C-180D-4D5B-9B03-1CE301C5E104}" type="slidenum">
              <a:rPr lang="en-US" smtClean="0"/>
              <a:pPr>
                <a:defRPr/>
              </a:pPr>
              <a:t>20</a:t>
            </a:fld>
            <a:endParaRPr lang="en-US"/>
          </a:p>
        </p:txBody>
      </p:sp>
    </p:spTree>
    <p:extLst>
      <p:ext uri="{BB962C8B-B14F-4D97-AF65-F5344CB8AC3E}">
        <p14:creationId xmlns:p14="http://schemas.microsoft.com/office/powerpoint/2010/main" val="34732913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Times New Roman" panose="02020603050405020304" pitchFamily="18" charset="0"/>
              <a:ea typeface="ヒラギノ角ゴ Pro W3" pitchFamily="122" charset="-128"/>
            </a:endParaRPr>
          </a:p>
        </p:txBody>
      </p:sp>
      <p:sp>
        <p:nvSpPr>
          <p:cNvPr id="245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50888" indent="-287338">
              <a:defRPr>
                <a:solidFill>
                  <a:schemeClr val="tx1"/>
                </a:solidFill>
                <a:latin typeface="Arial" panose="020B0604020202020204" pitchFamily="34" charset="0"/>
                <a:ea typeface="宋体" panose="02010600030101010101" pitchFamily="2" charset="-122"/>
              </a:defRPr>
            </a:lvl2pPr>
            <a:lvl3pPr marL="1154113" indent="-230188">
              <a:defRPr>
                <a:solidFill>
                  <a:schemeClr val="tx1"/>
                </a:solidFill>
                <a:latin typeface="Arial" panose="020B0604020202020204" pitchFamily="34" charset="0"/>
                <a:ea typeface="宋体" panose="02010600030101010101" pitchFamily="2" charset="-122"/>
              </a:defRPr>
            </a:lvl3pPr>
            <a:lvl4pPr marL="1617663" indent="-230188">
              <a:defRPr>
                <a:solidFill>
                  <a:schemeClr val="tx1"/>
                </a:solidFill>
                <a:latin typeface="Arial" panose="020B0604020202020204" pitchFamily="34" charset="0"/>
                <a:ea typeface="宋体" panose="02010600030101010101" pitchFamily="2" charset="-122"/>
              </a:defRPr>
            </a:lvl4pPr>
            <a:lvl5pPr marL="2079625" indent="-230188">
              <a:defRPr>
                <a:solidFill>
                  <a:schemeClr val="tx1"/>
                </a:solidFill>
                <a:latin typeface="Arial" panose="020B0604020202020204" pitchFamily="34" charset="0"/>
                <a:ea typeface="宋体" panose="02010600030101010101" pitchFamily="2" charset="-122"/>
              </a:defRPr>
            </a:lvl5pPr>
            <a:lvl6pPr marL="2536825" indent="-23018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94025" indent="-23018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51225" indent="-23018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908425" indent="-23018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D6B81B7-CEF8-4ACF-B8EC-4888A215BDA6}" type="slidenum">
              <a:rPr lang="en-US" altLang="en-US" smtClean="0">
                <a:latin typeface="Times New Roman" panose="02020603050405020304" pitchFamily="18" charset="0"/>
                <a:ea typeface="ヒラギノ角ゴ Pro W3" pitchFamily="122" charset="-128"/>
              </a:rPr>
              <a:pPr/>
              <a:t>21</a:t>
            </a:fld>
            <a:endParaRPr lang="en-US" altLang="en-US">
              <a:latin typeface="Times New Roman" panose="02020603050405020304" pitchFamily="18" charset="0"/>
              <a:ea typeface="ヒラギノ角ゴ Pro W3" pitchFamily="122"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latin typeface="Times New Roman" panose="02020603050405020304" pitchFamily="18" charset="0"/>
              <a:ea typeface="ヒラギノ角ゴ Pro W3" pitchFamily="122" charset="-128"/>
            </a:endParaRPr>
          </a:p>
        </p:txBody>
      </p:sp>
      <p:sp>
        <p:nvSpPr>
          <p:cNvPr id="276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50888" indent="-287338">
              <a:defRPr>
                <a:solidFill>
                  <a:schemeClr val="tx1"/>
                </a:solidFill>
                <a:latin typeface="Arial" panose="020B0604020202020204" pitchFamily="34" charset="0"/>
                <a:ea typeface="宋体" panose="02010600030101010101" pitchFamily="2" charset="-122"/>
              </a:defRPr>
            </a:lvl2pPr>
            <a:lvl3pPr marL="1154113" indent="-230188">
              <a:defRPr>
                <a:solidFill>
                  <a:schemeClr val="tx1"/>
                </a:solidFill>
                <a:latin typeface="Arial" panose="020B0604020202020204" pitchFamily="34" charset="0"/>
                <a:ea typeface="宋体" panose="02010600030101010101" pitchFamily="2" charset="-122"/>
              </a:defRPr>
            </a:lvl3pPr>
            <a:lvl4pPr marL="1617663" indent="-230188">
              <a:defRPr>
                <a:solidFill>
                  <a:schemeClr val="tx1"/>
                </a:solidFill>
                <a:latin typeface="Arial" panose="020B0604020202020204" pitchFamily="34" charset="0"/>
                <a:ea typeface="宋体" panose="02010600030101010101" pitchFamily="2" charset="-122"/>
              </a:defRPr>
            </a:lvl4pPr>
            <a:lvl5pPr marL="2079625" indent="-230188">
              <a:defRPr>
                <a:solidFill>
                  <a:schemeClr val="tx1"/>
                </a:solidFill>
                <a:latin typeface="Arial" panose="020B0604020202020204" pitchFamily="34" charset="0"/>
                <a:ea typeface="宋体" panose="02010600030101010101" pitchFamily="2" charset="-122"/>
              </a:defRPr>
            </a:lvl5pPr>
            <a:lvl6pPr marL="2536825" indent="-23018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94025" indent="-23018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51225" indent="-23018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908425" indent="-23018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13D3139-EA45-4AFE-98CF-8388DCE3CE47}" type="slidenum">
              <a:rPr lang="en-US" altLang="en-US" smtClean="0">
                <a:latin typeface="Times New Roman" panose="02020603050405020304" pitchFamily="18" charset="0"/>
                <a:ea typeface="ヒラギノ角ゴ Pro W3" pitchFamily="122" charset="-128"/>
              </a:rPr>
              <a:pPr/>
              <a:t>23</a:t>
            </a:fld>
            <a:endParaRPr lang="en-US" altLang="en-US">
              <a:latin typeface="Times New Roman" panose="02020603050405020304" pitchFamily="18" charset="0"/>
              <a:ea typeface="ヒラギノ角ゴ Pro W3" pitchFamily="122"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70000" lnSpcReduction="20000"/>
          </a:bodyPr>
          <a:lstStyle/>
          <a:p>
            <a:pPr algn="l"/>
            <a:r>
              <a:rPr lang="en-US" b="0" i="0" u="none" strike="noStrike" dirty="0">
                <a:solidFill>
                  <a:srgbClr val="D1D5DB"/>
                </a:solidFill>
                <a:effectLst/>
                <a:latin typeface="Söhne"/>
              </a:rPr>
              <a:t>Over time, various criticisms have been leveled against the Malthusian model:</a:t>
            </a:r>
          </a:p>
          <a:p>
            <a:pPr algn="l"/>
            <a:endParaRPr lang="en-US" b="0" i="0" u="none" strike="noStrike" dirty="0">
              <a:solidFill>
                <a:srgbClr val="D1D5DB"/>
              </a:solidFill>
              <a:effectLst/>
              <a:latin typeface="Söhne"/>
            </a:endParaRPr>
          </a:p>
          <a:p>
            <a:pPr algn="l"/>
            <a:r>
              <a:rPr lang="en-US" b="1" i="0" u="none" strike="noStrike" dirty="0">
                <a:effectLst/>
                <a:latin typeface="Söhne"/>
              </a:rPr>
              <a:t>1. Impact of Technological Progress:</a:t>
            </a:r>
          </a:p>
          <a:p>
            <a:pPr algn="l"/>
            <a:r>
              <a:rPr lang="en-US" b="0" i="0" u="none" strike="noStrike" dirty="0">
                <a:solidFill>
                  <a:srgbClr val="D1D5DB"/>
                </a:solidFill>
                <a:effectLst/>
                <a:latin typeface="Söhne"/>
              </a:rPr>
              <a:t>Malthus did not anticipate the scale and impact of technological and agricultural innovations in increasing food production.</a:t>
            </a:r>
          </a:p>
          <a:p>
            <a:pPr algn="l">
              <a:buFont typeface="Arial" panose="020B0604020202020204" pitchFamily="34" charset="0"/>
              <a:buChar char="•"/>
            </a:pPr>
            <a:r>
              <a:rPr lang="en-US" b="1" i="0" u="none" strike="noStrike" dirty="0">
                <a:solidFill>
                  <a:srgbClr val="D1D5DB"/>
                </a:solidFill>
                <a:effectLst/>
                <a:latin typeface="Söhne"/>
              </a:rPr>
              <a:t>Green Revolution</a:t>
            </a:r>
            <a:r>
              <a:rPr lang="en-US" b="0" i="0" u="none" strike="noStrike" dirty="0">
                <a:solidFill>
                  <a:srgbClr val="D1D5DB"/>
                </a:solidFill>
                <a:effectLst/>
                <a:latin typeface="Söhne"/>
              </a:rPr>
              <a:t>: In the 20th century, the introduction of high-yield crop varieties, synthetic fertilizers, and improved irrigation techniques significantly boosted food production in many parts of the world.</a:t>
            </a:r>
          </a:p>
          <a:p>
            <a:pPr algn="l">
              <a:buFont typeface="Arial" panose="020B0604020202020204" pitchFamily="34" charset="0"/>
              <a:buChar char="•"/>
            </a:pPr>
            <a:r>
              <a:rPr lang="en-US" b="1" i="0" u="none" strike="noStrike" dirty="0">
                <a:solidFill>
                  <a:srgbClr val="D1D5DB"/>
                </a:solidFill>
                <a:effectLst/>
                <a:latin typeface="Söhne"/>
              </a:rPr>
              <a:t>Technological Advancements</a:t>
            </a:r>
            <a:r>
              <a:rPr lang="en-US" b="0" i="0" u="none" strike="noStrike" dirty="0">
                <a:solidFill>
                  <a:srgbClr val="D1D5DB"/>
                </a:solidFill>
                <a:effectLst/>
                <a:latin typeface="Söhne"/>
              </a:rPr>
              <a:t>: Innovations in transportation, refrigeration, and other technologies have made it easier to distribute food more efficiently and reduce wastage.</a:t>
            </a:r>
          </a:p>
          <a:p>
            <a:pPr algn="l">
              <a:buFont typeface="Arial" panose="020B0604020202020204" pitchFamily="34" charset="0"/>
              <a:buChar char="•"/>
            </a:pPr>
            <a:r>
              <a:rPr lang="en-US" b="1" i="0" u="none" strike="noStrike" dirty="0">
                <a:solidFill>
                  <a:srgbClr val="D1D5DB"/>
                </a:solidFill>
                <a:effectLst/>
                <a:latin typeface="Söhne"/>
              </a:rPr>
              <a:t>Biotechnology</a:t>
            </a:r>
            <a:r>
              <a:rPr lang="en-US" b="0" i="0" u="none" strike="noStrike" dirty="0">
                <a:solidFill>
                  <a:srgbClr val="D1D5DB"/>
                </a:solidFill>
                <a:effectLst/>
                <a:latin typeface="Söhne"/>
              </a:rPr>
              <a:t>: Genetic modification and other biotechnological advancements have further enhanced crop yields and resistance to pests and diseases.</a:t>
            </a:r>
          </a:p>
          <a:p>
            <a:pPr algn="l">
              <a:buFont typeface="Arial" panose="020B0604020202020204" pitchFamily="34" charset="0"/>
              <a:buChar char="•"/>
            </a:pPr>
            <a:endParaRPr lang="en-US" b="0" i="0" u="none" strike="noStrike" dirty="0">
              <a:solidFill>
                <a:srgbClr val="D1D5DB"/>
              </a:solidFill>
              <a:effectLst/>
              <a:latin typeface="Söhne"/>
            </a:endParaRPr>
          </a:p>
          <a:p>
            <a:pPr algn="l"/>
            <a:r>
              <a:rPr lang="en-US" b="1" i="0" u="none" strike="noStrike" dirty="0">
                <a:effectLst/>
                <a:latin typeface="Söhne"/>
              </a:rPr>
              <a:t>2. No Positive Correlation Between Population Growth and Levels of Per Capita Income:</a:t>
            </a:r>
          </a:p>
          <a:p>
            <a:pPr algn="l">
              <a:buFont typeface="Arial" panose="020B0604020202020204" pitchFamily="34" charset="0"/>
              <a:buChar char="•"/>
            </a:pPr>
            <a:r>
              <a:rPr lang="en-US" b="1" i="0" u="none" strike="noStrike" dirty="0">
                <a:solidFill>
                  <a:srgbClr val="D1D5DB"/>
                </a:solidFill>
                <a:effectLst/>
                <a:latin typeface="Söhne"/>
              </a:rPr>
              <a:t>Counterexamples</a:t>
            </a:r>
            <a:r>
              <a:rPr lang="en-US" b="0" i="0" u="none" strike="noStrike" dirty="0">
                <a:solidFill>
                  <a:srgbClr val="D1D5DB"/>
                </a:solidFill>
                <a:effectLst/>
                <a:latin typeface="Söhne"/>
              </a:rPr>
              <a:t>: Many countries with high population growth in the 20th century, like China and India, have seen significant economic growth and rises in per capita income. Conversely, some countries with low or negative population growth have faced economic stagnation.</a:t>
            </a:r>
          </a:p>
          <a:p>
            <a:pPr algn="l">
              <a:buFont typeface="Arial" panose="020B0604020202020204" pitchFamily="34" charset="0"/>
              <a:buChar char="•"/>
            </a:pPr>
            <a:r>
              <a:rPr lang="en-US" b="1" i="0" u="none" strike="noStrike" dirty="0">
                <a:solidFill>
                  <a:srgbClr val="D1D5DB"/>
                </a:solidFill>
                <a:effectLst/>
                <a:latin typeface="Söhne"/>
              </a:rPr>
              <a:t>Role of Institutions</a:t>
            </a:r>
            <a:r>
              <a:rPr lang="en-US" b="0" i="0" u="none" strike="noStrike" dirty="0">
                <a:solidFill>
                  <a:srgbClr val="D1D5DB"/>
                </a:solidFill>
                <a:effectLst/>
                <a:latin typeface="Söhne"/>
              </a:rPr>
              <a:t>: Modern economists argue that the quality of institutions—like rule of law, property rights, and effective governance—play a more significant role in determining economic outcomes than just population growth.</a:t>
            </a:r>
          </a:p>
          <a:p>
            <a:pPr algn="l">
              <a:buFont typeface="Arial" panose="020B0604020202020204" pitchFamily="34" charset="0"/>
              <a:buChar char="•"/>
            </a:pPr>
            <a:r>
              <a:rPr lang="en-US" b="1" i="0" u="none" strike="noStrike" dirty="0">
                <a:solidFill>
                  <a:srgbClr val="D1D5DB"/>
                </a:solidFill>
                <a:effectLst/>
                <a:latin typeface="Söhne"/>
              </a:rPr>
              <a:t>Human Capital</a:t>
            </a:r>
            <a:r>
              <a:rPr lang="en-US" b="0" i="0" u="none" strike="noStrike" dirty="0">
                <a:solidFill>
                  <a:srgbClr val="D1D5DB"/>
                </a:solidFill>
                <a:effectLst/>
                <a:latin typeface="Söhne"/>
              </a:rPr>
              <a:t>: An increasing population, when equipped with education and training, can lead to a "demographic dividend" where the workforce grows faster than the dependent population, leading to rapid economic growth.</a:t>
            </a:r>
          </a:p>
          <a:p>
            <a:pPr algn="l">
              <a:buFont typeface="Arial" panose="020B0604020202020204" pitchFamily="34" charset="0"/>
              <a:buChar char="•"/>
            </a:pPr>
            <a:endParaRPr lang="en-US" b="0" i="0" u="none" strike="noStrike" dirty="0">
              <a:solidFill>
                <a:srgbClr val="D1D5DB"/>
              </a:solidFill>
              <a:effectLst/>
              <a:latin typeface="Söhne"/>
            </a:endParaRPr>
          </a:p>
          <a:p>
            <a:pPr algn="l"/>
            <a:r>
              <a:rPr lang="en-US" b="1" i="0" u="none" strike="noStrike" dirty="0">
                <a:effectLst/>
                <a:latin typeface="Söhne"/>
              </a:rPr>
              <a:t>3. Socio-cultural Changes:</a:t>
            </a:r>
          </a:p>
          <a:p>
            <a:pPr algn="l"/>
            <a:r>
              <a:rPr lang="en-US" b="0" i="0" u="none" strike="noStrike" dirty="0">
                <a:solidFill>
                  <a:srgbClr val="D1D5DB"/>
                </a:solidFill>
                <a:effectLst/>
                <a:latin typeface="Söhne"/>
              </a:rPr>
              <a:t>Malthus did not anticipate socio-cultural changes that would influence birth rates. With urbanization, increased education, especially of women, and the availability of contraceptives, birth rates in many parts of the world have declined significantly.</a:t>
            </a:r>
          </a:p>
          <a:p>
            <a:pPr algn="l"/>
            <a:endParaRPr lang="en-US" b="0" i="0" u="none" strike="noStrike" dirty="0">
              <a:solidFill>
                <a:srgbClr val="D1D5DB"/>
              </a:solidFill>
              <a:effectLst/>
              <a:latin typeface="Söhne"/>
            </a:endParaRPr>
          </a:p>
          <a:p>
            <a:pPr algn="l"/>
            <a:r>
              <a:rPr lang="en-US" b="1" i="0" u="none" strike="noStrike" dirty="0">
                <a:effectLst/>
                <a:latin typeface="Söhne"/>
              </a:rPr>
              <a:t>4. Adaptability of Humans:</a:t>
            </a:r>
          </a:p>
          <a:p>
            <a:pPr algn="l"/>
            <a:r>
              <a:rPr lang="en-US" b="0" i="0" u="none" strike="noStrike" dirty="0">
                <a:solidFill>
                  <a:srgbClr val="D1D5DB"/>
                </a:solidFill>
                <a:effectLst/>
                <a:latin typeface="Söhne"/>
              </a:rPr>
              <a:t>Humans have shown a remarkable ability to adapt to changing circumstances. Whether through migration, changes in dietary habits, or other social adjustments, societies have managed to stave off the kind of Malthusian crises that the model predicts.</a:t>
            </a:r>
          </a:p>
          <a:p>
            <a:pPr algn="l"/>
            <a:endParaRPr lang="en-US" b="0" i="0" u="none" strike="noStrike" dirty="0">
              <a:solidFill>
                <a:srgbClr val="D1D5DB"/>
              </a:solidFill>
              <a:effectLst/>
              <a:latin typeface="Söhne"/>
            </a:endParaRPr>
          </a:p>
          <a:p>
            <a:pPr algn="l"/>
            <a:r>
              <a:rPr lang="en-US" b="1" i="0" u="none" strike="noStrike" dirty="0">
                <a:effectLst/>
                <a:latin typeface="Söhne"/>
              </a:rPr>
              <a:t>5. Overemphasis on Food:</a:t>
            </a:r>
          </a:p>
          <a:p>
            <a:pPr algn="l"/>
            <a:r>
              <a:rPr lang="en-US" b="0" i="0" u="none" strike="noStrike" dirty="0">
                <a:solidFill>
                  <a:srgbClr val="D1D5DB"/>
                </a:solidFill>
                <a:effectLst/>
                <a:latin typeface="Söhne"/>
              </a:rPr>
              <a:t>While Malthus focused primarily on food, he did not consider other resources that might become scarce with overpopulation, nor did he consider the impact of overconsumption on the environment.</a:t>
            </a:r>
          </a:p>
          <a:p>
            <a:endParaRPr lang="en-US" altLang="en-US" dirty="0">
              <a:ea typeface="MS PGothic"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MS PGothic"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br>
              <a:rPr lang="en-US" b="1" dirty="0">
                <a:effectLst/>
              </a:rPr>
            </a:br>
            <a:r>
              <a:rPr lang="en-US" b="1" dirty="0">
                <a:effectLst/>
              </a:rPr>
              <a:t>People are Rational</a:t>
            </a:r>
            <a:r>
              <a:rPr lang="en-US" dirty="0">
                <a:effectLst/>
              </a:rPr>
              <a:t>:</a:t>
            </a:r>
          </a:p>
          <a:p>
            <a:pPr>
              <a:buFont typeface="Arial" panose="020B0604020202020204" pitchFamily="34" charset="0"/>
              <a:buChar char="•"/>
            </a:pPr>
            <a:r>
              <a:rPr lang="en-US" dirty="0">
                <a:effectLst/>
              </a:rPr>
              <a:t>This is a fundamental assumption in many economic models. In the context of household decisions, Becker posits that individuals and families make choices that maximize their utility or happiness, given their constraints (like income and time).</a:t>
            </a:r>
          </a:p>
          <a:p>
            <a:pPr>
              <a:buFont typeface="Arial" panose="020B0604020202020204" pitchFamily="34" charset="0"/>
              <a:buChar char="•"/>
            </a:pPr>
            <a:r>
              <a:rPr lang="en-US" dirty="0">
                <a:effectLst/>
              </a:rPr>
              <a:t>Decisions about marriage, having children, and investing in their education are all made by weighing the benefits against the costs, just as one might decide to buy a car or take a job.</a:t>
            </a:r>
          </a:p>
          <a:p>
            <a:pPr>
              <a:buFont typeface="Arial" panose="020B0604020202020204" pitchFamily="34" charset="0"/>
              <a:buChar char="•"/>
            </a:pPr>
            <a:endParaRPr lang="en-US" dirty="0">
              <a:effectLst/>
            </a:endParaRPr>
          </a:p>
          <a:p>
            <a:r>
              <a:rPr lang="en-US" b="1" dirty="0">
                <a:effectLst/>
              </a:rPr>
              <a:t>Children as Durable Consumption Goods</a:t>
            </a:r>
            <a:r>
              <a:rPr lang="en-US" dirty="0">
                <a:effectLst/>
              </a:rPr>
              <a:t>:</a:t>
            </a:r>
          </a:p>
          <a:p>
            <a:pPr>
              <a:buFont typeface="Arial" panose="020B0604020202020204" pitchFamily="34" charset="0"/>
              <a:buChar char="•"/>
            </a:pPr>
            <a:r>
              <a:rPr lang="en-US" dirty="0">
                <a:effectLst/>
              </a:rPr>
              <a:t>This is a provocative way to think about children. In traditional economic terms, a "durable good" is something that provides utility over a long period, like a house or a car.</a:t>
            </a:r>
          </a:p>
          <a:p>
            <a:pPr>
              <a:buFont typeface="Arial" panose="020B0604020202020204" pitchFamily="34" charset="0"/>
              <a:buChar char="•"/>
            </a:pPr>
            <a:r>
              <a:rPr lang="en-US" dirty="0">
                <a:effectLst/>
              </a:rPr>
              <a:t>In Becker's view, children provide utility to their parents in many ways: they offer companionship, they might provide economic support in old age, and they carry on the family's legacy. But they also come with costs: they require time, money, and other resources.</a:t>
            </a:r>
          </a:p>
          <a:p>
            <a:pPr>
              <a:buFont typeface="Arial" panose="020B0604020202020204" pitchFamily="34" charset="0"/>
              <a:buChar char="•"/>
            </a:pPr>
            <a:r>
              <a:rPr lang="en-US" dirty="0">
                <a:effectLst/>
              </a:rPr>
              <a:t>Importantly, children differ from typical consumption goods because they also provide "psychic income" — non-tangible benefits like love, joy, and fulfillment.</a:t>
            </a:r>
          </a:p>
          <a:p>
            <a:pPr>
              <a:buFont typeface="Arial" panose="020B0604020202020204" pitchFamily="34" charset="0"/>
              <a:buChar char="•"/>
            </a:pPr>
            <a:endParaRPr lang="en-US" dirty="0">
              <a:effectLst/>
            </a:endParaRPr>
          </a:p>
          <a:p>
            <a:r>
              <a:rPr lang="en-US" b="1" dirty="0">
                <a:effectLst/>
              </a:rPr>
              <a:t>Couples Maximize Utility by Choosing Quantity of Children</a:t>
            </a:r>
            <a:r>
              <a:rPr lang="en-US" dirty="0">
                <a:effectLst/>
              </a:rPr>
              <a:t>:</a:t>
            </a:r>
          </a:p>
          <a:p>
            <a:pPr>
              <a:buFont typeface="Arial" panose="020B0604020202020204" pitchFamily="34" charset="0"/>
              <a:buChar char="•"/>
            </a:pPr>
            <a:r>
              <a:rPr lang="en-US" dirty="0">
                <a:effectLst/>
              </a:rPr>
              <a:t>According to Becker, couples decide on the number of children in much the same way they might decide on how many cars to buy or how large a house to purchase. They consider their budget (both in terms of money and time) and choose the number of children that maximizes their utility.</a:t>
            </a:r>
          </a:p>
          <a:p>
            <a:pPr>
              <a:buFont typeface="Arial" panose="020B0604020202020204" pitchFamily="34" charset="0"/>
              <a:buChar char="•"/>
            </a:pPr>
            <a:r>
              <a:rPr lang="en-US" dirty="0">
                <a:effectLst/>
              </a:rPr>
              <a:t>This decision is also influenced by the "price" of children in terms of direct costs (like food, clothing, and education) and indirect costs (like foregone wages if a parent stays home from work). As the "price" of having more children rises, either due to increased economic costs or due to changes in societal norms and values, families may choose to have fewer children.</a:t>
            </a:r>
          </a:p>
          <a:p>
            <a:pPr>
              <a:buFont typeface="Arial" panose="020B0604020202020204" pitchFamily="34" charset="0"/>
              <a:buChar char="•"/>
            </a:pPr>
            <a:r>
              <a:rPr lang="en-US" dirty="0">
                <a:effectLst/>
              </a:rPr>
              <a:t>Becker's model also predicts that wealthier and more educated couples might choose to have fewer children but invest more in each child's education and well-being, a phenomenon observed in many developed countries.</a:t>
            </a:r>
          </a:p>
          <a:p>
            <a:endParaRPr lang="en-US" dirty="0"/>
          </a:p>
        </p:txBody>
      </p:sp>
      <p:sp>
        <p:nvSpPr>
          <p:cNvPr id="4" name="Slide Number Placeholder 3"/>
          <p:cNvSpPr>
            <a:spLocks noGrp="1"/>
          </p:cNvSpPr>
          <p:nvPr>
            <p:ph type="sldNum" sz="quarter" idx="5"/>
          </p:nvPr>
        </p:nvSpPr>
        <p:spPr/>
        <p:txBody>
          <a:bodyPr/>
          <a:lstStyle/>
          <a:p>
            <a:pPr>
              <a:defRPr/>
            </a:pPr>
            <a:fld id="{7BB2877C-180D-4D5B-9B03-1CE301C5E104}" type="slidenum">
              <a:rPr lang="en-US" smtClean="0"/>
              <a:pPr>
                <a:defRPr/>
              </a:pPr>
              <a:t>27</a:t>
            </a:fld>
            <a:endParaRPr lang="en-US"/>
          </a:p>
        </p:txBody>
      </p:sp>
    </p:spTree>
    <p:extLst>
      <p:ext uri="{BB962C8B-B14F-4D97-AF65-F5344CB8AC3E}">
        <p14:creationId xmlns:p14="http://schemas.microsoft.com/office/powerpoint/2010/main" val="28995035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55000" lnSpcReduction="20000"/>
          </a:bodyPr>
          <a:lstStyle/>
          <a:p>
            <a:pPr algn="l"/>
            <a:br>
              <a:rPr lang="en-US" b="1" i="0" u="none" strike="noStrike" dirty="0">
                <a:effectLst/>
                <a:latin typeface="Söhne"/>
              </a:rPr>
            </a:br>
            <a:r>
              <a:rPr lang="en-US" b="1" i="0" u="none" strike="noStrike" dirty="0">
                <a:effectLst/>
                <a:latin typeface="Söhne"/>
              </a:rPr>
              <a:t>1. Children as “Consumer Goods”:</a:t>
            </a:r>
          </a:p>
          <a:p>
            <a:pPr algn="l"/>
            <a:r>
              <a:rPr lang="en-US" b="0" i="0" u="none" strike="noStrike" dirty="0">
                <a:solidFill>
                  <a:srgbClr val="D1D5DB"/>
                </a:solidFill>
                <a:effectLst/>
                <a:latin typeface="Söhne"/>
              </a:rPr>
              <a:t>This perspective views the first two or three children as sources of immediate personal, emotional, or social satisfaction for the parents. These children are seen as:</a:t>
            </a:r>
          </a:p>
          <a:p>
            <a:pPr algn="l">
              <a:buFont typeface="Arial" panose="020B0604020202020204" pitchFamily="34" charset="0"/>
              <a:buChar char="•"/>
            </a:pPr>
            <a:r>
              <a:rPr lang="en-US" b="1" i="0" u="none" strike="noStrike" dirty="0">
                <a:solidFill>
                  <a:srgbClr val="D1D5DB"/>
                </a:solidFill>
                <a:effectLst/>
                <a:latin typeface="Söhne"/>
              </a:rPr>
              <a:t>Joy and Emotional Satisfaction</a:t>
            </a:r>
            <a:r>
              <a:rPr lang="en-US" b="0" i="0" u="none" strike="noStrike" dirty="0">
                <a:solidFill>
                  <a:srgbClr val="D1D5DB"/>
                </a:solidFill>
                <a:effectLst/>
                <a:latin typeface="Söhne"/>
              </a:rPr>
              <a:t>: The intrinsic joy of parenthood, the happiness and love children bring into a family, are primary reasons for having kids, irrespective of any economic considerations.</a:t>
            </a:r>
          </a:p>
          <a:p>
            <a:pPr algn="l">
              <a:buFont typeface="Arial" panose="020B0604020202020204" pitchFamily="34" charset="0"/>
              <a:buChar char="•"/>
            </a:pPr>
            <a:r>
              <a:rPr lang="en-US" b="1" i="0" u="none" strike="noStrike" dirty="0">
                <a:solidFill>
                  <a:srgbClr val="D1D5DB"/>
                </a:solidFill>
                <a:effectLst/>
                <a:latin typeface="Söhne"/>
              </a:rPr>
              <a:t>Social Norms and Status</a:t>
            </a:r>
            <a:r>
              <a:rPr lang="en-US" b="0" i="0" u="none" strike="noStrike" dirty="0">
                <a:solidFill>
                  <a:srgbClr val="D1D5DB"/>
                </a:solidFill>
                <a:effectLst/>
                <a:latin typeface="Söhne"/>
              </a:rPr>
              <a:t>: In many societies, having children is an expected social norm, and the inability or choice not to have children can sometimes lead to social ostracization or pity.</a:t>
            </a:r>
          </a:p>
          <a:p>
            <a:pPr algn="l">
              <a:buFont typeface="Arial" panose="020B0604020202020204" pitchFamily="34" charset="0"/>
              <a:buChar char="•"/>
            </a:pPr>
            <a:r>
              <a:rPr lang="en-US" b="1" i="0" u="none" strike="noStrike" dirty="0">
                <a:solidFill>
                  <a:srgbClr val="D1D5DB"/>
                </a:solidFill>
                <a:effectLst/>
                <a:latin typeface="Söhne"/>
              </a:rPr>
              <a:t>Cultural and Religious Imperatives</a:t>
            </a:r>
            <a:r>
              <a:rPr lang="en-US" b="0" i="0" u="none" strike="noStrike" dirty="0">
                <a:solidFill>
                  <a:srgbClr val="D1D5DB"/>
                </a:solidFill>
                <a:effectLst/>
                <a:latin typeface="Söhne"/>
              </a:rPr>
              <a:t>: Some religious and cultural beliefs emphasize the importance of procreation, viewing children as blessings or gifts from the divine.</a:t>
            </a:r>
          </a:p>
          <a:p>
            <a:pPr algn="l">
              <a:buFont typeface="Arial" panose="020B0604020202020204" pitchFamily="34" charset="0"/>
              <a:buChar char="•"/>
            </a:pPr>
            <a:endParaRPr lang="en-US" b="0" i="0" u="none" strike="noStrike" dirty="0">
              <a:solidFill>
                <a:srgbClr val="D1D5DB"/>
              </a:solidFill>
              <a:effectLst/>
              <a:latin typeface="Söhne"/>
            </a:endParaRPr>
          </a:p>
          <a:p>
            <a:pPr algn="l"/>
            <a:r>
              <a:rPr lang="en-US" b="1" i="0" u="none" strike="noStrike" dirty="0">
                <a:effectLst/>
                <a:latin typeface="Söhne"/>
              </a:rPr>
              <a:t>2. Additional Children as “Investment Goods”:</a:t>
            </a:r>
          </a:p>
          <a:p>
            <a:pPr algn="l"/>
            <a:r>
              <a:rPr lang="en-US" b="0" i="0" u="none" strike="noStrike" dirty="0">
                <a:solidFill>
                  <a:srgbClr val="D1D5DB"/>
                </a:solidFill>
                <a:effectLst/>
                <a:latin typeface="Söhne"/>
              </a:rPr>
              <a:t>Beyond the immediate joy and social reasons, any additional children are often perceived from a more utilitarian perspective. They are seen as potential contributors to the family's economic well-being. In this context, children can be:</a:t>
            </a:r>
          </a:p>
          <a:p>
            <a:pPr algn="l">
              <a:buFont typeface="Arial" panose="020B0604020202020204" pitchFamily="34" charset="0"/>
              <a:buChar char="•"/>
            </a:pPr>
            <a:r>
              <a:rPr lang="en-US" b="1" i="0" u="none" strike="noStrike" dirty="0">
                <a:solidFill>
                  <a:srgbClr val="D1D5DB"/>
                </a:solidFill>
                <a:effectLst/>
                <a:latin typeface="Söhne"/>
              </a:rPr>
              <a:t>Labor Force in Agriculture</a:t>
            </a:r>
            <a:r>
              <a:rPr lang="en-US" b="0" i="0" u="none" strike="noStrike" dirty="0">
                <a:solidFill>
                  <a:srgbClr val="D1D5DB"/>
                </a:solidFill>
                <a:effectLst/>
                <a:latin typeface="Söhne"/>
              </a:rPr>
              <a:t>: In agrarian societies, larger families mean more hands to work on the family farm. Children can help in sowing, harvesting, tending to livestock, and other agricultural activities, contributing directly to the family's livelihood.</a:t>
            </a:r>
          </a:p>
          <a:p>
            <a:pPr algn="l">
              <a:buFont typeface="Arial" panose="020B0604020202020204" pitchFamily="34" charset="0"/>
              <a:buChar char="•"/>
            </a:pPr>
            <a:r>
              <a:rPr lang="en-US" b="1" i="0" u="none" strike="noStrike" dirty="0">
                <a:solidFill>
                  <a:srgbClr val="D1D5DB"/>
                </a:solidFill>
                <a:effectLst/>
                <a:latin typeface="Söhne"/>
              </a:rPr>
              <a:t>Contributors to Family Microenterprises</a:t>
            </a:r>
            <a:r>
              <a:rPr lang="en-US" b="0" i="0" u="none" strike="noStrike" dirty="0">
                <a:solidFill>
                  <a:srgbClr val="D1D5DB"/>
                </a:solidFill>
                <a:effectLst/>
                <a:latin typeface="Söhne"/>
              </a:rPr>
              <a:t>: In urban settings or areas with small family businesses, children might assist in family-run shops, crafts, or other microenterprises, either by directly working or by freeing up adult family members to work.</a:t>
            </a:r>
          </a:p>
          <a:p>
            <a:pPr algn="l">
              <a:buFont typeface="Arial" panose="020B0604020202020204" pitchFamily="34" charset="0"/>
              <a:buChar char="•"/>
            </a:pPr>
            <a:r>
              <a:rPr lang="en-US" b="1" i="0" u="none" strike="noStrike" dirty="0">
                <a:solidFill>
                  <a:srgbClr val="D1D5DB"/>
                </a:solidFill>
                <a:effectLst/>
                <a:latin typeface="Söhne"/>
              </a:rPr>
              <a:t>Old Age Security</a:t>
            </a:r>
            <a:r>
              <a:rPr lang="en-US" b="0" i="0" u="none" strike="noStrike" dirty="0">
                <a:solidFill>
                  <a:srgbClr val="D1D5DB"/>
                </a:solidFill>
                <a:effectLst/>
                <a:latin typeface="Söhne"/>
              </a:rPr>
              <a:t>: In the absence of formal and reliable pension systems, parents often see children as a form of old-age insurance. They expect and rely on their children to take care of them financially and physically in their twilight years. This is particularly true in societies where institutional support systems for the elderly are weak or non-existent.</a:t>
            </a:r>
          </a:p>
          <a:p>
            <a:pPr algn="l">
              <a:buFont typeface="Arial" panose="020B0604020202020204" pitchFamily="34" charset="0"/>
              <a:buChar char="•"/>
            </a:pPr>
            <a:r>
              <a:rPr lang="en-US" b="1" i="0" u="none" strike="noStrike" dirty="0">
                <a:solidFill>
                  <a:srgbClr val="D1D5DB"/>
                </a:solidFill>
                <a:effectLst/>
                <a:latin typeface="Söhne"/>
              </a:rPr>
              <a:t>Reducing Mortality Risk</a:t>
            </a:r>
            <a:r>
              <a:rPr lang="en-US" b="0" i="0" u="none" strike="noStrike" dirty="0">
                <a:solidFill>
                  <a:srgbClr val="D1D5DB"/>
                </a:solidFill>
                <a:effectLst/>
                <a:latin typeface="Söhne"/>
              </a:rPr>
              <a:t>: In areas with high child mortality rates, having more children is sometimes a strategy to ensure that some of them survive to adulthood.</a:t>
            </a:r>
          </a:p>
          <a:p>
            <a:pPr algn="l">
              <a:buFont typeface="Arial" panose="020B0604020202020204" pitchFamily="34" charset="0"/>
              <a:buChar char="•"/>
            </a:pPr>
            <a:endParaRPr lang="en-US" b="0" i="0" u="none" strike="noStrike" dirty="0">
              <a:solidFill>
                <a:srgbClr val="D1D5DB"/>
              </a:solidFill>
              <a:effectLst/>
              <a:latin typeface="Söhne"/>
            </a:endParaRPr>
          </a:p>
          <a:p>
            <a:pPr algn="l"/>
            <a:r>
              <a:rPr lang="en-US" b="1" i="0" u="none" strike="noStrike" dirty="0">
                <a:solidFill>
                  <a:srgbClr val="D1D5DB"/>
                </a:solidFill>
                <a:effectLst/>
                <a:latin typeface="Söhne"/>
              </a:rPr>
              <a:t>Influence on Family Size Decisions</a:t>
            </a:r>
            <a:r>
              <a:rPr lang="en-US" b="0" i="0" u="none" strike="noStrike" dirty="0">
                <a:solidFill>
                  <a:srgbClr val="D1D5DB"/>
                </a:solidFill>
                <a:effectLst/>
                <a:latin typeface="Söhne"/>
              </a:rPr>
              <a:t>:</a:t>
            </a:r>
          </a:p>
          <a:p>
            <a:pPr algn="l"/>
            <a:r>
              <a:rPr lang="en-US" b="0" i="0" u="none" strike="noStrike" dirty="0">
                <a:solidFill>
                  <a:srgbClr val="D1D5DB"/>
                </a:solidFill>
                <a:effectLst/>
                <a:latin typeface="Söhne"/>
              </a:rPr>
              <a:t>The decision to have more children as "investment goods" can be influenced by various factors:</a:t>
            </a:r>
          </a:p>
          <a:p>
            <a:pPr algn="l">
              <a:buFont typeface="Arial" panose="020B0604020202020204" pitchFamily="34" charset="0"/>
              <a:buChar char="•"/>
            </a:pPr>
            <a:r>
              <a:rPr lang="en-US" b="1" i="0" u="none" strike="noStrike" dirty="0">
                <a:solidFill>
                  <a:srgbClr val="D1D5DB"/>
                </a:solidFill>
                <a:effectLst/>
                <a:latin typeface="Söhne"/>
              </a:rPr>
              <a:t>Economic Conditions</a:t>
            </a:r>
            <a:r>
              <a:rPr lang="en-US" b="0" i="0" u="none" strike="noStrike" dirty="0">
                <a:solidFill>
                  <a:srgbClr val="D1D5DB"/>
                </a:solidFill>
                <a:effectLst/>
                <a:latin typeface="Söhne"/>
              </a:rPr>
              <a:t>: In harder economic times or in poorer regions, the perceived economic benefits of having more children might outweigh the costs.</a:t>
            </a:r>
          </a:p>
          <a:p>
            <a:pPr algn="l">
              <a:buFont typeface="Arial" panose="020B0604020202020204" pitchFamily="34" charset="0"/>
              <a:buChar char="•"/>
            </a:pPr>
            <a:r>
              <a:rPr lang="en-US" b="1" i="0" u="none" strike="noStrike" dirty="0">
                <a:solidFill>
                  <a:srgbClr val="D1D5DB"/>
                </a:solidFill>
                <a:effectLst/>
                <a:latin typeface="Söhne"/>
              </a:rPr>
              <a:t>Mortality Rates</a:t>
            </a:r>
            <a:r>
              <a:rPr lang="en-US" b="0" i="0" u="none" strike="noStrike" dirty="0">
                <a:solidFill>
                  <a:srgbClr val="D1D5DB"/>
                </a:solidFill>
                <a:effectLst/>
                <a:latin typeface="Söhne"/>
              </a:rPr>
              <a:t>: As mentioned, higher child mortality rates can lead to larger family sizes.</a:t>
            </a:r>
          </a:p>
          <a:p>
            <a:pPr algn="l">
              <a:buFont typeface="Arial" panose="020B0604020202020204" pitchFamily="34" charset="0"/>
              <a:buChar char="•"/>
            </a:pPr>
            <a:r>
              <a:rPr lang="en-US" b="1" i="0" u="none" strike="noStrike" dirty="0">
                <a:solidFill>
                  <a:srgbClr val="D1D5DB"/>
                </a:solidFill>
                <a:effectLst/>
                <a:latin typeface="Söhne"/>
              </a:rPr>
              <a:t>Access to Education</a:t>
            </a:r>
            <a:r>
              <a:rPr lang="en-US" b="0" i="0" u="none" strike="noStrike" dirty="0">
                <a:solidFill>
                  <a:srgbClr val="D1D5DB"/>
                </a:solidFill>
                <a:effectLst/>
                <a:latin typeface="Söhne"/>
              </a:rPr>
              <a:t>: Families with access to education, especially female education, often prioritize quality of life and have fewer children.</a:t>
            </a:r>
          </a:p>
          <a:p>
            <a:pPr algn="l">
              <a:buFont typeface="Arial" panose="020B0604020202020204" pitchFamily="34" charset="0"/>
              <a:buChar char="•"/>
            </a:pPr>
            <a:r>
              <a:rPr lang="en-US" b="1" i="0" u="none" strike="noStrike" dirty="0">
                <a:solidFill>
                  <a:srgbClr val="D1D5DB"/>
                </a:solidFill>
                <a:effectLst/>
                <a:latin typeface="Söhne"/>
              </a:rPr>
              <a:t>Access to Healthcare and Family Planning</a:t>
            </a:r>
            <a:r>
              <a:rPr lang="en-US" b="0" i="0" u="none" strike="noStrike" dirty="0">
                <a:solidFill>
                  <a:srgbClr val="D1D5DB"/>
                </a:solidFill>
                <a:effectLst/>
                <a:latin typeface="Söhne"/>
              </a:rPr>
              <a:t>: Availability of and knowledge about contraceptives and reproductive health can influence family size decisions.</a:t>
            </a:r>
          </a:p>
          <a:p>
            <a:br>
              <a:rPr lang="en-US" dirty="0"/>
            </a:br>
            <a:endParaRPr lang="en-US" altLang="en-US" dirty="0">
              <a:ea typeface="MS PGothic"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MS PGothic"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MS PGothic"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MS PGothic"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buFont typeface="+mj-lt"/>
              <a:buAutoNum type="arabicPeriod"/>
            </a:pPr>
            <a:r>
              <a:rPr lang="en-US" b="1" i="0" u="none" strike="noStrike" dirty="0">
                <a:solidFill>
                  <a:srgbClr val="D1D5DB"/>
                </a:solidFill>
                <a:effectLst/>
                <a:latin typeface="Söhne"/>
              </a:rPr>
              <a:t>Population growth: “It’s Not a Real Problem”</a:t>
            </a:r>
            <a:r>
              <a:rPr lang="en-US" b="0" i="0" u="none" strike="noStrike" dirty="0">
                <a:solidFill>
                  <a:srgbClr val="D1D5DB"/>
                </a:solidFill>
                <a:effectLst/>
                <a:latin typeface="Söhne"/>
              </a:rPr>
              <a:t>: This perspective argues that the sheer number of people in the world isn't the core problem. Instead, other interconnected issues are of primary concern.</a:t>
            </a:r>
          </a:p>
          <a:p>
            <a:pPr marL="742950" lvl="1" indent="-285750" algn="l">
              <a:buFont typeface="+mj-lt"/>
              <a:buAutoNum type="arabicPeriod"/>
            </a:pPr>
            <a:r>
              <a:rPr lang="en-US" b="1" i="0" u="none" strike="noStrike" dirty="0">
                <a:solidFill>
                  <a:srgbClr val="D1D5DB"/>
                </a:solidFill>
                <a:effectLst/>
                <a:latin typeface="Söhne"/>
              </a:rPr>
              <a:t>Underdevelopment</a:t>
            </a:r>
            <a:r>
              <a:rPr lang="en-US" b="0" i="0" u="none" strike="noStrike" dirty="0">
                <a:solidFill>
                  <a:srgbClr val="D1D5DB"/>
                </a:solidFill>
                <a:effectLst/>
                <a:latin typeface="Söhne"/>
              </a:rPr>
              <a:t>.</a:t>
            </a:r>
          </a:p>
          <a:p>
            <a:pPr marL="742950" lvl="1" indent="-285750" algn="l">
              <a:buFont typeface="+mj-lt"/>
              <a:buAutoNum type="arabicPeriod"/>
            </a:pPr>
            <a:r>
              <a:rPr lang="en-US" b="1" i="0" u="none" strike="noStrike" dirty="0">
                <a:solidFill>
                  <a:srgbClr val="D1D5DB"/>
                </a:solidFill>
                <a:effectLst/>
                <a:latin typeface="Söhne"/>
              </a:rPr>
              <a:t>World resource depletion and environmental destruction</a:t>
            </a:r>
            <a:r>
              <a:rPr lang="en-US" b="0" i="0" u="none" strike="noStrike" dirty="0">
                <a:solidFill>
                  <a:srgbClr val="D1D5DB"/>
                </a:solidFill>
                <a:effectLst/>
                <a:latin typeface="Söhne"/>
              </a:rPr>
              <a:t>.</a:t>
            </a:r>
          </a:p>
          <a:p>
            <a:pPr marL="742950" lvl="1" indent="-285750" algn="l">
              <a:buFont typeface="+mj-lt"/>
              <a:buAutoNum type="arabicPeriod"/>
            </a:pPr>
            <a:r>
              <a:rPr lang="en-US" b="1" i="0" u="none" strike="noStrike" dirty="0">
                <a:solidFill>
                  <a:srgbClr val="D1D5DB"/>
                </a:solidFill>
                <a:effectLst/>
                <a:latin typeface="Söhne"/>
              </a:rPr>
              <a:t>Population Distribution</a:t>
            </a:r>
            <a:r>
              <a:rPr lang="en-US" b="0" i="0" u="none" strike="noStrike" dirty="0">
                <a:solidFill>
                  <a:srgbClr val="D1D5DB"/>
                </a:solidFill>
                <a:effectLst/>
                <a:latin typeface="Söhne"/>
              </a:rPr>
              <a:t>.</a:t>
            </a:r>
          </a:p>
          <a:p>
            <a:pPr marL="742950" lvl="1" indent="-285750" algn="l">
              <a:buFont typeface="+mj-lt"/>
              <a:buAutoNum type="arabicPeriod"/>
            </a:pPr>
            <a:r>
              <a:rPr lang="en-US" b="1" i="0" u="none" strike="noStrike" dirty="0">
                <a:solidFill>
                  <a:srgbClr val="D1D5DB"/>
                </a:solidFill>
                <a:effectLst/>
                <a:latin typeface="Söhne"/>
              </a:rPr>
              <a:t>Subordination of women</a:t>
            </a:r>
            <a:r>
              <a:rPr lang="en-US" b="0" i="0" u="none" strike="noStrike" dirty="0">
                <a:solidFill>
                  <a:srgbClr val="D1D5DB"/>
                </a:solidFill>
                <a:effectLst/>
                <a:latin typeface="Söhne"/>
              </a:rPr>
              <a:t>.</a:t>
            </a:r>
          </a:p>
          <a:p>
            <a:pPr marL="742950" lvl="1" indent="-285750" algn="l">
              <a:buFont typeface="+mj-lt"/>
              <a:buAutoNum type="arabicPeriod"/>
            </a:pPr>
            <a:endParaRPr lang="en-US" b="0" i="0" u="none" strike="noStrike" dirty="0">
              <a:solidFill>
                <a:srgbClr val="D1D5DB"/>
              </a:solidFill>
              <a:effectLst/>
              <a:latin typeface="Söhne"/>
            </a:endParaRPr>
          </a:p>
          <a:p>
            <a:pPr algn="l">
              <a:buFont typeface="+mj-lt"/>
              <a:buAutoNum type="arabicPeriod"/>
            </a:pPr>
            <a:r>
              <a:rPr lang="en-US" b="1" i="0" u="none" strike="noStrike" dirty="0">
                <a:solidFill>
                  <a:srgbClr val="D1D5DB"/>
                </a:solidFill>
                <a:effectLst/>
                <a:latin typeface="Söhne"/>
              </a:rPr>
              <a:t>“Overpopulation is a Deliberately Contrived False Issue”</a:t>
            </a:r>
            <a:r>
              <a:rPr lang="en-US" b="0" i="0" u="none" strike="noStrike" dirty="0">
                <a:solidFill>
                  <a:srgbClr val="D1D5DB"/>
                </a:solidFill>
                <a:effectLst/>
                <a:latin typeface="Söhne"/>
              </a:rPr>
              <a:t>: This perspective suggests that concerns about overpopulation are exaggerated or manufactured, perhaps to divert attention from other pressing issues or to serve particular political or economic agendas. By focusing on overpopulation, blame might be shifted onto specific regions or groups, rather than addressing broader systemic or structural issues.</a:t>
            </a:r>
          </a:p>
          <a:p>
            <a:pPr algn="l">
              <a:buFont typeface="+mj-lt"/>
              <a:buAutoNum type="arabicPeriod"/>
            </a:pPr>
            <a:endParaRPr lang="en-US" b="0" i="0" u="none" strike="noStrike" dirty="0">
              <a:solidFill>
                <a:srgbClr val="D1D5DB"/>
              </a:solidFill>
              <a:effectLst/>
              <a:latin typeface="Söhne"/>
            </a:endParaRPr>
          </a:p>
          <a:p>
            <a:pPr algn="l">
              <a:buFont typeface="+mj-lt"/>
              <a:buAutoNum type="arabicPeriod"/>
            </a:pPr>
            <a:r>
              <a:rPr lang="en-US" b="1" i="0" u="none" strike="noStrike" dirty="0">
                <a:solidFill>
                  <a:srgbClr val="D1D5DB"/>
                </a:solidFill>
                <a:effectLst/>
                <a:latin typeface="Söhne"/>
              </a:rPr>
              <a:t>“Population Growth is a Desirable Phenomenon”</a:t>
            </a:r>
            <a:r>
              <a:rPr lang="en-US" b="0" i="0" u="none" strike="noStrike" dirty="0">
                <a:solidFill>
                  <a:srgbClr val="D1D5DB"/>
                </a:solidFill>
                <a:effectLst/>
                <a:latin typeface="Söhne"/>
              </a:rPr>
              <a:t>: This perspective views population growth in a positive light, suggesting that a growing population can lead to a larger workforce, greater innovation, and economic growth. Historically, many nations have encouraged population growth to increase their geopolitical influence, boost the economy, or address labor shortages.</a:t>
            </a:r>
          </a:p>
          <a:p>
            <a:endParaRPr lang="en-US" altLang="en-US" dirty="0">
              <a:ea typeface="MS PGothic"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77500" lnSpcReduction="20000"/>
          </a:bodyPr>
          <a:lstStyle/>
          <a:p>
            <a:pPr algn="l">
              <a:buFont typeface="+mj-lt"/>
              <a:buAutoNum type="arabicPeriod"/>
            </a:pPr>
            <a:r>
              <a:rPr lang="en-US" b="1" i="0" u="none" strike="noStrike" dirty="0">
                <a:solidFill>
                  <a:srgbClr val="D1D5DB"/>
                </a:solidFill>
                <a:effectLst/>
                <a:latin typeface="Söhne"/>
              </a:rPr>
              <a:t>“Population Growth Is a Real Problem”</a:t>
            </a:r>
            <a:r>
              <a:rPr lang="en-US" b="0" i="0" u="none" strike="noStrike" dirty="0">
                <a:solidFill>
                  <a:srgbClr val="D1D5DB"/>
                </a:solidFill>
                <a:effectLst/>
                <a:latin typeface="Söhne"/>
              </a:rPr>
              <a:t>: This overarching perspective asserts that increasing population numbers pose significant challenges for societies, economies, and the environment.</a:t>
            </a:r>
          </a:p>
          <a:p>
            <a:pPr algn="l">
              <a:buFont typeface="+mj-lt"/>
              <a:buAutoNum type="arabicPeriod"/>
            </a:pPr>
            <a:r>
              <a:rPr lang="en-US" b="1" i="0" u="none" strike="noStrike" dirty="0">
                <a:solidFill>
                  <a:srgbClr val="D1D5DB"/>
                </a:solidFill>
                <a:effectLst/>
                <a:latin typeface="Söhne"/>
              </a:rPr>
              <a:t>Extremist arguments</a:t>
            </a:r>
            <a:r>
              <a:rPr lang="en-US" b="0" i="0" u="none" strike="noStrike" dirty="0">
                <a:solidFill>
                  <a:srgbClr val="D1D5DB"/>
                </a:solidFill>
                <a:effectLst/>
                <a:latin typeface="Söhne"/>
              </a:rPr>
              <a:t>: These are arguments that often paint a very dire or bleak picture of the consequences of population growth, sometimes even suggesting drastic measures to control it. Think of the "Malthusian catastrophe" idea where unchecked population growth leads to resource depletion and subsequent societal collapse.</a:t>
            </a:r>
          </a:p>
          <a:p>
            <a:pPr algn="l">
              <a:buFont typeface="+mj-lt"/>
              <a:buAutoNum type="arabicPeriod"/>
            </a:pPr>
            <a:r>
              <a:rPr lang="en-US" b="1" i="0" u="none" strike="noStrike" dirty="0">
                <a:solidFill>
                  <a:srgbClr val="D1D5DB"/>
                </a:solidFill>
                <a:effectLst/>
                <a:latin typeface="Söhne"/>
              </a:rPr>
              <a:t>Theoretical arguments</a:t>
            </a:r>
            <a:r>
              <a:rPr lang="en-US" b="0" i="0" u="none" strike="noStrike" dirty="0">
                <a:solidFill>
                  <a:srgbClr val="D1D5DB"/>
                </a:solidFill>
                <a:effectLst/>
                <a:latin typeface="Söhne"/>
              </a:rPr>
              <a:t>: These are rooted in formal academic theories and models. For instance, in economics, there's the idea that rapid population growth might dilute capital, meaning there's less capital (like machinery or infrastructure) available per worker, leading to decreased productivity and economic growth.</a:t>
            </a:r>
          </a:p>
          <a:p>
            <a:pPr lvl="0" algn="l">
              <a:buFont typeface="+mj-lt"/>
              <a:buAutoNum type="arabicPeriod"/>
            </a:pPr>
            <a:r>
              <a:rPr lang="en-US" b="1" i="0" u="none" strike="noStrike" dirty="0">
                <a:solidFill>
                  <a:srgbClr val="D1D5DB"/>
                </a:solidFill>
                <a:effectLst/>
                <a:latin typeface="Söhne"/>
              </a:rPr>
              <a:t>Empirical arguments</a:t>
            </a:r>
            <a:r>
              <a:rPr lang="en-US" b="0" i="0" u="none" strike="noStrike" dirty="0">
                <a:solidFill>
                  <a:srgbClr val="D1D5DB"/>
                </a:solidFill>
                <a:effectLst/>
                <a:latin typeface="Söhne"/>
              </a:rPr>
              <a:t>: These are based on observed data and real-world examples. For instance, examining countries with rapid population growth and noting correlations with certain challenges like strained healthcare systems or increased unemployment.</a:t>
            </a:r>
          </a:p>
          <a:p>
            <a:pPr lvl="1" algn="l">
              <a:buFont typeface="+mj-lt"/>
              <a:buAutoNum type="arabicPeriod"/>
            </a:pPr>
            <a:r>
              <a:rPr lang="en-US" b="1" i="0" u="none" strike="noStrike" dirty="0">
                <a:solidFill>
                  <a:srgbClr val="D1D5DB"/>
                </a:solidFill>
                <a:effectLst/>
                <a:latin typeface="Söhne"/>
              </a:rPr>
              <a:t>Lower economic growth</a:t>
            </a:r>
            <a:r>
              <a:rPr lang="en-US" b="0" i="0" u="none" strike="noStrike" dirty="0">
                <a:solidFill>
                  <a:srgbClr val="D1D5DB"/>
                </a:solidFill>
                <a:effectLst/>
                <a:latin typeface="Söhne"/>
              </a:rPr>
              <a:t>: The argument here is that rapid population growth can lead to reduced GDP per capita growth. More people might mean a larger workforce, but without corresponding opportunities and resources, it can lead to unemployment, underemployment, and increased poverty.</a:t>
            </a:r>
          </a:p>
          <a:p>
            <a:pPr lvl="1" algn="l">
              <a:buFont typeface="+mj-lt"/>
              <a:buAutoNum type="arabicPeriod"/>
            </a:pPr>
            <a:r>
              <a:rPr lang="en-US" b="1" i="0" u="none" strike="noStrike" dirty="0">
                <a:solidFill>
                  <a:srgbClr val="D1D5DB"/>
                </a:solidFill>
                <a:effectLst/>
                <a:latin typeface="Söhne"/>
              </a:rPr>
              <a:t>Poverty</a:t>
            </a:r>
            <a:r>
              <a:rPr lang="en-US" b="0" i="0" u="none" strike="noStrike" dirty="0">
                <a:solidFill>
                  <a:srgbClr val="D1D5DB"/>
                </a:solidFill>
                <a:effectLst/>
                <a:latin typeface="Söhne"/>
              </a:rPr>
              <a:t>: Rapid population growth can strain limited resources, leading to increased poverty levels, especially if the economy cannot grow quickly enough to accommodate the increased population.</a:t>
            </a:r>
          </a:p>
          <a:p>
            <a:pPr lvl="1" algn="l">
              <a:buFont typeface="+mj-lt"/>
              <a:buAutoNum type="arabicPeriod"/>
            </a:pPr>
            <a:r>
              <a:rPr lang="en-US" b="1" i="0" u="none" strike="noStrike" dirty="0">
                <a:solidFill>
                  <a:srgbClr val="D1D5DB"/>
                </a:solidFill>
                <a:effectLst/>
                <a:latin typeface="Söhne"/>
              </a:rPr>
              <a:t>Adverse impact on education</a:t>
            </a:r>
            <a:r>
              <a:rPr lang="en-US" b="0" i="0" u="none" strike="noStrike" dirty="0">
                <a:solidFill>
                  <a:srgbClr val="D1D5DB"/>
                </a:solidFill>
                <a:effectLst/>
                <a:latin typeface="Söhne"/>
              </a:rPr>
              <a:t>: With more children and not enough educational infrastructure or resources, it can lead to overcrowded classrooms, reduced quality of education, and higher dropout rates.</a:t>
            </a:r>
          </a:p>
          <a:p>
            <a:pPr lvl="1" algn="l">
              <a:buFont typeface="+mj-lt"/>
              <a:buAutoNum type="arabicPeriod"/>
            </a:pPr>
            <a:r>
              <a:rPr lang="en-US" b="1" i="0" u="none" strike="noStrike" dirty="0">
                <a:solidFill>
                  <a:srgbClr val="D1D5DB"/>
                </a:solidFill>
                <a:effectLst/>
                <a:latin typeface="Söhne"/>
              </a:rPr>
              <a:t>Adverse impact on health</a:t>
            </a:r>
            <a:r>
              <a:rPr lang="en-US" b="0" i="0" u="none" strike="noStrike" dirty="0">
                <a:solidFill>
                  <a:srgbClr val="D1D5DB"/>
                </a:solidFill>
                <a:effectLst/>
                <a:latin typeface="Söhne"/>
              </a:rPr>
              <a:t>: Healthcare systems can become overwhelmed with rapid population growth, leading to reduced quality of care, longer waiting times, and increased disease spread.</a:t>
            </a:r>
          </a:p>
          <a:p>
            <a:pPr lvl="1" algn="l">
              <a:buFont typeface="+mj-lt"/>
              <a:buAutoNum type="arabicPeriod"/>
            </a:pPr>
            <a:r>
              <a:rPr lang="en-US" b="1" i="0" u="none" strike="noStrike" dirty="0">
                <a:solidFill>
                  <a:srgbClr val="D1D5DB"/>
                </a:solidFill>
                <a:effectLst/>
                <a:latin typeface="Söhne"/>
              </a:rPr>
              <a:t>Food constraints</a:t>
            </a:r>
            <a:r>
              <a:rPr lang="en-US" b="0" i="0" u="none" strike="noStrike" dirty="0">
                <a:solidFill>
                  <a:srgbClr val="D1D5DB"/>
                </a:solidFill>
                <a:effectLst/>
                <a:latin typeface="Söhne"/>
              </a:rPr>
              <a:t>: More people require more food. Rapid population growth can strain agricultural systems, leading to food scarcity, increased prices, and malnutrition.</a:t>
            </a:r>
          </a:p>
          <a:p>
            <a:pPr lvl="1" algn="l">
              <a:buFont typeface="+mj-lt"/>
              <a:buAutoNum type="arabicPeriod"/>
            </a:pPr>
            <a:r>
              <a:rPr lang="en-US" b="1" i="0" u="none" strike="noStrike" dirty="0">
                <a:solidFill>
                  <a:srgbClr val="D1D5DB"/>
                </a:solidFill>
                <a:effectLst/>
                <a:latin typeface="Söhne"/>
              </a:rPr>
              <a:t>Impact on the environment</a:t>
            </a:r>
            <a:r>
              <a:rPr lang="en-US" b="0" i="0" u="none" strike="noStrike" dirty="0">
                <a:solidFill>
                  <a:srgbClr val="D1D5DB"/>
                </a:solidFill>
                <a:effectLst/>
                <a:latin typeface="Söhne"/>
              </a:rPr>
              <a:t>: Larger populations can lead to increased waste, pollution, and deforestation. Overpopulation can strain water resources, lead to loss of biodiversity, and exacerbate climate change.</a:t>
            </a:r>
          </a:p>
          <a:p>
            <a:pPr lvl="1" algn="l">
              <a:buFont typeface="+mj-lt"/>
              <a:buAutoNum type="arabicPeriod"/>
            </a:pPr>
            <a:r>
              <a:rPr lang="en-US" b="1" i="0" u="none" strike="noStrike" dirty="0">
                <a:solidFill>
                  <a:srgbClr val="D1D5DB"/>
                </a:solidFill>
                <a:effectLst/>
                <a:latin typeface="Söhne"/>
              </a:rPr>
              <a:t>Frictions over international migration</a:t>
            </a:r>
            <a:r>
              <a:rPr lang="en-US" b="0" i="0" u="none" strike="noStrike" dirty="0">
                <a:solidFill>
                  <a:srgbClr val="D1D5DB"/>
                </a:solidFill>
                <a:effectLst/>
                <a:latin typeface="Söhne"/>
              </a:rPr>
              <a:t>: As populations grow and resources become scarce, there might be increased migration to countries with better opportunities. This can lead to geopolitical tensions, cultural clashes, and issues related to refugee and migrant integration.</a:t>
            </a:r>
          </a:p>
          <a:p>
            <a:endParaRPr lang="en-US" altLang="en-US" dirty="0">
              <a:ea typeface="MS PGothic"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92500" lnSpcReduction="20000"/>
          </a:bodyPr>
          <a:lstStyle/>
          <a:p>
            <a:br>
              <a:rPr lang="en-US" b="1" dirty="0">
                <a:effectLst/>
              </a:rPr>
            </a:br>
            <a:r>
              <a:rPr lang="en-US" b="1" dirty="0">
                <a:effectLst/>
              </a:rPr>
              <a:t>Population is not the primary cause of lower living levels, but may be one factor</a:t>
            </a:r>
            <a:r>
              <a:rPr lang="en-US" dirty="0">
                <a:effectLst/>
              </a:rPr>
              <a:t>: While a growing population can strain resources and services, it's not the sole determinant of living standards. Economic policies, governance, technology, infrastructure, and global trade dynamics play pivotal roles in determining living standards.</a:t>
            </a:r>
          </a:p>
          <a:p>
            <a:endParaRPr lang="en-US" dirty="0">
              <a:effectLst/>
            </a:endParaRPr>
          </a:p>
          <a:p>
            <a:r>
              <a:rPr lang="en-US" b="1" dirty="0">
                <a:effectLst/>
              </a:rPr>
              <a:t>Population growth is more a consequence than a cause of underdevelopment</a:t>
            </a:r>
            <a:r>
              <a:rPr lang="en-US" dirty="0">
                <a:effectLst/>
              </a:rPr>
              <a:t>: This perspective argues that underdevelopment can lead to higher population growth rates. Factors like lack of access to education (especially for women), inadequate healthcare and family planning services, and cultural norms valuing larger families can lead to higher birth rates in underdeveloped regions.</a:t>
            </a:r>
          </a:p>
          <a:p>
            <a:endParaRPr lang="en-US" dirty="0">
              <a:effectLst/>
            </a:endParaRPr>
          </a:p>
          <a:p>
            <a:r>
              <a:rPr lang="en-US" b="1" dirty="0">
                <a:effectLst/>
              </a:rPr>
              <a:t>It’s not numbers but quality of life</a:t>
            </a:r>
            <a:r>
              <a:rPr lang="en-US" dirty="0">
                <a:effectLst/>
              </a:rPr>
              <a:t>: The focus shouldn't be solely on controlling population numbers but ensuring a good quality of life for all. This includes access to education, healthcare, clean water, food, and opportunities for economic advancement.</a:t>
            </a:r>
          </a:p>
          <a:p>
            <a:endParaRPr lang="en-US" dirty="0">
              <a:effectLst/>
            </a:endParaRPr>
          </a:p>
          <a:p>
            <a:r>
              <a:rPr lang="en-US" b="1" dirty="0">
                <a:effectLst/>
              </a:rPr>
              <a:t>Market failures: potential negative social externalities</a:t>
            </a:r>
            <a:r>
              <a:rPr lang="en-US" dirty="0">
                <a:effectLst/>
              </a:rPr>
              <a:t>: Unchecked population growth can lead to social externalities or unintended consequences that aren't addressed by the market. For instance, overpopulation can lead to environmental degradation, which affects everyone, not just those contributing to population growth.</a:t>
            </a:r>
          </a:p>
          <a:p>
            <a:endParaRPr lang="en-US" dirty="0">
              <a:effectLst/>
            </a:endParaRPr>
          </a:p>
          <a:p>
            <a:r>
              <a:rPr lang="en-US" b="1" dirty="0">
                <a:effectLst/>
              </a:rPr>
              <a:t>Voluntary decreases in fertility is generally desirable for most developing countries with still-expanding populations</a:t>
            </a:r>
            <a:r>
              <a:rPr lang="en-US" dirty="0">
                <a:effectLst/>
              </a:rPr>
              <a:t>: The key word here is "voluntary." Many experts believe that it's beneficial for developing nations to reduce fertility rates, but it should be achieved through education, access to family planning, and empowerment of women rather than coercive measures. Lower fertility rates can lead to a "demographic dividend" where the working-age population is larger relative to the young and elderly, potentially spurring economic growth.</a:t>
            </a:r>
          </a:p>
          <a:p>
            <a:endParaRPr lang="en-US" altLang="en-US" dirty="0">
              <a:ea typeface="MS PGothic"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br>
              <a:rPr lang="en-US" b="1" dirty="0">
                <a:effectLst/>
              </a:rPr>
            </a:br>
            <a:r>
              <a:rPr lang="en-US" b="1" dirty="0">
                <a:effectLst/>
              </a:rPr>
              <a:t>Persuasion through education</a:t>
            </a:r>
            <a:r>
              <a:rPr lang="en-US" dirty="0">
                <a:effectLst/>
              </a:rPr>
              <a:t>:</a:t>
            </a:r>
          </a:p>
          <a:p>
            <a:pPr>
              <a:buFont typeface="Arial" panose="020B0604020202020204" pitchFamily="34" charset="0"/>
              <a:buChar char="•"/>
            </a:pPr>
            <a:r>
              <a:rPr lang="en-US" b="1" dirty="0">
                <a:effectLst/>
              </a:rPr>
              <a:t>Rationale</a:t>
            </a:r>
            <a:r>
              <a:rPr lang="en-US" dirty="0">
                <a:effectLst/>
              </a:rPr>
              <a:t>: Education, especially of young girls and women, is one of the most effective ways to reduce fertility rates. An educated woman is more likely to have fewer children because she tends to marry later and prioritize her own education and career.</a:t>
            </a:r>
          </a:p>
          <a:p>
            <a:pPr>
              <a:buFont typeface="Arial" panose="020B0604020202020204" pitchFamily="34" charset="0"/>
              <a:buChar char="•"/>
            </a:pPr>
            <a:r>
              <a:rPr lang="en-US" b="1" dirty="0">
                <a:effectLst/>
              </a:rPr>
              <a:t>Implementation</a:t>
            </a:r>
            <a:r>
              <a:rPr lang="en-US" dirty="0">
                <a:effectLst/>
              </a:rPr>
              <a:t>: Governments can invest in building schools, training teachers, and ensuring free or affordable education for all, with an emphasis on female education.</a:t>
            </a:r>
          </a:p>
          <a:p>
            <a:pPr>
              <a:buFont typeface="Arial" panose="020B0604020202020204" pitchFamily="34" charset="0"/>
              <a:buChar char="•"/>
            </a:pPr>
            <a:endParaRPr lang="en-US" dirty="0">
              <a:effectLst/>
            </a:endParaRPr>
          </a:p>
          <a:p>
            <a:r>
              <a:rPr lang="en-US" b="1" dirty="0">
                <a:effectLst/>
              </a:rPr>
              <a:t>Family planning programs</a:t>
            </a:r>
            <a:r>
              <a:rPr lang="en-US" dirty="0">
                <a:effectLst/>
              </a:rPr>
              <a:t>:</a:t>
            </a:r>
          </a:p>
          <a:p>
            <a:pPr>
              <a:buFont typeface="Arial" panose="020B0604020202020204" pitchFamily="34" charset="0"/>
              <a:buChar char="•"/>
            </a:pPr>
            <a:r>
              <a:rPr lang="en-US" b="1" dirty="0">
                <a:effectLst/>
              </a:rPr>
              <a:t>Rationale</a:t>
            </a:r>
            <a:r>
              <a:rPr lang="en-US" dirty="0">
                <a:effectLst/>
              </a:rPr>
              <a:t>: Access to contraception and reproductive health services enables couples to decide the number and spacing of their children.</a:t>
            </a:r>
          </a:p>
          <a:p>
            <a:pPr>
              <a:buFont typeface="Arial" panose="020B0604020202020204" pitchFamily="34" charset="0"/>
              <a:buChar char="•"/>
            </a:pPr>
            <a:r>
              <a:rPr lang="en-US" b="1" dirty="0">
                <a:effectLst/>
              </a:rPr>
              <a:t>Implementation</a:t>
            </a:r>
            <a:r>
              <a:rPr lang="en-US" dirty="0">
                <a:effectLst/>
              </a:rPr>
              <a:t>: This can be achieved by increasing the budget for health services, ensuring widespread distribution of contraceptives, and running awareness campaigns.</a:t>
            </a:r>
          </a:p>
          <a:p>
            <a:pPr>
              <a:buFont typeface="Arial" panose="020B0604020202020204" pitchFamily="34" charset="0"/>
              <a:buChar char="•"/>
            </a:pPr>
            <a:endParaRPr lang="en-US" dirty="0">
              <a:effectLst/>
            </a:endParaRPr>
          </a:p>
          <a:p>
            <a:r>
              <a:rPr lang="en-US" b="1" dirty="0">
                <a:effectLst/>
              </a:rPr>
              <a:t>Address incentives and disincentives for having children</a:t>
            </a:r>
            <a:r>
              <a:rPr lang="en-US" dirty="0">
                <a:effectLst/>
              </a:rPr>
              <a:t>:</a:t>
            </a:r>
          </a:p>
          <a:p>
            <a:pPr>
              <a:buFont typeface="Arial" panose="020B0604020202020204" pitchFamily="34" charset="0"/>
              <a:buChar char="•"/>
            </a:pPr>
            <a:r>
              <a:rPr lang="en-US" b="1" dirty="0">
                <a:effectLst/>
              </a:rPr>
              <a:t>Rationale</a:t>
            </a:r>
            <a:r>
              <a:rPr lang="en-US" dirty="0">
                <a:effectLst/>
              </a:rPr>
              <a:t>: Cultural, economic, and social factors play a role in the decision to have more children. By understanding and addressing these factors, governments can influence family size decisions.</a:t>
            </a:r>
          </a:p>
          <a:p>
            <a:pPr>
              <a:buFont typeface="Arial" panose="020B0604020202020204" pitchFamily="34" charset="0"/>
              <a:buChar char="•"/>
            </a:pPr>
            <a:r>
              <a:rPr lang="en-US" b="1" dirty="0">
                <a:effectLst/>
              </a:rPr>
              <a:t>Implementation</a:t>
            </a:r>
            <a:r>
              <a:rPr lang="en-US" dirty="0">
                <a:effectLst/>
              </a:rPr>
              <a:t>: This could include social security systems that don't rely on having many children to care for parents in old age, or promoting the benefits of smaller family sizes.</a:t>
            </a:r>
          </a:p>
          <a:p>
            <a:pPr>
              <a:buFont typeface="Arial" panose="020B0604020202020204" pitchFamily="34" charset="0"/>
              <a:buChar char="•"/>
            </a:pPr>
            <a:endParaRPr lang="en-US" dirty="0">
              <a:effectLst/>
            </a:endParaRPr>
          </a:p>
          <a:p>
            <a:r>
              <a:rPr lang="en-US" b="1" dirty="0">
                <a:effectLst/>
              </a:rPr>
              <a:t>Coercion is not a good option</a:t>
            </a:r>
            <a:r>
              <a:rPr lang="en-US" dirty="0">
                <a:effectLst/>
              </a:rPr>
              <a:t>:</a:t>
            </a:r>
          </a:p>
          <a:p>
            <a:pPr>
              <a:buFont typeface="Arial" panose="020B0604020202020204" pitchFamily="34" charset="0"/>
              <a:buChar char="•"/>
            </a:pPr>
            <a:r>
              <a:rPr lang="en-US" b="1" dirty="0">
                <a:effectLst/>
              </a:rPr>
              <a:t>Rationale</a:t>
            </a:r>
            <a:r>
              <a:rPr lang="en-US" dirty="0">
                <a:effectLst/>
              </a:rPr>
              <a:t>: History has shown that coercive measures, like forced sterilizations or one-child policies, can lead to human rights abuses and unintended demographic problems.</a:t>
            </a:r>
          </a:p>
          <a:p>
            <a:pPr>
              <a:buFont typeface="Arial" panose="020B0604020202020204" pitchFamily="34" charset="0"/>
              <a:buChar char="•"/>
            </a:pPr>
            <a:r>
              <a:rPr lang="en-US" b="1" dirty="0">
                <a:effectLst/>
              </a:rPr>
              <a:t>Implementation</a:t>
            </a:r>
            <a:r>
              <a:rPr lang="en-US" dirty="0">
                <a:effectLst/>
              </a:rPr>
              <a:t>: Policies should focus on choice and empowerment rather than force.</a:t>
            </a:r>
          </a:p>
          <a:p>
            <a:pPr>
              <a:buFont typeface="Arial" panose="020B0604020202020204" pitchFamily="34" charset="0"/>
              <a:buChar char="•"/>
            </a:pPr>
            <a:endParaRPr lang="en-US" dirty="0">
              <a:effectLst/>
            </a:endParaRPr>
          </a:p>
          <a:p>
            <a:r>
              <a:rPr lang="en-US" b="1" dirty="0">
                <a:effectLst/>
              </a:rPr>
              <a:t>Raise the socioeconomic status of women</a:t>
            </a:r>
            <a:r>
              <a:rPr lang="en-US" dirty="0">
                <a:effectLst/>
              </a:rPr>
              <a:t>:</a:t>
            </a:r>
          </a:p>
          <a:p>
            <a:pPr>
              <a:buFont typeface="Arial" panose="020B0604020202020204" pitchFamily="34" charset="0"/>
              <a:buChar char="•"/>
            </a:pPr>
            <a:r>
              <a:rPr lang="en-US" b="1" dirty="0">
                <a:effectLst/>
              </a:rPr>
              <a:t>Rationale</a:t>
            </a:r>
            <a:r>
              <a:rPr lang="en-US" dirty="0">
                <a:effectLst/>
              </a:rPr>
              <a:t>: Empowered women tend to have fewer children as they are more likely to be informed about family planning and can make independent decisions.</a:t>
            </a:r>
          </a:p>
          <a:p>
            <a:pPr>
              <a:buFont typeface="Arial" panose="020B0604020202020204" pitchFamily="34" charset="0"/>
              <a:buChar char="•"/>
            </a:pPr>
            <a:r>
              <a:rPr lang="en-US" b="1" dirty="0">
                <a:effectLst/>
              </a:rPr>
              <a:t>Implementation</a:t>
            </a:r>
            <a:r>
              <a:rPr lang="en-US" dirty="0">
                <a:effectLst/>
              </a:rPr>
              <a:t>: This can be achieved by enforcing laws that protect women's rights, promoting female entrepreneurship, and ensuring equal opportunities in all sectors.</a:t>
            </a:r>
          </a:p>
          <a:p>
            <a:pPr>
              <a:buFont typeface="Arial" panose="020B0604020202020204" pitchFamily="34" charset="0"/>
              <a:buChar char="•"/>
            </a:pPr>
            <a:endParaRPr lang="en-US" dirty="0">
              <a:effectLst/>
            </a:endParaRPr>
          </a:p>
          <a:p>
            <a:r>
              <a:rPr lang="en-US" b="1" dirty="0">
                <a:effectLst/>
              </a:rPr>
              <a:t>Increase employment opportunities for women</a:t>
            </a:r>
            <a:r>
              <a:rPr lang="en-US" dirty="0">
                <a:effectLst/>
              </a:rPr>
              <a:t>:</a:t>
            </a:r>
          </a:p>
          <a:p>
            <a:pPr>
              <a:buFont typeface="Arial" panose="020B0604020202020204" pitchFamily="34" charset="0"/>
              <a:buChar char="•"/>
            </a:pPr>
            <a:r>
              <a:rPr lang="en-US" b="1" dirty="0">
                <a:effectLst/>
              </a:rPr>
              <a:t>Rationale</a:t>
            </a:r>
            <a:r>
              <a:rPr lang="en-US" dirty="0">
                <a:effectLst/>
              </a:rPr>
              <a:t>: When women work, the opportunity cost of having more children increases, leading to smaller families. This is a concept rooted in microeconomic household theory.</a:t>
            </a:r>
          </a:p>
          <a:p>
            <a:pPr>
              <a:buFont typeface="Arial" panose="020B0604020202020204" pitchFamily="34" charset="0"/>
              <a:buChar char="•"/>
            </a:pPr>
            <a:r>
              <a:rPr lang="en-US" b="1" dirty="0">
                <a:effectLst/>
              </a:rPr>
              <a:t>Implementation</a:t>
            </a:r>
            <a:r>
              <a:rPr lang="en-US" dirty="0">
                <a:effectLst/>
              </a:rPr>
              <a:t>: Governments can create policies that encourage businesses to hire women, offer maternity benefits, and ensure safe workplaces.</a:t>
            </a:r>
          </a:p>
          <a:p>
            <a:pPr>
              <a:buFont typeface="Arial" panose="020B0604020202020204" pitchFamily="34" charset="0"/>
              <a:buChar char="•"/>
            </a:pPr>
            <a:endParaRPr lang="en-US" dirty="0">
              <a:effectLst/>
            </a:endParaRPr>
          </a:p>
          <a:p>
            <a:r>
              <a:rPr lang="en-US" b="1" dirty="0">
                <a:effectLst/>
              </a:rPr>
              <a:t>Help facilitate genuine and faster development</a:t>
            </a:r>
            <a:r>
              <a:rPr lang="en-US" dirty="0">
                <a:effectLst/>
              </a:rPr>
              <a:t>:</a:t>
            </a:r>
          </a:p>
          <a:p>
            <a:pPr>
              <a:buFont typeface="Arial" panose="020B0604020202020204" pitchFamily="34" charset="0"/>
              <a:buChar char="•"/>
            </a:pPr>
            <a:r>
              <a:rPr lang="en-US" b="1" dirty="0">
                <a:effectLst/>
              </a:rPr>
              <a:t>Rationale</a:t>
            </a:r>
            <a:r>
              <a:rPr lang="en-US" dirty="0">
                <a:effectLst/>
              </a:rPr>
              <a:t>: As countries develop, fertility rates naturally decline. This phenomenon, known as the demographic transition, suggests that with industrialization and urbanization, birth rates drop.</a:t>
            </a:r>
          </a:p>
          <a:p>
            <a:pPr>
              <a:buFont typeface="Arial" panose="020B0604020202020204" pitchFamily="34" charset="0"/>
              <a:buChar char="•"/>
            </a:pPr>
            <a:r>
              <a:rPr lang="en-US" b="1" dirty="0">
                <a:effectLst/>
              </a:rPr>
              <a:t>Implementation</a:t>
            </a:r>
            <a:r>
              <a:rPr lang="en-US" dirty="0">
                <a:effectLst/>
              </a:rPr>
              <a:t>: By focusing on overall economic development, improving infrastructure, and fostering industries, countries can accelerate their demographic transition.</a:t>
            </a:r>
          </a:p>
          <a:p>
            <a:endParaRPr lang="en-US" dirty="0"/>
          </a:p>
        </p:txBody>
      </p:sp>
      <p:sp>
        <p:nvSpPr>
          <p:cNvPr id="4" name="Slide Number Placeholder 3"/>
          <p:cNvSpPr>
            <a:spLocks noGrp="1"/>
          </p:cNvSpPr>
          <p:nvPr>
            <p:ph type="sldNum" sz="quarter" idx="5"/>
          </p:nvPr>
        </p:nvSpPr>
        <p:spPr/>
        <p:txBody>
          <a:bodyPr/>
          <a:lstStyle/>
          <a:p>
            <a:pPr>
              <a:defRPr/>
            </a:pPr>
            <a:fld id="{7BB2877C-180D-4D5B-9B03-1CE301C5E104}" type="slidenum">
              <a:rPr lang="en-US" smtClean="0"/>
              <a:pPr>
                <a:defRPr/>
              </a:pPr>
              <a:t>36</a:t>
            </a:fld>
            <a:endParaRPr lang="en-US"/>
          </a:p>
        </p:txBody>
      </p:sp>
    </p:spTree>
    <p:extLst>
      <p:ext uri="{BB962C8B-B14F-4D97-AF65-F5344CB8AC3E}">
        <p14:creationId xmlns:p14="http://schemas.microsoft.com/office/powerpoint/2010/main" val="36626369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algn="l"/>
            <a:r>
              <a:rPr lang="en-US" b="1" i="0" u="none" strike="noStrike" dirty="0">
                <a:effectLst/>
                <a:latin typeface="Söhne"/>
              </a:rPr>
              <a:t>What the Developed Countries Can Do Generally:</a:t>
            </a:r>
          </a:p>
          <a:p>
            <a:pPr algn="l">
              <a:buFont typeface="+mj-lt"/>
              <a:buAutoNum type="arabicPeriod"/>
            </a:pPr>
            <a:r>
              <a:rPr lang="en-US" b="1" i="0" u="none" strike="noStrike" dirty="0">
                <a:solidFill>
                  <a:srgbClr val="D1D5DB"/>
                </a:solidFill>
                <a:effectLst/>
                <a:latin typeface="Söhne"/>
              </a:rPr>
              <a:t>Address Resource Use Inequities</a:t>
            </a:r>
            <a:r>
              <a:rPr lang="en-US" b="0" i="0" u="none" strike="noStrike" dirty="0">
                <a:solidFill>
                  <a:srgbClr val="D1D5DB"/>
                </a:solidFill>
                <a:effectLst/>
                <a:latin typeface="Söhne"/>
              </a:rPr>
              <a:t>:</a:t>
            </a:r>
          </a:p>
          <a:p>
            <a:pPr marL="742950" lvl="1" indent="-285750" algn="l">
              <a:buFont typeface="+mj-lt"/>
              <a:buAutoNum type="arabicPeriod"/>
            </a:pPr>
            <a:r>
              <a:rPr lang="en-US" b="1" i="0" u="none" strike="noStrike" dirty="0">
                <a:solidFill>
                  <a:srgbClr val="D1D5DB"/>
                </a:solidFill>
                <a:effectLst/>
                <a:latin typeface="Söhne"/>
              </a:rPr>
              <a:t>Rationale</a:t>
            </a:r>
            <a:r>
              <a:rPr lang="en-US" b="0" i="0" u="none" strike="noStrike" dirty="0">
                <a:solidFill>
                  <a:srgbClr val="D1D5DB"/>
                </a:solidFill>
                <a:effectLst/>
                <a:latin typeface="Söhne"/>
              </a:rPr>
              <a:t>: Developed countries, while having a smaller population compared to developing countries, often have a disproportionately high consumption rate. This high per capita consumption leads to resource depletion and environmental degradation at a global scale.</a:t>
            </a:r>
          </a:p>
          <a:p>
            <a:pPr marL="742950" lvl="1" indent="-285750" algn="l">
              <a:buFont typeface="+mj-lt"/>
              <a:buAutoNum type="arabicPeriod"/>
            </a:pPr>
            <a:r>
              <a:rPr lang="en-US" b="1" i="0" u="none" strike="noStrike" dirty="0">
                <a:solidFill>
                  <a:srgbClr val="D1D5DB"/>
                </a:solidFill>
                <a:effectLst/>
                <a:latin typeface="Söhne"/>
              </a:rPr>
              <a:t>Implementation</a:t>
            </a:r>
            <a:r>
              <a:rPr lang="en-US" b="0" i="0" u="none" strike="noStrike" dirty="0">
                <a:solidFill>
                  <a:srgbClr val="D1D5DB"/>
                </a:solidFill>
                <a:effectLst/>
                <a:latin typeface="Söhne"/>
              </a:rPr>
              <a:t>: Implementing sustainable consumption practices, investing in green technologies, recycling, and waste management can reduce the ecological footprint. Policies promoting sustainable agriculture, fisheries, and forestry can also address resource inequities.</a:t>
            </a:r>
          </a:p>
          <a:p>
            <a:pPr algn="l">
              <a:buFont typeface="+mj-lt"/>
              <a:buAutoNum type="arabicPeriod"/>
            </a:pPr>
            <a:r>
              <a:rPr lang="en-US" b="1" i="0" u="none" strike="noStrike" dirty="0">
                <a:solidFill>
                  <a:srgbClr val="D1D5DB"/>
                </a:solidFill>
                <a:effectLst/>
                <a:latin typeface="Söhne"/>
              </a:rPr>
              <a:t>More Open Migration Policies</a:t>
            </a:r>
            <a:r>
              <a:rPr lang="en-US" b="0" i="0" u="none" strike="noStrike" dirty="0">
                <a:solidFill>
                  <a:srgbClr val="D1D5DB"/>
                </a:solidFill>
                <a:effectLst/>
                <a:latin typeface="Söhne"/>
              </a:rPr>
              <a:t>:</a:t>
            </a:r>
          </a:p>
          <a:p>
            <a:pPr marL="742950" lvl="1" indent="-285750" algn="l">
              <a:buFont typeface="+mj-lt"/>
              <a:buAutoNum type="arabicPeriod"/>
            </a:pPr>
            <a:r>
              <a:rPr lang="en-US" b="1" i="0" u="none" strike="noStrike" dirty="0">
                <a:solidFill>
                  <a:srgbClr val="D1D5DB"/>
                </a:solidFill>
                <a:effectLst/>
                <a:latin typeface="Söhne"/>
              </a:rPr>
              <a:t>Rationale</a:t>
            </a:r>
            <a:r>
              <a:rPr lang="en-US" b="0" i="0" u="none" strike="noStrike" dirty="0">
                <a:solidFill>
                  <a:srgbClr val="D1D5DB"/>
                </a:solidFill>
                <a:effectLst/>
                <a:latin typeface="Söhne"/>
              </a:rPr>
              <a:t>: Migration can alleviate some of the pressures of overpopulation in developing countries. Moreover, many developed countries with aging populations can benefit from younger immigrants who can contribute to the economy and support social security systems.</a:t>
            </a:r>
          </a:p>
          <a:p>
            <a:pPr marL="742950" lvl="1" indent="-285750" algn="l">
              <a:buFont typeface="+mj-lt"/>
              <a:buAutoNum type="arabicPeriod"/>
            </a:pPr>
            <a:r>
              <a:rPr lang="en-US" b="1" i="0" u="none" strike="noStrike" dirty="0">
                <a:solidFill>
                  <a:srgbClr val="D1D5DB"/>
                </a:solidFill>
                <a:effectLst/>
                <a:latin typeface="Söhne"/>
              </a:rPr>
              <a:t>Implementation</a:t>
            </a:r>
            <a:r>
              <a:rPr lang="en-US" b="0" i="0" u="none" strike="noStrike" dirty="0">
                <a:solidFill>
                  <a:srgbClr val="D1D5DB"/>
                </a:solidFill>
                <a:effectLst/>
                <a:latin typeface="Söhne"/>
              </a:rPr>
              <a:t>: Relaxing visa restrictions, offering work permits, creating integration programs for immigrants, and providing pathways to citizenship can foster more open migration. Collaboration between countries can also lead to well-structured migration agreements that benefit both parties.</a:t>
            </a:r>
          </a:p>
          <a:p>
            <a:pPr algn="l"/>
            <a:r>
              <a:rPr lang="en-US" b="1" i="0" u="none" strike="noStrike" dirty="0">
                <a:effectLst/>
                <a:latin typeface="Söhne"/>
              </a:rPr>
              <a:t>How Developed Countries Can Help Developing Countries with Their Population Programs:</a:t>
            </a:r>
          </a:p>
          <a:p>
            <a:pPr algn="l">
              <a:buFont typeface="+mj-lt"/>
              <a:buAutoNum type="arabicPeriod"/>
            </a:pPr>
            <a:r>
              <a:rPr lang="en-US" b="1" i="0" u="none" strike="noStrike" dirty="0">
                <a:solidFill>
                  <a:srgbClr val="D1D5DB"/>
                </a:solidFill>
                <a:effectLst/>
                <a:latin typeface="Söhne"/>
              </a:rPr>
              <a:t>Research into Technology of Fertility Control</a:t>
            </a:r>
            <a:r>
              <a:rPr lang="en-US" b="0" i="0" u="none" strike="noStrike" dirty="0">
                <a:solidFill>
                  <a:srgbClr val="D1D5DB"/>
                </a:solidFill>
                <a:effectLst/>
                <a:latin typeface="Söhne"/>
              </a:rPr>
              <a:t>:</a:t>
            </a:r>
          </a:p>
          <a:p>
            <a:pPr marL="742950" lvl="1" indent="-285750" algn="l">
              <a:buFont typeface="+mj-lt"/>
              <a:buAutoNum type="arabicPeriod"/>
            </a:pPr>
            <a:r>
              <a:rPr lang="en-US" b="1" i="0" u="none" strike="noStrike" dirty="0">
                <a:solidFill>
                  <a:srgbClr val="D1D5DB"/>
                </a:solidFill>
                <a:effectLst/>
                <a:latin typeface="Söhne"/>
              </a:rPr>
              <a:t>Rationale</a:t>
            </a:r>
            <a:r>
              <a:rPr lang="en-US" b="0" i="0" u="none" strike="noStrike" dirty="0">
                <a:solidFill>
                  <a:srgbClr val="D1D5DB"/>
                </a:solidFill>
                <a:effectLst/>
                <a:latin typeface="Söhne"/>
              </a:rPr>
              <a:t>: The need for safe, effective, and accessible fertility control methods is paramount in population management.</a:t>
            </a:r>
          </a:p>
          <a:p>
            <a:pPr marL="742950" lvl="1" indent="-285750" algn="l">
              <a:buFont typeface="+mj-lt"/>
              <a:buAutoNum type="arabicPeriod"/>
            </a:pPr>
            <a:r>
              <a:rPr lang="en-US" b="1" i="0" u="none" strike="noStrike" dirty="0">
                <a:solidFill>
                  <a:srgbClr val="D1D5DB"/>
                </a:solidFill>
                <a:effectLst/>
                <a:latin typeface="Söhne"/>
              </a:rPr>
              <a:t>Implementation</a:t>
            </a:r>
            <a:r>
              <a:rPr lang="en-US" b="0" i="0" u="none" strike="noStrike" dirty="0">
                <a:solidFill>
                  <a:srgbClr val="D1D5DB"/>
                </a:solidFill>
                <a:effectLst/>
                <a:latin typeface="Söhne"/>
              </a:rPr>
              <a:t>: Investing in research and development of new contraceptive methods, enhancing the efficiency of existing ones, and sharing this technology with developing nations can make a significant impact.</a:t>
            </a:r>
          </a:p>
          <a:p>
            <a:pPr algn="l">
              <a:buFont typeface="+mj-lt"/>
              <a:buAutoNum type="arabicPeriod"/>
            </a:pPr>
            <a:r>
              <a:rPr lang="en-US" b="1" i="0" u="none" strike="noStrike" dirty="0">
                <a:solidFill>
                  <a:srgbClr val="D1D5DB"/>
                </a:solidFill>
                <a:effectLst/>
                <a:latin typeface="Söhne"/>
              </a:rPr>
              <a:t>Financial Assistance for Family Planning Programs</a:t>
            </a:r>
            <a:r>
              <a:rPr lang="en-US" b="0" i="0" u="none" strike="noStrike" dirty="0">
                <a:solidFill>
                  <a:srgbClr val="D1D5DB"/>
                </a:solidFill>
                <a:effectLst/>
                <a:latin typeface="Söhne"/>
              </a:rPr>
              <a:t>:</a:t>
            </a:r>
          </a:p>
          <a:p>
            <a:pPr marL="742950" lvl="1" indent="-285750" algn="l">
              <a:buFont typeface="+mj-lt"/>
              <a:buAutoNum type="arabicPeriod"/>
            </a:pPr>
            <a:r>
              <a:rPr lang="en-US" b="1" i="0" u="none" strike="noStrike" dirty="0">
                <a:solidFill>
                  <a:srgbClr val="D1D5DB"/>
                </a:solidFill>
                <a:effectLst/>
                <a:latin typeface="Söhne"/>
              </a:rPr>
              <a:t>Rationale</a:t>
            </a:r>
            <a:r>
              <a:rPr lang="en-US" b="0" i="0" u="none" strike="noStrike" dirty="0">
                <a:solidFill>
                  <a:srgbClr val="D1D5DB"/>
                </a:solidFill>
                <a:effectLst/>
                <a:latin typeface="Söhne"/>
              </a:rPr>
              <a:t>: Many developing countries lack the funds to run comprehensive family planning programs.</a:t>
            </a:r>
          </a:p>
          <a:p>
            <a:pPr marL="742950" lvl="1" indent="-285750" algn="l">
              <a:buFont typeface="+mj-lt"/>
              <a:buAutoNum type="arabicPeriod"/>
            </a:pPr>
            <a:r>
              <a:rPr lang="en-US" b="1" i="0" u="none" strike="noStrike" dirty="0">
                <a:solidFill>
                  <a:srgbClr val="D1D5DB"/>
                </a:solidFill>
                <a:effectLst/>
                <a:latin typeface="Söhne"/>
              </a:rPr>
              <a:t>Implementation</a:t>
            </a:r>
            <a:r>
              <a:rPr lang="en-US" b="0" i="0" u="none" strike="noStrike" dirty="0">
                <a:solidFill>
                  <a:srgbClr val="D1D5DB"/>
                </a:solidFill>
                <a:effectLst/>
                <a:latin typeface="Söhne"/>
              </a:rPr>
              <a:t>: Developed countries can allocate a portion of their foreign aid budget to support family planning initiatives in developing countries. This can be done directly or through international organizations like UNFPA (United Nations Population Fund). Additionally, Public-Private Partnerships can be encouraged where private entities contribute to these initiatives.</a:t>
            </a:r>
          </a:p>
          <a:p>
            <a:pPr algn="l">
              <a:buFont typeface="+mj-lt"/>
              <a:buAutoNum type="arabicPeriod"/>
            </a:pPr>
            <a:r>
              <a:rPr lang="en-US" b="1" i="0" u="none" strike="noStrike" dirty="0">
                <a:solidFill>
                  <a:srgbClr val="D1D5DB"/>
                </a:solidFill>
                <a:effectLst/>
                <a:latin typeface="Söhne"/>
              </a:rPr>
              <a:t>Capacity Building and Training</a:t>
            </a:r>
            <a:r>
              <a:rPr lang="en-US" b="0" i="0" u="none" strike="noStrike" dirty="0">
                <a:solidFill>
                  <a:srgbClr val="D1D5DB"/>
                </a:solidFill>
                <a:effectLst/>
                <a:latin typeface="Söhne"/>
              </a:rPr>
              <a:t>:</a:t>
            </a:r>
          </a:p>
          <a:p>
            <a:pPr marL="742950" lvl="1" indent="-285750" algn="l">
              <a:buFont typeface="+mj-lt"/>
              <a:buAutoNum type="arabicPeriod"/>
            </a:pPr>
            <a:r>
              <a:rPr lang="en-US" b="1" i="0" u="none" strike="noStrike" dirty="0">
                <a:solidFill>
                  <a:srgbClr val="D1D5DB"/>
                </a:solidFill>
                <a:effectLst/>
                <a:latin typeface="Söhne"/>
              </a:rPr>
              <a:t>Rationale</a:t>
            </a:r>
            <a:r>
              <a:rPr lang="en-US" b="0" i="0" u="none" strike="noStrike" dirty="0">
                <a:solidFill>
                  <a:srgbClr val="D1D5DB"/>
                </a:solidFill>
                <a:effectLst/>
                <a:latin typeface="Söhne"/>
              </a:rPr>
              <a:t>: Simply providing resources might not be effective if there's a lack of trained professionals in developing countries.</a:t>
            </a:r>
          </a:p>
          <a:p>
            <a:pPr marL="742950" lvl="1" indent="-285750" algn="l">
              <a:buFont typeface="+mj-lt"/>
              <a:buAutoNum type="arabicPeriod"/>
            </a:pPr>
            <a:r>
              <a:rPr lang="en-US" b="1" i="0" u="none" strike="noStrike" dirty="0">
                <a:solidFill>
                  <a:srgbClr val="D1D5DB"/>
                </a:solidFill>
                <a:effectLst/>
                <a:latin typeface="Söhne"/>
              </a:rPr>
              <a:t>Implementation</a:t>
            </a:r>
            <a:r>
              <a:rPr lang="en-US" b="0" i="0" u="none" strike="noStrike" dirty="0">
                <a:solidFill>
                  <a:srgbClr val="D1D5DB"/>
                </a:solidFill>
                <a:effectLst/>
                <a:latin typeface="Söhne"/>
              </a:rPr>
              <a:t>: Organizing training programs for healthcare workers, counselors, and community leaders from developing countries can enhance the effectiveness of population programs. Collaboration between universities and institutions can also help in knowledge transfer.</a:t>
            </a:r>
          </a:p>
          <a:p>
            <a:endParaRPr lang="en-US" dirty="0"/>
          </a:p>
        </p:txBody>
      </p:sp>
      <p:sp>
        <p:nvSpPr>
          <p:cNvPr id="4" name="Slide Number Placeholder 3"/>
          <p:cNvSpPr>
            <a:spLocks noGrp="1"/>
          </p:cNvSpPr>
          <p:nvPr>
            <p:ph type="sldNum" sz="quarter" idx="5"/>
          </p:nvPr>
        </p:nvSpPr>
        <p:spPr/>
        <p:txBody>
          <a:bodyPr/>
          <a:lstStyle/>
          <a:p>
            <a:pPr>
              <a:defRPr/>
            </a:pPr>
            <a:fld id="{7BB2877C-180D-4D5B-9B03-1CE301C5E104}" type="slidenum">
              <a:rPr lang="en-US" smtClean="0"/>
              <a:pPr>
                <a:defRPr/>
              </a:pPr>
              <a:t>37</a:t>
            </a:fld>
            <a:endParaRPr lang="en-US"/>
          </a:p>
        </p:txBody>
      </p:sp>
    </p:spTree>
    <p:extLst>
      <p:ext uri="{BB962C8B-B14F-4D97-AF65-F5344CB8AC3E}">
        <p14:creationId xmlns:p14="http://schemas.microsoft.com/office/powerpoint/2010/main" val="1483637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1C3B378B-2969-4B09-897A-F419B648924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12872C4D-494A-4453-9516-BBA7290EA18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D4E807C8-CFBD-4F76-9394-E22F1AA069D5}"/>
              </a:ext>
            </a:extLst>
          </p:cNvPr>
          <p:cNvSpPr>
            <a:spLocks noGrp="1" noChangeArrowheads="1"/>
          </p:cNvSpPr>
          <p:nvPr>
            <p:ph type="sldNum" sz="quarter" idx="12"/>
          </p:nvPr>
        </p:nvSpPr>
        <p:spPr>
          <a:ln/>
        </p:spPr>
        <p:txBody>
          <a:bodyPr/>
          <a:lstStyle>
            <a:lvl1pPr>
              <a:defRPr/>
            </a:lvl1pPr>
          </a:lstStyle>
          <a:p>
            <a:pPr>
              <a:defRPr/>
            </a:pPr>
            <a:fld id="{462302E9-CA93-4047-99F0-17E8C42E4A2E}" type="slidenum">
              <a:rPr lang="en-US" altLang="zh-CN"/>
              <a:pPr>
                <a:defRPr/>
              </a:pPr>
              <a:t>‹#›</a:t>
            </a:fld>
            <a:endParaRPr lang="en-US" altLang="zh-CN"/>
          </a:p>
        </p:txBody>
      </p:sp>
    </p:spTree>
    <p:extLst>
      <p:ext uri="{BB962C8B-B14F-4D97-AF65-F5344CB8AC3E}">
        <p14:creationId xmlns:p14="http://schemas.microsoft.com/office/powerpoint/2010/main" val="3507217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C3B378B-2969-4B09-897A-F419B648924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12872C4D-494A-4453-9516-BBA7290EA18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D4E807C8-CFBD-4F76-9394-E22F1AA069D5}"/>
              </a:ext>
            </a:extLst>
          </p:cNvPr>
          <p:cNvSpPr>
            <a:spLocks noGrp="1" noChangeArrowheads="1"/>
          </p:cNvSpPr>
          <p:nvPr>
            <p:ph type="sldNum" sz="quarter" idx="12"/>
          </p:nvPr>
        </p:nvSpPr>
        <p:spPr>
          <a:ln/>
        </p:spPr>
        <p:txBody>
          <a:bodyPr/>
          <a:lstStyle>
            <a:lvl1pPr>
              <a:defRPr/>
            </a:lvl1pPr>
          </a:lstStyle>
          <a:p>
            <a:pPr>
              <a:defRPr/>
            </a:pPr>
            <a:fld id="{DE280D02-4829-46C5-906A-7A90A07F9C96}" type="slidenum">
              <a:rPr lang="en-US" altLang="zh-CN"/>
              <a:pPr>
                <a:defRPr/>
              </a:pPr>
              <a:t>‹#›</a:t>
            </a:fld>
            <a:endParaRPr lang="en-US" altLang="zh-CN"/>
          </a:p>
        </p:txBody>
      </p:sp>
    </p:spTree>
    <p:extLst>
      <p:ext uri="{BB962C8B-B14F-4D97-AF65-F5344CB8AC3E}">
        <p14:creationId xmlns:p14="http://schemas.microsoft.com/office/powerpoint/2010/main" val="24322878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1C3B378B-2969-4B09-897A-F419B648924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12872C4D-494A-4453-9516-BBA7290EA18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D4E807C8-CFBD-4F76-9394-E22F1AA069D5}"/>
              </a:ext>
            </a:extLst>
          </p:cNvPr>
          <p:cNvSpPr>
            <a:spLocks noGrp="1" noChangeArrowheads="1"/>
          </p:cNvSpPr>
          <p:nvPr>
            <p:ph type="sldNum" sz="quarter" idx="12"/>
          </p:nvPr>
        </p:nvSpPr>
        <p:spPr>
          <a:ln/>
        </p:spPr>
        <p:txBody>
          <a:bodyPr/>
          <a:lstStyle>
            <a:lvl1pPr>
              <a:defRPr/>
            </a:lvl1pPr>
          </a:lstStyle>
          <a:p>
            <a:pPr>
              <a:defRPr/>
            </a:pPr>
            <a:fld id="{CEF949A1-C2C0-496A-A6B5-AF3403478FF7}" type="slidenum">
              <a:rPr lang="en-US" altLang="zh-CN"/>
              <a:pPr>
                <a:defRPr/>
              </a:pPr>
              <a:t>‹#›</a:t>
            </a:fld>
            <a:endParaRPr lang="en-US" altLang="zh-CN"/>
          </a:p>
        </p:txBody>
      </p:sp>
    </p:spTree>
    <p:extLst>
      <p:ext uri="{BB962C8B-B14F-4D97-AF65-F5344CB8AC3E}">
        <p14:creationId xmlns:p14="http://schemas.microsoft.com/office/powerpoint/2010/main" val="3745429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1C3B378B-2969-4B09-897A-F419B648924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12872C4D-494A-4453-9516-BBA7290EA18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D4E807C8-CFBD-4F76-9394-E22F1AA069D5}"/>
              </a:ext>
            </a:extLst>
          </p:cNvPr>
          <p:cNvSpPr>
            <a:spLocks noGrp="1" noChangeArrowheads="1"/>
          </p:cNvSpPr>
          <p:nvPr>
            <p:ph type="sldNum" sz="quarter" idx="12"/>
          </p:nvPr>
        </p:nvSpPr>
        <p:spPr>
          <a:ln/>
        </p:spPr>
        <p:txBody>
          <a:bodyPr/>
          <a:lstStyle>
            <a:lvl1pPr>
              <a:defRPr/>
            </a:lvl1pPr>
          </a:lstStyle>
          <a:p>
            <a:pPr>
              <a:defRPr/>
            </a:pPr>
            <a:fld id="{5AE14B1B-7737-40B3-9328-C2B9D3E54D4E}" type="slidenum">
              <a:rPr lang="en-US" altLang="zh-CN"/>
              <a:pPr>
                <a:defRPr/>
              </a:pPr>
              <a:t>‹#›</a:t>
            </a:fld>
            <a:endParaRPr lang="en-US" altLang="zh-CN"/>
          </a:p>
        </p:txBody>
      </p:sp>
    </p:spTree>
    <p:extLst>
      <p:ext uri="{BB962C8B-B14F-4D97-AF65-F5344CB8AC3E}">
        <p14:creationId xmlns:p14="http://schemas.microsoft.com/office/powerpoint/2010/main" val="1482244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1C3B378B-2969-4B09-897A-F419B648924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12872C4D-494A-4453-9516-BBA7290EA18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D4E807C8-CFBD-4F76-9394-E22F1AA069D5}"/>
              </a:ext>
            </a:extLst>
          </p:cNvPr>
          <p:cNvSpPr>
            <a:spLocks noGrp="1" noChangeArrowheads="1"/>
          </p:cNvSpPr>
          <p:nvPr>
            <p:ph type="sldNum" sz="quarter" idx="12"/>
          </p:nvPr>
        </p:nvSpPr>
        <p:spPr>
          <a:ln/>
        </p:spPr>
        <p:txBody>
          <a:bodyPr/>
          <a:lstStyle>
            <a:lvl1pPr>
              <a:defRPr/>
            </a:lvl1pPr>
          </a:lstStyle>
          <a:p>
            <a:pPr>
              <a:defRPr/>
            </a:pPr>
            <a:fld id="{FE93DD84-E627-4AA6-B2F1-E1485DDE6E16}" type="slidenum">
              <a:rPr lang="en-US" altLang="zh-CN"/>
              <a:pPr>
                <a:defRPr/>
              </a:pPr>
              <a:t>‹#›</a:t>
            </a:fld>
            <a:endParaRPr lang="en-US" altLang="zh-CN"/>
          </a:p>
        </p:txBody>
      </p:sp>
    </p:spTree>
    <p:extLst>
      <p:ext uri="{BB962C8B-B14F-4D97-AF65-F5344CB8AC3E}">
        <p14:creationId xmlns:p14="http://schemas.microsoft.com/office/powerpoint/2010/main" val="30771532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1C3B378B-2969-4B09-897A-F419B648924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12872C4D-494A-4453-9516-BBA7290EA18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D4E807C8-CFBD-4F76-9394-E22F1AA069D5}"/>
              </a:ext>
            </a:extLst>
          </p:cNvPr>
          <p:cNvSpPr>
            <a:spLocks noGrp="1" noChangeArrowheads="1"/>
          </p:cNvSpPr>
          <p:nvPr>
            <p:ph type="sldNum" sz="quarter" idx="12"/>
          </p:nvPr>
        </p:nvSpPr>
        <p:spPr>
          <a:ln/>
        </p:spPr>
        <p:txBody>
          <a:bodyPr/>
          <a:lstStyle>
            <a:lvl1pPr>
              <a:defRPr/>
            </a:lvl1pPr>
          </a:lstStyle>
          <a:p>
            <a:pPr>
              <a:defRPr/>
            </a:pPr>
            <a:fld id="{E8426838-C0CB-4CD8-9221-8D7FB09CFF09}" type="slidenum">
              <a:rPr lang="en-US" altLang="zh-CN"/>
              <a:pPr>
                <a:defRPr/>
              </a:pPr>
              <a:t>‹#›</a:t>
            </a:fld>
            <a:endParaRPr lang="en-US" altLang="zh-CN"/>
          </a:p>
        </p:txBody>
      </p:sp>
    </p:spTree>
    <p:extLst>
      <p:ext uri="{BB962C8B-B14F-4D97-AF65-F5344CB8AC3E}">
        <p14:creationId xmlns:p14="http://schemas.microsoft.com/office/powerpoint/2010/main" val="3149610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1C3B378B-2969-4B09-897A-F419B648924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12872C4D-494A-4453-9516-BBA7290EA18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D4E807C8-CFBD-4F76-9394-E22F1AA069D5}"/>
              </a:ext>
            </a:extLst>
          </p:cNvPr>
          <p:cNvSpPr>
            <a:spLocks noGrp="1" noChangeArrowheads="1"/>
          </p:cNvSpPr>
          <p:nvPr>
            <p:ph type="sldNum" sz="quarter" idx="12"/>
          </p:nvPr>
        </p:nvSpPr>
        <p:spPr>
          <a:ln/>
        </p:spPr>
        <p:txBody>
          <a:bodyPr/>
          <a:lstStyle>
            <a:lvl1pPr>
              <a:defRPr/>
            </a:lvl1pPr>
          </a:lstStyle>
          <a:p>
            <a:pPr>
              <a:defRPr/>
            </a:pPr>
            <a:fld id="{AFCC7240-F08A-4733-9D50-CE837653FA63}" type="slidenum">
              <a:rPr lang="en-US" altLang="zh-CN"/>
              <a:pPr>
                <a:defRPr/>
              </a:pPr>
              <a:t>‹#›</a:t>
            </a:fld>
            <a:endParaRPr lang="en-US" altLang="zh-CN"/>
          </a:p>
        </p:txBody>
      </p:sp>
    </p:spTree>
    <p:extLst>
      <p:ext uri="{BB962C8B-B14F-4D97-AF65-F5344CB8AC3E}">
        <p14:creationId xmlns:p14="http://schemas.microsoft.com/office/powerpoint/2010/main" val="76607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1C3B378B-2969-4B09-897A-F419B648924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12872C4D-494A-4453-9516-BBA7290EA18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D4E807C8-CFBD-4F76-9394-E22F1AA069D5}"/>
              </a:ext>
            </a:extLst>
          </p:cNvPr>
          <p:cNvSpPr>
            <a:spLocks noGrp="1" noChangeArrowheads="1"/>
          </p:cNvSpPr>
          <p:nvPr>
            <p:ph type="sldNum" sz="quarter" idx="12"/>
          </p:nvPr>
        </p:nvSpPr>
        <p:spPr>
          <a:ln/>
        </p:spPr>
        <p:txBody>
          <a:bodyPr/>
          <a:lstStyle>
            <a:lvl1pPr>
              <a:defRPr/>
            </a:lvl1pPr>
          </a:lstStyle>
          <a:p>
            <a:pPr>
              <a:defRPr/>
            </a:pPr>
            <a:fld id="{359BA11E-8BF9-488C-8F7D-0FD010B45EFF}" type="slidenum">
              <a:rPr lang="en-US" altLang="zh-CN"/>
              <a:pPr>
                <a:defRPr/>
              </a:pPr>
              <a:t>‹#›</a:t>
            </a:fld>
            <a:endParaRPr lang="en-US" altLang="zh-CN"/>
          </a:p>
        </p:txBody>
      </p:sp>
    </p:spTree>
    <p:extLst>
      <p:ext uri="{BB962C8B-B14F-4D97-AF65-F5344CB8AC3E}">
        <p14:creationId xmlns:p14="http://schemas.microsoft.com/office/powerpoint/2010/main" val="1044323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1C3B378B-2969-4B09-897A-F419B648924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12872C4D-494A-4453-9516-BBA7290EA18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D4E807C8-CFBD-4F76-9394-E22F1AA069D5}"/>
              </a:ext>
            </a:extLst>
          </p:cNvPr>
          <p:cNvSpPr>
            <a:spLocks noGrp="1" noChangeArrowheads="1"/>
          </p:cNvSpPr>
          <p:nvPr>
            <p:ph type="sldNum" sz="quarter" idx="12"/>
          </p:nvPr>
        </p:nvSpPr>
        <p:spPr>
          <a:ln/>
        </p:spPr>
        <p:txBody>
          <a:bodyPr/>
          <a:lstStyle>
            <a:lvl1pPr>
              <a:defRPr/>
            </a:lvl1pPr>
          </a:lstStyle>
          <a:p>
            <a:pPr>
              <a:defRPr/>
            </a:pPr>
            <a:fld id="{033B1ED6-C0C6-47AE-A5F5-7228B0C796CD}" type="slidenum">
              <a:rPr lang="en-US" altLang="zh-CN"/>
              <a:pPr>
                <a:defRPr/>
              </a:pPr>
              <a:t>‹#›</a:t>
            </a:fld>
            <a:endParaRPr lang="en-US" altLang="zh-CN"/>
          </a:p>
        </p:txBody>
      </p:sp>
    </p:spTree>
    <p:extLst>
      <p:ext uri="{BB962C8B-B14F-4D97-AF65-F5344CB8AC3E}">
        <p14:creationId xmlns:p14="http://schemas.microsoft.com/office/powerpoint/2010/main" val="1003337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C3B378B-2969-4B09-897A-F419B648924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12872C4D-494A-4453-9516-BBA7290EA18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D4E807C8-CFBD-4F76-9394-E22F1AA069D5}"/>
              </a:ext>
            </a:extLst>
          </p:cNvPr>
          <p:cNvSpPr>
            <a:spLocks noGrp="1" noChangeArrowheads="1"/>
          </p:cNvSpPr>
          <p:nvPr>
            <p:ph type="sldNum" sz="quarter" idx="12"/>
          </p:nvPr>
        </p:nvSpPr>
        <p:spPr>
          <a:ln/>
        </p:spPr>
        <p:txBody>
          <a:bodyPr/>
          <a:lstStyle>
            <a:lvl1pPr>
              <a:defRPr/>
            </a:lvl1pPr>
          </a:lstStyle>
          <a:p>
            <a:pPr>
              <a:defRPr/>
            </a:pPr>
            <a:fld id="{13E68DDA-5706-428C-B333-F54C5B9CC5DE}" type="slidenum">
              <a:rPr lang="en-US" altLang="zh-CN"/>
              <a:pPr>
                <a:defRPr/>
              </a:pPr>
              <a:t>‹#›</a:t>
            </a:fld>
            <a:endParaRPr lang="en-US" altLang="zh-CN"/>
          </a:p>
        </p:txBody>
      </p:sp>
    </p:spTree>
    <p:extLst>
      <p:ext uri="{BB962C8B-B14F-4D97-AF65-F5344CB8AC3E}">
        <p14:creationId xmlns:p14="http://schemas.microsoft.com/office/powerpoint/2010/main" val="925452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C3B378B-2969-4B09-897A-F419B648924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12872C4D-494A-4453-9516-BBA7290EA18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D4E807C8-CFBD-4F76-9394-E22F1AA069D5}"/>
              </a:ext>
            </a:extLst>
          </p:cNvPr>
          <p:cNvSpPr>
            <a:spLocks noGrp="1" noChangeArrowheads="1"/>
          </p:cNvSpPr>
          <p:nvPr>
            <p:ph type="sldNum" sz="quarter" idx="12"/>
          </p:nvPr>
        </p:nvSpPr>
        <p:spPr>
          <a:ln/>
        </p:spPr>
        <p:txBody>
          <a:bodyPr/>
          <a:lstStyle>
            <a:lvl1pPr>
              <a:defRPr/>
            </a:lvl1pPr>
          </a:lstStyle>
          <a:p>
            <a:pPr>
              <a:defRPr/>
            </a:pPr>
            <a:fld id="{6271A878-57DB-4B71-BAD8-B5AEC3588EB3}" type="slidenum">
              <a:rPr lang="en-US" altLang="zh-CN"/>
              <a:pPr>
                <a:defRPr/>
              </a:pPr>
              <a:t>‹#›</a:t>
            </a:fld>
            <a:endParaRPr lang="en-US" altLang="zh-CN"/>
          </a:p>
        </p:txBody>
      </p:sp>
    </p:spTree>
    <p:extLst>
      <p:ext uri="{BB962C8B-B14F-4D97-AF65-F5344CB8AC3E}">
        <p14:creationId xmlns:p14="http://schemas.microsoft.com/office/powerpoint/2010/main" val="33282753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25963"/>
          </a:xfrm>
        </p:spPr>
        <p:txBody>
          <a:bodyPr/>
          <a:lstStyle/>
          <a:p>
            <a:pPr lvl="0"/>
            <a:endParaRPr lang="en-US" noProof="0"/>
          </a:p>
        </p:txBody>
      </p:sp>
      <p:sp>
        <p:nvSpPr>
          <p:cNvPr id="4" name="Rectangle 4">
            <a:extLst>
              <a:ext uri="{FF2B5EF4-FFF2-40B4-BE49-F238E27FC236}">
                <a16:creationId xmlns:a16="http://schemas.microsoft.com/office/drawing/2014/main" id="{1C3B378B-2969-4B09-897A-F419B648924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12872C4D-494A-4453-9516-BBA7290EA18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D4E807C8-CFBD-4F76-9394-E22F1AA069D5}"/>
              </a:ext>
            </a:extLst>
          </p:cNvPr>
          <p:cNvSpPr>
            <a:spLocks noGrp="1" noChangeArrowheads="1"/>
          </p:cNvSpPr>
          <p:nvPr>
            <p:ph type="sldNum" sz="quarter" idx="12"/>
          </p:nvPr>
        </p:nvSpPr>
        <p:spPr>
          <a:ln/>
        </p:spPr>
        <p:txBody>
          <a:bodyPr/>
          <a:lstStyle>
            <a:lvl1pPr>
              <a:defRPr/>
            </a:lvl1pPr>
          </a:lstStyle>
          <a:p>
            <a:pPr>
              <a:defRPr/>
            </a:pPr>
            <a:fld id="{C35390C3-838D-48F0-A6B2-8E0F33663B4C}" type="slidenum">
              <a:rPr lang="en-US" altLang="zh-CN"/>
              <a:pPr>
                <a:defRPr/>
              </a:pPr>
              <a:t>‹#›</a:t>
            </a:fld>
            <a:endParaRPr lang="en-US" altLang="zh-CN"/>
          </a:p>
        </p:txBody>
      </p:sp>
    </p:spTree>
    <p:extLst>
      <p:ext uri="{BB962C8B-B14F-4D97-AF65-F5344CB8AC3E}">
        <p14:creationId xmlns:p14="http://schemas.microsoft.com/office/powerpoint/2010/main" val="3344016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1C3B378B-2969-4B09-897A-F419B6489247}"/>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en-US" altLang="zh-CN"/>
          </a:p>
        </p:txBody>
      </p:sp>
      <p:sp>
        <p:nvSpPr>
          <p:cNvPr id="1029" name="Rectangle 5">
            <a:extLst>
              <a:ext uri="{FF2B5EF4-FFF2-40B4-BE49-F238E27FC236}">
                <a16:creationId xmlns:a16="http://schemas.microsoft.com/office/drawing/2014/main" id="{12872C4D-494A-4453-9516-BBA7290EA186}"/>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endParaRPr lang="en-US" altLang="zh-CN"/>
          </a:p>
        </p:txBody>
      </p:sp>
      <p:sp>
        <p:nvSpPr>
          <p:cNvPr id="1030" name="Rectangle 6">
            <a:extLst>
              <a:ext uri="{FF2B5EF4-FFF2-40B4-BE49-F238E27FC236}">
                <a16:creationId xmlns:a16="http://schemas.microsoft.com/office/drawing/2014/main" id="{D4E807C8-CFBD-4F76-9394-E22F1AA069D5}"/>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4442B24A-7960-431B-A615-7F15563878DF}"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4.emf"/></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755650" y="1268413"/>
            <a:ext cx="7772400" cy="1470025"/>
          </a:xfrm>
        </p:spPr>
        <p:txBody>
          <a:bodyPr/>
          <a:lstStyle/>
          <a:p>
            <a:pPr eaLnBrk="1" hangingPunct="1"/>
            <a:r>
              <a:rPr lang="en-US" altLang="zh-CN">
                <a:latin typeface="Times New Roman" panose="02020603050405020304" pitchFamily="18" charset="0"/>
              </a:rPr>
              <a:t>International Economic Development</a:t>
            </a:r>
          </a:p>
        </p:txBody>
      </p:sp>
      <p:sp>
        <p:nvSpPr>
          <p:cNvPr id="4099" name="Rectangle 3"/>
          <p:cNvSpPr>
            <a:spLocks noGrp="1" noChangeArrowheads="1"/>
          </p:cNvSpPr>
          <p:nvPr>
            <p:ph type="subTitle" idx="1"/>
          </p:nvPr>
        </p:nvSpPr>
        <p:spPr>
          <a:xfrm>
            <a:off x="1403350" y="3644900"/>
            <a:ext cx="6400800" cy="1752600"/>
          </a:xfrm>
        </p:spPr>
        <p:txBody>
          <a:bodyPr/>
          <a:lstStyle/>
          <a:p>
            <a:pPr eaLnBrk="1" hangingPunct="1">
              <a:lnSpc>
                <a:spcPct val="90000"/>
              </a:lnSpc>
            </a:pPr>
            <a:r>
              <a:rPr lang="en-US" altLang="zh-CN">
                <a:latin typeface="Times New Roman" panose="02020603050405020304" pitchFamily="18" charset="0"/>
              </a:rPr>
              <a:t>ECON 4660/8666</a:t>
            </a:r>
          </a:p>
          <a:p>
            <a:pPr eaLnBrk="1" hangingPunct="1">
              <a:lnSpc>
                <a:spcPct val="90000"/>
              </a:lnSpc>
            </a:pPr>
            <a:endParaRPr lang="en-US" altLang="zh-CN" sz="3600">
              <a:latin typeface="Times New Roman" panose="02020603050405020304" pitchFamily="18" charset="0"/>
            </a:endParaRPr>
          </a:p>
          <a:p>
            <a:pPr eaLnBrk="1" hangingPunct="1">
              <a:lnSpc>
                <a:spcPct val="90000"/>
              </a:lnSpc>
            </a:pPr>
            <a:r>
              <a:rPr lang="en-US" altLang="zh-CN" sz="3600">
                <a:latin typeface="Times New Roman" panose="02020603050405020304" pitchFamily="18" charset="0"/>
              </a:rPr>
              <a:t>Lecture 5. Population</a:t>
            </a:r>
          </a:p>
          <a:p>
            <a:pPr eaLnBrk="1" hangingPunct="1">
              <a:lnSpc>
                <a:spcPct val="90000"/>
              </a:lnSpc>
            </a:pPr>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en-US" sz="1800">
                <a:solidFill>
                  <a:srgbClr val="FEC35F"/>
                </a:solidFill>
                <a:ea typeface="ヒラギノ角ゴ Pro W3" pitchFamily="122" charset="-128"/>
              </a:rPr>
              <a:t>6-</a:t>
            </a:r>
            <a:fld id="{13CF6623-2E55-4A19-9185-F84DE1B0A2A7}" type="slidenum">
              <a:rPr lang="en-US" altLang="en-US" sz="1800" smtClean="0">
                <a:solidFill>
                  <a:srgbClr val="FEC35F"/>
                </a:solidFill>
                <a:ea typeface="ヒラギノ角ゴ Pro W3" pitchFamily="122" charset="-128"/>
              </a:rPr>
              <a:pPr>
                <a:spcBef>
                  <a:spcPct val="0"/>
                </a:spcBef>
                <a:buFontTx/>
                <a:buNone/>
              </a:pPr>
              <a:t>2</a:t>
            </a:fld>
            <a:endParaRPr lang="en-US" altLang="en-US" sz="1800">
              <a:solidFill>
                <a:srgbClr val="FEC35F"/>
              </a:solidFill>
              <a:ea typeface="ヒラギノ角ゴ Pro W3" pitchFamily="122" charset="-128"/>
            </a:endParaRPr>
          </a:p>
        </p:txBody>
      </p:sp>
      <p:sp>
        <p:nvSpPr>
          <p:cNvPr id="5123" name="Rectangle 2"/>
          <p:cNvSpPr>
            <a:spLocks noGrp="1" noChangeArrowheads="1"/>
          </p:cNvSpPr>
          <p:nvPr>
            <p:ph type="title"/>
          </p:nvPr>
        </p:nvSpPr>
        <p:spPr>
          <a:xfrm>
            <a:off x="457200" y="228600"/>
            <a:ext cx="8229600" cy="1252538"/>
          </a:xfrm>
        </p:spPr>
        <p:txBody>
          <a:bodyPr/>
          <a:lstStyle/>
          <a:p>
            <a:pPr eaLnBrk="1" hangingPunct="1"/>
            <a:r>
              <a:rPr lang="en-US" altLang="en-US" sz="2800"/>
              <a:t>Population growth and economic growth</a:t>
            </a:r>
          </a:p>
        </p:txBody>
      </p:sp>
      <p:pic>
        <p:nvPicPr>
          <p:cNvPr id="5124" name="Picture 3" descr="fig06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828800"/>
            <a:ext cx="65532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ltLang="en-US" sz="3000">
                <a:ea typeface="ヒラギノ角ゴ Pro W3" pitchFamily="122" charset="-128"/>
              </a:rPr>
              <a:t>Aging population and pension</a:t>
            </a:r>
          </a:p>
        </p:txBody>
      </p:sp>
      <p:sp>
        <p:nvSpPr>
          <p:cNvPr id="6147"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en-US" sz="1800">
                <a:solidFill>
                  <a:srgbClr val="FEC35F"/>
                </a:solidFill>
              </a:rPr>
              <a:t>8-</a:t>
            </a:r>
            <a:fld id="{F9B8F3D5-A505-4367-AE7E-B3E4F3FCFE5D}" type="slidenum">
              <a:rPr lang="en-US" altLang="en-US" sz="1800" smtClean="0">
                <a:solidFill>
                  <a:srgbClr val="FEC35F"/>
                </a:solidFill>
              </a:rPr>
              <a:pPr>
                <a:spcBef>
                  <a:spcPct val="0"/>
                </a:spcBef>
                <a:buFontTx/>
                <a:buNone/>
              </a:pPr>
              <a:t>3</a:t>
            </a:fld>
            <a:endParaRPr lang="en-US" altLang="en-US" sz="1800">
              <a:solidFill>
                <a:srgbClr val="FEC35F"/>
              </a:solidFill>
            </a:endParaRPr>
          </a:p>
        </p:txBody>
      </p:sp>
      <p:sp>
        <p:nvSpPr>
          <p:cNvPr id="6148" name="Rectangle 5"/>
          <p:cNvSpPr txBox="1">
            <a:spLocks noChangeArrowheads="1"/>
          </p:cNvSpPr>
          <p:nvPr/>
        </p:nvSpPr>
        <p:spPr bwMode="auto">
          <a:xfrm>
            <a:off x="622300" y="2108200"/>
            <a:ext cx="6989763" cy="398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endParaRPr lang="en-US" altLang="en-US">
              <a:latin typeface="Times New Roman" panose="02020603050405020304" pitchFamily="18" charset="0"/>
            </a:endParaRPr>
          </a:p>
          <a:p>
            <a:pPr>
              <a:buFontTx/>
              <a:buNone/>
            </a:pPr>
            <a:endParaRPr lang="en-US" altLang="en-US">
              <a:latin typeface="Times New Roman" panose="02020603050405020304" pitchFamily="18" charset="0"/>
            </a:endParaRPr>
          </a:p>
        </p:txBody>
      </p:sp>
      <p:sp>
        <p:nvSpPr>
          <p:cNvPr id="6149" name="Rectangle 5"/>
          <p:cNvSpPr txBox="1">
            <a:spLocks noChangeArrowheads="1"/>
          </p:cNvSpPr>
          <p:nvPr/>
        </p:nvSpPr>
        <p:spPr bwMode="auto">
          <a:xfrm>
            <a:off x="198438" y="1803400"/>
            <a:ext cx="7835900" cy="452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r>
              <a:rPr lang="en-US" altLang="en-US" sz="2400">
                <a:latin typeface="Times New Roman" panose="02020603050405020304" pitchFamily="18" charset="0"/>
              </a:rPr>
              <a:t>Overlapping Generations Model</a:t>
            </a:r>
          </a:p>
          <a:p>
            <a:pPr lvl="1">
              <a:spcBef>
                <a:spcPct val="0"/>
              </a:spcBef>
              <a:buFont typeface="Arial" panose="020B0604020202020204" pitchFamily="34" charset="0"/>
              <a:buChar char="•"/>
            </a:pPr>
            <a:r>
              <a:rPr lang="en-US" altLang="en-US" sz="2400">
                <a:latin typeface="Times New Roman" panose="02020603050405020304" pitchFamily="18" charset="0"/>
              </a:rPr>
              <a:t>Each agent lives two periods: Young and Old</a:t>
            </a:r>
          </a:p>
          <a:p>
            <a:pPr lvl="1">
              <a:spcBef>
                <a:spcPct val="0"/>
              </a:spcBef>
              <a:buFont typeface="Arial" panose="020B0604020202020204" pitchFamily="34" charset="0"/>
              <a:buChar char="•"/>
            </a:pPr>
            <a:r>
              <a:rPr lang="en-US" altLang="en-US" sz="2400">
                <a:latin typeface="Times New Roman" panose="02020603050405020304" pitchFamily="18" charset="0"/>
              </a:rPr>
              <a:t>In any period, there are people of different generations alive</a:t>
            </a:r>
          </a:p>
          <a:p>
            <a:pPr lvl="1">
              <a:spcBef>
                <a:spcPct val="0"/>
              </a:spcBef>
              <a:buFont typeface="Arial" panose="020B0604020202020204" pitchFamily="34" charset="0"/>
              <a:buChar char="•"/>
            </a:pPr>
            <a:endParaRPr lang="en-US" altLang="en-US" sz="2400">
              <a:latin typeface="Times New Roman" panose="02020603050405020304" pitchFamily="18" charset="0"/>
            </a:endParaRPr>
          </a:p>
          <a:p>
            <a:pPr>
              <a:spcBef>
                <a:spcPct val="0"/>
              </a:spcBef>
            </a:pPr>
            <a:r>
              <a:rPr lang="en-US" altLang="en-US" sz="2400">
                <a:latin typeface="Times New Roman" panose="02020603050405020304" pitchFamily="18" charset="0"/>
              </a:rPr>
              <a:t>Population Evolution:</a:t>
            </a:r>
          </a:p>
          <a:p>
            <a:pPr algn="ctr">
              <a:spcBef>
                <a:spcPct val="0"/>
              </a:spcBef>
              <a:buFontTx/>
              <a:buNone/>
            </a:pPr>
            <a:r>
              <a:rPr lang="en-US" altLang="en-US" sz="2400">
                <a:latin typeface="Times New Roman" panose="02020603050405020304" pitchFamily="18" charset="0"/>
              </a:rPr>
              <a:t>N’ = N(1 + 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E6C6887-A7EB-22FE-08C0-D7A07C7A824E}"/>
              </a:ext>
            </a:extLst>
          </p:cNvPr>
          <p:cNvCxnSpPr/>
          <p:nvPr/>
        </p:nvCxnSpPr>
        <p:spPr>
          <a:xfrm>
            <a:off x="395536" y="5229200"/>
            <a:ext cx="8064896" cy="0"/>
          </a:xfrm>
          <a:prstGeom prst="line">
            <a:avLst/>
          </a:prstGeom>
        </p:spPr>
        <p:style>
          <a:lnRef idx="2">
            <a:schemeClr val="dk1"/>
          </a:lnRef>
          <a:fillRef idx="0">
            <a:schemeClr val="dk1"/>
          </a:fillRef>
          <a:effectRef idx="1">
            <a:schemeClr val="dk1"/>
          </a:effectRef>
          <a:fontRef idx="minor">
            <a:schemeClr val="tx1"/>
          </a:fontRef>
        </p:style>
      </p:cxnSp>
      <p:sp>
        <p:nvSpPr>
          <p:cNvPr id="6" name="TextBox 5">
            <a:extLst>
              <a:ext uri="{FF2B5EF4-FFF2-40B4-BE49-F238E27FC236}">
                <a16:creationId xmlns:a16="http://schemas.microsoft.com/office/drawing/2014/main" id="{BA73D392-DC91-2757-B161-4700EF76126A}"/>
              </a:ext>
            </a:extLst>
          </p:cNvPr>
          <p:cNvSpPr txBox="1"/>
          <p:nvPr/>
        </p:nvSpPr>
        <p:spPr>
          <a:xfrm>
            <a:off x="539552" y="5661248"/>
            <a:ext cx="576064" cy="369332"/>
          </a:xfrm>
          <a:prstGeom prst="rect">
            <a:avLst/>
          </a:prstGeom>
          <a:noFill/>
        </p:spPr>
        <p:txBody>
          <a:bodyPr wrap="square" rtlCol="0">
            <a:spAutoFit/>
          </a:bodyPr>
          <a:lstStyle/>
          <a:p>
            <a:r>
              <a:rPr lang="en-US" dirty="0"/>
              <a:t>T</a:t>
            </a:r>
          </a:p>
        </p:txBody>
      </p:sp>
      <p:sp>
        <p:nvSpPr>
          <p:cNvPr id="7" name="TextBox 6">
            <a:extLst>
              <a:ext uri="{FF2B5EF4-FFF2-40B4-BE49-F238E27FC236}">
                <a16:creationId xmlns:a16="http://schemas.microsoft.com/office/drawing/2014/main" id="{8A7370BB-D9E8-EFD0-566E-11A8CA13209E}"/>
              </a:ext>
            </a:extLst>
          </p:cNvPr>
          <p:cNvSpPr txBox="1"/>
          <p:nvPr/>
        </p:nvSpPr>
        <p:spPr>
          <a:xfrm>
            <a:off x="3000648" y="5661248"/>
            <a:ext cx="864096" cy="369332"/>
          </a:xfrm>
          <a:prstGeom prst="rect">
            <a:avLst/>
          </a:prstGeom>
          <a:noFill/>
        </p:spPr>
        <p:txBody>
          <a:bodyPr wrap="square" rtlCol="0">
            <a:spAutoFit/>
          </a:bodyPr>
          <a:lstStyle/>
          <a:p>
            <a:r>
              <a:rPr lang="en-US" dirty="0"/>
              <a:t>T+1</a:t>
            </a:r>
          </a:p>
        </p:txBody>
      </p:sp>
      <p:sp>
        <p:nvSpPr>
          <p:cNvPr id="8" name="TextBox 7">
            <a:extLst>
              <a:ext uri="{FF2B5EF4-FFF2-40B4-BE49-F238E27FC236}">
                <a16:creationId xmlns:a16="http://schemas.microsoft.com/office/drawing/2014/main" id="{BFE2DE1A-798D-7A7B-251B-EA19FD26A1EA}"/>
              </a:ext>
            </a:extLst>
          </p:cNvPr>
          <p:cNvSpPr txBox="1"/>
          <p:nvPr/>
        </p:nvSpPr>
        <p:spPr>
          <a:xfrm>
            <a:off x="5890427" y="5594088"/>
            <a:ext cx="864096" cy="369332"/>
          </a:xfrm>
          <a:prstGeom prst="rect">
            <a:avLst/>
          </a:prstGeom>
          <a:noFill/>
        </p:spPr>
        <p:txBody>
          <a:bodyPr wrap="square" rtlCol="0">
            <a:spAutoFit/>
          </a:bodyPr>
          <a:lstStyle/>
          <a:p>
            <a:r>
              <a:rPr lang="en-US" dirty="0"/>
              <a:t>T+2</a:t>
            </a:r>
          </a:p>
        </p:txBody>
      </p:sp>
      <p:sp>
        <p:nvSpPr>
          <p:cNvPr id="9" name="TextBox 8">
            <a:extLst>
              <a:ext uri="{FF2B5EF4-FFF2-40B4-BE49-F238E27FC236}">
                <a16:creationId xmlns:a16="http://schemas.microsoft.com/office/drawing/2014/main" id="{4C3CE3C4-D834-E605-A1FD-3587AE596042}"/>
              </a:ext>
            </a:extLst>
          </p:cNvPr>
          <p:cNvSpPr txBox="1"/>
          <p:nvPr/>
        </p:nvSpPr>
        <p:spPr>
          <a:xfrm>
            <a:off x="8095303" y="5630823"/>
            <a:ext cx="864096" cy="369332"/>
          </a:xfrm>
          <a:prstGeom prst="rect">
            <a:avLst/>
          </a:prstGeom>
          <a:noFill/>
        </p:spPr>
        <p:txBody>
          <a:bodyPr wrap="square" rtlCol="0">
            <a:spAutoFit/>
          </a:bodyPr>
          <a:lstStyle/>
          <a:p>
            <a:r>
              <a:rPr lang="en-US" dirty="0"/>
              <a:t>T+3</a:t>
            </a:r>
          </a:p>
        </p:txBody>
      </p:sp>
      <p:sp>
        <p:nvSpPr>
          <p:cNvPr id="10" name="TextBox 9">
            <a:extLst>
              <a:ext uri="{FF2B5EF4-FFF2-40B4-BE49-F238E27FC236}">
                <a16:creationId xmlns:a16="http://schemas.microsoft.com/office/drawing/2014/main" id="{6861C68C-7ECA-9EFA-129D-AFED90764235}"/>
              </a:ext>
            </a:extLst>
          </p:cNvPr>
          <p:cNvSpPr txBox="1"/>
          <p:nvPr/>
        </p:nvSpPr>
        <p:spPr>
          <a:xfrm>
            <a:off x="395536" y="4509120"/>
            <a:ext cx="1440160" cy="369332"/>
          </a:xfrm>
          <a:prstGeom prst="rect">
            <a:avLst/>
          </a:prstGeom>
          <a:pattFill prst="lgGrid">
            <a:fgClr>
              <a:schemeClr val="accent1"/>
            </a:fgClr>
            <a:bgClr>
              <a:schemeClr val="bg1"/>
            </a:bgClr>
          </a:pattFill>
        </p:spPr>
        <p:txBody>
          <a:bodyPr wrap="square" rtlCol="0">
            <a:spAutoFit/>
          </a:bodyPr>
          <a:lstStyle/>
          <a:p>
            <a:r>
              <a:rPr lang="en-US" dirty="0"/>
              <a:t>old (size 1)</a:t>
            </a:r>
          </a:p>
        </p:txBody>
      </p:sp>
      <p:sp>
        <p:nvSpPr>
          <p:cNvPr id="11" name="TextBox 10">
            <a:extLst>
              <a:ext uri="{FF2B5EF4-FFF2-40B4-BE49-F238E27FC236}">
                <a16:creationId xmlns:a16="http://schemas.microsoft.com/office/drawing/2014/main" id="{86DBDBD9-F93D-C3CE-2324-F6F7C11083B1}"/>
              </a:ext>
            </a:extLst>
          </p:cNvPr>
          <p:cNvSpPr txBox="1"/>
          <p:nvPr/>
        </p:nvSpPr>
        <p:spPr>
          <a:xfrm>
            <a:off x="395536" y="3973706"/>
            <a:ext cx="1944216" cy="369332"/>
          </a:xfrm>
          <a:prstGeom prst="rect">
            <a:avLst/>
          </a:prstGeom>
          <a:pattFill prst="dashDnDiag">
            <a:fgClr>
              <a:schemeClr val="accent1"/>
            </a:fgClr>
            <a:bgClr>
              <a:schemeClr val="bg1"/>
            </a:bgClr>
          </a:pattFill>
        </p:spPr>
        <p:txBody>
          <a:bodyPr wrap="square" rtlCol="0">
            <a:spAutoFit/>
          </a:bodyPr>
          <a:lstStyle/>
          <a:p>
            <a:r>
              <a:rPr lang="en-US" dirty="0"/>
              <a:t>young (size 1+n)</a:t>
            </a:r>
          </a:p>
        </p:txBody>
      </p:sp>
      <p:sp>
        <p:nvSpPr>
          <p:cNvPr id="12" name="TextBox 11">
            <a:extLst>
              <a:ext uri="{FF2B5EF4-FFF2-40B4-BE49-F238E27FC236}">
                <a16:creationId xmlns:a16="http://schemas.microsoft.com/office/drawing/2014/main" id="{8FFFA368-4032-E70D-00A4-59DD972BACC6}"/>
              </a:ext>
            </a:extLst>
          </p:cNvPr>
          <p:cNvSpPr txBox="1"/>
          <p:nvPr/>
        </p:nvSpPr>
        <p:spPr>
          <a:xfrm>
            <a:off x="2555776" y="3973706"/>
            <a:ext cx="1728192" cy="369332"/>
          </a:xfrm>
          <a:prstGeom prst="rect">
            <a:avLst/>
          </a:prstGeom>
          <a:pattFill prst="dashUpDiag">
            <a:fgClr>
              <a:schemeClr val="accent1"/>
            </a:fgClr>
            <a:bgClr>
              <a:schemeClr val="bg1"/>
            </a:bgClr>
          </a:pattFill>
        </p:spPr>
        <p:txBody>
          <a:bodyPr wrap="square" rtlCol="0">
            <a:spAutoFit/>
          </a:bodyPr>
          <a:lstStyle/>
          <a:p>
            <a:r>
              <a:rPr lang="en-US" dirty="0"/>
              <a:t>old (size 1+n)</a:t>
            </a: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926D4E54-4360-9499-10C4-B6B71B279A2A}"/>
                  </a:ext>
                </a:extLst>
              </p:cNvPr>
              <p:cNvSpPr txBox="1"/>
              <p:nvPr/>
            </p:nvSpPr>
            <p:spPr>
              <a:xfrm>
                <a:off x="2523964" y="3448334"/>
                <a:ext cx="2681560" cy="369332"/>
              </a:xfrm>
              <a:prstGeom prst="rect">
                <a:avLst/>
              </a:prstGeom>
              <a:pattFill prst="shingle">
                <a:fgClr>
                  <a:schemeClr val="accent1"/>
                </a:fgClr>
                <a:bgClr>
                  <a:schemeClr val="bg1"/>
                </a:bgClr>
              </a:pattFill>
            </p:spPr>
            <p:txBody>
              <a:bodyPr wrap="square" rtlCol="0">
                <a:spAutoFit/>
              </a:bodyPr>
              <a:lstStyle/>
              <a:p>
                <a:r>
                  <a:rPr lang="en-US" dirty="0"/>
                  <a:t>young (size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(1+</m:t>
                        </m:r>
                        <m:r>
                          <a:rPr lang="en-US" b="0" i="1" smtClean="0">
                            <a:latin typeface="Cambria Math" panose="02040503050406030204" pitchFamily="18" charset="0"/>
                          </a:rPr>
                          <m:t>𝑛</m:t>
                        </m:r>
                        <m:r>
                          <a:rPr lang="en-US" b="0" i="1" smtClean="0">
                            <a:latin typeface="Cambria Math" panose="02040503050406030204" pitchFamily="18" charset="0"/>
                          </a:rPr>
                          <m:t>)</m:t>
                        </m:r>
                      </m:e>
                      <m:sup>
                        <m:r>
                          <a:rPr lang="en-US" b="0" i="1" smtClean="0">
                            <a:latin typeface="Cambria Math" panose="02040503050406030204" pitchFamily="18" charset="0"/>
                          </a:rPr>
                          <m:t>2</m:t>
                        </m:r>
                      </m:sup>
                    </m:sSup>
                  </m:oMath>
                </a14:m>
                <a:r>
                  <a:rPr lang="en-US" dirty="0"/>
                  <a:t>)</a:t>
                </a:r>
              </a:p>
            </p:txBody>
          </p:sp>
        </mc:Choice>
        <mc:Fallback>
          <p:sp>
            <p:nvSpPr>
              <p:cNvPr id="13" name="TextBox 12">
                <a:extLst>
                  <a:ext uri="{FF2B5EF4-FFF2-40B4-BE49-F238E27FC236}">
                    <a16:creationId xmlns:a16="http://schemas.microsoft.com/office/drawing/2014/main" id="{926D4E54-4360-9499-10C4-B6B71B279A2A}"/>
                  </a:ext>
                </a:extLst>
              </p:cNvPr>
              <p:cNvSpPr txBox="1">
                <a:spLocks noRot="1" noChangeAspect="1" noMove="1" noResize="1" noEditPoints="1" noAdjustHandles="1" noChangeArrowheads="1" noChangeShapeType="1" noTextEdit="1"/>
              </p:cNvSpPr>
              <p:nvPr/>
            </p:nvSpPr>
            <p:spPr>
              <a:xfrm>
                <a:off x="2523964" y="3448334"/>
                <a:ext cx="2681560" cy="369332"/>
              </a:xfrm>
              <a:prstGeom prst="rect">
                <a:avLst/>
              </a:prstGeom>
              <a:blipFill>
                <a:blip r:embed="rId3"/>
                <a:stretch>
                  <a:fillRect l="-1887" t="-6667" b="-2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00604F6-59E7-E2A3-E6EE-0A7FEDD3E887}"/>
                  </a:ext>
                </a:extLst>
              </p:cNvPr>
              <p:cNvSpPr txBox="1"/>
              <p:nvPr/>
            </p:nvSpPr>
            <p:spPr>
              <a:xfrm>
                <a:off x="5413743" y="3448334"/>
                <a:ext cx="2681560" cy="369332"/>
              </a:xfrm>
              <a:prstGeom prst="rect">
                <a:avLst/>
              </a:prstGeom>
              <a:pattFill prst="shingle">
                <a:fgClr>
                  <a:schemeClr val="accent1"/>
                </a:fgClr>
                <a:bgClr>
                  <a:schemeClr val="bg1"/>
                </a:bgClr>
              </a:pattFill>
            </p:spPr>
            <p:txBody>
              <a:bodyPr wrap="square" rtlCol="0">
                <a:spAutoFit/>
              </a:bodyPr>
              <a:lstStyle/>
              <a:p>
                <a:r>
                  <a:rPr lang="en-US" dirty="0"/>
                  <a:t>old (size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(1+</m:t>
                        </m:r>
                        <m:r>
                          <a:rPr lang="en-US" b="0" i="1" smtClean="0">
                            <a:latin typeface="Cambria Math" panose="02040503050406030204" pitchFamily="18" charset="0"/>
                          </a:rPr>
                          <m:t>𝑛</m:t>
                        </m:r>
                        <m:r>
                          <a:rPr lang="en-US" b="0" i="1" smtClean="0">
                            <a:latin typeface="Cambria Math" panose="02040503050406030204" pitchFamily="18" charset="0"/>
                          </a:rPr>
                          <m:t>)</m:t>
                        </m:r>
                      </m:e>
                      <m:sup>
                        <m:r>
                          <a:rPr lang="en-US" b="0" i="1" smtClean="0">
                            <a:latin typeface="Cambria Math" panose="02040503050406030204" pitchFamily="18" charset="0"/>
                          </a:rPr>
                          <m:t>2</m:t>
                        </m:r>
                      </m:sup>
                    </m:sSup>
                  </m:oMath>
                </a14:m>
                <a:r>
                  <a:rPr lang="en-US" dirty="0"/>
                  <a:t>)</a:t>
                </a:r>
              </a:p>
            </p:txBody>
          </p:sp>
        </mc:Choice>
        <mc:Fallback>
          <p:sp>
            <p:nvSpPr>
              <p:cNvPr id="14" name="TextBox 13">
                <a:extLst>
                  <a:ext uri="{FF2B5EF4-FFF2-40B4-BE49-F238E27FC236}">
                    <a16:creationId xmlns:a16="http://schemas.microsoft.com/office/drawing/2014/main" id="{200604F6-59E7-E2A3-E6EE-0A7FEDD3E887}"/>
                  </a:ext>
                </a:extLst>
              </p:cNvPr>
              <p:cNvSpPr txBox="1">
                <a:spLocks noRot="1" noChangeAspect="1" noMove="1" noResize="1" noEditPoints="1" noAdjustHandles="1" noChangeArrowheads="1" noChangeShapeType="1" noTextEdit="1"/>
              </p:cNvSpPr>
              <p:nvPr/>
            </p:nvSpPr>
            <p:spPr>
              <a:xfrm>
                <a:off x="5413743" y="3448334"/>
                <a:ext cx="2681560" cy="369332"/>
              </a:xfrm>
              <a:prstGeom prst="rect">
                <a:avLst/>
              </a:prstGeom>
              <a:blipFill>
                <a:blip r:embed="rId4"/>
                <a:stretch>
                  <a:fillRect l="-1887" t="-6667" b="-2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4C206BA7-7389-4C64-9C66-0ADA7EBC2444}"/>
                  </a:ext>
                </a:extLst>
              </p:cNvPr>
              <p:cNvSpPr txBox="1"/>
              <p:nvPr/>
            </p:nvSpPr>
            <p:spPr>
              <a:xfrm>
                <a:off x="5413743" y="2789130"/>
                <a:ext cx="2681560" cy="369332"/>
              </a:xfrm>
              <a:prstGeom prst="rect">
                <a:avLst/>
              </a:prstGeom>
              <a:pattFill prst="plaid">
                <a:fgClr>
                  <a:schemeClr val="accent1"/>
                </a:fgClr>
                <a:bgClr>
                  <a:schemeClr val="bg1"/>
                </a:bgClr>
              </a:pattFill>
            </p:spPr>
            <p:txBody>
              <a:bodyPr wrap="square" rtlCol="0">
                <a:spAutoFit/>
              </a:bodyPr>
              <a:lstStyle/>
              <a:p>
                <a:r>
                  <a:rPr lang="en-US" dirty="0"/>
                  <a:t>young (size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(1+</m:t>
                        </m:r>
                        <m:r>
                          <a:rPr lang="en-US" b="0" i="1" smtClean="0">
                            <a:latin typeface="Cambria Math" panose="02040503050406030204" pitchFamily="18" charset="0"/>
                          </a:rPr>
                          <m:t>𝑛</m:t>
                        </m:r>
                        <m:r>
                          <a:rPr lang="en-US" b="0" i="1" smtClean="0">
                            <a:latin typeface="Cambria Math" panose="02040503050406030204" pitchFamily="18" charset="0"/>
                          </a:rPr>
                          <m:t>)</m:t>
                        </m:r>
                      </m:e>
                      <m:sup>
                        <m:r>
                          <a:rPr lang="en-US" b="0" i="1" smtClean="0">
                            <a:latin typeface="Cambria Math" panose="02040503050406030204" pitchFamily="18" charset="0"/>
                          </a:rPr>
                          <m:t>3</m:t>
                        </m:r>
                      </m:sup>
                    </m:sSup>
                  </m:oMath>
                </a14:m>
                <a:r>
                  <a:rPr lang="en-US" dirty="0"/>
                  <a:t>)</a:t>
                </a:r>
              </a:p>
            </p:txBody>
          </p:sp>
        </mc:Choice>
        <mc:Fallback>
          <p:sp>
            <p:nvSpPr>
              <p:cNvPr id="15" name="TextBox 14">
                <a:extLst>
                  <a:ext uri="{FF2B5EF4-FFF2-40B4-BE49-F238E27FC236}">
                    <a16:creationId xmlns:a16="http://schemas.microsoft.com/office/drawing/2014/main" id="{4C206BA7-7389-4C64-9C66-0ADA7EBC2444}"/>
                  </a:ext>
                </a:extLst>
              </p:cNvPr>
              <p:cNvSpPr txBox="1">
                <a:spLocks noRot="1" noChangeAspect="1" noMove="1" noResize="1" noEditPoints="1" noAdjustHandles="1" noChangeArrowheads="1" noChangeShapeType="1" noTextEdit="1"/>
              </p:cNvSpPr>
              <p:nvPr/>
            </p:nvSpPr>
            <p:spPr>
              <a:xfrm>
                <a:off x="5413743" y="2789130"/>
                <a:ext cx="2681560" cy="369332"/>
              </a:xfrm>
              <a:prstGeom prst="rect">
                <a:avLst/>
              </a:prstGeom>
              <a:blipFill>
                <a:blip r:embed="rId5"/>
                <a:stretch>
                  <a:fillRect l="-1887" t="-6667" b="-26667"/>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2711E3F5-8423-B1E5-E9A7-7145C9E60CE9}"/>
              </a:ext>
            </a:extLst>
          </p:cNvPr>
          <p:cNvSpPr txBox="1"/>
          <p:nvPr/>
        </p:nvSpPr>
        <p:spPr>
          <a:xfrm>
            <a:off x="3067637" y="2188569"/>
            <a:ext cx="1594213" cy="369332"/>
          </a:xfrm>
          <a:prstGeom prst="rect">
            <a:avLst/>
          </a:prstGeom>
          <a:pattFill prst="wdUpDiag">
            <a:fgClr>
              <a:schemeClr val="accent1"/>
            </a:fgClr>
            <a:bgClr>
              <a:schemeClr val="bg1"/>
            </a:bgClr>
          </a:pattFill>
        </p:spPr>
        <p:txBody>
          <a:bodyPr wrap="square" rtlCol="0">
            <a:spAutoFit/>
          </a:bodyPr>
          <a:lstStyle/>
          <a:p>
            <a:r>
              <a:rPr lang="en-US" dirty="0"/>
              <a:t>pay tax, t</a:t>
            </a:r>
          </a:p>
        </p:txBody>
      </p:sp>
      <p:cxnSp>
        <p:nvCxnSpPr>
          <p:cNvPr id="18" name="Straight Arrow Connector 17">
            <a:extLst>
              <a:ext uri="{FF2B5EF4-FFF2-40B4-BE49-F238E27FC236}">
                <a16:creationId xmlns:a16="http://schemas.microsoft.com/office/drawing/2014/main" id="{F32F16ED-DC1D-E56C-1FBD-2BAA5BA52F90}"/>
              </a:ext>
            </a:extLst>
          </p:cNvPr>
          <p:cNvCxnSpPr>
            <a:cxnSpLocks/>
          </p:cNvCxnSpPr>
          <p:nvPr/>
        </p:nvCxnSpPr>
        <p:spPr>
          <a:xfrm flipH="1">
            <a:off x="3275856" y="2548234"/>
            <a:ext cx="156840" cy="89582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0" name="TextBox 19">
            <a:extLst>
              <a:ext uri="{FF2B5EF4-FFF2-40B4-BE49-F238E27FC236}">
                <a16:creationId xmlns:a16="http://schemas.microsoft.com/office/drawing/2014/main" id="{A3E90AA4-D38E-7F05-2C75-61115B28B10A}"/>
              </a:ext>
            </a:extLst>
          </p:cNvPr>
          <p:cNvSpPr txBox="1"/>
          <p:nvPr/>
        </p:nvSpPr>
        <p:spPr>
          <a:xfrm>
            <a:off x="4104598" y="4509120"/>
            <a:ext cx="1907562" cy="369332"/>
          </a:xfrm>
          <a:prstGeom prst="rect">
            <a:avLst/>
          </a:prstGeom>
          <a:pattFill prst="wdDnDiag">
            <a:fgClr>
              <a:schemeClr val="accent1"/>
            </a:fgClr>
            <a:bgClr>
              <a:schemeClr val="bg1"/>
            </a:bgClr>
          </a:pattFill>
        </p:spPr>
        <p:txBody>
          <a:bodyPr wrap="square" rtlCol="0">
            <a:spAutoFit/>
          </a:bodyPr>
          <a:lstStyle/>
          <a:p>
            <a:r>
              <a:rPr lang="en-US" dirty="0"/>
              <a:t>collect benefit, b</a:t>
            </a:r>
          </a:p>
        </p:txBody>
      </p:sp>
      <p:cxnSp>
        <p:nvCxnSpPr>
          <p:cNvPr id="22" name="Straight Arrow Connector 21">
            <a:extLst>
              <a:ext uri="{FF2B5EF4-FFF2-40B4-BE49-F238E27FC236}">
                <a16:creationId xmlns:a16="http://schemas.microsoft.com/office/drawing/2014/main" id="{B0BBCD21-2A2B-4E07-FBF6-0D043E8283AF}"/>
              </a:ext>
            </a:extLst>
          </p:cNvPr>
          <p:cNvCxnSpPr>
            <a:cxnSpLocks/>
            <a:endCxn id="20" idx="1"/>
          </p:cNvCxnSpPr>
          <p:nvPr/>
        </p:nvCxnSpPr>
        <p:spPr>
          <a:xfrm>
            <a:off x="3275856" y="4343038"/>
            <a:ext cx="828742" cy="35074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500162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ltLang="en-US" sz="3200">
                <a:ea typeface="ヒラギノ角ゴ Pro W3" pitchFamily="122" charset="-128"/>
              </a:rPr>
              <a:t>Aging population and pension</a:t>
            </a:r>
            <a:endParaRPr lang="en-US" altLang="en-US" sz="3000" b="1">
              <a:ea typeface="ヒラギノ角ゴ Pro W3" pitchFamily="122" charset="-128"/>
            </a:endParaRPr>
          </a:p>
        </p:txBody>
      </p:sp>
      <p:sp>
        <p:nvSpPr>
          <p:cNvPr id="7171"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en-US" sz="1800">
                <a:solidFill>
                  <a:srgbClr val="FEC35F"/>
                </a:solidFill>
              </a:rPr>
              <a:t>8-</a:t>
            </a:r>
            <a:fld id="{7579926F-5121-4AEB-B74B-77A06C0C1394}" type="slidenum">
              <a:rPr lang="en-US" altLang="en-US" sz="1800" smtClean="0">
                <a:solidFill>
                  <a:srgbClr val="FEC35F"/>
                </a:solidFill>
              </a:rPr>
              <a:pPr>
                <a:spcBef>
                  <a:spcPct val="0"/>
                </a:spcBef>
                <a:buFontTx/>
                <a:buNone/>
              </a:pPr>
              <a:t>5</a:t>
            </a:fld>
            <a:endParaRPr lang="en-US" altLang="en-US" sz="1800">
              <a:solidFill>
                <a:srgbClr val="FEC35F"/>
              </a:solidFill>
            </a:endParaRPr>
          </a:p>
        </p:txBody>
      </p:sp>
      <p:sp>
        <p:nvSpPr>
          <p:cNvPr id="7172" name="Rectangle 5"/>
          <p:cNvSpPr txBox="1">
            <a:spLocks noChangeArrowheads="1"/>
          </p:cNvSpPr>
          <p:nvPr/>
        </p:nvSpPr>
        <p:spPr bwMode="auto">
          <a:xfrm>
            <a:off x="622300" y="2108200"/>
            <a:ext cx="6989763" cy="398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endParaRPr lang="en-US" altLang="en-US">
              <a:latin typeface="Times New Roman" panose="02020603050405020304" pitchFamily="18" charset="0"/>
            </a:endParaRPr>
          </a:p>
          <a:p>
            <a:pPr>
              <a:buFontTx/>
              <a:buNone/>
            </a:pPr>
            <a:endParaRPr lang="en-US" altLang="en-US">
              <a:latin typeface="Times New Roman" panose="02020603050405020304" pitchFamily="18" charset="0"/>
            </a:endParaRPr>
          </a:p>
        </p:txBody>
      </p:sp>
      <p:sp>
        <p:nvSpPr>
          <p:cNvPr id="7173" name="Rectangle 5">
            <a:extLst>
              <a:ext uri="{FF2B5EF4-FFF2-40B4-BE49-F238E27FC236}">
                <a16:creationId xmlns:a16="http://schemas.microsoft.com/office/drawing/2014/main" id="{169B4969-44DE-434D-8D20-1D3B041703D4}"/>
              </a:ext>
            </a:extLst>
          </p:cNvPr>
          <p:cNvSpPr txBox="1">
            <a:spLocks noRot="1" noChangeAspect="1" noMove="1" noResize="1" noEditPoints="1" noAdjustHandles="1" noChangeArrowheads="1" noChangeShapeType="1" noTextEdit="1"/>
          </p:cNvSpPr>
          <p:nvPr/>
        </p:nvSpPr>
        <p:spPr bwMode="auto">
          <a:xfrm>
            <a:off x="198438" y="1803400"/>
            <a:ext cx="7835900" cy="4521200"/>
          </a:xfrm>
          <a:prstGeom prst="rect">
            <a:avLst/>
          </a:prstGeom>
          <a:blipFill>
            <a:blip r:embed="rId3"/>
            <a:stretch>
              <a:fillRect l="-1089" t="-1078"/>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en-US" dirty="0">
                <a:noFill/>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ltLang="en-US" sz="3200">
                <a:ea typeface="ヒラギノ角ゴ Pro W3" pitchFamily="122" charset="-128"/>
              </a:rPr>
              <a:t>Aging population and pension</a:t>
            </a:r>
            <a:endParaRPr lang="en-US" altLang="en-US" sz="3000" b="1">
              <a:ea typeface="ヒラギノ角ゴ Pro W3" pitchFamily="122" charset="-128"/>
            </a:endParaRPr>
          </a:p>
        </p:txBody>
      </p:sp>
      <p:sp>
        <p:nvSpPr>
          <p:cNvPr id="8195"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en-US" sz="1800">
                <a:solidFill>
                  <a:srgbClr val="FEC35F"/>
                </a:solidFill>
              </a:rPr>
              <a:t>8-</a:t>
            </a:r>
            <a:fld id="{25FB7E21-CCC3-4E1B-ADC1-7C31F22D9B6A}" type="slidenum">
              <a:rPr lang="en-US" altLang="en-US" sz="1800" smtClean="0">
                <a:solidFill>
                  <a:srgbClr val="FEC35F"/>
                </a:solidFill>
              </a:rPr>
              <a:pPr>
                <a:spcBef>
                  <a:spcPct val="0"/>
                </a:spcBef>
                <a:buFontTx/>
                <a:buNone/>
              </a:pPr>
              <a:t>6</a:t>
            </a:fld>
            <a:endParaRPr lang="en-US" altLang="en-US" sz="1800">
              <a:solidFill>
                <a:srgbClr val="FEC35F"/>
              </a:solidFill>
            </a:endParaRPr>
          </a:p>
        </p:txBody>
      </p:sp>
      <p:sp>
        <p:nvSpPr>
          <p:cNvPr id="8196" name="Rectangle 5"/>
          <p:cNvSpPr txBox="1">
            <a:spLocks noChangeArrowheads="1"/>
          </p:cNvSpPr>
          <p:nvPr/>
        </p:nvSpPr>
        <p:spPr bwMode="auto">
          <a:xfrm>
            <a:off x="622300" y="2108200"/>
            <a:ext cx="6989763" cy="398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endParaRPr lang="en-US" altLang="en-US">
              <a:latin typeface="Times New Roman" panose="02020603050405020304" pitchFamily="18" charset="0"/>
            </a:endParaRPr>
          </a:p>
          <a:p>
            <a:pPr>
              <a:buFontTx/>
              <a:buNone/>
            </a:pPr>
            <a:endParaRPr lang="en-US" altLang="en-US">
              <a:latin typeface="Times New Roman" panose="02020603050405020304" pitchFamily="18" charset="0"/>
            </a:endParaRPr>
          </a:p>
        </p:txBody>
      </p:sp>
      <p:sp>
        <p:nvSpPr>
          <p:cNvPr id="8197" name="Rectangle 5"/>
          <p:cNvSpPr txBox="1">
            <a:spLocks noChangeArrowheads="1"/>
          </p:cNvSpPr>
          <p:nvPr/>
        </p:nvSpPr>
        <p:spPr bwMode="auto">
          <a:xfrm>
            <a:off x="198438" y="1803400"/>
            <a:ext cx="7835900" cy="452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r>
              <a:rPr lang="en-US" altLang="en-US" sz="2400">
                <a:latin typeface="Times New Roman" panose="02020603050405020304" pitchFamily="18" charset="0"/>
              </a:rPr>
              <a:t>When Pay-As-You-Go Social Security was introduced, The First Generation of Old Consumer clearly benefited from the program:</a:t>
            </a:r>
          </a:p>
          <a:p>
            <a:pPr lvl="1">
              <a:spcBef>
                <a:spcPct val="0"/>
              </a:spcBef>
              <a:buFont typeface="Arial" panose="020B0604020202020204" pitchFamily="34" charset="0"/>
              <a:buChar char="•"/>
            </a:pPr>
            <a:r>
              <a:rPr lang="en-US" altLang="en-US" sz="2400">
                <a:latin typeface="Times New Roman" panose="02020603050405020304" pitchFamily="18" charset="0"/>
              </a:rPr>
              <a:t>they did not pay taxes when they were young</a:t>
            </a:r>
          </a:p>
          <a:p>
            <a:pPr lvl="1">
              <a:spcBef>
                <a:spcPct val="0"/>
              </a:spcBef>
              <a:buFont typeface="Arial" panose="020B0604020202020204" pitchFamily="34" charset="0"/>
              <a:buChar char="•"/>
            </a:pPr>
            <a:r>
              <a:rPr lang="en-US" altLang="en-US" sz="2400">
                <a:latin typeface="Times New Roman" panose="02020603050405020304" pitchFamily="18" charset="0"/>
              </a:rPr>
              <a:t>they now have an additional source of income</a:t>
            </a:r>
          </a:p>
          <a:p>
            <a:pPr lvl="1">
              <a:spcBef>
                <a:spcPct val="0"/>
              </a:spcBef>
              <a:buFont typeface="Arial" panose="020B0604020202020204" pitchFamily="34" charset="0"/>
              <a:buChar char="•"/>
            </a:pPr>
            <a:endParaRPr lang="en-US" altLang="en-US" sz="2400">
              <a:latin typeface="Times New Roman" panose="02020603050405020304" pitchFamily="18" charset="0"/>
            </a:endParaRPr>
          </a:p>
          <a:p>
            <a:pPr>
              <a:spcBef>
                <a:spcPct val="0"/>
              </a:spcBef>
            </a:pPr>
            <a:r>
              <a:rPr lang="en-US" altLang="en-US" sz="2400">
                <a:latin typeface="Times New Roman" panose="02020603050405020304" pitchFamily="18" charset="0"/>
              </a:rPr>
              <a:t>For everyone else, the effect on welfare is less obvious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en-US" sz="3200">
                <a:ea typeface="ヒラギノ角ゴ Pro W3" pitchFamily="122" charset="-128"/>
              </a:rPr>
              <a:t>Aging population and pension</a:t>
            </a:r>
            <a:endParaRPr lang="en-US" altLang="en-US" sz="3000" b="1">
              <a:ea typeface="ヒラギノ角ゴ Pro W3" pitchFamily="122" charset="-128"/>
            </a:endParaRPr>
          </a:p>
        </p:txBody>
      </p:sp>
      <p:sp>
        <p:nvSpPr>
          <p:cNvPr id="9219"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en-US" sz="1800">
                <a:solidFill>
                  <a:srgbClr val="FEC35F"/>
                </a:solidFill>
              </a:rPr>
              <a:t>8-</a:t>
            </a:r>
            <a:fld id="{AF1719F6-D3FA-4907-AEDC-D1E9FE53A45E}" type="slidenum">
              <a:rPr lang="en-US" altLang="en-US" sz="1800" smtClean="0">
                <a:solidFill>
                  <a:srgbClr val="FEC35F"/>
                </a:solidFill>
              </a:rPr>
              <a:pPr>
                <a:spcBef>
                  <a:spcPct val="0"/>
                </a:spcBef>
                <a:buFontTx/>
                <a:buNone/>
              </a:pPr>
              <a:t>7</a:t>
            </a:fld>
            <a:endParaRPr lang="en-US" altLang="en-US" sz="1800">
              <a:solidFill>
                <a:srgbClr val="FEC35F"/>
              </a:solidFill>
            </a:endParaRPr>
          </a:p>
        </p:txBody>
      </p:sp>
      <p:sp>
        <p:nvSpPr>
          <p:cNvPr id="9220" name="Rectangle 5"/>
          <p:cNvSpPr txBox="1">
            <a:spLocks noChangeArrowheads="1"/>
          </p:cNvSpPr>
          <p:nvPr/>
        </p:nvSpPr>
        <p:spPr bwMode="auto">
          <a:xfrm>
            <a:off x="622300" y="2108200"/>
            <a:ext cx="6989763" cy="398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endParaRPr lang="en-US" altLang="en-US">
              <a:latin typeface="Times New Roman" panose="02020603050405020304" pitchFamily="18" charset="0"/>
            </a:endParaRPr>
          </a:p>
          <a:p>
            <a:pPr>
              <a:buFontTx/>
              <a:buNone/>
            </a:pPr>
            <a:endParaRPr lang="en-US" altLang="en-US">
              <a:latin typeface="Times New Roman" panose="02020603050405020304" pitchFamily="18" charset="0"/>
            </a:endParaRPr>
          </a:p>
        </p:txBody>
      </p:sp>
      <p:sp>
        <p:nvSpPr>
          <p:cNvPr id="9221" name="Rectangle 5"/>
          <p:cNvSpPr txBox="1">
            <a:spLocks noChangeArrowheads="1"/>
          </p:cNvSpPr>
          <p:nvPr/>
        </p:nvSpPr>
        <p:spPr bwMode="auto">
          <a:xfrm>
            <a:off x="198438" y="1803400"/>
            <a:ext cx="7835900" cy="452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r>
              <a:rPr lang="en-US" altLang="en-US" sz="2400">
                <a:latin typeface="Times New Roman" panose="02020603050405020304" pitchFamily="18" charset="0"/>
              </a:rPr>
              <a:t>Lifetime wealth of the consumer:</a:t>
            </a:r>
          </a:p>
          <a:p>
            <a:pPr>
              <a:spcBef>
                <a:spcPct val="0"/>
              </a:spcBef>
            </a:pPr>
            <a:endParaRPr lang="en-US" altLang="en-US" sz="2400">
              <a:latin typeface="Times New Roman" panose="02020603050405020304" pitchFamily="18" charset="0"/>
            </a:endParaRPr>
          </a:p>
          <a:p>
            <a:pPr>
              <a:spcBef>
                <a:spcPct val="0"/>
              </a:spcBef>
            </a:pPr>
            <a:endParaRPr lang="en-US" altLang="en-US" sz="2400">
              <a:latin typeface="Times New Roman" panose="02020603050405020304" pitchFamily="18" charset="0"/>
            </a:endParaRPr>
          </a:p>
        </p:txBody>
      </p:sp>
      <p:pic>
        <p:nvPicPr>
          <p:cNvPr id="92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3938" y="2916238"/>
            <a:ext cx="4505325" cy="237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en-US" sz="3200">
                <a:ea typeface="ヒラギノ角ゴ Pro W3" pitchFamily="122" charset="-128"/>
              </a:rPr>
              <a:t>Aging population and pension</a:t>
            </a:r>
            <a:endParaRPr lang="en-US" altLang="en-US" sz="3000" b="1">
              <a:ea typeface="ヒラギノ角ゴ Pro W3" pitchFamily="122" charset="-128"/>
            </a:endParaRPr>
          </a:p>
        </p:txBody>
      </p:sp>
      <p:sp>
        <p:nvSpPr>
          <p:cNvPr id="10243"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en-US" sz="1800">
                <a:solidFill>
                  <a:srgbClr val="FEC35F"/>
                </a:solidFill>
              </a:rPr>
              <a:t>8-</a:t>
            </a:r>
            <a:fld id="{13C09AE0-34E0-45E5-B208-38DCC6BF82AB}" type="slidenum">
              <a:rPr lang="en-US" altLang="en-US" sz="1800" smtClean="0">
                <a:solidFill>
                  <a:srgbClr val="FEC35F"/>
                </a:solidFill>
              </a:rPr>
              <a:pPr>
                <a:spcBef>
                  <a:spcPct val="0"/>
                </a:spcBef>
                <a:buFontTx/>
                <a:buNone/>
              </a:pPr>
              <a:t>8</a:t>
            </a:fld>
            <a:endParaRPr lang="en-US" altLang="en-US" sz="1800">
              <a:solidFill>
                <a:srgbClr val="FEC35F"/>
              </a:solidFill>
            </a:endParaRPr>
          </a:p>
        </p:txBody>
      </p:sp>
      <p:sp>
        <p:nvSpPr>
          <p:cNvPr id="10244" name="Rectangle 5"/>
          <p:cNvSpPr txBox="1">
            <a:spLocks noChangeArrowheads="1"/>
          </p:cNvSpPr>
          <p:nvPr/>
        </p:nvSpPr>
        <p:spPr bwMode="auto">
          <a:xfrm>
            <a:off x="622300" y="2108200"/>
            <a:ext cx="6989763" cy="398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endParaRPr lang="en-US" altLang="en-US">
              <a:latin typeface="Times New Roman" panose="02020603050405020304" pitchFamily="18" charset="0"/>
            </a:endParaRPr>
          </a:p>
          <a:p>
            <a:pPr>
              <a:buFontTx/>
              <a:buNone/>
            </a:pPr>
            <a:endParaRPr lang="en-US" altLang="en-US">
              <a:latin typeface="Times New Roman" panose="02020603050405020304" pitchFamily="18" charset="0"/>
            </a:endParaRPr>
          </a:p>
        </p:txBody>
      </p:sp>
      <p:sp>
        <p:nvSpPr>
          <p:cNvPr id="10245" name="Rectangle 5">
            <a:extLst>
              <a:ext uri="{FF2B5EF4-FFF2-40B4-BE49-F238E27FC236}">
                <a16:creationId xmlns:a16="http://schemas.microsoft.com/office/drawing/2014/main" id="{F2E21CE7-0EA6-4CAF-8D7A-E57CB9CA9FDC}"/>
              </a:ext>
            </a:extLst>
          </p:cNvPr>
          <p:cNvSpPr txBox="1">
            <a:spLocks noRot="1" noChangeAspect="1" noMove="1" noResize="1" noEditPoints="1" noAdjustHandles="1" noChangeArrowheads="1" noChangeShapeType="1" noTextEdit="1"/>
          </p:cNvSpPr>
          <p:nvPr/>
        </p:nvSpPr>
        <p:spPr bwMode="auto">
          <a:xfrm>
            <a:off x="198438" y="1803400"/>
            <a:ext cx="7835900" cy="4521200"/>
          </a:xfrm>
          <a:prstGeom prst="rect">
            <a:avLst/>
          </a:prstGeom>
          <a:blipFill>
            <a:blip r:embed="rId2"/>
            <a:stretch>
              <a:fillRect l="-1245" t="-1078" r="-1479"/>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p:pic>
        <p:nvPicPr>
          <p:cNvPr id="102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2514600"/>
            <a:ext cx="4429125" cy="75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ltLang="en-US" sz="2800"/>
              <a:t>Vanishing workers</a:t>
            </a:r>
          </a:p>
        </p:txBody>
      </p:sp>
      <p:sp>
        <p:nvSpPr>
          <p:cNvPr id="11267"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en-US" sz="1800">
                <a:solidFill>
                  <a:srgbClr val="FEC35F"/>
                </a:solidFill>
              </a:rPr>
              <a:t>8-</a:t>
            </a:r>
            <a:fld id="{14491F12-48FC-4C8A-A673-F1AC3760F5E5}" type="slidenum">
              <a:rPr lang="en-US" altLang="en-US" sz="1800" smtClean="0">
                <a:solidFill>
                  <a:srgbClr val="FEC35F"/>
                </a:solidFill>
              </a:rPr>
              <a:pPr>
                <a:spcBef>
                  <a:spcPct val="0"/>
                </a:spcBef>
                <a:buFontTx/>
                <a:buNone/>
              </a:pPr>
              <a:t>9</a:t>
            </a:fld>
            <a:endParaRPr lang="en-US" altLang="en-US" sz="1800">
              <a:solidFill>
                <a:srgbClr val="FEC35F"/>
              </a:solidFill>
            </a:endParaRPr>
          </a:p>
        </p:txBody>
      </p:sp>
      <p:sp>
        <p:nvSpPr>
          <p:cNvPr id="11268" name="Rectangle 5"/>
          <p:cNvSpPr txBox="1">
            <a:spLocks noChangeArrowheads="1"/>
          </p:cNvSpPr>
          <p:nvPr/>
        </p:nvSpPr>
        <p:spPr bwMode="auto">
          <a:xfrm>
            <a:off x="622300" y="2108200"/>
            <a:ext cx="6989763" cy="398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endParaRPr lang="en-US" altLang="en-US">
              <a:latin typeface="Times New Roman" panose="02020603050405020304" pitchFamily="18" charset="0"/>
            </a:endParaRPr>
          </a:p>
          <a:p>
            <a:pPr>
              <a:buFontTx/>
              <a:buNone/>
            </a:pPr>
            <a:endParaRPr lang="en-US" altLang="en-US">
              <a:latin typeface="Times New Roman" panose="02020603050405020304" pitchFamily="18" charset="0"/>
            </a:endParaRPr>
          </a:p>
        </p:txBody>
      </p:sp>
      <p:sp>
        <p:nvSpPr>
          <p:cNvPr id="11269" name="Rectangle 5"/>
          <p:cNvSpPr txBox="1">
            <a:spLocks noChangeArrowheads="1"/>
          </p:cNvSpPr>
          <p:nvPr/>
        </p:nvSpPr>
        <p:spPr bwMode="auto">
          <a:xfrm>
            <a:off x="479425" y="5062538"/>
            <a:ext cx="7835900" cy="143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en-US" altLang="en-US" sz="2000">
              <a:latin typeface="Times New Roman" panose="02020603050405020304" pitchFamily="18" charset="0"/>
            </a:endParaRPr>
          </a:p>
          <a:p>
            <a:pPr>
              <a:spcBef>
                <a:spcPct val="0"/>
              </a:spcBef>
            </a:pPr>
            <a:endParaRPr lang="en-US" altLang="en-US" sz="2000">
              <a:latin typeface="Times New Roman" panose="02020603050405020304" pitchFamily="18" charset="0"/>
            </a:endParaRPr>
          </a:p>
          <a:p>
            <a:pPr>
              <a:spcBef>
                <a:spcPct val="0"/>
              </a:spcBef>
            </a:pPr>
            <a:r>
              <a:rPr lang="en-US" altLang="en-US" sz="2000">
                <a:latin typeface="Times New Roman" panose="02020603050405020304" pitchFamily="18" charset="0"/>
              </a:rPr>
              <a:t>http://www.economist.com/news/finance-and-economics/21702477-can-debt-fuelled-model-growth-cope-ageing-populations-vanishing</a:t>
            </a:r>
          </a:p>
        </p:txBody>
      </p:sp>
      <p:pic>
        <p:nvPicPr>
          <p:cNvPr id="11270" name="Picture 2" descr="http://cdn.static-economist.com/sites/default/files/imagecache/original-size/images/print-edition/20160723_FNC133_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1484313"/>
            <a:ext cx="7416800" cy="396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Grp="1" noChangeArrowheads="1"/>
          </p:cNvSpPr>
          <p:nvPr>
            <p:ph type="body" idx="1"/>
          </p:nvPr>
        </p:nvSpPr>
        <p:spPr>
          <a:xfrm>
            <a:off x="457200" y="549275"/>
            <a:ext cx="8229600" cy="5576888"/>
          </a:xfrm>
        </p:spPr>
        <p:txBody>
          <a:bodyPr/>
          <a:lstStyle/>
          <a:p>
            <a:pPr marL="609600" indent="-609600" eaLnBrk="1" hangingPunct="1">
              <a:buFontTx/>
              <a:buAutoNum type="romanUcPeriod"/>
            </a:pPr>
            <a:r>
              <a:rPr lang="en-US" altLang="zh-CN" sz="2800">
                <a:latin typeface="Times New Roman" panose="02020603050405020304" pitchFamily="18" charset="0"/>
              </a:rPr>
              <a:t>Demographic Measures</a:t>
            </a:r>
            <a:endParaRPr lang="en-US" altLang="zh-CN" sz="2400">
              <a:latin typeface="Times New Roman" panose="02020603050405020304" pitchFamily="18" charset="0"/>
            </a:endParaRPr>
          </a:p>
          <a:p>
            <a:pPr marL="457200" lvl="1" indent="0" eaLnBrk="1" hangingPunct="1">
              <a:buFontTx/>
              <a:buNone/>
            </a:pPr>
            <a:endParaRPr lang="en-US" altLang="zh-CN" sz="2000">
              <a:latin typeface="Times New Roman" panose="02020603050405020304" pitchFamily="18" charset="0"/>
            </a:endParaRPr>
          </a:p>
          <a:p>
            <a:pPr marL="457200" lvl="1" indent="0" eaLnBrk="1" hangingPunct="1">
              <a:buFontTx/>
              <a:buNone/>
            </a:pPr>
            <a:r>
              <a:rPr lang="en-US" altLang="zh-CN" sz="2000">
                <a:latin typeface="Times New Roman" panose="02020603050405020304" pitchFamily="18" charset="0"/>
              </a:rPr>
              <a:t>Birth rate ( crude birth rate ) : Birth per thousand of population.</a:t>
            </a:r>
          </a:p>
          <a:p>
            <a:pPr marL="457200" lvl="1" indent="0" eaLnBrk="1" hangingPunct="1">
              <a:buFontTx/>
              <a:buNone/>
            </a:pPr>
            <a:r>
              <a:rPr lang="en-US" altLang="zh-CN" sz="2000">
                <a:latin typeface="Times New Roman" panose="02020603050405020304" pitchFamily="18" charset="0"/>
              </a:rPr>
              <a:t>Death rate ( crude death rate ) : deaths per thousand of population.</a:t>
            </a:r>
          </a:p>
          <a:p>
            <a:pPr marL="457200" lvl="1" indent="0" eaLnBrk="1" hangingPunct="1">
              <a:buFontTx/>
              <a:buNone/>
            </a:pPr>
            <a:r>
              <a:rPr lang="en-US" altLang="zh-CN" sz="2000">
                <a:latin typeface="Times New Roman" panose="02020603050405020304" pitchFamily="18" charset="0"/>
              </a:rPr>
              <a:t>The rate of natural increase: Birth rate – Death rate</a:t>
            </a:r>
          </a:p>
          <a:p>
            <a:pPr marL="609600" indent="-609600" eaLnBrk="1" hangingPunct="1">
              <a:buFontTx/>
              <a:buNone/>
            </a:pPr>
            <a:r>
              <a:rPr lang="en-US" altLang="zh-CN" sz="2400">
                <a:latin typeface="Times New Roman" panose="02020603050405020304" pitchFamily="18" charset="0"/>
              </a:rPr>
              <a:t>      Example:    </a:t>
            </a:r>
            <a:r>
              <a:rPr lang="en-US" altLang="zh-CN" sz="2000">
                <a:latin typeface="Times New Roman" panose="02020603050405020304" pitchFamily="18" charset="0"/>
              </a:rPr>
              <a:t>99 million at the start</a:t>
            </a:r>
          </a:p>
          <a:p>
            <a:pPr marL="609600" indent="-609600" eaLnBrk="1" hangingPunct="1">
              <a:buFontTx/>
              <a:buNone/>
            </a:pPr>
            <a:r>
              <a:rPr lang="en-US" altLang="zh-CN" sz="2000">
                <a:latin typeface="Times New Roman" panose="02020603050405020304" pitchFamily="18" charset="0"/>
              </a:rPr>
              <a:t>                               5 million births</a:t>
            </a:r>
          </a:p>
          <a:p>
            <a:pPr marL="609600" indent="-609600" eaLnBrk="1" hangingPunct="1">
              <a:buFontTx/>
              <a:buNone/>
            </a:pPr>
            <a:r>
              <a:rPr lang="en-US" altLang="zh-CN" sz="2000">
                <a:latin typeface="Times New Roman" panose="02020603050405020304" pitchFamily="18" charset="0"/>
              </a:rPr>
              <a:t>                               3 million deaths</a:t>
            </a:r>
          </a:p>
          <a:p>
            <a:pPr marL="609600" indent="-609600" eaLnBrk="1" hangingPunct="1">
              <a:buFontTx/>
              <a:buNone/>
            </a:pPr>
            <a:r>
              <a:rPr lang="en-US" altLang="zh-CN" sz="2000">
                <a:latin typeface="Times New Roman" panose="02020603050405020304" pitchFamily="18" charset="0"/>
              </a:rPr>
              <a:t>                           101 million at the end</a:t>
            </a:r>
          </a:p>
          <a:p>
            <a:pPr marL="609600" indent="-609600" eaLnBrk="1" hangingPunct="1">
              <a:buFontTx/>
              <a:buNone/>
            </a:pPr>
            <a:endParaRPr lang="en-US" altLang="zh-CN" sz="2800">
              <a:latin typeface="Times New Roman" panose="02020603050405020304" pitchFamily="18" charset="0"/>
            </a:endParaRPr>
          </a:p>
          <a:p>
            <a:pPr marL="609600" indent="-609600" eaLnBrk="1" hangingPunct="1">
              <a:buFontTx/>
              <a:buNone/>
            </a:pPr>
            <a:endParaRPr lang="en-US" altLang="zh-CN" sz="2800">
              <a:latin typeface="Times New Roman" panose="02020603050405020304" pitchFamily="18" charset="0"/>
            </a:endParaRPr>
          </a:p>
          <a:p>
            <a:pPr marL="609600" indent="-609600" eaLnBrk="1" hangingPunct="1"/>
            <a:endParaRPr lang="en-US" altLang="zh-CN" sz="2800">
              <a:latin typeface="Times New Roman" panose="02020603050405020304" pitchFamily="18" charset="0"/>
            </a:endParaRPr>
          </a:p>
          <a:p>
            <a:pPr marL="609600" indent="-609600" eaLnBrk="1" hangingPunct="1">
              <a:buFontTx/>
              <a:buNone/>
            </a:pPr>
            <a:endParaRPr lang="en-US" altLang="zh-CN" sz="2800">
              <a:latin typeface="Times New Roman" panose="02020603050405020304" pitchFamily="18" charset="0"/>
            </a:endParaRPr>
          </a:p>
          <a:p>
            <a:pPr marL="609600" indent="-609600" eaLnBrk="1" hangingPunct="1"/>
            <a:endParaRPr lang="en-US" altLang="zh-CN" sz="2800">
              <a:latin typeface="Times New Roman" panose="02020603050405020304" pitchFamily="18" charset="0"/>
            </a:endParaRPr>
          </a:p>
          <a:p>
            <a:pPr marL="609600" indent="-609600" eaLnBrk="1" hangingPunct="1"/>
            <a:endParaRPr lang="en-US" altLang="zh-CN" sz="2800">
              <a:latin typeface="Times New Roman" panose="02020603050405020304" pitchFamily="18" charset="0"/>
            </a:endParaRPr>
          </a:p>
        </p:txBody>
      </p:sp>
      <p:sp>
        <p:nvSpPr>
          <p:cNvPr id="12291"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pic>
        <p:nvPicPr>
          <p:cNvPr id="12292" name="Picture 4"/>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43000" y="4572000"/>
            <a:ext cx="5343525"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pic>
        <p:nvPicPr>
          <p:cNvPr id="12294" name="Picture 6"/>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43000" y="5357813"/>
            <a:ext cx="54102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5"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pic>
        <p:nvPicPr>
          <p:cNvPr id="12296" name="Picture 8"/>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43000" y="4214813"/>
            <a:ext cx="5029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2"/>
          <p:cNvSpPr>
            <a:spLocks noGrp="1" noChangeArrowheads="1"/>
          </p:cNvSpPr>
          <p:nvPr>
            <p:ph idx="1"/>
          </p:nvPr>
        </p:nvSpPr>
        <p:spPr>
          <a:xfrm>
            <a:off x="357188" y="642938"/>
            <a:ext cx="8229600" cy="5840412"/>
          </a:xfrm>
        </p:spPr>
        <p:txBody>
          <a:bodyPr/>
          <a:lstStyle/>
          <a:p>
            <a:pPr eaLnBrk="1" hangingPunct="1"/>
            <a:endParaRPr lang="en-US" altLang="en-US"/>
          </a:p>
          <a:p>
            <a:pPr eaLnBrk="1" hangingPunct="1"/>
            <a:r>
              <a:rPr lang="en-US" altLang="en-US" sz="2400">
                <a:latin typeface="Times New Roman" panose="02020603050405020304" pitchFamily="18" charset="0"/>
                <a:cs typeface="Times New Roman" panose="02020603050405020304" pitchFamily="18" charset="0"/>
              </a:rPr>
              <a:t>Years required to double population:</a:t>
            </a:r>
          </a:p>
          <a:p>
            <a:pPr eaLnBrk="1" hangingPunct="1"/>
            <a:endParaRPr lang="en-US" altLang="en-US">
              <a:latin typeface="Times New Roman" panose="02020603050405020304" pitchFamily="18" charset="0"/>
              <a:cs typeface="Times New Roman" panose="02020603050405020304" pitchFamily="18" charset="0"/>
            </a:endParaRPr>
          </a:p>
          <a:p>
            <a:pPr marL="990600" lvl="1" indent="-533400" eaLnBrk="1" hangingPunct="1"/>
            <a:r>
              <a:rPr lang="en-US" altLang="en-US" sz="2000">
                <a:latin typeface="Times New Roman" panose="02020603050405020304" pitchFamily="18" charset="0"/>
                <a:cs typeface="Times New Roman" panose="02020603050405020304" pitchFamily="18" charset="0"/>
              </a:rPr>
              <a:t>Example: growth rate 2%.</a:t>
            </a:r>
          </a:p>
          <a:p>
            <a:pPr marL="990600" lvl="1" indent="-533400" eaLnBrk="1" hangingPunct="1">
              <a:buFontTx/>
              <a:buNone/>
            </a:pPr>
            <a:endParaRPr lang="en-US" altLang="zh-CN" sz="2000">
              <a:latin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a:p>
            <a:pPr eaLnBrk="1" hangingPunct="1"/>
            <a:r>
              <a:rPr lang="en-US" altLang="en-US" sz="2400">
                <a:latin typeface="Times New Roman" panose="02020603050405020304" pitchFamily="18" charset="0"/>
                <a:cs typeface="Times New Roman" panose="02020603050405020304" pitchFamily="18" charset="0"/>
              </a:rPr>
              <a:t>Infant death rate: deaths in the first year of life per thousand live births.</a:t>
            </a:r>
          </a:p>
          <a:p>
            <a:pPr marL="990600" lvl="1" indent="-533400" eaLnBrk="1" hangingPunct="1"/>
            <a:r>
              <a:rPr lang="en-US" altLang="en-US" sz="2000">
                <a:latin typeface="Times New Roman" panose="02020603050405020304" pitchFamily="18" charset="0"/>
                <a:cs typeface="Times New Roman" panose="02020603050405020304" pitchFamily="18" charset="0"/>
              </a:rPr>
              <a:t>Example: 10,000  born</a:t>
            </a:r>
          </a:p>
          <a:p>
            <a:pPr marL="990600" lvl="1" indent="-533400" eaLnBrk="1" hangingPunct="1">
              <a:buFontTx/>
              <a:buNone/>
            </a:pPr>
            <a:r>
              <a:rPr lang="en-US" altLang="en-US" sz="2000">
                <a:latin typeface="Times New Roman" panose="02020603050405020304" pitchFamily="18" charset="0"/>
                <a:cs typeface="Times New Roman" panose="02020603050405020304" pitchFamily="18" charset="0"/>
              </a:rPr>
              <a:t>                         1,000   deaths before birthdays</a:t>
            </a:r>
            <a:r>
              <a:rPr lang="en-US" altLang="en-US">
                <a:latin typeface="Times New Roman" panose="02020603050405020304" pitchFamily="18" charset="0"/>
                <a:cs typeface="Times New Roman" panose="02020603050405020304" pitchFamily="18" charset="0"/>
              </a:rPr>
              <a:t>                  </a:t>
            </a:r>
          </a:p>
          <a:p>
            <a:pPr marL="990600" lvl="1" indent="-533400" eaLnBrk="1" hangingPunct="1">
              <a:buFontTx/>
              <a:buNone/>
            </a:pPr>
            <a:endParaRPr lang="en-US" altLang="en-US">
              <a:latin typeface="Times New Roman" panose="02020603050405020304" pitchFamily="18" charset="0"/>
              <a:cs typeface="Times New Roman" panose="02020603050405020304" pitchFamily="18" charset="0"/>
            </a:endParaRPr>
          </a:p>
          <a:p>
            <a:pPr marL="990600" lvl="1" indent="-533400" eaLnBrk="1" hangingPunct="1">
              <a:buFontTx/>
              <a:buNone/>
            </a:pPr>
            <a:endParaRPr lang="en-US" altLang="en-US">
              <a:latin typeface="Times New Roman" panose="02020603050405020304" pitchFamily="18" charset="0"/>
              <a:cs typeface="Times New Roman" panose="02020603050405020304" pitchFamily="18" charset="0"/>
            </a:endParaRPr>
          </a:p>
          <a:p>
            <a:pPr eaLnBrk="1" hangingPunct="1">
              <a:buFontTx/>
              <a:buNone/>
            </a:pPr>
            <a:endParaRPr lang="en-US" altLang="en-US">
              <a:latin typeface="Times New Roman" panose="02020603050405020304" pitchFamily="18" charset="0"/>
              <a:cs typeface="Times New Roman" panose="02020603050405020304" pitchFamily="18" charset="0"/>
            </a:endParaRPr>
          </a:p>
        </p:txBody>
      </p:sp>
      <p:sp>
        <p:nvSpPr>
          <p:cNvPr id="13315"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pic>
        <p:nvPicPr>
          <p:cNvPr id="13316" name="Picture 1"/>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00125" y="571500"/>
            <a:ext cx="58769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pic>
        <p:nvPicPr>
          <p:cNvPr id="13318" name="Picture 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43000" y="1628775"/>
            <a:ext cx="445770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9"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pic>
        <p:nvPicPr>
          <p:cNvPr id="13320" name="Picture 5"/>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43188" y="2492375"/>
            <a:ext cx="29813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1"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13322" name="Rectangle 10"/>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pic>
        <p:nvPicPr>
          <p:cNvPr id="13323" name="Picture 9"/>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500188" y="5157788"/>
            <a:ext cx="50673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4" name="Rectangle 11"/>
          <p:cNvSpPr>
            <a:spLocks noChangeArrowheads="1"/>
          </p:cNvSpPr>
          <p:nvPr/>
        </p:nvSpPr>
        <p:spPr bwMode="auto">
          <a:xfrm>
            <a:off x="0" y="1104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rrowheads="1"/>
          </p:cNvSpPr>
          <p:nvPr>
            <p:ph type="title"/>
          </p:nvPr>
        </p:nvSpPr>
        <p:spPr>
          <a:xfrm>
            <a:off x="468313" y="188913"/>
            <a:ext cx="8229600" cy="576262"/>
          </a:xfrm>
        </p:spPr>
        <p:txBody>
          <a:bodyPr/>
          <a:lstStyle/>
          <a:p>
            <a:r>
              <a:rPr lang="en-US" altLang="zh-CN" sz="2800">
                <a:latin typeface="Arial Unicode MS" panose="020B0604020202020204" pitchFamily="34" charset="-128"/>
                <a:ea typeface="Arial Unicode MS" panose="020B0604020202020204" pitchFamily="34" charset="-128"/>
                <a:cs typeface="Arial" panose="020B0604020202020204" pitchFamily="34" charset="0"/>
              </a:rPr>
              <a:t>Rate of Natural Increase in Population</a:t>
            </a:r>
          </a:p>
        </p:txBody>
      </p:sp>
      <p:graphicFrame>
        <p:nvGraphicFramePr>
          <p:cNvPr id="330755" name="Group 3">
            <a:extLst>
              <a:ext uri="{FF2B5EF4-FFF2-40B4-BE49-F238E27FC236}">
                <a16:creationId xmlns:a16="http://schemas.microsoft.com/office/drawing/2014/main" id="{4B8F1DEE-AB41-4273-8E32-EE192E10D0E6}"/>
              </a:ext>
            </a:extLst>
          </p:cNvPr>
          <p:cNvGraphicFramePr>
            <a:graphicFrameLocks noGrp="1"/>
          </p:cNvGraphicFramePr>
          <p:nvPr>
            <p:ph idx="1"/>
          </p:nvPr>
        </p:nvGraphicFramePr>
        <p:xfrm>
          <a:off x="457200" y="765175"/>
          <a:ext cx="8147049" cy="5208588"/>
        </p:xfrm>
        <a:graphic>
          <a:graphicData uri="http://schemas.openxmlformats.org/drawingml/2006/table">
            <a:tbl>
              <a:tblPr/>
              <a:tblGrid>
                <a:gridCol w="1652918">
                  <a:extLst>
                    <a:ext uri="{9D8B030D-6E8A-4147-A177-3AD203B41FA5}">
                      <a16:colId xmlns:a16="http://schemas.microsoft.com/office/drawing/2014/main" val="20000"/>
                    </a:ext>
                  </a:extLst>
                </a:gridCol>
                <a:gridCol w="1119678">
                  <a:extLst>
                    <a:ext uri="{9D8B030D-6E8A-4147-A177-3AD203B41FA5}">
                      <a16:colId xmlns:a16="http://schemas.microsoft.com/office/drawing/2014/main" val="20001"/>
                    </a:ext>
                  </a:extLst>
                </a:gridCol>
                <a:gridCol w="1194323">
                  <a:extLst>
                    <a:ext uri="{9D8B030D-6E8A-4147-A177-3AD203B41FA5}">
                      <a16:colId xmlns:a16="http://schemas.microsoft.com/office/drawing/2014/main" val="20002"/>
                    </a:ext>
                  </a:extLst>
                </a:gridCol>
                <a:gridCol w="1716840">
                  <a:extLst>
                    <a:ext uri="{9D8B030D-6E8A-4147-A177-3AD203B41FA5}">
                      <a16:colId xmlns:a16="http://schemas.microsoft.com/office/drawing/2014/main" val="20003"/>
                    </a:ext>
                  </a:extLst>
                </a:gridCol>
                <a:gridCol w="1194323">
                  <a:extLst>
                    <a:ext uri="{9D8B030D-6E8A-4147-A177-3AD203B41FA5}">
                      <a16:colId xmlns:a16="http://schemas.microsoft.com/office/drawing/2014/main" val="20004"/>
                    </a:ext>
                  </a:extLst>
                </a:gridCol>
                <a:gridCol w="1268967">
                  <a:extLst>
                    <a:ext uri="{9D8B030D-6E8A-4147-A177-3AD203B41FA5}">
                      <a16:colId xmlns:a16="http://schemas.microsoft.com/office/drawing/2014/main" val="20005"/>
                    </a:ext>
                  </a:extLst>
                </a:gridCol>
              </a:tblGrid>
              <a:tr h="742067">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Country</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2005-</a:t>
                      </a:r>
                    </a:p>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2010</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2010-</a:t>
                      </a:r>
                    </a:p>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2015</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Country/</a:t>
                      </a:r>
                    </a:p>
                    <a:p>
                      <a:pPr marL="342900" marR="0" lvl="0" indent="-342900" algn="l"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region</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2005-</a:t>
                      </a:r>
                    </a:p>
                    <a:p>
                      <a:pPr marL="342900" marR="0" lvl="0" indent="-342900" algn="r" defTabSz="914400" rtl="0" eaLnBrk="0" fontAlgn="b"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2010</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2010-</a:t>
                      </a:r>
                    </a:p>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2015</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2689">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Unicode MS" pitchFamily="34" charset="-128"/>
                          <a:ea typeface="Arial Unicode MS" pitchFamily="34" charset="-128"/>
                          <a:cs typeface="Arial" charset="0"/>
                        </a:rPr>
                        <a:t>Hungary</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-0.4</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-0.2</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UK </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0.2</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0.6</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2689">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Unicode MS" pitchFamily="34" charset="-128"/>
                          <a:ea typeface="Arial Unicode MS" pitchFamily="34" charset="-128"/>
                          <a:cs typeface="Arial" charset="0"/>
                        </a:rPr>
                        <a:t>Japan</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-0.1</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-0.1</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Unicode MS" pitchFamily="34" charset="-128"/>
                          <a:ea typeface="Arial Unicode MS" pitchFamily="34" charset="-128"/>
                          <a:cs typeface="Arial" charset="0"/>
                        </a:rPr>
                        <a:t>USA</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0.6</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0.9</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7894">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Sweden</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0.2</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0.6</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Unicode MS" pitchFamily="34" charset="-128"/>
                          <a:ea typeface="Arial Unicode MS" pitchFamily="34" charset="-128"/>
                          <a:cs typeface="Arial" charset="0"/>
                        </a:rPr>
                        <a:t>China</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0.7</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1.2</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2689">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Unicode MS" pitchFamily="34" charset="-128"/>
                          <a:ea typeface="Arial Unicode MS" pitchFamily="34" charset="-128"/>
                          <a:cs typeface="Arial" charset="0"/>
                        </a:rPr>
                        <a:t>Germany</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-0.2</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-0.2</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Russia</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-0.4</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-0.1</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6380">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Unicode MS" pitchFamily="34" charset="-128"/>
                          <a:ea typeface="Arial Unicode MS" pitchFamily="34" charset="-128"/>
                          <a:cs typeface="Arial" charset="0"/>
                        </a:rPr>
                        <a:t>India</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1.4</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1.3</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Unicode MS" pitchFamily="34" charset="-128"/>
                          <a:ea typeface="Arial Unicode MS" pitchFamily="34" charset="-128"/>
                          <a:cs typeface="Arial" charset="0"/>
                        </a:rPr>
                        <a:t>Hong Kong </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0.2</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1.0</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78060">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France</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0.4</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0.5</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Mexico </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1.4</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1.1</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78060">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Iraq</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3.1</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3.1</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Yemen</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4.7</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3.0</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78060">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Afghanistan</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endPar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endParaRP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3.1</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Malawi</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endPar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endParaRP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GB" altLang="zh-CN" sz="2000" b="0" i="0" u="none" strike="noStrike" cap="none" normalizeH="0" baseline="0" dirty="0">
                          <a:ln>
                            <a:noFill/>
                          </a:ln>
                          <a:solidFill>
                            <a:schemeClr val="tx1"/>
                          </a:solidFill>
                          <a:effectLst/>
                          <a:latin typeface="Arial Unicode MS" pitchFamily="34" charset="-128"/>
                          <a:ea typeface="Arial Unicode MS" pitchFamily="34" charset="-128"/>
                          <a:cs typeface="Arial" charset="0"/>
                        </a:rPr>
                        <a:t>3.2</a:t>
                      </a:r>
                    </a:p>
                  </a:txBody>
                  <a:tcPr marL="91438" marR="91438" marT="45721" marB="45721"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14411" name="Rectangle 48"/>
          <p:cNvSpPr>
            <a:spLocks noChangeArrowheads="1"/>
          </p:cNvSpPr>
          <p:nvPr/>
        </p:nvSpPr>
        <p:spPr bwMode="auto">
          <a:xfrm>
            <a:off x="395288" y="6165850"/>
            <a:ext cx="76327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solidFill>
                  <a:schemeClr val="tx2"/>
                </a:solidFill>
                <a:latin typeface="Arial Unicode MS" panose="020B0604020202020204" pitchFamily="34" charset="-128"/>
                <a:ea typeface="Arial Unicode MS" panose="020B0604020202020204" pitchFamily="34" charset="-128"/>
                <a:cs typeface="Arial Unicode MS" panose="020B0604020202020204" pitchFamily="34" charset="-128"/>
              </a:rPr>
              <a:t>Sources</a:t>
            </a:r>
            <a:r>
              <a:rPr lang="zh-CN" altLang="en-US">
                <a:solidFill>
                  <a:schemeClr val="tx2"/>
                </a:solidFill>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zh-CN">
                <a:solidFill>
                  <a:schemeClr val="tx2"/>
                </a:solidFill>
                <a:latin typeface="Arial Unicode MS" panose="020B0604020202020204" pitchFamily="34" charset="-128"/>
                <a:ea typeface="Arial Unicode MS" panose="020B0604020202020204" pitchFamily="34" charset="-128"/>
                <a:cs typeface="Arial Unicode MS" panose="020B0604020202020204" pitchFamily="34" charset="-128"/>
              </a:rPr>
              <a:t>United Nation: </a:t>
            </a:r>
            <a:r>
              <a:rPr lang="en-US" altLang="zh-CN" i="1">
                <a:solidFill>
                  <a:schemeClr val="tx2"/>
                </a:solidFill>
                <a:latin typeface="Arial Unicode MS" panose="020B0604020202020204" pitchFamily="34" charset="-128"/>
                <a:ea typeface="Arial Unicode MS" panose="020B0604020202020204" pitchFamily="34" charset="-128"/>
                <a:cs typeface="Arial Unicode MS" panose="020B0604020202020204" pitchFamily="34" charset="-128"/>
              </a:rPr>
              <a:t>Human Development Report</a:t>
            </a:r>
            <a:r>
              <a:rPr lang="en-US" altLang="zh-CN">
                <a:solidFill>
                  <a:schemeClr val="tx2"/>
                </a:solidFill>
                <a:latin typeface="Arial Unicode MS" panose="020B0604020202020204" pitchFamily="34" charset="-128"/>
                <a:ea typeface="Arial Unicode MS" panose="020B0604020202020204" pitchFamily="34" charset="-128"/>
                <a:cs typeface="Arial Unicode MS" panose="020B0604020202020204" pitchFamily="34" charset="-128"/>
              </a:rPr>
              <a:t> 2009</a:t>
            </a:r>
            <a:r>
              <a:rPr lang="zh-CN" altLang="en-US">
                <a:solidFill>
                  <a:schemeClr val="tx2"/>
                </a:solidFill>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zh-CN">
                <a:solidFill>
                  <a:schemeClr val="tx2"/>
                </a:solidFill>
                <a:latin typeface="Arial Unicode MS" panose="020B0604020202020204" pitchFamily="34" charset="-128"/>
                <a:ea typeface="Arial Unicode MS" panose="020B0604020202020204" pitchFamily="34" charset="-128"/>
                <a:cs typeface="Arial Unicode MS" panose="020B0604020202020204" pitchFamily="34" charset="-128"/>
              </a:rPr>
              <a:t>2011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20638" y="115888"/>
            <a:ext cx="8583612" cy="685800"/>
          </a:xfrm>
        </p:spPr>
        <p:txBody>
          <a:bodyPr/>
          <a:lstStyle/>
          <a:p>
            <a:r>
              <a:rPr lang="en-US" altLang="zh-CN" sz="2400"/>
              <a:t>China’s population increased rapidly </a:t>
            </a:r>
            <a:br>
              <a:rPr lang="en-US" altLang="zh-CN" sz="2400"/>
            </a:br>
            <a:r>
              <a:rPr lang="en-US" altLang="zh-CN" sz="2400"/>
              <a:t>beginning from the Ching Dynasty</a:t>
            </a:r>
            <a:endParaRPr lang="en-US" altLang="zh-CN" sz="1400"/>
          </a:p>
        </p:txBody>
      </p:sp>
      <p:sp>
        <p:nvSpPr>
          <p:cNvPr id="15363" name="Line 3"/>
          <p:cNvSpPr>
            <a:spLocks noChangeShapeType="1"/>
          </p:cNvSpPr>
          <p:nvPr/>
        </p:nvSpPr>
        <p:spPr bwMode="gray">
          <a:xfrm flipH="1">
            <a:off x="539750" y="5589588"/>
            <a:ext cx="1657350"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364" name="Line 4"/>
          <p:cNvSpPr>
            <a:spLocks noChangeShapeType="1"/>
          </p:cNvSpPr>
          <p:nvPr/>
        </p:nvSpPr>
        <p:spPr bwMode="gray">
          <a:xfrm flipH="1">
            <a:off x="539750" y="4797425"/>
            <a:ext cx="2438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365" name="Line 5"/>
          <p:cNvSpPr>
            <a:spLocks noChangeShapeType="1"/>
          </p:cNvSpPr>
          <p:nvPr/>
        </p:nvSpPr>
        <p:spPr bwMode="gray">
          <a:xfrm flipH="1">
            <a:off x="539750" y="3933825"/>
            <a:ext cx="3352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366" name="Line 6"/>
          <p:cNvSpPr>
            <a:spLocks noChangeShapeType="1"/>
          </p:cNvSpPr>
          <p:nvPr/>
        </p:nvSpPr>
        <p:spPr bwMode="gray">
          <a:xfrm flipH="1">
            <a:off x="539750" y="3068638"/>
            <a:ext cx="4165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367" name="Line 7"/>
          <p:cNvSpPr>
            <a:spLocks noChangeShapeType="1"/>
          </p:cNvSpPr>
          <p:nvPr/>
        </p:nvSpPr>
        <p:spPr bwMode="gray">
          <a:xfrm flipH="1" flipV="1">
            <a:off x="539750" y="2205038"/>
            <a:ext cx="50339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368" name="Line 8"/>
          <p:cNvSpPr>
            <a:spLocks noChangeShapeType="1"/>
          </p:cNvSpPr>
          <p:nvPr/>
        </p:nvSpPr>
        <p:spPr bwMode="gray">
          <a:xfrm>
            <a:off x="539750" y="2205038"/>
            <a:ext cx="0" cy="8636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69" name="Line 9"/>
          <p:cNvSpPr>
            <a:spLocks noChangeShapeType="1"/>
          </p:cNvSpPr>
          <p:nvPr/>
        </p:nvSpPr>
        <p:spPr bwMode="gray">
          <a:xfrm>
            <a:off x="539750" y="3068638"/>
            <a:ext cx="0" cy="96202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70" name="Line 10"/>
          <p:cNvSpPr>
            <a:spLocks noChangeShapeType="1"/>
          </p:cNvSpPr>
          <p:nvPr/>
        </p:nvSpPr>
        <p:spPr bwMode="gray">
          <a:xfrm>
            <a:off x="539750" y="3933825"/>
            <a:ext cx="0" cy="81597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71" name="Line 11"/>
          <p:cNvSpPr>
            <a:spLocks noChangeShapeType="1"/>
          </p:cNvSpPr>
          <p:nvPr/>
        </p:nvSpPr>
        <p:spPr bwMode="gray">
          <a:xfrm>
            <a:off x="539750" y="4797425"/>
            <a:ext cx="0" cy="81597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72" name="Text Box 12"/>
          <p:cNvSpPr txBox="1">
            <a:spLocks noChangeArrowheads="1"/>
          </p:cNvSpPr>
          <p:nvPr/>
        </p:nvSpPr>
        <p:spPr bwMode="gray">
          <a:xfrm>
            <a:off x="539750" y="2708275"/>
            <a:ext cx="35448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latin typeface="Verdana" panose="020B0604030504040204" pitchFamily="34" charset="0"/>
              </a:rPr>
              <a:t> In the late 1970</a:t>
            </a:r>
            <a:r>
              <a:rPr lang="en-US" altLang="zh-CN" sz="1400" baseline="30000">
                <a:latin typeface="Verdana" panose="020B0604030504040204" pitchFamily="34" charset="0"/>
              </a:rPr>
              <a:t>th</a:t>
            </a:r>
            <a:r>
              <a:rPr lang="en-US" altLang="zh-CN" sz="1400">
                <a:latin typeface="Verdana" panose="020B0604030504040204" pitchFamily="34" charset="0"/>
              </a:rPr>
              <a:t> </a:t>
            </a:r>
            <a:r>
              <a:rPr lang="zh-CN" altLang="en-US" sz="1400">
                <a:latin typeface="Verdana" panose="020B0604030504040204" pitchFamily="34" charset="0"/>
              </a:rPr>
              <a:t>，</a:t>
            </a:r>
            <a:r>
              <a:rPr lang="en-US" altLang="zh-CN" sz="1400">
                <a:latin typeface="Verdana" panose="020B0604030504040204" pitchFamily="34" charset="0"/>
              </a:rPr>
              <a:t>one-child policy</a:t>
            </a:r>
          </a:p>
        </p:txBody>
      </p:sp>
      <p:sp>
        <p:nvSpPr>
          <p:cNvPr id="15373" name="Text Box 15"/>
          <p:cNvSpPr txBox="1">
            <a:spLocks noChangeArrowheads="1"/>
          </p:cNvSpPr>
          <p:nvPr/>
        </p:nvSpPr>
        <p:spPr bwMode="gray">
          <a:xfrm>
            <a:off x="571500" y="4941888"/>
            <a:ext cx="3063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latin typeface="Verdana" panose="020B0604030504040204" pitchFamily="34" charset="0"/>
              </a:rPr>
              <a:t>In middle of 17</a:t>
            </a:r>
            <a:r>
              <a:rPr lang="en-US" altLang="zh-CN" sz="1600" b="1" baseline="30000">
                <a:latin typeface="Verdana" panose="020B0604030504040204" pitchFamily="34" charset="0"/>
              </a:rPr>
              <a:t>th</a:t>
            </a:r>
            <a:r>
              <a:rPr lang="en-US" altLang="zh-CN" sz="1600" b="1">
                <a:latin typeface="Verdana" panose="020B0604030504040204" pitchFamily="34" charset="0"/>
              </a:rPr>
              <a:t> century</a:t>
            </a:r>
          </a:p>
        </p:txBody>
      </p:sp>
      <p:grpSp>
        <p:nvGrpSpPr>
          <p:cNvPr id="15374" name="Group 16"/>
          <p:cNvGrpSpPr>
            <a:grpSpLocks/>
          </p:cNvGrpSpPr>
          <p:nvPr/>
        </p:nvGrpSpPr>
        <p:grpSpPr bwMode="auto">
          <a:xfrm>
            <a:off x="3276600" y="2276475"/>
            <a:ext cx="5826125" cy="3321050"/>
            <a:chOff x="1514" y="1440"/>
            <a:chExt cx="3670" cy="2092"/>
          </a:xfrm>
        </p:grpSpPr>
        <p:sp>
          <p:nvSpPr>
            <p:cNvPr id="75793" name="Freeform 17">
              <a:extLst>
                <a:ext uri="{FF2B5EF4-FFF2-40B4-BE49-F238E27FC236}">
                  <a16:creationId xmlns:a16="http://schemas.microsoft.com/office/drawing/2014/main" id="{DD21DFCD-6DD4-4A91-9A13-D69DAB568887}"/>
                </a:ext>
              </a:extLst>
            </p:cNvPr>
            <p:cNvSpPr>
              <a:spLocks/>
            </p:cNvSpPr>
            <p:nvPr/>
          </p:nvSpPr>
          <p:spPr bwMode="gray">
            <a:xfrm>
              <a:off x="4776" y="1440"/>
              <a:ext cx="363" cy="533"/>
            </a:xfrm>
            <a:custGeom>
              <a:avLst/>
              <a:gdLst/>
              <a:ahLst/>
              <a:cxnLst>
                <a:cxn ang="0">
                  <a:pos x="308" y="120"/>
                </a:cxn>
                <a:cxn ang="0">
                  <a:pos x="0" y="444"/>
                </a:cxn>
                <a:cxn ang="0">
                  <a:pos x="0" y="286"/>
                </a:cxn>
                <a:cxn ang="0">
                  <a:pos x="308" y="0"/>
                </a:cxn>
                <a:cxn ang="0">
                  <a:pos x="308" y="120"/>
                </a:cxn>
              </a:cxnLst>
              <a:rect l="0" t="0" r="r" b="b"/>
              <a:pathLst>
                <a:path w="308" h="444">
                  <a:moveTo>
                    <a:pt x="308" y="120"/>
                  </a:moveTo>
                  <a:lnTo>
                    <a:pt x="0" y="444"/>
                  </a:lnTo>
                  <a:lnTo>
                    <a:pt x="0" y="286"/>
                  </a:lnTo>
                  <a:lnTo>
                    <a:pt x="308" y="0"/>
                  </a:lnTo>
                  <a:lnTo>
                    <a:pt x="308" y="120"/>
                  </a:lnTo>
                  <a:close/>
                </a:path>
              </a:pathLst>
            </a:custGeom>
            <a:gradFill rotWithShape="1">
              <a:gsLst>
                <a:gs pos="0">
                  <a:schemeClr val="accent2">
                    <a:gamma/>
                    <a:shade val="46275"/>
                    <a:invGamma/>
                  </a:schemeClr>
                </a:gs>
                <a:gs pos="50000">
                  <a:schemeClr val="accent2"/>
                </a:gs>
                <a:gs pos="100000">
                  <a:schemeClr val="accent2">
                    <a:gamma/>
                    <a:shade val="46275"/>
                    <a:invGamma/>
                  </a:schemeClr>
                </a:gs>
              </a:gsLst>
              <a:lin ang="2700000" scaled="1"/>
            </a:gradFill>
            <a:ln w="0">
              <a:noFill/>
              <a:prstDash val="solid"/>
              <a:round/>
              <a:headEnd/>
              <a:tailEnd/>
            </a:ln>
          </p:spPr>
          <p:txBody>
            <a:bodyPr/>
            <a:lstStyle/>
            <a:p>
              <a:pPr eaLnBrk="1" hangingPunct="1">
                <a:defRPr/>
              </a:pPr>
              <a:endParaRPr lang="zh-CN" altLang="en-US">
                <a:latin typeface="Arial" charset="0"/>
              </a:endParaRPr>
            </a:p>
          </p:txBody>
        </p:sp>
        <p:sp>
          <p:nvSpPr>
            <p:cNvPr id="15380" name="Freeform 18"/>
            <p:cNvSpPr>
              <a:spLocks/>
            </p:cNvSpPr>
            <p:nvPr/>
          </p:nvSpPr>
          <p:spPr bwMode="gray">
            <a:xfrm>
              <a:off x="3078" y="1446"/>
              <a:ext cx="2106" cy="341"/>
            </a:xfrm>
            <a:custGeom>
              <a:avLst/>
              <a:gdLst>
                <a:gd name="T0" fmla="*/ 9057 w 1786"/>
                <a:gd name="T1" fmla="*/ 2122 h 284"/>
                <a:gd name="T2" fmla="*/ 0 w 1786"/>
                <a:gd name="T3" fmla="*/ 2122 h 284"/>
                <a:gd name="T4" fmla="*/ 2731 w 1786"/>
                <a:gd name="T5" fmla="*/ 0 h 284"/>
                <a:gd name="T6" fmla="*/ 10945 w 1786"/>
                <a:gd name="T7" fmla="*/ 0 h 284"/>
                <a:gd name="T8" fmla="*/ 9057 w 1786"/>
                <a:gd name="T9" fmla="*/ 2122 h 284"/>
                <a:gd name="T10" fmla="*/ 0 60000 65536"/>
                <a:gd name="T11" fmla="*/ 0 60000 65536"/>
                <a:gd name="T12" fmla="*/ 0 60000 65536"/>
                <a:gd name="T13" fmla="*/ 0 60000 65536"/>
                <a:gd name="T14" fmla="*/ 0 60000 65536"/>
                <a:gd name="T15" fmla="*/ 0 w 1786"/>
                <a:gd name="T16" fmla="*/ 0 h 284"/>
                <a:gd name="T17" fmla="*/ 1786 w 1786"/>
                <a:gd name="T18" fmla="*/ 284 h 284"/>
              </a:gdLst>
              <a:ahLst/>
              <a:cxnLst>
                <a:cxn ang="T10">
                  <a:pos x="T0" y="T1"/>
                </a:cxn>
                <a:cxn ang="T11">
                  <a:pos x="T2" y="T3"/>
                </a:cxn>
                <a:cxn ang="T12">
                  <a:pos x="T4" y="T5"/>
                </a:cxn>
                <a:cxn ang="T13">
                  <a:pos x="T6" y="T7"/>
                </a:cxn>
                <a:cxn ang="T14">
                  <a:pos x="T8" y="T9"/>
                </a:cxn>
              </a:cxnLst>
              <a:rect l="T15" t="T16" r="T17" b="T18"/>
              <a:pathLst>
                <a:path w="1786" h="284">
                  <a:moveTo>
                    <a:pt x="1478" y="284"/>
                  </a:moveTo>
                  <a:lnTo>
                    <a:pt x="0" y="284"/>
                  </a:lnTo>
                  <a:lnTo>
                    <a:pt x="446" y="0"/>
                  </a:lnTo>
                  <a:lnTo>
                    <a:pt x="1786" y="0"/>
                  </a:lnTo>
                  <a:lnTo>
                    <a:pt x="1478" y="284"/>
                  </a:lnTo>
                  <a:close/>
                </a:path>
              </a:pathLst>
            </a:custGeom>
            <a:solidFill>
              <a:schemeClr val="accent2"/>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en-US"/>
            </a:p>
          </p:txBody>
        </p:sp>
        <p:sp>
          <p:nvSpPr>
            <p:cNvPr id="75795" name="Freeform 19">
              <a:extLst>
                <a:ext uri="{FF2B5EF4-FFF2-40B4-BE49-F238E27FC236}">
                  <a16:creationId xmlns:a16="http://schemas.microsoft.com/office/drawing/2014/main" id="{8ED73252-DEC2-4CCC-8297-D3A5E20BB483}"/>
                </a:ext>
              </a:extLst>
            </p:cNvPr>
            <p:cNvSpPr>
              <a:spLocks/>
            </p:cNvSpPr>
            <p:nvPr/>
          </p:nvSpPr>
          <p:spPr bwMode="gray">
            <a:xfrm>
              <a:off x="4452" y="1970"/>
              <a:ext cx="363" cy="530"/>
            </a:xfrm>
            <a:custGeom>
              <a:avLst/>
              <a:gdLst/>
              <a:ahLst/>
              <a:cxnLst>
                <a:cxn ang="0">
                  <a:pos x="308" y="120"/>
                </a:cxn>
                <a:cxn ang="0">
                  <a:pos x="0" y="442"/>
                </a:cxn>
                <a:cxn ang="0">
                  <a:pos x="0" y="286"/>
                </a:cxn>
                <a:cxn ang="0">
                  <a:pos x="308" y="0"/>
                </a:cxn>
                <a:cxn ang="0">
                  <a:pos x="308" y="120"/>
                </a:cxn>
              </a:cxnLst>
              <a:rect l="0" t="0" r="r" b="b"/>
              <a:pathLst>
                <a:path w="308" h="442">
                  <a:moveTo>
                    <a:pt x="308" y="120"/>
                  </a:moveTo>
                  <a:lnTo>
                    <a:pt x="0" y="442"/>
                  </a:lnTo>
                  <a:lnTo>
                    <a:pt x="0" y="286"/>
                  </a:lnTo>
                  <a:lnTo>
                    <a:pt x="308" y="0"/>
                  </a:lnTo>
                  <a:lnTo>
                    <a:pt x="308" y="120"/>
                  </a:lnTo>
                  <a:close/>
                </a:path>
              </a:pathLst>
            </a:custGeom>
            <a:gradFill rotWithShape="1">
              <a:gsLst>
                <a:gs pos="0">
                  <a:schemeClr val="hlink">
                    <a:gamma/>
                    <a:shade val="46275"/>
                    <a:invGamma/>
                  </a:schemeClr>
                </a:gs>
                <a:gs pos="50000">
                  <a:schemeClr val="hlink"/>
                </a:gs>
                <a:gs pos="100000">
                  <a:schemeClr val="hlink">
                    <a:gamma/>
                    <a:shade val="46275"/>
                    <a:invGamma/>
                  </a:schemeClr>
                </a:gs>
              </a:gsLst>
              <a:lin ang="2700000" scaled="1"/>
            </a:gradFill>
            <a:ln w="0">
              <a:noFill/>
              <a:prstDash val="solid"/>
              <a:round/>
              <a:headEnd/>
              <a:tailEnd/>
            </a:ln>
          </p:spPr>
          <p:txBody>
            <a:bodyPr/>
            <a:lstStyle/>
            <a:p>
              <a:pPr eaLnBrk="1" hangingPunct="1">
                <a:defRPr/>
              </a:pPr>
              <a:endParaRPr lang="zh-CN" altLang="en-US">
                <a:latin typeface="Arial" charset="0"/>
              </a:endParaRPr>
            </a:p>
          </p:txBody>
        </p:sp>
        <p:sp>
          <p:nvSpPr>
            <p:cNvPr id="15382" name="Freeform 20"/>
            <p:cNvSpPr>
              <a:spLocks/>
            </p:cNvSpPr>
            <p:nvPr/>
          </p:nvSpPr>
          <p:spPr bwMode="gray">
            <a:xfrm>
              <a:off x="2555" y="1970"/>
              <a:ext cx="2264" cy="340"/>
            </a:xfrm>
            <a:custGeom>
              <a:avLst/>
              <a:gdLst>
                <a:gd name="T0" fmla="*/ 9885 w 1920"/>
                <a:gd name="T1" fmla="*/ 2056 h 284"/>
                <a:gd name="T2" fmla="*/ 0 w 1920"/>
                <a:gd name="T3" fmla="*/ 2056 h 284"/>
                <a:gd name="T4" fmla="*/ 2731 w 1920"/>
                <a:gd name="T5" fmla="*/ 0 h 284"/>
                <a:gd name="T6" fmla="*/ 11766 w 1920"/>
                <a:gd name="T7" fmla="*/ 0 h 284"/>
                <a:gd name="T8" fmla="*/ 9885 w 1920"/>
                <a:gd name="T9" fmla="*/ 2056 h 284"/>
                <a:gd name="T10" fmla="*/ 0 60000 65536"/>
                <a:gd name="T11" fmla="*/ 0 60000 65536"/>
                <a:gd name="T12" fmla="*/ 0 60000 65536"/>
                <a:gd name="T13" fmla="*/ 0 60000 65536"/>
                <a:gd name="T14" fmla="*/ 0 60000 65536"/>
                <a:gd name="T15" fmla="*/ 0 w 1920"/>
                <a:gd name="T16" fmla="*/ 0 h 284"/>
                <a:gd name="T17" fmla="*/ 1920 w 1920"/>
                <a:gd name="T18" fmla="*/ 284 h 284"/>
              </a:gdLst>
              <a:ahLst/>
              <a:cxnLst>
                <a:cxn ang="T10">
                  <a:pos x="T0" y="T1"/>
                </a:cxn>
                <a:cxn ang="T11">
                  <a:pos x="T2" y="T3"/>
                </a:cxn>
                <a:cxn ang="T12">
                  <a:pos x="T4" y="T5"/>
                </a:cxn>
                <a:cxn ang="T13">
                  <a:pos x="T6" y="T7"/>
                </a:cxn>
                <a:cxn ang="T14">
                  <a:pos x="T8" y="T9"/>
                </a:cxn>
              </a:cxnLst>
              <a:rect l="T15" t="T16" r="T17" b="T18"/>
              <a:pathLst>
                <a:path w="1920" h="284">
                  <a:moveTo>
                    <a:pt x="1612" y="284"/>
                  </a:moveTo>
                  <a:lnTo>
                    <a:pt x="0" y="284"/>
                  </a:lnTo>
                  <a:lnTo>
                    <a:pt x="446" y="0"/>
                  </a:lnTo>
                  <a:lnTo>
                    <a:pt x="1920" y="0"/>
                  </a:lnTo>
                  <a:lnTo>
                    <a:pt x="1612" y="284"/>
                  </a:lnTo>
                  <a:close/>
                </a:path>
              </a:pathLst>
            </a:custGeom>
            <a:solidFill>
              <a:schemeClr val="hlink"/>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en-US"/>
            </a:p>
          </p:txBody>
        </p:sp>
        <p:sp>
          <p:nvSpPr>
            <p:cNvPr id="75797" name="Freeform 21">
              <a:extLst>
                <a:ext uri="{FF2B5EF4-FFF2-40B4-BE49-F238E27FC236}">
                  <a16:creationId xmlns:a16="http://schemas.microsoft.com/office/drawing/2014/main" id="{15EDB07F-AC95-41D6-856F-BBDD64E28767}"/>
                </a:ext>
              </a:extLst>
            </p:cNvPr>
            <p:cNvSpPr>
              <a:spLocks/>
            </p:cNvSpPr>
            <p:nvPr/>
          </p:nvSpPr>
          <p:spPr bwMode="gray">
            <a:xfrm>
              <a:off x="4086" y="2494"/>
              <a:ext cx="361" cy="532"/>
            </a:xfrm>
            <a:custGeom>
              <a:avLst/>
              <a:gdLst/>
              <a:ahLst/>
              <a:cxnLst>
                <a:cxn ang="0">
                  <a:pos x="306" y="122"/>
                </a:cxn>
                <a:cxn ang="0">
                  <a:pos x="0" y="444"/>
                </a:cxn>
                <a:cxn ang="0">
                  <a:pos x="0" y="286"/>
                </a:cxn>
                <a:cxn ang="0">
                  <a:pos x="306" y="0"/>
                </a:cxn>
                <a:cxn ang="0">
                  <a:pos x="306" y="122"/>
                </a:cxn>
              </a:cxnLst>
              <a:rect l="0" t="0" r="r" b="b"/>
              <a:pathLst>
                <a:path w="306" h="444">
                  <a:moveTo>
                    <a:pt x="306" y="122"/>
                  </a:moveTo>
                  <a:lnTo>
                    <a:pt x="0" y="444"/>
                  </a:lnTo>
                  <a:lnTo>
                    <a:pt x="0" y="286"/>
                  </a:lnTo>
                  <a:lnTo>
                    <a:pt x="306" y="0"/>
                  </a:lnTo>
                  <a:lnTo>
                    <a:pt x="306" y="122"/>
                  </a:lnTo>
                  <a:close/>
                </a:path>
              </a:pathLst>
            </a:custGeom>
            <a:gradFill rotWithShape="1">
              <a:gsLst>
                <a:gs pos="0">
                  <a:schemeClr val="folHlink">
                    <a:gamma/>
                    <a:shade val="46275"/>
                    <a:invGamma/>
                  </a:schemeClr>
                </a:gs>
                <a:gs pos="50000">
                  <a:schemeClr val="folHlink"/>
                </a:gs>
                <a:gs pos="100000">
                  <a:schemeClr val="folHlink">
                    <a:gamma/>
                    <a:shade val="46275"/>
                    <a:invGamma/>
                  </a:schemeClr>
                </a:gs>
              </a:gsLst>
              <a:lin ang="2700000" scaled="1"/>
            </a:gradFill>
            <a:ln w="0">
              <a:noFill/>
              <a:prstDash val="solid"/>
              <a:round/>
              <a:headEnd/>
              <a:tailEnd/>
            </a:ln>
          </p:spPr>
          <p:txBody>
            <a:bodyPr/>
            <a:lstStyle/>
            <a:p>
              <a:pPr eaLnBrk="1" hangingPunct="1">
                <a:defRPr/>
              </a:pPr>
              <a:endParaRPr lang="zh-CN" altLang="en-US">
                <a:latin typeface="Arial" charset="0"/>
              </a:endParaRPr>
            </a:p>
          </p:txBody>
        </p:sp>
        <p:sp>
          <p:nvSpPr>
            <p:cNvPr id="75798" name="Freeform 22">
              <a:extLst>
                <a:ext uri="{FF2B5EF4-FFF2-40B4-BE49-F238E27FC236}">
                  <a16:creationId xmlns:a16="http://schemas.microsoft.com/office/drawing/2014/main" id="{2BA3E5ED-ED70-461E-B85A-D2FCFE1BC0B0}"/>
                </a:ext>
              </a:extLst>
            </p:cNvPr>
            <p:cNvSpPr>
              <a:spLocks/>
            </p:cNvSpPr>
            <p:nvPr/>
          </p:nvSpPr>
          <p:spPr bwMode="gray">
            <a:xfrm>
              <a:off x="3722" y="2982"/>
              <a:ext cx="364" cy="533"/>
            </a:xfrm>
            <a:custGeom>
              <a:avLst/>
              <a:gdLst/>
              <a:ahLst/>
              <a:cxnLst>
                <a:cxn ang="0">
                  <a:pos x="308" y="122"/>
                </a:cxn>
                <a:cxn ang="0">
                  <a:pos x="0" y="444"/>
                </a:cxn>
                <a:cxn ang="0">
                  <a:pos x="0" y="286"/>
                </a:cxn>
                <a:cxn ang="0">
                  <a:pos x="308" y="0"/>
                </a:cxn>
                <a:cxn ang="0">
                  <a:pos x="308" y="122"/>
                </a:cxn>
              </a:cxnLst>
              <a:rect l="0" t="0" r="r" b="b"/>
              <a:pathLst>
                <a:path w="308" h="444">
                  <a:moveTo>
                    <a:pt x="308" y="122"/>
                  </a:moveTo>
                  <a:lnTo>
                    <a:pt x="0" y="444"/>
                  </a:lnTo>
                  <a:lnTo>
                    <a:pt x="0" y="286"/>
                  </a:lnTo>
                  <a:lnTo>
                    <a:pt x="308" y="0"/>
                  </a:lnTo>
                  <a:lnTo>
                    <a:pt x="308" y="122"/>
                  </a:lnTo>
                  <a:close/>
                </a:path>
              </a:pathLst>
            </a:custGeom>
            <a:gradFill rotWithShape="1">
              <a:gsLst>
                <a:gs pos="0">
                  <a:schemeClr val="accent1">
                    <a:gamma/>
                    <a:shade val="46275"/>
                    <a:invGamma/>
                  </a:schemeClr>
                </a:gs>
                <a:gs pos="50000">
                  <a:schemeClr val="accent1"/>
                </a:gs>
                <a:gs pos="100000">
                  <a:schemeClr val="accent1">
                    <a:gamma/>
                    <a:shade val="46275"/>
                    <a:invGamma/>
                  </a:schemeClr>
                </a:gs>
              </a:gsLst>
              <a:lin ang="2700000" scaled="1"/>
            </a:gradFill>
            <a:ln w="0">
              <a:noFill/>
              <a:prstDash val="solid"/>
              <a:round/>
              <a:headEnd/>
              <a:tailEnd/>
            </a:ln>
          </p:spPr>
          <p:txBody>
            <a:bodyPr/>
            <a:lstStyle/>
            <a:p>
              <a:pPr eaLnBrk="1" hangingPunct="1">
                <a:defRPr/>
              </a:pPr>
              <a:endParaRPr lang="zh-CN" altLang="en-US">
                <a:latin typeface="Arial" charset="0"/>
              </a:endParaRPr>
            </a:p>
          </p:txBody>
        </p:sp>
        <p:sp>
          <p:nvSpPr>
            <p:cNvPr id="15385" name="Freeform 23"/>
            <p:cNvSpPr>
              <a:spLocks/>
            </p:cNvSpPr>
            <p:nvPr/>
          </p:nvSpPr>
          <p:spPr bwMode="gray">
            <a:xfrm>
              <a:off x="1515" y="3022"/>
              <a:ext cx="2571" cy="340"/>
            </a:xfrm>
            <a:custGeom>
              <a:avLst/>
              <a:gdLst>
                <a:gd name="T0" fmla="*/ 11495 w 2180"/>
                <a:gd name="T1" fmla="*/ 2056 h 284"/>
                <a:gd name="T2" fmla="*/ 0 w 2180"/>
                <a:gd name="T3" fmla="*/ 2056 h 284"/>
                <a:gd name="T4" fmla="*/ 2736 w 2180"/>
                <a:gd name="T5" fmla="*/ 0 h 284"/>
                <a:gd name="T6" fmla="*/ 13382 w 2180"/>
                <a:gd name="T7" fmla="*/ 0 h 284"/>
                <a:gd name="T8" fmla="*/ 11495 w 2180"/>
                <a:gd name="T9" fmla="*/ 2056 h 284"/>
                <a:gd name="T10" fmla="*/ 0 60000 65536"/>
                <a:gd name="T11" fmla="*/ 0 60000 65536"/>
                <a:gd name="T12" fmla="*/ 0 60000 65536"/>
                <a:gd name="T13" fmla="*/ 0 60000 65536"/>
                <a:gd name="T14" fmla="*/ 0 60000 65536"/>
                <a:gd name="T15" fmla="*/ 0 w 2180"/>
                <a:gd name="T16" fmla="*/ 0 h 284"/>
                <a:gd name="T17" fmla="*/ 2180 w 2180"/>
                <a:gd name="T18" fmla="*/ 284 h 284"/>
              </a:gdLst>
              <a:ahLst/>
              <a:cxnLst>
                <a:cxn ang="T10">
                  <a:pos x="T0" y="T1"/>
                </a:cxn>
                <a:cxn ang="T11">
                  <a:pos x="T2" y="T3"/>
                </a:cxn>
                <a:cxn ang="T12">
                  <a:pos x="T4" y="T5"/>
                </a:cxn>
                <a:cxn ang="T13">
                  <a:pos x="T6" y="T7"/>
                </a:cxn>
                <a:cxn ang="T14">
                  <a:pos x="T8" y="T9"/>
                </a:cxn>
              </a:cxnLst>
              <a:rect l="T15" t="T16" r="T17" b="T18"/>
              <a:pathLst>
                <a:path w="2180" h="284">
                  <a:moveTo>
                    <a:pt x="1872" y="284"/>
                  </a:moveTo>
                  <a:lnTo>
                    <a:pt x="0" y="284"/>
                  </a:lnTo>
                  <a:lnTo>
                    <a:pt x="446" y="0"/>
                  </a:lnTo>
                  <a:lnTo>
                    <a:pt x="2180" y="0"/>
                  </a:lnTo>
                  <a:lnTo>
                    <a:pt x="1872" y="284"/>
                  </a:lnTo>
                  <a:close/>
                </a:path>
              </a:pathLst>
            </a:custGeom>
            <a:solidFill>
              <a:schemeClr val="accent1"/>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en-US"/>
            </a:p>
          </p:txBody>
        </p:sp>
        <p:sp>
          <p:nvSpPr>
            <p:cNvPr id="15386" name="Freeform 24"/>
            <p:cNvSpPr>
              <a:spLocks/>
            </p:cNvSpPr>
            <p:nvPr/>
          </p:nvSpPr>
          <p:spPr bwMode="gray">
            <a:xfrm>
              <a:off x="1939" y="1543"/>
              <a:ext cx="1158" cy="1715"/>
            </a:xfrm>
            <a:custGeom>
              <a:avLst/>
              <a:gdLst>
                <a:gd name="T0" fmla="*/ 1 w 1824"/>
                <a:gd name="T1" fmla="*/ 21 h 2648"/>
                <a:gd name="T2" fmla="*/ 1 w 1824"/>
                <a:gd name="T3" fmla="*/ 18 h 2648"/>
                <a:gd name="T4" fmla="*/ 1 w 1824"/>
                <a:gd name="T5" fmla="*/ 15 h 2648"/>
                <a:gd name="T6" fmla="*/ 2 w 1824"/>
                <a:gd name="T7" fmla="*/ 12 h 2648"/>
                <a:gd name="T8" fmla="*/ 2 w 1824"/>
                <a:gd name="T9" fmla="*/ 10 h 2648"/>
                <a:gd name="T10" fmla="*/ 3 w 1824"/>
                <a:gd name="T11" fmla="*/ 9 h 2648"/>
                <a:gd name="T12" fmla="*/ 4 w 1824"/>
                <a:gd name="T13" fmla="*/ 7 h 2648"/>
                <a:gd name="T14" fmla="*/ 4 w 1824"/>
                <a:gd name="T15" fmla="*/ 6 h 2648"/>
                <a:gd name="T16" fmla="*/ 5 w 1824"/>
                <a:gd name="T17" fmla="*/ 4 h 2648"/>
                <a:gd name="T18" fmla="*/ 6 w 1824"/>
                <a:gd name="T19" fmla="*/ 3 h 2648"/>
                <a:gd name="T20" fmla="*/ 7 w 1824"/>
                <a:gd name="T21" fmla="*/ 3 h 2648"/>
                <a:gd name="T22" fmla="*/ 7 w 1824"/>
                <a:gd name="T23" fmla="*/ 2 h 2648"/>
                <a:gd name="T24" fmla="*/ 8 w 1824"/>
                <a:gd name="T25" fmla="*/ 2 h 2648"/>
                <a:gd name="T26" fmla="*/ 8 w 1824"/>
                <a:gd name="T27" fmla="*/ 1 h 2648"/>
                <a:gd name="T28" fmla="*/ 8 w 1824"/>
                <a:gd name="T29" fmla="*/ 1 h 2648"/>
                <a:gd name="T30" fmla="*/ 11 w 1824"/>
                <a:gd name="T31" fmla="*/ 1 h 2648"/>
                <a:gd name="T32" fmla="*/ 11 w 1824"/>
                <a:gd name="T33" fmla="*/ 3 h 2648"/>
                <a:gd name="T34" fmla="*/ 11 w 1824"/>
                <a:gd name="T35" fmla="*/ 3 h 2648"/>
                <a:gd name="T36" fmla="*/ 10 w 1824"/>
                <a:gd name="T37" fmla="*/ 3 h 2648"/>
                <a:gd name="T38" fmla="*/ 10 w 1824"/>
                <a:gd name="T39" fmla="*/ 3 h 2648"/>
                <a:gd name="T40" fmla="*/ 10 w 1824"/>
                <a:gd name="T41" fmla="*/ 3 h 2648"/>
                <a:gd name="T42" fmla="*/ 9 w 1824"/>
                <a:gd name="T43" fmla="*/ 4 h 2648"/>
                <a:gd name="T44" fmla="*/ 8 w 1824"/>
                <a:gd name="T45" fmla="*/ 5 h 2648"/>
                <a:gd name="T46" fmla="*/ 7 w 1824"/>
                <a:gd name="T47" fmla="*/ 5 h 2648"/>
                <a:gd name="T48" fmla="*/ 6 w 1824"/>
                <a:gd name="T49" fmla="*/ 6 h 2648"/>
                <a:gd name="T50" fmla="*/ 5 w 1824"/>
                <a:gd name="T51" fmla="*/ 8 h 2648"/>
                <a:gd name="T52" fmla="*/ 4 w 1824"/>
                <a:gd name="T53" fmla="*/ 9 h 2648"/>
                <a:gd name="T54" fmla="*/ 3 w 1824"/>
                <a:gd name="T55" fmla="*/ 11 h 2648"/>
                <a:gd name="T56" fmla="*/ 3 w 1824"/>
                <a:gd name="T57" fmla="*/ 12 h 2648"/>
                <a:gd name="T58" fmla="*/ 2 w 1824"/>
                <a:gd name="T59" fmla="*/ 15 h 2648"/>
                <a:gd name="T60" fmla="*/ 1 w 1824"/>
                <a:gd name="T61" fmla="*/ 17 h 2648"/>
                <a:gd name="T62" fmla="*/ 1 w 1824"/>
                <a:gd name="T63" fmla="*/ 21 h 264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24"/>
                <a:gd name="T97" fmla="*/ 0 h 2648"/>
                <a:gd name="T98" fmla="*/ 1824 w 1824"/>
                <a:gd name="T99" fmla="*/ 2648 h 264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24" h="2648">
                  <a:moveTo>
                    <a:pt x="0" y="2648"/>
                  </a:moveTo>
                  <a:lnTo>
                    <a:pt x="12" y="2464"/>
                  </a:lnTo>
                  <a:lnTo>
                    <a:pt x="32" y="2288"/>
                  </a:lnTo>
                  <a:lnTo>
                    <a:pt x="56" y="2120"/>
                  </a:lnTo>
                  <a:lnTo>
                    <a:pt x="88" y="1960"/>
                  </a:lnTo>
                  <a:lnTo>
                    <a:pt x="124" y="1808"/>
                  </a:lnTo>
                  <a:lnTo>
                    <a:pt x="166" y="1662"/>
                  </a:lnTo>
                  <a:lnTo>
                    <a:pt x="212" y="1524"/>
                  </a:lnTo>
                  <a:lnTo>
                    <a:pt x="262" y="1394"/>
                  </a:lnTo>
                  <a:lnTo>
                    <a:pt x="316" y="1270"/>
                  </a:lnTo>
                  <a:lnTo>
                    <a:pt x="372" y="1154"/>
                  </a:lnTo>
                  <a:lnTo>
                    <a:pt x="430" y="1044"/>
                  </a:lnTo>
                  <a:lnTo>
                    <a:pt x="490" y="942"/>
                  </a:lnTo>
                  <a:lnTo>
                    <a:pt x="550" y="846"/>
                  </a:lnTo>
                  <a:lnTo>
                    <a:pt x="612" y="758"/>
                  </a:lnTo>
                  <a:lnTo>
                    <a:pt x="672" y="674"/>
                  </a:lnTo>
                  <a:lnTo>
                    <a:pt x="734" y="598"/>
                  </a:lnTo>
                  <a:lnTo>
                    <a:pt x="792" y="528"/>
                  </a:lnTo>
                  <a:lnTo>
                    <a:pt x="850" y="464"/>
                  </a:lnTo>
                  <a:lnTo>
                    <a:pt x="906" y="408"/>
                  </a:lnTo>
                  <a:lnTo>
                    <a:pt x="960" y="356"/>
                  </a:lnTo>
                  <a:lnTo>
                    <a:pt x="1010" y="310"/>
                  </a:lnTo>
                  <a:lnTo>
                    <a:pt x="1056" y="270"/>
                  </a:lnTo>
                  <a:lnTo>
                    <a:pt x="1096" y="236"/>
                  </a:lnTo>
                  <a:lnTo>
                    <a:pt x="1134" y="208"/>
                  </a:lnTo>
                  <a:lnTo>
                    <a:pt x="1164" y="184"/>
                  </a:lnTo>
                  <a:lnTo>
                    <a:pt x="1190" y="166"/>
                  </a:lnTo>
                  <a:lnTo>
                    <a:pt x="1208" y="154"/>
                  </a:lnTo>
                  <a:lnTo>
                    <a:pt x="1220" y="146"/>
                  </a:lnTo>
                  <a:lnTo>
                    <a:pt x="1224" y="144"/>
                  </a:lnTo>
                  <a:lnTo>
                    <a:pt x="848" y="0"/>
                  </a:lnTo>
                  <a:lnTo>
                    <a:pt x="1728" y="56"/>
                  </a:lnTo>
                  <a:lnTo>
                    <a:pt x="1824" y="480"/>
                  </a:lnTo>
                  <a:lnTo>
                    <a:pt x="1568" y="328"/>
                  </a:lnTo>
                  <a:lnTo>
                    <a:pt x="1564" y="328"/>
                  </a:lnTo>
                  <a:lnTo>
                    <a:pt x="1554" y="332"/>
                  </a:lnTo>
                  <a:lnTo>
                    <a:pt x="1538" y="338"/>
                  </a:lnTo>
                  <a:lnTo>
                    <a:pt x="1514" y="346"/>
                  </a:lnTo>
                  <a:lnTo>
                    <a:pt x="1486" y="356"/>
                  </a:lnTo>
                  <a:lnTo>
                    <a:pt x="1452" y="370"/>
                  </a:lnTo>
                  <a:lnTo>
                    <a:pt x="1412" y="388"/>
                  </a:lnTo>
                  <a:lnTo>
                    <a:pt x="1370" y="410"/>
                  </a:lnTo>
                  <a:lnTo>
                    <a:pt x="1322" y="436"/>
                  </a:lnTo>
                  <a:lnTo>
                    <a:pt x="1270" y="466"/>
                  </a:lnTo>
                  <a:lnTo>
                    <a:pt x="1216" y="500"/>
                  </a:lnTo>
                  <a:lnTo>
                    <a:pt x="1158" y="540"/>
                  </a:lnTo>
                  <a:lnTo>
                    <a:pt x="1098" y="584"/>
                  </a:lnTo>
                  <a:lnTo>
                    <a:pt x="1034" y="636"/>
                  </a:lnTo>
                  <a:lnTo>
                    <a:pt x="970" y="692"/>
                  </a:lnTo>
                  <a:lnTo>
                    <a:pt x="904" y="756"/>
                  </a:lnTo>
                  <a:lnTo>
                    <a:pt x="836" y="824"/>
                  </a:lnTo>
                  <a:lnTo>
                    <a:pt x="770" y="900"/>
                  </a:lnTo>
                  <a:lnTo>
                    <a:pt x="700" y="984"/>
                  </a:lnTo>
                  <a:lnTo>
                    <a:pt x="632" y="1076"/>
                  </a:lnTo>
                  <a:lnTo>
                    <a:pt x="566" y="1174"/>
                  </a:lnTo>
                  <a:lnTo>
                    <a:pt x="498" y="1280"/>
                  </a:lnTo>
                  <a:lnTo>
                    <a:pt x="434" y="1394"/>
                  </a:lnTo>
                  <a:lnTo>
                    <a:pt x="370" y="1518"/>
                  </a:lnTo>
                  <a:lnTo>
                    <a:pt x="308" y="1650"/>
                  </a:lnTo>
                  <a:lnTo>
                    <a:pt x="248" y="1792"/>
                  </a:lnTo>
                  <a:lnTo>
                    <a:pt x="192" y="1944"/>
                  </a:lnTo>
                  <a:lnTo>
                    <a:pt x="138" y="2104"/>
                  </a:lnTo>
                  <a:lnTo>
                    <a:pt x="88" y="2274"/>
                  </a:lnTo>
                  <a:lnTo>
                    <a:pt x="42" y="2456"/>
                  </a:lnTo>
                  <a:lnTo>
                    <a:pt x="0" y="2648"/>
                  </a:lnTo>
                  <a:close/>
                </a:path>
              </a:pathLst>
            </a:custGeom>
            <a:gradFill rotWithShape="1">
              <a:gsLst>
                <a:gs pos="0">
                  <a:srgbClr val="D11364"/>
                </a:gs>
                <a:gs pos="100000">
                  <a:srgbClr val="61092E"/>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en-US"/>
            </a:p>
          </p:txBody>
        </p:sp>
        <p:sp>
          <p:nvSpPr>
            <p:cNvPr id="75801" name="Rectangle 25">
              <a:extLst>
                <a:ext uri="{FF2B5EF4-FFF2-40B4-BE49-F238E27FC236}">
                  <a16:creationId xmlns:a16="http://schemas.microsoft.com/office/drawing/2014/main" id="{5A55BBFB-A887-4C84-85A0-347986D0CD64}"/>
                </a:ext>
              </a:extLst>
            </p:cNvPr>
            <p:cNvSpPr>
              <a:spLocks noChangeArrowheads="1"/>
            </p:cNvSpPr>
            <p:nvPr/>
          </p:nvSpPr>
          <p:spPr bwMode="gray">
            <a:xfrm>
              <a:off x="3082" y="1787"/>
              <a:ext cx="1743" cy="192"/>
            </a:xfrm>
            <a:prstGeom prst="rect">
              <a:avLst/>
            </a:prstGeom>
            <a:gradFill rotWithShape="1">
              <a:gsLst>
                <a:gs pos="0">
                  <a:schemeClr val="accent2">
                    <a:gamma/>
                    <a:shade val="72549"/>
                    <a:invGamma/>
                  </a:schemeClr>
                </a:gs>
                <a:gs pos="50000">
                  <a:schemeClr val="accent2"/>
                </a:gs>
                <a:gs pos="100000">
                  <a:schemeClr val="accent2">
                    <a:gamma/>
                    <a:shade val="72549"/>
                    <a:invGamma/>
                  </a:schemeClr>
                </a:gs>
              </a:gsLst>
              <a:lin ang="2700000" scaled="1"/>
            </a:gradFill>
            <a:ln w="9525">
              <a:noFill/>
              <a:miter lim="800000"/>
              <a:headEnd/>
              <a:tailEnd/>
            </a:ln>
            <a:effectLst/>
          </p:spPr>
          <p:txBody>
            <a:bodyPr wrap="none" anchor="ctr"/>
            <a:lstStyle/>
            <a:p>
              <a:pPr algn="ctr">
                <a:defRPr/>
              </a:pPr>
              <a:r>
                <a:rPr lang="en-US" altLang="zh-CN" sz="1600" b="1" dirty="0">
                  <a:solidFill>
                    <a:srgbClr val="FFFFFF"/>
                  </a:solidFill>
                  <a:latin typeface="Verdana" pitchFamily="34" charset="0"/>
                  <a:ea typeface="宋体" charset="-122"/>
                </a:rPr>
                <a:t>near 1.4 billion</a:t>
              </a:r>
            </a:p>
          </p:txBody>
        </p:sp>
        <p:sp>
          <p:nvSpPr>
            <p:cNvPr id="75802" name="Rectangle 26">
              <a:extLst>
                <a:ext uri="{FF2B5EF4-FFF2-40B4-BE49-F238E27FC236}">
                  <a16:creationId xmlns:a16="http://schemas.microsoft.com/office/drawing/2014/main" id="{19D1EE68-17F5-43A0-9AB3-58C081314475}"/>
                </a:ext>
              </a:extLst>
            </p:cNvPr>
            <p:cNvSpPr>
              <a:spLocks noChangeArrowheads="1"/>
            </p:cNvSpPr>
            <p:nvPr/>
          </p:nvSpPr>
          <p:spPr bwMode="gray">
            <a:xfrm>
              <a:off x="2556" y="2310"/>
              <a:ext cx="1900" cy="188"/>
            </a:xfrm>
            <a:prstGeom prst="rect">
              <a:avLst/>
            </a:prstGeom>
            <a:gradFill rotWithShape="1">
              <a:gsLst>
                <a:gs pos="0">
                  <a:schemeClr val="hlink">
                    <a:gamma/>
                    <a:shade val="72549"/>
                    <a:invGamma/>
                  </a:schemeClr>
                </a:gs>
                <a:gs pos="50000">
                  <a:schemeClr val="hlink"/>
                </a:gs>
                <a:gs pos="100000">
                  <a:schemeClr val="hlink">
                    <a:gamma/>
                    <a:shade val="72549"/>
                    <a:invGamma/>
                  </a:schemeClr>
                </a:gs>
              </a:gsLst>
              <a:lin ang="2700000" scaled="1"/>
            </a:gradFill>
            <a:ln w="9525">
              <a:noFill/>
              <a:miter lim="800000"/>
              <a:headEnd/>
              <a:tailEnd/>
            </a:ln>
            <a:effectLst/>
          </p:spPr>
          <p:txBody>
            <a:bodyPr wrap="none" anchor="ctr"/>
            <a:lstStyle/>
            <a:p>
              <a:pPr algn="ctr">
                <a:defRPr/>
              </a:pPr>
              <a:r>
                <a:rPr lang="en-US" altLang="zh-CN" sz="1600" b="1" dirty="0">
                  <a:solidFill>
                    <a:srgbClr val="FFFFFF"/>
                  </a:solidFill>
                  <a:latin typeface="Verdana" pitchFamily="34" charset="0"/>
                  <a:ea typeface="宋体" charset="-122"/>
                </a:rPr>
                <a:t>830 million  </a:t>
              </a:r>
            </a:p>
          </p:txBody>
        </p:sp>
        <p:sp>
          <p:nvSpPr>
            <p:cNvPr id="15389" name="Freeform 27"/>
            <p:cNvSpPr>
              <a:spLocks/>
            </p:cNvSpPr>
            <p:nvPr/>
          </p:nvSpPr>
          <p:spPr bwMode="gray">
            <a:xfrm>
              <a:off x="2036" y="2494"/>
              <a:ext cx="2415" cy="343"/>
            </a:xfrm>
            <a:custGeom>
              <a:avLst/>
              <a:gdLst>
                <a:gd name="T0" fmla="*/ 10679 w 2048"/>
                <a:gd name="T1" fmla="*/ 2108 h 286"/>
                <a:gd name="T2" fmla="*/ 0 w 2048"/>
                <a:gd name="T3" fmla="*/ 2108 h 286"/>
                <a:gd name="T4" fmla="*/ 2732 w 2048"/>
                <a:gd name="T5" fmla="*/ 0 h 286"/>
                <a:gd name="T6" fmla="*/ 12556 w 2048"/>
                <a:gd name="T7" fmla="*/ 0 h 286"/>
                <a:gd name="T8" fmla="*/ 10679 w 2048"/>
                <a:gd name="T9" fmla="*/ 2108 h 286"/>
                <a:gd name="T10" fmla="*/ 0 60000 65536"/>
                <a:gd name="T11" fmla="*/ 0 60000 65536"/>
                <a:gd name="T12" fmla="*/ 0 60000 65536"/>
                <a:gd name="T13" fmla="*/ 0 60000 65536"/>
                <a:gd name="T14" fmla="*/ 0 60000 65536"/>
                <a:gd name="T15" fmla="*/ 0 w 2048"/>
                <a:gd name="T16" fmla="*/ 0 h 286"/>
                <a:gd name="T17" fmla="*/ 2048 w 2048"/>
                <a:gd name="T18" fmla="*/ 286 h 286"/>
              </a:gdLst>
              <a:ahLst/>
              <a:cxnLst>
                <a:cxn ang="T10">
                  <a:pos x="T0" y="T1"/>
                </a:cxn>
                <a:cxn ang="T11">
                  <a:pos x="T2" y="T3"/>
                </a:cxn>
                <a:cxn ang="T12">
                  <a:pos x="T4" y="T5"/>
                </a:cxn>
                <a:cxn ang="T13">
                  <a:pos x="T6" y="T7"/>
                </a:cxn>
                <a:cxn ang="T14">
                  <a:pos x="T8" y="T9"/>
                </a:cxn>
              </a:cxnLst>
              <a:rect l="T15" t="T16" r="T17" b="T18"/>
              <a:pathLst>
                <a:path w="2048" h="286">
                  <a:moveTo>
                    <a:pt x="1742" y="286"/>
                  </a:moveTo>
                  <a:lnTo>
                    <a:pt x="0" y="286"/>
                  </a:lnTo>
                  <a:lnTo>
                    <a:pt x="446" y="0"/>
                  </a:lnTo>
                  <a:lnTo>
                    <a:pt x="2048" y="0"/>
                  </a:lnTo>
                  <a:lnTo>
                    <a:pt x="1742" y="286"/>
                  </a:lnTo>
                  <a:close/>
                </a:path>
              </a:pathLst>
            </a:custGeom>
            <a:solidFill>
              <a:schemeClr val="folHlink"/>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en-US"/>
            </a:p>
          </p:txBody>
        </p:sp>
        <p:sp>
          <p:nvSpPr>
            <p:cNvPr id="75804" name="Rectangle 28">
              <a:extLst>
                <a:ext uri="{FF2B5EF4-FFF2-40B4-BE49-F238E27FC236}">
                  <a16:creationId xmlns:a16="http://schemas.microsoft.com/office/drawing/2014/main" id="{FADB9A17-BE50-428F-B7F1-6C885B7F8EE8}"/>
                </a:ext>
              </a:extLst>
            </p:cNvPr>
            <p:cNvSpPr>
              <a:spLocks noChangeArrowheads="1"/>
            </p:cNvSpPr>
            <p:nvPr/>
          </p:nvSpPr>
          <p:spPr bwMode="gray">
            <a:xfrm>
              <a:off x="2038" y="2836"/>
              <a:ext cx="2056" cy="188"/>
            </a:xfrm>
            <a:prstGeom prst="rect">
              <a:avLst/>
            </a:prstGeom>
            <a:gradFill rotWithShape="1">
              <a:gsLst>
                <a:gs pos="0">
                  <a:schemeClr val="folHlink">
                    <a:gamma/>
                    <a:shade val="72549"/>
                    <a:invGamma/>
                  </a:schemeClr>
                </a:gs>
                <a:gs pos="50000">
                  <a:schemeClr val="folHlink"/>
                </a:gs>
                <a:gs pos="100000">
                  <a:schemeClr val="folHlink">
                    <a:gamma/>
                    <a:shade val="72549"/>
                    <a:invGamma/>
                  </a:schemeClr>
                </a:gs>
              </a:gsLst>
              <a:lin ang="2700000" scaled="1"/>
            </a:gradFill>
            <a:ln w="9525">
              <a:noFill/>
              <a:miter lim="800000"/>
              <a:headEnd/>
              <a:tailEnd/>
            </a:ln>
            <a:effectLst/>
          </p:spPr>
          <p:txBody>
            <a:bodyPr wrap="none" anchor="ctr"/>
            <a:lstStyle/>
            <a:p>
              <a:pPr algn="ctr">
                <a:defRPr/>
              </a:pPr>
              <a:r>
                <a:rPr lang="en-US" altLang="zh-CN" sz="1600" b="1" dirty="0">
                  <a:solidFill>
                    <a:srgbClr val="FFFFFF"/>
                  </a:solidFill>
                  <a:latin typeface="Verdana" pitchFamily="34" charset="0"/>
                  <a:ea typeface="宋体" charset="-122"/>
                </a:rPr>
                <a:t>430 million </a:t>
              </a:r>
            </a:p>
          </p:txBody>
        </p:sp>
        <p:sp>
          <p:nvSpPr>
            <p:cNvPr id="75805" name="Rectangle 29">
              <a:extLst>
                <a:ext uri="{FF2B5EF4-FFF2-40B4-BE49-F238E27FC236}">
                  <a16:creationId xmlns:a16="http://schemas.microsoft.com/office/drawing/2014/main" id="{8EA343BE-BDBE-45AA-A134-A0B79A68002C}"/>
                </a:ext>
              </a:extLst>
            </p:cNvPr>
            <p:cNvSpPr>
              <a:spLocks noChangeArrowheads="1"/>
            </p:cNvSpPr>
            <p:nvPr/>
          </p:nvSpPr>
          <p:spPr bwMode="gray">
            <a:xfrm>
              <a:off x="1514" y="3345"/>
              <a:ext cx="2213" cy="187"/>
            </a:xfrm>
            <a:prstGeom prst="rect">
              <a:avLst/>
            </a:prstGeom>
            <a:gradFill rotWithShape="1">
              <a:gsLst>
                <a:gs pos="0">
                  <a:schemeClr val="accent1">
                    <a:gamma/>
                    <a:shade val="72549"/>
                    <a:invGamma/>
                  </a:schemeClr>
                </a:gs>
                <a:gs pos="50000">
                  <a:schemeClr val="accent1"/>
                </a:gs>
                <a:gs pos="100000">
                  <a:schemeClr val="accent1">
                    <a:gamma/>
                    <a:shade val="72549"/>
                    <a:invGamma/>
                  </a:schemeClr>
                </a:gs>
              </a:gsLst>
              <a:lin ang="2700000" scaled="1"/>
            </a:gradFill>
            <a:ln w="9525">
              <a:noFill/>
              <a:miter lim="800000"/>
              <a:headEnd/>
              <a:tailEnd/>
            </a:ln>
            <a:effectLst/>
          </p:spPr>
          <p:txBody>
            <a:bodyPr wrap="none" anchor="ctr"/>
            <a:lstStyle/>
            <a:p>
              <a:pPr algn="ctr">
                <a:defRPr/>
              </a:pPr>
              <a:r>
                <a:rPr lang="en-US" altLang="zh-CN" b="1" dirty="0">
                  <a:solidFill>
                    <a:srgbClr val="FFFFFF"/>
                  </a:solidFill>
                  <a:latin typeface="Verdana" pitchFamily="34" charset="0"/>
                  <a:ea typeface="宋体" charset="-122"/>
                </a:rPr>
                <a:t>160 million  </a:t>
              </a:r>
            </a:p>
          </p:txBody>
        </p:sp>
      </p:grpSp>
      <p:sp>
        <p:nvSpPr>
          <p:cNvPr id="15375" name="Text Box 15"/>
          <p:cNvSpPr txBox="1">
            <a:spLocks noChangeArrowheads="1"/>
          </p:cNvSpPr>
          <p:nvPr/>
        </p:nvSpPr>
        <p:spPr bwMode="gray">
          <a:xfrm>
            <a:off x="611188" y="4076700"/>
            <a:ext cx="30638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latin typeface="Verdana" panose="020B0604030504040204" pitchFamily="34" charset="0"/>
              </a:rPr>
              <a:t>In middle of 19</a:t>
            </a:r>
            <a:r>
              <a:rPr lang="en-US" altLang="zh-CN" sz="1600" b="1" baseline="30000">
                <a:latin typeface="Verdana" panose="020B0604030504040204" pitchFamily="34" charset="0"/>
              </a:rPr>
              <a:t>th</a:t>
            </a:r>
            <a:r>
              <a:rPr lang="en-US" altLang="zh-CN" sz="1600" b="1">
                <a:latin typeface="Verdana" panose="020B0604030504040204" pitchFamily="34" charset="0"/>
              </a:rPr>
              <a:t> century</a:t>
            </a:r>
          </a:p>
        </p:txBody>
      </p:sp>
      <p:sp>
        <p:nvSpPr>
          <p:cNvPr id="15376" name="Text Box 15"/>
          <p:cNvSpPr txBox="1">
            <a:spLocks noChangeArrowheads="1"/>
          </p:cNvSpPr>
          <p:nvPr/>
        </p:nvSpPr>
        <p:spPr bwMode="gray">
          <a:xfrm>
            <a:off x="611188" y="3068638"/>
            <a:ext cx="34559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latin typeface="Verdana" panose="020B0604030504040204" pitchFamily="34" charset="0"/>
              </a:rPr>
              <a:t>In 1970</a:t>
            </a:r>
          </a:p>
        </p:txBody>
      </p:sp>
      <p:sp>
        <p:nvSpPr>
          <p:cNvPr id="15377" name="Text Box 15"/>
          <p:cNvSpPr txBox="1">
            <a:spLocks noChangeArrowheads="1"/>
          </p:cNvSpPr>
          <p:nvPr/>
        </p:nvSpPr>
        <p:spPr bwMode="gray">
          <a:xfrm>
            <a:off x="755650" y="2420938"/>
            <a:ext cx="33147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latin typeface="Verdana" panose="020B0604030504040204" pitchFamily="34" charset="0"/>
              </a:rPr>
              <a:t>In 2010 </a:t>
            </a:r>
          </a:p>
        </p:txBody>
      </p:sp>
      <p:sp>
        <p:nvSpPr>
          <p:cNvPr id="15378" name="Text Box 12"/>
          <p:cNvSpPr txBox="1">
            <a:spLocks noChangeArrowheads="1"/>
          </p:cNvSpPr>
          <p:nvPr/>
        </p:nvSpPr>
        <p:spPr bwMode="gray">
          <a:xfrm>
            <a:off x="539750" y="3357563"/>
            <a:ext cx="35274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latin typeface="Verdana" panose="020B0604030504040204" pitchFamily="34" charset="0"/>
              </a:rPr>
              <a:t>economic development </a:t>
            </a:r>
          </a:p>
          <a:p>
            <a:pPr algn="ctr">
              <a:spcBef>
                <a:spcPct val="0"/>
              </a:spcBef>
              <a:buFontTx/>
              <a:buNone/>
            </a:pPr>
            <a:r>
              <a:rPr lang="en-US" altLang="zh-CN" sz="1400">
                <a:latin typeface="Verdana" panose="020B0604030504040204" pitchFamily="34" charset="0"/>
              </a:rPr>
              <a:t>government’s  encouragement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noChangeArrowheads="1"/>
          </p:cNvSpPr>
          <p:nvPr>
            <p:ph type="title"/>
          </p:nvPr>
        </p:nvSpPr>
        <p:spPr>
          <a:xfrm>
            <a:off x="304800" y="201613"/>
            <a:ext cx="8458200" cy="563562"/>
          </a:xfrm>
        </p:spPr>
        <p:txBody>
          <a:bodyPr/>
          <a:lstStyle/>
          <a:p>
            <a:r>
              <a:rPr lang="en-US" altLang="zh-CN" sz="2400"/>
              <a:t>The Population in </a:t>
            </a:r>
            <a:r>
              <a:rPr lang="en-US" altLang="zh-CN" sz="2400" i="1"/>
              <a:t>China </a:t>
            </a:r>
            <a:r>
              <a:rPr lang="en-US" altLang="zh-CN" sz="2400"/>
              <a:t>1–2008</a:t>
            </a:r>
            <a:endParaRPr lang="zh-CN" altLang="en-US" sz="2400"/>
          </a:p>
        </p:txBody>
      </p:sp>
      <p:graphicFrame>
        <p:nvGraphicFramePr>
          <p:cNvPr id="6" name="表格 5">
            <a:extLst>
              <a:ext uri="{FF2B5EF4-FFF2-40B4-BE49-F238E27FC236}">
                <a16:creationId xmlns:a16="http://schemas.microsoft.com/office/drawing/2014/main" id="{DC139A6E-AA20-4EB8-B81D-7A92FEF52C65}"/>
              </a:ext>
            </a:extLst>
          </p:cNvPr>
          <p:cNvGraphicFramePr>
            <a:graphicFrameLocks noGrp="1"/>
          </p:cNvGraphicFramePr>
          <p:nvPr/>
        </p:nvGraphicFramePr>
        <p:xfrm>
          <a:off x="250825" y="1392238"/>
          <a:ext cx="7713662" cy="4799010"/>
        </p:xfrm>
        <a:graphic>
          <a:graphicData uri="http://schemas.openxmlformats.org/drawingml/2006/table">
            <a:tbl>
              <a:tblPr/>
              <a:tblGrid>
                <a:gridCol w="761727">
                  <a:extLst>
                    <a:ext uri="{9D8B030D-6E8A-4147-A177-3AD203B41FA5}">
                      <a16:colId xmlns:a16="http://schemas.microsoft.com/office/drawing/2014/main" val="20000"/>
                    </a:ext>
                  </a:extLst>
                </a:gridCol>
                <a:gridCol w="1109840">
                  <a:extLst>
                    <a:ext uri="{9D8B030D-6E8A-4147-A177-3AD203B41FA5}">
                      <a16:colId xmlns:a16="http://schemas.microsoft.com/office/drawing/2014/main" val="20001"/>
                    </a:ext>
                  </a:extLst>
                </a:gridCol>
                <a:gridCol w="1194059">
                  <a:extLst>
                    <a:ext uri="{9D8B030D-6E8A-4147-A177-3AD203B41FA5}">
                      <a16:colId xmlns:a16="http://schemas.microsoft.com/office/drawing/2014/main" val="20002"/>
                    </a:ext>
                  </a:extLst>
                </a:gridCol>
                <a:gridCol w="1066794">
                  <a:extLst>
                    <a:ext uri="{9D8B030D-6E8A-4147-A177-3AD203B41FA5}">
                      <a16:colId xmlns:a16="http://schemas.microsoft.com/office/drawing/2014/main" val="20004"/>
                    </a:ext>
                  </a:extLst>
                </a:gridCol>
                <a:gridCol w="1194059">
                  <a:extLst>
                    <a:ext uri="{9D8B030D-6E8A-4147-A177-3AD203B41FA5}">
                      <a16:colId xmlns:a16="http://schemas.microsoft.com/office/drawing/2014/main" val="20005"/>
                    </a:ext>
                  </a:extLst>
                </a:gridCol>
                <a:gridCol w="1193124">
                  <a:extLst>
                    <a:ext uri="{9D8B030D-6E8A-4147-A177-3AD203B41FA5}">
                      <a16:colId xmlns:a16="http://schemas.microsoft.com/office/drawing/2014/main" val="20006"/>
                    </a:ext>
                  </a:extLst>
                </a:gridCol>
                <a:gridCol w="1194059">
                  <a:extLst>
                    <a:ext uri="{9D8B030D-6E8A-4147-A177-3AD203B41FA5}">
                      <a16:colId xmlns:a16="http://schemas.microsoft.com/office/drawing/2014/main" val="20007"/>
                    </a:ext>
                  </a:extLst>
                </a:gridCol>
              </a:tblGrid>
              <a:tr h="731520">
                <a:tc>
                  <a:txBody>
                    <a:bodyPr/>
                    <a:lstStyle/>
                    <a:p>
                      <a:pPr algn="ctr" fontAlgn="auto" hangingPunct="1">
                        <a:spcAft>
                          <a:spcPts val="0"/>
                        </a:spcAft>
                      </a:pPr>
                      <a:r>
                        <a:rPr lang="en-US" sz="1600" kern="100" dirty="0">
                          <a:solidFill>
                            <a:srgbClr val="000000"/>
                          </a:solidFill>
                          <a:latin typeface="Times New Roman"/>
                          <a:ea typeface="宋体"/>
                          <a:cs typeface="Times New Roman"/>
                        </a:rPr>
                        <a:t>year (AD)</a:t>
                      </a:r>
                      <a:endParaRPr lang="zh-CN" sz="1600" kern="100" dirty="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600" kern="100" dirty="0">
                          <a:solidFill>
                            <a:srgbClr val="000000"/>
                          </a:solidFill>
                          <a:latin typeface="Times New Roman"/>
                          <a:ea typeface="宋体"/>
                          <a:cs typeface="Times New Roman"/>
                        </a:rPr>
                        <a:t>Western Europe</a:t>
                      </a:r>
                      <a:endParaRPr lang="zh-CN" sz="1600" kern="100" dirty="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600" kern="100" dirty="0">
                          <a:solidFill>
                            <a:srgbClr val="000000"/>
                          </a:solidFill>
                          <a:latin typeface="Times New Roman"/>
                          <a:ea typeface="宋体"/>
                          <a:cs typeface="Times New Roman"/>
                        </a:rPr>
                        <a:t>China</a:t>
                      </a: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600" kern="100" dirty="0">
                          <a:solidFill>
                            <a:srgbClr val="000000"/>
                          </a:solidFill>
                          <a:latin typeface="Times New Roman"/>
                          <a:ea typeface="宋体"/>
                          <a:cs typeface="Times New Roman"/>
                        </a:rPr>
                        <a:t>Other </a:t>
                      </a:r>
                      <a:endParaRPr lang="zh-CN" sz="1600" kern="100" dirty="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600" kern="100">
                          <a:solidFill>
                            <a:srgbClr val="000000"/>
                          </a:solidFill>
                          <a:latin typeface="Times New Roman"/>
                          <a:ea typeface="宋体"/>
                          <a:cs typeface="Times New Roman"/>
                        </a:rPr>
                        <a:t>Total Asia (excluding )</a:t>
                      </a:r>
                      <a:endParaRPr lang="zh-CN" sz="16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600" kern="100" dirty="0">
                          <a:solidFill>
                            <a:srgbClr val="000000"/>
                          </a:solidFill>
                          <a:latin typeface="Times New Roman"/>
                          <a:ea typeface="宋体"/>
                          <a:cs typeface="Times New Roman"/>
                        </a:rPr>
                        <a:t>World</a:t>
                      </a:r>
                      <a:endParaRPr lang="zh-CN" sz="1600" kern="100" dirty="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endParaRPr lang="en-US" sz="1600" kern="100" dirty="0">
                        <a:solidFill>
                          <a:srgbClr val="000000"/>
                        </a:solidFill>
                        <a:latin typeface="Times New Roman"/>
                        <a:ea typeface="宋体"/>
                        <a:cs typeface="Times New Roman"/>
                      </a:endParaRPr>
                    </a:p>
                    <a:p>
                      <a:pPr algn="ctr" fontAlgn="auto" hangingPunct="1">
                        <a:spcAft>
                          <a:spcPts val="0"/>
                        </a:spcAft>
                      </a:pPr>
                      <a:r>
                        <a:rPr lang="en-US" sz="1600" kern="100" dirty="0">
                          <a:solidFill>
                            <a:srgbClr val="000000"/>
                          </a:solidFill>
                          <a:latin typeface="Times New Roman"/>
                          <a:ea typeface="宋体"/>
                          <a:cs typeface="Times New Roman"/>
                        </a:rPr>
                        <a:t>/World</a:t>
                      </a:r>
                      <a:endParaRPr lang="zh-CN" sz="1600" kern="100" dirty="0">
                        <a:latin typeface="Times New Roman"/>
                        <a:ea typeface="宋体"/>
                        <a:cs typeface="Times New Roman"/>
                      </a:endParaRPr>
                    </a:p>
                    <a:p>
                      <a:pPr algn="ctr" fontAlgn="auto" hangingPunct="1">
                        <a:spcAft>
                          <a:spcPts val="0"/>
                        </a:spcAft>
                      </a:pPr>
                      <a:r>
                        <a:rPr lang="en-US" sz="1600" kern="100" dirty="0">
                          <a:solidFill>
                            <a:srgbClr val="000000"/>
                          </a:solidFill>
                          <a:latin typeface="Times New Roman"/>
                          <a:ea typeface="宋体"/>
                          <a:cs typeface="Times New Roman"/>
                        </a:rPr>
                        <a:t>(%)</a:t>
                      </a:r>
                      <a:endParaRPr lang="zh-CN" sz="1600" kern="100" dirty="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71166">
                <a:tc>
                  <a:txBody>
                    <a:bodyPr/>
                    <a:lstStyle/>
                    <a:p>
                      <a:pPr algn="ctr" fontAlgn="auto" hangingPunct="1">
                        <a:spcAft>
                          <a:spcPts val="0"/>
                        </a:spcAft>
                      </a:pPr>
                      <a:r>
                        <a:rPr lang="en-US" sz="1400" kern="100">
                          <a:solidFill>
                            <a:srgbClr val="000000"/>
                          </a:solidFill>
                          <a:latin typeface="Times New Roman"/>
                          <a:ea typeface="宋体"/>
                          <a:cs typeface="Times New Roman"/>
                        </a:rPr>
                        <a:t>1</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dirty="0">
                          <a:solidFill>
                            <a:srgbClr val="000000"/>
                          </a:solidFill>
                          <a:latin typeface="Times New Roman"/>
                          <a:ea typeface="宋体"/>
                          <a:cs typeface="Times New Roman"/>
                        </a:rPr>
                        <a:t>24700</a:t>
                      </a:r>
                      <a:endParaRPr lang="zh-CN" sz="1400" kern="100" dirty="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dirty="0">
                          <a:solidFill>
                            <a:srgbClr val="000000"/>
                          </a:solidFill>
                          <a:latin typeface="Times New Roman"/>
                          <a:ea typeface="宋体"/>
                          <a:cs typeface="Times New Roman"/>
                        </a:rPr>
                        <a:t>59600</a:t>
                      </a:r>
                      <a:endParaRPr lang="zh-CN" sz="1400" kern="100" dirty="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36600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171200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230820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25.82</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71166">
                <a:tc>
                  <a:txBody>
                    <a:bodyPr/>
                    <a:lstStyle/>
                    <a:p>
                      <a:pPr algn="ctr" fontAlgn="auto" hangingPunct="1">
                        <a:spcAft>
                          <a:spcPts val="0"/>
                        </a:spcAft>
                      </a:pPr>
                      <a:r>
                        <a:rPr lang="en-US" sz="1400" kern="100">
                          <a:solidFill>
                            <a:srgbClr val="000000"/>
                          </a:solidFill>
                          <a:latin typeface="Times New Roman"/>
                          <a:ea typeface="宋体"/>
                          <a:cs typeface="Times New Roman"/>
                        </a:rPr>
                        <a:t>1000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25413</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dirty="0">
                          <a:solidFill>
                            <a:srgbClr val="000000"/>
                          </a:solidFill>
                          <a:latin typeface="Times New Roman"/>
                          <a:ea typeface="宋体"/>
                          <a:cs typeface="Times New Roman"/>
                        </a:rPr>
                        <a:t>59000</a:t>
                      </a:r>
                      <a:endParaRPr lang="zh-CN" sz="1400" kern="100" dirty="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41400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175400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267573</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22.05</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71166">
                <a:tc>
                  <a:txBody>
                    <a:bodyPr/>
                    <a:lstStyle/>
                    <a:p>
                      <a:pPr algn="ctr" fontAlgn="auto" hangingPunct="1">
                        <a:spcAft>
                          <a:spcPts val="0"/>
                        </a:spcAft>
                      </a:pPr>
                      <a:r>
                        <a:rPr lang="en-US" sz="1400" kern="100">
                          <a:solidFill>
                            <a:srgbClr val="000000"/>
                          </a:solidFill>
                          <a:latin typeface="Times New Roman"/>
                          <a:ea typeface="宋体"/>
                          <a:cs typeface="Times New Roman"/>
                        </a:rPr>
                        <a:t>1300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algn="ctr" fontAlgn="auto" hangingPunct="1">
                        <a:spcAft>
                          <a:spcPts val="0"/>
                        </a:spcAft>
                      </a:pPr>
                      <a:r>
                        <a:rPr lang="en-US" sz="1400" kern="100">
                          <a:solidFill>
                            <a:srgbClr val="000000"/>
                          </a:solidFill>
                          <a:latin typeface="Times New Roman"/>
                          <a:ea typeface="宋体"/>
                          <a:cs typeface="Times New Roman"/>
                        </a:rPr>
                        <a:t>58353</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algn="ctr" fontAlgn="auto" hangingPunct="1">
                        <a:spcAft>
                          <a:spcPts val="0"/>
                        </a:spcAft>
                      </a:pPr>
                      <a:r>
                        <a:rPr lang="en-US" sz="1400" kern="100" dirty="0">
                          <a:solidFill>
                            <a:srgbClr val="000000"/>
                          </a:solidFill>
                          <a:latin typeface="Times New Roman"/>
                          <a:ea typeface="宋体"/>
                          <a:cs typeface="Times New Roman"/>
                        </a:rPr>
                        <a:t>100000</a:t>
                      </a:r>
                      <a:endParaRPr lang="zh-CN" sz="1400" kern="100" dirty="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algn="ctr" fontAlgn="auto" hangingPunct="1">
                        <a:spcAft>
                          <a:spcPts val="0"/>
                        </a:spcAft>
                      </a:pPr>
                      <a:r>
                        <a:rPr lang="zh-CN" sz="1400" kern="100">
                          <a:solidFill>
                            <a:srgbClr val="000000"/>
                          </a:solidFill>
                          <a:latin typeface="Times New Roman"/>
                          <a:ea typeface="宋体"/>
                          <a:cs typeface="Times New Roman"/>
                        </a:rPr>
                        <a:t>　</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algn="ctr" fontAlgn="auto" hangingPunct="1">
                        <a:spcAft>
                          <a:spcPts val="0"/>
                        </a:spcAft>
                      </a:pPr>
                      <a:r>
                        <a:rPr lang="zh-CN" sz="1400" kern="100">
                          <a:solidFill>
                            <a:srgbClr val="000000"/>
                          </a:solidFill>
                          <a:latin typeface="Times New Roman"/>
                          <a:ea typeface="宋体"/>
                          <a:cs typeface="Times New Roman"/>
                        </a:rPr>
                        <a:t>　</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algn="ctr" fontAlgn="auto" hangingPunct="1">
                        <a:spcAft>
                          <a:spcPts val="0"/>
                        </a:spcAft>
                      </a:pPr>
                      <a:r>
                        <a:rPr lang="zh-CN" sz="1400" kern="100">
                          <a:solidFill>
                            <a:srgbClr val="000000"/>
                          </a:solidFill>
                          <a:latin typeface="Times New Roman"/>
                          <a:ea typeface="宋体"/>
                          <a:cs typeface="Times New Roman"/>
                        </a:rPr>
                        <a:t>　</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algn="ctr" fontAlgn="auto" hangingPunct="1">
                        <a:spcAft>
                          <a:spcPts val="0"/>
                        </a:spcAft>
                      </a:pPr>
                      <a:r>
                        <a:rPr lang="zh-CN" sz="1400" kern="100">
                          <a:solidFill>
                            <a:srgbClr val="000000"/>
                          </a:solidFill>
                          <a:latin typeface="Times New Roman"/>
                          <a:ea typeface="宋体"/>
                          <a:cs typeface="Times New Roman"/>
                        </a:rPr>
                        <a:t>　</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extLst>
                  <a:ext uri="{0D108BD9-81ED-4DB2-BD59-A6C34878D82A}">
                    <a16:rowId xmlns:a16="http://schemas.microsoft.com/office/drawing/2014/main" val="10003"/>
                  </a:ext>
                </a:extLst>
              </a:tr>
              <a:tr h="271166">
                <a:tc>
                  <a:txBody>
                    <a:bodyPr/>
                    <a:lstStyle/>
                    <a:p>
                      <a:pPr algn="ctr" fontAlgn="auto" hangingPunct="1">
                        <a:spcAft>
                          <a:spcPts val="0"/>
                        </a:spcAft>
                      </a:pPr>
                      <a:r>
                        <a:rPr lang="en-US" sz="1400" kern="100">
                          <a:solidFill>
                            <a:srgbClr val="000000"/>
                          </a:solidFill>
                          <a:latin typeface="Times New Roman"/>
                          <a:ea typeface="宋体"/>
                          <a:cs typeface="Times New Roman"/>
                        </a:rPr>
                        <a:t>1400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algn="ctr" fontAlgn="auto" hangingPunct="1">
                        <a:spcAft>
                          <a:spcPts val="0"/>
                        </a:spcAft>
                      </a:pPr>
                      <a:r>
                        <a:rPr lang="en-US" sz="1400" kern="100">
                          <a:solidFill>
                            <a:srgbClr val="000000"/>
                          </a:solidFill>
                          <a:latin typeface="Times New Roman"/>
                          <a:ea typeface="宋体"/>
                          <a:cs typeface="Times New Roman"/>
                        </a:rPr>
                        <a:t>41500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algn="ctr" fontAlgn="auto" hangingPunct="1">
                        <a:spcAft>
                          <a:spcPts val="0"/>
                        </a:spcAft>
                      </a:pPr>
                      <a:r>
                        <a:rPr lang="en-US" sz="1400" kern="100">
                          <a:solidFill>
                            <a:srgbClr val="000000"/>
                          </a:solidFill>
                          <a:latin typeface="Times New Roman"/>
                          <a:ea typeface="宋体"/>
                          <a:cs typeface="Times New Roman"/>
                        </a:rPr>
                        <a:t>72000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algn="ctr" fontAlgn="auto" hangingPunct="1">
                        <a:spcAft>
                          <a:spcPts val="0"/>
                        </a:spcAft>
                      </a:pPr>
                      <a:r>
                        <a:rPr lang="zh-CN" sz="1400" kern="100">
                          <a:solidFill>
                            <a:srgbClr val="000000"/>
                          </a:solidFill>
                          <a:latin typeface="Times New Roman"/>
                          <a:ea typeface="宋体"/>
                          <a:cs typeface="Times New Roman"/>
                        </a:rPr>
                        <a:t>　</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algn="ctr" fontAlgn="auto" hangingPunct="1">
                        <a:spcAft>
                          <a:spcPts val="0"/>
                        </a:spcAft>
                      </a:pPr>
                      <a:r>
                        <a:rPr lang="zh-CN" sz="1400" kern="100">
                          <a:solidFill>
                            <a:srgbClr val="000000"/>
                          </a:solidFill>
                          <a:latin typeface="Times New Roman"/>
                          <a:ea typeface="宋体"/>
                          <a:cs typeface="Times New Roman"/>
                        </a:rPr>
                        <a:t>　</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algn="ctr" fontAlgn="auto" hangingPunct="1">
                        <a:spcAft>
                          <a:spcPts val="0"/>
                        </a:spcAft>
                      </a:pPr>
                      <a:r>
                        <a:rPr lang="zh-CN" sz="1400" kern="100" dirty="0">
                          <a:solidFill>
                            <a:srgbClr val="000000"/>
                          </a:solidFill>
                          <a:latin typeface="Times New Roman"/>
                          <a:ea typeface="宋体"/>
                          <a:cs typeface="Times New Roman"/>
                        </a:rPr>
                        <a:t>　</a:t>
                      </a:r>
                      <a:endParaRPr lang="zh-CN" sz="1400" kern="100" dirty="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algn="ctr" fontAlgn="auto" hangingPunct="1">
                        <a:spcAft>
                          <a:spcPts val="0"/>
                        </a:spcAft>
                      </a:pPr>
                      <a:r>
                        <a:rPr lang="zh-CN" sz="1400" kern="100">
                          <a:solidFill>
                            <a:srgbClr val="000000"/>
                          </a:solidFill>
                          <a:latin typeface="Times New Roman"/>
                          <a:ea typeface="宋体"/>
                          <a:cs typeface="Times New Roman"/>
                        </a:rPr>
                        <a:t>　</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extLst>
                  <a:ext uri="{0D108BD9-81ED-4DB2-BD59-A6C34878D82A}">
                    <a16:rowId xmlns:a16="http://schemas.microsoft.com/office/drawing/2014/main" val="10004"/>
                  </a:ext>
                </a:extLst>
              </a:tr>
              <a:tr h="271166">
                <a:tc>
                  <a:txBody>
                    <a:bodyPr/>
                    <a:lstStyle/>
                    <a:p>
                      <a:pPr algn="ctr" fontAlgn="auto" hangingPunct="1">
                        <a:spcAft>
                          <a:spcPts val="0"/>
                        </a:spcAft>
                      </a:pPr>
                      <a:r>
                        <a:rPr lang="en-US" sz="1400" kern="100">
                          <a:solidFill>
                            <a:srgbClr val="000000"/>
                          </a:solidFill>
                          <a:latin typeface="Times New Roman"/>
                          <a:ea typeface="宋体"/>
                          <a:cs typeface="Times New Roman"/>
                        </a:rPr>
                        <a:t>1500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57268</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103000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55400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268400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438428</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23.49</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71166">
                <a:tc>
                  <a:txBody>
                    <a:bodyPr/>
                    <a:lstStyle/>
                    <a:p>
                      <a:pPr algn="ctr" fontAlgn="auto" hangingPunct="1">
                        <a:spcAft>
                          <a:spcPts val="0"/>
                        </a:spcAft>
                      </a:pPr>
                      <a:r>
                        <a:rPr lang="en-US" sz="1400" kern="100">
                          <a:solidFill>
                            <a:srgbClr val="000000"/>
                          </a:solidFill>
                          <a:latin typeface="Times New Roman"/>
                          <a:ea typeface="宋体"/>
                          <a:cs typeface="Times New Roman"/>
                        </a:rPr>
                        <a:t>1600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73778</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160000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65000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360000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556148</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dirty="0">
                          <a:solidFill>
                            <a:srgbClr val="000000"/>
                          </a:solidFill>
                          <a:latin typeface="Times New Roman"/>
                          <a:ea typeface="宋体"/>
                          <a:cs typeface="Times New Roman"/>
                        </a:rPr>
                        <a:t>28.77</a:t>
                      </a:r>
                      <a:endParaRPr lang="zh-CN" sz="1400" kern="100" dirty="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71166">
                <a:tc>
                  <a:txBody>
                    <a:bodyPr/>
                    <a:lstStyle/>
                    <a:p>
                      <a:pPr algn="ctr" fontAlgn="auto" hangingPunct="1">
                        <a:spcAft>
                          <a:spcPts val="0"/>
                        </a:spcAft>
                      </a:pPr>
                      <a:r>
                        <a:rPr lang="en-US" sz="1400" kern="100">
                          <a:solidFill>
                            <a:srgbClr val="000000"/>
                          </a:solidFill>
                          <a:latin typeface="Times New Roman"/>
                          <a:ea typeface="宋体"/>
                          <a:cs typeface="Times New Roman"/>
                        </a:rPr>
                        <a:t>1700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81460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138000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dirty="0">
                          <a:solidFill>
                            <a:srgbClr val="000000"/>
                          </a:solidFill>
                          <a:latin typeface="Times New Roman"/>
                          <a:ea typeface="宋体"/>
                          <a:cs typeface="Times New Roman"/>
                        </a:rPr>
                        <a:t>71800</a:t>
                      </a:r>
                      <a:endParaRPr lang="zh-CN" sz="1400" kern="100" dirty="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374800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603490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22.87</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71166">
                <a:tc>
                  <a:txBody>
                    <a:bodyPr/>
                    <a:lstStyle/>
                    <a:p>
                      <a:pPr algn="ctr" fontAlgn="auto" hangingPunct="1">
                        <a:spcAft>
                          <a:spcPts val="0"/>
                        </a:spcAft>
                      </a:pPr>
                      <a:r>
                        <a:rPr lang="en-US" sz="1400" kern="100">
                          <a:solidFill>
                            <a:srgbClr val="000000"/>
                          </a:solidFill>
                          <a:latin typeface="Times New Roman"/>
                          <a:ea typeface="宋体"/>
                          <a:cs typeface="Times New Roman"/>
                        </a:rPr>
                        <a:t>1820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133040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381000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89400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dirty="0">
                          <a:solidFill>
                            <a:srgbClr val="000000"/>
                          </a:solidFill>
                          <a:latin typeface="Times New Roman"/>
                          <a:ea typeface="宋体"/>
                          <a:cs typeface="Times New Roman"/>
                        </a:rPr>
                        <a:t>679400</a:t>
                      </a:r>
                      <a:endParaRPr lang="zh-CN" sz="1400" kern="100" dirty="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1041834</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36.57</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71166">
                <a:tc>
                  <a:txBody>
                    <a:bodyPr/>
                    <a:lstStyle/>
                    <a:p>
                      <a:pPr algn="ctr" fontAlgn="auto" hangingPunct="1">
                        <a:spcAft>
                          <a:spcPts val="0"/>
                        </a:spcAft>
                      </a:pPr>
                      <a:r>
                        <a:rPr lang="en-US" sz="1400" kern="100">
                          <a:solidFill>
                            <a:srgbClr val="000000"/>
                          </a:solidFill>
                          <a:latin typeface="Times New Roman"/>
                          <a:ea typeface="宋体"/>
                          <a:cs typeface="Times New Roman"/>
                        </a:rPr>
                        <a:t>1870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187504</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358000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119792</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dirty="0">
                          <a:solidFill>
                            <a:srgbClr val="000000"/>
                          </a:solidFill>
                          <a:latin typeface="Times New Roman"/>
                          <a:ea typeface="宋体"/>
                          <a:cs typeface="Times New Roman"/>
                        </a:rPr>
                        <a:t>730792</a:t>
                      </a:r>
                      <a:endParaRPr lang="zh-CN" sz="1400" kern="100" dirty="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1271915</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28.15</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71166">
                <a:tc>
                  <a:txBody>
                    <a:bodyPr/>
                    <a:lstStyle/>
                    <a:p>
                      <a:pPr algn="ctr" fontAlgn="auto" hangingPunct="1">
                        <a:spcAft>
                          <a:spcPts val="0"/>
                        </a:spcAft>
                      </a:pPr>
                      <a:r>
                        <a:rPr lang="en-US" sz="1400" kern="100">
                          <a:solidFill>
                            <a:srgbClr val="000000"/>
                          </a:solidFill>
                          <a:latin typeface="Times New Roman"/>
                          <a:ea typeface="宋体"/>
                          <a:cs typeface="Times New Roman"/>
                        </a:rPr>
                        <a:t>1913</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260975</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437140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184849</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925689</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1791091</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dirty="0">
                          <a:solidFill>
                            <a:srgbClr val="000000"/>
                          </a:solidFill>
                          <a:latin typeface="Times New Roman"/>
                          <a:ea typeface="宋体"/>
                          <a:cs typeface="Times New Roman"/>
                        </a:rPr>
                        <a:t>24.41</a:t>
                      </a:r>
                      <a:endParaRPr lang="zh-CN" sz="1400" kern="100" dirty="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71166">
                <a:tc>
                  <a:txBody>
                    <a:bodyPr/>
                    <a:lstStyle/>
                    <a:p>
                      <a:pPr algn="ctr" fontAlgn="auto" hangingPunct="1">
                        <a:spcAft>
                          <a:spcPts val="0"/>
                        </a:spcAft>
                      </a:pPr>
                      <a:r>
                        <a:rPr lang="en-US" sz="1400" kern="100">
                          <a:solidFill>
                            <a:srgbClr val="000000"/>
                          </a:solidFill>
                          <a:latin typeface="Times New Roman"/>
                          <a:ea typeface="宋体"/>
                          <a:cs typeface="Times New Roman"/>
                        </a:rPr>
                        <a:t>1950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304941</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546815</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392827</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1298642</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dirty="0">
                          <a:solidFill>
                            <a:srgbClr val="000000"/>
                          </a:solidFill>
                          <a:latin typeface="Times New Roman"/>
                          <a:ea typeface="宋体"/>
                          <a:cs typeface="Times New Roman"/>
                        </a:rPr>
                        <a:t>2524324</a:t>
                      </a:r>
                      <a:endParaRPr lang="zh-CN" sz="1400" kern="100" dirty="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21.66</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71166">
                <a:tc>
                  <a:txBody>
                    <a:bodyPr/>
                    <a:lstStyle/>
                    <a:p>
                      <a:pPr algn="ctr" fontAlgn="auto" hangingPunct="1">
                        <a:spcAft>
                          <a:spcPts val="0"/>
                        </a:spcAft>
                      </a:pPr>
                      <a:r>
                        <a:rPr lang="en-US" sz="1400" kern="100">
                          <a:solidFill>
                            <a:srgbClr val="000000"/>
                          </a:solidFill>
                          <a:latin typeface="Times New Roman"/>
                          <a:ea typeface="宋体"/>
                          <a:cs typeface="Times New Roman"/>
                        </a:rPr>
                        <a:t>1973</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358825</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881940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677613</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2139553</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dirty="0">
                          <a:solidFill>
                            <a:srgbClr val="000000"/>
                          </a:solidFill>
                          <a:latin typeface="Times New Roman"/>
                          <a:ea typeface="宋体"/>
                          <a:cs typeface="Times New Roman"/>
                        </a:rPr>
                        <a:t>3916489</a:t>
                      </a:r>
                      <a:endParaRPr lang="zh-CN" sz="1400" kern="100" dirty="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22.52</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71166">
                <a:tc>
                  <a:txBody>
                    <a:bodyPr/>
                    <a:lstStyle/>
                    <a:p>
                      <a:pPr algn="ctr" fontAlgn="auto" hangingPunct="1">
                        <a:spcAft>
                          <a:spcPts val="0"/>
                        </a:spcAft>
                      </a:pPr>
                      <a:r>
                        <a:rPr lang="en-US" sz="1400" kern="100">
                          <a:solidFill>
                            <a:srgbClr val="000000"/>
                          </a:solidFill>
                          <a:latin typeface="Times New Roman"/>
                          <a:ea typeface="宋体"/>
                          <a:cs typeface="Times New Roman"/>
                        </a:rPr>
                        <a:t>2001</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392101</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1275392</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1227630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3526612</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6149006</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dirty="0">
                          <a:solidFill>
                            <a:srgbClr val="000000"/>
                          </a:solidFill>
                          <a:latin typeface="Times New Roman"/>
                          <a:ea typeface="宋体"/>
                          <a:cs typeface="Times New Roman"/>
                        </a:rPr>
                        <a:t>20.74</a:t>
                      </a:r>
                      <a:endParaRPr lang="zh-CN" sz="1400" kern="100" dirty="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71166">
                <a:tc>
                  <a:txBody>
                    <a:bodyPr/>
                    <a:lstStyle/>
                    <a:p>
                      <a:pPr algn="ctr" fontAlgn="auto" hangingPunct="1">
                        <a:spcAft>
                          <a:spcPts val="0"/>
                        </a:spcAft>
                      </a:pPr>
                      <a:r>
                        <a:rPr lang="en-US" sz="1400" kern="100">
                          <a:solidFill>
                            <a:srgbClr val="000000"/>
                          </a:solidFill>
                          <a:latin typeface="Times New Roman"/>
                          <a:ea typeface="宋体"/>
                          <a:cs typeface="Times New Roman"/>
                        </a:rPr>
                        <a:t>2007</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zh-CN" sz="1400" kern="100">
                          <a:solidFill>
                            <a:srgbClr val="000000"/>
                          </a:solidFill>
                          <a:latin typeface="Times New Roman"/>
                          <a:ea typeface="宋体"/>
                          <a:cs typeface="Times New Roman"/>
                        </a:rPr>
                        <a:t>　</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1318000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1560100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4010000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a:solidFill>
                            <a:srgbClr val="000000"/>
                          </a:solidFill>
                          <a:latin typeface="Times New Roman"/>
                          <a:ea typeface="宋体"/>
                          <a:cs typeface="Times New Roman"/>
                        </a:rPr>
                        <a:t>6625000</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auto" hangingPunct="1">
                        <a:spcAft>
                          <a:spcPts val="0"/>
                        </a:spcAft>
                      </a:pPr>
                      <a:r>
                        <a:rPr lang="en-US" sz="1400" kern="100" dirty="0">
                          <a:solidFill>
                            <a:srgbClr val="000000"/>
                          </a:solidFill>
                          <a:latin typeface="Times New Roman"/>
                          <a:ea typeface="宋体"/>
                          <a:cs typeface="Times New Roman"/>
                        </a:rPr>
                        <a:t>19.89</a:t>
                      </a:r>
                      <a:endParaRPr lang="zh-CN" sz="1400" kern="100" dirty="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271166">
                <a:tc>
                  <a:txBody>
                    <a:bodyPr/>
                    <a:lstStyle/>
                    <a:p>
                      <a:pPr algn="ctr" fontAlgn="auto" hangingPunct="1">
                        <a:spcAft>
                          <a:spcPts val="0"/>
                        </a:spcAft>
                      </a:pPr>
                      <a:r>
                        <a:rPr lang="en-US" sz="1400" kern="100">
                          <a:solidFill>
                            <a:srgbClr val="000000"/>
                          </a:solidFill>
                          <a:latin typeface="Times New Roman"/>
                          <a:ea typeface="宋体"/>
                          <a:cs typeface="Times New Roman"/>
                        </a:rPr>
                        <a:t>2008</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fontAlgn="auto" hangingPunct="1">
                        <a:spcAft>
                          <a:spcPts val="0"/>
                        </a:spcAft>
                      </a:pPr>
                      <a:r>
                        <a:rPr lang="zh-CN" sz="1400" kern="100">
                          <a:solidFill>
                            <a:srgbClr val="000000"/>
                          </a:solidFill>
                          <a:latin typeface="Times New Roman"/>
                          <a:ea typeface="宋体"/>
                          <a:cs typeface="Times New Roman"/>
                        </a:rPr>
                        <a:t>　</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fontAlgn="auto" hangingPunct="1">
                        <a:spcAft>
                          <a:spcPts val="0"/>
                        </a:spcAft>
                      </a:pPr>
                      <a:r>
                        <a:rPr lang="en-US" sz="1400" kern="100">
                          <a:solidFill>
                            <a:srgbClr val="000000"/>
                          </a:solidFill>
                          <a:latin typeface="Times New Roman"/>
                          <a:ea typeface="宋体"/>
                          <a:cs typeface="Times New Roman"/>
                        </a:rPr>
                        <a:t>1324655</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fontAlgn="auto" hangingPunct="1">
                        <a:spcAft>
                          <a:spcPts val="0"/>
                        </a:spcAft>
                      </a:pPr>
                      <a:r>
                        <a:rPr lang="zh-CN" sz="1400" kern="100">
                          <a:solidFill>
                            <a:srgbClr val="000000"/>
                          </a:solidFill>
                          <a:latin typeface="Times New Roman"/>
                          <a:ea typeface="宋体"/>
                          <a:cs typeface="Times New Roman"/>
                        </a:rPr>
                        <a:t>　</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fontAlgn="auto" hangingPunct="1">
                        <a:spcAft>
                          <a:spcPts val="0"/>
                        </a:spcAft>
                      </a:pPr>
                      <a:r>
                        <a:rPr lang="zh-CN" sz="1400" kern="100">
                          <a:solidFill>
                            <a:srgbClr val="000000"/>
                          </a:solidFill>
                          <a:latin typeface="Times New Roman"/>
                          <a:ea typeface="宋体"/>
                          <a:cs typeface="Times New Roman"/>
                        </a:rPr>
                        <a:t>　</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fontAlgn="auto" hangingPunct="1">
                        <a:spcAft>
                          <a:spcPts val="0"/>
                        </a:spcAft>
                      </a:pPr>
                      <a:r>
                        <a:rPr lang="en-US" sz="1400" kern="100">
                          <a:solidFill>
                            <a:srgbClr val="000000"/>
                          </a:solidFill>
                          <a:latin typeface="Times New Roman"/>
                          <a:ea typeface="宋体"/>
                          <a:cs typeface="Times New Roman"/>
                        </a:rPr>
                        <a:t>6697254</a:t>
                      </a:r>
                      <a:endParaRPr lang="zh-CN" sz="1400" kern="10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fontAlgn="auto" hangingPunct="1">
                        <a:spcAft>
                          <a:spcPts val="0"/>
                        </a:spcAft>
                      </a:pPr>
                      <a:r>
                        <a:rPr lang="en-US" sz="1400" kern="100" dirty="0">
                          <a:solidFill>
                            <a:srgbClr val="000000"/>
                          </a:solidFill>
                          <a:latin typeface="Times New Roman"/>
                          <a:ea typeface="宋体"/>
                          <a:cs typeface="Times New Roman"/>
                        </a:rPr>
                        <a:t>19.78</a:t>
                      </a:r>
                      <a:endParaRPr lang="zh-CN" sz="1400" kern="100" dirty="0">
                        <a:latin typeface="Times New Roman"/>
                        <a:ea typeface="宋体"/>
                        <a:cs typeface="Times New Roman"/>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0015"/>
                  </a:ext>
                </a:extLst>
              </a:tr>
            </a:tbl>
          </a:graphicData>
        </a:graphic>
      </p:graphicFrame>
      <p:sp>
        <p:nvSpPr>
          <p:cNvPr id="16525" name="TextBox 9"/>
          <p:cNvSpPr txBox="1">
            <a:spLocks noChangeArrowheads="1"/>
          </p:cNvSpPr>
          <p:nvPr/>
        </p:nvSpPr>
        <p:spPr bwMode="auto">
          <a:xfrm>
            <a:off x="7380288" y="1052513"/>
            <a:ext cx="15128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a:t>(Unit:1000s)</a:t>
            </a:r>
            <a:endParaRPr lang="zh-CN" altLang="en-US" sz="1800"/>
          </a:p>
        </p:txBody>
      </p:sp>
      <p:sp>
        <p:nvSpPr>
          <p:cNvPr id="16526" name="矩形 10"/>
          <p:cNvSpPr>
            <a:spLocks noChangeArrowheads="1"/>
          </p:cNvSpPr>
          <p:nvPr/>
        </p:nvSpPr>
        <p:spPr bwMode="auto">
          <a:xfrm>
            <a:off x="827088" y="6237288"/>
            <a:ext cx="80660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r>
              <a:rPr lang="en-US" altLang="zh-CN" sz="1200"/>
              <a:t>Sources: Maddison, Angus; </a:t>
            </a:r>
          </a:p>
          <a:p>
            <a:pPr algn="r" eaLnBrk="1" hangingPunct="1">
              <a:spcBef>
                <a:spcPct val="0"/>
              </a:spcBef>
              <a:buFontTx/>
              <a:buNone/>
            </a:pPr>
            <a:r>
              <a:rPr lang="en-US" altLang="zh-CN" sz="1200"/>
              <a:t>The World Economy: A Millennial Perspective Table 1–8a.</a:t>
            </a:r>
            <a:endParaRPr lang="zh-CN" altLang="zh-CN" sz="12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页脚占位符 3"/>
          <p:cNvSpPr>
            <a:spLocks noGrp="1"/>
          </p:cNvSpPr>
          <p:nvPr>
            <p:ph type="ftr" sz="quarter" idx="11"/>
          </p:nvPr>
        </p:nvSpPr>
        <p:spPr>
          <a:xfrm>
            <a:off x="215900" y="5589588"/>
            <a:ext cx="8677275" cy="3968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l">
              <a:spcBef>
                <a:spcPct val="0"/>
              </a:spcBef>
              <a:buFontTx/>
              <a:buNone/>
            </a:pPr>
            <a:r>
              <a:rPr lang="en-US" altLang="zh-CN" sz="1400"/>
              <a:t>Data sources: World Population Prospects. The 2010 revision .United Nations Population Division</a:t>
            </a:r>
          </a:p>
        </p:txBody>
      </p:sp>
      <p:sp>
        <p:nvSpPr>
          <p:cNvPr id="17411" name="Rectangle 2"/>
          <p:cNvSpPr>
            <a:spLocks noGrp="1" noChangeArrowheads="1"/>
          </p:cNvSpPr>
          <p:nvPr>
            <p:ph type="title"/>
          </p:nvPr>
        </p:nvSpPr>
        <p:spPr>
          <a:xfrm>
            <a:off x="0" y="0"/>
            <a:ext cx="8763000" cy="908050"/>
          </a:xfrm>
        </p:spPr>
        <p:txBody>
          <a:bodyPr/>
          <a:lstStyle/>
          <a:p>
            <a:r>
              <a:rPr lang="en-US" altLang="zh-CN" sz="2000"/>
              <a:t>Proportion of the Population Age 65 or over</a:t>
            </a:r>
            <a:r>
              <a:rPr lang="zh-CN" altLang="en-US" sz="2000"/>
              <a:t> </a:t>
            </a:r>
            <a:r>
              <a:rPr lang="en-US" altLang="zh-CN" sz="2000"/>
              <a:t>(1950-2100)</a:t>
            </a:r>
            <a:endParaRPr lang="zh-CN" altLang="en-US" sz="2000"/>
          </a:p>
        </p:txBody>
      </p:sp>
      <p:graphicFrame>
        <p:nvGraphicFramePr>
          <p:cNvPr id="6" name="表格 5">
            <a:extLst>
              <a:ext uri="{FF2B5EF4-FFF2-40B4-BE49-F238E27FC236}">
                <a16:creationId xmlns:a16="http://schemas.microsoft.com/office/drawing/2014/main" id="{5C40471E-E24E-4A71-A2DF-86118499829E}"/>
              </a:ext>
            </a:extLst>
          </p:cNvPr>
          <p:cNvGraphicFramePr>
            <a:graphicFrameLocks noGrp="1"/>
          </p:cNvGraphicFramePr>
          <p:nvPr/>
        </p:nvGraphicFramePr>
        <p:xfrm>
          <a:off x="323850" y="844550"/>
          <a:ext cx="8569325" cy="4098928"/>
        </p:xfrm>
        <a:graphic>
          <a:graphicData uri="http://schemas.openxmlformats.org/drawingml/2006/table">
            <a:tbl>
              <a:tblPr/>
              <a:tblGrid>
                <a:gridCol w="1009667">
                  <a:extLst>
                    <a:ext uri="{9D8B030D-6E8A-4147-A177-3AD203B41FA5}">
                      <a16:colId xmlns:a16="http://schemas.microsoft.com/office/drawing/2014/main" val="20000"/>
                    </a:ext>
                  </a:extLst>
                </a:gridCol>
                <a:gridCol w="1259943">
                  <a:extLst>
                    <a:ext uri="{9D8B030D-6E8A-4147-A177-3AD203B41FA5}">
                      <a16:colId xmlns:a16="http://schemas.microsoft.com/office/drawing/2014/main" val="20001"/>
                    </a:ext>
                  </a:extLst>
                </a:gridCol>
                <a:gridCol w="1259943">
                  <a:extLst>
                    <a:ext uri="{9D8B030D-6E8A-4147-A177-3AD203B41FA5}">
                      <a16:colId xmlns:a16="http://schemas.microsoft.com/office/drawing/2014/main" val="20002"/>
                    </a:ext>
                  </a:extLst>
                </a:gridCol>
                <a:gridCol w="1259943">
                  <a:extLst>
                    <a:ext uri="{9D8B030D-6E8A-4147-A177-3AD203B41FA5}">
                      <a16:colId xmlns:a16="http://schemas.microsoft.com/office/drawing/2014/main" val="20003"/>
                    </a:ext>
                  </a:extLst>
                </a:gridCol>
                <a:gridCol w="1259943">
                  <a:extLst>
                    <a:ext uri="{9D8B030D-6E8A-4147-A177-3AD203B41FA5}">
                      <a16:colId xmlns:a16="http://schemas.microsoft.com/office/drawing/2014/main" val="20004"/>
                    </a:ext>
                  </a:extLst>
                </a:gridCol>
                <a:gridCol w="1259943">
                  <a:extLst>
                    <a:ext uri="{9D8B030D-6E8A-4147-A177-3AD203B41FA5}">
                      <a16:colId xmlns:a16="http://schemas.microsoft.com/office/drawing/2014/main" val="20005"/>
                    </a:ext>
                  </a:extLst>
                </a:gridCol>
                <a:gridCol w="1259943">
                  <a:extLst>
                    <a:ext uri="{9D8B030D-6E8A-4147-A177-3AD203B41FA5}">
                      <a16:colId xmlns:a16="http://schemas.microsoft.com/office/drawing/2014/main" val="20006"/>
                    </a:ext>
                  </a:extLst>
                </a:gridCol>
              </a:tblGrid>
              <a:tr h="213369">
                <a:tc>
                  <a:txBody>
                    <a:bodyPr/>
                    <a:lstStyle/>
                    <a:p>
                      <a:pPr algn="ctr" hangingPunct="0">
                        <a:spcAft>
                          <a:spcPts val="0"/>
                        </a:spcAft>
                      </a:pPr>
                      <a:endParaRPr lang="en-US" sz="1400" b="1" kern="100" dirty="0">
                        <a:latin typeface="Times New Roman"/>
                        <a:ea typeface="宋体"/>
                        <a:cs typeface="Times New Roman"/>
                      </a:endParaRPr>
                    </a:p>
                  </a:txBody>
                  <a:tcPr marL="51764" marR="517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altLang="zh-CN" sz="1400" b="1" kern="100" dirty="0">
                          <a:latin typeface="Times New Roman"/>
                          <a:ea typeface="宋体"/>
                          <a:cs typeface="Times New Roman"/>
                        </a:rPr>
                        <a:t>China</a:t>
                      </a:r>
                      <a:endParaRPr lang="en-US" sz="1400" b="1" kern="100" dirty="0">
                        <a:latin typeface="Times New Roman"/>
                        <a:ea typeface="宋体"/>
                        <a:cs typeface="Times New Roman"/>
                      </a:endParaRPr>
                    </a:p>
                  </a:txBody>
                  <a:tcPr marL="51764" marR="517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altLang="zh-CN" sz="1400" b="1" kern="100" dirty="0">
                          <a:latin typeface="Times New Roman"/>
                          <a:ea typeface="宋体"/>
                          <a:cs typeface="Times New Roman"/>
                        </a:rPr>
                        <a:t>India</a:t>
                      </a:r>
                      <a:endParaRPr lang="en-US" sz="1400" b="1" kern="100" dirty="0">
                        <a:latin typeface="Times New Roman"/>
                        <a:ea typeface="宋体"/>
                        <a:cs typeface="Times New Roman"/>
                      </a:endParaRPr>
                    </a:p>
                  </a:txBody>
                  <a:tcPr marL="51764" marR="517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altLang="zh-CN" sz="1400" b="1" kern="100" dirty="0">
                          <a:latin typeface="Times New Roman"/>
                          <a:ea typeface="宋体"/>
                          <a:cs typeface="Times New Roman"/>
                        </a:rPr>
                        <a:t>Japan</a:t>
                      </a:r>
                      <a:endParaRPr lang="en-US" sz="1400" b="1" kern="100" dirty="0">
                        <a:latin typeface="Times New Roman"/>
                        <a:ea typeface="宋体"/>
                        <a:cs typeface="Times New Roman"/>
                      </a:endParaRPr>
                    </a:p>
                  </a:txBody>
                  <a:tcPr marL="51764" marR="517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altLang="zh-CN" sz="1400" b="1" kern="100" dirty="0">
                          <a:latin typeface="Times New Roman"/>
                          <a:ea typeface="宋体"/>
                          <a:cs typeface="Times New Roman"/>
                        </a:rPr>
                        <a:t>UK</a:t>
                      </a:r>
                      <a:endParaRPr lang="en-US" sz="1400" b="1" kern="100" dirty="0">
                        <a:latin typeface="Times New Roman"/>
                        <a:ea typeface="宋体"/>
                        <a:cs typeface="Times New Roman"/>
                      </a:endParaRPr>
                    </a:p>
                  </a:txBody>
                  <a:tcPr marL="51764" marR="517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altLang="zh-CN" sz="1400" b="1" kern="100" dirty="0">
                          <a:latin typeface="Times New Roman"/>
                          <a:ea typeface="宋体"/>
                          <a:cs typeface="Times New Roman"/>
                        </a:rPr>
                        <a:t>USA</a:t>
                      </a:r>
                      <a:endParaRPr lang="en-US" sz="1400" b="1" kern="100" dirty="0">
                        <a:latin typeface="Times New Roman"/>
                        <a:ea typeface="宋体"/>
                        <a:cs typeface="Times New Roman"/>
                      </a:endParaRPr>
                    </a:p>
                  </a:txBody>
                  <a:tcPr marL="51764" marR="517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latin typeface="Times New Roman"/>
                          <a:ea typeface="宋体"/>
                          <a:cs typeface="Times New Roman"/>
                        </a:rPr>
                        <a:t>Russia</a:t>
                      </a:r>
                    </a:p>
                  </a:txBody>
                  <a:tcPr marL="51764" marR="517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58286">
                <a:tc>
                  <a:txBody>
                    <a:bodyPr/>
                    <a:lstStyle/>
                    <a:p>
                      <a:pPr algn="ctr" hangingPunct="0">
                        <a:spcAft>
                          <a:spcPts val="0"/>
                        </a:spcAft>
                      </a:pPr>
                      <a:r>
                        <a:rPr lang="en-US" sz="1400" b="1" kern="100" dirty="0">
                          <a:latin typeface="Times New Roman"/>
                          <a:ea typeface="宋体"/>
                          <a:cs typeface="Times New Roman"/>
                        </a:rPr>
                        <a:t>1950</a:t>
                      </a:r>
                      <a:endParaRPr lang="zh-CN" sz="1400" b="1" kern="100" dirty="0">
                        <a:latin typeface="Times New Roman"/>
                        <a:ea typeface="宋体"/>
                        <a:cs typeface="Times New Roman"/>
                      </a:endParaRPr>
                    </a:p>
                  </a:txBody>
                  <a:tcPr marL="51764" marR="517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4.512</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3.137</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4.947</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10.832</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8.265</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6.186</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13369">
                <a:tc>
                  <a:txBody>
                    <a:bodyPr/>
                    <a:lstStyle/>
                    <a:p>
                      <a:pPr algn="ctr" hangingPunct="0">
                        <a:spcAft>
                          <a:spcPts val="0"/>
                        </a:spcAft>
                      </a:pPr>
                      <a:r>
                        <a:rPr lang="en-US" sz="1400" b="1" kern="100" dirty="0">
                          <a:latin typeface="Times New Roman"/>
                          <a:ea typeface="宋体"/>
                          <a:cs typeface="Times New Roman"/>
                        </a:rPr>
                        <a:t>1970</a:t>
                      </a:r>
                      <a:endParaRPr lang="zh-CN" sz="1400" b="1" kern="100" dirty="0">
                        <a:latin typeface="Times New Roman"/>
                        <a:ea typeface="宋体"/>
                        <a:cs typeface="Times New Roman"/>
                      </a:endParaRPr>
                    </a:p>
                  </a:txBody>
                  <a:tcPr marL="51764" marR="517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4.025</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3.251</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7.032</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13.028</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9.836</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7.689</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13369">
                <a:tc>
                  <a:txBody>
                    <a:bodyPr/>
                    <a:lstStyle/>
                    <a:p>
                      <a:pPr algn="ctr" hangingPunct="0">
                        <a:spcAft>
                          <a:spcPts val="0"/>
                        </a:spcAft>
                      </a:pPr>
                      <a:r>
                        <a:rPr lang="en-US" sz="1400" b="1" kern="100" dirty="0">
                          <a:latin typeface="Times New Roman"/>
                          <a:ea typeface="宋体"/>
                          <a:cs typeface="Times New Roman"/>
                        </a:rPr>
                        <a:t>1990</a:t>
                      </a:r>
                      <a:endParaRPr lang="zh-CN" sz="1400" b="1" kern="100" dirty="0">
                        <a:latin typeface="Times New Roman"/>
                        <a:ea typeface="宋体"/>
                        <a:cs typeface="Times New Roman"/>
                      </a:endParaRPr>
                    </a:p>
                  </a:txBody>
                  <a:tcPr marL="51764" marR="517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5.942</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3.786</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11.948</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15.703</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12.489</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10.200</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13369">
                <a:tc>
                  <a:txBody>
                    <a:bodyPr/>
                    <a:lstStyle/>
                    <a:p>
                      <a:pPr algn="ctr" hangingPunct="0">
                        <a:spcAft>
                          <a:spcPts val="0"/>
                        </a:spcAft>
                      </a:pPr>
                      <a:r>
                        <a:rPr lang="en-US" sz="1400" b="1" kern="100" dirty="0">
                          <a:latin typeface="Times New Roman"/>
                          <a:ea typeface="宋体"/>
                          <a:cs typeface="Times New Roman"/>
                        </a:rPr>
                        <a:t>2000</a:t>
                      </a:r>
                      <a:endParaRPr lang="zh-CN" sz="1400" b="1" kern="100" dirty="0">
                        <a:latin typeface="Times New Roman"/>
                        <a:ea typeface="宋体"/>
                        <a:cs typeface="Times New Roman"/>
                      </a:endParaRPr>
                    </a:p>
                  </a:txBody>
                  <a:tcPr marL="51764" marR="517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7.006</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4.230</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17.182</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15.810</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12.380</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12.407</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13369">
                <a:tc>
                  <a:txBody>
                    <a:bodyPr/>
                    <a:lstStyle/>
                    <a:p>
                      <a:pPr algn="ctr" hangingPunct="0">
                        <a:spcAft>
                          <a:spcPts val="0"/>
                        </a:spcAft>
                      </a:pPr>
                      <a:r>
                        <a:rPr lang="en-US" sz="1400" b="1" kern="100" dirty="0">
                          <a:latin typeface="Times New Roman"/>
                          <a:ea typeface="宋体"/>
                          <a:cs typeface="Times New Roman"/>
                        </a:rPr>
                        <a:t>2010</a:t>
                      </a:r>
                      <a:endParaRPr lang="zh-CN" sz="1400" b="1" kern="100" dirty="0">
                        <a:latin typeface="Times New Roman"/>
                        <a:ea typeface="宋体"/>
                        <a:cs typeface="Times New Roman"/>
                      </a:endParaRPr>
                    </a:p>
                  </a:txBody>
                  <a:tcPr marL="51764" marR="517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8.189</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4.922</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22.687</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16.588</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13.059</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12.799</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13369">
                <a:tc>
                  <a:txBody>
                    <a:bodyPr/>
                    <a:lstStyle/>
                    <a:p>
                      <a:pPr algn="ctr" hangingPunct="0">
                        <a:spcAft>
                          <a:spcPts val="0"/>
                        </a:spcAft>
                      </a:pPr>
                      <a:r>
                        <a:rPr lang="en-US" sz="1400" b="1" kern="100" dirty="0">
                          <a:solidFill>
                            <a:srgbClr val="FF0000"/>
                          </a:solidFill>
                          <a:latin typeface="Times New Roman"/>
                          <a:ea typeface="宋体"/>
                          <a:cs typeface="Times New Roman"/>
                        </a:rPr>
                        <a:t>2020</a:t>
                      </a:r>
                      <a:endParaRPr lang="zh-CN" sz="1400" b="1" kern="100" dirty="0">
                        <a:solidFill>
                          <a:srgbClr val="FF0000"/>
                        </a:solidFill>
                        <a:latin typeface="Times New Roman"/>
                        <a:ea typeface="宋体"/>
                        <a:cs typeface="Times New Roman"/>
                      </a:endParaRPr>
                    </a:p>
                  </a:txBody>
                  <a:tcPr marL="51764" marR="517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FF0000"/>
                          </a:solidFill>
                          <a:latin typeface="Times New Roman"/>
                          <a:ea typeface="宋体"/>
                          <a:cs typeface="Times New Roman"/>
                        </a:rPr>
                        <a:t>11.992</a:t>
                      </a:r>
                      <a:endParaRPr lang="zh-CN" sz="1400" b="1" kern="100" dirty="0">
                        <a:solidFill>
                          <a:srgbClr val="FF0000"/>
                        </a:solidFill>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FF0000"/>
                          </a:solidFill>
                          <a:latin typeface="Times New Roman"/>
                          <a:ea typeface="宋体"/>
                          <a:cs typeface="Times New Roman"/>
                        </a:rPr>
                        <a:t>6.306</a:t>
                      </a:r>
                      <a:endParaRPr lang="zh-CN" sz="1400" b="1" kern="100">
                        <a:solidFill>
                          <a:srgbClr val="FF0000"/>
                        </a:solidFill>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FF0000"/>
                          </a:solidFill>
                          <a:latin typeface="Times New Roman"/>
                          <a:ea typeface="宋体"/>
                          <a:cs typeface="Times New Roman"/>
                        </a:rPr>
                        <a:t>28.390</a:t>
                      </a:r>
                      <a:endParaRPr lang="zh-CN" sz="1400" b="1" kern="100" dirty="0">
                        <a:solidFill>
                          <a:srgbClr val="FF0000"/>
                        </a:solidFill>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FF0000"/>
                          </a:solidFill>
                          <a:latin typeface="Times New Roman"/>
                          <a:ea typeface="宋体"/>
                          <a:cs typeface="Times New Roman"/>
                        </a:rPr>
                        <a:t>18.713</a:t>
                      </a:r>
                      <a:endParaRPr lang="zh-CN" sz="1400" b="1" kern="100">
                        <a:solidFill>
                          <a:srgbClr val="FF0000"/>
                        </a:solidFill>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FF0000"/>
                          </a:solidFill>
                          <a:latin typeface="Times New Roman"/>
                          <a:ea typeface="宋体"/>
                          <a:cs typeface="Times New Roman"/>
                        </a:rPr>
                        <a:t>16.213</a:t>
                      </a:r>
                      <a:endParaRPr lang="zh-CN" sz="1400" b="1" kern="100">
                        <a:solidFill>
                          <a:srgbClr val="FF0000"/>
                        </a:solidFill>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FF0000"/>
                          </a:solidFill>
                          <a:latin typeface="Times New Roman"/>
                          <a:ea typeface="宋体"/>
                          <a:cs typeface="Times New Roman"/>
                        </a:rPr>
                        <a:t>15.211</a:t>
                      </a:r>
                      <a:endParaRPr lang="zh-CN" sz="1400" b="1" kern="100" dirty="0">
                        <a:solidFill>
                          <a:srgbClr val="FF0000"/>
                        </a:solidFill>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13369">
                <a:tc>
                  <a:txBody>
                    <a:bodyPr/>
                    <a:lstStyle/>
                    <a:p>
                      <a:pPr algn="ctr" hangingPunct="0">
                        <a:spcAft>
                          <a:spcPts val="0"/>
                        </a:spcAft>
                      </a:pPr>
                      <a:r>
                        <a:rPr lang="en-US" sz="1400" b="1" kern="100" dirty="0">
                          <a:latin typeface="Times New Roman"/>
                          <a:ea typeface="宋体"/>
                          <a:cs typeface="Times New Roman"/>
                        </a:rPr>
                        <a:t>2030</a:t>
                      </a:r>
                      <a:endParaRPr lang="zh-CN" sz="1400" b="1" kern="100" dirty="0">
                        <a:latin typeface="Times New Roman"/>
                        <a:ea typeface="宋体"/>
                        <a:cs typeface="Times New Roman"/>
                      </a:endParaRPr>
                    </a:p>
                  </a:txBody>
                  <a:tcPr marL="51764" marR="517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16.470</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8.271</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30.282</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21.113</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19.907</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19.137</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13369">
                <a:tc>
                  <a:txBody>
                    <a:bodyPr/>
                    <a:lstStyle/>
                    <a:p>
                      <a:pPr algn="ctr" hangingPunct="0">
                        <a:spcAft>
                          <a:spcPts val="0"/>
                        </a:spcAft>
                      </a:pPr>
                      <a:r>
                        <a:rPr lang="en-US" sz="1400" b="1" kern="100" dirty="0">
                          <a:solidFill>
                            <a:srgbClr val="FF0000"/>
                          </a:solidFill>
                          <a:latin typeface="Times New Roman"/>
                          <a:ea typeface="宋体"/>
                          <a:cs typeface="Times New Roman"/>
                        </a:rPr>
                        <a:t>2035</a:t>
                      </a:r>
                      <a:endParaRPr lang="zh-CN" sz="1400" b="1" kern="100" dirty="0">
                        <a:solidFill>
                          <a:srgbClr val="FF0000"/>
                        </a:solidFill>
                        <a:latin typeface="Times New Roman"/>
                        <a:ea typeface="宋体"/>
                        <a:cs typeface="Times New Roman"/>
                      </a:endParaRPr>
                    </a:p>
                  </a:txBody>
                  <a:tcPr marL="51764" marR="517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FF0000"/>
                          </a:solidFill>
                          <a:latin typeface="Times New Roman"/>
                          <a:ea typeface="宋体"/>
                          <a:cs typeface="Times New Roman"/>
                        </a:rPr>
                        <a:t>20.209</a:t>
                      </a:r>
                      <a:endParaRPr lang="zh-CN" sz="1400" b="1" kern="100" dirty="0">
                        <a:solidFill>
                          <a:srgbClr val="FF0000"/>
                        </a:solidFill>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FF0000"/>
                          </a:solidFill>
                          <a:latin typeface="Times New Roman"/>
                          <a:ea typeface="宋体"/>
                          <a:cs typeface="Times New Roman"/>
                        </a:rPr>
                        <a:t>9.368</a:t>
                      </a:r>
                      <a:endParaRPr lang="zh-CN" sz="1400" b="1" kern="100" dirty="0">
                        <a:solidFill>
                          <a:srgbClr val="FF0000"/>
                        </a:solidFill>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FF0000"/>
                          </a:solidFill>
                          <a:latin typeface="Times New Roman"/>
                          <a:ea typeface="宋体"/>
                          <a:cs typeface="Times New Roman"/>
                        </a:rPr>
                        <a:t>31.607</a:t>
                      </a:r>
                      <a:endParaRPr lang="zh-CN" sz="1400" b="1" kern="100" dirty="0">
                        <a:solidFill>
                          <a:srgbClr val="FF0000"/>
                        </a:solidFill>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FF0000"/>
                          </a:solidFill>
                          <a:latin typeface="Times New Roman"/>
                          <a:ea typeface="宋体"/>
                          <a:cs typeface="Times New Roman"/>
                        </a:rPr>
                        <a:t>22.429</a:t>
                      </a:r>
                      <a:endParaRPr lang="zh-CN" sz="1400" b="1" kern="100" dirty="0">
                        <a:solidFill>
                          <a:srgbClr val="FF0000"/>
                        </a:solidFill>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FF0000"/>
                          </a:solidFill>
                          <a:latin typeface="Times New Roman"/>
                          <a:ea typeface="宋体"/>
                          <a:cs typeface="Times New Roman"/>
                        </a:rPr>
                        <a:t>20.598</a:t>
                      </a:r>
                      <a:endParaRPr lang="zh-CN" sz="1400" b="1" kern="100" dirty="0">
                        <a:solidFill>
                          <a:srgbClr val="FF0000"/>
                        </a:solidFill>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FF0000"/>
                          </a:solidFill>
                          <a:latin typeface="Times New Roman"/>
                          <a:ea typeface="宋体"/>
                          <a:cs typeface="Times New Roman"/>
                        </a:rPr>
                        <a:t>19.407</a:t>
                      </a:r>
                      <a:endParaRPr lang="zh-CN" sz="1400" b="1" kern="100" dirty="0">
                        <a:solidFill>
                          <a:srgbClr val="FF0000"/>
                        </a:solidFill>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13369">
                <a:tc>
                  <a:txBody>
                    <a:bodyPr/>
                    <a:lstStyle/>
                    <a:p>
                      <a:pPr algn="ctr" hangingPunct="0">
                        <a:spcAft>
                          <a:spcPts val="0"/>
                        </a:spcAft>
                      </a:pPr>
                      <a:r>
                        <a:rPr lang="en-US" sz="1400" b="1" kern="100" dirty="0">
                          <a:latin typeface="Times New Roman"/>
                          <a:ea typeface="宋体"/>
                          <a:cs typeface="Times New Roman"/>
                        </a:rPr>
                        <a:t>2040</a:t>
                      </a:r>
                      <a:endParaRPr lang="zh-CN" sz="1400" b="1" kern="100" dirty="0">
                        <a:latin typeface="Times New Roman"/>
                        <a:ea typeface="宋体"/>
                        <a:cs typeface="Times New Roman"/>
                      </a:endParaRPr>
                    </a:p>
                  </a:txBody>
                  <a:tcPr marL="51764" marR="517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23.300</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10.545</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33.803</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23.030</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20.912</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20.117</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13369">
                <a:tc>
                  <a:txBody>
                    <a:bodyPr/>
                    <a:lstStyle/>
                    <a:p>
                      <a:pPr algn="ctr" hangingPunct="0">
                        <a:spcAft>
                          <a:spcPts val="0"/>
                        </a:spcAft>
                      </a:pPr>
                      <a:r>
                        <a:rPr lang="en-US" sz="1400" b="1" kern="100" dirty="0">
                          <a:latin typeface="Times New Roman"/>
                          <a:ea typeface="宋体"/>
                          <a:cs typeface="Times New Roman"/>
                        </a:rPr>
                        <a:t>2060</a:t>
                      </a:r>
                      <a:endParaRPr lang="zh-CN" sz="1400" b="1" kern="100" dirty="0">
                        <a:latin typeface="Times New Roman"/>
                        <a:ea typeface="宋体"/>
                        <a:cs typeface="Times New Roman"/>
                      </a:endParaRPr>
                    </a:p>
                  </a:txBody>
                  <a:tcPr marL="51764" marR="517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29.474</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16.732</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35.067</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25.104</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21.917</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24.787</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213369">
                <a:tc>
                  <a:txBody>
                    <a:bodyPr/>
                    <a:lstStyle/>
                    <a:p>
                      <a:pPr algn="ctr" hangingPunct="0">
                        <a:spcAft>
                          <a:spcPts val="0"/>
                        </a:spcAft>
                      </a:pPr>
                      <a:r>
                        <a:rPr lang="en-US" sz="1400" b="1" kern="100" dirty="0">
                          <a:latin typeface="Times New Roman"/>
                          <a:ea typeface="宋体"/>
                          <a:cs typeface="Times New Roman"/>
                        </a:rPr>
                        <a:t>2065</a:t>
                      </a:r>
                      <a:endParaRPr lang="zh-CN" sz="1400" b="1" kern="100" dirty="0">
                        <a:latin typeface="Times New Roman"/>
                        <a:ea typeface="宋体"/>
                        <a:cs typeface="Times New Roman"/>
                      </a:endParaRPr>
                    </a:p>
                  </a:txBody>
                  <a:tcPr marL="51764" marR="517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30.223</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18.212</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34.488</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25.546</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22.118</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23.391</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8"/>
                  </a:ext>
                </a:extLst>
              </a:tr>
              <a:tr h="213369">
                <a:tc>
                  <a:txBody>
                    <a:bodyPr/>
                    <a:lstStyle/>
                    <a:p>
                      <a:pPr algn="ctr" hangingPunct="0">
                        <a:spcAft>
                          <a:spcPts val="0"/>
                        </a:spcAft>
                      </a:pPr>
                      <a:r>
                        <a:rPr lang="en-US" sz="1400" b="1" kern="100" dirty="0">
                          <a:solidFill>
                            <a:srgbClr val="FF0000"/>
                          </a:solidFill>
                          <a:latin typeface="Times New Roman"/>
                          <a:ea typeface="宋体"/>
                          <a:cs typeface="Times New Roman"/>
                        </a:rPr>
                        <a:t>2070</a:t>
                      </a:r>
                      <a:endParaRPr lang="zh-CN" sz="1400" b="1" kern="100" dirty="0">
                        <a:solidFill>
                          <a:srgbClr val="FF0000"/>
                        </a:solidFill>
                        <a:latin typeface="Times New Roman"/>
                        <a:ea typeface="宋体"/>
                        <a:cs typeface="Times New Roman"/>
                      </a:endParaRPr>
                    </a:p>
                  </a:txBody>
                  <a:tcPr marL="51764" marR="517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FF0000"/>
                          </a:solidFill>
                          <a:latin typeface="Times New Roman"/>
                          <a:ea typeface="宋体"/>
                          <a:cs typeface="Times New Roman"/>
                        </a:rPr>
                        <a:t>30.241</a:t>
                      </a:r>
                      <a:endParaRPr lang="zh-CN" sz="1400" b="1" kern="100" dirty="0">
                        <a:solidFill>
                          <a:srgbClr val="FF0000"/>
                        </a:solidFill>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FF0000"/>
                          </a:solidFill>
                          <a:latin typeface="Times New Roman"/>
                          <a:ea typeface="宋体"/>
                          <a:cs typeface="Times New Roman"/>
                        </a:rPr>
                        <a:t>19.542</a:t>
                      </a:r>
                      <a:endParaRPr lang="zh-CN" sz="1400" b="1" kern="100" dirty="0">
                        <a:solidFill>
                          <a:srgbClr val="FF0000"/>
                        </a:solidFill>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FF0000"/>
                          </a:solidFill>
                          <a:latin typeface="Times New Roman"/>
                          <a:ea typeface="宋体"/>
                          <a:cs typeface="Times New Roman"/>
                        </a:rPr>
                        <a:t>33.743</a:t>
                      </a:r>
                      <a:endParaRPr lang="zh-CN" sz="1400" b="1" kern="100" dirty="0">
                        <a:solidFill>
                          <a:srgbClr val="FF0000"/>
                        </a:solidFill>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FF0000"/>
                          </a:solidFill>
                          <a:latin typeface="Times New Roman"/>
                          <a:ea typeface="宋体"/>
                          <a:cs typeface="Times New Roman"/>
                        </a:rPr>
                        <a:t>25.800</a:t>
                      </a:r>
                      <a:endParaRPr lang="zh-CN" sz="1400" b="1" kern="100" dirty="0">
                        <a:solidFill>
                          <a:srgbClr val="FF0000"/>
                        </a:solidFill>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FF0000"/>
                          </a:solidFill>
                          <a:latin typeface="Times New Roman"/>
                          <a:ea typeface="宋体"/>
                          <a:cs typeface="Times New Roman"/>
                        </a:rPr>
                        <a:t>22.598</a:t>
                      </a:r>
                      <a:endParaRPr lang="zh-CN" sz="1400" b="1" kern="100" dirty="0">
                        <a:solidFill>
                          <a:srgbClr val="FF0000"/>
                        </a:solidFill>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FF0000"/>
                          </a:solidFill>
                          <a:latin typeface="Times New Roman"/>
                          <a:ea typeface="宋体"/>
                          <a:cs typeface="Times New Roman"/>
                        </a:rPr>
                        <a:t>22.399</a:t>
                      </a:r>
                      <a:endParaRPr lang="zh-CN" sz="1400" b="1" kern="100" dirty="0">
                        <a:solidFill>
                          <a:srgbClr val="FF0000"/>
                        </a:solidFill>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213369">
                <a:tc>
                  <a:txBody>
                    <a:bodyPr/>
                    <a:lstStyle/>
                    <a:p>
                      <a:pPr algn="ctr" hangingPunct="0">
                        <a:spcAft>
                          <a:spcPts val="0"/>
                        </a:spcAft>
                      </a:pPr>
                      <a:r>
                        <a:rPr lang="en-US" sz="1400" b="1" kern="100" dirty="0">
                          <a:latin typeface="Times New Roman"/>
                          <a:ea typeface="宋体"/>
                          <a:cs typeface="Times New Roman"/>
                        </a:rPr>
                        <a:t>2075</a:t>
                      </a:r>
                      <a:endParaRPr lang="zh-CN" sz="1400" b="1" kern="100" dirty="0">
                        <a:latin typeface="Times New Roman"/>
                        <a:ea typeface="宋体"/>
                        <a:cs typeface="Times New Roman"/>
                      </a:endParaRPr>
                    </a:p>
                  </a:txBody>
                  <a:tcPr marL="51764" marR="517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30.185</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20.848</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33.017</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26.320</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23.200</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22.374</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0"/>
                  </a:ext>
                </a:extLst>
              </a:tr>
              <a:tr h="213369">
                <a:tc>
                  <a:txBody>
                    <a:bodyPr/>
                    <a:lstStyle/>
                    <a:p>
                      <a:pPr algn="ctr" hangingPunct="0">
                        <a:spcAft>
                          <a:spcPts val="0"/>
                        </a:spcAft>
                      </a:pPr>
                      <a:r>
                        <a:rPr lang="en-US" sz="1400" b="1" kern="100" dirty="0">
                          <a:latin typeface="Times New Roman"/>
                          <a:ea typeface="宋体"/>
                          <a:cs typeface="Times New Roman"/>
                        </a:rPr>
                        <a:t>2080</a:t>
                      </a:r>
                      <a:endParaRPr lang="zh-CN" sz="1400" b="1" kern="100" dirty="0">
                        <a:latin typeface="Times New Roman"/>
                        <a:ea typeface="宋体"/>
                        <a:cs typeface="Times New Roman"/>
                      </a:endParaRPr>
                    </a:p>
                  </a:txBody>
                  <a:tcPr marL="51764" marR="517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30.080</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22.048</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32.546</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26.699</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23.716</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22.830</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1"/>
                  </a:ext>
                </a:extLst>
              </a:tr>
              <a:tr h="213369">
                <a:tc>
                  <a:txBody>
                    <a:bodyPr/>
                    <a:lstStyle/>
                    <a:p>
                      <a:pPr algn="ctr" hangingPunct="0">
                        <a:spcAft>
                          <a:spcPts val="0"/>
                        </a:spcAft>
                      </a:pPr>
                      <a:r>
                        <a:rPr lang="en-US" sz="1400" b="1" kern="100" dirty="0">
                          <a:latin typeface="Times New Roman"/>
                          <a:ea typeface="宋体"/>
                          <a:cs typeface="Times New Roman"/>
                        </a:rPr>
                        <a:t>2085</a:t>
                      </a:r>
                      <a:endParaRPr lang="zh-CN" sz="1400" b="1" kern="100" dirty="0">
                        <a:latin typeface="Times New Roman"/>
                        <a:ea typeface="宋体"/>
                        <a:cs typeface="Times New Roman"/>
                      </a:endParaRPr>
                    </a:p>
                  </a:txBody>
                  <a:tcPr marL="51764" marR="517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29.670</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23.109</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32.180</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27.003</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24.254</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23.273</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2"/>
                  </a:ext>
                </a:extLst>
              </a:tr>
              <a:tr h="213369">
                <a:tc>
                  <a:txBody>
                    <a:bodyPr/>
                    <a:lstStyle/>
                    <a:p>
                      <a:pPr algn="ctr" hangingPunct="0">
                        <a:spcAft>
                          <a:spcPts val="0"/>
                        </a:spcAft>
                      </a:pPr>
                      <a:r>
                        <a:rPr lang="en-US" sz="1400" b="1" kern="100" dirty="0">
                          <a:latin typeface="Times New Roman"/>
                          <a:ea typeface="宋体"/>
                          <a:cs typeface="Times New Roman"/>
                        </a:rPr>
                        <a:t>2090</a:t>
                      </a:r>
                      <a:endParaRPr lang="zh-CN" sz="1400" b="1" kern="100" dirty="0">
                        <a:latin typeface="Times New Roman"/>
                        <a:ea typeface="宋体"/>
                        <a:cs typeface="Times New Roman"/>
                      </a:endParaRPr>
                    </a:p>
                  </a:txBody>
                  <a:tcPr marL="51764" marR="517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29.121</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24.016</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31.893</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27.279</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24.785</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23.353</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3"/>
                  </a:ext>
                </a:extLst>
              </a:tr>
              <a:tr h="213369">
                <a:tc>
                  <a:txBody>
                    <a:bodyPr/>
                    <a:lstStyle/>
                    <a:p>
                      <a:pPr algn="ctr" hangingPunct="0">
                        <a:spcAft>
                          <a:spcPts val="0"/>
                        </a:spcAft>
                      </a:pPr>
                      <a:r>
                        <a:rPr lang="en-US" sz="1400" b="1" kern="100" dirty="0">
                          <a:latin typeface="Times New Roman"/>
                          <a:ea typeface="宋体"/>
                          <a:cs typeface="Times New Roman"/>
                        </a:rPr>
                        <a:t>2095</a:t>
                      </a:r>
                      <a:endParaRPr lang="zh-CN" sz="1400" b="1" kern="100" dirty="0">
                        <a:latin typeface="Times New Roman"/>
                        <a:ea typeface="宋体"/>
                        <a:cs typeface="Times New Roman"/>
                      </a:endParaRPr>
                    </a:p>
                  </a:txBody>
                  <a:tcPr marL="51764" marR="517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28.617</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24.779</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31.700</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27.523</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25.276</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23.093</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4"/>
                  </a:ext>
                </a:extLst>
              </a:tr>
              <a:tr h="213369">
                <a:tc>
                  <a:txBody>
                    <a:bodyPr/>
                    <a:lstStyle/>
                    <a:p>
                      <a:pPr algn="ctr" hangingPunct="0">
                        <a:spcAft>
                          <a:spcPts val="0"/>
                        </a:spcAft>
                      </a:pPr>
                      <a:r>
                        <a:rPr lang="en-US" sz="1400" b="1" kern="100" dirty="0">
                          <a:latin typeface="Times New Roman"/>
                          <a:ea typeface="宋体"/>
                          <a:cs typeface="Times New Roman"/>
                        </a:rPr>
                        <a:t>2100</a:t>
                      </a:r>
                      <a:endParaRPr lang="zh-CN" sz="1400" b="1" kern="100" dirty="0">
                        <a:latin typeface="Times New Roman"/>
                        <a:ea typeface="宋体"/>
                        <a:cs typeface="Times New Roman"/>
                      </a:endParaRPr>
                    </a:p>
                  </a:txBody>
                  <a:tcPr marL="51764" marR="517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28.222</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25.423</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31.600</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27.711</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a:solidFill>
                            <a:srgbClr val="000000"/>
                          </a:solidFill>
                          <a:latin typeface="Times New Roman"/>
                          <a:ea typeface="宋体"/>
                          <a:cs typeface="Times New Roman"/>
                        </a:rPr>
                        <a:t>25.772</a:t>
                      </a:r>
                      <a:endParaRPr lang="zh-CN" sz="1400" b="1" kern="10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1400" b="1" kern="100" dirty="0">
                          <a:solidFill>
                            <a:srgbClr val="000000"/>
                          </a:solidFill>
                          <a:latin typeface="Times New Roman"/>
                          <a:ea typeface="宋体"/>
                          <a:cs typeface="Times New Roman"/>
                        </a:rPr>
                        <a:t>22.922</a:t>
                      </a:r>
                      <a:endParaRPr lang="zh-CN" sz="1400" b="1" kern="100" dirty="0">
                        <a:latin typeface="Times New Roman"/>
                        <a:ea typeface="宋体"/>
                        <a:cs typeface="Times New Roman"/>
                      </a:endParaRPr>
                    </a:p>
                  </a:txBody>
                  <a:tcPr marL="51764" marR="517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5"/>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页脚占位符 3"/>
          <p:cNvSpPr>
            <a:spLocks noGrp="1"/>
          </p:cNvSpPr>
          <p:nvPr>
            <p:ph type="ftr" sz="quarter" idx="11"/>
          </p:nvPr>
        </p:nvSpPr>
        <p:spPr>
          <a:xfrm>
            <a:off x="395288" y="6461125"/>
            <a:ext cx="8677275" cy="3968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l">
              <a:spcBef>
                <a:spcPct val="0"/>
              </a:spcBef>
              <a:buFontTx/>
              <a:buNone/>
            </a:pPr>
            <a:r>
              <a:rPr lang="en-US" altLang="zh-CN" sz="1400"/>
              <a:t>Data sources: World Population Prospects. The 2010 revision .United Nations Population Division</a:t>
            </a:r>
          </a:p>
        </p:txBody>
      </p:sp>
      <p:sp>
        <p:nvSpPr>
          <p:cNvPr id="18435" name="Rectangle 2"/>
          <p:cNvSpPr>
            <a:spLocks noGrp="1" noChangeArrowheads="1"/>
          </p:cNvSpPr>
          <p:nvPr>
            <p:ph type="title"/>
          </p:nvPr>
        </p:nvSpPr>
        <p:spPr>
          <a:xfrm>
            <a:off x="0" y="0"/>
            <a:ext cx="8763000" cy="908050"/>
          </a:xfrm>
        </p:spPr>
        <p:txBody>
          <a:bodyPr/>
          <a:lstStyle/>
          <a:p>
            <a:r>
              <a:rPr lang="en-US" altLang="zh-CN" sz="2000"/>
              <a:t>The Trend of Population above 65 </a:t>
            </a:r>
            <a:br>
              <a:rPr lang="en-US" altLang="zh-CN" sz="2000"/>
            </a:br>
            <a:r>
              <a:rPr lang="en-US" altLang="zh-CN" sz="2000"/>
              <a:t>for Selected Countries (1970-2070)</a:t>
            </a:r>
            <a:endParaRPr lang="zh-CN" altLang="en-US" sz="2000"/>
          </a:p>
        </p:txBody>
      </p:sp>
      <p:pic>
        <p:nvPicPr>
          <p:cNvPr id="18436" name="Picture 3"/>
          <p:cNvPicPr>
            <a:picLocks noChangeAspect="1" noChangeArrowheads="1"/>
          </p:cNvPicPr>
          <p:nvPr/>
        </p:nvPicPr>
        <p:blipFill>
          <a:blip r:embed="rId2">
            <a:extLst>
              <a:ext uri="{28A0092B-C50C-407E-A947-70E740481C1C}">
                <a14:useLocalDpi xmlns:a14="http://schemas.microsoft.com/office/drawing/2010/main" val="0"/>
              </a:ext>
            </a:extLst>
          </a:blip>
          <a:srcRect t="13020"/>
          <a:stretch>
            <a:fillRect/>
          </a:stretch>
        </p:blipFill>
        <p:spPr bwMode="auto">
          <a:xfrm>
            <a:off x="611188" y="1196975"/>
            <a:ext cx="7993062" cy="509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type="body" idx="1"/>
          </p:nvPr>
        </p:nvSpPr>
        <p:spPr>
          <a:xfrm>
            <a:off x="457200" y="476250"/>
            <a:ext cx="8229600" cy="5649913"/>
          </a:xfrm>
        </p:spPr>
        <p:txBody>
          <a:bodyPr/>
          <a:lstStyle/>
          <a:p>
            <a:pPr eaLnBrk="1" hangingPunct="1"/>
            <a:r>
              <a:rPr lang="en-US" altLang="zh-CN" sz="2800" dirty="0">
                <a:latin typeface="Times New Roman" panose="02020603050405020304" pitchFamily="18" charset="0"/>
              </a:rPr>
              <a:t>Life expectancy: </a:t>
            </a:r>
          </a:p>
          <a:p>
            <a:pPr lvl="1" eaLnBrk="1" hangingPunct="1"/>
            <a:r>
              <a:rPr lang="en-US" altLang="zh-CN" sz="2400" dirty="0">
                <a:latin typeface="Times New Roman" panose="02020603050405020304" pitchFamily="18" charset="0"/>
              </a:rPr>
              <a:t>Number of additional years that the average person of a given age will live age – specific death rates remain unchanged.</a:t>
            </a:r>
          </a:p>
          <a:p>
            <a:pPr eaLnBrk="1" hangingPunct="1"/>
            <a:endParaRPr lang="en-US" altLang="zh-CN" sz="2800" dirty="0">
              <a:latin typeface="Times New Roman" panose="02020603050405020304" pitchFamily="18" charset="0"/>
            </a:endParaRPr>
          </a:p>
          <a:p>
            <a:pPr eaLnBrk="1" hangingPunct="1"/>
            <a:r>
              <a:rPr lang="en-US" altLang="zh-CN" sz="2800" dirty="0">
                <a:latin typeface="Times New Roman" panose="02020603050405020304" pitchFamily="18" charset="0"/>
              </a:rPr>
              <a:t>Life expectancy at birth:</a:t>
            </a:r>
          </a:p>
          <a:p>
            <a:pPr lvl="1" eaLnBrk="1" hangingPunct="1"/>
            <a:r>
              <a:rPr lang="en-US" altLang="zh-CN" sz="2400" dirty="0">
                <a:latin typeface="Times New Roman" panose="02020603050405020304" pitchFamily="18" charset="0"/>
              </a:rPr>
              <a:t>Number of years that an average new born person will live.</a:t>
            </a:r>
          </a:p>
          <a:p>
            <a:pPr eaLnBrk="1" hangingPunct="1"/>
            <a:endParaRPr lang="en-US" altLang="zh-CN" sz="2800" dirty="0">
              <a:latin typeface="Times New Roman" panose="02020603050405020304" pitchFamily="18" charset="0"/>
            </a:endParaRPr>
          </a:p>
          <a:p>
            <a:pPr eaLnBrk="1" hangingPunct="1"/>
            <a:r>
              <a:rPr lang="en-US" altLang="zh-CN" sz="2800" dirty="0">
                <a:latin typeface="Times New Roman" panose="02020603050405020304" pitchFamily="18" charset="0"/>
              </a:rPr>
              <a:t>Total Fertility rate:</a:t>
            </a:r>
          </a:p>
          <a:p>
            <a:pPr lvl="1" eaLnBrk="1" hangingPunct="1"/>
            <a:r>
              <a:rPr lang="en-US" altLang="zh-CN" sz="2400" dirty="0">
                <a:latin typeface="Times New Roman" panose="02020603050405020304" pitchFamily="18" charset="0"/>
              </a:rPr>
              <a:t>Number of children the average woman will have in her lifetime. Age - specific fertility rate. </a:t>
            </a:r>
            <a:endParaRPr lang="en-US" altLang="zh-CN" dirty="0">
              <a:latin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algn="l" eaLnBrk="1" hangingPunct="1"/>
            <a:r>
              <a:rPr lang="en-US" altLang="en-US" sz="3200">
                <a:latin typeface="Times New Roman" panose="02020603050405020304" pitchFamily="18" charset="0"/>
                <a:cs typeface="Times New Roman" panose="02020603050405020304" pitchFamily="18" charset="0"/>
              </a:rPr>
              <a:t>II. World population growth through history</a:t>
            </a:r>
          </a:p>
        </p:txBody>
      </p:sp>
      <p:graphicFrame>
        <p:nvGraphicFramePr>
          <p:cNvPr id="6" name="Table 5">
            <a:extLst>
              <a:ext uri="{FF2B5EF4-FFF2-40B4-BE49-F238E27FC236}">
                <a16:creationId xmlns:a16="http://schemas.microsoft.com/office/drawing/2014/main" id="{A2DA36D8-7CAD-47AF-A476-071E162E0080}"/>
              </a:ext>
            </a:extLst>
          </p:cNvPr>
          <p:cNvGraphicFramePr>
            <a:graphicFrameLocks noGrp="1"/>
          </p:cNvGraphicFramePr>
          <p:nvPr/>
        </p:nvGraphicFramePr>
        <p:xfrm>
          <a:off x="1143000" y="1714500"/>
          <a:ext cx="7215188" cy="4575175"/>
        </p:xfrm>
        <a:graphic>
          <a:graphicData uri="http://schemas.openxmlformats.org/drawingml/2006/table">
            <a:tbl>
              <a:tblPr/>
              <a:tblGrid>
                <a:gridCol w="1679575">
                  <a:extLst>
                    <a:ext uri="{9D8B030D-6E8A-4147-A177-3AD203B41FA5}">
                      <a16:colId xmlns:a16="http://schemas.microsoft.com/office/drawing/2014/main" val="20000"/>
                    </a:ext>
                  </a:extLst>
                </a:gridCol>
                <a:gridCol w="3040063">
                  <a:extLst>
                    <a:ext uri="{9D8B030D-6E8A-4147-A177-3AD203B41FA5}">
                      <a16:colId xmlns:a16="http://schemas.microsoft.com/office/drawing/2014/main" val="20001"/>
                    </a:ext>
                  </a:extLst>
                </a:gridCol>
                <a:gridCol w="2495550">
                  <a:extLst>
                    <a:ext uri="{9D8B030D-6E8A-4147-A177-3AD203B41FA5}">
                      <a16:colId xmlns:a16="http://schemas.microsoft.com/office/drawing/2014/main" val="20002"/>
                    </a:ext>
                  </a:extLst>
                </a:gridCol>
              </a:tblGrid>
              <a:tr h="831850">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Year</a:t>
                      </a:r>
                    </a:p>
                  </a:txBody>
                  <a:tcPr marL="9525" marR="9525" marT="9525" marB="0" anchor="ctr" horzOverflow="overflow">
                    <a:lnL>
                      <a:noFill/>
                    </a:lnL>
                    <a:lnR>
                      <a:noFill/>
                    </a:lnR>
                    <a:lnT>
                      <a:noFill/>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Estimated population (in millions)</a:t>
                      </a:r>
                    </a:p>
                  </a:txBody>
                  <a:tcPr marL="9525" marR="9525" marT="9525" marB="0" anchor="ctr" horzOverflow="overflow">
                    <a:lnL>
                      <a:noFill/>
                    </a:lnL>
                    <a:lnR>
                      <a:noFill/>
                    </a:lnR>
                    <a:lnT>
                      <a:noFill/>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Estimated Annual growth rate(%)</a:t>
                      </a:r>
                    </a:p>
                  </a:txBody>
                  <a:tcPr marL="9525" marR="9525" marT="9525" marB="0" anchor="ctr" horzOverflow="overflow">
                    <a:lnL>
                      <a:noFill/>
                    </a:lnL>
                    <a:lnR>
                      <a:noFill/>
                    </a:lnR>
                    <a:lnT>
                      <a:noFill/>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5925">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10,000 B.C</a:t>
                      </a:r>
                    </a:p>
                  </a:txBody>
                  <a:tcPr marL="9525" marR="9525" marT="9525" marB="0" anchor="ctr" horzOverflow="overflow">
                    <a:lnL>
                      <a:noFill/>
                    </a:lnL>
                    <a:lnR>
                      <a:noFill/>
                    </a:lnR>
                    <a:lnT w="635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a:t>
                      </a:r>
                    </a:p>
                  </a:txBody>
                  <a:tcPr marL="9525" marR="9525" marT="9525" marB="0" anchor="ctr" horzOverflow="overflow">
                    <a:lnL>
                      <a:noFill/>
                    </a:lnL>
                    <a:lnR>
                      <a:noFill/>
                    </a:lnR>
                    <a:lnT w="635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endParaRPr kumimoji="0" 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5" marB="0" anchor="ctr" horzOverflow="overflow">
                    <a:lnL>
                      <a:noFill/>
                    </a:lnL>
                    <a:lnR>
                      <a:noFill/>
                    </a:lnR>
                    <a:lnT w="635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415925">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1650</a:t>
                      </a:r>
                    </a:p>
                  </a:txBody>
                  <a:tcPr marL="9525" marR="9525" marT="9525"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545</a:t>
                      </a:r>
                    </a:p>
                  </a:txBody>
                  <a:tcPr marL="9525" marR="9525" marT="9525"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0.04</a:t>
                      </a:r>
                    </a:p>
                  </a:txBody>
                  <a:tcPr marL="9525" marR="9525" marT="9525"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415925">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1850</a:t>
                      </a:r>
                    </a:p>
                  </a:txBody>
                  <a:tcPr marL="9525" marR="9525" marT="9525"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1,171</a:t>
                      </a:r>
                    </a:p>
                  </a:txBody>
                  <a:tcPr marL="9525" marR="9525" marT="9525"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0.53</a:t>
                      </a:r>
                    </a:p>
                  </a:txBody>
                  <a:tcPr marL="9525" marR="9525" marT="9525"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415925">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1900</a:t>
                      </a:r>
                    </a:p>
                  </a:txBody>
                  <a:tcPr marL="9525" marR="9525" marT="9525"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1,608</a:t>
                      </a:r>
                    </a:p>
                  </a:txBody>
                  <a:tcPr marL="9525" marR="9525" marT="9525"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0.65</a:t>
                      </a:r>
                    </a:p>
                  </a:txBody>
                  <a:tcPr marL="9525" marR="9525" marT="9525"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415925">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1950</a:t>
                      </a:r>
                    </a:p>
                  </a:txBody>
                  <a:tcPr marL="9525" marR="9525" marT="9525"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2,576</a:t>
                      </a:r>
                    </a:p>
                  </a:txBody>
                  <a:tcPr marL="9525" marR="9525" marT="9525"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0.91</a:t>
                      </a:r>
                    </a:p>
                  </a:txBody>
                  <a:tcPr marL="9525" marR="9525" marT="9525"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415925">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1970</a:t>
                      </a:r>
                    </a:p>
                  </a:txBody>
                  <a:tcPr marL="9525" marR="9525" marT="9525"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3,698</a:t>
                      </a:r>
                    </a:p>
                  </a:txBody>
                  <a:tcPr marL="9525" marR="9525" marT="9525"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2.09</a:t>
                      </a:r>
                    </a:p>
                  </a:txBody>
                  <a:tcPr marL="9525" marR="9525" marT="9525"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415925">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1980</a:t>
                      </a:r>
                    </a:p>
                  </a:txBody>
                  <a:tcPr marL="9525" marR="9525" marT="9525"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4,448</a:t>
                      </a:r>
                    </a:p>
                  </a:txBody>
                  <a:tcPr marL="9525" marR="9525" marT="9525"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1.76</a:t>
                      </a:r>
                    </a:p>
                  </a:txBody>
                  <a:tcPr marL="9525" marR="9525" marT="9525"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r h="415925">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1990</a:t>
                      </a:r>
                    </a:p>
                  </a:txBody>
                  <a:tcPr marL="9525" marR="9525" marT="9525"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5,292</a:t>
                      </a:r>
                    </a:p>
                  </a:txBody>
                  <a:tcPr marL="9525" marR="9525" marT="9525"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1.73</a:t>
                      </a:r>
                    </a:p>
                  </a:txBody>
                  <a:tcPr marL="9525" marR="9525" marT="9525"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8"/>
                  </a:ext>
                </a:extLst>
              </a:tr>
              <a:tr h="415925">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2000</a:t>
                      </a:r>
                    </a:p>
                  </a:txBody>
                  <a:tcPr marL="9525" marR="9525" marT="9525"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6,260</a:t>
                      </a:r>
                    </a:p>
                  </a:txBody>
                  <a:tcPr marL="9525" marR="9525" marT="9525"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1.70</a:t>
                      </a:r>
                    </a:p>
                  </a:txBody>
                  <a:tcPr marL="9525" marR="9525" marT="9525"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body" idx="1"/>
          </p:nvPr>
        </p:nvSpPr>
        <p:spPr>
          <a:xfrm>
            <a:off x="395288" y="115888"/>
            <a:ext cx="8289925" cy="6626225"/>
          </a:xfrm>
        </p:spPr>
        <p:txBody>
          <a:bodyPr/>
          <a:lstStyle/>
          <a:p>
            <a:pPr eaLnBrk="1" hangingPunct="1"/>
            <a:endParaRPr lang="en-US" altLang="zh-CN" sz="2800" dirty="0">
              <a:latin typeface="Times New Roman" panose="02020603050405020304" pitchFamily="18" charset="0"/>
            </a:endParaRPr>
          </a:p>
          <a:p>
            <a:pPr eaLnBrk="1" hangingPunct="1"/>
            <a:r>
              <a:rPr lang="en-US" altLang="zh-CN" sz="2800" dirty="0">
                <a:latin typeface="Times New Roman" panose="02020603050405020304" pitchFamily="18" charset="0"/>
              </a:rPr>
              <a:t>The demographic transition</a:t>
            </a:r>
            <a:r>
              <a:rPr lang="en-US" altLang="zh-CN" dirty="0">
                <a:latin typeface="Times New Roman" panose="02020603050405020304" pitchFamily="18" charset="0"/>
              </a:rPr>
              <a:t>:</a:t>
            </a:r>
          </a:p>
          <a:p>
            <a:pPr lvl="1" eaLnBrk="1" hangingPunct="1"/>
            <a:r>
              <a:rPr lang="en-US" altLang="zh-CN" sz="2400" dirty="0">
                <a:latin typeface="Times New Roman" panose="02020603050405020304" pitchFamily="18" charset="0"/>
              </a:rPr>
              <a:t>The process by which fertility rates eventually decline.</a:t>
            </a:r>
          </a:p>
          <a:p>
            <a:pPr lvl="1" eaLnBrk="1" hangingPunct="1"/>
            <a:endParaRPr lang="en-US" altLang="zh-CN" sz="2000" dirty="0">
              <a:latin typeface="Times New Roman" panose="02020603050405020304" pitchFamily="18" charset="0"/>
            </a:endParaRPr>
          </a:p>
          <a:p>
            <a:pPr lvl="1" eaLnBrk="1" hangingPunct="1"/>
            <a:endParaRPr lang="en-US" altLang="zh-CN" sz="2000" dirty="0">
              <a:latin typeface="Times New Roman" panose="02020603050405020304" pitchFamily="18" charset="0"/>
            </a:endParaRPr>
          </a:p>
          <a:p>
            <a:pPr lvl="1" eaLnBrk="1" hangingPunct="1"/>
            <a:endParaRPr lang="en-US" altLang="zh-CN" sz="2000" dirty="0">
              <a:latin typeface="Times New Roman" panose="02020603050405020304" pitchFamily="18" charset="0"/>
            </a:endParaRPr>
          </a:p>
          <a:p>
            <a:pPr lvl="1" eaLnBrk="1" hangingPunct="1"/>
            <a:endParaRPr lang="en-US" altLang="zh-CN" sz="2000" dirty="0">
              <a:latin typeface="Times New Roman" panose="02020603050405020304" pitchFamily="18" charset="0"/>
            </a:endParaRPr>
          </a:p>
          <a:p>
            <a:pPr lvl="1" eaLnBrk="1" hangingPunct="1"/>
            <a:endParaRPr lang="en-US" altLang="zh-CN" sz="2000" dirty="0">
              <a:latin typeface="Times New Roman" panose="02020603050405020304" pitchFamily="18" charset="0"/>
            </a:endParaRPr>
          </a:p>
          <a:p>
            <a:pPr lvl="1" eaLnBrk="1" hangingPunct="1"/>
            <a:endParaRPr lang="en-US" altLang="zh-CN" sz="2000" dirty="0">
              <a:latin typeface="Times New Roman" panose="02020603050405020304" pitchFamily="18" charset="0"/>
            </a:endParaRPr>
          </a:p>
          <a:p>
            <a:pPr lvl="1" eaLnBrk="1" hangingPunct="1"/>
            <a:endParaRPr lang="en-US" altLang="zh-CN" sz="2000" dirty="0">
              <a:latin typeface="Times New Roman" panose="02020603050405020304" pitchFamily="18" charset="0"/>
            </a:endParaRPr>
          </a:p>
          <a:p>
            <a:pPr lvl="1" eaLnBrk="1" hangingPunct="1"/>
            <a:endParaRPr lang="en-US" altLang="zh-CN" sz="2000" dirty="0">
              <a:latin typeface="Times New Roman" panose="02020603050405020304" pitchFamily="18" charset="0"/>
            </a:endParaRPr>
          </a:p>
          <a:p>
            <a:pPr lvl="1" eaLnBrk="1" hangingPunct="1"/>
            <a:endParaRPr lang="en-US" altLang="zh-CN" sz="2000" dirty="0">
              <a:latin typeface="Times New Roman" panose="02020603050405020304" pitchFamily="18" charset="0"/>
            </a:endParaRPr>
          </a:p>
          <a:p>
            <a:pPr lvl="1" eaLnBrk="1" hangingPunct="1"/>
            <a:endParaRPr lang="en-US" altLang="zh-CN" sz="2000" dirty="0">
              <a:latin typeface="Times New Roman" panose="02020603050405020304" pitchFamily="18" charset="0"/>
            </a:endParaRPr>
          </a:p>
          <a:p>
            <a:pPr lvl="1" eaLnBrk="1" hangingPunct="1"/>
            <a:r>
              <a:rPr lang="en-US" altLang="zh-CN" sz="2000" dirty="0">
                <a:latin typeface="Times New Roman" panose="02020603050405020304" pitchFamily="18" charset="0"/>
              </a:rPr>
              <a:t>Stage I: high birth rate, high death rate.</a:t>
            </a:r>
          </a:p>
          <a:p>
            <a:pPr eaLnBrk="1" hangingPunct="1">
              <a:buFontTx/>
              <a:buNone/>
            </a:pPr>
            <a:r>
              <a:rPr lang="en-US" altLang="zh-CN" sz="2000" dirty="0">
                <a:latin typeface="Times New Roman" panose="02020603050405020304" pitchFamily="18" charset="0"/>
              </a:rPr>
              <a:t>            Stage II: beginning of the transition.</a:t>
            </a:r>
          </a:p>
          <a:p>
            <a:pPr eaLnBrk="1" hangingPunct="1">
              <a:buFontTx/>
              <a:buNone/>
            </a:pPr>
            <a:r>
              <a:rPr lang="en-US" altLang="zh-CN" sz="2000" dirty="0">
                <a:latin typeface="Times New Roman" panose="02020603050405020304" pitchFamily="18" charset="0"/>
              </a:rPr>
              <a:t>            Stage III: decline in the birth rate.</a:t>
            </a:r>
          </a:p>
          <a:p>
            <a:pPr eaLnBrk="1" hangingPunct="1">
              <a:buFontTx/>
              <a:buNone/>
            </a:pPr>
            <a:r>
              <a:rPr lang="en-US" altLang="zh-CN" sz="2000" dirty="0">
                <a:latin typeface="Times New Roman" panose="02020603050405020304" pitchFamily="18" charset="0"/>
              </a:rPr>
              <a:t>            Stage IV: population growth zero/negative.</a:t>
            </a:r>
          </a:p>
        </p:txBody>
      </p:sp>
      <p:pic>
        <p:nvPicPr>
          <p:cNvPr id="21507" name="Picture 3" descr="fig06_05.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676400"/>
            <a:ext cx="8229600" cy="362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68313" y="260350"/>
            <a:ext cx="8229600" cy="671513"/>
          </a:xfrm>
        </p:spPr>
        <p:txBody>
          <a:bodyPr/>
          <a:lstStyle/>
          <a:p>
            <a:pPr algn="l" eaLnBrk="1" hangingPunct="1"/>
            <a:br>
              <a:rPr lang="en-US" altLang="zh-CN" sz="3200">
                <a:latin typeface="Times New Roman" panose="02020603050405020304" pitchFamily="18" charset="0"/>
              </a:rPr>
            </a:br>
            <a:r>
              <a:rPr lang="en-US" altLang="zh-CN" sz="3200">
                <a:latin typeface="Times New Roman" panose="02020603050405020304" pitchFamily="18" charset="0"/>
              </a:rPr>
              <a:t>III. Theory of Population Growth</a:t>
            </a:r>
            <a:br>
              <a:rPr lang="en-US" altLang="zh-CN" sz="3600">
                <a:latin typeface="Times New Roman" panose="02020603050405020304" pitchFamily="18" charset="0"/>
              </a:rPr>
            </a:br>
            <a:endParaRPr lang="en-US" altLang="zh-CN" sz="3600">
              <a:latin typeface="Times New Roman" panose="02020603050405020304" pitchFamily="18" charset="0"/>
            </a:endParaRPr>
          </a:p>
        </p:txBody>
      </p:sp>
      <p:sp>
        <p:nvSpPr>
          <p:cNvPr id="16387" name="Rectangle 3">
            <a:extLst>
              <a:ext uri="{FF2B5EF4-FFF2-40B4-BE49-F238E27FC236}">
                <a16:creationId xmlns:a16="http://schemas.microsoft.com/office/drawing/2014/main" id="{81267A04-6DB7-4028-A35B-DCF76B7F91A5}"/>
              </a:ext>
            </a:extLst>
          </p:cNvPr>
          <p:cNvSpPr>
            <a:spLocks noGrp="1" noChangeArrowheads="1"/>
          </p:cNvSpPr>
          <p:nvPr>
            <p:ph type="body" idx="1"/>
          </p:nvPr>
        </p:nvSpPr>
        <p:spPr>
          <a:xfrm>
            <a:off x="323850" y="908050"/>
            <a:ext cx="8712200" cy="5976938"/>
          </a:xfrm>
        </p:spPr>
        <p:txBody>
          <a:bodyPr/>
          <a:lstStyle/>
          <a:p>
            <a:pPr marL="609600" indent="-609600" eaLnBrk="1" hangingPunct="1">
              <a:lnSpc>
                <a:spcPct val="90000"/>
              </a:lnSpc>
              <a:buFontTx/>
              <a:buNone/>
              <a:defRPr/>
            </a:pPr>
            <a:endParaRPr lang="en-US" altLang="zh-CN" sz="2800" dirty="0">
              <a:latin typeface="Times New Roman" panose="02020603050405020304" pitchFamily="18" charset="0"/>
            </a:endParaRPr>
          </a:p>
          <a:p>
            <a:pPr marL="609600" indent="-609600" eaLnBrk="1" hangingPunct="1">
              <a:lnSpc>
                <a:spcPct val="90000"/>
              </a:lnSpc>
              <a:buFontTx/>
              <a:buNone/>
              <a:defRPr/>
            </a:pPr>
            <a:r>
              <a:rPr lang="en-US" altLang="zh-CN" sz="2800" dirty="0">
                <a:latin typeface="Times New Roman" panose="02020603050405020304" pitchFamily="18" charset="0"/>
              </a:rPr>
              <a:t>A. </a:t>
            </a:r>
            <a:r>
              <a:rPr lang="en-US" altLang="zh-CN" sz="2800" dirty="0" err="1">
                <a:latin typeface="Times New Roman" panose="02020603050405020304" pitchFamily="18" charset="0"/>
              </a:rPr>
              <a:t>Multhus</a:t>
            </a:r>
            <a:r>
              <a:rPr lang="en-US" altLang="zh-CN" sz="2800" dirty="0">
                <a:latin typeface="Times New Roman" panose="02020603050405020304" pitchFamily="18" charset="0"/>
              </a:rPr>
              <a:t>’ population trap:</a:t>
            </a:r>
            <a:r>
              <a:rPr lang="en-US" altLang="zh-CN" sz="2400" dirty="0">
                <a:latin typeface="Times New Roman" panose="02020603050405020304" pitchFamily="18" charset="0"/>
              </a:rPr>
              <a:t> “Essay on the Principle of Population”, 1798.</a:t>
            </a:r>
          </a:p>
          <a:p>
            <a:pPr marL="1040130" lvl="1" indent="-609600" eaLnBrk="1" hangingPunct="1">
              <a:lnSpc>
                <a:spcPct val="90000"/>
              </a:lnSpc>
              <a:spcBef>
                <a:spcPts val="1200"/>
              </a:spcBef>
              <a:buFontTx/>
              <a:buAutoNum type="alphaLcPeriod"/>
              <a:defRPr/>
            </a:pPr>
            <a:r>
              <a:rPr lang="en-US" altLang="zh-CN" sz="2000" dirty="0">
                <a:latin typeface="Times New Roman" panose="02020603050405020304" pitchFamily="18" charset="0"/>
              </a:rPr>
              <a:t>The passion between the sexes would cause population to expand as long as food supplies permitted.  Population would grow at a geometric rate.</a:t>
            </a:r>
          </a:p>
          <a:p>
            <a:pPr marL="1040130" lvl="1" indent="-609600" eaLnBrk="1" hangingPunct="1">
              <a:lnSpc>
                <a:spcPct val="90000"/>
              </a:lnSpc>
              <a:spcBef>
                <a:spcPts val="1200"/>
              </a:spcBef>
              <a:buFontTx/>
              <a:buAutoNum type="alphaLcPeriod"/>
              <a:defRPr/>
            </a:pPr>
            <a:r>
              <a:rPr lang="en-US" altLang="zh-CN" sz="2000" dirty="0">
                <a:latin typeface="Times New Roman" panose="02020603050405020304" pitchFamily="18" charset="0"/>
              </a:rPr>
              <a:t>Land is fixed, marginal product of labor will decrease. Food would grow at an arithmetic rate.</a:t>
            </a:r>
          </a:p>
          <a:p>
            <a:pPr marL="1040130" lvl="1" indent="-609600" eaLnBrk="1" hangingPunct="1">
              <a:lnSpc>
                <a:spcPct val="90000"/>
              </a:lnSpc>
              <a:spcBef>
                <a:spcPts val="1200"/>
              </a:spcBef>
              <a:buFontTx/>
              <a:buNone/>
              <a:defRPr/>
            </a:pPr>
            <a:r>
              <a:rPr lang="en-US" altLang="zh-CN" sz="2000" dirty="0">
                <a:latin typeface="Times New Roman" panose="02020603050405020304" pitchFamily="18" charset="0"/>
              </a:rPr>
              <a:t>c.       Low income and a stable population growth.</a:t>
            </a:r>
          </a:p>
          <a:p>
            <a:pPr marL="1040130" lvl="1" indent="-609600" eaLnBrk="1" hangingPunct="1">
              <a:spcBef>
                <a:spcPts val="1200"/>
              </a:spcBef>
              <a:buFontTx/>
              <a:buAutoNum type="alphaLcPeriod" startAt="4"/>
              <a:defRPr/>
            </a:pPr>
            <a:r>
              <a:rPr lang="en-US" altLang="zh-CN" sz="2000" dirty="0">
                <a:latin typeface="Times New Roman" panose="02020603050405020304" pitchFamily="18" charset="0"/>
              </a:rPr>
              <a:t>Famines, wars, and epidemics reduce population. </a:t>
            </a:r>
          </a:p>
          <a:p>
            <a:pPr lvl="2" eaLnBrk="1" hangingPunct="1">
              <a:defRPr/>
            </a:pPr>
            <a:r>
              <a:rPr lang="en-US" altLang="zh-CN" sz="1800" dirty="0">
                <a:latin typeface="Times New Roman" panose="02020603050405020304" pitchFamily="18" charset="0"/>
              </a:rPr>
              <a:t>“positive check” </a:t>
            </a:r>
          </a:p>
          <a:p>
            <a:pPr lvl="2" eaLnBrk="1" hangingPunct="1">
              <a:defRPr/>
            </a:pPr>
            <a:r>
              <a:rPr lang="en-US" altLang="zh-CN" sz="1800" dirty="0">
                <a:latin typeface="Times New Roman" panose="02020603050405020304" pitchFamily="18" charset="0"/>
              </a:rPr>
              <a:t>A later marriage, “preventive check” </a:t>
            </a:r>
          </a:p>
          <a:p>
            <a:pPr lvl="2" eaLnBrk="1" hangingPunct="1">
              <a:defRPr/>
            </a:pPr>
            <a:r>
              <a:rPr lang="en-US" altLang="zh-CN" sz="1800" dirty="0">
                <a:latin typeface="Times New Roman" panose="02020603050405020304" pitchFamily="18" charset="0"/>
              </a:rPr>
              <a:t>He was a minister, did not mention birth control, did mention “moral restraint”.</a:t>
            </a:r>
          </a:p>
          <a:p>
            <a:pPr marL="30480" indent="0" eaLnBrk="1" hangingPunct="1">
              <a:spcBef>
                <a:spcPts val="1200"/>
              </a:spcBef>
              <a:buFontTx/>
              <a:buNone/>
              <a:defRPr/>
            </a:pPr>
            <a:endParaRPr lang="en-US" altLang="zh-CN" sz="2700" dirty="0">
              <a:latin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en-US" sz="1800">
                <a:solidFill>
                  <a:srgbClr val="FEC35F"/>
                </a:solidFill>
                <a:ea typeface="ヒラギノ角ゴ Pro W3" pitchFamily="122" charset="-128"/>
              </a:rPr>
              <a:t>6-</a:t>
            </a:r>
            <a:fld id="{93521D65-0EAB-4925-9FF7-7F5535342D83}" type="slidenum">
              <a:rPr lang="en-US" altLang="en-US" sz="1800" smtClean="0">
                <a:solidFill>
                  <a:srgbClr val="FEC35F"/>
                </a:solidFill>
                <a:ea typeface="ヒラギノ角ゴ Pro W3" pitchFamily="122" charset="-128"/>
              </a:rPr>
              <a:pPr>
                <a:spcBef>
                  <a:spcPct val="0"/>
                </a:spcBef>
                <a:buFontTx/>
                <a:buNone/>
              </a:pPr>
              <a:t>21</a:t>
            </a:fld>
            <a:endParaRPr lang="en-US" altLang="en-US" sz="1800">
              <a:solidFill>
                <a:srgbClr val="FEC35F"/>
              </a:solidFill>
              <a:ea typeface="ヒラギノ角ゴ Pro W3" pitchFamily="122" charset="-128"/>
            </a:endParaRPr>
          </a:p>
        </p:txBody>
      </p:sp>
      <p:sp>
        <p:nvSpPr>
          <p:cNvPr id="23555" name="Rectangle 5"/>
          <p:cNvSpPr txBox="1">
            <a:spLocks noChangeArrowheads="1"/>
          </p:cNvSpPr>
          <p:nvPr/>
        </p:nvSpPr>
        <p:spPr bwMode="auto">
          <a:xfrm>
            <a:off x="317500" y="620713"/>
            <a:ext cx="7607300" cy="436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r>
              <a:rPr lang="en-US" altLang="en-US" sz="2400" dirty="0">
                <a:latin typeface="Times New Roman" panose="02020603050405020304" pitchFamily="18" charset="0"/>
                <a:ea typeface="ヒラギノ角ゴ Pro W3" pitchFamily="122" charset="-128"/>
              </a:rPr>
              <a:t>Higher population growth, the higher is per-capita consumption.</a:t>
            </a:r>
          </a:p>
          <a:p>
            <a:pPr>
              <a:buFontTx/>
              <a:buNone/>
            </a:pPr>
            <a:endParaRPr lang="en-US" altLang="en-US" sz="2400" dirty="0">
              <a:latin typeface="Times New Roman" panose="02020603050405020304" pitchFamily="18" charset="0"/>
              <a:ea typeface="ヒラギノ角ゴ Pro W3" pitchFamily="122" charset="-128"/>
            </a:endParaRPr>
          </a:p>
          <a:p>
            <a:pPr>
              <a:buFontTx/>
              <a:buNone/>
            </a:pPr>
            <a:endParaRPr lang="en-US" altLang="en-US" sz="2400" dirty="0">
              <a:latin typeface="Times New Roman" panose="02020603050405020304" pitchFamily="18" charset="0"/>
              <a:ea typeface="ヒラギノ角ゴ Pro W3" pitchFamily="122" charset="-128"/>
            </a:endParaRPr>
          </a:p>
          <a:p>
            <a:r>
              <a:rPr lang="en-US" altLang="en-US" sz="2400" dirty="0">
                <a:latin typeface="Times New Roman" panose="02020603050405020304" pitchFamily="18" charset="0"/>
                <a:ea typeface="ヒラギノ角ゴ Pro W3" pitchFamily="122" charset="-128"/>
              </a:rPr>
              <a:t>Birth rate increases with consumption per capita </a:t>
            </a:r>
          </a:p>
          <a:p>
            <a:pPr lvl="1">
              <a:buFont typeface="Arial" panose="020B0604020202020204" pitchFamily="34" charset="0"/>
              <a:buChar char="•"/>
            </a:pPr>
            <a:r>
              <a:rPr lang="en-US" altLang="en-US" sz="2000" dirty="0">
                <a:latin typeface="Times New Roman" panose="02020603050405020304" pitchFamily="18" charset="0"/>
                <a:ea typeface="ヒラギノ角ゴ Pro W3" pitchFamily="122" charset="-128"/>
              </a:rPr>
              <a:t>people will have more children by choice.</a:t>
            </a:r>
          </a:p>
          <a:p>
            <a:pPr lvl="1">
              <a:buFont typeface="Arial" panose="020B0604020202020204" pitchFamily="34" charset="0"/>
              <a:buChar char="•"/>
            </a:pPr>
            <a:r>
              <a:rPr lang="en-US" altLang="en-US" sz="2000" dirty="0">
                <a:latin typeface="Times New Roman" panose="02020603050405020304" pitchFamily="18" charset="0"/>
                <a:ea typeface="ヒラギノ角ゴ Pro W3" pitchFamily="122" charset="-128"/>
              </a:rPr>
              <a:t>better nutrition increases fertility.</a:t>
            </a:r>
          </a:p>
          <a:p>
            <a:pPr lvl="1">
              <a:buFont typeface="Arial" panose="020B0604020202020204" pitchFamily="34" charset="0"/>
              <a:buChar char="•"/>
            </a:pPr>
            <a:endParaRPr lang="en-US" altLang="en-US" sz="2000" dirty="0">
              <a:latin typeface="Times New Roman" panose="02020603050405020304" pitchFamily="18" charset="0"/>
              <a:ea typeface="ヒラギノ角ゴ Pro W3" pitchFamily="122" charset="-128"/>
            </a:endParaRPr>
          </a:p>
          <a:p>
            <a:pPr>
              <a:spcBef>
                <a:spcPct val="0"/>
              </a:spcBef>
            </a:pPr>
            <a:r>
              <a:rPr lang="en-US" altLang="en-US" sz="2400" dirty="0">
                <a:latin typeface="Times New Roman" panose="02020603050405020304" pitchFamily="18" charset="0"/>
                <a:ea typeface="ヒラギノ角ゴ Pro W3" pitchFamily="122" charset="-128"/>
              </a:rPr>
              <a:t>Death rate decreases with consumption per capita</a:t>
            </a:r>
          </a:p>
          <a:p>
            <a:pPr lvl="1">
              <a:spcBef>
                <a:spcPct val="0"/>
              </a:spcBef>
              <a:buFont typeface="Arial" panose="020B0604020202020204" pitchFamily="34" charset="0"/>
              <a:buChar char="•"/>
            </a:pPr>
            <a:r>
              <a:rPr lang="en-US" altLang="en-US" sz="2000" dirty="0">
                <a:latin typeface="Times New Roman" panose="02020603050405020304" pitchFamily="18" charset="0"/>
                <a:ea typeface="ヒラギノ角ゴ Pro W3" pitchFamily="122" charset="-128"/>
              </a:rPr>
              <a:t>decreases infant mortality.</a:t>
            </a:r>
          </a:p>
          <a:p>
            <a:pPr lvl="1">
              <a:spcBef>
                <a:spcPct val="0"/>
              </a:spcBef>
              <a:buFont typeface="Arial" panose="020B0604020202020204" pitchFamily="34" charset="0"/>
              <a:buChar char="•"/>
            </a:pPr>
            <a:r>
              <a:rPr lang="en-US" altLang="en-US" sz="2000" dirty="0">
                <a:latin typeface="Times New Roman" panose="02020603050405020304" pitchFamily="18" charset="0"/>
                <a:ea typeface="ヒラギノ角ゴ Pro W3" pitchFamily="122" charset="-128"/>
              </a:rPr>
              <a:t>population healthier, increasing the average lifespan.</a:t>
            </a:r>
          </a:p>
          <a:p>
            <a:pPr>
              <a:buFontTx/>
              <a:buNone/>
            </a:pPr>
            <a:endParaRPr lang="en-US" altLang="en-US" dirty="0">
              <a:latin typeface="Candara" panose="020E0502030303020204" pitchFamily="34" charset="0"/>
              <a:ea typeface="ヒラギノ角ゴ Pro W3" pitchFamily="122" charset="-128"/>
            </a:endParaRPr>
          </a:p>
          <a:p>
            <a:pPr>
              <a:buFontTx/>
              <a:buNone/>
            </a:pPr>
            <a:endParaRPr lang="en-US" altLang="en-US" dirty="0">
              <a:latin typeface="Candara" panose="020E0502030303020204" pitchFamily="34" charset="0"/>
              <a:ea typeface="ヒラギノ角ゴ Pro W3" pitchFamily="122" charset="-128"/>
            </a:endParaRPr>
          </a:p>
        </p:txBody>
      </p:sp>
      <p:graphicFrame>
        <p:nvGraphicFramePr>
          <p:cNvPr id="23556" name="Object 10"/>
          <p:cNvGraphicFramePr>
            <a:graphicFrameLocks noChangeAspect="1"/>
          </p:cNvGraphicFramePr>
          <p:nvPr/>
        </p:nvGraphicFramePr>
        <p:xfrm>
          <a:off x="2743200" y="1557338"/>
          <a:ext cx="2362200" cy="439737"/>
        </p:xfrm>
        <a:graphic>
          <a:graphicData uri="http://schemas.openxmlformats.org/presentationml/2006/ole">
            <mc:AlternateContent xmlns:mc="http://schemas.openxmlformats.org/markup-compatibility/2006">
              <mc:Choice xmlns:v="urn:schemas-microsoft-com:vml" Requires="v">
                <p:oleObj name="Equation" r:id="rId3" imgW="1092200" imgH="203200" progId="Equation.3">
                  <p:embed/>
                </p:oleObj>
              </mc:Choice>
              <mc:Fallback>
                <p:oleObj name="Equation" r:id="rId3" imgW="1092200" imgH="203200"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1557338"/>
                        <a:ext cx="2362200"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en-US" sz="1800">
                <a:solidFill>
                  <a:srgbClr val="FEC35F"/>
                </a:solidFill>
                <a:ea typeface="ヒラギノ角ゴ Pro W3" pitchFamily="122" charset="-128"/>
              </a:rPr>
              <a:t>6-</a:t>
            </a:r>
            <a:fld id="{100D2FFF-9681-4593-856F-ED264576C815}" type="slidenum">
              <a:rPr lang="en-US" altLang="en-US" sz="1800" smtClean="0">
                <a:solidFill>
                  <a:srgbClr val="FEC35F"/>
                </a:solidFill>
                <a:ea typeface="ヒラギノ角ゴ Pro W3" pitchFamily="122" charset="-128"/>
              </a:rPr>
              <a:pPr>
                <a:spcBef>
                  <a:spcPct val="0"/>
                </a:spcBef>
                <a:buFontTx/>
                <a:buNone/>
              </a:pPr>
              <a:t>22</a:t>
            </a:fld>
            <a:endParaRPr lang="en-US" altLang="en-US" sz="1800">
              <a:solidFill>
                <a:srgbClr val="FEC35F"/>
              </a:solidFill>
              <a:ea typeface="ヒラギノ角ゴ Pro W3" pitchFamily="122" charset="-128"/>
            </a:endParaRPr>
          </a:p>
        </p:txBody>
      </p:sp>
      <p:sp>
        <p:nvSpPr>
          <p:cNvPr id="25603" name="Rectangle 2"/>
          <p:cNvSpPr>
            <a:spLocks noGrp="1" noChangeArrowheads="1"/>
          </p:cNvSpPr>
          <p:nvPr>
            <p:ph type="title"/>
          </p:nvPr>
        </p:nvSpPr>
        <p:spPr>
          <a:xfrm>
            <a:off x="457200" y="228600"/>
            <a:ext cx="8229600" cy="1252538"/>
          </a:xfrm>
        </p:spPr>
        <p:txBody>
          <a:bodyPr/>
          <a:lstStyle/>
          <a:p>
            <a:pPr eaLnBrk="1" hangingPunct="1"/>
            <a:br>
              <a:rPr lang="en-US" altLang="en-US" sz="2800" b="1"/>
            </a:br>
            <a:r>
              <a:rPr lang="en-US" altLang="en-US" sz="2800"/>
              <a:t>Determination of the Steady State </a:t>
            </a:r>
            <a:br>
              <a:rPr lang="en-US" altLang="en-US" sz="2800"/>
            </a:br>
            <a:r>
              <a:rPr lang="en-US" altLang="en-US" sz="2800"/>
              <a:t>in the Malthusian Model</a:t>
            </a:r>
          </a:p>
        </p:txBody>
      </p:sp>
      <p:pic>
        <p:nvPicPr>
          <p:cNvPr id="25604" name="Picture 3" descr="fig0608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225" y="1981200"/>
            <a:ext cx="3711575" cy="368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5" name="Picture 3" descr="fig0608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8025" y="1949450"/>
            <a:ext cx="3711575" cy="368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en-US" sz="1800">
                <a:solidFill>
                  <a:srgbClr val="FEC35F"/>
                </a:solidFill>
                <a:ea typeface="ヒラギノ角ゴ Pro W3" pitchFamily="122" charset="-128"/>
              </a:rPr>
              <a:t>6-</a:t>
            </a:r>
            <a:fld id="{5C9144B6-59AA-4328-AD0E-E5CCB93AFCF3}" type="slidenum">
              <a:rPr lang="en-US" altLang="en-US" sz="1800" smtClean="0">
                <a:solidFill>
                  <a:srgbClr val="FEC35F"/>
                </a:solidFill>
                <a:ea typeface="ヒラギノ角ゴ Pro W3" pitchFamily="122" charset="-128"/>
              </a:rPr>
              <a:pPr>
                <a:spcBef>
                  <a:spcPct val="0"/>
                </a:spcBef>
                <a:buFontTx/>
                <a:buNone/>
              </a:pPr>
              <a:t>23</a:t>
            </a:fld>
            <a:endParaRPr lang="en-US" altLang="en-US" sz="1800">
              <a:solidFill>
                <a:srgbClr val="FEC35F"/>
              </a:solidFill>
              <a:ea typeface="ヒラギノ角ゴ Pro W3" pitchFamily="122" charset="-128"/>
            </a:endParaRPr>
          </a:p>
        </p:txBody>
      </p:sp>
      <p:sp>
        <p:nvSpPr>
          <p:cNvPr id="26627" name="Rectangle 5"/>
          <p:cNvSpPr txBox="1">
            <a:spLocks noChangeArrowheads="1"/>
          </p:cNvSpPr>
          <p:nvPr/>
        </p:nvSpPr>
        <p:spPr bwMode="auto">
          <a:xfrm>
            <a:off x="317500" y="1268413"/>
            <a:ext cx="7294563" cy="398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endParaRPr lang="en-US" altLang="en-US">
              <a:latin typeface="Candara" panose="020E0502030303020204" pitchFamily="34" charset="0"/>
              <a:ea typeface="ヒラギノ角ゴ Pro W3" pitchFamily="122" charset="-128"/>
            </a:endParaRPr>
          </a:p>
          <a:p>
            <a:pPr>
              <a:buFontTx/>
              <a:buNone/>
            </a:pPr>
            <a:endParaRPr lang="en-US" altLang="en-US">
              <a:latin typeface="Candara" panose="020E0502030303020204" pitchFamily="34" charset="0"/>
              <a:ea typeface="ヒラギノ角ゴ Pro W3" pitchFamily="122" charset="-128"/>
            </a:endParaRPr>
          </a:p>
        </p:txBody>
      </p:sp>
      <p:sp>
        <p:nvSpPr>
          <p:cNvPr id="26628" name="Rectangle 4"/>
          <p:cNvSpPr txBox="1">
            <a:spLocks noChangeArrowheads="1"/>
          </p:cNvSpPr>
          <p:nvPr/>
        </p:nvSpPr>
        <p:spPr bwMode="auto">
          <a:xfrm>
            <a:off x="469900" y="1096963"/>
            <a:ext cx="7294563" cy="398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r>
              <a:rPr lang="en-US" altLang="en-US" sz="2400">
                <a:latin typeface="Times New Roman" panose="02020603050405020304" pitchFamily="18" charset="0"/>
                <a:ea typeface="ヒラギノ角ゴ Pro W3" pitchFamily="122" charset="-128"/>
              </a:rPr>
              <a:t>If z increases, this shifts up the per-worker production function.</a:t>
            </a:r>
          </a:p>
          <a:p>
            <a:endParaRPr lang="en-US" altLang="en-US" sz="2400">
              <a:latin typeface="Times New Roman" panose="02020603050405020304" pitchFamily="18" charset="0"/>
              <a:ea typeface="ヒラギノ角ゴ Pro W3" pitchFamily="122" charset="-128"/>
            </a:endParaRPr>
          </a:p>
          <a:p>
            <a:r>
              <a:rPr lang="en-US" altLang="en-US" sz="2400">
                <a:latin typeface="Times New Roman" panose="02020603050405020304" pitchFamily="18" charset="0"/>
                <a:ea typeface="ヒラギノ角ゴ Pro W3" pitchFamily="122" charset="-128"/>
              </a:rPr>
              <a:t>In the long run, the population increases to the point where per capita consumption returns to its initial level.</a:t>
            </a:r>
          </a:p>
          <a:p>
            <a:endParaRPr lang="en-US" altLang="en-US" sz="2400">
              <a:latin typeface="Times New Roman" panose="02020603050405020304" pitchFamily="18" charset="0"/>
              <a:ea typeface="ヒラギノ角ゴ Pro W3" pitchFamily="122" charset="-128"/>
            </a:endParaRPr>
          </a:p>
          <a:p>
            <a:r>
              <a:rPr lang="en-US" altLang="en-US" sz="2400">
                <a:latin typeface="Times New Roman" panose="02020603050405020304" pitchFamily="18" charset="0"/>
                <a:ea typeface="ヒラギノ角ゴ Pro W3" pitchFamily="122" charset="-128"/>
              </a:rPr>
              <a:t>There is no long-run change in living standards.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F76E128-0BF5-52CA-206D-8DD8A1B7600D}"/>
              </a:ext>
            </a:extLst>
          </p:cNvPr>
          <p:cNvSpPr txBox="1"/>
          <p:nvPr/>
        </p:nvSpPr>
        <p:spPr>
          <a:xfrm>
            <a:off x="827584" y="2996952"/>
            <a:ext cx="1368152" cy="369332"/>
          </a:xfrm>
          <a:prstGeom prst="rect">
            <a:avLst/>
          </a:prstGeom>
          <a:pattFill prst="pct75">
            <a:fgClr>
              <a:schemeClr val="accent1"/>
            </a:fgClr>
            <a:bgClr>
              <a:schemeClr val="bg1"/>
            </a:bgClr>
          </a:pattFill>
        </p:spPr>
        <p:txBody>
          <a:bodyPr wrap="square" rtlCol="0">
            <a:spAutoFit/>
          </a:bodyPr>
          <a:lstStyle/>
          <a:p>
            <a:r>
              <a:rPr lang="en-US" dirty="0"/>
              <a:t>z increases</a:t>
            </a:r>
          </a:p>
        </p:txBody>
      </p:sp>
      <p:sp>
        <p:nvSpPr>
          <p:cNvPr id="7" name="TextBox 6">
            <a:extLst>
              <a:ext uri="{FF2B5EF4-FFF2-40B4-BE49-F238E27FC236}">
                <a16:creationId xmlns:a16="http://schemas.microsoft.com/office/drawing/2014/main" id="{BF3D8367-F3DB-B6FC-5F9C-309C9A127B7D}"/>
              </a:ext>
            </a:extLst>
          </p:cNvPr>
          <p:cNvSpPr txBox="1"/>
          <p:nvPr/>
        </p:nvSpPr>
        <p:spPr>
          <a:xfrm>
            <a:off x="2915816" y="1991472"/>
            <a:ext cx="2880320" cy="923330"/>
          </a:xfrm>
          <a:prstGeom prst="rect">
            <a:avLst/>
          </a:prstGeom>
          <a:solidFill>
            <a:schemeClr val="accent1"/>
          </a:solidFill>
        </p:spPr>
        <p:txBody>
          <a:bodyPr wrap="square" rtlCol="0">
            <a:spAutoFit/>
          </a:bodyPr>
          <a:lstStyle/>
          <a:p>
            <a:r>
              <a:rPr lang="en-US" dirty="0"/>
              <a:t>High yield, </a:t>
            </a:r>
          </a:p>
          <a:p>
            <a:r>
              <a:rPr lang="en-US" dirty="0"/>
              <a:t>more food,</a:t>
            </a:r>
          </a:p>
          <a:p>
            <a:r>
              <a:rPr lang="en-US" dirty="0"/>
              <a:t>Higher living standard,</a:t>
            </a:r>
          </a:p>
        </p:txBody>
      </p:sp>
      <p:sp>
        <p:nvSpPr>
          <p:cNvPr id="8" name="TextBox 7">
            <a:extLst>
              <a:ext uri="{FF2B5EF4-FFF2-40B4-BE49-F238E27FC236}">
                <a16:creationId xmlns:a16="http://schemas.microsoft.com/office/drawing/2014/main" id="{7374FD9F-5E41-000B-F58C-51A29D7E3CF4}"/>
              </a:ext>
            </a:extLst>
          </p:cNvPr>
          <p:cNvSpPr txBox="1"/>
          <p:nvPr/>
        </p:nvSpPr>
        <p:spPr>
          <a:xfrm>
            <a:off x="2915816" y="3789040"/>
            <a:ext cx="2880320" cy="1477328"/>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US" dirty="0"/>
              <a:t>more food, </a:t>
            </a:r>
          </a:p>
          <a:p>
            <a:r>
              <a:rPr lang="en-US" dirty="0"/>
              <a:t>higher population growth,</a:t>
            </a:r>
          </a:p>
          <a:p>
            <a:r>
              <a:rPr lang="en-US" dirty="0"/>
              <a:t>Less land per capita,</a:t>
            </a:r>
          </a:p>
          <a:p>
            <a:r>
              <a:rPr lang="en-US" dirty="0"/>
              <a:t>Lower yield per capita</a:t>
            </a:r>
          </a:p>
          <a:p>
            <a:endParaRPr lang="en-US" dirty="0"/>
          </a:p>
        </p:txBody>
      </p:sp>
    </p:spTree>
    <p:extLst>
      <p:ext uri="{BB962C8B-B14F-4D97-AF65-F5344CB8AC3E}">
        <p14:creationId xmlns:p14="http://schemas.microsoft.com/office/powerpoint/2010/main" val="40676822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5"/>
          <p:cNvSpPr>
            <a:spLocks noGrp="1" noChangeArrowheads="1"/>
          </p:cNvSpPr>
          <p:nvPr>
            <p:ph type="body" idx="4294967295"/>
          </p:nvPr>
        </p:nvSpPr>
        <p:spPr>
          <a:xfrm>
            <a:off x="457200" y="1268413"/>
            <a:ext cx="8229600" cy="4525962"/>
          </a:xfrm>
        </p:spPr>
        <p:txBody>
          <a:bodyPr/>
          <a:lstStyle/>
          <a:p>
            <a:pPr eaLnBrk="1" hangingPunct="1"/>
            <a:r>
              <a:rPr lang="en-US" altLang="en-US" sz="2400" dirty="0">
                <a:latin typeface="Times New Roman" panose="02020603050405020304" pitchFamily="18" charset="0"/>
                <a:cs typeface="Times New Roman" panose="02020603050405020304" pitchFamily="18" charset="0"/>
              </a:rPr>
              <a:t>Criticisms of the Malthusian Model</a:t>
            </a:r>
          </a:p>
          <a:p>
            <a:pPr lvl="1" eaLnBrk="1" hangingPunct="1"/>
            <a:r>
              <a:rPr lang="en-US" altLang="en-US" sz="2000" dirty="0">
                <a:latin typeface="Times New Roman" panose="02020603050405020304" pitchFamily="18" charset="0"/>
                <a:cs typeface="Times New Roman" panose="02020603050405020304" pitchFamily="18" charset="0"/>
              </a:rPr>
              <a:t>Impact of technological progress</a:t>
            </a:r>
          </a:p>
          <a:p>
            <a:pPr lvl="1" eaLnBrk="1" hangingPunct="1"/>
            <a:r>
              <a:rPr lang="en-US" altLang="en-US" sz="2000" dirty="0">
                <a:latin typeface="Times New Roman" panose="02020603050405020304" pitchFamily="18" charset="0"/>
                <a:cs typeface="Times New Roman" panose="02020603050405020304" pitchFamily="18" charset="0"/>
              </a:rPr>
              <a:t>Currently no positive correlation between population growth and levels of per capita income in the data</a:t>
            </a:r>
          </a:p>
          <a:p>
            <a:pPr lvl="1" eaLnBrk="1" hangingPunct="1"/>
            <a:endParaRPr lang="en-US" altLang="en-US" sz="20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Microeconomics of family size; turns focus to individual rather than aggregate variables</a:t>
            </a: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idx="4294967295"/>
          </p:nvPr>
        </p:nvSpPr>
        <p:spPr/>
        <p:txBody>
          <a:bodyPr/>
          <a:lstStyle/>
          <a:p>
            <a:pPr eaLnBrk="1" hangingPunct="1"/>
            <a:r>
              <a:rPr lang="en-US" altLang="en-US" sz="2400"/>
              <a:t>How Technological and Social Progress Allows Nations to Avoid the Population Trap</a:t>
            </a:r>
            <a:endParaRPr lang="en-GB" altLang="en-US" sz="1400"/>
          </a:p>
        </p:txBody>
      </p:sp>
      <p:pic>
        <p:nvPicPr>
          <p:cNvPr id="30723" name="Picture 1" descr="fig06_08.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1773238"/>
            <a:ext cx="8064500" cy="443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p:cNvSpPr>
            <a:spLocks noGrp="1" noChangeArrowheads="1"/>
          </p:cNvSpPr>
          <p:nvPr>
            <p:ph type="body" idx="1"/>
          </p:nvPr>
        </p:nvSpPr>
        <p:spPr>
          <a:xfrm>
            <a:off x="468313" y="620713"/>
            <a:ext cx="8351837" cy="5616575"/>
          </a:xfrm>
        </p:spPr>
        <p:txBody>
          <a:bodyPr/>
          <a:lstStyle/>
          <a:p>
            <a:pPr eaLnBrk="1" hangingPunct="1">
              <a:buFontTx/>
              <a:buNone/>
            </a:pPr>
            <a:endParaRPr lang="en-US" altLang="zh-CN" sz="2800" dirty="0">
              <a:latin typeface="Times New Roman" panose="02020603050405020304" pitchFamily="18" charset="0"/>
            </a:endParaRPr>
          </a:p>
          <a:p>
            <a:pPr eaLnBrk="1" hangingPunct="1">
              <a:buFontTx/>
              <a:buNone/>
            </a:pPr>
            <a:r>
              <a:rPr lang="en-US" altLang="zh-CN" sz="2800" dirty="0">
                <a:latin typeface="Times New Roman" panose="02020603050405020304" pitchFamily="18" charset="0"/>
              </a:rPr>
              <a:t>B. Becker’s “New Household Economics”</a:t>
            </a:r>
          </a:p>
          <a:p>
            <a:pPr lvl="1" eaLnBrk="1" hangingPunct="1"/>
            <a:r>
              <a:rPr lang="en-US" altLang="zh-CN" sz="2400" dirty="0">
                <a:latin typeface="Times New Roman" panose="02020603050405020304" pitchFamily="18" charset="0"/>
              </a:rPr>
              <a:t>People are rational.</a:t>
            </a:r>
          </a:p>
          <a:p>
            <a:pPr lvl="1" eaLnBrk="1" hangingPunct="1"/>
            <a:r>
              <a:rPr lang="en-US" altLang="zh-CN" sz="2400" dirty="0">
                <a:latin typeface="Times New Roman" panose="02020603050405020304" pitchFamily="18" charset="0"/>
              </a:rPr>
              <a:t>Children are durable consumption goods. </a:t>
            </a:r>
          </a:p>
          <a:p>
            <a:pPr lvl="1" eaLnBrk="1" hangingPunct="1"/>
            <a:r>
              <a:rPr lang="en-US" altLang="zh-CN" sz="2400" dirty="0">
                <a:latin typeface="Times New Roman" panose="02020603050405020304" pitchFamily="18" charset="0"/>
              </a:rPr>
              <a:t>Couples maximize utility by choosing quantity of children.</a:t>
            </a:r>
          </a:p>
          <a:p>
            <a:pPr lvl="1" eaLnBrk="1" hangingPunct="1"/>
            <a:r>
              <a:rPr lang="en-US" altLang="zh-CN" sz="2400" dirty="0">
                <a:latin typeface="Times New Roman" panose="02020603050405020304" pitchFamily="18" charset="0"/>
              </a:rPr>
              <a:t>Utility depends on : </a:t>
            </a:r>
          </a:p>
          <a:p>
            <a:pPr lvl="2" eaLnBrk="1" hangingPunct="1"/>
            <a:r>
              <a:rPr lang="en-US" altLang="zh-CN" dirty="0">
                <a:latin typeface="Times New Roman" panose="02020603050405020304" pitchFamily="18" charset="0"/>
              </a:rPr>
              <a:t>number of children,</a:t>
            </a:r>
          </a:p>
          <a:p>
            <a:pPr lvl="2" eaLnBrk="1" hangingPunct="1"/>
            <a:r>
              <a:rPr lang="en-US" altLang="zh-CN" dirty="0">
                <a:latin typeface="Times New Roman" panose="02020603050405020304" pitchFamily="18" charset="0"/>
              </a:rPr>
              <a:t>quality of each child.   </a:t>
            </a:r>
          </a:p>
          <a:p>
            <a:pPr lvl="2" eaLnBrk="1" hangingPunct="1"/>
            <a:r>
              <a:rPr lang="en-US" altLang="zh-CN" dirty="0">
                <a:latin typeface="Times New Roman" panose="02020603050405020304" pitchFamily="18" charset="0"/>
              </a:rPr>
              <a:t>cost: time spent on rearing children.</a:t>
            </a:r>
          </a:p>
          <a:p>
            <a:pPr lvl="2" eaLnBrk="1" hangingPunct="1"/>
            <a:r>
              <a:rPr lang="en-US" altLang="zh-CN" dirty="0">
                <a:latin typeface="Times New Roman" panose="02020603050405020304" pitchFamily="18" charset="0"/>
              </a:rPr>
              <a:t>some argued that parents’ utility is equal to the worst child’s utility.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p:cNvSpPr>
            <a:spLocks noGrp="1" noChangeArrowheads="1"/>
          </p:cNvSpPr>
          <p:nvPr>
            <p:ph idx="1"/>
          </p:nvPr>
        </p:nvSpPr>
        <p:spPr/>
        <p:txBody>
          <a:bodyPr/>
          <a:lstStyle/>
          <a:p>
            <a:pPr eaLnBrk="1" hangingPunct="1"/>
            <a:r>
              <a:rPr lang="en-US" altLang="en-US" sz="2400" dirty="0">
                <a:latin typeface="Times New Roman" panose="02020603050405020304" pitchFamily="18" charset="0"/>
                <a:cs typeface="Times New Roman" panose="02020603050405020304" pitchFamily="18" charset="0"/>
              </a:rPr>
              <a:t>The Microeconomic Household Theory of Fertility</a:t>
            </a:r>
          </a:p>
          <a:p>
            <a:pPr eaLnBrk="1" hangingPunct="1"/>
            <a:endParaRPr lang="en-US" altLang="en-US" sz="2400" dirty="0">
              <a:latin typeface="Times New Roman" panose="02020603050405020304" pitchFamily="18" charset="0"/>
              <a:cs typeface="Times New Roman" panose="02020603050405020304" pitchFamily="18" charset="0"/>
            </a:endParaRPr>
          </a:p>
          <a:p>
            <a:pPr eaLnBrk="1" hangingPunct="1"/>
            <a:r>
              <a:rPr lang="en-US" altLang="en-US" sz="2400" dirty="0">
                <a:latin typeface="Times New Roman" panose="02020603050405020304" pitchFamily="18" charset="0"/>
                <a:cs typeface="Times New Roman" panose="02020603050405020304" pitchFamily="18" charset="0"/>
              </a:rPr>
              <a:t>The Demand for Children in Developing Countries</a:t>
            </a:r>
          </a:p>
          <a:p>
            <a:pPr lvl="1" eaLnBrk="1" hangingPunct="1"/>
            <a:r>
              <a:rPr lang="en-US" altLang="en-US" sz="2400" dirty="0">
                <a:latin typeface="Times New Roman" panose="02020603050405020304" pitchFamily="18" charset="0"/>
                <a:cs typeface="Times New Roman" panose="02020603050405020304" pitchFamily="18" charset="0"/>
              </a:rPr>
              <a:t>First two or three as “consumer goods”</a:t>
            </a:r>
          </a:p>
          <a:p>
            <a:pPr lvl="1" eaLnBrk="1" hangingPunct="1"/>
            <a:r>
              <a:rPr lang="en-US" altLang="en-US" sz="2400" dirty="0">
                <a:latin typeface="Times New Roman" panose="02020603050405020304" pitchFamily="18" charset="0"/>
                <a:cs typeface="Times New Roman" panose="02020603050405020304" pitchFamily="18" charset="0"/>
              </a:rPr>
              <a:t>Additional children as “investment goods”:</a:t>
            </a:r>
          </a:p>
          <a:p>
            <a:pPr lvl="1" eaLnBrk="1" hangingPunct="1"/>
            <a:r>
              <a:rPr lang="en-US" altLang="en-US" sz="2400" dirty="0">
                <a:latin typeface="Times New Roman" panose="02020603050405020304" pitchFamily="18" charset="0"/>
                <a:cs typeface="Times New Roman" panose="02020603050405020304" pitchFamily="18" charset="0"/>
              </a:rPr>
              <a:t>Work on family farm, microenterprise</a:t>
            </a:r>
          </a:p>
          <a:p>
            <a:pPr lvl="1" eaLnBrk="1" hangingPunct="1"/>
            <a:r>
              <a:rPr lang="en-US" altLang="en-US" sz="2400" dirty="0">
                <a:latin typeface="Times New Roman" panose="02020603050405020304" pitchFamily="18" charset="0"/>
                <a:cs typeface="Times New Roman" panose="02020603050405020304" pitchFamily="18" charset="0"/>
              </a:rPr>
              <a:t>Old age security motivation</a:t>
            </a: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idx="4294967295"/>
          </p:nvPr>
        </p:nvSpPr>
        <p:spPr>
          <a:xfrm>
            <a:off x="457200" y="259524"/>
            <a:ext cx="8229600" cy="1143000"/>
          </a:xfrm>
        </p:spPr>
        <p:txBody>
          <a:bodyPr/>
          <a:lstStyle/>
          <a:p>
            <a:pPr eaLnBrk="1" hangingPunct="1"/>
            <a:r>
              <a:rPr lang="en-US" altLang="en-US" sz="2400" dirty="0"/>
              <a:t>Microeconomic Theory of Fertility: An Illustration</a:t>
            </a:r>
            <a:endParaRPr lang="en-GB" altLang="en-US" sz="1400" dirty="0"/>
          </a:p>
        </p:txBody>
      </p:sp>
      <p:pic>
        <p:nvPicPr>
          <p:cNvPr id="35843" name="Picture 1" descr="fig06_09.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1371600"/>
            <a:ext cx="7704138" cy="488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890" name="Object 2"/>
          <p:cNvGraphicFramePr>
            <a:graphicFrameLocks noChangeAspect="1"/>
          </p:cNvGraphicFramePr>
          <p:nvPr/>
        </p:nvGraphicFramePr>
        <p:xfrm>
          <a:off x="1258888" y="1700213"/>
          <a:ext cx="6215062" cy="720725"/>
        </p:xfrm>
        <a:graphic>
          <a:graphicData uri="http://schemas.openxmlformats.org/presentationml/2006/ole">
            <mc:AlternateContent xmlns:mc="http://schemas.openxmlformats.org/markup-compatibility/2006">
              <mc:Choice xmlns:v="urn:schemas-microsoft-com:vml" Requires="v">
                <p:oleObj name="Equation" r:id="rId3" imgW="1755360" imgH="191880" progId="Equation.3">
                  <p:embed/>
                </p:oleObj>
              </mc:Choice>
              <mc:Fallback>
                <p:oleObj name="Equation" r:id="rId3" imgW="1755360" imgH="19188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1700213"/>
                        <a:ext cx="6215062"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891" name="Text Box 4"/>
          <p:cNvSpPr txBox="1">
            <a:spLocks noChangeArrowheads="1"/>
          </p:cNvSpPr>
          <p:nvPr/>
        </p:nvSpPr>
        <p:spPr bwMode="auto">
          <a:xfrm>
            <a:off x="611188" y="836613"/>
            <a:ext cx="7497762"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37931725" indent="-37474525">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en-US" altLang="en-US" sz="2800">
                <a:latin typeface="Times New Roman" panose="02020603050405020304" pitchFamily="18" charset="0"/>
                <a:ea typeface="MS PGothic" panose="020B0600070205080204" pitchFamily="34" charset="-128"/>
                <a:cs typeface="Times New Roman" panose="02020603050405020304" pitchFamily="18" charset="0"/>
              </a:rPr>
              <a:t>Demand for Children Equation</a:t>
            </a:r>
            <a:endParaRPr lang="en-US" altLang="en-US" sz="2800">
              <a:latin typeface="Times New Roman" panose="02020603050405020304" pitchFamily="18" charset="0"/>
              <a:ea typeface="MS PGothic" panose="020B0600070205080204" pitchFamily="34" charset="-128"/>
              <a:cs typeface="Times New Roman" panose="02020603050405020304" pitchFamily="18" charset="0"/>
            </a:endParaRPr>
          </a:p>
          <a:p>
            <a:pPr>
              <a:spcBef>
                <a:spcPct val="0"/>
              </a:spcBef>
              <a:buFontTx/>
              <a:buNone/>
            </a:pPr>
            <a:endParaRPr lang="en-US" altLang="en-US" sz="2800">
              <a:latin typeface="Times New Roman" panose="02020603050405020304" pitchFamily="18" charset="0"/>
              <a:ea typeface="MS PGothic" panose="020B0600070205080204" pitchFamily="34" charset="-128"/>
              <a:cs typeface="Times New Roman" panose="02020603050405020304" pitchFamily="18" charset="0"/>
            </a:endParaRPr>
          </a:p>
          <a:p>
            <a:pPr>
              <a:spcBef>
                <a:spcPct val="0"/>
              </a:spcBef>
              <a:buFontTx/>
              <a:buNone/>
            </a:pPr>
            <a:endParaRPr lang="en-US" altLang="en-US" sz="2800">
              <a:latin typeface="Times New Roman" panose="02020603050405020304" pitchFamily="18" charset="0"/>
              <a:ea typeface="MS PGothic" panose="020B0600070205080204" pitchFamily="34" charset="-128"/>
              <a:cs typeface="Times New Roman" panose="02020603050405020304" pitchFamily="18" charset="0"/>
            </a:endParaRPr>
          </a:p>
          <a:p>
            <a:pPr>
              <a:spcBef>
                <a:spcPct val="0"/>
              </a:spcBef>
              <a:buFontTx/>
              <a:buNone/>
            </a:pPr>
            <a:endParaRPr lang="en-US" altLang="en-US" sz="2800">
              <a:latin typeface="Times New Roman" panose="02020603050405020304" pitchFamily="18" charset="0"/>
              <a:ea typeface="MS PGothic" panose="020B0600070205080204" pitchFamily="34" charset="-128"/>
              <a:cs typeface="Times New Roman" panose="02020603050405020304" pitchFamily="18" charset="0"/>
            </a:endParaRPr>
          </a:p>
          <a:p>
            <a:pPr>
              <a:spcBef>
                <a:spcPct val="0"/>
              </a:spcBef>
              <a:buFontTx/>
              <a:buNone/>
            </a:pPr>
            <a:r>
              <a:rPr lang="en-US" altLang="en-US" sz="2800">
                <a:latin typeface="Times New Roman" panose="02020603050405020304" pitchFamily="18" charset="0"/>
                <a:ea typeface="MS PGothic" panose="020B0600070205080204" pitchFamily="34" charset="-128"/>
                <a:cs typeface="Times New Roman" panose="02020603050405020304" pitchFamily="18" charset="0"/>
              </a:rPr>
              <a:t>where</a:t>
            </a:r>
          </a:p>
          <a:p>
            <a:pPr>
              <a:spcBef>
                <a:spcPct val="0"/>
              </a:spcBef>
              <a:buFontTx/>
              <a:buNone/>
            </a:pPr>
            <a:r>
              <a:rPr lang="en-US" altLang="en-US" sz="2800">
                <a:latin typeface="Times New Roman" panose="02020603050405020304" pitchFamily="18" charset="0"/>
                <a:ea typeface="MS PGothic" panose="020B0600070205080204" pitchFamily="34" charset="-128"/>
                <a:cs typeface="Times New Roman" panose="02020603050405020304" pitchFamily="18" charset="0"/>
              </a:rPr>
              <a:t>	</a:t>
            </a:r>
            <a:r>
              <a:rPr lang="en-US" altLang="en-US" sz="2800" i="1">
                <a:latin typeface="Times New Roman" panose="02020603050405020304" pitchFamily="18" charset="0"/>
                <a:ea typeface="MS PGothic" panose="020B0600070205080204" pitchFamily="34" charset="-128"/>
                <a:cs typeface="Times New Roman" panose="02020603050405020304" pitchFamily="18" charset="0"/>
              </a:rPr>
              <a:t>C</a:t>
            </a:r>
            <a:r>
              <a:rPr lang="en-US" altLang="en-US" sz="2800" i="1" baseline="-25000">
                <a:latin typeface="Times New Roman" panose="02020603050405020304" pitchFamily="18" charset="0"/>
                <a:ea typeface="MS PGothic" panose="020B0600070205080204" pitchFamily="34" charset="-128"/>
                <a:cs typeface="Times New Roman" panose="02020603050405020304" pitchFamily="18" charset="0"/>
              </a:rPr>
              <a:t>d</a:t>
            </a:r>
            <a:r>
              <a:rPr lang="en-US" altLang="en-US" sz="2800">
                <a:latin typeface="Times New Roman" panose="02020603050405020304" pitchFamily="18" charset="0"/>
                <a:ea typeface="MS PGothic" panose="020B0600070205080204" pitchFamily="34" charset="-128"/>
                <a:cs typeface="Times New Roman" panose="02020603050405020304" pitchFamily="18" charset="0"/>
              </a:rPr>
              <a:t> : is the demand for surviving children</a:t>
            </a:r>
          </a:p>
          <a:p>
            <a:pPr>
              <a:spcBef>
                <a:spcPct val="0"/>
              </a:spcBef>
              <a:buFontTx/>
              <a:buNone/>
            </a:pPr>
            <a:r>
              <a:rPr lang="en-US" altLang="en-US" sz="2800">
                <a:latin typeface="Times New Roman" panose="02020603050405020304" pitchFamily="18" charset="0"/>
                <a:ea typeface="MS PGothic" panose="020B0600070205080204" pitchFamily="34" charset="-128"/>
                <a:cs typeface="Times New Roman" panose="02020603050405020304" pitchFamily="18" charset="0"/>
              </a:rPr>
              <a:t>	</a:t>
            </a:r>
            <a:r>
              <a:rPr lang="en-US" altLang="en-US" sz="2800" i="1">
                <a:latin typeface="Times New Roman" panose="02020603050405020304" pitchFamily="18" charset="0"/>
                <a:ea typeface="MS PGothic" panose="020B0600070205080204" pitchFamily="34" charset="-128"/>
                <a:cs typeface="Times New Roman" panose="02020603050405020304" pitchFamily="18" charset="0"/>
              </a:rPr>
              <a:t>Y</a:t>
            </a:r>
            <a:r>
              <a:rPr lang="en-US" altLang="en-US" sz="2800">
                <a:latin typeface="Times New Roman" panose="02020603050405020304" pitchFamily="18" charset="0"/>
                <a:ea typeface="MS PGothic" panose="020B0600070205080204" pitchFamily="34" charset="-128"/>
                <a:cs typeface="Times New Roman" panose="02020603050405020304" pitchFamily="18" charset="0"/>
              </a:rPr>
              <a:t> : is the level of household income</a:t>
            </a:r>
          </a:p>
          <a:p>
            <a:pPr>
              <a:spcBef>
                <a:spcPct val="0"/>
              </a:spcBef>
              <a:buFontTx/>
              <a:buNone/>
            </a:pPr>
            <a:r>
              <a:rPr lang="en-US" altLang="en-US" sz="2800">
                <a:latin typeface="Times New Roman" panose="02020603050405020304" pitchFamily="18" charset="0"/>
                <a:ea typeface="MS PGothic" panose="020B0600070205080204" pitchFamily="34" charset="-128"/>
                <a:cs typeface="Times New Roman" panose="02020603050405020304" pitchFamily="18" charset="0"/>
              </a:rPr>
              <a:t>	</a:t>
            </a:r>
            <a:r>
              <a:rPr lang="en-US" altLang="en-US" sz="2800" i="1">
                <a:latin typeface="Times New Roman" panose="02020603050405020304" pitchFamily="18" charset="0"/>
                <a:ea typeface="MS PGothic" panose="020B0600070205080204" pitchFamily="34" charset="-128"/>
                <a:cs typeface="Times New Roman" panose="02020603050405020304" pitchFamily="18" charset="0"/>
              </a:rPr>
              <a:t>P</a:t>
            </a:r>
            <a:r>
              <a:rPr lang="en-US" altLang="en-US" sz="2800" i="1" baseline="-25000">
                <a:latin typeface="Times New Roman" panose="02020603050405020304" pitchFamily="18" charset="0"/>
                <a:ea typeface="MS PGothic" panose="020B0600070205080204" pitchFamily="34" charset="-128"/>
                <a:cs typeface="Times New Roman" panose="02020603050405020304" pitchFamily="18" charset="0"/>
              </a:rPr>
              <a:t>c</a:t>
            </a:r>
            <a:r>
              <a:rPr lang="en-US" altLang="en-US" sz="2800">
                <a:latin typeface="Times New Roman" panose="02020603050405020304" pitchFamily="18" charset="0"/>
                <a:ea typeface="MS PGothic" panose="020B0600070205080204" pitchFamily="34" charset="-128"/>
                <a:cs typeface="Times New Roman" panose="02020603050405020304" pitchFamily="18" charset="0"/>
              </a:rPr>
              <a:t> : is the </a:t>
            </a:r>
            <a:r>
              <a:rPr lang="ja-JP" altLang="en-US" sz="2800">
                <a:latin typeface="Times New Roman" panose="02020603050405020304" pitchFamily="18" charset="0"/>
                <a:ea typeface="MS PGothic" panose="020B0600070205080204" pitchFamily="34" charset="-128"/>
                <a:cs typeface="Times New Roman" panose="02020603050405020304" pitchFamily="18" charset="0"/>
              </a:rPr>
              <a:t>“</a:t>
            </a:r>
            <a:r>
              <a:rPr lang="en-US" altLang="en-US" sz="2800">
                <a:latin typeface="Times New Roman" panose="02020603050405020304" pitchFamily="18" charset="0"/>
                <a:ea typeface="MS PGothic" panose="020B0600070205080204" pitchFamily="34" charset="-128"/>
                <a:cs typeface="Times New Roman" panose="02020603050405020304" pitchFamily="18" charset="0"/>
              </a:rPr>
              <a:t>net</a:t>
            </a:r>
            <a:r>
              <a:rPr lang="ja-JP" altLang="en-US" sz="2800">
                <a:latin typeface="Times New Roman" panose="02020603050405020304" pitchFamily="18" charset="0"/>
                <a:ea typeface="MS PGothic" panose="020B0600070205080204" pitchFamily="34" charset="-128"/>
                <a:cs typeface="Times New Roman" panose="02020603050405020304" pitchFamily="18" charset="0"/>
              </a:rPr>
              <a:t>”</a:t>
            </a:r>
            <a:r>
              <a:rPr lang="en-US" altLang="en-US" sz="2800">
                <a:latin typeface="Times New Roman" panose="02020603050405020304" pitchFamily="18" charset="0"/>
                <a:ea typeface="MS PGothic" panose="020B0600070205080204" pitchFamily="34" charset="-128"/>
                <a:cs typeface="Times New Roman" panose="02020603050405020304" pitchFamily="18" charset="0"/>
              </a:rPr>
              <a:t> price of children</a:t>
            </a:r>
          </a:p>
          <a:p>
            <a:pPr>
              <a:spcBef>
                <a:spcPct val="0"/>
              </a:spcBef>
              <a:buFontTx/>
              <a:buNone/>
            </a:pPr>
            <a:r>
              <a:rPr lang="en-US" altLang="en-US" sz="2800">
                <a:latin typeface="Times New Roman" panose="02020603050405020304" pitchFamily="18" charset="0"/>
                <a:ea typeface="MS PGothic" panose="020B0600070205080204" pitchFamily="34" charset="-128"/>
                <a:cs typeface="Times New Roman" panose="02020603050405020304" pitchFamily="18" charset="0"/>
              </a:rPr>
              <a:t>	</a:t>
            </a:r>
            <a:r>
              <a:rPr lang="en-US" altLang="en-US" sz="2800" i="1">
                <a:latin typeface="Times New Roman" panose="02020603050405020304" pitchFamily="18" charset="0"/>
                <a:ea typeface="MS PGothic" panose="020B0600070205080204" pitchFamily="34" charset="-128"/>
                <a:cs typeface="Times New Roman" panose="02020603050405020304" pitchFamily="18" charset="0"/>
              </a:rPr>
              <a:t>P</a:t>
            </a:r>
            <a:r>
              <a:rPr lang="en-US" altLang="en-US" sz="2800" i="1" baseline="-25000">
                <a:latin typeface="Times New Roman" panose="02020603050405020304" pitchFamily="18" charset="0"/>
                <a:ea typeface="MS PGothic" panose="020B0600070205080204" pitchFamily="34" charset="-128"/>
                <a:cs typeface="Times New Roman" panose="02020603050405020304" pitchFamily="18" charset="0"/>
              </a:rPr>
              <a:t>x</a:t>
            </a:r>
            <a:r>
              <a:rPr lang="en-US" altLang="en-US" sz="2800">
                <a:latin typeface="Times New Roman" panose="02020603050405020304" pitchFamily="18" charset="0"/>
                <a:ea typeface="MS PGothic" panose="020B0600070205080204" pitchFamily="34" charset="-128"/>
                <a:cs typeface="Times New Roman" panose="02020603050405020304" pitchFamily="18" charset="0"/>
              </a:rPr>
              <a:t> : is price of all other goods</a:t>
            </a:r>
          </a:p>
          <a:p>
            <a:pPr>
              <a:spcBef>
                <a:spcPct val="0"/>
              </a:spcBef>
              <a:buFontTx/>
              <a:buNone/>
            </a:pPr>
            <a:r>
              <a:rPr lang="en-US" altLang="en-US" sz="2800">
                <a:latin typeface="Times New Roman" panose="02020603050405020304" pitchFamily="18" charset="0"/>
                <a:ea typeface="MS PGothic" panose="020B0600070205080204" pitchFamily="34" charset="-128"/>
                <a:cs typeface="Times New Roman" panose="02020603050405020304" pitchFamily="18" charset="0"/>
              </a:rPr>
              <a:t>	</a:t>
            </a:r>
            <a:r>
              <a:rPr lang="en-US" altLang="en-US" sz="2800" i="1">
                <a:latin typeface="Times New Roman" panose="02020603050405020304" pitchFamily="18" charset="0"/>
                <a:ea typeface="MS PGothic" panose="020B0600070205080204" pitchFamily="34" charset="-128"/>
                <a:cs typeface="Times New Roman" panose="02020603050405020304" pitchFamily="18" charset="0"/>
              </a:rPr>
              <a:t>t</a:t>
            </a:r>
            <a:r>
              <a:rPr lang="en-US" altLang="en-US" sz="2800" i="1" baseline="-25000">
                <a:latin typeface="Times New Roman" panose="02020603050405020304" pitchFamily="18" charset="0"/>
                <a:ea typeface="MS PGothic" panose="020B0600070205080204" pitchFamily="34" charset="-128"/>
                <a:cs typeface="Times New Roman" panose="02020603050405020304" pitchFamily="18" charset="0"/>
              </a:rPr>
              <a:t>x</a:t>
            </a:r>
            <a:r>
              <a:rPr lang="en-US" altLang="en-US" sz="2800">
                <a:latin typeface="Times New Roman" panose="02020603050405020304" pitchFamily="18" charset="0"/>
                <a:ea typeface="MS PGothic" panose="020B0600070205080204" pitchFamily="34" charset="-128"/>
                <a:cs typeface="Times New Roman" panose="02020603050405020304" pitchFamily="18" charset="0"/>
              </a:rPr>
              <a:t> : is the tastes for goods relative to children</a:t>
            </a:r>
            <a:endParaRPr lang="en-US" altLang="en-US" sz="2400">
              <a:latin typeface="Times New Roman" panose="02020603050405020304" pitchFamily="18" charset="0"/>
              <a:ea typeface="MS PGothic" panose="020B0600070205080204" pitchFamily="34" charset="-128"/>
              <a:cs typeface="Times New Roman" panose="02020603050405020304" pitchFamily="18" charset="0"/>
            </a:endParaRP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Box 1"/>
          <p:cNvSpPr txBox="1">
            <a:spLocks noChangeArrowheads="1"/>
          </p:cNvSpPr>
          <p:nvPr/>
        </p:nvSpPr>
        <p:spPr bwMode="auto">
          <a:xfrm>
            <a:off x="250825" y="1125538"/>
            <a:ext cx="8534400" cy="489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r>
              <a:rPr lang="en-US" altLang="en-US" sz="2400">
                <a:latin typeface="Times New Roman" panose="02020603050405020304" pitchFamily="18" charset="0"/>
                <a:cs typeface="Times New Roman" panose="02020603050405020304" pitchFamily="18" charset="0"/>
              </a:rPr>
              <a:t>The higher the household income, the greater the demand for children.</a:t>
            </a:r>
          </a:p>
          <a:p>
            <a:pPr>
              <a:spcBef>
                <a:spcPct val="0"/>
              </a:spcBef>
            </a:pPr>
            <a:endParaRPr lang="en-US" altLang="en-US" sz="2400">
              <a:latin typeface="Times New Roman" panose="02020603050405020304" pitchFamily="18" charset="0"/>
              <a:cs typeface="Times New Roman" panose="02020603050405020304" pitchFamily="18" charset="0"/>
            </a:endParaRPr>
          </a:p>
          <a:p>
            <a:pPr>
              <a:spcBef>
                <a:spcPct val="0"/>
              </a:spcBef>
            </a:pPr>
            <a:r>
              <a:rPr lang="en-US" altLang="en-US" sz="2400">
                <a:latin typeface="Times New Roman" panose="02020603050405020304" pitchFamily="18" charset="0"/>
                <a:cs typeface="Times New Roman" panose="02020603050405020304" pitchFamily="18" charset="0"/>
              </a:rPr>
              <a:t>The higher the net price of children, the lower the quantity demanded.</a:t>
            </a:r>
          </a:p>
          <a:p>
            <a:pPr>
              <a:spcBef>
                <a:spcPct val="0"/>
              </a:spcBef>
            </a:pPr>
            <a:endParaRPr lang="en-US" altLang="en-US" sz="2400">
              <a:latin typeface="Times New Roman" panose="02020603050405020304" pitchFamily="18" charset="0"/>
              <a:cs typeface="Times New Roman" panose="02020603050405020304" pitchFamily="18" charset="0"/>
            </a:endParaRPr>
          </a:p>
          <a:p>
            <a:pPr>
              <a:spcBef>
                <a:spcPct val="0"/>
              </a:spcBef>
            </a:pPr>
            <a:r>
              <a:rPr lang="en-US" altLang="en-US" sz="2400">
                <a:latin typeface="Times New Roman" panose="02020603050405020304" pitchFamily="18" charset="0"/>
                <a:cs typeface="Times New Roman" panose="02020603050405020304" pitchFamily="18" charset="0"/>
              </a:rPr>
              <a:t>The higher the prices of all other goods relative to children, the greater the quantity of children demanded.</a:t>
            </a:r>
          </a:p>
          <a:p>
            <a:pPr>
              <a:spcBef>
                <a:spcPct val="0"/>
              </a:spcBef>
            </a:pPr>
            <a:endParaRPr lang="en-US" altLang="en-US" sz="2400">
              <a:latin typeface="Times New Roman" panose="02020603050405020304" pitchFamily="18" charset="0"/>
              <a:cs typeface="Times New Roman" panose="02020603050405020304" pitchFamily="18" charset="0"/>
            </a:endParaRPr>
          </a:p>
          <a:p>
            <a:pPr>
              <a:spcBef>
                <a:spcPct val="0"/>
              </a:spcBef>
            </a:pPr>
            <a:r>
              <a:rPr lang="en-US" altLang="en-US" sz="2400">
                <a:latin typeface="Times New Roman" panose="02020603050405020304" pitchFamily="18" charset="0"/>
                <a:cs typeface="Times New Roman" panose="02020603050405020304" pitchFamily="18" charset="0"/>
              </a:rPr>
              <a:t>The greater the strength of tastes for goods relative to children, the fewer children demanded.</a:t>
            </a:r>
          </a:p>
          <a:p>
            <a:pPr>
              <a:spcBef>
                <a:spcPct val="0"/>
              </a:spcBef>
            </a:pPr>
            <a:endParaRPr lang="en-US" altLang="en-US" sz="2400">
              <a:latin typeface="Times New Roman" panose="02020603050405020304" pitchFamily="18" charset="0"/>
              <a:cs typeface="Times New Roman" panose="02020603050405020304" pitchFamily="18" charset="0"/>
            </a:endParaRPr>
          </a:p>
          <a:p>
            <a:pPr>
              <a:spcBef>
                <a:spcPct val="0"/>
              </a:spcBef>
            </a:pPr>
            <a:endParaRPr lang="en-US" altLang="en-US" sz="2400">
              <a:latin typeface="Times New Roman" panose="02020603050405020304" pitchFamily="18" charset="0"/>
              <a:cs typeface="Times New Roman" panose="02020603050405020304" pitchFamily="18" charset="0"/>
            </a:endParaRP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Box 2"/>
          <p:cNvSpPr txBox="1">
            <a:spLocks noChangeArrowheads="1"/>
          </p:cNvSpPr>
          <p:nvPr/>
        </p:nvSpPr>
        <p:spPr bwMode="auto">
          <a:xfrm>
            <a:off x="369888" y="1333500"/>
            <a:ext cx="8234362" cy="483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914400" indent="-4572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en-US" sz="2400">
                <a:latin typeface="Times New Roman" panose="02020603050405020304" pitchFamily="18" charset="0"/>
                <a:cs typeface="Times New Roman" panose="02020603050405020304" pitchFamily="18" charset="0"/>
              </a:rPr>
              <a:t>Fertility may be lowered with:</a:t>
            </a:r>
          </a:p>
          <a:p>
            <a:pPr lvl="1">
              <a:spcBef>
                <a:spcPct val="0"/>
              </a:spcBef>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Improved women’s education, role, and status</a:t>
            </a:r>
          </a:p>
          <a:p>
            <a:pPr lvl="1">
              <a:spcBef>
                <a:spcPct val="0"/>
              </a:spcBef>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Female nonagricultural wage employment</a:t>
            </a:r>
          </a:p>
          <a:p>
            <a:pPr lvl="1">
              <a:spcBef>
                <a:spcPct val="0"/>
              </a:spcBef>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Rise in family income levels through shared growth</a:t>
            </a:r>
          </a:p>
          <a:p>
            <a:pPr lvl="1">
              <a:spcBef>
                <a:spcPct val="0"/>
              </a:spcBef>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Reduction in infant mortality, better health care</a:t>
            </a:r>
          </a:p>
          <a:p>
            <a:pPr lvl="1">
              <a:spcBef>
                <a:spcPct val="0"/>
              </a:spcBef>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Development of old-age and social security plans</a:t>
            </a:r>
          </a:p>
          <a:p>
            <a:pPr lvl="1">
              <a:spcBef>
                <a:spcPct val="0"/>
              </a:spcBef>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Expanded schooling opportunities, lowered real costs</a:t>
            </a:r>
          </a:p>
          <a:p>
            <a:pPr lvl="1">
              <a:spcBef>
                <a:spcPct val="0"/>
              </a:spcBef>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Lowered prices and better information on contraceptives</a:t>
            </a:r>
          </a:p>
          <a:p>
            <a:pPr lvl="1">
              <a:spcBef>
                <a:spcPct val="0"/>
              </a:spcBef>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Direct incentives such as subsidy benefits</a:t>
            </a:r>
          </a:p>
          <a:p>
            <a:pPr lvl="1">
              <a:spcBef>
                <a:spcPct val="0"/>
              </a:spcBef>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Policies that have the effect of reducing boy preference</a:t>
            </a:r>
            <a:endParaRPr lang="en-US" altLang="en-US">
              <a:latin typeface="Times New Roman" panose="02020603050405020304" pitchFamily="18" charset="0"/>
              <a:cs typeface="Times New Roman" panose="02020603050405020304" pitchFamily="18" charset="0"/>
            </a:endParaRPr>
          </a:p>
          <a:p>
            <a:pPr>
              <a:spcBef>
                <a:spcPct val="0"/>
              </a:spcBef>
              <a:buFontTx/>
              <a:buNone/>
            </a:pPr>
            <a:endParaRPr lang="en-US" altLang="en-US" sz="2400">
              <a:latin typeface="Times New Roman" panose="02020603050405020304" pitchFamily="18" charset="0"/>
              <a:cs typeface="Times New Roman" panose="02020603050405020304" pitchFamily="18" charset="0"/>
            </a:endParaRPr>
          </a:p>
          <a:p>
            <a:pPr>
              <a:spcBef>
                <a:spcPct val="0"/>
              </a:spcBef>
              <a:buFontTx/>
              <a:buNone/>
            </a:pPr>
            <a:r>
              <a:rPr lang="en-US" altLang="en-US" sz="2400">
                <a:latin typeface="Times New Roman" panose="02020603050405020304" pitchFamily="18" charset="0"/>
                <a:cs typeface="Times New Roman" panose="02020603050405020304" pitchFamily="18" charset="0"/>
              </a:rPr>
              <a:t>The above list provides a framework for policy.</a:t>
            </a:r>
          </a:p>
          <a:p>
            <a:pPr>
              <a:spcBef>
                <a:spcPct val="0"/>
              </a:spcBef>
              <a:buFontTx/>
              <a:buNone/>
            </a:pPr>
            <a:endParaRPr lang="en-US" altLang="en-US" sz="2800">
              <a:latin typeface="Times New Roman" panose="02020603050405020304" pitchFamily="18" charset="0"/>
              <a:cs typeface="Times New Roman" panose="02020603050405020304" pitchFamily="18" charset="0"/>
            </a:endParaRPr>
          </a:p>
          <a:p>
            <a:pPr>
              <a:spcBef>
                <a:spcPct val="0"/>
              </a:spcBef>
              <a:buFontTx/>
              <a:buNone/>
            </a:pPr>
            <a:endParaRPr lang="en-US" altLang="en-US" sz="280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2FC98C5-6E05-489F-BDF0-3D69817A3A03}"/>
              </a:ext>
            </a:extLst>
          </p:cNvPr>
          <p:cNvSpPr txBox="1">
            <a:spLocks noChangeArrowheads="1"/>
          </p:cNvSpPr>
          <p:nvPr/>
        </p:nvSpPr>
        <p:spPr bwMode="auto">
          <a:xfrm>
            <a:off x="323850" y="188913"/>
            <a:ext cx="82296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pPr algn="l">
              <a:defRPr/>
            </a:pPr>
            <a:r>
              <a:rPr lang="en-US" sz="2800" kern="0" dirty="0">
                <a:latin typeface="Times New Roman" panose="02020603050405020304" pitchFamily="18" charset="0"/>
                <a:cs typeface="Times New Roman" panose="02020603050405020304" pitchFamily="18" charset="0"/>
              </a:rPr>
              <a:t>Lessons from Microeconomic Household Models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4"/>
          <p:cNvSpPr>
            <a:spLocks noGrp="1" noChangeArrowheads="1"/>
          </p:cNvSpPr>
          <p:nvPr>
            <p:ph type="title" idx="4294967295"/>
          </p:nvPr>
        </p:nvSpPr>
        <p:spPr>
          <a:xfrm>
            <a:off x="323850" y="333375"/>
            <a:ext cx="8229600" cy="854075"/>
          </a:xfrm>
        </p:spPr>
        <p:txBody>
          <a:bodyPr/>
          <a:lstStyle/>
          <a:p>
            <a:pPr algn="l"/>
            <a:r>
              <a:rPr lang="en-US" altLang="en-US" sz="2800" dirty="0">
                <a:latin typeface="Times New Roman" panose="02020603050405020304" pitchFamily="18" charset="0"/>
                <a:cs typeface="Times New Roman" panose="02020603050405020304" pitchFamily="18" charset="0"/>
              </a:rPr>
              <a:t>Some conflicting perspectives</a:t>
            </a:r>
          </a:p>
        </p:txBody>
      </p:sp>
      <p:sp>
        <p:nvSpPr>
          <p:cNvPr id="43011" name="Rectangle 5"/>
          <p:cNvSpPr>
            <a:spLocks noGrp="1" noChangeArrowheads="1"/>
          </p:cNvSpPr>
          <p:nvPr>
            <p:ph type="body" idx="4294967295"/>
          </p:nvPr>
        </p:nvSpPr>
        <p:spPr/>
        <p:txBody>
          <a:bodyPr/>
          <a:lstStyle/>
          <a:p>
            <a:pPr eaLnBrk="1" hangingPunct="1"/>
            <a:r>
              <a:rPr lang="en-US" altLang="en-US" sz="2400" dirty="0">
                <a:latin typeface="Times New Roman" panose="02020603050405020304" pitchFamily="18" charset="0"/>
                <a:cs typeface="Times New Roman" panose="02020603050405020304" pitchFamily="18" charset="0"/>
              </a:rPr>
              <a:t>Population growth: </a:t>
            </a:r>
            <a:r>
              <a:rPr lang="ja-JP" altLang="en-US" sz="2400" dirty="0">
                <a:latin typeface="Times New Roman" panose="02020603050405020304" pitchFamily="18" charset="0"/>
                <a:cs typeface="Times New Roman" panose="02020603050405020304" pitchFamily="18" charset="0"/>
              </a:rPr>
              <a:t>“</a:t>
            </a:r>
            <a:r>
              <a:rPr lang="en-US" altLang="ja-JP" sz="2400" dirty="0">
                <a:latin typeface="Times New Roman" panose="02020603050405020304" pitchFamily="18" charset="0"/>
                <a:cs typeface="Times New Roman" panose="02020603050405020304" pitchFamily="18" charset="0"/>
              </a:rPr>
              <a:t>It’s</a:t>
            </a:r>
            <a:r>
              <a:rPr lang="en-US" altLang="en-US" sz="2400" dirty="0">
                <a:latin typeface="Times New Roman" panose="02020603050405020304" pitchFamily="18" charset="0"/>
                <a:cs typeface="Times New Roman" panose="02020603050405020304" pitchFamily="18" charset="0"/>
              </a:rPr>
              <a:t> Not a Real Problem</a:t>
            </a:r>
            <a:r>
              <a:rPr lang="ja-JP" altLang="en-US" sz="2400" dirty="0">
                <a:latin typeface="Times New Roman" panose="02020603050405020304" pitchFamily="18" charset="0"/>
                <a:cs typeface="Times New Roman" panose="02020603050405020304" pitchFamily="18" charset="0"/>
              </a:rPr>
              <a:t>”</a:t>
            </a:r>
            <a:r>
              <a:rPr lang="en-US" altLang="en-US" sz="2400" dirty="0">
                <a:latin typeface="Times New Roman" panose="02020603050405020304" pitchFamily="18" charset="0"/>
                <a:cs typeface="Times New Roman" panose="02020603050405020304" pitchFamily="18" charset="0"/>
              </a:rPr>
              <a:t>:</a:t>
            </a:r>
          </a:p>
          <a:p>
            <a:pPr lvl="1" eaLnBrk="1" hangingPunct="1"/>
            <a:r>
              <a:rPr lang="en-US" altLang="en-US" sz="2000" dirty="0">
                <a:latin typeface="Times New Roman" panose="02020603050405020304" pitchFamily="18" charset="0"/>
                <a:cs typeface="Times New Roman" panose="02020603050405020304" pitchFamily="18" charset="0"/>
              </a:rPr>
              <a:t>The real problem is not population growth but the following, </a:t>
            </a:r>
          </a:p>
          <a:p>
            <a:pPr lvl="2" eaLnBrk="1" hangingPunct="1"/>
            <a:r>
              <a:rPr lang="en-US" altLang="en-US" sz="1800" dirty="0">
                <a:latin typeface="Times New Roman" panose="02020603050405020304" pitchFamily="18" charset="0"/>
                <a:cs typeface="Times New Roman" panose="02020603050405020304" pitchFamily="18" charset="0"/>
              </a:rPr>
              <a:t>Underdevelopment </a:t>
            </a:r>
          </a:p>
          <a:p>
            <a:pPr lvl="2" eaLnBrk="1" hangingPunct="1"/>
            <a:r>
              <a:rPr lang="en-US" altLang="en-US" sz="1800" dirty="0">
                <a:latin typeface="Times New Roman" panose="02020603050405020304" pitchFamily="18" charset="0"/>
                <a:cs typeface="Times New Roman" panose="02020603050405020304" pitchFamily="18" charset="0"/>
              </a:rPr>
              <a:t>World resource depletion and environmental destruction</a:t>
            </a:r>
          </a:p>
          <a:p>
            <a:pPr lvl="2" eaLnBrk="1" hangingPunct="1"/>
            <a:r>
              <a:rPr lang="en-US" altLang="en-US" sz="1800" dirty="0">
                <a:latin typeface="Times New Roman" panose="02020603050405020304" pitchFamily="18" charset="0"/>
                <a:cs typeface="Times New Roman" panose="02020603050405020304" pitchFamily="18" charset="0"/>
              </a:rPr>
              <a:t>Population Distribution</a:t>
            </a:r>
          </a:p>
          <a:p>
            <a:pPr lvl="2" eaLnBrk="1" hangingPunct="1"/>
            <a:r>
              <a:rPr lang="en-US" altLang="en-US" sz="1800" dirty="0">
                <a:latin typeface="Times New Roman" panose="02020603050405020304" pitchFamily="18" charset="0"/>
                <a:cs typeface="Times New Roman" panose="02020603050405020304" pitchFamily="18" charset="0"/>
              </a:rPr>
              <a:t>Subordination of women</a:t>
            </a:r>
          </a:p>
          <a:p>
            <a:pPr lvl="2" eaLnBrk="1" hangingPunct="1"/>
            <a:endParaRPr lang="en-US" altLang="en-US" sz="1800" dirty="0">
              <a:latin typeface="Times New Roman" panose="02020603050405020304" pitchFamily="18" charset="0"/>
              <a:cs typeface="Times New Roman" panose="02020603050405020304" pitchFamily="18" charset="0"/>
            </a:endParaRPr>
          </a:p>
          <a:p>
            <a:pPr eaLnBrk="1" hangingPunct="1"/>
            <a:r>
              <a:rPr lang="en-US" altLang="en-US" sz="2400" dirty="0">
                <a:latin typeface="Times New Roman" panose="02020603050405020304" pitchFamily="18" charset="0"/>
                <a:cs typeface="Times New Roman" panose="02020603050405020304" pitchFamily="18" charset="0"/>
              </a:rPr>
              <a:t>“Overpopulation is a Deliberately Contrived False Issue”</a:t>
            </a:r>
          </a:p>
          <a:p>
            <a:pPr eaLnBrk="1" hangingPunct="1"/>
            <a:endParaRPr lang="en-US" altLang="en-US" sz="2400" dirty="0">
              <a:latin typeface="Times New Roman" panose="02020603050405020304" pitchFamily="18" charset="0"/>
              <a:cs typeface="Times New Roman" panose="02020603050405020304" pitchFamily="18" charset="0"/>
            </a:endParaRPr>
          </a:p>
          <a:p>
            <a:pPr eaLnBrk="1" hangingPunct="1"/>
            <a:r>
              <a:rPr lang="en-US" altLang="en-US" sz="2400" dirty="0">
                <a:latin typeface="Times New Roman" panose="02020603050405020304" pitchFamily="18" charset="0"/>
                <a:cs typeface="Times New Roman" panose="02020603050405020304" pitchFamily="18" charset="0"/>
              </a:rPr>
              <a:t>“Population Growth is a Desirable Phenomenon”</a:t>
            </a:r>
          </a:p>
          <a:p>
            <a:pPr lvl="1" eaLnBrk="1" hangingPunct="1"/>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idx="4294967295"/>
          </p:nvPr>
        </p:nvSpPr>
        <p:spPr>
          <a:xfrm>
            <a:off x="457200" y="274638"/>
            <a:ext cx="8229600" cy="850900"/>
          </a:xfrm>
        </p:spPr>
        <p:txBody>
          <a:bodyPr/>
          <a:lstStyle/>
          <a:p>
            <a:pPr algn="l" eaLnBrk="1" hangingPunct="1"/>
            <a:r>
              <a:rPr lang="en-US" altLang="en-US" sz="2800" dirty="0">
                <a:latin typeface="Times New Roman" panose="02020603050405020304" pitchFamily="18" charset="0"/>
                <a:cs typeface="Times New Roman" panose="02020603050405020304" pitchFamily="18" charset="0"/>
              </a:rPr>
              <a:t>Some conflicting perspectives</a:t>
            </a:r>
            <a:endParaRPr lang="en-GB" altLang="en-US" sz="2800" dirty="0"/>
          </a:p>
        </p:txBody>
      </p:sp>
      <p:sp>
        <p:nvSpPr>
          <p:cNvPr id="45059" name="Rectangle 3"/>
          <p:cNvSpPr>
            <a:spLocks noGrp="1" noChangeArrowheads="1"/>
          </p:cNvSpPr>
          <p:nvPr>
            <p:ph type="body" idx="4294967295"/>
          </p:nvPr>
        </p:nvSpPr>
        <p:spPr/>
        <p:txBody>
          <a:bodyPr/>
          <a:lstStyle/>
          <a:p>
            <a:pPr eaLnBrk="1" hangingPunct="1">
              <a:lnSpc>
                <a:spcPct val="80000"/>
              </a:lnSpc>
            </a:pPr>
            <a:r>
              <a:rPr lang="en-US" altLang="en-US" dirty="0">
                <a:latin typeface="Times New Roman" panose="02020603050405020304" pitchFamily="18" charset="0"/>
                <a:cs typeface="Times New Roman" panose="02020603050405020304" pitchFamily="18" charset="0"/>
              </a:rPr>
              <a:t>“</a:t>
            </a:r>
            <a:r>
              <a:rPr lang="en-US" altLang="en-US" sz="2800" dirty="0">
                <a:latin typeface="Times New Roman" panose="02020603050405020304" pitchFamily="18" charset="0"/>
                <a:cs typeface="Times New Roman" panose="02020603050405020304" pitchFamily="18" charset="0"/>
              </a:rPr>
              <a:t>Population Growth </a:t>
            </a:r>
            <a:r>
              <a:rPr lang="en-US" altLang="en-US" sz="2800" i="1" dirty="0">
                <a:latin typeface="Times New Roman" panose="02020603050405020304" pitchFamily="18" charset="0"/>
                <a:cs typeface="Times New Roman" panose="02020603050405020304" pitchFamily="18" charset="0"/>
              </a:rPr>
              <a:t>Is</a:t>
            </a:r>
            <a:r>
              <a:rPr lang="en-US" altLang="en-US" sz="2800" dirty="0">
                <a:latin typeface="Times New Roman" panose="02020603050405020304" pitchFamily="18" charset="0"/>
                <a:cs typeface="Times New Roman" panose="02020603050405020304" pitchFamily="18" charset="0"/>
              </a:rPr>
              <a:t> a Real Problem</a:t>
            </a:r>
            <a:r>
              <a:rPr lang="en-US" altLang="en-US" dirty="0">
                <a:latin typeface="Times New Roman" panose="02020603050405020304" pitchFamily="18" charset="0"/>
                <a:cs typeface="Times New Roman" panose="02020603050405020304" pitchFamily="18" charset="0"/>
              </a:rPr>
              <a:t>”</a:t>
            </a:r>
          </a:p>
          <a:p>
            <a:pPr lvl="1" eaLnBrk="1" hangingPunct="1">
              <a:lnSpc>
                <a:spcPct val="80000"/>
              </a:lnSpc>
            </a:pPr>
            <a:r>
              <a:rPr lang="en-US" altLang="en-US" sz="2400" dirty="0">
                <a:latin typeface="Times New Roman" panose="02020603050405020304" pitchFamily="18" charset="0"/>
                <a:cs typeface="Times New Roman" panose="02020603050405020304" pitchFamily="18" charset="0"/>
              </a:rPr>
              <a:t>Extremist arguments</a:t>
            </a:r>
          </a:p>
          <a:p>
            <a:pPr lvl="1" eaLnBrk="1" hangingPunct="1">
              <a:lnSpc>
                <a:spcPct val="80000"/>
              </a:lnSpc>
            </a:pPr>
            <a:r>
              <a:rPr lang="en-US" altLang="en-US" sz="2400" dirty="0">
                <a:latin typeface="Times New Roman" panose="02020603050405020304" pitchFamily="18" charset="0"/>
                <a:cs typeface="Times New Roman" panose="02020603050405020304" pitchFamily="18" charset="0"/>
              </a:rPr>
              <a:t>Theoretical arguments</a:t>
            </a:r>
          </a:p>
          <a:p>
            <a:pPr lvl="1" eaLnBrk="1" hangingPunct="1">
              <a:lnSpc>
                <a:spcPct val="80000"/>
              </a:lnSpc>
            </a:pPr>
            <a:r>
              <a:rPr lang="en-US" altLang="en-US" sz="2400" dirty="0">
                <a:latin typeface="Times New Roman" panose="02020603050405020304" pitchFamily="18" charset="0"/>
                <a:cs typeface="Times New Roman" panose="02020603050405020304" pitchFamily="18" charset="0"/>
              </a:rPr>
              <a:t>Empirical arguments</a:t>
            </a:r>
          </a:p>
          <a:p>
            <a:pPr lvl="2" eaLnBrk="1" hangingPunct="1">
              <a:lnSpc>
                <a:spcPct val="80000"/>
              </a:lnSpc>
            </a:pPr>
            <a:r>
              <a:rPr lang="en-US" altLang="en-US" sz="2000" dirty="0">
                <a:latin typeface="Times New Roman" panose="02020603050405020304" pitchFamily="18" charset="0"/>
                <a:cs typeface="Times New Roman" panose="02020603050405020304" pitchFamily="18" charset="0"/>
              </a:rPr>
              <a:t>Lower economic growth</a:t>
            </a:r>
          </a:p>
          <a:p>
            <a:pPr lvl="2" eaLnBrk="1" hangingPunct="1">
              <a:lnSpc>
                <a:spcPct val="80000"/>
              </a:lnSpc>
            </a:pPr>
            <a:r>
              <a:rPr lang="en-US" altLang="en-US" sz="2000" dirty="0">
                <a:latin typeface="Times New Roman" panose="02020603050405020304" pitchFamily="18" charset="0"/>
                <a:cs typeface="Times New Roman" panose="02020603050405020304" pitchFamily="18" charset="0"/>
              </a:rPr>
              <a:t>Poverty</a:t>
            </a:r>
          </a:p>
          <a:p>
            <a:pPr lvl="2" eaLnBrk="1" hangingPunct="1">
              <a:lnSpc>
                <a:spcPct val="80000"/>
              </a:lnSpc>
            </a:pPr>
            <a:r>
              <a:rPr lang="en-US" altLang="en-US" sz="2000" dirty="0">
                <a:latin typeface="Times New Roman" panose="02020603050405020304" pitchFamily="18" charset="0"/>
                <a:cs typeface="Times New Roman" panose="02020603050405020304" pitchFamily="18" charset="0"/>
              </a:rPr>
              <a:t>Adverse impact on education</a:t>
            </a:r>
          </a:p>
          <a:p>
            <a:pPr lvl="2" eaLnBrk="1" hangingPunct="1">
              <a:lnSpc>
                <a:spcPct val="80000"/>
              </a:lnSpc>
            </a:pPr>
            <a:r>
              <a:rPr lang="en-US" altLang="en-US" sz="2000" dirty="0">
                <a:latin typeface="Times New Roman" panose="02020603050405020304" pitchFamily="18" charset="0"/>
                <a:cs typeface="Times New Roman" panose="02020603050405020304" pitchFamily="18" charset="0"/>
              </a:rPr>
              <a:t>Adverse impact on health</a:t>
            </a:r>
          </a:p>
          <a:p>
            <a:pPr lvl="2" eaLnBrk="1" hangingPunct="1">
              <a:lnSpc>
                <a:spcPct val="80000"/>
              </a:lnSpc>
            </a:pPr>
            <a:r>
              <a:rPr lang="en-US" altLang="en-US" sz="2000" dirty="0">
                <a:latin typeface="Times New Roman" panose="02020603050405020304" pitchFamily="18" charset="0"/>
                <a:cs typeface="Times New Roman" panose="02020603050405020304" pitchFamily="18" charset="0"/>
              </a:rPr>
              <a:t>Food constraints</a:t>
            </a:r>
          </a:p>
          <a:p>
            <a:pPr lvl="2" eaLnBrk="1" hangingPunct="1">
              <a:lnSpc>
                <a:spcPct val="80000"/>
              </a:lnSpc>
            </a:pPr>
            <a:r>
              <a:rPr lang="en-US" altLang="en-US" sz="2000" dirty="0">
                <a:latin typeface="Times New Roman" panose="02020603050405020304" pitchFamily="18" charset="0"/>
                <a:cs typeface="Times New Roman" panose="02020603050405020304" pitchFamily="18" charset="0"/>
              </a:rPr>
              <a:t>Impact on the environment</a:t>
            </a:r>
          </a:p>
          <a:p>
            <a:pPr lvl="2" eaLnBrk="1" hangingPunct="1">
              <a:lnSpc>
                <a:spcPct val="80000"/>
              </a:lnSpc>
            </a:pPr>
            <a:r>
              <a:rPr lang="en-US" altLang="en-US" sz="2000" dirty="0">
                <a:latin typeface="Times New Roman" panose="02020603050405020304" pitchFamily="18" charset="0"/>
                <a:cs typeface="Times New Roman" panose="02020603050405020304" pitchFamily="18" charset="0"/>
              </a:rPr>
              <a:t>Frictions over international migration</a:t>
            </a:r>
          </a:p>
          <a:p>
            <a:pPr lvl="2" eaLnBrk="1" hangingPunct="1">
              <a:lnSpc>
                <a:spcPct val="80000"/>
              </a:lnSpc>
            </a:pPr>
            <a:endParaRPr lang="en-GB" altLang="en-US" sz="1800" dirty="0">
              <a:latin typeface="Times New Roman" panose="02020603050405020304" pitchFamily="18" charset="0"/>
              <a:cs typeface="Times New Roman" panose="02020603050405020304" pitchFamily="18" charset="0"/>
            </a:endParaRP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4"/>
          <p:cNvSpPr>
            <a:spLocks noGrp="1" noChangeArrowheads="1"/>
          </p:cNvSpPr>
          <p:nvPr>
            <p:ph type="title" idx="4294967295"/>
          </p:nvPr>
        </p:nvSpPr>
        <p:spPr>
          <a:xfrm>
            <a:off x="611188" y="333375"/>
            <a:ext cx="8075612" cy="723900"/>
          </a:xfrm>
        </p:spPr>
        <p:txBody>
          <a:bodyPr/>
          <a:lstStyle/>
          <a:p>
            <a:pPr algn="l" eaLnBrk="1" hangingPunct="1"/>
            <a:r>
              <a:rPr lang="en-US" altLang="en-US" sz="2800"/>
              <a:t>Toward a Consensus</a:t>
            </a:r>
          </a:p>
        </p:txBody>
      </p:sp>
      <p:sp>
        <p:nvSpPr>
          <p:cNvPr id="47107" name="Rectangle 5"/>
          <p:cNvSpPr>
            <a:spLocks noGrp="1" noChangeArrowheads="1"/>
          </p:cNvSpPr>
          <p:nvPr>
            <p:ph type="body" idx="4294967295"/>
          </p:nvPr>
        </p:nvSpPr>
        <p:spPr>
          <a:xfrm>
            <a:off x="457200" y="1341438"/>
            <a:ext cx="8229600" cy="4784725"/>
          </a:xfrm>
        </p:spPr>
        <p:txBody>
          <a:bodyPr/>
          <a:lstStyle/>
          <a:p>
            <a:pPr eaLnBrk="1" hangingPunct="1">
              <a:lnSpc>
                <a:spcPct val="90000"/>
              </a:lnSpc>
            </a:pPr>
            <a:r>
              <a:rPr lang="en-US" altLang="en-US" sz="2600" dirty="0">
                <a:latin typeface="Times New Roman" panose="02020603050405020304" pitchFamily="18" charset="0"/>
                <a:cs typeface="Times New Roman" panose="02020603050405020304" pitchFamily="18" charset="0"/>
              </a:rPr>
              <a:t>Despite the conflicting opinions, there is some common ground on the following:</a:t>
            </a:r>
          </a:p>
          <a:p>
            <a:pPr eaLnBrk="1" hangingPunct="1">
              <a:lnSpc>
                <a:spcPct val="90000"/>
              </a:lnSpc>
            </a:pPr>
            <a:endParaRPr lang="en-US" altLang="en-US" sz="2600" dirty="0">
              <a:latin typeface="Times New Roman" panose="02020603050405020304" pitchFamily="18" charset="0"/>
              <a:cs typeface="Times New Roman" panose="02020603050405020304" pitchFamily="18" charset="0"/>
            </a:endParaRPr>
          </a:p>
          <a:p>
            <a:pPr lvl="1" eaLnBrk="1" hangingPunct="1">
              <a:lnSpc>
                <a:spcPct val="90000"/>
              </a:lnSpc>
            </a:pPr>
            <a:r>
              <a:rPr lang="en-US" altLang="en-US" sz="2100" dirty="0">
                <a:latin typeface="Times New Roman" panose="02020603050405020304" pitchFamily="18" charset="0"/>
                <a:cs typeface="Times New Roman" panose="02020603050405020304" pitchFamily="18" charset="0"/>
              </a:rPr>
              <a:t>Population is not the primary cause of lower living levels, but may be one factor</a:t>
            </a:r>
          </a:p>
          <a:p>
            <a:pPr lvl="1" eaLnBrk="1" hangingPunct="1">
              <a:lnSpc>
                <a:spcPct val="90000"/>
              </a:lnSpc>
            </a:pPr>
            <a:r>
              <a:rPr lang="en-US" altLang="en-US" sz="2100" dirty="0">
                <a:latin typeface="Times New Roman" panose="02020603050405020304" pitchFamily="18" charset="0"/>
                <a:cs typeface="Times New Roman" panose="02020603050405020304" pitchFamily="18" charset="0"/>
              </a:rPr>
              <a:t>Population growth is more a consequence than a cause of underdevelopment</a:t>
            </a:r>
          </a:p>
          <a:p>
            <a:pPr lvl="1" eaLnBrk="1" hangingPunct="1">
              <a:lnSpc>
                <a:spcPct val="90000"/>
              </a:lnSpc>
            </a:pPr>
            <a:r>
              <a:rPr lang="en-US" altLang="en-US" sz="2100" dirty="0">
                <a:latin typeface="Times New Roman" panose="02020603050405020304" pitchFamily="18" charset="0"/>
                <a:cs typeface="Times New Roman" panose="02020603050405020304" pitchFamily="18" charset="0"/>
              </a:rPr>
              <a:t>It’s not numbers but quality of life</a:t>
            </a:r>
          </a:p>
          <a:p>
            <a:pPr lvl="1" eaLnBrk="1" hangingPunct="1">
              <a:lnSpc>
                <a:spcPct val="90000"/>
              </a:lnSpc>
            </a:pPr>
            <a:r>
              <a:rPr lang="en-US" altLang="en-US" sz="2100" dirty="0">
                <a:latin typeface="Times New Roman" panose="02020603050405020304" pitchFamily="18" charset="0"/>
                <a:cs typeface="Times New Roman" panose="02020603050405020304" pitchFamily="18" charset="0"/>
              </a:rPr>
              <a:t>Market failures: potential negative social externalities</a:t>
            </a:r>
          </a:p>
          <a:p>
            <a:pPr lvl="1" eaLnBrk="1" hangingPunct="1">
              <a:lnSpc>
                <a:spcPct val="90000"/>
              </a:lnSpc>
            </a:pPr>
            <a:r>
              <a:rPr lang="en-US" altLang="en-US" sz="2100" dirty="0">
                <a:latin typeface="Times New Roman" panose="02020603050405020304" pitchFamily="18" charset="0"/>
                <a:cs typeface="Times New Roman" panose="02020603050405020304" pitchFamily="18" charset="0"/>
              </a:rPr>
              <a:t>Voluntary decreases in fertility is generally desirable for most developing countries with still-expanding populations </a:t>
            </a:r>
          </a:p>
          <a:p>
            <a:pPr lvl="1" eaLnBrk="1" hangingPunct="1">
              <a:lnSpc>
                <a:spcPct val="90000"/>
              </a:lnSpc>
            </a:pPr>
            <a:endParaRPr lang="en-US" altLang="en-US" dirty="0">
              <a:latin typeface="Times New Roman" panose="02020603050405020304" pitchFamily="18" charset="0"/>
              <a:cs typeface="Times New Roman" panose="02020603050405020304" pitchFamily="18" charset="0"/>
            </a:endParaRPr>
          </a:p>
          <a:p>
            <a:pPr lvl="1" eaLnBrk="1" hangingPunct="1">
              <a:lnSpc>
                <a:spcPct val="90000"/>
              </a:lnSpc>
            </a:pP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p:cNvSpPr>
            <a:spLocks noGrp="1" noChangeArrowheads="1"/>
          </p:cNvSpPr>
          <p:nvPr>
            <p:ph type="body" idx="1"/>
          </p:nvPr>
        </p:nvSpPr>
        <p:spPr>
          <a:xfrm>
            <a:off x="457200" y="549275"/>
            <a:ext cx="8229600" cy="5576888"/>
          </a:xfrm>
        </p:spPr>
        <p:txBody>
          <a:bodyPr/>
          <a:lstStyle/>
          <a:p>
            <a:pPr marL="609600" indent="-609600" eaLnBrk="1" hangingPunct="1">
              <a:buFontTx/>
              <a:buNone/>
            </a:pPr>
            <a:r>
              <a:rPr lang="en-US" altLang="zh-CN" sz="2800" dirty="0">
                <a:latin typeface="Times New Roman" panose="02020603050405020304" pitchFamily="18" charset="0"/>
              </a:rPr>
              <a:t>IV. Some policy approach</a:t>
            </a:r>
          </a:p>
          <a:p>
            <a:pPr marL="609600" indent="-609600" eaLnBrk="1" hangingPunct="1">
              <a:buFontTx/>
              <a:buNone/>
            </a:pPr>
            <a:endParaRPr lang="en-US" altLang="zh-CN" sz="1000" dirty="0">
              <a:latin typeface="Times New Roman" panose="02020603050405020304" pitchFamily="18" charset="0"/>
            </a:endParaRPr>
          </a:p>
          <a:p>
            <a:pPr lvl="1" eaLnBrk="1" hangingPunct="1"/>
            <a:r>
              <a:rPr lang="en-US" altLang="zh-CN" sz="2400" dirty="0">
                <a:latin typeface="Times New Roman" panose="02020603050405020304" pitchFamily="18" charset="0"/>
              </a:rPr>
              <a:t>What Developing Countries Can Do</a:t>
            </a:r>
          </a:p>
          <a:p>
            <a:pPr lvl="2" eaLnBrk="1" hangingPunct="1"/>
            <a:r>
              <a:rPr lang="en-US" altLang="zh-CN" sz="2000" dirty="0">
                <a:latin typeface="Times New Roman" panose="02020603050405020304" pitchFamily="18" charset="0"/>
              </a:rPr>
              <a:t>Persuasion through education</a:t>
            </a:r>
          </a:p>
          <a:p>
            <a:pPr lvl="2" eaLnBrk="1" hangingPunct="1"/>
            <a:r>
              <a:rPr lang="en-US" altLang="zh-CN" sz="2000" dirty="0">
                <a:latin typeface="Times New Roman" panose="02020603050405020304" pitchFamily="18" charset="0"/>
              </a:rPr>
              <a:t>Family planning programs</a:t>
            </a:r>
          </a:p>
          <a:p>
            <a:pPr lvl="2" eaLnBrk="1" hangingPunct="1"/>
            <a:r>
              <a:rPr lang="en-US" altLang="zh-CN" sz="2000" dirty="0">
                <a:latin typeface="Times New Roman" panose="02020603050405020304" pitchFamily="18" charset="0"/>
              </a:rPr>
              <a:t>Address incentives and disincentives for having children through the principal variables influencing the demand for children</a:t>
            </a:r>
          </a:p>
          <a:p>
            <a:pPr lvl="2" eaLnBrk="1" hangingPunct="1"/>
            <a:r>
              <a:rPr lang="en-US" altLang="zh-CN" sz="2000" dirty="0">
                <a:latin typeface="Times New Roman" panose="02020603050405020304" pitchFamily="18" charset="0"/>
              </a:rPr>
              <a:t>Coercion is not a good option</a:t>
            </a:r>
          </a:p>
          <a:p>
            <a:pPr lvl="2" eaLnBrk="1" hangingPunct="1"/>
            <a:r>
              <a:rPr lang="en-US" altLang="zh-CN" sz="2000" dirty="0">
                <a:latin typeface="Times New Roman" panose="02020603050405020304" pitchFamily="18" charset="0"/>
              </a:rPr>
              <a:t>Raise the socioeconomic status of women </a:t>
            </a:r>
          </a:p>
          <a:p>
            <a:pPr lvl="2" eaLnBrk="1" hangingPunct="1"/>
            <a:r>
              <a:rPr lang="en-US" altLang="zh-CN" sz="2000" dirty="0">
                <a:latin typeface="Times New Roman" panose="02020603050405020304" pitchFamily="18" charset="0"/>
              </a:rPr>
              <a:t>Increase employment opportunities for women (increases opportunity cost of having more children, as in microeconomic household theory)</a:t>
            </a:r>
          </a:p>
          <a:p>
            <a:pPr lvl="2" eaLnBrk="1" hangingPunct="1"/>
            <a:r>
              <a:rPr lang="en-US" altLang="zh-CN" sz="2000" dirty="0">
                <a:latin typeface="Times New Roman" panose="02020603050405020304" pitchFamily="18" charset="0"/>
              </a:rPr>
              <a:t>Help facilitate genuine and faster development of developing countries that still have high fertility rates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p:cNvSpPr>
            <a:spLocks noGrp="1" noChangeArrowheads="1"/>
          </p:cNvSpPr>
          <p:nvPr>
            <p:ph type="body" idx="1"/>
          </p:nvPr>
        </p:nvSpPr>
        <p:spPr>
          <a:xfrm>
            <a:off x="457200" y="549275"/>
            <a:ext cx="8229600" cy="5576888"/>
          </a:xfrm>
        </p:spPr>
        <p:txBody>
          <a:bodyPr/>
          <a:lstStyle/>
          <a:p>
            <a:pPr marL="609600" indent="-609600" eaLnBrk="1" hangingPunct="1">
              <a:buFontTx/>
              <a:buNone/>
            </a:pPr>
            <a:endParaRPr lang="en-US" altLang="zh-CN" sz="1000" dirty="0">
              <a:latin typeface="Times New Roman" panose="02020603050405020304" pitchFamily="18" charset="0"/>
            </a:endParaRPr>
          </a:p>
          <a:p>
            <a:pPr lvl="1" eaLnBrk="1" hangingPunct="1"/>
            <a:r>
              <a:rPr lang="en-US" altLang="zh-CN" sz="2400" dirty="0">
                <a:latin typeface="Times New Roman" panose="02020603050405020304" pitchFamily="18" charset="0"/>
              </a:rPr>
              <a:t>What the Developed Countries Can Do Generally</a:t>
            </a:r>
          </a:p>
          <a:p>
            <a:pPr lvl="2" eaLnBrk="1" hangingPunct="1"/>
            <a:r>
              <a:rPr lang="en-US" altLang="zh-CN" sz="2000" dirty="0">
                <a:latin typeface="Times New Roman" panose="02020603050405020304" pitchFamily="18" charset="0"/>
              </a:rPr>
              <a:t>Address resources use inequities</a:t>
            </a:r>
          </a:p>
          <a:p>
            <a:pPr lvl="2" eaLnBrk="1" hangingPunct="1"/>
            <a:r>
              <a:rPr lang="en-US" altLang="zh-CN" sz="2000" dirty="0">
                <a:latin typeface="Times New Roman" panose="02020603050405020304" pitchFamily="18" charset="0"/>
              </a:rPr>
              <a:t>More open migration policies </a:t>
            </a:r>
          </a:p>
          <a:p>
            <a:pPr lvl="1" eaLnBrk="1" hangingPunct="1"/>
            <a:endParaRPr lang="en-US" altLang="zh-CN" sz="2400" dirty="0">
              <a:latin typeface="Times New Roman" panose="02020603050405020304" pitchFamily="18" charset="0"/>
            </a:endParaRPr>
          </a:p>
          <a:p>
            <a:pPr lvl="1" eaLnBrk="1" hangingPunct="1"/>
            <a:r>
              <a:rPr lang="en-US" altLang="zh-CN" sz="2400" dirty="0">
                <a:latin typeface="Times New Roman" panose="02020603050405020304" pitchFamily="18" charset="0"/>
              </a:rPr>
              <a:t>How Developed Countries Can Help Developing Countries with Their Population Programs</a:t>
            </a:r>
          </a:p>
          <a:p>
            <a:pPr lvl="2" eaLnBrk="1" hangingPunct="1"/>
            <a:r>
              <a:rPr lang="en-US" altLang="zh-CN" sz="2000" dirty="0">
                <a:latin typeface="Times New Roman" panose="02020603050405020304" pitchFamily="18" charset="0"/>
              </a:rPr>
              <a:t>Research into technology of fertility control</a:t>
            </a:r>
          </a:p>
          <a:p>
            <a:pPr lvl="2" eaLnBrk="1" hangingPunct="1"/>
            <a:r>
              <a:rPr lang="en-US" altLang="zh-CN" sz="2000" dirty="0">
                <a:latin typeface="Times New Roman" panose="02020603050405020304" pitchFamily="18" charset="0"/>
              </a:rPr>
              <a:t>Financial assistance for family planning programs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algn="l" eaLnBrk="1" hangingPunct="1"/>
            <a:r>
              <a:rPr lang="en-US" altLang="en-US" sz="3200">
                <a:latin typeface="Times New Roman" panose="02020603050405020304" pitchFamily="18" charset="0"/>
                <a:cs typeface="Times New Roman" panose="02020603050405020304" pitchFamily="18" charset="0"/>
              </a:rPr>
              <a:t>Case Study: China and India</a:t>
            </a:r>
          </a:p>
        </p:txBody>
      </p:sp>
      <p:sp>
        <p:nvSpPr>
          <p:cNvPr id="2" name="TextBox 1"/>
          <p:cNvSpPr txBox="1"/>
          <p:nvPr/>
        </p:nvSpPr>
        <p:spPr>
          <a:xfrm>
            <a:off x="611560" y="1484784"/>
            <a:ext cx="7776864" cy="3600986"/>
          </a:xfrm>
          <a:prstGeom prst="rect">
            <a:avLst/>
          </a:prstGeom>
          <a:noFill/>
        </p:spPr>
        <p:txBody>
          <a:bodyPr wrap="square" rtlCol="0">
            <a:spAutoFit/>
          </a:bodyPr>
          <a:lstStyle/>
          <a:p>
            <a:pPr marL="285750" indent="-285750">
              <a:buFont typeface="Arial" panose="020B0604020202020204" pitchFamily="34" charset="0"/>
              <a:buChar char="•"/>
            </a:pPr>
            <a:r>
              <a:rPr lang="en-US" sz="1400" dirty="0"/>
              <a:t>China and India are the world’s two most populous nations, with 1.4 and 1.3 billion people respectively.</a:t>
            </a:r>
          </a:p>
          <a:p>
            <a:pPr marL="742950" lvl="1" indent="-285750">
              <a:buFont typeface="Arial" panose="020B0604020202020204" pitchFamily="34" charset="0"/>
              <a:buChar char="•"/>
            </a:pPr>
            <a:r>
              <a:rPr lang="en-US" sz="1200" dirty="0"/>
              <a:t>It is projected that their population will be 1.28 and 1.64 billion in 2065.</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Population policy in China</a:t>
            </a:r>
          </a:p>
          <a:p>
            <a:pPr marL="742950" lvl="1" indent="-285750">
              <a:buFont typeface="Arial" panose="020B0604020202020204" pitchFamily="34" charset="0"/>
              <a:buChar char="•"/>
            </a:pPr>
            <a:r>
              <a:rPr lang="en-US" sz="1200" dirty="0"/>
              <a:t>In 1980s, China initiated “one child policy”. </a:t>
            </a:r>
          </a:p>
          <a:p>
            <a:pPr marL="742950" lvl="1" indent="-285750">
              <a:buFont typeface="Arial" panose="020B0604020202020204" pitchFamily="34" charset="0"/>
              <a:buChar char="•"/>
            </a:pPr>
            <a:r>
              <a:rPr lang="en-US" sz="1200" dirty="0"/>
              <a:t>By the mid-1990s, China’s fertility rate reached 1.9 births per woman, and it fell further to below 1.6 by 2013.</a:t>
            </a:r>
          </a:p>
          <a:p>
            <a:pPr marL="742950" lvl="1" indent="-285750">
              <a:buFont typeface="Arial" panose="020B0604020202020204" pitchFamily="34" charset="0"/>
              <a:buChar char="•"/>
            </a:pPr>
            <a:r>
              <a:rPr lang="en-US" sz="1200" dirty="0"/>
              <a:t>It is estimated that in 2010, there were 106 males for every 100 females.</a:t>
            </a:r>
          </a:p>
          <a:p>
            <a:pPr marL="742950" lvl="1" indent="-285750">
              <a:buFont typeface="Arial" panose="020B0604020202020204" pitchFamily="34" charset="0"/>
              <a:buChar char="•"/>
            </a:pPr>
            <a:r>
              <a:rPr lang="en-US" sz="1200" dirty="0"/>
              <a:t>By 2050, China will have almost twice as many people above age 50 as below age 20.</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Population policy in India</a:t>
            </a:r>
          </a:p>
          <a:p>
            <a:pPr marL="742950" lvl="1" indent="-285750">
              <a:buFont typeface="Arial" panose="020B0604020202020204" pitchFamily="34" charset="0"/>
              <a:buChar char="•"/>
            </a:pPr>
            <a:r>
              <a:rPr lang="en-US" sz="1200" dirty="0"/>
              <a:t>Prime Minister Indira Gandhi tried to implement drastic population control in 1975-1977, with little success.</a:t>
            </a:r>
          </a:p>
          <a:p>
            <a:pPr marL="742950" lvl="1" indent="-285750">
              <a:buFont typeface="Arial" panose="020B0604020202020204" pitchFamily="34" charset="0"/>
              <a:buChar char="•"/>
            </a:pPr>
            <a:r>
              <a:rPr lang="en-US" sz="1200" dirty="0"/>
              <a:t>However, family planning did become more widely practiced due to: rising income, policy incentive to encourage smaller family.</a:t>
            </a:r>
          </a:p>
          <a:p>
            <a:pPr marL="742950" lvl="1" indent="-285750">
              <a:buFont typeface="Arial" panose="020B0604020202020204" pitchFamily="34" charset="0"/>
              <a:buChar char="•"/>
            </a:pPr>
            <a:r>
              <a:rPr lang="en-US" sz="1200" dirty="0"/>
              <a:t>A preference for boys over girls developed, particularly in the “Hindi Belt”.</a:t>
            </a:r>
          </a:p>
          <a:p>
            <a:pPr marL="742950" lvl="1" indent="-285750">
              <a:buFont typeface="Arial" panose="020B0604020202020204" pitchFamily="34" charset="0"/>
              <a:buChar char="•"/>
            </a:pPr>
            <a:endParaRPr lang="en-US" sz="1200" dirty="0"/>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2440</TotalTime>
  <Words>6180</Words>
  <Application>Microsoft Macintosh PowerPoint</Application>
  <PresentationFormat>On-screen Show (4:3)</PresentationFormat>
  <Paragraphs>820</Paragraphs>
  <Slides>38</Slides>
  <Notes>21</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38</vt:i4>
      </vt:variant>
    </vt:vector>
  </HeadingPairs>
  <TitlesOfParts>
    <vt:vector size="50" baseType="lpstr">
      <vt:lpstr>Arial Unicode MS</vt:lpstr>
      <vt:lpstr>MS PGothic</vt:lpstr>
      <vt:lpstr>Söhne</vt:lpstr>
      <vt:lpstr>ヒラギノ角ゴ Pro W3</vt:lpstr>
      <vt:lpstr>Arial</vt:lpstr>
      <vt:lpstr>Calibri</vt:lpstr>
      <vt:lpstr>Cambria Math</vt:lpstr>
      <vt:lpstr>Candara</vt:lpstr>
      <vt:lpstr>Times New Roman</vt:lpstr>
      <vt:lpstr>Verdana</vt:lpstr>
      <vt:lpstr>默认设计模板</vt:lpstr>
      <vt:lpstr>Equation</vt:lpstr>
      <vt:lpstr>International Economic Development</vt:lpstr>
      <vt:lpstr>Population growth and economic growth</vt:lpstr>
      <vt:lpstr>Aging population and pension</vt:lpstr>
      <vt:lpstr>PowerPoint Presentation</vt:lpstr>
      <vt:lpstr>Aging population and pension</vt:lpstr>
      <vt:lpstr>Aging population and pension</vt:lpstr>
      <vt:lpstr>Aging population and pension</vt:lpstr>
      <vt:lpstr>Aging population and pension</vt:lpstr>
      <vt:lpstr>Vanishing workers</vt:lpstr>
      <vt:lpstr>PowerPoint Presentation</vt:lpstr>
      <vt:lpstr>PowerPoint Presentation</vt:lpstr>
      <vt:lpstr>Rate of Natural Increase in Population</vt:lpstr>
      <vt:lpstr>China’s population increased rapidly  beginning from the Ching Dynasty</vt:lpstr>
      <vt:lpstr>The Population in China 1–2008</vt:lpstr>
      <vt:lpstr>Proportion of the Population Age 65 or over (1950-2100)</vt:lpstr>
      <vt:lpstr>The Trend of Population above 65  for Selected Countries (1970-2070)</vt:lpstr>
      <vt:lpstr>PowerPoint Presentation</vt:lpstr>
      <vt:lpstr>II. World population growth through history</vt:lpstr>
      <vt:lpstr>PowerPoint Presentation</vt:lpstr>
      <vt:lpstr> III. Theory of Population Growth </vt:lpstr>
      <vt:lpstr>PowerPoint Presentation</vt:lpstr>
      <vt:lpstr> Determination of the Steady State  in the Malthusian Model</vt:lpstr>
      <vt:lpstr>PowerPoint Presentation</vt:lpstr>
      <vt:lpstr>PowerPoint Presentation</vt:lpstr>
      <vt:lpstr>PowerPoint Presentation</vt:lpstr>
      <vt:lpstr>How Technological and Social Progress Allows Nations to Avoid the Population Trap</vt:lpstr>
      <vt:lpstr>PowerPoint Presentation</vt:lpstr>
      <vt:lpstr>PowerPoint Presentation</vt:lpstr>
      <vt:lpstr>Microeconomic Theory of Fertility: An Illustration</vt:lpstr>
      <vt:lpstr>PowerPoint Presentation</vt:lpstr>
      <vt:lpstr>PowerPoint Presentation</vt:lpstr>
      <vt:lpstr>PowerPoint Presentation</vt:lpstr>
      <vt:lpstr>Some conflicting perspectives</vt:lpstr>
      <vt:lpstr>Some conflicting perspectives</vt:lpstr>
      <vt:lpstr>Toward a Consensus</vt:lpstr>
      <vt:lpstr>PowerPoint Presentation</vt:lpstr>
      <vt:lpstr>PowerPoint Presentation</vt:lpstr>
      <vt:lpstr>Case Study: China and India</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 Development</dc:title>
  <dc:creator>微软用户</dc:creator>
  <cp:lastModifiedBy>Zhigang Feng</cp:lastModifiedBy>
  <cp:revision>59</cp:revision>
  <cp:lastPrinted>2017-07-17T21:30:17Z</cp:lastPrinted>
  <dcterms:created xsi:type="dcterms:W3CDTF">2009-02-02T19:47:39Z</dcterms:created>
  <dcterms:modified xsi:type="dcterms:W3CDTF">2024-10-07T20:54:55Z</dcterms:modified>
</cp:coreProperties>
</file>