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256" r:id="rId2"/>
    <p:sldId id="293" r:id="rId3"/>
    <p:sldId id="268" r:id="rId4"/>
    <p:sldId id="257" r:id="rId5"/>
    <p:sldId id="258" r:id="rId6"/>
    <p:sldId id="287" r:id="rId7"/>
    <p:sldId id="286" r:id="rId8"/>
    <p:sldId id="259" r:id="rId9"/>
    <p:sldId id="297" r:id="rId10"/>
    <p:sldId id="289" r:id="rId11"/>
    <p:sldId id="298" r:id="rId12"/>
    <p:sldId id="299" r:id="rId13"/>
    <p:sldId id="261" r:id="rId14"/>
    <p:sldId id="272" r:id="rId15"/>
    <p:sldId id="274" r:id="rId16"/>
    <p:sldId id="288" r:id="rId17"/>
    <p:sldId id="300" r:id="rId18"/>
    <p:sldId id="263" r:id="rId19"/>
    <p:sldId id="278" r:id="rId20"/>
    <p:sldId id="309" r:id="rId21"/>
    <p:sldId id="301" r:id="rId22"/>
    <p:sldId id="302" r:id="rId23"/>
    <p:sldId id="303" r:id="rId24"/>
    <p:sldId id="304" r:id="rId25"/>
    <p:sldId id="305" r:id="rId26"/>
    <p:sldId id="310" r:id="rId27"/>
    <p:sldId id="294" r:id="rId28"/>
    <p:sldId id="266" r:id="rId29"/>
    <p:sldId id="273" r:id="rId30"/>
    <p:sldId id="267" r:id="rId31"/>
    <p:sldId id="306" r:id="rId32"/>
    <p:sldId id="307" r:id="rId33"/>
    <p:sldId id="308" r:id="rId34"/>
    <p:sldId id="269" r:id="rId35"/>
    <p:sldId id="270" r:id="rId36"/>
    <p:sldId id="296" r:id="rId37"/>
    <p:sldId id="311" r:id="rId38"/>
    <p:sldId id="312" r:id="rId39"/>
    <p:sldId id="295" r:id="rId40"/>
    <p:sldId id="313" r:id="rId41"/>
    <p:sldId id="314" r:id="rId42"/>
    <p:sldId id="315" r:id="rId43"/>
  </p:sldIdLst>
  <p:sldSz cx="9144000" cy="6858000" type="screen4x3"/>
  <p:notesSz cx="6881813" cy="92964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CC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49" autoAdjust="0"/>
    <p:restoredTop sz="68493"/>
  </p:normalViewPr>
  <p:slideViewPr>
    <p:cSldViewPr>
      <p:cViewPr varScale="1">
        <p:scale>
          <a:sx n="66" d="100"/>
          <a:sy n="66" d="100"/>
        </p:scale>
        <p:origin x="2072" y="192"/>
      </p:cViewPr>
      <p:guideLst>
        <p:guide orient="horz" pos="2160"/>
        <p:guide pos="2880"/>
      </p:guideLst>
    </p:cSldViewPr>
  </p:slideViewPr>
  <p:notesTextViewPr>
    <p:cViewPr>
      <p:scale>
        <a:sx n="100" d="100"/>
        <a:sy n="100" d="100"/>
      </p:scale>
      <p:origin x="0" y="-872"/>
    </p:cViewPr>
  </p:notesTextViewPr>
  <p:sorterViewPr>
    <p:cViewPr>
      <p:scale>
        <a:sx n="66" d="100"/>
        <a:sy n="66" d="100"/>
      </p:scale>
      <p:origin x="0" y="931"/>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460D89-1A4E-42A9-AF4E-01D54BCD0B68}"/>
              </a:ext>
            </a:extLst>
          </p:cNvPr>
          <p:cNvSpPr>
            <a:spLocks noGrp="1"/>
          </p:cNvSpPr>
          <p:nvPr>
            <p:ph type="hdr" sz="quarter"/>
          </p:nvPr>
        </p:nvSpPr>
        <p:spPr>
          <a:xfrm>
            <a:off x="0" y="0"/>
            <a:ext cx="2982913" cy="466725"/>
          </a:xfrm>
          <a:prstGeom prst="rect">
            <a:avLst/>
          </a:prstGeom>
        </p:spPr>
        <p:txBody>
          <a:bodyPr vert="horz" lIns="92446" tIns="46223" rIns="92446" bIns="46223"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3899576E-35C0-41D8-B46B-6A6230F3D6F1}"/>
              </a:ext>
            </a:extLst>
          </p:cNvPr>
          <p:cNvSpPr>
            <a:spLocks noGrp="1"/>
          </p:cNvSpPr>
          <p:nvPr>
            <p:ph type="dt" sz="quarter" idx="1"/>
          </p:nvPr>
        </p:nvSpPr>
        <p:spPr>
          <a:xfrm>
            <a:off x="3897313" y="0"/>
            <a:ext cx="2982912" cy="466725"/>
          </a:xfrm>
          <a:prstGeom prst="rect">
            <a:avLst/>
          </a:prstGeom>
        </p:spPr>
        <p:txBody>
          <a:bodyPr vert="horz" lIns="92446" tIns="46223" rIns="92446" bIns="46223" rtlCol="0"/>
          <a:lstStyle>
            <a:lvl1pPr algn="r">
              <a:defRPr sz="1200"/>
            </a:lvl1pPr>
          </a:lstStyle>
          <a:p>
            <a:pPr>
              <a:defRPr/>
            </a:pPr>
            <a:fld id="{520A88CC-7293-4564-946F-1D66436B145C}" type="datetimeFigureOut">
              <a:rPr lang="en-US"/>
              <a:pPr>
                <a:defRPr/>
              </a:pPr>
              <a:t>8/5/23</a:t>
            </a:fld>
            <a:endParaRPr lang="en-US"/>
          </a:p>
        </p:txBody>
      </p:sp>
      <p:sp>
        <p:nvSpPr>
          <p:cNvPr id="4" name="Footer Placeholder 3">
            <a:extLst>
              <a:ext uri="{FF2B5EF4-FFF2-40B4-BE49-F238E27FC236}">
                <a16:creationId xmlns:a16="http://schemas.microsoft.com/office/drawing/2014/main" id="{AA4797CA-FDE4-42C2-94D5-C3CAE24C7E7E}"/>
              </a:ext>
            </a:extLst>
          </p:cNvPr>
          <p:cNvSpPr>
            <a:spLocks noGrp="1"/>
          </p:cNvSpPr>
          <p:nvPr>
            <p:ph type="ftr" sz="quarter" idx="2"/>
          </p:nvPr>
        </p:nvSpPr>
        <p:spPr>
          <a:xfrm>
            <a:off x="0" y="8829675"/>
            <a:ext cx="2982913" cy="466725"/>
          </a:xfrm>
          <a:prstGeom prst="rect">
            <a:avLst/>
          </a:prstGeom>
        </p:spPr>
        <p:txBody>
          <a:bodyPr vert="horz" lIns="92446" tIns="46223" rIns="92446" bIns="46223" rtlCol="0" anchor="b"/>
          <a:lstStyle>
            <a:lvl1pPr algn="l">
              <a:defRPr sz="1200"/>
            </a:lvl1pPr>
          </a:lstStyle>
          <a:p>
            <a:pPr>
              <a:defRPr/>
            </a:pPr>
            <a:endParaRPr lang="en-US"/>
          </a:p>
        </p:txBody>
      </p:sp>
      <p:sp>
        <p:nvSpPr>
          <p:cNvPr id="5" name="Slide Number Placeholder 4">
            <a:extLst>
              <a:ext uri="{FF2B5EF4-FFF2-40B4-BE49-F238E27FC236}">
                <a16:creationId xmlns:a16="http://schemas.microsoft.com/office/drawing/2014/main" id="{C346FB82-E4C3-4101-A5E6-193CE27FEA64}"/>
              </a:ext>
            </a:extLst>
          </p:cNvPr>
          <p:cNvSpPr>
            <a:spLocks noGrp="1"/>
          </p:cNvSpPr>
          <p:nvPr>
            <p:ph type="sldNum" sz="quarter" idx="3"/>
          </p:nvPr>
        </p:nvSpPr>
        <p:spPr>
          <a:xfrm>
            <a:off x="3897313" y="8829675"/>
            <a:ext cx="2982912" cy="466725"/>
          </a:xfrm>
          <a:prstGeom prst="rect">
            <a:avLst/>
          </a:prstGeom>
        </p:spPr>
        <p:txBody>
          <a:bodyPr vert="horz" lIns="92446" tIns="46223" rIns="92446" bIns="46223" rtlCol="0" anchor="b"/>
          <a:lstStyle>
            <a:lvl1pPr algn="r">
              <a:defRPr sz="1200"/>
            </a:lvl1pPr>
          </a:lstStyle>
          <a:p>
            <a:pPr>
              <a:defRPr/>
            </a:pPr>
            <a:fld id="{1A40B31D-2CFF-4701-A920-D9F530A3A880}"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6074EB-3ED0-41E4-9DFD-7EBE19608101}"/>
              </a:ext>
            </a:extLst>
          </p:cNvPr>
          <p:cNvSpPr>
            <a:spLocks noGrp="1"/>
          </p:cNvSpPr>
          <p:nvPr>
            <p:ph type="hdr" sz="quarter"/>
          </p:nvPr>
        </p:nvSpPr>
        <p:spPr>
          <a:xfrm>
            <a:off x="0" y="0"/>
            <a:ext cx="2982913" cy="466725"/>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F35F6485-31C1-4DDA-AB57-53CE87F609ED}"/>
              </a:ext>
            </a:extLst>
          </p:cNvPr>
          <p:cNvSpPr>
            <a:spLocks noGrp="1"/>
          </p:cNvSpPr>
          <p:nvPr>
            <p:ph type="dt" idx="1"/>
          </p:nvPr>
        </p:nvSpPr>
        <p:spPr>
          <a:xfrm>
            <a:off x="3897313" y="0"/>
            <a:ext cx="2982912" cy="466725"/>
          </a:xfrm>
          <a:prstGeom prst="rect">
            <a:avLst/>
          </a:prstGeom>
        </p:spPr>
        <p:txBody>
          <a:bodyPr vert="horz" lIns="91440" tIns="45720" rIns="91440" bIns="45720" rtlCol="0"/>
          <a:lstStyle>
            <a:lvl1pPr algn="r">
              <a:defRPr sz="1200"/>
            </a:lvl1pPr>
          </a:lstStyle>
          <a:p>
            <a:pPr>
              <a:defRPr/>
            </a:pPr>
            <a:fld id="{DD328F25-1772-4298-A341-7DF542CB5208}" type="datetimeFigureOut">
              <a:rPr lang="en-US"/>
              <a:pPr>
                <a:defRPr/>
              </a:pPr>
              <a:t>8/5/23</a:t>
            </a:fld>
            <a:endParaRPr lang="en-US"/>
          </a:p>
        </p:txBody>
      </p:sp>
      <p:sp>
        <p:nvSpPr>
          <p:cNvPr id="4" name="Slide Image Placeholder 3">
            <a:extLst>
              <a:ext uri="{FF2B5EF4-FFF2-40B4-BE49-F238E27FC236}">
                <a16:creationId xmlns:a16="http://schemas.microsoft.com/office/drawing/2014/main" id="{965FCA7F-DD14-4638-BFD0-4941AC50E8AF}"/>
              </a:ext>
            </a:extLst>
          </p:cNvPr>
          <p:cNvSpPr>
            <a:spLocks noGrp="1" noRot="1" noChangeAspect="1"/>
          </p:cNvSpPr>
          <p:nvPr>
            <p:ph type="sldImg" idx="2"/>
          </p:nvPr>
        </p:nvSpPr>
        <p:spPr>
          <a:xfrm>
            <a:off x="1350963" y="1162050"/>
            <a:ext cx="4181475" cy="31369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383434F-CF7B-4BA7-A364-F1F0298AD0C4}"/>
              </a:ext>
            </a:extLst>
          </p:cNvPr>
          <p:cNvSpPr>
            <a:spLocks noGrp="1"/>
          </p:cNvSpPr>
          <p:nvPr>
            <p:ph type="body" sz="quarter" idx="3"/>
          </p:nvPr>
        </p:nvSpPr>
        <p:spPr>
          <a:xfrm>
            <a:off x="688975" y="4473575"/>
            <a:ext cx="5505450" cy="3660775"/>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83485562-9C59-4AD7-BF1E-C6390846FEBA}"/>
              </a:ext>
            </a:extLst>
          </p:cNvPr>
          <p:cNvSpPr>
            <a:spLocks noGrp="1"/>
          </p:cNvSpPr>
          <p:nvPr>
            <p:ph type="ftr" sz="quarter" idx="4"/>
          </p:nvPr>
        </p:nvSpPr>
        <p:spPr>
          <a:xfrm>
            <a:off x="0" y="8829675"/>
            <a:ext cx="2982913" cy="466725"/>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69FDD25A-0FCF-4401-BF84-1345C2D08A4B}"/>
              </a:ext>
            </a:extLst>
          </p:cNvPr>
          <p:cNvSpPr>
            <a:spLocks noGrp="1"/>
          </p:cNvSpPr>
          <p:nvPr>
            <p:ph type="sldNum" sz="quarter" idx="5"/>
          </p:nvPr>
        </p:nvSpPr>
        <p:spPr>
          <a:xfrm>
            <a:off x="3897313" y="8829675"/>
            <a:ext cx="2982912" cy="466725"/>
          </a:xfrm>
          <a:prstGeom prst="rect">
            <a:avLst/>
          </a:prstGeom>
        </p:spPr>
        <p:txBody>
          <a:bodyPr vert="horz" lIns="91440" tIns="45720" rIns="91440" bIns="45720" rtlCol="0" anchor="b"/>
          <a:lstStyle>
            <a:lvl1pPr algn="r">
              <a:defRPr sz="1200"/>
            </a:lvl1pPr>
          </a:lstStyle>
          <a:p>
            <a:pPr>
              <a:defRPr/>
            </a:pPr>
            <a:fld id="{C33AC3D2-48AA-4878-857F-0076F15CA39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properties reflect different aspects of poverty and can help ensure that the measures provide a comprehensive and fair assessment of poverty. Here is an elaboration of each property:</a:t>
            </a:r>
          </a:p>
          <a:p>
            <a:endParaRPr lang="en-US" dirty="0"/>
          </a:p>
          <a:p>
            <a:r>
              <a:rPr lang="en-US" dirty="0"/>
              <a:t>1. **Anonymity**: This property states that the poverty measure should not depend on the identities of the individuals. In other words, if you were to rearrange individuals' incomes, the measure of poverty should remain the same. This ensures that the measure is solely based on income levels and not on who specifically is earning those incomes.</a:t>
            </a:r>
          </a:p>
          <a:p>
            <a:endParaRPr lang="en-US" dirty="0"/>
          </a:p>
          <a:p>
            <a:r>
              <a:rPr lang="en-US" dirty="0"/>
              <a:t>2. **Population Independence**: This property indicates that the poverty measure should not change if the size of the population changes but the distribution of income remains the same. For example, if a country's population doubles but everyone's income also doubles, the measure of poverty should remain the same.</a:t>
            </a:r>
          </a:p>
          <a:p>
            <a:endParaRPr lang="en-US" dirty="0"/>
          </a:p>
          <a:p>
            <a:r>
              <a:rPr lang="en-US" dirty="0"/>
              <a:t>3. **Monotonicity**: This property requires that if the income of a poor person decreases (with all other incomes remaining the same), the measured poverty should increase. This is a fundamental requirement for a poverty measure to accurately reflect changes in the welfare of the poor.</a:t>
            </a:r>
          </a:p>
          <a:p>
            <a:endParaRPr lang="en-US" dirty="0"/>
          </a:p>
          <a:p>
            <a:r>
              <a:rPr lang="en-US" dirty="0"/>
              <a:t>4. **Distributional Sensitivity**: This property states that the poverty measure should be sensitive to changes in the distribution of income among the poor. For example, if income is transferred from a poorer person to a less poor person (both still being poor), the poverty measure should increase. This property ensures that the measure captures not only the incidence of poverty but also its depth and severity.</a:t>
            </a:r>
          </a:p>
          <a:p>
            <a:endParaRPr lang="en-US" dirty="0"/>
          </a:p>
          <a:p>
            <a:r>
              <a:rPr lang="en-US" dirty="0"/>
              <a:t>These properties help ensure that poverty measures provide a meaningful and fair representation of poverty, which is crucial for designing and evaluating poverty alleviation policies.</a:t>
            </a:r>
          </a:p>
        </p:txBody>
      </p:sp>
      <p:sp>
        <p:nvSpPr>
          <p:cNvPr id="4" name="Slide Number Placeholder 3"/>
          <p:cNvSpPr>
            <a:spLocks noGrp="1"/>
          </p:cNvSpPr>
          <p:nvPr>
            <p:ph type="sldNum" sz="quarter" idx="5"/>
          </p:nvPr>
        </p:nvSpPr>
        <p:spPr/>
        <p:txBody>
          <a:bodyPr/>
          <a:lstStyle/>
          <a:p>
            <a:pPr>
              <a:defRPr/>
            </a:pPr>
            <a:fld id="{C33AC3D2-48AA-4878-857F-0076F15CA39D}" type="slidenum">
              <a:rPr lang="en-US" smtClean="0"/>
              <a:pPr>
                <a:defRPr/>
              </a:pPr>
              <a:t>17</a:t>
            </a:fld>
            <a:endParaRPr lang="en-US"/>
          </a:p>
        </p:txBody>
      </p:sp>
    </p:spTree>
    <p:extLst>
      <p:ext uri="{BB962C8B-B14F-4D97-AF65-F5344CB8AC3E}">
        <p14:creationId xmlns:p14="http://schemas.microsoft.com/office/powerpoint/2010/main" val="3134702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buFont typeface="Arial" panose="020B0604020202020204" pitchFamily="34" charset="0"/>
              <a:buChar char="•"/>
            </a:pPr>
            <a:r>
              <a:rPr lang="en-US" b="0" i="0" u="none" strike="noStrike" dirty="0">
                <a:solidFill>
                  <a:srgbClr val="D1D5DB"/>
                </a:solidFill>
                <a:effectLst/>
                <a:latin typeface="Söhne"/>
              </a:rPr>
              <a:t>When </a:t>
            </a:r>
            <a:r>
              <a:rPr lang="el-GR" b="0" i="0" u="none" strike="noStrike" dirty="0">
                <a:solidFill>
                  <a:srgbClr val="D1D5DB"/>
                </a:solidFill>
                <a:effectLst/>
                <a:latin typeface="Söhne"/>
              </a:rPr>
              <a:t>α=0, </a:t>
            </a:r>
            <a:r>
              <a:rPr lang="en-US" b="0" i="0" u="none" strike="noStrike" dirty="0">
                <a:solidFill>
                  <a:srgbClr val="D1D5DB"/>
                </a:solidFill>
                <a:effectLst/>
                <a:latin typeface="Söhne"/>
              </a:rPr>
              <a:t>the FGT index measures the incidence of poverty, or the headcount ratio. It simply counts the number of people who are below the poverty line.</a:t>
            </a:r>
          </a:p>
          <a:p>
            <a:pPr algn="l">
              <a:buFont typeface="Arial" panose="020B0604020202020204" pitchFamily="34" charset="0"/>
              <a:buChar char="•"/>
            </a:pPr>
            <a:r>
              <a:rPr lang="en-US" b="0" i="0" u="none" strike="noStrike" dirty="0">
                <a:solidFill>
                  <a:srgbClr val="D1D5DB"/>
                </a:solidFill>
                <a:effectLst/>
                <a:latin typeface="Söhne"/>
              </a:rPr>
              <a:t>When </a:t>
            </a:r>
            <a:r>
              <a:rPr lang="el-GR" b="0" i="0" u="none" strike="noStrike" dirty="0">
                <a:solidFill>
                  <a:srgbClr val="D1D5DB"/>
                </a:solidFill>
                <a:effectLst/>
                <a:latin typeface="Söhne"/>
              </a:rPr>
              <a:t>α=1, </a:t>
            </a:r>
            <a:r>
              <a:rPr lang="en-US" b="0" i="0" u="none" strike="noStrike" dirty="0">
                <a:solidFill>
                  <a:srgbClr val="D1D5DB"/>
                </a:solidFill>
                <a:effectLst/>
                <a:latin typeface="Söhne"/>
              </a:rPr>
              <a:t>the FGT index measures the depth of poverty, or the poverty gap. It looks at how far, on average, the poor are from the poverty line.</a:t>
            </a:r>
          </a:p>
          <a:p>
            <a:pPr algn="l">
              <a:buFont typeface="Arial" panose="020B0604020202020204" pitchFamily="34" charset="0"/>
              <a:buChar char="•"/>
            </a:pPr>
            <a:r>
              <a:rPr lang="en-US" b="0" i="0" u="none" strike="noStrike" dirty="0">
                <a:solidFill>
                  <a:srgbClr val="D1D5DB"/>
                </a:solidFill>
                <a:effectLst/>
                <a:latin typeface="Söhne"/>
              </a:rPr>
              <a:t>When </a:t>
            </a:r>
            <a:r>
              <a:rPr lang="el-GR" b="0" i="0" u="none" strike="noStrike" dirty="0">
                <a:solidFill>
                  <a:srgbClr val="D1D5DB"/>
                </a:solidFill>
                <a:effectLst/>
                <a:latin typeface="Söhne"/>
              </a:rPr>
              <a:t>α=2, </a:t>
            </a:r>
            <a:r>
              <a:rPr lang="en-US" b="0" i="0" u="none" strike="noStrike" dirty="0">
                <a:solidFill>
                  <a:srgbClr val="D1D5DB"/>
                </a:solidFill>
                <a:effectLst/>
                <a:latin typeface="Söhne"/>
              </a:rPr>
              <a:t>the FGT index measures the severity of poverty. It takes into account not just the distance from the poverty line, but also the inequality among the poor.</a:t>
            </a:r>
          </a:p>
          <a:p>
            <a:pPr eaLnBrk="1" hangingPunct="1">
              <a:spcBef>
                <a:spcPct val="0"/>
              </a:spcBef>
            </a:pPr>
            <a:endParaRPr lang="en-US" altLang="en-US" dirty="0">
              <a:ea typeface="MS PGothic"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Income inequality can have significant economic, social, and political implications, and thus should be a major concern for policymakers. Here's a deeper look at the reasons you've mentioned:</a:t>
            </a:r>
          </a:p>
          <a:p>
            <a:endParaRPr lang="en-US" dirty="0"/>
          </a:p>
          <a:p>
            <a:r>
              <a:rPr lang="en-US" dirty="0"/>
              <a:t>1. **Economic Inefficiency**: High levels of income inequality can lead to economic inefficiency. Those with lower incomes often lack the necessary resources for education or healthcare, which can reduce their potential productivity and thus the overall productivity of the economy. </a:t>
            </a:r>
          </a:p>
          <a:p>
            <a:endParaRPr lang="en-US" dirty="0"/>
          </a:p>
          <a:p>
            <a:r>
              <a:rPr lang="en-US" dirty="0"/>
              <a:t>2. **Financial Constraints and Limited Saving/Investment**: When income is heavily concentrated, those at the bottom end of the distribution may not have sufficient resources to invest in their businesses or education, limiting economic growth. Conversely, those at the top of the distribution may have more money than they can productively invest, which can lead to speculative bubbles or capital flight if they seek investment opportunities elsewhere.</a:t>
            </a:r>
          </a:p>
          <a:p>
            <a:endParaRPr lang="en-US" dirty="0"/>
          </a:p>
          <a:p>
            <a:r>
              <a:rPr lang="en-US" dirty="0"/>
              <a:t>3. **Undermining Social Stability and Solidarity**: High levels of income inequality can lead to social unrest and increased crime rates, as those who feel excluded from the benefits of economic growth may resort to illegal means to improve their economic situation. It can also undermine social cohesion and trust, which are essential for a well-functioning society.</a:t>
            </a:r>
          </a:p>
          <a:p>
            <a:endParaRPr lang="en-US" dirty="0"/>
          </a:p>
          <a:p>
            <a:r>
              <a:rPr lang="en-US" dirty="0"/>
              <a:t>4. **Rent-Seeking**: When income and wealth are concentrated, the wealthy may use their resources to influence government policies in their favor, a process known as rent-seeking. This can lead to policies that perpetuate income inequality and are not in the best interest of the overall economy.</a:t>
            </a:r>
          </a:p>
          <a:p>
            <a:endParaRPr lang="en-US" dirty="0"/>
          </a:p>
          <a:p>
            <a:r>
              <a:rPr lang="en-US" dirty="0"/>
              <a:t>5. **Perception of Unfairness**: High levels of income inequality are often perceived as unfair, especially when they result from factors beyond an individual's control such as discrimination or inheritance. This perception can lead to social unrest and undermine the legitimacy of economic and political institutions.</a:t>
            </a:r>
          </a:p>
          <a:p>
            <a:endParaRPr lang="en-US" dirty="0"/>
          </a:p>
          <a:p>
            <a:r>
              <a:rPr lang="en-US" dirty="0"/>
              <a:t>These reasons illustrate why reducing income inequality should be a key objective for policymakers, as it can lead to more stable and efficient economies, healthier societies, and fairer political systems.</a:t>
            </a:r>
          </a:p>
        </p:txBody>
      </p:sp>
      <p:sp>
        <p:nvSpPr>
          <p:cNvPr id="4" name="Slide Number Placeholder 3"/>
          <p:cNvSpPr>
            <a:spLocks noGrp="1"/>
          </p:cNvSpPr>
          <p:nvPr>
            <p:ph type="sldNum" sz="quarter" idx="5"/>
          </p:nvPr>
        </p:nvSpPr>
        <p:spPr/>
        <p:txBody>
          <a:bodyPr/>
          <a:lstStyle/>
          <a:p>
            <a:pPr>
              <a:defRPr/>
            </a:pPr>
            <a:fld id="{C33AC3D2-48AA-4878-857F-0076F15CA39D}" type="slidenum">
              <a:rPr lang="en-US" smtClean="0"/>
              <a:pPr>
                <a:defRPr/>
              </a:pPr>
              <a:t>27</a:t>
            </a:fld>
            <a:endParaRPr lang="en-US"/>
          </a:p>
        </p:txBody>
      </p:sp>
    </p:spTree>
    <p:extLst>
      <p:ext uri="{BB962C8B-B14F-4D97-AF65-F5344CB8AC3E}">
        <p14:creationId xmlns:p14="http://schemas.microsoft.com/office/powerpoint/2010/main" val="22138586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D1D5DB"/>
                </a:solidFill>
                <a:effectLst/>
                <a:latin typeface="Söhne"/>
              </a:rPr>
              <a:t>The Kuznets Curve is a graphical representation of the path of economic inequality in relation to economic development. The curve is an inverted "U" shape, indicating that as a nation undergoes economic development, it may initially experience an increase in economic inequality, but after a certain point of development, the trend reverses, and economic inequality starts to decrease.</a:t>
            </a:r>
          </a:p>
          <a:p>
            <a:pPr algn="l"/>
            <a:r>
              <a:rPr lang="en-US" b="0" i="0" u="none" strike="noStrike" dirty="0">
                <a:solidFill>
                  <a:srgbClr val="D1D5DB"/>
                </a:solidFill>
                <a:effectLst/>
                <a:latin typeface="Söhne"/>
              </a:rPr>
              <a:t>Kuznets proposed this theory based on data from developed countries like the United States, the United Kingdom, and Germany. According to Kuznets, as a country industrializes, a large portion of the population moves from low-productivity agriculture to higher-productivity industry work, leading to initial increases in inequality. However, as a country continues to develop and its industrial sector matures, social welfare measures are put in place and education becomes widespread, which decreases income disparities.</a:t>
            </a:r>
          </a:p>
          <a:p>
            <a:pPr algn="l"/>
            <a:r>
              <a:rPr lang="en-US" b="0" i="0" u="none" strike="noStrike" dirty="0">
                <a:solidFill>
                  <a:srgbClr val="D1D5DB"/>
                </a:solidFill>
                <a:effectLst/>
                <a:latin typeface="Söhne"/>
              </a:rPr>
              <a:t>However, it's important to note that the Kuznets Curve is a theory and doesn't hold true for all countries at all times. In fact, many developing and developed countries today exhibit high levels of income inequality, despite their level of economic development. Therefore, the applicability of Kuznets' hypothesis remains a subject of ongoing debate in the field of economics.</a:t>
            </a:r>
          </a:p>
          <a:p>
            <a:endParaRPr lang="en-US" dirty="0"/>
          </a:p>
        </p:txBody>
      </p:sp>
      <p:sp>
        <p:nvSpPr>
          <p:cNvPr id="4" name="Slide Number Placeholder 3"/>
          <p:cNvSpPr>
            <a:spLocks noGrp="1"/>
          </p:cNvSpPr>
          <p:nvPr>
            <p:ph type="sldNum" sz="quarter" idx="5"/>
          </p:nvPr>
        </p:nvSpPr>
        <p:spPr/>
        <p:txBody>
          <a:bodyPr/>
          <a:lstStyle/>
          <a:p>
            <a:pPr>
              <a:defRPr/>
            </a:pPr>
            <a:fld id="{C33AC3D2-48AA-4878-857F-0076F15CA39D}" type="slidenum">
              <a:rPr lang="en-US" smtClean="0"/>
              <a:pPr>
                <a:defRPr/>
              </a:pPr>
              <a:t>28</a:t>
            </a:fld>
            <a:endParaRPr lang="en-US"/>
          </a:p>
        </p:txBody>
      </p:sp>
    </p:spTree>
    <p:extLst>
      <p:ext uri="{BB962C8B-B14F-4D97-AF65-F5344CB8AC3E}">
        <p14:creationId xmlns:p14="http://schemas.microsoft.com/office/powerpoint/2010/main" val="22401766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theory of inequality, saving, and capital accumulation posits that wealthier individuals tend to save more than less affluent ones, as they have a lower marginal propensity to consume (MPC). The marginal propensity to consume is the increase in consumer spending due to an incremental increase in income. A lower MPC means that as income increases, consumption does not rise proportionately, leading to higher savings. This could potentially lead to higher capital accumulation and economic growth, as savings can be invested to increase productive capacity.</a:t>
            </a:r>
          </a:p>
          <a:p>
            <a:endParaRPr lang="en-US" dirty="0"/>
          </a:p>
          <a:p>
            <a:r>
              <a:rPr lang="en-US" dirty="0"/>
              <a:t>This theory assumes that the distribution of wealth in a society impacts the overall rate of saving and investment. A society with more wealth concentrated in the hands of a few may have a higher overall savings rate than a more egalitarian society, because the wealthy save a larger portion of their income.</a:t>
            </a:r>
          </a:p>
          <a:p>
            <a:endParaRPr lang="en-US" dirty="0"/>
          </a:p>
          <a:p>
            <a:r>
              <a:rPr lang="en-US" dirty="0"/>
              <a:t>However, economist Milton Friedman challenged this notion in 1957 with his Permanent Income Hypothesis. According to Friedman, consumption depends on what he referred to as "permanent income," or an individual's normal or average income over a long period. This suggests that consumers smooth consumption over their lifetime, spending a constant portion of their permanent income. Thus, under this theory, the distribution of income would not impact the overall savings rate because everyone's marginal propensity to consume remains constant.</a:t>
            </a:r>
          </a:p>
          <a:p>
            <a:endParaRPr lang="en-US" dirty="0"/>
          </a:p>
          <a:p>
            <a:r>
              <a:rPr lang="en-US" dirty="0"/>
              <a:t>Lastly, the relationship between income inequality and savings isn't universally applicable. For instance, empirical evidence from East Asian economies doesn't show a clear relationship between income inequality and savings rates. While these countries have high savings rates, they've exhibited different levels of income inequality. This suggests that other factors like cultural norms, financial systems, and government policies may play a critical role in determining savings behavior.</a:t>
            </a:r>
          </a:p>
        </p:txBody>
      </p:sp>
      <p:sp>
        <p:nvSpPr>
          <p:cNvPr id="4" name="Slide Number Placeholder 3"/>
          <p:cNvSpPr>
            <a:spLocks noGrp="1"/>
          </p:cNvSpPr>
          <p:nvPr>
            <p:ph type="sldNum" sz="quarter" idx="5"/>
          </p:nvPr>
        </p:nvSpPr>
        <p:spPr/>
        <p:txBody>
          <a:bodyPr/>
          <a:lstStyle/>
          <a:p>
            <a:pPr>
              <a:defRPr/>
            </a:pPr>
            <a:fld id="{C33AC3D2-48AA-4878-857F-0076F15CA39D}" type="slidenum">
              <a:rPr lang="en-US" smtClean="0"/>
              <a:pPr>
                <a:defRPr/>
              </a:pPr>
              <a:t>34</a:t>
            </a:fld>
            <a:endParaRPr lang="en-US"/>
          </a:p>
        </p:txBody>
      </p:sp>
    </p:spTree>
    <p:extLst>
      <p:ext uri="{BB962C8B-B14F-4D97-AF65-F5344CB8AC3E}">
        <p14:creationId xmlns:p14="http://schemas.microsoft.com/office/powerpoint/2010/main" val="39828981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relationship between inequality and political stability is complex and multifaceted. While there isn't a one-size-fits-all answer, some researchers propose that higher levels of income inequality can lead to increased political instability and, subsequently, lower economic growth.</a:t>
            </a:r>
          </a:p>
          <a:p>
            <a:endParaRPr lang="en-US" dirty="0"/>
          </a:p>
          <a:p>
            <a:r>
              <a:rPr lang="en-US" dirty="0"/>
              <a:t>The theory goes that when income and wealth are highly concentrated, it can breed resentment among the less affluent majority. This resentment can translate into social unrest, political upheaval, and even violence, all of which can harm economic stability and growth.</a:t>
            </a:r>
          </a:p>
          <a:p>
            <a:endParaRPr lang="en-US" dirty="0"/>
          </a:p>
          <a:p>
            <a:r>
              <a:rPr lang="en-US" dirty="0"/>
              <a:t>Moreover, in highly unequal societies, political power often concentrates in the hands of a wealthy few, who may enact policies that further their own interests rather than those of the broader population. This can impede the development of institutions and policies that support economic growth.</a:t>
            </a:r>
          </a:p>
          <a:p>
            <a:endParaRPr lang="en-US" dirty="0"/>
          </a:p>
          <a:p>
            <a:r>
              <a:rPr lang="en-US" dirty="0"/>
              <a:t>On the empirical side, time-series data (data collected over time from a single country) often do not show a clear relationship between inequality and growth. This might be due to many factors influencing growth over time within a single country, making it difficult to isolate the effect of inequality.</a:t>
            </a:r>
          </a:p>
          <a:p>
            <a:endParaRPr lang="en-US" dirty="0"/>
          </a:p>
          <a:p>
            <a:r>
              <a:rPr lang="en-US" dirty="0"/>
              <a:t>However, when examining cross-country data (data from multiple countries at a single point in time), some studies have found a negative correlation between inequality and growth. In other words, countries with higher levels of income inequality tend to have lower economic growth rates.</a:t>
            </a:r>
          </a:p>
          <a:p>
            <a:endParaRPr lang="en-US" dirty="0"/>
          </a:p>
          <a:p>
            <a:r>
              <a:rPr lang="en-US" dirty="0"/>
              <a:t>But it's important to note that these are correlations, not causations, and they do not account for all other potential factors influencing growth. The relationship between inequality and growth is complex and can be influenced by many factors, including the structure of the economy, political institutions, cultural values, and historical circumstances.</a:t>
            </a:r>
          </a:p>
        </p:txBody>
      </p:sp>
      <p:sp>
        <p:nvSpPr>
          <p:cNvPr id="4" name="Slide Number Placeholder 3"/>
          <p:cNvSpPr>
            <a:spLocks noGrp="1"/>
          </p:cNvSpPr>
          <p:nvPr>
            <p:ph type="sldNum" sz="quarter" idx="5"/>
          </p:nvPr>
        </p:nvSpPr>
        <p:spPr/>
        <p:txBody>
          <a:bodyPr/>
          <a:lstStyle/>
          <a:p>
            <a:pPr>
              <a:defRPr/>
            </a:pPr>
            <a:fld id="{C33AC3D2-48AA-4878-857F-0076F15CA39D}" type="slidenum">
              <a:rPr lang="en-US" smtClean="0"/>
              <a:pPr>
                <a:defRPr/>
              </a:pPr>
              <a:t>35</a:t>
            </a:fld>
            <a:endParaRPr lang="en-US"/>
          </a:p>
        </p:txBody>
      </p:sp>
    </p:spTree>
    <p:extLst>
      <p:ext uri="{BB962C8B-B14F-4D97-AF65-F5344CB8AC3E}">
        <p14:creationId xmlns:p14="http://schemas.microsoft.com/office/powerpoint/2010/main" val="8821374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Poverty often manifests differently across various social groups and geographical areas due to factors like access to resources, discrimination, political representation, and educational opportunities. Here are the characteristics of some high-poverty groups:</a:t>
            </a:r>
          </a:p>
          <a:p>
            <a:endParaRPr lang="en-US" dirty="0"/>
          </a:p>
          <a:p>
            <a:r>
              <a:rPr lang="en-US" dirty="0"/>
              <a:t>1. **Rural Poverty:** In many parts of the world, rural areas have higher poverty rates than urban areas. This is due to several factors:</a:t>
            </a:r>
          </a:p>
          <a:p>
            <a:endParaRPr lang="en-US" dirty="0"/>
          </a:p>
          <a:p>
            <a:r>
              <a:rPr lang="en-US" dirty="0"/>
              <a:t>   - Limited access to credit and capital: Rural inhabitants often lack the financial resources or collateral to invest in income-generating activities.</a:t>
            </a:r>
          </a:p>
          <a:p>
            <a:r>
              <a:rPr lang="en-US" dirty="0"/>
              <a:t>   - Lack of infrastructure: This includes physical infrastructure like roads and electricity, as well as social infrastructure like schools and hospitals. </a:t>
            </a:r>
          </a:p>
          <a:p>
            <a:r>
              <a:rPr lang="en-US" dirty="0"/>
              <a:t>   - Limited access to markets: Poor transportation networks and the physical distance from major markets can prevent rural inhabitants from selling their goods and services at competitive prices.</a:t>
            </a:r>
          </a:p>
          <a:p>
            <a:r>
              <a:rPr lang="en-US" dirty="0"/>
              <a:t>   - Dependence on agriculture: Many rural economies depend heavily on agriculture, which can be unpredictable and vulnerable to shocks like bad weather or crop diseases.</a:t>
            </a:r>
          </a:p>
          <a:p>
            <a:endParaRPr lang="en-US" dirty="0"/>
          </a:p>
          <a:p>
            <a:r>
              <a:rPr lang="en-US" dirty="0"/>
              <a:t>2. **Women and Poverty:** Women globally face higher rates of poverty due to factors like:</a:t>
            </a:r>
          </a:p>
          <a:p>
            <a:endParaRPr lang="en-US" dirty="0"/>
          </a:p>
          <a:p>
            <a:r>
              <a:rPr lang="en-US" dirty="0"/>
              <a:t>   - Gender wage gap: Women often earn less than men for the same work.</a:t>
            </a:r>
          </a:p>
          <a:p>
            <a:r>
              <a:rPr lang="en-US" dirty="0"/>
              <a:t>   - Unpaid work: Women tend to do a larger share of unpaid work, such as childcare and housework, which limits their ability to earn income.</a:t>
            </a:r>
          </a:p>
          <a:p>
            <a:r>
              <a:rPr lang="en-US" dirty="0"/>
              <a:t>   - Limited access to education: In many parts of the world, women have less access to education, which limits their employment opportunities.</a:t>
            </a:r>
          </a:p>
          <a:p>
            <a:r>
              <a:rPr lang="en-US" dirty="0"/>
              <a:t>   - Discrimination and social norms: Discriminatory laws and social norms can limit women's access to job opportunities, property ownership, and financial services.</a:t>
            </a:r>
          </a:p>
          <a:p>
            <a:endParaRPr lang="en-US" dirty="0"/>
          </a:p>
          <a:p>
            <a:r>
              <a:rPr lang="en-US" dirty="0"/>
              <a:t>3. **Ethnic Minorities and Indigenous Populations:** These groups often face higher rates of poverty due to:</a:t>
            </a:r>
          </a:p>
          <a:p>
            <a:endParaRPr lang="en-US" dirty="0"/>
          </a:p>
          <a:p>
            <a:r>
              <a:rPr lang="en-US" dirty="0"/>
              <a:t>   - Discrimination: Ethnic and indigenous groups often face systemic discrimination, which can limit their access to education, employment, and other resources.</a:t>
            </a:r>
          </a:p>
          <a:p>
            <a:r>
              <a:rPr lang="en-US" dirty="0"/>
              <a:t>   - Geographical isolation: These populations often live in remote or marginalized areas with limited access to infrastructure and services.</a:t>
            </a:r>
          </a:p>
          <a:p>
            <a:r>
              <a:rPr lang="en-US" dirty="0"/>
              <a:t>   - Cultural differences: Differences in language, traditions, and social norms can create barriers to integration and economic opportunity.</a:t>
            </a:r>
          </a:p>
          <a:p>
            <a:r>
              <a:rPr lang="en-US" dirty="0"/>
              <a:t>   - Dispossession of land: Many indigenous groups have been dispossessed of their ancestral lands, depriving them of a key source of income and cultural identity.</a:t>
            </a:r>
          </a:p>
          <a:p>
            <a:endParaRPr lang="en-US" dirty="0"/>
          </a:p>
          <a:p>
            <a:r>
              <a:rPr lang="en-US" dirty="0"/>
              <a:t>Addressing poverty in these groups requires tailored policies that take into account their specific circumstances and challenges.</a:t>
            </a:r>
          </a:p>
        </p:txBody>
      </p:sp>
      <p:sp>
        <p:nvSpPr>
          <p:cNvPr id="4" name="Slide Number Placeholder 3"/>
          <p:cNvSpPr>
            <a:spLocks noGrp="1"/>
          </p:cNvSpPr>
          <p:nvPr>
            <p:ph type="sldNum" sz="quarter" idx="5"/>
          </p:nvPr>
        </p:nvSpPr>
        <p:spPr/>
        <p:txBody>
          <a:bodyPr/>
          <a:lstStyle/>
          <a:p>
            <a:pPr>
              <a:defRPr/>
            </a:pPr>
            <a:fld id="{C33AC3D2-48AA-4878-857F-0076F15CA39D}" type="slidenum">
              <a:rPr lang="en-US" smtClean="0"/>
              <a:pPr>
                <a:defRPr/>
              </a:pPr>
              <a:t>36</a:t>
            </a:fld>
            <a:endParaRPr lang="en-US"/>
          </a:p>
        </p:txBody>
      </p:sp>
    </p:spTree>
    <p:extLst>
      <p:ext uri="{BB962C8B-B14F-4D97-AF65-F5344CB8AC3E}">
        <p14:creationId xmlns:p14="http://schemas.microsoft.com/office/powerpoint/2010/main" val="859002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u="none" strike="noStrike" dirty="0">
                <a:solidFill>
                  <a:srgbClr val="D1D5DB"/>
                </a:solidFill>
                <a:effectLst/>
                <a:latin typeface="Söhne"/>
              </a:rPr>
              <a:t>Altering the Functional Distribution:</a:t>
            </a:r>
            <a:r>
              <a:rPr lang="en-US" b="0" i="0" u="none" strike="noStrike" dirty="0">
                <a:solidFill>
                  <a:srgbClr val="D1D5DB"/>
                </a:solidFill>
                <a:effectLst/>
                <a:latin typeface="Söhne"/>
              </a:rPr>
              <a:t> This involves changing the distribution of income before taxes and transfers, primarily through interventions in labor markets and capital markets. Strategies may include:</a:t>
            </a:r>
          </a:p>
          <a:p>
            <a:pPr marL="742950" lvl="1" indent="-285750" algn="l">
              <a:buFont typeface="+mj-lt"/>
              <a:buAutoNum type="arabicPeriod"/>
            </a:pPr>
            <a:r>
              <a:rPr lang="en-US" b="1" i="0" u="none" strike="noStrike" dirty="0">
                <a:solidFill>
                  <a:srgbClr val="D1D5DB"/>
                </a:solidFill>
                <a:effectLst/>
                <a:latin typeface="Söhne"/>
              </a:rPr>
              <a:t>Promoting education and skills training:</a:t>
            </a:r>
            <a:r>
              <a:rPr lang="en-US" b="0" i="0" u="none" strike="noStrike" dirty="0">
                <a:solidFill>
                  <a:srgbClr val="D1D5DB"/>
                </a:solidFill>
                <a:effectLst/>
                <a:latin typeface="Söhne"/>
              </a:rPr>
              <a:t> These efforts can help equip workers with the skills they need to compete for higher-paying jobs.</a:t>
            </a:r>
          </a:p>
          <a:p>
            <a:pPr marL="742950" lvl="1" indent="-285750" algn="l">
              <a:buFont typeface="+mj-lt"/>
              <a:buAutoNum type="arabicPeriod"/>
            </a:pPr>
            <a:r>
              <a:rPr lang="en-US" b="1" i="0" u="none" strike="noStrike" dirty="0">
                <a:solidFill>
                  <a:srgbClr val="D1D5DB"/>
                </a:solidFill>
                <a:effectLst/>
                <a:latin typeface="Söhne"/>
              </a:rPr>
              <a:t>Strengthening labor market institutions:</a:t>
            </a:r>
            <a:r>
              <a:rPr lang="en-US" b="0" i="0" u="none" strike="noStrike" dirty="0">
                <a:solidFill>
                  <a:srgbClr val="D1D5DB"/>
                </a:solidFill>
                <a:effectLst/>
                <a:latin typeface="Söhne"/>
              </a:rPr>
              <a:t> This can include measures such as supporting unions, promoting collective bargaining, and enforcing minimum wage laws.</a:t>
            </a:r>
          </a:p>
          <a:p>
            <a:pPr marL="742950" lvl="1" indent="-285750" algn="l">
              <a:buFont typeface="+mj-lt"/>
              <a:buAutoNum type="arabicPeriod"/>
            </a:pPr>
            <a:r>
              <a:rPr lang="en-US" b="1" i="0" u="none" strike="noStrike" dirty="0">
                <a:solidFill>
                  <a:srgbClr val="D1D5DB"/>
                </a:solidFill>
                <a:effectLst/>
                <a:latin typeface="Söhne"/>
              </a:rPr>
              <a:t>Regulating financial markets:</a:t>
            </a:r>
            <a:r>
              <a:rPr lang="en-US" b="0" i="0" u="none" strike="noStrike" dirty="0">
                <a:solidFill>
                  <a:srgbClr val="D1D5DB"/>
                </a:solidFill>
                <a:effectLst/>
                <a:latin typeface="Söhne"/>
              </a:rPr>
              <a:t> This can help ensure that capital returns are not excessively concentrated among a small segment of the population.</a:t>
            </a:r>
          </a:p>
          <a:p>
            <a:pPr algn="l">
              <a:buFont typeface="+mj-lt"/>
              <a:buAutoNum type="arabicPeriod"/>
            </a:pPr>
            <a:r>
              <a:rPr lang="en-US" b="1" i="0" u="none" strike="noStrike" dirty="0">
                <a:solidFill>
                  <a:srgbClr val="D1D5DB"/>
                </a:solidFill>
                <a:effectLst/>
                <a:latin typeface="Söhne"/>
              </a:rPr>
              <a:t>Mitigating the Size Distribution:</a:t>
            </a:r>
            <a:r>
              <a:rPr lang="en-US" b="0" i="0" u="none" strike="noStrike" dirty="0">
                <a:solidFill>
                  <a:srgbClr val="D1D5DB"/>
                </a:solidFill>
                <a:effectLst/>
                <a:latin typeface="Söhne"/>
              </a:rPr>
              <a:t> This involves redistributing income through taxes and transfers. Strategies may include:</a:t>
            </a:r>
          </a:p>
          <a:p>
            <a:pPr marL="742950" lvl="1" indent="-285750" algn="l">
              <a:buFont typeface="+mj-lt"/>
              <a:buAutoNum type="arabicPeriod"/>
            </a:pPr>
            <a:r>
              <a:rPr lang="en-US" b="1" i="0" u="none" strike="noStrike" dirty="0">
                <a:solidFill>
                  <a:srgbClr val="D1D5DB"/>
                </a:solidFill>
                <a:effectLst/>
                <a:latin typeface="Söhne"/>
              </a:rPr>
              <a:t>Progressive taxation:</a:t>
            </a:r>
            <a:r>
              <a:rPr lang="en-US" b="0" i="0" u="none" strike="noStrike" dirty="0">
                <a:solidFill>
                  <a:srgbClr val="D1D5DB"/>
                </a:solidFill>
                <a:effectLst/>
                <a:latin typeface="Söhne"/>
              </a:rPr>
              <a:t> This involves taxing higher incomes at higher rates, which can help reduce income inequality.</a:t>
            </a:r>
          </a:p>
          <a:p>
            <a:pPr marL="742950" lvl="1" indent="-285750" algn="l">
              <a:buFont typeface="+mj-lt"/>
              <a:buAutoNum type="arabicPeriod"/>
            </a:pPr>
            <a:r>
              <a:rPr lang="en-US" b="1" i="0" u="none" strike="noStrike" dirty="0">
                <a:solidFill>
                  <a:srgbClr val="D1D5DB"/>
                </a:solidFill>
                <a:effectLst/>
                <a:latin typeface="Söhne"/>
              </a:rPr>
              <a:t>Transfer programs:</a:t>
            </a:r>
            <a:r>
              <a:rPr lang="en-US" b="0" i="0" u="none" strike="noStrike" dirty="0">
                <a:solidFill>
                  <a:srgbClr val="D1D5DB"/>
                </a:solidFill>
                <a:effectLst/>
                <a:latin typeface="Söhne"/>
              </a:rPr>
              <a:t> These can include things like welfare payments, unemployment insurance, and child benefits, which can help lift individuals and families out of poverty.</a:t>
            </a:r>
          </a:p>
          <a:p>
            <a:pPr algn="l">
              <a:buFont typeface="+mj-lt"/>
              <a:buAutoNum type="arabicPeriod"/>
            </a:pPr>
            <a:r>
              <a:rPr lang="en-US" b="1" i="0" u="none" strike="noStrike" dirty="0">
                <a:solidFill>
                  <a:srgbClr val="D1D5DB"/>
                </a:solidFill>
                <a:effectLst/>
                <a:latin typeface="Söhne"/>
              </a:rPr>
              <a:t>Moderating the Size Distribution at Upper Levels:</a:t>
            </a:r>
            <a:r>
              <a:rPr lang="en-US" b="0" i="0" u="none" strike="noStrike" dirty="0">
                <a:solidFill>
                  <a:srgbClr val="D1D5DB"/>
                </a:solidFill>
                <a:effectLst/>
                <a:latin typeface="Söhne"/>
              </a:rPr>
              <a:t> This involves reducing the concentration of wealth at the top of the income distribution. This can be achieved through strategies such as:</a:t>
            </a:r>
          </a:p>
          <a:p>
            <a:pPr marL="742950" lvl="1" indent="-285750" algn="l">
              <a:buFont typeface="+mj-lt"/>
              <a:buAutoNum type="arabicPeriod"/>
            </a:pPr>
            <a:r>
              <a:rPr lang="en-US" b="1" i="0" u="none" strike="noStrike" dirty="0">
                <a:solidFill>
                  <a:srgbClr val="D1D5DB"/>
                </a:solidFill>
                <a:effectLst/>
                <a:latin typeface="Söhne"/>
              </a:rPr>
              <a:t>Wealth taxation:</a:t>
            </a:r>
            <a:r>
              <a:rPr lang="en-US" b="0" i="0" u="none" strike="noStrike" dirty="0">
                <a:solidFill>
                  <a:srgbClr val="D1D5DB"/>
                </a:solidFill>
                <a:effectLst/>
                <a:latin typeface="Söhne"/>
              </a:rPr>
              <a:t> Taxes on wealth, such as property taxes or inheritance taxes, can help reduce wealth concentration.</a:t>
            </a:r>
          </a:p>
          <a:p>
            <a:pPr marL="742950" lvl="1" indent="-285750" algn="l">
              <a:buFont typeface="+mj-lt"/>
              <a:buAutoNum type="arabicPeriod"/>
            </a:pPr>
            <a:r>
              <a:rPr lang="en-US" b="1" i="0" u="none" strike="noStrike" dirty="0">
                <a:solidFill>
                  <a:srgbClr val="D1D5DB"/>
                </a:solidFill>
                <a:effectLst/>
                <a:latin typeface="Söhne"/>
              </a:rPr>
              <a:t>Regulating executive compensation:</a:t>
            </a:r>
            <a:r>
              <a:rPr lang="en-US" b="0" i="0" u="none" strike="noStrike" dirty="0">
                <a:solidFill>
                  <a:srgbClr val="D1D5DB"/>
                </a:solidFill>
                <a:effectLst/>
                <a:latin typeface="Söhne"/>
              </a:rPr>
              <a:t> This can help ensure that income is not excessively concentrated among top executives.</a:t>
            </a:r>
          </a:p>
          <a:p>
            <a:pPr marL="742950" lvl="1" indent="-285750" algn="l">
              <a:buFont typeface="+mj-lt"/>
              <a:buAutoNum type="arabicPeriod"/>
            </a:pPr>
            <a:r>
              <a:rPr lang="en-US" b="1" i="0" u="none" strike="noStrike" dirty="0">
                <a:solidFill>
                  <a:srgbClr val="D1D5DB"/>
                </a:solidFill>
                <a:effectLst/>
                <a:latin typeface="Söhne"/>
              </a:rPr>
              <a:t>Promoting corporate governance reforms:</a:t>
            </a:r>
            <a:r>
              <a:rPr lang="en-US" b="0" i="0" u="none" strike="noStrike" dirty="0">
                <a:solidFill>
                  <a:srgbClr val="D1D5DB"/>
                </a:solidFill>
                <a:effectLst/>
                <a:latin typeface="Söhne"/>
              </a:rPr>
              <a:t> This can help ensure that profits are shared more equitably among all stakeholders, not just shareholders.</a:t>
            </a:r>
          </a:p>
          <a:p>
            <a:pPr algn="l">
              <a:buFont typeface="+mj-lt"/>
              <a:buAutoNum type="arabicPeriod"/>
            </a:pPr>
            <a:r>
              <a:rPr lang="en-US" b="1" i="0" u="none" strike="noStrike" dirty="0">
                <a:solidFill>
                  <a:srgbClr val="D1D5DB"/>
                </a:solidFill>
                <a:effectLst/>
                <a:latin typeface="Söhne"/>
              </a:rPr>
              <a:t>Moderating the Size Distribution at Lower Levels:</a:t>
            </a:r>
            <a:r>
              <a:rPr lang="en-US" b="0" i="0" u="none" strike="noStrike" dirty="0">
                <a:solidFill>
                  <a:srgbClr val="D1D5DB"/>
                </a:solidFill>
                <a:effectLst/>
                <a:latin typeface="Söhne"/>
              </a:rPr>
              <a:t> This involves increasing income at the bottom of the distribution. Strategies may include:</a:t>
            </a:r>
          </a:p>
          <a:p>
            <a:pPr marL="742950" lvl="1" indent="-285750" algn="l">
              <a:buFont typeface="+mj-lt"/>
              <a:buAutoNum type="arabicPeriod"/>
            </a:pPr>
            <a:r>
              <a:rPr lang="en-US" b="1" i="0" u="none" strike="noStrike" dirty="0">
                <a:solidFill>
                  <a:srgbClr val="D1D5DB"/>
                </a:solidFill>
                <a:effectLst/>
                <a:latin typeface="Söhne"/>
              </a:rPr>
              <a:t>Minimum wage laws:</a:t>
            </a:r>
            <a:r>
              <a:rPr lang="en-US" b="0" i="0" u="none" strike="noStrike" dirty="0">
                <a:solidFill>
                  <a:srgbClr val="D1D5DB"/>
                </a:solidFill>
                <a:effectLst/>
                <a:latin typeface="Söhne"/>
              </a:rPr>
              <a:t> These can help ensure that workers earn a living wage.</a:t>
            </a:r>
          </a:p>
          <a:p>
            <a:pPr marL="742950" lvl="1" indent="-285750" algn="l">
              <a:buFont typeface="+mj-lt"/>
              <a:buAutoNum type="arabicPeriod"/>
            </a:pPr>
            <a:r>
              <a:rPr lang="en-US" b="1" i="0" u="none" strike="noStrike" dirty="0">
                <a:solidFill>
                  <a:srgbClr val="D1D5DB"/>
                </a:solidFill>
                <a:effectLst/>
                <a:latin typeface="Söhne"/>
              </a:rPr>
              <a:t>Social protection programs:</a:t>
            </a:r>
            <a:r>
              <a:rPr lang="en-US" b="0" i="0" u="none" strike="noStrike" dirty="0">
                <a:solidFill>
                  <a:srgbClr val="D1D5DB"/>
                </a:solidFill>
                <a:effectLst/>
                <a:latin typeface="Söhne"/>
              </a:rPr>
              <a:t> These can help protect vulnerable groups from falling into poverty.</a:t>
            </a:r>
          </a:p>
          <a:p>
            <a:pPr marL="742950" lvl="1" indent="-285750" algn="l">
              <a:buFont typeface="+mj-lt"/>
              <a:buAutoNum type="arabicPeriod"/>
            </a:pPr>
            <a:r>
              <a:rPr lang="en-US" b="1" i="0" u="none" strike="noStrike" dirty="0">
                <a:solidFill>
                  <a:srgbClr val="D1D5DB"/>
                </a:solidFill>
                <a:effectLst/>
                <a:latin typeface="Söhne"/>
              </a:rPr>
              <a:t>Promoting inclusive growth:</a:t>
            </a:r>
            <a:r>
              <a:rPr lang="en-US" b="0" i="0" u="none" strike="noStrike" dirty="0">
                <a:solidFill>
                  <a:srgbClr val="D1D5DB"/>
                </a:solidFill>
                <a:effectLst/>
                <a:latin typeface="Söhne"/>
              </a:rPr>
              <a:t> This involves promoting economic policies that ensure the benefits of growth are shared widely, rather than concentrated among a small segment of the population.</a:t>
            </a:r>
          </a:p>
          <a:p>
            <a:endParaRPr lang="en-US" dirty="0"/>
          </a:p>
        </p:txBody>
      </p:sp>
      <p:sp>
        <p:nvSpPr>
          <p:cNvPr id="4" name="Slide Number Placeholder 3"/>
          <p:cNvSpPr>
            <a:spLocks noGrp="1"/>
          </p:cNvSpPr>
          <p:nvPr>
            <p:ph type="sldNum" sz="quarter" idx="5"/>
          </p:nvPr>
        </p:nvSpPr>
        <p:spPr/>
        <p:txBody>
          <a:bodyPr/>
          <a:lstStyle/>
          <a:p>
            <a:pPr>
              <a:defRPr/>
            </a:pPr>
            <a:fld id="{C33AC3D2-48AA-4878-857F-0076F15CA39D}" type="slidenum">
              <a:rPr lang="en-US" smtClean="0"/>
              <a:pPr>
                <a:defRPr/>
              </a:pPr>
              <a:t>39</a:t>
            </a:fld>
            <a:endParaRPr lang="en-US"/>
          </a:p>
        </p:txBody>
      </p:sp>
    </p:spTree>
    <p:extLst>
      <p:ext uri="{BB962C8B-B14F-4D97-AF65-F5344CB8AC3E}">
        <p14:creationId xmlns:p14="http://schemas.microsoft.com/office/powerpoint/2010/main" val="7568125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1. **Changing Relative Factor Prices:** This policy seeks to alter the prices of the factors of production (e.g., labor, capital) in a way that benefits the less advantaged. For instance, increasing the wages for low-skilled work could help lift workers out of poverty. This could be achieved through minimum wage laws, collective bargaining, or other labor market interventions. However, care must be taken to avoid unintended consequences, such as job losses if wages are set too high.</a:t>
            </a:r>
          </a:p>
          <a:p>
            <a:endParaRPr lang="en-US" dirty="0"/>
          </a:p>
          <a:p>
            <a:r>
              <a:rPr lang="en-US" dirty="0"/>
              <a:t>2. **Progressive Redistribution of Asset Ownership:** This policy is about redistributing assets (e.g., land, capital) from the rich to the poor. This could be done through land reform programs, worker ownership or co-op initiatives, or policies encouraging broader stock ownership. The idea is to give the less advantaged a stake in the economy and a source of wealth and income.</a:t>
            </a:r>
          </a:p>
          <a:p>
            <a:endParaRPr lang="en-US" dirty="0"/>
          </a:p>
          <a:p>
            <a:r>
              <a:rPr lang="en-US" dirty="0"/>
              <a:t>3. **Progressive Taxation:** Progressive tax systems tax higher incomes at higher rates. This can help redistribute income from the rich to the poor and reduce income inequality. In addition, wealth taxes, inheritance taxes, or capital gains taxes can be used to reduce the concentration of wealth.</a:t>
            </a:r>
          </a:p>
          <a:p>
            <a:endParaRPr lang="en-US" dirty="0"/>
          </a:p>
          <a:p>
            <a:r>
              <a:rPr lang="en-US" dirty="0"/>
              <a:t>4. **Transfer Payments and Public Provision of Goods and Services:** Transfer payments, such as welfare benefits, unemployment insurance, and pensions, can provide a safety net for the less advantaged. The public provision of goods and services, such as education, healthcare, and housing, can also play a crucial role. By providing these goods and services publicly, governments can ensure that everyone has access to them, regardless of income.</a:t>
            </a:r>
          </a:p>
          <a:p>
            <a:endParaRPr lang="en-US" dirty="0"/>
          </a:p>
          <a:p>
            <a:r>
              <a:rPr lang="en-US" dirty="0"/>
              <a:t>While each of these policy options can play a role in addressing income inequality and poverty, they each have potential drawbacks and trade-offs. Therefore, it's important for policy makers to carefully consider the implications and potential unintended consequences of each policy.</a:t>
            </a:r>
          </a:p>
        </p:txBody>
      </p:sp>
      <p:sp>
        <p:nvSpPr>
          <p:cNvPr id="4" name="Slide Number Placeholder 3"/>
          <p:cNvSpPr>
            <a:spLocks noGrp="1"/>
          </p:cNvSpPr>
          <p:nvPr>
            <p:ph type="sldNum" sz="quarter" idx="5"/>
          </p:nvPr>
        </p:nvSpPr>
        <p:spPr/>
        <p:txBody>
          <a:bodyPr/>
          <a:lstStyle/>
          <a:p>
            <a:pPr>
              <a:defRPr/>
            </a:pPr>
            <a:fld id="{C33AC3D2-48AA-4878-857F-0076F15CA39D}" type="slidenum">
              <a:rPr lang="en-US" smtClean="0"/>
              <a:pPr>
                <a:defRPr/>
              </a:pPr>
              <a:t>40</a:t>
            </a:fld>
            <a:endParaRPr lang="en-US"/>
          </a:p>
        </p:txBody>
      </p:sp>
    </p:spTree>
    <p:extLst>
      <p:ext uri="{BB962C8B-B14F-4D97-AF65-F5344CB8AC3E}">
        <p14:creationId xmlns:p14="http://schemas.microsoft.com/office/powerpoint/2010/main" val="1507685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E04C9AA8-6CF3-4FF3-8866-8C39D7CD23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A459114-5C5A-4042-B0DF-DC2C2BB866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BD061C4-161D-4AFF-99AE-6DD29F8823F9}"/>
              </a:ext>
            </a:extLst>
          </p:cNvPr>
          <p:cNvSpPr>
            <a:spLocks noGrp="1" noChangeArrowheads="1"/>
          </p:cNvSpPr>
          <p:nvPr>
            <p:ph type="sldNum" sz="quarter" idx="12"/>
          </p:nvPr>
        </p:nvSpPr>
        <p:spPr>
          <a:ln/>
        </p:spPr>
        <p:txBody>
          <a:bodyPr/>
          <a:lstStyle>
            <a:lvl1pPr>
              <a:defRPr/>
            </a:lvl1pPr>
          </a:lstStyle>
          <a:p>
            <a:pPr>
              <a:defRPr/>
            </a:pPr>
            <a:fld id="{2F1A2AEB-40F0-4CDB-865E-AF1A4F862CE9}" type="slidenum">
              <a:rPr lang="en-US" altLang="zh-CN"/>
              <a:pPr>
                <a:defRPr/>
              </a:pPr>
              <a:t>‹#›</a:t>
            </a:fld>
            <a:endParaRPr lang="en-US" altLang="zh-CN"/>
          </a:p>
        </p:txBody>
      </p:sp>
    </p:spTree>
    <p:extLst>
      <p:ext uri="{BB962C8B-B14F-4D97-AF65-F5344CB8AC3E}">
        <p14:creationId xmlns:p14="http://schemas.microsoft.com/office/powerpoint/2010/main" val="4284787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04C9AA8-6CF3-4FF3-8866-8C39D7CD23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A459114-5C5A-4042-B0DF-DC2C2BB866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BD061C4-161D-4AFF-99AE-6DD29F8823F9}"/>
              </a:ext>
            </a:extLst>
          </p:cNvPr>
          <p:cNvSpPr>
            <a:spLocks noGrp="1" noChangeArrowheads="1"/>
          </p:cNvSpPr>
          <p:nvPr>
            <p:ph type="sldNum" sz="quarter" idx="12"/>
          </p:nvPr>
        </p:nvSpPr>
        <p:spPr>
          <a:ln/>
        </p:spPr>
        <p:txBody>
          <a:bodyPr/>
          <a:lstStyle>
            <a:lvl1pPr>
              <a:defRPr/>
            </a:lvl1pPr>
          </a:lstStyle>
          <a:p>
            <a:pPr>
              <a:defRPr/>
            </a:pPr>
            <a:fld id="{DA28C95B-4840-4D91-86B1-0E70C6BA00B7}" type="slidenum">
              <a:rPr lang="en-US" altLang="zh-CN"/>
              <a:pPr>
                <a:defRPr/>
              </a:pPr>
              <a:t>‹#›</a:t>
            </a:fld>
            <a:endParaRPr lang="en-US" altLang="zh-CN"/>
          </a:p>
        </p:txBody>
      </p:sp>
    </p:spTree>
    <p:extLst>
      <p:ext uri="{BB962C8B-B14F-4D97-AF65-F5344CB8AC3E}">
        <p14:creationId xmlns:p14="http://schemas.microsoft.com/office/powerpoint/2010/main" val="1119723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E04C9AA8-6CF3-4FF3-8866-8C39D7CD23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A459114-5C5A-4042-B0DF-DC2C2BB866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BD061C4-161D-4AFF-99AE-6DD29F8823F9}"/>
              </a:ext>
            </a:extLst>
          </p:cNvPr>
          <p:cNvSpPr>
            <a:spLocks noGrp="1" noChangeArrowheads="1"/>
          </p:cNvSpPr>
          <p:nvPr>
            <p:ph type="sldNum" sz="quarter" idx="12"/>
          </p:nvPr>
        </p:nvSpPr>
        <p:spPr>
          <a:ln/>
        </p:spPr>
        <p:txBody>
          <a:bodyPr/>
          <a:lstStyle>
            <a:lvl1pPr>
              <a:defRPr/>
            </a:lvl1pPr>
          </a:lstStyle>
          <a:p>
            <a:pPr>
              <a:defRPr/>
            </a:pPr>
            <a:fld id="{A5D05B7E-128F-43EC-954D-C9622ED10DF2}" type="slidenum">
              <a:rPr lang="en-US" altLang="zh-CN"/>
              <a:pPr>
                <a:defRPr/>
              </a:pPr>
              <a:t>‹#›</a:t>
            </a:fld>
            <a:endParaRPr lang="en-US" altLang="zh-CN"/>
          </a:p>
        </p:txBody>
      </p:sp>
    </p:spTree>
    <p:extLst>
      <p:ext uri="{BB962C8B-B14F-4D97-AF65-F5344CB8AC3E}">
        <p14:creationId xmlns:p14="http://schemas.microsoft.com/office/powerpoint/2010/main" val="2030960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E04C9AA8-6CF3-4FF3-8866-8C39D7CD23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A459114-5C5A-4042-B0DF-DC2C2BB866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BD061C4-161D-4AFF-99AE-6DD29F8823F9}"/>
              </a:ext>
            </a:extLst>
          </p:cNvPr>
          <p:cNvSpPr>
            <a:spLocks noGrp="1" noChangeArrowheads="1"/>
          </p:cNvSpPr>
          <p:nvPr>
            <p:ph type="sldNum" sz="quarter" idx="12"/>
          </p:nvPr>
        </p:nvSpPr>
        <p:spPr>
          <a:ln/>
        </p:spPr>
        <p:txBody>
          <a:bodyPr/>
          <a:lstStyle>
            <a:lvl1pPr>
              <a:defRPr/>
            </a:lvl1pPr>
          </a:lstStyle>
          <a:p>
            <a:pPr>
              <a:defRPr/>
            </a:pPr>
            <a:fld id="{312A6C6D-7DDF-4CBB-8DBC-974FE8DF09FF}" type="slidenum">
              <a:rPr lang="en-US" altLang="zh-CN"/>
              <a:pPr>
                <a:defRPr/>
              </a:pPr>
              <a:t>‹#›</a:t>
            </a:fld>
            <a:endParaRPr lang="en-US" altLang="zh-CN"/>
          </a:p>
        </p:txBody>
      </p:sp>
    </p:spTree>
    <p:extLst>
      <p:ext uri="{BB962C8B-B14F-4D97-AF65-F5344CB8AC3E}">
        <p14:creationId xmlns:p14="http://schemas.microsoft.com/office/powerpoint/2010/main" val="2681475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E04C9AA8-6CF3-4FF3-8866-8C39D7CD23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6A459114-5C5A-4042-B0DF-DC2C2BB866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ABD061C4-161D-4AFF-99AE-6DD29F8823F9}"/>
              </a:ext>
            </a:extLst>
          </p:cNvPr>
          <p:cNvSpPr>
            <a:spLocks noGrp="1" noChangeArrowheads="1"/>
          </p:cNvSpPr>
          <p:nvPr>
            <p:ph type="sldNum" sz="quarter" idx="12"/>
          </p:nvPr>
        </p:nvSpPr>
        <p:spPr>
          <a:ln/>
        </p:spPr>
        <p:txBody>
          <a:bodyPr/>
          <a:lstStyle>
            <a:lvl1pPr>
              <a:defRPr/>
            </a:lvl1pPr>
          </a:lstStyle>
          <a:p>
            <a:pPr>
              <a:defRPr/>
            </a:pPr>
            <a:fld id="{ED24EACA-1C89-4197-BB95-13BF4D281B32}" type="slidenum">
              <a:rPr lang="en-US" altLang="zh-CN"/>
              <a:pPr>
                <a:defRPr/>
              </a:pPr>
              <a:t>‹#›</a:t>
            </a:fld>
            <a:endParaRPr lang="en-US" altLang="zh-CN"/>
          </a:p>
        </p:txBody>
      </p:sp>
    </p:spTree>
    <p:extLst>
      <p:ext uri="{BB962C8B-B14F-4D97-AF65-F5344CB8AC3E}">
        <p14:creationId xmlns:p14="http://schemas.microsoft.com/office/powerpoint/2010/main" val="326475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E04C9AA8-6CF3-4FF3-8866-8C39D7CD23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6A459114-5C5A-4042-B0DF-DC2C2BB866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ABD061C4-161D-4AFF-99AE-6DD29F8823F9}"/>
              </a:ext>
            </a:extLst>
          </p:cNvPr>
          <p:cNvSpPr>
            <a:spLocks noGrp="1" noChangeArrowheads="1"/>
          </p:cNvSpPr>
          <p:nvPr>
            <p:ph type="sldNum" sz="quarter" idx="12"/>
          </p:nvPr>
        </p:nvSpPr>
        <p:spPr>
          <a:ln/>
        </p:spPr>
        <p:txBody>
          <a:bodyPr/>
          <a:lstStyle>
            <a:lvl1pPr>
              <a:defRPr/>
            </a:lvl1pPr>
          </a:lstStyle>
          <a:p>
            <a:pPr>
              <a:defRPr/>
            </a:pPr>
            <a:fld id="{54958C24-9689-4FDA-874A-FEBCA09FB776}" type="slidenum">
              <a:rPr lang="en-US" altLang="zh-CN"/>
              <a:pPr>
                <a:defRPr/>
              </a:pPr>
              <a:t>‹#›</a:t>
            </a:fld>
            <a:endParaRPr lang="en-US" altLang="zh-CN"/>
          </a:p>
        </p:txBody>
      </p:sp>
    </p:spTree>
    <p:extLst>
      <p:ext uri="{BB962C8B-B14F-4D97-AF65-F5344CB8AC3E}">
        <p14:creationId xmlns:p14="http://schemas.microsoft.com/office/powerpoint/2010/main" val="3159954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04C9AA8-6CF3-4FF3-8866-8C39D7CD23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6A459114-5C5A-4042-B0DF-DC2C2BB866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ABD061C4-161D-4AFF-99AE-6DD29F8823F9}"/>
              </a:ext>
            </a:extLst>
          </p:cNvPr>
          <p:cNvSpPr>
            <a:spLocks noGrp="1" noChangeArrowheads="1"/>
          </p:cNvSpPr>
          <p:nvPr>
            <p:ph type="sldNum" sz="quarter" idx="12"/>
          </p:nvPr>
        </p:nvSpPr>
        <p:spPr>
          <a:ln/>
        </p:spPr>
        <p:txBody>
          <a:bodyPr/>
          <a:lstStyle>
            <a:lvl1pPr>
              <a:defRPr/>
            </a:lvl1pPr>
          </a:lstStyle>
          <a:p>
            <a:pPr>
              <a:defRPr/>
            </a:pPr>
            <a:fld id="{EB228BEB-FDEF-4B8D-98CA-FD3CC26C3B5D}" type="slidenum">
              <a:rPr lang="en-US" altLang="zh-CN"/>
              <a:pPr>
                <a:defRPr/>
              </a:pPr>
              <a:t>‹#›</a:t>
            </a:fld>
            <a:endParaRPr lang="en-US" altLang="zh-CN"/>
          </a:p>
        </p:txBody>
      </p:sp>
    </p:spTree>
    <p:extLst>
      <p:ext uri="{BB962C8B-B14F-4D97-AF65-F5344CB8AC3E}">
        <p14:creationId xmlns:p14="http://schemas.microsoft.com/office/powerpoint/2010/main" val="1466672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04C9AA8-6CF3-4FF3-8866-8C39D7CD23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A459114-5C5A-4042-B0DF-DC2C2BB866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BD061C4-161D-4AFF-99AE-6DD29F8823F9}"/>
              </a:ext>
            </a:extLst>
          </p:cNvPr>
          <p:cNvSpPr>
            <a:spLocks noGrp="1" noChangeArrowheads="1"/>
          </p:cNvSpPr>
          <p:nvPr>
            <p:ph type="sldNum" sz="quarter" idx="12"/>
          </p:nvPr>
        </p:nvSpPr>
        <p:spPr>
          <a:ln/>
        </p:spPr>
        <p:txBody>
          <a:bodyPr/>
          <a:lstStyle>
            <a:lvl1pPr>
              <a:defRPr/>
            </a:lvl1pPr>
          </a:lstStyle>
          <a:p>
            <a:pPr>
              <a:defRPr/>
            </a:pPr>
            <a:fld id="{E528C7A1-C140-447E-8B5D-46213F36A986}" type="slidenum">
              <a:rPr lang="en-US" altLang="zh-CN"/>
              <a:pPr>
                <a:defRPr/>
              </a:pPr>
              <a:t>‹#›</a:t>
            </a:fld>
            <a:endParaRPr lang="en-US" altLang="zh-CN"/>
          </a:p>
        </p:txBody>
      </p:sp>
    </p:spTree>
    <p:extLst>
      <p:ext uri="{BB962C8B-B14F-4D97-AF65-F5344CB8AC3E}">
        <p14:creationId xmlns:p14="http://schemas.microsoft.com/office/powerpoint/2010/main" val="4146340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04C9AA8-6CF3-4FF3-8866-8C39D7CD23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A459114-5C5A-4042-B0DF-DC2C2BB866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BD061C4-161D-4AFF-99AE-6DD29F8823F9}"/>
              </a:ext>
            </a:extLst>
          </p:cNvPr>
          <p:cNvSpPr>
            <a:spLocks noGrp="1" noChangeArrowheads="1"/>
          </p:cNvSpPr>
          <p:nvPr>
            <p:ph type="sldNum" sz="quarter" idx="12"/>
          </p:nvPr>
        </p:nvSpPr>
        <p:spPr>
          <a:ln/>
        </p:spPr>
        <p:txBody>
          <a:bodyPr/>
          <a:lstStyle>
            <a:lvl1pPr>
              <a:defRPr/>
            </a:lvl1pPr>
          </a:lstStyle>
          <a:p>
            <a:pPr>
              <a:defRPr/>
            </a:pPr>
            <a:fld id="{B367B0CA-7DD6-43FE-ACC3-0C569AD1AF57}" type="slidenum">
              <a:rPr lang="en-US" altLang="zh-CN"/>
              <a:pPr>
                <a:defRPr/>
              </a:pPr>
              <a:t>‹#›</a:t>
            </a:fld>
            <a:endParaRPr lang="en-US" altLang="zh-CN"/>
          </a:p>
        </p:txBody>
      </p:sp>
    </p:spTree>
    <p:extLst>
      <p:ext uri="{BB962C8B-B14F-4D97-AF65-F5344CB8AC3E}">
        <p14:creationId xmlns:p14="http://schemas.microsoft.com/office/powerpoint/2010/main" val="581655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04C9AA8-6CF3-4FF3-8866-8C39D7CD23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A459114-5C5A-4042-B0DF-DC2C2BB866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BD061C4-161D-4AFF-99AE-6DD29F8823F9}"/>
              </a:ext>
            </a:extLst>
          </p:cNvPr>
          <p:cNvSpPr>
            <a:spLocks noGrp="1" noChangeArrowheads="1"/>
          </p:cNvSpPr>
          <p:nvPr>
            <p:ph type="sldNum" sz="quarter" idx="12"/>
          </p:nvPr>
        </p:nvSpPr>
        <p:spPr>
          <a:ln/>
        </p:spPr>
        <p:txBody>
          <a:bodyPr/>
          <a:lstStyle>
            <a:lvl1pPr>
              <a:defRPr/>
            </a:lvl1pPr>
          </a:lstStyle>
          <a:p>
            <a:pPr>
              <a:defRPr/>
            </a:pPr>
            <a:fld id="{100CC26B-4302-4D24-89FC-5E757EBFE1FF}" type="slidenum">
              <a:rPr lang="en-US" altLang="zh-CN"/>
              <a:pPr>
                <a:defRPr/>
              </a:pPr>
              <a:t>‹#›</a:t>
            </a:fld>
            <a:endParaRPr lang="en-US" altLang="zh-CN"/>
          </a:p>
        </p:txBody>
      </p:sp>
    </p:spTree>
    <p:extLst>
      <p:ext uri="{BB962C8B-B14F-4D97-AF65-F5344CB8AC3E}">
        <p14:creationId xmlns:p14="http://schemas.microsoft.com/office/powerpoint/2010/main" val="397777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04C9AA8-6CF3-4FF3-8866-8C39D7CD23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A459114-5C5A-4042-B0DF-DC2C2BB866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BD061C4-161D-4AFF-99AE-6DD29F8823F9}"/>
              </a:ext>
            </a:extLst>
          </p:cNvPr>
          <p:cNvSpPr>
            <a:spLocks noGrp="1" noChangeArrowheads="1"/>
          </p:cNvSpPr>
          <p:nvPr>
            <p:ph type="sldNum" sz="quarter" idx="12"/>
          </p:nvPr>
        </p:nvSpPr>
        <p:spPr>
          <a:ln/>
        </p:spPr>
        <p:txBody>
          <a:bodyPr/>
          <a:lstStyle>
            <a:lvl1pPr>
              <a:defRPr/>
            </a:lvl1pPr>
          </a:lstStyle>
          <a:p>
            <a:pPr>
              <a:defRPr/>
            </a:pPr>
            <a:fld id="{40EDB7E4-044C-41DF-8474-B3E8971BF35D}" type="slidenum">
              <a:rPr lang="en-US" altLang="zh-CN"/>
              <a:pPr>
                <a:defRPr/>
              </a:pPr>
              <a:t>‹#›</a:t>
            </a:fld>
            <a:endParaRPr lang="en-US" altLang="zh-CN"/>
          </a:p>
        </p:txBody>
      </p:sp>
    </p:spTree>
    <p:extLst>
      <p:ext uri="{BB962C8B-B14F-4D97-AF65-F5344CB8AC3E}">
        <p14:creationId xmlns:p14="http://schemas.microsoft.com/office/powerpoint/2010/main" val="14447146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25963"/>
          </a:xfrm>
        </p:spPr>
        <p:txBody>
          <a:bodyPr/>
          <a:lstStyle/>
          <a:p>
            <a:pPr lvl="0"/>
            <a:endParaRPr lang="en-US" noProof="0"/>
          </a:p>
        </p:txBody>
      </p:sp>
      <p:sp>
        <p:nvSpPr>
          <p:cNvPr id="4" name="Rectangle 4">
            <a:extLst>
              <a:ext uri="{FF2B5EF4-FFF2-40B4-BE49-F238E27FC236}">
                <a16:creationId xmlns:a16="http://schemas.microsoft.com/office/drawing/2014/main" id="{E04C9AA8-6CF3-4FF3-8866-8C39D7CD23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A459114-5C5A-4042-B0DF-DC2C2BB866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BD061C4-161D-4AFF-99AE-6DD29F8823F9}"/>
              </a:ext>
            </a:extLst>
          </p:cNvPr>
          <p:cNvSpPr>
            <a:spLocks noGrp="1" noChangeArrowheads="1"/>
          </p:cNvSpPr>
          <p:nvPr>
            <p:ph type="sldNum" sz="quarter" idx="12"/>
          </p:nvPr>
        </p:nvSpPr>
        <p:spPr>
          <a:ln/>
        </p:spPr>
        <p:txBody>
          <a:bodyPr/>
          <a:lstStyle>
            <a:lvl1pPr>
              <a:defRPr/>
            </a:lvl1pPr>
          </a:lstStyle>
          <a:p>
            <a:pPr>
              <a:defRPr/>
            </a:pPr>
            <a:fld id="{20C0ECD7-872E-4EAB-BD54-D26AA8E409CD}" type="slidenum">
              <a:rPr lang="en-US" altLang="zh-CN"/>
              <a:pPr>
                <a:defRPr/>
              </a:pPr>
              <a:t>‹#›</a:t>
            </a:fld>
            <a:endParaRPr lang="en-US" altLang="zh-CN"/>
          </a:p>
        </p:txBody>
      </p:sp>
    </p:spTree>
    <p:extLst>
      <p:ext uri="{BB962C8B-B14F-4D97-AF65-F5344CB8AC3E}">
        <p14:creationId xmlns:p14="http://schemas.microsoft.com/office/powerpoint/2010/main" val="1336990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E04C9AA8-6CF3-4FF3-8866-8C39D7CD23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A459114-5C5A-4042-B0DF-DC2C2BB866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BD061C4-161D-4AFF-99AE-6DD29F8823F9}"/>
              </a:ext>
            </a:extLst>
          </p:cNvPr>
          <p:cNvSpPr>
            <a:spLocks noGrp="1" noChangeArrowheads="1"/>
          </p:cNvSpPr>
          <p:nvPr>
            <p:ph type="sldNum" sz="quarter" idx="12"/>
          </p:nvPr>
        </p:nvSpPr>
        <p:spPr>
          <a:ln/>
        </p:spPr>
        <p:txBody>
          <a:bodyPr/>
          <a:lstStyle>
            <a:lvl1pPr>
              <a:defRPr/>
            </a:lvl1pPr>
          </a:lstStyle>
          <a:p>
            <a:pPr>
              <a:defRPr/>
            </a:pPr>
            <a:fld id="{337986FC-6C73-4B7B-9020-58109D2C2919}" type="slidenum">
              <a:rPr lang="en-US" altLang="zh-CN"/>
              <a:pPr>
                <a:defRPr/>
              </a:pPr>
              <a:t>‹#›</a:t>
            </a:fld>
            <a:endParaRPr lang="en-US" altLang="zh-CN"/>
          </a:p>
        </p:txBody>
      </p:sp>
    </p:spTree>
    <p:extLst>
      <p:ext uri="{BB962C8B-B14F-4D97-AF65-F5344CB8AC3E}">
        <p14:creationId xmlns:p14="http://schemas.microsoft.com/office/powerpoint/2010/main" val="3347980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E04C9AA8-6CF3-4FF3-8866-8C39D7CD23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6A459114-5C5A-4042-B0DF-DC2C2BB866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ABD061C4-161D-4AFF-99AE-6DD29F8823F9}"/>
              </a:ext>
            </a:extLst>
          </p:cNvPr>
          <p:cNvSpPr>
            <a:spLocks noGrp="1" noChangeArrowheads="1"/>
          </p:cNvSpPr>
          <p:nvPr>
            <p:ph type="sldNum" sz="quarter" idx="12"/>
          </p:nvPr>
        </p:nvSpPr>
        <p:spPr>
          <a:ln/>
        </p:spPr>
        <p:txBody>
          <a:bodyPr/>
          <a:lstStyle>
            <a:lvl1pPr>
              <a:defRPr/>
            </a:lvl1pPr>
          </a:lstStyle>
          <a:p>
            <a:pPr>
              <a:defRPr/>
            </a:pPr>
            <a:fld id="{8776BCF2-E666-4F50-93AB-F14C3FCC55FA}" type="slidenum">
              <a:rPr lang="en-US" altLang="zh-CN"/>
              <a:pPr>
                <a:defRPr/>
              </a:pPr>
              <a:t>‹#›</a:t>
            </a:fld>
            <a:endParaRPr lang="en-US" altLang="zh-CN"/>
          </a:p>
        </p:txBody>
      </p:sp>
    </p:spTree>
    <p:extLst>
      <p:ext uri="{BB962C8B-B14F-4D97-AF65-F5344CB8AC3E}">
        <p14:creationId xmlns:p14="http://schemas.microsoft.com/office/powerpoint/2010/main" val="1637712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E04C9AA8-6CF3-4FF3-8866-8C39D7CD230E}"/>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ltLang="zh-CN"/>
          </a:p>
        </p:txBody>
      </p:sp>
      <p:sp>
        <p:nvSpPr>
          <p:cNvPr id="1029" name="Rectangle 5">
            <a:extLst>
              <a:ext uri="{FF2B5EF4-FFF2-40B4-BE49-F238E27FC236}">
                <a16:creationId xmlns:a16="http://schemas.microsoft.com/office/drawing/2014/main" id="{6A459114-5C5A-4042-B0DF-DC2C2BB86635}"/>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ltLang="zh-CN"/>
          </a:p>
        </p:txBody>
      </p:sp>
      <p:sp>
        <p:nvSpPr>
          <p:cNvPr id="1030" name="Rectangle 6">
            <a:extLst>
              <a:ext uri="{FF2B5EF4-FFF2-40B4-BE49-F238E27FC236}">
                <a16:creationId xmlns:a16="http://schemas.microsoft.com/office/drawing/2014/main" id="{ABD061C4-161D-4AFF-99AE-6DD29F8823F9}"/>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21DBDCF1-E543-465F-B0B4-8F57AC5890F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youtube.com/watch?v=hVimVzgtD6w"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file:///upload.wikimedia.org/wikipedia/commons/d/d7/2008_Top1percentUSA.png" TargetMode="External"/><Relationship Id="rId2" Type="http://schemas.openxmlformats.org/officeDocument/2006/relationships/hyperlink" Target="http://blogs.forbes.com/frederickallen/"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4.emf"/><Relationship Id="rId4"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9.emf"/><Relationship Id="rId4"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0.emf"/></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755650" y="1268413"/>
            <a:ext cx="7772400" cy="1470025"/>
          </a:xfrm>
        </p:spPr>
        <p:txBody>
          <a:bodyPr/>
          <a:lstStyle/>
          <a:p>
            <a:pPr eaLnBrk="1" hangingPunct="1"/>
            <a:r>
              <a:rPr lang="en-US" altLang="zh-CN">
                <a:latin typeface="Times New Roman" panose="02020603050405020304" pitchFamily="18" charset="0"/>
              </a:rPr>
              <a:t>International Economic Development</a:t>
            </a:r>
          </a:p>
        </p:txBody>
      </p:sp>
      <p:sp>
        <p:nvSpPr>
          <p:cNvPr id="4099" name="Rectangle 3"/>
          <p:cNvSpPr>
            <a:spLocks noGrp="1" noChangeArrowheads="1"/>
          </p:cNvSpPr>
          <p:nvPr>
            <p:ph type="subTitle" idx="1"/>
          </p:nvPr>
        </p:nvSpPr>
        <p:spPr>
          <a:xfrm>
            <a:off x="1403350" y="3141663"/>
            <a:ext cx="6400800" cy="1752600"/>
          </a:xfrm>
        </p:spPr>
        <p:txBody>
          <a:bodyPr/>
          <a:lstStyle/>
          <a:p>
            <a:pPr eaLnBrk="1" hangingPunct="1">
              <a:lnSpc>
                <a:spcPct val="90000"/>
              </a:lnSpc>
            </a:pPr>
            <a:r>
              <a:rPr lang="en-US" altLang="zh-CN">
                <a:latin typeface="Times New Roman" panose="02020603050405020304" pitchFamily="18" charset="0"/>
              </a:rPr>
              <a:t>ECON 4660/8666</a:t>
            </a:r>
          </a:p>
          <a:p>
            <a:pPr eaLnBrk="1" hangingPunct="1">
              <a:lnSpc>
                <a:spcPct val="90000"/>
              </a:lnSpc>
            </a:pPr>
            <a:endParaRPr lang="en-US" altLang="zh-CN" sz="3600">
              <a:latin typeface="Times New Roman" panose="02020603050405020304" pitchFamily="18" charset="0"/>
            </a:endParaRPr>
          </a:p>
          <a:p>
            <a:pPr eaLnBrk="1" hangingPunct="1">
              <a:lnSpc>
                <a:spcPct val="90000"/>
              </a:lnSpc>
            </a:pPr>
            <a:r>
              <a:rPr lang="en-US" altLang="zh-CN" sz="3600">
                <a:latin typeface="Times New Roman" panose="02020603050405020304" pitchFamily="18" charset="0"/>
              </a:rPr>
              <a:t>Lecture 4. Inequality and poverty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a:extLst>
              <a:ext uri="{FF2B5EF4-FFF2-40B4-BE49-F238E27FC236}">
                <a16:creationId xmlns:a16="http://schemas.microsoft.com/office/drawing/2014/main" id="{884D67BF-CA6D-4940-B537-59CD41147EDD}"/>
              </a:ext>
            </a:extLst>
          </p:cNvPr>
          <p:cNvSpPr>
            <a:spLocks noGrp="1" noChangeArrowheads="1"/>
          </p:cNvSpPr>
          <p:nvPr>
            <p:ph type="body" idx="1"/>
          </p:nvPr>
        </p:nvSpPr>
        <p:spPr>
          <a:xfrm>
            <a:off x="457200" y="692150"/>
            <a:ext cx="8229600" cy="5616575"/>
          </a:xfrm>
        </p:spPr>
        <p:txBody>
          <a:bodyPr/>
          <a:lstStyle/>
          <a:p>
            <a:pPr marL="812800" indent="-812800" eaLnBrk="1" hangingPunct="1">
              <a:lnSpc>
                <a:spcPct val="90000"/>
              </a:lnSpc>
              <a:buFontTx/>
              <a:buNone/>
              <a:defRPr/>
            </a:pPr>
            <a:r>
              <a:rPr lang="en-US" altLang="zh-CN" dirty="0">
                <a:latin typeface="Times New Roman" panose="02020603050405020304" pitchFamily="18" charset="0"/>
                <a:cs typeface="Times New Roman" panose="02020603050405020304" pitchFamily="18" charset="0"/>
              </a:rPr>
              <a:t>Main Questions: </a:t>
            </a:r>
          </a:p>
          <a:p>
            <a:pPr marL="812800" indent="-812800" eaLnBrk="1" hangingPunct="1">
              <a:lnSpc>
                <a:spcPct val="90000"/>
              </a:lnSpc>
              <a:buFontTx/>
              <a:buNone/>
              <a:defRPr/>
            </a:pPr>
            <a:endParaRPr lang="en-US" altLang="zh-CN" dirty="0">
              <a:latin typeface="Times New Roman" panose="02020603050405020304" pitchFamily="18" charset="0"/>
              <a:cs typeface="Times New Roman" panose="02020603050405020304" pitchFamily="18" charset="0"/>
            </a:endParaRPr>
          </a:p>
          <a:p>
            <a:pPr>
              <a:defRPr/>
            </a:pPr>
            <a:r>
              <a:rPr lang="en-US" sz="2800" dirty="0">
                <a:latin typeface="Times New Roman" panose="02020603050405020304" pitchFamily="18" charset="0"/>
                <a:cs typeface="Times New Roman" panose="02020603050405020304" pitchFamily="18" charset="0"/>
              </a:rPr>
              <a:t>How can we best measure inequality and poverty?</a:t>
            </a:r>
          </a:p>
          <a:p>
            <a:pPr>
              <a:defRPr/>
            </a:pPr>
            <a:r>
              <a:rPr lang="en-US" sz="2800" dirty="0">
                <a:latin typeface="Times New Roman" panose="02020603050405020304" pitchFamily="18" charset="0"/>
                <a:cs typeface="Times New Roman" panose="02020603050405020304" pitchFamily="18" charset="0"/>
              </a:rPr>
              <a:t>What is so bad about extreme inequality? What is the extent of relative inequality in developing countries; how is this related to the extent of poverty?</a:t>
            </a:r>
          </a:p>
          <a:p>
            <a:pPr>
              <a:defRPr/>
            </a:pPr>
            <a:r>
              <a:rPr lang="en-US" sz="2800" dirty="0">
                <a:latin typeface="Times New Roman" panose="02020603050405020304" pitchFamily="18" charset="0"/>
                <a:cs typeface="Times New Roman" panose="02020603050405020304" pitchFamily="18" charset="0"/>
              </a:rPr>
              <a:t>Who are the poor, and what are their economic characteristics?</a:t>
            </a:r>
          </a:p>
          <a:p>
            <a:pPr>
              <a:defRPr/>
            </a:pPr>
            <a:r>
              <a:rPr lang="en-US" sz="2800" dirty="0">
                <a:latin typeface="Times New Roman" panose="02020603050405020304" pitchFamily="18" charset="0"/>
                <a:cs typeface="Times New Roman" panose="02020603050405020304" pitchFamily="18" charset="0"/>
              </a:rPr>
              <a:t>What kinds of policies are required to reduce the magnitude and extent of absolute poverty? </a:t>
            </a:r>
          </a:p>
          <a:p>
            <a:pPr>
              <a:defRPr/>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a:extLst>
              <a:ext uri="{FF2B5EF4-FFF2-40B4-BE49-F238E27FC236}">
                <a16:creationId xmlns:a16="http://schemas.microsoft.com/office/drawing/2014/main" id="{0F893159-2A5C-4650-BB86-08C264558404}"/>
              </a:ext>
            </a:extLst>
          </p:cNvPr>
          <p:cNvSpPr>
            <a:spLocks noGrp="1" noChangeArrowheads="1"/>
          </p:cNvSpPr>
          <p:nvPr>
            <p:ph type="body" idx="1"/>
          </p:nvPr>
        </p:nvSpPr>
        <p:spPr>
          <a:xfrm>
            <a:off x="457200" y="692150"/>
            <a:ext cx="8229600" cy="5616575"/>
          </a:xfrm>
        </p:spPr>
        <p:txBody>
          <a:bodyPr/>
          <a:lstStyle/>
          <a:p>
            <a:pPr marL="812800" indent="-812800" eaLnBrk="1" hangingPunct="1">
              <a:lnSpc>
                <a:spcPct val="90000"/>
              </a:lnSpc>
              <a:buFontTx/>
              <a:buNone/>
              <a:defRPr/>
            </a:pPr>
            <a:r>
              <a:rPr lang="en-US" altLang="zh-CN" dirty="0">
                <a:latin typeface="+mj-lt"/>
              </a:rPr>
              <a:t>I. Growth and the living standards: </a:t>
            </a:r>
          </a:p>
          <a:p>
            <a:pPr marL="812800" indent="-812800" eaLnBrk="1" hangingPunct="1">
              <a:lnSpc>
                <a:spcPct val="90000"/>
              </a:lnSpc>
              <a:buFontTx/>
              <a:buNone/>
              <a:defRPr/>
            </a:pPr>
            <a:r>
              <a:rPr lang="en-US" altLang="zh-CN" sz="2800" dirty="0">
                <a:latin typeface="Times New Roman" panose="02020603050405020304" pitchFamily="18" charset="0"/>
              </a:rPr>
              <a:t>      </a:t>
            </a:r>
          </a:p>
          <a:p>
            <a:pPr marL="812800" indent="-812800" eaLnBrk="1" hangingPunct="1">
              <a:lnSpc>
                <a:spcPct val="90000"/>
              </a:lnSpc>
              <a:buFontTx/>
              <a:buNone/>
              <a:defRPr/>
            </a:pPr>
            <a:r>
              <a:rPr lang="en-US" altLang="zh-CN" sz="2800" dirty="0">
                <a:latin typeface="Times New Roman" panose="02020603050405020304" pitchFamily="18" charset="0"/>
              </a:rPr>
              <a:t>1. Growth is a necessary condition for improving living standards.</a:t>
            </a:r>
          </a:p>
          <a:p>
            <a:pPr lvl="2" eaLnBrk="1" hangingPunct="1">
              <a:lnSpc>
                <a:spcPct val="90000"/>
              </a:lnSpc>
              <a:defRPr/>
            </a:pPr>
            <a:r>
              <a:rPr lang="en-US" altLang="zh-CN" dirty="0">
                <a:latin typeface="Times New Roman" panose="02020603050405020304" pitchFamily="18" charset="0"/>
              </a:rPr>
              <a:t>Economic growth can make some or all people better off without making anyone worse off. (Pareto improvement)</a:t>
            </a:r>
          </a:p>
          <a:p>
            <a:pPr marL="812800" indent="-812800" eaLnBrk="1" hangingPunct="1">
              <a:lnSpc>
                <a:spcPct val="90000"/>
              </a:lnSpc>
              <a:buFontTx/>
              <a:buNone/>
              <a:defRPr/>
            </a:pPr>
            <a:r>
              <a:rPr lang="en-US" altLang="zh-CN" sz="2800" dirty="0">
                <a:latin typeface="Times New Roman" panose="02020603050405020304" pitchFamily="18" charset="0"/>
              </a:rPr>
              <a:t>      </a:t>
            </a:r>
          </a:p>
          <a:p>
            <a:pPr marL="812800" indent="-812800" eaLnBrk="1" hangingPunct="1">
              <a:lnSpc>
                <a:spcPct val="90000"/>
              </a:lnSpc>
              <a:buFontTx/>
              <a:buNone/>
              <a:defRPr/>
            </a:pPr>
            <a:r>
              <a:rPr lang="en-US" altLang="zh-CN" sz="2800" dirty="0">
                <a:latin typeface="Times New Roman" panose="02020603050405020304" pitchFamily="18" charset="0"/>
              </a:rPr>
              <a:t>2. Growth is not a sufficient condition for improving living standards.</a:t>
            </a:r>
          </a:p>
          <a:p>
            <a:pPr marL="1168400" lvl="1" indent="-711200" eaLnBrk="1" hangingPunct="1">
              <a:lnSpc>
                <a:spcPct val="90000"/>
              </a:lnSpc>
              <a:buFontTx/>
              <a:buNone/>
              <a:defRPr/>
            </a:pPr>
            <a:r>
              <a:rPr lang="en-US" altLang="zh-CN" dirty="0">
                <a:latin typeface="Times New Roman" panose="02020603050405020304" pitchFamily="18"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1"/>
          </p:nvPr>
        </p:nvSpPr>
        <p:spPr>
          <a:xfrm>
            <a:off x="457200" y="981075"/>
            <a:ext cx="8229600" cy="5145088"/>
          </a:xfrm>
        </p:spPr>
        <p:txBody>
          <a:bodyPr/>
          <a:lstStyle/>
          <a:p>
            <a:pPr marL="609600" indent="-609600" eaLnBrk="1" hangingPunct="1">
              <a:buFontTx/>
              <a:buNone/>
            </a:pPr>
            <a:r>
              <a:rPr lang="en-US" altLang="zh-CN" sz="2800" dirty="0">
                <a:latin typeface="Times New Roman" panose="02020603050405020304" pitchFamily="18" charset="0"/>
              </a:rPr>
              <a:t>2. Growth is not a sufficient condition for improving living standards.</a:t>
            </a:r>
          </a:p>
          <a:p>
            <a:pPr marL="1009650" lvl="1" indent="-609600" eaLnBrk="1" hangingPunct="1">
              <a:buFontTx/>
              <a:buNone/>
            </a:pPr>
            <a:r>
              <a:rPr lang="en-US" altLang="zh-CN" dirty="0">
                <a:latin typeface="Times New Roman" panose="02020603050405020304" pitchFamily="18" charset="0"/>
              </a:rPr>
              <a:t>  </a:t>
            </a:r>
            <a:r>
              <a:rPr lang="en-US" altLang="zh-CN" sz="2400" dirty="0">
                <a:latin typeface="Times New Roman" panose="02020603050405020304" pitchFamily="18" charset="0"/>
              </a:rPr>
              <a:t>A.  The increased output is used to increase the power of the rulers.</a:t>
            </a:r>
          </a:p>
          <a:p>
            <a:pPr marL="1009650" lvl="1" indent="-609600" eaLnBrk="1" hangingPunct="1">
              <a:buFontTx/>
              <a:buNone/>
            </a:pPr>
            <a:r>
              <a:rPr lang="en-US" altLang="zh-CN" sz="2400" dirty="0">
                <a:latin typeface="Times New Roman" panose="02020603050405020304" pitchFamily="18" charset="0"/>
              </a:rPr>
              <a:t>  B. Increased output is used for reinvestment.</a:t>
            </a:r>
          </a:p>
          <a:p>
            <a:pPr marL="1009650" lvl="1" indent="-609600" eaLnBrk="1" hangingPunct="1">
              <a:buFontTx/>
              <a:buNone/>
            </a:pPr>
            <a:r>
              <a:rPr lang="en-US" altLang="zh-CN" sz="2400" dirty="0">
                <a:latin typeface="Times New Roman" panose="02020603050405020304" pitchFamily="18" charset="0"/>
              </a:rPr>
              <a:t>  C. The rich gets richer, the poor gets poorer.</a:t>
            </a:r>
          </a:p>
          <a:p>
            <a:pPr marL="609600" indent="-609600" eaLnBrk="1" hangingPunct="1">
              <a:buFontTx/>
              <a:buNone/>
            </a:pPr>
            <a:r>
              <a:rPr lang="en-US" altLang="zh-CN" dirty="0">
                <a:latin typeface="Times New Roman" panose="02020603050405020304" pitchFamily="18" charset="0"/>
                <a:hlinkClick r:id="rId2"/>
              </a:rPr>
              <a:t>  https://www.youtube.com/watch?v=hVimVzgtD6w</a:t>
            </a:r>
            <a:endParaRPr lang="en-US" altLang="zh-CN" dirty="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274638"/>
            <a:ext cx="8229600" cy="490537"/>
          </a:xfrm>
        </p:spPr>
        <p:txBody>
          <a:bodyPr/>
          <a:lstStyle/>
          <a:p>
            <a:pPr algn="l" eaLnBrk="1" hangingPunct="1"/>
            <a:r>
              <a:rPr lang="en-US" altLang="zh-CN" sz="3200"/>
              <a:t>II. Measuring Inequality and Poverty</a:t>
            </a:r>
          </a:p>
        </p:txBody>
      </p:sp>
      <p:sp>
        <p:nvSpPr>
          <p:cNvPr id="8195" name="Rectangle 3"/>
          <p:cNvSpPr>
            <a:spLocks noGrp="1" noChangeArrowheads="1"/>
          </p:cNvSpPr>
          <p:nvPr>
            <p:ph type="body" idx="1"/>
          </p:nvPr>
        </p:nvSpPr>
        <p:spPr>
          <a:xfrm>
            <a:off x="457200" y="1052513"/>
            <a:ext cx="8075613" cy="5073650"/>
          </a:xfrm>
        </p:spPr>
        <p:txBody>
          <a:bodyPr/>
          <a:lstStyle/>
          <a:p>
            <a:pPr eaLnBrk="1" hangingPunct="1">
              <a:lnSpc>
                <a:spcPct val="90000"/>
              </a:lnSpc>
              <a:buFontTx/>
              <a:buNone/>
            </a:pPr>
            <a:r>
              <a:rPr lang="en-US" altLang="zh-CN" sz="2800"/>
              <a:t>  1. </a:t>
            </a:r>
            <a:r>
              <a:rPr lang="en-US" altLang="zh-CN" sz="2800">
                <a:latin typeface="Times New Roman" panose="02020603050405020304" pitchFamily="18" charset="0"/>
              </a:rPr>
              <a:t>Income distribution. </a:t>
            </a:r>
            <a:endParaRPr lang="en-US" altLang="zh-CN" sz="1800">
              <a:latin typeface="Times New Roman" panose="02020603050405020304" pitchFamily="18" charset="0"/>
            </a:endParaRPr>
          </a:p>
          <a:p>
            <a:pPr lvl="1" eaLnBrk="1" hangingPunct="1">
              <a:lnSpc>
                <a:spcPct val="90000"/>
              </a:lnSpc>
              <a:buFontTx/>
              <a:buNone/>
            </a:pPr>
            <a:endParaRPr lang="en-US" altLang="zh-CN" sz="2400">
              <a:latin typeface="Times New Roman" panose="02020603050405020304" pitchFamily="18" charset="0"/>
            </a:endParaRPr>
          </a:p>
          <a:p>
            <a:pPr lvl="1" eaLnBrk="1" hangingPunct="1">
              <a:lnSpc>
                <a:spcPct val="90000"/>
              </a:lnSpc>
              <a:buFontTx/>
              <a:buNone/>
            </a:pPr>
            <a:r>
              <a:rPr lang="en-US" altLang="zh-CN" sz="2400">
                <a:latin typeface="Times New Roman" panose="02020603050405020304" pitchFamily="18" charset="0"/>
              </a:rPr>
              <a:t>A. Functional distribution of income. Income                              distributed according to the function performed by the income receivers.</a:t>
            </a:r>
          </a:p>
          <a:p>
            <a:pPr lvl="1" eaLnBrk="1" hangingPunct="1">
              <a:lnSpc>
                <a:spcPct val="90000"/>
              </a:lnSpc>
              <a:buFontTx/>
              <a:buNone/>
            </a:pPr>
            <a:r>
              <a:rPr lang="en-US" altLang="zh-CN" sz="2400">
                <a:latin typeface="Times New Roman" panose="02020603050405020304" pitchFamily="18" charset="0"/>
              </a:rPr>
              <a:t>         Labor     75%</a:t>
            </a:r>
          </a:p>
          <a:p>
            <a:pPr lvl="1" eaLnBrk="1" hangingPunct="1">
              <a:lnSpc>
                <a:spcPct val="90000"/>
              </a:lnSpc>
              <a:buFontTx/>
              <a:buNone/>
            </a:pPr>
            <a:r>
              <a:rPr lang="en-US" altLang="zh-CN" sz="2400">
                <a:latin typeface="Times New Roman" panose="02020603050405020304" pitchFamily="18" charset="0"/>
              </a:rPr>
              <a:t>         Capital   15%</a:t>
            </a:r>
          </a:p>
          <a:p>
            <a:pPr lvl="1" eaLnBrk="1" hangingPunct="1">
              <a:lnSpc>
                <a:spcPct val="90000"/>
              </a:lnSpc>
              <a:buFontTx/>
              <a:buNone/>
            </a:pPr>
            <a:r>
              <a:rPr lang="en-US" altLang="zh-CN" sz="2400">
                <a:latin typeface="Times New Roman" panose="02020603050405020304" pitchFamily="18" charset="0"/>
              </a:rPr>
              <a:t>         Others    10%</a:t>
            </a:r>
          </a:p>
          <a:p>
            <a:pPr lvl="1" eaLnBrk="1" hangingPunct="1">
              <a:lnSpc>
                <a:spcPct val="90000"/>
              </a:lnSpc>
              <a:buFontTx/>
              <a:buNone/>
            </a:pPr>
            <a:endParaRPr lang="en-US" altLang="zh-CN" sz="1600">
              <a:latin typeface="Times New Roman" panose="02020603050405020304" pitchFamily="18" charset="0"/>
            </a:endParaRPr>
          </a:p>
          <a:p>
            <a:pPr lvl="1" eaLnBrk="1" hangingPunct="1">
              <a:lnSpc>
                <a:spcPct val="90000"/>
              </a:lnSpc>
              <a:buFontTx/>
              <a:buNone/>
            </a:pPr>
            <a:r>
              <a:rPr lang="en-US" altLang="zh-CN" sz="2400">
                <a:latin typeface="Times New Roman" panose="02020603050405020304" pitchFamily="18" charset="0"/>
              </a:rPr>
              <a:t>B. Personal distribution of income. </a:t>
            </a:r>
          </a:p>
          <a:p>
            <a:pPr lvl="1" eaLnBrk="1" hangingPunct="1">
              <a:lnSpc>
                <a:spcPct val="90000"/>
              </a:lnSpc>
              <a:buFontTx/>
              <a:buNone/>
            </a:pPr>
            <a:r>
              <a:rPr lang="en-US" altLang="zh-CN" sz="2400">
                <a:latin typeface="Times New Roman" panose="02020603050405020304" pitchFamily="18" charset="0"/>
              </a:rPr>
              <a:t>        Income distributed among households.</a:t>
            </a:r>
          </a:p>
          <a:p>
            <a:pPr lvl="1" eaLnBrk="1" hangingPunct="1">
              <a:lnSpc>
                <a:spcPct val="90000"/>
              </a:lnSpc>
              <a:buFontTx/>
              <a:buNone/>
            </a:pPr>
            <a:r>
              <a:rPr lang="en-US" altLang="zh-CN" sz="2400">
                <a:latin typeface="Times New Roman" panose="02020603050405020304" pitchFamily="18" charset="0"/>
              </a:rPr>
              <a:t>        Poorest    20% …… 5%</a:t>
            </a:r>
          </a:p>
          <a:p>
            <a:pPr lvl="1" eaLnBrk="1" hangingPunct="1">
              <a:lnSpc>
                <a:spcPct val="90000"/>
              </a:lnSpc>
              <a:buFontTx/>
              <a:buNone/>
            </a:pPr>
            <a:r>
              <a:rPr lang="en-US" altLang="zh-CN" sz="2400">
                <a:latin typeface="Times New Roman" panose="02020603050405020304" pitchFamily="18" charset="0"/>
              </a:rPr>
              <a:t>        Richest    20% …… 45%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a:extLst>
              <a:ext uri="{FF2B5EF4-FFF2-40B4-BE49-F238E27FC236}">
                <a16:creationId xmlns:a16="http://schemas.microsoft.com/office/drawing/2014/main" id="{8943835D-10BF-B744-48E1-E595ADFC32B4}"/>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120" y="663687"/>
            <a:ext cx="8856874" cy="5530626"/>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noChangeArrowheads="1"/>
          </p:cNvSpPr>
          <p:nvPr>
            <p:ph type="title"/>
          </p:nvPr>
        </p:nvSpPr>
        <p:spPr>
          <a:xfrm>
            <a:off x="827088" y="5373688"/>
            <a:ext cx="8004175" cy="719137"/>
          </a:xfrm>
        </p:spPr>
        <p:txBody>
          <a:bodyPr/>
          <a:lstStyle/>
          <a:p>
            <a:r>
              <a:rPr lang="de-DE" altLang="en-US" sz="1200">
                <a:hlinkClick r:id="rId2"/>
              </a:rPr>
              <a:t>Frederick E. Allen</a:t>
            </a:r>
            <a:r>
              <a:rPr lang="de-DE" altLang="en-US" sz="1200"/>
              <a:t>, Forbes</a:t>
            </a:r>
            <a:br>
              <a:rPr lang="de-DE" altLang="en-US" sz="1200"/>
            </a:br>
            <a:r>
              <a:rPr lang="de-DE" altLang="en-US" sz="1200"/>
              <a:t>http://www.forbes.com/sites/frederickallen/2012/10/02/how-income-inequality-is-damaging-the-u-s/</a:t>
            </a:r>
            <a:endParaRPr lang="en-US" altLang="en-US" sz="1200"/>
          </a:p>
        </p:txBody>
      </p:sp>
      <p:pic>
        <p:nvPicPr>
          <p:cNvPr id="10243" name="Picture 4" descr="File:2008 Top1percentUSA.pn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636588"/>
            <a:ext cx="8064500" cy="473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07" name="Group 87">
            <a:extLst>
              <a:ext uri="{FF2B5EF4-FFF2-40B4-BE49-F238E27FC236}">
                <a16:creationId xmlns:a16="http://schemas.microsoft.com/office/drawing/2014/main" id="{C75A7564-5163-4639-9CCD-59FA76AF3A0F}"/>
              </a:ext>
            </a:extLst>
          </p:cNvPr>
          <p:cNvGraphicFramePr>
            <a:graphicFrameLocks noGrp="1"/>
          </p:cNvGraphicFramePr>
          <p:nvPr>
            <p:ph idx="1"/>
          </p:nvPr>
        </p:nvGraphicFramePr>
        <p:xfrm>
          <a:off x="457200" y="549275"/>
          <a:ext cx="8229600" cy="5576889"/>
        </p:xfrm>
        <a:graphic>
          <a:graphicData uri="http://schemas.openxmlformats.org/drawingml/2006/table">
            <a:tbl>
              <a:tblPr/>
              <a:tblGrid>
                <a:gridCol w="1090613">
                  <a:extLst>
                    <a:ext uri="{9D8B030D-6E8A-4147-A177-3AD203B41FA5}">
                      <a16:colId xmlns:a16="http://schemas.microsoft.com/office/drawing/2014/main" val="20000"/>
                    </a:ext>
                  </a:extLst>
                </a:gridCol>
                <a:gridCol w="1685925">
                  <a:extLst>
                    <a:ext uri="{9D8B030D-6E8A-4147-A177-3AD203B41FA5}">
                      <a16:colId xmlns:a16="http://schemas.microsoft.com/office/drawing/2014/main" val="20001"/>
                    </a:ext>
                  </a:extLst>
                </a:gridCol>
                <a:gridCol w="1817687">
                  <a:extLst>
                    <a:ext uri="{9D8B030D-6E8A-4147-A177-3AD203B41FA5}">
                      <a16:colId xmlns:a16="http://schemas.microsoft.com/office/drawing/2014/main" val="20002"/>
                    </a:ext>
                  </a:extLst>
                </a:gridCol>
                <a:gridCol w="1817688">
                  <a:extLst>
                    <a:ext uri="{9D8B030D-6E8A-4147-A177-3AD203B41FA5}">
                      <a16:colId xmlns:a16="http://schemas.microsoft.com/office/drawing/2014/main" val="20003"/>
                    </a:ext>
                  </a:extLst>
                </a:gridCol>
                <a:gridCol w="1817687">
                  <a:extLst>
                    <a:ext uri="{9D8B030D-6E8A-4147-A177-3AD203B41FA5}">
                      <a16:colId xmlns:a16="http://schemas.microsoft.com/office/drawing/2014/main" val="20004"/>
                    </a:ext>
                  </a:extLst>
                </a:gridCol>
              </a:tblGrid>
              <a:tr h="609600">
                <a:tc gridSpan="5">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Income Distribution</a:t>
                      </a:r>
                    </a:p>
                  </a:txBody>
                  <a:tcPr anchor="ctr" horzOverflow="overflow">
                    <a:lnL cap="flat">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427163">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itchFamily="18" charset="0"/>
                          <a:ea typeface="宋体" pitchFamily="2" charset="-122"/>
                        </a:rPr>
                        <a:t>　</a:t>
                      </a:r>
                    </a:p>
                  </a:txBody>
                  <a:tcPr anchor="ctr" horzOverflow="overflow">
                    <a:lnL cap="flat">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rPr>
                        <a:t>percentage of people</a:t>
                      </a: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percentage of income</a:t>
                      </a: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rPr>
                        <a:t>cumulative % of people from poor to rich</a:t>
                      </a:r>
                    </a:p>
                  </a:txBody>
                  <a:tcPr anchor="ctr" horzOverflow="overflow">
                    <a:lnL>
                      <a:noFill/>
                    </a:lnL>
                    <a:lnR>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cumulative % of income</a:t>
                      </a:r>
                    </a:p>
                  </a:txBody>
                  <a:tcPr anchor="ctr" horzOverflow="overflow">
                    <a:lnL>
                      <a:noFill/>
                    </a:lnL>
                    <a:lnR cap="flat">
                      <a:noFill/>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2775">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Poorest</a:t>
                      </a:r>
                    </a:p>
                  </a:txBody>
                  <a:tcPr anchor="ctr" horzOverflow="overflow">
                    <a:lnL cap="flat">
                      <a:noFill/>
                    </a:lnL>
                    <a:lnR>
                      <a:noFill/>
                    </a:lnR>
                    <a:lnT w="254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25%</a:t>
                      </a:r>
                    </a:p>
                  </a:txBody>
                  <a:tcPr anchor="ctr" horzOverflow="overflow">
                    <a:lnL>
                      <a:noFill/>
                    </a:lnL>
                    <a:lnR>
                      <a:noFill/>
                    </a:lnR>
                    <a:lnT w="254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10%</a:t>
                      </a:r>
                    </a:p>
                  </a:txBody>
                  <a:tcPr anchor="ctr" horzOverflow="overflow">
                    <a:lnL>
                      <a:noFill/>
                    </a:lnL>
                    <a:lnR>
                      <a:noFill/>
                    </a:lnR>
                    <a:lnT w="254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rPr>
                        <a:t>25%</a:t>
                      </a:r>
                    </a:p>
                  </a:txBody>
                  <a:tcPr anchor="ctr" horzOverflow="overflow">
                    <a:lnL>
                      <a:noFill/>
                    </a:lnL>
                    <a:lnR>
                      <a:noFill/>
                    </a:lnR>
                    <a:lnT w="254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10%</a:t>
                      </a:r>
                    </a:p>
                  </a:txBody>
                  <a:tcPr anchor="ctr" horzOverflow="overflow">
                    <a:lnL>
                      <a:noFill/>
                    </a:lnL>
                    <a:lnR cap="flat">
                      <a:noFill/>
                    </a:lnR>
                    <a:lnT w="254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11572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25%</a:t>
                      </a: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15%</a:t>
                      </a: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50%</a:t>
                      </a: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25%</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11557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25%</a:t>
                      </a: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25%</a:t>
                      </a: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75%</a:t>
                      </a: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50%</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614363">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rPr>
                        <a:t>Richest</a:t>
                      </a:r>
                    </a:p>
                  </a:txBody>
                  <a:tcPr anchor="ctr"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25%</a:t>
                      </a: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50%</a:t>
                      </a: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100%</a:t>
                      </a: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rPr>
                        <a:t>100%</a:t>
                      </a:r>
                    </a:p>
                  </a:txBody>
                  <a:tcPr anchor="ctr"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457200" y="274638"/>
            <a:ext cx="8686800" cy="1143000"/>
          </a:xfrm>
        </p:spPr>
        <p:txBody>
          <a:bodyPr/>
          <a:lstStyle/>
          <a:p>
            <a:pPr eaLnBrk="1" hangingPunct="1"/>
            <a:r>
              <a:rPr lang="en-US" altLang="en-US" sz="2400"/>
              <a:t>Typical Size Distribution of Personal Income in a Developing Country by Income Shares—Quintiles and Deciles</a:t>
            </a:r>
            <a:endParaRPr lang="en-GB" altLang="en-US" sz="2400"/>
          </a:p>
        </p:txBody>
      </p:sp>
      <p:pic>
        <p:nvPicPr>
          <p:cNvPr id="12291" name="Picture 1" descr="tbl05_01.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517650"/>
            <a:ext cx="8135937" cy="486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noChangeArrowheads="1"/>
          </p:cNvSpPr>
          <p:nvPr>
            <p:ph type="title"/>
          </p:nvPr>
        </p:nvSpPr>
        <p:spPr>
          <a:xfrm>
            <a:off x="477838" y="6381750"/>
            <a:ext cx="8229600" cy="388938"/>
          </a:xfrm>
        </p:spPr>
        <p:txBody>
          <a:bodyPr/>
          <a:lstStyle/>
          <a:p>
            <a:pPr algn="l"/>
            <a:r>
              <a:rPr lang="en-US" altLang="en-US" sz="1500">
                <a:latin typeface="Times New Roman" panose="02020603050405020304" pitchFamily="18" charset="0"/>
                <a:cs typeface="Times New Roman" panose="02020603050405020304" pitchFamily="18" charset="0"/>
              </a:rPr>
              <a:t>http://gregmankiw.blogspot.com/2011/03/what-nation-has-most-progressive-tax.html</a:t>
            </a:r>
          </a:p>
        </p:txBody>
      </p:sp>
      <p:sp>
        <p:nvSpPr>
          <p:cNvPr id="14339" name="Content Placeholder 2"/>
          <p:cNvSpPr>
            <a:spLocks noGrp="1" noChangeArrowheads="1"/>
          </p:cNvSpPr>
          <p:nvPr>
            <p:ph idx="1"/>
          </p:nvPr>
        </p:nvSpPr>
        <p:spPr/>
        <p:txBody>
          <a:bodyPr/>
          <a:lstStyle/>
          <a:p>
            <a:endParaRPr lang="en-US" altLang="en-US"/>
          </a:p>
        </p:txBody>
      </p:sp>
      <p:pic>
        <p:nvPicPr>
          <p:cNvPr id="14340" name="Picture 2" descr="https://lh3.googleusercontent.com/-4QJRukHrJ5c/TYhks_W3tFI/AAAAAAAABOU/tpmi4_tRNIQ/s1600/taxburde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775" y="30163"/>
            <a:ext cx="8426450" cy="628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457200" y="274638"/>
            <a:ext cx="8229600" cy="850900"/>
          </a:xfrm>
        </p:spPr>
        <p:txBody>
          <a:bodyPr/>
          <a:lstStyle/>
          <a:p>
            <a:pPr eaLnBrk="1" hangingPunct="1"/>
            <a:r>
              <a:rPr lang="en-US" altLang="en-US" sz="3200"/>
              <a:t>The Lorenz Curve</a:t>
            </a:r>
            <a:endParaRPr lang="en-GB" altLang="en-US" sz="3200"/>
          </a:p>
        </p:txBody>
      </p:sp>
      <p:pic>
        <p:nvPicPr>
          <p:cNvPr id="15363" name="Picture 1" descr="fig05_01.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557338"/>
            <a:ext cx="6408738"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p:txBody>
          <a:bodyPr/>
          <a:lstStyle/>
          <a:p>
            <a:pPr eaLnBrk="1" hangingPunct="1"/>
            <a:r>
              <a:rPr lang="en-US" altLang="en-US" sz="2400"/>
              <a:t>The Greater the Curvature of the Lorenz Line, the Greater the Relative Degree of Inequality</a:t>
            </a:r>
            <a:endParaRPr lang="en-GB" altLang="en-US" sz="2400"/>
          </a:p>
        </p:txBody>
      </p:sp>
      <p:pic>
        <p:nvPicPr>
          <p:cNvPr id="17411" name="Picture 1" descr="fig05_02.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752600"/>
            <a:ext cx="8713788" cy="448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274638"/>
            <a:ext cx="8229600" cy="879475"/>
          </a:xfrm>
        </p:spPr>
        <p:txBody>
          <a:bodyPr/>
          <a:lstStyle/>
          <a:p>
            <a:pPr algn="l" eaLnBrk="1" hangingPunct="1"/>
            <a:r>
              <a:rPr lang="en-US" altLang="zh-CN" sz="3200">
                <a:latin typeface="Times New Roman" panose="02020603050405020304" pitchFamily="18" charset="0"/>
              </a:rPr>
              <a:t>2. Inequality</a:t>
            </a:r>
            <a:r>
              <a:rPr lang="en-US" altLang="zh-CN" sz="3200"/>
              <a:t> </a:t>
            </a:r>
          </a:p>
        </p:txBody>
      </p:sp>
      <p:sp>
        <p:nvSpPr>
          <p:cNvPr id="19459" name="Rectangle 3"/>
          <p:cNvSpPr>
            <a:spLocks noGrp="1" noChangeArrowheads="1"/>
          </p:cNvSpPr>
          <p:nvPr>
            <p:ph type="body" sz="half" idx="1"/>
          </p:nvPr>
        </p:nvSpPr>
        <p:spPr>
          <a:xfrm>
            <a:off x="755650" y="1341438"/>
            <a:ext cx="6994525" cy="1252537"/>
          </a:xfrm>
        </p:spPr>
        <p:txBody>
          <a:bodyPr/>
          <a:lstStyle/>
          <a:p>
            <a:pPr eaLnBrk="1" hangingPunct="1"/>
            <a:r>
              <a:rPr lang="en-US" altLang="zh-CN" sz="2400">
                <a:latin typeface="Times New Roman" panose="02020603050405020304" pitchFamily="18" charset="0"/>
              </a:rPr>
              <a:t>Gini concentration ratio: A single number indicating overall inequality.</a:t>
            </a:r>
            <a:r>
              <a:rPr lang="en-US" altLang="zh-CN" sz="2400"/>
              <a:t> </a:t>
            </a:r>
          </a:p>
        </p:txBody>
      </p:sp>
      <p:sp>
        <p:nvSpPr>
          <p:cNvPr id="19460" name="Line 4"/>
          <p:cNvSpPr>
            <a:spLocks noChangeShapeType="1"/>
          </p:cNvSpPr>
          <p:nvPr/>
        </p:nvSpPr>
        <p:spPr bwMode="auto">
          <a:xfrm flipV="1">
            <a:off x="2124075" y="2924175"/>
            <a:ext cx="0" cy="2520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1" name="Line 5"/>
          <p:cNvSpPr>
            <a:spLocks noChangeShapeType="1"/>
          </p:cNvSpPr>
          <p:nvPr/>
        </p:nvSpPr>
        <p:spPr bwMode="auto">
          <a:xfrm flipV="1">
            <a:off x="2124075" y="2924175"/>
            <a:ext cx="2520950" cy="2520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2" name="Freeform 6"/>
          <p:cNvSpPr>
            <a:spLocks/>
          </p:cNvSpPr>
          <p:nvPr/>
        </p:nvSpPr>
        <p:spPr bwMode="auto">
          <a:xfrm>
            <a:off x="2124075" y="2924175"/>
            <a:ext cx="2519363" cy="2520950"/>
          </a:xfrm>
          <a:custGeom>
            <a:avLst/>
            <a:gdLst>
              <a:gd name="T0" fmla="*/ 0 w 1588"/>
              <a:gd name="T1" fmla="*/ 2147483646 h 1588"/>
              <a:gd name="T2" fmla="*/ 2147483646 w 1588"/>
              <a:gd name="T3" fmla="*/ 2147483646 h 1588"/>
              <a:gd name="T4" fmla="*/ 2147483646 w 1588"/>
              <a:gd name="T5" fmla="*/ 2147483646 h 1588"/>
              <a:gd name="T6" fmla="*/ 2147483646 w 1588"/>
              <a:gd name="T7" fmla="*/ 2147483646 h 1588"/>
              <a:gd name="T8" fmla="*/ 2147483646 w 1588"/>
              <a:gd name="T9" fmla="*/ 0 h 1588"/>
              <a:gd name="T10" fmla="*/ 0 60000 65536"/>
              <a:gd name="T11" fmla="*/ 0 60000 65536"/>
              <a:gd name="T12" fmla="*/ 0 60000 65536"/>
              <a:gd name="T13" fmla="*/ 0 60000 65536"/>
              <a:gd name="T14" fmla="*/ 0 60000 65536"/>
              <a:gd name="T15" fmla="*/ 0 w 1588"/>
              <a:gd name="T16" fmla="*/ 0 h 1588"/>
              <a:gd name="T17" fmla="*/ 1588 w 1588"/>
              <a:gd name="T18" fmla="*/ 1588 h 1588"/>
            </a:gdLst>
            <a:ahLst/>
            <a:cxnLst>
              <a:cxn ang="T10">
                <a:pos x="T0" y="T1"/>
              </a:cxn>
              <a:cxn ang="T11">
                <a:pos x="T2" y="T3"/>
              </a:cxn>
              <a:cxn ang="T12">
                <a:pos x="T4" y="T5"/>
              </a:cxn>
              <a:cxn ang="T13">
                <a:pos x="T6" y="T7"/>
              </a:cxn>
              <a:cxn ang="T14">
                <a:pos x="T8" y="T9"/>
              </a:cxn>
            </a:cxnLst>
            <a:rect l="T15" t="T16" r="T17" b="T18"/>
            <a:pathLst>
              <a:path w="1588" h="1588">
                <a:moveTo>
                  <a:pt x="0" y="1588"/>
                </a:moveTo>
                <a:cubicBezTo>
                  <a:pt x="121" y="1531"/>
                  <a:pt x="242" y="1474"/>
                  <a:pt x="363" y="1406"/>
                </a:cubicBezTo>
                <a:cubicBezTo>
                  <a:pt x="484" y="1338"/>
                  <a:pt x="590" y="1286"/>
                  <a:pt x="726" y="1180"/>
                </a:cubicBezTo>
                <a:cubicBezTo>
                  <a:pt x="862" y="1074"/>
                  <a:pt x="1035" y="968"/>
                  <a:pt x="1179" y="771"/>
                </a:cubicBezTo>
                <a:cubicBezTo>
                  <a:pt x="1323" y="574"/>
                  <a:pt x="1455" y="287"/>
                  <a:pt x="1588" y="0"/>
                </a:cubicBezTo>
              </a:path>
            </a:pathLst>
          </a:custGeom>
          <a:noFill/>
          <a:ln w="952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aphicFrame>
        <p:nvGraphicFramePr>
          <p:cNvPr id="7175" name="Group 7">
            <a:extLst>
              <a:ext uri="{FF2B5EF4-FFF2-40B4-BE49-F238E27FC236}">
                <a16:creationId xmlns:a16="http://schemas.microsoft.com/office/drawing/2014/main" id="{4820432E-09A1-46F8-833C-CBADE59EDD94}"/>
              </a:ext>
            </a:extLst>
          </p:cNvPr>
          <p:cNvGraphicFramePr>
            <a:graphicFrameLocks noGrp="1"/>
          </p:cNvGraphicFramePr>
          <p:nvPr>
            <p:ph sz="half" idx="2"/>
          </p:nvPr>
        </p:nvGraphicFramePr>
        <p:xfrm>
          <a:off x="1979613" y="5445125"/>
          <a:ext cx="4038600" cy="320675"/>
        </p:xfrm>
        <a:graphic>
          <a:graphicData uri="http://schemas.openxmlformats.org/drawingml/2006/table">
            <a:tbl>
              <a:tblPr/>
              <a:tblGrid>
                <a:gridCol w="4038600">
                  <a:extLst>
                    <a:ext uri="{9D8B030D-6E8A-4147-A177-3AD203B41FA5}">
                      <a16:colId xmlns:a16="http://schemas.microsoft.com/office/drawing/2014/main" val="20000"/>
                    </a:ext>
                  </a:extLst>
                </a:gridCol>
              </a:tblGrid>
              <a:tr h="320675">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Arial" charset="0"/>
                          <a:ea typeface="宋体" pitchFamily="2" charset="-122"/>
                          <a:cs typeface="Arial" charset="0"/>
                        </a:rPr>
                        <a:t>0           25           50           75         100</a:t>
                      </a:r>
                      <a:endParaRPr kumimoji="0" lang="en-US" altLang="zh-CN" sz="1200" b="1" i="0" u="none" strike="noStrike" cap="none" normalizeH="0" baseline="0">
                        <a:ln>
                          <a:noFill/>
                        </a:ln>
                        <a:solidFill>
                          <a:schemeClr val="tx1"/>
                        </a:solidFill>
                        <a:effectLst/>
                        <a:latin typeface="Arial" charset="0"/>
                        <a:ea typeface="宋体" pitchFamily="2" charset="-122"/>
                      </a:endParaRPr>
                    </a:p>
                  </a:txBody>
                  <a:tcPr anchor="b" horzOverflow="overflow">
                    <a:lnL cap="flat">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9465" name="Line 14"/>
          <p:cNvSpPr>
            <a:spLocks noChangeShapeType="1"/>
          </p:cNvSpPr>
          <p:nvPr/>
        </p:nvSpPr>
        <p:spPr bwMode="auto">
          <a:xfrm>
            <a:off x="2124075" y="5445125"/>
            <a:ext cx="2519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82" name="Straight Connector 81">
            <a:extLst>
              <a:ext uri="{FF2B5EF4-FFF2-40B4-BE49-F238E27FC236}">
                <a16:creationId xmlns:a16="http://schemas.microsoft.com/office/drawing/2014/main" id="{D5855FEE-2085-42DB-96EC-9F20C5D39B74}"/>
              </a:ext>
            </a:extLst>
          </p:cNvPr>
          <p:cNvCxnSpPr/>
          <p:nvPr/>
        </p:nvCxnSpPr>
        <p:spPr>
          <a:xfrm rot="5400000">
            <a:off x="2665413" y="5408613"/>
            <a:ext cx="71437" cy="1587"/>
          </a:xfrm>
          <a:prstGeom prst="line">
            <a:avLst/>
          </a:prstGeom>
        </p:spPr>
        <p:style>
          <a:lnRef idx="1">
            <a:schemeClr val="dk1"/>
          </a:lnRef>
          <a:fillRef idx="0">
            <a:schemeClr val="dk1"/>
          </a:fillRef>
          <a:effectRef idx="0">
            <a:schemeClr val="dk1"/>
          </a:effectRef>
          <a:fontRef idx="minor">
            <a:schemeClr val="tx1"/>
          </a:fontRef>
        </p:style>
      </p:cxnSp>
      <p:cxnSp>
        <p:nvCxnSpPr>
          <p:cNvPr id="88" name="Straight Connector 87">
            <a:extLst>
              <a:ext uri="{FF2B5EF4-FFF2-40B4-BE49-F238E27FC236}">
                <a16:creationId xmlns:a16="http://schemas.microsoft.com/office/drawing/2014/main" id="{7FC7BC9C-9A45-47F5-BF76-2E30FE8FC31A}"/>
              </a:ext>
            </a:extLst>
          </p:cNvPr>
          <p:cNvCxnSpPr/>
          <p:nvPr/>
        </p:nvCxnSpPr>
        <p:spPr>
          <a:xfrm rot="5400000">
            <a:off x="3313113" y="5408613"/>
            <a:ext cx="71437" cy="1587"/>
          </a:xfrm>
          <a:prstGeom prst="line">
            <a:avLst/>
          </a:prstGeom>
        </p:spPr>
        <p:style>
          <a:lnRef idx="1">
            <a:schemeClr val="dk1"/>
          </a:lnRef>
          <a:fillRef idx="0">
            <a:schemeClr val="dk1"/>
          </a:fillRef>
          <a:effectRef idx="0">
            <a:schemeClr val="dk1"/>
          </a:effectRef>
          <a:fontRef idx="minor">
            <a:schemeClr val="tx1"/>
          </a:fontRef>
        </p:style>
      </p:cxnSp>
      <p:cxnSp>
        <p:nvCxnSpPr>
          <p:cNvPr id="2" name="Straight Connector 87">
            <a:extLst>
              <a:ext uri="{FF2B5EF4-FFF2-40B4-BE49-F238E27FC236}">
                <a16:creationId xmlns:a16="http://schemas.microsoft.com/office/drawing/2014/main" id="{E2A2B187-FE3C-44DE-B897-81BEC9656677}"/>
              </a:ext>
            </a:extLst>
          </p:cNvPr>
          <p:cNvCxnSpPr/>
          <p:nvPr/>
        </p:nvCxnSpPr>
        <p:spPr>
          <a:xfrm rot="5400000">
            <a:off x="3960019" y="5409407"/>
            <a:ext cx="71437" cy="0"/>
          </a:xfrm>
          <a:prstGeom prst="line">
            <a:avLst/>
          </a:prstGeom>
        </p:spPr>
        <p:style>
          <a:lnRef idx="1">
            <a:schemeClr val="dk1"/>
          </a:lnRef>
          <a:fillRef idx="0">
            <a:schemeClr val="dk1"/>
          </a:fillRef>
          <a:effectRef idx="0">
            <a:schemeClr val="dk1"/>
          </a:effectRef>
          <a:fontRef idx="minor">
            <a:schemeClr val="tx1"/>
          </a:fontRef>
        </p:style>
      </p:cxnSp>
      <p:sp>
        <p:nvSpPr>
          <p:cNvPr id="19469" name="Line 20"/>
          <p:cNvSpPr>
            <a:spLocks noChangeShapeType="1"/>
          </p:cNvSpPr>
          <p:nvPr/>
        </p:nvSpPr>
        <p:spPr bwMode="auto">
          <a:xfrm>
            <a:off x="2124075" y="4799013"/>
            <a:ext cx="1152525" cy="0"/>
          </a:xfrm>
          <a:prstGeom prst="line">
            <a:avLst/>
          </a:prstGeom>
          <a:noFill/>
          <a:ln w="9525">
            <a:solidFill>
              <a:schemeClr val="accent2"/>
            </a:solidFill>
            <a:prstDash val="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9470" name="Line 21"/>
          <p:cNvSpPr>
            <a:spLocks noChangeShapeType="1"/>
          </p:cNvSpPr>
          <p:nvPr/>
        </p:nvSpPr>
        <p:spPr bwMode="auto">
          <a:xfrm flipH="1">
            <a:off x="2124075" y="5157788"/>
            <a:ext cx="576263" cy="0"/>
          </a:xfrm>
          <a:prstGeom prst="line">
            <a:avLst/>
          </a:prstGeom>
          <a:noFill/>
          <a:ln w="9525">
            <a:solidFill>
              <a:schemeClr val="accent2"/>
            </a:solidFill>
            <a:prstDash val="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9471" name="Line 22"/>
          <p:cNvSpPr>
            <a:spLocks noChangeShapeType="1"/>
          </p:cNvSpPr>
          <p:nvPr/>
        </p:nvSpPr>
        <p:spPr bwMode="auto">
          <a:xfrm>
            <a:off x="2124075" y="2925763"/>
            <a:ext cx="2520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2" name="Line 23"/>
          <p:cNvSpPr>
            <a:spLocks noChangeShapeType="1"/>
          </p:cNvSpPr>
          <p:nvPr/>
        </p:nvSpPr>
        <p:spPr bwMode="auto">
          <a:xfrm>
            <a:off x="2124075" y="4149725"/>
            <a:ext cx="1871663" cy="0"/>
          </a:xfrm>
          <a:prstGeom prst="line">
            <a:avLst/>
          </a:prstGeom>
          <a:noFill/>
          <a:ln w="9525">
            <a:solidFill>
              <a:schemeClr val="accent2"/>
            </a:solidFill>
            <a:prstDash val="dashDot"/>
            <a:round/>
            <a:headEnd/>
            <a:tailEnd/>
          </a:ln>
          <a:extLst>
            <a:ext uri="{909E8E84-426E-40DD-AFC4-6F175D3DCCD1}">
              <a14:hiddenFill xmlns:a14="http://schemas.microsoft.com/office/drawing/2010/main">
                <a:noFill/>
              </a14:hiddenFill>
            </a:ext>
          </a:extLst>
        </p:spPr>
        <p:txBody>
          <a:bodyPr/>
          <a:lstStyle/>
          <a:p>
            <a:endParaRPr lang="en-US"/>
          </a:p>
        </p:txBody>
      </p:sp>
      <p:pic>
        <p:nvPicPr>
          <p:cNvPr id="19473" name="Picture 2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32138" y="3933825"/>
            <a:ext cx="219075"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74" name="Rectangle 25"/>
          <p:cNvSpPr>
            <a:spLocks noChangeArrowheads="1"/>
          </p:cNvSpPr>
          <p:nvPr/>
        </p:nvSpPr>
        <p:spPr bwMode="auto">
          <a:xfrm>
            <a:off x="3276600" y="3573463"/>
            <a:ext cx="64928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latin typeface="Times New Roman" panose="02020603050405020304" pitchFamily="18" charset="0"/>
                <a:cs typeface="Arial" panose="020B0604020202020204" pitchFamily="34" charset="0"/>
              </a:rPr>
              <a:t>line</a:t>
            </a:r>
            <a:endParaRPr lang="en-US" altLang="zh-CN" sz="1400" b="1"/>
          </a:p>
        </p:txBody>
      </p:sp>
      <p:sp>
        <p:nvSpPr>
          <p:cNvPr id="19475" name="Rectangle 26"/>
          <p:cNvSpPr>
            <a:spLocks noChangeArrowheads="1"/>
          </p:cNvSpPr>
          <p:nvPr/>
        </p:nvSpPr>
        <p:spPr bwMode="auto">
          <a:xfrm>
            <a:off x="3563938" y="3933825"/>
            <a:ext cx="43338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latin typeface="Times New Roman" panose="02020603050405020304" pitchFamily="18" charset="0"/>
                <a:cs typeface="Arial" panose="020B0604020202020204" pitchFamily="34" charset="0"/>
              </a:rPr>
              <a:t>A</a:t>
            </a:r>
            <a:endParaRPr lang="en-US" altLang="zh-CN" sz="1400" b="1"/>
          </a:p>
        </p:txBody>
      </p:sp>
      <p:sp>
        <p:nvSpPr>
          <p:cNvPr id="19476" name="Rectangle 27"/>
          <p:cNvSpPr>
            <a:spLocks noChangeArrowheads="1"/>
          </p:cNvSpPr>
          <p:nvPr/>
        </p:nvSpPr>
        <p:spPr bwMode="auto">
          <a:xfrm>
            <a:off x="1619250" y="2781300"/>
            <a:ext cx="64928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latin typeface="Times New Roman" panose="02020603050405020304" pitchFamily="18" charset="0"/>
                <a:cs typeface="Arial" panose="020B0604020202020204" pitchFamily="34" charset="0"/>
              </a:rPr>
              <a:t>100</a:t>
            </a:r>
            <a:endParaRPr lang="en-US" altLang="zh-CN" sz="1400" b="1"/>
          </a:p>
        </p:txBody>
      </p:sp>
      <p:sp>
        <p:nvSpPr>
          <p:cNvPr id="19477" name="Rectangle 28"/>
          <p:cNvSpPr>
            <a:spLocks noChangeArrowheads="1"/>
          </p:cNvSpPr>
          <p:nvPr/>
        </p:nvSpPr>
        <p:spPr bwMode="auto">
          <a:xfrm>
            <a:off x="1619250" y="3429000"/>
            <a:ext cx="43338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latin typeface="Times New Roman" panose="02020603050405020304" pitchFamily="18" charset="0"/>
                <a:cs typeface="Arial" panose="020B0604020202020204" pitchFamily="34" charset="0"/>
              </a:rPr>
              <a:t>75</a:t>
            </a:r>
            <a:endParaRPr lang="en-US" altLang="zh-CN" sz="1400" b="1"/>
          </a:p>
        </p:txBody>
      </p:sp>
      <p:sp>
        <p:nvSpPr>
          <p:cNvPr id="19478" name="Rectangle 29"/>
          <p:cNvSpPr>
            <a:spLocks noChangeArrowheads="1"/>
          </p:cNvSpPr>
          <p:nvPr/>
        </p:nvSpPr>
        <p:spPr bwMode="auto">
          <a:xfrm>
            <a:off x="1619250" y="4076700"/>
            <a:ext cx="43338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latin typeface="Times New Roman" panose="02020603050405020304" pitchFamily="18" charset="0"/>
                <a:cs typeface="Arial" panose="020B0604020202020204" pitchFamily="34" charset="0"/>
              </a:rPr>
              <a:t>50</a:t>
            </a:r>
            <a:endParaRPr lang="en-US" altLang="zh-CN" sz="1400" b="1"/>
          </a:p>
        </p:txBody>
      </p:sp>
      <p:sp>
        <p:nvSpPr>
          <p:cNvPr id="19479" name="Rectangle 30"/>
          <p:cNvSpPr>
            <a:spLocks noChangeArrowheads="1"/>
          </p:cNvSpPr>
          <p:nvPr/>
        </p:nvSpPr>
        <p:spPr bwMode="auto">
          <a:xfrm>
            <a:off x="1619250" y="4652963"/>
            <a:ext cx="43338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latin typeface="Times New Roman" panose="02020603050405020304" pitchFamily="18" charset="0"/>
                <a:cs typeface="Arial" panose="020B0604020202020204" pitchFamily="34" charset="0"/>
              </a:rPr>
              <a:t>25</a:t>
            </a:r>
            <a:endParaRPr lang="en-US" altLang="zh-CN" sz="1400" b="1"/>
          </a:p>
        </p:txBody>
      </p:sp>
      <p:cxnSp>
        <p:nvCxnSpPr>
          <p:cNvPr id="76" name="Straight Connector 75">
            <a:extLst>
              <a:ext uri="{FF2B5EF4-FFF2-40B4-BE49-F238E27FC236}">
                <a16:creationId xmlns:a16="http://schemas.microsoft.com/office/drawing/2014/main" id="{1467BC21-A8F3-4ABE-88D8-9EEC46E69DE5}"/>
              </a:ext>
            </a:extLst>
          </p:cNvPr>
          <p:cNvCxnSpPr/>
          <p:nvPr/>
        </p:nvCxnSpPr>
        <p:spPr>
          <a:xfrm>
            <a:off x="2124075" y="4797425"/>
            <a:ext cx="71438" cy="1588"/>
          </a:xfrm>
          <a:prstGeom prst="line">
            <a:avLst/>
          </a:prstGeom>
        </p:spPr>
        <p:style>
          <a:lnRef idx="1">
            <a:schemeClr val="dk1"/>
          </a:lnRef>
          <a:fillRef idx="0">
            <a:schemeClr val="dk1"/>
          </a:fillRef>
          <a:effectRef idx="0">
            <a:schemeClr val="dk1"/>
          </a:effectRef>
          <a:fontRef idx="minor">
            <a:schemeClr val="tx1"/>
          </a:fontRef>
        </p:style>
      </p:cxnSp>
      <p:cxnSp>
        <p:nvCxnSpPr>
          <p:cNvPr id="78" name="Straight Connector 77">
            <a:extLst>
              <a:ext uri="{FF2B5EF4-FFF2-40B4-BE49-F238E27FC236}">
                <a16:creationId xmlns:a16="http://schemas.microsoft.com/office/drawing/2014/main" id="{8400EE63-D55F-4925-B603-CE98C78B2FA0}"/>
              </a:ext>
            </a:extLst>
          </p:cNvPr>
          <p:cNvCxnSpPr/>
          <p:nvPr/>
        </p:nvCxnSpPr>
        <p:spPr>
          <a:xfrm rot="10800000">
            <a:off x="2124075" y="4148138"/>
            <a:ext cx="71438" cy="1587"/>
          </a:xfrm>
          <a:prstGeom prst="line">
            <a:avLst/>
          </a:prstGeom>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C2055B41-0973-420E-84CA-B11B240802B5}"/>
              </a:ext>
            </a:extLst>
          </p:cNvPr>
          <p:cNvCxnSpPr/>
          <p:nvPr/>
        </p:nvCxnSpPr>
        <p:spPr>
          <a:xfrm rot="10800000">
            <a:off x="2124075" y="2924175"/>
            <a:ext cx="71438" cy="1588"/>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77">
            <a:extLst>
              <a:ext uri="{FF2B5EF4-FFF2-40B4-BE49-F238E27FC236}">
                <a16:creationId xmlns:a16="http://schemas.microsoft.com/office/drawing/2014/main" id="{382AF317-A926-492B-A5E4-A80DBF55E65F}"/>
              </a:ext>
            </a:extLst>
          </p:cNvPr>
          <p:cNvCxnSpPr/>
          <p:nvPr/>
        </p:nvCxnSpPr>
        <p:spPr>
          <a:xfrm rot="10800000">
            <a:off x="2124075" y="3500438"/>
            <a:ext cx="71438" cy="0"/>
          </a:xfrm>
          <a:prstGeom prst="line">
            <a:avLst/>
          </a:prstGeom>
        </p:spPr>
        <p:style>
          <a:lnRef idx="1">
            <a:schemeClr val="dk1"/>
          </a:lnRef>
          <a:fillRef idx="0">
            <a:schemeClr val="dk1"/>
          </a:fillRef>
          <a:effectRef idx="0">
            <a:schemeClr val="dk1"/>
          </a:effectRef>
          <a:fontRef idx="minor">
            <a:schemeClr val="tx1"/>
          </a:fontRef>
        </p:style>
      </p:cxnSp>
      <p:sp>
        <p:nvSpPr>
          <p:cNvPr id="19484" name="Line 35"/>
          <p:cNvSpPr>
            <a:spLocks noChangeShapeType="1"/>
          </p:cNvSpPr>
          <p:nvPr/>
        </p:nvSpPr>
        <p:spPr bwMode="auto">
          <a:xfrm>
            <a:off x="4643438" y="2924175"/>
            <a:ext cx="0" cy="2520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5" name="Rectangle 36"/>
          <p:cNvSpPr>
            <a:spLocks noChangeArrowheads="1"/>
          </p:cNvSpPr>
          <p:nvPr/>
        </p:nvSpPr>
        <p:spPr bwMode="auto">
          <a:xfrm>
            <a:off x="5076825" y="3644900"/>
            <a:ext cx="17272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en-US" sz="1600" b="1">
                <a:latin typeface="Times New Roman" panose="02020603050405020304" pitchFamily="18" charset="0"/>
              </a:rPr>
              <a:t>Lorenz curve</a:t>
            </a:r>
            <a:endParaRPr lang="en-US" altLang="zh-CN" sz="1600" b="1">
              <a:latin typeface="Times New Roman" panose="02020603050405020304" pitchFamily="18" charset="0"/>
            </a:endParaRPr>
          </a:p>
        </p:txBody>
      </p:sp>
      <p:sp>
        <p:nvSpPr>
          <p:cNvPr id="19486" name="Line 37"/>
          <p:cNvSpPr>
            <a:spLocks noChangeShapeType="1"/>
          </p:cNvSpPr>
          <p:nvPr/>
        </p:nvSpPr>
        <p:spPr bwMode="auto">
          <a:xfrm flipH="1">
            <a:off x="4284663" y="3789363"/>
            <a:ext cx="863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87" name="Rectangle 38"/>
          <p:cNvSpPr>
            <a:spLocks noChangeArrowheads="1"/>
          </p:cNvSpPr>
          <p:nvPr/>
        </p:nvSpPr>
        <p:spPr bwMode="auto">
          <a:xfrm>
            <a:off x="3924300" y="4724400"/>
            <a:ext cx="43338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latin typeface="Times New Roman" panose="02020603050405020304" pitchFamily="18" charset="0"/>
                <a:cs typeface="Arial" panose="020B0604020202020204" pitchFamily="34" charset="0"/>
              </a:rPr>
              <a:t>B</a:t>
            </a:r>
            <a:endParaRPr lang="en-US" altLang="zh-CN" sz="1400" b="1"/>
          </a:p>
        </p:txBody>
      </p:sp>
      <p:sp>
        <p:nvSpPr>
          <p:cNvPr id="19488" name="Rectangle 41"/>
          <p:cNvSpPr>
            <a:spLocks noChangeArrowheads="1"/>
          </p:cNvSpPr>
          <p:nvPr/>
        </p:nvSpPr>
        <p:spPr bwMode="auto">
          <a:xfrm>
            <a:off x="0" y="3181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pic>
        <p:nvPicPr>
          <p:cNvPr id="19489" name="Picture 40"/>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32138" y="5805488"/>
            <a:ext cx="452437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274638"/>
            <a:ext cx="8507413" cy="922337"/>
          </a:xfrm>
        </p:spPr>
        <p:txBody>
          <a:bodyPr/>
          <a:lstStyle/>
          <a:p>
            <a:pPr algn="l" eaLnBrk="1" hangingPunct="1"/>
            <a:r>
              <a:rPr lang="en-US" altLang="en-US" sz="2400">
                <a:latin typeface="Times New Roman" panose="02020603050405020304" pitchFamily="18" charset="0"/>
              </a:rPr>
              <a:t>Same Gini coefficient may represent different income distribution.</a:t>
            </a:r>
          </a:p>
        </p:txBody>
      </p:sp>
      <p:sp>
        <p:nvSpPr>
          <p:cNvPr id="20483" name="Rectangle 3"/>
          <p:cNvSpPr>
            <a:spLocks noGrp="1" noChangeArrowheads="1"/>
          </p:cNvSpPr>
          <p:nvPr>
            <p:ph type="body" sz="half" idx="1"/>
          </p:nvPr>
        </p:nvSpPr>
        <p:spPr>
          <a:xfrm>
            <a:off x="539750" y="1268413"/>
            <a:ext cx="7056438" cy="358775"/>
          </a:xfrm>
        </p:spPr>
        <p:txBody>
          <a:bodyPr/>
          <a:lstStyle/>
          <a:p>
            <a:pPr eaLnBrk="1" hangingPunct="1">
              <a:lnSpc>
                <a:spcPct val="80000"/>
              </a:lnSpc>
              <a:buFontTx/>
              <a:buNone/>
            </a:pPr>
            <a:r>
              <a:rPr lang="en-US" altLang="en-US" sz="2000">
                <a:latin typeface="Times New Roman" panose="02020603050405020304" pitchFamily="18" charset="0"/>
              </a:rPr>
              <a:t>Example:</a:t>
            </a:r>
          </a:p>
        </p:txBody>
      </p:sp>
      <p:graphicFrame>
        <p:nvGraphicFramePr>
          <p:cNvPr id="24694" name="Group 118">
            <a:extLst>
              <a:ext uri="{FF2B5EF4-FFF2-40B4-BE49-F238E27FC236}">
                <a16:creationId xmlns:a16="http://schemas.microsoft.com/office/drawing/2014/main" id="{D54C7C3D-2B62-40A2-88E6-19F0ECA6E981}"/>
              </a:ext>
            </a:extLst>
          </p:cNvPr>
          <p:cNvGraphicFramePr>
            <a:graphicFrameLocks noGrp="1"/>
          </p:cNvGraphicFramePr>
          <p:nvPr>
            <p:ph sz="quarter" idx="2"/>
          </p:nvPr>
        </p:nvGraphicFramePr>
        <p:xfrm>
          <a:off x="2124075" y="908050"/>
          <a:ext cx="4038600" cy="2185989"/>
        </p:xfrm>
        <a:graphic>
          <a:graphicData uri="http://schemas.openxmlformats.org/drawingml/2006/table">
            <a:tbl>
              <a:tblPr/>
              <a:tblGrid>
                <a:gridCol w="1012825">
                  <a:extLst>
                    <a:ext uri="{9D8B030D-6E8A-4147-A177-3AD203B41FA5}">
                      <a16:colId xmlns:a16="http://schemas.microsoft.com/office/drawing/2014/main" val="20000"/>
                    </a:ext>
                  </a:extLst>
                </a:gridCol>
                <a:gridCol w="1008063">
                  <a:extLst>
                    <a:ext uri="{9D8B030D-6E8A-4147-A177-3AD203B41FA5}">
                      <a16:colId xmlns:a16="http://schemas.microsoft.com/office/drawing/2014/main" val="20001"/>
                    </a:ext>
                  </a:extLst>
                </a:gridCol>
                <a:gridCol w="1009650">
                  <a:extLst>
                    <a:ext uri="{9D8B030D-6E8A-4147-A177-3AD203B41FA5}">
                      <a16:colId xmlns:a16="http://schemas.microsoft.com/office/drawing/2014/main" val="20002"/>
                    </a:ext>
                  </a:extLst>
                </a:gridCol>
                <a:gridCol w="1008062">
                  <a:extLst>
                    <a:ext uri="{9D8B030D-6E8A-4147-A177-3AD203B41FA5}">
                      <a16:colId xmlns:a16="http://schemas.microsoft.com/office/drawing/2014/main" val="20003"/>
                    </a:ext>
                  </a:extLst>
                </a:gridCol>
              </a:tblGrid>
              <a:tr h="593725">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Arial"/>
                          <a:ea typeface="宋体" pitchFamily="2" charset="-122"/>
                        </a:rPr>
                        <a:t> </a:t>
                      </a: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anchor="b" horzOverflow="overflow">
                    <a:lnL cap="flat">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Times New Roman" pitchFamily="18" charset="0"/>
                          <a:ea typeface="宋体" pitchFamily="2" charset="-122"/>
                        </a:rPr>
                        <a:t> </a:t>
                      </a:r>
                      <a:endParaRPr kumimoji="0" lang="en-US" altLang="zh-CN" sz="1400" b="1" i="0" u="none" strike="noStrike" cap="none" normalizeH="0" baseline="0">
                        <a:ln>
                          <a:noFill/>
                        </a:ln>
                        <a:solidFill>
                          <a:schemeClr val="tx1"/>
                        </a:solidFill>
                        <a:effectLst/>
                        <a:latin typeface="Times New Roman" pitchFamily="18" charset="0"/>
                        <a:ea typeface="宋体" pitchFamily="2" charset="-122"/>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Times New Roman" pitchFamily="18" charset="0"/>
                          <a:ea typeface="宋体" pitchFamily="2" charset="-122"/>
                        </a:rPr>
                        <a:t>Country 1</a:t>
                      </a:r>
                      <a:endParaRPr kumimoji="0" lang="en-US" altLang="zh-CN" sz="1400" b="1" i="0" u="none" strike="noStrike" cap="none" normalizeH="0" baseline="0">
                        <a:ln>
                          <a:noFill/>
                        </a:ln>
                        <a:solidFill>
                          <a:schemeClr val="tx1"/>
                        </a:solidFill>
                        <a:effectLst/>
                        <a:latin typeface="Times New Roman" pitchFamily="18" charset="0"/>
                        <a:ea typeface="宋体" pitchFamily="2" charset="-122"/>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Times New Roman" pitchFamily="18" charset="0"/>
                          <a:ea typeface="宋体" pitchFamily="2" charset="-122"/>
                        </a:rPr>
                        <a:t>Country 2</a:t>
                      </a:r>
                      <a:endParaRPr kumimoji="0" lang="en-US" altLang="zh-CN" sz="1400" b="1" i="0" u="none" strike="noStrike" cap="none" normalizeH="0" baseline="0">
                        <a:ln>
                          <a:noFill/>
                        </a:ln>
                        <a:solidFill>
                          <a:schemeClr val="tx1"/>
                        </a:solidFill>
                        <a:effectLst/>
                        <a:latin typeface="Times New Roman" pitchFamily="18" charset="0"/>
                        <a:ea typeface="宋体" pitchFamily="2" charset="-122"/>
                      </a:endParaRPr>
                    </a:p>
                  </a:txBody>
                  <a:tcPr anchor="b"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Times New Roman" pitchFamily="18" charset="0"/>
                          <a:ea typeface="宋体" pitchFamily="2" charset="-122"/>
                        </a:rPr>
                        <a:t>Lowest</a:t>
                      </a:r>
                      <a:endParaRPr kumimoji="0" lang="en-US" altLang="zh-CN" sz="1400" b="1" i="0" u="none" strike="noStrike" cap="none" normalizeH="0" baseline="0">
                        <a:ln>
                          <a:noFill/>
                        </a:ln>
                        <a:solidFill>
                          <a:schemeClr val="tx1"/>
                        </a:solidFill>
                        <a:effectLst/>
                        <a:latin typeface="Times New Roman" pitchFamily="18" charset="0"/>
                        <a:ea typeface="宋体" pitchFamily="2" charset="-122"/>
                      </a:endParaRPr>
                    </a:p>
                  </a:txBody>
                  <a:tcPr anchor="b"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25%</a:t>
                      </a:r>
                      <a:endParaRPr kumimoji="0" lang="en-US" altLang="zh-CN" sz="1600" b="1" i="0" u="none" strike="noStrike" cap="none" normalizeH="0" baseline="0">
                        <a:ln>
                          <a:noFill/>
                        </a:ln>
                        <a:solidFill>
                          <a:schemeClr val="tx1"/>
                        </a:solidFill>
                        <a:effectLst/>
                        <a:latin typeface="Times New Roman" pitchFamily="18" charset="0"/>
                        <a:ea typeface="宋体" pitchFamily="2" charset="-122"/>
                      </a:endParaRPr>
                    </a:p>
                  </a:txBody>
                  <a:tcPr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5</a:t>
                      </a:r>
                      <a:endParaRPr kumimoji="0" lang="en-US" altLang="zh-CN" sz="1600" b="1" i="0" u="none" strike="noStrike" cap="none" normalizeH="0" baseline="0">
                        <a:ln>
                          <a:noFill/>
                        </a:ln>
                        <a:solidFill>
                          <a:schemeClr val="tx1"/>
                        </a:solidFill>
                        <a:effectLst/>
                        <a:latin typeface="Times New Roman" pitchFamily="18" charset="0"/>
                        <a:ea typeface="宋体" pitchFamily="2" charset="-122"/>
                      </a:endParaRPr>
                    </a:p>
                  </a:txBody>
                  <a:tcPr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宋体" pitchFamily="2" charset="-122"/>
                        </a:rPr>
                        <a:t>15</a:t>
                      </a:r>
                      <a:endParaRPr kumimoji="0" lang="en-US" altLang="zh-CN" sz="1600" b="1" i="0" u="none" strike="noStrike" cap="none" normalizeH="0" baseline="0" dirty="0">
                        <a:ln>
                          <a:noFill/>
                        </a:ln>
                        <a:solidFill>
                          <a:schemeClr val="tx1"/>
                        </a:solidFill>
                        <a:effectLst/>
                        <a:latin typeface="Times New Roman" pitchFamily="18" charset="0"/>
                        <a:ea typeface="宋体" pitchFamily="2" charset="-122"/>
                      </a:endParaRPr>
                    </a:p>
                  </a:txBody>
                  <a:tcPr anchor="b" horzOverflow="overflow">
                    <a:lnL>
                      <a:noFill/>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96875">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Times New Roman" pitchFamily="18" charset="0"/>
                          <a:ea typeface="宋体" pitchFamily="2" charset="-122"/>
                        </a:rPr>
                        <a:t>Next</a:t>
                      </a:r>
                      <a:endParaRPr kumimoji="0" lang="en-US" altLang="zh-CN" sz="1400" b="1" i="0" u="none" strike="noStrike" cap="none" normalizeH="0" baseline="0">
                        <a:ln>
                          <a:noFill/>
                        </a:ln>
                        <a:solidFill>
                          <a:schemeClr val="tx1"/>
                        </a:solidFill>
                        <a:effectLst/>
                        <a:latin typeface="Times New Roman" pitchFamily="18" charset="0"/>
                        <a:ea typeface="宋体" pitchFamily="2" charset="-122"/>
                      </a:endParaRPr>
                    </a:p>
                  </a:txBody>
                  <a:tcPr anchor="b"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25%</a:t>
                      </a:r>
                      <a:endParaRPr kumimoji="0" lang="en-US" altLang="zh-CN" sz="1600" b="1" i="0" u="none" strike="noStrike" cap="none" normalizeH="0" baseline="0">
                        <a:ln>
                          <a:noFill/>
                        </a:ln>
                        <a:solidFill>
                          <a:schemeClr val="tx1"/>
                        </a:solidFill>
                        <a:effectLst/>
                        <a:latin typeface="Times New Roman" pitchFamily="18" charset="0"/>
                        <a:ea typeface="宋体" pitchFamily="2" charset="-122"/>
                      </a:endParaRPr>
                    </a:p>
                  </a:txBody>
                  <a:tcPr anchor="b"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5</a:t>
                      </a:r>
                      <a:endParaRPr kumimoji="0" lang="en-US" altLang="zh-CN" sz="1600" b="1" i="0" u="none" strike="noStrike" cap="none" normalizeH="0" baseline="0">
                        <a:ln>
                          <a:noFill/>
                        </a:ln>
                        <a:solidFill>
                          <a:schemeClr val="tx1"/>
                        </a:solidFill>
                        <a:effectLst/>
                        <a:latin typeface="Times New Roman" pitchFamily="18" charset="0"/>
                        <a:ea typeface="宋体" pitchFamily="2" charset="-122"/>
                      </a:endParaRPr>
                    </a:p>
                  </a:txBody>
                  <a:tcPr anchor="b"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宋体" pitchFamily="2" charset="-122"/>
                        </a:rPr>
                        <a:t>15</a:t>
                      </a:r>
                      <a:endParaRPr kumimoji="0" lang="en-US" altLang="zh-CN" sz="1600" b="1" i="0" u="none" strike="noStrike" cap="none" normalizeH="0" baseline="0" dirty="0">
                        <a:ln>
                          <a:noFill/>
                        </a:ln>
                        <a:solidFill>
                          <a:schemeClr val="tx1"/>
                        </a:solidFill>
                        <a:effectLst/>
                        <a:latin typeface="Times New Roman" pitchFamily="18" charset="0"/>
                        <a:ea typeface="宋体" pitchFamily="2" charset="-122"/>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98463">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Times New Roman" pitchFamily="18" charset="0"/>
                          <a:ea typeface="宋体" pitchFamily="2" charset="-122"/>
                        </a:rPr>
                        <a:t>Next</a:t>
                      </a:r>
                      <a:endParaRPr kumimoji="0" lang="en-US" altLang="zh-CN" sz="1400" b="1" i="0" u="none" strike="noStrike" cap="none" normalizeH="0" baseline="0">
                        <a:ln>
                          <a:noFill/>
                        </a:ln>
                        <a:solidFill>
                          <a:schemeClr val="tx1"/>
                        </a:solidFill>
                        <a:effectLst/>
                        <a:latin typeface="Times New Roman" pitchFamily="18" charset="0"/>
                        <a:ea typeface="宋体" pitchFamily="2" charset="-122"/>
                      </a:endParaRPr>
                    </a:p>
                  </a:txBody>
                  <a:tcPr anchor="b"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25%</a:t>
                      </a:r>
                      <a:endParaRPr kumimoji="0" lang="en-US" altLang="zh-CN" sz="1600" b="1" i="0" u="none" strike="noStrike" cap="none" normalizeH="0" baseline="0">
                        <a:ln>
                          <a:noFill/>
                        </a:ln>
                        <a:solidFill>
                          <a:schemeClr val="tx1"/>
                        </a:solidFill>
                        <a:effectLst/>
                        <a:latin typeface="Times New Roman" pitchFamily="18" charset="0"/>
                        <a:ea typeface="宋体" pitchFamily="2" charset="-122"/>
                      </a:endParaRPr>
                    </a:p>
                  </a:txBody>
                  <a:tcPr anchor="b"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45</a:t>
                      </a:r>
                      <a:endParaRPr kumimoji="0" lang="en-US" altLang="zh-CN" sz="1600" b="1" i="0" u="none" strike="noStrike" cap="none" normalizeH="0" baseline="0">
                        <a:ln>
                          <a:noFill/>
                        </a:ln>
                        <a:solidFill>
                          <a:schemeClr val="tx1"/>
                        </a:solidFill>
                        <a:effectLst/>
                        <a:latin typeface="Times New Roman" pitchFamily="18" charset="0"/>
                        <a:ea typeface="宋体" pitchFamily="2" charset="-122"/>
                      </a:endParaRPr>
                    </a:p>
                  </a:txBody>
                  <a:tcPr anchor="b"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宋体" pitchFamily="2" charset="-122"/>
                        </a:rPr>
                        <a:t>15</a:t>
                      </a:r>
                      <a:endParaRPr kumimoji="0" lang="en-US" altLang="zh-CN" sz="1600" b="1" i="0" u="none" strike="noStrike" cap="none" normalizeH="0" baseline="0" dirty="0">
                        <a:ln>
                          <a:noFill/>
                        </a:ln>
                        <a:solidFill>
                          <a:schemeClr val="tx1"/>
                        </a:solidFill>
                        <a:effectLst/>
                        <a:latin typeface="Times New Roman" pitchFamily="18" charset="0"/>
                        <a:ea typeface="宋体" pitchFamily="2" charset="-122"/>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98463">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Times New Roman" pitchFamily="18" charset="0"/>
                          <a:ea typeface="宋体" pitchFamily="2" charset="-122"/>
                        </a:rPr>
                        <a:t>Highest</a:t>
                      </a:r>
                      <a:endParaRPr kumimoji="0" lang="en-US" altLang="zh-CN" sz="1400" b="1" i="0" u="none" strike="noStrike" cap="none" normalizeH="0" baseline="0">
                        <a:ln>
                          <a:noFill/>
                        </a:ln>
                        <a:solidFill>
                          <a:schemeClr val="tx1"/>
                        </a:solidFill>
                        <a:effectLst/>
                        <a:latin typeface="Times New Roman" pitchFamily="18" charset="0"/>
                        <a:ea typeface="宋体" pitchFamily="2" charset="-122"/>
                      </a:endParaRPr>
                    </a:p>
                  </a:txBody>
                  <a:tcPr anchor="b"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25%</a:t>
                      </a:r>
                      <a:endParaRPr kumimoji="0" lang="en-US" altLang="zh-CN" sz="1600" b="1" i="0" u="none" strike="noStrike" cap="none" normalizeH="0" baseline="0">
                        <a:ln>
                          <a:noFill/>
                        </a:ln>
                        <a:solidFill>
                          <a:schemeClr val="tx1"/>
                        </a:solidFill>
                        <a:effectLst/>
                        <a:latin typeface="Times New Roman" pitchFamily="18" charset="0"/>
                        <a:ea typeface="宋体" pitchFamily="2" charset="-122"/>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45</a:t>
                      </a:r>
                      <a:endParaRPr kumimoji="0" lang="en-US" altLang="zh-CN" sz="1600" b="1" i="0" u="none" strike="noStrike" cap="none" normalizeH="0" baseline="0">
                        <a:ln>
                          <a:noFill/>
                        </a:ln>
                        <a:solidFill>
                          <a:schemeClr val="tx1"/>
                        </a:solidFill>
                        <a:effectLst/>
                        <a:latin typeface="Times New Roman" pitchFamily="18" charset="0"/>
                        <a:ea typeface="宋体" pitchFamily="2" charset="-122"/>
                      </a:endParaRPr>
                    </a:p>
                  </a:txBody>
                  <a:tcPr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宋体" pitchFamily="2" charset="-122"/>
                        </a:rPr>
                        <a:t>50</a:t>
                      </a:r>
                      <a:endParaRPr kumimoji="0" lang="en-US" altLang="zh-CN" sz="1600" b="1" i="0" u="none" strike="noStrike" cap="none" normalizeH="0" baseline="0" dirty="0">
                        <a:ln>
                          <a:noFill/>
                        </a:ln>
                        <a:solidFill>
                          <a:schemeClr val="tx1"/>
                        </a:solidFill>
                        <a:effectLst/>
                        <a:latin typeface="Times New Roman" pitchFamily="18" charset="0"/>
                        <a:ea typeface="宋体" pitchFamily="2" charset="-122"/>
                      </a:endParaRPr>
                    </a:p>
                  </a:txBody>
                  <a:tcPr anchor="b"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0507" name="Line 119"/>
          <p:cNvSpPr>
            <a:spLocks noChangeShapeType="1"/>
          </p:cNvSpPr>
          <p:nvPr/>
        </p:nvSpPr>
        <p:spPr bwMode="auto">
          <a:xfrm flipV="1">
            <a:off x="1908175" y="3427413"/>
            <a:ext cx="0" cy="2520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8" name="Line 120"/>
          <p:cNvSpPr>
            <a:spLocks noChangeShapeType="1"/>
          </p:cNvSpPr>
          <p:nvPr/>
        </p:nvSpPr>
        <p:spPr bwMode="auto">
          <a:xfrm flipV="1">
            <a:off x="1908175" y="3427413"/>
            <a:ext cx="2520950" cy="2520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9" name="Line 121"/>
          <p:cNvSpPr>
            <a:spLocks noChangeShapeType="1"/>
          </p:cNvSpPr>
          <p:nvPr/>
        </p:nvSpPr>
        <p:spPr bwMode="auto">
          <a:xfrm>
            <a:off x="1908175" y="5948363"/>
            <a:ext cx="2519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0" name="Line 122"/>
          <p:cNvSpPr>
            <a:spLocks noChangeShapeType="1"/>
          </p:cNvSpPr>
          <p:nvPr/>
        </p:nvSpPr>
        <p:spPr bwMode="auto">
          <a:xfrm>
            <a:off x="1908175" y="3429000"/>
            <a:ext cx="2520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1" name="Line 123"/>
          <p:cNvSpPr>
            <a:spLocks noChangeShapeType="1"/>
          </p:cNvSpPr>
          <p:nvPr/>
        </p:nvSpPr>
        <p:spPr bwMode="auto">
          <a:xfrm>
            <a:off x="4427538" y="3427413"/>
            <a:ext cx="0" cy="2520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82" name="Straight Connector 81">
            <a:extLst>
              <a:ext uri="{FF2B5EF4-FFF2-40B4-BE49-F238E27FC236}">
                <a16:creationId xmlns:a16="http://schemas.microsoft.com/office/drawing/2014/main" id="{1A72E74F-8C52-4340-91CF-5EBDCFCBF918}"/>
              </a:ext>
            </a:extLst>
          </p:cNvPr>
          <p:cNvCxnSpPr/>
          <p:nvPr/>
        </p:nvCxnSpPr>
        <p:spPr>
          <a:xfrm rot="5400000">
            <a:off x="2376488" y="5911850"/>
            <a:ext cx="71438" cy="1587"/>
          </a:xfrm>
          <a:prstGeom prst="line">
            <a:avLst/>
          </a:prstGeom>
        </p:spPr>
        <p:style>
          <a:lnRef idx="1">
            <a:schemeClr val="dk1"/>
          </a:lnRef>
          <a:fillRef idx="0">
            <a:schemeClr val="dk1"/>
          </a:fillRef>
          <a:effectRef idx="0">
            <a:schemeClr val="dk1"/>
          </a:effectRef>
          <a:fontRef idx="minor">
            <a:schemeClr val="tx1"/>
          </a:fontRef>
        </p:style>
      </p:cxnSp>
      <p:cxnSp>
        <p:nvCxnSpPr>
          <p:cNvPr id="84" name="Straight Connector 83">
            <a:extLst>
              <a:ext uri="{FF2B5EF4-FFF2-40B4-BE49-F238E27FC236}">
                <a16:creationId xmlns:a16="http://schemas.microsoft.com/office/drawing/2014/main" id="{7F474564-3E8C-4906-9582-298847E81F6B}"/>
              </a:ext>
            </a:extLst>
          </p:cNvPr>
          <p:cNvCxnSpPr/>
          <p:nvPr/>
        </p:nvCxnSpPr>
        <p:spPr>
          <a:xfrm rot="5400000">
            <a:off x="4392613" y="5911850"/>
            <a:ext cx="71438" cy="1587"/>
          </a:xfrm>
          <a:prstGeom prst="line">
            <a:avLst/>
          </a:prstGeom>
        </p:spPr>
        <p:style>
          <a:lnRef idx="1">
            <a:schemeClr val="dk1"/>
          </a:lnRef>
          <a:fillRef idx="0">
            <a:schemeClr val="dk1"/>
          </a:fillRef>
          <a:effectRef idx="0">
            <a:schemeClr val="dk1"/>
          </a:effectRef>
          <a:fontRef idx="minor">
            <a:schemeClr val="tx1"/>
          </a:fontRef>
        </p:style>
      </p:cxnSp>
      <p:cxnSp>
        <p:nvCxnSpPr>
          <p:cNvPr id="88" name="Straight Connector 87">
            <a:extLst>
              <a:ext uri="{FF2B5EF4-FFF2-40B4-BE49-F238E27FC236}">
                <a16:creationId xmlns:a16="http://schemas.microsoft.com/office/drawing/2014/main" id="{13536C7F-1177-4256-806E-58AA7EF65229}"/>
              </a:ext>
            </a:extLst>
          </p:cNvPr>
          <p:cNvCxnSpPr/>
          <p:nvPr/>
        </p:nvCxnSpPr>
        <p:spPr>
          <a:xfrm rot="5400000">
            <a:off x="3024188" y="5911850"/>
            <a:ext cx="71438" cy="1587"/>
          </a:xfrm>
          <a:prstGeom prst="line">
            <a:avLst/>
          </a:prstGeom>
        </p:spPr>
        <p:style>
          <a:lnRef idx="1">
            <a:schemeClr val="dk1"/>
          </a:lnRef>
          <a:fillRef idx="0">
            <a:schemeClr val="dk1"/>
          </a:fillRef>
          <a:effectRef idx="0">
            <a:schemeClr val="dk1"/>
          </a:effectRef>
          <a:fontRef idx="minor">
            <a:schemeClr val="tx1"/>
          </a:fontRef>
        </p:style>
      </p:cxnSp>
      <p:cxnSp>
        <p:nvCxnSpPr>
          <p:cNvPr id="2" name="Straight Connector 87">
            <a:extLst>
              <a:ext uri="{FF2B5EF4-FFF2-40B4-BE49-F238E27FC236}">
                <a16:creationId xmlns:a16="http://schemas.microsoft.com/office/drawing/2014/main" id="{D2B8D8C7-3E04-41E5-88CC-2975EC1D21C7}"/>
              </a:ext>
            </a:extLst>
          </p:cNvPr>
          <p:cNvCxnSpPr/>
          <p:nvPr/>
        </p:nvCxnSpPr>
        <p:spPr>
          <a:xfrm rot="5400000">
            <a:off x="3744119" y="5912644"/>
            <a:ext cx="71438" cy="0"/>
          </a:xfrm>
          <a:prstGeom prst="line">
            <a:avLst/>
          </a:prstGeom>
        </p:spPr>
        <p:style>
          <a:lnRef idx="1">
            <a:schemeClr val="dk1"/>
          </a:lnRef>
          <a:fillRef idx="0">
            <a:schemeClr val="dk1"/>
          </a:fillRef>
          <a:effectRef idx="0">
            <a:schemeClr val="dk1"/>
          </a:effectRef>
          <a:fontRef idx="minor">
            <a:schemeClr val="tx1"/>
          </a:fontRef>
        </p:style>
      </p:cxnSp>
      <p:cxnSp>
        <p:nvCxnSpPr>
          <p:cNvPr id="76" name="Straight Connector 75">
            <a:extLst>
              <a:ext uri="{FF2B5EF4-FFF2-40B4-BE49-F238E27FC236}">
                <a16:creationId xmlns:a16="http://schemas.microsoft.com/office/drawing/2014/main" id="{4B2D2751-7429-4E73-9C97-DC5C66720477}"/>
              </a:ext>
            </a:extLst>
          </p:cNvPr>
          <p:cNvCxnSpPr/>
          <p:nvPr/>
        </p:nvCxnSpPr>
        <p:spPr>
          <a:xfrm>
            <a:off x="1908175" y="5302250"/>
            <a:ext cx="71438" cy="1588"/>
          </a:xfrm>
          <a:prstGeom prst="line">
            <a:avLst/>
          </a:prstGeom>
        </p:spPr>
        <p:style>
          <a:lnRef idx="1">
            <a:schemeClr val="dk1"/>
          </a:lnRef>
          <a:fillRef idx="0">
            <a:schemeClr val="dk1"/>
          </a:fillRef>
          <a:effectRef idx="0">
            <a:schemeClr val="dk1"/>
          </a:effectRef>
          <a:fontRef idx="minor">
            <a:schemeClr val="tx1"/>
          </a:fontRef>
        </p:style>
      </p:cxnSp>
      <p:cxnSp>
        <p:nvCxnSpPr>
          <p:cNvPr id="78" name="Straight Connector 77">
            <a:extLst>
              <a:ext uri="{FF2B5EF4-FFF2-40B4-BE49-F238E27FC236}">
                <a16:creationId xmlns:a16="http://schemas.microsoft.com/office/drawing/2014/main" id="{290AF0DB-6402-4035-9B2C-23EDD2D6ECED}"/>
              </a:ext>
            </a:extLst>
          </p:cNvPr>
          <p:cNvCxnSpPr/>
          <p:nvPr/>
        </p:nvCxnSpPr>
        <p:spPr>
          <a:xfrm rot="10800000">
            <a:off x="1908175" y="4652963"/>
            <a:ext cx="71438" cy="1587"/>
          </a:xfrm>
          <a:prstGeom prst="line">
            <a:avLst/>
          </a:prstGeom>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A8B19738-1DB0-49E2-B3CE-1BEF0619D85C}"/>
              </a:ext>
            </a:extLst>
          </p:cNvPr>
          <p:cNvCxnSpPr/>
          <p:nvPr/>
        </p:nvCxnSpPr>
        <p:spPr>
          <a:xfrm rot="10800000">
            <a:off x="1908175" y="3429000"/>
            <a:ext cx="71438" cy="1588"/>
          </a:xfrm>
          <a:prstGeom prst="line">
            <a:avLst/>
          </a:prstGeom>
        </p:spPr>
        <p:style>
          <a:lnRef idx="1">
            <a:schemeClr val="dk1"/>
          </a:lnRef>
          <a:fillRef idx="0">
            <a:schemeClr val="dk1"/>
          </a:fillRef>
          <a:effectRef idx="0">
            <a:schemeClr val="dk1"/>
          </a:effectRef>
          <a:fontRef idx="minor">
            <a:schemeClr val="tx1"/>
          </a:fontRef>
        </p:style>
      </p:cxnSp>
      <p:cxnSp>
        <p:nvCxnSpPr>
          <p:cNvPr id="3" name="Straight Connector 77">
            <a:extLst>
              <a:ext uri="{FF2B5EF4-FFF2-40B4-BE49-F238E27FC236}">
                <a16:creationId xmlns:a16="http://schemas.microsoft.com/office/drawing/2014/main" id="{3D4280E1-5301-46EB-89BD-06424C049452}"/>
              </a:ext>
            </a:extLst>
          </p:cNvPr>
          <p:cNvCxnSpPr/>
          <p:nvPr/>
        </p:nvCxnSpPr>
        <p:spPr>
          <a:xfrm rot="10800000">
            <a:off x="1908175" y="4005263"/>
            <a:ext cx="71438" cy="0"/>
          </a:xfrm>
          <a:prstGeom prst="line">
            <a:avLst/>
          </a:prstGeom>
        </p:spPr>
        <p:style>
          <a:lnRef idx="1">
            <a:schemeClr val="dk1"/>
          </a:lnRef>
          <a:fillRef idx="0">
            <a:schemeClr val="dk1"/>
          </a:fillRef>
          <a:effectRef idx="0">
            <a:schemeClr val="dk1"/>
          </a:effectRef>
          <a:fontRef idx="minor">
            <a:schemeClr val="tx1"/>
          </a:fontRef>
        </p:style>
      </p:cxnSp>
      <p:sp>
        <p:nvSpPr>
          <p:cNvPr id="20520" name="Rectangle 135"/>
          <p:cNvSpPr>
            <a:spLocks noChangeArrowheads="1"/>
          </p:cNvSpPr>
          <p:nvPr/>
        </p:nvSpPr>
        <p:spPr bwMode="auto">
          <a:xfrm>
            <a:off x="1403350" y="3284538"/>
            <a:ext cx="64928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latin typeface="Times New Roman" panose="02020603050405020304" pitchFamily="18" charset="0"/>
                <a:cs typeface="Arial" panose="020B0604020202020204" pitchFamily="34" charset="0"/>
              </a:rPr>
              <a:t>100</a:t>
            </a:r>
            <a:endParaRPr lang="en-US" altLang="zh-CN" sz="1400" b="1"/>
          </a:p>
        </p:txBody>
      </p:sp>
      <p:sp>
        <p:nvSpPr>
          <p:cNvPr id="20521" name="Rectangle 136"/>
          <p:cNvSpPr>
            <a:spLocks noChangeArrowheads="1"/>
          </p:cNvSpPr>
          <p:nvPr/>
        </p:nvSpPr>
        <p:spPr bwMode="auto">
          <a:xfrm>
            <a:off x="1403350" y="3932238"/>
            <a:ext cx="43338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latin typeface="Times New Roman" panose="02020603050405020304" pitchFamily="18" charset="0"/>
                <a:cs typeface="Arial" panose="020B0604020202020204" pitchFamily="34" charset="0"/>
              </a:rPr>
              <a:t>75</a:t>
            </a:r>
            <a:endParaRPr lang="en-US" altLang="zh-CN" sz="1400" b="1"/>
          </a:p>
        </p:txBody>
      </p:sp>
      <p:sp>
        <p:nvSpPr>
          <p:cNvPr id="20522" name="Rectangle 137"/>
          <p:cNvSpPr>
            <a:spLocks noChangeArrowheads="1"/>
          </p:cNvSpPr>
          <p:nvPr/>
        </p:nvSpPr>
        <p:spPr bwMode="auto">
          <a:xfrm>
            <a:off x="1403350" y="4579938"/>
            <a:ext cx="43338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latin typeface="Times New Roman" panose="02020603050405020304" pitchFamily="18" charset="0"/>
                <a:cs typeface="Arial" panose="020B0604020202020204" pitchFamily="34" charset="0"/>
              </a:rPr>
              <a:t>50</a:t>
            </a:r>
            <a:endParaRPr lang="en-US" altLang="zh-CN" sz="1400" b="1"/>
          </a:p>
        </p:txBody>
      </p:sp>
      <p:sp>
        <p:nvSpPr>
          <p:cNvPr id="20523" name="Rectangle 138"/>
          <p:cNvSpPr>
            <a:spLocks noChangeArrowheads="1"/>
          </p:cNvSpPr>
          <p:nvPr/>
        </p:nvSpPr>
        <p:spPr bwMode="auto">
          <a:xfrm>
            <a:off x="1403350" y="5156200"/>
            <a:ext cx="43338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latin typeface="Times New Roman" panose="02020603050405020304" pitchFamily="18" charset="0"/>
                <a:cs typeface="Arial" panose="020B0604020202020204" pitchFamily="34" charset="0"/>
              </a:rPr>
              <a:t>25</a:t>
            </a:r>
            <a:endParaRPr lang="en-US" altLang="zh-CN" sz="1400" b="1"/>
          </a:p>
        </p:txBody>
      </p:sp>
      <p:graphicFrame>
        <p:nvGraphicFramePr>
          <p:cNvPr id="24715" name="Group 139">
            <a:extLst>
              <a:ext uri="{FF2B5EF4-FFF2-40B4-BE49-F238E27FC236}">
                <a16:creationId xmlns:a16="http://schemas.microsoft.com/office/drawing/2014/main" id="{FDE9D665-71DB-4502-A423-044B51648177}"/>
              </a:ext>
            </a:extLst>
          </p:cNvPr>
          <p:cNvGraphicFramePr>
            <a:graphicFrameLocks noGrp="1"/>
          </p:cNvGraphicFramePr>
          <p:nvPr>
            <p:ph sz="quarter" idx="3"/>
          </p:nvPr>
        </p:nvGraphicFramePr>
        <p:xfrm>
          <a:off x="1763713" y="5876925"/>
          <a:ext cx="4038600" cy="392113"/>
        </p:xfrm>
        <a:graphic>
          <a:graphicData uri="http://schemas.openxmlformats.org/drawingml/2006/table">
            <a:tbl>
              <a:tblPr/>
              <a:tblGrid>
                <a:gridCol w="4038600">
                  <a:extLst>
                    <a:ext uri="{9D8B030D-6E8A-4147-A177-3AD203B41FA5}">
                      <a16:colId xmlns:a16="http://schemas.microsoft.com/office/drawing/2014/main" val="20000"/>
                    </a:ext>
                  </a:extLst>
                </a:gridCol>
              </a:tblGrid>
              <a:tr h="39211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Arial" charset="0"/>
                          <a:ea typeface="宋体" pitchFamily="2" charset="-122"/>
                          <a:cs typeface="Arial" charset="0"/>
                        </a:rPr>
                        <a:t>0           25           50           75         100</a:t>
                      </a:r>
                      <a:endParaRPr kumimoji="0" lang="en-US" altLang="zh-CN" sz="1200" b="1" i="0" u="none" strike="noStrike" cap="none" normalizeH="0" baseline="0">
                        <a:ln>
                          <a:noFill/>
                        </a:ln>
                        <a:solidFill>
                          <a:schemeClr val="tx1"/>
                        </a:solidFill>
                        <a:effectLst/>
                        <a:latin typeface="Arial" charset="0"/>
                        <a:ea typeface="宋体" pitchFamily="2" charset="-122"/>
                      </a:endParaRPr>
                    </a:p>
                  </a:txBody>
                  <a:tcPr anchor="b" horzOverflow="overflow">
                    <a:lnL cap="flat">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0526" name="Line 146"/>
          <p:cNvSpPr>
            <a:spLocks noChangeShapeType="1"/>
          </p:cNvSpPr>
          <p:nvPr/>
        </p:nvSpPr>
        <p:spPr bwMode="auto">
          <a:xfrm flipV="1">
            <a:off x="1908175" y="4652963"/>
            <a:ext cx="1871663" cy="1296987"/>
          </a:xfrm>
          <a:prstGeom prst="line">
            <a:avLst/>
          </a:prstGeom>
          <a:noFill/>
          <a:ln w="9525">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7" name="Line 147"/>
          <p:cNvSpPr>
            <a:spLocks noChangeShapeType="1"/>
          </p:cNvSpPr>
          <p:nvPr/>
        </p:nvSpPr>
        <p:spPr bwMode="auto">
          <a:xfrm flipH="1">
            <a:off x="3779838" y="3429000"/>
            <a:ext cx="647700" cy="1223963"/>
          </a:xfrm>
          <a:prstGeom prst="line">
            <a:avLst/>
          </a:prstGeom>
          <a:noFill/>
          <a:ln w="9525">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8" name="Line 148"/>
          <p:cNvSpPr>
            <a:spLocks noChangeShapeType="1"/>
          </p:cNvSpPr>
          <p:nvPr/>
        </p:nvSpPr>
        <p:spPr bwMode="auto">
          <a:xfrm flipV="1">
            <a:off x="1908175" y="5589588"/>
            <a:ext cx="1150938" cy="360362"/>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9" name="Line 149"/>
          <p:cNvSpPr>
            <a:spLocks noChangeShapeType="1"/>
          </p:cNvSpPr>
          <p:nvPr/>
        </p:nvSpPr>
        <p:spPr bwMode="auto">
          <a:xfrm flipV="1">
            <a:off x="3059113" y="3429000"/>
            <a:ext cx="1368425" cy="2160588"/>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30" name="Rectangle 150"/>
          <p:cNvSpPr>
            <a:spLocks noChangeArrowheads="1"/>
          </p:cNvSpPr>
          <p:nvPr/>
        </p:nvSpPr>
        <p:spPr bwMode="auto">
          <a:xfrm>
            <a:off x="4211638" y="3933825"/>
            <a:ext cx="17272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solidFill>
                  <a:srgbClr val="FF3300"/>
                </a:solidFill>
                <a:latin typeface="Calibri" panose="020F0502020204030204" pitchFamily="34" charset="0"/>
              </a:rPr>
              <a:t>Country 1</a:t>
            </a:r>
          </a:p>
        </p:txBody>
      </p:sp>
      <p:sp>
        <p:nvSpPr>
          <p:cNvPr id="20531" name="Rectangle 151"/>
          <p:cNvSpPr>
            <a:spLocks noChangeArrowheads="1"/>
          </p:cNvSpPr>
          <p:nvPr/>
        </p:nvSpPr>
        <p:spPr bwMode="auto">
          <a:xfrm>
            <a:off x="2195513" y="4868863"/>
            <a:ext cx="17272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solidFill>
                  <a:srgbClr val="008000"/>
                </a:solidFill>
                <a:latin typeface="Calibri" panose="020F0502020204030204" pitchFamily="34" charset="0"/>
              </a:rPr>
              <a:t>Country 2</a:t>
            </a:r>
          </a:p>
        </p:txBody>
      </p:sp>
      <p:sp>
        <p:nvSpPr>
          <p:cNvPr id="20532" name="Rectangle 152"/>
          <p:cNvSpPr>
            <a:spLocks noChangeArrowheads="1"/>
          </p:cNvSpPr>
          <p:nvPr/>
        </p:nvSpPr>
        <p:spPr bwMode="auto">
          <a:xfrm>
            <a:off x="395288" y="3357563"/>
            <a:ext cx="12239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latin typeface="Times New Roman" panose="02020603050405020304" pitchFamily="18" charset="0"/>
              </a:rPr>
              <a:t>Cumulative </a:t>
            </a:r>
          </a:p>
          <a:p>
            <a:pPr eaLnBrk="1" fontAlgn="b" hangingPunct="1">
              <a:spcBef>
                <a:spcPct val="0"/>
              </a:spcBef>
              <a:buFontTx/>
              <a:buNone/>
            </a:pPr>
            <a:r>
              <a:rPr lang="en-US" altLang="zh-CN" sz="1400" b="1">
                <a:latin typeface="Times New Roman" panose="02020603050405020304" pitchFamily="18" charset="0"/>
              </a:rPr>
              <a:t>% of income</a:t>
            </a:r>
          </a:p>
        </p:txBody>
      </p:sp>
      <p:sp>
        <p:nvSpPr>
          <p:cNvPr id="20533" name="Rectangle 153"/>
          <p:cNvSpPr>
            <a:spLocks noChangeArrowheads="1"/>
          </p:cNvSpPr>
          <p:nvPr/>
        </p:nvSpPr>
        <p:spPr bwMode="auto">
          <a:xfrm>
            <a:off x="4572000" y="5876925"/>
            <a:ext cx="17272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latin typeface="Times New Roman" panose="02020603050405020304" pitchFamily="18" charset="0"/>
              </a:rPr>
              <a:t>Cumulative </a:t>
            </a:r>
          </a:p>
          <a:p>
            <a:pPr eaLnBrk="1" fontAlgn="b" hangingPunct="1">
              <a:spcBef>
                <a:spcPct val="0"/>
              </a:spcBef>
              <a:buFontTx/>
              <a:buNone/>
            </a:pPr>
            <a:r>
              <a:rPr lang="en-US" altLang="zh-CN" sz="1400" b="1">
                <a:latin typeface="Times New Roman" panose="02020603050405020304" pitchFamily="18" charset="0"/>
              </a:rPr>
              <a:t>% of Population</a:t>
            </a:r>
          </a:p>
        </p:txBody>
      </p:sp>
      <p:sp>
        <p:nvSpPr>
          <p:cNvPr id="20534" name="Line 154"/>
          <p:cNvSpPr>
            <a:spLocks noChangeShapeType="1"/>
          </p:cNvSpPr>
          <p:nvPr/>
        </p:nvSpPr>
        <p:spPr bwMode="auto">
          <a:xfrm>
            <a:off x="3779838" y="4652963"/>
            <a:ext cx="647700" cy="0"/>
          </a:xfrm>
          <a:prstGeom prst="line">
            <a:avLst/>
          </a:prstGeom>
          <a:noFill/>
          <a:ln w="9525">
            <a:solidFill>
              <a:srgbClr val="008000"/>
            </a:solidFill>
            <a:prstDash val="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20535" name="Line 156"/>
          <p:cNvSpPr>
            <a:spLocks noChangeShapeType="1"/>
          </p:cNvSpPr>
          <p:nvPr/>
        </p:nvSpPr>
        <p:spPr bwMode="auto">
          <a:xfrm flipH="1">
            <a:off x="3779838" y="4652963"/>
            <a:ext cx="0" cy="1296987"/>
          </a:xfrm>
          <a:prstGeom prst="line">
            <a:avLst/>
          </a:prstGeom>
          <a:noFill/>
          <a:ln w="9525">
            <a:solidFill>
              <a:srgbClr val="008000"/>
            </a:solidFill>
            <a:prstDash val="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20536" name="Line 157"/>
          <p:cNvSpPr>
            <a:spLocks noChangeShapeType="1"/>
          </p:cNvSpPr>
          <p:nvPr/>
        </p:nvSpPr>
        <p:spPr bwMode="auto">
          <a:xfrm>
            <a:off x="3059113" y="5589588"/>
            <a:ext cx="1368425" cy="0"/>
          </a:xfrm>
          <a:prstGeom prst="line">
            <a:avLst/>
          </a:prstGeom>
          <a:noFill/>
          <a:ln w="9525">
            <a:solidFill>
              <a:srgbClr val="FF3300"/>
            </a:solidFill>
            <a:prstDash val="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20537" name="Line 158"/>
          <p:cNvSpPr>
            <a:spLocks noChangeShapeType="1"/>
          </p:cNvSpPr>
          <p:nvPr/>
        </p:nvSpPr>
        <p:spPr bwMode="auto">
          <a:xfrm>
            <a:off x="3059113" y="5589588"/>
            <a:ext cx="0" cy="287337"/>
          </a:xfrm>
          <a:prstGeom prst="line">
            <a:avLst/>
          </a:prstGeom>
          <a:noFill/>
          <a:ln w="9525">
            <a:solidFill>
              <a:srgbClr val="FF3300"/>
            </a:solidFill>
            <a:prstDash val="dashDot"/>
            <a:round/>
            <a:headEnd/>
            <a:tailEnd/>
          </a:ln>
          <a:extLst>
            <a:ext uri="{909E8E84-426E-40DD-AFC4-6F175D3DCCD1}">
              <a14:hiddenFill xmlns:a14="http://schemas.microsoft.com/office/drawing/2010/main">
                <a:noFill/>
              </a14:hiddenFill>
            </a:ext>
          </a:extLst>
        </p:spPr>
        <p:txBody>
          <a:bodyPr/>
          <a:lstStyle/>
          <a:p>
            <a:endParaRPr lang="en-US"/>
          </a:p>
        </p:txBody>
      </p:sp>
      <p:pic>
        <p:nvPicPr>
          <p:cNvPr id="20538" name="Picture 159"/>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87675" y="4221163"/>
            <a:ext cx="219075"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39" name="Rectangle 160"/>
          <p:cNvSpPr>
            <a:spLocks noChangeArrowheads="1"/>
          </p:cNvSpPr>
          <p:nvPr/>
        </p:nvSpPr>
        <p:spPr bwMode="auto">
          <a:xfrm>
            <a:off x="3276600" y="3789363"/>
            <a:ext cx="64928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latin typeface="Times New Roman" panose="02020603050405020304" pitchFamily="18" charset="0"/>
                <a:cs typeface="Arial" panose="020B0604020202020204" pitchFamily="34" charset="0"/>
              </a:rPr>
              <a:t>line</a:t>
            </a:r>
            <a:endParaRPr lang="en-US" altLang="zh-CN" sz="1400"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idx="1"/>
          </p:nvPr>
        </p:nvSpPr>
        <p:spPr>
          <a:xfrm>
            <a:off x="457200" y="620713"/>
            <a:ext cx="8229600" cy="5505450"/>
          </a:xfrm>
        </p:spPr>
        <p:txBody>
          <a:bodyPr/>
          <a:lstStyle/>
          <a:p>
            <a:pPr eaLnBrk="1" hangingPunct="1"/>
            <a:r>
              <a:rPr lang="en-US" altLang="en-US" sz="2800">
                <a:latin typeface="Times New Roman" panose="02020603050405020304" pitchFamily="18" charset="0"/>
              </a:rPr>
              <a:t>Gini coefficient:    </a:t>
            </a:r>
            <a:endParaRPr lang="en-US" altLang="zh-CN" sz="1800">
              <a:latin typeface="Times New Roman" panose="02020603050405020304" pitchFamily="18" charset="0"/>
            </a:endParaRPr>
          </a:p>
          <a:p>
            <a:pPr lvl="1" eaLnBrk="1" hangingPunct="1">
              <a:buFontTx/>
              <a:buNone/>
            </a:pPr>
            <a:r>
              <a:rPr lang="en-US" altLang="en-US" sz="2400">
                <a:latin typeface="Times New Roman" panose="02020603050405020304" pitchFamily="18" charset="0"/>
              </a:rPr>
              <a:t>Country 1: </a:t>
            </a:r>
            <a:endParaRPr lang="en-US" altLang="zh-CN" sz="1600">
              <a:latin typeface="Times New Roman" panose="02020603050405020304" pitchFamily="18" charset="0"/>
            </a:endParaRPr>
          </a:p>
          <a:p>
            <a:pPr lvl="1" eaLnBrk="1" hangingPunct="1">
              <a:buFontTx/>
              <a:buNone/>
            </a:pPr>
            <a:r>
              <a:rPr lang="en-US" altLang="en-US" sz="2400">
                <a:latin typeface="Times New Roman" panose="02020603050405020304" pitchFamily="18" charset="0"/>
              </a:rPr>
              <a:t>    Area A: 5000- [(50</a:t>
            </a:r>
            <a:r>
              <a:rPr lang="en-US" altLang="en-US" sz="2400">
                <a:latin typeface="Times New Roman" panose="02020603050405020304" pitchFamily="18" charset="0"/>
                <a:cs typeface="Arial" panose="020B0604020202020204" pitchFamily="34" charset="0"/>
              </a:rPr>
              <a:t>×10</a:t>
            </a:r>
            <a:r>
              <a:rPr lang="en-US" altLang="en-US" sz="2400">
                <a:latin typeface="Times New Roman" panose="02020603050405020304" pitchFamily="18" charset="0"/>
              </a:rPr>
              <a:t>) </a:t>
            </a:r>
            <a:r>
              <a:rPr lang="en-US" altLang="en-US" sz="2400">
                <a:latin typeface="Times New Roman" panose="02020603050405020304" pitchFamily="18" charset="0"/>
                <a:cs typeface="Arial" panose="020B0604020202020204" pitchFamily="34" charset="0"/>
              </a:rPr>
              <a:t>÷2 +50×10+(50×90) ÷2 ] = 5000-3000=2000</a:t>
            </a:r>
          </a:p>
          <a:p>
            <a:pPr eaLnBrk="1" hangingPunct="1"/>
            <a:endParaRPr lang="en-US" altLang="zh-CN" sz="1800">
              <a:latin typeface="Times New Roman" panose="02020603050405020304" pitchFamily="18" charset="0"/>
            </a:endParaRPr>
          </a:p>
          <a:p>
            <a:pPr eaLnBrk="1" hangingPunct="1"/>
            <a:endParaRPr lang="en-US" altLang="zh-CN" sz="1800">
              <a:latin typeface="Times New Roman" panose="02020603050405020304" pitchFamily="18" charset="0"/>
            </a:endParaRPr>
          </a:p>
          <a:p>
            <a:pPr lvl="1" eaLnBrk="1" hangingPunct="1">
              <a:buFontTx/>
              <a:buNone/>
            </a:pPr>
            <a:r>
              <a:rPr lang="en-US" altLang="en-US" sz="2400">
                <a:latin typeface="Times New Roman" panose="02020603050405020304" pitchFamily="18" charset="0"/>
              </a:rPr>
              <a:t>Country 2: </a:t>
            </a:r>
          </a:p>
          <a:p>
            <a:pPr lvl="1" eaLnBrk="1" hangingPunct="1">
              <a:buFontTx/>
              <a:buNone/>
            </a:pPr>
            <a:r>
              <a:rPr lang="en-US" altLang="en-US" sz="2400">
                <a:latin typeface="Times New Roman" panose="02020603050405020304" pitchFamily="18" charset="0"/>
              </a:rPr>
              <a:t>   Area A: 5000- [(75</a:t>
            </a:r>
            <a:r>
              <a:rPr lang="en-US" altLang="en-US" sz="2400">
                <a:latin typeface="Times New Roman" panose="02020603050405020304" pitchFamily="18" charset="0"/>
                <a:cs typeface="Arial" panose="020B0604020202020204" pitchFamily="34" charset="0"/>
              </a:rPr>
              <a:t>×45</a:t>
            </a:r>
            <a:r>
              <a:rPr lang="en-US" altLang="en-US" sz="2400">
                <a:latin typeface="Times New Roman" panose="02020603050405020304" pitchFamily="18" charset="0"/>
              </a:rPr>
              <a:t>) </a:t>
            </a:r>
            <a:r>
              <a:rPr lang="en-US" altLang="en-US" sz="2400">
                <a:latin typeface="Times New Roman" panose="02020603050405020304" pitchFamily="18" charset="0"/>
                <a:cs typeface="Arial" panose="020B0604020202020204" pitchFamily="34" charset="0"/>
              </a:rPr>
              <a:t>÷2 +25×45+(25×55) ÷2 ] = 5000-3500=1500</a:t>
            </a:r>
          </a:p>
        </p:txBody>
      </p:sp>
      <p:sp>
        <p:nvSpPr>
          <p:cNvPr id="21507"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pic>
        <p:nvPicPr>
          <p:cNvPr id="21508"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16238" y="2276475"/>
            <a:ext cx="287972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Rectangle 7"/>
          <p:cNvSpPr>
            <a:spLocks noChangeArrowheads="1"/>
          </p:cNvSpPr>
          <p:nvPr/>
        </p:nvSpPr>
        <p:spPr bwMode="auto">
          <a:xfrm>
            <a:off x="0" y="30305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pic>
        <p:nvPicPr>
          <p:cNvPr id="21510" name="Picture 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16238" y="4292600"/>
            <a:ext cx="2881312"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rrowheads="1"/>
          </p:cNvSpPr>
          <p:nvPr>
            <p:ph type="title"/>
          </p:nvPr>
        </p:nvSpPr>
        <p:spPr>
          <a:xfrm>
            <a:off x="468313" y="404813"/>
            <a:ext cx="8496300" cy="576262"/>
          </a:xfrm>
        </p:spPr>
        <p:txBody>
          <a:bodyPr/>
          <a:lstStyle/>
          <a:p>
            <a:r>
              <a:rPr lang="en-US" altLang="zh-CN" sz="2400">
                <a:ea typeface="Arial Unicode MS" panose="020B0604020202020204" pitchFamily="34" charset="-128"/>
                <a:cs typeface="Arial" panose="020B0604020202020204" pitchFamily="34" charset="0"/>
              </a:rPr>
              <a:t>Income GINI Coefficients in Selected Regions (2000-2010)</a:t>
            </a:r>
          </a:p>
        </p:txBody>
      </p:sp>
      <p:graphicFrame>
        <p:nvGraphicFramePr>
          <p:cNvPr id="330755" name="Group 3">
            <a:extLst>
              <a:ext uri="{FF2B5EF4-FFF2-40B4-BE49-F238E27FC236}">
                <a16:creationId xmlns:a16="http://schemas.microsoft.com/office/drawing/2014/main" id="{53DDBD8C-60A1-49D4-802C-5741E7EF14BF}"/>
              </a:ext>
            </a:extLst>
          </p:cNvPr>
          <p:cNvGraphicFramePr>
            <a:graphicFrameLocks noGrp="1"/>
          </p:cNvGraphicFramePr>
          <p:nvPr>
            <p:ph type="tbl" idx="1"/>
            <p:extLst>
              <p:ext uri="{D42A27DB-BD31-4B8C-83A1-F6EECF244321}">
                <p14:modId xmlns:p14="http://schemas.microsoft.com/office/powerpoint/2010/main" val="1388677234"/>
              </p:ext>
            </p:extLst>
          </p:nvPr>
        </p:nvGraphicFramePr>
        <p:xfrm>
          <a:off x="374650" y="1700213"/>
          <a:ext cx="8229600" cy="3427412"/>
        </p:xfrm>
        <a:graphic>
          <a:graphicData uri="http://schemas.openxmlformats.org/drawingml/2006/table">
            <a:tbl>
              <a:tblPr/>
              <a:tblGrid>
                <a:gridCol w="2057400">
                  <a:extLst>
                    <a:ext uri="{9D8B030D-6E8A-4147-A177-3AD203B41FA5}">
                      <a16:colId xmlns:a16="http://schemas.microsoft.com/office/drawing/2014/main" val="20000"/>
                    </a:ext>
                  </a:extLst>
                </a:gridCol>
                <a:gridCol w="1985392">
                  <a:extLst>
                    <a:ext uri="{9D8B030D-6E8A-4147-A177-3AD203B41FA5}">
                      <a16:colId xmlns:a16="http://schemas.microsoft.com/office/drawing/2014/main" val="20001"/>
                    </a:ext>
                  </a:extLst>
                </a:gridCol>
                <a:gridCol w="2129408">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65773">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1800" b="1" i="0" u="none" strike="noStrike" cap="none" normalizeH="0" baseline="0" dirty="0">
                          <a:ln>
                            <a:noFill/>
                          </a:ln>
                          <a:solidFill>
                            <a:srgbClr val="7030A0"/>
                          </a:solidFill>
                          <a:effectLst/>
                          <a:latin typeface="Arial Unicode MS" pitchFamily="34" charset="-128"/>
                          <a:ea typeface="Arial Unicode MS" pitchFamily="34" charset="-128"/>
                          <a:cs typeface="Arial" charset="0"/>
                        </a:rPr>
                        <a:t>Country</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1800" b="1" i="0" u="none" strike="noStrike" cap="none" normalizeH="0" baseline="0" dirty="0">
                          <a:ln>
                            <a:noFill/>
                          </a:ln>
                          <a:solidFill>
                            <a:schemeClr val="tx1"/>
                          </a:solidFill>
                          <a:effectLst/>
                          <a:latin typeface="Arial Unicode MS" pitchFamily="34" charset="-128"/>
                          <a:ea typeface="Arial Unicode MS" pitchFamily="34" charset="-128"/>
                          <a:cs typeface="Arial" charset="0"/>
                        </a:rPr>
                        <a:t>GINI</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1800" b="1" i="0" u="none" strike="noStrike" cap="none" normalizeH="0" baseline="0" dirty="0">
                          <a:ln>
                            <a:noFill/>
                          </a:ln>
                          <a:solidFill>
                            <a:srgbClr val="7030A0"/>
                          </a:solidFill>
                          <a:effectLst/>
                          <a:latin typeface="Arial Unicode MS" pitchFamily="34" charset="-128"/>
                          <a:ea typeface="Arial Unicode MS" pitchFamily="34" charset="-128"/>
                          <a:cs typeface="Arial" charset="0"/>
                        </a:rPr>
                        <a:t>Country</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Arial Unicode MS" pitchFamily="34" charset="-128"/>
                          <a:ea typeface="Arial Unicode MS" pitchFamily="34" charset="-128"/>
                          <a:cs typeface="Arial" charset="0"/>
                        </a:rPr>
                        <a:t>GINI</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5349">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Arial Unicode MS" pitchFamily="34" charset="-128"/>
                          <a:ea typeface="Arial Unicode MS" pitchFamily="34" charset="-128"/>
                          <a:cs typeface="Arial" charset="0"/>
                        </a:rPr>
                        <a:t>Hungary</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1800" b="1" i="0" u="none" strike="noStrike" cap="none" normalizeH="0" baseline="0" dirty="0">
                          <a:ln>
                            <a:noFill/>
                          </a:ln>
                          <a:solidFill>
                            <a:schemeClr val="tx1"/>
                          </a:solidFill>
                          <a:effectLst/>
                          <a:latin typeface="Arial Unicode MS" pitchFamily="34" charset="-128"/>
                          <a:ea typeface="Arial Unicode MS" pitchFamily="34" charset="-128"/>
                          <a:cs typeface="Arial" charset="0"/>
                        </a:rPr>
                        <a:t>30.0</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Arial Unicode MS" pitchFamily="34" charset="-128"/>
                          <a:ea typeface="Arial Unicode MS" pitchFamily="34" charset="-128"/>
                          <a:cs typeface="Arial" charset="0"/>
                        </a:rPr>
                        <a:t>USA</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1800" b="1" i="0" u="none" strike="noStrike" cap="none" normalizeH="0" baseline="0" dirty="0">
                          <a:ln>
                            <a:noFill/>
                          </a:ln>
                          <a:solidFill>
                            <a:schemeClr val="tx1"/>
                          </a:solidFill>
                          <a:effectLst/>
                          <a:latin typeface="Arial Unicode MS" pitchFamily="34" charset="-128"/>
                          <a:ea typeface="Arial Unicode MS" pitchFamily="34" charset="-128"/>
                          <a:cs typeface="Arial" charset="0"/>
                        </a:rPr>
                        <a:t>40.8</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5349">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Arial Unicode MS" pitchFamily="34" charset="-128"/>
                          <a:ea typeface="Arial Unicode MS" pitchFamily="34" charset="-128"/>
                          <a:cs typeface="Arial" charset="0"/>
                        </a:rPr>
                        <a:t>Japan</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1800" b="1" i="0" u="none" strike="noStrike" cap="none" normalizeH="0" baseline="0" dirty="0">
                          <a:ln>
                            <a:noFill/>
                          </a:ln>
                          <a:solidFill>
                            <a:schemeClr val="tx1"/>
                          </a:solidFill>
                          <a:effectLst/>
                          <a:latin typeface="Arial Unicode MS" pitchFamily="34" charset="-128"/>
                          <a:ea typeface="Arial Unicode MS" pitchFamily="34" charset="-128"/>
                          <a:cs typeface="Arial" charset="0"/>
                        </a:rPr>
                        <a:t>24.9</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1800" b="1" i="0" u="none" strike="noStrike" kern="1200" cap="none" normalizeH="0" baseline="0" dirty="0">
                          <a:ln>
                            <a:noFill/>
                          </a:ln>
                          <a:solidFill>
                            <a:srgbClr val="7030A0"/>
                          </a:solidFill>
                          <a:effectLst/>
                          <a:latin typeface="Arial Unicode MS" pitchFamily="34" charset="-128"/>
                          <a:ea typeface="Arial Unicode MS" pitchFamily="34" charset="-128"/>
                          <a:cs typeface="Arial" charset="0"/>
                        </a:rPr>
                        <a:t>China</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1800" b="1" i="0" u="none" strike="noStrike" cap="none" normalizeH="0" baseline="0" dirty="0">
                          <a:ln>
                            <a:noFill/>
                          </a:ln>
                          <a:solidFill>
                            <a:schemeClr val="tx1"/>
                          </a:solidFill>
                          <a:effectLst/>
                          <a:latin typeface="Arial Unicode MS" pitchFamily="34" charset="-128"/>
                          <a:ea typeface="Arial Unicode MS" pitchFamily="34" charset="-128"/>
                          <a:cs typeface="Arial" charset="0"/>
                        </a:rPr>
                        <a:t>41.5</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5349">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Arial Unicode MS" pitchFamily="34" charset="-128"/>
                          <a:ea typeface="Arial Unicode MS" pitchFamily="34" charset="-128"/>
                          <a:cs typeface="Arial" charset="0"/>
                        </a:rPr>
                        <a:t>Sweden</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1800" b="1" i="0" u="none" strike="noStrike" cap="none" normalizeH="0" baseline="0" dirty="0">
                          <a:ln>
                            <a:noFill/>
                          </a:ln>
                          <a:solidFill>
                            <a:schemeClr val="tx1"/>
                          </a:solidFill>
                          <a:effectLst/>
                          <a:latin typeface="Arial Unicode MS" pitchFamily="34" charset="-128"/>
                          <a:ea typeface="Arial Unicode MS" pitchFamily="34" charset="-128"/>
                          <a:cs typeface="Arial" charset="0"/>
                        </a:rPr>
                        <a:t>25.0</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Arial Unicode MS" pitchFamily="34" charset="-128"/>
                          <a:ea typeface="Arial Unicode MS" pitchFamily="34" charset="-128"/>
                          <a:cs typeface="Arial" charset="0"/>
                        </a:rPr>
                        <a:t>Singapore</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1800" b="1" i="0" u="none" strike="noStrike" cap="none" normalizeH="0" baseline="0" dirty="0">
                          <a:ln>
                            <a:noFill/>
                          </a:ln>
                          <a:solidFill>
                            <a:schemeClr val="tx1"/>
                          </a:solidFill>
                          <a:effectLst/>
                          <a:latin typeface="Arial Unicode MS" pitchFamily="34" charset="-128"/>
                          <a:ea typeface="Arial Unicode MS" pitchFamily="34" charset="-128"/>
                          <a:cs typeface="Arial" charset="0"/>
                        </a:rPr>
                        <a:t>42.5</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5349">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Arial Unicode MS" pitchFamily="34" charset="-128"/>
                          <a:ea typeface="Arial Unicode MS" pitchFamily="34" charset="-128"/>
                          <a:cs typeface="Arial" charset="0"/>
                        </a:rPr>
                        <a:t>Germany</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1800" b="1" i="0" u="none" strike="noStrike" cap="none" normalizeH="0" baseline="0" dirty="0">
                          <a:ln>
                            <a:noFill/>
                          </a:ln>
                          <a:solidFill>
                            <a:schemeClr val="tx1"/>
                          </a:solidFill>
                          <a:effectLst/>
                          <a:latin typeface="Arial Unicode MS" pitchFamily="34" charset="-128"/>
                          <a:ea typeface="Arial Unicode MS" pitchFamily="34" charset="-128"/>
                          <a:cs typeface="Arial" charset="0"/>
                        </a:rPr>
                        <a:t>28.3</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Arial Unicode MS" pitchFamily="34" charset="-128"/>
                          <a:ea typeface="Arial Unicode MS" pitchFamily="34" charset="-128"/>
                          <a:cs typeface="Arial" charset="0"/>
                        </a:rPr>
                        <a:t>Russia</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1800" b="1" i="0" u="none" strike="noStrike" cap="none" normalizeH="0" baseline="0" dirty="0">
                          <a:ln>
                            <a:noFill/>
                          </a:ln>
                          <a:solidFill>
                            <a:schemeClr val="tx1"/>
                          </a:solidFill>
                          <a:effectLst/>
                          <a:latin typeface="Arial Unicode MS" pitchFamily="34" charset="-128"/>
                          <a:ea typeface="Arial Unicode MS" pitchFamily="34" charset="-128"/>
                          <a:cs typeface="Arial" charset="0"/>
                        </a:rPr>
                        <a:t>43.7</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5349">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Arial Unicode MS" pitchFamily="34" charset="-128"/>
                          <a:ea typeface="Arial Unicode MS" pitchFamily="34" charset="-128"/>
                          <a:cs typeface="Arial" charset="0"/>
                        </a:rPr>
                        <a:t>France</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1800" b="1" i="0" u="none" strike="noStrike" cap="none" normalizeH="0" baseline="0" dirty="0">
                          <a:ln>
                            <a:noFill/>
                          </a:ln>
                          <a:solidFill>
                            <a:schemeClr val="tx1"/>
                          </a:solidFill>
                          <a:effectLst/>
                          <a:latin typeface="Arial Unicode MS" pitchFamily="34" charset="-128"/>
                          <a:ea typeface="Arial Unicode MS" pitchFamily="34" charset="-128"/>
                          <a:cs typeface="Arial" charset="0"/>
                        </a:rPr>
                        <a:t>32.7</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Arial Unicode MS" pitchFamily="34" charset="-128"/>
                          <a:ea typeface="Arial Unicode MS" pitchFamily="34" charset="-128"/>
                          <a:cs typeface="Arial" charset="0"/>
                        </a:rPr>
                        <a:t>Hong Kong </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1800" b="1" i="0" u="none" strike="noStrike" cap="none" normalizeH="0" baseline="0" dirty="0">
                          <a:ln>
                            <a:noFill/>
                          </a:ln>
                          <a:solidFill>
                            <a:schemeClr val="tx1"/>
                          </a:solidFill>
                          <a:effectLst/>
                          <a:latin typeface="Arial Unicode MS" pitchFamily="34" charset="-128"/>
                          <a:ea typeface="Arial Unicode MS" pitchFamily="34" charset="-128"/>
                          <a:cs typeface="Arial" charset="0"/>
                        </a:rPr>
                        <a:t>43.4</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7447">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Arial Unicode MS" pitchFamily="34" charset="-128"/>
                          <a:ea typeface="Arial Unicode MS" pitchFamily="34" charset="-128"/>
                          <a:cs typeface="Arial" charset="0"/>
                        </a:rPr>
                        <a:t>UK </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1800" b="1" i="0" u="none" strike="noStrike" cap="none" normalizeH="0" baseline="0" dirty="0">
                          <a:ln>
                            <a:noFill/>
                          </a:ln>
                          <a:solidFill>
                            <a:schemeClr val="tx1"/>
                          </a:solidFill>
                          <a:effectLst/>
                          <a:latin typeface="Arial Unicode MS" pitchFamily="34" charset="-128"/>
                          <a:ea typeface="Arial Unicode MS" pitchFamily="34" charset="-128"/>
                          <a:cs typeface="Arial" charset="0"/>
                        </a:rPr>
                        <a:t>36.0</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Arial Unicode MS" pitchFamily="34" charset="-128"/>
                          <a:ea typeface="Arial Unicode MS" pitchFamily="34" charset="-128"/>
                          <a:cs typeface="Arial" charset="0"/>
                        </a:rPr>
                        <a:t>Mexico </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1800" b="1" i="0" u="none" strike="noStrike" cap="none" normalizeH="0" baseline="0" dirty="0">
                          <a:ln>
                            <a:noFill/>
                          </a:ln>
                          <a:solidFill>
                            <a:schemeClr val="tx1"/>
                          </a:solidFill>
                          <a:effectLst/>
                          <a:latin typeface="Arial Unicode MS" pitchFamily="34" charset="-128"/>
                          <a:ea typeface="Arial Unicode MS" pitchFamily="34" charset="-128"/>
                          <a:cs typeface="Arial" charset="0"/>
                        </a:rPr>
                        <a:t>51.6</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7447">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Arial Unicode MS" pitchFamily="34" charset="-128"/>
                          <a:ea typeface="Arial Unicode MS" pitchFamily="34" charset="-128"/>
                          <a:cs typeface="Arial" charset="0"/>
                        </a:rPr>
                        <a:t>India</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GB" altLang="zh-CN" sz="1800" b="1" i="0" u="none" strike="noStrike" cap="none" normalizeH="0" baseline="0" dirty="0">
                          <a:ln>
                            <a:noFill/>
                          </a:ln>
                          <a:solidFill>
                            <a:schemeClr val="tx1"/>
                          </a:solidFill>
                          <a:effectLst/>
                          <a:latin typeface="Arial Unicode MS" pitchFamily="34" charset="-128"/>
                          <a:ea typeface="Arial Unicode MS" pitchFamily="34" charset="-128"/>
                          <a:cs typeface="Arial" charset="0"/>
                        </a:rPr>
                        <a:t>36.8</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Arial Unicode MS" pitchFamily="34" charset="-128"/>
                          <a:ea typeface="Arial Unicode MS" pitchFamily="34" charset="-128"/>
                          <a:cs typeface="Arial" charset="0"/>
                        </a:rPr>
                        <a:t>Brazil </a:t>
                      </a: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Arial Unicode MS" pitchFamily="34" charset="-128"/>
                          <a:ea typeface="Arial Unicode MS" pitchFamily="34" charset="-128"/>
                          <a:cs typeface="Arial" charset="0"/>
                        </a:rPr>
                        <a:t>55.0</a:t>
                      </a:r>
                      <a:endParaRPr kumimoji="0" lang="en-GB" altLang="zh-CN" sz="1800" b="1" i="0" u="none" strike="noStrike" cap="none" normalizeH="0" baseline="0" dirty="0">
                        <a:ln>
                          <a:noFill/>
                        </a:ln>
                        <a:solidFill>
                          <a:schemeClr val="tx1"/>
                        </a:solidFill>
                        <a:effectLst/>
                        <a:latin typeface="Arial Unicode MS" pitchFamily="34" charset="-128"/>
                        <a:ea typeface="Arial Unicode MS" pitchFamily="34" charset="-128"/>
                        <a:cs typeface="Arial" charset="0"/>
                      </a:endParaRPr>
                    </a:p>
                  </a:txBody>
                  <a:tcPr marT="45719" marB="45719" anchor="b" horzOverflow="overflow">
                    <a:lnL w="12700" cap="flat" cmpd="sng" algn="ctr">
                      <a:solidFill>
                        <a:srgbClr val="0066CC"/>
                      </a:solidFill>
                      <a:prstDash val="solid"/>
                      <a:round/>
                      <a:headEnd type="none" w="med" len="med"/>
                      <a:tailEnd type="none" w="med" len="med"/>
                    </a:lnL>
                    <a:lnR w="12700" cap="flat" cmpd="sng" algn="ctr">
                      <a:solidFill>
                        <a:srgbClr val="0066CC"/>
                      </a:solidFill>
                      <a:prstDash val="solid"/>
                      <a:round/>
                      <a:headEnd type="none" w="med" len="med"/>
                      <a:tailEnd type="none" w="med" len="med"/>
                    </a:lnR>
                    <a:lnT w="12700" cap="flat" cmpd="sng" algn="ctr">
                      <a:solidFill>
                        <a:srgbClr val="0066CC"/>
                      </a:solidFill>
                      <a:prstDash val="solid"/>
                      <a:round/>
                      <a:headEnd type="none" w="med" len="med"/>
                      <a:tailEnd type="none" w="med" len="med"/>
                    </a:lnT>
                    <a:lnB w="12700" cap="flat" cmpd="sng" algn="ctr">
                      <a:solidFill>
                        <a:srgbClr val="0066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2578" name="Rectangle 48"/>
          <p:cNvSpPr>
            <a:spLocks noChangeArrowheads="1"/>
          </p:cNvSpPr>
          <p:nvPr/>
        </p:nvSpPr>
        <p:spPr bwMode="auto">
          <a:xfrm>
            <a:off x="395288" y="5732463"/>
            <a:ext cx="8569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chemeClr val="tx2"/>
                </a:solidFill>
                <a:latin typeface="Arial Unicode MS" panose="020B0604020202020204" pitchFamily="34" charset="-128"/>
                <a:ea typeface="Arial Unicode MS" panose="020B0604020202020204" pitchFamily="34" charset="-128"/>
                <a:cs typeface="Arial Unicode MS" panose="020B0604020202020204" pitchFamily="34" charset="-128"/>
              </a:rPr>
              <a:t>Sources</a:t>
            </a:r>
            <a:r>
              <a:rPr lang="zh-CN" altLang="en-US">
                <a:solidFill>
                  <a:schemeClr val="tx2"/>
                </a:solidFill>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zh-CN">
                <a:solidFill>
                  <a:schemeClr val="tx2"/>
                </a:solidFill>
                <a:latin typeface="Arial Unicode MS" panose="020B0604020202020204" pitchFamily="34" charset="-128"/>
                <a:ea typeface="Arial Unicode MS" panose="020B0604020202020204" pitchFamily="34" charset="-128"/>
                <a:cs typeface="Arial Unicode MS" panose="020B0604020202020204" pitchFamily="34" charset="-128"/>
              </a:rPr>
              <a:t>United Nations: </a:t>
            </a:r>
            <a:r>
              <a:rPr lang="en-US" altLang="zh-CN" i="1">
                <a:solidFill>
                  <a:schemeClr val="tx2"/>
                </a:solidFill>
                <a:latin typeface="Arial Unicode MS" panose="020B0604020202020204" pitchFamily="34" charset="-128"/>
                <a:ea typeface="Arial Unicode MS" panose="020B0604020202020204" pitchFamily="34" charset="-128"/>
                <a:cs typeface="Arial Unicode MS" panose="020B0604020202020204" pitchFamily="34" charset="-128"/>
              </a:rPr>
              <a:t>Human Development Report</a:t>
            </a:r>
            <a:r>
              <a:rPr lang="en-US" altLang="zh-CN">
                <a:solidFill>
                  <a:schemeClr val="tx2"/>
                </a:solidFill>
                <a:latin typeface="Arial Unicode MS" panose="020B0604020202020204" pitchFamily="34" charset="-128"/>
                <a:ea typeface="Arial Unicode MS" panose="020B0604020202020204" pitchFamily="34" charset="-128"/>
                <a:cs typeface="Arial Unicode MS" panose="020B0604020202020204" pitchFamily="34" charset="-128"/>
              </a:rPr>
              <a:t> 2010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p:cNvSpPr>
            <a:spLocks noGrp="1" noChangeArrowheads="1"/>
          </p:cNvSpPr>
          <p:nvPr>
            <p:ph idx="1"/>
          </p:nvPr>
        </p:nvSpPr>
        <p:spPr>
          <a:xfrm>
            <a:off x="457200" y="908050"/>
            <a:ext cx="8229600" cy="3878263"/>
          </a:xfrm>
        </p:spPr>
        <p:txBody>
          <a:bodyPr/>
          <a:lstStyle/>
          <a:p>
            <a:endParaRPr lang="en-US" altLang="en-US" sz="2800" dirty="0">
              <a:latin typeface="Times New Roman" panose="02020603050405020304" pitchFamily="18" charset="0"/>
              <a:cs typeface="Times New Roman" panose="02020603050405020304" pitchFamily="18" charset="0"/>
            </a:endParaRPr>
          </a:p>
          <a:p>
            <a:pPr marL="0" indent="0">
              <a:buNone/>
            </a:pPr>
            <a:r>
              <a:rPr lang="en-US" altLang="zh-CN" sz="2800" dirty="0">
                <a:latin typeface="Times New Roman" panose="02020603050405020304" pitchFamily="18" charset="0"/>
              </a:rPr>
              <a:t>3. Poverty</a:t>
            </a:r>
          </a:p>
          <a:p>
            <a:endParaRPr lang="en-US" altLang="en-US" sz="2800" dirty="0">
              <a:latin typeface="Times New Roman" panose="02020603050405020304" pitchFamily="18" charset="0"/>
              <a:cs typeface="Times New Roman" panose="02020603050405020304" pitchFamily="18" charset="0"/>
            </a:endParaRPr>
          </a:p>
          <a:p>
            <a:r>
              <a:rPr lang="en-US" altLang="en-US" sz="2800" dirty="0">
                <a:latin typeface="Times New Roman" panose="02020603050405020304" pitchFamily="18" charset="0"/>
                <a:cs typeface="Times New Roman" panose="02020603050405020304" pitchFamily="18" charset="0"/>
              </a:rPr>
              <a:t>Desirable properties for poverty measures:</a:t>
            </a:r>
          </a:p>
          <a:p>
            <a:pPr lvl="1"/>
            <a:r>
              <a:rPr lang="en-US" altLang="en-US" sz="2400" dirty="0">
                <a:latin typeface="Times New Roman" panose="02020603050405020304" pitchFamily="18" charset="0"/>
                <a:cs typeface="Times New Roman" panose="02020603050405020304" pitchFamily="18" charset="0"/>
              </a:rPr>
              <a:t>Anonymity</a:t>
            </a:r>
          </a:p>
          <a:p>
            <a:pPr lvl="1"/>
            <a:r>
              <a:rPr lang="en-US" altLang="en-US" sz="2400" dirty="0">
                <a:latin typeface="Times New Roman" panose="02020603050405020304" pitchFamily="18" charset="0"/>
                <a:cs typeface="Times New Roman" panose="02020603050405020304" pitchFamily="18" charset="0"/>
              </a:rPr>
              <a:t>Population independence</a:t>
            </a:r>
          </a:p>
          <a:p>
            <a:pPr lvl="1"/>
            <a:r>
              <a:rPr lang="en-US" altLang="en-US" sz="2400" dirty="0">
                <a:latin typeface="Times New Roman" panose="02020603050405020304" pitchFamily="18" charset="0"/>
                <a:cs typeface="Times New Roman" panose="02020603050405020304" pitchFamily="18" charset="0"/>
              </a:rPr>
              <a:t>Monotonicity</a:t>
            </a:r>
          </a:p>
          <a:p>
            <a:pPr lvl="1"/>
            <a:r>
              <a:rPr lang="en-US" altLang="en-US" sz="2400" dirty="0">
                <a:latin typeface="Times New Roman" panose="02020603050405020304" pitchFamily="18" charset="0"/>
                <a:cs typeface="Times New Roman" panose="02020603050405020304" pitchFamily="18" charset="0"/>
              </a:rPr>
              <a:t>Distributional sensitivity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type="body" sz="half" idx="1"/>
          </p:nvPr>
        </p:nvSpPr>
        <p:spPr>
          <a:xfrm>
            <a:off x="323850" y="765175"/>
            <a:ext cx="8075613" cy="5327650"/>
          </a:xfrm>
        </p:spPr>
        <p:txBody>
          <a:bodyPr/>
          <a:lstStyle/>
          <a:p>
            <a:pPr marL="609600" indent="-609600" eaLnBrk="1" hangingPunct="1"/>
            <a:r>
              <a:rPr lang="en-US" altLang="zh-CN" sz="2400" dirty="0">
                <a:latin typeface="Times New Roman" panose="02020603050405020304" pitchFamily="18" charset="0"/>
              </a:rPr>
              <a:t>A condition below the minimum acceptable standard.</a:t>
            </a:r>
          </a:p>
          <a:p>
            <a:pPr marL="609600" indent="-609600" eaLnBrk="1" hangingPunct="1"/>
            <a:r>
              <a:rPr lang="en-US" altLang="zh-CN" sz="2400" dirty="0">
                <a:latin typeface="Times New Roman" panose="02020603050405020304" pitchFamily="18" charset="0"/>
              </a:rPr>
              <a:t>Poverty line measured by income level. </a:t>
            </a:r>
          </a:p>
          <a:p>
            <a:pPr marL="990600" lvl="1" indent="-533400" eaLnBrk="1" hangingPunct="1"/>
            <a:r>
              <a:rPr lang="en-US" altLang="zh-CN" sz="2400" dirty="0">
                <a:latin typeface="Times New Roman" panose="02020603050405020304" pitchFamily="18" charset="0"/>
              </a:rPr>
              <a:t>Example: The official poverty level for a family of three $ 13,860 in 2000 in the U.S..</a:t>
            </a:r>
          </a:p>
          <a:p>
            <a:pPr marL="990600" lvl="1" indent="-533400" eaLnBrk="1" hangingPunct="1">
              <a:buFontTx/>
              <a:buNone/>
            </a:pPr>
            <a:r>
              <a:rPr lang="en-US" altLang="zh-CN" sz="2400" dirty="0">
                <a:latin typeface="Times New Roman" panose="02020603050405020304" pitchFamily="18" charset="0"/>
              </a:rPr>
              <a:t>       $ 15,720 in 2005</a:t>
            </a:r>
          </a:p>
          <a:p>
            <a:pPr marL="990600" lvl="1" indent="-533400" eaLnBrk="1" hangingPunct="1">
              <a:buFontTx/>
              <a:buNone/>
            </a:pPr>
            <a:r>
              <a:rPr lang="en-US" altLang="en-US" sz="2400" dirty="0">
                <a:latin typeface="Times New Roman" panose="02020603050405020304" pitchFamily="18" charset="0"/>
                <a:cs typeface="Times New Roman" panose="02020603050405020304" pitchFamily="18" charset="0"/>
              </a:rPr>
              <a:t>       $ 18,310 in 2009               22,890 Alaska 21,060 Hawaii</a:t>
            </a:r>
          </a:p>
          <a:p>
            <a:pPr marL="990600" lvl="1" indent="-533400" eaLnBrk="1" hangingPunct="1">
              <a:buFontTx/>
              <a:buNone/>
            </a:pPr>
            <a:r>
              <a:rPr lang="en-US" altLang="en-US" sz="2400" dirty="0">
                <a:latin typeface="Times New Roman" panose="02020603050405020304" pitchFamily="18" charset="0"/>
                <a:cs typeface="Times New Roman" panose="02020603050405020304" pitchFamily="18" charset="0"/>
              </a:rPr>
              <a:t>       $ 19,090 in 2012               23,870            21,960</a:t>
            </a:r>
          </a:p>
          <a:p>
            <a:pPr marL="990600" lvl="1" indent="-533400" eaLnBrk="1" hangingPunct="1">
              <a:buFontTx/>
              <a:buNone/>
            </a:pPr>
            <a:r>
              <a:rPr lang="en-US" altLang="zh-CN" sz="2400" dirty="0">
                <a:latin typeface="Times New Roman" panose="02020603050405020304" pitchFamily="18" charset="0"/>
                <a:cs typeface="Times New Roman" panose="02020603050405020304" pitchFamily="18" charset="0"/>
              </a:rPr>
              <a:t>         48 States and District Columbia</a:t>
            </a:r>
          </a:p>
          <a:p>
            <a:pPr marL="990600" lvl="1" indent="-533400" eaLnBrk="1" hangingPunct="1"/>
            <a:r>
              <a:rPr lang="en-US" altLang="zh-CN" sz="2400" dirty="0">
                <a:latin typeface="Times New Roman" panose="02020603050405020304" pitchFamily="18" charset="0"/>
              </a:rPr>
              <a:t>The official poverty level are updated each year to reflect the price change.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a:extLst>
              <a:ext uri="{FF2B5EF4-FFF2-40B4-BE49-F238E27FC236}">
                <a16:creationId xmlns:a16="http://schemas.microsoft.com/office/drawing/2014/main" id="{34E20E59-EAD0-451E-BE93-49F1E3E16142}"/>
              </a:ext>
            </a:extLst>
          </p:cNvPr>
          <p:cNvSpPr>
            <a:spLocks noGrp="1"/>
          </p:cNvSpPr>
          <p:nvPr>
            <p:ph idx="1"/>
          </p:nvPr>
        </p:nvSpPr>
        <p:spPr>
          <a:xfrm>
            <a:off x="457200" y="214313"/>
            <a:ext cx="8229600" cy="5911850"/>
          </a:xfrm>
        </p:spPr>
        <p:txBody>
          <a:bodyPr/>
          <a:lstStyle/>
          <a:p>
            <a:pPr eaLnBrk="1" hangingPunct="1">
              <a:defRPr/>
            </a:pPr>
            <a:endParaRPr lang="en-US" sz="2400" dirty="0">
              <a:latin typeface="Times New Roman" pitchFamily="18" charset="0"/>
              <a:cs typeface="Times New Roman" pitchFamily="18" charset="0"/>
            </a:endParaRPr>
          </a:p>
          <a:p>
            <a:pPr eaLnBrk="1" hangingPunct="1">
              <a:defRPr/>
            </a:pPr>
            <a:endParaRPr lang="en-US" sz="2400" dirty="0">
              <a:latin typeface="Times New Roman" pitchFamily="18" charset="0"/>
              <a:cs typeface="Times New Roman" pitchFamily="18" charset="0"/>
            </a:endParaRPr>
          </a:p>
          <a:p>
            <a:pPr eaLnBrk="1" hangingPunct="1">
              <a:defRPr/>
            </a:pPr>
            <a:r>
              <a:rPr lang="en-US" sz="2400" dirty="0">
                <a:latin typeface="Times New Roman" pitchFamily="18" charset="0"/>
                <a:cs typeface="Times New Roman" pitchFamily="18" charset="0"/>
              </a:rPr>
              <a:t>The US Census declared that, in 2011, the official poverty rate was 15.0 percent. There were 46.2 million people in poverty.</a:t>
            </a:r>
          </a:p>
          <a:p>
            <a:pPr eaLnBrk="1" hangingPunct="1">
              <a:defRPr/>
            </a:pPr>
            <a:endParaRPr lang="en-US" sz="2400" dirty="0">
              <a:latin typeface="Times New Roman" pitchFamily="18" charset="0"/>
              <a:cs typeface="Times New Roman" pitchFamily="18" charset="0"/>
            </a:endParaRPr>
          </a:p>
          <a:p>
            <a:pPr eaLnBrk="1" hangingPunct="1">
              <a:defRPr/>
            </a:pPr>
            <a:r>
              <a:rPr lang="en-US" sz="2400" dirty="0">
                <a:latin typeface="Times New Roman" pitchFamily="18" charset="0"/>
                <a:cs typeface="Times New Roman" pitchFamily="18" charset="0"/>
              </a:rPr>
              <a:t>The poverty rate in 2011 </a:t>
            </a:r>
          </a:p>
          <a:p>
            <a:pPr marL="0" indent="0" eaLnBrk="1" hangingPunct="1">
              <a:buFontTx/>
              <a:buNone/>
              <a:defRPr/>
            </a:pPr>
            <a:r>
              <a:rPr lang="en-US" sz="2400" dirty="0">
                <a:latin typeface="Times New Roman" pitchFamily="18" charset="0"/>
                <a:cs typeface="Times New Roman" pitchFamily="18" charset="0"/>
              </a:rPr>
              <a:t>     for children under age 18 was 21.9% </a:t>
            </a:r>
          </a:p>
          <a:p>
            <a:pPr marL="0" indent="0" eaLnBrk="1" hangingPunct="1">
              <a:buFontTx/>
              <a:buNone/>
              <a:defRPr/>
            </a:pPr>
            <a:r>
              <a:rPr lang="en-US" sz="2400" dirty="0">
                <a:latin typeface="Times New Roman" pitchFamily="18" charset="0"/>
                <a:cs typeface="Times New Roman" pitchFamily="18" charset="0"/>
              </a:rPr>
              <a:t>     for people aged 18 to 64 was 13.7%</a:t>
            </a:r>
          </a:p>
          <a:p>
            <a:pPr marL="0" indent="0" eaLnBrk="1" hangingPunct="1">
              <a:buFontTx/>
              <a:buNone/>
              <a:defRPr/>
            </a:pPr>
            <a:r>
              <a:rPr lang="en-US" sz="2400" dirty="0">
                <a:latin typeface="Times New Roman" pitchFamily="18" charset="0"/>
                <a:cs typeface="Times New Roman" pitchFamily="18" charset="0"/>
              </a:rPr>
              <a:t>     for people aged 65 and older was 8.7%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p:txBody>
          <a:bodyPr/>
          <a:lstStyle/>
          <a:p>
            <a:r>
              <a:rPr lang="en-US" altLang="en-US" sz="2400"/>
              <a:t>Global and Regional Poverty Trends, 1981–2010</a:t>
            </a:r>
            <a:endParaRPr lang="en-GB" altLang="en-US" sz="2400"/>
          </a:p>
        </p:txBody>
      </p:sp>
      <p:pic>
        <p:nvPicPr>
          <p:cNvPr id="26627" name="Picture 1" descr="fig05_13.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905000"/>
            <a:ext cx="8229600" cy="354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6">
            <a:extLst>
              <a:ext uri="{FF2B5EF4-FFF2-40B4-BE49-F238E27FC236}">
                <a16:creationId xmlns:a16="http://schemas.microsoft.com/office/drawing/2014/main" id="{1C8491A0-49C2-48D8-87EB-E60EC12147DC}"/>
              </a:ext>
            </a:extLst>
          </p:cNvPr>
          <p:cNvSpPr>
            <a:spLocks noGrp="1" noRot="1" noChangeAspect="1" noMove="1" noResize="1" noEditPoints="1" noAdjustHandles="1" noChangeArrowheads="1" noChangeShapeType="1" noTextEdit="1"/>
          </p:cNvSpPr>
          <p:nvPr>
            <p:ph type="body" idx="4294967295"/>
          </p:nvPr>
        </p:nvSpPr>
        <p:spPr>
          <a:xfrm>
            <a:off x="457200" y="1235670"/>
            <a:ext cx="8229600" cy="5073650"/>
          </a:xfrm>
          <a:blipFill>
            <a:blip r:embed="rId3"/>
            <a:stretch>
              <a:fillRect l="-963" t="-841"/>
            </a:stretch>
          </a:blipFill>
        </p:spPr>
        <p:txBody>
          <a:bodyPr/>
          <a:lstStyle/>
          <a:p>
            <a:r>
              <a:rPr lang="en-US">
                <a:noFill/>
              </a:rPr>
              <a:t> </a:t>
            </a:r>
          </a:p>
        </p:txBody>
      </p:sp>
      <p:graphicFrame>
        <p:nvGraphicFramePr>
          <p:cNvPr id="28675" name="Object 2"/>
          <p:cNvGraphicFramePr>
            <a:graphicFrameLocks noChangeAspect="1"/>
          </p:cNvGraphicFramePr>
          <p:nvPr/>
        </p:nvGraphicFramePr>
        <p:xfrm>
          <a:off x="2895600" y="3502025"/>
          <a:ext cx="3233738" cy="719138"/>
        </p:xfrm>
        <a:graphic>
          <a:graphicData uri="http://schemas.openxmlformats.org/presentationml/2006/ole">
            <mc:AlternateContent xmlns:mc="http://schemas.openxmlformats.org/markup-compatibility/2006">
              <mc:Choice xmlns:v="urn:schemas-microsoft-com:vml" Requires="v">
                <p:oleObj name="Equation" r:id="rId4" imgW="1234080" imgH="292320" progId="Equation.3">
                  <p:embed/>
                </p:oleObj>
              </mc:Choice>
              <mc:Fallback>
                <p:oleObj name="Equation" r:id="rId4" imgW="1234080" imgH="29232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3502025"/>
                        <a:ext cx="3233738"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6" name="Rectangle 5"/>
          <p:cNvSpPr txBox="1">
            <a:spLocks noChangeArrowheads="1"/>
          </p:cNvSpPr>
          <p:nvPr/>
        </p:nvSpPr>
        <p:spPr bwMode="auto">
          <a:xfrm>
            <a:off x="1371600" y="0"/>
            <a:ext cx="7543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a:ea typeface="ヒラギノ角ゴ Pro W3" pitchFamily="122" charset="-128"/>
              </a:rPr>
              <a:t>Measuring Absolute Poverty</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p:txBody>
          <a:bodyPr/>
          <a:lstStyle/>
          <a:p>
            <a:pPr eaLnBrk="1" hangingPunct="1"/>
            <a:r>
              <a:rPr lang="en-US" altLang="en-US" sz="3200"/>
              <a:t>Measuring the Total Poverty Gap</a:t>
            </a:r>
            <a:endParaRPr lang="en-GB" altLang="en-US" sz="3200"/>
          </a:p>
        </p:txBody>
      </p:sp>
      <p:pic>
        <p:nvPicPr>
          <p:cNvPr id="30723" name="Picture 1" descr="fig05_06.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981200"/>
            <a:ext cx="7772400" cy="345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4" name="Rectangle 1030">
            <a:extLst>
              <a:ext uri="{FF2B5EF4-FFF2-40B4-BE49-F238E27FC236}">
                <a16:creationId xmlns:a16="http://schemas.microsoft.com/office/drawing/2014/main" id="{E3BFC1E7-8CAC-4403-9FFE-AA08B77DE264}"/>
              </a:ext>
            </a:extLst>
          </p:cNvPr>
          <p:cNvSpPr>
            <a:spLocks noGrp="1" noRot="1" noChangeAspect="1" noMove="1" noResize="1" noEditPoints="1" noAdjustHandles="1" noChangeArrowheads="1" noChangeShapeType="1" noTextEdit="1"/>
          </p:cNvSpPr>
          <p:nvPr>
            <p:ph type="body" idx="4294967295"/>
          </p:nvPr>
        </p:nvSpPr>
        <p:spPr>
          <a:blipFill>
            <a:blip r:embed="rId3"/>
            <a:stretch>
              <a:fillRect l="-1333" t="-1482"/>
            </a:stretch>
          </a:blipFill>
        </p:spPr>
        <p:txBody>
          <a:bodyPr/>
          <a:lstStyle/>
          <a:p>
            <a:r>
              <a:rPr lang="en-US">
                <a:noFill/>
              </a:rPr>
              <a:t> </a:t>
            </a:r>
          </a:p>
        </p:txBody>
      </p:sp>
      <p:graphicFrame>
        <p:nvGraphicFramePr>
          <p:cNvPr id="32771" name="Object 2"/>
          <p:cNvGraphicFramePr>
            <a:graphicFrameLocks noChangeAspect="1"/>
          </p:cNvGraphicFramePr>
          <p:nvPr/>
        </p:nvGraphicFramePr>
        <p:xfrm>
          <a:off x="3276600" y="2325688"/>
          <a:ext cx="1965325" cy="887412"/>
        </p:xfrm>
        <a:graphic>
          <a:graphicData uri="http://schemas.openxmlformats.org/presentationml/2006/ole">
            <mc:AlternateContent xmlns:mc="http://schemas.openxmlformats.org/markup-compatibility/2006">
              <mc:Choice xmlns:v="urn:schemas-microsoft-com:vml" Requires="v">
                <p:oleObj name="Equation" r:id="rId4" imgW="804240" imgH="356400" progId="Equation.DSMT4">
                  <p:embed/>
                </p:oleObj>
              </mc:Choice>
              <mc:Fallback>
                <p:oleObj name="Equation" r:id="rId4" imgW="804240" imgH="3564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2325688"/>
                        <a:ext cx="1965325" cy="887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72" name="Rectangle 5"/>
          <p:cNvSpPr txBox="1">
            <a:spLocks noChangeArrowheads="1"/>
          </p:cNvSpPr>
          <p:nvPr/>
        </p:nvSpPr>
        <p:spPr bwMode="auto">
          <a:xfrm>
            <a:off x="1371600" y="0"/>
            <a:ext cx="7543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a:ea typeface="ヒラギノ角ゴ Pro W3" pitchFamily="122" charset="-128"/>
              </a:rPr>
              <a:t>Measuring Absolute Poverty</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1030">
            <a:extLst>
              <a:ext uri="{FF2B5EF4-FFF2-40B4-BE49-F238E27FC236}">
                <a16:creationId xmlns:a16="http://schemas.microsoft.com/office/drawing/2014/main" id="{61B1243F-03D6-4CF6-9EF7-EFDDA597954C}"/>
              </a:ext>
            </a:extLst>
          </p:cNvPr>
          <p:cNvSpPr>
            <a:spLocks noGrp="1" noRot="1" noChangeAspect="1" noMove="1" noResize="1" noEditPoints="1" noAdjustHandles="1" noChangeArrowheads="1" noChangeShapeType="1" noTextEdit="1"/>
          </p:cNvSpPr>
          <p:nvPr>
            <p:ph type="body" idx="4294967295"/>
          </p:nvPr>
        </p:nvSpPr>
        <p:spPr>
          <a:blipFill>
            <a:blip r:embed="rId3"/>
            <a:stretch>
              <a:fillRect l="-963" t="-943"/>
            </a:stretch>
          </a:blipFill>
        </p:spPr>
        <p:txBody>
          <a:bodyPr/>
          <a:lstStyle/>
          <a:p>
            <a:r>
              <a:rPr lang="en-US">
                <a:noFill/>
              </a:rPr>
              <a:t> </a:t>
            </a:r>
          </a:p>
        </p:txBody>
      </p:sp>
      <p:graphicFrame>
        <p:nvGraphicFramePr>
          <p:cNvPr id="34819" name="Object 2"/>
          <p:cNvGraphicFramePr>
            <a:graphicFrameLocks noChangeAspect="1"/>
          </p:cNvGraphicFramePr>
          <p:nvPr/>
        </p:nvGraphicFramePr>
        <p:xfrm>
          <a:off x="3048000" y="2743200"/>
          <a:ext cx="1828800" cy="882650"/>
        </p:xfrm>
        <a:graphic>
          <a:graphicData uri="http://schemas.openxmlformats.org/presentationml/2006/ole">
            <mc:AlternateContent xmlns:mc="http://schemas.openxmlformats.org/markup-compatibility/2006">
              <mc:Choice xmlns:v="urn:schemas-microsoft-com:vml" Requires="v">
                <p:oleObj name="Equation" r:id="rId4" imgW="722160" imgH="356400" progId="Equation.DSMT4">
                  <p:embed/>
                </p:oleObj>
              </mc:Choice>
              <mc:Fallback>
                <p:oleObj name="Equation" r:id="rId4" imgW="722160" imgH="3564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2743200"/>
                        <a:ext cx="182880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0" name="Rectangle 5"/>
          <p:cNvSpPr txBox="1">
            <a:spLocks noChangeArrowheads="1"/>
          </p:cNvSpPr>
          <p:nvPr/>
        </p:nvSpPr>
        <p:spPr bwMode="auto">
          <a:xfrm>
            <a:off x="1371600" y="0"/>
            <a:ext cx="7543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a:ea typeface="ヒラギノ角ゴ Pro W3" pitchFamily="122" charset="-128"/>
              </a:rPr>
              <a:t>Measuring Absolute Poverty</a:t>
            </a: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6"/>
          <p:cNvSpPr>
            <a:spLocks noGrp="1" noChangeArrowheads="1"/>
          </p:cNvSpPr>
          <p:nvPr>
            <p:ph type="body" idx="4294967295"/>
          </p:nvPr>
        </p:nvSpPr>
        <p:spPr/>
        <p:txBody>
          <a:bodyPr/>
          <a:lstStyle/>
          <a:p>
            <a:pPr eaLnBrk="1" hangingPunct="1"/>
            <a:r>
              <a:rPr lang="en-US" altLang="en-US" sz="2400" dirty="0"/>
              <a:t>The Foster-Greer-</a:t>
            </a:r>
            <a:r>
              <a:rPr lang="en-US" altLang="en-US" sz="2400" dirty="0" err="1"/>
              <a:t>Thorbecke</a:t>
            </a:r>
            <a:r>
              <a:rPr lang="en-US" altLang="en-US" sz="2400" dirty="0"/>
              <a:t> (FGT) index:</a:t>
            </a:r>
          </a:p>
          <a:p>
            <a:pPr lvl="1" eaLnBrk="1" hangingPunct="1"/>
            <a:endParaRPr lang="en-US" altLang="en-US" dirty="0"/>
          </a:p>
          <a:p>
            <a:pPr lvl="1" eaLnBrk="1" hangingPunct="1"/>
            <a:endParaRPr lang="en-US" altLang="en-US" dirty="0"/>
          </a:p>
          <a:p>
            <a:pPr lvl="1" eaLnBrk="1" hangingPunct="1">
              <a:buFontTx/>
              <a:buNone/>
            </a:pPr>
            <a:endParaRPr lang="en-US" altLang="en-US" dirty="0"/>
          </a:p>
          <a:p>
            <a:pPr lvl="1" eaLnBrk="1" hangingPunct="1"/>
            <a:r>
              <a:rPr lang="en-US" altLang="en-US" sz="2400" i="1" dirty="0">
                <a:latin typeface="Times New Roman" panose="02020603050405020304" pitchFamily="18" charset="0"/>
                <a:cs typeface="Times New Roman" panose="02020603050405020304" pitchFamily="18" charset="0"/>
              </a:rPr>
              <a:t>N</a:t>
            </a:r>
            <a:r>
              <a:rPr lang="en-US" altLang="en-US" sz="2400" dirty="0">
                <a:latin typeface="Times New Roman" panose="02020603050405020304" pitchFamily="18" charset="0"/>
                <a:cs typeface="Times New Roman" panose="02020603050405020304" pitchFamily="18" charset="0"/>
              </a:rPr>
              <a:t> is the number of persons, </a:t>
            </a:r>
            <a:r>
              <a:rPr lang="en-US" altLang="en-US" sz="2400" i="1" dirty="0">
                <a:latin typeface="Times New Roman" panose="02020603050405020304" pitchFamily="18" charset="0"/>
                <a:cs typeface="Times New Roman" panose="02020603050405020304" pitchFamily="18" charset="0"/>
              </a:rPr>
              <a:t>H</a:t>
            </a:r>
            <a:r>
              <a:rPr lang="en-US" altLang="en-US" sz="2400" dirty="0">
                <a:latin typeface="Times New Roman" panose="02020603050405020304" pitchFamily="18" charset="0"/>
                <a:cs typeface="Times New Roman" panose="02020603050405020304" pitchFamily="18" charset="0"/>
              </a:rPr>
              <a:t> is the number of poor persons, and α ≥0 is a parameter </a:t>
            </a:r>
          </a:p>
          <a:p>
            <a:pPr lvl="1" eaLnBrk="1" hangingPunct="1"/>
            <a:r>
              <a:rPr lang="en-US" altLang="en-US" sz="2400" dirty="0">
                <a:latin typeface="Times New Roman" panose="02020603050405020304" pitchFamily="18" charset="0"/>
                <a:cs typeface="Times New Roman" panose="02020603050405020304" pitchFamily="18" charset="0"/>
              </a:rPr>
              <a:t>When α=0, we get the headcount index measure</a:t>
            </a:r>
          </a:p>
          <a:p>
            <a:pPr lvl="1" eaLnBrk="1" hangingPunct="1"/>
            <a:r>
              <a:rPr lang="en-US" altLang="en-US" sz="2400" dirty="0">
                <a:latin typeface="Times New Roman" panose="02020603050405020304" pitchFamily="18" charset="0"/>
                <a:cs typeface="Times New Roman" panose="02020603050405020304" pitchFamily="18" charset="0"/>
              </a:rPr>
              <a:t>When α=2, we get the </a:t>
            </a:r>
            <a:r>
              <a:rPr lang="ja-JP" altLang="en-US" sz="2400">
                <a:latin typeface="Times New Roman" panose="02020603050405020304" pitchFamily="18" charset="0"/>
                <a:cs typeface="Times New Roman" panose="02020603050405020304" pitchFamily="18" charset="0"/>
              </a:rPr>
              <a:t>“</a:t>
            </a:r>
            <a:r>
              <a:rPr lang="en-US" altLang="en-US" sz="2400" dirty="0">
                <a:latin typeface="Times New Roman" panose="02020603050405020304" pitchFamily="18" charset="0"/>
                <a:cs typeface="Times New Roman" panose="02020603050405020304" pitchFamily="18" charset="0"/>
              </a:rPr>
              <a:t>P</a:t>
            </a:r>
            <a:r>
              <a:rPr lang="en-US" altLang="en-US" sz="2400" baseline="-25000" dirty="0">
                <a:latin typeface="Times New Roman" panose="02020603050405020304" pitchFamily="18" charset="0"/>
                <a:cs typeface="Times New Roman" panose="02020603050405020304" pitchFamily="18" charset="0"/>
              </a:rPr>
              <a:t>2</a:t>
            </a:r>
            <a:r>
              <a:rPr lang="ja-JP" altLang="en-US" sz="2400">
                <a:latin typeface="Times New Roman" panose="02020603050405020304" pitchFamily="18" charset="0"/>
                <a:cs typeface="Times New Roman" panose="02020603050405020304" pitchFamily="18" charset="0"/>
              </a:rPr>
              <a:t>”</a:t>
            </a:r>
            <a:r>
              <a:rPr lang="en-US" altLang="en-US" sz="2400" dirty="0">
                <a:latin typeface="Times New Roman" panose="02020603050405020304" pitchFamily="18" charset="0"/>
                <a:cs typeface="Times New Roman" panose="02020603050405020304" pitchFamily="18" charset="0"/>
              </a:rPr>
              <a:t> measure</a:t>
            </a:r>
          </a:p>
        </p:txBody>
      </p:sp>
      <p:graphicFrame>
        <p:nvGraphicFramePr>
          <p:cNvPr id="36867" name="Object 2"/>
          <p:cNvGraphicFramePr>
            <a:graphicFrameLocks noChangeAspect="1"/>
          </p:cNvGraphicFramePr>
          <p:nvPr/>
        </p:nvGraphicFramePr>
        <p:xfrm>
          <a:off x="2590800" y="2057400"/>
          <a:ext cx="3227388" cy="1317625"/>
        </p:xfrm>
        <a:graphic>
          <a:graphicData uri="http://schemas.openxmlformats.org/presentationml/2006/ole">
            <mc:AlternateContent xmlns:mc="http://schemas.openxmlformats.org/markup-compatibility/2006">
              <mc:Choice xmlns:v="urn:schemas-microsoft-com:vml" Requires="v">
                <p:oleObj name="Equation" r:id="rId3" imgW="1389600" imgH="557640" progId="Equation.DSMT4">
                  <p:embed/>
                </p:oleObj>
              </mc:Choice>
              <mc:Fallback>
                <p:oleObj name="Equation" r:id="rId3" imgW="1389600" imgH="55764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2057400"/>
                        <a:ext cx="3227388" cy="131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68" name="Rectangle 5"/>
          <p:cNvSpPr txBox="1">
            <a:spLocks noChangeArrowheads="1"/>
          </p:cNvSpPr>
          <p:nvPr/>
        </p:nvSpPr>
        <p:spPr bwMode="auto">
          <a:xfrm>
            <a:off x="1371600" y="0"/>
            <a:ext cx="7543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a:ea typeface="ヒラギノ角ゴ Pro W3" pitchFamily="122" charset="-128"/>
              </a:rPr>
              <a:t>Measuring Absolute Poverty</a:t>
            </a: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noChangeArrowheads="1"/>
          </p:cNvSpPr>
          <p:nvPr>
            <p:ph type="title"/>
          </p:nvPr>
        </p:nvSpPr>
        <p:spPr/>
        <p:txBody>
          <a:bodyPr/>
          <a:lstStyle/>
          <a:p>
            <a:r>
              <a:rPr lang="en-US" altLang="en-US" sz="3200"/>
              <a:t>Regional Poverty Incidence, 2010</a:t>
            </a:r>
          </a:p>
        </p:txBody>
      </p:sp>
      <p:pic>
        <p:nvPicPr>
          <p:cNvPr id="38915" name="Picture 3" descr="tbl05_04.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700213"/>
            <a:ext cx="8583613"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274638"/>
            <a:ext cx="8229600" cy="706437"/>
          </a:xfrm>
        </p:spPr>
        <p:txBody>
          <a:bodyPr/>
          <a:lstStyle/>
          <a:p>
            <a:pPr algn="l" eaLnBrk="1" hangingPunct="1"/>
            <a:r>
              <a:rPr lang="en-US" altLang="zh-CN" sz="3200">
                <a:latin typeface="Times New Roman" panose="02020603050405020304" pitchFamily="18" charset="0"/>
              </a:rPr>
              <a:t>Ⅲ. Poverty, inequality and social welfare</a:t>
            </a:r>
            <a:endParaRPr lang="en-US" altLang="zh-CN">
              <a:latin typeface="Times New Roman" panose="02020603050405020304" pitchFamily="18" charset="0"/>
            </a:endParaRPr>
          </a:p>
        </p:txBody>
      </p:sp>
      <p:sp>
        <p:nvSpPr>
          <p:cNvPr id="22531" name="Rectangle 3">
            <a:extLst>
              <a:ext uri="{FF2B5EF4-FFF2-40B4-BE49-F238E27FC236}">
                <a16:creationId xmlns:a16="http://schemas.microsoft.com/office/drawing/2014/main" id="{2A456E8F-FC31-47CA-B04F-630CE1A520FD}"/>
              </a:ext>
            </a:extLst>
          </p:cNvPr>
          <p:cNvSpPr>
            <a:spLocks noGrp="1" noChangeArrowheads="1"/>
          </p:cNvSpPr>
          <p:nvPr>
            <p:ph type="body" idx="1"/>
          </p:nvPr>
        </p:nvSpPr>
        <p:spPr>
          <a:xfrm>
            <a:off x="250825" y="1268413"/>
            <a:ext cx="8229600" cy="5089525"/>
          </a:xfrm>
        </p:spPr>
        <p:txBody>
          <a:bodyPr/>
          <a:lstStyle/>
          <a:p>
            <a:pPr marL="0" indent="0" eaLnBrk="1" hangingPunct="1">
              <a:lnSpc>
                <a:spcPct val="80000"/>
              </a:lnSpc>
              <a:buFontTx/>
              <a:buNone/>
              <a:defRPr/>
            </a:pPr>
            <a:endParaRPr lang="en-US" altLang="zh-CN" sz="2400" dirty="0">
              <a:latin typeface="Times New Roman" panose="02020603050405020304" pitchFamily="18" charset="0"/>
            </a:endParaRPr>
          </a:p>
          <a:p>
            <a:pPr marL="0" indent="0" eaLnBrk="1" hangingPunct="1">
              <a:lnSpc>
                <a:spcPct val="80000"/>
              </a:lnSpc>
              <a:buFontTx/>
              <a:buNone/>
              <a:defRPr/>
            </a:pPr>
            <a:r>
              <a:rPr lang="en-US" altLang="zh-CN" sz="2400" dirty="0">
                <a:latin typeface="Times New Roman" panose="02020603050405020304" pitchFamily="18" charset="0"/>
              </a:rPr>
              <a:t>   Why should inequality be a concern?</a:t>
            </a:r>
          </a:p>
          <a:p>
            <a:pPr marL="0" indent="0" eaLnBrk="1" hangingPunct="1">
              <a:lnSpc>
                <a:spcPct val="80000"/>
              </a:lnSpc>
              <a:buFontTx/>
              <a:buNone/>
              <a:defRPr/>
            </a:pPr>
            <a:endParaRPr lang="en-US" altLang="zh-CN" sz="2400" dirty="0">
              <a:latin typeface="Times New Roman" panose="02020603050405020304" pitchFamily="18" charset="0"/>
            </a:endParaRPr>
          </a:p>
          <a:p>
            <a:pPr eaLnBrk="1" hangingPunct="1">
              <a:lnSpc>
                <a:spcPct val="80000"/>
              </a:lnSpc>
              <a:defRPr/>
            </a:pPr>
            <a:r>
              <a:rPr lang="en-US" altLang="zh-CN" sz="2400" dirty="0">
                <a:latin typeface="Times New Roman" panose="02020603050405020304" pitchFamily="18" charset="0"/>
              </a:rPr>
              <a:t>Extreme income inequality leads to economic inefficiency.</a:t>
            </a:r>
          </a:p>
          <a:p>
            <a:pPr lvl="1" eaLnBrk="1" hangingPunct="1">
              <a:lnSpc>
                <a:spcPct val="80000"/>
              </a:lnSpc>
              <a:defRPr/>
            </a:pPr>
            <a:r>
              <a:rPr lang="en-US" altLang="zh-CN" sz="2000" dirty="0">
                <a:latin typeface="Times New Roman" panose="02020603050405020304" pitchFamily="18" charset="0"/>
              </a:rPr>
              <a:t>Financial constraint, capital flight, limited saving / investment.</a:t>
            </a:r>
          </a:p>
          <a:p>
            <a:pPr eaLnBrk="1" hangingPunct="1">
              <a:lnSpc>
                <a:spcPct val="80000"/>
              </a:lnSpc>
              <a:defRPr/>
            </a:pPr>
            <a:endParaRPr lang="en-US" altLang="zh-CN" sz="2400" dirty="0">
              <a:latin typeface="Times New Roman" panose="02020603050405020304" pitchFamily="18" charset="0"/>
            </a:endParaRPr>
          </a:p>
          <a:p>
            <a:pPr eaLnBrk="1" hangingPunct="1">
              <a:lnSpc>
                <a:spcPct val="80000"/>
              </a:lnSpc>
              <a:defRPr/>
            </a:pPr>
            <a:r>
              <a:rPr lang="en-US" altLang="zh-CN" sz="2400" dirty="0">
                <a:latin typeface="Times New Roman" panose="02020603050405020304" pitchFamily="18" charset="0"/>
              </a:rPr>
              <a:t>Extreme income disparities undermine social stability and solidarity.</a:t>
            </a:r>
          </a:p>
          <a:p>
            <a:pPr lvl="1" eaLnBrk="1" hangingPunct="1">
              <a:lnSpc>
                <a:spcPct val="80000"/>
              </a:lnSpc>
              <a:defRPr/>
            </a:pPr>
            <a:r>
              <a:rPr lang="en-US" altLang="zh-CN" sz="2000" dirty="0">
                <a:latin typeface="Times New Roman" panose="02020603050405020304" pitchFamily="18" charset="0"/>
              </a:rPr>
              <a:t>Rent seeking</a:t>
            </a:r>
          </a:p>
          <a:p>
            <a:pPr eaLnBrk="1" hangingPunct="1">
              <a:lnSpc>
                <a:spcPct val="80000"/>
              </a:lnSpc>
              <a:defRPr/>
            </a:pPr>
            <a:endParaRPr lang="en-US" altLang="zh-CN" sz="2400" dirty="0">
              <a:latin typeface="Times New Roman" panose="02020603050405020304" pitchFamily="18" charset="0"/>
            </a:endParaRPr>
          </a:p>
          <a:p>
            <a:pPr eaLnBrk="1" hangingPunct="1">
              <a:lnSpc>
                <a:spcPct val="80000"/>
              </a:lnSpc>
              <a:defRPr/>
            </a:pPr>
            <a:r>
              <a:rPr lang="en-US" altLang="zh-CN" sz="2400" dirty="0">
                <a:latin typeface="Times New Roman" panose="02020603050405020304" pitchFamily="18" charset="0"/>
              </a:rPr>
              <a:t>Extreme inequality if generally viewed as unfair.</a:t>
            </a:r>
          </a:p>
          <a:p>
            <a:pPr eaLnBrk="1" hangingPunct="1">
              <a:lnSpc>
                <a:spcPct val="80000"/>
              </a:lnSpc>
              <a:defRPr/>
            </a:pPr>
            <a:endParaRPr lang="en-US" altLang="zh-CN" sz="2400" dirty="0">
              <a:latin typeface="Times New Roman" panose="02020603050405020304" pitchFamily="18" charset="0"/>
            </a:endParaRPr>
          </a:p>
          <a:p>
            <a:pPr eaLnBrk="1" hangingPunct="1">
              <a:lnSpc>
                <a:spcPct val="80000"/>
              </a:lnSpc>
              <a:defRPr/>
            </a:pPr>
            <a:endParaRPr lang="en-US" altLang="zh-CN" sz="2000" dirty="0">
              <a:latin typeface="Times New Roman" panose="02020603050405020304" pitchFamily="18" charset="0"/>
            </a:endParaRPr>
          </a:p>
          <a:p>
            <a:pPr marL="0" indent="0" eaLnBrk="1" hangingPunct="1">
              <a:lnSpc>
                <a:spcPct val="80000"/>
              </a:lnSpc>
              <a:buFontTx/>
              <a:buNone/>
              <a:defRPr/>
            </a:pPr>
            <a:endParaRPr lang="en-US" altLang="zh-CN" sz="1600" dirty="0">
              <a:latin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a:extLst>
              <a:ext uri="{FF2B5EF4-FFF2-40B4-BE49-F238E27FC236}">
                <a16:creationId xmlns:a16="http://schemas.microsoft.com/office/drawing/2014/main" id="{DD1ED7D0-831A-448A-8EC1-014FCB4DEFA5}"/>
              </a:ext>
            </a:extLst>
          </p:cNvPr>
          <p:cNvSpPr>
            <a:spLocks noGrp="1" noChangeArrowheads="1"/>
          </p:cNvSpPr>
          <p:nvPr>
            <p:ph type="body" idx="1"/>
          </p:nvPr>
        </p:nvSpPr>
        <p:spPr>
          <a:xfrm>
            <a:off x="250825" y="476250"/>
            <a:ext cx="8229600" cy="5881688"/>
          </a:xfrm>
        </p:spPr>
        <p:txBody>
          <a:bodyPr/>
          <a:lstStyle/>
          <a:p>
            <a:pPr eaLnBrk="1" hangingPunct="1">
              <a:lnSpc>
                <a:spcPct val="80000"/>
              </a:lnSpc>
              <a:buFontTx/>
              <a:buNone/>
              <a:defRPr/>
            </a:pPr>
            <a:endParaRPr lang="en-US" altLang="zh-CN" sz="2400" dirty="0">
              <a:latin typeface="Times New Roman" panose="02020603050405020304" pitchFamily="18" charset="0"/>
            </a:endParaRPr>
          </a:p>
          <a:p>
            <a:pPr marL="0" indent="0" eaLnBrk="1" hangingPunct="1">
              <a:lnSpc>
                <a:spcPct val="80000"/>
              </a:lnSpc>
              <a:buFontTx/>
              <a:buNone/>
              <a:defRPr/>
            </a:pPr>
            <a:r>
              <a:rPr lang="en-US" altLang="zh-CN" sz="2400" dirty="0">
                <a:latin typeface="Times New Roman" panose="02020603050405020304" pitchFamily="18" charset="0"/>
              </a:rPr>
              <a:t>   </a:t>
            </a:r>
            <a:r>
              <a:rPr lang="en-US" altLang="zh-CN" sz="2800" dirty="0">
                <a:latin typeface="Times New Roman" panose="02020603050405020304" pitchFamily="18" charset="0"/>
              </a:rPr>
              <a:t>1. Kuznets’ Inverted U. </a:t>
            </a:r>
            <a:endParaRPr lang="en-US" altLang="zh-CN" sz="2400" dirty="0">
              <a:latin typeface="Times New Roman" panose="02020603050405020304" pitchFamily="18" charset="0"/>
            </a:endParaRPr>
          </a:p>
          <a:p>
            <a:pPr marL="0" indent="0" eaLnBrk="1" hangingPunct="1">
              <a:lnSpc>
                <a:spcPct val="80000"/>
              </a:lnSpc>
              <a:buFontTx/>
              <a:buNone/>
              <a:defRPr/>
            </a:pPr>
            <a:endParaRPr lang="en-US" altLang="zh-CN" sz="1600" dirty="0">
              <a:latin typeface="Times New Roman" panose="02020603050405020304" pitchFamily="18" charset="0"/>
            </a:endParaRPr>
          </a:p>
          <a:p>
            <a:pPr lvl="1" eaLnBrk="1" hangingPunct="1">
              <a:lnSpc>
                <a:spcPct val="80000"/>
              </a:lnSpc>
              <a:defRPr/>
            </a:pPr>
            <a:r>
              <a:rPr lang="en-US" altLang="zh-CN" sz="1800" dirty="0">
                <a:latin typeface="Times New Roman" panose="02020603050405020304" pitchFamily="18" charset="0"/>
              </a:rPr>
              <a:t>Simon Kuznets, 1955 “ Economic Growth &amp; Income Inequality”, AER 45, PP.1-28. Date from U.S., U.K. &amp; Germany.</a:t>
            </a:r>
          </a:p>
          <a:p>
            <a:pPr eaLnBrk="1" hangingPunct="1">
              <a:lnSpc>
                <a:spcPct val="80000"/>
              </a:lnSpc>
              <a:buFontTx/>
              <a:buNone/>
              <a:defRPr/>
            </a:pPr>
            <a:endParaRPr lang="en-US" altLang="zh-CN" sz="2400" dirty="0">
              <a:latin typeface="Times New Roman" panose="02020603050405020304" pitchFamily="18" charset="0"/>
            </a:endParaRPr>
          </a:p>
          <a:p>
            <a:pPr eaLnBrk="1" hangingPunct="1">
              <a:lnSpc>
                <a:spcPct val="80000"/>
              </a:lnSpc>
              <a:defRPr/>
            </a:pPr>
            <a:endParaRPr lang="en-US" altLang="zh-CN" sz="2400" dirty="0">
              <a:latin typeface="Times New Roman" panose="02020603050405020304" pitchFamily="18" charset="0"/>
            </a:endParaRPr>
          </a:p>
          <a:p>
            <a:pPr eaLnBrk="1" hangingPunct="1">
              <a:lnSpc>
                <a:spcPct val="80000"/>
              </a:lnSpc>
              <a:defRPr/>
            </a:pPr>
            <a:endParaRPr lang="en-US" altLang="zh-CN" sz="2400" dirty="0">
              <a:latin typeface="Times New Roman" panose="02020603050405020304" pitchFamily="18" charset="0"/>
            </a:endParaRPr>
          </a:p>
          <a:p>
            <a:pPr eaLnBrk="1" hangingPunct="1">
              <a:lnSpc>
                <a:spcPct val="80000"/>
              </a:lnSpc>
              <a:defRPr/>
            </a:pPr>
            <a:endParaRPr lang="en-US" altLang="zh-CN" sz="2400" dirty="0">
              <a:latin typeface="Times New Roman" panose="02020603050405020304" pitchFamily="18" charset="0"/>
            </a:endParaRPr>
          </a:p>
          <a:p>
            <a:pPr eaLnBrk="1" hangingPunct="1">
              <a:lnSpc>
                <a:spcPct val="80000"/>
              </a:lnSpc>
              <a:defRPr/>
            </a:pPr>
            <a:endParaRPr lang="en-US" altLang="zh-CN" sz="2400" dirty="0">
              <a:latin typeface="Times New Roman" panose="02020603050405020304" pitchFamily="18" charset="0"/>
            </a:endParaRPr>
          </a:p>
          <a:p>
            <a:pPr eaLnBrk="1" hangingPunct="1">
              <a:lnSpc>
                <a:spcPct val="80000"/>
              </a:lnSpc>
              <a:defRPr/>
            </a:pPr>
            <a:endParaRPr lang="en-US" altLang="zh-CN" sz="2400" dirty="0">
              <a:latin typeface="Times New Roman" panose="02020603050405020304" pitchFamily="18" charset="0"/>
            </a:endParaRPr>
          </a:p>
          <a:p>
            <a:pPr eaLnBrk="1" hangingPunct="1">
              <a:lnSpc>
                <a:spcPct val="80000"/>
              </a:lnSpc>
              <a:defRPr/>
            </a:pPr>
            <a:endParaRPr lang="en-US" altLang="zh-CN" sz="2400" dirty="0">
              <a:latin typeface="Times New Roman" panose="02020603050405020304" pitchFamily="18" charset="0"/>
            </a:endParaRPr>
          </a:p>
          <a:p>
            <a:pPr eaLnBrk="1" hangingPunct="1">
              <a:lnSpc>
                <a:spcPct val="80000"/>
              </a:lnSpc>
              <a:defRPr/>
            </a:pPr>
            <a:endParaRPr lang="en-US" altLang="zh-CN" sz="1600" dirty="0">
              <a:latin typeface="Times New Roman" panose="02020603050405020304" pitchFamily="18" charset="0"/>
            </a:endParaRPr>
          </a:p>
          <a:p>
            <a:pPr lvl="1" eaLnBrk="1" hangingPunct="1">
              <a:lnSpc>
                <a:spcPct val="80000"/>
              </a:lnSpc>
              <a:defRPr/>
            </a:pPr>
            <a:endParaRPr lang="en-US" altLang="zh-CN" sz="1800" dirty="0">
              <a:latin typeface="Times New Roman" panose="02020603050405020304" pitchFamily="18" charset="0"/>
            </a:endParaRPr>
          </a:p>
          <a:p>
            <a:pPr lvl="1" eaLnBrk="1" hangingPunct="1">
              <a:lnSpc>
                <a:spcPct val="80000"/>
              </a:lnSpc>
              <a:defRPr/>
            </a:pPr>
            <a:r>
              <a:rPr lang="en-US" altLang="zh-CN" sz="1800" dirty="0">
                <a:latin typeface="Times New Roman" panose="02020603050405020304" pitchFamily="18" charset="0"/>
              </a:rPr>
              <a:t>As GNP ↑, Inequality initially ↑, then reach maximum, then↓.</a:t>
            </a:r>
            <a:r>
              <a:rPr lang="en-US" altLang="zh-CN" sz="1800" dirty="0"/>
              <a:t> </a:t>
            </a:r>
          </a:p>
          <a:p>
            <a:pPr lvl="1" eaLnBrk="1" hangingPunct="1">
              <a:lnSpc>
                <a:spcPct val="80000"/>
              </a:lnSpc>
              <a:defRPr/>
            </a:pPr>
            <a:r>
              <a:rPr lang="en-US" altLang="zh-CN" sz="1800" dirty="0">
                <a:latin typeface="Times New Roman" panose="02020603050405020304" pitchFamily="18" charset="0"/>
              </a:rPr>
              <a:t>This theory received some support, especially from cross - section analyses. (or cross - country analyses)</a:t>
            </a:r>
          </a:p>
        </p:txBody>
      </p:sp>
      <p:sp>
        <p:nvSpPr>
          <p:cNvPr id="40963" name="Line 146"/>
          <p:cNvSpPr>
            <a:spLocks noChangeShapeType="1"/>
          </p:cNvSpPr>
          <p:nvPr/>
        </p:nvSpPr>
        <p:spPr bwMode="auto">
          <a:xfrm flipV="1">
            <a:off x="2484438" y="2779713"/>
            <a:ext cx="0" cy="22336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64" name="Line 147"/>
          <p:cNvSpPr>
            <a:spLocks noChangeShapeType="1"/>
          </p:cNvSpPr>
          <p:nvPr/>
        </p:nvSpPr>
        <p:spPr bwMode="auto">
          <a:xfrm>
            <a:off x="2484438" y="5013325"/>
            <a:ext cx="25923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65" name="Freeform 7"/>
          <p:cNvSpPr>
            <a:spLocks/>
          </p:cNvSpPr>
          <p:nvPr/>
        </p:nvSpPr>
        <p:spPr bwMode="auto">
          <a:xfrm>
            <a:off x="2916238" y="3706813"/>
            <a:ext cx="1511300" cy="1090612"/>
          </a:xfrm>
          <a:custGeom>
            <a:avLst/>
            <a:gdLst>
              <a:gd name="T0" fmla="*/ 0 w 952"/>
              <a:gd name="T1" fmla="*/ 2147483646 h 687"/>
              <a:gd name="T2" fmla="*/ 2147483646 w 952"/>
              <a:gd name="T3" fmla="*/ 2147483646 h 687"/>
              <a:gd name="T4" fmla="*/ 2147483646 w 952"/>
              <a:gd name="T5" fmla="*/ 2147483646 h 687"/>
              <a:gd name="T6" fmla="*/ 0 60000 65536"/>
              <a:gd name="T7" fmla="*/ 0 60000 65536"/>
              <a:gd name="T8" fmla="*/ 0 60000 65536"/>
              <a:gd name="T9" fmla="*/ 0 w 952"/>
              <a:gd name="T10" fmla="*/ 0 h 687"/>
              <a:gd name="T11" fmla="*/ 952 w 952"/>
              <a:gd name="T12" fmla="*/ 687 h 687"/>
            </a:gdLst>
            <a:ahLst/>
            <a:cxnLst>
              <a:cxn ang="T6">
                <a:pos x="T0" y="T1"/>
              </a:cxn>
              <a:cxn ang="T7">
                <a:pos x="T2" y="T3"/>
              </a:cxn>
              <a:cxn ang="T8">
                <a:pos x="T4" y="T5"/>
              </a:cxn>
            </a:cxnLst>
            <a:rect l="T9" t="T10" r="T11" b="T12"/>
            <a:pathLst>
              <a:path w="952" h="687">
                <a:moveTo>
                  <a:pt x="0" y="687"/>
                </a:moveTo>
                <a:cubicBezTo>
                  <a:pt x="147" y="350"/>
                  <a:pt x="294" y="14"/>
                  <a:pt x="453" y="7"/>
                </a:cubicBezTo>
                <a:cubicBezTo>
                  <a:pt x="612" y="0"/>
                  <a:pt x="782" y="321"/>
                  <a:pt x="952" y="64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66" name="Rectangle 8"/>
          <p:cNvSpPr>
            <a:spLocks noChangeArrowheads="1"/>
          </p:cNvSpPr>
          <p:nvPr/>
        </p:nvSpPr>
        <p:spPr bwMode="auto">
          <a:xfrm>
            <a:off x="900113" y="2990850"/>
            <a:ext cx="15843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latin typeface="Times New Roman" panose="02020603050405020304" pitchFamily="18" charset="0"/>
                <a:cs typeface="Arial" panose="020B0604020202020204" pitchFamily="34" charset="0"/>
              </a:rPr>
              <a:t>Inequality (Gini coefficient)</a:t>
            </a:r>
            <a:endParaRPr lang="en-US" altLang="zh-CN" sz="1400" b="1"/>
          </a:p>
        </p:txBody>
      </p:sp>
      <p:sp>
        <p:nvSpPr>
          <p:cNvPr id="40967" name="Rectangle 9"/>
          <p:cNvSpPr>
            <a:spLocks noChangeArrowheads="1"/>
          </p:cNvSpPr>
          <p:nvPr/>
        </p:nvSpPr>
        <p:spPr bwMode="auto">
          <a:xfrm>
            <a:off x="5219700" y="4581525"/>
            <a:ext cx="151288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400" b="1">
                <a:latin typeface="Times New Roman" panose="02020603050405020304" pitchFamily="18" charset="0"/>
                <a:cs typeface="Arial" panose="020B0604020202020204" pitchFamily="34" charset="0"/>
              </a:rPr>
              <a:t>Per capita GNP</a:t>
            </a:r>
            <a:endParaRPr lang="en-US" altLang="zh-CN" sz="1400" b="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body" idx="1"/>
          </p:nvPr>
        </p:nvSpPr>
        <p:spPr/>
        <p:txBody>
          <a:bodyPr/>
          <a:lstStyle/>
          <a:p>
            <a:pPr eaLnBrk="1" hangingPunct="1">
              <a:buFontTx/>
              <a:buNone/>
            </a:pPr>
            <a:endParaRPr lang="en-US" altLang="zh-CN"/>
          </a:p>
          <a:p>
            <a:pPr eaLnBrk="1" hangingPunct="1">
              <a:buFontTx/>
              <a:buNone/>
            </a:pPr>
            <a:endParaRPr lang="en-US" altLang="en-US"/>
          </a:p>
        </p:txBody>
      </p:sp>
      <p:sp>
        <p:nvSpPr>
          <p:cNvPr id="41987" name="Rectangle 5"/>
          <p:cNvSpPr>
            <a:spLocks noChangeArrowheads="1"/>
          </p:cNvSpPr>
          <p:nvPr/>
        </p:nvSpPr>
        <p:spPr bwMode="auto">
          <a:xfrm>
            <a:off x="0" y="3290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1988" name="Rectangle 7"/>
          <p:cNvSpPr>
            <a:spLocks noChangeArrowheads="1"/>
          </p:cNvSpPr>
          <p:nvPr/>
        </p:nvSpPr>
        <p:spPr bwMode="auto">
          <a:xfrm>
            <a:off x="0" y="3290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pic>
        <p:nvPicPr>
          <p:cNvPr id="41989" name="Picture 6"/>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79613" y="5445125"/>
            <a:ext cx="12573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0" name="Line 146"/>
          <p:cNvSpPr>
            <a:spLocks noChangeShapeType="1"/>
          </p:cNvSpPr>
          <p:nvPr/>
        </p:nvSpPr>
        <p:spPr bwMode="auto">
          <a:xfrm flipV="1">
            <a:off x="2484438" y="2060575"/>
            <a:ext cx="0" cy="22336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991" name="Line 147"/>
          <p:cNvSpPr>
            <a:spLocks noChangeShapeType="1"/>
          </p:cNvSpPr>
          <p:nvPr/>
        </p:nvSpPr>
        <p:spPr bwMode="auto">
          <a:xfrm>
            <a:off x="2484438" y="4294188"/>
            <a:ext cx="25923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992" name="Rectangle 11"/>
          <p:cNvSpPr>
            <a:spLocks noChangeArrowheads="1"/>
          </p:cNvSpPr>
          <p:nvPr/>
        </p:nvSpPr>
        <p:spPr bwMode="auto">
          <a:xfrm>
            <a:off x="1476375" y="1484313"/>
            <a:ext cx="20161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800" b="1">
                <a:latin typeface="Times New Roman" panose="02020603050405020304" pitchFamily="18" charset="0"/>
                <a:cs typeface="Arial" panose="020B0604020202020204" pitchFamily="34" charset="0"/>
              </a:rPr>
              <a:t>Gini coefficient</a:t>
            </a:r>
            <a:endParaRPr lang="en-US" altLang="zh-CN" sz="1800" b="1"/>
          </a:p>
        </p:txBody>
      </p:sp>
      <p:sp>
        <p:nvSpPr>
          <p:cNvPr id="41993" name="Rectangle 12"/>
          <p:cNvSpPr>
            <a:spLocks noChangeArrowheads="1"/>
          </p:cNvSpPr>
          <p:nvPr/>
        </p:nvSpPr>
        <p:spPr bwMode="auto">
          <a:xfrm>
            <a:off x="4859338" y="4076700"/>
            <a:ext cx="23749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b" hangingPunct="1">
              <a:spcBef>
                <a:spcPct val="0"/>
              </a:spcBef>
              <a:buFontTx/>
              <a:buNone/>
            </a:pPr>
            <a:r>
              <a:rPr lang="en-US" altLang="zh-CN" sz="1800" b="1">
                <a:latin typeface="Times New Roman" panose="02020603050405020304" pitchFamily="18" charset="0"/>
                <a:cs typeface="Arial" panose="020B0604020202020204" pitchFamily="34" charset="0"/>
              </a:rPr>
              <a:t>Per capita GDP</a:t>
            </a:r>
          </a:p>
        </p:txBody>
      </p:sp>
      <p:sp>
        <p:nvSpPr>
          <p:cNvPr id="41994" name="Oval 13"/>
          <p:cNvSpPr>
            <a:spLocks noChangeArrowheads="1"/>
          </p:cNvSpPr>
          <p:nvPr/>
        </p:nvSpPr>
        <p:spPr bwMode="auto">
          <a:xfrm>
            <a:off x="2771775" y="3789363"/>
            <a:ext cx="73025" cy="71437"/>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1995" name="Oval 14"/>
          <p:cNvSpPr>
            <a:spLocks noChangeArrowheads="1"/>
          </p:cNvSpPr>
          <p:nvPr/>
        </p:nvSpPr>
        <p:spPr bwMode="auto">
          <a:xfrm>
            <a:off x="3276600" y="3284538"/>
            <a:ext cx="73025" cy="71437"/>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1996" name="Oval 15"/>
          <p:cNvSpPr>
            <a:spLocks noChangeArrowheads="1"/>
          </p:cNvSpPr>
          <p:nvPr/>
        </p:nvSpPr>
        <p:spPr bwMode="auto">
          <a:xfrm>
            <a:off x="3276600" y="3500438"/>
            <a:ext cx="73025" cy="71437"/>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1997" name="Oval 16"/>
          <p:cNvSpPr>
            <a:spLocks noChangeArrowheads="1"/>
          </p:cNvSpPr>
          <p:nvPr/>
        </p:nvSpPr>
        <p:spPr bwMode="auto">
          <a:xfrm>
            <a:off x="3132138" y="3284538"/>
            <a:ext cx="73025" cy="71437"/>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1998" name="Oval 17"/>
          <p:cNvSpPr>
            <a:spLocks noChangeArrowheads="1"/>
          </p:cNvSpPr>
          <p:nvPr/>
        </p:nvSpPr>
        <p:spPr bwMode="auto">
          <a:xfrm>
            <a:off x="3132138" y="3644900"/>
            <a:ext cx="73025" cy="7143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1999" name="Oval 18"/>
          <p:cNvSpPr>
            <a:spLocks noChangeArrowheads="1"/>
          </p:cNvSpPr>
          <p:nvPr/>
        </p:nvSpPr>
        <p:spPr bwMode="auto">
          <a:xfrm>
            <a:off x="3995738" y="3500438"/>
            <a:ext cx="73025" cy="71437"/>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00" name="Oval 19"/>
          <p:cNvSpPr>
            <a:spLocks noChangeArrowheads="1"/>
          </p:cNvSpPr>
          <p:nvPr/>
        </p:nvSpPr>
        <p:spPr bwMode="auto">
          <a:xfrm>
            <a:off x="4140200" y="3357563"/>
            <a:ext cx="73025" cy="71437"/>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01" name="Oval 20"/>
          <p:cNvSpPr>
            <a:spLocks noChangeArrowheads="1"/>
          </p:cNvSpPr>
          <p:nvPr/>
        </p:nvSpPr>
        <p:spPr bwMode="auto">
          <a:xfrm>
            <a:off x="3924300" y="3068638"/>
            <a:ext cx="73025" cy="71437"/>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02" name="Oval 21"/>
          <p:cNvSpPr>
            <a:spLocks noChangeArrowheads="1"/>
          </p:cNvSpPr>
          <p:nvPr/>
        </p:nvSpPr>
        <p:spPr bwMode="auto">
          <a:xfrm>
            <a:off x="3275013" y="3141663"/>
            <a:ext cx="73025" cy="71437"/>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03" name="Oval 22"/>
          <p:cNvSpPr>
            <a:spLocks noChangeArrowheads="1"/>
          </p:cNvSpPr>
          <p:nvPr/>
        </p:nvSpPr>
        <p:spPr bwMode="auto">
          <a:xfrm flipV="1">
            <a:off x="3635375" y="3068638"/>
            <a:ext cx="73025" cy="6985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04" name="Oval 23"/>
          <p:cNvSpPr>
            <a:spLocks noChangeArrowheads="1"/>
          </p:cNvSpPr>
          <p:nvPr/>
        </p:nvSpPr>
        <p:spPr bwMode="auto">
          <a:xfrm flipV="1">
            <a:off x="3851275" y="3068638"/>
            <a:ext cx="73025" cy="6985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05" name="Oval 24"/>
          <p:cNvSpPr>
            <a:spLocks noChangeArrowheads="1"/>
          </p:cNvSpPr>
          <p:nvPr/>
        </p:nvSpPr>
        <p:spPr bwMode="auto">
          <a:xfrm>
            <a:off x="3419475" y="2997200"/>
            <a:ext cx="73025" cy="7143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06" name="Oval 25"/>
          <p:cNvSpPr>
            <a:spLocks noChangeArrowheads="1"/>
          </p:cNvSpPr>
          <p:nvPr/>
        </p:nvSpPr>
        <p:spPr bwMode="auto">
          <a:xfrm>
            <a:off x="2987675" y="3860800"/>
            <a:ext cx="73025" cy="7143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07" name="Oval 26"/>
          <p:cNvSpPr>
            <a:spLocks noChangeArrowheads="1"/>
          </p:cNvSpPr>
          <p:nvPr/>
        </p:nvSpPr>
        <p:spPr bwMode="auto">
          <a:xfrm>
            <a:off x="2987675" y="3573463"/>
            <a:ext cx="73025" cy="71437"/>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08" name="Oval 27"/>
          <p:cNvSpPr>
            <a:spLocks noChangeArrowheads="1"/>
          </p:cNvSpPr>
          <p:nvPr/>
        </p:nvSpPr>
        <p:spPr bwMode="auto">
          <a:xfrm>
            <a:off x="3995738" y="3213100"/>
            <a:ext cx="73025" cy="7143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09" name="Oval 28"/>
          <p:cNvSpPr>
            <a:spLocks noChangeArrowheads="1"/>
          </p:cNvSpPr>
          <p:nvPr/>
        </p:nvSpPr>
        <p:spPr bwMode="auto">
          <a:xfrm>
            <a:off x="3924300" y="3357563"/>
            <a:ext cx="73025" cy="71437"/>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10" name="Oval 29"/>
          <p:cNvSpPr>
            <a:spLocks noChangeArrowheads="1"/>
          </p:cNvSpPr>
          <p:nvPr/>
        </p:nvSpPr>
        <p:spPr bwMode="auto">
          <a:xfrm>
            <a:off x="3492500" y="3284538"/>
            <a:ext cx="73025" cy="71437"/>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11" name="Oval 30"/>
          <p:cNvSpPr>
            <a:spLocks noChangeArrowheads="1"/>
          </p:cNvSpPr>
          <p:nvPr/>
        </p:nvSpPr>
        <p:spPr bwMode="auto">
          <a:xfrm>
            <a:off x="4356100" y="3644900"/>
            <a:ext cx="73025" cy="7143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12" name="Oval 31"/>
          <p:cNvSpPr>
            <a:spLocks noChangeArrowheads="1"/>
          </p:cNvSpPr>
          <p:nvPr/>
        </p:nvSpPr>
        <p:spPr bwMode="auto">
          <a:xfrm>
            <a:off x="4284663" y="3860800"/>
            <a:ext cx="73025" cy="7143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13" name="Oval 32"/>
          <p:cNvSpPr>
            <a:spLocks noChangeArrowheads="1"/>
          </p:cNvSpPr>
          <p:nvPr/>
        </p:nvSpPr>
        <p:spPr bwMode="auto">
          <a:xfrm>
            <a:off x="3708400" y="2924175"/>
            <a:ext cx="73025" cy="7143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14" name="Oval 33"/>
          <p:cNvSpPr>
            <a:spLocks noChangeArrowheads="1"/>
          </p:cNvSpPr>
          <p:nvPr/>
        </p:nvSpPr>
        <p:spPr bwMode="auto">
          <a:xfrm>
            <a:off x="4140200" y="3573463"/>
            <a:ext cx="73025" cy="71437"/>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15" name="Oval 34"/>
          <p:cNvSpPr>
            <a:spLocks noChangeArrowheads="1"/>
          </p:cNvSpPr>
          <p:nvPr/>
        </p:nvSpPr>
        <p:spPr bwMode="auto">
          <a:xfrm flipV="1">
            <a:off x="3708400" y="3284538"/>
            <a:ext cx="73025" cy="6985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16" name="Oval 35"/>
          <p:cNvSpPr>
            <a:spLocks noChangeArrowheads="1"/>
          </p:cNvSpPr>
          <p:nvPr/>
        </p:nvSpPr>
        <p:spPr bwMode="auto">
          <a:xfrm flipV="1">
            <a:off x="4356100" y="3789363"/>
            <a:ext cx="73025" cy="6985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17" name="Oval 36"/>
          <p:cNvSpPr>
            <a:spLocks noChangeArrowheads="1"/>
          </p:cNvSpPr>
          <p:nvPr/>
        </p:nvSpPr>
        <p:spPr bwMode="auto">
          <a:xfrm flipV="1">
            <a:off x="4284663" y="3500438"/>
            <a:ext cx="73025" cy="6985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18" name="Oval 37"/>
          <p:cNvSpPr>
            <a:spLocks noChangeArrowheads="1"/>
          </p:cNvSpPr>
          <p:nvPr/>
        </p:nvSpPr>
        <p:spPr bwMode="auto">
          <a:xfrm flipV="1">
            <a:off x="4141788" y="3716338"/>
            <a:ext cx="73025" cy="6985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019" name="Rectangle 39"/>
          <p:cNvSpPr>
            <a:spLocks noChangeArrowheads="1"/>
          </p:cNvSpPr>
          <p:nvPr/>
        </p:nvSpPr>
        <p:spPr bwMode="auto">
          <a:xfrm>
            <a:off x="0" y="3290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pic>
        <p:nvPicPr>
          <p:cNvPr id="42020" name="Picture 3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79613" y="4941888"/>
            <a:ext cx="28082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type="body" idx="1"/>
          </p:nvPr>
        </p:nvSpPr>
        <p:spPr>
          <a:xfrm>
            <a:off x="457200" y="620713"/>
            <a:ext cx="8229600" cy="5761037"/>
          </a:xfrm>
        </p:spPr>
        <p:txBody>
          <a:bodyPr/>
          <a:lstStyle/>
          <a:p>
            <a:pPr eaLnBrk="1" hangingPunct="1"/>
            <a:r>
              <a:rPr lang="en-US" altLang="zh-CN" sz="2800">
                <a:latin typeface="Times New Roman" panose="02020603050405020304" pitchFamily="18" charset="0"/>
              </a:rPr>
              <a:t>Klaus Deininger &amp; Lyn Squir, 1996</a:t>
            </a:r>
          </a:p>
          <a:p>
            <a:pPr eaLnBrk="1" hangingPunct="1"/>
            <a:endParaRPr lang="en-US" altLang="zh-CN" sz="1800">
              <a:latin typeface="Times New Roman" panose="02020603050405020304" pitchFamily="18" charset="0"/>
            </a:endParaRPr>
          </a:p>
          <a:p>
            <a:pPr lvl="1" eaLnBrk="1" hangingPunct="1"/>
            <a:r>
              <a:rPr lang="en-US" altLang="zh-CN" sz="2400">
                <a:latin typeface="Times New Roman" panose="02020603050405020304" pitchFamily="18" charset="0"/>
              </a:rPr>
              <a:t>“Measuring Income Inequality: A New Data Base,” </a:t>
            </a:r>
            <a:r>
              <a:rPr lang="en-US" altLang="zh-CN" sz="2400" i="1">
                <a:latin typeface="Times New Roman" panose="02020603050405020304" pitchFamily="18" charset="0"/>
              </a:rPr>
              <a:t>World Bank Econ. Review</a:t>
            </a:r>
            <a:r>
              <a:rPr lang="en-US" altLang="zh-CN" sz="2400">
                <a:latin typeface="Times New Roman" panose="02020603050405020304" pitchFamily="18" charset="0"/>
              </a:rPr>
              <a:t> 10, 1996.</a:t>
            </a:r>
          </a:p>
          <a:p>
            <a:pPr eaLnBrk="1" hangingPunct="1"/>
            <a:endParaRPr lang="en-US" altLang="zh-CN" sz="1800">
              <a:latin typeface="Times New Roman" panose="02020603050405020304" pitchFamily="18" charset="0"/>
            </a:endParaRPr>
          </a:p>
          <a:p>
            <a:pPr lvl="1" eaLnBrk="1" hangingPunct="1"/>
            <a:r>
              <a:rPr lang="en-US" altLang="zh-CN" sz="2400">
                <a:latin typeface="Times New Roman" panose="02020603050405020304" pitchFamily="18" charset="0"/>
              </a:rPr>
              <a:t>Little evidence of a Kuznets Curve in the data. 88 countries with decade- long growth, inequality improved in 45 and worsened in 43.  In most cases, the changes in inequality were relatively small &amp; uncorrelated with initial income.</a:t>
            </a:r>
            <a:r>
              <a:rPr lang="en-US" altLang="zh-CN" sz="2400"/>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p:txBody>
          <a:bodyPr/>
          <a:lstStyle/>
          <a:p>
            <a:pPr eaLnBrk="1" hangingPunct="1"/>
            <a:r>
              <a:rPr lang="en-US" altLang="en-US" sz="2800"/>
              <a:t>Kuznets Curve with Latin American Countries Identified</a:t>
            </a:r>
            <a:endParaRPr lang="en-GB" altLang="en-US" sz="2800"/>
          </a:p>
        </p:txBody>
      </p:sp>
      <p:pic>
        <p:nvPicPr>
          <p:cNvPr id="44035" name="Picture 1" descr="fig05_11.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71550" y="1219200"/>
            <a:ext cx="7561263"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idx="4294967295"/>
          </p:nvPr>
        </p:nvSpPr>
        <p:spPr/>
        <p:txBody>
          <a:bodyPr/>
          <a:lstStyle/>
          <a:p>
            <a:pPr eaLnBrk="1" hangingPunct="1"/>
            <a:r>
              <a:rPr lang="en-US" altLang="en-US" sz="2800"/>
              <a:t>Plot of Inequality Data for Selected Countries</a:t>
            </a:r>
            <a:endParaRPr lang="en-GB" altLang="en-US" sz="2800"/>
          </a:p>
        </p:txBody>
      </p:sp>
      <p:pic>
        <p:nvPicPr>
          <p:cNvPr id="46083" name="Picture 1" descr="fig05_12.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524000"/>
            <a:ext cx="7056438" cy="456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txBox="1">
            <a:spLocks noChangeArrowheads="1"/>
          </p:cNvSpPr>
          <p:nvPr/>
        </p:nvSpPr>
        <p:spPr bwMode="auto">
          <a:xfrm>
            <a:off x="1371600" y="0"/>
            <a:ext cx="7543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sz="2800">
                <a:ea typeface="ヒラギノ角ゴ Pro W3" pitchFamily="122" charset="-128"/>
              </a:rPr>
              <a:t>Income and Inequality in Selected Countries</a:t>
            </a:r>
            <a:endParaRPr lang="en-GB" altLang="en-US" sz="1400" b="1">
              <a:ea typeface="ヒラギノ角ゴ Pro W3" pitchFamily="122" charset="-128"/>
            </a:endParaRPr>
          </a:p>
        </p:txBody>
      </p:sp>
      <p:pic>
        <p:nvPicPr>
          <p:cNvPr id="48131" name="Picture 4" descr="tbl05_03.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371600"/>
            <a:ext cx="8153400" cy="491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6E08CDD6-A1EF-4532-B9B0-0B38ECF9EB44}"/>
              </a:ext>
            </a:extLst>
          </p:cNvPr>
          <p:cNvSpPr>
            <a:spLocks noGrp="1" noChangeArrowheads="1"/>
          </p:cNvSpPr>
          <p:nvPr>
            <p:ph type="body" idx="1"/>
          </p:nvPr>
        </p:nvSpPr>
        <p:spPr>
          <a:xfrm>
            <a:off x="457200" y="404813"/>
            <a:ext cx="8229600" cy="5688012"/>
          </a:xfrm>
        </p:spPr>
        <p:txBody>
          <a:bodyPr/>
          <a:lstStyle/>
          <a:p>
            <a:pPr marL="0" indent="0" eaLnBrk="1" hangingPunct="1">
              <a:buFontTx/>
              <a:buNone/>
              <a:defRPr/>
            </a:pPr>
            <a:r>
              <a:rPr lang="en-US" altLang="zh-CN" sz="2800" dirty="0">
                <a:latin typeface="Times New Roman" panose="02020603050405020304" pitchFamily="18" charset="0"/>
              </a:rPr>
              <a:t>2. The Effect of Inequality on Income &amp; Growth</a:t>
            </a:r>
          </a:p>
          <a:p>
            <a:pPr eaLnBrk="1" hangingPunct="1">
              <a:buFontTx/>
              <a:buNone/>
              <a:defRPr/>
            </a:pPr>
            <a:endParaRPr lang="en-US" altLang="zh-CN" sz="2400" dirty="0">
              <a:latin typeface="Times New Roman" panose="02020603050405020304" pitchFamily="18" charset="0"/>
            </a:endParaRPr>
          </a:p>
          <a:p>
            <a:pPr eaLnBrk="1" hangingPunct="1">
              <a:buFontTx/>
              <a:buNone/>
              <a:defRPr/>
            </a:pPr>
            <a:r>
              <a:rPr lang="en-US" altLang="zh-CN" sz="2400" dirty="0">
                <a:latin typeface="Times New Roman" panose="02020603050405020304" pitchFamily="18" charset="0"/>
              </a:rPr>
              <a:t>A. Inequality, Saving, and Capital Accumulation. </a:t>
            </a:r>
          </a:p>
          <a:p>
            <a:pPr lvl="1" eaLnBrk="1" hangingPunct="1">
              <a:defRPr/>
            </a:pPr>
            <a:r>
              <a:rPr lang="en-US" altLang="zh-CN" sz="2000" dirty="0">
                <a:latin typeface="Times New Roman" panose="02020603050405020304" pitchFamily="18" charset="0"/>
              </a:rPr>
              <a:t>The rich have lower marginal propensity to consume, </a:t>
            </a:r>
          </a:p>
          <a:p>
            <a:pPr lvl="1" eaLnBrk="1" hangingPunct="1">
              <a:buFontTx/>
              <a:buNone/>
              <a:defRPr/>
            </a:pPr>
            <a:r>
              <a:rPr lang="en-US" altLang="zh-CN" sz="2000" dirty="0">
                <a:latin typeface="Times New Roman" panose="02020603050405020304" pitchFamily="18" charset="0"/>
              </a:rPr>
              <a:t>    Greater inequality leads to greater savings, and thus greater capital accumulation &amp; growth.</a:t>
            </a:r>
          </a:p>
          <a:p>
            <a:pPr lvl="1" eaLnBrk="1" hangingPunct="1">
              <a:defRPr/>
            </a:pPr>
            <a:r>
              <a:rPr lang="en-US" altLang="zh-CN" sz="2000" dirty="0">
                <a:latin typeface="Times New Roman" panose="02020603050405020304" pitchFamily="18" charset="0"/>
              </a:rPr>
              <a:t>Friedman (1957) showed that consumption depends on permanent income, &amp; MPC is constant. Thus, distribution of income has no effect on saving. </a:t>
            </a:r>
          </a:p>
          <a:p>
            <a:pPr lvl="1" eaLnBrk="1" hangingPunct="1">
              <a:defRPr/>
            </a:pPr>
            <a:r>
              <a:rPr lang="en-US" altLang="zh-CN" sz="2000" dirty="0">
                <a:latin typeface="Times New Roman" panose="02020603050405020304" pitchFamily="18" charset="0"/>
              </a:rPr>
              <a:t>Evidence from East Asia shows no relationship between inequality &amp; savings.</a:t>
            </a:r>
          </a:p>
          <a:p>
            <a:pPr eaLnBrk="1" hangingPunct="1">
              <a:buFontTx/>
              <a:buNone/>
              <a:defRPr/>
            </a:pPr>
            <a:r>
              <a:rPr lang="en-US" altLang="zh-CN" sz="2400" dirty="0">
                <a:latin typeface="Times New Roman" panose="02020603050405020304" pitchFamily="18" charset="0"/>
              </a:rPr>
              <a:t>B. Inequality, Fiscal policy, and Growth.</a:t>
            </a:r>
          </a:p>
          <a:p>
            <a:pPr lvl="1" eaLnBrk="1" hangingPunct="1">
              <a:defRPr/>
            </a:pPr>
            <a:r>
              <a:rPr lang="en-US" altLang="zh-CN" sz="2000" dirty="0">
                <a:latin typeface="Times New Roman" panose="02020603050405020304" pitchFamily="18" charset="0"/>
              </a:rPr>
              <a:t>Greater inequality leads to higher taxes &amp; low growth.</a:t>
            </a:r>
          </a:p>
          <a:p>
            <a:pPr lvl="1" eaLnBrk="1" hangingPunct="1">
              <a:defRPr/>
            </a:pPr>
            <a:r>
              <a:rPr lang="en-US" altLang="zh-CN" sz="1800" dirty="0" err="1">
                <a:latin typeface="Times New Roman" panose="02020603050405020304" pitchFamily="18" charset="0"/>
              </a:rPr>
              <a:t>Alesina</a:t>
            </a:r>
            <a:r>
              <a:rPr lang="en-US" altLang="zh-CN" sz="1800" dirty="0">
                <a:latin typeface="Times New Roman" panose="02020603050405020304" pitchFamily="18" charset="0"/>
              </a:rPr>
              <a:t> &amp; </a:t>
            </a:r>
            <a:r>
              <a:rPr lang="en-US" altLang="zh-CN" sz="1800" dirty="0" err="1">
                <a:latin typeface="Times New Roman" panose="02020603050405020304" pitchFamily="18" charset="0"/>
              </a:rPr>
              <a:t>Rodrik</a:t>
            </a:r>
            <a:r>
              <a:rPr lang="en-US" altLang="zh-CN" sz="1800" dirty="0">
                <a:latin typeface="Times New Roman" panose="02020603050405020304" pitchFamily="18" charset="0"/>
              </a:rPr>
              <a:t> (1994), “Distributive Politics &amp; Economic Growth”, QJE 109, 465-90.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type="body" idx="1"/>
          </p:nvPr>
        </p:nvSpPr>
        <p:spPr>
          <a:xfrm>
            <a:off x="457200" y="333375"/>
            <a:ext cx="8229600" cy="6524625"/>
          </a:xfrm>
        </p:spPr>
        <p:txBody>
          <a:bodyPr/>
          <a:lstStyle/>
          <a:p>
            <a:pPr marL="0" indent="0" eaLnBrk="1" hangingPunct="1">
              <a:buFontTx/>
              <a:buNone/>
            </a:pPr>
            <a:endParaRPr lang="en-US" altLang="zh-CN" sz="2400" dirty="0">
              <a:latin typeface="Times New Roman" panose="02020603050405020304" pitchFamily="18" charset="0"/>
            </a:endParaRPr>
          </a:p>
          <a:p>
            <a:pPr marL="0" indent="0" eaLnBrk="1" hangingPunct="1">
              <a:buFontTx/>
              <a:buNone/>
            </a:pPr>
            <a:endParaRPr lang="en-US" altLang="zh-CN" sz="2400" dirty="0">
              <a:latin typeface="Times New Roman" panose="02020603050405020304" pitchFamily="18" charset="0"/>
            </a:endParaRPr>
          </a:p>
          <a:p>
            <a:pPr marL="0" indent="0" eaLnBrk="1" hangingPunct="1">
              <a:buFontTx/>
              <a:buNone/>
            </a:pPr>
            <a:r>
              <a:rPr lang="en-US" altLang="zh-CN" sz="2400" dirty="0">
                <a:latin typeface="Times New Roman" panose="02020603050405020304" pitchFamily="18" charset="0"/>
              </a:rPr>
              <a:t>C. Inequality &amp; Political Stability</a:t>
            </a:r>
          </a:p>
          <a:p>
            <a:pPr lvl="1" eaLnBrk="1" hangingPunct="1"/>
            <a:endParaRPr lang="en-US" altLang="zh-CN" sz="2000" dirty="0">
              <a:latin typeface="Times New Roman" panose="02020603050405020304" pitchFamily="18" charset="0"/>
            </a:endParaRPr>
          </a:p>
          <a:p>
            <a:pPr lvl="1" eaLnBrk="1" hangingPunct="1"/>
            <a:r>
              <a:rPr lang="en-US" altLang="zh-CN" sz="2000" dirty="0">
                <a:latin typeface="Times New Roman" panose="02020603050405020304" pitchFamily="18" charset="0"/>
              </a:rPr>
              <a:t>Greater inequality leads to more political instability and lower growth.</a:t>
            </a:r>
          </a:p>
          <a:p>
            <a:pPr lvl="1" eaLnBrk="1" hangingPunct="1"/>
            <a:r>
              <a:rPr lang="en-US" altLang="zh-CN" sz="2000" dirty="0">
                <a:latin typeface="Times New Roman" panose="02020603050405020304" pitchFamily="18" charset="0"/>
              </a:rPr>
              <a:t>Overall, there is no evidence about the relationship between inequality &amp; growth from time–series data for individual countries.</a:t>
            </a:r>
          </a:p>
          <a:p>
            <a:pPr lvl="1" eaLnBrk="1" hangingPunct="1"/>
            <a:r>
              <a:rPr lang="en-US" altLang="zh-CN" sz="2000" dirty="0">
                <a:latin typeface="Times New Roman" panose="02020603050405020304" pitchFamily="18" charset="0"/>
              </a:rPr>
              <a:t>There exists cross-country evidence that inequality and growth are negatively related.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457200" y="274638"/>
            <a:ext cx="8229600" cy="706437"/>
          </a:xfrm>
        </p:spPr>
        <p:txBody>
          <a:bodyPr/>
          <a:lstStyle/>
          <a:p>
            <a:pPr algn="l" eaLnBrk="1" hangingPunct="1"/>
            <a:r>
              <a:rPr lang="en-US" altLang="zh-CN" sz="3200" dirty="0">
                <a:latin typeface="Times New Roman" panose="02020603050405020304" pitchFamily="18" charset="0"/>
              </a:rPr>
              <a:t>IV. Characteristics of high-poverty groups</a:t>
            </a:r>
            <a:endParaRPr lang="en-US" altLang="zh-CN" dirty="0">
              <a:latin typeface="Times New Roman" panose="02020603050405020304" pitchFamily="18" charset="0"/>
            </a:endParaRPr>
          </a:p>
        </p:txBody>
      </p:sp>
      <p:sp>
        <p:nvSpPr>
          <p:cNvPr id="22531" name="Rectangle 3">
            <a:extLst>
              <a:ext uri="{FF2B5EF4-FFF2-40B4-BE49-F238E27FC236}">
                <a16:creationId xmlns:a16="http://schemas.microsoft.com/office/drawing/2014/main" id="{1F066B8B-0DE4-4F91-BD47-1D139137822C}"/>
              </a:ext>
            </a:extLst>
          </p:cNvPr>
          <p:cNvSpPr>
            <a:spLocks noGrp="1" noChangeArrowheads="1"/>
          </p:cNvSpPr>
          <p:nvPr>
            <p:ph type="body" idx="1"/>
          </p:nvPr>
        </p:nvSpPr>
        <p:spPr>
          <a:xfrm>
            <a:off x="250825" y="1268413"/>
            <a:ext cx="8229600" cy="5089525"/>
          </a:xfrm>
        </p:spPr>
        <p:txBody>
          <a:bodyPr/>
          <a:lstStyle/>
          <a:p>
            <a:pPr marL="0" indent="0" eaLnBrk="1" hangingPunct="1">
              <a:lnSpc>
                <a:spcPct val="80000"/>
              </a:lnSpc>
              <a:buFontTx/>
              <a:buNone/>
              <a:defRPr/>
            </a:pPr>
            <a:endParaRPr lang="en-US" altLang="zh-CN" sz="2400" dirty="0">
              <a:latin typeface="Times New Roman" panose="02020603050405020304" pitchFamily="18" charset="0"/>
            </a:endParaRPr>
          </a:p>
          <a:p>
            <a:pPr eaLnBrk="1" hangingPunct="1">
              <a:lnSpc>
                <a:spcPct val="80000"/>
              </a:lnSpc>
              <a:defRPr/>
            </a:pPr>
            <a:r>
              <a:rPr lang="en-US" altLang="zh-CN" sz="2800" dirty="0">
                <a:latin typeface="Times New Roman" panose="02020603050405020304" pitchFamily="18" charset="0"/>
              </a:rPr>
              <a:t>Rural poverty</a:t>
            </a:r>
          </a:p>
          <a:p>
            <a:pPr eaLnBrk="1" hangingPunct="1">
              <a:lnSpc>
                <a:spcPct val="80000"/>
              </a:lnSpc>
              <a:defRPr/>
            </a:pPr>
            <a:endParaRPr lang="en-US" altLang="zh-CN" sz="2800" dirty="0">
              <a:latin typeface="Times New Roman" panose="02020603050405020304" pitchFamily="18" charset="0"/>
            </a:endParaRPr>
          </a:p>
          <a:p>
            <a:pPr eaLnBrk="1" hangingPunct="1">
              <a:lnSpc>
                <a:spcPct val="80000"/>
              </a:lnSpc>
              <a:defRPr/>
            </a:pPr>
            <a:r>
              <a:rPr lang="en-US" altLang="zh-CN" sz="2800" dirty="0">
                <a:latin typeface="Times New Roman" panose="02020603050405020304" pitchFamily="18" charset="0"/>
              </a:rPr>
              <a:t>Women and poverty</a:t>
            </a:r>
          </a:p>
          <a:p>
            <a:pPr eaLnBrk="1" hangingPunct="1">
              <a:lnSpc>
                <a:spcPct val="80000"/>
              </a:lnSpc>
              <a:defRPr/>
            </a:pPr>
            <a:endParaRPr lang="en-US" altLang="zh-CN" sz="2800" dirty="0">
              <a:latin typeface="Times New Roman" panose="02020603050405020304" pitchFamily="18" charset="0"/>
            </a:endParaRPr>
          </a:p>
          <a:p>
            <a:pPr eaLnBrk="1" hangingPunct="1">
              <a:lnSpc>
                <a:spcPct val="80000"/>
              </a:lnSpc>
              <a:defRPr/>
            </a:pPr>
            <a:r>
              <a:rPr lang="en-US" altLang="zh-CN" sz="2800" dirty="0">
                <a:latin typeface="Times New Roman" panose="02020603050405020304" pitchFamily="18" charset="0"/>
              </a:rPr>
              <a:t>Ethnic minorities, indigenous populations and poverty</a:t>
            </a:r>
          </a:p>
          <a:p>
            <a:pPr marL="0" indent="0" eaLnBrk="1" hangingPunct="1">
              <a:lnSpc>
                <a:spcPct val="80000"/>
              </a:lnSpc>
              <a:buFontTx/>
              <a:buNone/>
              <a:defRPr/>
            </a:pPr>
            <a:endParaRPr lang="en-US" altLang="zh-CN" sz="2800" dirty="0">
              <a:latin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p:txBody>
          <a:bodyPr/>
          <a:lstStyle/>
          <a:p>
            <a:pPr eaLnBrk="1" hangingPunct="1"/>
            <a:r>
              <a:rPr lang="en-US" altLang="en-US" sz="2400"/>
              <a:t>Poverty: Rural versus Urban</a:t>
            </a:r>
            <a:endParaRPr lang="en-GB" altLang="en-US" sz="1400"/>
          </a:p>
        </p:txBody>
      </p:sp>
      <p:pic>
        <p:nvPicPr>
          <p:cNvPr id="52227" name="Picture 1" descr="tbl05_07.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447800"/>
            <a:ext cx="8153400" cy="456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p:txBody>
          <a:bodyPr/>
          <a:lstStyle/>
          <a:p>
            <a:pPr eaLnBrk="1" hangingPunct="1"/>
            <a:r>
              <a:rPr lang="en-US" altLang="en-US" sz="2400"/>
              <a:t>Indigenous Poverty in Latin America</a:t>
            </a:r>
            <a:endParaRPr lang="en-GB" altLang="en-US" sz="1400"/>
          </a:p>
        </p:txBody>
      </p:sp>
      <p:pic>
        <p:nvPicPr>
          <p:cNvPr id="54275" name="Picture 1" descr="tbl05_08.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590800"/>
            <a:ext cx="8305800" cy="170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57200" y="274638"/>
            <a:ext cx="7931150" cy="922337"/>
          </a:xfrm>
        </p:spPr>
        <p:txBody>
          <a:bodyPr/>
          <a:lstStyle/>
          <a:p>
            <a:pPr algn="l" eaLnBrk="1" hangingPunct="1"/>
            <a:r>
              <a:rPr lang="en-US" altLang="zh-CN" sz="3200" dirty="0">
                <a:latin typeface="Times New Roman" panose="02020603050405020304" pitchFamily="18" charset="0"/>
              </a:rPr>
              <a:t>V. Policy options on income inequality and poverty</a:t>
            </a:r>
            <a:endParaRPr lang="en-US" altLang="zh-CN" dirty="0">
              <a:latin typeface="Times New Roman" panose="02020603050405020304" pitchFamily="18" charset="0"/>
            </a:endParaRPr>
          </a:p>
        </p:txBody>
      </p:sp>
      <p:sp>
        <p:nvSpPr>
          <p:cNvPr id="22531" name="Rectangle 3">
            <a:extLst>
              <a:ext uri="{FF2B5EF4-FFF2-40B4-BE49-F238E27FC236}">
                <a16:creationId xmlns:a16="http://schemas.microsoft.com/office/drawing/2014/main" id="{8F657D2F-14E5-4F11-9BCF-2AA99832DC82}"/>
              </a:ext>
            </a:extLst>
          </p:cNvPr>
          <p:cNvSpPr>
            <a:spLocks noGrp="1" noChangeArrowheads="1"/>
          </p:cNvSpPr>
          <p:nvPr>
            <p:ph type="body" idx="1"/>
          </p:nvPr>
        </p:nvSpPr>
        <p:spPr>
          <a:xfrm>
            <a:off x="250825" y="1268413"/>
            <a:ext cx="8229600" cy="5089525"/>
          </a:xfrm>
        </p:spPr>
        <p:txBody>
          <a:bodyPr/>
          <a:lstStyle/>
          <a:p>
            <a:pPr marL="0" indent="0" eaLnBrk="1" hangingPunct="1">
              <a:lnSpc>
                <a:spcPct val="80000"/>
              </a:lnSpc>
              <a:buFontTx/>
              <a:buNone/>
              <a:defRPr/>
            </a:pPr>
            <a:endParaRPr lang="en-US" altLang="zh-CN" sz="2400" dirty="0">
              <a:latin typeface="Times New Roman" panose="02020603050405020304" pitchFamily="18" charset="0"/>
            </a:endParaRPr>
          </a:p>
          <a:p>
            <a:pPr eaLnBrk="1" hangingPunct="1">
              <a:lnSpc>
                <a:spcPct val="80000"/>
              </a:lnSpc>
              <a:defRPr/>
            </a:pPr>
            <a:r>
              <a:rPr lang="en-US" altLang="zh-CN" sz="2800" dirty="0">
                <a:latin typeface="Times New Roman" panose="02020603050405020304" pitchFamily="18" charset="0"/>
              </a:rPr>
              <a:t>Areas of Intervention:</a:t>
            </a:r>
          </a:p>
          <a:p>
            <a:pPr eaLnBrk="1" hangingPunct="1">
              <a:lnSpc>
                <a:spcPct val="80000"/>
              </a:lnSpc>
              <a:defRPr/>
            </a:pPr>
            <a:endParaRPr lang="en-US" altLang="zh-CN" sz="2800" dirty="0">
              <a:latin typeface="Times New Roman" panose="02020603050405020304" pitchFamily="18" charset="0"/>
            </a:endParaRPr>
          </a:p>
          <a:p>
            <a:pPr lvl="1" eaLnBrk="1" hangingPunct="1">
              <a:lnSpc>
                <a:spcPct val="80000"/>
              </a:lnSpc>
              <a:defRPr/>
            </a:pPr>
            <a:r>
              <a:rPr lang="en-US" altLang="zh-CN" sz="2400" dirty="0">
                <a:latin typeface="Times New Roman" panose="02020603050405020304" pitchFamily="18" charset="0"/>
              </a:rPr>
              <a:t>Altering the functional distribution </a:t>
            </a:r>
          </a:p>
          <a:p>
            <a:pPr lvl="1" eaLnBrk="1" hangingPunct="1">
              <a:lnSpc>
                <a:spcPct val="80000"/>
              </a:lnSpc>
              <a:defRPr/>
            </a:pPr>
            <a:endParaRPr lang="en-US" altLang="zh-CN" sz="2400" dirty="0">
              <a:latin typeface="Times New Roman" panose="02020603050405020304" pitchFamily="18" charset="0"/>
            </a:endParaRPr>
          </a:p>
          <a:p>
            <a:pPr lvl="1" eaLnBrk="1" hangingPunct="1">
              <a:lnSpc>
                <a:spcPct val="80000"/>
              </a:lnSpc>
              <a:defRPr/>
            </a:pPr>
            <a:r>
              <a:rPr lang="en-US" altLang="zh-CN" sz="2400" dirty="0">
                <a:latin typeface="Times New Roman" panose="02020603050405020304" pitchFamily="18" charset="0"/>
              </a:rPr>
              <a:t>Mitigating the size distribution</a:t>
            </a:r>
          </a:p>
          <a:p>
            <a:pPr lvl="1" eaLnBrk="1" hangingPunct="1">
              <a:lnSpc>
                <a:spcPct val="80000"/>
              </a:lnSpc>
              <a:defRPr/>
            </a:pPr>
            <a:endParaRPr lang="en-US" altLang="zh-CN" sz="2400" dirty="0">
              <a:latin typeface="Times New Roman" panose="02020603050405020304" pitchFamily="18" charset="0"/>
            </a:endParaRPr>
          </a:p>
          <a:p>
            <a:pPr lvl="1" eaLnBrk="1" hangingPunct="1">
              <a:lnSpc>
                <a:spcPct val="80000"/>
              </a:lnSpc>
              <a:defRPr/>
            </a:pPr>
            <a:r>
              <a:rPr lang="en-US" altLang="zh-CN" sz="2400" dirty="0">
                <a:latin typeface="Times New Roman" panose="02020603050405020304" pitchFamily="18" charset="0"/>
              </a:rPr>
              <a:t>Moderating (reducing) the size distribution at upper levels</a:t>
            </a:r>
          </a:p>
          <a:p>
            <a:pPr lvl="1" eaLnBrk="1" hangingPunct="1">
              <a:lnSpc>
                <a:spcPct val="80000"/>
              </a:lnSpc>
              <a:defRPr/>
            </a:pPr>
            <a:endParaRPr lang="en-US" altLang="zh-CN" sz="2400" dirty="0">
              <a:latin typeface="Times New Roman" panose="02020603050405020304" pitchFamily="18" charset="0"/>
            </a:endParaRPr>
          </a:p>
          <a:p>
            <a:pPr lvl="1" eaLnBrk="1" hangingPunct="1">
              <a:lnSpc>
                <a:spcPct val="80000"/>
              </a:lnSpc>
              <a:defRPr/>
            </a:pPr>
            <a:r>
              <a:rPr lang="en-US" altLang="zh-CN" sz="2400" dirty="0">
                <a:latin typeface="Times New Roman" panose="02020603050405020304" pitchFamily="18" charset="0"/>
              </a:rPr>
              <a:t>Moderating (increasing) the size distribution at lower levels</a:t>
            </a:r>
          </a:p>
          <a:p>
            <a:pPr marL="0" indent="0" eaLnBrk="1" hangingPunct="1">
              <a:lnSpc>
                <a:spcPct val="80000"/>
              </a:lnSpc>
              <a:buFontTx/>
              <a:buNone/>
              <a:defRPr/>
            </a:pPr>
            <a:endParaRPr lang="en-US" altLang="zh-CN" sz="2800" dirty="0">
              <a:latin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a:extLst>
              <a:ext uri="{FF2B5EF4-FFF2-40B4-BE49-F238E27FC236}">
                <a16:creationId xmlns:a16="http://schemas.microsoft.com/office/drawing/2014/main" id="{3301C8B6-F6BA-4D71-A9C4-B12FEFD28210}"/>
              </a:ext>
            </a:extLst>
          </p:cNvPr>
          <p:cNvSpPr>
            <a:spLocks noGrp="1" noChangeArrowheads="1"/>
          </p:cNvSpPr>
          <p:nvPr>
            <p:ph type="body" idx="1"/>
          </p:nvPr>
        </p:nvSpPr>
        <p:spPr>
          <a:xfrm>
            <a:off x="468313" y="333375"/>
            <a:ext cx="8012112" cy="5089525"/>
          </a:xfrm>
        </p:spPr>
        <p:txBody>
          <a:bodyPr/>
          <a:lstStyle/>
          <a:p>
            <a:pPr marL="0" indent="0" eaLnBrk="1" hangingPunct="1">
              <a:lnSpc>
                <a:spcPct val="80000"/>
              </a:lnSpc>
              <a:buFontTx/>
              <a:buNone/>
              <a:defRPr/>
            </a:pPr>
            <a:endParaRPr lang="en-US" altLang="zh-CN" sz="2400" dirty="0">
              <a:latin typeface="Times New Roman" panose="02020603050405020304" pitchFamily="18" charset="0"/>
            </a:endParaRPr>
          </a:p>
          <a:p>
            <a:pPr marL="0" indent="0" eaLnBrk="1" hangingPunct="1">
              <a:lnSpc>
                <a:spcPct val="80000"/>
              </a:lnSpc>
              <a:buFontTx/>
              <a:buNone/>
              <a:defRPr/>
            </a:pPr>
            <a:endParaRPr lang="en-US" altLang="zh-CN" sz="2400" dirty="0">
              <a:latin typeface="Times New Roman" panose="02020603050405020304" pitchFamily="18" charset="0"/>
            </a:endParaRPr>
          </a:p>
          <a:p>
            <a:pPr eaLnBrk="1" hangingPunct="1">
              <a:lnSpc>
                <a:spcPct val="80000"/>
              </a:lnSpc>
              <a:defRPr/>
            </a:pPr>
            <a:r>
              <a:rPr lang="en-US" altLang="zh-CN" sz="2400" dirty="0">
                <a:latin typeface="Times New Roman" panose="02020603050405020304" pitchFamily="18" charset="0"/>
              </a:rPr>
              <a:t>Policy options</a:t>
            </a:r>
          </a:p>
          <a:p>
            <a:pPr eaLnBrk="1" hangingPunct="1">
              <a:lnSpc>
                <a:spcPct val="80000"/>
              </a:lnSpc>
              <a:defRPr/>
            </a:pPr>
            <a:endParaRPr lang="en-US" altLang="zh-CN" sz="2400" dirty="0">
              <a:latin typeface="Times New Roman" panose="02020603050405020304" pitchFamily="18" charset="0"/>
            </a:endParaRPr>
          </a:p>
          <a:p>
            <a:pPr lvl="1" eaLnBrk="1" hangingPunct="1">
              <a:lnSpc>
                <a:spcPct val="80000"/>
              </a:lnSpc>
              <a:defRPr/>
            </a:pPr>
            <a:r>
              <a:rPr lang="en-US" altLang="zh-CN" sz="2400" dirty="0">
                <a:latin typeface="Times New Roman" panose="02020603050405020304" pitchFamily="18" charset="0"/>
              </a:rPr>
              <a:t>Changing relative factor prices</a:t>
            </a:r>
          </a:p>
          <a:p>
            <a:pPr lvl="1" eaLnBrk="1" hangingPunct="1">
              <a:lnSpc>
                <a:spcPct val="80000"/>
              </a:lnSpc>
              <a:defRPr/>
            </a:pPr>
            <a:endParaRPr lang="en-US" altLang="zh-CN" sz="2400" dirty="0">
              <a:latin typeface="Times New Roman" panose="02020603050405020304" pitchFamily="18" charset="0"/>
            </a:endParaRPr>
          </a:p>
          <a:p>
            <a:pPr lvl="1" eaLnBrk="1" hangingPunct="1">
              <a:lnSpc>
                <a:spcPct val="80000"/>
              </a:lnSpc>
              <a:defRPr/>
            </a:pPr>
            <a:r>
              <a:rPr lang="en-US" altLang="zh-CN" sz="2400" dirty="0">
                <a:latin typeface="Times New Roman" panose="02020603050405020304" pitchFamily="18" charset="0"/>
              </a:rPr>
              <a:t>Progressive redistribution of asset ownership</a:t>
            </a:r>
          </a:p>
          <a:p>
            <a:pPr lvl="1" eaLnBrk="1" hangingPunct="1">
              <a:lnSpc>
                <a:spcPct val="80000"/>
              </a:lnSpc>
              <a:defRPr/>
            </a:pPr>
            <a:endParaRPr lang="en-US" altLang="zh-CN" sz="2400" dirty="0">
              <a:latin typeface="Times New Roman" panose="02020603050405020304" pitchFamily="18" charset="0"/>
            </a:endParaRPr>
          </a:p>
          <a:p>
            <a:pPr lvl="1" eaLnBrk="1" hangingPunct="1">
              <a:lnSpc>
                <a:spcPct val="80000"/>
              </a:lnSpc>
              <a:defRPr/>
            </a:pPr>
            <a:r>
              <a:rPr lang="en-US" altLang="zh-CN" sz="2400" dirty="0">
                <a:latin typeface="Times New Roman" panose="02020603050405020304" pitchFamily="18" charset="0"/>
              </a:rPr>
              <a:t>Progressive taxation</a:t>
            </a:r>
          </a:p>
          <a:p>
            <a:pPr lvl="1" eaLnBrk="1" hangingPunct="1">
              <a:lnSpc>
                <a:spcPct val="80000"/>
              </a:lnSpc>
              <a:defRPr/>
            </a:pPr>
            <a:endParaRPr lang="en-US" altLang="zh-CN" sz="2400" dirty="0">
              <a:latin typeface="Times New Roman" panose="02020603050405020304" pitchFamily="18" charset="0"/>
            </a:endParaRPr>
          </a:p>
          <a:p>
            <a:pPr lvl="1" eaLnBrk="1" hangingPunct="1">
              <a:lnSpc>
                <a:spcPct val="80000"/>
              </a:lnSpc>
              <a:defRPr/>
            </a:pPr>
            <a:r>
              <a:rPr lang="en-US" altLang="zh-CN" sz="2400" dirty="0">
                <a:latin typeface="Times New Roman" panose="02020603050405020304" pitchFamily="18" charset="0"/>
              </a:rPr>
              <a:t>Transfer payments and public provision of goods and services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457200" y="274638"/>
            <a:ext cx="8229600" cy="706437"/>
          </a:xfrm>
        </p:spPr>
        <p:txBody>
          <a:bodyPr/>
          <a:lstStyle/>
          <a:p>
            <a:pPr algn="l" eaLnBrk="1" hangingPunct="1"/>
            <a:r>
              <a:rPr lang="en-US" altLang="zh-CN" sz="3200">
                <a:latin typeface="Times New Roman" panose="02020603050405020304" pitchFamily="18" charset="0"/>
              </a:rPr>
              <a:t>Case Study: Ghana and Cote dIvoire</a:t>
            </a:r>
            <a:endParaRPr lang="en-US" altLang="zh-CN">
              <a:latin typeface="Times New Roman" panose="02020603050405020304" pitchFamily="18" charset="0"/>
            </a:endParaRPr>
          </a:p>
        </p:txBody>
      </p:sp>
      <p:sp>
        <p:nvSpPr>
          <p:cNvPr id="58371" name="Content Placeholder 1"/>
          <p:cNvSpPr>
            <a:spLocks noGrp="1" noChangeArrowheads="1"/>
          </p:cNvSpPr>
          <p:nvPr>
            <p:ph idx="1"/>
          </p:nvPr>
        </p:nvSpPr>
        <p:spPr/>
        <p:txBody>
          <a:bodyPr/>
          <a:lstStyle/>
          <a:p>
            <a:r>
              <a:rPr lang="en-US" altLang="en-US" sz="2000" dirty="0"/>
              <a:t>Ghana and Cote d’Ivoire</a:t>
            </a:r>
          </a:p>
          <a:p>
            <a:endParaRPr lang="en-US" altLang="en-US" sz="2000" dirty="0"/>
          </a:p>
          <a:p>
            <a:pPr lvl="1"/>
            <a:r>
              <a:rPr lang="en-US" altLang="en-US" sz="1600" dirty="0"/>
              <a:t>Land area: 92,456 and 124,502 </a:t>
            </a:r>
            <a:r>
              <a:rPr lang="en-US" altLang="en-US" sz="1600" dirty="0" err="1"/>
              <a:t>sq</a:t>
            </a:r>
            <a:r>
              <a:rPr lang="en-US" altLang="en-US" sz="1600" dirty="0"/>
              <a:t> miles.</a:t>
            </a:r>
          </a:p>
          <a:p>
            <a:pPr lvl="1"/>
            <a:r>
              <a:rPr lang="en-US" altLang="en-US" sz="1600" dirty="0"/>
              <a:t>Population in 2012: 25.5 and 20.6 millions.</a:t>
            </a:r>
          </a:p>
          <a:p>
            <a:pPr lvl="1"/>
            <a:r>
              <a:rPr lang="en-US" altLang="en-US" sz="1600" dirty="0"/>
              <a:t>Colonial history: 1821-1957 by Britain and 1842-1960 by France.</a:t>
            </a:r>
          </a:p>
          <a:p>
            <a:pPr lvl="1"/>
            <a:r>
              <a:rPr lang="en-US" altLang="en-US" sz="1600" dirty="0"/>
              <a:t>Poverty and human development in 1990: 0.393 and 0.360</a:t>
            </a:r>
          </a:p>
          <a:p>
            <a:pPr lvl="1"/>
            <a:r>
              <a:rPr lang="en-US" altLang="en-US" sz="1600" dirty="0"/>
              <a:t>Poverty and human development in 2013: 0.558 and 0.432</a:t>
            </a:r>
          </a:p>
          <a:p>
            <a:pPr lvl="1"/>
            <a:r>
              <a:rPr lang="en-US" altLang="en-US" sz="1600" dirty="0"/>
              <a:t>GDP in 1960: $594 and $ 1675</a:t>
            </a:r>
          </a:p>
          <a:p>
            <a:pPr lvl="1"/>
            <a:r>
              <a:rPr lang="en-US" altLang="en-US" sz="1600" dirty="0"/>
              <a:t>GDP in 2007: $1653 and $2228</a:t>
            </a:r>
          </a:p>
          <a:p>
            <a:pPr lvl="1"/>
            <a:r>
              <a:rPr lang="en-US" altLang="en-US" sz="1600" dirty="0"/>
              <a:t>Life expectancy in 1960: 46 and 51</a:t>
            </a:r>
          </a:p>
          <a:p>
            <a:pPr lvl="1"/>
            <a:r>
              <a:rPr lang="en-US" altLang="en-US" sz="1600" dirty="0"/>
              <a:t>Life expectancy in 2012: 64 and 55</a:t>
            </a:r>
          </a:p>
          <a:p>
            <a:pPr lvl="1"/>
            <a:r>
              <a:rPr lang="en-US" altLang="en-US" sz="1600" dirty="0"/>
              <a:t>Poverty in 1987: 46.51% and 3.28%</a:t>
            </a:r>
          </a:p>
          <a:p>
            <a:pPr lvl="1"/>
            <a:r>
              <a:rPr lang="en-US" altLang="en-US" sz="1600" dirty="0"/>
              <a:t>Poverty in 2006: 28.6% and 23.8%</a:t>
            </a:r>
          </a:p>
          <a:p>
            <a:pPr lvl="1"/>
            <a:endParaRPr lang="en-US" altLang="en-US" sz="1600" dirty="0"/>
          </a:p>
          <a:p>
            <a:pPr lvl="1"/>
            <a:endParaRPr lang="en-US" altLang="en-US" sz="1600" dirty="0"/>
          </a:p>
          <a:p>
            <a:pPr lvl="1"/>
            <a:endParaRPr lang="en-US" altLang="en-US" sz="1600" dirty="0"/>
          </a:p>
          <a:p>
            <a:pPr lvl="1"/>
            <a:endParaRPr lang="en-US" alt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457200" y="274638"/>
            <a:ext cx="8229600" cy="706437"/>
          </a:xfrm>
        </p:spPr>
        <p:txBody>
          <a:bodyPr/>
          <a:lstStyle/>
          <a:p>
            <a:pPr algn="l" eaLnBrk="1" hangingPunct="1"/>
            <a:r>
              <a:rPr lang="en-US" altLang="zh-CN" sz="3200">
                <a:latin typeface="Times New Roman" panose="02020603050405020304" pitchFamily="18" charset="0"/>
              </a:rPr>
              <a:t>Case Study: Ghana and Cote dIvoire</a:t>
            </a:r>
            <a:endParaRPr lang="en-US" altLang="zh-CN">
              <a:latin typeface="Times New Roman" panose="02020603050405020304" pitchFamily="18" charset="0"/>
            </a:endParaRPr>
          </a:p>
        </p:txBody>
      </p:sp>
      <p:sp>
        <p:nvSpPr>
          <p:cNvPr id="58371" name="Content Placeholder 1"/>
          <p:cNvSpPr>
            <a:spLocks noGrp="1" noChangeArrowheads="1"/>
          </p:cNvSpPr>
          <p:nvPr>
            <p:ph idx="1"/>
          </p:nvPr>
        </p:nvSpPr>
        <p:spPr/>
        <p:txBody>
          <a:bodyPr/>
          <a:lstStyle/>
          <a:p>
            <a:r>
              <a:rPr lang="en-US" altLang="en-US" sz="2000" dirty="0"/>
              <a:t>Ghana and Cote d’Ivoire</a:t>
            </a:r>
          </a:p>
          <a:p>
            <a:endParaRPr lang="en-US" altLang="en-US" sz="2000" dirty="0"/>
          </a:p>
          <a:p>
            <a:pPr lvl="1"/>
            <a:r>
              <a:rPr lang="en-US" altLang="en-US" sz="1600" dirty="0"/>
              <a:t>Colonial impact and the legacy of institutions</a:t>
            </a:r>
          </a:p>
          <a:p>
            <a:pPr lvl="1"/>
            <a:r>
              <a:rPr lang="en-US" altLang="en-US" sz="1600" dirty="0"/>
              <a:t>Institutional quality</a:t>
            </a:r>
          </a:p>
          <a:p>
            <a:pPr lvl="1"/>
            <a:r>
              <a:rPr lang="en-US" altLang="en-US" sz="1600" dirty="0" err="1"/>
              <a:t>Ethnoliguistic</a:t>
            </a:r>
            <a:r>
              <a:rPr lang="en-US" altLang="en-US" sz="1600" dirty="0"/>
              <a:t> fractionalization</a:t>
            </a:r>
          </a:p>
          <a:p>
            <a:pPr lvl="1"/>
            <a:r>
              <a:rPr lang="en-US" altLang="en-US" sz="1600" dirty="0"/>
              <a:t>Population</a:t>
            </a:r>
          </a:p>
          <a:p>
            <a:pPr lvl="1"/>
            <a:r>
              <a:rPr lang="en-US" altLang="en-US" sz="1600" dirty="0"/>
              <a:t>Extreme inequality</a:t>
            </a:r>
          </a:p>
          <a:p>
            <a:pPr lvl="1"/>
            <a:r>
              <a:rPr lang="en-US" altLang="en-US" sz="1600" dirty="0"/>
              <a:t>Common law vs civil law</a:t>
            </a:r>
          </a:p>
          <a:p>
            <a:pPr lvl="1"/>
            <a:r>
              <a:rPr lang="en-US" altLang="en-US" sz="1600" dirty="0"/>
              <a:t>French vs British rule</a:t>
            </a:r>
          </a:p>
          <a:p>
            <a:pPr lvl="1"/>
            <a:r>
              <a:rPr lang="en-US" altLang="en-US" sz="1600" dirty="0"/>
              <a:t>Education</a:t>
            </a:r>
          </a:p>
          <a:p>
            <a:pPr lvl="1"/>
            <a:r>
              <a:rPr lang="en-US" altLang="en-US" sz="1600" dirty="0"/>
              <a:t>Development policies</a:t>
            </a:r>
          </a:p>
          <a:p>
            <a:pPr lvl="1"/>
            <a:endParaRPr lang="en-US" altLang="en-US" sz="1600" dirty="0"/>
          </a:p>
          <a:p>
            <a:pPr lvl="1"/>
            <a:endParaRPr lang="en-US" altLang="en-US" sz="1600" dirty="0"/>
          </a:p>
          <a:p>
            <a:pPr lvl="1"/>
            <a:endParaRPr lang="en-US" altLang="en-US" sz="1600" dirty="0"/>
          </a:p>
          <a:p>
            <a:pPr lvl="1"/>
            <a:endParaRPr lang="en-US" altLang="en-US" sz="1600" dirty="0"/>
          </a:p>
        </p:txBody>
      </p:sp>
    </p:spTree>
    <p:extLst>
      <p:ext uri="{BB962C8B-B14F-4D97-AF65-F5344CB8AC3E}">
        <p14:creationId xmlns:p14="http://schemas.microsoft.com/office/powerpoint/2010/main" val="1983493292"/>
      </p:ext>
    </p:extLst>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1880</TotalTime>
  <Words>4205</Words>
  <Application>Microsoft Macintosh PowerPoint</Application>
  <PresentationFormat>On-screen Show (4:3)</PresentationFormat>
  <Paragraphs>412</Paragraphs>
  <Slides>42</Slides>
  <Notes>21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49" baseType="lpstr">
      <vt:lpstr>Arial Unicode MS</vt:lpstr>
      <vt:lpstr>Söhne</vt:lpstr>
      <vt:lpstr>Arial</vt:lpstr>
      <vt:lpstr>Calibri</vt:lpstr>
      <vt:lpstr>Times New Roman</vt:lpstr>
      <vt:lpstr>默认设计模板</vt:lpstr>
      <vt:lpstr>Equation</vt:lpstr>
      <vt:lpstr>International Economic Development</vt:lpstr>
      <vt:lpstr>PowerPoint Presentation</vt:lpstr>
      <vt:lpstr>PowerPoint Presentation</vt:lpstr>
      <vt:lpstr>PowerPoint Presentation</vt:lpstr>
      <vt:lpstr>II. Measuring Inequality and Poverty</vt:lpstr>
      <vt:lpstr>PowerPoint Presentation</vt:lpstr>
      <vt:lpstr>Frederick E. Allen, Forbes http://www.forbes.com/sites/frederickallen/2012/10/02/how-income-inequality-is-damaging-the-u-s/</vt:lpstr>
      <vt:lpstr>PowerPoint Presentation</vt:lpstr>
      <vt:lpstr>Typical Size Distribution of Personal Income in a Developing Country by Income Shares—Quintiles and Deciles</vt:lpstr>
      <vt:lpstr>http://gregmankiw.blogspot.com/2011/03/what-nation-has-most-progressive-tax.html</vt:lpstr>
      <vt:lpstr>The Lorenz Curve</vt:lpstr>
      <vt:lpstr>The Greater the Curvature of the Lorenz Line, the Greater the Relative Degree of Inequality</vt:lpstr>
      <vt:lpstr>2. Inequality </vt:lpstr>
      <vt:lpstr>Same Gini coefficient may represent different income distribution.</vt:lpstr>
      <vt:lpstr>PowerPoint Presentation</vt:lpstr>
      <vt:lpstr>Income GINI Coefficients in Selected Regions (2000-2010)</vt:lpstr>
      <vt:lpstr>PowerPoint Presentation</vt:lpstr>
      <vt:lpstr>PowerPoint Presentation</vt:lpstr>
      <vt:lpstr>PowerPoint Presentation</vt:lpstr>
      <vt:lpstr>Global and Regional Poverty Trends, 1981–2010</vt:lpstr>
      <vt:lpstr>PowerPoint Presentation</vt:lpstr>
      <vt:lpstr>Measuring the Total Poverty Gap</vt:lpstr>
      <vt:lpstr>PowerPoint Presentation</vt:lpstr>
      <vt:lpstr>PowerPoint Presentation</vt:lpstr>
      <vt:lpstr>PowerPoint Presentation</vt:lpstr>
      <vt:lpstr>Regional Poverty Incidence, 2010</vt:lpstr>
      <vt:lpstr>Ⅲ. Poverty, inequality and social welfare</vt:lpstr>
      <vt:lpstr>PowerPoint Presentation</vt:lpstr>
      <vt:lpstr>PowerPoint Presentation</vt:lpstr>
      <vt:lpstr>PowerPoint Presentation</vt:lpstr>
      <vt:lpstr>Kuznets Curve with Latin American Countries Identified</vt:lpstr>
      <vt:lpstr>Plot of Inequality Data for Selected Countries</vt:lpstr>
      <vt:lpstr>PowerPoint Presentation</vt:lpstr>
      <vt:lpstr>PowerPoint Presentation</vt:lpstr>
      <vt:lpstr>PowerPoint Presentation</vt:lpstr>
      <vt:lpstr>IV. Characteristics of high-poverty groups</vt:lpstr>
      <vt:lpstr>Poverty: Rural versus Urban</vt:lpstr>
      <vt:lpstr>Indigenous Poverty in Latin America</vt:lpstr>
      <vt:lpstr>V. Policy options on income inequality and poverty</vt:lpstr>
      <vt:lpstr>PowerPoint Presentation</vt:lpstr>
      <vt:lpstr>Case Study: Ghana and Cote dIvoire</vt:lpstr>
      <vt:lpstr>Case Study: Ghana and Cote dIvoire</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 Development</dc:title>
  <dc:creator>微软用户</dc:creator>
  <cp:lastModifiedBy>Zhigang Feng</cp:lastModifiedBy>
  <cp:revision>81</cp:revision>
  <cp:lastPrinted>2017-07-17T20:37:19Z</cp:lastPrinted>
  <dcterms:created xsi:type="dcterms:W3CDTF">2009-01-21T05:56:42Z</dcterms:created>
  <dcterms:modified xsi:type="dcterms:W3CDTF">2023-08-05T21:59:38Z</dcterms:modified>
</cp:coreProperties>
</file>